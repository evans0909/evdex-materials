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9"/>
  </p:notesMasterIdLst>
  <p:sldIdLst>
    <p:sldId id="256" r:id="rId2"/>
    <p:sldId id="259" r:id="rId3"/>
    <p:sldId id="572" r:id="rId4"/>
    <p:sldId id="474" r:id="rId5"/>
    <p:sldId id="409" r:id="rId6"/>
    <p:sldId id="503" r:id="rId7"/>
    <p:sldId id="257" r:id="rId8"/>
    <p:sldId id="478" r:id="rId9"/>
    <p:sldId id="471" r:id="rId10"/>
    <p:sldId id="441" r:id="rId11"/>
    <p:sldId id="579" r:id="rId12"/>
    <p:sldId id="505" r:id="rId13"/>
    <p:sldId id="443" r:id="rId14"/>
    <p:sldId id="504" r:id="rId15"/>
    <p:sldId id="436" r:id="rId16"/>
    <p:sldId id="437" r:id="rId17"/>
    <p:sldId id="580" r:id="rId18"/>
    <p:sldId id="581" r:id="rId19"/>
    <p:sldId id="582" r:id="rId20"/>
    <p:sldId id="584" r:id="rId21"/>
    <p:sldId id="585" r:id="rId22"/>
    <p:sldId id="586" r:id="rId23"/>
    <p:sldId id="587" r:id="rId24"/>
    <p:sldId id="588" r:id="rId25"/>
    <p:sldId id="589" r:id="rId26"/>
    <p:sldId id="583" r:id="rId27"/>
    <p:sldId id="526" r:id="rId28"/>
    <p:sldId id="506" r:id="rId29"/>
    <p:sldId id="459" r:id="rId30"/>
    <p:sldId id="460" r:id="rId31"/>
    <p:sldId id="461" r:id="rId32"/>
    <p:sldId id="463" r:id="rId33"/>
    <p:sldId id="577" r:id="rId34"/>
    <p:sldId id="578" r:id="rId35"/>
    <p:sldId id="507" r:id="rId36"/>
    <p:sldId id="453" r:id="rId37"/>
    <p:sldId id="451" r:id="rId38"/>
    <p:sldId id="415" r:id="rId39"/>
    <p:sldId id="416" r:id="rId40"/>
    <p:sldId id="412" r:id="rId41"/>
    <p:sldId id="417" r:id="rId42"/>
    <p:sldId id="426" r:id="rId43"/>
    <p:sldId id="469" r:id="rId44"/>
    <p:sldId id="527" r:id="rId45"/>
    <p:sldId id="464" r:id="rId46"/>
    <p:sldId id="465" r:id="rId47"/>
    <p:sldId id="573" r:id="rId48"/>
    <p:sldId id="466" r:id="rId49"/>
    <p:sldId id="479" r:id="rId50"/>
    <p:sldId id="468" r:id="rId51"/>
    <p:sldId id="607" r:id="rId52"/>
    <p:sldId id="608" r:id="rId53"/>
    <p:sldId id="609" r:id="rId54"/>
    <p:sldId id="610" r:id="rId55"/>
    <p:sldId id="612" r:id="rId56"/>
    <p:sldId id="613" r:id="rId57"/>
    <p:sldId id="614" r:id="rId58"/>
    <p:sldId id="615" r:id="rId59"/>
    <p:sldId id="616" r:id="rId60"/>
    <p:sldId id="617" r:id="rId61"/>
    <p:sldId id="606" r:id="rId62"/>
    <p:sldId id="482" r:id="rId63"/>
    <p:sldId id="528" r:id="rId64"/>
    <p:sldId id="574" r:id="rId65"/>
    <p:sldId id="513" r:id="rId66"/>
    <p:sldId id="512" r:id="rId67"/>
    <p:sldId id="514" r:id="rId68"/>
    <p:sldId id="533" r:id="rId69"/>
    <p:sldId id="536" r:id="rId70"/>
    <p:sldId id="618" r:id="rId71"/>
    <p:sldId id="619" r:id="rId72"/>
    <p:sldId id="620" r:id="rId73"/>
    <p:sldId id="516" r:id="rId74"/>
    <p:sldId id="532" r:id="rId75"/>
    <p:sldId id="565" r:id="rId76"/>
    <p:sldId id="576" r:id="rId77"/>
    <p:sldId id="593" r:id="rId78"/>
    <p:sldId id="594" r:id="rId79"/>
    <p:sldId id="595" r:id="rId80"/>
    <p:sldId id="540" r:id="rId81"/>
    <p:sldId id="590" r:id="rId82"/>
    <p:sldId id="591" r:id="rId83"/>
    <p:sldId id="592" r:id="rId84"/>
    <p:sldId id="541" r:id="rId85"/>
    <p:sldId id="596" r:id="rId86"/>
    <p:sldId id="597" r:id="rId87"/>
    <p:sldId id="598" r:id="rId88"/>
    <p:sldId id="599" r:id="rId89"/>
    <p:sldId id="600" r:id="rId90"/>
    <p:sldId id="601" r:id="rId91"/>
    <p:sldId id="602" r:id="rId92"/>
    <p:sldId id="603" r:id="rId93"/>
    <p:sldId id="604" r:id="rId94"/>
    <p:sldId id="605" r:id="rId95"/>
    <p:sldId id="542" r:id="rId96"/>
    <p:sldId id="571" r:id="rId97"/>
    <p:sldId id="537" r:id="rId9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94660"/>
  </p:normalViewPr>
  <p:slideViewPr>
    <p:cSldViewPr snapToGrid="0">
      <p:cViewPr varScale="1">
        <p:scale>
          <a:sx n="73" d="100"/>
          <a:sy n="73" d="100"/>
        </p:scale>
        <p:origin x="4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63187A-5DC1-4F7C-99B5-D2B4D8043683}" type="datetimeFigureOut">
              <a:rPr lang="en-ZM" smtClean="0"/>
              <a:t>26/02/2026</a:t>
            </a:fld>
            <a:endParaRPr lang="en-Z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94976A-D858-49B6-A58E-A8EC59E179B5}" type="slidenum">
              <a:rPr lang="en-ZM" smtClean="0"/>
              <a:t>‹#›</a:t>
            </a:fld>
            <a:endParaRPr lang="en-ZM"/>
          </a:p>
        </p:txBody>
      </p:sp>
    </p:spTree>
    <p:extLst>
      <p:ext uri="{BB962C8B-B14F-4D97-AF65-F5344CB8AC3E}">
        <p14:creationId xmlns:p14="http://schemas.microsoft.com/office/powerpoint/2010/main" val="2518342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OECD – Organisation of Economic Corporation and Development; DAC – </a:t>
            </a:r>
            <a:r>
              <a:rPr lang="en-US"/>
              <a:t>Development Assistance </a:t>
            </a:r>
            <a:r>
              <a:rPr lang="en-US" dirty="0"/>
              <a:t>C</a:t>
            </a:r>
            <a:r>
              <a:rPr lang="en-US"/>
              <a:t>ommittee</a:t>
            </a:r>
            <a:endParaRPr lang="en-ZM" dirty="0"/>
          </a:p>
        </p:txBody>
      </p:sp>
      <p:sp>
        <p:nvSpPr>
          <p:cNvPr id="4" name="Slide Number Placeholder 3"/>
          <p:cNvSpPr>
            <a:spLocks noGrp="1"/>
          </p:cNvSpPr>
          <p:nvPr>
            <p:ph type="sldNum" sz="quarter" idx="5"/>
          </p:nvPr>
        </p:nvSpPr>
        <p:spPr/>
        <p:txBody>
          <a:bodyPr/>
          <a:lstStyle/>
          <a:p>
            <a:fld id="{0C94976A-D858-49B6-A58E-A8EC59E179B5}" type="slidenum">
              <a:rPr lang="en-ZM" smtClean="0"/>
              <a:t>63</a:t>
            </a:fld>
            <a:endParaRPr lang="en-ZM"/>
          </a:p>
        </p:txBody>
      </p:sp>
    </p:spTree>
    <p:extLst>
      <p:ext uri="{BB962C8B-B14F-4D97-AF65-F5344CB8AC3E}">
        <p14:creationId xmlns:p14="http://schemas.microsoft.com/office/powerpoint/2010/main" val="3422314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2/26/2026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2/26/2026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12.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13.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11" Type="http://schemas.openxmlformats.org/officeDocument/2006/relationships/image" Target="../media/image14.emf"/><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15.emf"/><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16.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17.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1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18.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19.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0.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1.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2.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3.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4.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5.pn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2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3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7.emf"/><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4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5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5.jpeg"/><Relationship Id="rId11" Type="http://schemas.openxmlformats.org/officeDocument/2006/relationships/image" Target="../media/image11.jpeg"/><Relationship Id="rId5" Type="http://schemas.openxmlformats.org/officeDocument/2006/relationships/image" Target="../media/image4.jpeg"/><Relationship Id="rId10" Type="http://schemas.openxmlformats.org/officeDocument/2006/relationships/image" Target="../media/image10.jpeg"/><Relationship Id="rId4" Type="http://schemas.openxmlformats.org/officeDocument/2006/relationships/image" Target="../media/image3.jpg"/><Relationship Id="rId9" Type="http://schemas.openxmlformats.org/officeDocument/2006/relationships/image" Target="../media/image9.jpeg"/></Relationships>
</file>

<file path=ppt/slides/_rels/slide6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8.emf"/><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29.emf"/><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30.emf"/><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6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7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8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9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9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9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9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9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9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9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_rels/slide9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jp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11" Type="http://schemas.openxmlformats.org/officeDocument/2006/relationships/image" Target="../media/image31.emf"/><Relationship Id="rId5" Type="http://schemas.openxmlformats.org/officeDocument/2006/relationships/image" Target="../media/image5.jpeg"/><Relationship Id="rId10" Type="http://schemas.openxmlformats.org/officeDocument/2006/relationships/image" Target="../media/image11.jpeg"/><Relationship Id="rId4" Type="http://schemas.openxmlformats.org/officeDocument/2006/relationships/image" Target="../media/image4.jpe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1747" y="934657"/>
            <a:ext cx="9182090" cy="618114"/>
          </a:xfrm>
        </p:spPr>
        <p:txBody>
          <a:bodyPr>
            <a:noAutofit/>
          </a:bodyPr>
          <a:lstStyle/>
          <a:p>
            <a:pPr algn="ctr">
              <a:lnSpc>
                <a:spcPct val="107000"/>
              </a:lnSpc>
              <a:spcAft>
                <a:spcPts val="800"/>
              </a:spcAft>
            </a:pPr>
            <a:r>
              <a:rPr lang="en-US" sz="4400" b="1" dirty="0">
                <a:latin typeface="Times New Roman" panose="02020603050405020304" pitchFamily="18" charset="0"/>
                <a:ea typeface="Calibri" panose="020F0502020204030204" pitchFamily="34" charset="0"/>
                <a:cs typeface="Times New Roman" panose="02020603050405020304" pitchFamily="18" charset="0"/>
              </a:rPr>
              <a:t>CLIMATE CHANGE </a:t>
            </a:r>
            <a:endParaRPr lang="en-US" sz="4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Subtitle 2"/>
          <p:cNvSpPr>
            <a:spLocks noGrp="1"/>
          </p:cNvSpPr>
          <p:nvPr>
            <p:ph type="subTitle" idx="1"/>
          </p:nvPr>
        </p:nvSpPr>
        <p:spPr>
          <a:xfrm>
            <a:off x="1450732" y="3566373"/>
            <a:ext cx="9604120" cy="2429268"/>
          </a:xfrm>
        </p:spPr>
        <p:txBody>
          <a:bodyPr>
            <a:normAutofit fontScale="40000" lnSpcReduction="20000"/>
          </a:bodyPr>
          <a:lstStyle/>
          <a:p>
            <a:pPr algn="ctr"/>
            <a:endParaRPr lang="en-US" b="1" dirty="0">
              <a:latin typeface="Times New Roman" panose="02020603050405020304" pitchFamily="18" charset="0"/>
              <a:cs typeface="Times New Roman" panose="02020603050405020304" pitchFamily="18" charset="0"/>
            </a:endParaRPr>
          </a:p>
          <a:p>
            <a:pPr algn="ctr"/>
            <a:r>
              <a:rPr lang="en-US" sz="7600" b="1" cap="none" dirty="0">
                <a:latin typeface="Times New Roman" panose="02020603050405020304" pitchFamily="18" charset="0"/>
                <a:cs typeface="Times New Roman" panose="02020603050405020304" pitchFamily="18" charset="0"/>
              </a:rPr>
              <a:t>Kapasa Makasa University</a:t>
            </a:r>
          </a:p>
          <a:p>
            <a:pPr algn="ctr"/>
            <a:endParaRPr lang="en-US" sz="3000" b="1" cap="none" dirty="0">
              <a:latin typeface="Times New Roman" panose="02020603050405020304" pitchFamily="18" charset="0"/>
              <a:cs typeface="Times New Roman" panose="02020603050405020304" pitchFamily="18" charset="0"/>
            </a:endParaRPr>
          </a:p>
          <a:p>
            <a:pPr algn="ctr"/>
            <a:r>
              <a:rPr lang="en-US" sz="5100" b="1" cap="none" dirty="0">
                <a:latin typeface="Times New Roman" panose="02020603050405020304" pitchFamily="18" charset="0"/>
                <a:cs typeface="Times New Roman" panose="02020603050405020304" pitchFamily="18" charset="0"/>
              </a:rPr>
              <a:t>Department of Agriculture &amp; Aquatic Sciences (AAS)</a:t>
            </a:r>
          </a:p>
          <a:p>
            <a:pPr algn="ctr"/>
            <a:endParaRPr lang="en-US" sz="2600" b="1" cap="none" dirty="0">
              <a:solidFill>
                <a:srgbClr val="7030A0"/>
              </a:solidFill>
              <a:latin typeface="Times New Roman" panose="02020603050405020304" pitchFamily="18" charset="0"/>
              <a:cs typeface="Times New Roman" panose="02020603050405020304" pitchFamily="18" charset="0"/>
            </a:endParaRPr>
          </a:p>
          <a:p>
            <a:pPr algn="ctr"/>
            <a:r>
              <a:rPr lang="en-US" sz="3600" b="1" cap="none" dirty="0">
                <a:solidFill>
                  <a:srgbClr val="7030A0"/>
                </a:solidFill>
                <a:latin typeface="Times New Roman" panose="02020603050405020304" pitchFamily="18" charset="0"/>
                <a:cs typeface="Times New Roman" panose="02020603050405020304" pitchFamily="18" charset="0"/>
              </a:rPr>
              <a:t>M. Tembo</a:t>
            </a:r>
          </a:p>
          <a:p>
            <a:pPr algn="ctr"/>
            <a:endParaRPr lang="en-US" sz="6400" b="1" dirty="0">
              <a:latin typeface="Times New Roman" panose="02020603050405020304" pitchFamily="18" charset="0"/>
              <a:cs typeface="Times New Roman" panose="02020603050405020304" pitchFamily="18" charset="0"/>
            </a:endParaRPr>
          </a:p>
          <a:p>
            <a:endParaRPr lang="en-US" dirty="0"/>
          </a:p>
          <a:p>
            <a:pPr algn="ctr"/>
            <a:endParaRPr lang="en-US" sz="3400" b="1" dirty="0">
              <a:solidFill>
                <a:srgbClr val="7030A0"/>
              </a:solidFill>
              <a:latin typeface="+mj-lt"/>
              <a:cs typeface="Mongolian Baiti" panose="03000500000000000000" pitchFamily="66" charset="0"/>
            </a:endParaRPr>
          </a:p>
          <a:p>
            <a:pPr algn="ctr"/>
            <a:endParaRPr lang="en-US" b="1" dirty="0">
              <a:latin typeface="Consolas" panose="020B0609020204030204" pitchFamily="49" charset="0"/>
              <a:cs typeface="Mongolian Baiti" panose="03000500000000000000" pitchFamily="66" charset="0"/>
            </a:endParaRPr>
          </a:p>
          <a:p>
            <a:pPr algn="ctr"/>
            <a:endParaRPr lang="en-US" sz="3800" b="1" dirty="0">
              <a:latin typeface="Consolas" panose="020B0609020204030204" pitchFamily="49" charset="0"/>
              <a:cs typeface="Mongolian Baiti" panose="03000500000000000000" pitchFamily="66" charset="0"/>
            </a:endParaRPr>
          </a:p>
          <a:p>
            <a:pPr algn="just"/>
            <a:endParaRPr lang="en-US" b="1" dirty="0">
              <a:latin typeface="Consolas" panose="020B0609020204030204" pitchFamily="49" charset="0"/>
              <a:cs typeface="Mongolian Baiti" panose="03000500000000000000" pitchFamily="66" charset="0"/>
            </a:endParaRPr>
          </a:p>
          <a:p>
            <a:pPr algn="just"/>
            <a:endParaRPr lang="en-US" b="1" dirty="0">
              <a:latin typeface="Consolas" panose="020B0609020204030204" pitchFamily="49" charset="0"/>
              <a:cs typeface="Mongolian Baiti" panose="03000500000000000000" pitchFamily="66" charset="0"/>
            </a:endParaRPr>
          </a:p>
        </p:txBody>
      </p:sp>
      <p:pic>
        <p:nvPicPr>
          <p:cNvPr id="9" name="Picture 8"/>
          <p:cNvPicPr>
            <a:picLocks noChangeAspect="1"/>
          </p:cNvPicPr>
          <p:nvPr/>
        </p:nvPicPr>
        <p:blipFill>
          <a:blip r:embed="rId2"/>
          <a:stretch>
            <a:fillRect/>
          </a:stretch>
        </p:blipFill>
        <p:spPr>
          <a:xfrm>
            <a:off x="0" y="6101862"/>
            <a:ext cx="9012115" cy="791307"/>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6" name="Picture 5"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7" name="Picture 6"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1"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2" name="Picture 11"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3" name="Content Placeholder 5" descr="C:\Users\Tembo masiye\Desktop\dARWIN INITIATIVE\My Tasks_July 2020\Elesine coracana 9.jpg"/>
          <p:cNvPicPr/>
          <p:nvPr/>
        </p:nvPicPr>
        <p:blipFill>
          <a:blip r:embed="rId8">
            <a:extLst>
              <a:ext uri="{28A0092B-C50C-407E-A947-70E740481C1C}">
                <a14:useLocalDpi xmlns:a14="http://schemas.microsoft.com/office/drawing/2010/main" val="0"/>
              </a:ext>
            </a:extLst>
          </a:blip>
          <a:srcRect/>
          <a:stretch>
            <a:fillRect/>
          </a:stretch>
        </p:blipFill>
        <p:spPr bwMode="auto">
          <a:xfrm>
            <a:off x="7263039" y="6084277"/>
            <a:ext cx="1615078" cy="800100"/>
          </a:xfrm>
          <a:prstGeom prst="rect">
            <a:avLst/>
          </a:prstGeom>
          <a:noFill/>
          <a:ln>
            <a:noFill/>
          </a:ln>
        </p:spPr>
      </p:pic>
      <p:pic>
        <p:nvPicPr>
          <p:cNvPr id="14" name="Picture 13" descr="C:\Users\Tembo masiye\Desktop\dARWIN INITIATIVE\My Tasks_July 2020\Eleusine_coracana-10.jpg"/>
          <p:cNvPicPr/>
          <p:nvPr/>
        </p:nvPicPr>
        <p:blipFill>
          <a:blip r:embed="rId9">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5" name="Picture 14" descr="http://www.cropwildrelatives.org/fileadmin/templates/cropwildrelatives.org/upload/sadc/WildSorghum_04March2014Chilanga_Distric_Lusaka_province_Zambia_N_guni_1.jpg"/>
          <p:cNvPicPr/>
          <p:nvPr/>
        </p:nvPicPr>
        <p:blipFill>
          <a:blip r:embed="rId10" cstate="print"/>
          <a:srcRect/>
          <a:stretch>
            <a:fillRect/>
          </a:stretch>
        </p:blipFill>
        <p:spPr bwMode="auto">
          <a:xfrm>
            <a:off x="8878117" y="6155344"/>
            <a:ext cx="3313883" cy="772993"/>
          </a:xfrm>
          <a:prstGeom prst="rect">
            <a:avLst/>
          </a:prstGeom>
          <a:noFill/>
          <a:ln w="9525">
            <a:noFill/>
            <a:miter lim="800000"/>
            <a:headEnd/>
            <a:tailEnd/>
          </a:ln>
        </p:spPr>
      </p:pic>
      <p:pic>
        <p:nvPicPr>
          <p:cNvPr id="16" name="Picture 15" descr="http://www.sundaytimes.lk/100502/images/Rice-plants.jpg"/>
          <p:cNvPicPr/>
          <p:nvPr/>
        </p:nvPicPr>
        <p:blipFill>
          <a:blip r:embed="rId11" cstate="print"/>
          <a:srcRect/>
          <a:stretch>
            <a:fillRect/>
          </a:stretch>
        </p:blipFill>
        <p:spPr bwMode="auto">
          <a:xfrm>
            <a:off x="7262419" y="6075484"/>
            <a:ext cx="1616319" cy="800099"/>
          </a:xfrm>
          <a:prstGeom prst="rect">
            <a:avLst/>
          </a:prstGeom>
          <a:noFill/>
          <a:ln w="9525">
            <a:noFill/>
            <a:miter lim="800000"/>
            <a:headEnd/>
            <a:tailEnd/>
          </a:ln>
        </p:spPr>
      </p:pic>
      <p:sp>
        <p:nvSpPr>
          <p:cNvPr id="4" name="Rectangle 3"/>
          <p:cNvSpPr/>
          <p:nvPr/>
        </p:nvSpPr>
        <p:spPr>
          <a:xfrm>
            <a:off x="2791100" y="2420538"/>
            <a:ext cx="6789231" cy="646331"/>
          </a:xfrm>
          <a:prstGeom prst="rect">
            <a:avLst/>
          </a:prstGeom>
        </p:spPr>
        <p:txBody>
          <a:bodyPr wrap="none">
            <a:sp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Mitigation &amp; Adaptation (SA400)</a:t>
            </a:r>
          </a:p>
        </p:txBody>
      </p:sp>
    </p:spTree>
    <p:extLst>
      <p:ext uri="{BB962C8B-B14F-4D97-AF65-F5344CB8AC3E}">
        <p14:creationId xmlns:p14="http://schemas.microsoft.com/office/powerpoint/2010/main" val="856951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Subtitle 3">
            <a:extLst>
              <a:ext uri="{FF2B5EF4-FFF2-40B4-BE49-F238E27FC236}">
                <a16:creationId xmlns:a16="http://schemas.microsoft.com/office/drawing/2014/main" id="{076EF971-723B-45CF-8886-3E1FA474ABD8}"/>
              </a:ext>
            </a:extLst>
          </p:cNvPr>
          <p:cNvSpPr txBox="1">
            <a:spLocks/>
          </p:cNvSpPr>
          <p:nvPr/>
        </p:nvSpPr>
        <p:spPr>
          <a:xfrm>
            <a:off x="623455" y="202545"/>
            <a:ext cx="10764982" cy="5749847"/>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gn="just">
              <a:buNone/>
            </a:pPr>
            <a:r>
              <a:rPr lang="en-US" sz="3500" b="1" dirty="0">
                <a:solidFill>
                  <a:srgbClr val="7030A0"/>
                </a:solidFill>
                <a:latin typeface="Times New Roman" panose="02020603050405020304" pitchFamily="18" charset="0"/>
                <a:cs typeface="Times New Roman" panose="02020603050405020304" pitchFamily="18" charset="0"/>
              </a:rPr>
              <a:t>CONCEPTUAL DEFINITIONS</a:t>
            </a:r>
          </a:p>
          <a:p>
            <a:pPr marL="0" indent="0" algn="just">
              <a:buNone/>
            </a:pPr>
            <a:endParaRPr lang="en-US" sz="3500" b="1" dirty="0">
              <a:latin typeface="Times New Roman" panose="02020603050405020304" pitchFamily="18" charset="0"/>
              <a:cs typeface="Times New Roman" panose="02020603050405020304" pitchFamily="18" charset="0"/>
            </a:endParaRPr>
          </a:p>
          <a:p>
            <a:pPr marL="514350" indent="-514350" algn="just">
              <a:buAutoNum type="arabicPeriod"/>
            </a:pPr>
            <a:r>
              <a:rPr lang="en-US" sz="3200" b="1" u="sng" dirty="0">
                <a:latin typeface="Times New Roman" panose="02020603050405020304" pitchFamily="18" charset="0"/>
                <a:cs typeface="Times New Roman" panose="02020603050405020304" pitchFamily="18" charset="0"/>
              </a:rPr>
              <a:t>Weather</a:t>
            </a:r>
            <a:r>
              <a:rPr lang="en-US" sz="3200" dirty="0">
                <a:latin typeface="Times New Roman" panose="02020603050405020304" pitchFamily="18" charset="0"/>
                <a:cs typeface="Times New Roman" panose="02020603050405020304" pitchFamily="18" charset="0"/>
              </a:rPr>
              <a:t>:  the day to day changes in the atmosphere. </a:t>
            </a:r>
          </a:p>
          <a:p>
            <a:pPr algn="just">
              <a:buFont typeface="Wingdings" panose="05000000000000000000" pitchFamily="2" charset="2"/>
              <a:buChar char="§"/>
            </a:pPr>
            <a:r>
              <a:rPr lang="en-US" sz="3200" i="1" dirty="0">
                <a:latin typeface="Times New Roman" panose="02020603050405020304" pitchFamily="18" charset="0"/>
                <a:cs typeface="Times New Roman" panose="02020603050405020304" pitchFamily="18" charset="0"/>
              </a:rPr>
              <a:t>The atmospheric conditions of a particular </a:t>
            </a:r>
            <a:r>
              <a:rPr lang="en-US" sz="3200" i="1" dirty="0">
                <a:solidFill>
                  <a:srgbClr val="FF0000"/>
                </a:solidFill>
                <a:latin typeface="Times New Roman" panose="02020603050405020304" pitchFamily="18" charset="0"/>
                <a:cs typeface="Times New Roman" panose="02020603050405020304" pitchFamily="18" charset="0"/>
              </a:rPr>
              <a:t>place</a:t>
            </a:r>
            <a:r>
              <a:rPr lang="en-US" sz="3200" i="1" dirty="0">
                <a:latin typeface="Times New Roman" panose="02020603050405020304" pitchFamily="18" charset="0"/>
                <a:cs typeface="Times New Roman" panose="02020603050405020304" pitchFamily="18" charset="0"/>
              </a:rPr>
              <a:t> at a particular </a:t>
            </a:r>
            <a:r>
              <a:rPr lang="en-US" sz="3200" i="1" dirty="0">
                <a:solidFill>
                  <a:srgbClr val="FF0000"/>
                </a:solidFill>
                <a:latin typeface="Times New Roman" panose="02020603050405020304" pitchFamily="18" charset="0"/>
                <a:cs typeface="Times New Roman" panose="02020603050405020304" pitchFamily="18" charset="0"/>
              </a:rPr>
              <a:t>time</a:t>
            </a:r>
            <a:r>
              <a:rPr lang="en-US" sz="32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endParaRPr lang="en-US" sz="3200" b="1" dirty="0">
              <a:latin typeface="Times New Roman" panose="02020603050405020304" pitchFamily="18" charset="0"/>
              <a:cs typeface="Times New Roman" panose="02020603050405020304" pitchFamily="18" charset="0"/>
            </a:endParaRPr>
          </a:p>
          <a:p>
            <a:pPr lvl="0" algn="just" defTabSz="457200">
              <a:lnSpc>
                <a:spcPct val="100000"/>
              </a:lnSpc>
              <a:spcBef>
                <a:spcPts val="0"/>
              </a:spcBef>
              <a:buClrTx/>
              <a:buSzTx/>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Weather is local and temporary. </a:t>
            </a:r>
          </a:p>
          <a:p>
            <a:pPr lvl="0" algn="just" defTabSz="457200">
              <a:lnSpc>
                <a:spcPct val="100000"/>
              </a:lnSpc>
              <a:spcBef>
                <a:spcPts val="0"/>
              </a:spcBef>
              <a:buClrTx/>
              <a:buSzTx/>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Rain, snow, wind, sunshine, cyclones, hurricanes, tornadoes - these are all weather events</a:t>
            </a:r>
          </a:p>
          <a:p>
            <a:pPr algn="just"/>
            <a:endParaRPr lang="en-US" sz="3400" b="1" dirty="0">
              <a:latin typeface="Arial" charset="0"/>
              <a:cs typeface="Times New Roman" pitchFamily="18" charset="0"/>
            </a:endParaRPr>
          </a:p>
        </p:txBody>
      </p:sp>
    </p:spTree>
    <p:extLst>
      <p:ext uri="{BB962C8B-B14F-4D97-AF65-F5344CB8AC3E}">
        <p14:creationId xmlns:p14="http://schemas.microsoft.com/office/powerpoint/2010/main" val="937730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Subtitle 3">
            <a:extLst>
              <a:ext uri="{FF2B5EF4-FFF2-40B4-BE49-F238E27FC236}">
                <a16:creationId xmlns:a16="http://schemas.microsoft.com/office/drawing/2014/main" id="{076EF971-723B-45CF-8886-3E1FA474ABD8}"/>
              </a:ext>
            </a:extLst>
          </p:cNvPr>
          <p:cNvSpPr txBox="1">
            <a:spLocks/>
          </p:cNvSpPr>
          <p:nvPr/>
        </p:nvSpPr>
        <p:spPr>
          <a:xfrm>
            <a:off x="482138" y="299258"/>
            <a:ext cx="11030989" cy="5749847"/>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lvl="0" indent="0" algn="just" defTabSz="457200">
              <a:lnSpc>
                <a:spcPct val="100000"/>
              </a:lnSpc>
              <a:spcBef>
                <a:spcPts val="0"/>
              </a:spcBef>
              <a:buClrTx/>
              <a:buSzTx/>
              <a:buNone/>
            </a:pPr>
            <a:r>
              <a:rPr lang="en-US" sz="3500" b="1" dirty="0">
                <a:solidFill>
                  <a:srgbClr val="7030A0"/>
                </a:solidFill>
                <a:latin typeface="Times New Roman" panose="02020603050405020304" pitchFamily="18" charset="0"/>
                <a:cs typeface="Times New Roman" panose="02020603050405020304" pitchFamily="18" charset="0"/>
              </a:rPr>
              <a:t>CONCEPTUAL DEFINITIONS….</a:t>
            </a:r>
          </a:p>
          <a:p>
            <a:pPr marL="0" indent="0" algn="just">
              <a:buNone/>
            </a:pPr>
            <a:endParaRPr lang="en-US" sz="3500" b="1" dirty="0">
              <a:latin typeface="Times New Roman" panose="02020603050405020304" pitchFamily="18" charset="0"/>
              <a:cs typeface="Times New Roman" panose="02020603050405020304" pitchFamily="18" charset="0"/>
            </a:endParaRPr>
          </a:p>
          <a:p>
            <a:pPr marL="0" indent="0" algn="just">
              <a:buNone/>
            </a:pPr>
            <a:endParaRPr lang="en-US" sz="3500" b="1" dirty="0">
              <a:latin typeface="Times New Roman" panose="02020603050405020304" pitchFamily="18" charset="0"/>
              <a:cs typeface="Times New Roman" panose="02020603050405020304" pitchFamily="18" charset="0"/>
            </a:endParaRPr>
          </a:p>
          <a:p>
            <a:pPr marL="0" indent="0" algn="just">
              <a:buNone/>
            </a:pPr>
            <a:r>
              <a:rPr lang="en-US" sz="3500" b="1" dirty="0">
                <a:solidFill>
                  <a:srgbClr val="FF0000"/>
                </a:solidFill>
                <a:latin typeface="Times New Roman" panose="02020603050405020304" pitchFamily="18" charset="0"/>
                <a:cs typeface="Times New Roman" panose="02020603050405020304" pitchFamily="18" charset="0"/>
              </a:rPr>
              <a:t>2. </a:t>
            </a:r>
            <a:r>
              <a:rPr lang="en-US" sz="3500" b="1" u="sng" dirty="0">
                <a:latin typeface="Times New Roman" panose="02020603050405020304" pitchFamily="18" charset="0"/>
                <a:cs typeface="Times New Roman" panose="02020603050405020304" pitchFamily="18" charset="0"/>
              </a:rPr>
              <a:t>Climate</a:t>
            </a:r>
            <a:r>
              <a:rPr lang="en-US" sz="3500" dirty="0">
                <a:latin typeface="Times New Roman" panose="02020603050405020304" pitchFamily="18" charset="0"/>
                <a:cs typeface="Times New Roman" panose="02020603050405020304" pitchFamily="18" charset="0"/>
              </a:rPr>
              <a:t>: the long term, </a:t>
            </a:r>
            <a:r>
              <a:rPr lang="en-US" sz="3500" i="1" dirty="0">
                <a:latin typeface="Times New Roman" panose="02020603050405020304" pitchFamily="18" charset="0"/>
                <a:cs typeface="Times New Roman" panose="02020603050405020304" pitchFamily="18" charset="0"/>
              </a:rPr>
              <a:t>30-year average of the weather</a:t>
            </a:r>
            <a:r>
              <a:rPr lang="en-US" sz="3500" dirty="0">
                <a:latin typeface="Times New Roman" panose="02020603050405020304" pitchFamily="18" charset="0"/>
                <a:cs typeface="Times New Roman" panose="02020603050405020304" pitchFamily="18" charset="0"/>
              </a:rPr>
              <a:t>. </a:t>
            </a:r>
            <a:endParaRPr lang="en-US" sz="35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3500" dirty="0">
                <a:latin typeface="Times New Roman" panose="02020603050405020304" pitchFamily="18" charset="0"/>
                <a:cs typeface="Times New Roman" panose="02020603050405020304" pitchFamily="18" charset="0"/>
              </a:rPr>
              <a:t> Climate is driven by the sun’s energy and influenced by many factors (ocean currents, glaciers, polar ice caps, the earth’s land surface, living organisms in the oceans and on land, etc.).</a:t>
            </a:r>
          </a:p>
          <a:p>
            <a:pPr algn="just"/>
            <a:endParaRPr lang="en-US" sz="3500" b="1" dirty="0">
              <a:latin typeface="Arial" charset="0"/>
              <a:cs typeface="Times New Roman" pitchFamily="18" charset="0"/>
            </a:endParaRPr>
          </a:p>
          <a:p>
            <a:pPr algn="just"/>
            <a:endParaRPr lang="en-US" sz="3400" b="1" dirty="0">
              <a:latin typeface="Arial" charset="0"/>
              <a:cs typeface="Times New Roman" pitchFamily="18" charset="0"/>
            </a:endParaRPr>
          </a:p>
        </p:txBody>
      </p:sp>
    </p:spTree>
    <p:extLst>
      <p:ext uri="{BB962C8B-B14F-4D97-AF65-F5344CB8AC3E}">
        <p14:creationId xmlns:p14="http://schemas.microsoft.com/office/powerpoint/2010/main" val="571718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6101862"/>
            <a:ext cx="9012115" cy="79130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7" name="Picture 6"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8" name="Picture 7"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9"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1"/>
            <a:ext cx="1246746" cy="808892"/>
          </a:xfrm>
          <a:prstGeom prst="rect">
            <a:avLst/>
          </a:prstGeom>
          <a:noFill/>
          <a:ln>
            <a:noFill/>
          </a:ln>
        </p:spPr>
      </p:pic>
      <p:pic>
        <p:nvPicPr>
          <p:cNvPr id="10" name="Picture 9"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1" name="Picture 10"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2" name="Picture 11"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3" name="Picture 12"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4" name="Subtitle 2">
            <a:extLst>
              <a:ext uri="{FF2B5EF4-FFF2-40B4-BE49-F238E27FC236}">
                <a16:creationId xmlns:a16="http://schemas.microsoft.com/office/drawing/2014/main" id="{45AFD4AB-01BF-428E-A84B-67B143D3EB08}"/>
              </a:ext>
            </a:extLst>
          </p:cNvPr>
          <p:cNvSpPr txBox="1">
            <a:spLocks/>
          </p:cNvSpPr>
          <p:nvPr/>
        </p:nvSpPr>
        <p:spPr>
          <a:xfrm>
            <a:off x="723207" y="326967"/>
            <a:ext cx="10781608" cy="5486400"/>
          </a:xfrm>
          <a:prstGeom prst="rect">
            <a:avLst/>
          </a:prstGeom>
        </p:spPr>
        <p:txBody>
          <a:bodyPr>
            <a:normAutofit lnSpcReduction="1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gn="just">
              <a:buNone/>
            </a:pPr>
            <a:r>
              <a:rPr lang="en-US" sz="3500" b="1" dirty="0">
                <a:solidFill>
                  <a:srgbClr val="7030A0"/>
                </a:solidFill>
                <a:latin typeface="Times New Roman" panose="02020603050405020304" pitchFamily="18" charset="0"/>
                <a:cs typeface="Times New Roman" panose="02020603050405020304" pitchFamily="18" charset="0"/>
              </a:rPr>
              <a:t>CONCEPTUAL DEFINITIONS….</a:t>
            </a:r>
          </a:p>
          <a:p>
            <a:pPr marL="0" indent="0" algn="just">
              <a:buNone/>
            </a:pPr>
            <a:endParaRPr lang="en-US" sz="3600" b="1"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3600" b="1" dirty="0">
                <a:solidFill>
                  <a:srgbClr val="FF0000"/>
                </a:solidFill>
                <a:latin typeface="Times New Roman" panose="02020603050405020304" pitchFamily="18" charset="0"/>
                <a:cs typeface="Times New Roman" panose="02020603050405020304" pitchFamily="18" charset="0"/>
              </a:rPr>
              <a:t>3. </a:t>
            </a:r>
            <a:r>
              <a:rPr lang="en-US" sz="3600" b="1" u="sng" dirty="0">
                <a:latin typeface="Times New Roman" panose="02020603050405020304" pitchFamily="18" charset="0"/>
                <a:cs typeface="Times New Roman" panose="02020603050405020304" pitchFamily="18" charset="0"/>
              </a:rPr>
              <a:t>Climate Change:</a:t>
            </a:r>
            <a:r>
              <a:rPr lang="en-US" sz="3600" b="1"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 defined as the </a:t>
            </a:r>
            <a:r>
              <a:rPr lang="en-US" sz="3600" i="1" dirty="0">
                <a:latin typeface="Times New Roman" panose="02020603050405020304" pitchFamily="18" charset="0"/>
                <a:cs typeface="Times New Roman" panose="02020603050405020304" pitchFamily="18" charset="0"/>
              </a:rPr>
              <a:t>periodic modification of Earth’s climate as a result of changes in the atmosphere </a:t>
            </a:r>
            <a:r>
              <a:rPr lang="en-US" sz="3600" dirty="0">
                <a:latin typeface="Times New Roman" panose="02020603050405020304" pitchFamily="18" charset="0"/>
                <a:cs typeface="Times New Roman" panose="02020603050405020304" pitchFamily="18" charset="0"/>
              </a:rPr>
              <a:t>as well as interactions between the atmosphere and various other geologic, chemical, biological, and geographic factors within the Earth system.</a:t>
            </a:r>
          </a:p>
        </p:txBody>
      </p:sp>
    </p:spTree>
    <p:extLst>
      <p:ext uri="{BB962C8B-B14F-4D97-AF65-F5344CB8AC3E}">
        <p14:creationId xmlns:p14="http://schemas.microsoft.com/office/powerpoint/2010/main" val="3457521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Rectangle 3">
            <a:extLst>
              <a:ext uri="{FF2B5EF4-FFF2-40B4-BE49-F238E27FC236}">
                <a16:creationId xmlns:a16="http://schemas.microsoft.com/office/drawing/2014/main" id="{EFCBA003-0DAA-4BCC-A216-09A9762132A1}"/>
              </a:ext>
            </a:extLst>
          </p:cNvPr>
          <p:cNvSpPr txBox="1">
            <a:spLocks/>
          </p:cNvSpPr>
          <p:nvPr/>
        </p:nvSpPr>
        <p:spPr>
          <a:xfrm>
            <a:off x="731520" y="599952"/>
            <a:ext cx="10798233" cy="5440363"/>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Arial" charset="0"/>
              <a:buNone/>
            </a:pPr>
            <a:r>
              <a:rPr lang="en-US" sz="3600" dirty="0">
                <a:latin typeface="Times New Roman" panose="02020603050405020304" pitchFamily="18" charset="0"/>
                <a:cs typeface="Times New Roman" panose="02020603050405020304" pitchFamily="18" charset="0"/>
              </a:rPr>
              <a:t>Therefore,</a:t>
            </a:r>
          </a:p>
          <a:p>
            <a:pPr algn="just">
              <a:buFont typeface="Arial" charset="0"/>
              <a:buNone/>
            </a:pPr>
            <a:endParaRPr lang="en-US" sz="35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3500" dirty="0">
                <a:latin typeface="Times New Roman" panose="02020603050405020304" pitchFamily="18" charset="0"/>
                <a:cs typeface="Times New Roman" panose="02020603050405020304" pitchFamily="18" charset="0"/>
              </a:rPr>
              <a:t>A few years of unusually wet or dry weather do not necessarily reflect trends in climatic change</a:t>
            </a:r>
          </a:p>
          <a:p>
            <a:pPr algn="just">
              <a:buFont typeface="Wingdings" panose="05000000000000000000" pitchFamily="2" charset="2"/>
              <a:buChar char="§"/>
            </a:pPr>
            <a:r>
              <a:rPr lang="en-US" sz="3500" dirty="0">
                <a:latin typeface="Times New Roman" panose="02020603050405020304" pitchFamily="18" charset="0"/>
                <a:cs typeface="Times New Roman" panose="02020603050405020304" pitchFamily="18" charset="0"/>
              </a:rPr>
              <a:t>However, </a:t>
            </a:r>
            <a:r>
              <a:rPr lang="en-US" sz="3500" i="1" dirty="0">
                <a:latin typeface="Times New Roman" panose="02020603050405020304" pitchFamily="18" charset="0"/>
                <a:cs typeface="Times New Roman" panose="02020603050405020304" pitchFamily="18" charset="0"/>
              </a:rPr>
              <a:t>long-term weather records show a definite trend of global atmospheric changes. </a:t>
            </a:r>
          </a:p>
          <a:p>
            <a:endParaRPr lang="en-US" dirty="0"/>
          </a:p>
        </p:txBody>
      </p:sp>
    </p:spTree>
    <p:extLst>
      <p:ext uri="{BB962C8B-B14F-4D97-AF65-F5344CB8AC3E}">
        <p14:creationId xmlns:p14="http://schemas.microsoft.com/office/powerpoint/2010/main" val="1450623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6101862"/>
            <a:ext cx="9012115" cy="79130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7" name="Picture 6"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8" name="Picture 7"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9"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1"/>
            <a:ext cx="1246746" cy="808892"/>
          </a:xfrm>
          <a:prstGeom prst="rect">
            <a:avLst/>
          </a:prstGeom>
          <a:noFill/>
          <a:ln>
            <a:noFill/>
          </a:ln>
        </p:spPr>
      </p:pic>
      <p:pic>
        <p:nvPicPr>
          <p:cNvPr id="10" name="Picture 9"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1" name="Picture 10"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101861"/>
            <a:ext cx="1615078" cy="773723"/>
          </a:xfrm>
          <a:prstGeom prst="rect">
            <a:avLst/>
          </a:prstGeom>
          <a:noFill/>
          <a:ln>
            <a:noFill/>
          </a:ln>
        </p:spPr>
      </p:pic>
      <p:pic>
        <p:nvPicPr>
          <p:cNvPr id="12" name="Picture 11"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3" name="Picture 12"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4" name="Subtitle 2">
            <a:extLst>
              <a:ext uri="{FF2B5EF4-FFF2-40B4-BE49-F238E27FC236}">
                <a16:creationId xmlns:a16="http://schemas.microsoft.com/office/drawing/2014/main" id="{45AFD4AB-01BF-428E-A84B-67B143D3EB08}"/>
              </a:ext>
            </a:extLst>
          </p:cNvPr>
          <p:cNvSpPr txBox="1">
            <a:spLocks/>
          </p:cNvSpPr>
          <p:nvPr/>
        </p:nvSpPr>
        <p:spPr>
          <a:xfrm>
            <a:off x="468284" y="278155"/>
            <a:ext cx="11255432" cy="5699900"/>
          </a:xfrm>
          <a:prstGeom prst="rect">
            <a:avLst/>
          </a:prstGeom>
        </p:spPr>
        <p:txBody>
          <a:bodyPr>
            <a:normAutofit fontScale="92500" lnSpcReduction="1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gn="just">
              <a:buNone/>
            </a:pPr>
            <a:r>
              <a:rPr lang="en-US" sz="3900" b="1" dirty="0">
                <a:latin typeface="Times New Roman" panose="02020603050405020304" pitchFamily="18" charset="0"/>
                <a:cs typeface="Times New Roman" panose="02020603050405020304" pitchFamily="18" charset="0"/>
              </a:rPr>
              <a:t>Climate Change (Cont’d)…. </a:t>
            </a:r>
            <a:endParaRPr lang="en-ZM" sz="39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3500" dirty="0">
                <a:solidFill>
                  <a:srgbClr val="000000"/>
                </a:solidFill>
                <a:latin typeface="Times New Roman" panose="02020603050405020304" pitchFamily="18" charset="0"/>
                <a:cs typeface="Times New Roman" panose="02020603050405020304" pitchFamily="18" charset="0"/>
              </a:rPr>
              <a:t>Any process that causes adjustments to a climate system could be described as creating “climate change”. </a:t>
            </a:r>
          </a:p>
          <a:p>
            <a:pPr>
              <a:buFont typeface="Wingdings" panose="05000000000000000000" pitchFamily="2" charset="2"/>
              <a:buChar char="§"/>
            </a:pPr>
            <a:r>
              <a:rPr lang="en-US" sz="3500" dirty="0">
                <a:solidFill>
                  <a:srgbClr val="000000"/>
                </a:solidFill>
                <a:latin typeface="Times New Roman" panose="02020603050405020304" pitchFamily="18" charset="0"/>
                <a:cs typeface="Times New Roman" panose="02020603050405020304" pitchFamily="18" charset="0"/>
              </a:rPr>
              <a:t>However, </a:t>
            </a:r>
            <a:r>
              <a:rPr lang="en-US" sz="3500" i="1" dirty="0">
                <a:solidFill>
                  <a:srgbClr val="000000"/>
                </a:solidFill>
                <a:latin typeface="Times New Roman" panose="02020603050405020304" pitchFamily="18" charset="0"/>
                <a:cs typeface="Times New Roman" panose="02020603050405020304" pitchFamily="18" charset="0"/>
              </a:rPr>
              <a:t>the current period of warming is occurring more rapidly than many past events. </a:t>
            </a:r>
          </a:p>
          <a:p>
            <a:pPr>
              <a:buFont typeface="Wingdings" panose="05000000000000000000" pitchFamily="2" charset="2"/>
              <a:buChar char="§"/>
            </a:pPr>
            <a:r>
              <a:rPr lang="en-US" sz="3500" dirty="0">
                <a:solidFill>
                  <a:srgbClr val="000000"/>
                </a:solidFill>
                <a:latin typeface="Times New Roman" panose="02020603050405020304" pitchFamily="18" charset="0"/>
                <a:cs typeface="Times New Roman" panose="02020603050405020304" pitchFamily="18" charset="0"/>
              </a:rPr>
              <a:t>The rapid </a:t>
            </a:r>
            <a:r>
              <a:rPr lang="en-US" sz="3500" i="1" dirty="0">
                <a:solidFill>
                  <a:srgbClr val="000000"/>
                </a:solidFill>
                <a:latin typeface="Times New Roman" panose="02020603050405020304" pitchFamily="18" charset="0"/>
                <a:cs typeface="Times New Roman" panose="02020603050405020304" pitchFamily="18" charset="0"/>
              </a:rPr>
              <a:t>human-induced warming </a:t>
            </a:r>
            <a:r>
              <a:rPr lang="en-US" sz="3500" dirty="0">
                <a:solidFill>
                  <a:srgbClr val="000000"/>
                </a:solidFill>
                <a:latin typeface="Times New Roman" panose="02020603050405020304" pitchFamily="18" charset="0"/>
                <a:cs typeface="Times New Roman" panose="02020603050405020304" pitchFamily="18" charset="0"/>
              </a:rPr>
              <a:t>has serious implications for the stability of the planet’s climate</a:t>
            </a:r>
          </a:p>
          <a:p>
            <a:pPr>
              <a:buFont typeface="Wingdings" panose="05000000000000000000" pitchFamily="2" charset="2"/>
              <a:buChar char="§"/>
            </a:pPr>
            <a:r>
              <a:rPr lang="en-US" sz="3500" dirty="0">
                <a:solidFill>
                  <a:srgbClr val="0070C0"/>
                </a:solidFill>
                <a:latin typeface="Times New Roman" panose="02020603050405020304" pitchFamily="18" charset="0"/>
                <a:cs typeface="Times New Roman" panose="02020603050405020304" pitchFamily="18" charset="0"/>
              </a:rPr>
              <a:t>Humans are principally affecting the climate through the release of heat-trapping greenhouse gases into the air.</a:t>
            </a:r>
          </a:p>
          <a:p>
            <a:pPr marL="0" indent="0" algn="just">
              <a:buNone/>
            </a:pPr>
            <a:endParaRPr lang="en-US" sz="3600" b="1" dirty="0">
              <a:latin typeface="Arial" charset="0"/>
              <a:cs typeface="Times New Roman" pitchFamily="18" charset="0"/>
            </a:endParaRPr>
          </a:p>
        </p:txBody>
      </p:sp>
    </p:spTree>
    <p:extLst>
      <p:ext uri="{BB962C8B-B14F-4D97-AF65-F5344CB8AC3E}">
        <p14:creationId xmlns:p14="http://schemas.microsoft.com/office/powerpoint/2010/main" val="3991752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6101862"/>
            <a:ext cx="9012115" cy="79130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7" name="Picture 6"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8" name="Picture 7"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9"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1"/>
            <a:ext cx="1246746" cy="808892"/>
          </a:xfrm>
          <a:prstGeom prst="rect">
            <a:avLst/>
          </a:prstGeom>
          <a:noFill/>
          <a:ln>
            <a:noFill/>
          </a:ln>
        </p:spPr>
      </p:pic>
      <p:pic>
        <p:nvPicPr>
          <p:cNvPr id="10" name="Picture 9"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1" name="Picture 10"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2" name="Picture 11"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3" name="Picture 12"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1">
            <a:extLst>
              <a:ext uri="{FF2B5EF4-FFF2-40B4-BE49-F238E27FC236}">
                <a16:creationId xmlns:a16="http://schemas.microsoft.com/office/drawing/2014/main" id="{9508439F-E12A-4819-A181-1FE9D8CBFB9D}"/>
              </a:ext>
            </a:extLst>
          </p:cNvPr>
          <p:cNvSpPr txBox="1">
            <a:spLocks/>
          </p:cNvSpPr>
          <p:nvPr/>
        </p:nvSpPr>
        <p:spPr>
          <a:xfrm>
            <a:off x="224762" y="420982"/>
            <a:ext cx="7258767" cy="79130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CLIMATE CHANGE IS HAPPENING</a:t>
            </a:r>
          </a:p>
          <a:p>
            <a:pPr marL="0" marR="0" lvl="0" indent="0" algn="ctr" defTabSz="914400" rtl="0" eaLnBrk="1" fontAlgn="auto" latinLnBrk="0" hangingPunct="1">
              <a:lnSpc>
                <a:spcPct val="90000"/>
              </a:lnSpc>
              <a:spcBef>
                <a:spcPct val="0"/>
              </a:spcBef>
              <a:spcAft>
                <a:spcPts val="0"/>
              </a:spcAft>
              <a:buClrTx/>
              <a:buSzTx/>
              <a:buFontTx/>
              <a:buNone/>
              <a:tabLst/>
              <a:defRPr/>
            </a:pPr>
            <a:endParaRPr lang="en-US" sz="3200" b="1" dirty="0">
              <a:solidFill>
                <a:sysClr val="windowText" lastClr="000000"/>
              </a:solidFill>
              <a:latin typeface="Times New Roman" panose="02020603050405020304" pitchFamily="18" charset="0"/>
              <a:cs typeface="Times New Roman" panose="02020603050405020304" pitchFamily="18" charset="0"/>
            </a:endParaRPr>
          </a:p>
        </p:txBody>
      </p:sp>
      <p:sp>
        <p:nvSpPr>
          <p:cNvPr id="16" name="Subtitle 2">
            <a:extLst>
              <a:ext uri="{FF2B5EF4-FFF2-40B4-BE49-F238E27FC236}">
                <a16:creationId xmlns:a16="http://schemas.microsoft.com/office/drawing/2014/main" id="{CBFA47EB-2EA0-478A-A2EF-7D81DABB9AA1}"/>
              </a:ext>
            </a:extLst>
          </p:cNvPr>
          <p:cNvSpPr txBox="1">
            <a:spLocks/>
          </p:cNvSpPr>
          <p:nvPr/>
        </p:nvSpPr>
        <p:spPr>
          <a:xfrm>
            <a:off x="382385" y="930476"/>
            <a:ext cx="11296997" cy="60513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Levels of </a:t>
            </a:r>
            <a:r>
              <a:rPr lang="en-US" dirty="0">
                <a:latin typeface="Times New Roman" panose="02020603050405020304" pitchFamily="18" charset="0"/>
                <a:cs typeface="Times New Roman" panose="02020603050405020304" pitchFamily="18" charset="0"/>
              </a:rPr>
              <a:t>CO</a:t>
            </a:r>
            <a:r>
              <a:rPr lang="en-US" baseline="-25000" dirty="0">
                <a:latin typeface="Times New Roman" panose="02020603050405020304" pitchFamily="18" charset="0"/>
                <a:cs typeface="Times New Roman" panose="02020603050405020304" pitchFamily="18" charset="0"/>
              </a:rPr>
              <a:t>2</a:t>
            </a: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have risen by over 40% since the industrial revolution.</a:t>
            </a:r>
          </a:p>
          <a:p>
            <a:pPr marL="457200" indent="-457200" algn="l">
              <a:buFont typeface="Wingdings" panose="05000000000000000000" pitchFamily="2" charset="2"/>
              <a:buChar char="§"/>
              <a:defRPr/>
            </a:pPr>
            <a:r>
              <a:rPr lang="en-US" sz="2800" dirty="0">
                <a:solidFill>
                  <a:sysClr val="windowText" lastClr="000000"/>
                </a:solidFill>
                <a:latin typeface="Times New Roman" panose="02020603050405020304" pitchFamily="18" charset="0"/>
                <a:cs typeface="Times New Roman" panose="02020603050405020304" pitchFamily="18" charset="0"/>
              </a:rPr>
              <a:t>C</a:t>
            </a:r>
            <a:r>
              <a:rPr kumimoji="0" lang="en-US" sz="2800" b="0" i="0" u="none" strike="noStrike" kern="120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oncentration</a:t>
            </a: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of Green House Gases (GHG) such as Methane (CH</a:t>
            </a:r>
            <a:r>
              <a:rPr lang="en-US" sz="2800" baseline="-25000" dirty="0"/>
              <a:t>4</a:t>
            </a:r>
            <a:r>
              <a:rPr lang="en-US" dirty="0"/>
              <a:t>)</a:t>
            </a: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and Nitrous oxide have continued to rise.</a:t>
            </a:r>
          </a:p>
          <a:p>
            <a:pPr marL="457200" indent="-457200" algn="l">
              <a:buFont typeface="Wingdings" panose="05000000000000000000" pitchFamily="2" charset="2"/>
              <a:buChar char="§"/>
              <a:defRPr/>
            </a:pPr>
            <a:r>
              <a:rPr lang="en-US" sz="2800" dirty="0">
                <a:solidFill>
                  <a:sysClr val="windowText" lastClr="000000"/>
                </a:solidFill>
                <a:latin typeface="Times New Roman" panose="02020603050405020304" pitchFamily="18" charset="0"/>
                <a:cs typeface="Times New Roman" panose="02020603050405020304" pitchFamily="18" charset="0"/>
              </a:rPr>
              <a:t>Generally, climate change will increase the frequency and intensity of both flooding and droughts (Houghton, 2005).</a:t>
            </a: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
              <a:defRPr/>
            </a:pPr>
            <a:r>
              <a:rPr lang="en-US" sz="2800" dirty="0">
                <a:solidFill>
                  <a:sysClr val="windowText" lastClr="000000"/>
                </a:solidFill>
                <a:latin typeface="Times New Roman" panose="02020603050405020304" pitchFamily="18" charset="0"/>
                <a:cs typeface="Times New Roman" panose="02020603050405020304" pitchFamily="18" charset="0"/>
              </a:rPr>
              <a:t>Lower  rainfall is expected notably in southern Africa, north Africa, central America, and central Asia </a:t>
            </a:r>
          </a:p>
          <a:p>
            <a:pPr marL="457200" indent="-457200" algn="l">
              <a:buFont typeface="Wingdings" panose="05000000000000000000" pitchFamily="2" charset="2"/>
              <a:buChar char="§"/>
              <a:defRPr/>
            </a:pPr>
            <a:r>
              <a:rPr lang="en-US" sz="2800" dirty="0">
                <a:solidFill>
                  <a:sysClr val="windowText" lastClr="000000"/>
                </a:solidFill>
                <a:latin typeface="Times New Roman" panose="02020603050405020304" pitchFamily="18" charset="0"/>
                <a:cs typeface="Times New Roman" panose="02020603050405020304" pitchFamily="18" charset="0"/>
              </a:rPr>
              <a:t>Rise in global average temperatures (projections of b/n 1.4-5.8 degrees centigrade). </a:t>
            </a:r>
          </a:p>
          <a:p>
            <a:pPr marL="457200" indent="-457200" algn="l">
              <a:buFont typeface="Wingdings" panose="05000000000000000000" pitchFamily="2" charset="2"/>
              <a:buChar char="§"/>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Increases in tropical cyclones since the 1970s (</a:t>
            </a:r>
            <a:r>
              <a:rPr lang="en-US" sz="2800" dirty="0">
                <a:solidFill>
                  <a:srgbClr val="0070C0"/>
                </a:solidFill>
                <a:latin typeface="Times New Roman" panose="02020603050405020304" pitchFamily="18" charset="0"/>
                <a:cs typeface="Times New Roman" panose="02020603050405020304" pitchFamily="18" charset="0"/>
              </a:rPr>
              <a:t>More recently, </a:t>
            </a:r>
            <a:r>
              <a:rPr lang="en-US" sz="2800" dirty="0">
                <a:solidFill>
                  <a:srgbClr val="FF0000"/>
                </a:solidFill>
                <a:latin typeface="Times New Roman" panose="02020603050405020304" pitchFamily="18" charset="0"/>
                <a:cs typeface="Times New Roman" panose="02020603050405020304" pitchFamily="18" charset="0"/>
              </a:rPr>
              <a:t>Tropical Cyclone </a:t>
            </a:r>
            <a:r>
              <a:rPr lang="en-US" sz="2800" dirty="0" err="1">
                <a:solidFill>
                  <a:srgbClr val="FF0000"/>
                </a:solidFill>
                <a:latin typeface="Times New Roman" panose="02020603050405020304" pitchFamily="18" charset="0"/>
                <a:cs typeface="Times New Roman" panose="02020603050405020304" pitchFamily="18" charset="0"/>
              </a:rPr>
              <a:t>Gezani</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on 10</a:t>
            </a:r>
            <a:r>
              <a:rPr lang="en-US" sz="2800" baseline="30000" dirty="0">
                <a:solidFill>
                  <a:srgbClr val="0070C0"/>
                </a:solidFill>
                <a:latin typeface="Times New Roman" panose="02020603050405020304" pitchFamily="18" charset="0"/>
                <a:cs typeface="Times New Roman" panose="02020603050405020304" pitchFamily="18" charset="0"/>
              </a:rPr>
              <a:t>th</a:t>
            </a:r>
            <a:r>
              <a:rPr lang="en-US" sz="2800" dirty="0">
                <a:solidFill>
                  <a:srgbClr val="0070C0"/>
                </a:solidFill>
                <a:latin typeface="Times New Roman" panose="02020603050405020304" pitchFamily="18" charset="0"/>
                <a:cs typeface="Times New Roman" panose="02020603050405020304" pitchFamily="18" charset="0"/>
              </a:rPr>
              <a:t> Feb, 26…Madagascar)</a:t>
            </a:r>
            <a:r>
              <a:rPr lang="en-US" sz="2800" dirty="0">
                <a:solidFill>
                  <a:sysClr val="windowText" lastClr="000000"/>
                </a:solidFill>
                <a:latin typeface="Times New Roman" panose="02020603050405020304" pitchFamily="18" charset="0"/>
                <a:cs typeface="Times New Roman" panose="02020603050405020304" pitchFamily="18" charset="0"/>
              </a:rPr>
              <a:t>.</a:t>
            </a: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
              <a:defRPr/>
            </a:pP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1644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3">
            <a:extLst>
              <a:ext uri="{FF2B5EF4-FFF2-40B4-BE49-F238E27FC236}">
                <a16:creationId xmlns:a16="http://schemas.microsoft.com/office/drawing/2014/main" id="{2481DA45-21FF-4D4E-BE78-DC061EF04BF7}"/>
              </a:ext>
            </a:extLst>
          </p:cNvPr>
          <p:cNvSpPr txBox="1">
            <a:spLocks/>
          </p:cNvSpPr>
          <p:nvPr/>
        </p:nvSpPr>
        <p:spPr>
          <a:xfrm>
            <a:off x="172995" y="332826"/>
            <a:ext cx="7905404" cy="6672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defRPr/>
            </a:pPr>
            <a:r>
              <a:rPr lang="en-US" sz="3200" b="1" dirty="0">
                <a:solidFill>
                  <a:sysClr val="windowText" lastClr="000000"/>
                </a:solidFill>
                <a:latin typeface="Times New Roman" panose="02020603050405020304" pitchFamily="18" charset="0"/>
                <a:ea typeface="+mn-ea"/>
                <a:cs typeface="Times New Roman" panose="02020603050405020304" pitchFamily="18" charset="0"/>
              </a:rPr>
              <a:t>CLIMATE CHANGE IS HAPPENING….</a:t>
            </a:r>
          </a:p>
        </p:txBody>
      </p:sp>
      <p:sp>
        <p:nvSpPr>
          <p:cNvPr id="16" name="Subtitle 4">
            <a:extLst>
              <a:ext uri="{FF2B5EF4-FFF2-40B4-BE49-F238E27FC236}">
                <a16:creationId xmlns:a16="http://schemas.microsoft.com/office/drawing/2014/main" id="{A1391D42-A0D0-4E3A-BCC7-49D7865F4719}"/>
              </a:ext>
            </a:extLst>
          </p:cNvPr>
          <p:cNvSpPr txBox="1">
            <a:spLocks/>
          </p:cNvSpPr>
          <p:nvPr/>
        </p:nvSpPr>
        <p:spPr>
          <a:xfrm>
            <a:off x="349136" y="755096"/>
            <a:ext cx="11413374" cy="5240545"/>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dirty="0">
              <a:solidFill>
                <a:sysClr val="windowText" lastClr="000000"/>
              </a:solidFill>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There are substantial changes in the flow regimes </a:t>
            </a:r>
            <a:r>
              <a:rPr lang="en-US" sz="2800" dirty="0">
                <a:solidFill>
                  <a:sysClr val="windowText" lastClr="000000"/>
                </a:solidFill>
                <a:latin typeface="Times New Roman" panose="02020603050405020304" pitchFamily="18" charset="0"/>
                <a:cs typeface="Times New Roman" panose="02020603050405020304" pitchFamily="18" charset="0"/>
              </a:rPr>
              <a:t>of</a:t>
            </a: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rivers, influencing water availability and quality.</a:t>
            </a: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Some areas are getting wetter and others drier (IPCC 2001e)</a:t>
            </a: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With frequent floods, soil erosion is being accelerated </a:t>
            </a: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Increased evaporation is causing the flow in rivers and streams to decline.</a:t>
            </a: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Higher water temperatures are reducing water quality, e.g. promoting algal blooms.</a:t>
            </a:r>
          </a:p>
          <a:p>
            <a:pPr marL="342900" indent="-342900" algn="just">
              <a:buFont typeface="Arial" panose="020B0604020202020204" pitchFamily="34" charset="0"/>
              <a:buChar char="•"/>
              <a:defRPr/>
            </a:pPr>
            <a:r>
              <a:rPr lang="en-US" sz="2800" dirty="0">
                <a:solidFill>
                  <a:sysClr val="windowText" lastClr="000000"/>
                </a:solidFill>
                <a:latin typeface="Times New Roman" panose="02020603050405020304" pitchFamily="18" charset="0"/>
                <a:cs typeface="Times New Roman" panose="02020603050405020304" pitchFamily="18" charset="0"/>
              </a:rPr>
              <a:t>Sea levels are rising due to the world-wide retreat of glaciers and accelerated melting of polar ice sheets</a:t>
            </a:r>
            <a:endPar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1184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6101862"/>
            <a:ext cx="9012115" cy="79130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7" name="Picture 6"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8" name="Picture 7"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9"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1"/>
            <a:ext cx="1246746" cy="808892"/>
          </a:xfrm>
          <a:prstGeom prst="rect">
            <a:avLst/>
          </a:prstGeom>
          <a:noFill/>
          <a:ln>
            <a:noFill/>
          </a:ln>
        </p:spPr>
      </p:pic>
      <p:pic>
        <p:nvPicPr>
          <p:cNvPr id="10" name="Picture 9"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1" name="Picture 10"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2" name="Picture 11"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3" name="Picture 12"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CCC5168C-43AC-4F33-A040-755A1D48B1D0}"/>
              </a:ext>
            </a:extLst>
          </p:cNvPr>
          <p:cNvSpPr/>
          <p:nvPr/>
        </p:nvSpPr>
        <p:spPr>
          <a:xfrm>
            <a:off x="474414" y="381037"/>
            <a:ext cx="3005951" cy="70788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4000" b="1" kern="0" dirty="0">
                <a:solidFill>
                  <a:prstClr val="black"/>
                </a:solidFill>
                <a:latin typeface="Times New Roman" panose="02020603050405020304" pitchFamily="18" charset="0"/>
                <a:ea typeface="+mj-ea"/>
                <a:cs typeface="Times New Roman" panose="02020603050405020304" pitchFamily="18" charset="0"/>
              </a:rPr>
              <a:t>SO, WHAT?</a:t>
            </a:r>
            <a:endParaRPr kumimoji="0" lang="en-ZM" sz="18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15" name="Subtitle 4">
            <a:extLst>
              <a:ext uri="{FF2B5EF4-FFF2-40B4-BE49-F238E27FC236}">
                <a16:creationId xmlns:a16="http://schemas.microsoft.com/office/drawing/2014/main" id="{3BCAE59E-8F3A-4499-88AF-123F35883BA2}"/>
              </a:ext>
            </a:extLst>
          </p:cNvPr>
          <p:cNvSpPr txBox="1">
            <a:spLocks/>
          </p:cNvSpPr>
          <p:nvPr/>
        </p:nvSpPr>
        <p:spPr>
          <a:xfrm>
            <a:off x="438656" y="1823948"/>
            <a:ext cx="11122429" cy="292677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571500" marR="0" lvl="0" indent="-5715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Climate change is a reality, and the debate about whether it is real or not is over. Inaction can no longer be justified on the basis of uncertainty. </a:t>
            </a:r>
          </a:p>
          <a:p>
            <a:pPr marL="571500" marR="0" lvl="0" indent="-5715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Debate must now focus on what action is needed to cut GHG emissions and to enable people cope with the impacts of climate change.</a:t>
            </a:r>
          </a:p>
        </p:txBody>
      </p:sp>
    </p:spTree>
    <p:extLst>
      <p:ext uri="{BB962C8B-B14F-4D97-AF65-F5344CB8AC3E}">
        <p14:creationId xmlns:p14="http://schemas.microsoft.com/office/powerpoint/2010/main" val="1921363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1">
            <a:extLst>
              <a:ext uri="{FF2B5EF4-FFF2-40B4-BE49-F238E27FC236}">
                <a16:creationId xmlns:a16="http://schemas.microsoft.com/office/drawing/2014/main" id="{699761BF-428E-4F06-862F-77AE4BAD56D3}"/>
              </a:ext>
            </a:extLst>
          </p:cNvPr>
          <p:cNvSpPr txBox="1">
            <a:spLocks/>
          </p:cNvSpPr>
          <p:nvPr/>
        </p:nvSpPr>
        <p:spPr bwMode="auto">
          <a:xfrm>
            <a:off x="181125" y="393470"/>
            <a:ext cx="9144000" cy="68579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Gas Composition in </a:t>
            </a:r>
            <a:r>
              <a:rPr lang="en-US" sz="3600" b="1" dirty="0">
                <a:solidFill>
                  <a:sysClr val="windowText" lastClr="000000"/>
                </a:solidFill>
                <a:latin typeface="Times New Roman" panose="02020603050405020304" pitchFamily="18" charset="0"/>
                <a:cs typeface="Times New Roman" panose="02020603050405020304" pitchFamily="18" charset="0"/>
              </a:rPr>
              <a:t>a</a:t>
            </a:r>
            <a:r>
              <a:rPr kumimoji="0" lang="en-US" sz="36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Natural Atmosphere</a:t>
            </a:r>
          </a:p>
        </p:txBody>
      </p:sp>
      <p:sp>
        <p:nvSpPr>
          <p:cNvPr id="16" name="Subtitle 2">
            <a:extLst>
              <a:ext uri="{FF2B5EF4-FFF2-40B4-BE49-F238E27FC236}">
                <a16:creationId xmlns:a16="http://schemas.microsoft.com/office/drawing/2014/main" id="{A365326A-3632-450B-BBE2-CE4866471897}"/>
              </a:ext>
            </a:extLst>
          </p:cNvPr>
          <p:cNvSpPr txBox="1">
            <a:spLocks/>
          </p:cNvSpPr>
          <p:nvPr/>
        </p:nvSpPr>
        <p:spPr bwMode="auto">
          <a:xfrm>
            <a:off x="619298" y="1930416"/>
            <a:ext cx="10953404" cy="44605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just" defTabSz="914400" rtl="0" eaLnBrk="0" fontAlgn="base" latinLnBrk="0" hangingPunct="0">
              <a:lnSpc>
                <a:spcPct val="100000"/>
              </a:lnSpc>
              <a:spcBef>
                <a:spcPct val="20000"/>
              </a:spcBef>
              <a:spcAft>
                <a:spcPct val="0"/>
              </a:spcAft>
              <a:buClrTx/>
              <a:buSzTx/>
              <a:buFont typeface="Arial" charset="0"/>
              <a:buNone/>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Naturally, the atmosphere contains the following gases arranged in order of proportional composition</a:t>
            </a:r>
            <a:r>
              <a:rPr lang="en-US" dirty="0">
                <a:solidFill>
                  <a:sysClr val="windowText" lastClr="000000"/>
                </a:solidFill>
                <a:latin typeface="Times New Roman" panose="02020603050405020304" pitchFamily="18" charset="0"/>
                <a:cs typeface="Times New Roman" panose="02020603050405020304" pitchFamily="18" charset="0"/>
              </a:rPr>
              <a:t>:</a:t>
            </a:r>
            <a:endPar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Nitrogen – 78% </a:t>
            </a: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Oxygen – 21%</a:t>
            </a: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Argon – 1%</a:t>
            </a:r>
            <a:endParaRPr lang="en-US" dirty="0">
              <a:solidFill>
                <a:sysClr val="windowText" lastClr="000000"/>
              </a:solidFill>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Carbon dioxide – (0.03%)</a:t>
            </a: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Other gases – less than 1%</a:t>
            </a:r>
          </a:p>
          <a:p>
            <a:pPr marL="0" marR="0" lvl="0" indent="0" algn="just" defTabSz="914400" rtl="0" eaLnBrk="0" fontAlgn="base" latinLnBrk="0" hangingPunct="0">
              <a:lnSpc>
                <a:spcPct val="10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816882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Subtitle 2">
            <a:extLst>
              <a:ext uri="{FF2B5EF4-FFF2-40B4-BE49-F238E27FC236}">
                <a16:creationId xmlns:a16="http://schemas.microsoft.com/office/drawing/2014/main" id="{A365326A-3632-450B-BBE2-CE4866471897}"/>
              </a:ext>
            </a:extLst>
          </p:cNvPr>
          <p:cNvSpPr txBox="1">
            <a:spLocks/>
          </p:cNvSpPr>
          <p:nvPr/>
        </p:nvSpPr>
        <p:spPr bwMode="auto">
          <a:xfrm>
            <a:off x="706581" y="163696"/>
            <a:ext cx="10607041" cy="12552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571500" lvl="0" indent="-571500" algn="just" defTabSz="914400" eaLnBrk="1" fontAlgn="auto" hangingPunct="1">
              <a:spcBef>
                <a:spcPts val="0"/>
              </a:spcBef>
              <a:spcAft>
                <a:spcPts val="0"/>
              </a:spcAft>
              <a:buFont typeface="Wingdings" panose="05000000000000000000" pitchFamily="2" charset="2"/>
              <a:buChar char="§"/>
              <a:defRPr/>
            </a:pPr>
            <a:r>
              <a:rPr lang="en-US" sz="3600" dirty="0">
                <a:solidFill>
                  <a:sysClr val="windowText" lastClr="000000"/>
                </a:solidFill>
                <a:latin typeface="Times New Roman" panose="02020603050405020304" pitchFamily="18" charset="0"/>
                <a:cs typeface="Times New Roman" panose="02020603050405020304" pitchFamily="18" charset="0"/>
              </a:rPr>
              <a:t>The emission of Green house gases (GHGs) has distorted the natural composition of gases!</a:t>
            </a:r>
          </a:p>
        </p:txBody>
      </p:sp>
      <p:pic>
        <p:nvPicPr>
          <p:cNvPr id="15" name="Picture 14">
            <a:extLst>
              <a:ext uri="{FF2B5EF4-FFF2-40B4-BE49-F238E27FC236}">
                <a16:creationId xmlns:a16="http://schemas.microsoft.com/office/drawing/2014/main" id="{84C0CF1A-054D-4EAF-8B56-594D44545744}"/>
              </a:ext>
            </a:extLst>
          </p:cNvPr>
          <p:cNvPicPr/>
          <p:nvPr/>
        </p:nvPicPr>
        <p:blipFill rotWithShape="1">
          <a:blip r:embed="rId11"/>
          <a:srcRect l="21272" t="39655" r="22114" b="14909"/>
          <a:stretch/>
        </p:blipFill>
        <p:spPr bwMode="auto">
          <a:xfrm>
            <a:off x="2512117" y="1840028"/>
            <a:ext cx="7197147" cy="431970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78833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77AD9B8C-2FED-4F08-B242-F6C978AFB2E8}"/>
              </a:ext>
            </a:extLst>
          </p:cNvPr>
          <p:cNvSpPr/>
          <p:nvPr/>
        </p:nvSpPr>
        <p:spPr>
          <a:xfrm>
            <a:off x="432263" y="-20690"/>
            <a:ext cx="11114116" cy="6140142"/>
          </a:xfrm>
          <a:prstGeom prst="rect">
            <a:avLst/>
          </a:prstGeom>
        </p:spPr>
        <p:txBody>
          <a:bodyPr wrap="square">
            <a:spAutoFit/>
          </a:bodyPr>
          <a:lstStyle/>
          <a:p>
            <a:r>
              <a:rPr lang="en-US" sz="3500" b="1" dirty="0">
                <a:solidFill>
                  <a:srgbClr val="373545"/>
                </a:solidFill>
                <a:latin typeface="Times New Roman" panose="02020603050405020304" pitchFamily="18" charset="0"/>
                <a:cs typeface="Times New Roman" panose="02020603050405020304" pitchFamily="18" charset="0"/>
              </a:rPr>
              <a:t>GREEN HOUSE GASES (GHG)</a:t>
            </a:r>
          </a:p>
          <a:p>
            <a:pPr lvl="0" defTabSz="914400"/>
            <a:endParaRPr lang="en-US" sz="2400" b="1" i="1" dirty="0">
              <a:solidFill>
                <a:prstClr val="black"/>
              </a:solidFill>
              <a:latin typeface="Times New Roman" panose="02020603050405020304" pitchFamily="18" charset="0"/>
              <a:cs typeface="Times New Roman" panose="02020603050405020304" pitchFamily="18" charset="0"/>
            </a:endParaRPr>
          </a:p>
          <a:p>
            <a:pPr lvl="0" defTabSz="914400"/>
            <a:r>
              <a:rPr lang="en-US" sz="2400" b="1" i="1" dirty="0">
                <a:solidFill>
                  <a:prstClr val="black"/>
                </a:solidFill>
                <a:latin typeface="Times New Roman" panose="02020603050405020304" pitchFamily="18" charset="0"/>
                <a:cs typeface="Times New Roman" panose="02020603050405020304" pitchFamily="18" charset="0"/>
              </a:rPr>
              <a:t>			</a:t>
            </a:r>
            <a:r>
              <a:rPr lang="en-US" sz="2800" b="1" i="1" dirty="0">
                <a:solidFill>
                  <a:prstClr val="black"/>
                </a:solidFill>
                <a:latin typeface="Times New Roman" panose="02020603050405020304" pitchFamily="18" charset="0"/>
                <a:cs typeface="Times New Roman" panose="02020603050405020304" pitchFamily="18" charset="0"/>
              </a:rPr>
              <a:t>What are these </a:t>
            </a:r>
            <a:r>
              <a:rPr lang="en-US" sz="2800" b="1" i="1" dirty="0">
                <a:solidFill>
                  <a:srgbClr val="00B050"/>
                </a:solidFill>
                <a:latin typeface="Times New Roman" panose="02020603050405020304" pitchFamily="18" charset="0"/>
                <a:cs typeface="Times New Roman" panose="02020603050405020304" pitchFamily="18" charset="0"/>
              </a:rPr>
              <a:t>green house </a:t>
            </a:r>
            <a:r>
              <a:rPr lang="en-US" sz="2800" b="1" i="1" dirty="0">
                <a:solidFill>
                  <a:prstClr val="black"/>
                </a:solidFill>
                <a:latin typeface="Times New Roman" panose="02020603050405020304" pitchFamily="18" charset="0"/>
                <a:cs typeface="Times New Roman" panose="02020603050405020304" pitchFamily="18" charset="0"/>
              </a:rPr>
              <a:t>gases???</a:t>
            </a:r>
          </a:p>
          <a:p>
            <a:endParaRPr lang="en-US" sz="4400" dirty="0">
              <a:solidFill>
                <a:srgbClr val="373545"/>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GHG are atmospheric gases that can trap heat. They get their name from horticultural greenhouses </a:t>
            </a:r>
            <a:r>
              <a:rPr lang="en-US" sz="2900" dirty="0">
                <a:solidFill>
                  <a:sysClr val="windowText" lastClr="000000"/>
                </a:solidFill>
                <a:latin typeface="Times New Roman" panose="02020603050405020304" pitchFamily="18" charset="0"/>
                <a:cs typeface="Times New Roman" panose="02020603050405020304" pitchFamily="18" charset="0"/>
              </a:rPr>
              <a:t>because they function in much the same way as horticultural green houses. </a:t>
            </a:r>
            <a:r>
              <a:rPr lang="en-US" sz="290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A greenhouse is made up of </a:t>
            </a:r>
            <a:r>
              <a:rPr lang="en-US" sz="2900" dirty="0">
                <a:solidFill>
                  <a:sysClr val="windowText" lastClr="000000"/>
                </a:solidFill>
                <a:latin typeface="Times New Roman" panose="02020603050405020304" pitchFamily="18" charset="0"/>
                <a:cs typeface="Times New Roman" panose="02020603050405020304" pitchFamily="18" charset="0"/>
              </a:rPr>
              <a:t>glass roof and walls </a:t>
            </a:r>
            <a:r>
              <a:rPr lang="en-US" sz="2900" dirty="0">
                <a:solidFill>
                  <a:srgbClr val="000000"/>
                </a:solidFill>
                <a:latin typeface="Times New Roman" panose="02020603050405020304" pitchFamily="18" charset="0"/>
                <a:cs typeface="Times New Roman" panose="02020603050405020304" pitchFamily="18" charset="0"/>
              </a:rPr>
              <a:t>that let in sunlight (insolation). That insolation creates warmth (infrared).</a:t>
            </a:r>
          </a:p>
          <a:p>
            <a:pPr marL="457200" indent="-457200" algn="just">
              <a:buFont typeface="Wingdings" panose="05000000000000000000" pitchFamily="2" charset="2"/>
              <a:buChar char="§"/>
            </a:pPr>
            <a:r>
              <a:rPr lang="en-US" sz="2900" i="1" dirty="0">
                <a:solidFill>
                  <a:srgbClr val="000000"/>
                </a:solidFill>
                <a:latin typeface="Times New Roman" panose="02020603050405020304" pitchFamily="18" charset="0"/>
                <a:cs typeface="Times New Roman" panose="02020603050405020304" pitchFamily="18" charset="0"/>
              </a:rPr>
              <a:t>The big trick of a greenhouse is that it doesn’t let that warmth escape</a:t>
            </a:r>
            <a:r>
              <a:rPr lang="en-US" sz="2900" dirty="0">
                <a:solidFill>
                  <a:srgbClr val="000000"/>
                </a:solidFill>
                <a:latin typeface="Times New Roman" panose="02020603050405020304" pitchFamily="18" charset="0"/>
                <a:cs typeface="Times New Roman" panose="02020603050405020304" pitchFamily="18" charset="0"/>
              </a:rPr>
              <a:t>. </a:t>
            </a:r>
            <a:r>
              <a:rPr lang="en-US" sz="2900" i="1" dirty="0">
                <a:solidFill>
                  <a:srgbClr val="FF0000"/>
                </a:solidFill>
                <a:latin typeface="Times New Roman" panose="02020603050405020304" pitchFamily="18" charset="0"/>
                <a:cs typeface="Times New Roman" panose="02020603050405020304" pitchFamily="18" charset="0"/>
              </a:rPr>
              <a:t>That’s exactly how GHG behave.</a:t>
            </a:r>
            <a:r>
              <a:rPr lang="en-US" sz="2900" i="1" dirty="0">
                <a:solidFill>
                  <a:srgbClr val="000000"/>
                </a:solidFill>
                <a:latin typeface="Times New Roman" panose="02020603050405020304" pitchFamily="18" charset="0"/>
                <a:cs typeface="Times New Roman" panose="02020603050405020304" pitchFamily="18" charset="0"/>
              </a:rPr>
              <a:t> </a:t>
            </a:r>
            <a:r>
              <a:rPr lang="en-US" sz="2900" dirty="0">
                <a:solidFill>
                  <a:srgbClr val="000000"/>
                </a:solidFill>
                <a:latin typeface="Times New Roman" panose="02020603050405020304" pitchFamily="18" charset="0"/>
                <a:cs typeface="Times New Roman" panose="02020603050405020304" pitchFamily="18" charset="0"/>
              </a:rPr>
              <a:t>They let </a:t>
            </a:r>
            <a:r>
              <a:rPr lang="en-US" sz="2900" i="1" dirty="0">
                <a:solidFill>
                  <a:srgbClr val="000000"/>
                </a:solidFill>
                <a:latin typeface="Times New Roman" panose="02020603050405020304" pitchFamily="18" charset="0"/>
                <a:cs typeface="Times New Roman" panose="02020603050405020304" pitchFamily="18" charset="0"/>
              </a:rPr>
              <a:t>insolation</a:t>
            </a:r>
            <a:r>
              <a:rPr lang="en-US" sz="2900" dirty="0">
                <a:solidFill>
                  <a:srgbClr val="000000"/>
                </a:solidFill>
                <a:latin typeface="Times New Roman" panose="02020603050405020304" pitchFamily="18" charset="0"/>
                <a:cs typeface="Times New Roman" panose="02020603050405020304" pitchFamily="18" charset="0"/>
              </a:rPr>
              <a:t> pass through the atmosphere, but they prevent the heat (</a:t>
            </a:r>
            <a:r>
              <a:rPr lang="en-US" sz="2900" dirty="0">
                <a:solidFill>
                  <a:srgbClr val="FF0000"/>
                </a:solidFill>
                <a:latin typeface="Times New Roman" panose="02020603050405020304" pitchFamily="18" charset="0"/>
                <a:cs typeface="Times New Roman" panose="02020603050405020304" pitchFamily="18" charset="0"/>
              </a:rPr>
              <a:t>infrared</a:t>
            </a:r>
            <a:r>
              <a:rPr lang="en-US" sz="2900" dirty="0">
                <a:solidFill>
                  <a:srgbClr val="000000"/>
                </a:solidFill>
                <a:latin typeface="Times New Roman" panose="02020603050405020304" pitchFamily="18" charset="0"/>
                <a:cs typeface="Times New Roman" panose="02020603050405020304" pitchFamily="18" charset="0"/>
              </a:rPr>
              <a:t>) that the insolation brings from leaving the atmosphere.</a:t>
            </a:r>
          </a:p>
        </p:txBody>
      </p:sp>
      <p:sp>
        <p:nvSpPr>
          <p:cNvPr id="3" name="Oval 2">
            <a:extLst>
              <a:ext uri="{FF2B5EF4-FFF2-40B4-BE49-F238E27FC236}">
                <a16:creationId xmlns:a16="http://schemas.microsoft.com/office/drawing/2014/main" id="{A9E4F9C6-1BAD-4B44-B188-19667B4394BB}"/>
              </a:ext>
            </a:extLst>
          </p:cNvPr>
          <p:cNvSpPr/>
          <p:nvPr/>
        </p:nvSpPr>
        <p:spPr>
          <a:xfrm>
            <a:off x="2493818" y="964275"/>
            <a:ext cx="468622" cy="432263"/>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M"/>
          </a:p>
        </p:txBody>
      </p:sp>
    </p:spTree>
    <p:extLst>
      <p:ext uri="{BB962C8B-B14F-4D97-AF65-F5344CB8AC3E}">
        <p14:creationId xmlns:p14="http://schemas.microsoft.com/office/powerpoint/2010/main" val="34488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1">
            <a:extLst>
              <a:ext uri="{FF2B5EF4-FFF2-40B4-BE49-F238E27FC236}">
                <a16:creationId xmlns:a16="http://schemas.microsoft.com/office/drawing/2014/main" id="{5DCE5542-8567-4EA7-8C6F-F40B1356B56F}"/>
              </a:ext>
            </a:extLst>
          </p:cNvPr>
          <p:cNvSpPr txBox="1">
            <a:spLocks/>
          </p:cNvSpPr>
          <p:nvPr/>
        </p:nvSpPr>
        <p:spPr bwMode="auto">
          <a:xfrm>
            <a:off x="523702" y="340822"/>
            <a:ext cx="6434052"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sz="4000" b="1" dirty="0">
                <a:solidFill>
                  <a:srgbClr val="373545"/>
                </a:solidFill>
                <a:latin typeface="Times New Roman" panose="02020603050405020304" pitchFamily="18" charset="0"/>
                <a:cs typeface="Times New Roman" panose="02020603050405020304" pitchFamily="18" charset="0"/>
              </a:rPr>
              <a:t>Greenhouse Gases (GHG)…</a:t>
            </a:r>
          </a:p>
        </p:txBody>
      </p:sp>
      <p:sp>
        <p:nvSpPr>
          <p:cNvPr id="16" name="Subtitle 2">
            <a:extLst>
              <a:ext uri="{FF2B5EF4-FFF2-40B4-BE49-F238E27FC236}">
                <a16:creationId xmlns:a16="http://schemas.microsoft.com/office/drawing/2014/main" id="{E3FBB9F7-901E-4D41-921F-D470946D7C4C}"/>
              </a:ext>
            </a:extLst>
          </p:cNvPr>
          <p:cNvSpPr txBox="1">
            <a:spLocks/>
          </p:cNvSpPr>
          <p:nvPr/>
        </p:nvSpPr>
        <p:spPr bwMode="auto">
          <a:xfrm>
            <a:off x="523701" y="1733586"/>
            <a:ext cx="7739150" cy="5638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14400" rtl="0" eaLnBrk="1" fontAlgn="base" latinLnBrk="0" hangingPunct="1">
              <a:lnSpc>
                <a:spcPct val="80000"/>
              </a:lnSpc>
              <a:spcBef>
                <a:spcPct val="20000"/>
              </a:spcBef>
              <a:spcAft>
                <a:spcPct val="0"/>
              </a:spcAft>
              <a:buClrTx/>
              <a:buSzTx/>
              <a:buFont typeface="Arial" charset="0"/>
              <a:buNone/>
              <a:tabLst/>
              <a:defRPr/>
            </a:pPr>
            <a:endParaRPr kumimoji="0" lang="en-US" sz="3000" b="0" i="0" u="none" strike="noStrike" kern="1200" cap="none" spc="0" normalizeH="0" baseline="0" noProof="0" dirty="0">
              <a:ln>
                <a:noFill/>
              </a:ln>
              <a:solidFill>
                <a:srgbClr val="898989"/>
              </a:solidFill>
              <a:effectLst/>
              <a:uLnTx/>
              <a:uFillTx/>
              <a:latin typeface="Calibri"/>
              <a:ea typeface="+mn-ea"/>
              <a:cs typeface="+mn-cs"/>
            </a:endParaRP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r>
              <a:rPr kumimoji="0" lang="en-US" sz="3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Until recently carbon dioxide was considered to be the main greenhouse gas responsible for global warming. </a:t>
            </a:r>
          </a:p>
          <a:p>
            <a:pPr marL="0" marR="0" lvl="0" indent="0" algn="just" defTabSz="914400" rtl="0" eaLnBrk="1" fontAlgn="base" latinLnBrk="0" hangingPunct="1">
              <a:lnSpc>
                <a:spcPct val="80000"/>
              </a:lnSpc>
              <a:spcBef>
                <a:spcPct val="20000"/>
              </a:spcBef>
              <a:spcAft>
                <a:spcPct val="0"/>
              </a:spcAft>
              <a:buClrTx/>
              <a:buSzTx/>
              <a:buFont typeface="Arial" charset="0"/>
              <a:buNone/>
              <a:tabLst/>
              <a:defRPr/>
            </a:pPr>
            <a:endParaRPr kumimoji="0" lang="en-US" sz="3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r>
              <a:rPr kumimoji="0" lang="en-US" sz="3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 is now becoming clear that other gases particularly Methane, Nitrous oxide (laughing gas), Ozone and </a:t>
            </a:r>
            <a:r>
              <a:rPr lang="en-US" sz="3000" dirty="0">
                <a:solidFill>
                  <a:sysClr val="windowText" lastClr="000000"/>
                </a:solidFill>
                <a:latin typeface="Times New Roman" panose="02020603050405020304" pitchFamily="18" charset="0"/>
                <a:cs typeface="Times New Roman" panose="02020603050405020304" pitchFamily="18" charset="0"/>
              </a:rPr>
              <a:t>C</a:t>
            </a:r>
            <a:r>
              <a:rPr kumimoji="0" lang="en-US" sz="3000" b="0" i="0" u="none" strike="noStrike" kern="120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holorofluorocarbons</a:t>
            </a:r>
            <a:r>
              <a:rPr kumimoji="0" lang="en-US" sz="30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sz="3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CFCs) absorb a range of ultraviolet (UV) radiation where Carbon dioxide and water </a:t>
            </a:r>
            <a:r>
              <a:rPr kumimoji="0" lang="en-US" sz="3000" b="0" i="0" u="none" strike="noStrike" kern="120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vapour</a:t>
            </a:r>
            <a:r>
              <a:rPr kumimoji="0" lang="en-US" sz="3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are ineffective. </a:t>
            </a: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endParaRPr kumimoji="0" lang="en-US" sz="3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80000"/>
              </a:lnSpc>
              <a:spcBef>
                <a:spcPct val="20000"/>
              </a:spcBef>
              <a:spcAft>
                <a:spcPct val="0"/>
              </a:spcAft>
              <a:buClrTx/>
              <a:buSzTx/>
              <a:buFont typeface="Arial" charset="0"/>
              <a:buNone/>
              <a:tabLst/>
              <a:defRPr/>
            </a:pPr>
            <a:r>
              <a:rPr kumimoji="0" lang="en-US" sz="3000" b="0" i="0" u="none" strike="noStrike" kern="1200" cap="none" spc="0" normalizeH="0" baseline="0" noProof="0" dirty="0">
                <a:ln>
                  <a:noFill/>
                </a:ln>
                <a:solidFill>
                  <a:sysClr val="windowText" lastClr="000000"/>
                </a:solidFill>
                <a:effectLst/>
                <a:uLnTx/>
                <a:uFillTx/>
                <a:latin typeface="Arial" charset="0"/>
                <a:ea typeface="+mn-ea"/>
                <a:cs typeface="Times New Roman" pitchFamily="18" charset="0"/>
              </a:rPr>
              <a:t> </a:t>
            </a:r>
          </a:p>
          <a:p>
            <a:pPr marL="0" marR="0" lvl="0" indent="0" algn="ctr" defTabSz="914400" rtl="0" eaLnBrk="1" fontAlgn="base" latinLnBrk="0" hangingPunct="1">
              <a:lnSpc>
                <a:spcPct val="80000"/>
              </a:lnSpc>
              <a:spcBef>
                <a:spcPct val="20000"/>
              </a:spcBef>
              <a:spcAft>
                <a:spcPct val="0"/>
              </a:spcAft>
              <a:buClrTx/>
              <a:buSzTx/>
              <a:buFont typeface="Arial" charset="0"/>
              <a:buNone/>
              <a:tabLst/>
              <a:defRPr/>
            </a:pPr>
            <a:endParaRPr kumimoji="0" lang="en-US" sz="3000" b="0" i="0" u="none" strike="noStrike" kern="1200" cap="none" spc="0" normalizeH="0" baseline="0" noProof="0" dirty="0">
              <a:ln>
                <a:noFill/>
              </a:ln>
              <a:solidFill>
                <a:srgbClr val="898989"/>
              </a:solidFill>
              <a:effectLst/>
              <a:uLnTx/>
              <a:uFillTx/>
              <a:latin typeface="Arial" charset="0"/>
              <a:ea typeface="+mn-ea"/>
              <a:cs typeface="+mn-cs"/>
            </a:endParaRPr>
          </a:p>
        </p:txBody>
      </p:sp>
      <p:pic>
        <p:nvPicPr>
          <p:cNvPr id="17" name="Picture 16">
            <a:extLst>
              <a:ext uri="{FF2B5EF4-FFF2-40B4-BE49-F238E27FC236}">
                <a16:creationId xmlns:a16="http://schemas.microsoft.com/office/drawing/2014/main" id="{F8FA625D-AB15-4D47-B572-219B3BC327C6}"/>
              </a:ext>
            </a:extLst>
          </p:cNvPr>
          <p:cNvPicPr/>
          <p:nvPr/>
        </p:nvPicPr>
        <p:blipFill rotWithShape="1">
          <a:blip r:embed="rId11"/>
          <a:srcRect l="33902" t="39709" r="34744" b="15618"/>
          <a:stretch/>
        </p:blipFill>
        <p:spPr bwMode="auto">
          <a:xfrm>
            <a:off x="8395856" y="2415799"/>
            <a:ext cx="3704704" cy="311907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14052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6101862"/>
            <a:ext cx="9012115" cy="79130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7" name="Picture 6"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8" name="Picture 7"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9"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1"/>
            <a:ext cx="1246746" cy="808892"/>
          </a:xfrm>
          <a:prstGeom prst="rect">
            <a:avLst/>
          </a:prstGeom>
          <a:noFill/>
          <a:ln>
            <a:noFill/>
          </a:ln>
        </p:spPr>
      </p:pic>
      <p:pic>
        <p:nvPicPr>
          <p:cNvPr id="10" name="Picture 9"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1" name="Picture 10"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2" name="Picture 11"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3" name="Picture 12"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2" name="Picture 1">
            <a:extLst>
              <a:ext uri="{FF2B5EF4-FFF2-40B4-BE49-F238E27FC236}">
                <a16:creationId xmlns:a16="http://schemas.microsoft.com/office/drawing/2014/main" id="{FB9D782A-3DFA-4F4E-9D53-42DF6542B2B0}"/>
              </a:ext>
            </a:extLst>
          </p:cNvPr>
          <p:cNvPicPr>
            <a:picLocks noChangeAspect="1"/>
          </p:cNvPicPr>
          <p:nvPr/>
        </p:nvPicPr>
        <p:blipFill>
          <a:blip r:embed="rId11"/>
          <a:stretch>
            <a:fillRect/>
          </a:stretch>
        </p:blipFill>
        <p:spPr>
          <a:xfrm>
            <a:off x="1977390" y="-10335"/>
            <a:ext cx="7911428" cy="6068233"/>
          </a:xfrm>
          <a:prstGeom prst="rect">
            <a:avLst/>
          </a:prstGeom>
        </p:spPr>
      </p:pic>
    </p:spTree>
    <p:extLst>
      <p:ext uri="{BB962C8B-B14F-4D97-AF65-F5344CB8AC3E}">
        <p14:creationId xmlns:p14="http://schemas.microsoft.com/office/powerpoint/2010/main" val="146226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5" name="Picture 3">
            <a:extLst>
              <a:ext uri="{FF2B5EF4-FFF2-40B4-BE49-F238E27FC236}">
                <a16:creationId xmlns:a16="http://schemas.microsoft.com/office/drawing/2014/main" id="{B38D2D58-0A4A-480C-BC32-6A99F9BE2BC1}"/>
              </a:ext>
            </a:extLst>
          </p:cNvPr>
          <p:cNvPicPr>
            <a:picLocks noChangeAspect="1" noChangeArrowheads="1"/>
          </p:cNvPicPr>
          <p:nvPr/>
        </p:nvPicPr>
        <p:blipFill>
          <a:blip r:embed="rId11"/>
          <a:srcRect b="7426"/>
          <a:stretch>
            <a:fillRect/>
          </a:stretch>
        </p:blipFill>
        <p:spPr bwMode="auto">
          <a:xfrm>
            <a:off x="1450732" y="454640"/>
            <a:ext cx="8497922" cy="5594465"/>
          </a:xfrm>
          <a:prstGeom prst="rect">
            <a:avLst/>
          </a:prstGeom>
          <a:noFill/>
          <a:ln w="9525">
            <a:noFill/>
            <a:miter lim="800000"/>
            <a:headEnd/>
            <a:tailEnd/>
          </a:ln>
        </p:spPr>
      </p:pic>
    </p:spTree>
    <p:extLst>
      <p:ext uri="{BB962C8B-B14F-4D97-AF65-F5344CB8AC3E}">
        <p14:creationId xmlns:p14="http://schemas.microsoft.com/office/powerpoint/2010/main" val="206851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1">
            <a:extLst>
              <a:ext uri="{FF2B5EF4-FFF2-40B4-BE49-F238E27FC236}">
                <a16:creationId xmlns:a16="http://schemas.microsoft.com/office/drawing/2014/main" id="{DB2CD62C-A7DD-4F19-9C40-ED2BCCE8AFDF}"/>
              </a:ext>
            </a:extLst>
          </p:cNvPr>
          <p:cNvSpPr txBox="1">
            <a:spLocks/>
          </p:cNvSpPr>
          <p:nvPr/>
        </p:nvSpPr>
        <p:spPr bwMode="auto">
          <a:xfrm>
            <a:off x="228599" y="360486"/>
            <a:ext cx="7917873" cy="80009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As can be seen from diagram above:</a:t>
            </a:r>
            <a:endPar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 name="Subtitle 2">
            <a:extLst>
              <a:ext uri="{FF2B5EF4-FFF2-40B4-BE49-F238E27FC236}">
                <a16:creationId xmlns:a16="http://schemas.microsoft.com/office/drawing/2014/main" id="{3A8AA7B8-BFE1-43C9-BBE9-2D3E582476A2}"/>
              </a:ext>
            </a:extLst>
          </p:cNvPr>
          <p:cNvSpPr txBox="1">
            <a:spLocks/>
          </p:cNvSpPr>
          <p:nvPr/>
        </p:nvSpPr>
        <p:spPr bwMode="auto">
          <a:xfrm>
            <a:off x="631767" y="1379913"/>
            <a:ext cx="10723418" cy="5715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rgbClr val="898989"/>
              </a:solidFill>
              <a:effectLst/>
              <a:uLnTx/>
              <a:uFillTx/>
              <a:latin typeface="Calibri"/>
              <a:ea typeface="+mn-ea"/>
              <a:cs typeface="+mn-cs"/>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3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Some incoming sunlight (UV) is reflected by the Earth's atmosphere and surface, but most is absorbed by the surface, which is warmed. </a:t>
            </a:r>
          </a:p>
          <a:p>
            <a:pPr lvl="0" algn="just" defTabSz="914400" eaLnBrk="1" hangingPunct="1">
              <a:buFont typeface="Wingdings" pitchFamily="2" charset="2"/>
              <a:buChar char="§"/>
              <a:defRPr/>
            </a:pPr>
            <a:r>
              <a:rPr lang="en-US" sz="3000" dirty="0">
                <a:solidFill>
                  <a:prstClr val="black"/>
                </a:solidFill>
                <a:latin typeface="Times New Roman" panose="02020603050405020304" pitchFamily="18" charset="0"/>
                <a:cs typeface="Times New Roman" panose="02020603050405020304" pitchFamily="18" charset="0"/>
              </a:rPr>
              <a:t>The captured heat is what makes the earth livable!</a:t>
            </a:r>
            <a:endParaRPr kumimoji="0" lang="en-US" sz="3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3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Infrared (IR) radiation is then emitted from the surface. </a:t>
            </a:r>
          </a:p>
          <a:p>
            <a:pPr algn="just" defTabSz="914400" eaLnBrk="1" hangingPunct="1">
              <a:buFont typeface="Wingdings" pitchFamily="2" charset="2"/>
              <a:buChar char="§"/>
              <a:defRPr/>
            </a:pPr>
            <a:r>
              <a:rPr lang="en-US" sz="3000" dirty="0">
                <a:solidFill>
                  <a:prstClr val="black"/>
                </a:solidFill>
                <a:latin typeface="Times New Roman" panose="02020603050405020304" pitchFamily="18" charset="0"/>
                <a:cs typeface="Times New Roman" panose="02020603050405020304" pitchFamily="18" charset="0"/>
              </a:rPr>
              <a:t>Without it (IR), the </a:t>
            </a:r>
            <a:r>
              <a:rPr lang="en-US" sz="3000" i="1" dirty="0">
                <a:solidFill>
                  <a:prstClr val="black"/>
                </a:solidFill>
                <a:latin typeface="Times New Roman" panose="02020603050405020304" pitchFamily="18" charset="0"/>
                <a:cs typeface="Times New Roman" panose="02020603050405020304" pitchFamily="18" charset="0"/>
              </a:rPr>
              <a:t>average temperature </a:t>
            </a:r>
            <a:r>
              <a:rPr lang="en-US" sz="3000" dirty="0">
                <a:solidFill>
                  <a:prstClr val="black"/>
                </a:solidFill>
                <a:latin typeface="Times New Roman" panose="02020603050405020304" pitchFamily="18" charset="0"/>
                <a:cs typeface="Times New Roman" panose="02020603050405020304" pitchFamily="18" charset="0"/>
              </a:rPr>
              <a:t>of the earth’s surface would be well below freezing point, some 33</a:t>
            </a:r>
            <a:r>
              <a:rPr lang="en-US" sz="3000" baseline="30000" dirty="0">
                <a:solidFill>
                  <a:prstClr val="black"/>
                </a:solidFill>
                <a:latin typeface="Times New Roman" panose="02020603050405020304" pitchFamily="18" charset="0"/>
                <a:cs typeface="Times New Roman" panose="02020603050405020304" pitchFamily="18" charset="0"/>
              </a:rPr>
              <a:t>o</a:t>
            </a:r>
            <a:r>
              <a:rPr lang="en-US" sz="3000" dirty="0">
                <a:solidFill>
                  <a:prstClr val="black"/>
                </a:solidFill>
                <a:latin typeface="Times New Roman" panose="02020603050405020304" pitchFamily="18" charset="0"/>
                <a:cs typeface="Times New Roman" panose="02020603050405020304" pitchFamily="18" charset="0"/>
              </a:rPr>
              <a:t>C lower than its present </a:t>
            </a:r>
            <a:r>
              <a:rPr lang="en-US" sz="3000" b="1" dirty="0">
                <a:solidFill>
                  <a:prstClr val="black"/>
                </a:solidFill>
                <a:latin typeface="Times New Roman" panose="02020603050405020304" pitchFamily="18" charset="0"/>
                <a:cs typeface="Times New Roman" panose="02020603050405020304" pitchFamily="18" charset="0"/>
              </a:rPr>
              <a:t>15</a:t>
            </a:r>
            <a:r>
              <a:rPr lang="en-US" sz="3000" b="1" baseline="30000" dirty="0">
                <a:solidFill>
                  <a:prstClr val="black"/>
                </a:solidFill>
                <a:latin typeface="Times New Roman" panose="02020603050405020304" pitchFamily="18" charset="0"/>
                <a:cs typeface="Times New Roman" panose="02020603050405020304" pitchFamily="18" charset="0"/>
              </a:rPr>
              <a:t>o</a:t>
            </a:r>
            <a:r>
              <a:rPr lang="en-US" sz="3000" b="1" dirty="0">
                <a:solidFill>
                  <a:prstClr val="black"/>
                </a:solidFill>
                <a:latin typeface="Times New Roman" panose="02020603050405020304" pitchFamily="18" charset="0"/>
                <a:cs typeface="Times New Roman" panose="02020603050405020304" pitchFamily="18" charset="0"/>
              </a:rPr>
              <a:t>C</a:t>
            </a:r>
            <a:r>
              <a:rPr lang="en-US" sz="3000" dirty="0">
                <a:solidFill>
                  <a:prstClr val="black"/>
                </a:solidFill>
                <a:latin typeface="Times New Roman" panose="02020603050405020304" pitchFamily="18" charset="0"/>
                <a:cs typeface="Times New Roman" panose="02020603050405020304" pitchFamily="18" charset="0"/>
              </a:rPr>
              <a:t>.</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
              <a:tabLst/>
              <a:defRPr/>
            </a:pPr>
            <a:endParaRPr kumimoji="0" lang="en-US" sz="3200" b="0" i="0" u="none" strike="noStrike" kern="1200" cap="none" spc="0" normalizeH="0" baseline="0" noProof="0" dirty="0">
              <a:ln>
                <a:noFill/>
              </a:ln>
              <a:solidFill>
                <a:sysClr val="windowText" lastClr="000000"/>
              </a:solidFill>
              <a:effectLst/>
              <a:uLnTx/>
              <a:uFillTx/>
              <a:latin typeface="Arial" charset="0"/>
              <a:ea typeface="+mn-ea"/>
              <a:cs typeface="Times New Roman" pitchFamily="18" charset="0"/>
            </a:endParaRPr>
          </a:p>
        </p:txBody>
      </p:sp>
    </p:spTree>
    <p:extLst>
      <p:ext uri="{BB962C8B-B14F-4D97-AF65-F5344CB8AC3E}">
        <p14:creationId xmlns:p14="http://schemas.microsoft.com/office/powerpoint/2010/main" val="2951621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7" name="Picture 16">
            <a:extLst>
              <a:ext uri="{FF2B5EF4-FFF2-40B4-BE49-F238E27FC236}">
                <a16:creationId xmlns:a16="http://schemas.microsoft.com/office/drawing/2014/main" id="{0B5C0122-14BB-405B-8435-09E0D82F4287}"/>
              </a:ext>
            </a:extLst>
          </p:cNvPr>
          <p:cNvPicPr/>
          <p:nvPr/>
        </p:nvPicPr>
        <p:blipFill rotWithShape="1">
          <a:blip r:embed="rId11"/>
          <a:srcRect l="27808" t="25528" r="6603" b="12959"/>
          <a:stretch/>
        </p:blipFill>
        <p:spPr bwMode="auto">
          <a:xfrm>
            <a:off x="834043" y="199505"/>
            <a:ext cx="10523913" cy="587597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17550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5" name="Picture 14">
            <a:extLst>
              <a:ext uri="{FF2B5EF4-FFF2-40B4-BE49-F238E27FC236}">
                <a16:creationId xmlns:a16="http://schemas.microsoft.com/office/drawing/2014/main" id="{9AE9E4C7-17CF-48BF-B08D-CE20EED7F1A1}"/>
              </a:ext>
            </a:extLst>
          </p:cNvPr>
          <p:cNvPicPr/>
          <p:nvPr/>
        </p:nvPicPr>
        <p:blipFill rotWithShape="1">
          <a:blip r:embed="rId11"/>
          <a:srcRect l="1341" t="35032" r="4797" b="6487"/>
          <a:stretch/>
        </p:blipFill>
        <p:spPr>
          <a:xfrm>
            <a:off x="889462" y="0"/>
            <a:ext cx="10341033" cy="6084275"/>
          </a:xfrm>
          <a:prstGeom prst="rect">
            <a:avLst/>
          </a:prstGeom>
        </p:spPr>
      </p:pic>
    </p:spTree>
    <p:extLst>
      <p:ext uri="{BB962C8B-B14F-4D97-AF65-F5344CB8AC3E}">
        <p14:creationId xmlns:p14="http://schemas.microsoft.com/office/powerpoint/2010/main" val="3202220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6" name="Picture 15">
            <a:extLst>
              <a:ext uri="{FF2B5EF4-FFF2-40B4-BE49-F238E27FC236}">
                <a16:creationId xmlns:a16="http://schemas.microsoft.com/office/drawing/2014/main" id="{50E73062-E2E6-4434-99EB-54F658A407CB}"/>
              </a:ext>
            </a:extLst>
          </p:cNvPr>
          <p:cNvPicPr/>
          <p:nvPr/>
        </p:nvPicPr>
        <p:blipFill rotWithShape="1">
          <a:blip r:embed="rId11"/>
          <a:srcRect l="9528" t="22336" r="10592" b="5513"/>
          <a:stretch/>
        </p:blipFill>
        <p:spPr bwMode="auto">
          <a:xfrm>
            <a:off x="1116676" y="-17586"/>
            <a:ext cx="9958647" cy="60842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09067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6" name="Picture 15">
            <a:extLst>
              <a:ext uri="{FF2B5EF4-FFF2-40B4-BE49-F238E27FC236}">
                <a16:creationId xmlns:a16="http://schemas.microsoft.com/office/drawing/2014/main" id="{CB6922CA-863E-4AE4-9A70-3B8DFDF716A9}"/>
              </a:ext>
            </a:extLst>
          </p:cNvPr>
          <p:cNvPicPr/>
          <p:nvPr/>
        </p:nvPicPr>
        <p:blipFill rotWithShape="1">
          <a:blip r:embed="rId11"/>
          <a:srcRect l="38666" t="23755" r="10148" b="8173"/>
          <a:stretch/>
        </p:blipFill>
        <p:spPr bwMode="auto">
          <a:xfrm>
            <a:off x="784167" y="0"/>
            <a:ext cx="10623665" cy="68579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54776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5" name="Picture 14">
            <a:extLst>
              <a:ext uri="{FF2B5EF4-FFF2-40B4-BE49-F238E27FC236}">
                <a16:creationId xmlns:a16="http://schemas.microsoft.com/office/drawing/2014/main" id="{7CB94A5A-1980-4316-A07E-776F24BB01C6}"/>
              </a:ext>
            </a:extLst>
          </p:cNvPr>
          <p:cNvPicPr/>
          <p:nvPr/>
        </p:nvPicPr>
        <p:blipFill rotWithShape="1">
          <a:blip r:embed="rId11"/>
          <a:srcRect l="4764" t="21450" r="1174" b="7464"/>
          <a:stretch/>
        </p:blipFill>
        <p:spPr bwMode="auto">
          <a:xfrm>
            <a:off x="0" y="307571"/>
            <a:ext cx="12192000" cy="618467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9404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6" name="Picture 15">
            <a:extLst>
              <a:ext uri="{FF2B5EF4-FFF2-40B4-BE49-F238E27FC236}">
                <a16:creationId xmlns:a16="http://schemas.microsoft.com/office/drawing/2014/main" id="{5A80953C-F6F2-44E9-8019-9A0955B28A0B}"/>
              </a:ext>
            </a:extLst>
          </p:cNvPr>
          <p:cNvPicPr/>
          <p:nvPr/>
        </p:nvPicPr>
        <p:blipFill rotWithShape="1">
          <a:blip r:embed="rId11"/>
          <a:srcRect l="4653" t="21982" r="953" b="7463"/>
          <a:stretch/>
        </p:blipFill>
        <p:spPr bwMode="auto">
          <a:xfrm>
            <a:off x="597823" y="26989"/>
            <a:ext cx="11006744" cy="602211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16860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5" name="Picture 14">
            <a:extLst>
              <a:ext uri="{FF2B5EF4-FFF2-40B4-BE49-F238E27FC236}">
                <a16:creationId xmlns:a16="http://schemas.microsoft.com/office/drawing/2014/main" id="{EE2029EE-8B42-4A7E-856B-FB24D8863BFA}"/>
              </a:ext>
            </a:extLst>
          </p:cNvPr>
          <p:cNvPicPr/>
          <p:nvPr/>
        </p:nvPicPr>
        <p:blipFill rotWithShape="1">
          <a:blip r:embed="rId11"/>
          <a:srcRect l="3546" t="21983" r="952" b="8348"/>
          <a:stretch/>
        </p:blipFill>
        <p:spPr bwMode="auto">
          <a:xfrm>
            <a:off x="0" y="0"/>
            <a:ext cx="12192000" cy="60578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54572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6" name="Picture 15">
            <a:extLst>
              <a:ext uri="{FF2B5EF4-FFF2-40B4-BE49-F238E27FC236}">
                <a16:creationId xmlns:a16="http://schemas.microsoft.com/office/drawing/2014/main" id="{3B0CC315-9732-47D4-A54D-ACE10654C44E}"/>
              </a:ext>
            </a:extLst>
          </p:cNvPr>
          <p:cNvPicPr/>
          <p:nvPr/>
        </p:nvPicPr>
        <p:blipFill rotWithShape="1">
          <a:blip r:embed="rId11"/>
          <a:srcRect l="4210" t="22336" r="953" b="7464"/>
          <a:stretch/>
        </p:blipFill>
        <p:spPr bwMode="auto">
          <a:xfrm>
            <a:off x="0" y="0"/>
            <a:ext cx="12192000" cy="624285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85883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5" name="Picture 14">
            <a:extLst>
              <a:ext uri="{FF2B5EF4-FFF2-40B4-BE49-F238E27FC236}">
                <a16:creationId xmlns:a16="http://schemas.microsoft.com/office/drawing/2014/main" id="{B582EDF9-3F72-466D-B1A5-BF7997376D7B}"/>
              </a:ext>
            </a:extLst>
          </p:cNvPr>
          <p:cNvPicPr/>
          <p:nvPr/>
        </p:nvPicPr>
        <p:blipFill rotWithShape="1">
          <a:blip r:embed="rId11"/>
          <a:srcRect l="4985" t="21804" r="842" b="7818"/>
          <a:stretch/>
        </p:blipFill>
        <p:spPr bwMode="auto">
          <a:xfrm>
            <a:off x="0" y="0"/>
            <a:ext cx="12191999" cy="60842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357533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6" name="Picture 15">
            <a:extLst>
              <a:ext uri="{FF2B5EF4-FFF2-40B4-BE49-F238E27FC236}">
                <a16:creationId xmlns:a16="http://schemas.microsoft.com/office/drawing/2014/main" id="{2E93186C-D30A-4A9D-A335-326F66AF6D62}"/>
              </a:ext>
            </a:extLst>
          </p:cNvPr>
          <p:cNvPicPr/>
          <p:nvPr/>
        </p:nvPicPr>
        <p:blipFill rotWithShape="1">
          <a:blip r:embed="rId11"/>
          <a:srcRect l="28141" t="15778" r="4054" b="6932"/>
          <a:stretch/>
        </p:blipFill>
        <p:spPr bwMode="auto">
          <a:xfrm>
            <a:off x="1130532" y="26013"/>
            <a:ext cx="9950334" cy="605826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37208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3" name="Rectangle 2">
            <a:extLst>
              <a:ext uri="{FF2B5EF4-FFF2-40B4-BE49-F238E27FC236}">
                <a16:creationId xmlns:a16="http://schemas.microsoft.com/office/drawing/2014/main" id="{51C7E0CD-658F-4FCE-B696-C500B3DCD5C7}"/>
              </a:ext>
            </a:extLst>
          </p:cNvPr>
          <p:cNvSpPr/>
          <p:nvPr/>
        </p:nvSpPr>
        <p:spPr>
          <a:xfrm>
            <a:off x="507076" y="355249"/>
            <a:ext cx="11014364" cy="5201424"/>
          </a:xfrm>
          <a:prstGeom prst="rect">
            <a:avLst/>
          </a:prstGeom>
        </p:spPr>
        <p:txBody>
          <a:bodyPr wrap="square">
            <a:spAutoFit/>
          </a:bodyPr>
          <a:lstStyle/>
          <a:p>
            <a:r>
              <a:rPr lang="en-US" sz="3600" b="1" dirty="0">
                <a:solidFill>
                  <a:srgbClr val="373545"/>
                </a:solidFill>
                <a:latin typeface="Times New Roman" panose="02020603050405020304" pitchFamily="18" charset="0"/>
                <a:cs typeface="Times New Roman" panose="02020603050405020304" pitchFamily="18" charset="0"/>
              </a:rPr>
              <a:t>Sources of GHGs </a:t>
            </a:r>
          </a:p>
          <a:p>
            <a:endParaRPr lang="en-US" sz="3600" dirty="0">
              <a:solidFill>
                <a:srgbClr val="373545"/>
              </a:solidFill>
              <a:latin typeface="Times New Roman" panose="02020603050405020304" pitchFamily="18" charset="0"/>
              <a:cs typeface="Times New Roman" panose="02020603050405020304" pitchFamily="18" charset="0"/>
            </a:endParaRPr>
          </a:p>
          <a:p>
            <a:endParaRPr lang="en-US" sz="3600" dirty="0">
              <a:solidFill>
                <a:srgbClr val="373545"/>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The </a:t>
            </a:r>
            <a:r>
              <a:rPr lang="en-US" sz="3200" dirty="0">
                <a:solidFill>
                  <a:srgbClr val="FF0000"/>
                </a:solidFill>
                <a:latin typeface="Times New Roman" panose="02020603050405020304" pitchFamily="18" charset="0"/>
                <a:cs typeface="Times New Roman" panose="02020603050405020304" pitchFamily="18" charset="0"/>
              </a:rPr>
              <a:t>CO</a:t>
            </a:r>
            <a:r>
              <a:rPr lang="en-US" sz="3200" baseline="-25000" dirty="0">
                <a:solidFill>
                  <a:srgbClr val="FF0000"/>
                </a:solidFill>
                <a:latin typeface="Times New Roman" panose="02020603050405020304" pitchFamily="18" charset="0"/>
                <a:cs typeface="Times New Roman" panose="02020603050405020304" pitchFamily="18" charset="0"/>
              </a:rPr>
              <a:t>2</a:t>
            </a:r>
            <a:r>
              <a:rPr lang="en-US" sz="3200" dirty="0">
                <a:solidFill>
                  <a:srgbClr val="000000"/>
                </a:solidFill>
                <a:latin typeface="Times New Roman" panose="02020603050405020304" pitchFamily="18" charset="0"/>
                <a:cs typeface="Times New Roman" panose="02020603050405020304" pitchFamily="18" charset="0"/>
              </a:rPr>
              <a:t> and other non-</a:t>
            </a:r>
            <a:r>
              <a:rPr lang="en-US" sz="3200" dirty="0">
                <a:latin typeface="Times New Roman" panose="02020603050405020304" pitchFamily="18" charset="0"/>
                <a:cs typeface="Times New Roman" panose="02020603050405020304" pitchFamily="18" charset="0"/>
              </a:rPr>
              <a:t> CO</a:t>
            </a:r>
            <a:r>
              <a:rPr lang="en-US" sz="3200" baseline="-25000" dirty="0">
                <a:latin typeface="Times New Roman" panose="02020603050405020304" pitchFamily="18" charset="0"/>
                <a:cs typeface="Times New Roman" panose="02020603050405020304" pitchFamily="18" charset="0"/>
              </a:rPr>
              <a:t>2</a:t>
            </a:r>
            <a:r>
              <a:rPr lang="en-US" sz="3200" dirty="0">
                <a:solidFill>
                  <a:srgbClr val="000000"/>
                </a:solidFill>
                <a:latin typeface="Times New Roman" panose="02020603050405020304" pitchFamily="18" charset="0"/>
                <a:cs typeface="Times New Roman" panose="02020603050405020304" pitchFamily="18" charset="0"/>
              </a:rPr>
              <a:t> GHGs, largely </a:t>
            </a:r>
            <a:r>
              <a:rPr lang="en-US" sz="3200" i="1" dirty="0">
                <a:solidFill>
                  <a:srgbClr val="FF0000"/>
                </a:solidFill>
                <a:latin typeface="Times New Roman" panose="02020603050405020304" pitchFamily="18" charset="0"/>
                <a:cs typeface="Times New Roman" panose="02020603050405020304" pitchFamily="18" charset="0"/>
              </a:rPr>
              <a:t>Methane</a:t>
            </a:r>
            <a:r>
              <a:rPr lang="en-US" sz="3200" dirty="0">
                <a:solidFill>
                  <a:srgbClr val="000000"/>
                </a:solidFill>
                <a:latin typeface="Times New Roman" panose="02020603050405020304" pitchFamily="18" charset="0"/>
                <a:cs typeface="Times New Roman" panose="02020603050405020304" pitchFamily="18" charset="0"/>
              </a:rPr>
              <a:t> </a:t>
            </a:r>
            <a:r>
              <a:rPr lang="en-US" sz="3200" dirty="0">
                <a:solidFill>
                  <a:srgbClr val="FF0000"/>
                </a:solidFill>
                <a:latin typeface="Times New Roman" panose="02020603050405020304" pitchFamily="18" charset="0"/>
                <a:cs typeface="Times New Roman" panose="02020603050405020304" pitchFamily="18" charset="0"/>
              </a:rPr>
              <a:t>(CH4) </a:t>
            </a:r>
            <a:r>
              <a:rPr lang="en-US" sz="3200" dirty="0">
                <a:solidFill>
                  <a:srgbClr val="000000"/>
                </a:solidFill>
                <a:latin typeface="Times New Roman" panose="02020603050405020304" pitchFamily="18" charset="0"/>
                <a:cs typeface="Times New Roman" panose="02020603050405020304" pitchFamily="18" charset="0"/>
              </a:rPr>
              <a:t>and </a:t>
            </a:r>
            <a:r>
              <a:rPr lang="en-US" sz="3200" dirty="0">
                <a:solidFill>
                  <a:srgbClr val="FF0000"/>
                </a:solidFill>
                <a:latin typeface="Times New Roman" panose="02020603050405020304" pitchFamily="18" charset="0"/>
                <a:cs typeface="Times New Roman" panose="02020603050405020304" pitchFamily="18" charset="0"/>
              </a:rPr>
              <a:t>Nitrous oxide (N</a:t>
            </a:r>
            <a:r>
              <a:rPr lang="en-US" sz="3200" baseline="-25000" dirty="0">
                <a:solidFill>
                  <a:srgbClr val="FF0000"/>
                </a:solidFill>
                <a:latin typeface="Times New Roman" panose="02020603050405020304" pitchFamily="18" charset="0"/>
                <a:cs typeface="Times New Roman" panose="02020603050405020304" pitchFamily="18" charset="0"/>
              </a:rPr>
              <a:t>2</a:t>
            </a:r>
            <a:r>
              <a:rPr lang="en-US" sz="3200" dirty="0">
                <a:solidFill>
                  <a:srgbClr val="FF0000"/>
                </a:solidFill>
                <a:latin typeface="Times New Roman" panose="02020603050405020304" pitchFamily="18" charset="0"/>
                <a:cs typeface="Times New Roman" panose="02020603050405020304" pitchFamily="18" charset="0"/>
              </a:rPr>
              <a:t>O</a:t>
            </a:r>
            <a:r>
              <a:rPr lang="en-US" sz="3200" dirty="0">
                <a:solidFill>
                  <a:srgbClr val="000000"/>
                </a:solidFill>
                <a:latin typeface="Times New Roman" panose="02020603050405020304" pitchFamily="18" charset="0"/>
                <a:cs typeface="Times New Roman" panose="02020603050405020304" pitchFamily="18" charset="0"/>
              </a:rPr>
              <a:t>), are constantly released to the atmosphere by:</a:t>
            </a:r>
          </a:p>
          <a:p>
            <a:pPr marL="1485900" lvl="2" indent="-5715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plant and animal respiration</a:t>
            </a:r>
          </a:p>
          <a:p>
            <a:pPr marL="1485900" lvl="2" indent="-5715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decomposition of dead plant biomass and soil organic matter, and </a:t>
            </a:r>
          </a:p>
          <a:p>
            <a:pPr marL="1485900" lvl="2" indent="-5715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Combustion of fossil fuels</a:t>
            </a:r>
          </a:p>
        </p:txBody>
      </p:sp>
    </p:spTree>
    <p:extLst>
      <p:ext uri="{BB962C8B-B14F-4D97-AF65-F5344CB8AC3E}">
        <p14:creationId xmlns:p14="http://schemas.microsoft.com/office/powerpoint/2010/main" val="1012562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3811D8FB-B73F-4508-AC59-077606D8CC6A}"/>
              </a:ext>
            </a:extLst>
          </p:cNvPr>
          <p:cNvSpPr/>
          <p:nvPr/>
        </p:nvSpPr>
        <p:spPr>
          <a:xfrm>
            <a:off x="482138" y="1735853"/>
            <a:ext cx="11114117" cy="4216539"/>
          </a:xfrm>
          <a:prstGeom prst="rect">
            <a:avLst/>
          </a:prstGeom>
        </p:spPr>
        <p:txBody>
          <a:bodyPr wrap="square">
            <a:spAutoFit/>
          </a:bodyPr>
          <a:lstStyle/>
          <a:p>
            <a:endParaRPr lang="en-ZM" sz="1200" dirty="0">
              <a:solidFill>
                <a:srgbClr val="000000"/>
              </a:solidFill>
              <a:latin typeface="Tw Cen MT" panose="020B0602020104020603" pitchFamily="34" charset="0"/>
            </a:endParaRPr>
          </a:p>
          <a:p>
            <a:pPr marL="457200" indent="-457200" algn="just">
              <a:buFont typeface="Wingdings" panose="05000000000000000000" pitchFamily="2" charset="2"/>
              <a:buChar char="§"/>
            </a:pPr>
            <a:r>
              <a:rPr lang="en-US" sz="3200" b="1" dirty="0">
                <a:solidFill>
                  <a:srgbClr val="000000"/>
                </a:solidFill>
                <a:latin typeface="Times New Roman" panose="02020603050405020304" pitchFamily="18" charset="0"/>
                <a:cs typeface="Times New Roman" panose="02020603050405020304" pitchFamily="18" charset="0"/>
              </a:rPr>
              <a:t>Water </a:t>
            </a:r>
            <a:r>
              <a:rPr lang="en-US" sz="3200" b="1" dirty="0" err="1">
                <a:solidFill>
                  <a:srgbClr val="000000"/>
                </a:solidFill>
                <a:latin typeface="Times New Roman" panose="02020603050405020304" pitchFamily="18" charset="0"/>
                <a:cs typeface="Times New Roman" panose="02020603050405020304" pitchFamily="18" charset="0"/>
              </a:rPr>
              <a:t>Vapour</a:t>
            </a:r>
            <a:r>
              <a:rPr lang="en-US" sz="3200" b="1" dirty="0">
                <a:solidFill>
                  <a:srgbClr val="000000"/>
                </a:solidFill>
                <a:latin typeface="Times New Roman" panose="02020603050405020304" pitchFamily="18" charset="0"/>
                <a:cs typeface="Times New Roman" panose="02020603050405020304" pitchFamily="18" charset="0"/>
              </a:rPr>
              <a:t> (2H</a:t>
            </a:r>
            <a:r>
              <a:rPr lang="en-US" sz="3200" b="1" baseline="-25000" dirty="0">
                <a:latin typeface="Times New Roman" panose="02020603050405020304" pitchFamily="18" charset="0"/>
                <a:cs typeface="Times New Roman" panose="02020603050405020304" pitchFamily="18" charset="0"/>
              </a:rPr>
              <a:t>2</a:t>
            </a:r>
            <a:r>
              <a:rPr lang="en-US" sz="3200" b="1" dirty="0">
                <a:solidFill>
                  <a:srgbClr val="000000"/>
                </a:solidFill>
                <a:latin typeface="Times New Roman" panose="02020603050405020304" pitchFamily="18" charset="0"/>
                <a:cs typeface="Times New Roman" panose="02020603050405020304" pitchFamily="18" charset="0"/>
              </a:rPr>
              <a:t>O) </a:t>
            </a:r>
            <a:r>
              <a:rPr lang="en-US" sz="3200" dirty="0">
                <a:solidFill>
                  <a:srgbClr val="000000"/>
                </a:solidFill>
                <a:latin typeface="Times New Roman" panose="02020603050405020304" pitchFamily="18" charset="0"/>
                <a:cs typeface="Times New Roman" panose="02020603050405020304" pitchFamily="18" charset="0"/>
              </a:rPr>
              <a:t>is water in gaseous form which forms clouds and falls back to earth as rain. [It’s a GHG with a </a:t>
            </a:r>
            <a:r>
              <a:rPr lang="en-US" sz="3200" i="1" dirty="0">
                <a:solidFill>
                  <a:srgbClr val="0070C0"/>
                </a:solidFill>
                <a:latin typeface="Times New Roman" panose="02020603050405020304" pitchFamily="18" charset="0"/>
                <a:cs typeface="Times New Roman" panose="02020603050405020304" pitchFamily="18" charset="0"/>
              </a:rPr>
              <a:t>very short residence period of 1 week]</a:t>
            </a:r>
          </a:p>
          <a:p>
            <a:pPr algn="just"/>
            <a:endParaRPr lang="en-US" sz="3200"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CO</a:t>
            </a:r>
            <a:r>
              <a:rPr lang="en-US" sz="3200" b="1" baseline="-25000" dirty="0">
                <a:latin typeface="Times New Roman" panose="02020603050405020304" pitchFamily="18" charset="0"/>
                <a:cs typeface="Times New Roman" panose="02020603050405020304" pitchFamily="18" charset="0"/>
              </a:rPr>
              <a:t>2</a:t>
            </a:r>
            <a:r>
              <a:rPr lang="en-US" sz="3200" baseline="-25000" dirty="0">
                <a:latin typeface="Times New Roman" panose="02020603050405020304" pitchFamily="18" charset="0"/>
                <a:cs typeface="Times New Roman" panose="02020603050405020304" pitchFamily="18" charset="0"/>
              </a:rPr>
              <a:t> </a:t>
            </a:r>
            <a:r>
              <a:rPr lang="en-US" sz="3200" dirty="0">
                <a:solidFill>
                  <a:srgbClr val="000000"/>
                </a:solidFill>
                <a:latin typeface="Times New Roman" panose="02020603050405020304" pitchFamily="18" charset="0"/>
                <a:cs typeface="Times New Roman" panose="02020603050405020304" pitchFamily="18" charset="0"/>
              </a:rPr>
              <a:t>is released when burning fossil fuels, coal and oil. </a:t>
            </a:r>
            <a:r>
              <a:rPr lang="en-US" sz="3200" i="1" dirty="0">
                <a:solidFill>
                  <a:srgbClr val="FF0000"/>
                </a:solidFill>
                <a:latin typeface="Times New Roman" panose="02020603050405020304" pitchFamily="18" charset="0"/>
                <a:cs typeface="Times New Roman" panose="02020603050405020304" pitchFamily="18" charset="0"/>
              </a:rPr>
              <a:t>It’s the most important contributor to human-induced global warming</a:t>
            </a:r>
            <a:r>
              <a:rPr lang="en-US" sz="3200" dirty="0">
                <a:solidFill>
                  <a:srgbClr val="000000"/>
                </a:solidFill>
                <a:latin typeface="Times New Roman" panose="02020603050405020304" pitchFamily="18" charset="0"/>
                <a:cs typeface="Times New Roman" panose="02020603050405020304" pitchFamily="18" charset="0"/>
              </a:rPr>
              <a:t>. It also has the </a:t>
            </a:r>
            <a:r>
              <a:rPr lang="en-US" sz="3200" dirty="0">
                <a:latin typeface="Times New Roman" panose="02020603050405020304" pitchFamily="18" charset="0"/>
                <a:cs typeface="Times New Roman" panose="02020603050405020304" pitchFamily="18" charset="0"/>
              </a:rPr>
              <a:t>longest </a:t>
            </a:r>
            <a:r>
              <a:rPr lang="en-US" sz="3200" dirty="0">
                <a:solidFill>
                  <a:srgbClr val="0070C0"/>
                </a:solidFill>
                <a:latin typeface="Times New Roman" panose="02020603050405020304" pitchFamily="18" charset="0"/>
                <a:cs typeface="Times New Roman" panose="02020603050405020304" pitchFamily="18" charset="0"/>
              </a:rPr>
              <a:t>atmospheric residence period of about 1000 years</a:t>
            </a:r>
            <a:r>
              <a:rPr lang="en-US" sz="3200" dirty="0">
                <a:solidFill>
                  <a:srgbClr val="0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79949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Title 3">
            <a:extLst>
              <a:ext uri="{FF2B5EF4-FFF2-40B4-BE49-F238E27FC236}">
                <a16:creationId xmlns:a16="http://schemas.microsoft.com/office/drawing/2014/main" id="{B37AE3ED-72B5-449F-8DD0-8C16887ED82B}"/>
              </a:ext>
            </a:extLst>
          </p:cNvPr>
          <p:cNvSpPr txBox="1">
            <a:spLocks/>
          </p:cNvSpPr>
          <p:nvPr/>
        </p:nvSpPr>
        <p:spPr bwMode="auto">
          <a:xfrm>
            <a:off x="422193" y="288175"/>
            <a:ext cx="4349312"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400" eaLnBrk="1" hangingPunct="1"/>
            <a:r>
              <a:rPr lang="en-US" sz="3600" b="1" dirty="0">
                <a:latin typeface="Times New Roman" panose="02020603050405020304" pitchFamily="18" charset="0"/>
                <a:cs typeface="Times New Roman" panose="02020603050405020304" pitchFamily="18" charset="0"/>
              </a:rPr>
              <a:t>Nitrous Oxide </a:t>
            </a:r>
            <a:r>
              <a:rPr lang="en-US" sz="3600" b="1" dirty="0">
                <a:solidFill>
                  <a:srgbClr val="000000"/>
                </a:solidFill>
                <a:latin typeface="Times New Roman" panose="02020603050405020304" pitchFamily="18" charset="0"/>
                <a:cs typeface="Times New Roman" panose="02020603050405020304" pitchFamily="18" charset="0"/>
              </a:rPr>
              <a:t>(N</a:t>
            </a:r>
            <a:r>
              <a:rPr lang="en-US" sz="3600" b="1" baseline="-25000" dirty="0">
                <a:solidFill>
                  <a:srgbClr val="000000"/>
                </a:solidFill>
                <a:latin typeface="Times New Roman" panose="02020603050405020304" pitchFamily="18" charset="0"/>
                <a:cs typeface="Times New Roman" panose="02020603050405020304" pitchFamily="18" charset="0"/>
              </a:rPr>
              <a:t>2</a:t>
            </a:r>
            <a:r>
              <a:rPr lang="en-US" sz="3600" b="1" dirty="0">
                <a:solidFill>
                  <a:srgbClr val="000000"/>
                </a:solidFill>
                <a:latin typeface="Times New Roman" panose="02020603050405020304" pitchFamily="18" charset="0"/>
                <a:cs typeface="Times New Roman" panose="02020603050405020304" pitchFamily="18" charset="0"/>
              </a:rPr>
              <a:t>O)</a:t>
            </a:r>
            <a:r>
              <a:rPr lang="en-US" sz="3600" dirty="0">
                <a:solidFill>
                  <a:srgbClr val="000000"/>
                </a:solidFill>
                <a:latin typeface="Times New Roman" panose="02020603050405020304" pitchFamily="18" charset="0"/>
                <a:cs typeface="Times New Roman" panose="02020603050405020304" pitchFamily="18" charset="0"/>
              </a:rPr>
              <a:t> </a:t>
            </a:r>
            <a:endParaRPr lang="en-US" sz="3600" b="1" dirty="0">
              <a:latin typeface="Times New Roman" panose="02020603050405020304" pitchFamily="18" charset="0"/>
              <a:cs typeface="Times New Roman" panose="02020603050405020304" pitchFamily="18" charset="0"/>
            </a:endParaRPr>
          </a:p>
        </p:txBody>
      </p:sp>
      <p:sp>
        <p:nvSpPr>
          <p:cNvPr id="17" name="Subtitle 4">
            <a:extLst>
              <a:ext uri="{FF2B5EF4-FFF2-40B4-BE49-F238E27FC236}">
                <a16:creationId xmlns:a16="http://schemas.microsoft.com/office/drawing/2014/main" id="{CF61CA29-5E0D-4D3F-A679-18F9A9DA7D58}"/>
              </a:ext>
            </a:extLst>
          </p:cNvPr>
          <p:cNvSpPr txBox="1">
            <a:spLocks/>
          </p:cNvSpPr>
          <p:nvPr/>
        </p:nvSpPr>
        <p:spPr bwMode="auto">
          <a:xfrm>
            <a:off x="126061" y="1809402"/>
            <a:ext cx="11053158" cy="25547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lvl="0" indent="-457200" algn="just" defTabSz="914400" eaLnBrk="1" hangingPunct="1">
              <a:lnSpc>
                <a:spcPct val="90000"/>
              </a:lnSpc>
              <a:buFont typeface="Wingdings" panose="05000000000000000000" pitchFamily="2" charset="2"/>
              <a:buChar char="§"/>
              <a:defRPr/>
            </a:pPr>
            <a:r>
              <a:rPr kumimoji="0" lang="en-US" sz="3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Once used as a light </a:t>
            </a:r>
            <a:r>
              <a:rPr kumimoji="0" lang="en-US" sz="3400" b="0" i="0" u="none" strike="noStrike" kern="120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anaesthetic</a:t>
            </a:r>
            <a:r>
              <a:rPr kumimoji="0" lang="en-US" sz="3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lang="en-US" b="1" dirty="0">
                <a:solidFill>
                  <a:srgbClr val="000000"/>
                </a:solidFill>
                <a:latin typeface="Times New Roman" panose="02020603050405020304" pitchFamily="18" charset="0"/>
                <a:cs typeface="Times New Roman" panose="02020603050405020304" pitchFamily="18" charset="0"/>
              </a:rPr>
              <a:t>N</a:t>
            </a:r>
            <a:r>
              <a:rPr lang="en-US" b="1" baseline="-25000" dirty="0">
                <a:solidFill>
                  <a:srgbClr val="000000"/>
                </a:solidFill>
                <a:latin typeface="Times New Roman" panose="02020603050405020304" pitchFamily="18" charset="0"/>
                <a:cs typeface="Times New Roman" panose="02020603050405020304" pitchFamily="18" charset="0"/>
              </a:rPr>
              <a:t>2</a:t>
            </a:r>
            <a:r>
              <a:rPr lang="en-US" b="1" dirty="0">
                <a:solidFill>
                  <a:srgbClr val="000000"/>
                </a:solidFill>
                <a:latin typeface="Times New Roman" panose="02020603050405020304" pitchFamily="18" charset="0"/>
                <a:cs typeface="Times New Roman" panose="02020603050405020304" pitchFamily="18" charset="0"/>
              </a:rPr>
              <a:t>O </a:t>
            </a:r>
            <a:r>
              <a:rPr kumimoji="0" lang="en-US" sz="3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causes people to laugh and so is known as a laughing gas.   </a:t>
            </a:r>
            <a:endParaRPr lang="en-US" sz="3400" dirty="0">
              <a:solidFill>
                <a:sysClr val="windowText" lastClr="000000"/>
              </a:solidFill>
              <a:latin typeface="Times New Roman" panose="02020603050405020304" pitchFamily="18" charset="0"/>
              <a:cs typeface="Times New Roman" panose="02020603050405020304" pitchFamily="18" charset="0"/>
            </a:endParaRPr>
          </a:p>
          <a:p>
            <a:pPr marL="457200" marR="0" lvl="0" indent="-45720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sz="3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Its main source in the atmosphere is in tiny organisms called microbes which live in the soil and water. </a:t>
            </a:r>
          </a:p>
          <a:p>
            <a:pPr marL="457200" indent="-457200" algn="just" defTabSz="914400" eaLnBrk="1" hangingPunct="1">
              <a:lnSpc>
                <a:spcPct val="90000"/>
              </a:lnSpc>
              <a:buFont typeface="Wingdings" panose="05000000000000000000" pitchFamily="2" charset="2"/>
              <a:buChar char="§"/>
              <a:defRPr/>
            </a:pPr>
            <a:r>
              <a:rPr lang="en-US" sz="3600" dirty="0">
                <a:solidFill>
                  <a:srgbClr val="000000"/>
                </a:solidFill>
                <a:latin typeface="Times New Roman" panose="02020603050405020304" pitchFamily="18" charset="0"/>
                <a:cs typeface="Times New Roman" panose="02020603050405020304" pitchFamily="18" charset="0"/>
              </a:rPr>
              <a:t>It’s largest source is </a:t>
            </a:r>
            <a:r>
              <a:rPr lang="en-US" sz="3600" dirty="0" err="1">
                <a:solidFill>
                  <a:srgbClr val="000000"/>
                </a:solidFill>
                <a:latin typeface="Times New Roman" panose="02020603050405020304" pitchFamily="18" charset="0"/>
                <a:cs typeface="Times New Roman" panose="02020603050405020304" pitchFamily="18" charset="0"/>
              </a:rPr>
              <a:t>agric</a:t>
            </a:r>
            <a:r>
              <a:rPr lang="en-US" sz="3600" dirty="0">
                <a:solidFill>
                  <a:srgbClr val="000000"/>
                </a:solidFill>
                <a:latin typeface="Times New Roman" panose="02020603050405020304" pitchFamily="18" charset="0"/>
                <a:cs typeface="Times New Roman" panose="02020603050405020304" pitchFamily="18" charset="0"/>
              </a:rPr>
              <a:t> (artificial nitrogen-based </a:t>
            </a:r>
            <a:r>
              <a:rPr lang="en-US" sz="3600" dirty="0" err="1">
                <a:solidFill>
                  <a:srgbClr val="000000"/>
                </a:solidFill>
                <a:latin typeface="Times New Roman" panose="02020603050405020304" pitchFamily="18" charset="0"/>
                <a:cs typeface="Times New Roman" panose="02020603050405020304" pitchFamily="18" charset="0"/>
              </a:rPr>
              <a:t>ferts</a:t>
            </a:r>
            <a:r>
              <a:rPr lang="en-US" sz="3600" dirty="0">
                <a:solidFill>
                  <a:srgbClr val="000000"/>
                </a:solidFill>
                <a:latin typeface="Times New Roman" panose="02020603050405020304" pitchFamily="18" charset="0"/>
                <a:cs typeface="Times New Roman" panose="02020603050405020304" pitchFamily="18" charset="0"/>
              </a:rPr>
              <a:t> &amp; manure), biomass burning, waste mgt, prod of nitric acid, etc. </a:t>
            </a:r>
          </a:p>
          <a:p>
            <a:pPr marL="457200" marR="0" lvl="0" indent="-45720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endParaRPr kumimoji="0" lang="en-US" sz="3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90000"/>
              </a:lnSpc>
              <a:spcBef>
                <a:spcPct val="20000"/>
              </a:spcBef>
              <a:spcAft>
                <a:spcPct val="0"/>
              </a:spcAft>
              <a:buClrTx/>
              <a:buSzTx/>
              <a:buFont typeface="Arial" charset="0"/>
              <a:buNone/>
              <a:tabLst/>
              <a:defRPr/>
            </a:pPr>
            <a:endParaRPr kumimoji="0" lang="en-US" sz="3400" b="0" i="0" u="none" strike="noStrike" kern="1200" cap="none" spc="0" normalizeH="0" baseline="0" noProof="0" dirty="0">
              <a:ln>
                <a:noFill/>
              </a:ln>
              <a:solidFill>
                <a:sysClr val="windowText" lastClr="000000"/>
              </a:solidFill>
              <a:effectLst/>
              <a:uLnTx/>
              <a:uFillTx/>
              <a:latin typeface="Arial" charset="0"/>
              <a:ea typeface="+mn-ea"/>
              <a:cs typeface="Times New Roman" pitchFamily="18" charset="0"/>
            </a:endParaRPr>
          </a:p>
          <a:p>
            <a:pPr marL="0" marR="0" lvl="0" indent="0" algn="just" defTabSz="914400" rtl="0" eaLnBrk="1" fontAlgn="base" latinLnBrk="0" hangingPunct="1">
              <a:lnSpc>
                <a:spcPct val="90000"/>
              </a:lnSpc>
              <a:spcBef>
                <a:spcPct val="20000"/>
              </a:spcBef>
              <a:spcAft>
                <a:spcPct val="0"/>
              </a:spcAft>
              <a:buClrTx/>
              <a:buSzTx/>
              <a:buFont typeface="Arial" charset="0"/>
              <a:buNone/>
              <a:tabLst/>
              <a:defRPr/>
            </a:pPr>
            <a:r>
              <a:rPr kumimoji="0" lang="en-US" sz="3400" b="0" i="0" u="none" strike="noStrike" kern="1200" cap="none" spc="0" normalizeH="0" baseline="0" noProof="0" dirty="0">
                <a:ln>
                  <a:noFill/>
                </a:ln>
                <a:solidFill>
                  <a:sysClr val="windowText" lastClr="000000"/>
                </a:solidFill>
                <a:effectLst/>
                <a:uLnTx/>
                <a:uFillTx/>
                <a:latin typeface="Times New Roman" pitchFamily="18" charset="0"/>
                <a:ea typeface="+mn-ea"/>
                <a:cs typeface="Times New Roman" pitchFamily="18" charset="0"/>
              </a:rPr>
              <a:t> </a:t>
            </a:r>
            <a:endParaRPr kumimoji="0" lang="en-US" sz="3200" b="0" i="0" u="none" strike="noStrike" kern="1200" cap="none" spc="0" normalizeH="0" baseline="0" noProof="0" dirty="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696683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F19C2B69-2F03-492F-8027-C2200B1E7DD4}"/>
              </a:ext>
            </a:extLst>
          </p:cNvPr>
          <p:cNvSpPr txBox="1">
            <a:spLocks/>
          </p:cNvSpPr>
          <p:nvPr/>
        </p:nvSpPr>
        <p:spPr bwMode="auto">
          <a:xfrm>
            <a:off x="448887" y="155329"/>
            <a:ext cx="11014363" cy="5867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defTabSz="914400" eaLnBrk="1" hangingPunct="1"/>
            <a:endParaRPr lang="en-US" b="1" dirty="0">
              <a:solidFill>
                <a:schemeClr val="tx1"/>
              </a:solidFill>
              <a:latin typeface="Times New Roman" panose="02020603050405020304" pitchFamily="18" charset="0"/>
              <a:cs typeface="Times New Roman" panose="02020603050405020304" pitchFamily="18" charset="0"/>
            </a:endParaRPr>
          </a:p>
          <a:p>
            <a:pPr algn="l" defTabSz="914400" eaLnBrk="1" hangingPunct="1"/>
            <a:r>
              <a:rPr lang="en-US" b="1" dirty="0">
                <a:solidFill>
                  <a:schemeClr val="tx1"/>
                </a:solidFill>
                <a:latin typeface="Times New Roman" panose="02020603050405020304" pitchFamily="18" charset="0"/>
                <a:cs typeface="Times New Roman" panose="02020603050405020304" pitchFamily="18" charset="0"/>
              </a:rPr>
              <a:t>Nitrous Oxide (N</a:t>
            </a:r>
            <a:r>
              <a:rPr lang="en-US" b="1" baseline="-25000" dirty="0">
                <a:solidFill>
                  <a:schemeClr val="tx1"/>
                </a:solidFill>
                <a:latin typeface="Times New Roman" panose="02020603050405020304" pitchFamily="18" charset="0"/>
                <a:cs typeface="Times New Roman" panose="02020603050405020304" pitchFamily="18" charset="0"/>
              </a:rPr>
              <a:t>2</a:t>
            </a:r>
            <a:r>
              <a:rPr lang="en-US" b="1" dirty="0">
                <a:solidFill>
                  <a:schemeClr val="tx1"/>
                </a:solidFill>
                <a:latin typeface="Times New Roman" panose="02020603050405020304" pitchFamily="18" charset="0"/>
                <a:cs typeface="Times New Roman" panose="02020603050405020304" pitchFamily="18" charset="0"/>
              </a:rPr>
              <a:t>O)… </a:t>
            </a:r>
          </a:p>
          <a:p>
            <a:pPr marL="0" marR="0" lvl="0" indent="0" algn="just" defTabSz="914400" rtl="0" eaLnBrk="1" fontAlgn="base" latinLnBrk="0" hangingPunct="1">
              <a:lnSpc>
                <a:spcPct val="9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ysClr val="windowText" lastClr="000000"/>
              </a:solidFill>
              <a:effectLst/>
              <a:uLnTx/>
              <a:uFillTx/>
              <a:latin typeface="Times New Roman" pitchFamily="18" charset="0"/>
              <a:ea typeface="+mn-ea"/>
              <a:cs typeface="Times New Roman" pitchFamily="18" charset="0"/>
            </a:endParaRPr>
          </a:p>
          <a:p>
            <a:pPr marL="457200" marR="0" lvl="0" indent="-45720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itchFamily="18" charset="0"/>
              </a:rPr>
              <a:t>Tropical forest soils produce almost half the annual nitrous oxides.</a:t>
            </a:r>
            <a:endParaRPr lang="en-US" dirty="0">
              <a:solidFill>
                <a:sysClr val="windowText" lastClr="000000"/>
              </a:solidFill>
              <a:latin typeface="Times New Roman" panose="02020603050405020304" pitchFamily="18" charset="0"/>
              <a:cs typeface="Times New Roman" panose="02020603050405020304" pitchFamily="18" charset="0"/>
            </a:endParaRPr>
          </a:p>
          <a:p>
            <a:pPr marL="457200" marR="0" lvl="0" indent="-45720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Deforestation and cultivation increases nitrous oxide production because the soils are exposed to more sunlight and air. </a:t>
            </a:r>
          </a:p>
          <a:p>
            <a:pPr marL="457200" marR="0" lvl="0" indent="-45720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nitrous oxides are also a product of fossil fuel burning, particularly </a:t>
            </a:r>
            <a:r>
              <a:rPr kumimoji="0" lang="en-US" sz="3200" b="0" i="0" u="none" strike="noStrike" kern="120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aeroplanes</a:t>
            </a: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t>
            </a:r>
          </a:p>
          <a:p>
            <a:pPr marL="457200" indent="-457200" algn="just" defTabSz="914400" eaLnBrk="1" hangingPunct="1">
              <a:lnSpc>
                <a:spcPct val="90000"/>
              </a:lnSpc>
              <a:buFont typeface="Wingdings" panose="05000000000000000000" pitchFamily="2" charset="2"/>
              <a:buChar char="§"/>
              <a:defRPr/>
            </a:pPr>
            <a:r>
              <a:rPr lang="en-US" i="1" dirty="0">
                <a:solidFill>
                  <a:srgbClr val="0070C0"/>
                </a:solidFill>
                <a:latin typeface="Times New Roman" panose="02020603050405020304" pitchFamily="18" charset="0"/>
                <a:cs typeface="Times New Roman" panose="02020603050405020304" pitchFamily="18" charset="0"/>
              </a:rPr>
              <a:t>N</a:t>
            </a:r>
            <a:r>
              <a:rPr lang="en-US" i="1" baseline="-25000" dirty="0">
                <a:solidFill>
                  <a:srgbClr val="0070C0"/>
                </a:solidFill>
                <a:latin typeface="Times New Roman" panose="02020603050405020304" pitchFamily="18" charset="0"/>
                <a:cs typeface="Times New Roman" panose="02020603050405020304" pitchFamily="18" charset="0"/>
              </a:rPr>
              <a:t>2</a:t>
            </a:r>
            <a:r>
              <a:rPr lang="en-US" i="1" dirty="0">
                <a:solidFill>
                  <a:srgbClr val="0070C0"/>
                </a:solidFill>
                <a:latin typeface="Times New Roman" panose="02020603050405020304" pitchFamily="18" charset="0"/>
                <a:cs typeface="Times New Roman" panose="02020603050405020304" pitchFamily="18" charset="0"/>
              </a:rPr>
              <a:t>O has a residence period of ~114-121 years</a:t>
            </a:r>
            <a:endParaRPr lang="en-US" dirty="0">
              <a:solidFill>
                <a:srgbClr val="000000"/>
              </a:solidFill>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90000"/>
              </a:lnSpc>
              <a:spcBef>
                <a:spcPct val="20000"/>
              </a:spcBef>
              <a:spcAft>
                <a:spcPct val="0"/>
              </a:spcAft>
              <a:buClrTx/>
              <a:buSzTx/>
              <a:tabLst/>
              <a:defRPr/>
            </a:pPr>
            <a:endParaRPr kumimoji="0" lang="en-US" sz="3200" b="0" i="0" u="none" strike="noStrike" kern="1200" cap="none" spc="0" normalizeH="0" baseline="0" noProof="0" dirty="0">
              <a:ln>
                <a:noFill/>
              </a:ln>
              <a:solidFill>
                <a:sysClr val="windowText" lastClr="000000"/>
              </a:solidFill>
              <a:effectLst/>
              <a:uLnTx/>
              <a:uFillTx/>
              <a:latin typeface="Arial" charset="0"/>
              <a:ea typeface="+mn-ea"/>
              <a:cs typeface="Times New Roman" pitchFamily="18" charset="0"/>
            </a:endParaRPr>
          </a:p>
          <a:p>
            <a:pPr marL="0" marR="0" lvl="0" indent="0" algn="ctr" defTabSz="914400" rtl="0" eaLnBrk="1" fontAlgn="base" latinLnBrk="0" hangingPunct="1">
              <a:lnSpc>
                <a:spcPct val="9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rgbClr val="898989"/>
              </a:solidFill>
              <a:effectLst/>
              <a:uLnTx/>
              <a:uFillTx/>
              <a:latin typeface="Arial" charset="0"/>
              <a:ea typeface="+mn-ea"/>
              <a:cs typeface="+mn-cs"/>
            </a:endParaRPr>
          </a:p>
        </p:txBody>
      </p:sp>
    </p:spTree>
    <p:extLst>
      <p:ext uri="{BB962C8B-B14F-4D97-AF65-F5344CB8AC3E}">
        <p14:creationId xmlns:p14="http://schemas.microsoft.com/office/powerpoint/2010/main" val="403055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3">
            <a:extLst>
              <a:ext uri="{FF2B5EF4-FFF2-40B4-BE49-F238E27FC236}">
                <a16:creationId xmlns:a16="http://schemas.microsoft.com/office/drawing/2014/main" id="{BF53BACA-75AC-46B5-91CA-A0D5F61C8268}"/>
              </a:ext>
            </a:extLst>
          </p:cNvPr>
          <p:cNvSpPr txBox="1">
            <a:spLocks/>
          </p:cNvSpPr>
          <p:nvPr/>
        </p:nvSpPr>
        <p:spPr bwMode="auto">
          <a:xfrm>
            <a:off x="1046018" y="279860"/>
            <a:ext cx="2811087" cy="113330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400" eaLnBrk="1" hangingPunct="1"/>
            <a:r>
              <a:rPr lang="en-US" sz="3600" b="1" dirty="0">
                <a:solidFill>
                  <a:srgbClr val="000000"/>
                </a:solidFill>
                <a:latin typeface="Times New Roman" panose="02020603050405020304" pitchFamily="18" charset="0"/>
                <a:ea typeface="+mn-ea"/>
                <a:cs typeface="Times New Roman" panose="02020603050405020304" pitchFamily="18" charset="0"/>
              </a:rPr>
              <a:t>Ozone (O</a:t>
            </a:r>
            <a:r>
              <a:rPr lang="en-US" sz="3600" b="1" baseline="-25000" dirty="0">
                <a:solidFill>
                  <a:srgbClr val="000000"/>
                </a:solidFill>
                <a:latin typeface="Times New Roman" panose="02020603050405020304" pitchFamily="18" charset="0"/>
                <a:ea typeface="+mn-ea"/>
                <a:cs typeface="Times New Roman" panose="02020603050405020304" pitchFamily="18" charset="0"/>
              </a:rPr>
              <a:t>3</a:t>
            </a:r>
            <a:r>
              <a:rPr lang="en-US" sz="3600" b="1" dirty="0">
                <a:solidFill>
                  <a:srgbClr val="000000"/>
                </a:solidFill>
                <a:latin typeface="Times New Roman" panose="02020603050405020304" pitchFamily="18" charset="0"/>
                <a:ea typeface="+mn-ea"/>
                <a:cs typeface="Times New Roman" panose="02020603050405020304" pitchFamily="18" charset="0"/>
              </a:rPr>
              <a:t>)</a:t>
            </a:r>
            <a:endParaRPr lang="en-US" sz="3600" dirty="0">
              <a:latin typeface="Arial" charset="0"/>
              <a:cs typeface="Times New Roman" pitchFamily="18" charset="0"/>
            </a:endParaRPr>
          </a:p>
        </p:txBody>
      </p:sp>
      <p:sp>
        <p:nvSpPr>
          <p:cNvPr id="16" name="Subtitle 4">
            <a:extLst>
              <a:ext uri="{FF2B5EF4-FFF2-40B4-BE49-F238E27FC236}">
                <a16:creationId xmlns:a16="http://schemas.microsoft.com/office/drawing/2014/main" id="{A86C4362-922D-4BB6-918E-3B65143FBC63}"/>
              </a:ext>
            </a:extLst>
          </p:cNvPr>
          <p:cNvSpPr txBox="1">
            <a:spLocks/>
          </p:cNvSpPr>
          <p:nvPr/>
        </p:nvSpPr>
        <p:spPr bwMode="auto">
          <a:xfrm>
            <a:off x="988695" y="846511"/>
            <a:ext cx="10367357" cy="5562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endParaRPr kumimoji="0" lang="en-US" sz="2800" b="0" i="0" u="none" strike="noStrike" kern="1200" cap="none" spc="0" normalizeH="0" baseline="0" noProof="0" dirty="0">
              <a:ln>
                <a:noFill/>
              </a:ln>
              <a:solidFill>
                <a:srgbClr val="898989"/>
              </a:solidFill>
              <a:effectLst/>
              <a:uLnTx/>
              <a:uFillTx/>
              <a:latin typeface="Calibri"/>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dirty="0">
                <a:ln>
                  <a:noFill/>
                </a:ln>
                <a:solidFill>
                  <a:srgbClr val="898989"/>
                </a:solidFill>
                <a:effectLst/>
                <a:uLnTx/>
                <a:uFillTx/>
                <a:latin typeface="Calibri"/>
                <a:ea typeface="+mn-ea"/>
                <a:cs typeface="+mn-cs"/>
              </a:rPr>
              <a:t> </a:t>
            </a:r>
          </a:p>
          <a:p>
            <a:pPr marL="571500" lvl="0" indent="-571500" algn="just" defTabSz="914400" eaLnBrk="1" hangingPunct="1">
              <a:buFont typeface="Wingdings" panose="05000000000000000000" pitchFamily="2" charset="2"/>
              <a:buChar char="§"/>
              <a:defRPr/>
            </a:pPr>
            <a:r>
              <a:rPr lang="en-US" dirty="0">
                <a:solidFill>
                  <a:srgbClr val="000000"/>
                </a:solidFill>
                <a:latin typeface="Times New Roman" panose="02020603050405020304" pitchFamily="18" charset="0"/>
                <a:cs typeface="Times New Roman" panose="02020603050405020304" pitchFamily="18" charset="0"/>
              </a:rPr>
              <a:t>O</a:t>
            </a:r>
            <a:r>
              <a:rPr lang="en-US" baseline="-25000" dirty="0">
                <a:solidFill>
                  <a:srgbClr val="000000"/>
                </a:solidFill>
                <a:latin typeface="Times New Roman" panose="02020603050405020304" pitchFamily="18" charset="0"/>
                <a:cs typeface="Times New Roman" panose="02020603050405020304" pitchFamily="18" charset="0"/>
              </a:rPr>
              <a:t>3</a:t>
            </a: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is a form of oxygen which occurs naturally, and is also produced when vehicle emissions interact with sunlight. </a:t>
            </a:r>
          </a:p>
          <a:p>
            <a:pPr marL="571500" indent="-571500" algn="just" defTabSz="914400" eaLnBrk="1" hangingPunct="1">
              <a:buFont typeface="Wingdings" panose="05000000000000000000" pitchFamily="2" charset="2"/>
              <a:buChar char="§"/>
              <a:defRPr/>
            </a:pPr>
            <a:r>
              <a:rPr lang="en-US" dirty="0">
                <a:solidFill>
                  <a:sysClr val="windowText" lastClr="000000"/>
                </a:solidFill>
                <a:latin typeface="Times New Roman" panose="02020603050405020304" pitchFamily="18" charset="0"/>
                <a:cs typeface="Times New Roman" pitchFamily="18" charset="0"/>
              </a:rPr>
              <a:t>The earth could be in jeopardy without the </a:t>
            </a:r>
            <a:r>
              <a:rPr lang="en-US" dirty="0">
                <a:solidFill>
                  <a:srgbClr val="000000"/>
                </a:solidFill>
                <a:latin typeface="Times New Roman" panose="02020603050405020304" pitchFamily="18" charset="0"/>
                <a:cs typeface="Times New Roman" panose="02020603050405020304" pitchFamily="18" charset="0"/>
              </a:rPr>
              <a:t>O</a:t>
            </a:r>
            <a:r>
              <a:rPr lang="en-US" baseline="-25000" dirty="0">
                <a:solidFill>
                  <a:srgbClr val="000000"/>
                </a:solidFill>
                <a:latin typeface="Times New Roman" panose="02020603050405020304" pitchFamily="18" charset="0"/>
                <a:cs typeface="Times New Roman" panose="02020603050405020304" pitchFamily="18" charset="0"/>
              </a:rPr>
              <a:t>3</a:t>
            </a:r>
            <a:r>
              <a:rPr lang="en-US" dirty="0">
                <a:solidFill>
                  <a:sysClr val="windowText" lastClr="000000"/>
                </a:solidFill>
                <a:latin typeface="Times New Roman" panose="02020603050405020304" pitchFamily="18" charset="0"/>
                <a:cs typeface="Times New Roman" pitchFamily="18" charset="0"/>
              </a:rPr>
              <a:t> layer, which has a key role in regulating global temperatures because it determines the amount of UV radiation reaching the earth’s surface.</a:t>
            </a:r>
          </a:p>
          <a:p>
            <a:pPr marL="571500" indent="-571500" algn="just" defTabSz="914400" eaLnBrk="1" hangingPunct="1">
              <a:buFont typeface="Wingdings" panose="05000000000000000000" pitchFamily="2" charset="2"/>
              <a:buChar char="§"/>
              <a:defRPr/>
            </a:pPr>
            <a:r>
              <a:rPr lang="en-US" dirty="0">
                <a:solidFill>
                  <a:sysClr val="windowText" lastClr="000000"/>
                </a:solidFill>
                <a:latin typeface="Times New Roman" panose="02020603050405020304" pitchFamily="18" charset="0"/>
                <a:cs typeface="Times New Roman" pitchFamily="18" charset="0"/>
              </a:rPr>
              <a:t>The UV radiation it screens out is highly damaging to animal and plant life. </a:t>
            </a:r>
          </a:p>
          <a:p>
            <a:pPr marL="571500" indent="-571500" algn="just" defTabSz="914400" eaLnBrk="1" hangingPunct="1">
              <a:buFont typeface="Wingdings" panose="05000000000000000000" pitchFamily="2" charset="2"/>
              <a:buChar char="§"/>
              <a:defRPr/>
            </a:pPr>
            <a:endParaRPr lang="en-US" dirty="0">
              <a:solidFill>
                <a:sysClr val="windowText" lastClr="000000"/>
              </a:solidFill>
              <a:latin typeface="Times New Roman" panose="02020603050405020304" pitchFamily="18" charset="0"/>
              <a:cs typeface="Times New Roman" pitchFamily="18" charset="0"/>
            </a:endParaRPr>
          </a:p>
          <a:p>
            <a:pPr marL="0" marR="0" lvl="0" indent="0" algn="just" defTabSz="914400" rtl="0" eaLnBrk="1" fontAlgn="base" latinLnBrk="0" hangingPunct="1">
              <a:lnSpc>
                <a:spcPct val="100000"/>
              </a:lnSpc>
              <a:spcBef>
                <a:spcPct val="20000"/>
              </a:spcBef>
              <a:spcAft>
                <a:spcPct val="0"/>
              </a:spcAft>
              <a:buClrTx/>
              <a:buSzTx/>
              <a:tabLst/>
              <a:defRPr/>
            </a:pPr>
            <a:endParaRPr kumimoji="0" lang="en-US" sz="2800" b="0" i="0" u="none" strike="noStrike" kern="1200" cap="none" spc="0" normalizeH="0" baseline="0" noProof="0" dirty="0">
              <a:ln>
                <a:noFill/>
              </a:ln>
              <a:solidFill>
                <a:sysClr val="windowText" lastClr="000000"/>
              </a:solidFill>
              <a:effectLst/>
              <a:uLnTx/>
              <a:uFillTx/>
              <a:latin typeface="Arial" charset="0"/>
              <a:ea typeface="+mn-ea"/>
              <a:cs typeface="Times New Roman" pitchFamily="18" charset="0"/>
            </a:endParaRPr>
          </a:p>
        </p:txBody>
      </p:sp>
    </p:spTree>
    <p:extLst>
      <p:ext uri="{BB962C8B-B14F-4D97-AF65-F5344CB8AC3E}">
        <p14:creationId xmlns:p14="http://schemas.microsoft.com/office/powerpoint/2010/main" val="2143091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029BEC03-7B25-4AFB-899B-D6C947DBD3AE}"/>
              </a:ext>
            </a:extLst>
          </p:cNvPr>
          <p:cNvSpPr txBox="1">
            <a:spLocks/>
          </p:cNvSpPr>
          <p:nvPr/>
        </p:nvSpPr>
        <p:spPr bwMode="auto">
          <a:xfrm>
            <a:off x="565264" y="58189"/>
            <a:ext cx="11055929" cy="52339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lvl="0" algn="l" defTabSz="914400" eaLnBrk="1" fontAlgn="auto" hangingPunct="1">
              <a:spcBef>
                <a:spcPts val="0"/>
              </a:spcBef>
              <a:spcAft>
                <a:spcPts val="0"/>
              </a:spcAft>
            </a:pPr>
            <a:r>
              <a:rPr lang="en-US" sz="3600" b="1" dirty="0">
                <a:solidFill>
                  <a:srgbClr val="000000"/>
                </a:solidFill>
                <a:latin typeface="Times New Roman" panose="02020603050405020304" pitchFamily="18" charset="0"/>
                <a:cs typeface="Times New Roman" panose="02020603050405020304" pitchFamily="18" charset="0"/>
              </a:rPr>
              <a:t>Ozone (O</a:t>
            </a:r>
            <a:r>
              <a:rPr lang="en-US" sz="3600" b="1" baseline="-25000" dirty="0">
                <a:solidFill>
                  <a:srgbClr val="000000"/>
                </a:solidFill>
                <a:latin typeface="Times New Roman" panose="02020603050405020304" pitchFamily="18" charset="0"/>
                <a:cs typeface="Times New Roman" panose="02020603050405020304" pitchFamily="18" charset="0"/>
              </a:rPr>
              <a:t>3</a:t>
            </a:r>
            <a:r>
              <a:rPr lang="en-US" sz="3600" b="1" dirty="0">
                <a:solidFill>
                  <a:srgbClr val="000000"/>
                </a:solidFill>
                <a:latin typeface="Times New Roman" panose="02020603050405020304" pitchFamily="18" charset="0"/>
                <a:cs typeface="Times New Roman" panose="02020603050405020304" pitchFamily="18" charset="0"/>
              </a:rPr>
              <a:t>)</a:t>
            </a:r>
            <a:r>
              <a:rPr lang="en-US" sz="3600" dirty="0">
                <a:solidFill>
                  <a:prstClr val="black"/>
                </a:solidFill>
                <a:latin typeface="Arial" charset="0"/>
                <a:cs typeface="Times New Roman" pitchFamily="18" charset="0"/>
              </a:rPr>
              <a:t>….</a:t>
            </a:r>
            <a:endParaRPr kumimoji="0" lang="en-US" sz="3600" b="0" i="0" u="none" strike="noStrike" kern="1200" cap="none" spc="0" normalizeH="0" baseline="0" noProof="0" dirty="0">
              <a:ln>
                <a:noFill/>
              </a:ln>
              <a:solidFill>
                <a:sysClr val="windowText" lastClr="000000"/>
              </a:solidFill>
              <a:effectLst/>
              <a:uLnTx/>
              <a:uFillTx/>
              <a:latin typeface="Times New Roman" pitchFamily="18" charset="0"/>
              <a:ea typeface="+mn-ea"/>
              <a:cs typeface="Times New Roman" pitchFamily="18" charset="0"/>
            </a:endParaRPr>
          </a:p>
          <a:p>
            <a:pPr algn="just" defTabSz="914400" eaLnBrk="1" hangingPunct="1">
              <a:buFont typeface="Wingdings" pitchFamily="2" charset="2"/>
              <a:buChar char="§"/>
              <a:defRPr/>
            </a:pPr>
            <a:r>
              <a:rPr lang="en-US" sz="3600" dirty="0">
                <a:solidFill>
                  <a:sysClr val="windowText" lastClr="000000"/>
                </a:solidFill>
                <a:latin typeface="Times New Roman" panose="02020603050405020304" pitchFamily="18" charset="0"/>
                <a:cs typeface="Times New Roman" pitchFamily="18" charset="0"/>
              </a:rPr>
              <a:t>Though it shields the earth from the damaging effects of UV radiation when high in the atmosphere, </a:t>
            </a:r>
            <a:r>
              <a:rPr lang="en-US" sz="3600" dirty="0">
                <a:solidFill>
                  <a:srgbClr val="000000"/>
                </a:solidFill>
                <a:latin typeface="Times New Roman" panose="02020603050405020304" pitchFamily="18" charset="0"/>
                <a:cs typeface="Times New Roman" panose="02020603050405020304" pitchFamily="18" charset="0"/>
              </a:rPr>
              <a:t>O</a:t>
            </a:r>
            <a:r>
              <a:rPr lang="en-US" sz="3600" baseline="-25000" dirty="0">
                <a:solidFill>
                  <a:srgbClr val="000000"/>
                </a:solidFill>
                <a:latin typeface="Times New Roman" panose="02020603050405020304" pitchFamily="18" charset="0"/>
                <a:cs typeface="Times New Roman" panose="02020603050405020304" pitchFamily="18" charset="0"/>
              </a:rPr>
              <a:t>3</a:t>
            </a:r>
            <a:r>
              <a:rPr lang="en-US" sz="3600" i="1" dirty="0">
                <a:solidFill>
                  <a:sysClr val="windowText" lastClr="000000"/>
                </a:solidFill>
                <a:latin typeface="Times New Roman" panose="02020603050405020304" pitchFamily="18" charset="0"/>
                <a:cs typeface="Times New Roman" pitchFamily="18" charset="0"/>
              </a:rPr>
              <a:t> is a dangerous pollutant when in the lower atmosphere</a:t>
            </a:r>
            <a:r>
              <a:rPr lang="en-US" sz="3600" dirty="0">
                <a:solidFill>
                  <a:sysClr val="windowText" lastClr="000000"/>
                </a:solidFill>
                <a:latin typeface="Times New Roman" panose="02020603050405020304" pitchFamily="18" charset="0"/>
                <a:cs typeface="Times New Roman" pitchFamily="18" charset="0"/>
              </a:rPr>
              <a:t>, damaging human lungs and plant growth and contributes to the green house effect.  [</a:t>
            </a:r>
            <a:r>
              <a:rPr lang="en-US" sz="3600" dirty="0">
                <a:solidFill>
                  <a:srgbClr val="000000"/>
                </a:solidFill>
                <a:latin typeface="Times New Roman" panose="02020603050405020304" pitchFamily="18" charset="0"/>
                <a:cs typeface="Times New Roman" panose="02020603050405020304" pitchFamily="18" charset="0"/>
              </a:rPr>
              <a:t>O</a:t>
            </a:r>
            <a:r>
              <a:rPr lang="en-US" sz="3600" baseline="-25000" dirty="0">
                <a:solidFill>
                  <a:srgbClr val="000000"/>
                </a:solidFill>
                <a:latin typeface="Times New Roman" panose="02020603050405020304" pitchFamily="18" charset="0"/>
                <a:cs typeface="Times New Roman" panose="02020603050405020304" pitchFamily="18" charset="0"/>
              </a:rPr>
              <a:t>3 </a:t>
            </a:r>
            <a:r>
              <a:rPr lang="en-US" dirty="0">
                <a:solidFill>
                  <a:schemeClr val="tx1"/>
                </a:solidFill>
                <a:latin typeface="Times New Roman" panose="02020603050405020304" pitchFamily="18" charset="0"/>
                <a:cs typeface="Times New Roman" panose="02020603050405020304" pitchFamily="18" charset="0"/>
              </a:rPr>
              <a:t>is</a:t>
            </a:r>
            <a:r>
              <a:rPr lang="en-US" sz="3600" baseline="-25000" dirty="0">
                <a:solidFill>
                  <a:schemeClr val="tx1"/>
                </a:solidFill>
                <a:latin typeface="Times New Roman" panose="02020603050405020304" pitchFamily="18" charset="0"/>
                <a:cs typeface="Times New Roman" panose="02020603050405020304" pitchFamily="18" charset="0"/>
              </a:rPr>
              <a:t> </a:t>
            </a:r>
            <a:r>
              <a:rPr lang="en-US" sz="3600" dirty="0">
                <a:solidFill>
                  <a:sysClr val="windowText" lastClr="000000"/>
                </a:solidFill>
                <a:latin typeface="Times New Roman" panose="02020603050405020304" pitchFamily="18" charset="0"/>
                <a:cs typeface="Times New Roman" pitchFamily="18" charset="0"/>
              </a:rPr>
              <a:t>located in the stratosphere about 15 – 50 km above the surface of the earth]. </a:t>
            </a:r>
          </a:p>
          <a:p>
            <a:pPr algn="just" defTabSz="914400" eaLnBrk="1" hangingPunct="1">
              <a:buFont typeface="Wingdings" pitchFamily="2" charset="2"/>
              <a:buChar char="§"/>
              <a:defRPr/>
            </a:pPr>
            <a:r>
              <a:rPr lang="en-US" sz="3600" dirty="0">
                <a:solidFill>
                  <a:srgbClr val="000000"/>
                </a:solidFill>
                <a:latin typeface="Times New Roman" panose="02020603050405020304" pitchFamily="18" charset="0"/>
                <a:cs typeface="Times New Roman" panose="02020603050405020304" pitchFamily="18" charset="0"/>
              </a:rPr>
              <a:t>In the lower atmosphere, O</a:t>
            </a:r>
            <a:r>
              <a:rPr lang="en-US" sz="3600" baseline="-25000" dirty="0">
                <a:solidFill>
                  <a:srgbClr val="000000"/>
                </a:solidFill>
                <a:latin typeface="Times New Roman" panose="02020603050405020304" pitchFamily="18" charset="0"/>
                <a:cs typeface="Times New Roman" panose="02020603050405020304" pitchFamily="18" charset="0"/>
              </a:rPr>
              <a:t>3</a:t>
            </a:r>
            <a:r>
              <a:rPr lang="en-US" sz="3600" dirty="0">
                <a:solidFill>
                  <a:srgbClr val="000000"/>
                </a:solidFill>
                <a:latin typeface="Times New Roman" panose="02020603050405020304" pitchFamily="18" charset="0"/>
                <a:cs typeface="Times New Roman" panose="02020603050405020304" pitchFamily="18" charset="0"/>
              </a:rPr>
              <a:t> acts as a GHG, with a </a:t>
            </a:r>
            <a:r>
              <a:rPr lang="en-US" sz="3600" i="1" dirty="0">
                <a:solidFill>
                  <a:srgbClr val="0070C0"/>
                </a:solidFill>
                <a:latin typeface="Times New Roman" panose="02020603050405020304" pitchFamily="18" charset="0"/>
                <a:cs typeface="Times New Roman" panose="02020603050405020304" pitchFamily="18" charset="0"/>
              </a:rPr>
              <a:t>residence period of 1-4 weeks</a:t>
            </a:r>
            <a:endParaRPr lang="en-US" sz="3600" i="1" dirty="0">
              <a:solidFill>
                <a:srgbClr val="000000"/>
              </a:solidFill>
              <a:latin typeface="Times New Roman" panose="02020603050405020304" pitchFamily="18" charset="0"/>
              <a:cs typeface="Times New Roman" panose="02020603050405020304" pitchFamily="18" charset="0"/>
            </a:endParaRPr>
          </a:p>
          <a:p>
            <a:pPr algn="just" defTabSz="914400" eaLnBrk="1" hangingPunct="1">
              <a:buFont typeface="Wingdings" pitchFamily="2" charset="2"/>
              <a:buChar char="§"/>
              <a:defRPr/>
            </a:pPr>
            <a:r>
              <a:rPr lang="en-US" sz="3600" dirty="0">
                <a:solidFill>
                  <a:srgbClr val="000000"/>
                </a:solidFill>
                <a:latin typeface="Times New Roman" panose="02020603050405020304" pitchFamily="18" charset="0"/>
                <a:cs typeface="Times New Roman" panose="02020603050405020304" pitchFamily="18" charset="0"/>
              </a:rPr>
              <a:t>O</a:t>
            </a:r>
            <a:r>
              <a:rPr lang="en-US" sz="3600" baseline="-25000" dirty="0">
                <a:solidFill>
                  <a:srgbClr val="000000"/>
                </a:solidFill>
                <a:latin typeface="Times New Roman" panose="02020603050405020304" pitchFamily="18" charset="0"/>
                <a:cs typeface="Times New Roman" panose="02020603050405020304" pitchFamily="18" charset="0"/>
              </a:rPr>
              <a:t>3</a:t>
            </a:r>
            <a:r>
              <a:rPr lang="en-US" sz="3600" dirty="0">
                <a:solidFill>
                  <a:srgbClr val="000000"/>
                </a:solidFill>
                <a:latin typeface="Times New Roman" panose="02020603050405020304" pitchFamily="18" charset="0"/>
                <a:cs typeface="Times New Roman" panose="02020603050405020304" pitchFamily="18" charset="0"/>
              </a:rPr>
              <a:t> can be formed by combustion of fuels, solvents, etc.</a:t>
            </a:r>
          </a:p>
          <a:p>
            <a:pPr algn="just" defTabSz="914400" eaLnBrk="1" hangingPunct="1">
              <a:buFont typeface="Wingdings" pitchFamily="2" charset="2"/>
              <a:buChar char="§"/>
              <a:defRPr/>
            </a:pPr>
            <a:endParaRPr lang="en-US" sz="3600" dirty="0">
              <a:solidFill>
                <a:sysClr val="windowText" lastClr="000000"/>
              </a:solidFill>
              <a:latin typeface="Times New Roman" panose="02020603050405020304" pitchFamily="18" charset="0"/>
              <a:cs typeface="Times New Roman" pitchFamily="18" charset="0"/>
            </a:endParaRPr>
          </a:p>
          <a:p>
            <a:pPr algn="just" defTabSz="914400" eaLnBrk="1" hangingPunct="1">
              <a:defRPr/>
            </a:pPr>
            <a:endParaRPr lang="en-US" sz="3600" dirty="0">
              <a:solidFill>
                <a:sysClr val="windowText" lastClr="000000"/>
              </a:solidFill>
              <a:latin typeface="Times New Roman" panose="02020603050405020304" pitchFamily="18" charset="0"/>
              <a:cs typeface="Times New Roman" pitchFamily="18" charset="0"/>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
              <a:tabLst/>
              <a:defRPr/>
            </a:pPr>
            <a:endParaRPr kumimoji="0" lang="en-US" sz="3600" b="0" i="0" u="none" strike="noStrike" kern="1200" cap="none" spc="0" normalizeH="0" baseline="0" noProof="0" dirty="0">
              <a:ln>
                <a:noFill/>
              </a:ln>
              <a:solidFill>
                <a:srgbClr val="898989"/>
              </a:solidFill>
              <a:effectLst/>
              <a:uLnTx/>
              <a:uFillTx/>
              <a:latin typeface="Arial" charset="0"/>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endParaRPr kumimoji="0" lang="en-US" sz="3600" b="0" i="0" u="none" strike="noStrike" kern="1200" cap="none" spc="0" normalizeH="0" baseline="0" noProof="0" dirty="0">
              <a:ln>
                <a:noFill/>
              </a:ln>
              <a:solidFill>
                <a:srgbClr val="898989"/>
              </a:solidFill>
              <a:effectLst/>
              <a:uLnTx/>
              <a:uFillTx/>
              <a:latin typeface="Arial" charset="0"/>
              <a:ea typeface="+mn-ea"/>
              <a:cs typeface="+mn-cs"/>
            </a:endParaRPr>
          </a:p>
        </p:txBody>
      </p:sp>
    </p:spTree>
    <p:extLst>
      <p:ext uri="{BB962C8B-B14F-4D97-AF65-F5344CB8AC3E}">
        <p14:creationId xmlns:p14="http://schemas.microsoft.com/office/powerpoint/2010/main" val="39768528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029BEC03-7B25-4AFB-899B-D6C947DBD3AE}"/>
              </a:ext>
            </a:extLst>
          </p:cNvPr>
          <p:cNvSpPr txBox="1">
            <a:spLocks/>
          </p:cNvSpPr>
          <p:nvPr/>
        </p:nvSpPr>
        <p:spPr bwMode="auto">
          <a:xfrm>
            <a:off x="482138" y="-257695"/>
            <a:ext cx="11114117" cy="52339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lvl="0" algn="l" eaLnBrk="1" fontAlgn="auto" hangingPunct="1">
              <a:spcBef>
                <a:spcPts val="0"/>
              </a:spcBef>
              <a:spcAft>
                <a:spcPts val="0"/>
              </a:spcAft>
            </a:pPr>
            <a:endParaRPr lang="en-US" b="1" dirty="0">
              <a:solidFill>
                <a:srgbClr val="000000"/>
              </a:solidFill>
              <a:latin typeface="Times New Roman" panose="02020603050405020304" pitchFamily="18" charset="0"/>
              <a:cs typeface="Times New Roman" panose="02020603050405020304" pitchFamily="18" charset="0"/>
            </a:endParaRPr>
          </a:p>
          <a:p>
            <a:pPr algn="l">
              <a:lnSpc>
                <a:spcPct val="107000"/>
              </a:lnSpc>
              <a:spcAft>
                <a:spcPts val="800"/>
              </a:spcAft>
            </a:pPr>
            <a:r>
              <a:rPr lang="en-US" b="1" dirty="0">
                <a:solidFill>
                  <a:srgbClr val="000000"/>
                </a:solidFill>
                <a:latin typeface="Times New Roman" panose="02020603050405020304" pitchFamily="18" charset="0"/>
                <a:cs typeface="Times New Roman" panose="02020603050405020304" pitchFamily="18" charset="0"/>
              </a:rPr>
              <a:t>Methane (CH</a:t>
            </a:r>
            <a:r>
              <a:rPr lang="en-US" b="1" baseline="-25000" dirty="0">
                <a:solidFill>
                  <a:srgbClr val="000000"/>
                </a:solidFill>
                <a:latin typeface="Times New Roman" panose="02020603050405020304" pitchFamily="18" charset="0"/>
                <a:cs typeface="Times New Roman" panose="02020603050405020304" pitchFamily="18" charset="0"/>
              </a:rPr>
              <a:t>4</a:t>
            </a:r>
            <a:r>
              <a:rPr lang="en-US" b="1" dirty="0">
                <a:solidFill>
                  <a:srgbClr val="000000"/>
                </a:solidFill>
                <a:latin typeface="Times New Roman" panose="02020603050405020304" pitchFamily="18" charset="0"/>
                <a:cs typeface="Times New Roman" panose="02020603050405020304" pitchFamily="18" charset="0"/>
              </a:rPr>
              <a:t>) </a:t>
            </a:r>
          </a:p>
          <a:p>
            <a:pPr lvl="0" algn="l" eaLnBrk="1" fontAlgn="auto" hangingPunct="1">
              <a:spcBef>
                <a:spcPts val="0"/>
              </a:spcBef>
              <a:spcAft>
                <a:spcPts val="0"/>
              </a:spcAft>
            </a:pPr>
            <a:endParaRPr lang="en-US" b="1" dirty="0">
              <a:solidFill>
                <a:srgbClr val="000000"/>
              </a:solidFill>
              <a:latin typeface="Times New Roman" panose="02020603050405020304" pitchFamily="18" charset="0"/>
              <a:cs typeface="Times New Roman" panose="02020603050405020304" pitchFamily="18" charset="0"/>
            </a:endParaRPr>
          </a:p>
          <a:p>
            <a:pPr lvl="0" algn="just" eaLnBrk="1" fontAlgn="auto" hangingPunct="1">
              <a:spcBef>
                <a:spcPts val="0"/>
              </a:spcBef>
              <a:spcAft>
                <a:spcPts val="0"/>
              </a:spcAft>
            </a:pPr>
            <a:endParaRPr lang="en-US" b="1" dirty="0">
              <a:solidFill>
                <a:srgbClr val="000000"/>
              </a:solidFill>
              <a:latin typeface="Times New Roman" panose="02020603050405020304" pitchFamily="18" charset="0"/>
              <a:cs typeface="Times New Roman" panose="02020603050405020304" pitchFamily="18" charset="0"/>
            </a:endParaRPr>
          </a:p>
          <a:p>
            <a:pPr marL="457200" indent="-457200" algn="just" eaLnBrk="1" fontAlgn="auto" hangingPunct="1">
              <a:spcBef>
                <a:spcPts val="0"/>
              </a:spcBef>
              <a:spcAft>
                <a:spcPts val="0"/>
              </a:spcAf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CH</a:t>
            </a:r>
            <a:r>
              <a:rPr lang="en-US" sz="2800" baseline="-25000" dirty="0">
                <a:solidFill>
                  <a:srgbClr val="000000"/>
                </a:solidFill>
                <a:latin typeface="Times New Roman" panose="02020603050405020304" pitchFamily="18" charset="0"/>
                <a:cs typeface="Times New Roman" panose="02020603050405020304" pitchFamily="18" charset="0"/>
              </a:rPr>
              <a:t>4, </a:t>
            </a:r>
            <a:r>
              <a:rPr lang="en-US" sz="2800" dirty="0">
                <a:solidFill>
                  <a:srgbClr val="0070C0"/>
                </a:solidFill>
                <a:latin typeface="Times New Roman" panose="02020603050405020304" pitchFamily="18" charset="0"/>
                <a:cs typeface="Times New Roman" panose="02020603050405020304" pitchFamily="18" charset="0"/>
              </a:rPr>
              <a:t>with an atmospheric life time of 12 years</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is a gas released from wetlands (</a:t>
            </a:r>
            <a:r>
              <a:rPr lang="en-US" sz="2800" dirty="0">
                <a:solidFill>
                  <a:sysClr val="windowText" lastClr="000000"/>
                </a:solidFill>
                <a:latin typeface="Times New Roman" panose="02020603050405020304" pitchFamily="18" charset="0"/>
                <a:cs typeface="Times New Roman" panose="02020603050405020304" pitchFamily="18" charset="0"/>
              </a:rPr>
              <a:t>when organic material decays in swamps)</a:t>
            </a:r>
            <a:r>
              <a:rPr lang="en-US" sz="2800" dirty="0">
                <a:solidFill>
                  <a:srgbClr val="000000"/>
                </a:solidFill>
                <a:latin typeface="Times New Roman" panose="02020603050405020304" pitchFamily="18" charset="0"/>
                <a:cs typeface="Times New Roman" panose="02020603050405020304" pitchFamily="18" charset="0"/>
              </a:rPr>
              <a:t>, from paddy rice growing, using natural gas and mining coal. </a:t>
            </a:r>
            <a:r>
              <a:rPr lang="en-US" sz="2800" dirty="0">
                <a:solidFill>
                  <a:sysClr val="windowText" lastClr="000000"/>
                </a:solidFill>
                <a:latin typeface="Times New Roman" panose="02020603050405020304" pitchFamily="18" charset="0"/>
                <a:cs typeface="Times New Roman" panose="02020603050405020304" pitchFamily="18" charset="0"/>
              </a:rPr>
              <a:t>Also called ‘rotten egg’, </a:t>
            </a:r>
            <a:r>
              <a:rPr lang="en-US" sz="2800" dirty="0">
                <a:solidFill>
                  <a:srgbClr val="000000"/>
                </a:solidFill>
                <a:latin typeface="Times New Roman" panose="02020603050405020304" pitchFamily="18" charset="0"/>
                <a:cs typeface="Times New Roman" panose="02020603050405020304" pitchFamily="18" charset="0"/>
              </a:rPr>
              <a:t>CH</a:t>
            </a:r>
            <a:r>
              <a:rPr lang="en-US" sz="2800" baseline="-25000" dirty="0">
                <a:solidFill>
                  <a:srgbClr val="000000"/>
                </a:solidFill>
                <a:latin typeface="Times New Roman" panose="02020603050405020304" pitchFamily="18" charset="0"/>
                <a:cs typeface="Times New Roman" panose="02020603050405020304" pitchFamily="18" charset="0"/>
              </a:rPr>
              <a:t>4</a:t>
            </a:r>
            <a:r>
              <a:rPr lang="en-US" sz="2800" dirty="0">
                <a:solidFill>
                  <a:sysClr val="windowText" lastClr="000000"/>
                </a:solidFill>
                <a:latin typeface="Times New Roman" panose="02020603050405020304" pitchFamily="18" charset="0"/>
                <a:cs typeface="Times New Roman" panose="02020603050405020304" pitchFamily="18" charset="0"/>
              </a:rPr>
              <a:t> is equally produced naturally by ruminants (animals which chew the cud, mainly cattle), termites (the digestive system of termites emits </a:t>
            </a:r>
            <a:r>
              <a:rPr lang="en-US" sz="2800" dirty="0">
                <a:solidFill>
                  <a:srgbClr val="000000"/>
                </a:solidFill>
                <a:latin typeface="Times New Roman" panose="02020603050405020304" pitchFamily="18" charset="0"/>
                <a:cs typeface="Times New Roman" panose="02020603050405020304" pitchFamily="18" charset="0"/>
              </a:rPr>
              <a:t>CH</a:t>
            </a:r>
            <a:r>
              <a:rPr lang="en-US" sz="2800" baseline="-25000" dirty="0">
                <a:solidFill>
                  <a:srgbClr val="000000"/>
                </a:solidFill>
                <a:latin typeface="Times New Roman" panose="02020603050405020304" pitchFamily="18" charset="0"/>
                <a:cs typeface="Times New Roman" panose="02020603050405020304" pitchFamily="18" charset="0"/>
              </a:rPr>
              <a:t>4</a:t>
            </a:r>
            <a:r>
              <a:rPr lang="en-US" sz="2800" dirty="0">
                <a:solidFill>
                  <a:sysClr val="windowText" lastClr="000000"/>
                </a:solidFill>
                <a:latin typeface="Times New Roman" panose="02020603050405020304" pitchFamily="18" charset="0"/>
                <a:cs typeface="Times New Roman" panose="02020603050405020304" pitchFamily="18" charset="0"/>
              </a:rPr>
              <a:t>), etc.</a:t>
            </a:r>
            <a:endParaRPr lang="en-US" sz="2800" dirty="0">
              <a:solidFill>
                <a:srgbClr val="000000"/>
              </a:solidFill>
              <a:latin typeface="Times New Roman" panose="02020603050405020304" pitchFamily="18" charset="0"/>
              <a:cs typeface="Times New Roman" panose="02020603050405020304" pitchFamily="18" charset="0"/>
            </a:endParaRPr>
          </a:p>
          <a:p>
            <a:pPr marL="457200" indent="-457200" algn="just" eaLnBrk="1" fontAlgn="auto" hangingPunct="1">
              <a:spcBef>
                <a:spcPts val="0"/>
              </a:spcBef>
              <a:spcAft>
                <a:spcPts val="0"/>
              </a:spcAft>
              <a:buFont typeface="Wingdings" panose="05000000000000000000" pitchFamily="2" charset="2"/>
              <a:buChar char="§"/>
            </a:pPr>
            <a:r>
              <a:rPr lang="en-US" sz="2800" dirty="0">
                <a:solidFill>
                  <a:sysClr val="windowText" lastClr="000000"/>
                </a:solidFill>
                <a:latin typeface="Times New Roman" panose="02020603050405020304" pitchFamily="18" charset="0"/>
                <a:cs typeface="Times New Roman" panose="02020603050405020304" pitchFamily="18" charset="0"/>
              </a:rPr>
              <a:t>The concentration of </a:t>
            </a:r>
            <a:r>
              <a:rPr lang="en-US" sz="2800" dirty="0">
                <a:solidFill>
                  <a:srgbClr val="000000"/>
                </a:solidFill>
                <a:latin typeface="Times New Roman" panose="02020603050405020304" pitchFamily="18" charset="0"/>
                <a:cs typeface="Times New Roman" panose="02020603050405020304" pitchFamily="18" charset="0"/>
              </a:rPr>
              <a:t>CH</a:t>
            </a:r>
            <a:r>
              <a:rPr lang="en-US" sz="2800" baseline="-25000" dirty="0">
                <a:solidFill>
                  <a:srgbClr val="000000"/>
                </a:solidFill>
                <a:latin typeface="Times New Roman" panose="02020603050405020304" pitchFamily="18" charset="0"/>
                <a:cs typeface="Times New Roman" panose="02020603050405020304" pitchFamily="18" charset="0"/>
              </a:rPr>
              <a:t>4</a:t>
            </a:r>
            <a:r>
              <a:rPr lang="en-US" sz="2800" dirty="0">
                <a:solidFill>
                  <a:sysClr val="windowText" lastClr="000000"/>
                </a:solidFill>
                <a:latin typeface="Times New Roman" panose="02020603050405020304" pitchFamily="18" charset="0"/>
                <a:cs typeface="Times New Roman" panose="02020603050405020304" pitchFamily="18" charset="0"/>
              </a:rPr>
              <a:t> in the atmosphere is more than double what it was 300 years ago. </a:t>
            </a:r>
          </a:p>
          <a:p>
            <a:pPr marL="457200" indent="-457200" algn="just" eaLnBrk="1" fontAlgn="auto" hangingPunct="1">
              <a:spcBef>
                <a:spcPts val="0"/>
              </a:spcBef>
              <a:spcAft>
                <a:spcPts val="0"/>
              </a:spcAft>
              <a:buFont typeface="Wingdings" panose="05000000000000000000" pitchFamily="2" charset="2"/>
              <a:buChar char="§"/>
            </a:pPr>
            <a:r>
              <a:rPr lang="en-US" sz="2800" dirty="0">
                <a:solidFill>
                  <a:sysClr val="windowText" lastClr="000000"/>
                </a:solidFill>
                <a:latin typeface="Times New Roman" panose="02020603050405020304" pitchFamily="18" charset="0"/>
                <a:cs typeface="Times New Roman" panose="02020603050405020304" pitchFamily="18" charset="0"/>
              </a:rPr>
              <a:t>It is increasing at annual rate of almost 1% adding an additional 400 – 600 million tonnes to the atmosphere each year.</a:t>
            </a:r>
          </a:p>
          <a:p>
            <a:pPr algn="just" eaLnBrk="1" fontAlgn="auto" hangingPunct="1">
              <a:spcBef>
                <a:spcPts val="0"/>
              </a:spcBef>
              <a:spcAft>
                <a:spcPts val="0"/>
              </a:spcAft>
            </a:pPr>
            <a:r>
              <a:rPr lang="en-US" sz="2800" dirty="0">
                <a:solidFill>
                  <a:sysClr val="windowText" lastClr="000000"/>
                </a:solidFill>
                <a:latin typeface="Times New Roman" panose="02020603050405020304" pitchFamily="18" charset="0"/>
                <a:cs typeface="Times New Roman" panose="02020603050405020304" pitchFamily="18" charset="0"/>
              </a:rPr>
              <a:t> </a:t>
            </a:r>
          </a:p>
          <a:p>
            <a:pPr marL="457200" indent="-457200" algn="l" eaLnBrk="1" fontAlgn="auto" hangingPunct="1">
              <a:spcBef>
                <a:spcPts val="0"/>
              </a:spcBef>
              <a:spcAft>
                <a:spcPts val="0"/>
              </a:spcAft>
              <a:buFont typeface="Wingdings" panose="05000000000000000000" pitchFamily="2" charset="2"/>
              <a:buChar char="§"/>
            </a:pPr>
            <a:endParaRPr lang="en-US" dirty="0">
              <a:solidFill>
                <a:sysClr val="windowText" lastClr="000000"/>
              </a:solidFill>
              <a:latin typeface="Times New Roman" panose="02020603050405020304" pitchFamily="18" charset="0"/>
              <a:cs typeface="Times New Roman" panose="02020603050405020304" pitchFamily="18" charset="0"/>
            </a:endParaRPr>
          </a:p>
          <a:p>
            <a:pPr marL="457200" indent="-457200" algn="l" eaLnBrk="1" fontAlgn="auto" hangingPunct="1">
              <a:spcBef>
                <a:spcPts val="0"/>
              </a:spcBef>
              <a:spcAft>
                <a:spcPts val="0"/>
              </a:spcAft>
              <a:buFont typeface="Wingdings" panose="05000000000000000000" pitchFamily="2" charset="2"/>
              <a:buChar char="§"/>
            </a:pPr>
            <a:endParaRPr lang="en-US" dirty="0">
              <a:solidFill>
                <a:sysClr val="windowText" lastClr="000000"/>
              </a:solidFill>
              <a:latin typeface="Times New Roman" panose="02020603050405020304" pitchFamily="18" charset="0"/>
              <a:cs typeface="Times New Roman" panose="02020603050405020304" pitchFamily="18" charset="0"/>
            </a:endParaRPr>
          </a:p>
          <a:p>
            <a:pPr marL="457200" lvl="0" indent="-457200" algn="l" eaLnBrk="1" fontAlgn="auto" hangingPunct="1">
              <a:spcBef>
                <a:spcPts val="0"/>
              </a:spcBef>
              <a:spcAft>
                <a:spcPts val="0"/>
              </a:spcAft>
              <a:buFont typeface="Wingdings" panose="05000000000000000000" pitchFamily="2" charset="2"/>
              <a:buChar char="§"/>
            </a:pPr>
            <a:endParaRPr lang="en-US" dirty="0">
              <a:solidFill>
                <a:srgbClr val="000000"/>
              </a:solidFill>
              <a:latin typeface="Times New Roman" panose="02020603050405020304" pitchFamily="18" charset="0"/>
              <a:cs typeface="Times New Roman" panose="02020603050405020304" pitchFamily="18" charset="0"/>
            </a:endParaRPr>
          </a:p>
          <a:p>
            <a:pPr algn="just" defTabSz="914400" eaLnBrk="1" hangingPunct="1">
              <a:defRPr/>
            </a:pPr>
            <a:endParaRPr lang="en-US" sz="3600" dirty="0">
              <a:solidFill>
                <a:sysClr val="windowText" lastClr="000000"/>
              </a:solidFill>
              <a:latin typeface="Times New Roman" panose="02020603050405020304" pitchFamily="18" charset="0"/>
              <a:cs typeface="Times New Roman" pitchFamily="18" charset="0"/>
            </a:endParaRPr>
          </a:p>
          <a:p>
            <a:pPr algn="just" defTabSz="914400" eaLnBrk="1" hangingPunct="1">
              <a:defRPr/>
            </a:pPr>
            <a:endParaRPr lang="en-US" sz="3600" dirty="0">
              <a:solidFill>
                <a:sysClr val="windowText" lastClr="000000"/>
              </a:solidFill>
              <a:latin typeface="Times New Roman" panose="02020603050405020304" pitchFamily="18" charset="0"/>
              <a:cs typeface="Times New Roman" pitchFamily="18" charset="0"/>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
              <a:tabLst/>
              <a:defRPr/>
            </a:pPr>
            <a:endParaRPr kumimoji="0" lang="en-US" sz="3600" b="0" i="0" u="none" strike="noStrike" kern="1200" cap="none" spc="0" normalizeH="0" baseline="0" noProof="0" dirty="0">
              <a:ln>
                <a:noFill/>
              </a:ln>
              <a:solidFill>
                <a:srgbClr val="898989"/>
              </a:solidFill>
              <a:effectLst/>
              <a:uLnTx/>
              <a:uFillTx/>
              <a:latin typeface="Arial" charset="0"/>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endParaRPr kumimoji="0" lang="en-US" sz="3600" b="0" i="0" u="none" strike="noStrike" kern="1200" cap="none" spc="0" normalizeH="0" baseline="0" noProof="0" dirty="0">
              <a:ln>
                <a:noFill/>
              </a:ln>
              <a:solidFill>
                <a:srgbClr val="898989"/>
              </a:solidFill>
              <a:effectLst/>
              <a:uLnTx/>
              <a:uFillTx/>
              <a:latin typeface="Arial" charset="0"/>
              <a:ea typeface="+mn-ea"/>
              <a:cs typeface="+mn-cs"/>
            </a:endParaRPr>
          </a:p>
        </p:txBody>
      </p:sp>
    </p:spTree>
    <p:extLst>
      <p:ext uri="{BB962C8B-B14F-4D97-AF65-F5344CB8AC3E}">
        <p14:creationId xmlns:p14="http://schemas.microsoft.com/office/powerpoint/2010/main" val="4292542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029BEC03-7B25-4AFB-899B-D6C947DBD3AE}"/>
              </a:ext>
            </a:extLst>
          </p:cNvPr>
          <p:cNvSpPr txBox="1">
            <a:spLocks/>
          </p:cNvSpPr>
          <p:nvPr/>
        </p:nvSpPr>
        <p:spPr bwMode="auto">
          <a:xfrm>
            <a:off x="540327" y="-257695"/>
            <a:ext cx="10964488" cy="52339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lvl="0" algn="l" eaLnBrk="1" fontAlgn="auto" hangingPunct="1">
              <a:spcBef>
                <a:spcPts val="0"/>
              </a:spcBef>
              <a:spcAft>
                <a:spcPts val="0"/>
              </a:spcAft>
            </a:pPr>
            <a:endParaRPr lang="en-US" b="1" dirty="0">
              <a:solidFill>
                <a:srgbClr val="000000"/>
              </a:solidFill>
              <a:latin typeface="Times New Roman" panose="02020603050405020304" pitchFamily="18" charset="0"/>
              <a:cs typeface="Times New Roman" panose="02020603050405020304" pitchFamily="18" charset="0"/>
            </a:endParaRPr>
          </a:p>
          <a:p>
            <a:pPr algn="l">
              <a:lnSpc>
                <a:spcPct val="107000"/>
              </a:lnSpc>
              <a:spcAft>
                <a:spcPts val="800"/>
              </a:spcAft>
            </a:pPr>
            <a:r>
              <a:rPr lang="en-US" b="1" dirty="0">
                <a:solidFill>
                  <a:srgbClr val="000000"/>
                </a:solidFill>
                <a:latin typeface="Times New Roman" panose="02020603050405020304" pitchFamily="18" charset="0"/>
                <a:cs typeface="Times New Roman" panose="02020603050405020304" pitchFamily="18" charset="0"/>
              </a:rPr>
              <a:t>Methane (CH</a:t>
            </a:r>
            <a:r>
              <a:rPr lang="en-US" b="1" baseline="-25000" dirty="0">
                <a:solidFill>
                  <a:srgbClr val="000000"/>
                </a:solidFill>
                <a:latin typeface="Times New Roman" panose="02020603050405020304" pitchFamily="18" charset="0"/>
                <a:cs typeface="Times New Roman" panose="02020603050405020304" pitchFamily="18" charset="0"/>
              </a:rPr>
              <a:t>4</a:t>
            </a:r>
            <a:r>
              <a:rPr lang="en-US" b="1" dirty="0">
                <a:solidFill>
                  <a:srgbClr val="000000"/>
                </a:solidFill>
                <a:latin typeface="Times New Roman" panose="02020603050405020304" pitchFamily="18" charset="0"/>
                <a:cs typeface="Times New Roman" panose="02020603050405020304" pitchFamily="18" charset="0"/>
              </a:rPr>
              <a:t>) </a:t>
            </a:r>
          </a:p>
          <a:p>
            <a:pPr lvl="0" algn="l" eaLnBrk="1" fontAlgn="auto" hangingPunct="1">
              <a:spcBef>
                <a:spcPts val="0"/>
              </a:spcBef>
              <a:spcAft>
                <a:spcPts val="0"/>
              </a:spcAft>
            </a:pPr>
            <a:endParaRPr lang="en-US" b="1" dirty="0">
              <a:solidFill>
                <a:srgbClr val="000000"/>
              </a:solidFill>
              <a:latin typeface="Times New Roman" panose="02020603050405020304" pitchFamily="18" charset="0"/>
              <a:cs typeface="Times New Roman" panose="02020603050405020304" pitchFamily="18" charset="0"/>
            </a:endParaRPr>
          </a:p>
          <a:p>
            <a:pPr lvl="0" algn="l" eaLnBrk="1" fontAlgn="auto" hangingPunct="1">
              <a:spcBef>
                <a:spcPts val="0"/>
              </a:spcBef>
              <a:spcAft>
                <a:spcPts val="0"/>
              </a:spcAft>
            </a:pPr>
            <a:endParaRPr lang="en-US" b="1" dirty="0">
              <a:solidFill>
                <a:srgbClr val="000000"/>
              </a:solidFill>
              <a:latin typeface="Times New Roman" panose="02020603050405020304" pitchFamily="18" charset="0"/>
              <a:cs typeface="Times New Roman" panose="02020603050405020304" pitchFamily="18" charset="0"/>
            </a:endParaRPr>
          </a:p>
          <a:p>
            <a:pPr algn="just" defTabSz="914400" eaLnBrk="1" hangingPunct="1">
              <a:buFont typeface="Wingdings" pitchFamily="2" charset="2"/>
              <a:buChar char="§"/>
              <a:defRPr/>
            </a:pPr>
            <a:r>
              <a:rPr lang="en-US" dirty="0">
                <a:solidFill>
                  <a:srgbClr val="FF0000"/>
                </a:solidFill>
                <a:latin typeface="Times New Roman" panose="02020603050405020304" pitchFamily="18" charset="0"/>
                <a:cs typeface="Times New Roman" panose="02020603050405020304" pitchFamily="18" charset="0"/>
              </a:rPr>
              <a:t>CH</a:t>
            </a:r>
            <a:r>
              <a:rPr lang="en-US" baseline="-25000" dirty="0">
                <a:solidFill>
                  <a:srgbClr val="FF0000"/>
                </a:solidFill>
                <a:latin typeface="Times New Roman" panose="02020603050405020304" pitchFamily="18" charset="0"/>
                <a:cs typeface="Times New Roman" panose="02020603050405020304" pitchFamily="18" charset="0"/>
              </a:rPr>
              <a:t>4</a:t>
            </a:r>
            <a:r>
              <a:rPr lang="en-US" dirty="0">
                <a:solidFill>
                  <a:srgbClr val="FF0000"/>
                </a:solidFill>
                <a:latin typeface="Times New Roman" panose="02020603050405020304" pitchFamily="18" charset="0"/>
                <a:cs typeface="Times New Roman" panose="02020603050405020304" pitchFamily="18" charset="0"/>
              </a:rPr>
              <a:t> has a more concentrated effect than CO</a:t>
            </a:r>
            <a:r>
              <a:rPr lang="en-US" baseline="-25000" dirty="0">
                <a:solidFill>
                  <a:srgbClr val="FF0000"/>
                </a:solidFill>
                <a:latin typeface="Times New Roman" panose="02020603050405020304" pitchFamily="18" charset="0"/>
                <a:cs typeface="Times New Roman" panose="02020603050405020304" pitchFamily="18" charset="0"/>
              </a:rPr>
              <a:t>2</a:t>
            </a:r>
            <a:r>
              <a:rPr lang="en-US" dirty="0">
                <a:solidFill>
                  <a:srgbClr val="FF0000"/>
                </a:solidFill>
                <a:latin typeface="Times New Roman" panose="02020603050405020304" pitchFamily="18" charset="0"/>
                <a:cs typeface="Times New Roman" panose="02020603050405020304" pitchFamily="18" charset="0"/>
              </a:rPr>
              <a:t>. A molecule of CH</a:t>
            </a:r>
            <a:r>
              <a:rPr lang="en-US" baseline="-25000" dirty="0">
                <a:solidFill>
                  <a:srgbClr val="FF0000"/>
                </a:solidFill>
                <a:latin typeface="Times New Roman" panose="02020603050405020304" pitchFamily="18" charset="0"/>
                <a:cs typeface="Times New Roman" panose="02020603050405020304" pitchFamily="18" charset="0"/>
              </a:rPr>
              <a:t>4</a:t>
            </a:r>
            <a:r>
              <a:rPr lang="en-US" dirty="0">
                <a:solidFill>
                  <a:srgbClr val="FF0000"/>
                </a:solidFill>
                <a:latin typeface="Times New Roman" panose="02020603050405020304" pitchFamily="18" charset="0"/>
                <a:cs typeface="Times New Roman" panose="02020603050405020304" pitchFamily="18" charset="0"/>
              </a:rPr>
              <a:t> traps 20 – 30 times more heat than a molecule of CO</a:t>
            </a:r>
            <a:r>
              <a:rPr lang="en-US" baseline="-25000" dirty="0">
                <a:solidFill>
                  <a:srgbClr val="FF0000"/>
                </a:solidFill>
                <a:latin typeface="Times New Roman" panose="02020603050405020304" pitchFamily="18" charset="0"/>
                <a:cs typeface="Times New Roman" panose="02020603050405020304" pitchFamily="18" charset="0"/>
              </a:rPr>
              <a:t>2</a:t>
            </a:r>
            <a:r>
              <a:rPr lang="en-US" dirty="0">
                <a:solidFill>
                  <a:srgbClr val="FF0000"/>
                </a:solidFill>
                <a:latin typeface="Times New Roman" panose="02020603050405020304" pitchFamily="18" charset="0"/>
                <a:cs typeface="Times New Roman" panose="02020603050405020304" pitchFamily="18" charset="0"/>
              </a:rPr>
              <a:t>.</a:t>
            </a:r>
          </a:p>
          <a:p>
            <a:pPr algn="just" defTabSz="914400" eaLnBrk="1" hangingPunct="1">
              <a:defRPr/>
            </a:pPr>
            <a:endParaRPr lang="en-US" dirty="0">
              <a:solidFill>
                <a:sysClr val="windowText" lastClr="000000"/>
              </a:solidFill>
              <a:latin typeface="Times New Roman" panose="02020603050405020304" pitchFamily="18" charset="0"/>
              <a:cs typeface="Times New Roman" panose="02020603050405020304" pitchFamily="18" charset="0"/>
            </a:endParaRPr>
          </a:p>
          <a:p>
            <a:pPr algn="just" defTabSz="914400" eaLnBrk="1" hangingPunct="1">
              <a:buFont typeface="Wingdings" pitchFamily="2" charset="2"/>
              <a:buChar char="§"/>
              <a:defRPr/>
            </a:pPr>
            <a:r>
              <a:rPr lang="en-US" dirty="0">
                <a:solidFill>
                  <a:sysClr val="windowText" lastClr="000000"/>
                </a:solidFill>
                <a:latin typeface="Times New Roman" panose="02020603050405020304" pitchFamily="18" charset="0"/>
                <a:cs typeface="Times New Roman" panose="02020603050405020304" pitchFamily="18" charset="0"/>
              </a:rPr>
              <a:t>Studies show that rice paddies produce about 25% of all methane released to the atmosphere.</a:t>
            </a:r>
          </a:p>
          <a:p>
            <a:pPr marL="457200" indent="-457200" algn="l" eaLnBrk="1" fontAlgn="auto" hangingPunct="1">
              <a:spcBef>
                <a:spcPts val="0"/>
              </a:spcBef>
              <a:spcAft>
                <a:spcPts val="0"/>
              </a:spcAft>
              <a:buFont typeface="Wingdings" panose="05000000000000000000" pitchFamily="2" charset="2"/>
              <a:buChar char="§"/>
            </a:pPr>
            <a:endParaRPr lang="en-US" dirty="0">
              <a:solidFill>
                <a:sysClr val="windowText" lastClr="000000"/>
              </a:solidFill>
              <a:latin typeface="Times New Roman" panose="02020603050405020304" pitchFamily="18" charset="0"/>
              <a:cs typeface="Times New Roman" panose="02020603050405020304" pitchFamily="18" charset="0"/>
            </a:endParaRPr>
          </a:p>
          <a:p>
            <a:pPr marL="457200" indent="-457200" algn="l" eaLnBrk="1" fontAlgn="auto" hangingPunct="1">
              <a:spcBef>
                <a:spcPts val="0"/>
              </a:spcBef>
              <a:spcAft>
                <a:spcPts val="0"/>
              </a:spcAft>
              <a:buFont typeface="Wingdings" panose="05000000000000000000" pitchFamily="2" charset="2"/>
              <a:buChar char="§"/>
            </a:pPr>
            <a:endParaRPr lang="en-US" dirty="0">
              <a:solidFill>
                <a:sysClr val="windowText" lastClr="000000"/>
              </a:solidFill>
              <a:latin typeface="Times New Roman" panose="02020603050405020304" pitchFamily="18" charset="0"/>
              <a:cs typeface="Times New Roman" panose="02020603050405020304" pitchFamily="18" charset="0"/>
            </a:endParaRPr>
          </a:p>
          <a:p>
            <a:pPr marL="457200" lvl="0" indent="-457200" algn="l" eaLnBrk="1" fontAlgn="auto" hangingPunct="1">
              <a:spcBef>
                <a:spcPts val="0"/>
              </a:spcBef>
              <a:spcAft>
                <a:spcPts val="0"/>
              </a:spcAft>
              <a:buFont typeface="Wingdings" panose="05000000000000000000" pitchFamily="2" charset="2"/>
              <a:buChar char="§"/>
            </a:pPr>
            <a:endParaRPr lang="en-US" dirty="0">
              <a:solidFill>
                <a:srgbClr val="000000"/>
              </a:solidFill>
              <a:latin typeface="Times New Roman" panose="02020603050405020304" pitchFamily="18" charset="0"/>
              <a:cs typeface="Times New Roman" panose="02020603050405020304" pitchFamily="18" charset="0"/>
            </a:endParaRPr>
          </a:p>
          <a:p>
            <a:pPr algn="just" defTabSz="914400" eaLnBrk="1" hangingPunct="1">
              <a:defRPr/>
            </a:pPr>
            <a:endParaRPr lang="en-US" sz="3600" dirty="0">
              <a:solidFill>
                <a:sysClr val="windowText" lastClr="000000"/>
              </a:solidFill>
              <a:latin typeface="Times New Roman" panose="02020603050405020304" pitchFamily="18" charset="0"/>
              <a:cs typeface="Times New Roman" pitchFamily="18" charset="0"/>
            </a:endParaRPr>
          </a:p>
          <a:p>
            <a:pPr algn="just" defTabSz="914400" eaLnBrk="1" hangingPunct="1">
              <a:defRPr/>
            </a:pPr>
            <a:endParaRPr lang="en-US" sz="3600" dirty="0">
              <a:solidFill>
                <a:sysClr val="windowText" lastClr="000000"/>
              </a:solidFill>
              <a:latin typeface="Times New Roman" panose="02020603050405020304" pitchFamily="18" charset="0"/>
              <a:cs typeface="Times New Roman" pitchFamily="18" charset="0"/>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
              <a:tabLst/>
              <a:defRPr/>
            </a:pPr>
            <a:endParaRPr kumimoji="0" lang="en-US" sz="3600" b="0" i="0" u="none" strike="noStrike" kern="1200" cap="none" spc="0" normalizeH="0" baseline="0" noProof="0" dirty="0">
              <a:ln>
                <a:noFill/>
              </a:ln>
              <a:solidFill>
                <a:srgbClr val="898989"/>
              </a:solidFill>
              <a:effectLst/>
              <a:uLnTx/>
              <a:uFillTx/>
              <a:latin typeface="Arial" charset="0"/>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endParaRPr kumimoji="0" lang="en-US" sz="3600" b="0" i="0" u="none" strike="noStrike" kern="1200" cap="none" spc="0" normalizeH="0" baseline="0" noProof="0" dirty="0">
              <a:ln>
                <a:noFill/>
              </a:ln>
              <a:solidFill>
                <a:srgbClr val="898989"/>
              </a:solidFill>
              <a:effectLst/>
              <a:uLnTx/>
              <a:uFillTx/>
              <a:latin typeface="Arial" charset="0"/>
              <a:ea typeface="+mn-ea"/>
              <a:cs typeface="+mn-cs"/>
            </a:endParaRPr>
          </a:p>
        </p:txBody>
      </p:sp>
    </p:spTree>
    <p:extLst>
      <p:ext uri="{BB962C8B-B14F-4D97-AF65-F5344CB8AC3E}">
        <p14:creationId xmlns:p14="http://schemas.microsoft.com/office/powerpoint/2010/main" val="9885730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A6C84D-48D5-49B3-AE21-7D6BA99B5A45}"/>
              </a:ext>
            </a:extLst>
          </p:cNvPr>
          <p:cNvSpPr/>
          <p:nvPr/>
        </p:nvSpPr>
        <p:spPr>
          <a:xfrm>
            <a:off x="423150" y="1816675"/>
            <a:ext cx="11120191" cy="4672048"/>
          </a:xfrm>
          <a:prstGeom prst="rect">
            <a:avLst/>
          </a:prstGeom>
        </p:spPr>
        <p:txBody>
          <a:bodyPr wrap="square">
            <a:spAutoFit/>
          </a:bodyPr>
          <a:lstStyle/>
          <a:p>
            <a:pPr algn="just"/>
            <a:endParaRPr lang="en-ZM" sz="1200"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CFCs</a:t>
            </a:r>
            <a:r>
              <a:rPr lang="en-US" sz="2800" dirty="0">
                <a:solidFill>
                  <a:sysClr val="windowText" lastClr="000000"/>
                </a:solidFill>
                <a:latin typeface="Times New Roman" panose="02020603050405020304" pitchFamily="18" charset="0"/>
                <a:cs typeface="Times New Roman" panose="02020603050405020304" pitchFamily="18" charset="0"/>
              </a:rPr>
              <a:t> are a major threat to the ozone layer. </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CFCs a</a:t>
            </a:r>
            <a:r>
              <a:rPr lang="en-US" sz="2800" dirty="0">
                <a:latin typeface="Times New Roman" panose="02020603050405020304" pitchFamily="18" charset="0"/>
                <a:cs typeface="Times New Roman" panose="02020603050405020304" pitchFamily="18" charset="0"/>
              </a:rPr>
              <a:t>re synthetic, </a:t>
            </a:r>
            <a:r>
              <a:rPr lang="en-US" sz="2800" u="sng" dirty="0">
                <a:latin typeface="Times New Roman" panose="02020603050405020304" pitchFamily="18" charset="0"/>
                <a:cs typeface="Times New Roman" panose="02020603050405020304" pitchFamily="18" charset="0"/>
              </a:rPr>
              <a:t>anthropogenic</a:t>
            </a:r>
            <a:r>
              <a:rPr lang="en-US" sz="2800" dirty="0">
                <a:latin typeface="Times New Roman" panose="02020603050405020304" pitchFamily="18" charset="0"/>
                <a:cs typeface="Times New Roman" panose="02020603050405020304" pitchFamily="18" charset="0"/>
              </a:rPr>
              <a:t> chemicals with no natural sources.</a:t>
            </a:r>
            <a:r>
              <a:rPr lang="en-US" sz="2800" dirty="0">
                <a:solidFill>
                  <a:sysClr val="windowText" lastClr="000000"/>
                </a:solidFill>
                <a:latin typeface="Times New Roman" panose="02020603050405020304" pitchFamily="18" charset="0"/>
                <a:cs typeface="Times New Roman" panose="02020603050405020304" pitchFamily="18" charset="0"/>
              </a:rPr>
              <a:t> </a:t>
            </a:r>
            <a:r>
              <a:rPr lang="en-US" sz="2800" i="1" dirty="0">
                <a:solidFill>
                  <a:sysClr val="windowText" lastClr="000000"/>
                </a:solidFill>
                <a:latin typeface="Times New Roman" panose="02020603050405020304" pitchFamily="18" charset="0"/>
                <a:cs typeface="Times New Roman" panose="02020603050405020304" pitchFamily="18" charset="0"/>
              </a:rPr>
              <a:t>These are manufactured gases first introduced in the US during the 1930s.</a:t>
            </a:r>
            <a:r>
              <a:rPr lang="en-US" sz="2800" i="1" dirty="0">
                <a:latin typeface="Times New Roman" panose="02020603050405020304" pitchFamily="18" charset="0"/>
                <a:cs typeface="Times New Roman" panose="02020603050405020304" pitchFamily="18" charset="0"/>
              </a:rPr>
              <a:t> </a:t>
            </a:r>
          </a:p>
          <a:p>
            <a:pPr marL="457200" indent="-457200"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Major sources - coolants in refrigerators and air conditioners, propellants in aerosol sprays, and solvents for cleaning electronic components. </a:t>
            </a:r>
          </a:p>
          <a:p>
            <a:pPr marL="457200" indent="-457200" algn="just">
              <a:buFont typeface="Wingdings" panose="05000000000000000000" pitchFamily="2" charset="2"/>
              <a:buChar char="§"/>
            </a:pPr>
            <a:r>
              <a:rPr lang="en-US" sz="2800" dirty="0">
                <a:solidFill>
                  <a:sysClr val="windowText" lastClr="000000"/>
                </a:solidFill>
                <a:latin typeface="Times New Roman" panose="02020603050405020304" pitchFamily="18" charset="0"/>
                <a:cs typeface="Times New Roman" panose="02020603050405020304" pitchFamily="18" charset="0"/>
              </a:rPr>
              <a:t>Two of them are in common use today: CFC-11 (used as a propellant in spray cans among other things) and CFC-12 (used in air conditioning and in refrigeration).</a:t>
            </a:r>
          </a:p>
          <a:p>
            <a:pPr marL="457200" indent="-457200" algn="just">
              <a:buFont typeface="Wingdings" panose="05000000000000000000" pitchFamily="2" charset="2"/>
              <a:buChar char="§"/>
            </a:pPr>
            <a:endParaRPr lang="en-US" sz="2800" dirty="0">
              <a:solidFill>
                <a:srgbClr val="000000"/>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2F789CDA-DB49-4EA3-B10E-648A2F241454}"/>
              </a:ext>
            </a:extLst>
          </p:cNvPr>
          <p:cNvSpPr/>
          <p:nvPr/>
        </p:nvSpPr>
        <p:spPr>
          <a:xfrm>
            <a:off x="635594" y="493240"/>
            <a:ext cx="5930791" cy="646331"/>
          </a:xfrm>
          <a:prstGeom prst="rect">
            <a:avLst/>
          </a:prstGeom>
        </p:spPr>
        <p:txBody>
          <a:bodyPr wrap="none">
            <a:spAutoFit/>
          </a:bodyPr>
          <a:lstStyle/>
          <a:p>
            <a:r>
              <a:rPr lang="en-US" sz="3600" b="1" dirty="0">
                <a:solidFill>
                  <a:srgbClr val="000000"/>
                </a:solidFill>
                <a:latin typeface="Times New Roman" panose="02020603050405020304" pitchFamily="18" charset="0"/>
                <a:cs typeface="Times New Roman" panose="02020603050405020304" pitchFamily="18" charset="0"/>
              </a:rPr>
              <a:t>Chlorofluorocarbons (CFCs</a:t>
            </a:r>
            <a:r>
              <a:rPr lang="en-US" sz="2800" b="1" dirty="0">
                <a:solidFill>
                  <a:srgbClr val="000000"/>
                </a:solidFill>
                <a:latin typeface="Times New Roman" panose="02020603050405020304" pitchFamily="18" charset="0"/>
                <a:cs typeface="Times New Roman" panose="02020603050405020304" pitchFamily="18" charset="0"/>
              </a:rPr>
              <a:t>) </a:t>
            </a:r>
            <a:endParaRPr lang="en-ZM" dirty="0"/>
          </a:p>
        </p:txBody>
      </p:sp>
    </p:spTree>
    <p:extLst>
      <p:ext uri="{BB962C8B-B14F-4D97-AF65-F5344CB8AC3E}">
        <p14:creationId xmlns:p14="http://schemas.microsoft.com/office/powerpoint/2010/main" val="26313240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F138DF36-048F-406A-95B7-5409EAB26AED}"/>
              </a:ext>
            </a:extLst>
          </p:cNvPr>
          <p:cNvSpPr txBox="1">
            <a:spLocks/>
          </p:cNvSpPr>
          <p:nvPr/>
        </p:nvSpPr>
        <p:spPr bwMode="auto">
          <a:xfrm>
            <a:off x="490451" y="1604037"/>
            <a:ext cx="11080865" cy="46426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just" defTabSz="914400" rtl="0" eaLnBrk="0" fontAlgn="base" latinLnBrk="0" hangingPunct="0">
              <a:lnSpc>
                <a:spcPct val="100000"/>
              </a:lnSpc>
              <a:spcBef>
                <a:spcPct val="20000"/>
              </a:spcBef>
              <a:spcAft>
                <a:spcPct val="0"/>
              </a:spcAft>
              <a:buClrTx/>
              <a:buSzTx/>
              <a:buFont typeface="Arial" charset="0"/>
              <a:buNone/>
              <a:tabLst/>
              <a:defRPr/>
            </a:pPr>
            <a:endPar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algn="just" defTabSz="914400" eaLnBrk="1" hangingPunct="1">
              <a:lnSpc>
                <a:spcPct val="80000"/>
              </a:lnSpc>
              <a:buFont typeface="Wingdings" pitchFamily="2" charset="2"/>
              <a:buChar char="§"/>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Both </a:t>
            </a:r>
            <a:r>
              <a:rPr lang="en-US" dirty="0">
                <a:solidFill>
                  <a:sysClr val="windowText" lastClr="000000"/>
                </a:solidFill>
                <a:latin typeface="Times New Roman" panose="02020603050405020304" pitchFamily="18" charset="0"/>
                <a:cs typeface="Times New Roman" panose="02020603050405020304" pitchFamily="18" charset="0"/>
              </a:rPr>
              <a:t>CFC-11 and CFC-12 </a:t>
            </a: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are highly persistent, remaining intact in the atmosphere for as long as 130 years. [</a:t>
            </a:r>
            <a:r>
              <a:rPr kumimoji="0" lang="en-US" b="0" i="0" u="none" strike="noStrike" kern="120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Some</a:t>
            </a: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lang="en-US" i="1" dirty="0">
                <a:solidFill>
                  <a:srgbClr val="0070C0"/>
                </a:solidFill>
                <a:latin typeface="Times New Roman" panose="02020603050405020304" pitchFamily="18" charset="0"/>
                <a:cs typeface="Times New Roman" panose="02020603050405020304" pitchFamily="18" charset="0"/>
              </a:rPr>
              <a:t>CFCs have a residence period of ~500 years</a:t>
            </a:r>
            <a:r>
              <a:rPr lang="en-US" dirty="0">
                <a:solidFill>
                  <a:schemeClr val="tx1"/>
                </a:solidFill>
                <a:latin typeface="Times New Roman" panose="02020603050405020304" pitchFamily="18" charset="0"/>
                <a:cs typeface="Times New Roman" panose="02020603050405020304" pitchFamily="18" charset="0"/>
              </a:rPr>
              <a:t>]</a:t>
            </a:r>
            <a:r>
              <a:rPr lang="en-US" i="1" dirty="0">
                <a:solidFill>
                  <a:srgbClr val="0070C0"/>
                </a:solidFill>
                <a:latin typeface="Times New Roman" panose="02020603050405020304" pitchFamily="18" charset="0"/>
                <a:cs typeface="Times New Roman" panose="02020603050405020304" pitchFamily="18" charset="0"/>
              </a:rPr>
              <a:t>.</a:t>
            </a:r>
            <a:endParaRPr lang="en-US" dirty="0">
              <a:solidFill>
                <a:srgbClr val="000000"/>
              </a:solidFill>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80000"/>
              </a:lnSpc>
              <a:spcBef>
                <a:spcPct val="20000"/>
              </a:spcBef>
              <a:spcAft>
                <a:spcPct val="0"/>
              </a:spcAft>
              <a:buClrTx/>
              <a:buSzTx/>
              <a:tabLst/>
              <a:defRPr/>
            </a:pPr>
            <a:endPar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However, they are </a:t>
            </a:r>
            <a:r>
              <a:rPr kumimoji="0" lang="en-US" b="0" i="1"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slowly</a:t>
            </a: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both being phased out from use. </a:t>
            </a:r>
          </a:p>
          <a:p>
            <a:pPr marL="0" marR="0" lvl="0" indent="0" algn="just" defTabSz="914400" rtl="0" eaLnBrk="1" fontAlgn="base" latinLnBrk="0" hangingPunct="1">
              <a:lnSpc>
                <a:spcPct val="80000"/>
              </a:lnSpc>
              <a:spcBef>
                <a:spcPct val="20000"/>
              </a:spcBef>
              <a:spcAft>
                <a:spcPct val="0"/>
              </a:spcAft>
              <a:buClrTx/>
              <a:buSzTx/>
              <a:buFont typeface="Arial" charset="0"/>
              <a:buNone/>
              <a:tabLst/>
              <a:defRPr/>
            </a:pPr>
            <a:endPar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One CFC molecule can destroy 100,000 molecules of Ozone.</a:t>
            </a:r>
          </a:p>
          <a:p>
            <a:pPr marL="0" marR="0" lvl="0" indent="0" algn="ctr" defTabSz="914400" rtl="0" eaLnBrk="0" fontAlgn="base" latinLnBrk="0" hangingPunct="0">
              <a:lnSpc>
                <a:spcPct val="10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ysClr val="windowText" lastClr="000000">
                  <a:tint val="75000"/>
                </a:sysClr>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1BBBD7EC-BE47-4662-A902-C8530B0F3C53}"/>
              </a:ext>
            </a:extLst>
          </p:cNvPr>
          <p:cNvSpPr/>
          <p:nvPr/>
        </p:nvSpPr>
        <p:spPr>
          <a:xfrm>
            <a:off x="490451" y="386862"/>
            <a:ext cx="6289863" cy="646331"/>
          </a:xfrm>
          <a:prstGeom prst="rect">
            <a:avLst/>
          </a:prstGeom>
        </p:spPr>
        <p:txBody>
          <a:bodyPr wrap="none">
            <a:spAutoFit/>
          </a:bodyPr>
          <a:lstStyle/>
          <a:p>
            <a:pPr lvl="0"/>
            <a:r>
              <a:rPr lang="en-US" sz="3600" b="1" dirty="0">
                <a:solidFill>
                  <a:srgbClr val="000000"/>
                </a:solidFill>
                <a:latin typeface="Times New Roman" panose="02020603050405020304" pitchFamily="18" charset="0"/>
                <a:cs typeface="Times New Roman" panose="02020603050405020304" pitchFamily="18" charset="0"/>
              </a:rPr>
              <a:t>Chlorofluorocarbons (CFCs</a:t>
            </a:r>
            <a:r>
              <a:rPr lang="en-US" sz="2800" b="1" dirty="0">
                <a:solidFill>
                  <a:srgbClr val="000000"/>
                </a:solidFill>
                <a:latin typeface="Times New Roman" panose="02020603050405020304" pitchFamily="18" charset="0"/>
                <a:cs typeface="Times New Roman" panose="02020603050405020304" pitchFamily="18" charset="0"/>
              </a:rPr>
              <a:t>)… </a:t>
            </a:r>
            <a:endParaRPr lang="en-ZM" dirty="0">
              <a:solidFill>
                <a:prstClr val="black"/>
              </a:solidFill>
            </a:endParaRPr>
          </a:p>
        </p:txBody>
      </p:sp>
    </p:spTree>
    <p:extLst>
      <p:ext uri="{BB962C8B-B14F-4D97-AF65-F5344CB8AC3E}">
        <p14:creationId xmlns:p14="http://schemas.microsoft.com/office/powerpoint/2010/main" val="474564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15" name="img" descr="http://econews.com.au/wp-content/uploads/2013/02/greenhouse-gas-emissions.jpg">
            <a:extLst>
              <a:ext uri="{FF2B5EF4-FFF2-40B4-BE49-F238E27FC236}">
                <a16:creationId xmlns:a16="http://schemas.microsoft.com/office/drawing/2014/main" id="{57E88857-23AC-4B97-8A25-C63D6D35F49B}"/>
              </a:ext>
            </a:extLst>
          </p:cNvPr>
          <p:cNvPicPr>
            <a:picLocks noChangeAspect="1" noChangeArrowheads="1"/>
          </p:cNvPicPr>
          <p:nvPr/>
        </p:nvPicPr>
        <p:blipFill>
          <a:blip r:embed="rId11"/>
          <a:srcRect/>
          <a:stretch>
            <a:fillRect/>
          </a:stretch>
        </p:blipFill>
        <p:spPr bwMode="auto">
          <a:xfrm>
            <a:off x="714895" y="23665"/>
            <a:ext cx="10656916" cy="6067602"/>
          </a:xfrm>
          <a:prstGeom prst="rect">
            <a:avLst/>
          </a:prstGeom>
          <a:noFill/>
          <a:ln w="9525">
            <a:noFill/>
            <a:miter lim="800000"/>
            <a:headEnd/>
            <a:tailEnd/>
          </a:ln>
        </p:spPr>
      </p:pic>
    </p:spTree>
    <p:extLst>
      <p:ext uri="{BB962C8B-B14F-4D97-AF65-F5344CB8AC3E}">
        <p14:creationId xmlns:p14="http://schemas.microsoft.com/office/powerpoint/2010/main" val="2409666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22BC551F-B4A9-47E2-AF9D-E20FA82BE0B6}"/>
              </a:ext>
            </a:extLst>
          </p:cNvPr>
          <p:cNvSpPr txBox="1">
            <a:spLocks/>
          </p:cNvSpPr>
          <p:nvPr/>
        </p:nvSpPr>
        <p:spPr bwMode="auto">
          <a:xfrm>
            <a:off x="735676" y="1998518"/>
            <a:ext cx="10594571" cy="35460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marR="0" lvl="0" indent="-4572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For almost all of human history this is the era that has had noticeable impact on the planet’s atmosphere. </a:t>
            </a:r>
          </a:p>
          <a:p>
            <a:pPr marL="457200" marR="0" lvl="0" indent="-4572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 the 18</a:t>
            </a:r>
            <a:r>
              <a:rPr kumimoji="0" lang="en-US" sz="2800" b="0" i="0" u="none" strike="noStrike" kern="1200" cap="none" spc="0" normalizeH="0" baseline="3000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a:t>
            </a: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century the first steam engines and large factories appeared. Large amounts of coal were burned and large areas of forest cleared. </a:t>
            </a:r>
          </a:p>
          <a:p>
            <a:pPr marL="457200" marR="0" lvl="0" indent="-4572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European countries began to colonize the world, expanding their markets for manufactured goods and taking raw materials from the south. </a:t>
            </a:r>
            <a:endParaRPr kumimoji="0" lang="en-US" sz="2800" b="0" i="0" u="none" strike="noStrike" kern="1200" cap="none" spc="0" normalizeH="0" baseline="0" noProof="0" dirty="0">
              <a:ln>
                <a:noFill/>
              </a:ln>
              <a:solidFill>
                <a:srgbClr val="898989"/>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110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04F9098A-92E8-4AC1-928F-EFC098B4EEF0}"/>
              </a:ext>
            </a:extLst>
          </p:cNvPr>
          <p:cNvSpPr txBox="1">
            <a:spLocks/>
          </p:cNvSpPr>
          <p:nvPr/>
        </p:nvSpPr>
        <p:spPr bwMode="auto">
          <a:xfrm>
            <a:off x="706581" y="1604357"/>
            <a:ext cx="10540539" cy="39817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defRPr/>
            </a:pPr>
            <a:endParaRPr kumimoji="0" lang="en-US" sz="2600" b="1" i="0" u="none" strike="noStrike" kern="1200" cap="none" spc="0" normalizeH="0" baseline="0" noProof="0" dirty="0">
              <a:ln>
                <a:noFill/>
              </a:ln>
              <a:solidFill>
                <a:sysClr val="windowText" lastClr="000000"/>
              </a:solidFill>
              <a:effectLst/>
              <a:uLnTx/>
              <a:uFillTx/>
              <a:latin typeface="Times New Roman" pitchFamily="18" charset="0"/>
              <a:ea typeface="+mn-ea"/>
              <a:cs typeface="Times New Roman" pitchFamily="18" charset="0"/>
            </a:endParaRPr>
          </a:p>
          <a:p>
            <a:pPr marL="457200" marR="0" lvl="0" indent="-4572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sz="29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With industrial revolution came the first global pollution problems.</a:t>
            </a:r>
            <a:endParaRPr lang="en-US" sz="2900" dirty="0">
              <a:solidFill>
                <a:sysClr val="windowText" lastClr="000000"/>
              </a:solidFill>
              <a:latin typeface="Times New Roman" panose="02020603050405020304" pitchFamily="18" charset="0"/>
              <a:cs typeface="Times New Roman" panose="02020603050405020304" pitchFamily="18" charset="0"/>
            </a:endParaRPr>
          </a:p>
          <a:p>
            <a:pPr marL="457200" marR="0" lvl="0" indent="-4572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sz="29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Since the mid 1700s the carbon dioxide concentration of the atmosphere has increased to its highest level in the past 150 years. </a:t>
            </a:r>
            <a:endParaRPr lang="en-US" sz="2900" dirty="0">
              <a:solidFill>
                <a:sysClr val="windowText" lastClr="000000"/>
              </a:solidFill>
              <a:latin typeface="Times New Roman" panose="02020603050405020304" pitchFamily="18" charset="0"/>
              <a:cs typeface="Times New Roman" panose="02020603050405020304" pitchFamily="18" charset="0"/>
            </a:endParaRPr>
          </a:p>
          <a:p>
            <a:pPr marL="457200" marR="0" lvl="0" indent="-457200" algn="just"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sz="29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decades have been recorded to be the hottest in living memory.  </a:t>
            </a:r>
          </a:p>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endParaRPr kumimoji="0" lang="en-US" sz="2900" b="0" i="0" u="none" strike="noStrike" kern="1200" cap="none" spc="0" normalizeH="0" baseline="0" noProof="0" dirty="0">
              <a:ln>
                <a:noFill/>
              </a:ln>
              <a:solidFill>
                <a:srgbClr val="898989"/>
              </a:solidFill>
              <a:effectLst/>
              <a:uLnTx/>
              <a:uFillTx/>
              <a:latin typeface="Arial" charset="0"/>
              <a:ea typeface="+mn-ea"/>
              <a:cs typeface="+mn-cs"/>
            </a:endParaRPr>
          </a:p>
        </p:txBody>
      </p:sp>
    </p:spTree>
    <p:extLst>
      <p:ext uri="{BB962C8B-B14F-4D97-AF65-F5344CB8AC3E}">
        <p14:creationId xmlns:p14="http://schemas.microsoft.com/office/powerpoint/2010/main" val="2254175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Subtitle 4">
            <a:extLst>
              <a:ext uri="{FF2B5EF4-FFF2-40B4-BE49-F238E27FC236}">
                <a16:creationId xmlns:a16="http://schemas.microsoft.com/office/drawing/2014/main" id="{C3ABF26D-9B54-4F5D-923B-AEB7B2F55D7D}"/>
              </a:ext>
            </a:extLst>
          </p:cNvPr>
          <p:cNvSpPr txBox="1">
            <a:spLocks/>
          </p:cNvSpPr>
          <p:nvPr/>
        </p:nvSpPr>
        <p:spPr bwMode="auto">
          <a:xfrm>
            <a:off x="538408" y="1976862"/>
            <a:ext cx="10740045" cy="3850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marR="0" lvl="0" indent="-45720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year 1988 was the warmest, 1989 the second warmest. </a:t>
            </a:r>
          </a:p>
          <a:p>
            <a:pPr marL="457200" marR="0" lvl="0" indent="-45720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years 1980, 1981, and 1986 were all warmer than any others in the last century. </a:t>
            </a:r>
          </a:p>
          <a:p>
            <a:pPr marL="457200" marR="0" lvl="0" indent="-45720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 new record was 2015 which was recorded the warmest of all the above. </a:t>
            </a:r>
            <a:endParaRPr lang="en-US" b="1" dirty="0">
              <a:solidFill>
                <a:sysClr val="windowText" lastClr="000000"/>
              </a:solidFill>
              <a:latin typeface="Times New Roman" panose="02020603050405020304" pitchFamily="18" charset="0"/>
              <a:cs typeface="Times New Roman" panose="02020603050405020304" pitchFamily="18" charset="0"/>
            </a:endParaRPr>
          </a:p>
          <a:p>
            <a:pPr marL="457200" marR="0" lvl="0" indent="-457200" algn="just" defTabSz="914400" rtl="0" eaLnBrk="1" fontAlgn="base" latinLnBrk="0" hangingPunct="1">
              <a:lnSpc>
                <a:spcPct val="90000"/>
              </a:lnSpc>
              <a:spcBef>
                <a:spcPct val="20000"/>
              </a:spcBef>
              <a:spcAft>
                <a:spcPct val="0"/>
              </a:spcAft>
              <a:buClrTx/>
              <a:buSzTx/>
              <a:buFont typeface="Wingdings" panose="05000000000000000000" pitchFamily="2" charset="2"/>
              <a:buChar char="§"/>
              <a:tabLst/>
              <a:defRPr/>
            </a:pPr>
            <a:r>
              <a:rPr kumimoji="0" lang="en-US" sz="32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 the next 30 - 60 years scientists predict, the average temperature of the earth will continue to rise by between 1- 4 degrees Celsius.</a:t>
            </a:r>
            <a:endParaRPr kumimoji="0" lang="en-US" sz="3200" b="0" i="0" u="none" strike="noStrike" kern="1200" cap="none" spc="0" normalizeH="0" baseline="0" noProof="0" dirty="0">
              <a:ln>
                <a:noFill/>
              </a:ln>
              <a:solidFill>
                <a:srgbClr val="898989"/>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9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rgbClr val="898989"/>
              </a:solidFill>
              <a:effectLst/>
              <a:uLnTx/>
              <a:uFillTx/>
              <a:latin typeface="Arial" charset="0"/>
              <a:ea typeface="+mn-ea"/>
              <a:cs typeface="+mn-cs"/>
            </a:endParaRPr>
          </a:p>
        </p:txBody>
      </p:sp>
    </p:spTree>
    <p:extLst>
      <p:ext uri="{BB962C8B-B14F-4D97-AF65-F5344CB8AC3E}">
        <p14:creationId xmlns:p14="http://schemas.microsoft.com/office/powerpoint/2010/main" val="560720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graphicFrame>
        <p:nvGraphicFramePr>
          <p:cNvPr id="15" name="Group 34">
            <a:extLst>
              <a:ext uri="{FF2B5EF4-FFF2-40B4-BE49-F238E27FC236}">
                <a16:creationId xmlns:a16="http://schemas.microsoft.com/office/drawing/2014/main" id="{1F7B6B21-2E81-4D92-A38D-7E28358E9ECD}"/>
              </a:ext>
            </a:extLst>
          </p:cNvPr>
          <p:cNvGraphicFramePr>
            <a:graphicFrameLocks/>
          </p:cNvGraphicFramePr>
          <p:nvPr>
            <p:extLst>
              <p:ext uri="{D42A27DB-BD31-4B8C-83A1-F6EECF244321}">
                <p14:modId xmlns:p14="http://schemas.microsoft.com/office/powerpoint/2010/main" val="1531411947"/>
              </p:ext>
            </p:extLst>
          </p:nvPr>
        </p:nvGraphicFramePr>
        <p:xfrm>
          <a:off x="351905" y="44770"/>
          <a:ext cx="11488189" cy="5986752"/>
        </p:xfrm>
        <a:graphic>
          <a:graphicData uri="http://schemas.openxmlformats.org/drawingml/2006/table">
            <a:tbl>
              <a:tblPr/>
              <a:tblGrid>
                <a:gridCol w="887724">
                  <a:extLst>
                    <a:ext uri="{9D8B030D-6E8A-4147-A177-3AD203B41FA5}">
                      <a16:colId xmlns:a16="http://schemas.microsoft.com/office/drawing/2014/main" val="20000"/>
                    </a:ext>
                  </a:extLst>
                </a:gridCol>
                <a:gridCol w="1409914">
                  <a:extLst>
                    <a:ext uri="{9D8B030D-6E8A-4147-A177-3AD203B41FA5}">
                      <a16:colId xmlns:a16="http://schemas.microsoft.com/office/drawing/2014/main" val="20001"/>
                    </a:ext>
                  </a:extLst>
                </a:gridCol>
                <a:gridCol w="9190551">
                  <a:extLst>
                    <a:ext uri="{9D8B030D-6E8A-4147-A177-3AD203B41FA5}">
                      <a16:colId xmlns:a16="http://schemas.microsoft.com/office/drawing/2014/main" val="20002"/>
                    </a:ext>
                  </a:extLst>
                </a:gridCol>
              </a:tblGrid>
              <a:tr h="687388">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ea typeface="Calibri" pitchFamily="34" charset="0"/>
                          <a:cs typeface="Times New Roman" panose="02020603050405020304" pitchFamily="18" charset="0"/>
                        </a:rPr>
                        <a:t>No.</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anose="02020603050405020304" pitchFamily="18" charset="0"/>
                          <a:ea typeface="Calibri" pitchFamily="34" charset="0"/>
                          <a:cs typeface="Times New Roman" panose="02020603050405020304" pitchFamily="18" charset="0"/>
                        </a:rPr>
                        <a:t>Period </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Remarks </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1757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Calibri" pitchFamily="34" charset="0"/>
                          <a:cs typeface="Times New Roman" panose="02020603050405020304" pitchFamily="18" charset="0"/>
                        </a:rPr>
                        <a:t>1</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Calibri" pitchFamily="34" charset="0"/>
                          <a:cs typeface="Times New Roman" panose="02020603050405020304" pitchFamily="18" charset="0"/>
                        </a:rPr>
                        <a:t>1850 - 1900</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Deforestation, mainly in temperate regions, was the major source of human caused carbon dioxide emissions</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916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Calibri" pitchFamily="34" charset="0"/>
                          <a:cs typeface="Times New Roman" panose="02020603050405020304" pitchFamily="18" charset="0"/>
                        </a:rPr>
                        <a:t>2</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1900 - 1945</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Fossil – fuel emissions from industrialization increased and became the main source of carbon dioxide emissions</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6201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Calibri" pitchFamily="34" charset="0"/>
                          <a:cs typeface="Times New Roman" panose="02020603050405020304" pitchFamily="18" charset="0"/>
                        </a:rPr>
                        <a:t>3</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Calibri" pitchFamily="34" charset="0"/>
                          <a:cs typeface="Times New Roman" panose="02020603050405020304" pitchFamily="18" charset="0"/>
                        </a:rPr>
                        <a:t>1945 - 1960</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Rapid tropical deforestation started</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4182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Calibri" pitchFamily="34" charset="0"/>
                          <a:cs typeface="Times New Roman" panose="02020603050405020304" pitchFamily="18" charset="0"/>
                        </a:rPr>
                        <a:t>4</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1960 – 1990 and beyond</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Massive cutting of tropical forests increased from 11 million hectares cleared in 1980 to 22 million hectares in 1990. Deforestation added more than 1,500 million tonnes of carbon dioxide annually.  Fossil fuel contribution more than doubled from 2,500 million to 5,700 million tonnes annually.  </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8788">
                <a:tc gridSpan="3">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Source: </a:t>
                      </a:r>
                      <a:r>
                        <a:rPr kumimoji="0" lang="en-US" sz="1800" b="1"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Ominde</a:t>
                      </a:r>
                      <a:r>
                        <a:rPr kumimoji="0" lang="en-US" sz="18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et al. 1991. A change in the weather: African perspectives on climate change.  </a:t>
                      </a:r>
                    </a:p>
                  </a:txBody>
                  <a:tcPr marL="59206" marR="5920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56376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1">
            <a:extLst>
              <a:ext uri="{FF2B5EF4-FFF2-40B4-BE49-F238E27FC236}">
                <a16:creationId xmlns:a16="http://schemas.microsoft.com/office/drawing/2014/main" id="{93D782CF-F60F-4024-BBB8-3C603F19F44C}"/>
              </a:ext>
            </a:extLst>
          </p:cNvPr>
          <p:cNvSpPr txBox="1">
            <a:spLocks/>
          </p:cNvSpPr>
          <p:nvPr/>
        </p:nvSpPr>
        <p:spPr bwMode="auto">
          <a:xfrm>
            <a:off x="282633" y="8313"/>
            <a:ext cx="9152312" cy="79130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Green House Emissions by Country, 2017</a:t>
            </a:r>
          </a:p>
        </p:txBody>
      </p:sp>
      <p:sp>
        <p:nvSpPr>
          <p:cNvPr id="16" name="Subtitle 2">
            <a:extLst>
              <a:ext uri="{FF2B5EF4-FFF2-40B4-BE49-F238E27FC236}">
                <a16:creationId xmlns:a16="http://schemas.microsoft.com/office/drawing/2014/main" id="{21AE0953-6168-4F55-AE8E-715842D4334F}"/>
              </a:ext>
            </a:extLst>
          </p:cNvPr>
          <p:cNvSpPr txBox="1">
            <a:spLocks/>
          </p:cNvSpPr>
          <p:nvPr/>
        </p:nvSpPr>
        <p:spPr bwMode="auto">
          <a:xfrm>
            <a:off x="988695" y="1959243"/>
            <a:ext cx="9260378" cy="4089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China – 30%</a:t>
            </a: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USA – 15% </a:t>
            </a: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EU – 9% </a:t>
            </a: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India – 7% </a:t>
            </a: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Russia – 5% </a:t>
            </a: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Japan – 4 % </a:t>
            </a:r>
          </a:p>
          <a:p>
            <a:pPr marL="457200" marR="0" lvl="0" indent="-457200" algn="just" defTabSz="914400" rtl="0" eaLnBrk="0" fontAlgn="base" latinLnBrk="0" hangingPunct="0">
              <a:lnSpc>
                <a:spcPct val="100000"/>
              </a:lnSpc>
              <a:spcBef>
                <a:spcPct val="20000"/>
              </a:spcBef>
              <a:spcAft>
                <a:spcPct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Other – 30%</a:t>
            </a:r>
          </a:p>
          <a:p>
            <a:pPr marL="0" marR="0" lvl="0" indent="0" algn="just" defTabSz="914400" rtl="0" eaLnBrk="0" fontAlgn="base" latinLnBrk="0" hangingPunct="0">
              <a:lnSpc>
                <a:spcPct val="100000"/>
              </a:lnSpc>
              <a:spcBef>
                <a:spcPct val="20000"/>
              </a:spcBef>
              <a:spcAft>
                <a:spcPct val="0"/>
              </a:spcAft>
              <a:buClrTx/>
              <a:buSzTx/>
              <a:buFont typeface="Arial" charset="0"/>
              <a:buNone/>
              <a:tabLst/>
              <a:defRPr/>
            </a:pPr>
            <a:endParaRPr kumimoji="0" lang="en-US" sz="20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5910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9517760-429C-4FE3-ADB4-54B58A826107}"/>
              </a:ext>
            </a:extLst>
          </p:cNvPr>
          <p:cNvSpPr/>
          <p:nvPr/>
        </p:nvSpPr>
        <p:spPr>
          <a:xfrm>
            <a:off x="1069520" y="1997839"/>
            <a:ext cx="10260727" cy="3046988"/>
          </a:xfrm>
          <a:prstGeom prst="rect">
            <a:avLst/>
          </a:prstGeom>
        </p:spPr>
        <p:txBody>
          <a:bodyPr wrap="square">
            <a:spAutoFit/>
          </a:bodyPr>
          <a:lstStyle/>
          <a:p>
            <a:r>
              <a:rPr lang="en-US" sz="3200" b="1" dirty="0">
                <a:solidFill>
                  <a:srgbClr val="373545"/>
                </a:solidFill>
                <a:latin typeface="Times New Roman" panose="02020603050405020304" pitchFamily="18" charset="0"/>
                <a:cs typeface="Times New Roman" panose="02020603050405020304" pitchFamily="18" charset="0"/>
              </a:rPr>
              <a:t>GHG can be </a:t>
            </a:r>
            <a:r>
              <a:rPr lang="en-US" sz="3200" b="1" dirty="0" err="1">
                <a:solidFill>
                  <a:srgbClr val="373545"/>
                </a:solidFill>
                <a:latin typeface="Times New Roman" panose="02020603050405020304" pitchFamily="18" charset="0"/>
                <a:cs typeface="Times New Roman" panose="02020603050405020304" pitchFamily="18" charset="0"/>
              </a:rPr>
              <a:t>minimised</a:t>
            </a:r>
            <a:r>
              <a:rPr lang="en-US" sz="3200" b="1" dirty="0">
                <a:solidFill>
                  <a:srgbClr val="373545"/>
                </a:solidFill>
                <a:latin typeface="Times New Roman" panose="02020603050405020304" pitchFamily="18" charset="0"/>
                <a:cs typeface="Times New Roman" panose="02020603050405020304" pitchFamily="18" charset="0"/>
              </a:rPr>
              <a:t> by –</a:t>
            </a:r>
          </a:p>
          <a:p>
            <a:endParaRPr lang="en-US" sz="3200" b="1" dirty="0">
              <a:solidFill>
                <a:srgbClr val="373545"/>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Compositing – controlled decomposition </a:t>
            </a:r>
          </a:p>
          <a:p>
            <a:pPr marL="457200" indent="-457200">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Biotechnology e.g. biogas </a:t>
            </a:r>
          </a:p>
          <a:p>
            <a:pPr marL="457200" indent="-457200">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Reduce the </a:t>
            </a:r>
            <a:r>
              <a:rPr lang="en-US" sz="3200" dirty="0">
                <a:solidFill>
                  <a:srgbClr val="0070C0"/>
                </a:solidFill>
                <a:latin typeface="Times New Roman" panose="02020603050405020304" pitchFamily="18" charset="0"/>
                <a:cs typeface="Times New Roman" panose="02020603050405020304" pitchFamily="18" charset="0"/>
              </a:rPr>
              <a:t>carbon foot print </a:t>
            </a:r>
            <a:r>
              <a:rPr lang="en-US" sz="3200" dirty="0">
                <a:solidFill>
                  <a:srgbClr val="000000"/>
                </a:solidFill>
                <a:latin typeface="Times New Roman" panose="02020603050405020304" pitchFamily="18" charset="0"/>
                <a:cs typeface="Times New Roman" panose="02020603050405020304" pitchFamily="18" charset="0"/>
              </a:rPr>
              <a:t>(and </a:t>
            </a:r>
            <a:r>
              <a:rPr lang="en-US" sz="3200" i="1" dirty="0">
                <a:solidFill>
                  <a:srgbClr val="000000"/>
                </a:solidFill>
                <a:latin typeface="Times New Roman" panose="02020603050405020304" pitchFamily="18" charset="0"/>
                <a:cs typeface="Times New Roman" panose="02020603050405020304" pitchFamily="18" charset="0"/>
              </a:rPr>
              <a:t>Food miles</a:t>
            </a:r>
            <a:r>
              <a:rPr lang="en-US" sz="3200" dirty="0">
                <a:solidFill>
                  <a:srgbClr val="000000"/>
                </a:solidFill>
                <a:latin typeface="Times New Roman" panose="02020603050405020304" pitchFamily="18" charset="0"/>
                <a:cs typeface="Times New Roman" panose="02020603050405020304" pitchFamily="18" charset="0"/>
              </a:rPr>
              <a:t>)</a:t>
            </a:r>
          </a:p>
          <a:p>
            <a:endParaRPr lang="en-ZM" sz="3200" dirty="0">
              <a:solidFill>
                <a:srgbClr val="000000"/>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16E05D86-43E6-4B3B-BE8C-B86A2750473E}"/>
              </a:ext>
            </a:extLst>
          </p:cNvPr>
          <p:cNvSpPr/>
          <p:nvPr/>
        </p:nvSpPr>
        <p:spPr>
          <a:xfrm>
            <a:off x="1069520" y="584607"/>
            <a:ext cx="3070218" cy="646331"/>
          </a:xfrm>
          <a:prstGeom prst="rect">
            <a:avLst/>
          </a:prstGeom>
        </p:spPr>
        <p:txBody>
          <a:bodyPr wrap="square">
            <a:spAutoFit/>
          </a:bodyPr>
          <a:lstStyle/>
          <a:p>
            <a:pPr lvl="0"/>
            <a:r>
              <a:rPr lang="en-US" sz="3600" b="1" dirty="0">
                <a:solidFill>
                  <a:srgbClr val="373545"/>
                </a:solidFill>
                <a:latin typeface="Times New Roman" panose="02020603050405020304" pitchFamily="18" charset="0"/>
                <a:cs typeface="Times New Roman" panose="02020603050405020304" pitchFamily="18" charset="0"/>
              </a:rPr>
              <a:t>At farm level:</a:t>
            </a:r>
            <a:endParaRPr lang="en-US" sz="3600" dirty="0">
              <a:solidFill>
                <a:srgbClr val="373545"/>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5767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2" name="Picture 1">
            <a:extLst>
              <a:ext uri="{FF2B5EF4-FFF2-40B4-BE49-F238E27FC236}">
                <a16:creationId xmlns:a16="http://schemas.microsoft.com/office/drawing/2014/main" id="{8183D662-B941-4B15-B86A-24C96F4F1AA0}"/>
              </a:ext>
            </a:extLst>
          </p:cNvPr>
          <p:cNvPicPr>
            <a:picLocks noChangeAspect="1"/>
          </p:cNvPicPr>
          <p:nvPr/>
        </p:nvPicPr>
        <p:blipFill>
          <a:blip r:embed="rId11"/>
          <a:stretch>
            <a:fillRect/>
          </a:stretch>
        </p:blipFill>
        <p:spPr>
          <a:xfrm>
            <a:off x="1363287" y="-11318"/>
            <a:ext cx="8401602" cy="6107318"/>
          </a:xfrm>
          <a:prstGeom prst="rect">
            <a:avLst/>
          </a:prstGeom>
        </p:spPr>
      </p:pic>
    </p:spTree>
    <p:extLst>
      <p:ext uri="{BB962C8B-B14F-4D97-AF65-F5344CB8AC3E}">
        <p14:creationId xmlns:p14="http://schemas.microsoft.com/office/powerpoint/2010/main" val="87423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3">
            <a:extLst>
              <a:ext uri="{FF2B5EF4-FFF2-40B4-BE49-F238E27FC236}">
                <a16:creationId xmlns:a16="http://schemas.microsoft.com/office/drawing/2014/main" id="{EA76D76E-878A-4433-A8C2-FC388C1D8F43}"/>
              </a:ext>
            </a:extLst>
          </p:cNvPr>
          <p:cNvSpPr txBox="1">
            <a:spLocks/>
          </p:cNvSpPr>
          <p:nvPr/>
        </p:nvSpPr>
        <p:spPr bwMode="auto">
          <a:xfrm>
            <a:off x="685800" y="304800"/>
            <a:ext cx="77724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400" eaLnBrk="1" hangingPunct="1"/>
            <a:r>
              <a:rPr lang="en-US" sz="3600" b="1" dirty="0">
                <a:latin typeface="Times New Roman" panose="02020603050405020304" pitchFamily="18" charset="0"/>
                <a:cs typeface="Times New Roman" panose="02020603050405020304" pitchFamily="18" charset="0"/>
              </a:rPr>
              <a:t>IMPACTS OF CLIMATE CHANGE</a:t>
            </a:r>
            <a:endParaRPr lang="en-US" sz="3600" dirty="0">
              <a:latin typeface="Times New Roman" panose="02020603050405020304" pitchFamily="18" charset="0"/>
              <a:cs typeface="Times New Roman" panose="02020603050405020304" pitchFamily="18" charset="0"/>
            </a:endParaRPr>
          </a:p>
        </p:txBody>
      </p:sp>
      <p:sp>
        <p:nvSpPr>
          <p:cNvPr id="16" name="Subtitle 4">
            <a:extLst>
              <a:ext uri="{FF2B5EF4-FFF2-40B4-BE49-F238E27FC236}">
                <a16:creationId xmlns:a16="http://schemas.microsoft.com/office/drawing/2014/main" id="{4052ABA9-69EF-4C7A-B6E7-7E46172A4F4F}"/>
              </a:ext>
            </a:extLst>
          </p:cNvPr>
          <p:cNvSpPr txBox="1">
            <a:spLocks/>
          </p:cNvSpPr>
          <p:nvPr/>
        </p:nvSpPr>
        <p:spPr bwMode="auto">
          <a:xfrm>
            <a:off x="570807" y="1312983"/>
            <a:ext cx="11191702" cy="5562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rgbClr val="898989"/>
              </a:solidFill>
              <a:effectLst/>
              <a:uLnTx/>
              <a:uFillTx/>
              <a:latin typeface="Calibri"/>
              <a:ea typeface="+mn-ea"/>
              <a:cs typeface="+mn-cs"/>
            </a:endParaRPr>
          </a:p>
          <a:p>
            <a:pPr marL="0" marR="0" lvl="0" indent="0" algn="just" defTabSz="914400" rtl="0" eaLnBrk="1" fontAlgn="base" latinLnBrk="0" hangingPunct="1">
              <a:lnSpc>
                <a:spcPct val="100000"/>
              </a:lnSpc>
              <a:spcBef>
                <a:spcPct val="20000"/>
              </a:spcBef>
              <a:spcAft>
                <a:spcPct val="0"/>
              </a:spcAft>
              <a:buClrTx/>
              <a:buSzTx/>
              <a:buFont typeface="Arial" charset="0"/>
              <a:buNone/>
              <a:tabLst/>
              <a:defRPr/>
            </a:pPr>
            <a:r>
              <a:rPr kumimoji="0" lang="en-US"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Oceans</a:t>
            </a:r>
            <a:endPar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Studies suggest that global warming will cause sea levels to rise by 20 – 140 cm by the year 2100, most of that due to thermal expansion of the ocean water as it warms up. </a:t>
            </a:r>
          </a:p>
          <a:p>
            <a:pPr marL="0" marR="0" lvl="0" indent="0" algn="just" defTabSz="914400" rtl="0" eaLnBrk="1" fontAlgn="base" latinLnBrk="0" hangingPunct="1">
              <a:lnSpc>
                <a:spcPct val="100000"/>
              </a:lnSpc>
              <a:spcBef>
                <a:spcPct val="20000"/>
              </a:spcBef>
              <a:spcAft>
                <a:spcPct val="0"/>
              </a:spcAft>
              <a:buClrTx/>
              <a:buSzTx/>
              <a:buFont typeface="Arial" charset="0"/>
              <a:buNone/>
              <a:tabLst/>
              <a:defRPr/>
            </a:pPr>
            <a:endPar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result would be inundated wetlands and lowlands, eroding shorelines, and increased coastal flooding. </a:t>
            </a:r>
          </a:p>
        </p:txBody>
      </p:sp>
    </p:spTree>
    <p:extLst>
      <p:ext uri="{BB962C8B-B14F-4D97-AF65-F5344CB8AC3E}">
        <p14:creationId xmlns:p14="http://schemas.microsoft.com/office/powerpoint/2010/main" val="1379046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3">
            <a:extLst>
              <a:ext uri="{FF2B5EF4-FFF2-40B4-BE49-F238E27FC236}">
                <a16:creationId xmlns:a16="http://schemas.microsoft.com/office/drawing/2014/main" id="{3240EB92-D792-4612-863D-2ECC1CFA1908}"/>
              </a:ext>
            </a:extLst>
          </p:cNvPr>
          <p:cNvSpPr txBox="1">
            <a:spLocks/>
          </p:cNvSpPr>
          <p:nvPr/>
        </p:nvSpPr>
        <p:spPr bwMode="auto">
          <a:xfrm>
            <a:off x="254923" y="955271"/>
            <a:ext cx="1977390" cy="381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400" eaLnBrk="1" hangingPunct="1"/>
            <a:r>
              <a:rPr lang="en-US" sz="3600" b="1" dirty="0">
                <a:latin typeface="Times New Roman" panose="02020603050405020304" pitchFamily="18" charset="0"/>
                <a:cs typeface="Times New Roman" panose="02020603050405020304" pitchFamily="18" charset="0"/>
              </a:rPr>
              <a:t>Rainfall</a:t>
            </a:r>
            <a:endParaRPr lang="en-US" sz="3600" dirty="0">
              <a:latin typeface="Times New Roman" panose="02020603050405020304" pitchFamily="18" charset="0"/>
              <a:cs typeface="Times New Roman" panose="02020603050405020304" pitchFamily="18" charset="0"/>
            </a:endParaRPr>
          </a:p>
        </p:txBody>
      </p:sp>
      <p:sp>
        <p:nvSpPr>
          <p:cNvPr id="16" name="Subtitle 4">
            <a:extLst>
              <a:ext uri="{FF2B5EF4-FFF2-40B4-BE49-F238E27FC236}">
                <a16:creationId xmlns:a16="http://schemas.microsoft.com/office/drawing/2014/main" id="{1E45296C-A01D-4344-81C1-B01B388D5115}"/>
              </a:ext>
            </a:extLst>
          </p:cNvPr>
          <p:cNvSpPr txBox="1">
            <a:spLocks/>
          </p:cNvSpPr>
          <p:nvPr/>
        </p:nvSpPr>
        <p:spPr bwMode="auto">
          <a:xfrm>
            <a:off x="365760" y="1435678"/>
            <a:ext cx="11504815" cy="6172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just" defTabSz="914400" rtl="0" eaLnBrk="1" fontAlgn="base" latinLnBrk="0" hangingPunct="1">
              <a:lnSpc>
                <a:spcPct val="80000"/>
              </a:lnSpc>
              <a:spcBef>
                <a:spcPct val="20000"/>
              </a:spcBef>
              <a:spcAft>
                <a:spcPct val="0"/>
              </a:spcAft>
              <a:buClrTx/>
              <a:buSzTx/>
              <a:buFont typeface="Arial"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Arial" charset="0"/>
              <a:ea typeface="+mn-ea"/>
              <a:cs typeface="Times New Roman" pitchFamily="18" charset="0"/>
            </a:endParaRP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Global rainfall is expected to increase as much as 12%, but most of this </a:t>
            </a:r>
            <a:r>
              <a:rPr lang="en-US" sz="2800" dirty="0">
                <a:solidFill>
                  <a:sysClr val="windowText" lastClr="000000"/>
                </a:solidFill>
                <a:latin typeface="Times New Roman" panose="02020603050405020304" pitchFamily="18" charset="0"/>
                <a:cs typeface="Times New Roman" panose="02020603050405020304" pitchFamily="18" charset="0"/>
              </a:rPr>
              <a:t>will</a:t>
            </a: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likely fall in areas that are already wet. </a:t>
            </a:r>
          </a:p>
          <a:p>
            <a:pPr marL="0" marR="0" lvl="0" indent="0" algn="just" defTabSz="914400" rtl="0" eaLnBrk="1" fontAlgn="base" latinLnBrk="0" hangingPunct="1">
              <a:lnSpc>
                <a:spcPct val="80000"/>
              </a:lnSpc>
              <a:spcBef>
                <a:spcPct val="20000"/>
              </a:spcBef>
              <a:spcAft>
                <a:spcPct val="0"/>
              </a:spcAft>
              <a:buClrTx/>
              <a:buSzTx/>
              <a:buFont typeface="Arial"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Forests will benefit from rainfall increase, but improved weed growth may reduce crop-yields. </a:t>
            </a:r>
          </a:p>
          <a:p>
            <a:pPr marL="0" marR="0" lvl="0" indent="0" algn="just" defTabSz="914400" rtl="0" eaLnBrk="1" fontAlgn="base" latinLnBrk="0" hangingPunct="1">
              <a:lnSpc>
                <a:spcPct val="80000"/>
              </a:lnSpc>
              <a:spcBef>
                <a:spcPct val="20000"/>
              </a:spcBef>
              <a:spcAft>
                <a:spcPct val="0"/>
              </a:spcAft>
              <a:buClrTx/>
              <a:buSzTx/>
              <a:buFont typeface="Arial"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Leaching of nutrients will increase. </a:t>
            </a:r>
          </a:p>
          <a:p>
            <a:pPr marL="0" marR="0" lvl="0" indent="0" algn="just" defTabSz="914400" rtl="0" eaLnBrk="1" fontAlgn="base" latinLnBrk="0" hangingPunct="1">
              <a:lnSpc>
                <a:spcPct val="80000"/>
              </a:lnSpc>
              <a:spcBef>
                <a:spcPct val="20000"/>
              </a:spcBef>
              <a:spcAft>
                <a:spcPct val="0"/>
              </a:spcAft>
              <a:buClrTx/>
              <a:buSzTx/>
              <a:buFont typeface="Arial"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Dry areas could expect decrease in rainfall of up to 10% while evaporation rates </a:t>
            </a:r>
            <a:r>
              <a:rPr lang="en-US" sz="2800" dirty="0">
                <a:solidFill>
                  <a:sysClr val="windowText" lastClr="000000"/>
                </a:solidFill>
                <a:latin typeface="Times New Roman" panose="02020603050405020304" pitchFamily="18" charset="0"/>
                <a:cs typeface="Times New Roman" panose="02020603050405020304" pitchFamily="18" charset="0"/>
              </a:rPr>
              <a:t>could</a:t>
            </a: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increase because of the higher temperatures – resulting in drier soils and lower crop yields. </a:t>
            </a:r>
          </a:p>
          <a:p>
            <a:pPr marL="0" marR="0" lvl="0" indent="0" algn="ctr" defTabSz="914400" rtl="0" eaLnBrk="1" fontAlgn="base" latinLnBrk="0" hangingPunct="1">
              <a:lnSpc>
                <a:spcPct val="80000"/>
              </a:lnSpc>
              <a:spcBef>
                <a:spcPct val="20000"/>
              </a:spcBef>
              <a:spcAft>
                <a:spcPct val="0"/>
              </a:spcAft>
              <a:buClrTx/>
              <a:buSzTx/>
              <a:buFont typeface="Arial" charset="0"/>
              <a:buNone/>
              <a:tabLst/>
              <a:defRPr/>
            </a:pPr>
            <a:endParaRPr kumimoji="0" lang="en-US" sz="2400" b="0" i="0" u="none" strike="noStrike" kern="1200" cap="none" spc="0" normalizeH="0" baseline="0" noProof="0" dirty="0">
              <a:ln>
                <a:noFill/>
              </a:ln>
              <a:solidFill>
                <a:srgbClr val="898989"/>
              </a:solidFill>
              <a:effectLst/>
              <a:uLnTx/>
              <a:uFillTx/>
              <a:latin typeface="Arial" charset="0"/>
              <a:ea typeface="+mn-ea"/>
              <a:cs typeface="+mn-cs"/>
            </a:endParaRPr>
          </a:p>
        </p:txBody>
      </p:sp>
      <p:sp>
        <p:nvSpPr>
          <p:cNvPr id="17" name="Title 3">
            <a:extLst>
              <a:ext uri="{FF2B5EF4-FFF2-40B4-BE49-F238E27FC236}">
                <a16:creationId xmlns:a16="http://schemas.microsoft.com/office/drawing/2014/main" id="{BF6708A3-3987-469A-A735-8BDE1482BCB6}"/>
              </a:ext>
            </a:extLst>
          </p:cNvPr>
          <p:cNvSpPr txBox="1">
            <a:spLocks/>
          </p:cNvSpPr>
          <p:nvPr/>
        </p:nvSpPr>
        <p:spPr bwMode="auto">
          <a:xfrm>
            <a:off x="254923" y="136121"/>
            <a:ext cx="77724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400" eaLnBrk="1" hangingPunct="1"/>
            <a:r>
              <a:rPr lang="en-US" sz="3600" b="1" dirty="0">
                <a:latin typeface="Times New Roman" panose="02020603050405020304" pitchFamily="18" charset="0"/>
                <a:cs typeface="Times New Roman" panose="02020603050405020304" pitchFamily="18" charset="0"/>
              </a:rPr>
              <a:t>IMPACTS OF CLIMATE CHANGE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9315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6101862"/>
            <a:ext cx="9012115" cy="79130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7" name="Picture 6"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8" name="Picture 7"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9"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1"/>
            <a:ext cx="1246746" cy="808892"/>
          </a:xfrm>
          <a:prstGeom prst="rect">
            <a:avLst/>
          </a:prstGeom>
          <a:noFill/>
          <a:ln>
            <a:noFill/>
          </a:ln>
        </p:spPr>
      </p:pic>
      <p:pic>
        <p:nvPicPr>
          <p:cNvPr id="10" name="Picture 9"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1" name="Picture 10"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101861"/>
            <a:ext cx="1615078" cy="773723"/>
          </a:xfrm>
          <a:prstGeom prst="rect">
            <a:avLst/>
          </a:prstGeom>
          <a:noFill/>
          <a:ln>
            <a:noFill/>
          </a:ln>
        </p:spPr>
      </p:pic>
      <p:pic>
        <p:nvPicPr>
          <p:cNvPr id="12" name="Picture 11"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3" name="Picture 12"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3945CE09-320B-47EF-A5C2-76054CEA5EFE}"/>
              </a:ext>
            </a:extLst>
          </p:cNvPr>
          <p:cNvSpPr/>
          <p:nvPr/>
        </p:nvSpPr>
        <p:spPr>
          <a:xfrm>
            <a:off x="455814" y="1074509"/>
            <a:ext cx="11280371" cy="4708981"/>
          </a:xfrm>
          <a:prstGeom prst="rect">
            <a:avLst/>
          </a:prstGeom>
        </p:spPr>
        <p:txBody>
          <a:bodyPr wrap="square">
            <a:spAutoFit/>
          </a:bodyPr>
          <a:lstStyle/>
          <a:p>
            <a:pPr marL="457200" indent="-457200" algn="just">
              <a:buFont typeface="Wingdings" panose="05000000000000000000" pitchFamily="2" charset="2"/>
              <a:buChar char="§"/>
            </a:pPr>
            <a:r>
              <a:rPr lang="en-US" sz="3000" dirty="0">
                <a:solidFill>
                  <a:srgbClr val="000000"/>
                </a:solidFill>
                <a:latin typeface="Times New Roman" panose="02020603050405020304" pitchFamily="18" charset="0"/>
                <a:cs typeface="Times New Roman" panose="02020603050405020304" pitchFamily="18" charset="0"/>
              </a:rPr>
              <a:t>Changes in </a:t>
            </a:r>
            <a:r>
              <a:rPr lang="en-US" sz="3000" b="1" i="1" dirty="0">
                <a:solidFill>
                  <a:srgbClr val="000000"/>
                </a:solidFill>
                <a:latin typeface="Times New Roman" panose="02020603050405020304" pitchFamily="18" charset="0"/>
                <a:cs typeface="Times New Roman" panose="02020603050405020304" pitchFamily="18" charset="0"/>
              </a:rPr>
              <a:t>precipitation </a:t>
            </a:r>
            <a:r>
              <a:rPr lang="en-US" sz="3000" dirty="0">
                <a:solidFill>
                  <a:srgbClr val="000000"/>
                </a:solidFill>
                <a:latin typeface="Times New Roman" panose="02020603050405020304" pitchFamily="18" charset="0"/>
                <a:cs typeface="Times New Roman" panose="02020603050405020304" pitchFamily="18" charset="0"/>
              </a:rPr>
              <a:t>and </a:t>
            </a:r>
            <a:r>
              <a:rPr lang="en-US" sz="3000" b="1" i="1" dirty="0">
                <a:solidFill>
                  <a:srgbClr val="000000"/>
                </a:solidFill>
                <a:latin typeface="Times New Roman" panose="02020603050405020304" pitchFamily="18" charset="0"/>
                <a:cs typeface="Times New Roman" panose="02020603050405020304" pitchFamily="18" charset="0"/>
              </a:rPr>
              <a:t>temperature </a:t>
            </a:r>
            <a:r>
              <a:rPr lang="en-US" sz="3000" dirty="0">
                <a:solidFill>
                  <a:srgbClr val="000000"/>
                </a:solidFill>
                <a:latin typeface="Times New Roman" panose="02020603050405020304" pitchFamily="18" charset="0"/>
                <a:cs typeface="Times New Roman" panose="02020603050405020304" pitchFamily="18" charset="0"/>
              </a:rPr>
              <a:t>will reduce average </a:t>
            </a:r>
            <a:r>
              <a:rPr lang="en-US" sz="3000" b="1" dirty="0">
                <a:solidFill>
                  <a:srgbClr val="000000"/>
                </a:solidFill>
                <a:latin typeface="Times New Roman" panose="02020603050405020304" pitchFamily="18" charset="0"/>
                <a:cs typeface="Times New Roman" panose="02020603050405020304" pitchFamily="18" charset="0"/>
              </a:rPr>
              <a:t>yields </a:t>
            </a:r>
            <a:r>
              <a:rPr lang="en-US" sz="3000" dirty="0">
                <a:solidFill>
                  <a:srgbClr val="000000"/>
                </a:solidFill>
                <a:latin typeface="Times New Roman" panose="02020603050405020304" pitchFamily="18" charset="0"/>
                <a:cs typeface="Times New Roman" panose="02020603050405020304" pitchFamily="18" charset="0"/>
              </a:rPr>
              <a:t>and increase variability in production</a:t>
            </a:r>
          </a:p>
          <a:p>
            <a:pPr marL="457200" indent="-457200" algn="just">
              <a:buFont typeface="Wingdings" panose="05000000000000000000" pitchFamily="2" charset="2"/>
              <a:buChar char="§"/>
            </a:pPr>
            <a:r>
              <a:rPr lang="en-US" sz="3000" dirty="0">
                <a:solidFill>
                  <a:sysClr val="windowText" lastClr="000000"/>
                </a:solidFill>
                <a:latin typeface="Times New Roman" panose="02020603050405020304" pitchFamily="18" charset="0"/>
                <a:cs typeface="Times New Roman" panose="02020603050405020304" pitchFamily="18" charset="0"/>
              </a:rPr>
              <a:t>In the tropics, crop yields are projected to decrease mainly due to dependence on rain-fed agriculture. </a:t>
            </a:r>
            <a:endParaRPr lang="en-US" sz="3000"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3000" b="1" dirty="0">
                <a:solidFill>
                  <a:srgbClr val="000000"/>
                </a:solidFill>
                <a:latin typeface="Times New Roman" panose="02020603050405020304" pitchFamily="18" charset="0"/>
                <a:cs typeface="Times New Roman" panose="02020603050405020304" pitchFamily="18" charset="0"/>
              </a:rPr>
              <a:t>Complete losses </a:t>
            </a:r>
            <a:r>
              <a:rPr lang="en-US" sz="3000" dirty="0">
                <a:solidFill>
                  <a:srgbClr val="000000"/>
                </a:solidFill>
                <a:latin typeface="Times New Roman" panose="02020603050405020304" pitchFamily="18" charset="0"/>
                <a:cs typeface="Times New Roman" panose="02020603050405020304" pitchFamily="18" charset="0"/>
              </a:rPr>
              <a:t>of agricultural produce (crop pests; livestock and crop diseases - </a:t>
            </a:r>
            <a:r>
              <a:rPr lang="en-US" sz="3000" i="1" dirty="0">
                <a:solidFill>
                  <a:srgbClr val="0070C0"/>
                </a:solidFill>
                <a:latin typeface="Times New Roman" panose="02020603050405020304" pitchFamily="18" charset="0"/>
                <a:cs typeface="Times New Roman" panose="02020603050405020304" pitchFamily="18" charset="0"/>
              </a:rPr>
              <a:t>leading to increased rural poverty and forced migrations. </a:t>
            </a:r>
            <a:endParaRPr lang="en-US" sz="3000" i="1"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3000" dirty="0">
                <a:solidFill>
                  <a:srgbClr val="000000"/>
                </a:solidFill>
                <a:latin typeface="Times New Roman" panose="02020603050405020304" pitchFamily="18" charset="0"/>
                <a:cs typeface="Times New Roman" panose="02020603050405020304" pitchFamily="18" charset="0"/>
              </a:rPr>
              <a:t>Exacerbated challenges due to limited access to technologies to adapt (</a:t>
            </a:r>
            <a:r>
              <a:rPr lang="en-US" sz="3000" i="1" dirty="0">
                <a:solidFill>
                  <a:srgbClr val="0070C0"/>
                </a:solidFill>
                <a:latin typeface="Times New Roman" panose="02020603050405020304" pitchFamily="18" charset="0"/>
                <a:cs typeface="Times New Roman" panose="02020603050405020304" pitchFamily="18" charset="0"/>
              </a:rPr>
              <a:t>lack of early warning systems</a:t>
            </a:r>
            <a:r>
              <a:rPr lang="en-US" sz="3000" dirty="0">
                <a:solidFill>
                  <a:srgbClr val="000000"/>
                </a:solidFill>
                <a:latin typeface="Times New Roman" panose="02020603050405020304" pitchFamily="18" charset="0"/>
                <a:cs typeface="Times New Roman" panose="02020603050405020304" pitchFamily="18" charset="0"/>
              </a:rPr>
              <a:t>) &amp; of weaknesses in the </a:t>
            </a:r>
            <a:r>
              <a:rPr lang="en-US" sz="3000" b="1" dirty="0">
                <a:solidFill>
                  <a:srgbClr val="000000"/>
                </a:solidFill>
                <a:latin typeface="Times New Roman" panose="02020603050405020304" pitchFamily="18" charset="0"/>
                <a:cs typeface="Times New Roman" panose="02020603050405020304" pitchFamily="18" charset="0"/>
              </a:rPr>
              <a:t>extension, insurance and credit systems</a:t>
            </a:r>
            <a:endParaRPr lang="en-US" sz="3000" dirty="0">
              <a:solidFill>
                <a:srgbClr val="000000"/>
              </a:solidFill>
              <a:latin typeface="Times New Roman" panose="02020603050405020304" pitchFamily="18" charset="0"/>
              <a:cs typeface="Times New Roman" panose="02020603050405020304" pitchFamily="18" charset="0"/>
            </a:endParaRPr>
          </a:p>
        </p:txBody>
      </p:sp>
      <p:sp>
        <p:nvSpPr>
          <p:cNvPr id="14" name="Title 3">
            <a:extLst>
              <a:ext uri="{FF2B5EF4-FFF2-40B4-BE49-F238E27FC236}">
                <a16:creationId xmlns:a16="http://schemas.microsoft.com/office/drawing/2014/main" id="{F4D4923A-DAD4-4E7F-8749-38CDAABF62EF}"/>
              </a:ext>
            </a:extLst>
          </p:cNvPr>
          <p:cNvSpPr txBox="1">
            <a:spLocks/>
          </p:cNvSpPr>
          <p:nvPr/>
        </p:nvSpPr>
        <p:spPr bwMode="auto">
          <a:xfrm>
            <a:off x="168778" y="27095"/>
            <a:ext cx="10754145"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400" eaLnBrk="1" hangingPunct="1"/>
            <a:r>
              <a:rPr lang="en-US" sz="3600" b="1" dirty="0">
                <a:latin typeface="Times New Roman" panose="02020603050405020304" pitchFamily="18" charset="0"/>
                <a:cs typeface="Times New Roman" panose="02020603050405020304" pitchFamily="18" charset="0"/>
              </a:rPr>
              <a:t>IMPACTS OF CLIMATE CHANGE – Agric Sector</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99513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D94B8637-E819-4DE9-8BC9-88A75F3FF74D}"/>
              </a:ext>
            </a:extLst>
          </p:cNvPr>
          <p:cNvSpPr txBox="1">
            <a:spLocks/>
          </p:cNvSpPr>
          <p:nvPr/>
        </p:nvSpPr>
        <p:spPr bwMode="auto">
          <a:xfrm>
            <a:off x="498764" y="1398834"/>
            <a:ext cx="11139054" cy="29612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just" defTabSz="914400" rtl="0" eaLnBrk="1" fontAlgn="base" latinLnBrk="0" hangingPunct="1">
              <a:lnSpc>
                <a:spcPct val="10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ysClr val="windowText" lastClr="000000"/>
              </a:solidFill>
              <a:effectLst/>
              <a:uLnTx/>
              <a:uFillTx/>
              <a:latin typeface="Times New Roman" pitchFamily="18" charset="0"/>
              <a:ea typeface="+mn-ea"/>
              <a:cs typeface="Times New Roman" pitchFamily="18" charset="0"/>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sz="36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itchFamily="18" charset="0"/>
              </a:rPr>
              <a:t>Changing climatic patterns may also interfere with germination or with other key stages in the life cycle of plants.  </a:t>
            </a:r>
          </a:p>
          <a:p>
            <a:pPr algn="just" defTabSz="914400" eaLnBrk="1" hangingPunct="1">
              <a:buFont typeface="Wingdings" pitchFamily="2" charset="2"/>
              <a:buChar char="§"/>
              <a:defRPr/>
            </a:pPr>
            <a:r>
              <a:rPr lang="en-US" sz="3600" dirty="0">
                <a:solidFill>
                  <a:sysClr val="windowText" lastClr="000000"/>
                </a:solidFill>
                <a:latin typeface="Times New Roman" panose="02020603050405020304" pitchFamily="18" charset="0"/>
                <a:cs typeface="Times New Roman" pitchFamily="18" charset="0"/>
              </a:rPr>
              <a:t>Certain species or the entire ecosystems may be lost.</a:t>
            </a:r>
          </a:p>
          <a:p>
            <a:pPr algn="just" defTabSz="914400" eaLnBrk="1" hangingPunct="1">
              <a:buFont typeface="Wingdings" pitchFamily="2" charset="2"/>
              <a:buChar char="§"/>
              <a:defRPr/>
            </a:pPr>
            <a:r>
              <a:rPr lang="en-US" sz="3600" dirty="0">
                <a:solidFill>
                  <a:sysClr val="windowText" lastClr="000000"/>
                </a:solidFill>
                <a:latin typeface="Times New Roman" panose="02020603050405020304" pitchFamily="18" charset="0"/>
                <a:cs typeface="Times New Roman" pitchFamily="18" charset="0"/>
              </a:rPr>
              <a:t>As temperature increases, higher crop yields are expected in the temperate regions.</a:t>
            </a:r>
            <a:endParaRPr kumimoji="0" lang="en-US" sz="36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rgbClr val="898989"/>
              </a:solidFill>
              <a:effectLst/>
              <a:uLnTx/>
              <a:uFillTx/>
              <a:latin typeface="Arial" charset="0"/>
              <a:ea typeface="+mn-ea"/>
              <a:cs typeface="+mn-cs"/>
            </a:endParaRPr>
          </a:p>
          <a:p>
            <a:pPr marL="0" marR="0" lvl="0" indent="0" algn="ctr" defTabSz="914400" rtl="0" eaLnBrk="1" fontAlgn="base" latinLnBrk="0" hangingPunct="1">
              <a:lnSpc>
                <a:spcPct val="10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rgbClr val="898989"/>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AE428D22-EC7D-48C3-B85A-6923D251203F}"/>
              </a:ext>
            </a:extLst>
          </p:cNvPr>
          <p:cNvSpPr/>
          <p:nvPr/>
        </p:nvSpPr>
        <p:spPr>
          <a:xfrm>
            <a:off x="-325277" y="332182"/>
            <a:ext cx="11023756" cy="978729"/>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CLIMATE CHANGE IMPACTS ON THE AGRIC SECTOR…(Cont’d)</a:t>
            </a:r>
          </a:p>
        </p:txBody>
      </p:sp>
    </p:spTree>
    <p:extLst>
      <p:ext uri="{BB962C8B-B14F-4D97-AF65-F5344CB8AC3E}">
        <p14:creationId xmlns:p14="http://schemas.microsoft.com/office/powerpoint/2010/main" val="530098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3">
            <a:extLst>
              <a:ext uri="{FF2B5EF4-FFF2-40B4-BE49-F238E27FC236}">
                <a16:creationId xmlns:a16="http://schemas.microsoft.com/office/drawing/2014/main" id="{1F8AD4A5-E8D1-436E-80FD-8A8D56767E0C}"/>
              </a:ext>
            </a:extLst>
          </p:cNvPr>
          <p:cNvSpPr txBox="1">
            <a:spLocks/>
          </p:cNvSpPr>
          <p:nvPr/>
        </p:nvSpPr>
        <p:spPr>
          <a:xfrm>
            <a:off x="115329" y="814885"/>
            <a:ext cx="11396749" cy="56841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defRPr/>
            </a:pPr>
            <a:r>
              <a:rPr lang="en-US" sz="3600" b="1" dirty="0">
                <a:solidFill>
                  <a:sysClr val="windowText" lastClr="000000"/>
                </a:solidFill>
                <a:latin typeface="Times New Roman" panose="02020603050405020304" pitchFamily="18" charset="0"/>
                <a:ea typeface="+mn-ea"/>
                <a:cs typeface="Times New Roman" panose="02020603050405020304" pitchFamily="18" charset="0"/>
              </a:rPr>
              <a:t>CLIMATE CHANGE IMPACTS ON THE AGRIC SECTOR…(Cont’d)</a:t>
            </a:r>
          </a:p>
        </p:txBody>
      </p:sp>
      <p:sp>
        <p:nvSpPr>
          <p:cNvPr id="16" name="Subtitle 4">
            <a:extLst>
              <a:ext uri="{FF2B5EF4-FFF2-40B4-BE49-F238E27FC236}">
                <a16:creationId xmlns:a16="http://schemas.microsoft.com/office/drawing/2014/main" id="{4B4DAF6C-800E-45E8-9D3B-97AC1340D0A7}"/>
              </a:ext>
            </a:extLst>
          </p:cNvPr>
          <p:cNvSpPr txBox="1">
            <a:spLocks/>
          </p:cNvSpPr>
          <p:nvPr/>
        </p:nvSpPr>
        <p:spPr>
          <a:xfrm>
            <a:off x="465512" y="1963152"/>
            <a:ext cx="11130743" cy="595595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marR="0" lvl="0" indent="-4572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Where rainfall declines, more severe yield impacts are expected.</a:t>
            </a:r>
          </a:p>
          <a:p>
            <a:pPr marL="457200" marR="0" lvl="0" indent="-4572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Agro-ecological shifts and increased temperatures may lead to more heat stress related deaths in livestock.</a:t>
            </a:r>
          </a:p>
          <a:p>
            <a:pPr marL="457200" marR="0" lvl="0" indent="-4572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Most studies indicate that food prices could rise globally.</a:t>
            </a:r>
          </a:p>
          <a:p>
            <a:pPr marL="457200" marR="0" lvl="0" indent="-4572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Economists estimate that these effects could reduce the incomes of small holder farmers and poor urban consumers.</a:t>
            </a:r>
          </a:p>
          <a:p>
            <a:pPr marL="457200" marR="0" lvl="0" indent="-4572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could result in higher numbers of people world-wide being at risk of hunger (IPCC, 2001d).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06159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618123"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514350" marR="0" lvl="0" indent="-514350" algn="just" defTabSz="914400" rtl="0" eaLnBrk="1" fontAlgn="base" latinLnBrk="0" hangingPunct="1">
              <a:lnSpc>
                <a:spcPct val="80000"/>
              </a:lnSpc>
              <a:spcBef>
                <a:spcPct val="20000"/>
              </a:spcBef>
              <a:spcAft>
                <a:spcPct val="0"/>
              </a:spcAft>
              <a:buClrTx/>
              <a:buSzTx/>
              <a:buAutoNum type="arabicPeriod"/>
              <a:tabLst/>
              <a:defRPr/>
            </a:pP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Rising Temperatures – </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Zambia has experienced increasing average temperatures over recent decades, with more frequent heat waves.</a:t>
            </a:r>
          </a:p>
          <a:p>
            <a:pPr marR="0" lvl="0" algn="just" defTabSz="914400" rtl="0" eaLnBrk="1" fontAlgn="base" latinLnBrk="0" hangingPunct="1">
              <a:lnSpc>
                <a:spcPct val="80000"/>
              </a:lnSpc>
              <a:spcBef>
                <a:spcPct val="20000"/>
              </a:spcBef>
              <a:spcAft>
                <a:spcPct val="0"/>
              </a:spcAft>
              <a:buClrTx/>
              <a:buSzTx/>
              <a:tabLst/>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r>
              <a:rPr lang="en-US" sz="2800" dirty="0">
                <a:solidFill>
                  <a:sysClr val="windowText" lastClr="000000"/>
                </a:solidFill>
                <a:latin typeface="Times New Roman" panose="02020603050405020304" pitchFamily="18" charset="0"/>
                <a:cs typeface="Times New Roman" panose="02020603050405020304" pitchFamily="18" charset="0"/>
              </a:rPr>
              <a:t>Impacts: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Heat stress on crops and livestock</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Increased evapotranspiration (faster soil moisture loss)</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Reduced labour productivity in agriculture</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Increased demand for water and electricity </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19369319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618123"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R="0" lvl="0" algn="just" defTabSz="914400" rtl="0" eaLnBrk="1" fontAlgn="base" latinLnBrk="0" hangingPunct="1">
              <a:lnSpc>
                <a:spcPct val="80000"/>
              </a:lnSpc>
              <a:spcBef>
                <a:spcPct val="20000"/>
              </a:spcBef>
              <a:spcAft>
                <a:spcPct val="0"/>
              </a:spcAft>
              <a:buClrTx/>
              <a:buSzTx/>
              <a:tabLst/>
              <a:defRPr/>
            </a:pP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2. </a:t>
            </a:r>
            <a:r>
              <a:rPr lang="en-US" sz="2800" b="1" dirty="0">
                <a:solidFill>
                  <a:sysClr val="windowText" lastClr="000000"/>
                </a:solidFill>
                <a:latin typeface="Times New Roman" panose="02020603050405020304" pitchFamily="18" charset="0"/>
                <a:cs typeface="Times New Roman" panose="02020603050405020304" pitchFamily="18" charset="0"/>
              </a:rPr>
              <a:t>Increased drought frequency</a:t>
            </a: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 </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droughts are becoming more frequent  and severe, particularly in Agroecological Region 1 (parts of Southern and Western Zambia)</a:t>
            </a:r>
          </a:p>
          <a:p>
            <a:pPr marR="0" lvl="0" algn="just" defTabSz="914400" rtl="0" eaLnBrk="1" fontAlgn="base" latinLnBrk="0" hangingPunct="1">
              <a:lnSpc>
                <a:spcPct val="80000"/>
              </a:lnSpc>
              <a:spcBef>
                <a:spcPct val="20000"/>
              </a:spcBef>
              <a:spcAft>
                <a:spcPct val="0"/>
              </a:spcAft>
              <a:buClrTx/>
              <a:buSzTx/>
              <a:tabLst/>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r>
              <a:rPr lang="en-US" sz="2800" dirty="0">
                <a:solidFill>
                  <a:sysClr val="windowText" lastClr="000000"/>
                </a:solidFill>
                <a:latin typeface="Times New Roman" panose="02020603050405020304" pitchFamily="18" charset="0"/>
                <a:cs typeface="Times New Roman" panose="02020603050405020304" pitchFamily="18" charset="0"/>
              </a:rPr>
              <a:t>Impacts: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Crop failure (especially maize)</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Livestock deaths</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Reduced hydropower generation (increased load management)</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Food insecurity</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Increased poverty in rural households</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18973506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878985"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R="0" lvl="0" algn="just" defTabSz="914400" rtl="0" eaLnBrk="1" fontAlgn="base" latinLnBrk="0" hangingPunct="1">
              <a:lnSpc>
                <a:spcPct val="80000"/>
              </a:lnSpc>
              <a:spcBef>
                <a:spcPct val="20000"/>
              </a:spcBef>
              <a:spcAft>
                <a:spcPct val="0"/>
              </a:spcAft>
              <a:buClrTx/>
              <a:buSzTx/>
              <a:tabLst/>
              <a:defRPr/>
            </a:pPr>
            <a:r>
              <a:rPr lang="en-US" sz="2800" b="1" dirty="0">
                <a:solidFill>
                  <a:sysClr val="windowText" lastClr="000000"/>
                </a:solidFill>
                <a:latin typeface="Times New Roman" panose="02020603050405020304" pitchFamily="18" charset="0"/>
                <a:cs typeface="Times New Roman" panose="02020603050405020304" pitchFamily="18" charset="0"/>
              </a:rPr>
              <a:t>3</a:t>
            </a: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Flooding and </a:t>
            </a:r>
            <a:r>
              <a:rPr lang="en-US" sz="2800" b="1" dirty="0">
                <a:solidFill>
                  <a:sysClr val="windowText" lastClr="000000"/>
                </a:solidFill>
                <a:latin typeface="Times New Roman" panose="02020603050405020304" pitchFamily="18" charset="0"/>
                <a:cs typeface="Times New Roman" panose="02020603050405020304" pitchFamily="18" charset="0"/>
              </a:rPr>
              <a:t>E</a:t>
            </a:r>
            <a:r>
              <a:rPr kumimoji="0" lang="en-US" sz="2800" b="1" i="0" u="none" strike="noStrike" kern="120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xtre</a:t>
            </a:r>
            <a:r>
              <a:rPr lang="en-US" sz="2800" b="1" dirty="0">
                <a:solidFill>
                  <a:sysClr val="windowText" lastClr="000000"/>
                </a:solidFill>
                <a:latin typeface="Times New Roman" panose="02020603050405020304" pitchFamily="18" charset="0"/>
                <a:cs typeface="Times New Roman" panose="02020603050405020304" pitchFamily="18" charset="0"/>
              </a:rPr>
              <a:t>me Rainfall</a:t>
            </a: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 </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Some parts of Zambia, especially northern and north-western regions (Agroecological Region III), are experiencing intense rainfall events and flooding.</a:t>
            </a:r>
          </a:p>
          <a:p>
            <a:pPr marR="0" lvl="0" algn="just" defTabSz="914400" rtl="0" eaLnBrk="1" fontAlgn="base" latinLnBrk="0" hangingPunct="1">
              <a:lnSpc>
                <a:spcPct val="80000"/>
              </a:lnSpc>
              <a:spcBef>
                <a:spcPct val="20000"/>
              </a:spcBef>
              <a:spcAft>
                <a:spcPct val="0"/>
              </a:spcAft>
              <a:buClrTx/>
              <a:buSzTx/>
              <a:tabLst/>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r>
              <a:rPr lang="en-US" sz="2800" dirty="0">
                <a:solidFill>
                  <a:sysClr val="windowText" lastClr="000000"/>
                </a:solidFill>
                <a:latin typeface="Times New Roman" panose="02020603050405020304" pitchFamily="18" charset="0"/>
                <a:cs typeface="Times New Roman" panose="02020603050405020304" pitchFamily="18" charset="0"/>
              </a:rPr>
              <a:t>Impacts: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Destruction of infrastructure (roads, bridges, schools)</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Displacement of communities (environmental refugees)</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Water borne diseases (Cholera, dysentery, bilharzia)</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Crop damage</a:t>
            </a:r>
            <a:endPar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Flash floods have become common in cities like Lusaka!	 </a:t>
            </a: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36933333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878985"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R="0" lvl="0" algn="just" defTabSz="914400" rtl="0" eaLnBrk="1" fontAlgn="base" latinLnBrk="0" hangingPunct="1">
              <a:lnSpc>
                <a:spcPct val="80000"/>
              </a:lnSpc>
              <a:spcBef>
                <a:spcPct val="20000"/>
              </a:spcBef>
              <a:spcAft>
                <a:spcPct val="0"/>
              </a:spcAft>
              <a:buClrTx/>
              <a:buSzTx/>
              <a:tabLst/>
              <a:defRPr/>
            </a:pP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4. </a:t>
            </a:r>
            <a:r>
              <a:rPr lang="en-US" sz="2800" b="1" dirty="0">
                <a:solidFill>
                  <a:sysClr val="windowText" lastClr="000000"/>
                </a:solidFill>
                <a:latin typeface="Times New Roman" panose="02020603050405020304" pitchFamily="18" charset="0"/>
                <a:cs typeface="Times New Roman" panose="02020603050405020304" pitchFamily="18" charset="0"/>
              </a:rPr>
              <a:t>Impacts on Agriculture</a:t>
            </a: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 </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 Zambia, agriculture is highly vulnerable to CC because it is largely rainfed.</a:t>
            </a: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r>
              <a:rPr lang="en-US" sz="2800" dirty="0">
                <a:solidFill>
                  <a:sysClr val="windowText" lastClr="000000"/>
                </a:solidFill>
                <a:latin typeface="Times New Roman" panose="02020603050405020304" pitchFamily="18" charset="0"/>
                <a:cs typeface="Times New Roman" panose="02020603050405020304" pitchFamily="18" charset="0"/>
              </a:rPr>
              <a:t>Impacts: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Shortened growing seasons</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Delayed onsets of rains (and early withdrawal)</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Increased pests and diseases (</a:t>
            </a:r>
            <a:r>
              <a:rPr lang="en-US" sz="2800" dirty="0" err="1">
                <a:solidFill>
                  <a:sysClr val="windowText" lastClr="000000"/>
                </a:solidFill>
                <a:latin typeface="Times New Roman" panose="02020603050405020304" pitchFamily="18" charset="0"/>
                <a:cs typeface="Times New Roman" panose="02020603050405020304" pitchFamily="18" charset="0"/>
              </a:rPr>
              <a:t>e.g</a:t>
            </a:r>
            <a:r>
              <a:rPr lang="en-US" sz="2800" dirty="0">
                <a:solidFill>
                  <a:sysClr val="windowText" lastClr="000000"/>
                </a:solidFill>
                <a:latin typeface="Times New Roman" panose="02020603050405020304" pitchFamily="18" charset="0"/>
                <a:cs typeface="Times New Roman" panose="02020603050405020304" pitchFamily="18" charset="0"/>
              </a:rPr>
              <a:t> FAW, </a:t>
            </a:r>
            <a:r>
              <a:rPr lang="en-US" sz="2800" dirty="0" err="1">
                <a:solidFill>
                  <a:sysClr val="windowText" lastClr="000000"/>
                </a:solidFill>
                <a:latin typeface="Times New Roman" panose="02020603050405020304" pitchFamily="18" charset="0"/>
                <a:cs typeface="Times New Roman" panose="02020603050405020304" pitchFamily="18" charset="0"/>
              </a:rPr>
              <a:t>Tuta</a:t>
            </a:r>
            <a:r>
              <a:rPr lang="en-US" sz="2800" dirty="0">
                <a:solidFill>
                  <a:sysClr val="windowText" lastClr="000000"/>
                </a:solidFill>
                <a:latin typeface="Times New Roman" panose="02020603050405020304" pitchFamily="18" charset="0"/>
                <a:cs typeface="Times New Roman" panose="02020603050405020304" pitchFamily="18" charset="0"/>
              </a:rPr>
              <a:t> </a:t>
            </a:r>
            <a:r>
              <a:rPr lang="en-US" sz="2800" dirty="0" err="1">
                <a:solidFill>
                  <a:sysClr val="windowText" lastClr="000000"/>
                </a:solidFill>
                <a:latin typeface="Times New Roman" panose="02020603050405020304" pitchFamily="18" charset="0"/>
                <a:cs typeface="Times New Roman" panose="02020603050405020304" pitchFamily="18" charset="0"/>
              </a:rPr>
              <a:t>absoluta</a:t>
            </a:r>
            <a:r>
              <a:rPr lang="en-US" sz="2800" dirty="0">
                <a:solidFill>
                  <a:sysClr val="windowText" lastClr="000000"/>
                </a:solidFill>
                <a:latin typeface="Times New Roman" panose="02020603050405020304" pitchFamily="18" charset="0"/>
                <a:cs typeface="Times New Roman" panose="02020603050405020304" pitchFamily="18" charset="0"/>
              </a:rPr>
              <a:t>, </a:t>
            </a:r>
            <a:r>
              <a:rPr lang="en-US" sz="2800" dirty="0" err="1">
                <a:solidFill>
                  <a:sysClr val="windowText" lastClr="000000"/>
                </a:solidFill>
                <a:latin typeface="Times New Roman" panose="02020603050405020304" pitchFamily="18" charset="0"/>
                <a:cs typeface="Times New Roman" panose="02020603050405020304" pitchFamily="18" charset="0"/>
              </a:rPr>
              <a:t>etc</a:t>
            </a:r>
            <a:r>
              <a:rPr lang="en-US" sz="2800" dirty="0">
                <a:solidFill>
                  <a:sysClr val="windowText" lastClr="000000"/>
                </a:solidFill>
                <a:latin typeface="Times New Roman" panose="02020603050405020304" pitchFamily="18" charset="0"/>
                <a:cs typeface="Times New Roman" panose="02020603050405020304" pitchFamily="18" charset="0"/>
              </a:rPr>
              <a:t>)</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Declining soil fertility due to erosion and leaching</a:t>
            </a:r>
          </a:p>
          <a:p>
            <a:pPr marR="0" lvl="0" algn="just" defTabSz="914400" rtl="0" eaLnBrk="1" fontAlgn="base" latinLnBrk="0" hangingPunct="1">
              <a:lnSpc>
                <a:spcPct val="80000"/>
              </a:lnSpc>
              <a:spcBef>
                <a:spcPct val="20000"/>
              </a:spcBef>
              <a:spcAft>
                <a:spcPct val="0"/>
              </a:spcAft>
              <a:buClrTx/>
              <a:buSzTx/>
              <a:tabLst/>
              <a:defRPr/>
            </a:pPr>
            <a:endPar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r>
              <a:rPr lang="en-US" sz="2800" dirty="0">
                <a:solidFill>
                  <a:sysClr val="windowText" lastClr="000000"/>
                </a:solidFill>
                <a:latin typeface="Times New Roman" panose="02020603050405020304" pitchFamily="18" charset="0"/>
                <a:cs typeface="Times New Roman" panose="02020603050405020304" pitchFamily="18" charset="0"/>
              </a:rPr>
              <a:t>The above directly threaten smallholder farmers’ livelihoods</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5675829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878985"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R="0" lvl="0" algn="just" defTabSz="914400" rtl="0" eaLnBrk="1" fontAlgn="base" latinLnBrk="0" hangingPunct="1">
              <a:lnSpc>
                <a:spcPct val="80000"/>
              </a:lnSpc>
              <a:spcBef>
                <a:spcPct val="20000"/>
              </a:spcBef>
              <a:spcAft>
                <a:spcPct val="0"/>
              </a:spcAft>
              <a:buClrTx/>
              <a:buSzTx/>
              <a:tabLst/>
              <a:defRPr/>
            </a:pP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5.  Hydropower and Energy </a:t>
            </a:r>
            <a:r>
              <a:rPr lang="en-US" sz="2800" b="1" dirty="0">
                <a:solidFill>
                  <a:sysClr val="windowText" lastClr="000000"/>
                </a:solidFill>
                <a:latin typeface="Times New Roman" panose="02020603050405020304" pitchFamily="18" charset="0"/>
                <a:cs typeface="Times New Roman" panose="02020603050405020304" pitchFamily="18" charset="0"/>
              </a:rPr>
              <a:t>C</a:t>
            </a:r>
            <a:r>
              <a:rPr kumimoji="0" lang="en-US" sz="2800" b="1" i="0" u="none" strike="noStrike" kern="120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risis</a:t>
            </a: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 </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Zambia relies heavily on hydroelectricity. Reduced rainfall lowers reservoir levels at major dams such as the Kariba Dam, Kafue Gorge Upper &amp; Lower Dams, </a:t>
            </a:r>
            <a:r>
              <a:rPr kumimoji="0" lang="en-US" sz="2800" i="0" u="none" strike="noStrike" kern="120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Itezhi-tezhi</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Dams, </a:t>
            </a:r>
            <a:r>
              <a:rPr kumimoji="0" lang="en-US" sz="2800" i="0" u="none" strike="noStrike" kern="120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etc</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t>
            </a: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r>
              <a:rPr lang="en-US" sz="2800" dirty="0">
                <a:solidFill>
                  <a:sysClr val="windowText" lastClr="000000"/>
                </a:solidFill>
                <a:latin typeface="Times New Roman" panose="02020603050405020304" pitchFamily="18" charset="0"/>
                <a:cs typeface="Times New Roman" panose="02020603050405020304" pitchFamily="18" charset="0"/>
              </a:rPr>
              <a:t>Impacts: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Country-wide load management (</a:t>
            </a:r>
            <a:r>
              <a:rPr lang="en-US" sz="2800" dirty="0" err="1">
                <a:solidFill>
                  <a:sysClr val="windowText" lastClr="000000"/>
                </a:solidFill>
                <a:latin typeface="Times New Roman" panose="02020603050405020304" pitchFamily="18" charset="0"/>
                <a:cs typeface="Times New Roman" panose="02020603050405020304" pitchFamily="18" charset="0"/>
              </a:rPr>
              <a:t>loadshedding</a:t>
            </a:r>
            <a:r>
              <a:rPr lang="en-US" sz="2800" dirty="0">
                <a:solidFill>
                  <a:sysClr val="windowText" lastClr="000000"/>
                </a:solidFill>
                <a:latin typeface="Times New Roman" panose="02020603050405020304" pitchFamily="18" charset="0"/>
                <a:cs typeface="Times New Roman" panose="02020603050405020304" pitchFamily="18" charset="0"/>
              </a:rPr>
              <a:t>)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Increased diesel generator use (more GHG emissions)</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Economic slowdown</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Increased production costs for industries</a:t>
            </a:r>
            <a:endPar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endPar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23941559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878985"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lvl="0" algn="just" defTabSz="914400" eaLnBrk="1" hangingPunct="1">
              <a:lnSpc>
                <a:spcPct val="80000"/>
              </a:lnSpc>
              <a:defRPr/>
            </a:pPr>
            <a:r>
              <a:rPr lang="en-US" sz="2800" b="1" dirty="0">
                <a:solidFill>
                  <a:sysClr val="windowText" lastClr="000000"/>
                </a:solidFill>
                <a:latin typeface="Times New Roman" panose="02020603050405020304" pitchFamily="18" charset="0"/>
                <a:cs typeface="Times New Roman" panose="02020603050405020304" pitchFamily="18" charset="0"/>
              </a:rPr>
              <a:t>6</a:t>
            </a: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lang="en-US" sz="2800" b="1" dirty="0">
                <a:solidFill>
                  <a:sysClr val="windowText" lastClr="000000"/>
                </a:solidFill>
                <a:latin typeface="Times New Roman" panose="02020603050405020304" pitchFamily="18" charset="0"/>
                <a:cs typeface="Times New Roman" panose="02020603050405020304" pitchFamily="18" charset="0"/>
              </a:rPr>
              <a:t>Water Resources Stress – </a:t>
            </a:r>
            <a:r>
              <a:rPr lang="en-US" sz="2800" dirty="0">
                <a:solidFill>
                  <a:sysClr val="windowText" lastClr="000000"/>
                </a:solidFill>
                <a:latin typeface="Times New Roman" panose="02020603050405020304" pitchFamily="18" charset="0"/>
                <a:cs typeface="Times New Roman" panose="02020603050405020304" pitchFamily="18" charset="0"/>
              </a:rPr>
              <a:t>Climate change affects river flow patterns and ground water recharge. </a:t>
            </a:r>
          </a:p>
          <a:p>
            <a:pPr lvl="0" algn="just" defTabSz="914400" eaLnBrk="1" hangingPunct="1">
              <a:lnSpc>
                <a:spcPct val="80000"/>
              </a:lnSpc>
              <a:defRPr/>
            </a:pPr>
            <a:r>
              <a:rPr lang="en-US" sz="2800" dirty="0">
                <a:solidFill>
                  <a:sysClr val="windowText" lastClr="000000"/>
                </a:solidFill>
                <a:latin typeface="Times New Roman" panose="02020603050405020304" pitchFamily="18" charset="0"/>
                <a:cs typeface="Times New Roman" panose="02020603050405020304" pitchFamily="18" charset="0"/>
              </a:rPr>
              <a:t>Impacts: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Reduced access to safe drinking water</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Conflicts over water resources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Reduced irrigation potential</a:t>
            </a:r>
          </a:p>
          <a:p>
            <a:pPr marR="0" lvl="0" algn="just" defTabSz="914400" rtl="0" eaLnBrk="1" fontAlgn="base" latinLnBrk="0" hangingPunct="1">
              <a:lnSpc>
                <a:spcPct val="80000"/>
              </a:lnSpc>
              <a:spcBef>
                <a:spcPct val="20000"/>
              </a:spcBef>
              <a:spcAft>
                <a:spcPct val="0"/>
              </a:spcAft>
              <a:buClrTx/>
              <a:buSzTx/>
              <a:tabLst/>
              <a:defRPr/>
            </a:pPr>
            <a:endPar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7481875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878985"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lvl="0" algn="just" defTabSz="914400" eaLnBrk="1" hangingPunct="1">
              <a:lnSpc>
                <a:spcPct val="80000"/>
              </a:lnSpc>
              <a:defRPr/>
            </a:pP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7. Biodiversity Loss</a:t>
            </a:r>
            <a:r>
              <a:rPr lang="en-US" sz="2800" b="1" dirty="0">
                <a:solidFill>
                  <a:sysClr val="windowText" lastClr="000000"/>
                </a:solidFill>
                <a:latin typeface="Times New Roman" panose="02020603050405020304" pitchFamily="18" charset="0"/>
                <a:cs typeface="Times New Roman" panose="02020603050405020304" pitchFamily="18" charset="0"/>
              </a:rPr>
              <a:t> – </a:t>
            </a:r>
            <a:r>
              <a:rPr lang="en-US" sz="2800" dirty="0">
                <a:solidFill>
                  <a:sysClr val="windowText" lastClr="000000"/>
                </a:solidFill>
                <a:latin typeface="Times New Roman" panose="02020603050405020304" pitchFamily="18" charset="0"/>
                <a:cs typeface="Times New Roman" panose="02020603050405020304" pitchFamily="18" charset="0"/>
              </a:rPr>
              <a:t>Changing temperature and rainfall patterns affect ecosystems and wildlife.</a:t>
            </a:r>
          </a:p>
          <a:p>
            <a:pPr lvl="0" algn="just" defTabSz="914400" eaLnBrk="1" hangingPunct="1">
              <a:lnSpc>
                <a:spcPct val="80000"/>
              </a:lnSpc>
              <a:defRPr/>
            </a:pPr>
            <a:r>
              <a:rPr lang="en-US" sz="2800" dirty="0">
                <a:solidFill>
                  <a:sysClr val="windowText" lastClr="000000"/>
                </a:solidFill>
                <a:latin typeface="Times New Roman" panose="02020603050405020304" pitchFamily="18" charset="0"/>
                <a:cs typeface="Times New Roman" panose="02020603050405020304" pitchFamily="18" charset="0"/>
              </a:rPr>
              <a:t>Impacts: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Habitat loss</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Wildlife migration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Increased human-wildlife conflict</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Forest degradation</a:t>
            </a:r>
          </a:p>
          <a:p>
            <a:pPr marR="0" lvl="0" algn="just" defTabSz="914400" rtl="0" eaLnBrk="1" fontAlgn="base" latinLnBrk="0" hangingPunct="1">
              <a:lnSpc>
                <a:spcPct val="80000"/>
              </a:lnSpc>
              <a:spcBef>
                <a:spcPct val="20000"/>
              </a:spcBef>
              <a:spcAft>
                <a:spcPct val="0"/>
              </a:spcAft>
              <a:buClrTx/>
              <a:buSzTx/>
              <a:tabLst/>
              <a:defRPr/>
            </a:pPr>
            <a:endPar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11883069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878985"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lvl="0" algn="just" defTabSz="914400" eaLnBrk="1" hangingPunct="1">
              <a:lnSpc>
                <a:spcPct val="80000"/>
              </a:lnSpc>
              <a:defRPr/>
            </a:pPr>
            <a:r>
              <a:rPr lang="en-US" sz="2800" b="1" dirty="0">
                <a:solidFill>
                  <a:sysClr val="windowText" lastClr="000000"/>
                </a:solidFill>
                <a:latin typeface="Times New Roman" panose="02020603050405020304" pitchFamily="18" charset="0"/>
                <a:cs typeface="Times New Roman" panose="02020603050405020304" pitchFamily="18" charset="0"/>
              </a:rPr>
              <a:t>8</a:t>
            </a: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lang="en-US" sz="2800" b="1" dirty="0">
                <a:solidFill>
                  <a:sysClr val="windowText" lastClr="000000"/>
                </a:solidFill>
                <a:latin typeface="Times New Roman" panose="02020603050405020304" pitchFamily="18" charset="0"/>
                <a:cs typeface="Times New Roman" panose="02020603050405020304" pitchFamily="18" charset="0"/>
              </a:rPr>
              <a:t>Public health impacts – </a:t>
            </a:r>
            <a:r>
              <a:rPr lang="en-US" sz="2800" dirty="0">
                <a:solidFill>
                  <a:sysClr val="windowText" lastClr="000000"/>
                </a:solidFill>
                <a:latin typeface="Times New Roman" panose="02020603050405020304" pitchFamily="18" charset="0"/>
                <a:cs typeface="Times New Roman" panose="02020603050405020304" pitchFamily="18" charset="0"/>
              </a:rPr>
              <a:t>climate change increases:</a:t>
            </a:r>
          </a:p>
          <a:p>
            <a:pPr lvl="0" algn="just" defTabSz="914400" eaLnBrk="1" hangingPunct="1">
              <a:lnSpc>
                <a:spcPct val="80000"/>
              </a:lnSpc>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Malaria transmission zones</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Cholera outbreaks during floods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Malnutrition due to crop failure</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Heat related illnesses</a:t>
            </a:r>
          </a:p>
          <a:p>
            <a:pPr marR="0" lvl="0" algn="just" defTabSz="914400" rtl="0" eaLnBrk="1" fontAlgn="base" latinLnBrk="0" hangingPunct="1">
              <a:lnSpc>
                <a:spcPct val="80000"/>
              </a:lnSpc>
              <a:spcBef>
                <a:spcPct val="20000"/>
              </a:spcBef>
              <a:spcAft>
                <a:spcPct val="0"/>
              </a:spcAft>
              <a:buClrTx/>
              <a:buSzTx/>
              <a:tabLst/>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Rural and peri-urban communities are particularly vulnerable. </a:t>
            </a: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2332300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878985"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lvl="0" algn="just" defTabSz="914400" eaLnBrk="1" hangingPunct="1">
              <a:lnSpc>
                <a:spcPct val="80000"/>
              </a:lnSpc>
              <a:defRPr/>
            </a:pP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9. Economic</a:t>
            </a:r>
            <a:r>
              <a:rPr lang="en-US" sz="2800" b="1" dirty="0">
                <a:solidFill>
                  <a:sysClr val="windowText" lastClr="000000"/>
                </a:solidFill>
                <a:latin typeface="Times New Roman" panose="02020603050405020304" pitchFamily="18" charset="0"/>
                <a:cs typeface="Times New Roman" panose="02020603050405020304" pitchFamily="18" charset="0"/>
              </a:rPr>
              <a:t> impacts – </a:t>
            </a:r>
            <a:r>
              <a:rPr lang="en-US" sz="2800" dirty="0">
                <a:solidFill>
                  <a:sysClr val="windowText" lastClr="000000"/>
                </a:solidFill>
                <a:latin typeface="Times New Roman" panose="02020603050405020304" pitchFamily="18" charset="0"/>
                <a:cs typeface="Times New Roman" panose="02020603050405020304" pitchFamily="18" charset="0"/>
              </a:rPr>
              <a:t>climate-related shocks affect:</a:t>
            </a:r>
          </a:p>
          <a:p>
            <a:pPr lvl="0" algn="just" defTabSz="914400" eaLnBrk="1" hangingPunct="1">
              <a:lnSpc>
                <a:spcPct val="80000"/>
              </a:lnSpc>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GDP growth</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Mining operations (due to electric power shortages) </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Agricultural exports</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Household income stability</a:t>
            </a:r>
          </a:p>
          <a:p>
            <a:pPr marR="0" lvl="0" algn="just" defTabSz="914400" rtl="0" eaLnBrk="1" fontAlgn="base" latinLnBrk="0" hangingPunct="1">
              <a:lnSpc>
                <a:spcPct val="80000"/>
              </a:lnSpc>
              <a:spcBef>
                <a:spcPct val="20000"/>
              </a:spcBef>
              <a:spcAft>
                <a:spcPct val="0"/>
              </a:spcAft>
              <a:buClrTx/>
              <a:buSzTx/>
              <a:tabLst/>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R="0" lvl="0" algn="just" defTabSz="914400" rtl="0" eaLnBrk="1" fontAlgn="base" latinLnBrk="0" hangingPunct="1">
              <a:lnSpc>
                <a:spcPct val="80000"/>
              </a:lnSpc>
              <a:spcBef>
                <a:spcPct val="20000"/>
              </a:spcBef>
              <a:spcAft>
                <a:spcPct val="0"/>
              </a:spcAft>
              <a:buClrTx/>
              <a:buSzTx/>
              <a:tabLst/>
              <a:defRPr/>
            </a:pPr>
            <a:r>
              <a:rPr lang="en-US" sz="2800" dirty="0">
                <a:solidFill>
                  <a:sysClr val="windowText" lastClr="000000"/>
                </a:solidFill>
                <a:latin typeface="Times New Roman" panose="02020603050405020304" pitchFamily="18" charset="0"/>
                <a:cs typeface="Times New Roman" panose="02020603050405020304" pitchFamily="18" charset="0"/>
              </a:rPr>
              <a:t>Persistent climate shocks </a:t>
            </a:r>
            <a:r>
              <a:rPr kumimoji="0" lang="en-US" sz="280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undermine long-term economic development.  </a:t>
            </a: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30127800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878985"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lvl="0" algn="just" defTabSz="914400" eaLnBrk="1" hangingPunct="1">
              <a:lnSpc>
                <a:spcPct val="80000"/>
              </a:lnSpc>
              <a:defRPr/>
            </a:pPr>
            <a:r>
              <a:rPr lang="en-US" sz="2800" b="1" dirty="0">
                <a:solidFill>
                  <a:sysClr val="windowText" lastClr="000000"/>
                </a:solidFill>
                <a:latin typeface="Times New Roman" panose="02020603050405020304" pitchFamily="18" charset="0"/>
                <a:cs typeface="Times New Roman" panose="02020603050405020304" pitchFamily="18" charset="0"/>
              </a:rPr>
              <a:t>10</a:t>
            </a:r>
            <a:r>
              <a:rPr kumimoji="0" lang="en-US" sz="2800" b="1"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lang="en-US" sz="2800" b="1" dirty="0">
                <a:solidFill>
                  <a:sysClr val="windowText" lastClr="000000"/>
                </a:solidFill>
                <a:latin typeface="Times New Roman" panose="02020603050405020304" pitchFamily="18" charset="0"/>
                <a:cs typeface="Times New Roman" panose="02020603050405020304" pitchFamily="18" charset="0"/>
              </a:rPr>
              <a:t>Social impacts</a:t>
            </a:r>
            <a:r>
              <a:rPr lang="en-US" sz="2800" dirty="0">
                <a:solidFill>
                  <a:sysClr val="windowText" lastClr="000000"/>
                </a:solidFill>
                <a:latin typeface="Times New Roman" panose="02020603050405020304" pitchFamily="18" charset="0"/>
                <a:cs typeface="Times New Roman" panose="02020603050405020304" pitchFamily="18" charset="0"/>
              </a:rPr>
              <a:t>:</a:t>
            </a:r>
          </a:p>
          <a:p>
            <a:pPr lvl="0" algn="just" defTabSz="914400" eaLnBrk="1" hangingPunct="1">
              <a:lnSpc>
                <a:spcPct val="80000"/>
              </a:lnSpc>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Rural-urban migration (creation of shanty settlements, urban pollution)</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Increased poverty</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Gender inequality (women often bear greater burden for water and food provision)</a:t>
            </a:r>
          </a:p>
          <a:p>
            <a:pPr marL="457200" marR="0" lvl="0" indent="-457200" algn="just" defTabSz="914400" rtl="0" eaLnBrk="1" fontAlgn="base" latinLnBrk="0" hangingPunct="1">
              <a:lnSpc>
                <a:spcPct val="80000"/>
              </a:lnSpc>
              <a:spcBef>
                <a:spcPct val="20000"/>
              </a:spcBef>
              <a:spcAft>
                <a:spcPct val="0"/>
              </a:spcAft>
              <a:buClrTx/>
              <a:buSzTx/>
              <a:buFont typeface="Wingdings" panose="05000000000000000000" pitchFamily="2" charset="2"/>
              <a:buChar char="§"/>
              <a:tabLst/>
              <a:defRPr/>
            </a:pPr>
            <a:r>
              <a:rPr lang="en-US" sz="2800" dirty="0">
                <a:solidFill>
                  <a:sysClr val="windowText" lastClr="000000"/>
                </a:solidFill>
                <a:latin typeface="Times New Roman" panose="02020603050405020304" pitchFamily="18" charset="0"/>
                <a:cs typeface="Times New Roman" panose="02020603050405020304" pitchFamily="18" charset="0"/>
              </a:rPr>
              <a:t>Resource-based conflicts and rising crime incidences</a:t>
            </a:r>
          </a:p>
          <a:p>
            <a:pPr marR="0" lvl="0" algn="just" defTabSz="914400" rtl="0" eaLnBrk="1" fontAlgn="base" latinLnBrk="0" hangingPunct="1">
              <a:lnSpc>
                <a:spcPct val="80000"/>
              </a:lnSpc>
              <a:spcBef>
                <a:spcPct val="20000"/>
              </a:spcBef>
              <a:spcAft>
                <a:spcPct val="0"/>
              </a:spcAft>
              <a:buClrTx/>
              <a:buSzTx/>
              <a:tabLst/>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23640084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878985"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lvl="0" indent="-457200" algn="just" defTabSz="914400" eaLnBrk="1" hangingPunct="1">
              <a:lnSpc>
                <a:spcPct val="80000"/>
              </a:lnSpc>
              <a:buFont typeface="Wingdings" panose="05000000000000000000" pitchFamily="2" charset="2"/>
              <a:buChar char="§"/>
              <a:defRPr/>
            </a:pPr>
            <a:r>
              <a:rPr lang="en-US" sz="2800" dirty="0">
                <a:solidFill>
                  <a:sysClr val="windowText" lastClr="000000"/>
                </a:solidFill>
                <a:latin typeface="Times New Roman" panose="02020603050405020304" pitchFamily="18" charset="0"/>
                <a:cs typeface="Times New Roman" panose="02020603050405020304" pitchFamily="18" charset="0"/>
              </a:rPr>
              <a:t>Because Zambia’s economy depends heavily on natural resources, climate change poses systematic risks across sectors. </a:t>
            </a:r>
          </a:p>
          <a:p>
            <a:pPr marL="457200" lvl="0" indent="-457200" algn="just" defTabSz="914400" eaLnBrk="1" hangingPunct="1">
              <a:lnSpc>
                <a:spcPct val="80000"/>
              </a:lnSpc>
              <a:buFont typeface="Wingdings" panose="05000000000000000000" pitchFamily="2" charset="2"/>
              <a:buChar char="§"/>
              <a:defRPr/>
            </a:pPr>
            <a:r>
              <a:rPr lang="en-US" sz="2800" dirty="0">
                <a:solidFill>
                  <a:sysClr val="windowText" lastClr="000000"/>
                </a:solidFill>
                <a:latin typeface="Times New Roman" panose="02020603050405020304" pitchFamily="18" charset="0"/>
                <a:cs typeface="Times New Roman" panose="02020603050405020304" pitchFamily="18" charset="0"/>
              </a:rPr>
              <a:t>Therefore, CC in Zambia is not just an environmental issue – it is also a food security, energy, water and developmental issue.</a:t>
            </a:r>
          </a:p>
          <a:p>
            <a:pPr marR="0" lvl="0" algn="just" defTabSz="914400" rtl="0" eaLnBrk="1" fontAlgn="base" latinLnBrk="0" hangingPunct="1">
              <a:lnSpc>
                <a:spcPct val="80000"/>
              </a:lnSpc>
              <a:spcBef>
                <a:spcPct val="20000"/>
              </a:spcBef>
              <a:spcAft>
                <a:spcPct val="0"/>
              </a:spcAft>
              <a:buClrTx/>
              <a:buSzTx/>
              <a:tabLst/>
              <a:defRPr/>
            </a:pPr>
            <a:endParaRPr lang="en-US" sz="2800" dirty="0">
              <a:solidFill>
                <a:sysClr val="windowText" lastClr="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IMPACTS OF CLIMATE CHANGE IN ZAMBIA</a:t>
            </a:r>
          </a:p>
        </p:txBody>
      </p:sp>
    </p:spTree>
    <p:extLst>
      <p:ext uri="{BB962C8B-B14F-4D97-AF65-F5344CB8AC3E}">
        <p14:creationId xmlns:p14="http://schemas.microsoft.com/office/powerpoint/2010/main" val="9018635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9"/>
            <a:ext cx="9012115" cy="80889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Subtitle 4">
            <a:extLst>
              <a:ext uri="{FF2B5EF4-FFF2-40B4-BE49-F238E27FC236}">
                <a16:creationId xmlns:a16="http://schemas.microsoft.com/office/drawing/2014/main" id="{7218FBC2-DD13-4ED2-AF96-52AFBFB5BE60}"/>
              </a:ext>
            </a:extLst>
          </p:cNvPr>
          <p:cNvSpPr txBox="1">
            <a:spLocks/>
          </p:cNvSpPr>
          <p:nvPr/>
        </p:nvSpPr>
        <p:spPr bwMode="auto">
          <a:xfrm>
            <a:off x="407324" y="1974273"/>
            <a:ext cx="10618123" cy="541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lvl="0" indent="-457200" algn="just" eaLnBrk="1" fontAlgn="auto" hangingPunct="1">
              <a:spcBef>
                <a:spcPts val="0"/>
              </a:spcBef>
              <a:spcAft>
                <a:spcPts val="0"/>
              </a:spcAft>
              <a:buFont typeface="Wingdings" panose="05000000000000000000" pitchFamily="2" charset="2"/>
              <a:buChar char="§"/>
            </a:pPr>
            <a:r>
              <a:rPr lang="en-US" sz="3000" dirty="0">
                <a:solidFill>
                  <a:srgbClr val="000000"/>
                </a:solidFill>
                <a:latin typeface="Times New Roman" panose="02020603050405020304" pitchFamily="18" charset="0"/>
                <a:cs typeface="Times New Roman" panose="02020603050405020304" pitchFamily="18" charset="0"/>
              </a:rPr>
              <a:t>impacts of CC vary depending on the </a:t>
            </a:r>
            <a:r>
              <a:rPr lang="en-US" sz="3000" dirty="0">
                <a:solidFill>
                  <a:srgbClr val="0070C0"/>
                </a:solidFill>
                <a:latin typeface="Times New Roman" panose="02020603050405020304" pitchFamily="18" charset="0"/>
                <a:cs typeface="Times New Roman" panose="02020603050405020304" pitchFamily="18" charset="0"/>
              </a:rPr>
              <a:t>sector</a:t>
            </a:r>
            <a:r>
              <a:rPr lang="en-US" sz="3000" dirty="0">
                <a:solidFill>
                  <a:srgbClr val="000000"/>
                </a:solidFill>
                <a:latin typeface="Times New Roman" panose="02020603050405020304" pitchFamily="18" charset="0"/>
                <a:cs typeface="Times New Roman" panose="02020603050405020304" pitchFamily="18" charset="0"/>
              </a:rPr>
              <a:t> and the </a:t>
            </a:r>
            <a:r>
              <a:rPr lang="en-US" sz="3000" dirty="0">
                <a:solidFill>
                  <a:srgbClr val="0070C0"/>
                </a:solidFill>
                <a:latin typeface="Times New Roman" panose="02020603050405020304" pitchFamily="18" charset="0"/>
                <a:cs typeface="Times New Roman" panose="02020603050405020304" pitchFamily="18" charset="0"/>
              </a:rPr>
              <a:t>location</a:t>
            </a:r>
          </a:p>
          <a:p>
            <a:pPr lvl="0" algn="just" eaLnBrk="1" fontAlgn="auto" hangingPunct="1">
              <a:spcBef>
                <a:spcPts val="0"/>
              </a:spcBef>
              <a:spcAft>
                <a:spcPts val="0"/>
              </a:spcAft>
            </a:pPr>
            <a:endParaRPr lang="en-US" sz="3000" dirty="0">
              <a:solidFill>
                <a:srgbClr val="000000"/>
              </a:solidFill>
              <a:latin typeface="Times New Roman" panose="02020603050405020304" pitchFamily="18" charset="0"/>
              <a:cs typeface="Times New Roman" panose="02020603050405020304" pitchFamily="18" charset="0"/>
            </a:endParaRPr>
          </a:p>
          <a:p>
            <a:pPr marL="457200" lvl="0" indent="-457200" algn="just" eaLnBrk="1" fontAlgn="auto" hangingPunct="1">
              <a:spcBef>
                <a:spcPts val="0"/>
              </a:spcBef>
              <a:spcAft>
                <a:spcPts val="0"/>
              </a:spcAft>
              <a:buFont typeface="Wingdings" panose="05000000000000000000" pitchFamily="2" charset="2"/>
              <a:buChar char="§"/>
            </a:pPr>
            <a:r>
              <a:rPr lang="en-US" sz="3000" dirty="0">
                <a:solidFill>
                  <a:srgbClr val="000000"/>
                </a:solidFill>
                <a:latin typeface="Times New Roman" panose="02020603050405020304" pitchFamily="18" charset="0"/>
                <a:cs typeface="Times New Roman" panose="02020603050405020304" pitchFamily="18" charset="0"/>
              </a:rPr>
              <a:t>impacts of CC on different sectors of society are interrelated.</a:t>
            </a:r>
          </a:p>
          <a:p>
            <a:pPr marL="914400" lvl="1" indent="-457200" algn="just" eaLnBrk="1" fontAlgn="auto" hangingPunct="1">
              <a:spcBef>
                <a:spcPts val="0"/>
              </a:spcBef>
              <a:spcAft>
                <a:spcPts val="0"/>
              </a:spcAft>
              <a:buFont typeface="Wingdings" panose="05000000000000000000" pitchFamily="2" charset="2"/>
              <a:buChar char="ü"/>
            </a:pPr>
            <a:r>
              <a:rPr lang="en-US" sz="3000" dirty="0">
                <a:solidFill>
                  <a:srgbClr val="000000"/>
                </a:solidFill>
                <a:latin typeface="Times New Roman" panose="02020603050405020304" pitchFamily="18" charset="0"/>
                <a:cs typeface="Times New Roman" panose="02020603050405020304" pitchFamily="18" charset="0"/>
              </a:rPr>
              <a:t>Drought can harm food production and human health.</a:t>
            </a:r>
          </a:p>
          <a:p>
            <a:pPr marL="914400" lvl="1" indent="-457200" algn="just" eaLnBrk="1" fontAlgn="auto" hangingPunct="1">
              <a:spcBef>
                <a:spcPts val="0"/>
              </a:spcBef>
              <a:spcAft>
                <a:spcPts val="0"/>
              </a:spcAft>
              <a:buFont typeface="Wingdings" panose="05000000000000000000" pitchFamily="2" charset="2"/>
              <a:buChar char="ü"/>
            </a:pPr>
            <a:r>
              <a:rPr lang="en-US" sz="3000" dirty="0">
                <a:solidFill>
                  <a:srgbClr val="000000"/>
                </a:solidFill>
                <a:latin typeface="Times New Roman" panose="02020603050405020304" pitchFamily="18" charset="0"/>
                <a:cs typeface="Times New Roman" panose="02020603050405020304" pitchFamily="18" charset="0"/>
              </a:rPr>
              <a:t>Flooding can lead to disease spread and damages to ecosystems and infrastructure. </a:t>
            </a:r>
          </a:p>
          <a:p>
            <a:pPr marL="914400" lvl="1" indent="-457200" algn="just" eaLnBrk="1" fontAlgn="auto" hangingPunct="1">
              <a:spcBef>
                <a:spcPts val="0"/>
              </a:spcBef>
              <a:spcAft>
                <a:spcPts val="0"/>
              </a:spcAft>
              <a:buFont typeface="Wingdings" panose="05000000000000000000" pitchFamily="2" charset="2"/>
              <a:buChar char="ü"/>
            </a:pPr>
            <a:r>
              <a:rPr lang="en-US" sz="3000" dirty="0">
                <a:solidFill>
                  <a:srgbClr val="000000"/>
                </a:solidFill>
                <a:latin typeface="Times New Roman" panose="02020603050405020304" pitchFamily="18" charset="0"/>
                <a:cs typeface="Times New Roman" panose="02020603050405020304" pitchFamily="18" charset="0"/>
              </a:rPr>
              <a:t>Human health issues can increase mortality, impact food availability, and limit worker productivity.</a:t>
            </a:r>
          </a:p>
          <a:p>
            <a:pPr marL="0" marR="0" lvl="0" indent="0" algn="just" defTabSz="914400" rtl="0" eaLnBrk="1" fontAlgn="base" latinLnBrk="0" hangingPunct="1">
              <a:lnSpc>
                <a:spcPct val="80000"/>
              </a:lnSpc>
              <a:spcBef>
                <a:spcPct val="20000"/>
              </a:spcBef>
              <a:spcAft>
                <a:spcPct val="0"/>
              </a:spcAft>
              <a:buClrTx/>
              <a:buSzTx/>
              <a:buFont typeface="Wingdings" pitchFamily="2" charset="2"/>
              <a:buChar char="§"/>
              <a:tabLst/>
              <a:defRPr/>
            </a:pPr>
            <a:endParaRPr kumimoji="0" lang="en-US" sz="2400" b="0" i="0" u="none" strike="noStrike" kern="1200" cap="none" spc="0" normalizeH="0" baseline="0" noProof="0" dirty="0">
              <a:ln>
                <a:noFill/>
              </a:ln>
              <a:solidFill>
                <a:sysClr val="windowText" lastClr="000000"/>
              </a:solidFill>
              <a:effectLst/>
              <a:uLnTx/>
              <a:uFillTx/>
              <a:latin typeface="Arial" charset="0"/>
              <a:ea typeface="+mn-ea"/>
              <a:cs typeface="Times New Roman" pitchFamily="18" charset="0"/>
            </a:endParaRPr>
          </a:p>
        </p:txBody>
      </p:sp>
      <p:sp>
        <p:nvSpPr>
          <p:cNvPr id="2" name="Rectangle 1">
            <a:extLst>
              <a:ext uri="{FF2B5EF4-FFF2-40B4-BE49-F238E27FC236}">
                <a16:creationId xmlns:a16="http://schemas.microsoft.com/office/drawing/2014/main" id="{D4B08CC9-7205-4911-9E5D-9C4894E81C87}"/>
              </a:ext>
            </a:extLst>
          </p:cNvPr>
          <p:cNvSpPr/>
          <p:nvPr/>
        </p:nvSpPr>
        <p:spPr>
          <a:xfrm>
            <a:off x="0" y="164271"/>
            <a:ext cx="11025447" cy="535531"/>
          </a:xfrm>
          <a:prstGeom prst="rect">
            <a:avLst/>
          </a:prstGeom>
        </p:spPr>
        <p:txBody>
          <a:bodyPr wrap="square">
            <a:spAutoFit/>
          </a:bodyPr>
          <a:lstStyle/>
          <a:p>
            <a:pPr lvl="0" algn="ctr" defTabSz="914400">
              <a:lnSpc>
                <a:spcPct val="90000"/>
              </a:lnSpc>
              <a:spcBef>
                <a:spcPct val="0"/>
              </a:spcBef>
              <a:defRPr/>
            </a:pPr>
            <a:r>
              <a:rPr lang="en-US" sz="3200" b="1" dirty="0">
                <a:solidFill>
                  <a:sysClr val="windowText" lastClr="000000"/>
                </a:solidFill>
                <a:latin typeface="Times New Roman" panose="02020603050405020304" pitchFamily="18" charset="0"/>
                <a:cs typeface="Times New Roman" panose="02020603050405020304" pitchFamily="18" charset="0"/>
              </a:rPr>
              <a:t>CLIMATE CHANGE IMPACTS ON OTHER SECTORS</a:t>
            </a:r>
          </a:p>
        </p:txBody>
      </p:sp>
    </p:spTree>
    <p:extLst>
      <p:ext uri="{BB962C8B-B14F-4D97-AF65-F5344CB8AC3E}">
        <p14:creationId xmlns:p14="http://schemas.microsoft.com/office/powerpoint/2010/main" val="15966260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5" name="Title 3">
            <a:extLst>
              <a:ext uri="{FF2B5EF4-FFF2-40B4-BE49-F238E27FC236}">
                <a16:creationId xmlns:a16="http://schemas.microsoft.com/office/drawing/2014/main" id="{8EEFD51B-B648-4742-BFC3-66F242E00785}"/>
              </a:ext>
            </a:extLst>
          </p:cNvPr>
          <p:cNvSpPr txBox="1">
            <a:spLocks/>
          </p:cNvSpPr>
          <p:nvPr/>
        </p:nvSpPr>
        <p:spPr>
          <a:xfrm>
            <a:off x="-197287" y="-80360"/>
            <a:ext cx="11311404" cy="116006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defRPr/>
            </a:pPr>
            <a:r>
              <a:rPr lang="en-US" sz="3200" b="1" dirty="0">
                <a:solidFill>
                  <a:sysClr val="windowText" lastClr="000000"/>
                </a:solidFill>
                <a:latin typeface="Times New Roman" panose="02020603050405020304" pitchFamily="18" charset="0"/>
                <a:ea typeface="+mn-ea"/>
                <a:cs typeface="Times New Roman" panose="02020603050405020304" pitchFamily="18" charset="0"/>
              </a:rPr>
              <a:t>CLIMATE CHANGE IMPACTS ON OTHER SECTORS</a:t>
            </a:r>
          </a:p>
        </p:txBody>
      </p:sp>
      <p:sp>
        <p:nvSpPr>
          <p:cNvPr id="16" name="Subtitle 4">
            <a:extLst>
              <a:ext uri="{FF2B5EF4-FFF2-40B4-BE49-F238E27FC236}">
                <a16:creationId xmlns:a16="http://schemas.microsoft.com/office/drawing/2014/main" id="{096832FE-D20B-4E47-BE2C-8AFB2BAB3816}"/>
              </a:ext>
            </a:extLst>
          </p:cNvPr>
          <p:cNvSpPr txBox="1">
            <a:spLocks/>
          </p:cNvSpPr>
          <p:nvPr/>
        </p:nvSpPr>
        <p:spPr>
          <a:xfrm>
            <a:off x="457200" y="1972809"/>
            <a:ext cx="10864735" cy="387103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More frequent intense heat waves could increase illnesses and deaths from heat stress (made worse in urban areas with lower air quality)</a:t>
            </a:r>
            <a:endParaRPr lang="en-US" dirty="0">
              <a:solidFill>
                <a:sysClr val="windowText" lastClr="000000"/>
              </a:solidFill>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Increased risks of injury and death arising from increased frequency and intensity of floods and droughts</a:t>
            </a:r>
          </a:p>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Loss of shelter </a:t>
            </a:r>
            <a:r>
              <a:rPr lang="en-US" dirty="0">
                <a:solidFill>
                  <a:sysClr val="windowText" lastClr="000000"/>
                </a:solidFill>
                <a:latin typeface="Times New Roman" panose="02020603050405020304" pitchFamily="18" charset="0"/>
                <a:cs typeface="Times New Roman" panose="02020603050405020304" pitchFamily="18" charset="0"/>
              </a:rPr>
              <a:t>leading to</a:t>
            </a: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population displacement (environmental refugees)</a:t>
            </a: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Hunger and malnutrition due to crop failures (droughts, floods, insect outbreaks)</a:t>
            </a: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Higher risks of infectious disease epidemics</a:t>
            </a: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Increased waterborne infectious diseases (Urban cholera outbreaks </a:t>
            </a:r>
            <a:r>
              <a:rPr lang="en-US" dirty="0">
                <a:solidFill>
                  <a:sysClr val="windowText" lastClr="000000"/>
                </a:solidFill>
                <a:latin typeface="Times New Roman" panose="02020603050405020304" pitchFamily="18" charset="0"/>
                <a:cs typeface="Times New Roman" panose="02020603050405020304" pitchFamily="18" charset="0"/>
              </a:rPr>
              <a:t>likely to</a:t>
            </a: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increase)</a:t>
            </a: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Expansion of malaria transmission to higher altitudes and possibly higher latitudes</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93936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0" y="6084278"/>
            <a:ext cx="9012115" cy="80889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5"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7">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8">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9">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10"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1" cstate="print"/>
          <a:srcRect/>
          <a:stretch>
            <a:fillRect/>
          </a:stretch>
        </p:blipFill>
        <p:spPr bwMode="auto">
          <a:xfrm>
            <a:off x="7262419" y="6075484"/>
            <a:ext cx="1616319" cy="800099"/>
          </a:xfrm>
          <a:prstGeom prst="rect">
            <a:avLst/>
          </a:prstGeom>
          <a:noFill/>
          <a:ln w="9525">
            <a:noFill/>
            <a:miter lim="800000"/>
            <a:headEnd/>
            <a:tailEnd/>
          </a:ln>
        </p:spPr>
      </p:pic>
      <p:sp>
        <p:nvSpPr>
          <p:cNvPr id="3" name="Rectangle 2">
            <a:extLst>
              <a:ext uri="{FF2B5EF4-FFF2-40B4-BE49-F238E27FC236}">
                <a16:creationId xmlns:a16="http://schemas.microsoft.com/office/drawing/2014/main" id="{681E26E6-E70E-4B4E-B1B3-D239E5BA17D3}"/>
              </a:ext>
            </a:extLst>
          </p:cNvPr>
          <p:cNvSpPr/>
          <p:nvPr/>
        </p:nvSpPr>
        <p:spPr>
          <a:xfrm>
            <a:off x="332510" y="276870"/>
            <a:ext cx="11962014" cy="584775"/>
          </a:xfrm>
          <a:prstGeom prst="rect">
            <a:avLst/>
          </a:prstGeom>
        </p:spPr>
        <p:txBody>
          <a:bodyPr wrap="square">
            <a:spAutoFit/>
          </a:bodyPr>
          <a:lstStyle/>
          <a:p>
            <a:r>
              <a:rPr lang="en-US" sz="3200" b="1" dirty="0">
                <a:solidFill>
                  <a:srgbClr val="373545"/>
                </a:solidFill>
                <a:latin typeface="Times New Roman" panose="02020603050405020304" pitchFamily="18" charset="0"/>
                <a:cs typeface="Times New Roman" panose="02020603050405020304" pitchFamily="18" charset="0"/>
              </a:rPr>
              <a:t>CONCEPTS OF ADAPTATION &amp; MITIGATION</a:t>
            </a:r>
            <a:endParaRPr lang="en-ZM" sz="32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193D3AD0-616C-40C3-B309-B414527164F6}"/>
              </a:ext>
            </a:extLst>
          </p:cNvPr>
          <p:cNvSpPr/>
          <p:nvPr/>
        </p:nvSpPr>
        <p:spPr>
          <a:xfrm>
            <a:off x="465513" y="2081706"/>
            <a:ext cx="11238807" cy="5016758"/>
          </a:xfrm>
          <a:prstGeom prst="rect">
            <a:avLst/>
          </a:prstGeom>
        </p:spPr>
        <p:txBody>
          <a:bodyPr wrap="square">
            <a:spAutoFit/>
          </a:bodyPr>
          <a:lstStyle/>
          <a:p>
            <a:pPr marL="457200" lvl="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Adaptation is defined as activities that aim “</a:t>
            </a:r>
            <a:r>
              <a:rPr lang="en-US" sz="3200" i="1" dirty="0">
                <a:solidFill>
                  <a:srgbClr val="000000"/>
                </a:solidFill>
                <a:latin typeface="Times New Roman" panose="02020603050405020304" pitchFamily="18" charset="0"/>
                <a:cs typeface="Times New Roman" panose="02020603050405020304" pitchFamily="18" charset="0"/>
              </a:rPr>
              <a:t>to reduce the vulnerability of human or natural systems to the impacts of climate change and climate-related risks</a:t>
            </a:r>
            <a:r>
              <a:rPr lang="en-US" sz="3200" dirty="0">
                <a:solidFill>
                  <a:srgbClr val="000000"/>
                </a:solidFill>
                <a:latin typeface="Times New Roman" panose="02020603050405020304" pitchFamily="18" charset="0"/>
                <a:cs typeface="Times New Roman" panose="02020603050405020304" pitchFamily="18" charset="0"/>
              </a:rPr>
              <a:t>, by maintaining or increasing adaptive capacity and systems resilience” (OECD-DAC, 2011). </a:t>
            </a:r>
          </a:p>
          <a:p>
            <a:pPr marL="457200" lvl="0" indent="-457200" algn="just">
              <a:buFont typeface="Wingdings" panose="05000000000000000000" pitchFamily="2" charset="2"/>
              <a:buChar char="§"/>
            </a:pPr>
            <a:r>
              <a:rPr lang="en-US" sz="3200" i="1" dirty="0">
                <a:solidFill>
                  <a:srgbClr val="000000"/>
                </a:solidFill>
                <a:latin typeface="Times New Roman" panose="02020603050405020304" pitchFamily="18" charset="0"/>
                <a:cs typeface="Times New Roman" panose="02020603050405020304" pitchFamily="18" charset="0"/>
              </a:rPr>
              <a:t>Adjustment in natural </a:t>
            </a:r>
            <a:r>
              <a:rPr lang="en-US" sz="3200" dirty="0">
                <a:solidFill>
                  <a:srgbClr val="000000"/>
                </a:solidFill>
                <a:latin typeface="Times New Roman" panose="02020603050405020304" pitchFamily="18" charset="0"/>
                <a:cs typeface="Times New Roman" panose="02020603050405020304" pitchFamily="18" charset="0"/>
              </a:rPr>
              <a:t>or </a:t>
            </a:r>
            <a:r>
              <a:rPr lang="en-US" sz="3200" i="1" dirty="0">
                <a:solidFill>
                  <a:srgbClr val="000000"/>
                </a:solidFill>
                <a:latin typeface="Times New Roman" panose="02020603050405020304" pitchFamily="18" charset="0"/>
                <a:cs typeface="Times New Roman" panose="02020603050405020304" pitchFamily="18" charset="0"/>
              </a:rPr>
              <a:t>human systems </a:t>
            </a:r>
            <a:r>
              <a:rPr lang="en-US" sz="3200" dirty="0">
                <a:solidFill>
                  <a:srgbClr val="000000"/>
                </a:solidFill>
                <a:latin typeface="Times New Roman" panose="02020603050405020304" pitchFamily="18" charset="0"/>
                <a:cs typeface="Times New Roman" panose="02020603050405020304" pitchFamily="18" charset="0"/>
              </a:rPr>
              <a:t>in response to actual or expected climatic stimuli or their effects, which moderates harm or exploits beneficial opportunities.</a:t>
            </a:r>
          </a:p>
          <a:p>
            <a:pPr marL="457200" lvl="0" indent="-457200" algn="just">
              <a:buFont typeface="Wingdings" panose="05000000000000000000" pitchFamily="2" charset="2"/>
              <a:buChar char="§"/>
            </a:pPr>
            <a:endParaRPr lang="en-US" sz="3200" dirty="0">
              <a:solidFill>
                <a:srgbClr val="000000"/>
              </a:solidFill>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
            </a:pPr>
            <a:endParaRPr lang="en-US" sz="3200" dirty="0">
              <a:solidFill>
                <a:srgbClr val="000000"/>
              </a:solidFill>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7BDCF17F-3A04-4251-8CA7-23288D35342F}"/>
              </a:ext>
            </a:extLst>
          </p:cNvPr>
          <p:cNvSpPr/>
          <p:nvPr/>
        </p:nvSpPr>
        <p:spPr>
          <a:xfrm>
            <a:off x="465513" y="1016934"/>
            <a:ext cx="3446072" cy="769441"/>
          </a:xfrm>
          <a:prstGeom prst="rect">
            <a:avLst/>
          </a:prstGeom>
        </p:spPr>
        <p:txBody>
          <a:bodyPr wrap="none">
            <a:spAutoFit/>
          </a:bodyPr>
          <a:lstStyle/>
          <a:p>
            <a:r>
              <a:rPr lang="en-US" sz="4400" b="1" dirty="0">
                <a:solidFill>
                  <a:srgbClr val="0070C0"/>
                </a:solidFill>
                <a:latin typeface="Times New Roman" panose="02020603050405020304" pitchFamily="18" charset="0"/>
                <a:cs typeface="Times New Roman" panose="02020603050405020304" pitchFamily="18" charset="0"/>
              </a:rPr>
              <a:t>1. Adaptation</a:t>
            </a:r>
            <a:endParaRPr lang="en-ZM"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381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3" name="Rectangle 2">
            <a:extLst>
              <a:ext uri="{FF2B5EF4-FFF2-40B4-BE49-F238E27FC236}">
                <a16:creationId xmlns:a16="http://schemas.microsoft.com/office/drawing/2014/main" id="{681E26E6-E70E-4B4E-B1B3-D239E5BA17D3}"/>
              </a:ext>
            </a:extLst>
          </p:cNvPr>
          <p:cNvSpPr/>
          <p:nvPr/>
        </p:nvSpPr>
        <p:spPr>
          <a:xfrm>
            <a:off x="332510" y="276870"/>
            <a:ext cx="11962014" cy="584775"/>
          </a:xfrm>
          <a:prstGeom prst="rect">
            <a:avLst/>
          </a:prstGeom>
        </p:spPr>
        <p:txBody>
          <a:bodyPr wrap="square">
            <a:spAutoFit/>
          </a:bodyPr>
          <a:lstStyle/>
          <a:p>
            <a:r>
              <a:rPr lang="en-US" sz="3200" b="1" dirty="0">
                <a:solidFill>
                  <a:srgbClr val="373545"/>
                </a:solidFill>
                <a:latin typeface="Times New Roman" panose="02020603050405020304" pitchFamily="18" charset="0"/>
                <a:cs typeface="Times New Roman" panose="02020603050405020304" pitchFamily="18" charset="0"/>
              </a:rPr>
              <a:t>CONCEPTS OF ADAPTATION &amp; MITIGATION… (Cont’d)</a:t>
            </a:r>
            <a:endParaRPr lang="en-ZM" sz="32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53F8DB4-8AA5-46A3-B3E1-C4F9EAC2AB40}"/>
              </a:ext>
            </a:extLst>
          </p:cNvPr>
          <p:cNvSpPr/>
          <p:nvPr/>
        </p:nvSpPr>
        <p:spPr>
          <a:xfrm>
            <a:off x="490971" y="1916503"/>
            <a:ext cx="11080346" cy="2954655"/>
          </a:xfrm>
          <a:prstGeom prst="rect">
            <a:avLst/>
          </a:prstGeom>
        </p:spPr>
        <p:txBody>
          <a:bodyPr wrap="square">
            <a:spAutoFit/>
          </a:bodyPr>
          <a:lstStyle/>
          <a:p>
            <a:endParaRPr lang="en-US" sz="1200" dirty="0">
              <a:solidFill>
                <a:srgbClr val="000000"/>
              </a:solidFill>
              <a:latin typeface="Wingdings" panose="05000000000000000000" pitchFamily="2" charset="2"/>
            </a:endParaRP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Adaptation measures deal with the </a:t>
            </a:r>
            <a:r>
              <a:rPr lang="en-US" sz="2900" b="1" dirty="0">
                <a:solidFill>
                  <a:srgbClr val="000000"/>
                </a:solidFill>
                <a:latin typeface="Times New Roman" panose="02020603050405020304" pitchFamily="18" charset="0"/>
                <a:cs typeface="Times New Roman" panose="02020603050405020304" pitchFamily="18" charset="0"/>
              </a:rPr>
              <a:t>impacts of climate change </a:t>
            </a:r>
            <a:r>
              <a:rPr lang="en-US" sz="2900" dirty="0">
                <a:solidFill>
                  <a:srgbClr val="000000"/>
                </a:solidFill>
                <a:latin typeface="Times New Roman" panose="02020603050405020304" pitchFamily="18" charset="0"/>
                <a:cs typeface="Times New Roman" panose="02020603050405020304" pitchFamily="18" charset="0"/>
              </a:rPr>
              <a:t>and have the </a:t>
            </a:r>
            <a:r>
              <a:rPr lang="en-US" sz="2900" b="1" dirty="0">
                <a:solidFill>
                  <a:srgbClr val="000000"/>
                </a:solidFill>
                <a:latin typeface="Times New Roman" panose="02020603050405020304" pitchFamily="18" charset="0"/>
                <a:cs typeface="Times New Roman" panose="02020603050405020304" pitchFamily="18" charset="0"/>
              </a:rPr>
              <a:t>objective of reducing the vulnerability of human and natural systems </a:t>
            </a:r>
          </a:p>
          <a:p>
            <a:pPr algn="just"/>
            <a:endParaRPr lang="en-US" sz="2900" b="1"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Mitigation </a:t>
            </a:r>
            <a:r>
              <a:rPr lang="en-US" sz="2900" b="1" dirty="0">
                <a:solidFill>
                  <a:srgbClr val="000000"/>
                </a:solidFill>
                <a:latin typeface="Times New Roman" panose="02020603050405020304" pitchFamily="18" charset="0"/>
                <a:cs typeface="Times New Roman" panose="02020603050405020304" pitchFamily="18" charset="0"/>
              </a:rPr>
              <a:t>addresses the causes of the problem</a:t>
            </a:r>
            <a:r>
              <a:rPr lang="en-US" sz="2900" dirty="0">
                <a:solidFill>
                  <a:srgbClr val="000000"/>
                </a:solidFill>
                <a:latin typeface="Times New Roman" panose="02020603050405020304" pitchFamily="18" charset="0"/>
                <a:cs typeface="Times New Roman" panose="02020603050405020304" pitchFamily="18" charset="0"/>
              </a:rPr>
              <a:t>, which involves reducing greenhouse gas concentrations in the atmosphere</a:t>
            </a:r>
          </a:p>
        </p:txBody>
      </p:sp>
    </p:spTree>
    <p:extLst>
      <p:ext uri="{BB962C8B-B14F-4D97-AF65-F5344CB8AC3E}">
        <p14:creationId xmlns:p14="http://schemas.microsoft.com/office/powerpoint/2010/main" val="15957446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2" name="Picture 1">
            <a:extLst>
              <a:ext uri="{FF2B5EF4-FFF2-40B4-BE49-F238E27FC236}">
                <a16:creationId xmlns:a16="http://schemas.microsoft.com/office/drawing/2014/main" id="{7F5A7DED-6211-438E-8715-C4AEF641DD3D}"/>
              </a:ext>
            </a:extLst>
          </p:cNvPr>
          <p:cNvPicPr>
            <a:picLocks noChangeAspect="1"/>
          </p:cNvPicPr>
          <p:nvPr/>
        </p:nvPicPr>
        <p:blipFill>
          <a:blip r:embed="rId11"/>
          <a:stretch>
            <a:fillRect/>
          </a:stretch>
        </p:blipFill>
        <p:spPr>
          <a:xfrm>
            <a:off x="2086495" y="-10660"/>
            <a:ext cx="7813963" cy="6075862"/>
          </a:xfrm>
          <a:prstGeom prst="rect">
            <a:avLst/>
          </a:prstGeom>
        </p:spPr>
      </p:pic>
    </p:spTree>
    <p:extLst>
      <p:ext uri="{BB962C8B-B14F-4D97-AF65-F5344CB8AC3E}">
        <p14:creationId xmlns:p14="http://schemas.microsoft.com/office/powerpoint/2010/main" val="25954513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6B641C8C-59B5-489D-9C50-C2723747D7CE}"/>
              </a:ext>
            </a:extLst>
          </p:cNvPr>
          <p:cNvSpPr/>
          <p:nvPr/>
        </p:nvSpPr>
        <p:spPr>
          <a:xfrm>
            <a:off x="257695" y="220220"/>
            <a:ext cx="11795760" cy="584775"/>
          </a:xfrm>
          <a:prstGeom prst="rect">
            <a:avLst/>
          </a:prstGeom>
        </p:spPr>
        <p:txBody>
          <a:bodyPr wrap="square">
            <a:spAutoFit/>
          </a:bodyPr>
          <a:lstStyle/>
          <a:p>
            <a:r>
              <a:rPr lang="en-US" sz="3200" b="1" dirty="0">
                <a:solidFill>
                  <a:srgbClr val="373545"/>
                </a:solidFill>
                <a:latin typeface="Times New Roman" panose="02020603050405020304" pitchFamily="18" charset="0"/>
                <a:cs typeface="Times New Roman" panose="02020603050405020304" pitchFamily="18" charset="0"/>
              </a:rPr>
              <a:t>DIFFERENCES AND SIMILARITIES BETWEEN M&amp;A</a:t>
            </a:r>
            <a:endParaRPr lang="en-ZM" sz="32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CE2E0EF-029E-49D0-BB96-96957DFD373A}"/>
              </a:ext>
            </a:extLst>
          </p:cNvPr>
          <p:cNvPicPr>
            <a:picLocks noChangeAspect="1"/>
          </p:cNvPicPr>
          <p:nvPr/>
        </p:nvPicPr>
        <p:blipFill>
          <a:blip r:embed="rId11"/>
          <a:stretch>
            <a:fillRect/>
          </a:stretch>
        </p:blipFill>
        <p:spPr>
          <a:xfrm>
            <a:off x="75210" y="875333"/>
            <a:ext cx="12089083" cy="5120308"/>
          </a:xfrm>
          <a:prstGeom prst="rect">
            <a:avLst/>
          </a:prstGeom>
        </p:spPr>
      </p:pic>
    </p:spTree>
    <p:extLst>
      <p:ext uri="{BB962C8B-B14F-4D97-AF65-F5344CB8AC3E}">
        <p14:creationId xmlns:p14="http://schemas.microsoft.com/office/powerpoint/2010/main" val="39569662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2" name="Picture 1">
            <a:extLst>
              <a:ext uri="{FF2B5EF4-FFF2-40B4-BE49-F238E27FC236}">
                <a16:creationId xmlns:a16="http://schemas.microsoft.com/office/drawing/2014/main" id="{CEB37EC7-E616-4321-B36D-2AE595B9E318}"/>
              </a:ext>
            </a:extLst>
          </p:cNvPr>
          <p:cNvPicPr>
            <a:picLocks noChangeAspect="1"/>
          </p:cNvPicPr>
          <p:nvPr/>
        </p:nvPicPr>
        <p:blipFill>
          <a:blip r:embed="rId11"/>
          <a:stretch>
            <a:fillRect/>
          </a:stretch>
        </p:blipFill>
        <p:spPr>
          <a:xfrm>
            <a:off x="1977390" y="42986"/>
            <a:ext cx="8238951" cy="6041289"/>
          </a:xfrm>
          <a:prstGeom prst="rect">
            <a:avLst/>
          </a:prstGeom>
        </p:spPr>
      </p:pic>
    </p:spTree>
    <p:extLst>
      <p:ext uri="{BB962C8B-B14F-4D97-AF65-F5344CB8AC3E}">
        <p14:creationId xmlns:p14="http://schemas.microsoft.com/office/powerpoint/2010/main" val="1572977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E07729D9-4D31-4668-91D9-C4D8A611348E}"/>
              </a:ext>
            </a:extLst>
          </p:cNvPr>
          <p:cNvSpPr/>
          <p:nvPr/>
        </p:nvSpPr>
        <p:spPr>
          <a:xfrm>
            <a:off x="480220" y="-74814"/>
            <a:ext cx="10958093" cy="6186309"/>
          </a:xfrm>
          <a:prstGeom prst="rect">
            <a:avLst/>
          </a:prstGeom>
        </p:spPr>
        <p:txBody>
          <a:bodyPr wrap="square">
            <a:spAutoFit/>
          </a:bodyPr>
          <a:lstStyle/>
          <a:p>
            <a:endParaRPr lang="en-ZM" sz="1200" dirty="0">
              <a:solidFill>
                <a:srgbClr val="000000"/>
              </a:solidFill>
              <a:latin typeface="Tw Cen MT" panose="020B0602020104020603" pitchFamily="34" charset="0"/>
            </a:endParaRPr>
          </a:p>
          <a:p>
            <a:pPr marL="45720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In areas under frequent threats of climate-related emergencies, </a:t>
            </a:r>
            <a:r>
              <a:rPr lang="en-US" sz="3200" i="1" dirty="0">
                <a:solidFill>
                  <a:srgbClr val="000000"/>
                </a:solidFill>
                <a:latin typeface="Times New Roman" panose="02020603050405020304" pitchFamily="18" charset="0"/>
                <a:cs typeface="Times New Roman" panose="02020603050405020304" pitchFamily="18" charset="0"/>
              </a:rPr>
              <a:t>disaster risk reduction </a:t>
            </a:r>
            <a:r>
              <a:rPr lang="en-US" sz="3200" dirty="0">
                <a:solidFill>
                  <a:srgbClr val="000000"/>
                </a:solidFill>
                <a:latin typeface="Times New Roman" panose="02020603050405020304" pitchFamily="18" charset="0"/>
                <a:cs typeface="Times New Roman" panose="02020603050405020304" pitchFamily="18" charset="0"/>
              </a:rPr>
              <a:t>(DRR) and </a:t>
            </a:r>
            <a:r>
              <a:rPr lang="en-US" sz="3200" i="1" dirty="0">
                <a:solidFill>
                  <a:srgbClr val="000000"/>
                </a:solidFill>
                <a:latin typeface="Times New Roman" panose="02020603050405020304" pitchFamily="18" charset="0"/>
                <a:cs typeface="Times New Roman" panose="02020603050405020304" pitchFamily="18" charset="0"/>
              </a:rPr>
              <a:t>disaster risk management </a:t>
            </a:r>
            <a:r>
              <a:rPr lang="en-US" sz="3200" dirty="0">
                <a:solidFill>
                  <a:srgbClr val="000000"/>
                </a:solidFill>
                <a:latin typeface="Times New Roman" panose="02020603050405020304" pitchFamily="18" charset="0"/>
                <a:cs typeface="Times New Roman" panose="02020603050405020304" pitchFamily="18" charset="0"/>
              </a:rPr>
              <a:t>(DRM) are key entry points for climate change adaptation.</a:t>
            </a:r>
          </a:p>
          <a:p>
            <a:pPr algn="just"/>
            <a:endParaRPr lang="en-US" sz="3200"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For example:</a:t>
            </a:r>
          </a:p>
          <a:p>
            <a:pPr marL="914400" lvl="1" indent="-4572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availability and accessibility of good quality seeds is paramount in enhancing the resilience of food production systems in order to minimise dependence on direct external assistance.</a:t>
            </a:r>
          </a:p>
          <a:p>
            <a:pPr marL="914400" lvl="1" indent="-4572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Early warning systems such as Community Flood Information Systems help to prepare potential victims</a:t>
            </a:r>
          </a:p>
          <a:p>
            <a:pPr marL="45720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In Zambia, DRR and DRM are enforced by the DMMU</a:t>
            </a:r>
          </a:p>
        </p:txBody>
      </p:sp>
    </p:spTree>
    <p:extLst>
      <p:ext uri="{BB962C8B-B14F-4D97-AF65-F5344CB8AC3E}">
        <p14:creationId xmlns:p14="http://schemas.microsoft.com/office/powerpoint/2010/main" val="11990204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3B0764DE-BBD0-46E2-A11D-339E693F0773}"/>
              </a:ext>
            </a:extLst>
          </p:cNvPr>
          <p:cNvSpPr/>
          <p:nvPr/>
        </p:nvSpPr>
        <p:spPr>
          <a:xfrm>
            <a:off x="657558" y="1751242"/>
            <a:ext cx="10772442" cy="3293209"/>
          </a:xfrm>
          <a:prstGeom prst="rect">
            <a:avLst/>
          </a:prstGeom>
        </p:spPr>
        <p:txBody>
          <a:bodyPr wrap="square">
            <a:spAutoFit/>
          </a:bodyPr>
          <a:lstStyle/>
          <a:p>
            <a:endParaRPr lang="en-ZM" sz="1200" dirty="0">
              <a:solidFill>
                <a:srgbClr val="000000"/>
              </a:solidFill>
              <a:latin typeface="Wingdings 2" panose="05020102010507070707" pitchFamily="18" charset="2"/>
            </a:endParaRP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Relocation of communities due to sea/river level rise</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Promotion of water harvesting techniques by building large scale irrigation systems and other on-farm water harvesting technologies</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plant breeding in response to shifting agro-ecological zones and new stresses; e.g. breeding for drought and floods tolerance</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Promotion of diversified livelihoods and integrated farming systems</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Construction and promotion of drainage systems</a:t>
            </a:r>
          </a:p>
        </p:txBody>
      </p:sp>
      <p:sp>
        <p:nvSpPr>
          <p:cNvPr id="3" name="Rectangle 2">
            <a:extLst>
              <a:ext uri="{FF2B5EF4-FFF2-40B4-BE49-F238E27FC236}">
                <a16:creationId xmlns:a16="http://schemas.microsoft.com/office/drawing/2014/main" id="{95222B1E-431E-4A33-BC39-D9B35EA3B710}"/>
              </a:ext>
            </a:extLst>
          </p:cNvPr>
          <p:cNvSpPr/>
          <p:nvPr/>
        </p:nvSpPr>
        <p:spPr>
          <a:xfrm>
            <a:off x="657558" y="323037"/>
            <a:ext cx="11030137" cy="1077218"/>
          </a:xfrm>
          <a:prstGeom prst="rect">
            <a:avLst/>
          </a:prstGeom>
        </p:spPr>
        <p:txBody>
          <a:bodyPr wrap="square">
            <a:spAutoFit/>
          </a:bodyPr>
          <a:lstStyle/>
          <a:p>
            <a:pPr lvl="0"/>
            <a:r>
              <a:rPr lang="en-US" sz="3200" b="1" dirty="0">
                <a:solidFill>
                  <a:srgbClr val="000000"/>
                </a:solidFill>
                <a:latin typeface="Times New Roman" panose="02020603050405020304" pitchFamily="18" charset="0"/>
                <a:cs typeface="Times New Roman" panose="02020603050405020304" pitchFamily="18" charset="0"/>
              </a:rPr>
              <a:t>Other Examples of DRR and DRM Measures in Climate Change Adaptation</a:t>
            </a:r>
          </a:p>
        </p:txBody>
      </p:sp>
    </p:spTree>
    <p:extLst>
      <p:ext uri="{BB962C8B-B14F-4D97-AF65-F5344CB8AC3E}">
        <p14:creationId xmlns:p14="http://schemas.microsoft.com/office/powerpoint/2010/main" val="13279603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3B0764DE-BBD0-46E2-A11D-339E693F0773}"/>
              </a:ext>
            </a:extLst>
          </p:cNvPr>
          <p:cNvSpPr/>
          <p:nvPr/>
        </p:nvSpPr>
        <p:spPr>
          <a:xfrm>
            <a:off x="657558" y="1594487"/>
            <a:ext cx="10772442" cy="4585871"/>
          </a:xfrm>
          <a:prstGeom prst="rect">
            <a:avLst/>
          </a:prstGeom>
        </p:spPr>
        <p:txBody>
          <a:bodyPr wrap="square">
            <a:spAutoFit/>
          </a:bodyPr>
          <a:lstStyle/>
          <a:p>
            <a:endParaRPr lang="en-ZM" sz="1200" dirty="0">
              <a:solidFill>
                <a:srgbClr val="000000"/>
              </a:solidFill>
              <a:latin typeface="Wingdings 2" panose="05020102010507070707" pitchFamily="18" charset="2"/>
            </a:endParaRP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Adopted in 2015, in Sendai, Japan, by UN member states</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Focusses on global disaster risk reduction (DRR) – adaptation and resilience building</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Addresses all types of disasters: climate-related (floods, droughts, storms) and non-climate disasters (earthquakes, tsunamis, etc.)</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Goal: reduce disaster risk and losses in lives, livelihoods and assets</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Encourages disaster preparedness, early warning systems, and risk informed planning</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Does not deal with emission reductions</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Voluntary, non-binding framework</a:t>
            </a:r>
          </a:p>
        </p:txBody>
      </p:sp>
      <p:sp>
        <p:nvSpPr>
          <p:cNvPr id="3" name="Rectangle 2">
            <a:extLst>
              <a:ext uri="{FF2B5EF4-FFF2-40B4-BE49-F238E27FC236}">
                <a16:creationId xmlns:a16="http://schemas.microsoft.com/office/drawing/2014/main" id="{95222B1E-431E-4A33-BC39-D9B35EA3B710}"/>
              </a:ext>
            </a:extLst>
          </p:cNvPr>
          <p:cNvSpPr/>
          <p:nvPr/>
        </p:nvSpPr>
        <p:spPr>
          <a:xfrm>
            <a:off x="657558" y="323037"/>
            <a:ext cx="11030137" cy="584775"/>
          </a:xfrm>
          <a:prstGeom prst="rect">
            <a:avLst/>
          </a:prstGeom>
        </p:spPr>
        <p:txBody>
          <a:bodyPr wrap="square">
            <a:spAutoFit/>
          </a:bodyPr>
          <a:lstStyle/>
          <a:p>
            <a:pPr lvl="0"/>
            <a:r>
              <a:rPr lang="en-US" sz="3200" b="1" dirty="0">
                <a:solidFill>
                  <a:srgbClr val="000000"/>
                </a:solidFill>
                <a:latin typeface="Times New Roman" panose="02020603050405020304" pitchFamily="18" charset="0"/>
                <a:cs typeface="Times New Roman" panose="02020603050405020304" pitchFamily="18" charset="0"/>
              </a:rPr>
              <a:t>Sendai Framework [2015-2030]</a:t>
            </a:r>
          </a:p>
        </p:txBody>
      </p:sp>
    </p:spTree>
    <p:extLst>
      <p:ext uri="{BB962C8B-B14F-4D97-AF65-F5344CB8AC3E}">
        <p14:creationId xmlns:p14="http://schemas.microsoft.com/office/powerpoint/2010/main" val="28473896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3B0764DE-BBD0-46E2-A11D-339E693F0773}"/>
              </a:ext>
            </a:extLst>
          </p:cNvPr>
          <p:cNvSpPr/>
          <p:nvPr/>
        </p:nvSpPr>
        <p:spPr>
          <a:xfrm>
            <a:off x="647456" y="1937400"/>
            <a:ext cx="10772442" cy="3970318"/>
          </a:xfrm>
          <a:prstGeom prst="rect">
            <a:avLst/>
          </a:prstGeom>
        </p:spPr>
        <p:txBody>
          <a:bodyPr wrap="square">
            <a:spAutoFit/>
          </a:bodyPr>
          <a:lstStyle/>
          <a:p>
            <a:endParaRPr lang="en-ZM" sz="3200" dirty="0">
              <a:solidFill>
                <a:srgbClr val="000000"/>
              </a:solidFill>
              <a:latin typeface="Wingdings 2" panose="05020102010507070707" pitchFamily="18" charset="2"/>
            </a:endParaRPr>
          </a:p>
          <a:p>
            <a:pPr marL="45720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Has 7 global targets, including:</a:t>
            </a:r>
          </a:p>
          <a:p>
            <a:pPr algn="just"/>
            <a:endParaRPr lang="en-US" sz="3200" dirty="0">
              <a:solidFill>
                <a:srgbClr val="000000"/>
              </a:solidFill>
              <a:latin typeface="Times New Roman" panose="02020603050405020304" pitchFamily="18" charset="0"/>
              <a:cs typeface="Times New Roman" panose="02020603050405020304" pitchFamily="18" charset="0"/>
            </a:endParaRPr>
          </a:p>
          <a:p>
            <a:pPr marL="1371600" lvl="2" indent="-4572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Reduce disaster mortality</a:t>
            </a:r>
          </a:p>
          <a:p>
            <a:pPr marL="1371600" lvl="2" indent="-4572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Reduce number of affected people</a:t>
            </a:r>
          </a:p>
          <a:p>
            <a:pPr marL="1371600" lvl="2" indent="-4572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Reduce economic losses</a:t>
            </a:r>
          </a:p>
          <a:p>
            <a:pPr marL="1371600" lvl="2" indent="-4572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Increase early warning coverage</a:t>
            </a:r>
          </a:p>
          <a:p>
            <a:pPr algn="just"/>
            <a:endParaRPr lang="en-US" sz="2800" dirty="0">
              <a:solidFill>
                <a:srgbClr val="000000"/>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95222B1E-431E-4A33-BC39-D9B35EA3B710}"/>
              </a:ext>
            </a:extLst>
          </p:cNvPr>
          <p:cNvSpPr/>
          <p:nvPr/>
        </p:nvSpPr>
        <p:spPr>
          <a:xfrm>
            <a:off x="657558" y="323037"/>
            <a:ext cx="11030137" cy="584775"/>
          </a:xfrm>
          <a:prstGeom prst="rect">
            <a:avLst/>
          </a:prstGeom>
        </p:spPr>
        <p:txBody>
          <a:bodyPr wrap="square">
            <a:spAutoFit/>
          </a:bodyPr>
          <a:lstStyle/>
          <a:p>
            <a:pPr lvl="0"/>
            <a:r>
              <a:rPr lang="en-US" sz="3200" b="1" dirty="0">
                <a:solidFill>
                  <a:srgbClr val="000000"/>
                </a:solidFill>
                <a:latin typeface="Times New Roman" panose="02020603050405020304" pitchFamily="18" charset="0"/>
                <a:cs typeface="Times New Roman" panose="02020603050405020304" pitchFamily="18" charset="0"/>
              </a:rPr>
              <a:t>Sendai Framework [2015-2030]</a:t>
            </a:r>
          </a:p>
        </p:txBody>
      </p:sp>
    </p:spTree>
    <p:extLst>
      <p:ext uri="{BB962C8B-B14F-4D97-AF65-F5344CB8AC3E}">
        <p14:creationId xmlns:p14="http://schemas.microsoft.com/office/powerpoint/2010/main" val="15121677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3B0764DE-BBD0-46E2-A11D-339E693F0773}"/>
              </a:ext>
            </a:extLst>
          </p:cNvPr>
          <p:cNvSpPr/>
          <p:nvPr/>
        </p:nvSpPr>
        <p:spPr>
          <a:xfrm>
            <a:off x="522210" y="1752734"/>
            <a:ext cx="10772442" cy="4154984"/>
          </a:xfrm>
          <a:prstGeom prst="rect">
            <a:avLst/>
          </a:prstGeom>
        </p:spPr>
        <p:txBody>
          <a:bodyPr wrap="square">
            <a:spAutoFit/>
          </a:bodyPr>
          <a:lstStyle/>
          <a:p>
            <a:endParaRPr lang="en-ZM" sz="1200" dirty="0">
              <a:solidFill>
                <a:srgbClr val="000000"/>
              </a:solidFill>
              <a:latin typeface="Wingdings 2" panose="05020102010507070707" pitchFamily="18" charset="2"/>
            </a:endParaRP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Zambia is party to the Sendai Framework for DRR, 2015-2030</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Zambia’s national disaster risk management policies and frameworks are aligned with the Sendai Framework</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Zambia has domesticated the Sendai Framework through its </a:t>
            </a:r>
            <a:r>
              <a:rPr lang="en-US" sz="2800" b="1" dirty="0">
                <a:solidFill>
                  <a:srgbClr val="000000"/>
                </a:solidFill>
                <a:latin typeface="Times New Roman" panose="02020603050405020304" pitchFamily="18" charset="0"/>
                <a:cs typeface="Times New Roman" panose="02020603050405020304" pitchFamily="18" charset="0"/>
              </a:rPr>
              <a:t>Zambia National Disaster Risk Management Framework (2017-2030)</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In Zambia, activities in line with the Sendai Framework include:</a:t>
            </a:r>
          </a:p>
          <a:p>
            <a:pPr marL="1371600" lvl="2" indent="-457200" algn="just">
              <a:buFont typeface="Wingdings" panose="05000000000000000000" pitchFamily="2" charset="2"/>
              <a:buChar char="ü"/>
            </a:pPr>
            <a:r>
              <a:rPr lang="en-US" sz="2800" dirty="0">
                <a:solidFill>
                  <a:srgbClr val="000000"/>
                </a:solidFill>
                <a:latin typeface="Times New Roman" panose="02020603050405020304" pitchFamily="18" charset="0"/>
                <a:cs typeface="Times New Roman" panose="02020603050405020304" pitchFamily="18" charset="0"/>
              </a:rPr>
              <a:t>Flood preparedness in the Kafue Basin</a:t>
            </a:r>
          </a:p>
          <a:p>
            <a:pPr marL="1371600" lvl="2" indent="-457200" algn="just">
              <a:buFont typeface="Wingdings" panose="05000000000000000000" pitchFamily="2" charset="2"/>
              <a:buChar char="ü"/>
            </a:pPr>
            <a:r>
              <a:rPr lang="en-US" sz="2800" dirty="0">
                <a:solidFill>
                  <a:srgbClr val="000000"/>
                </a:solidFill>
                <a:latin typeface="Times New Roman" panose="02020603050405020304" pitchFamily="18" charset="0"/>
                <a:cs typeface="Times New Roman" panose="02020603050405020304" pitchFamily="18" charset="0"/>
              </a:rPr>
              <a:t>Drought early warning systems</a:t>
            </a:r>
          </a:p>
          <a:p>
            <a:pPr marL="1371600" lvl="2" indent="-457200" algn="just">
              <a:buFont typeface="Wingdings" panose="05000000000000000000" pitchFamily="2" charset="2"/>
              <a:buChar char="ü"/>
            </a:pPr>
            <a:r>
              <a:rPr lang="en-US" sz="2800" dirty="0">
                <a:solidFill>
                  <a:srgbClr val="000000"/>
                </a:solidFill>
                <a:latin typeface="Times New Roman" panose="02020603050405020304" pitchFamily="18" charset="0"/>
                <a:cs typeface="Times New Roman" panose="02020603050405020304" pitchFamily="18" charset="0"/>
              </a:rPr>
              <a:t>Community-based disaster risk reduction</a:t>
            </a:r>
          </a:p>
        </p:txBody>
      </p:sp>
      <p:sp>
        <p:nvSpPr>
          <p:cNvPr id="3" name="Rectangle 2">
            <a:extLst>
              <a:ext uri="{FF2B5EF4-FFF2-40B4-BE49-F238E27FC236}">
                <a16:creationId xmlns:a16="http://schemas.microsoft.com/office/drawing/2014/main" id="{95222B1E-431E-4A33-BC39-D9B35EA3B710}"/>
              </a:ext>
            </a:extLst>
          </p:cNvPr>
          <p:cNvSpPr/>
          <p:nvPr/>
        </p:nvSpPr>
        <p:spPr>
          <a:xfrm>
            <a:off x="657558" y="323037"/>
            <a:ext cx="11030137" cy="584775"/>
          </a:xfrm>
          <a:prstGeom prst="rect">
            <a:avLst/>
          </a:prstGeom>
        </p:spPr>
        <p:txBody>
          <a:bodyPr wrap="square">
            <a:spAutoFit/>
          </a:bodyPr>
          <a:lstStyle/>
          <a:p>
            <a:pPr lvl="0"/>
            <a:r>
              <a:rPr lang="en-US" sz="3200" b="1" dirty="0">
                <a:solidFill>
                  <a:srgbClr val="000000"/>
                </a:solidFill>
                <a:latin typeface="Times New Roman" panose="02020603050405020304" pitchFamily="18" charset="0"/>
                <a:cs typeface="Times New Roman" panose="02020603050405020304" pitchFamily="18" charset="0"/>
              </a:rPr>
              <a:t>Sendai Framework [2015-2030]</a:t>
            </a:r>
          </a:p>
        </p:txBody>
      </p:sp>
    </p:spTree>
    <p:extLst>
      <p:ext uri="{BB962C8B-B14F-4D97-AF65-F5344CB8AC3E}">
        <p14:creationId xmlns:p14="http://schemas.microsoft.com/office/powerpoint/2010/main" val="18320991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A8D306A2-D82D-4AFE-BD3B-A2F2F29C512D}"/>
              </a:ext>
            </a:extLst>
          </p:cNvPr>
          <p:cNvSpPr/>
          <p:nvPr/>
        </p:nvSpPr>
        <p:spPr>
          <a:xfrm>
            <a:off x="604168" y="602812"/>
            <a:ext cx="10817410" cy="2816156"/>
          </a:xfrm>
          <a:prstGeom prst="rect">
            <a:avLst/>
          </a:prstGeom>
        </p:spPr>
        <p:txBody>
          <a:bodyPr wrap="square">
            <a:spAutoFit/>
          </a:bodyPr>
          <a:lstStyle/>
          <a:p>
            <a:endParaRPr lang="en-ZM" sz="1200" dirty="0">
              <a:solidFill>
                <a:srgbClr val="00000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Adaptation strategies in agriculture are based on a combination of:</a:t>
            </a:r>
          </a:p>
          <a:p>
            <a:pPr marL="457200" indent="-457200">
              <a:buFont typeface="Wingdings" panose="05000000000000000000" pitchFamily="2" charset="2"/>
              <a:buChar char="§"/>
            </a:pPr>
            <a:endParaRPr lang="en-US" sz="2900" dirty="0">
              <a:solidFill>
                <a:srgbClr val="000000"/>
              </a:solidFill>
              <a:latin typeface="Times New Roman" panose="02020603050405020304" pitchFamily="18" charset="0"/>
              <a:cs typeface="Times New Roman" panose="02020603050405020304" pitchFamily="18" charset="0"/>
            </a:endParaRPr>
          </a:p>
          <a:p>
            <a:r>
              <a:rPr lang="en-US" sz="290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Wingdings" panose="05000000000000000000" pitchFamily="2" charset="2"/>
              <a:buChar char="ü"/>
            </a:pPr>
            <a:r>
              <a:rPr lang="en-US" sz="2600" dirty="0">
                <a:solidFill>
                  <a:srgbClr val="000000"/>
                </a:solidFill>
                <a:latin typeface="Times New Roman" panose="02020603050405020304" pitchFamily="18" charset="0"/>
                <a:cs typeface="Times New Roman" panose="02020603050405020304" pitchFamily="18" charset="0"/>
              </a:rPr>
              <a:t>specific actions (e.g. switching from one crop variety to another - drought tolerant; early-maturing; FAW tolerant variety); </a:t>
            </a:r>
          </a:p>
          <a:p>
            <a:pPr marL="457200" indent="-457200" algn="just">
              <a:buFont typeface="Wingdings" panose="05000000000000000000" pitchFamily="2" charset="2"/>
              <a:buChar char="ü"/>
            </a:pPr>
            <a:r>
              <a:rPr lang="en-US" sz="2600" dirty="0">
                <a:solidFill>
                  <a:srgbClr val="000000"/>
                </a:solidFill>
                <a:latin typeface="Times New Roman" panose="02020603050405020304" pitchFamily="18" charset="0"/>
                <a:cs typeface="Times New Roman" panose="02020603050405020304" pitchFamily="18" charset="0"/>
              </a:rPr>
              <a:t>systemic changes -</a:t>
            </a:r>
          </a:p>
        </p:txBody>
      </p:sp>
      <p:sp>
        <p:nvSpPr>
          <p:cNvPr id="3" name="Rectangle 2">
            <a:extLst>
              <a:ext uri="{FF2B5EF4-FFF2-40B4-BE49-F238E27FC236}">
                <a16:creationId xmlns:a16="http://schemas.microsoft.com/office/drawing/2014/main" id="{B53398E2-1435-403E-A95E-1B9C3E195DD0}"/>
              </a:ext>
            </a:extLst>
          </p:cNvPr>
          <p:cNvSpPr/>
          <p:nvPr/>
        </p:nvSpPr>
        <p:spPr>
          <a:xfrm>
            <a:off x="687405" y="103640"/>
            <a:ext cx="9365641" cy="584775"/>
          </a:xfrm>
          <a:prstGeom prst="rect">
            <a:avLst/>
          </a:prstGeom>
        </p:spPr>
        <p:txBody>
          <a:bodyPr wrap="none">
            <a:spAutoFit/>
          </a:bodyPr>
          <a:lstStyle/>
          <a:p>
            <a:r>
              <a:rPr lang="en-US" sz="3200" b="1" dirty="0">
                <a:solidFill>
                  <a:srgbClr val="000000"/>
                </a:solidFill>
                <a:latin typeface="Times New Roman" panose="02020603050405020304" pitchFamily="18" charset="0"/>
                <a:cs typeface="Times New Roman" panose="02020603050405020304" pitchFamily="18" charset="0"/>
              </a:rPr>
              <a:t>ADAPTATION STRATEGIES IN AGRICULTURE </a:t>
            </a:r>
            <a:endParaRPr lang="en-ZM" sz="3200" b="1" dirty="0"/>
          </a:p>
        </p:txBody>
      </p:sp>
      <p:sp>
        <p:nvSpPr>
          <p:cNvPr id="4" name="Rectangle 3">
            <a:extLst>
              <a:ext uri="{FF2B5EF4-FFF2-40B4-BE49-F238E27FC236}">
                <a16:creationId xmlns:a16="http://schemas.microsoft.com/office/drawing/2014/main" id="{9A4E3434-1C31-4194-B47E-4ECD990C9159}"/>
              </a:ext>
            </a:extLst>
          </p:cNvPr>
          <p:cNvSpPr/>
          <p:nvPr/>
        </p:nvSpPr>
        <p:spPr>
          <a:xfrm>
            <a:off x="988695" y="3439032"/>
            <a:ext cx="10366490" cy="3724096"/>
          </a:xfrm>
          <a:prstGeom prst="rect">
            <a:avLst/>
          </a:prstGeom>
        </p:spPr>
        <p:txBody>
          <a:bodyPr wrap="square">
            <a:spAutoFit/>
          </a:bodyPr>
          <a:lstStyle/>
          <a:p>
            <a:pPr marL="400050" indent="-400050" algn="just">
              <a:buAutoNum type="romanLcPeriod"/>
            </a:pPr>
            <a:r>
              <a:rPr lang="en-US" sz="2400" dirty="0">
                <a:solidFill>
                  <a:srgbClr val="000000"/>
                </a:solidFill>
                <a:latin typeface="Times New Roman" panose="02020603050405020304" pitchFamily="18" charset="0"/>
                <a:cs typeface="Times New Roman" panose="02020603050405020304" pitchFamily="18" charset="0"/>
              </a:rPr>
              <a:t>Change farming practices to conserve soil moisture, organic matter and nutrients (minimum tillage, pot holing, </a:t>
            </a:r>
            <a:r>
              <a:rPr lang="en-US" sz="2400" dirty="0" err="1">
                <a:solidFill>
                  <a:srgbClr val="000000"/>
                </a:solidFill>
                <a:latin typeface="Times New Roman" panose="02020603050405020304" pitchFamily="18" charset="0"/>
                <a:cs typeface="Times New Roman" panose="02020603050405020304" pitchFamily="18" charset="0"/>
              </a:rPr>
              <a:t>etc</a:t>
            </a:r>
            <a:r>
              <a:rPr lang="en-US" sz="2400" dirty="0">
                <a:solidFill>
                  <a:srgbClr val="000000"/>
                </a:solidFill>
                <a:latin typeface="Times New Roman" panose="02020603050405020304" pitchFamily="18" charset="0"/>
                <a:cs typeface="Times New Roman" panose="02020603050405020304" pitchFamily="18" charset="0"/>
              </a:rPr>
              <a:t>).</a:t>
            </a:r>
          </a:p>
          <a:p>
            <a:pPr marL="400050" indent="-400050" algn="just">
              <a:buAutoNum type="romanLcPeriod"/>
            </a:pPr>
            <a:r>
              <a:rPr lang="en-US" sz="2400" dirty="0">
                <a:solidFill>
                  <a:srgbClr val="000000"/>
                </a:solidFill>
                <a:latin typeface="Times New Roman" panose="02020603050405020304" pitchFamily="18" charset="0"/>
                <a:cs typeface="Times New Roman" panose="02020603050405020304" pitchFamily="18" charset="0"/>
              </a:rPr>
              <a:t>Build response capacity (improvement of weather monitoring systems; conserve genetic resources)</a:t>
            </a:r>
          </a:p>
          <a:p>
            <a:pPr marL="400050" indent="-400050" algn="just">
              <a:buFontTx/>
              <a:buAutoNum type="romanLcPeriod"/>
            </a:pPr>
            <a:r>
              <a:rPr lang="en-US" sz="2400" dirty="0">
                <a:solidFill>
                  <a:srgbClr val="000000"/>
                </a:solidFill>
                <a:latin typeface="Times New Roman" panose="02020603050405020304" pitchFamily="18" charset="0"/>
                <a:cs typeface="Times New Roman" panose="02020603050405020304" pitchFamily="18" charset="0"/>
              </a:rPr>
              <a:t>Reduce soil erosion and land degradation (improved soil management by mulching, minimum tillage, construction of contour ridges).</a:t>
            </a:r>
          </a:p>
          <a:p>
            <a:endParaRPr lang="en-US" sz="1900" dirty="0">
              <a:solidFill>
                <a:srgbClr val="000000"/>
              </a:solidFill>
              <a:latin typeface="Tw Cen MT" panose="020B0602020104020603" pitchFamily="34" charset="0"/>
            </a:endParaRPr>
          </a:p>
          <a:p>
            <a:pPr marL="400050" indent="-400050">
              <a:buFontTx/>
              <a:buAutoNum type="romanLcPeriod"/>
            </a:pPr>
            <a:endParaRPr lang="en-US" sz="1900" dirty="0">
              <a:solidFill>
                <a:srgbClr val="000000"/>
              </a:solidFill>
              <a:latin typeface="Tw Cen MT" panose="020B0602020104020603" pitchFamily="34" charset="0"/>
            </a:endParaRPr>
          </a:p>
          <a:p>
            <a:pPr marL="400050" indent="-400050">
              <a:buAutoNum type="romanLcPeriod"/>
            </a:pPr>
            <a:endParaRPr lang="en-US" dirty="0">
              <a:solidFill>
                <a:srgbClr val="000000"/>
              </a:solidFill>
              <a:latin typeface="Tw Cen MT" panose="020B0602020104020603" pitchFamily="34" charset="0"/>
            </a:endParaRPr>
          </a:p>
          <a:p>
            <a:pPr marL="400050" indent="-400050">
              <a:buAutoNum type="romanLcPeriod"/>
            </a:pPr>
            <a:endParaRPr lang="en-US" dirty="0">
              <a:solidFill>
                <a:srgbClr val="000000"/>
              </a:solidFill>
              <a:latin typeface="Tw Cen MT" panose="020B0602020104020603" pitchFamily="34" charset="0"/>
            </a:endParaRPr>
          </a:p>
          <a:p>
            <a:endParaRPr lang="en-ZM" dirty="0"/>
          </a:p>
        </p:txBody>
      </p:sp>
    </p:spTree>
    <p:extLst>
      <p:ext uri="{BB962C8B-B14F-4D97-AF65-F5344CB8AC3E}">
        <p14:creationId xmlns:p14="http://schemas.microsoft.com/office/powerpoint/2010/main" val="9091151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3" name="Rectangle 2">
            <a:extLst>
              <a:ext uri="{FF2B5EF4-FFF2-40B4-BE49-F238E27FC236}">
                <a16:creationId xmlns:a16="http://schemas.microsoft.com/office/drawing/2014/main" id="{68C82379-FCA3-441A-83DF-BA1498AC0917}"/>
              </a:ext>
            </a:extLst>
          </p:cNvPr>
          <p:cNvSpPr/>
          <p:nvPr/>
        </p:nvSpPr>
        <p:spPr>
          <a:xfrm>
            <a:off x="663373" y="2159762"/>
            <a:ext cx="10865254" cy="3847207"/>
          </a:xfrm>
          <a:prstGeom prst="rect">
            <a:avLst/>
          </a:prstGeom>
        </p:spPr>
        <p:txBody>
          <a:bodyPr wrap="square">
            <a:spAutoFit/>
          </a:bodyPr>
          <a:lstStyle/>
          <a:p>
            <a:pPr lvl="0"/>
            <a:r>
              <a:rPr lang="en-US" sz="2800" dirty="0">
                <a:solidFill>
                  <a:srgbClr val="000000"/>
                </a:solidFill>
                <a:latin typeface="Times New Roman" panose="02020603050405020304" pitchFamily="18" charset="0"/>
                <a:cs typeface="Times New Roman" panose="02020603050405020304" pitchFamily="18" charset="0"/>
              </a:rPr>
              <a:t>iv. Improve water use efficiency and availability (water harvesting – 	potholing, 	construction of reservoir/dams).</a:t>
            </a:r>
          </a:p>
          <a:p>
            <a:pPr algn="just"/>
            <a:r>
              <a:rPr lang="en-US" sz="2800" dirty="0">
                <a:solidFill>
                  <a:srgbClr val="000000"/>
                </a:solidFill>
                <a:latin typeface="Times New Roman" panose="02020603050405020304" pitchFamily="18" charset="0"/>
                <a:cs typeface="Times New Roman" panose="02020603050405020304" pitchFamily="18" charset="0"/>
              </a:rPr>
              <a:t>v. Change land topography to improve water uptake and reduce wind 	erosion (e.g. 	growing cover crops, agroforestry crops, planting 	trees). </a:t>
            </a:r>
          </a:p>
          <a:p>
            <a:pPr algn="just"/>
            <a:r>
              <a:rPr lang="en-US" sz="2800" dirty="0">
                <a:solidFill>
                  <a:srgbClr val="000000"/>
                </a:solidFill>
                <a:latin typeface="Times New Roman" panose="02020603050405020304" pitchFamily="18" charset="0"/>
                <a:cs typeface="Times New Roman" panose="02020603050405020304" pitchFamily="18" charset="0"/>
              </a:rPr>
              <a:t>vi. Adopt livestock rotational grazing practices to improve soil cover, 	increase water 	infiltration/retention and promote natural soil forming 	processes.</a:t>
            </a:r>
          </a:p>
          <a:p>
            <a:pPr algn="just"/>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09EAB15A-3E57-4BFC-BEA3-FEC5D09DE08A}"/>
              </a:ext>
            </a:extLst>
          </p:cNvPr>
          <p:cNvSpPr/>
          <p:nvPr/>
        </p:nvSpPr>
        <p:spPr>
          <a:xfrm>
            <a:off x="630681" y="325056"/>
            <a:ext cx="8636160" cy="584775"/>
          </a:xfrm>
          <a:prstGeom prst="rect">
            <a:avLst/>
          </a:prstGeom>
        </p:spPr>
        <p:txBody>
          <a:bodyPr wrap="square">
            <a:spAutoFit/>
          </a:bodyPr>
          <a:lstStyle/>
          <a:p>
            <a:r>
              <a:rPr lang="en-US" sz="3200" b="1" dirty="0">
                <a:solidFill>
                  <a:srgbClr val="000000"/>
                </a:solidFill>
                <a:latin typeface="Times New Roman" panose="02020603050405020304" pitchFamily="18" charset="0"/>
                <a:cs typeface="Times New Roman" panose="02020603050405020304" pitchFamily="18" charset="0"/>
              </a:rPr>
              <a:t>Adaptation Strategies in Agriculture….(Cont’d) </a:t>
            </a:r>
            <a:endParaRPr lang="en-ZM" sz="3200" b="1" dirty="0"/>
          </a:p>
        </p:txBody>
      </p:sp>
    </p:spTree>
    <p:extLst>
      <p:ext uri="{BB962C8B-B14F-4D97-AF65-F5344CB8AC3E}">
        <p14:creationId xmlns:p14="http://schemas.microsoft.com/office/powerpoint/2010/main" val="32326872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3" name="Rectangle 2">
            <a:extLst>
              <a:ext uri="{FF2B5EF4-FFF2-40B4-BE49-F238E27FC236}">
                <a16:creationId xmlns:a16="http://schemas.microsoft.com/office/drawing/2014/main" id="{421D34FB-6171-4B13-8328-B6E9078A82A5}"/>
              </a:ext>
            </a:extLst>
          </p:cNvPr>
          <p:cNvSpPr/>
          <p:nvPr/>
        </p:nvSpPr>
        <p:spPr>
          <a:xfrm>
            <a:off x="690972" y="278807"/>
            <a:ext cx="11071537" cy="584775"/>
          </a:xfrm>
          <a:prstGeom prst="rect">
            <a:avLst/>
          </a:prstGeom>
        </p:spPr>
        <p:txBody>
          <a:bodyPr wrap="square">
            <a:spAutoFit/>
          </a:bodyPr>
          <a:lstStyle/>
          <a:p>
            <a:r>
              <a:rPr lang="en-US" sz="3200" b="1" dirty="0">
                <a:solidFill>
                  <a:srgbClr val="0070C0"/>
                </a:solidFill>
                <a:latin typeface="Times New Roman" panose="02020603050405020304" pitchFamily="18" charset="0"/>
                <a:cs typeface="Times New Roman" panose="02020603050405020304" pitchFamily="18" charset="0"/>
              </a:rPr>
              <a:t>ENABLING ENVIRONMENT FOR ADAPTATION </a:t>
            </a:r>
            <a:endParaRPr lang="en-ZM" sz="3200" b="1" dirty="0">
              <a:solidFill>
                <a:srgbClr val="0070C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9973FC3-6F4F-4A66-AF72-C031FED117CA}"/>
              </a:ext>
            </a:extLst>
          </p:cNvPr>
          <p:cNvSpPr/>
          <p:nvPr/>
        </p:nvSpPr>
        <p:spPr>
          <a:xfrm>
            <a:off x="534760" y="762192"/>
            <a:ext cx="10966268" cy="5493812"/>
          </a:xfrm>
          <a:prstGeom prst="rect">
            <a:avLst/>
          </a:prstGeom>
        </p:spPr>
        <p:txBody>
          <a:bodyPr wrap="square">
            <a:spAutoFit/>
          </a:bodyPr>
          <a:lstStyle/>
          <a:p>
            <a:pPr algn="just"/>
            <a:endParaRPr lang="en-ZM" sz="1200" dirty="0">
              <a:solidFill>
                <a:srgbClr val="000000"/>
              </a:solidFill>
              <a:latin typeface="Wingdings 2" panose="05020102010507070707" pitchFamily="18" charset="2"/>
            </a:endParaRPr>
          </a:p>
          <a:p>
            <a:pPr marL="457200" indent="-457200" algn="just">
              <a:buFont typeface="Wingdings" panose="05000000000000000000" pitchFamily="2" charset="2"/>
              <a:buChar char="§"/>
            </a:pPr>
            <a:r>
              <a:rPr lang="en-US" sz="2600" dirty="0">
                <a:solidFill>
                  <a:srgbClr val="000000"/>
                </a:solidFill>
                <a:latin typeface="Times New Roman" panose="02020603050405020304" pitchFamily="18" charset="0"/>
                <a:cs typeface="Times New Roman" panose="02020603050405020304" pitchFamily="18" charset="0"/>
              </a:rPr>
              <a:t>Policies to guide adaptation to CC (National Adaptation Plan - NAP, 2023; National Policy on Climate Change - NPCC, 2016; National Adaptation Program of Action (NAPA, 2010)</a:t>
            </a: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Climate proofing of infrastructure (more windows, solar energy, water harvesting points, </a:t>
            </a:r>
            <a:r>
              <a:rPr lang="en-US" sz="2900" dirty="0" err="1">
                <a:solidFill>
                  <a:srgbClr val="000000"/>
                </a:solidFill>
                <a:latin typeface="Times New Roman" panose="02020603050405020304" pitchFamily="18" charset="0"/>
                <a:cs typeface="Times New Roman" panose="02020603050405020304" pitchFamily="18" charset="0"/>
              </a:rPr>
              <a:t>etc</a:t>
            </a:r>
            <a:r>
              <a:rPr lang="en-US" sz="2900" dirty="0">
                <a:solidFill>
                  <a:srgbClr val="000000"/>
                </a:solidFill>
                <a:latin typeface="Times New Roman" panose="02020603050405020304" pitchFamily="18" charset="0"/>
                <a:cs typeface="Times New Roman" panose="02020603050405020304" pitchFamily="18" charset="0"/>
              </a:rPr>
              <a:t>)</a:t>
            </a: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Re-allocation of water (between and within sectors)</a:t>
            </a: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Strengthening land/water right access</a:t>
            </a: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Crop insurances </a:t>
            </a: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Improved weather forecasting capacity</a:t>
            </a: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Improved hydrological monitoring – for floods/droughts</a:t>
            </a:r>
          </a:p>
          <a:p>
            <a:pPr marL="457200" indent="-457200" algn="just">
              <a:buFont typeface="Wingdings" panose="05000000000000000000" pitchFamily="2" charset="2"/>
              <a:buChar char="§"/>
            </a:pPr>
            <a:r>
              <a:rPr lang="en-US" sz="2900" dirty="0">
                <a:solidFill>
                  <a:srgbClr val="000000"/>
                </a:solidFill>
                <a:latin typeface="Times New Roman" panose="02020603050405020304" pitchFamily="18" charset="0"/>
                <a:cs typeface="Times New Roman" panose="02020603050405020304" pitchFamily="18" charset="0"/>
              </a:rPr>
              <a:t>Review of food storage (R&amp;D in Food &amp; Post-harvest handling technologies)</a:t>
            </a:r>
          </a:p>
        </p:txBody>
      </p:sp>
    </p:spTree>
    <p:extLst>
      <p:ext uri="{BB962C8B-B14F-4D97-AF65-F5344CB8AC3E}">
        <p14:creationId xmlns:p14="http://schemas.microsoft.com/office/powerpoint/2010/main" val="18916811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Rectangle 15">
            <a:extLst>
              <a:ext uri="{FF2B5EF4-FFF2-40B4-BE49-F238E27FC236}">
                <a16:creationId xmlns:a16="http://schemas.microsoft.com/office/drawing/2014/main" id="{036F70F8-96A3-4497-B3BB-B787CA089ADD}"/>
              </a:ext>
            </a:extLst>
          </p:cNvPr>
          <p:cNvSpPr/>
          <p:nvPr/>
        </p:nvSpPr>
        <p:spPr>
          <a:xfrm>
            <a:off x="749079" y="420975"/>
            <a:ext cx="10589481" cy="646331"/>
          </a:xfrm>
          <a:prstGeom prst="rect">
            <a:avLst/>
          </a:prstGeom>
        </p:spPr>
        <p:txBody>
          <a:bodyPr wrap="square">
            <a:spAutoFit/>
          </a:bodyPr>
          <a:lstStyle/>
          <a:p>
            <a:r>
              <a:rPr lang="en-US" sz="3600" b="1" dirty="0">
                <a:solidFill>
                  <a:srgbClr val="0070C0"/>
                </a:solidFill>
                <a:latin typeface="Times New Roman" panose="02020603050405020304" pitchFamily="18" charset="0"/>
                <a:cs typeface="Times New Roman" panose="02020603050405020304" pitchFamily="18" charset="0"/>
              </a:rPr>
              <a:t>ADAPTATION AT INDIVIDUAL FARMER LEVEL</a:t>
            </a:r>
            <a:endParaRPr lang="en-ZM" sz="3600" b="1" dirty="0">
              <a:solidFill>
                <a:srgbClr val="0070C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E8B85F73-2223-4F78-BC7A-BD1DA3B91C53}"/>
              </a:ext>
            </a:extLst>
          </p:cNvPr>
          <p:cNvSpPr/>
          <p:nvPr/>
        </p:nvSpPr>
        <p:spPr>
          <a:xfrm>
            <a:off x="749079" y="1355371"/>
            <a:ext cx="10523913" cy="4832092"/>
          </a:xfrm>
          <a:prstGeom prst="rect">
            <a:avLst/>
          </a:prstGeom>
        </p:spPr>
        <p:txBody>
          <a:bodyPr wrap="square">
            <a:spAutoFit/>
          </a:bodyPr>
          <a:lstStyle/>
          <a:p>
            <a:pPr marL="457200" lvl="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Plant different varieties or species of crops (crop diversification…e.g. maize with sorghum, cowpeas, groundnuts, etc.), or rear different breeds or species of livestock (fish - aquaculture). Diversification spreads the risk. </a:t>
            </a:r>
          </a:p>
          <a:p>
            <a:pPr marL="457200" lvl="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Grow drought-tolerant and early-maturing crop varieties </a:t>
            </a:r>
          </a:p>
          <a:p>
            <a:pPr marL="457200" lvl="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Alter agronomic practices (crop rotation, mulching, crop residue retention, minimum/zero tillage, potholing, cover cropping, etc.)</a:t>
            </a:r>
          </a:p>
          <a:p>
            <a:pPr marL="457200" lvl="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Enterprise diversification (having multiple agro enterprises – animal, crop, fish farming, bee keeping, vegetable gardening, food processing, etc.).</a:t>
            </a:r>
          </a:p>
          <a:p>
            <a:pPr marL="457200" lvl="0" indent="-457200" algn="just">
              <a:buFont typeface="Wingdings" panose="05000000000000000000" pitchFamily="2" charset="2"/>
              <a:buChar char="§"/>
            </a:pPr>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91652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Rectangle 15">
            <a:extLst>
              <a:ext uri="{FF2B5EF4-FFF2-40B4-BE49-F238E27FC236}">
                <a16:creationId xmlns:a16="http://schemas.microsoft.com/office/drawing/2014/main" id="{036F70F8-96A3-4497-B3BB-B787CA089ADD}"/>
              </a:ext>
            </a:extLst>
          </p:cNvPr>
          <p:cNvSpPr/>
          <p:nvPr/>
        </p:nvSpPr>
        <p:spPr>
          <a:xfrm>
            <a:off x="679411" y="220678"/>
            <a:ext cx="10589481" cy="6124754"/>
          </a:xfrm>
          <a:prstGeom prst="rect">
            <a:avLst/>
          </a:prstGeom>
        </p:spPr>
        <p:txBody>
          <a:bodyPr wrap="square">
            <a:spAutoFit/>
          </a:bodyPr>
          <a:lstStyle/>
          <a:p>
            <a:r>
              <a:rPr lang="en-US" sz="3200" b="1" dirty="0">
                <a:solidFill>
                  <a:srgbClr val="0070C0"/>
                </a:solidFill>
                <a:latin typeface="Times New Roman" panose="02020603050405020304" pitchFamily="18" charset="0"/>
                <a:cs typeface="Times New Roman" panose="02020603050405020304" pitchFamily="18" charset="0"/>
              </a:rPr>
              <a:t>ADAPTATION AT INDIVIDUAL FARMER LEVEL</a:t>
            </a:r>
            <a:r>
              <a:rPr lang="en-US" sz="3200" b="1" dirty="0">
                <a:solidFill>
                  <a:srgbClr val="373545"/>
                </a:solidFill>
                <a:latin typeface="Times New Roman" panose="02020603050405020304" pitchFamily="18" charset="0"/>
                <a:cs typeface="Times New Roman" panose="02020603050405020304" pitchFamily="18" charset="0"/>
              </a:rPr>
              <a:t>…</a:t>
            </a:r>
          </a:p>
          <a:p>
            <a:endParaRPr lang="en-US" sz="3600" b="1" dirty="0">
              <a:solidFill>
                <a:srgbClr val="373545"/>
              </a:solidFill>
              <a:latin typeface="Times New Roman" panose="02020603050405020304" pitchFamily="18" charset="0"/>
              <a:cs typeface="Times New Roman" panose="02020603050405020304" pitchFamily="18" charset="0"/>
            </a:endParaRPr>
          </a:p>
          <a:p>
            <a:endParaRPr lang="en-US" sz="3600" b="1" dirty="0">
              <a:solidFill>
                <a:srgbClr val="373545"/>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Rain water harvesting (constructing contour ridges, building small farm ponds, digging infiltration pits or potholing)</a:t>
            </a:r>
          </a:p>
          <a:p>
            <a:pPr marL="571500" indent="-5715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Agroforestry (planting fertiliser trees such as </a:t>
            </a:r>
            <a:r>
              <a:rPr lang="en-US" sz="3200" dirty="0" err="1">
                <a:latin typeface="Times New Roman" panose="02020603050405020304" pitchFamily="18" charset="0"/>
                <a:cs typeface="Times New Roman" panose="02020603050405020304" pitchFamily="18" charset="0"/>
              </a:rPr>
              <a:t>Cajanus</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cajan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Gliricidia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sepium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Fardherbia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albida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Sesbania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sesban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Tephrosia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vogellii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etc</a:t>
            </a:r>
            <a:r>
              <a:rPr lang="en-US" sz="3200" dirty="0">
                <a:latin typeface="Times New Roman" panose="02020603050405020304" pitchFamily="18" charset="0"/>
                <a:cs typeface="Times New Roman" panose="02020603050405020304" pitchFamily="18" charset="0"/>
              </a:rPr>
              <a:t>)</a:t>
            </a:r>
          </a:p>
          <a:p>
            <a:pPr marL="571500" indent="-5715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Adjust planting time (Staggered planting, i.e. plant crops in phases to reduce risk of total crop failure; use seasonal weather forecasts to determine optimal planting time)</a:t>
            </a:r>
          </a:p>
          <a:p>
            <a:endParaRPr lang="en-ZM"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8804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Rectangle 15">
            <a:extLst>
              <a:ext uri="{FF2B5EF4-FFF2-40B4-BE49-F238E27FC236}">
                <a16:creationId xmlns:a16="http://schemas.microsoft.com/office/drawing/2014/main" id="{036F70F8-96A3-4497-B3BB-B787CA089ADD}"/>
              </a:ext>
            </a:extLst>
          </p:cNvPr>
          <p:cNvSpPr/>
          <p:nvPr/>
        </p:nvSpPr>
        <p:spPr>
          <a:xfrm>
            <a:off x="749079" y="420975"/>
            <a:ext cx="10589481" cy="6124754"/>
          </a:xfrm>
          <a:prstGeom prst="rect">
            <a:avLst/>
          </a:prstGeom>
        </p:spPr>
        <p:txBody>
          <a:bodyPr wrap="square">
            <a:spAutoFit/>
          </a:bodyPr>
          <a:lstStyle/>
          <a:p>
            <a:r>
              <a:rPr lang="en-US" sz="3200" b="1" dirty="0">
                <a:solidFill>
                  <a:srgbClr val="0070C0"/>
                </a:solidFill>
                <a:latin typeface="Times New Roman" panose="02020603050405020304" pitchFamily="18" charset="0"/>
                <a:cs typeface="Times New Roman" panose="02020603050405020304" pitchFamily="18" charset="0"/>
              </a:rPr>
              <a:t>ADAPTATION AT INDIVIDUAL FARMER LEVEL…</a:t>
            </a:r>
          </a:p>
          <a:p>
            <a:endParaRPr lang="en-US" sz="3600" b="1" dirty="0">
              <a:solidFill>
                <a:srgbClr val="373545"/>
              </a:solidFill>
              <a:latin typeface="Times New Roman" panose="02020603050405020304" pitchFamily="18" charset="0"/>
              <a:cs typeface="Times New Roman" panose="02020603050405020304" pitchFamily="18" charset="0"/>
            </a:endParaRPr>
          </a:p>
          <a:p>
            <a:endParaRPr lang="en-US" sz="3600" b="1" dirty="0">
              <a:solidFill>
                <a:srgbClr val="373545"/>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Water management and irrigation (treadle pumps, drip irrigation, solar powered pumps) to reduce dependence on rainfall; mulching (to reduce evaporation and maintain soil moisture)</a:t>
            </a:r>
          </a:p>
          <a:p>
            <a:pPr marL="571500" indent="-5715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Financial and institutional strategies (joint farmer cooperatives, social capital groups - leading to improved access to climate information, credit, inputs, markets)</a:t>
            </a:r>
          </a:p>
          <a:p>
            <a:pPr marL="571500" indent="-571500">
              <a:buFont typeface="Wingdings" panose="05000000000000000000" pitchFamily="2" charset="2"/>
              <a:buChar char="§"/>
            </a:pPr>
            <a:endParaRPr lang="en-US" sz="32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
            </a:pPr>
            <a:endParaRPr lang="en-ZM"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9678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16" name="Rectangle 15">
            <a:extLst>
              <a:ext uri="{FF2B5EF4-FFF2-40B4-BE49-F238E27FC236}">
                <a16:creationId xmlns:a16="http://schemas.microsoft.com/office/drawing/2014/main" id="{036F70F8-96A3-4497-B3BB-B787CA089ADD}"/>
              </a:ext>
            </a:extLst>
          </p:cNvPr>
          <p:cNvSpPr/>
          <p:nvPr/>
        </p:nvSpPr>
        <p:spPr>
          <a:xfrm>
            <a:off x="749079" y="420975"/>
            <a:ext cx="10589481" cy="5632311"/>
          </a:xfrm>
          <a:prstGeom prst="rect">
            <a:avLst/>
          </a:prstGeom>
        </p:spPr>
        <p:txBody>
          <a:bodyPr wrap="square">
            <a:spAutoFit/>
          </a:bodyPr>
          <a:lstStyle/>
          <a:p>
            <a:r>
              <a:rPr lang="en-US" sz="3200" b="1" dirty="0">
                <a:solidFill>
                  <a:srgbClr val="0070C0"/>
                </a:solidFill>
                <a:latin typeface="Times New Roman" panose="02020603050405020304" pitchFamily="18" charset="0"/>
                <a:cs typeface="Times New Roman" panose="02020603050405020304" pitchFamily="18" charset="0"/>
              </a:rPr>
              <a:t>ADAPTATION AT INDIVIDUAL FARMER LEVEL…</a:t>
            </a:r>
          </a:p>
          <a:p>
            <a:endParaRPr lang="en-US" sz="3600" b="1" dirty="0">
              <a:solidFill>
                <a:srgbClr val="373545"/>
              </a:solidFill>
              <a:latin typeface="Times New Roman" panose="02020603050405020304" pitchFamily="18" charset="0"/>
              <a:cs typeface="Times New Roman" panose="02020603050405020304" pitchFamily="18" charset="0"/>
            </a:endParaRPr>
          </a:p>
          <a:p>
            <a:endParaRPr lang="en-US" sz="3600" b="1" dirty="0">
              <a:solidFill>
                <a:srgbClr val="373545"/>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In summary, an individual farmer should aim to:</a:t>
            </a:r>
          </a:p>
          <a:p>
            <a:pPr marL="1485900" lvl="2" indent="-571500" algn="just">
              <a:buFont typeface="+mj-lt"/>
              <a:buAutoNum type="romanLcPeriod"/>
            </a:pPr>
            <a:r>
              <a:rPr lang="en-US" sz="3200" dirty="0">
                <a:latin typeface="Times New Roman" panose="02020603050405020304" pitchFamily="18" charset="0"/>
                <a:cs typeface="Times New Roman" panose="02020603050405020304" pitchFamily="18" charset="0"/>
              </a:rPr>
              <a:t>Reduce exposure to climate change (drought tolerant crops and varieties, irrigation, </a:t>
            </a:r>
            <a:r>
              <a:rPr lang="en-US" sz="3200" dirty="0" err="1">
                <a:latin typeface="Times New Roman" panose="02020603050405020304" pitchFamily="18" charset="0"/>
                <a:cs typeface="Times New Roman" panose="02020603050405020304" pitchFamily="18" charset="0"/>
              </a:rPr>
              <a:t>etc</a:t>
            </a:r>
            <a:r>
              <a:rPr lang="en-US" sz="3200" dirty="0">
                <a:latin typeface="Times New Roman" panose="02020603050405020304" pitchFamily="18" charset="0"/>
                <a:cs typeface="Times New Roman" panose="02020603050405020304" pitchFamily="18" charset="0"/>
              </a:rPr>
              <a:t>)</a:t>
            </a:r>
          </a:p>
          <a:p>
            <a:pPr marL="1485900" lvl="2" indent="-571500" algn="just">
              <a:buFont typeface="+mj-lt"/>
              <a:buAutoNum type="romanLcPeriod"/>
            </a:pPr>
            <a:r>
              <a:rPr lang="en-US" sz="3200" dirty="0">
                <a:latin typeface="Times New Roman" panose="02020603050405020304" pitchFamily="18" charset="0"/>
                <a:cs typeface="Times New Roman" panose="02020603050405020304" pitchFamily="18" charset="0"/>
              </a:rPr>
              <a:t>Increase resilience (diversification, soil health, </a:t>
            </a:r>
            <a:r>
              <a:rPr lang="en-US" sz="3200" dirty="0" err="1">
                <a:latin typeface="Times New Roman" panose="02020603050405020304" pitchFamily="18" charset="0"/>
                <a:cs typeface="Times New Roman" panose="02020603050405020304" pitchFamily="18" charset="0"/>
              </a:rPr>
              <a:t>etc</a:t>
            </a:r>
            <a:r>
              <a:rPr lang="en-US" sz="3200" dirty="0">
                <a:latin typeface="Times New Roman" panose="02020603050405020304" pitchFamily="18" charset="0"/>
                <a:cs typeface="Times New Roman" panose="02020603050405020304" pitchFamily="18" charset="0"/>
              </a:rPr>
              <a:t>)</a:t>
            </a:r>
          </a:p>
          <a:p>
            <a:pPr marL="1485900" lvl="2" indent="-571500" algn="just">
              <a:buFont typeface="+mj-lt"/>
              <a:buAutoNum type="romanLcPeriod"/>
            </a:pPr>
            <a:r>
              <a:rPr lang="en-US" sz="3200" dirty="0">
                <a:latin typeface="Times New Roman" panose="02020603050405020304" pitchFamily="18" charset="0"/>
                <a:cs typeface="Times New Roman" panose="02020603050405020304" pitchFamily="18" charset="0"/>
              </a:rPr>
              <a:t>Spread the risk (mixed farming, </a:t>
            </a:r>
            <a:r>
              <a:rPr lang="en-US" sz="3200" dirty="0" err="1">
                <a:latin typeface="Times New Roman" panose="02020603050405020304" pitchFamily="18" charset="0"/>
                <a:cs typeface="Times New Roman" panose="02020603050405020304" pitchFamily="18" charset="0"/>
              </a:rPr>
              <a:t>etc</a:t>
            </a:r>
            <a:r>
              <a:rPr lang="en-US" sz="3200" dirty="0">
                <a:latin typeface="Times New Roman" panose="02020603050405020304" pitchFamily="18" charset="0"/>
                <a:cs typeface="Times New Roman" panose="02020603050405020304" pitchFamily="18" charset="0"/>
              </a:rPr>
              <a:t>); and</a:t>
            </a:r>
          </a:p>
          <a:p>
            <a:pPr marL="1485900" lvl="2" indent="-571500" algn="just">
              <a:buFont typeface="+mj-lt"/>
              <a:buAutoNum type="romanLcPeriod"/>
            </a:pPr>
            <a:r>
              <a:rPr lang="en-US" sz="3200" dirty="0">
                <a:latin typeface="Times New Roman" panose="02020603050405020304" pitchFamily="18" charset="0"/>
                <a:cs typeface="Times New Roman" panose="02020603050405020304" pitchFamily="18" charset="0"/>
              </a:rPr>
              <a:t>Use climate information. </a:t>
            </a:r>
          </a:p>
          <a:p>
            <a:pPr marL="571500" indent="-571500">
              <a:buFont typeface="Wingdings" panose="05000000000000000000" pitchFamily="2" charset="2"/>
              <a:buChar char="§"/>
            </a:pPr>
            <a:endParaRPr lang="en-US" sz="32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
            </a:pPr>
            <a:endParaRPr lang="en-ZM"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74367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FD5E6745-B914-4C3E-BA90-C4D9FDA4EFFE}"/>
              </a:ext>
            </a:extLst>
          </p:cNvPr>
          <p:cNvSpPr/>
          <p:nvPr/>
        </p:nvSpPr>
        <p:spPr>
          <a:xfrm>
            <a:off x="665018" y="284321"/>
            <a:ext cx="11030990" cy="5693866"/>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3200" b="1" dirty="0">
                <a:solidFill>
                  <a:srgbClr val="0070C0"/>
                </a:solidFill>
                <a:latin typeface="Times New Roman" panose="02020603050405020304" pitchFamily="18" charset="0"/>
                <a:cs typeface="Times New Roman" panose="02020603050405020304" pitchFamily="18" charset="0"/>
              </a:rPr>
              <a:t>ECOSYSTEM-BASED ADAPTATION (EBA)</a:t>
            </a:r>
          </a:p>
          <a:p>
            <a:endParaRPr lang="en-US" sz="3200" b="1" dirty="0">
              <a:solidFill>
                <a:srgbClr val="0070C0"/>
              </a:solidFill>
              <a:latin typeface="Times New Roman" panose="02020603050405020304" pitchFamily="18" charset="0"/>
              <a:cs typeface="Times New Roman" panose="02020603050405020304" pitchFamily="18" charset="0"/>
            </a:endParaRPr>
          </a:p>
          <a:p>
            <a:endParaRPr lang="en-US" sz="3200" b="1"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EBA is a </a:t>
            </a:r>
            <a:r>
              <a:rPr lang="en-US" sz="3200" u="sng" dirty="0">
                <a:solidFill>
                  <a:srgbClr val="000000"/>
                </a:solidFill>
                <a:latin typeface="Times New Roman" panose="02020603050405020304" pitchFamily="18" charset="0"/>
                <a:cs typeface="Times New Roman" panose="02020603050405020304" pitchFamily="18" charset="0"/>
              </a:rPr>
              <a:t>nature-based solution </a:t>
            </a:r>
            <a:r>
              <a:rPr lang="en-US" sz="3200" dirty="0">
                <a:solidFill>
                  <a:srgbClr val="000000"/>
                </a:solidFill>
                <a:latin typeface="Times New Roman" panose="02020603050405020304" pitchFamily="18" charset="0"/>
                <a:cs typeface="Times New Roman" panose="02020603050405020304" pitchFamily="18" charset="0"/>
              </a:rPr>
              <a:t>that uses ecosystem services to reduce vulnerability and help people adapt to the impacts of climate change.</a:t>
            </a:r>
          </a:p>
          <a:p>
            <a:pPr marL="457200" indent="-457200" algn="just">
              <a:buFont typeface="Wingdings" panose="05000000000000000000" pitchFamily="2" charset="2"/>
              <a:buChar char="§"/>
            </a:pPr>
            <a:r>
              <a:rPr lang="en-US" sz="3200" b="1" dirty="0">
                <a:solidFill>
                  <a:srgbClr val="000000"/>
                </a:solidFill>
                <a:latin typeface="Times New Roman" panose="02020603050405020304" pitchFamily="18" charset="0"/>
                <a:cs typeface="Times New Roman" panose="02020603050405020304" pitchFamily="18" charset="0"/>
              </a:rPr>
              <a:t>Ecosystem services are the benefits humans obtain from the ecosystems. </a:t>
            </a:r>
          </a:p>
          <a:p>
            <a:pPr marL="45720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They are the natural processes and functions provided by the environment that support human life, economic activities and overall wellbeing.</a:t>
            </a:r>
          </a:p>
        </p:txBody>
      </p:sp>
    </p:spTree>
    <p:extLst>
      <p:ext uri="{BB962C8B-B14F-4D97-AF65-F5344CB8AC3E}">
        <p14:creationId xmlns:p14="http://schemas.microsoft.com/office/powerpoint/2010/main" val="36866189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FD5E6745-B914-4C3E-BA90-C4D9FDA4EFFE}"/>
              </a:ext>
            </a:extLst>
          </p:cNvPr>
          <p:cNvSpPr/>
          <p:nvPr/>
        </p:nvSpPr>
        <p:spPr>
          <a:xfrm>
            <a:off x="665018" y="284321"/>
            <a:ext cx="11030990" cy="6186309"/>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3200" b="1" dirty="0">
                <a:solidFill>
                  <a:srgbClr val="000000"/>
                </a:solidFill>
                <a:latin typeface="Times New Roman" panose="02020603050405020304" pitchFamily="18" charset="0"/>
                <a:cs typeface="Times New Roman" panose="02020603050405020304" pitchFamily="18" charset="0"/>
              </a:rPr>
              <a:t>ECOSYSTEM-BASED ADAPTATION (EBA)…</a:t>
            </a:r>
          </a:p>
          <a:p>
            <a:endParaRPr lang="en-US" sz="3200" b="1" dirty="0">
              <a:solidFill>
                <a:srgbClr val="000000"/>
              </a:solidFill>
              <a:latin typeface="Times New Roman" panose="02020603050405020304" pitchFamily="18" charset="0"/>
              <a:cs typeface="Times New Roman" panose="02020603050405020304" pitchFamily="18" charset="0"/>
            </a:endParaRPr>
          </a:p>
          <a:p>
            <a:endParaRPr lang="en-US" sz="3200" b="1"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Ecosystem services are grouped into four categories:</a:t>
            </a:r>
          </a:p>
          <a:p>
            <a:pPr marL="971550" lvl="1" indent="-514350" algn="just">
              <a:buAutoNum type="arabicPeriod"/>
            </a:pPr>
            <a:r>
              <a:rPr lang="en-US" sz="3200" b="1" dirty="0">
                <a:solidFill>
                  <a:srgbClr val="000000"/>
                </a:solidFill>
                <a:latin typeface="Times New Roman" panose="02020603050405020304" pitchFamily="18" charset="0"/>
                <a:cs typeface="Times New Roman" panose="02020603050405020304" pitchFamily="18" charset="0"/>
              </a:rPr>
              <a:t>Provisioning services </a:t>
            </a:r>
            <a:r>
              <a:rPr lang="en-US" sz="3200" dirty="0">
                <a:solidFill>
                  <a:srgbClr val="000000"/>
                </a:solidFill>
                <a:latin typeface="Times New Roman" panose="02020603050405020304" pitchFamily="18" charset="0"/>
                <a:cs typeface="Times New Roman" panose="02020603050405020304" pitchFamily="18" charset="0"/>
              </a:rPr>
              <a:t>– tangible products obtained from ecosystems such as food (fruits, fish, honey, fresh water, timber, fuelwood, medicinal plants, genetic resources)</a:t>
            </a:r>
          </a:p>
          <a:p>
            <a:pPr marL="971550" lvl="1" indent="-514350" algn="just">
              <a:buAutoNum type="arabicPeriod"/>
            </a:pPr>
            <a:r>
              <a:rPr lang="en-US" sz="3200" b="1" dirty="0">
                <a:solidFill>
                  <a:srgbClr val="000000"/>
                </a:solidFill>
                <a:latin typeface="Times New Roman" panose="02020603050405020304" pitchFamily="18" charset="0"/>
                <a:cs typeface="Times New Roman" panose="02020603050405020304" pitchFamily="18" charset="0"/>
              </a:rPr>
              <a:t>Regulatory services </a:t>
            </a:r>
            <a:r>
              <a:rPr lang="en-US" sz="3200" dirty="0">
                <a:solidFill>
                  <a:srgbClr val="000000"/>
                </a:solidFill>
                <a:latin typeface="Times New Roman" panose="02020603050405020304" pitchFamily="18" charset="0"/>
                <a:cs typeface="Times New Roman" panose="02020603050405020304" pitchFamily="18" charset="0"/>
              </a:rPr>
              <a:t>– benefits obtained from the regulation of ecosystem processes (carbon sequestration by forests, flood control  by wetlands and forests, water purification by forests, soil erosion control, pollination of crops)</a:t>
            </a:r>
          </a:p>
          <a:p>
            <a:pPr marL="1428750" lvl="2" indent="-514350" algn="just">
              <a:buFont typeface="Wingdings" panose="05000000000000000000" pitchFamily="2" charset="2"/>
              <a:buChar char="ü"/>
            </a:pPr>
            <a:endParaRPr lang="en-US" sz="32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1664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FD5E6745-B914-4C3E-BA90-C4D9FDA4EFFE}"/>
              </a:ext>
            </a:extLst>
          </p:cNvPr>
          <p:cNvSpPr/>
          <p:nvPr/>
        </p:nvSpPr>
        <p:spPr>
          <a:xfrm>
            <a:off x="348343" y="92733"/>
            <a:ext cx="11277997" cy="6186309"/>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3200" b="1" dirty="0">
                <a:solidFill>
                  <a:srgbClr val="000000"/>
                </a:solidFill>
                <a:latin typeface="Times New Roman" panose="02020603050405020304" pitchFamily="18" charset="0"/>
                <a:cs typeface="Times New Roman" panose="02020603050405020304" pitchFamily="18" charset="0"/>
              </a:rPr>
              <a:t>ECOSYSTEM-BASED ADAPTATION (EBA)…</a:t>
            </a:r>
          </a:p>
          <a:p>
            <a:endParaRPr lang="en-US" sz="3200" b="1" dirty="0">
              <a:solidFill>
                <a:srgbClr val="000000"/>
              </a:solidFill>
              <a:latin typeface="Times New Roman" panose="02020603050405020304" pitchFamily="18" charset="0"/>
              <a:cs typeface="Times New Roman" panose="02020603050405020304" pitchFamily="18" charset="0"/>
            </a:endParaRPr>
          </a:p>
          <a:p>
            <a:endParaRPr lang="en-US" sz="3200" b="1" dirty="0">
              <a:solidFill>
                <a:srgbClr val="000000"/>
              </a:solidFill>
              <a:latin typeface="Times New Roman" panose="02020603050405020304" pitchFamily="18" charset="0"/>
              <a:cs typeface="Times New Roman" panose="02020603050405020304" pitchFamily="18" charset="0"/>
            </a:endParaRPr>
          </a:p>
          <a:p>
            <a:pPr lvl="1" algn="just"/>
            <a:r>
              <a:rPr lang="en-US" sz="3200" dirty="0">
                <a:solidFill>
                  <a:srgbClr val="000000"/>
                </a:solidFill>
                <a:latin typeface="Times New Roman" panose="02020603050405020304" pitchFamily="18" charset="0"/>
                <a:cs typeface="Times New Roman" panose="02020603050405020304" pitchFamily="18" charset="0"/>
              </a:rPr>
              <a:t>3. </a:t>
            </a:r>
            <a:r>
              <a:rPr lang="en-US" sz="3200" b="1" dirty="0">
                <a:solidFill>
                  <a:srgbClr val="000000"/>
                </a:solidFill>
                <a:latin typeface="Times New Roman" panose="02020603050405020304" pitchFamily="18" charset="0"/>
                <a:cs typeface="Times New Roman" panose="02020603050405020304" pitchFamily="18" charset="0"/>
              </a:rPr>
              <a:t>Supporting services </a:t>
            </a:r>
            <a:r>
              <a:rPr lang="en-US" sz="3200" dirty="0">
                <a:solidFill>
                  <a:srgbClr val="000000"/>
                </a:solidFill>
                <a:latin typeface="Times New Roman" panose="02020603050405020304" pitchFamily="18" charset="0"/>
                <a:cs typeface="Times New Roman" panose="02020603050405020304" pitchFamily="18" charset="0"/>
              </a:rPr>
              <a:t>– underlying ecological processes that make other services possible; services that are not directly consumed but are essential for food production and ecosystem stability (e.g. nutrient cycling, soil formation, photosynthesis, biodiversity maintenance).</a:t>
            </a:r>
          </a:p>
          <a:p>
            <a:pPr lvl="1" algn="just"/>
            <a:r>
              <a:rPr lang="en-US" sz="3200" dirty="0">
                <a:solidFill>
                  <a:srgbClr val="000000"/>
                </a:solidFill>
                <a:latin typeface="Times New Roman" panose="02020603050405020304" pitchFamily="18" charset="0"/>
                <a:cs typeface="Times New Roman" panose="02020603050405020304" pitchFamily="18" charset="0"/>
              </a:rPr>
              <a:t>4. </a:t>
            </a:r>
            <a:r>
              <a:rPr lang="en-US" sz="3200" b="1" dirty="0">
                <a:solidFill>
                  <a:srgbClr val="000000"/>
                </a:solidFill>
                <a:latin typeface="Times New Roman" panose="02020603050405020304" pitchFamily="18" charset="0"/>
                <a:cs typeface="Times New Roman" panose="02020603050405020304" pitchFamily="18" charset="0"/>
              </a:rPr>
              <a:t>Cultural services </a:t>
            </a:r>
            <a:r>
              <a:rPr lang="en-US" sz="3200" dirty="0">
                <a:solidFill>
                  <a:srgbClr val="000000"/>
                </a:solidFill>
                <a:latin typeface="Times New Roman" panose="02020603050405020304" pitchFamily="18" charset="0"/>
                <a:cs typeface="Times New Roman" panose="02020603050405020304" pitchFamily="18" charset="0"/>
              </a:rPr>
              <a:t>– recreation and tourism, spiritual values, educational and research opportunities, aesthetic enjoyment…e.g. national parks provide revenue and cultural identity)</a:t>
            </a:r>
          </a:p>
        </p:txBody>
      </p:sp>
    </p:spTree>
    <p:extLst>
      <p:ext uri="{BB962C8B-B14F-4D97-AF65-F5344CB8AC3E}">
        <p14:creationId xmlns:p14="http://schemas.microsoft.com/office/powerpoint/2010/main" val="24864371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FD5E6745-B914-4C3E-BA90-C4D9FDA4EFFE}"/>
              </a:ext>
            </a:extLst>
          </p:cNvPr>
          <p:cNvSpPr/>
          <p:nvPr/>
        </p:nvSpPr>
        <p:spPr>
          <a:xfrm>
            <a:off x="396041" y="362699"/>
            <a:ext cx="11277997" cy="4708981"/>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3200" b="1" dirty="0">
                <a:solidFill>
                  <a:srgbClr val="000000"/>
                </a:solidFill>
                <a:latin typeface="Times New Roman" panose="02020603050405020304" pitchFamily="18" charset="0"/>
                <a:cs typeface="Times New Roman" panose="02020603050405020304" pitchFamily="18" charset="0"/>
              </a:rPr>
              <a:t>ECOSYSTEM-BASED ADAPTATION (EBA)…</a:t>
            </a:r>
          </a:p>
          <a:p>
            <a:endParaRPr lang="en-US" sz="3200" b="1" dirty="0">
              <a:solidFill>
                <a:srgbClr val="000000"/>
              </a:solidFill>
              <a:latin typeface="Times New Roman" panose="02020603050405020304" pitchFamily="18" charset="0"/>
              <a:cs typeface="Times New Roman" panose="02020603050405020304" pitchFamily="18" charset="0"/>
            </a:endParaRPr>
          </a:p>
          <a:p>
            <a:endParaRPr lang="en-US" sz="3200" b="1" dirty="0">
              <a:solidFill>
                <a:srgbClr val="000000"/>
              </a:solidFill>
              <a:latin typeface="Times New Roman" panose="02020603050405020304" pitchFamily="18" charset="0"/>
              <a:cs typeface="Times New Roman" panose="02020603050405020304" pitchFamily="18" charset="0"/>
            </a:endParaRPr>
          </a:p>
          <a:p>
            <a:r>
              <a:rPr lang="en-US" sz="3200" b="1" dirty="0">
                <a:solidFill>
                  <a:srgbClr val="000000"/>
                </a:solidFill>
                <a:latin typeface="Times New Roman" panose="02020603050405020304" pitchFamily="18" charset="0"/>
                <a:cs typeface="Times New Roman" panose="02020603050405020304" pitchFamily="18" charset="0"/>
              </a:rPr>
              <a:t>Why Ecosystem Services Matter:</a:t>
            </a:r>
          </a:p>
          <a:p>
            <a:endParaRPr lang="en-US" sz="3200" b="1" dirty="0">
              <a:solidFill>
                <a:srgbClr val="00000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They support food security</a:t>
            </a:r>
          </a:p>
          <a:p>
            <a:pPr marL="457200" indent="-457200">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Reduce vulnerability to CC</a:t>
            </a:r>
          </a:p>
          <a:p>
            <a:pPr marL="457200" indent="-457200">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Sustain livelihoods (especially for smallholder farmers)</a:t>
            </a:r>
          </a:p>
          <a:p>
            <a:pPr marL="457200" indent="-457200">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Maintain biodiversity and resilience. </a:t>
            </a:r>
          </a:p>
        </p:txBody>
      </p:sp>
    </p:spTree>
    <p:extLst>
      <p:ext uri="{BB962C8B-B14F-4D97-AF65-F5344CB8AC3E}">
        <p14:creationId xmlns:p14="http://schemas.microsoft.com/office/powerpoint/2010/main" val="15506475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5770811"/>
          </a:xfrm>
          <a:prstGeom prst="rect">
            <a:avLst/>
          </a:prstGeom>
        </p:spPr>
        <p:txBody>
          <a:bodyPr wrap="square">
            <a:spAutoFit/>
          </a:bodyPr>
          <a:lstStyle/>
          <a:p>
            <a:endParaRPr lang="en-ZM" sz="1200" dirty="0">
              <a:solidFill>
                <a:srgbClr val="000000"/>
              </a:solidFill>
              <a:latin typeface="Tw Cen MT" panose="020B0602020104020603" pitchFamily="34" charset="0"/>
            </a:endParaRPr>
          </a:p>
          <a:p>
            <a:endParaRPr lang="en-ZM" sz="1200" dirty="0">
              <a:latin typeface="Tw Cen MT" panose="020B0602020104020603" pitchFamily="34" charset="0"/>
            </a:endParaRPr>
          </a:p>
          <a:p>
            <a:r>
              <a:rPr lang="en-US" sz="2900" b="1" dirty="0">
                <a:solidFill>
                  <a:srgbClr val="0070C0"/>
                </a:solidFill>
                <a:latin typeface="Times New Roman" panose="02020603050405020304" pitchFamily="18" charset="0"/>
                <a:cs typeface="Times New Roman" panose="02020603050405020304" pitchFamily="18" charset="0"/>
              </a:rPr>
              <a:t>COMMUNITY-BASED ADAPTATION (</a:t>
            </a:r>
            <a:r>
              <a:rPr lang="en-US" sz="3200" b="1" dirty="0">
                <a:solidFill>
                  <a:srgbClr val="0070C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endParaRPr lang="en-US" sz="2900" b="1"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CBA is a </a:t>
            </a:r>
            <a:r>
              <a:rPr lang="en-US" sz="2800" u="sng" dirty="0">
                <a:solidFill>
                  <a:srgbClr val="000000"/>
                </a:solidFill>
                <a:latin typeface="Times New Roman" panose="02020603050405020304" pitchFamily="18" charset="0"/>
                <a:cs typeface="Times New Roman" panose="02020603050405020304" pitchFamily="18" charset="0"/>
              </a:rPr>
              <a:t>locally-driven approach </a:t>
            </a:r>
            <a:r>
              <a:rPr lang="en-US" sz="2800" dirty="0">
                <a:solidFill>
                  <a:srgbClr val="000000"/>
                </a:solidFill>
                <a:latin typeface="Times New Roman" panose="02020603050405020304" pitchFamily="18" charset="0"/>
                <a:cs typeface="Times New Roman" panose="02020603050405020304" pitchFamily="18" charset="0"/>
              </a:rPr>
              <a:t>to climate change adaptation that empowers communities to be able to:</a:t>
            </a:r>
          </a:p>
          <a:p>
            <a:pPr marL="1371600" lvl="2" indent="-457200" algn="just">
              <a:buFont typeface="Wingdings" panose="05000000000000000000" pitchFamily="2" charset="2"/>
              <a:buChar char="ü"/>
            </a:pPr>
            <a:r>
              <a:rPr lang="en-US" sz="2800" dirty="0">
                <a:solidFill>
                  <a:srgbClr val="000000"/>
                </a:solidFill>
                <a:latin typeface="Times New Roman" panose="02020603050405020304" pitchFamily="18" charset="0"/>
                <a:cs typeface="Times New Roman" panose="02020603050405020304" pitchFamily="18" charset="0"/>
              </a:rPr>
              <a:t>Identify climate risks</a:t>
            </a:r>
          </a:p>
          <a:p>
            <a:pPr marL="1371600" lvl="2" indent="-457200" algn="just">
              <a:buFont typeface="Wingdings" panose="05000000000000000000" pitchFamily="2" charset="2"/>
              <a:buChar char="ü"/>
            </a:pPr>
            <a:r>
              <a:rPr lang="en-US" sz="2800" dirty="0">
                <a:solidFill>
                  <a:srgbClr val="000000"/>
                </a:solidFill>
                <a:latin typeface="Times New Roman" panose="02020603050405020304" pitchFamily="18" charset="0"/>
                <a:cs typeface="Times New Roman" panose="02020603050405020304" pitchFamily="18" charset="0"/>
              </a:rPr>
              <a:t>Use indigenous knowledge</a:t>
            </a:r>
          </a:p>
          <a:p>
            <a:pPr marL="1371600" lvl="2" indent="-457200" algn="just">
              <a:buFont typeface="Wingdings" panose="05000000000000000000" pitchFamily="2" charset="2"/>
              <a:buChar char="ü"/>
            </a:pPr>
            <a:r>
              <a:rPr lang="en-US" sz="2800" dirty="0">
                <a:solidFill>
                  <a:srgbClr val="000000"/>
                </a:solidFill>
                <a:latin typeface="Times New Roman" panose="02020603050405020304" pitchFamily="18" charset="0"/>
                <a:cs typeface="Times New Roman" panose="02020603050405020304" pitchFamily="18" charset="0"/>
              </a:rPr>
              <a:t>Design locally-appropriate solutions </a:t>
            </a:r>
          </a:p>
          <a:p>
            <a:pPr marL="1371600" lvl="2" indent="-457200" algn="just">
              <a:buFont typeface="Wingdings" panose="05000000000000000000" pitchFamily="2" charset="2"/>
              <a:buChar char="ü"/>
            </a:pPr>
            <a:r>
              <a:rPr lang="en-US" sz="2800" dirty="0">
                <a:solidFill>
                  <a:srgbClr val="000000"/>
                </a:solidFill>
                <a:latin typeface="Times New Roman" panose="02020603050405020304" pitchFamily="18" charset="0"/>
                <a:cs typeface="Times New Roman" panose="02020603050405020304" pitchFamily="18" charset="0"/>
              </a:rPr>
              <a:t>Strengthen collective resilience </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Thus, CBA emphasizes the importance of engaging local communities, especially vulnerable groups and people, in the adaptation process. </a:t>
            </a:r>
          </a:p>
          <a:p>
            <a:pPr marL="457200" indent="-457200" algn="just">
              <a:buFont typeface="Wingdings" panose="05000000000000000000" pitchFamily="2" charset="2"/>
              <a:buChar char="§"/>
            </a:pPr>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20017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3616375"/>
          </a:xfrm>
          <a:prstGeom prst="rect">
            <a:avLst/>
          </a:prstGeom>
        </p:spPr>
        <p:txBody>
          <a:bodyPr wrap="square">
            <a:spAutoFit/>
          </a:bodyPr>
          <a:lstStyle/>
          <a:p>
            <a:endParaRPr lang="en-ZM" sz="1200" dirty="0">
              <a:solidFill>
                <a:srgbClr val="000000"/>
              </a:solidFill>
              <a:latin typeface="Tw Cen MT" panose="020B0602020104020603" pitchFamily="34" charset="0"/>
            </a:endParaRPr>
          </a:p>
          <a:p>
            <a:endParaRPr lang="en-ZM" sz="1200" dirty="0">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endParaRPr lang="en-US" sz="2900" b="1"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In Zambia, CBA is particularly important in Regions I and II, which are highly drought-prone as most rural households in these regions depend on rainfed agriculture. </a:t>
            </a:r>
          </a:p>
          <a:p>
            <a:pPr marL="457200" indent="-457200" algn="just">
              <a:buFont typeface="Wingdings" panose="05000000000000000000" pitchFamily="2" charset="2"/>
              <a:buChar char="§"/>
            </a:pPr>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94015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6309420"/>
          </a:xfrm>
          <a:prstGeom prst="rect">
            <a:avLst/>
          </a:prstGeom>
        </p:spPr>
        <p:txBody>
          <a:bodyPr wrap="square">
            <a:spAutoFit/>
          </a:bodyPr>
          <a:lstStyle/>
          <a:p>
            <a:endParaRPr lang="en-ZM" sz="1200" dirty="0">
              <a:solidFill>
                <a:srgbClr val="000000"/>
              </a:solidFill>
              <a:latin typeface="Tw Cen MT" panose="020B0602020104020603" pitchFamily="34" charset="0"/>
            </a:endParaRPr>
          </a:p>
          <a:p>
            <a:endParaRPr lang="en-ZM" sz="1200" dirty="0">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algn="just"/>
            <a:r>
              <a:rPr lang="en-US" sz="3200" b="1" dirty="0">
                <a:solidFill>
                  <a:srgbClr val="000000"/>
                </a:solidFill>
                <a:latin typeface="Times New Roman" panose="02020603050405020304" pitchFamily="18" charset="0"/>
                <a:cs typeface="Times New Roman" panose="02020603050405020304" pitchFamily="18" charset="0"/>
              </a:rPr>
              <a:t>Why is CBA particularly important in Zambia?</a:t>
            </a: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marL="514350" indent="-514350" algn="just">
              <a:buAutoNum type="arabicPeriod"/>
            </a:pPr>
            <a:r>
              <a:rPr lang="en-US" sz="3200" b="1" dirty="0">
                <a:solidFill>
                  <a:srgbClr val="000000"/>
                </a:solidFill>
                <a:latin typeface="Times New Roman" panose="02020603050405020304" pitchFamily="18" charset="0"/>
                <a:cs typeface="Times New Roman" panose="02020603050405020304" pitchFamily="18" charset="0"/>
              </a:rPr>
              <a:t>High climate vulnerability – </a:t>
            </a:r>
            <a:r>
              <a:rPr lang="en-US" sz="3200" dirty="0">
                <a:solidFill>
                  <a:srgbClr val="000000"/>
                </a:solidFill>
                <a:latin typeface="Times New Roman" panose="02020603050405020304" pitchFamily="18" charset="0"/>
                <a:cs typeface="Times New Roman" panose="02020603050405020304" pitchFamily="18" charset="0"/>
              </a:rPr>
              <a:t>the country experiences increased drought occurrences, flash floods, shortened rainy seasons, and heat stress</a:t>
            </a:r>
          </a:p>
          <a:p>
            <a:pPr marL="514350" indent="-514350" algn="just">
              <a:buAutoNum type="arabicPeriod"/>
            </a:pPr>
            <a:r>
              <a:rPr lang="en-US" sz="3200" b="1" dirty="0">
                <a:solidFill>
                  <a:srgbClr val="000000"/>
                </a:solidFill>
                <a:latin typeface="Times New Roman" panose="02020603050405020304" pitchFamily="18" charset="0"/>
                <a:cs typeface="Times New Roman" panose="02020603050405020304" pitchFamily="18" charset="0"/>
              </a:rPr>
              <a:t>Heavy dependency on natural resources </a:t>
            </a:r>
            <a:r>
              <a:rPr lang="en-US" sz="3200" dirty="0">
                <a:solidFill>
                  <a:srgbClr val="000000"/>
                </a:solidFill>
                <a:latin typeface="Times New Roman" panose="02020603050405020304" pitchFamily="18" charset="0"/>
                <a:cs typeface="Times New Roman" panose="02020603050405020304" pitchFamily="18" charset="0"/>
              </a:rPr>
              <a:t>– most rural communities rely on rain-fed agriculture, forest products, fisheries, wetlands, etc. </a:t>
            </a:r>
            <a:endParaRPr lang="en-US" sz="2800"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85493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7909858"/>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pPr algn="just"/>
            <a:r>
              <a:rPr lang="en-US" sz="3200" b="1" dirty="0">
                <a:solidFill>
                  <a:srgbClr val="000000"/>
                </a:solidFill>
                <a:latin typeface="Times New Roman" panose="02020603050405020304" pitchFamily="18" charset="0"/>
                <a:cs typeface="Times New Roman" panose="02020603050405020304" pitchFamily="18" charset="0"/>
              </a:rPr>
              <a:t>Key features of CBA in Zambia:</a:t>
            </a:r>
          </a:p>
          <a:p>
            <a:pPr marL="914400" lvl="1" indent="-457200" algn="just">
              <a:buFont typeface="Courier New" panose="02070309020205020404" pitchFamily="49" charset="0"/>
              <a:buChar char="o"/>
            </a:pPr>
            <a:endParaRPr lang="en-US" sz="2800" u="sng"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r>
              <a:rPr lang="en-US" sz="2800" u="sng" dirty="0">
                <a:solidFill>
                  <a:srgbClr val="000000"/>
                </a:solidFill>
                <a:latin typeface="Times New Roman" panose="02020603050405020304" pitchFamily="18" charset="0"/>
                <a:cs typeface="Times New Roman" panose="02020603050405020304" pitchFamily="18" charset="0"/>
              </a:rPr>
              <a:t>Integration of indigenous knowledge </a:t>
            </a:r>
            <a:r>
              <a:rPr lang="en-US" sz="2800" b="1"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communities use local rainfall indicators (such as wind patterns, flowering of trees, bird behaviour), traditional seed varieties and landraces, as well as indigenous soil and water conservation practices. Blending scientific forecasts with local knowledge improves adaptation. </a:t>
            </a:r>
          </a:p>
          <a:p>
            <a:pPr marL="914400" lvl="1" indent="-457200" algn="just">
              <a:buFont typeface="Courier New" panose="02070309020205020404" pitchFamily="49" charset="0"/>
              <a:buChar char="o"/>
            </a:pPr>
            <a:r>
              <a:rPr lang="en-US" sz="2800" u="sng" dirty="0">
                <a:solidFill>
                  <a:srgbClr val="000000"/>
                </a:solidFill>
                <a:latin typeface="Times New Roman" panose="02020603050405020304" pitchFamily="18" charset="0"/>
                <a:cs typeface="Times New Roman" panose="02020603050405020304" pitchFamily="18" charset="0"/>
              </a:rPr>
              <a:t>Participatory planning structures </a:t>
            </a:r>
            <a:r>
              <a:rPr lang="en-US" sz="2800" dirty="0">
                <a:solidFill>
                  <a:srgbClr val="000000"/>
                </a:solidFill>
                <a:latin typeface="Times New Roman" panose="02020603050405020304" pitchFamily="18" charset="0"/>
                <a:cs typeface="Times New Roman" panose="02020603050405020304" pitchFamily="18" charset="0"/>
              </a:rPr>
              <a:t>– In Zambia, CBA often works through Ward Development Committees (WDCs), District Climate Change Committees (DCCCs), and Community Development Committees (CDCs). These ensure ownership and accountability. </a:t>
            </a:r>
          </a:p>
          <a:p>
            <a:pPr marL="914400" lvl="1" indent="-457200" algn="just">
              <a:buFont typeface="Courier New" panose="02070309020205020404" pitchFamily="49" charset="0"/>
              <a:buChar char="o"/>
            </a:pPr>
            <a:endParaRPr lang="en-US" sz="2800"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endParaRPr lang="en-US" sz="3200" dirty="0">
              <a:solidFill>
                <a:srgbClr val="000000"/>
              </a:solidFill>
              <a:latin typeface="Times New Roman" panose="02020603050405020304" pitchFamily="18" charset="0"/>
              <a:cs typeface="Times New Roman" panose="02020603050405020304" pitchFamily="18" charset="0"/>
            </a:endParaRP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algn="just"/>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77777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5386090"/>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pPr algn="just"/>
            <a:r>
              <a:rPr lang="en-US" sz="3200" b="1" dirty="0">
                <a:solidFill>
                  <a:srgbClr val="000000"/>
                </a:solidFill>
                <a:latin typeface="Times New Roman" panose="02020603050405020304" pitchFamily="18" charset="0"/>
                <a:cs typeface="Times New Roman" panose="02020603050405020304" pitchFamily="18" charset="0"/>
              </a:rPr>
              <a:t>Key features of CBA in Zambia:</a:t>
            </a: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r>
              <a:rPr lang="en-US" sz="2800" u="sng" dirty="0">
                <a:solidFill>
                  <a:srgbClr val="000000"/>
                </a:solidFill>
                <a:latin typeface="Times New Roman" panose="02020603050405020304" pitchFamily="18" charset="0"/>
                <a:cs typeface="Times New Roman" panose="02020603050405020304" pitchFamily="18" charset="0"/>
              </a:rPr>
              <a:t>Ecosystem-based approaches </a:t>
            </a:r>
            <a:r>
              <a:rPr lang="en-US" sz="2800" dirty="0">
                <a:solidFill>
                  <a:srgbClr val="000000"/>
                </a:solidFill>
                <a:latin typeface="Times New Roman" panose="02020603050405020304" pitchFamily="18" charset="0"/>
                <a:cs typeface="Times New Roman" panose="02020603050405020304" pitchFamily="18" charset="0"/>
              </a:rPr>
              <a:t>– most CBA initiatives integrate ecosystem restoration such as agroforestry, afforestation, reforestation, CA, wetland protection. </a:t>
            </a:r>
          </a:p>
          <a:p>
            <a:pPr marL="914400" lvl="1" indent="-457200" algn="just">
              <a:buFont typeface="Courier New" panose="02070309020205020404" pitchFamily="49" charset="0"/>
              <a:buChar char="o"/>
            </a:pPr>
            <a:endParaRPr lang="en-US" sz="2800"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endParaRPr lang="en-US" sz="3200" dirty="0">
              <a:solidFill>
                <a:srgbClr val="000000"/>
              </a:solidFill>
              <a:latin typeface="Times New Roman" panose="02020603050405020304" pitchFamily="18" charset="0"/>
              <a:cs typeface="Times New Roman" panose="02020603050405020304" pitchFamily="18" charset="0"/>
            </a:endParaRP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algn="just"/>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87172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7109639"/>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pPr algn="just"/>
            <a:r>
              <a:rPr lang="en-US" sz="3200" b="1" dirty="0">
                <a:solidFill>
                  <a:srgbClr val="000000"/>
                </a:solidFill>
                <a:latin typeface="Times New Roman" panose="02020603050405020304" pitchFamily="18" charset="0"/>
                <a:cs typeface="Times New Roman" panose="02020603050405020304" pitchFamily="18" charset="0"/>
              </a:rPr>
              <a:t>Examples of CBA interventions in Zambia:</a:t>
            </a: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r>
              <a:rPr lang="en-US" sz="2800" u="sng" dirty="0">
                <a:solidFill>
                  <a:srgbClr val="000000"/>
                </a:solidFill>
                <a:latin typeface="Times New Roman" panose="02020603050405020304" pitchFamily="18" charset="0"/>
                <a:cs typeface="Times New Roman" panose="02020603050405020304" pitchFamily="18" charset="0"/>
              </a:rPr>
              <a:t>Agroecology</a:t>
            </a:r>
            <a:r>
              <a:rPr lang="en-US" sz="2800" dirty="0">
                <a:solidFill>
                  <a:srgbClr val="000000"/>
                </a:solidFill>
                <a:latin typeface="Times New Roman" panose="02020603050405020304" pitchFamily="18" charset="0"/>
                <a:cs typeface="Times New Roman" panose="02020603050405020304" pitchFamily="18" charset="0"/>
              </a:rPr>
              <a:t>– promoted by NGOs and the government (Ministry of Agriculture, Ministry of Green Economy and Environment) to promote soil moisture retention, resilience, linkage to markets, and gender inclusion. </a:t>
            </a:r>
          </a:p>
          <a:p>
            <a:pPr marL="914400" lvl="1" indent="-457200" algn="just">
              <a:buFont typeface="Courier New" panose="02070309020205020404" pitchFamily="49" charset="0"/>
              <a:buChar char="o"/>
            </a:pPr>
            <a:r>
              <a:rPr lang="en-US" sz="2800" u="sng" dirty="0">
                <a:solidFill>
                  <a:srgbClr val="000000"/>
                </a:solidFill>
                <a:latin typeface="Times New Roman" panose="02020603050405020304" pitchFamily="18" charset="0"/>
                <a:cs typeface="Times New Roman" panose="02020603050405020304" pitchFamily="18" charset="0"/>
              </a:rPr>
              <a:t>Famer field schools (FFS) </a:t>
            </a:r>
            <a:r>
              <a:rPr lang="en-US" sz="2800" dirty="0">
                <a:solidFill>
                  <a:srgbClr val="000000"/>
                </a:solidFill>
                <a:latin typeface="Times New Roman" panose="02020603050405020304" pitchFamily="18" charset="0"/>
                <a:cs typeface="Times New Roman" panose="02020603050405020304" pitchFamily="18" charset="0"/>
              </a:rPr>
              <a:t>– enables farmers to experiment with climate resilient practices. </a:t>
            </a:r>
          </a:p>
          <a:p>
            <a:pPr marL="914400" lvl="1" indent="-457200" algn="just">
              <a:buFont typeface="Courier New" panose="02070309020205020404" pitchFamily="49" charset="0"/>
              <a:buChar char="o"/>
            </a:pPr>
            <a:r>
              <a:rPr lang="en-US" sz="2800" u="sng" dirty="0">
                <a:solidFill>
                  <a:srgbClr val="000000"/>
                </a:solidFill>
                <a:latin typeface="Times New Roman" panose="02020603050405020304" pitchFamily="18" charset="0"/>
                <a:cs typeface="Times New Roman" panose="02020603050405020304" pitchFamily="18" charset="0"/>
              </a:rPr>
              <a:t>Community seed banks </a:t>
            </a:r>
            <a:r>
              <a:rPr lang="en-US" sz="2800" dirty="0">
                <a:solidFill>
                  <a:srgbClr val="000000"/>
                </a:solidFill>
                <a:latin typeface="Times New Roman" panose="02020603050405020304" pitchFamily="18" charset="0"/>
                <a:cs typeface="Times New Roman" panose="02020603050405020304" pitchFamily="18" charset="0"/>
              </a:rPr>
              <a:t>– help to conserve drought, pest and disease-tolerant local crop varieties and enhance seed security</a:t>
            </a:r>
          </a:p>
          <a:p>
            <a:pPr marL="914400" lvl="1" indent="-457200" algn="just">
              <a:buFont typeface="Courier New" panose="02070309020205020404" pitchFamily="49" charset="0"/>
              <a:buChar char="o"/>
            </a:pPr>
            <a:endParaRPr lang="en-US" sz="3200" dirty="0">
              <a:solidFill>
                <a:srgbClr val="000000"/>
              </a:solidFill>
              <a:latin typeface="Times New Roman" panose="02020603050405020304" pitchFamily="18" charset="0"/>
              <a:cs typeface="Times New Roman" panose="02020603050405020304" pitchFamily="18" charset="0"/>
            </a:endParaRP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algn="just"/>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70891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4893647"/>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pPr algn="just"/>
            <a:r>
              <a:rPr lang="en-US" sz="3200" b="1" dirty="0">
                <a:solidFill>
                  <a:srgbClr val="000000"/>
                </a:solidFill>
                <a:latin typeface="Times New Roman" panose="02020603050405020304" pitchFamily="18" charset="0"/>
                <a:cs typeface="Times New Roman" panose="02020603050405020304" pitchFamily="18" charset="0"/>
              </a:rPr>
              <a:t>Examples of CBA interventions in Zambia:</a:t>
            </a: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r>
              <a:rPr lang="en-US" sz="2800" u="sng" dirty="0">
                <a:solidFill>
                  <a:srgbClr val="000000"/>
                </a:solidFill>
                <a:latin typeface="Times New Roman" panose="02020603050405020304" pitchFamily="18" charset="0"/>
                <a:cs typeface="Times New Roman" panose="02020603050405020304" pitchFamily="18" charset="0"/>
              </a:rPr>
              <a:t>Water harvesting projects</a:t>
            </a:r>
            <a:r>
              <a:rPr lang="en-US" sz="2800" dirty="0">
                <a:solidFill>
                  <a:srgbClr val="000000"/>
                </a:solidFill>
                <a:latin typeface="Times New Roman" panose="02020603050405020304" pitchFamily="18" charset="0"/>
                <a:cs typeface="Times New Roman" panose="02020603050405020304" pitchFamily="18" charset="0"/>
              </a:rPr>
              <a:t>– check dams (e.g. in </a:t>
            </a:r>
            <a:r>
              <a:rPr lang="en-US" sz="2800" dirty="0" err="1">
                <a:solidFill>
                  <a:srgbClr val="000000"/>
                </a:solidFill>
                <a:latin typeface="Times New Roman" panose="02020603050405020304" pitchFamily="18" charset="0"/>
                <a:cs typeface="Times New Roman" panose="02020603050405020304" pitchFamily="18" charset="0"/>
              </a:rPr>
              <a:t>Magoye</a:t>
            </a:r>
            <a:r>
              <a:rPr lang="en-US" sz="2800" dirty="0">
                <a:solidFill>
                  <a:srgbClr val="000000"/>
                </a:solidFill>
                <a:latin typeface="Times New Roman" panose="02020603050405020304" pitchFamily="18" charset="0"/>
                <a:cs typeface="Times New Roman" panose="02020603050405020304" pitchFamily="18" charset="0"/>
              </a:rPr>
              <a:t>), small irrigation schemes</a:t>
            </a:r>
          </a:p>
          <a:p>
            <a:pPr marL="914400" lvl="1" indent="-457200" algn="just">
              <a:buFont typeface="Courier New" panose="02070309020205020404" pitchFamily="49" charset="0"/>
              <a:buChar char="o"/>
            </a:pPr>
            <a:r>
              <a:rPr lang="en-US" sz="2800" u="sng" dirty="0">
                <a:solidFill>
                  <a:srgbClr val="000000"/>
                </a:solidFill>
                <a:latin typeface="Times New Roman" panose="02020603050405020304" pitchFamily="18" charset="0"/>
                <a:cs typeface="Times New Roman" panose="02020603050405020304" pitchFamily="18" charset="0"/>
              </a:rPr>
              <a:t>Alternative livelihoods </a:t>
            </a:r>
            <a:r>
              <a:rPr lang="en-US" sz="2800" dirty="0">
                <a:solidFill>
                  <a:srgbClr val="000000"/>
                </a:solidFill>
                <a:latin typeface="Times New Roman" panose="02020603050405020304" pitchFamily="18" charset="0"/>
                <a:cs typeface="Times New Roman" panose="02020603050405020304" pitchFamily="18" charset="0"/>
              </a:rPr>
              <a:t>– bee keeping, village savings and loan groups (e.g. village banking schemes), agro-processing </a:t>
            </a:r>
            <a:endParaRPr lang="en-US" sz="3200" dirty="0">
              <a:solidFill>
                <a:srgbClr val="000000"/>
              </a:solidFill>
              <a:latin typeface="Times New Roman" panose="02020603050405020304" pitchFamily="18" charset="0"/>
              <a:cs typeface="Times New Roman" panose="02020603050405020304" pitchFamily="18" charset="0"/>
            </a:endParaRP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algn="just"/>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0786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5816977"/>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pPr algn="just"/>
            <a:r>
              <a:rPr lang="en-US" sz="3200" b="1" dirty="0">
                <a:solidFill>
                  <a:srgbClr val="000000"/>
                </a:solidFill>
                <a:latin typeface="Times New Roman" panose="02020603050405020304" pitchFamily="18" charset="0"/>
                <a:cs typeface="Times New Roman" panose="02020603050405020304" pitchFamily="18" charset="0"/>
              </a:rPr>
              <a:t>Strengths of CBA in Zambia:</a:t>
            </a: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Builds local ownership</a:t>
            </a: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Incorporates local knowledge</a:t>
            </a: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Enhances social cohesion</a:t>
            </a: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Improves gender inclusion (when well-designed)</a:t>
            </a: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Its cost-effective, compared to top-down approaches</a:t>
            </a:r>
          </a:p>
          <a:p>
            <a:pPr marL="914400" lvl="1" indent="-457200" algn="just">
              <a:buFont typeface="Courier New" panose="02070309020205020404" pitchFamily="49" charset="0"/>
              <a:buChar char="o"/>
            </a:pPr>
            <a:endParaRPr lang="en-US" sz="3200" dirty="0">
              <a:solidFill>
                <a:srgbClr val="000000"/>
              </a:solidFill>
              <a:latin typeface="Times New Roman" panose="02020603050405020304" pitchFamily="18" charset="0"/>
              <a:cs typeface="Times New Roman" panose="02020603050405020304" pitchFamily="18" charset="0"/>
            </a:endParaRP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algn="just"/>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87886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5816977"/>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pPr algn="just"/>
            <a:r>
              <a:rPr lang="en-US" sz="3200" b="1" dirty="0">
                <a:solidFill>
                  <a:srgbClr val="000000"/>
                </a:solidFill>
                <a:latin typeface="Times New Roman" panose="02020603050405020304" pitchFamily="18" charset="0"/>
                <a:cs typeface="Times New Roman" panose="02020603050405020304" pitchFamily="18" charset="0"/>
              </a:rPr>
              <a:t>Key challenges associated with CBA in Zambia:</a:t>
            </a: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Limited funding at district level</a:t>
            </a: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Weak technical capacity in some districts</a:t>
            </a: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Climate information is not always </a:t>
            </a:r>
            <a:r>
              <a:rPr lang="en-US" sz="2800" dirty="0" err="1">
                <a:solidFill>
                  <a:srgbClr val="000000"/>
                </a:solidFill>
                <a:latin typeface="Times New Roman" panose="02020603050405020304" pitchFamily="18" charset="0"/>
                <a:cs typeface="Times New Roman" panose="02020603050405020304" pitchFamily="18" charset="0"/>
              </a:rPr>
              <a:t>localised</a:t>
            </a:r>
            <a:endParaRPr lang="en-US" sz="2800"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Dependency on donor-funded projects</a:t>
            </a: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Limited monitoring and evaluation systems.</a:t>
            </a:r>
          </a:p>
          <a:p>
            <a:pPr marL="914400" lvl="1" indent="-457200" algn="just">
              <a:buFont typeface="Courier New" panose="02070309020205020404" pitchFamily="49" charset="0"/>
              <a:buChar char="o"/>
            </a:pPr>
            <a:endParaRPr lang="en-US" sz="3200" dirty="0">
              <a:solidFill>
                <a:srgbClr val="000000"/>
              </a:solidFill>
              <a:latin typeface="Times New Roman" panose="02020603050405020304" pitchFamily="18" charset="0"/>
              <a:cs typeface="Times New Roman" panose="02020603050405020304" pitchFamily="18" charset="0"/>
            </a:endParaRP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algn="just"/>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00141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5447645"/>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pPr algn="just"/>
            <a:r>
              <a:rPr lang="en-US" sz="3200" b="1" dirty="0">
                <a:solidFill>
                  <a:srgbClr val="000000"/>
                </a:solidFill>
                <a:latin typeface="Times New Roman" panose="02020603050405020304" pitchFamily="18" charset="0"/>
                <a:cs typeface="Times New Roman" panose="02020603050405020304" pitchFamily="18" charset="0"/>
              </a:rPr>
              <a:t>Gender and Social Inclusion in CBA – in Zambia:</a:t>
            </a: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Women, youth, the elderly, and differently-abled persons are often vulnerable to climate impacts but have limited access to land, credit and extension services</a:t>
            </a:r>
          </a:p>
          <a:p>
            <a:pPr marL="914400" lvl="1" indent="-457200" algn="just">
              <a:buFont typeface="Courier New" panose="02070309020205020404" pitchFamily="49" charset="0"/>
              <a:buChar char="o"/>
            </a:pPr>
            <a:r>
              <a:rPr lang="en-US" sz="2800" dirty="0">
                <a:solidFill>
                  <a:srgbClr val="000000"/>
                </a:solidFill>
                <a:latin typeface="Times New Roman" panose="02020603050405020304" pitchFamily="18" charset="0"/>
                <a:cs typeface="Times New Roman" panose="02020603050405020304" pitchFamily="18" charset="0"/>
              </a:rPr>
              <a:t>Effective CBA must intentionally integrate gender-responsive and inclusive approaches</a:t>
            </a: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algn="just"/>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8013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D0ED94E4-8E0F-4101-AF96-37EDF32A1E18}"/>
              </a:ext>
            </a:extLst>
          </p:cNvPr>
          <p:cNvSpPr/>
          <p:nvPr/>
        </p:nvSpPr>
        <p:spPr>
          <a:xfrm>
            <a:off x="623455" y="72221"/>
            <a:ext cx="10964487" cy="6124754"/>
          </a:xfrm>
          <a:prstGeom prst="rect">
            <a:avLst/>
          </a:prstGeom>
        </p:spPr>
        <p:txBody>
          <a:bodyPr wrap="square">
            <a:spAutoFit/>
          </a:bodyPr>
          <a:lstStyle/>
          <a:p>
            <a:endParaRPr lang="en-ZM" sz="1200" dirty="0">
              <a:solidFill>
                <a:srgbClr val="000000"/>
              </a:solidFill>
              <a:latin typeface="Tw Cen MT" panose="020B0602020104020603" pitchFamily="34" charset="0"/>
            </a:endParaRPr>
          </a:p>
          <a:p>
            <a:r>
              <a:rPr lang="en-US" sz="2900" b="1" dirty="0">
                <a:solidFill>
                  <a:srgbClr val="000000"/>
                </a:solidFill>
                <a:latin typeface="Times New Roman" panose="02020603050405020304" pitchFamily="18" charset="0"/>
                <a:cs typeface="Times New Roman" panose="02020603050405020304" pitchFamily="18" charset="0"/>
              </a:rPr>
              <a:t>COMMUNITY-BASED ADAPTATION (</a:t>
            </a:r>
            <a:r>
              <a:rPr lang="en-US" sz="3200" b="1" dirty="0">
                <a:solidFill>
                  <a:srgbClr val="000000"/>
                </a:solidFill>
                <a:latin typeface="Times New Roman" panose="02020603050405020304" pitchFamily="18" charset="0"/>
                <a:cs typeface="Times New Roman" panose="02020603050405020304" pitchFamily="18" charset="0"/>
              </a:rPr>
              <a:t>CBA)….</a:t>
            </a:r>
          </a:p>
          <a:p>
            <a:endParaRPr lang="en-US" sz="3200" b="1" dirty="0">
              <a:solidFill>
                <a:srgbClr val="000000"/>
              </a:solidFill>
              <a:latin typeface="Times New Roman" panose="02020603050405020304" pitchFamily="18" charset="0"/>
              <a:cs typeface="Times New Roman" panose="02020603050405020304" pitchFamily="18" charset="0"/>
            </a:endParaRPr>
          </a:p>
          <a:p>
            <a:pPr algn="just"/>
            <a:r>
              <a:rPr lang="en-US" sz="3200" b="1" dirty="0">
                <a:solidFill>
                  <a:srgbClr val="000000"/>
                </a:solidFill>
                <a:latin typeface="Times New Roman" panose="02020603050405020304" pitchFamily="18" charset="0"/>
                <a:cs typeface="Times New Roman" panose="02020603050405020304" pitchFamily="18" charset="0"/>
              </a:rPr>
              <a:t>Policy and Institutional Context – the case of Zambia:</a:t>
            </a:r>
          </a:p>
          <a:p>
            <a:pPr algn="just"/>
            <a:endParaRPr lang="en-US" sz="3200" b="1"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CBA aligns with Zambia’s:</a:t>
            </a:r>
          </a:p>
          <a:p>
            <a:pPr marL="1371600" lvl="2" indent="-4572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Ministry of Green Economy and Environment climate coordination role</a:t>
            </a:r>
          </a:p>
          <a:p>
            <a:pPr marL="1371600" lvl="2" indent="-4572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National Climate Change Policy</a:t>
            </a:r>
          </a:p>
          <a:p>
            <a:pPr marL="1371600" lvl="2" indent="-457200" algn="just">
              <a:buFont typeface="Wingdings" panose="05000000000000000000" pitchFamily="2" charset="2"/>
              <a:buChar char="ü"/>
            </a:pPr>
            <a:r>
              <a:rPr lang="en-US" sz="3200" dirty="0">
                <a:solidFill>
                  <a:srgbClr val="000000"/>
                </a:solidFill>
                <a:latin typeface="Times New Roman" panose="02020603050405020304" pitchFamily="18" charset="0"/>
                <a:cs typeface="Times New Roman" panose="02020603050405020304" pitchFamily="18" charset="0"/>
              </a:rPr>
              <a:t>Nationally-determined contributions (NDCs)</a:t>
            </a:r>
          </a:p>
          <a:p>
            <a:pPr marL="457200" indent="-457200" algn="just">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Decentralization policies have enabled district-level adaptation planning.</a:t>
            </a:r>
          </a:p>
          <a:p>
            <a:pPr algn="just"/>
            <a:endParaRPr 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39989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2" name="Rectangle 1">
            <a:extLst>
              <a:ext uri="{FF2B5EF4-FFF2-40B4-BE49-F238E27FC236}">
                <a16:creationId xmlns:a16="http://schemas.microsoft.com/office/drawing/2014/main" id="{6DC6877A-3BA2-48E0-AE4B-016BA42DE564}"/>
              </a:ext>
            </a:extLst>
          </p:cNvPr>
          <p:cNvSpPr/>
          <p:nvPr/>
        </p:nvSpPr>
        <p:spPr>
          <a:xfrm>
            <a:off x="1168099" y="1808383"/>
            <a:ext cx="10544534" cy="3724096"/>
          </a:xfrm>
          <a:prstGeom prst="rect">
            <a:avLst/>
          </a:prstGeom>
        </p:spPr>
        <p:txBody>
          <a:bodyPr wrap="square">
            <a:spAutoFit/>
          </a:bodyPr>
          <a:lstStyle/>
          <a:p>
            <a:endParaRPr lang="en-ZM" sz="1200" dirty="0">
              <a:solidFill>
                <a:srgbClr val="000000"/>
              </a:solidFill>
              <a:latin typeface="Tw Cen MT" panose="020B0602020104020603" pitchFamily="34" charset="0"/>
            </a:endParaRP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LD is most applicable at community and household level. </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Its goal is to create an environment that enables people to shift to additional sources of incomes while maintaining a certain level of living quality.</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inclusion of women, youths, the differently-abled and inclusiveness of NAPs can assist economic growth and increase the income of vulnerable people.</a:t>
            </a:r>
          </a:p>
          <a:p>
            <a:pPr marL="457200" indent="-457200" algn="just">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LD is usually linked to CBA programs and strategies</a:t>
            </a:r>
          </a:p>
        </p:txBody>
      </p:sp>
      <p:sp>
        <p:nvSpPr>
          <p:cNvPr id="3" name="Rectangle 2">
            <a:extLst>
              <a:ext uri="{FF2B5EF4-FFF2-40B4-BE49-F238E27FC236}">
                <a16:creationId xmlns:a16="http://schemas.microsoft.com/office/drawing/2014/main" id="{D7827255-BC28-42EB-8C4D-94B2219A98D3}"/>
              </a:ext>
            </a:extLst>
          </p:cNvPr>
          <p:cNvSpPr/>
          <p:nvPr/>
        </p:nvSpPr>
        <p:spPr>
          <a:xfrm>
            <a:off x="1168099" y="407975"/>
            <a:ext cx="7661072" cy="584775"/>
          </a:xfrm>
          <a:prstGeom prst="rect">
            <a:avLst/>
          </a:prstGeom>
        </p:spPr>
        <p:txBody>
          <a:bodyPr wrap="none">
            <a:spAutoFit/>
          </a:bodyPr>
          <a:lstStyle/>
          <a:p>
            <a:pPr lvl="0"/>
            <a:r>
              <a:rPr lang="en-US" sz="3200" b="1" dirty="0">
                <a:solidFill>
                  <a:srgbClr val="000000"/>
                </a:solidFill>
                <a:latin typeface="Times New Roman" panose="02020603050405020304" pitchFamily="18" charset="0"/>
                <a:cs typeface="Times New Roman" panose="02020603050405020304" pitchFamily="18" charset="0"/>
              </a:rPr>
              <a:t>LIVELIHOOD DIVERSIFICATION (LD)</a:t>
            </a:r>
          </a:p>
        </p:txBody>
      </p:sp>
    </p:spTree>
    <p:extLst>
      <p:ext uri="{BB962C8B-B14F-4D97-AF65-F5344CB8AC3E}">
        <p14:creationId xmlns:p14="http://schemas.microsoft.com/office/powerpoint/2010/main" val="41238238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sp>
        <p:nvSpPr>
          <p:cNvPr id="3" name="Rectangle 2">
            <a:extLst>
              <a:ext uri="{FF2B5EF4-FFF2-40B4-BE49-F238E27FC236}">
                <a16:creationId xmlns:a16="http://schemas.microsoft.com/office/drawing/2014/main" id="{E29EF55E-0254-4EA8-BB08-DB1DD077B8EA}"/>
              </a:ext>
            </a:extLst>
          </p:cNvPr>
          <p:cNvSpPr/>
          <p:nvPr/>
        </p:nvSpPr>
        <p:spPr>
          <a:xfrm>
            <a:off x="667789" y="146394"/>
            <a:ext cx="10856422" cy="5093702"/>
          </a:xfrm>
          <a:prstGeom prst="rect">
            <a:avLst/>
          </a:prstGeom>
        </p:spPr>
        <p:txBody>
          <a:bodyPr wrap="square">
            <a:spAutoFit/>
          </a:bodyPr>
          <a:lstStyle/>
          <a:p>
            <a:r>
              <a:rPr lang="en-US" sz="3600" b="1" dirty="0">
                <a:solidFill>
                  <a:srgbClr val="373545"/>
                </a:solidFill>
                <a:latin typeface="Times New Roman" panose="02020603050405020304" pitchFamily="18" charset="0"/>
                <a:cs typeface="Times New Roman" panose="02020603050405020304" pitchFamily="18" charset="0"/>
              </a:rPr>
              <a:t>FACTORS THAT HELP BUILD RESILIENCE</a:t>
            </a:r>
          </a:p>
          <a:p>
            <a:r>
              <a:rPr lang="en-US" sz="1700" dirty="0">
                <a:solidFill>
                  <a:srgbClr val="57B6C0"/>
                </a:solidFill>
                <a:latin typeface="Times New Roman" panose="02020603050405020304" pitchFamily="18" charset="0"/>
                <a:cs typeface="Times New Roman" panose="02020603050405020304" pitchFamily="18" charset="0"/>
              </a:rPr>
              <a:t></a:t>
            </a:r>
            <a:r>
              <a:rPr lang="en-US" sz="2900" dirty="0" err="1">
                <a:solidFill>
                  <a:srgbClr val="000000"/>
                </a:solidFill>
                <a:latin typeface="Times New Roman" panose="02020603050405020304" pitchFamily="18" charset="0"/>
                <a:cs typeface="Times New Roman" panose="02020603050405020304" pitchFamily="18" charset="0"/>
              </a:rPr>
              <a:t>Colding</a:t>
            </a:r>
            <a:r>
              <a:rPr lang="en-US" sz="2900" dirty="0">
                <a:solidFill>
                  <a:srgbClr val="000000"/>
                </a:solidFill>
                <a:latin typeface="Times New Roman" panose="02020603050405020304" pitchFamily="18" charset="0"/>
                <a:cs typeface="Times New Roman" panose="02020603050405020304" pitchFamily="18" charset="0"/>
              </a:rPr>
              <a:t> and </a:t>
            </a:r>
            <a:r>
              <a:rPr lang="en-US" sz="2900" dirty="0" err="1">
                <a:solidFill>
                  <a:srgbClr val="000000"/>
                </a:solidFill>
                <a:latin typeface="Times New Roman" panose="02020603050405020304" pitchFamily="18" charset="0"/>
                <a:cs typeface="Times New Roman" panose="02020603050405020304" pitchFamily="18" charset="0"/>
              </a:rPr>
              <a:t>Berkes</a:t>
            </a:r>
            <a:r>
              <a:rPr lang="en-US" sz="2900" dirty="0">
                <a:solidFill>
                  <a:srgbClr val="000000"/>
                </a:solidFill>
                <a:latin typeface="Times New Roman" panose="02020603050405020304" pitchFamily="18" charset="0"/>
                <a:cs typeface="Times New Roman" panose="02020603050405020304" pitchFamily="18" charset="0"/>
              </a:rPr>
              <a:t> (2003) </a:t>
            </a:r>
          </a:p>
          <a:p>
            <a:endParaRPr lang="en-US" sz="2600" b="1" i="1" dirty="0">
              <a:solidFill>
                <a:srgbClr val="3493B9"/>
              </a:solidFill>
              <a:latin typeface="Times New Roman" panose="02020603050405020304" pitchFamily="18" charset="0"/>
              <a:cs typeface="Times New Roman" panose="02020603050405020304" pitchFamily="18" charset="0"/>
            </a:endParaRPr>
          </a:p>
          <a:p>
            <a:pPr algn="just"/>
            <a:endParaRPr lang="en-US" sz="2600" b="1" i="1" dirty="0">
              <a:solidFill>
                <a:srgbClr val="3493B9"/>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en-US" sz="2600" b="1" i="1" dirty="0">
                <a:solidFill>
                  <a:srgbClr val="000000"/>
                </a:solidFill>
                <a:latin typeface="Times New Roman" panose="02020603050405020304" pitchFamily="18" charset="0"/>
                <a:cs typeface="Times New Roman" panose="02020603050405020304" pitchFamily="18" charset="0"/>
              </a:rPr>
              <a:t>learning to live with change and uncertainty</a:t>
            </a:r>
            <a:r>
              <a:rPr lang="en-US" sz="2600" dirty="0">
                <a:solidFill>
                  <a:srgbClr val="000000"/>
                </a:solidFill>
                <a:latin typeface="Times New Roman" panose="02020603050405020304" pitchFamily="18" charset="0"/>
                <a:cs typeface="Times New Roman" panose="02020603050405020304" pitchFamily="18" charset="0"/>
              </a:rPr>
              <a:t>, such as learning from crises and developing coping strategies </a:t>
            </a:r>
          </a:p>
          <a:p>
            <a:pPr marL="457200" indent="-457200" algn="just">
              <a:buFont typeface="Wingdings" panose="05000000000000000000" pitchFamily="2" charset="2"/>
              <a:buChar char="§"/>
            </a:pPr>
            <a:r>
              <a:rPr lang="en-US" sz="2600" b="1" i="1" dirty="0">
                <a:solidFill>
                  <a:srgbClr val="000000"/>
                </a:solidFill>
                <a:latin typeface="Times New Roman" panose="02020603050405020304" pitchFamily="18" charset="0"/>
                <a:cs typeface="Times New Roman" panose="02020603050405020304" pitchFamily="18" charset="0"/>
              </a:rPr>
              <a:t>nurturing diversity in its various forms</a:t>
            </a:r>
            <a:r>
              <a:rPr lang="en-US" sz="2600" dirty="0">
                <a:solidFill>
                  <a:srgbClr val="000000"/>
                </a:solidFill>
                <a:latin typeface="Times New Roman" panose="02020603050405020304" pitchFamily="18" charset="0"/>
                <a:cs typeface="Times New Roman" panose="02020603050405020304" pitchFamily="18" charset="0"/>
              </a:rPr>
              <a:t>, such as nurturing a diversity of institutions to respond to change and creating political space for experimentation</a:t>
            </a:r>
          </a:p>
          <a:p>
            <a:pPr marL="457200" indent="-457200" algn="just">
              <a:buFont typeface="Wingdings" panose="05000000000000000000" pitchFamily="2" charset="2"/>
              <a:buChar char="§"/>
            </a:pPr>
            <a:r>
              <a:rPr lang="en-US" sz="2600" b="1" i="1" dirty="0">
                <a:solidFill>
                  <a:srgbClr val="000000"/>
                </a:solidFill>
                <a:latin typeface="Times New Roman" panose="02020603050405020304" pitchFamily="18" charset="0"/>
                <a:cs typeface="Times New Roman" panose="02020603050405020304" pitchFamily="18" charset="0"/>
              </a:rPr>
              <a:t>combining different types of knowledge for learning</a:t>
            </a:r>
            <a:r>
              <a:rPr lang="en-US" sz="2600" dirty="0">
                <a:solidFill>
                  <a:srgbClr val="000000"/>
                </a:solidFill>
                <a:latin typeface="Times New Roman" panose="02020603050405020304" pitchFamily="18" charset="0"/>
                <a:cs typeface="Times New Roman" panose="02020603050405020304" pitchFamily="18" charset="0"/>
              </a:rPr>
              <a:t>, such as building capacity to monitor the environment and building capacity for participatory management </a:t>
            </a:r>
          </a:p>
        </p:txBody>
      </p:sp>
    </p:spTree>
    <p:extLst>
      <p:ext uri="{BB962C8B-B14F-4D97-AF65-F5344CB8AC3E}">
        <p14:creationId xmlns:p14="http://schemas.microsoft.com/office/powerpoint/2010/main" val="35493240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6084278"/>
            <a:ext cx="9012115" cy="80889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6084278"/>
            <a:ext cx="9144000" cy="791307"/>
          </a:xfrm>
          <a:prstGeom prst="rect">
            <a:avLst/>
          </a:prstGeom>
        </p:spPr>
      </p:pic>
      <p:pic>
        <p:nvPicPr>
          <p:cNvPr id="8" name="Picture 7" descr="http://userdisk.webry.biglobe.ne.jp/014/098/13/N000/000/002/131303109622813202029.JPG"/>
          <p:cNvPicPr/>
          <p:nvPr/>
        </p:nvPicPr>
        <p:blipFill>
          <a:blip r:embed="rId4" cstate="print"/>
          <a:srcRect/>
          <a:stretch>
            <a:fillRect/>
          </a:stretch>
        </p:blipFill>
        <p:spPr bwMode="auto">
          <a:xfrm>
            <a:off x="0" y="6084277"/>
            <a:ext cx="1977390" cy="791307"/>
          </a:xfrm>
          <a:prstGeom prst="rect">
            <a:avLst/>
          </a:prstGeom>
          <a:noFill/>
          <a:ln w="9525">
            <a:noFill/>
            <a:miter lim="800000"/>
            <a:headEnd/>
            <a:tailEnd/>
          </a:ln>
        </p:spPr>
      </p:pic>
      <p:pic>
        <p:nvPicPr>
          <p:cNvPr id="9" name="Picture 8" descr="C:\Users\Tembo masiye\Desktop\dARWIN INITIATIVE\My Tasks_July 2020\DioscoreaBulbiferaTubercle 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0732" y="5996354"/>
            <a:ext cx="1856345" cy="985451"/>
          </a:xfrm>
          <a:prstGeom prst="ellipse">
            <a:avLst/>
          </a:prstGeom>
          <a:ln>
            <a:noFill/>
          </a:ln>
          <a:effectLst>
            <a:softEdge rad="112500"/>
          </a:effectLst>
        </p:spPr>
      </p:pic>
      <p:pic>
        <p:nvPicPr>
          <p:cNvPr id="10" name="Content Placeholder 5" descr="C:\Users\Tembo masiye\Desktop\dARWIN INITIATIVE\My Tasks_July 2020\unnamed (1).jpg"/>
          <p:cNvPicPr/>
          <p:nvPr/>
        </p:nvPicPr>
        <p:blipFill>
          <a:blip r:embed="rId6">
            <a:extLst>
              <a:ext uri="{28A0092B-C50C-407E-A947-70E740481C1C}">
                <a14:useLocalDpi xmlns:a14="http://schemas.microsoft.com/office/drawing/2010/main" val="0"/>
              </a:ext>
            </a:extLst>
          </a:blip>
          <a:srcRect/>
          <a:stretch>
            <a:fillRect/>
          </a:stretch>
        </p:blipFill>
        <p:spPr bwMode="auto">
          <a:xfrm>
            <a:off x="4661685" y="6066692"/>
            <a:ext cx="1246746" cy="808892"/>
          </a:xfrm>
          <a:prstGeom prst="rect">
            <a:avLst/>
          </a:prstGeom>
          <a:noFill/>
          <a:ln>
            <a:noFill/>
          </a:ln>
        </p:spPr>
      </p:pic>
      <p:pic>
        <p:nvPicPr>
          <p:cNvPr id="11" name="Picture 10" descr="C:\Users\Tembo masiye\Desktop\dARWIN INITIATIVE\My Tasks_July 2020\Elesine coracana 8.jpg"/>
          <p:cNvPicPr/>
          <p:nvPr/>
        </p:nvPicPr>
        <p:blipFill>
          <a:blip r:embed="rId7">
            <a:extLst>
              <a:ext uri="{28A0092B-C50C-407E-A947-70E740481C1C}">
                <a14:useLocalDpi xmlns:a14="http://schemas.microsoft.com/office/drawing/2010/main" val="0"/>
              </a:ext>
            </a:extLst>
          </a:blip>
          <a:srcRect/>
          <a:stretch>
            <a:fillRect/>
          </a:stretch>
        </p:blipFill>
        <p:spPr bwMode="auto">
          <a:xfrm>
            <a:off x="5908431" y="6066692"/>
            <a:ext cx="1354608" cy="808892"/>
          </a:xfrm>
          <a:prstGeom prst="rect">
            <a:avLst/>
          </a:prstGeom>
          <a:noFill/>
          <a:ln>
            <a:noFill/>
          </a:ln>
        </p:spPr>
      </p:pic>
      <p:pic>
        <p:nvPicPr>
          <p:cNvPr id="12" name="Picture 11" descr="C:\Users\Tembo masiye\Desktop\dARWIN INITIATIVE\My Tasks_July 2020\Eleusine_coracana-10.jpg"/>
          <p:cNvPicPr/>
          <p:nvPr/>
        </p:nvPicPr>
        <p:blipFill>
          <a:blip r:embed="rId8">
            <a:extLst>
              <a:ext uri="{28A0092B-C50C-407E-A947-70E740481C1C}">
                <a14:useLocalDpi xmlns:a14="http://schemas.microsoft.com/office/drawing/2010/main" val="0"/>
              </a:ext>
            </a:extLst>
          </a:blip>
          <a:srcRect/>
          <a:stretch>
            <a:fillRect/>
          </a:stretch>
        </p:blipFill>
        <p:spPr bwMode="auto">
          <a:xfrm>
            <a:off x="3046607" y="6066691"/>
            <a:ext cx="1615078" cy="808894"/>
          </a:xfrm>
          <a:prstGeom prst="rect">
            <a:avLst/>
          </a:prstGeom>
          <a:noFill/>
          <a:ln>
            <a:noFill/>
          </a:ln>
        </p:spPr>
      </p:pic>
      <p:pic>
        <p:nvPicPr>
          <p:cNvPr id="13" name="Picture 12" descr="http://www.cropwildrelatives.org/fileadmin/templates/cropwildrelatives.org/upload/sadc/WildSorghum_04March2014Chilanga_Distric_Lusaka_province_Zambia_N_guni_1.jpg"/>
          <p:cNvPicPr/>
          <p:nvPr/>
        </p:nvPicPr>
        <p:blipFill>
          <a:blip r:embed="rId9" cstate="print"/>
          <a:srcRect/>
          <a:stretch>
            <a:fillRect/>
          </a:stretch>
        </p:blipFill>
        <p:spPr bwMode="auto">
          <a:xfrm>
            <a:off x="8878117" y="6085006"/>
            <a:ext cx="3313883" cy="772993"/>
          </a:xfrm>
          <a:prstGeom prst="rect">
            <a:avLst/>
          </a:prstGeom>
          <a:noFill/>
          <a:ln w="9525">
            <a:noFill/>
            <a:miter lim="800000"/>
            <a:headEnd/>
            <a:tailEnd/>
          </a:ln>
        </p:spPr>
      </p:pic>
      <p:pic>
        <p:nvPicPr>
          <p:cNvPr id="14" name="Picture 13" descr="http://www.sundaytimes.lk/100502/images/Rice-plants.jpg"/>
          <p:cNvPicPr/>
          <p:nvPr/>
        </p:nvPicPr>
        <p:blipFill>
          <a:blip r:embed="rId10" cstate="print"/>
          <a:srcRect/>
          <a:stretch>
            <a:fillRect/>
          </a:stretch>
        </p:blipFill>
        <p:spPr bwMode="auto">
          <a:xfrm>
            <a:off x="7262419" y="6075484"/>
            <a:ext cx="1616319" cy="800099"/>
          </a:xfrm>
          <a:prstGeom prst="rect">
            <a:avLst/>
          </a:prstGeom>
          <a:noFill/>
          <a:ln w="9525">
            <a:noFill/>
            <a:miter lim="800000"/>
            <a:headEnd/>
            <a:tailEnd/>
          </a:ln>
        </p:spPr>
      </p:pic>
      <p:pic>
        <p:nvPicPr>
          <p:cNvPr id="3" name="Picture 2">
            <a:extLst>
              <a:ext uri="{FF2B5EF4-FFF2-40B4-BE49-F238E27FC236}">
                <a16:creationId xmlns:a16="http://schemas.microsoft.com/office/drawing/2014/main" id="{84C222FA-AA8E-409B-A41B-9DB653954965}"/>
              </a:ext>
            </a:extLst>
          </p:cNvPr>
          <p:cNvPicPr>
            <a:picLocks noChangeAspect="1"/>
          </p:cNvPicPr>
          <p:nvPr/>
        </p:nvPicPr>
        <p:blipFill>
          <a:blip r:embed="rId11"/>
          <a:stretch>
            <a:fillRect/>
          </a:stretch>
        </p:blipFill>
        <p:spPr>
          <a:xfrm>
            <a:off x="918959" y="872835"/>
            <a:ext cx="10483583" cy="5176269"/>
          </a:xfrm>
          <a:prstGeom prst="rect">
            <a:avLst/>
          </a:prstGeom>
        </p:spPr>
      </p:pic>
      <p:sp>
        <p:nvSpPr>
          <p:cNvPr id="4" name="Rectangle 3">
            <a:extLst>
              <a:ext uri="{FF2B5EF4-FFF2-40B4-BE49-F238E27FC236}">
                <a16:creationId xmlns:a16="http://schemas.microsoft.com/office/drawing/2014/main" id="{958DD5F6-296E-4F1F-BD26-98100A416C1C}"/>
              </a:ext>
            </a:extLst>
          </p:cNvPr>
          <p:cNvSpPr/>
          <p:nvPr/>
        </p:nvSpPr>
        <p:spPr>
          <a:xfrm>
            <a:off x="1077883" y="77014"/>
            <a:ext cx="7417724" cy="707886"/>
          </a:xfrm>
          <a:prstGeom prst="rect">
            <a:avLst/>
          </a:prstGeom>
        </p:spPr>
        <p:txBody>
          <a:bodyPr wrap="square">
            <a:spAutoFit/>
          </a:bodyPr>
          <a:lstStyle/>
          <a:p>
            <a:r>
              <a:rPr lang="en-US" sz="4000" dirty="0">
                <a:solidFill>
                  <a:srgbClr val="373545"/>
                </a:solidFill>
                <a:latin typeface="Times New Roman" panose="02020603050405020304" pitchFamily="18" charset="0"/>
                <a:cs typeface="Times New Roman" panose="02020603050405020304" pitchFamily="18" charset="0"/>
              </a:rPr>
              <a:t>Strategic steps to adaptation</a:t>
            </a:r>
            <a:endParaRPr lang="en-ZM"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344252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4753</TotalTime>
  <Words>5184</Words>
  <Application>Microsoft Office PowerPoint</Application>
  <PresentationFormat>Widescreen</PresentationFormat>
  <Paragraphs>577</Paragraphs>
  <Slides>97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97</vt:i4>
      </vt:variant>
    </vt:vector>
  </HeadingPairs>
  <TitlesOfParts>
    <vt:vector size="108" baseType="lpstr">
      <vt:lpstr>Arial</vt:lpstr>
      <vt:lpstr>Calibri</vt:lpstr>
      <vt:lpstr>Consolas</vt:lpstr>
      <vt:lpstr>Courier New</vt:lpstr>
      <vt:lpstr>Gill Sans MT</vt:lpstr>
      <vt:lpstr>Mongolian Baiti</vt:lpstr>
      <vt:lpstr>Times New Roman</vt:lpstr>
      <vt:lpstr>Tw Cen MT</vt:lpstr>
      <vt:lpstr>Wingdings</vt:lpstr>
      <vt:lpstr>Wingdings 2</vt:lpstr>
      <vt:lpstr>Gallery</vt:lpstr>
      <vt:lpstr>CLIMATE CHANGE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Action Plan – Zambia NPGRC</dc:title>
  <dc:creator>Masiye Tembo</dc:creator>
  <cp:lastModifiedBy>user</cp:lastModifiedBy>
  <cp:revision>1004</cp:revision>
  <dcterms:created xsi:type="dcterms:W3CDTF">2023-02-09T19:30:58Z</dcterms:created>
  <dcterms:modified xsi:type="dcterms:W3CDTF">2026-02-26T17:39:45Z</dcterms:modified>
</cp:coreProperties>
</file>