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57" r:id="rId4"/>
    <p:sldId id="258" r:id="rId5"/>
    <p:sldId id="259" r:id="rId6"/>
    <p:sldId id="261" r:id="rId7"/>
    <p:sldId id="260" r:id="rId8"/>
    <p:sldId id="262" r:id="rId9"/>
    <p:sldId id="263" r:id="rId10"/>
    <p:sldId id="264" r:id="rId11"/>
    <p:sldId id="266" r:id="rId12"/>
    <p:sldId id="265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9DB33-6CBD-DE27-2303-553D79BC84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35F91-50DC-3F90-77A8-6CD629CF7B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993F5-758F-8BCC-F7BF-AE493A676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EBDFE-4ED1-4D82-8D6A-2A4974999463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C81F7-6B20-FA90-DF99-3434495DB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3CD65C-B9C6-9C11-1B21-C59773AE3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0BD56-90CB-4372-ABF9-9FF957B5D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597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7E429-F59E-341D-9D07-8873D6D0B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6EBCE-35F6-B53C-5329-E449D7C10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51EA7-33E2-C4EF-44AE-578F47F0F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EBDFE-4ED1-4D82-8D6A-2A4974999463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3BABC-B48A-D684-2AEB-6400CF220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48F0C-A592-EF19-AD53-B072243F2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0BD56-90CB-4372-ABF9-9FF957B5D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754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667A7-C6EF-FF86-3CF6-CDB221DDD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0B10C1-0E3F-6ADE-D94C-142652E12E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693DA-3686-36B5-2BDF-2AC10DE12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EBDFE-4ED1-4D82-8D6A-2A4974999463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82E2C-A662-8CAE-0355-D89A675E2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3D215-7ADD-A848-A8ED-6D4FC7871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0BD56-90CB-4372-ABF9-9FF957B5D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587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4E0AD-A5BE-FF25-3A05-EEB4EA595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0F1CA-5E49-F049-3A30-936905F9C5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8A5734-C557-81C5-6D29-E8239246C6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768C33-3036-411C-8F5F-CD2BBB4D4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EBDFE-4ED1-4D82-8D6A-2A4974999463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79D6F4-5B9A-75C1-194A-AE9CB27A6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F7CF57-FFC5-F4ED-398B-3575E238B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0BD56-90CB-4372-ABF9-9FF957B5D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982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C1134-3D88-EC38-A56B-21AB11652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5124AB-2996-7254-13A6-12D5D29BE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DDAB59-893D-B6E8-CDE7-CA545BA378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01FBC-B076-0ECF-814B-BA34AE30B7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DD7F9F-33C9-4188-C83B-522D27C7D8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974C8C-84EE-795E-AF0F-A2CFD659F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EBDFE-4ED1-4D82-8D6A-2A4974999463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2E9E10-D7C4-AF06-DAB9-5F92DDBAF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AF560C-E1C9-68D7-5355-F4878CF5F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0BD56-90CB-4372-ABF9-9FF957B5D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917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3A782-2C78-26F3-8F9A-F0CD7995C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23BA1F-F70F-E6F4-ABFD-6B350EE38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EBDFE-4ED1-4D82-8D6A-2A4974999463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CBD63C-1F1F-C05E-0FA0-33B5A872D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224027-F140-7F60-3F9A-B6407575B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0BD56-90CB-4372-ABF9-9FF957B5D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883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0F84FF-E868-4CA9-85C2-2E7B19ECB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EBDFE-4ED1-4D82-8D6A-2A4974999463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89FF35-837C-9B5E-1CBC-65E62F320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C6CBE3-E1F1-8191-D15D-678FDB08C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0BD56-90CB-4372-ABF9-9FF957B5D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09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27A2A-D4A9-B073-7D48-872BA0715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D33A6-037E-B90E-EF87-4DC1F1FFA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1013C5-310C-79F0-0DA5-8ABCEF763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B06B58-6526-B190-7294-082EEFEF0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EBDFE-4ED1-4D82-8D6A-2A4974999463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945AF6-6B8C-F2F2-80F1-A21EE268D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11268E-9E0B-5CAF-A3CC-210A5D4F3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0BD56-90CB-4372-ABF9-9FF957B5D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562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88D4B-265C-806E-FFF2-F3086310D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3C4FB9-D041-026B-E587-71B2D59A4D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88BB4C-5A07-CD4C-1226-F4B6BC0BBF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F14F5-E2F5-4CB6-551B-F692C6433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EBDFE-4ED1-4D82-8D6A-2A4974999463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89A823-96F9-3ED4-3DE8-932389B04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FBF9D6-0EEF-FB0E-96B5-416682A49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0BD56-90CB-4372-ABF9-9FF957B5D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728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A308C-4C50-E910-B1BC-A214C9E95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0CDA1C-3169-CB5A-5580-DA23CEAA9B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6DD19-9B6C-725D-40E9-4B03F4F4C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EBDFE-4ED1-4D82-8D6A-2A4974999463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06B5E-48F9-AD34-8A72-5E822222E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522BB-0558-7D7F-C2DA-884FBBC65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0BD56-90CB-4372-ABF9-9FF957B5D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741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F614E7-C1D0-FD1C-F2B5-0936F2F9D1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0685BA-C1EA-3724-AC32-4ACBC84EBE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CD4E0-A558-B63C-1207-CAAAAA337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EBDFE-4ED1-4D82-8D6A-2A4974999463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DB941-C31E-6116-FB08-C0693CA5C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0A92B-C34F-4F01-967D-73152EDA4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0BD56-90CB-4372-ABF9-9FF957B5D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F3A116-F2DB-AF56-DBE1-8ED7CD520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1595A-86D9-2977-996E-9B900CF17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04FF9-067B-8789-CB5D-EE8B998757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EBDFE-4ED1-4D82-8D6A-2A4974999463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723687-D8ED-B677-7B49-4F72BF2D8D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08750-3644-EF30-3F7C-8A0BC2A9B8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00BD56-90CB-4372-ABF9-9FF957B5D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093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8028E-486E-26F2-3BDF-878BBE7CDE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8903" y="139368"/>
            <a:ext cx="7374194" cy="1345534"/>
          </a:xfrm>
        </p:spPr>
        <p:txBody>
          <a:bodyPr/>
          <a:lstStyle/>
          <a:p>
            <a:r>
              <a:rPr lang="en-US" b="1" dirty="0"/>
              <a:t>THE LANDS ACT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11F06E-6B64-49D4-D458-068C1D575C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484901"/>
            <a:ext cx="9144000" cy="4886401"/>
          </a:xfrm>
        </p:spPr>
        <p:txBody>
          <a:bodyPr>
            <a:normAutofit/>
          </a:bodyPr>
          <a:lstStyle/>
          <a:p>
            <a:pPr algn="just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CD0FEA-C6C9-7026-F595-00BB0C6FB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754" y="1867090"/>
            <a:ext cx="1722969" cy="21148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0C6BB1-F828-17ED-A88E-091A7E8FBA55}"/>
              </a:ext>
            </a:extLst>
          </p:cNvPr>
          <p:cNvSpPr txBox="1"/>
          <p:nvPr/>
        </p:nvSpPr>
        <p:spPr>
          <a:xfrm>
            <a:off x="3048000" y="3981979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i-FI" sz="2800" b="1" dirty="0">
                <a:solidFill>
                  <a:schemeClr val="accent2"/>
                </a:solidFill>
              </a:rPr>
              <a:t>Kapasa Makasa University</a:t>
            </a:r>
          </a:p>
          <a:p>
            <a:pPr algn="ctr"/>
            <a:r>
              <a:rPr lang="fi-FI" sz="2800" b="1" dirty="0"/>
              <a:t>Bwalya Mutale</a:t>
            </a:r>
          </a:p>
        </p:txBody>
      </p:sp>
    </p:spTree>
    <p:extLst>
      <p:ext uri="{BB962C8B-B14F-4D97-AF65-F5344CB8AC3E}">
        <p14:creationId xmlns:p14="http://schemas.microsoft.com/office/powerpoint/2010/main" val="3501953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D7E59-FCA2-AAA4-0DF9-AEB361D19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0BC43-B398-9D30-ADA0-9233392AF8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8903" y="139368"/>
            <a:ext cx="7374194" cy="1345534"/>
          </a:xfrm>
        </p:spPr>
        <p:txBody>
          <a:bodyPr/>
          <a:lstStyle/>
          <a:p>
            <a:r>
              <a:rPr lang="en-US" b="1" dirty="0"/>
              <a:t>THE LANDS ACT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72D737-5004-2B18-9979-EF1E94CA7E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484901"/>
            <a:ext cx="9144000" cy="4886401"/>
          </a:xfrm>
        </p:spPr>
        <p:txBody>
          <a:bodyPr>
            <a:normAutofit/>
          </a:bodyPr>
          <a:lstStyle/>
          <a:p>
            <a:pPr algn="just"/>
            <a:endParaRPr lang="en-US" dirty="0"/>
          </a:p>
          <a:p>
            <a:pPr algn="just"/>
            <a:r>
              <a:rPr lang="en-US" dirty="0">
                <a:solidFill>
                  <a:srgbClr val="FF0000"/>
                </a:solidFill>
              </a:rPr>
              <a:t>What is an Act? 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An act (law) is a legally binding document passed by Parliament and enforceable by the courts. It contains specific rules, rights, obligations, and penalties. Example: The Lands Act (Chapter 184) provides the legal framework for land ownership, tenure, and administration in </a:t>
            </a:r>
            <a:r>
              <a:rPr lang="en-US" dirty="0" err="1"/>
              <a:t>Zambia.It</a:t>
            </a:r>
            <a:r>
              <a:rPr lang="en-US" dirty="0"/>
              <a:t> gives the government power to regulate land use and enforce land-related disputes.</a:t>
            </a:r>
          </a:p>
        </p:txBody>
      </p:sp>
    </p:spTree>
    <p:extLst>
      <p:ext uri="{BB962C8B-B14F-4D97-AF65-F5344CB8AC3E}">
        <p14:creationId xmlns:p14="http://schemas.microsoft.com/office/powerpoint/2010/main" val="2063507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634B3-7C42-A2D2-0B4D-19559D94D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1. Vesting of Land in the President (Section 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61F65-0BBB-81E8-997E-D4784F8D1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All land in Zambia is vested in the President and held on behalf of the Zambian people.</a:t>
            </a:r>
          </a:p>
          <a:p>
            <a:r>
              <a:rPr lang="en-US" dirty="0"/>
              <a:t>The President has sole authority to allocate or alienate land, subject to legal conditions.</a:t>
            </a:r>
          </a:p>
          <a:p>
            <a:r>
              <a:rPr lang="en-US" dirty="0"/>
              <a:t>The President must consult local chiefs and authorities before granting leasehold title on customary land.</a:t>
            </a:r>
          </a:p>
          <a:p>
            <a:r>
              <a:rPr lang="en-US" dirty="0"/>
              <a:t>Land allocation to non-Zambians is restricted and allowed only under special conditions.</a:t>
            </a:r>
          </a:p>
        </p:txBody>
      </p:sp>
    </p:spTree>
    <p:extLst>
      <p:ext uri="{BB962C8B-B14F-4D97-AF65-F5344CB8AC3E}">
        <p14:creationId xmlns:p14="http://schemas.microsoft.com/office/powerpoint/2010/main" val="3962048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875AA-62F2-6459-41B5-070B8FF74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2. Land Tenure Systems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186C8-7E43-6142-DC57-90B1F075B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The Act recognizes two primary forms of land tenure: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Customary Tenure</a:t>
            </a:r>
            <a:r>
              <a:rPr lang="en-US" dirty="0"/>
              <a:t>: Managed by traditional leaders (chiefs).Cannot be sold but can be converted into leasehold tenure. Chiefs must approve before conversion (Section 8).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Leasehold/Statutory Tenure</a:t>
            </a:r>
            <a:r>
              <a:rPr lang="en-US" dirty="0"/>
              <a:t>: Issued by the government for up to 99 </a:t>
            </a:r>
            <a:r>
              <a:rPr lang="en-US" dirty="0" err="1"/>
              <a:t>years.Can</a:t>
            </a:r>
            <a:r>
              <a:rPr lang="en-US" dirty="0"/>
              <a:t> be transferred, renewed, or revoked under legal </a:t>
            </a:r>
            <a:r>
              <a:rPr lang="en-US" dirty="0" err="1"/>
              <a:t>conditions.Requires</a:t>
            </a:r>
            <a:r>
              <a:rPr lang="en-US" dirty="0"/>
              <a:t> payment of ground rent and compliance with lease conditions.</a:t>
            </a:r>
          </a:p>
        </p:txBody>
      </p:sp>
    </p:spTree>
    <p:extLst>
      <p:ext uri="{BB962C8B-B14F-4D97-AF65-F5344CB8AC3E}">
        <p14:creationId xmlns:p14="http://schemas.microsoft.com/office/powerpoint/2010/main" val="695400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0188C-64F6-34D4-4084-4F19BB5EA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3. Customary Land Recognition and Conversion (Sections 7 &amp; 8)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66E2E-EF6E-65FE-4AFC-55369F59A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Land held under customary tenure remains valid and is legally recognized.</a:t>
            </a:r>
          </a:p>
          <a:p>
            <a:r>
              <a:rPr lang="en-US" dirty="0"/>
              <a:t>People can apply to convert customary land into leasehold tenure, but this requires: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Approval from the Chief of the area.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Approval from the local council.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A proper survey and registration of the land.</a:t>
            </a:r>
          </a:p>
          <a:p>
            <a:r>
              <a:rPr lang="en-US" dirty="0"/>
              <a:t>Once converted, the land is governed under leasehold rules and subject to ground rent payments.</a:t>
            </a:r>
          </a:p>
        </p:txBody>
      </p:sp>
    </p:spTree>
    <p:extLst>
      <p:ext uri="{BB962C8B-B14F-4D97-AF65-F5344CB8AC3E}">
        <p14:creationId xmlns:p14="http://schemas.microsoft.com/office/powerpoint/2010/main" val="2491576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AFA9-08BA-8D3D-8C28-C62D36357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4. Conditions for Land Alienation (Section 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5A385-D95A-B0BE-76D2-90BD7EE4B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President cannot give away land for free, except for public use (e.g., government buildings, schools, roads).</a:t>
            </a:r>
          </a:p>
          <a:p>
            <a:r>
              <a:rPr lang="en-US" dirty="0"/>
              <a:t>Payment for land must include: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Consideration fee (purchase price).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Annual ground rent to the state.</a:t>
            </a:r>
          </a:p>
          <a:p>
            <a:endParaRPr lang="en-US" dirty="0"/>
          </a:p>
          <a:p>
            <a:r>
              <a:rPr lang="en-US" dirty="0"/>
              <a:t>Chiefs and local authorities must be consulted before alienating customary land.</a:t>
            </a:r>
          </a:p>
        </p:txBody>
      </p:sp>
    </p:spTree>
    <p:extLst>
      <p:ext uri="{BB962C8B-B14F-4D97-AF65-F5344CB8AC3E}">
        <p14:creationId xmlns:p14="http://schemas.microsoft.com/office/powerpoint/2010/main" val="1434927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9C9E4-3C8B-A645-DB54-12D77227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5. Restrictions on Foreign Land Ownership (Section 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23C17-1E10-73EC-6B58-413B641F7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Non-Zambians can only acquire land under the following conditions: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They are permanent residents.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 They are investors as defined in the </a:t>
            </a:r>
            <a:r>
              <a:rPr lang="en-US" dirty="0">
                <a:solidFill>
                  <a:srgbClr val="00B050"/>
                </a:solidFill>
              </a:rPr>
              <a:t>Investment Act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They have special written consent from the President.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They inherit the land through succession or legal transfer.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They hold a short-term lease (not exceeding 5 years).</a:t>
            </a:r>
          </a:p>
          <a:p>
            <a:pPr marL="0" indent="0">
              <a:buNone/>
            </a:pPr>
            <a:r>
              <a:rPr lang="en-US" dirty="0"/>
              <a:t>Companies with more than 75% foreign ownership cannot own land, except under special circumstances.</a:t>
            </a:r>
          </a:p>
        </p:txBody>
      </p:sp>
    </p:spTree>
    <p:extLst>
      <p:ext uri="{BB962C8B-B14F-4D97-AF65-F5344CB8AC3E}">
        <p14:creationId xmlns:p14="http://schemas.microsoft.com/office/powerpoint/2010/main" val="7740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E1AC9-1F50-07A4-B2D3-1FCC643A1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6. Prohibition of Unauthorized Occupation of Land (Section 9)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0B838-49EF-3E57-26D6-0FBDC42C9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No one is allowed to occupy vacant land without official permission.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Illegal occupants can be </a:t>
            </a:r>
            <a:r>
              <a:rPr lang="en-US" dirty="0">
                <a:solidFill>
                  <a:srgbClr val="FF0000"/>
                </a:solidFill>
              </a:rPr>
              <a:t>evicted</a:t>
            </a:r>
            <a:r>
              <a:rPr lang="en-US" dirty="0"/>
              <a:t> and may face penalties.</a:t>
            </a:r>
          </a:p>
        </p:txBody>
      </p:sp>
    </p:spTree>
    <p:extLst>
      <p:ext uri="{BB962C8B-B14F-4D97-AF65-F5344CB8AC3E}">
        <p14:creationId xmlns:p14="http://schemas.microsoft.com/office/powerpoint/2010/main" val="1109102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18C81-8E24-AAA1-435D-D973E6761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7. Leasehold Conditions and Renewals (Sections 10–12)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F4F14-0A17-8FF1-C292-35FCF26C9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Leases are issued for up to 99 years and can be renewed upon expiry.</a:t>
            </a:r>
          </a:p>
          <a:p>
            <a:endParaRPr lang="en-US" dirty="0"/>
          </a:p>
          <a:p>
            <a:r>
              <a:rPr lang="en-US" dirty="0"/>
              <a:t>Renewals are subject to compliance with lease conditions (e.g., development of land, ground rent payments).</a:t>
            </a:r>
          </a:p>
          <a:p>
            <a:endParaRPr lang="en-US" dirty="0"/>
          </a:p>
          <a:p>
            <a:r>
              <a:rPr lang="en-US" dirty="0"/>
              <a:t>If a lease is not renewed, the lessee may be compensated for improvements made on the land.</a:t>
            </a:r>
          </a:p>
        </p:txBody>
      </p:sp>
    </p:spTree>
    <p:extLst>
      <p:ext uri="{BB962C8B-B14F-4D97-AF65-F5344CB8AC3E}">
        <p14:creationId xmlns:p14="http://schemas.microsoft.com/office/powerpoint/2010/main" val="2978819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4CB74-20D3-3ED1-FE1B-525A1B96A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8. Land Disputes and the Lands Tribunal (Sections 15, 20–29)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C8303-0310-9482-A383-34C728EE6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Disputes over land can be taken to the Lands Tribunal, which has jurisdiction over: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Land ownership conflicts.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Disputes over lease conditions.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Compensation claims for repossessed land.</a:t>
            </a:r>
          </a:p>
          <a:p>
            <a:r>
              <a:rPr lang="en-US" dirty="0"/>
              <a:t>The Tribunal has authority to make rulings and award compensation.</a:t>
            </a:r>
          </a:p>
          <a:p>
            <a:r>
              <a:rPr lang="en-US" dirty="0"/>
              <a:t>Appeals from the Tribunal go to the Supreme Court.</a:t>
            </a:r>
          </a:p>
        </p:txBody>
      </p:sp>
    </p:spTree>
    <p:extLst>
      <p:ext uri="{BB962C8B-B14F-4D97-AF65-F5344CB8AC3E}">
        <p14:creationId xmlns:p14="http://schemas.microsoft.com/office/powerpoint/2010/main" val="40679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D4027-99DD-6247-C6A0-5880E9D7E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 9. Ground Rent and Leasehold Obligations (Sections 11 &amp; 14)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8CBF8-AE18-2ABC-66A7-9A8115DFD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Lessees (leasehold landowners) must pay ground rent annually.</a:t>
            </a:r>
          </a:p>
          <a:p>
            <a:r>
              <a:rPr lang="en-US" dirty="0"/>
              <a:t>Failure to pay ground rent results in:</a:t>
            </a:r>
          </a:p>
          <a:p>
            <a:pPr lvl="1"/>
            <a:r>
              <a:rPr lang="en-US" dirty="0"/>
              <a:t>Penalties of 25% of the amount due.</a:t>
            </a:r>
          </a:p>
          <a:p>
            <a:pPr lvl="1"/>
            <a:r>
              <a:rPr lang="en-US" dirty="0"/>
              <a:t>Possible loss of land (re-entry by the state).</a:t>
            </a:r>
          </a:p>
          <a:p>
            <a:r>
              <a:rPr lang="en-US" dirty="0"/>
              <a:t>Rent payments contribute to the Land Development Fund.</a:t>
            </a:r>
          </a:p>
        </p:txBody>
      </p:sp>
    </p:spTree>
    <p:extLst>
      <p:ext uri="{BB962C8B-B14F-4D97-AF65-F5344CB8AC3E}">
        <p14:creationId xmlns:p14="http://schemas.microsoft.com/office/powerpoint/2010/main" val="3535221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D84AA-4615-AD23-BA74-9F13A50D9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10. The Land Development Fund (Sections 16–19)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936E5-81C4-CB64-4725-444BB33857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 fund established to finance land-related development projects. Funded through:</a:t>
            </a:r>
          </a:p>
          <a:p>
            <a:pPr lvl="1"/>
            <a:r>
              <a:rPr lang="en-US" dirty="0"/>
              <a:t>75% of land sale proceeds.</a:t>
            </a:r>
          </a:p>
          <a:p>
            <a:pPr lvl="1"/>
            <a:r>
              <a:rPr lang="en-US" dirty="0"/>
              <a:t>50% of collected ground rent.</a:t>
            </a:r>
          </a:p>
          <a:p>
            <a:pPr lvl="1"/>
            <a:r>
              <a:rPr lang="en-US" dirty="0"/>
              <a:t>Parliamentary allocations.</a:t>
            </a:r>
          </a:p>
          <a:p>
            <a:r>
              <a:rPr lang="en-US" dirty="0"/>
              <a:t>Local councils can apply for money from the fund to develop infrastructure and new settlement areas.</a:t>
            </a:r>
          </a:p>
        </p:txBody>
      </p:sp>
    </p:spTree>
    <p:extLst>
      <p:ext uri="{BB962C8B-B14F-4D97-AF65-F5344CB8AC3E}">
        <p14:creationId xmlns:p14="http://schemas.microsoft.com/office/powerpoint/2010/main" val="2852098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AE12F-55C5-E91E-7170-C193BD839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11. Presidential Re-entry and Lease Cancellation (Sections 13 &amp; 14)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80FD9-78BB-5DF2-D991-3265AD652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The President can revoke a lease (certificate of re-entry) if: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Lease conditions are violated (e.g., unpaid rent, illegal activities).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The land remains undeveloped for too long.</a:t>
            </a:r>
          </a:p>
          <a:p>
            <a:r>
              <a:rPr lang="en-US" dirty="0"/>
              <a:t>Lessees are given three months' notice before re-entry is enforced.</a:t>
            </a:r>
          </a:p>
          <a:p>
            <a:endParaRPr lang="en-US" dirty="0"/>
          </a:p>
          <a:p>
            <a:r>
              <a:rPr lang="en-US" dirty="0"/>
              <a:t>Appeals against re-entry decisions can be made to the Lands Tribunal.</a:t>
            </a:r>
          </a:p>
        </p:txBody>
      </p:sp>
    </p:spTree>
    <p:extLst>
      <p:ext uri="{BB962C8B-B14F-4D97-AF65-F5344CB8AC3E}">
        <p14:creationId xmlns:p14="http://schemas.microsoft.com/office/powerpoint/2010/main" val="4013863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3706D-480D-9632-BD70-F979E2EF8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12. Regulations and Legal Framework (Sections 30–32)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9569C-D39C-A023-F6B5-61C5AEFC5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The Minister of Lands can issue regulations to guide land administration.</a:t>
            </a:r>
          </a:p>
          <a:p>
            <a:r>
              <a:rPr lang="en-US" dirty="0"/>
              <a:t>The Lands Act repealed older laws, including:</a:t>
            </a:r>
          </a:p>
          <a:p>
            <a:pPr lvl="1"/>
            <a:r>
              <a:rPr lang="en-US" dirty="0"/>
              <a:t>The Land (Conversion of Titles) Act.</a:t>
            </a:r>
          </a:p>
          <a:p>
            <a:pPr lvl="1"/>
            <a:r>
              <a:rPr lang="en-US" dirty="0"/>
              <a:t>The Zambia (State Lands and Reserves) Orders, 1928–1964.</a:t>
            </a:r>
          </a:p>
          <a:p>
            <a:pPr lvl="1"/>
            <a:r>
              <a:rPr lang="en-US" dirty="0"/>
              <a:t>The Western Province (Land and Miscellaneous Provisions) Act, 1970.</a:t>
            </a:r>
          </a:p>
        </p:txBody>
      </p:sp>
    </p:spTree>
    <p:extLst>
      <p:ext uri="{BB962C8B-B14F-4D97-AF65-F5344CB8AC3E}">
        <p14:creationId xmlns:p14="http://schemas.microsoft.com/office/powerpoint/2010/main" val="1919032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10141</TotalTime>
  <Words>894</Words>
  <Application>Microsoft Office PowerPoint</Application>
  <PresentationFormat>Widescreen</PresentationFormat>
  <Paragraphs>92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THE LANDS ACT</vt:lpstr>
      <vt:lpstr>THE LANDS ACT</vt:lpstr>
      <vt:lpstr>1. Vesting of Land in the President (Section 3)</vt:lpstr>
      <vt:lpstr>2. Land Tenure Systems </vt:lpstr>
      <vt:lpstr>3. Customary Land Recognition and Conversion (Sections 7 &amp; 8)</vt:lpstr>
      <vt:lpstr>4. Conditions for Land Alienation (Section 4)</vt:lpstr>
      <vt:lpstr>5. Restrictions on Foreign Land Ownership (Section 3)</vt:lpstr>
      <vt:lpstr>6. Prohibition of Unauthorized Occupation of Land (Section 9)</vt:lpstr>
      <vt:lpstr>7. Leasehold Conditions and Renewals (Sections 10–12)</vt:lpstr>
      <vt:lpstr>8. Land Disputes and the Lands Tribunal (Sections 15, 20–29)</vt:lpstr>
      <vt:lpstr> 9. Ground Rent and Leasehold Obligations (Sections 11 &amp; 14)</vt:lpstr>
      <vt:lpstr>10. The Land Development Fund (Sections 16–19)</vt:lpstr>
      <vt:lpstr>11. Presidential Re-entry and Lease Cancellation (Sections 13 &amp; 14)</vt:lpstr>
      <vt:lpstr>12. Regulations and Legal Framework (Sections 30–32)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bwalya.mutale.writer@gmail.com</dc:creator>
  <cp:lastModifiedBy>bwalya.mutale.writer@gmail.com</cp:lastModifiedBy>
  <cp:revision>2</cp:revision>
  <dcterms:created xsi:type="dcterms:W3CDTF">2025-02-17T18:14:39Z</dcterms:created>
  <dcterms:modified xsi:type="dcterms:W3CDTF">2025-02-24T19:16:20Z</dcterms:modified>
</cp:coreProperties>
</file>