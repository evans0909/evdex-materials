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34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741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804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3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66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94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5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351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992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74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77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18126-565D-45DF-A0EB-B50633F9B96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0E19B82-E881-4818-BE73-2EB45B9A4D1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96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99CB-615C-BF2A-696F-685C9B065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93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Land </a:t>
            </a:r>
            <a:r>
              <a:rPr lang="en-US" b="1"/>
              <a:t>quality attributes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0D1F5-4AF4-3156-3E05-09B6A6349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1019"/>
            <a:ext cx="9144000" cy="238678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3200" dirty="0"/>
              <a:t>The assessment of land quality attributes is a fundamental step in land use planning. It ensures that land is utilized sustainably, balancing economic, environmental, and social needs.</a:t>
            </a:r>
          </a:p>
        </p:txBody>
      </p:sp>
    </p:spTree>
    <p:extLst>
      <p:ext uri="{BB962C8B-B14F-4D97-AF65-F5344CB8AC3E}">
        <p14:creationId xmlns:p14="http://schemas.microsoft.com/office/powerpoint/2010/main" val="47740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D3F9-E85A-6539-21CF-47D53C07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Land quality attributes and their significance in the planning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CAC3A-9352-5805-85AC-E7161B8BC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10" y="1573162"/>
            <a:ext cx="11080955" cy="492596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1. </a:t>
            </a:r>
            <a:r>
              <a:rPr lang="en-US" sz="11100" b="1" dirty="0">
                <a:solidFill>
                  <a:srgbClr val="FF0000"/>
                </a:solidFill>
              </a:rPr>
              <a:t>Soil Fertility</a:t>
            </a:r>
          </a:p>
          <a:p>
            <a:r>
              <a:rPr lang="en-US" sz="11100" dirty="0"/>
              <a:t>Definition: Soil fertility refers to the ability of soil to provide essential nutrients to plants, supporting their growth and productivity.</a:t>
            </a:r>
          </a:p>
          <a:p>
            <a:pPr marL="0" indent="0">
              <a:buNone/>
            </a:pPr>
            <a:r>
              <a:rPr lang="en-US" sz="11100" b="1" dirty="0"/>
              <a:t>Importance in Planning:</a:t>
            </a:r>
          </a:p>
          <a:p>
            <a:r>
              <a:rPr lang="en-US" sz="11100" dirty="0"/>
              <a:t>Determines the suitability of land for agriculture and the types of crops that can be grown.</a:t>
            </a:r>
          </a:p>
          <a:p>
            <a:r>
              <a:rPr lang="en-US" sz="11100" dirty="0"/>
              <a:t>Influences decisions on fertilizer use, crop rotation, and soil conservation practices.</a:t>
            </a:r>
          </a:p>
          <a:p>
            <a:r>
              <a:rPr lang="en-US" sz="11100" dirty="0"/>
              <a:t>Poor soil fertility may require land to be used for non-agricultural purposes or rehabilitated before use.</a:t>
            </a:r>
          </a:p>
        </p:txBody>
      </p:sp>
    </p:spTree>
    <p:extLst>
      <p:ext uri="{BB962C8B-B14F-4D97-AF65-F5344CB8AC3E}">
        <p14:creationId xmlns:p14="http://schemas.microsoft.com/office/powerpoint/2010/main" val="333723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56695-0AE5-FD6B-6A53-58B77C520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39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Assessment Methods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Soil testing for pH, nutrient content (nitrogen, phosphorus, potassium), and organic matter.</a:t>
            </a:r>
          </a:p>
          <a:p>
            <a:endParaRPr lang="en-US" dirty="0"/>
          </a:p>
          <a:p>
            <a:r>
              <a:rPr lang="en-US" dirty="0"/>
              <a:t>Analysis of soil structure and texture (e.g., sandy, loamy, clayey).</a:t>
            </a:r>
          </a:p>
        </p:txBody>
      </p:sp>
    </p:spTree>
    <p:extLst>
      <p:ext uri="{BB962C8B-B14F-4D97-AF65-F5344CB8AC3E}">
        <p14:creationId xmlns:p14="http://schemas.microsoft.com/office/powerpoint/2010/main" val="155971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CA9C8-C678-D151-0B0C-4C55B4F43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245"/>
            <a:ext cx="10515600" cy="5370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2. Topography</a:t>
            </a:r>
          </a:p>
          <a:p>
            <a:r>
              <a:rPr lang="en-US" dirty="0"/>
              <a:t>Definition: Topography refers to the physical features of the land, including elevation, slope, and landforms.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Importance in Planning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Influences drainage patterns and susceptibility to erosion.</a:t>
            </a:r>
          </a:p>
          <a:p>
            <a:endParaRPr lang="en-US" dirty="0"/>
          </a:p>
          <a:p>
            <a:r>
              <a:rPr lang="en-US" dirty="0"/>
              <a:t>Determines the feasibility of infrastructure development (e.g., roads, buildings).</a:t>
            </a:r>
          </a:p>
          <a:p>
            <a:endParaRPr lang="en-US" dirty="0"/>
          </a:p>
          <a:p>
            <a:r>
              <a:rPr lang="en-US" dirty="0"/>
              <a:t>Steep slopes may limit agricultural use but can be suitable for forestry or conservation.</a:t>
            </a:r>
          </a:p>
        </p:txBody>
      </p:sp>
    </p:spTree>
    <p:extLst>
      <p:ext uri="{BB962C8B-B14F-4D97-AF65-F5344CB8AC3E}">
        <p14:creationId xmlns:p14="http://schemas.microsoft.com/office/powerpoint/2010/main" val="57099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00E88-4B91-1EE1-892B-0815DF997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273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Assessment Methods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Use of topographic maps and digital elevation models (DEMs).</a:t>
            </a:r>
          </a:p>
          <a:p>
            <a:endParaRPr lang="en-US" dirty="0"/>
          </a:p>
          <a:p>
            <a:r>
              <a:rPr lang="en-US" dirty="0"/>
              <a:t>Slope analysis to identify areas prone to erosion or landslides.</a:t>
            </a:r>
          </a:p>
        </p:txBody>
      </p:sp>
    </p:spTree>
    <p:extLst>
      <p:ext uri="{BB962C8B-B14F-4D97-AF65-F5344CB8AC3E}">
        <p14:creationId xmlns:p14="http://schemas.microsoft.com/office/powerpoint/2010/main" val="230444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CD73C-32D8-623B-3A0C-8ABA232B8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581"/>
            <a:ext cx="10515600" cy="5390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3. Climate</a:t>
            </a:r>
          </a:p>
          <a:p>
            <a:r>
              <a:rPr lang="en-US" dirty="0"/>
              <a:t>Definition: Climate encompasses long-term weather patterns, including temperature, precipitation, humidity, and wind.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Importance in Planning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Affects vegetation growth, water availability, and overall land productivity.</a:t>
            </a:r>
          </a:p>
          <a:p>
            <a:endParaRPr lang="en-US" dirty="0"/>
          </a:p>
          <a:p>
            <a:r>
              <a:rPr lang="en-US" dirty="0"/>
              <a:t>Determines the suitability of crops and the need for irrigation or drainage systems.</a:t>
            </a:r>
          </a:p>
          <a:p>
            <a:endParaRPr lang="en-US" dirty="0"/>
          </a:p>
          <a:p>
            <a:r>
              <a:rPr lang="en-US" dirty="0"/>
              <a:t>Extreme climates (e.g., arid or polar regions) may limit land use options.</a:t>
            </a:r>
          </a:p>
        </p:txBody>
      </p:sp>
    </p:spTree>
    <p:extLst>
      <p:ext uri="{BB962C8B-B14F-4D97-AF65-F5344CB8AC3E}">
        <p14:creationId xmlns:p14="http://schemas.microsoft.com/office/powerpoint/2010/main" val="183657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EB05C-0E08-F7DE-76BC-F4071307F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70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Assessment Methods:</a:t>
            </a:r>
          </a:p>
          <a:p>
            <a:endParaRPr lang="en-US" dirty="0"/>
          </a:p>
          <a:p>
            <a:r>
              <a:rPr lang="en-US" dirty="0"/>
              <a:t>Analysis of historical climate data (e.g., rainfall patterns, temperature ranges).</a:t>
            </a:r>
          </a:p>
          <a:p>
            <a:endParaRPr lang="en-US" dirty="0"/>
          </a:p>
          <a:p>
            <a:r>
              <a:rPr lang="en-US" dirty="0"/>
              <a:t>Use of climate models to predict future changes and their impacts.</a:t>
            </a:r>
          </a:p>
        </p:txBody>
      </p:sp>
    </p:spTree>
    <p:extLst>
      <p:ext uri="{BB962C8B-B14F-4D97-AF65-F5344CB8AC3E}">
        <p14:creationId xmlns:p14="http://schemas.microsoft.com/office/powerpoint/2010/main" val="128710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B8D8-F0F1-ADD1-C3D8-7F2E4265B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5406"/>
            <a:ext cx="10515600" cy="5321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4. Water Resources</a:t>
            </a:r>
          </a:p>
          <a:p>
            <a:r>
              <a:rPr lang="en-US" dirty="0"/>
              <a:t>Definition: Water resources include surface water (rivers, lakes) and groundwater (aquifers) available for use.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Importance in Planning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Essential for agriculture, industry, and domestic purposes.</a:t>
            </a:r>
          </a:p>
          <a:p>
            <a:endParaRPr lang="en-US" dirty="0"/>
          </a:p>
          <a:p>
            <a:r>
              <a:rPr lang="en-US" dirty="0"/>
              <a:t>Influences decisions on irrigation systems, water storage, and conservation.</a:t>
            </a:r>
          </a:p>
          <a:p>
            <a:endParaRPr lang="en-US" dirty="0"/>
          </a:p>
          <a:p>
            <a:r>
              <a:rPr lang="en-US" dirty="0"/>
              <a:t>Overuse or pollution of water resources can lead to land degradation.</a:t>
            </a:r>
          </a:p>
        </p:txBody>
      </p:sp>
    </p:spTree>
    <p:extLst>
      <p:ext uri="{BB962C8B-B14F-4D97-AF65-F5344CB8AC3E}">
        <p14:creationId xmlns:p14="http://schemas.microsoft.com/office/powerpoint/2010/main" val="364943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70627-FBBB-3D52-8CC2-31467D776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2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Assessment Methods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Hydrological surveys to map water availability and quality.</a:t>
            </a:r>
          </a:p>
          <a:p>
            <a:endParaRPr lang="en-US" dirty="0"/>
          </a:p>
          <a:p>
            <a:r>
              <a:rPr lang="en-US" dirty="0"/>
              <a:t>Monitoring of groundwater levels and surface water flow.</a:t>
            </a:r>
          </a:p>
        </p:txBody>
      </p:sp>
    </p:spTree>
    <p:extLst>
      <p:ext uri="{BB962C8B-B14F-4D97-AF65-F5344CB8AC3E}">
        <p14:creationId xmlns:p14="http://schemas.microsoft.com/office/powerpoint/2010/main" val="319039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9B778-9B02-0F63-49E4-D43624A1A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277"/>
            <a:ext cx="10515600" cy="566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5. Biodiversity</a:t>
            </a:r>
          </a:p>
          <a:p>
            <a:r>
              <a:rPr lang="en-US" dirty="0"/>
              <a:t>Definition: Biodiversity refers to the variety of plant and animal life in a particular habitat or ecosystem.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Importance in Planning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Maintains ecological balance and supports ecosystem services (e.g., pollination, pest control).</a:t>
            </a:r>
          </a:p>
          <a:p>
            <a:endParaRPr lang="en-US" dirty="0"/>
          </a:p>
          <a:p>
            <a:r>
              <a:rPr lang="en-US" dirty="0"/>
              <a:t>Protects natural habitats and endangered species.</a:t>
            </a:r>
          </a:p>
          <a:p>
            <a:endParaRPr lang="en-US" dirty="0"/>
          </a:p>
          <a:p>
            <a:r>
              <a:rPr lang="en-US" dirty="0"/>
              <a:t>High biodiversity areas may be designated for conservation or ecotourism.</a:t>
            </a:r>
          </a:p>
        </p:txBody>
      </p:sp>
    </p:spTree>
    <p:extLst>
      <p:ext uri="{BB962C8B-B14F-4D97-AF65-F5344CB8AC3E}">
        <p14:creationId xmlns:p14="http://schemas.microsoft.com/office/powerpoint/2010/main" val="368045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DE757-12ED-B444-E423-3E801F398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690" y="113736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Assessment Methods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Biodiversity surveys to identify species richness and habitat types.</a:t>
            </a:r>
          </a:p>
          <a:p>
            <a:endParaRPr lang="en-US" dirty="0"/>
          </a:p>
          <a:p>
            <a:r>
              <a:rPr lang="en-US" dirty="0"/>
              <a:t>Use of remote sensing and GIS to map ecosystems and monitor changes.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91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003FB-AF24-CAA8-249E-274E0E14F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755"/>
            <a:ext cx="10515600" cy="5459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6. Land Cover</a:t>
            </a:r>
          </a:p>
          <a:p>
            <a:r>
              <a:rPr lang="en-US" dirty="0"/>
              <a:t>Definition: Land cover refers to the physical material on the surface of the land, such as forests, urban areas, or agricultural fields.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Importance in Planning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Helps identify current land use patterns and potential conflicts.</a:t>
            </a:r>
          </a:p>
          <a:p>
            <a:endParaRPr lang="en-US" dirty="0"/>
          </a:p>
          <a:p>
            <a:r>
              <a:rPr lang="en-US" dirty="0"/>
              <a:t>Guides decisions on land conversion (e.g., forest to agriculture) and conservation.</a:t>
            </a:r>
          </a:p>
          <a:p>
            <a:endParaRPr lang="en-US" dirty="0"/>
          </a:p>
          <a:p>
            <a:r>
              <a:rPr lang="en-US" dirty="0"/>
              <a:t>Urbanized areas may require zoning regulations to manage growth.</a:t>
            </a:r>
          </a:p>
        </p:txBody>
      </p:sp>
    </p:spTree>
    <p:extLst>
      <p:ext uri="{BB962C8B-B14F-4D97-AF65-F5344CB8AC3E}">
        <p14:creationId xmlns:p14="http://schemas.microsoft.com/office/powerpoint/2010/main" val="253963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C476C-DAAE-CEB6-4454-F6C106789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4618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Assessment Methods:</a:t>
            </a:r>
          </a:p>
          <a:p>
            <a:endParaRPr lang="en-US" dirty="0"/>
          </a:p>
          <a:p>
            <a:r>
              <a:rPr lang="en-US" dirty="0"/>
              <a:t>Satellite imagery and remote sensing to classify land cover types.</a:t>
            </a:r>
          </a:p>
          <a:p>
            <a:endParaRPr lang="en-US" dirty="0"/>
          </a:p>
          <a:p>
            <a:r>
              <a:rPr lang="en-US" dirty="0"/>
              <a:t>Field surveys to validate land cover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39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5544-249B-96CB-6F83-5E731516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6BC88-C539-93CA-CF76-D666FAA2B5C6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2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315703343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7276</TotalTime>
  <Words>621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Land quality attributes</vt:lpstr>
      <vt:lpstr>Land quality attributes and their significance in the planning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bwalya.mutale.writer@gmail.com</dc:creator>
  <cp:lastModifiedBy>bwalya.mutale.writer@gmail.com</cp:lastModifiedBy>
  <cp:revision>4</cp:revision>
  <dcterms:created xsi:type="dcterms:W3CDTF">2025-02-10T18:27:09Z</dcterms:created>
  <dcterms:modified xsi:type="dcterms:W3CDTF">2026-02-09T11:35:33Z</dcterms:modified>
</cp:coreProperties>
</file>