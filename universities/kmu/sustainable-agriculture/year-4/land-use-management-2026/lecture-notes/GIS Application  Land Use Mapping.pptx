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embeddedFontLst>
    <p:embeddedFont>
      <p:font typeface="Lato" panose="020F0502020204030203" pitchFamily="34" charset="0"/>
      <p:regular r:id="rId33"/>
      <p:bold r:id="rId34"/>
      <p:italic r:id="rId35"/>
      <p:boldItalic r:id="rId36"/>
    </p:embeddedFont>
    <p:embeddedFont>
      <p:font typeface="Poppins" panose="00000500000000000000" pitchFamily="2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0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155382" y="2647523"/>
            <a:ext cx="9881235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TOOLS FOR LAND USE MAPPING</a:t>
            </a:r>
            <a:endParaRPr dirty="0"/>
          </a:p>
        </p:txBody>
      </p:sp>
      <p:sp>
        <p:nvSpPr>
          <p:cNvPr id="87" name="Google Shape;87;p13"/>
          <p:cNvSpPr/>
          <p:nvPr/>
        </p:nvSpPr>
        <p:spPr>
          <a:xfrm>
            <a:off x="5143500" y="3331815"/>
            <a:ext cx="1905000" cy="381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390650" y="3655665"/>
            <a:ext cx="94107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FC107"/>
                </a:solidFill>
                <a:latin typeface="Lato"/>
                <a:ea typeface="Lato"/>
                <a:cs typeface="Lato"/>
                <a:sym typeface="Lato"/>
              </a:rPr>
              <a:t>Lecturer: </a:t>
            </a:r>
            <a:r>
              <a:rPr lang="en-US" sz="2100" b="1" dirty="0" err="1">
                <a:solidFill>
                  <a:srgbClr val="FFC107"/>
                </a:solidFill>
                <a:latin typeface="Lato"/>
                <a:ea typeface="Lato"/>
                <a:cs typeface="Lato"/>
                <a:sym typeface="Lato"/>
              </a:rPr>
              <a:t>Mr.B.Mutale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1390649" y="2436724"/>
            <a:ext cx="94107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chemeClr val="accent6">
                    <a:lumMod val="75000"/>
                  </a:schemeClr>
                </a:solidFill>
                <a:latin typeface="Lato"/>
                <a:ea typeface="Lato"/>
                <a:cs typeface="Lato"/>
                <a:sym typeface="Lato"/>
              </a:rPr>
              <a:t>Kapasa Makasa University</a:t>
            </a:r>
            <a:endParaRPr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228D74-74AA-3BDD-D368-30B199976B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7710" y="340457"/>
            <a:ext cx="2356578" cy="21148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/>
        </p:nvSpPr>
        <p:spPr>
          <a:xfrm>
            <a:off x="2995612" y="2208014"/>
            <a:ext cx="620077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C107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619750" y="3636764"/>
            <a:ext cx="952500" cy="5715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2286000" y="3979664"/>
            <a:ext cx="7620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Setting the stage: Why do we need specialized tools for mapping the Earth's surface?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545258"/>
            <a:ext cx="5334000" cy="2672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545258"/>
            <a:ext cx="5334000" cy="267235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866775" y="3488233"/>
            <a:ext cx="498062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E7D32"/>
                </a:solidFill>
                <a:latin typeface="Poppins"/>
                <a:ea typeface="Poppins"/>
                <a:cs typeface="Poppins"/>
                <a:sym typeface="Poppins"/>
              </a:rPr>
              <a:t>Food Security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66775" y="3916858"/>
            <a:ext cx="47434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Monitoring agricultural land use to predict crop yields and manage irrigation in Zambia’s Muchinga province.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581775" y="3488233"/>
            <a:ext cx="498062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E7D32"/>
                </a:solidFill>
                <a:latin typeface="Poppins"/>
                <a:ea typeface="Poppins"/>
                <a:cs typeface="Poppins"/>
                <a:sym typeface="Poppins"/>
              </a:rPr>
              <a:t>Urban Planning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581775" y="3916858"/>
            <a:ext cx="47434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Tracking rapid urban expansion in Chinsali and Lusaka to provide sustainable infrastructure and services.</a:t>
            </a:r>
            <a:endParaRPr/>
          </a:p>
        </p:txBody>
      </p:sp>
      <p:pic>
        <p:nvPicPr>
          <p:cNvPr id="109" name="Google Shape;10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6775" y="287863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1775" y="2878633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762000" y="571500"/>
            <a:ext cx="11430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A237E"/>
                </a:solidFill>
                <a:latin typeface="Poppins"/>
                <a:ea typeface="Poppins"/>
                <a:cs typeface="Poppins"/>
                <a:sym typeface="Poppins"/>
              </a:rPr>
              <a:t>WHY MAPPING MATTERS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1476375"/>
            <a:ext cx="5334000" cy="876523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571500" y="1476375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A237E"/>
                </a:solidFill>
                <a:latin typeface="Poppins"/>
                <a:ea typeface="Poppins"/>
                <a:cs typeface="Poppins"/>
                <a:sym typeface="Poppins"/>
              </a:rPr>
              <a:t>Understanding the Difference</a:t>
            </a:r>
            <a:endParaRPr/>
          </a:p>
        </p:txBody>
      </p:sp>
      <p:pic>
        <p:nvPicPr>
          <p:cNvPr id="120" name="Google Shape;12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68321" y="1614487"/>
            <a:ext cx="5334000" cy="8765232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571500" y="1752600"/>
            <a:ext cx="5334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Land Cover: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physical material at the surface (e.g., forest, water, soil).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571500" y="2613421"/>
            <a:ext cx="5334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Land Use: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human activity or economic function of that land (e.g., recreation, grazing, residential).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762000" y="571500"/>
            <a:ext cx="11430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A237E"/>
                </a:solidFill>
                <a:latin typeface="Poppins"/>
                <a:ea typeface="Poppins"/>
                <a:cs typeface="Poppins"/>
                <a:sym typeface="Poppins"/>
              </a:rPr>
              <a:t>LAND USE VS. LAND COVER</a:t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/>
          <p:nvPr/>
        </p:nvSpPr>
        <p:spPr>
          <a:xfrm>
            <a:off x="571500" y="4113014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521780" y="4055864"/>
            <a:ext cx="208822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E7D32"/>
                </a:solidFill>
                <a:latin typeface="Poppins"/>
                <a:ea typeface="Poppins"/>
                <a:cs typeface="Poppins"/>
                <a:sym typeface="Poppins"/>
              </a:rPr>
              <a:t>Planning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571500" y="4408289"/>
            <a:ext cx="198879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Defining scope &amp; tools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2786795" y="4055864"/>
            <a:ext cx="208822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E7D32"/>
                </a:solidFill>
                <a:latin typeface="Poppins"/>
                <a:ea typeface="Poppins"/>
                <a:cs typeface="Poppins"/>
                <a:sym typeface="Poppins"/>
              </a:rPr>
              <a:t>Acquisition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2836515" y="4408289"/>
            <a:ext cx="198879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Sensing &amp; GPS</a:t>
            </a:r>
            <a:endParaRPr dirty="0"/>
          </a:p>
        </p:txBody>
      </p:sp>
      <p:sp>
        <p:nvSpPr>
          <p:cNvPr id="135" name="Google Shape;135;p17"/>
          <p:cNvSpPr txBox="1"/>
          <p:nvPr/>
        </p:nvSpPr>
        <p:spPr>
          <a:xfrm>
            <a:off x="5051810" y="4055864"/>
            <a:ext cx="208822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E7D32"/>
                </a:solidFill>
                <a:latin typeface="Poppins"/>
                <a:ea typeface="Poppins"/>
                <a:cs typeface="Poppins"/>
                <a:sym typeface="Poppins"/>
              </a:rPr>
              <a:t>Processing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5101530" y="4408289"/>
            <a:ext cx="198879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GIS Analysis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7316825" y="4055864"/>
            <a:ext cx="208822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E7D32"/>
                </a:solidFill>
                <a:latin typeface="Poppins"/>
                <a:ea typeface="Poppins"/>
                <a:cs typeface="Poppins"/>
                <a:sym typeface="Poppins"/>
              </a:rPr>
              <a:t>Validation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7366545" y="4408289"/>
            <a:ext cx="198879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Field verification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9581841" y="4055864"/>
            <a:ext cx="208822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E7D32"/>
                </a:solidFill>
                <a:latin typeface="Poppins"/>
                <a:ea typeface="Poppins"/>
                <a:cs typeface="Poppins"/>
                <a:sym typeface="Poppins"/>
              </a:rPr>
              <a:t>Dissemination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9631560" y="4408289"/>
            <a:ext cx="198879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Maps &amp; Reports</a:t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1451520" y="3636764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A237E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3716535" y="3636764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A237E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5981551" y="3636764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A237E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8246566" y="3636764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A237E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10511581" y="3636764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A237E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762000" y="571500"/>
            <a:ext cx="11430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A237E"/>
                </a:solidFill>
                <a:latin typeface="Poppins"/>
                <a:ea typeface="Poppins"/>
                <a:cs typeface="Poppins"/>
                <a:sym typeface="Poppins"/>
              </a:rPr>
              <a:t>THE MAPPING WORKFLOW</a:t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880419"/>
            <a:ext cx="3492400" cy="2002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650" y="2880419"/>
            <a:ext cx="3492549" cy="2002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950" y="2880419"/>
            <a:ext cx="3492400" cy="200203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866775" y="3823394"/>
            <a:ext cx="304694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E7D32"/>
                </a:solidFill>
                <a:latin typeface="Poppins"/>
                <a:ea typeface="Poppins"/>
                <a:cs typeface="Poppins"/>
                <a:sym typeface="Poppins"/>
              </a:rPr>
              <a:t>Remote Sensing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866775" y="4252019"/>
            <a:ext cx="29018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Satellites, Aircraft, Drones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4644925" y="3823394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E7D32"/>
                </a:solidFill>
                <a:latin typeface="Poppins"/>
                <a:ea typeface="Poppins"/>
                <a:cs typeface="Poppins"/>
                <a:sym typeface="Poppins"/>
              </a:rPr>
              <a:t>Field Survey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4644925" y="4252019"/>
            <a:ext cx="2901999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GPS/GNSS, Mobile Apps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8423225" y="3823394"/>
            <a:ext cx="304694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E7D32"/>
                </a:solidFill>
                <a:latin typeface="Poppins"/>
                <a:ea typeface="Poppins"/>
                <a:cs typeface="Poppins"/>
                <a:sym typeface="Poppins"/>
              </a:rPr>
              <a:t>Software/GIS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8423225" y="4252019"/>
            <a:ext cx="29018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Analysis &amp; Storage</a:t>
            </a:r>
            <a:endParaRPr/>
          </a:p>
        </p:txBody>
      </p:sp>
      <p:pic>
        <p:nvPicPr>
          <p:cNvPr id="162" name="Google Shape;162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321379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44925" y="321379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23225" y="3213794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762000" y="571500"/>
            <a:ext cx="11430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A237E"/>
                </a:solidFill>
                <a:latin typeface="Poppins"/>
                <a:ea typeface="Poppins"/>
                <a:cs typeface="Poppins"/>
                <a:sym typeface="Poppins"/>
              </a:rPr>
              <a:t>MAIN TOOL CATEGORIES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/>
          <p:nvPr/>
        </p:nvSpPr>
        <p:spPr>
          <a:xfrm>
            <a:off x="5619750" y="2661344"/>
            <a:ext cx="952500" cy="5715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2665571" y="3004244"/>
            <a:ext cx="686085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C107"/>
                </a:solidFill>
                <a:latin typeface="Poppins"/>
                <a:ea typeface="Poppins"/>
                <a:cs typeface="Poppins"/>
                <a:sym typeface="Poppins"/>
              </a:rPr>
              <a:t>REMOTE SENSING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4414837" y="4147244"/>
            <a:ext cx="3362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Eyes in the sky: Data from a distance.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2365920"/>
            <a:ext cx="5334000" cy="3030884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571500" y="2365920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A237E"/>
                </a:solidFill>
                <a:latin typeface="Poppins"/>
                <a:ea typeface="Poppins"/>
                <a:cs typeface="Poppins"/>
                <a:sym typeface="Poppins"/>
              </a:rPr>
              <a:t>The Gold Standard</a:t>
            </a:r>
            <a:endParaRPr/>
          </a:p>
        </p:txBody>
      </p:sp>
      <p:pic>
        <p:nvPicPr>
          <p:cNvPr id="182" name="Google Shape;18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365920"/>
            <a:ext cx="5334000" cy="3030884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638175" y="2643098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762000" y="2642145"/>
            <a:ext cx="51435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50+ years of continuous Earth records.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638175" y="2978259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762000" y="2977306"/>
            <a:ext cx="51435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Resolution: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30 meters (Perfect for regional mapping).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638175" y="3313420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762000" y="3312467"/>
            <a:ext cx="51435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Availability: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Completely Free.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638175" y="3648581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762000" y="3647628"/>
            <a:ext cx="5143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Essential for tracking deforestation trends in Zambia since the 1970s.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762000" y="571500"/>
            <a:ext cx="11430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A237E"/>
                </a:solidFill>
                <a:latin typeface="Poppins"/>
                <a:ea typeface="Poppins"/>
                <a:cs typeface="Poppins"/>
                <a:sym typeface="Poppins"/>
              </a:rPr>
              <a:t>NASA/USGS LANDSAT</a:t>
            </a:r>
            <a:endParaRPr/>
          </a:p>
        </p:txBody>
      </p:sp>
      <p:sp>
        <p:nvSpPr>
          <p:cNvPr id="192" name="Google Shape;192;p20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/>
        </p:nvSpPr>
        <p:spPr>
          <a:xfrm>
            <a:off x="571500" y="3073003"/>
            <a:ext cx="52006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A237E"/>
                </a:solidFill>
                <a:latin typeface="Poppins"/>
                <a:ea typeface="Poppins"/>
                <a:cs typeface="Poppins"/>
                <a:sym typeface="Poppins"/>
              </a:rPr>
              <a:t>High-Frequency Monitoring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571500" y="3349228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Provides 10-meter resolution images every 5 days globally.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571500" y="4019550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13 spectral bands allow for sophisticated vegetation analysis (NDVI) and agricultural health monitoring.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762000" y="571500"/>
            <a:ext cx="50006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A237E"/>
                </a:solidFill>
                <a:latin typeface="Poppins"/>
                <a:ea typeface="Poppins"/>
                <a:cs typeface="Poppins"/>
                <a:sym typeface="Poppins"/>
              </a:rPr>
              <a:t>ESA SENTINEL-2</a:t>
            </a:r>
            <a:endParaRPr/>
          </a:p>
        </p:txBody>
      </p:sp>
      <p:sp>
        <p:nvSpPr>
          <p:cNvPr id="203" name="Google Shape;203;p21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"/>
          <p:cNvSpPr txBox="1"/>
          <p:nvPr/>
        </p:nvSpPr>
        <p:spPr>
          <a:xfrm>
            <a:off x="952500" y="2830115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PlanetScope: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Daily imagery of the whole world at 3m resolution.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952500" y="3355776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WorldView: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Sub-meter resolution (30-50cm) for identifying individual buildings or trees.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952500" y="3881437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Maxar/DigitalGlobe: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Industry leaders in commercial high-res tasks.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952500" y="4407098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Application: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Critical for urban cadastral mapping and security monitoring.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762000" y="571500"/>
            <a:ext cx="11430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A237E"/>
                </a:solidFill>
                <a:latin typeface="Poppins"/>
                <a:ea typeface="Poppins"/>
                <a:cs typeface="Poppins"/>
                <a:sym typeface="Poppins"/>
              </a:rPr>
              <a:t>VERY HIGH RESOLUTION (VHR)</a:t>
            </a:r>
            <a:endParaRPr/>
          </a:p>
        </p:txBody>
      </p:sp>
      <p:sp>
        <p:nvSpPr>
          <p:cNvPr id="214" name="Google Shape;214;p22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83011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355776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88143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407098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69108"/>
            <a:ext cx="5334000" cy="2024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869108"/>
            <a:ext cx="5334000" cy="2024657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3"/>
          <p:cNvSpPr txBox="1"/>
          <p:nvPr/>
        </p:nvSpPr>
        <p:spPr>
          <a:xfrm>
            <a:off x="866775" y="3164383"/>
            <a:ext cx="498062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E7D32"/>
                </a:solidFill>
                <a:latin typeface="Poppins"/>
                <a:ea typeface="Poppins"/>
                <a:cs typeface="Poppins"/>
                <a:sym typeface="Poppins"/>
              </a:rPr>
              <a:t>Cloud Penetration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866775" y="3593008"/>
            <a:ext cx="47434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Synthetic Aperture Radar (SAR) like Sentinel-1 uses microwave pulses that pass through clouds, smoke, and rain.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6581775" y="3164383"/>
            <a:ext cx="498062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E7D32"/>
                </a:solidFill>
                <a:latin typeface="Poppins"/>
                <a:ea typeface="Poppins"/>
                <a:cs typeface="Poppins"/>
                <a:sym typeface="Poppins"/>
              </a:rPr>
              <a:t>Day/Night Capability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6581775" y="3593008"/>
            <a:ext cx="47434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Active sensors provide their own light source, allowing mapping during the night—crucial for flood monitoring during Zambia's rainy season.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762000" y="571500"/>
            <a:ext cx="11430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A237E"/>
                </a:solidFill>
                <a:latin typeface="Poppins"/>
                <a:ea typeface="Poppins"/>
                <a:cs typeface="Poppins"/>
                <a:sym typeface="Poppins"/>
              </a:rPr>
              <a:t>RADAR MAPPING (SAR)</a:t>
            </a:r>
            <a:endParaRPr/>
          </a:p>
        </p:txBody>
      </p:sp>
      <p:sp>
        <p:nvSpPr>
          <p:cNvPr id="231" name="Google Shape;231;p23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2366962"/>
            <a:ext cx="5334000" cy="302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4"/>
          <p:cNvSpPr txBox="1"/>
          <p:nvPr/>
        </p:nvSpPr>
        <p:spPr>
          <a:xfrm>
            <a:off x="571500" y="2366962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A237E"/>
                </a:solidFill>
                <a:latin typeface="Poppins"/>
                <a:ea typeface="Poppins"/>
                <a:cs typeface="Poppins"/>
                <a:sym typeface="Poppins"/>
              </a:rPr>
              <a:t>Precision on Demand</a:t>
            </a: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571500" y="2643187"/>
            <a:ext cx="5334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Drones (UAVs) provide centimeter-level resolution (GSD) for small project areas.</a:t>
            </a:r>
            <a:endParaRPr/>
          </a:p>
        </p:txBody>
      </p:sp>
      <p:sp>
        <p:nvSpPr>
          <p:cNvPr id="240" name="Google Shape;240;p24"/>
          <p:cNvSpPr txBox="1"/>
          <p:nvPr/>
        </p:nvSpPr>
        <p:spPr>
          <a:xfrm>
            <a:off x="571500" y="3504009"/>
            <a:ext cx="5334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Use Case: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Creating high-fidelity maps for Chinsali municipal planning or individual farm plot monitoring.</a:t>
            </a:r>
            <a:endParaRPr/>
          </a:p>
        </p:txBody>
      </p:sp>
      <p:pic>
        <p:nvPicPr>
          <p:cNvPr id="241" name="Google Shape;241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366962"/>
            <a:ext cx="5334000" cy="302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4"/>
          <p:cNvSpPr txBox="1"/>
          <p:nvPr/>
        </p:nvSpPr>
        <p:spPr>
          <a:xfrm>
            <a:off x="762000" y="571500"/>
            <a:ext cx="11430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A237E"/>
                </a:solidFill>
                <a:latin typeface="Poppins"/>
                <a:ea typeface="Poppins"/>
                <a:cs typeface="Poppins"/>
                <a:sym typeface="Poppins"/>
              </a:rPr>
              <a:t>UNMANNED AERIAL VEHICLES</a:t>
            </a:r>
            <a:endParaRPr/>
          </a:p>
        </p:txBody>
      </p:sp>
      <p:sp>
        <p:nvSpPr>
          <p:cNvPr id="243" name="Google Shape;243;p24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5"/>
          <p:cNvSpPr txBox="1"/>
          <p:nvPr/>
        </p:nvSpPr>
        <p:spPr>
          <a:xfrm>
            <a:off x="571500" y="3073003"/>
            <a:ext cx="52006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A237E"/>
                </a:solidFill>
                <a:latin typeface="Poppins"/>
                <a:ea typeface="Poppins"/>
                <a:cs typeface="Poppins"/>
                <a:sym typeface="Poppins"/>
              </a:rPr>
              <a:t>3D Structure Mapping</a:t>
            </a:r>
            <a:endParaRPr/>
          </a:p>
        </p:txBody>
      </p:sp>
      <p:sp>
        <p:nvSpPr>
          <p:cNvPr id="251" name="Google Shape;251;p25"/>
          <p:cNvSpPr txBox="1"/>
          <p:nvPr/>
        </p:nvSpPr>
        <p:spPr>
          <a:xfrm>
            <a:off x="571500" y="3349228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Uses laser pulses to measure distance.</a:t>
            </a:r>
            <a:endParaRPr/>
          </a:p>
        </p:txBody>
      </p:sp>
      <p:sp>
        <p:nvSpPr>
          <p:cNvPr id="252" name="Google Shape;252;p25"/>
          <p:cNvSpPr txBox="1"/>
          <p:nvPr/>
        </p:nvSpPr>
        <p:spPr>
          <a:xfrm>
            <a:off x="571500" y="3684389"/>
            <a:ext cx="49530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Can "see through" tree canopies to map the terrain (Digital Terrain Model) and measure forest biomass with incredible accuracy.</a:t>
            </a:r>
            <a:endParaRPr/>
          </a:p>
        </p:txBody>
      </p:sp>
      <p:sp>
        <p:nvSpPr>
          <p:cNvPr id="253" name="Google Shape;253;p25"/>
          <p:cNvSpPr txBox="1"/>
          <p:nvPr/>
        </p:nvSpPr>
        <p:spPr>
          <a:xfrm>
            <a:off x="762000" y="571500"/>
            <a:ext cx="50006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A237E"/>
                </a:solidFill>
                <a:latin typeface="Poppins"/>
                <a:ea typeface="Poppins"/>
                <a:cs typeface="Poppins"/>
                <a:sym typeface="Poppins"/>
              </a:rPr>
              <a:t>LIDAR TECHNOLOGY</a:t>
            </a:r>
            <a:endParaRPr/>
          </a:p>
        </p:txBody>
      </p:sp>
      <p:sp>
        <p:nvSpPr>
          <p:cNvPr id="254" name="Google Shape;254;p2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5619750" y="2661344"/>
            <a:ext cx="952500" cy="5715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6"/>
          <p:cNvSpPr txBox="1"/>
          <p:nvPr/>
        </p:nvSpPr>
        <p:spPr>
          <a:xfrm>
            <a:off x="1825466" y="3004244"/>
            <a:ext cx="854106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C107"/>
                </a:solidFill>
                <a:latin typeface="Poppins"/>
                <a:ea typeface="Poppins"/>
                <a:cs typeface="Poppins"/>
                <a:sym typeface="Poppins"/>
              </a:rPr>
              <a:t>FIELD SURVEY &amp; GNSS</a:t>
            </a:r>
            <a:endParaRPr/>
          </a:p>
        </p:txBody>
      </p:sp>
      <p:sp>
        <p:nvSpPr>
          <p:cNvPr id="262" name="Google Shape;262;p26"/>
          <p:cNvSpPr txBox="1"/>
          <p:nvPr/>
        </p:nvSpPr>
        <p:spPr>
          <a:xfrm>
            <a:off x="4186237" y="4147244"/>
            <a:ext cx="38195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Ground-truthing and absolute positioning.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533947"/>
            <a:ext cx="5334000" cy="2694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533947"/>
            <a:ext cx="5334000" cy="2694979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7"/>
          <p:cNvSpPr txBox="1"/>
          <p:nvPr/>
        </p:nvSpPr>
        <p:spPr>
          <a:xfrm>
            <a:off x="866775" y="2829222"/>
            <a:ext cx="498062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E7D32"/>
                </a:solidFill>
                <a:latin typeface="Poppins"/>
                <a:ea typeface="Poppins"/>
                <a:cs typeface="Poppins"/>
                <a:sym typeface="Poppins"/>
              </a:rPr>
              <a:t>Beyond "GPS"</a:t>
            </a:r>
            <a:endParaRPr/>
          </a:p>
        </p:txBody>
      </p:sp>
      <p:sp>
        <p:nvSpPr>
          <p:cNvPr id="271" name="Google Shape;271;p27"/>
          <p:cNvSpPr txBox="1"/>
          <p:nvPr/>
        </p:nvSpPr>
        <p:spPr>
          <a:xfrm>
            <a:off x="866775" y="3257847"/>
            <a:ext cx="47434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Global Navigation Satellite Systems (GNSS) include:</a:t>
            </a:r>
            <a:endParaRPr/>
          </a:p>
        </p:txBody>
      </p:sp>
      <p:sp>
        <p:nvSpPr>
          <p:cNvPr id="272" name="Google Shape;272;p27"/>
          <p:cNvSpPr txBox="1"/>
          <p:nvPr/>
        </p:nvSpPr>
        <p:spPr>
          <a:xfrm>
            <a:off x="6581775" y="2829222"/>
            <a:ext cx="498062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E7D32"/>
                </a:solidFill>
                <a:latin typeface="Poppins"/>
                <a:ea typeface="Poppins"/>
                <a:cs typeface="Poppins"/>
                <a:sym typeface="Poppins"/>
              </a:rPr>
              <a:t>Positional Accuracy</a:t>
            </a:r>
            <a:endParaRPr/>
          </a:p>
        </p:txBody>
      </p:sp>
      <p:sp>
        <p:nvSpPr>
          <p:cNvPr id="273" name="Google Shape;273;p27"/>
          <p:cNvSpPr txBox="1"/>
          <p:nvPr/>
        </p:nvSpPr>
        <p:spPr>
          <a:xfrm>
            <a:off x="6581775" y="3257847"/>
            <a:ext cx="47434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accuracy depends on the number of satellites in view and the receiver quality. Essential for fixing land boundaries.</a:t>
            </a:r>
            <a:endParaRPr/>
          </a:p>
        </p:txBody>
      </p:sp>
      <p:sp>
        <p:nvSpPr>
          <p:cNvPr id="274" name="Google Shape;274;p27"/>
          <p:cNvSpPr txBox="1"/>
          <p:nvPr/>
        </p:nvSpPr>
        <p:spPr>
          <a:xfrm>
            <a:off x="933450" y="3593961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5" name="Google Shape;275;p27"/>
          <p:cNvSpPr txBox="1"/>
          <p:nvPr/>
        </p:nvSpPr>
        <p:spPr>
          <a:xfrm>
            <a:off x="1057275" y="3593008"/>
            <a:ext cx="4552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GPS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(USA)</a:t>
            </a:r>
            <a:endParaRPr/>
          </a:p>
        </p:txBody>
      </p:sp>
      <p:sp>
        <p:nvSpPr>
          <p:cNvPr id="276" name="Google Shape;276;p27"/>
          <p:cNvSpPr txBox="1"/>
          <p:nvPr/>
        </p:nvSpPr>
        <p:spPr>
          <a:xfrm>
            <a:off x="933450" y="3929122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7" name="Google Shape;277;p27"/>
          <p:cNvSpPr txBox="1"/>
          <p:nvPr/>
        </p:nvSpPr>
        <p:spPr>
          <a:xfrm>
            <a:off x="1057275" y="3928169"/>
            <a:ext cx="4552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GLONASS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(Russia)</a:t>
            </a:r>
            <a:endParaRPr/>
          </a:p>
        </p:txBody>
      </p:sp>
      <p:sp>
        <p:nvSpPr>
          <p:cNvPr id="278" name="Google Shape;278;p27"/>
          <p:cNvSpPr txBox="1"/>
          <p:nvPr/>
        </p:nvSpPr>
        <p:spPr>
          <a:xfrm>
            <a:off x="933450" y="4264282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9" name="Google Shape;279;p27"/>
          <p:cNvSpPr txBox="1"/>
          <p:nvPr/>
        </p:nvSpPr>
        <p:spPr>
          <a:xfrm>
            <a:off x="1057275" y="4263330"/>
            <a:ext cx="4552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Galileo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(Europe)</a:t>
            </a:r>
            <a:endParaRPr/>
          </a:p>
        </p:txBody>
      </p:sp>
      <p:sp>
        <p:nvSpPr>
          <p:cNvPr id="280" name="Google Shape;280;p27"/>
          <p:cNvSpPr txBox="1"/>
          <p:nvPr/>
        </p:nvSpPr>
        <p:spPr>
          <a:xfrm>
            <a:off x="933450" y="4599443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1" name="Google Shape;281;p27"/>
          <p:cNvSpPr txBox="1"/>
          <p:nvPr/>
        </p:nvSpPr>
        <p:spPr>
          <a:xfrm>
            <a:off x="1057275" y="4598491"/>
            <a:ext cx="4552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BeiDou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(China)</a:t>
            </a:r>
            <a:endParaRPr/>
          </a:p>
        </p:txBody>
      </p:sp>
      <p:sp>
        <p:nvSpPr>
          <p:cNvPr id="282" name="Google Shape;282;p27"/>
          <p:cNvSpPr txBox="1"/>
          <p:nvPr/>
        </p:nvSpPr>
        <p:spPr>
          <a:xfrm>
            <a:off x="762000" y="571500"/>
            <a:ext cx="11430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A237E"/>
                </a:solidFill>
                <a:latin typeface="Poppins"/>
                <a:ea typeface="Poppins"/>
                <a:cs typeface="Poppins"/>
                <a:sym typeface="Poppins"/>
              </a:rPr>
              <a:t>GNSS BASICS</a:t>
            </a:r>
            <a:endParaRPr/>
          </a:p>
        </p:txBody>
      </p:sp>
      <p:sp>
        <p:nvSpPr>
          <p:cNvPr id="283" name="Google Shape;283;p27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476375"/>
            <a:ext cx="5334000" cy="536257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8"/>
          <p:cNvSpPr txBox="1"/>
          <p:nvPr/>
        </p:nvSpPr>
        <p:spPr>
          <a:xfrm>
            <a:off x="571500" y="1476375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A237E"/>
                </a:solidFill>
                <a:latin typeface="Poppins"/>
                <a:ea typeface="Poppins"/>
                <a:cs typeface="Poppins"/>
                <a:sym typeface="Poppins"/>
              </a:rPr>
              <a:t>Differential &amp; RTK</a:t>
            </a:r>
            <a:endParaRPr/>
          </a:p>
        </p:txBody>
      </p:sp>
      <p:sp>
        <p:nvSpPr>
          <p:cNvPr id="291" name="Google Shape;291;p28"/>
          <p:cNvSpPr txBox="1"/>
          <p:nvPr/>
        </p:nvSpPr>
        <p:spPr>
          <a:xfrm>
            <a:off x="571500" y="1752600"/>
            <a:ext cx="5334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Real-Time Kinematic (RTK) GPS provides 1-3cm accuracy by using a base station and a rover.</a:t>
            </a:r>
            <a:endParaRPr/>
          </a:p>
        </p:txBody>
      </p:sp>
      <p:sp>
        <p:nvSpPr>
          <p:cNvPr id="292" name="Google Shape;292;p28"/>
          <p:cNvSpPr txBox="1"/>
          <p:nvPr/>
        </p:nvSpPr>
        <p:spPr>
          <a:xfrm>
            <a:off x="571500" y="2613421"/>
            <a:ext cx="5334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Professional brands like Trimble, Leica, and Topcon are common in Zambian civil engineering and survey firms.</a:t>
            </a:r>
            <a:endParaRPr/>
          </a:p>
        </p:txBody>
      </p:sp>
      <p:pic>
        <p:nvPicPr>
          <p:cNvPr id="293" name="Google Shape;293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476375"/>
            <a:ext cx="5334000" cy="536257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8"/>
          <p:cNvSpPr txBox="1"/>
          <p:nvPr/>
        </p:nvSpPr>
        <p:spPr>
          <a:xfrm>
            <a:off x="762000" y="571500"/>
            <a:ext cx="11430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A237E"/>
                </a:solidFill>
                <a:latin typeface="Poppins"/>
                <a:ea typeface="Poppins"/>
                <a:cs typeface="Poppins"/>
                <a:sym typeface="Poppins"/>
              </a:rPr>
              <a:t>SURVEY-GRADE HARDWARE</a:t>
            </a:r>
            <a:endParaRPr/>
          </a:p>
        </p:txBody>
      </p:sp>
      <p:sp>
        <p:nvSpPr>
          <p:cNvPr id="295" name="Google Shape;295;p28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77678"/>
            <a:ext cx="3492400" cy="3007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377678"/>
            <a:ext cx="3492549" cy="3007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377678"/>
            <a:ext cx="3492400" cy="3007518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9"/>
          <p:cNvSpPr txBox="1"/>
          <p:nvPr/>
        </p:nvSpPr>
        <p:spPr>
          <a:xfrm>
            <a:off x="866775" y="3320653"/>
            <a:ext cx="304694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E7D32"/>
                </a:solidFill>
                <a:latin typeface="Poppins"/>
                <a:ea typeface="Poppins"/>
                <a:cs typeface="Poppins"/>
                <a:sym typeface="Poppins"/>
              </a:rPr>
              <a:t>KoboToolbox</a:t>
            </a:r>
            <a:endParaRPr/>
          </a:p>
        </p:txBody>
      </p:sp>
      <p:sp>
        <p:nvSpPr>
          <p:cNvPr id="305" name="Google Shape;305;p29"/>
          <p:cNvSpPr txBox="1"/>
          <p:nvPr/>
        </p:nvSpPr>
        <p:spPr>
          <a:xfrm>
            <a:off x="866775" y="3749278"/>
            <a:ext cx="2901850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Free, open-source tool for field data collection on Android devices. Used for social surveys and ground-truthing.</a:t>
            </a:r>
            <a:endParaRPr/>
          </a:p>
        </p:txBody>
      </p:sp>
      <p:sp>
        <p:nvSpPr>
          <p:cNvPr id="306" name="Google Shape;306;p29"/>
          <p:cNvSpPr txBox="1"/>
          <p:nvPr/>
        </p:nvSpPr>
        <p:spPr>
          <a:xfrm>
            <a:off x="4644925" y="3320653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E7D32"/>
                </a:solidFill>
                <a:latin typeface="Poppins"/>
                <a:ea typeface="Poppins"/>
                <a:cs typeface="Poppins"/>
                <a:sym typeface="Poppins"/>
              </a:rPr>
              <a:t>ArcGIS Field Maps</a:t>
            </a:r>
            <a:endParaRPr/>
          </a:p>
        </p:txBody>
      </p:sp>
      <p:sp>
        <p:nvSpPr>
          <p:cNvPr id="307" name="Google Shape;307;p29"/>
          <p:cNvSpPr txBox="1"/>
          <p:nvPr/>
        </p:nvSpPr>
        <p:spPr>
          <a:xfrm>
            <a:off x="4644925" y="3749278"/>
            <a:ext cx="2901999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Mobile app for field workers to view and update GIS maps in real-time synced with the office.</a:t>
            </a:r>
            <a:endParaRPr/>
          </a:p>
        </p:txBody>
      </p:sp>
      <p:sp>
        <p:nvSpPr>
          <p:cNvPr id="308" name="Google Shape;308;p29"/>
          <p:cNvSpPr txBox="1"/>
          <p:nvPr/>
        </p:nvSpPr>
        <p:spPr>
          <a:xfrm>
            <a:off x="8423225" y="3320653"/>
            <a:ext cx="304694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E7D32"/>
                </a:solidFill>
                <a:latin typeface="Poppins"/>
                <a:ea typeface="Poppins"/>
                <a:cs typeface="Poppins"/>
                <a:sym typeface="Poppins"/>
              </a:rPr>
              <a:t>Avenza Maps</a:t>
            </a:r>
            <a:endParaRPr/>
          </a:p>
        </p:txBody>
      </p:sp>
      <p:sp>
        <p:nvSpPr>
          <p:cNvPr id="309" name="Google Shape;309;p29"/>
          <p:cNvSpPr txBox="1"/>
          <p:nvPr/>
        </p:nvSpPr>
        <p:spPr>
          <a:xfrm>
            <a:off x="8423225" y="3749278"/>
            <a:ext cx="29018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Allows use of geo-referenced PDF maps offline. Great for forest patrol and remote areas.</a:t>
            </a:r>
            <a:endParaRPr/>
          </a:p>
        </p:txBody>
      </p:sp>
      <p:pic>
        <p:nvPicPr>
          <p:cNvPr id="310" name="Google Shape;310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2711053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44925" y="2711053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23225" y="271105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9"/>
          <p:cNvSpPr txBox="1"/>
          <p:nvPr/>
        </p:nvSpPr>
        <p:spPr>
          <a:xfrm>
            <a:off x="762000" y="571500"/>
            <a:ext cx="11430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A237E"/>
                </a:solidFill>
                <a:latin typeface="Poppins"/>
                <a:ea typeface="Poppins"/>
                <a:cs typeface="Poppins"/>
                <a:sym typeface="Poppins"/>
              </a:rPr>
              <a:t>MOBILE DATA COLLECTION</a:t>
            </a:r>
            <a:endParaRPr/>
          </a:p>
        </p:txBody>
      </p:sp>
      <p:sp>
        <p:nvSpPr>
          <p:cNvPr id="314" name="Google Shape;314;p29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0"/>
          <p:cNvSpPr/>
          <p:nvPr/>
        </p:nvSpPr>
        <p:spPr>
          <a:xfrm>
            <a:off x="5619750" y="2661344"/>
            <a:ext cx="952500" cy="5715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0"/>
          <p:cNvSpPr txBox="1"/>
          <p:nvPr/>
        </p:nvSpPr>
        <p:spPr>
          <a:xfrm>
            <a:off x="1595437" y="3004244"/>
            <a:ext cx="900112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C107"/>
                </a:solidFill>
                <a:latin typeface="Poppins"/>
                <a:ea typeface="Poppins"/>
                <a:cs typeface="Poppins"/>
                <a:sym typeface="Poppins"/>
              </a:rPr>
              <a:t>GIS &amp; ANALYSIS TOOLS</a:t>
            </a:r>
            <a:endParaRPr/>
          </a:p>
        </p:txBody>
      </p:sp>
      <p:sp>
        <p:nvSpPr>
          <p:cNvPr id="322" name="Google Shape;322;p30"/>
          <p:cNvSpPr txBox="1"/>
          <p:nvPr/>
        </p:nvSpPr>
        <p:spPr>
          <a:xfrm>
            <a:off x="4552950" y="4147244"/>
            <a:ext cx="30861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Turning raw data into intelligence.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1476375"/>
            <a:ext cx="5334000" cy="5023991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1"/>
          <p:cNvSpPr txBox="1"/>
          <p:nvPr/>
        </p:nvSpPr>
        <p:spPr>
          <a:xfrm>
            <a:off x="571500" y="1476375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A237E"/>
                </a:solidFill>
                <a:latin typeface="Poppins"/>
                <a:ea typeface="Poppins"/>
                <a:cs typeface="Poppins"/>
                <a:sym typeface="Poppins"/>
              </a:rPr>
              <a:t>Industry Standard</a:t>
            </a:r>
            <a:endParaRPr/>
          </a:p>
        </p:txBody>
      </p:sp>
      <p:pic>
        <p:nvPicPr>
          <p:cNvPr id="330" name="Google Shape;330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476375"/>
            <a:ext cx="5334000" cy="5023991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1"/>
          <p:cNvSpPr txBox="1"/>
          <p:nvPr/>
        </p:nvSpPr>
        <p:spPr>
          <a:xfrm>
            <a:off x="571500" y="1752600"/>
            <a:ext cx="5334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Powerful spatial analysis tools.</a:t>
            </a:r>
            <a:endParaRPr/>
          </a:p>
        </p:txBody>
      </p:sp>
      <p:sp>
        <p:nvSpPr>
          <p:cNvPr id="332" name="Google Shape;332;p31"/>
          <p:cNvSpPr txBox="1"/>
          <p:nvPr/>
        </p:nvSpPr>
        <p:spPr>
          <a:xfrm>
            <a:off x="571500" y="2278260"/>
            <a:ext cx="5334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Extensive documentation and support.</a:t>
            </a:r>
            <a:endParaRPr/>
          </a:p>
        </p:txBody>
      </p:sp>
      <p:sp>
        <p:nvSpPr>
          <p:cNvPr id="333" name="Google Shape;333;p31"/>
          <p:cNvSpPr txBox="1"/>
          <p:nvPr/>
        </p:nvSpPr>
        <p:spPr>
          <a:xfrm>
            <a:off x="571500" y="2803921"/>
            <a:ext cx="5334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Cloud integration (ArcGIS Online).</a:t>
            </a:r>
            <a:endParaRPr/>
          </a:p>
        </p:txBody>
      </p:sp>
      <p:pic>
        <p:nvPicPr>
          <p:cNvPr id="334" name="Google Shape;334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814512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340173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865834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1"/>
          <p:cNvSpPr txBox="1"/>
          <p:nvPr/>
        </p:nvSpPr>
        <p:spPr>
          <a:xfrm>
            <a:off x="762000" y="571500"/>
            <a:ext cx="11430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A237E"/>
                </a:solidFill>
                <a:latin typeface="Poppins"/>
                <a:ea typeface="Poppins"/>
                <a:cs typeface="Poppins"/>
                <a:sym typeface="Poppins"/>
              </a:rPr>
              <a:t>DESKTOP GIS: ARCGIS PRO</a:t>
            </a:r>
            <a:endParaRPr/>
          </a:p>
        </p:txBody>
      </p:sp>
      <p:sp>
        <p:nvSpPr>
          <p:cNvPr id="338" name="Google Shape;338;p31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2456408"/>
            <a:ext cx="5334000" cy="2850058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2"/>
          <p:cNvSpPr txBox="1"/>
          <p:nvPr/>
        </p:nvSpPr>
        <p:spPr>
          <a:xfrm>
            <a:off x="571500" y="2456408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A237E"/>
                </a:solidFill>
                <a:latin typeface="Poppins"/>
                <a:ea typeface="Poppins"/>
                <a:cs typeface="Poppins"/>
                <a:sym typeface="Poppins"/>
              </a:rPr>
              <a:t>Open Source Champion</a:t>
            </a:r>
            <a:endParaRPr/>
          </a:p>
        </p:txBody>
      </p:sp>
      <p:sp>
        <p:nvSpPr>
          <p:cNvPr id="346" name="Google Shape;346;p32"/>
          <p:cNvSpPr txBox="1"/>
          <p:nvPr/>
        </p:nvSpPr>
        <p:spPr>
          <a:xfrm>
            <a:off x="571500" y="2732633"/>
            <a:ext cx="5334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Completely free and open-source. Used extensively in KMU student projects.</a:t>
            </a:r>
            <a:endParaRPr/>
          </a:p>
        </p:txBody>
      </p:sp>
      <p:sp>
        <p:nvSpPr>
          <p:cNvPr id="347" name="Google Shape;347;p32"/>
          <p:cNvSpPr txBox="1"/>
          <p:nvPr/>
        </p:nvSpPr>
        <p:spPr>
          <a:xfrm>
            <a:off x="571500" y="3593455"/>
            <a:ext cx="5334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Supports almost every spatial data format and offers thousands of user-developed plugins.</a:t>
            </a:r>
            <a:endParaRPr/>
          </a:p>
        </p:txBody>
      </p:sp>
      <p:pic>
        <p:nvPicPr>
          <p:cNvPr id="348" name="Google Shape;348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456408"/>
            <a:ext cx="5334000" cy="2850058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2"/>
          <p:cNvSpPr txBox="1"/>
          <p:nvPr/>
        </p:nvSpPr>
        <p:spPr>
          <a:xfrm>
            <a:off x="762000" y="571500"/>
            <a:ext cx="11430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A237E"/>
                </a:solidFill>
                <a:latin typeface="Poppins"/>
                <a:ea typeface="Poppins"/>
                <a:cs typeface="Poppins"/>
                <a:sym typeface="Poppins"/>
              </a:rPr>
              <a:t>DESKTOP GIS: QGIS</a:t>
            </a:r>
            <a:endParaRPr/>
          </a:p>
        </p:txBody>
      </p:sp>
      <p:sp>
        <p:nvSpPr>
          <p:cNvPr id="350" name="Google Shape;350;p32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2326778"/>
            <a:ext cx="5334000" cy="3109168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33"/>
          <p:cNvSpPr txBox="1"/>
          <p:nvPr/>
        </p:nvSpPr>
        <p:spPr>
          <a:xfrm>
            <a:off x="571500" y="2326778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A237E"/>
                </a:solidFill>
                <a:latin typeface="Poppins"/>
                <a:ea typeface="Poppins"/>
                <a:cs typeface="Poppins"/>
                <a:sym typeface="Poppins"/>
              </a:rPr>
              <a:t>Big Data Processing</a:t>
            </a:r>
            <a:endParaRPr/>
          </a:p>
        </p:txBody>
      </p:sp>
      <p:sp>
        <p:nvSpPr>
          <p:cNvPr id="358" name="Google Shape;358;p33"/>
          <p:cNvSpPr txBox="1"/>
          <p:nvPr/>
        </p:nvSpPr>
        <p:spPr>
          <a:xfrm>
            <a:off x="571500" y="2603003"/>
            <a:ext cx="5334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cloud-based platform for multi-petabyte geospatial analysis.</a:t>
            </a:r>
            <a:endParaRPr/>
          </a:p>
        </p:txBody>
      </p:sp>
      <p:sp>
        <p:nvSpPr>
          <p:cNvPr id="359" name="Google Shape;359;p33"/>
          <p:cNvSpPr txBox="1"/>
          <p:nvPr/>
        </p:nvSpPr>
        <p:spPr>
          <a:xfrm>
            <a:off x="571500" y="3463825"/>
            <a:ext cx="5334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Students can use JavaScript or Python to analyze 40 years of satellite data for the whole of Zambia in seconds.</a:t>
            </a:r>
            <a:endParaRPr/>
          </a:p>
        </p:txBody>
      </p:sp>
      <p:pic>
        <p:nvPicPr>
          <p:cNvPr id="360" name="Google Shape;360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326778"/>
            <a:ext cx="5334000" cy="3109168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3"/>
          <p:cNvSpPr txBox="1"/>
          <p:nvPr/>
        </p:nvSpPr>
        <p:spPr>
          <a:xfrm>
            <a:off x="762000" y="571500"/>
            <a:ext cx="11430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A237E"/>
                </a:solidFill>
                <a:latin typeface="Poppins"/>
                <a:ea typeface="Poppins"/>
                <a:cs typeface="Poppins"/>
                <a:sym typeface="Poppins"/>
              </a:rPr>
              <a:t>CLOUD GIS: GOOGLE EARTH ENGINE</a:t>
            </a:r>
            <a:endParaRPr/>
          </a:p>
        </p:txBody>
      </p:sp>
      <p:sp>
        <p:nvSpPr>
          <p:cNvPr id="362" name="Google Shape;362;p33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4"/>
          <p:cNvSpPr/>
          <p:nvPr/>
        </p:nvSpPr>
        <p:spPr>
          <a:xfrm>
            <a:off x="5619750" y="2661344"/>
            <a:ext cx="952500" cy="5715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4"/>
          <p:cNvSpPr txBox="1"/>
          <p:nvPr/>
        </p:nvSpPr>
        <p:spPr>
          <a:xfrm>
            <a:off x="2415539" y="3004244"/>
            <a:ext cx="736092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C107"/>
                </a:solidFill>
                <a:latin typeface="Poppins"/>
                <a:ea typeface="Poppins"/>
                <a:cs typeface="Poppins"/>
                <a:sym typeface="Poppins"/>
              </a:rPr>
              <a:t>AI &amp; AUTOMATION</a:t>
            </a:r>
            <a:endParaRPr/>
          </a:p>
        </p:txBody>
      </p:sp>
      <p:sp>
        <p:nvSpPr>
          <p:cNvPr id="370" name="Google Shape;370;p34"/>
          <p:cNvSpPr txBox="1"/>
          <p:nvPr/>
        </p:nvSpPr>
        <p:spPr>
          <a:xfrm>
            <a:off x="4076700" y="4147244"/>
            <a:ext cx="40386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Machine Learning in Land Use Classification.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2806749"/>
            <a:ext cx="5334000" cy="2149226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5"/>
          <p:cNvSpPr txBox="1"/>
          <p:nvPr/>
        </p:nvSpPr>
        <p:spPr>
          <a:xfrm>
            <a:off x="571500" y="2806749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A237E"/>
                </a:solidFill>
                <a:latin typeface="Poppins"/>
                <a:ea typeface="Poppins"/>
                <a:cs typeface="Poppins"/>
                <a:sym typeface="Poppins"/>
              </a:rPr>
              <a:t>Automating Maps</a:t>
            </a:r>
            <a:endParaRPr/>
          </a:p>
        </p:txBody>
      </p:sp>
      <p:sp>
        <p:nvSpPr>
          <p:cNvPr id="378" name="Google Shape;378;p35"/>
          <p:cNvSpPr txBox="1"/>
          <p:nvPr/>
        </p:nvSpPr>
        <p:spPr>
          <a:xfrm>
            <a:off x="571500" y="3082974"/>
            <a:ext cx="5334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Instead of manual tracing, we use algorithms to recognize land use types.</a:t>
            </a:r>
            <a:endParaRPr/>
          </a:p>
        </p:txBody>
      </p:sp>
      <p:sp>
        <p:nvSpPr>
          <p:cNvPr id="379" name="Google Shape;379;p35"/>
          <p:cNvSpPr txBox="1"/>
          <p:nvPr/>
        </p:nvSpPr>
        <p:spPr>
          <a:xfrm>
            <a:off x="571500" y="3753296"/>
            <a:ext cx="5334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Supervised Learning: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You teach the computer by providing "training samples" of known land types.</a:t>
            </a:r>
            <a:endParaRPr/>
          </a:p>
        </p:txBody>
      </p:sp>
      <p:pic>
        <p:nvPicPr>
          <p:cNvPr id="380" name="Google Shape;380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806749"/>
            <a:ext cx="5334000" cy="2149226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5"/>
          <p:cNvSpPr txBox="1"/>
          <p:nvPr/>
        </p:nvSpPr>
        <p:spPr>
          <a:xfrm>
            <a:off x="762000" y="571500"/>
            <a:ext cx="11430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A237E"/>
                </a:solidFill>
                <a:latin typeface="Poppins"/>
                <a:ea typeface="Poppins"/>
                <a:cs typeface="Poppins"/>
                <a:sym typeface="Poppins"/>
              </a:rPr>
              <a:t>IMAGE CLASSIFICATION TOOLS</a:t>
            </a:r>
            <a:endParaRPr/>
          </a:p>
        </p:txBody>
      </p:sp>
      <p:sp>
        <p:nvSpPr>
          <p:cNvPr id="382" name="Google Shape;382;p3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Google Shape;388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869108"/>
            <a:ext cx="5334000" cy="2024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869108"/>
            <a:ext cx="5334000" cy="2024657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36"/>
          <p:cNvSpPr txBox="1"/>
          <p:nvPr/>
        </p:nvSpPr>
        <p:spPr>
          <a:xfrm>
            <a:off x="866775" y="3164383"/>
            <a:ext cx="498062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E7D32"/>
                </a:solidFill>
                <a:latin typeface="Poppins"/>
                <a:ea typeface="Poppins"/>
                <a:cs typeface="Poppins"/>
                <a:sym typeface="Poppins"/>
              </a:rPr>
              <a:t>Segments, Not Pixels</a:t>
            </a:r>
            <a:endParaRPr/>
          </a:p>
        </p:txBody>
      </p:sp>
      <p:sp>
        <p:nvSpPr>
          <p:cNvPr id="391" name="Google Shape;391;p36"/>
          <p:cNvSpPr txBox="1"/>
          <p:nvPr/>
        </p:nvSpPr>
        <p:spPr>
          <a:xfrm>
            <a:off x="866775" y="3593008"/>
            <a:ext cx="47434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OBIA groups pixels into meaningful objects based on shape, texture, and relationship to neighbors.</a:t>
            </a:r>
            <a:endParaRPr/>
          </a:p>
        </p:txBody>
      </p:sp>
      <p:sp>
        <p:nvSpPr>
          <p:cNvPr id="392" name="Google Shape;392;p36"/>
          <p:cNvSpPr txBox="1"/>
          <p:nvPr/>
        </p:nvSpPr>
        <p:spPr>
          <a:xfrm>
            <a:off x="6581775" y="3164383"/>
            <a:ext cx="498062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E7D32"/>
                </a:solidFill>
                <a:latin typeface="Poppins"/>
                <a:ea typeface="Poppins"/>
                <a:cs typeface="Poppins"/>
                <a:sym typeface="Poppins"/>
              </a:rPr>
              <a:t>High-Res Necessity</a:t>
            </a:r>
            <a:endParaRPr/>
          </a:p>
        </p:txBody>
      </p:sp>
      <p:sp>
        <p:nvSpPr>
          <p:cNvPr id="393" name="Google Shape;393;p36"/>
          <p:cNvSpPr txBox="1"/>
          <p:nvPr/>
        </p:nvSpPr>
        <p:spPr>
          <a:xfrm>
            <a:off x="6581775" y="3593008"/>
            <a:ext cx="47434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Critical for analyzing drone and VHR satellite imagery where pixel-based methods often fail (the "salt and pepper" effect).</a:t>
            </a:r>
            <a:endParaRPr/>
          </a:p>
        </p:txBody>
      </p:sp>
      <p:sp>
        <p:nvSpPr>
          <p:cNvPr id="394" name="Google Shape;394;p36"/>
          <p:cNvSpPr txBox="1"/>
          <p:nvPr/>
        </p:nvSpPr>
        <p:spPr>
          <a:xfrm>
            <a:off x="762000" y="571500"/>
            <a:ext cx="11430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A237E"/>
                </a:solidFill>
                <a:latin typeface="Poppins"/>
                <a:ea typeface="Poppins"/>
                <a:cs typeface="Poppins"/>
                <a:sym typeface="Poppins"/>
              </a:rPr>
              <a:t>OBJECT-BASED ANALYSIS (OBIA)</a:t>
            </a:r>
            <a:endParaRPr/>
          </a:p>
        </p:txBody>
      </p:sp>
      <p:sp>
        <p:nvSpPr>
          <p:cNvPr id="395" name="Google Shape;395;p36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712839"/>
            <a:ext cx="3492400" cy="2337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650" y="2712839"/>
            <a:ext cx="3492549" cy="2337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950" y="2712839"/>
            <a:ext cx="3492400" cy="2337196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7"/>
          <p:cNvSpPr txBox="1"/>
          <p:nvPr/>
        </p:nvSpPr>
        <p:spPr>
          <a:xfrm>
            <a:off x="866775" y="3655814"/>
            <a:ext cx="304694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E7D32"/>
                </a:solidFill>
                <a:latin typeface="Poppins"/>
                <a:ea typeface="Poppins"/>
                <a:cs typeface="Poppins"/>
                <a:sym typeface="Poppins"/>
              </a:rPr>
              <a:t>ESA WorldCover</a:t>
            </a:r>
            <a:endParaRPr/>
          </a:p>
        </p:txBody>
      </p:sp>
      <p:sp>
        <p:nvSpPr>
          <p:cNvPr id="405" name="Google Shape;405;p37"/>
          <p:cNvSpPr txBox="1"/>
          <p:nvPr/>
        </p:nvSpPr>
        <p:spPr>
          <a:xfrm>
            <a:off x="866775" y="4084439"/>
            <a:ext cx="29018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Global 10m land cover product based on Sentinel-1 and 2 data.</a:t>
            </a:r>
            <a:endParaRPr/>
          </a:p>
        </p:txBody>
      </p:sp>
      <p:sp>
        <p:nvSpPr>
          <p:cNvPr id="406" name="Google Shape;406;p37"/>
          <p:cNvSpPr txBox="1"/>
          <p:nvPr/>
        </p:nvSpPr>
        <p:spPr>
          <a:xfrm>
            <a:off x="4644925" y="3655814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E7D32"/>
                </a:solidFill>
                <a:latin typeface="Poppins"/>
                <a:ea typeface="Poppins"/>
                <a:cs typeface="Poppins"/>
                <a:sym typeface="Poppins"/>
              </a:rPr>
              <a:t>Global Forest Watch</a:t>
            </a:r>
            <a:endParaRPr/>
          </a:p>
        </p:txBody>
      </p:sp>
      <p:sp>
        <p:nvSpPr>
          <p:cNvPr id="407" name="Google Shape;407;p37"/>
          <p:cNvSpPr txBox="1"/>
          <p:nvPr/>
        </p:nvSpPr>
        <p:spPr>
          <a:xfrm>
            <a:off x="4644925" y="4084439"/>
            <a:ext cx="2901999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Real-time alerts and data on forest loss and gain.</a:t>
            </a:r>
            <a:endParaRPr/>
          </a:p>
        </p:txBody>
      </p:sp>
      <p:sp>
        <p:nvSpPr>
          <p:cNvPr id="408" name="Google Shape;408;p37"/>
          <p:cNvSpPr txBox="1"/>
          <p:nvPr/>
        </p:nvSpPr>
        <p:spPr>
          <a:xfrm>
            <a:off x="8423225" y="3655814"/>
            <a:ext cx="304694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E7D32"/>
                </a:solidFill>
                <a:latin typeface="Poppins"/>
                <a:ea typeface="Poppins"/>
                <a:cs typeface="Poppins"/>
                <a:sym typeface="Poppins"/>
              </a:rPr>
              <a:t>NASA Earthdata</a:t>
            </a:r>
            <a:endParaRPr/>
          </a:p>
        </p:txBody>
      </p:sp>
      <p:sp>
        <p:nvSpPr>
          <p:cNvPr id="409" name="Google Shape;409;p37"/>
          <p:cNvSpPr txBox="1"/>
          <p:nvPr/>
        </p:nvSpPr>
        <p:spPr>
          <a:xfrm>
            <a:off x="8423225" y="4084439"/>
            <a:ext cx="29018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One-stop shop for all NASA satellite datasets.</a:t>
            </a:r>
            <a:endParaRPr/>
          </a:p>
        </p:txBody>
      </p:sp>
      <p:pic>
        <p:nvPicPr>
          <p:cNvPr id="410" name="Google Shape;410;p3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304621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3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44925" y="3046214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3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23225" y="3046214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37"/>
          <p:cNvSpPr txBox="1"/>
          <p:nvPr/>
        </p:nvSpPr>
        <p:spPr>
          <a:xfrm>
            <a:off x="762000" y="571500"/>
            <a:ext cx="11430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A237E"/>
                </a:solidFill>
                <a:latin typeface="Poppins"/>
                <a:ea typeface="Poppins"/>
                <a:cs typeface="Poppins"/>
                <a:sym typeface="Poppins"/>
              </a:rPr>
              <a:t>ONLINE DATA REPOSITORIES</a:t>
            </a:r>
            <a:endParaRPr/>
          </a:p>
        </p:txBody>
      </p:sp>
      <p:sp>
        <p:nvSpPr>
          <p:cNvPr id="414" name="Google Shape;414;p37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Google Shape;420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2528441"/>
            <a:ext cx="5334000" cy="2705992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38"/>
          <p:cNvSpPr txBox="1"/>
          <p:nvPr/>
        </p:nvSpPr>
        <p:spPr>
          <a:xfrm>
            <a:off x="571500" y="2528441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A237E"/>
                </a:solidFill>
                <a:latin typeface="Poppins"/>
                <a:ea typeface="Poppins"/>
                <a:cs typeface="Poppins"/>
                <a:sym typeface="Poppins"/>
              </a:rPr>
              <a:t>Crowdsourced Mapping</a:t>
            </a:r>
            <a:endParaRPr/>
          </a:p>
        </p:txBody>
      </p:sp>
      <p:sp>
        <p:nvSpPr>
          <p:cNvPr id="422" name="Google Shape;422;p38"/>
          <p:cNvSpPr txBox="1"/>
          <p:nvPr/>
        </p:nvSpPr>
        <p:spPr>
          <a:xfrm>
            <a:off x="571500" y="2804666"/>
            <a:ext cx="5334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"Wikipedia of Maps." Volunteers globally map roads, buildings, and land use.</a:t>
            </a:r>
            <a:endParaRPr/>
          </a:p>
        </p:txBody>
      </p:sp>
      <p:sp>
        <p:nvSpPr>
          <p:cNvPr id="423" name="Google Shape;423;p38"/>
          <p:cNvSpPr txBox="1"/>
          <p:nvPr/>
        </p:nvSpPr>
        <p:spPr>
          <a:xfrm>
            <a:off x="571500" y="3665487"/>
            <a:ext cx="5334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Importance: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Most mapping in Chinsali is updated by OSM contributors, providing a vital base layer for planners.</a:t>
            </a:r>
            <a:endParaRPr/>
          </a:p>
        </p:txBody>
      </p:sp>
      <p:pic>
        <p:nvPicPr>
          <p:cNvPr id="424" name="Google Shape;424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72200" y="270571"/>
            <a:ext cx="5334000" cy="2705992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38"/>
          <p:cNvSpPr txBox="1"/>
          <p:nvPr/>
        </p:nvSpPr>
        <p:spPr>
          <a:xfrm>
            <a:off x="762000" y="571500"/>
            <a:ext cx="11430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A237E"/>
                </a:solidFill>
                <a:latin typeface="Poppins"/>
                <a:ea typeface="Poppins"/>
                <a:cs typeface="Poppins"/>
                <a:sym typeface="Poppins"/>
              </a:rPr>
              <a:t>OPENSTREETMAP (OSM)</a:t>
            </a:r>
            <a:endParaRPr/>
          </a:p>
        </p:txBody>
      </p:sp>
      <p:sp>
        <p:nvSpPr>
          <p:cNvPr id="426" name="Google Shape;426;p38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1476375"/>
            <a:ext cx="5334000" cy="6711999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39"/>
          <p:cNvSpPr txBox="1"/>
          <p:nvPr/>
        </p:nvSpPr>
        <p:spPr>
          <a:xfrm>
            <a:off x="571500" y="1476375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A237E"/>
                </a:solidFill>
                <a:latin typeface="Poppins"/>
                <a:ea typeface="Poppins"/>
                <a:cs typeface="Poppins"/>
                <a:sym typeface="Poppins"/>
              </a:rPr>
              <a:t>Local Institutional Tools</a:t>
            </a:r>
            <a:endParaRPr/>
          </a:p>
        </p:txBody>
      </p:sp>
      <p:pic>
        <p:nvPicPr>
          <p:cNvPr id="434" name="Google Shape;434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72200" y="571500"/>
            <a:ext cx="5334000" cy="671199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9"/>
          <p:cNvSpPr txBox="1"/>
          <p:nvPr/>
        </p:nvSpPr>
        <p:spPr>
          <a:xfrm>
            <a:off x="638175" y="1753552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36" name="Google Shape;436;p39"/>
          <p:cNvSpPr txBox="1"/>
          <p:nvPr/>
        </p:nvSpPr>
        <p:spPr>
          <a:xfrm>
            <a:off x="762000" y="1752600"/>
            <a:ext cx="51435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ZMA: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Zambia Ministry of Agriculture portals.</a:t>
            </a:r>
            <a:endParaRPr/>
          </a:p>
        </p:txBody>
      </p:sp>
      <p:sp>
        <p:nvSpPr>
          <p:cNvPr id="437" name="Google Shape;437;p39"/>
          <p:cNvSpPr txBox="1"/>
          <p:nvPr/>
        </p:nvSpPr>
        <p:spPr>
          <a:xfrm>
            <a:off x="638175" y="2088713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38" name="Google Shape;438;p39"/>
          <p:cNvSpPr txBox="1"/>
          <p:nvPr/>
        </p:nvSpPr>
        <p:spPr>
          <a:xfrm>
            <a:off x="762000" y="2087760"/>
            <a:ext cx="51435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Zambia Statistics Agency: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Demographic spatial data.</a:t>
            </a:r>
            <a:endParaRPr/>
          </a:p>
        </p:txBody>
      </p:sp>
      <p:sp>
        <p:nvSpPr>
          <p:cNvPr id="439" name="Google Shape;439;p39"/>
          <p:cNvSpPr txBox="1"/>
          <p:nvPr/>
        </p:nvSpPr>
        <p:spPr>
          <a:xfrm>
            <a:off x="638175" y="2423874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440" name="Google Shape;440;p39"/>
          <p:cNvSpPr txBox="1"/>
          <p:nvPr/>
        </p:nvSpPr>
        <p:spPr>
          <a:xfrm>
            <a:off x="762000" y="2422921"/>
            <a:ext cx="5143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Deforestation tracking: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Tools used by the Forestry Department and MLNR.</a:t>
            </a:r>
            <a:endParaRPr/>
          </a:p>
        </p:txBody>
      </p:sp>
      <p:sp>
        <p:nvSpPr>
          <p:cNvPr id="441" name="Google Shape;441;p39"/>
          <p:cNvSpPr txBox="1"/>
          <p:nvPr/>
        </p:nvSpPr>
        <p:spPr>
          <a:xfrm>
            <a:off x="762000" y="571500"/>
            <a:ext cx="11430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A237E"/>
                </a:solidFill>
                <a:latin typeface="Poppins"/>
                <a:ea typeface="Poppins"/>
                <a:cs typeface="Poppins"/>
                <a:sym typeface="Poppins"/>
              </a:rPr>
              <a:t>THE ZAMBIAN CONTEXT</a:t>
            </a:r>
            <a:endParaRPr/>
          </a:p>
        </p:txBody>
      </p:sp>
      <p:sp>
        <p:nvSpPr>
          <p:cNvPr id="442" name="Google Shape;442;p39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0"/>
          <p:cNvSpPr txBox="1"/>
          <p:nvPr/>
        </p:nvSpPr>
        <p:spPr>
          <a:xfrm>
            <a:off x="952500" y="2830115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Hyperspectral Imaging: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Hundreds of bands for detecting soil minerals or specific plant diseases.</a:t>
            </a:r>
            <a:endParaRPr/>
          </a:p>
        </p:txBody>
      </p:sp>
      <p:sp>
        <p:nvSpPr>
          <p:cNvPr id="449" name="Google Shape;449;p40"/>
          <p:cNvSpPr txBox="1"/>
          <p:nvPr/>
        </p:nvSpPr>
        <p:spPr>
          <a:xfrm>
            <a:off x="952500" y="3355776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Real-time Streaming: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Satellite video and live-updating maps.</a:t>
            </a:r>
            <a:endParaRPr/>
          </a:p>
        </p:txBody>
      </p:sp>
      <p:sp>
        <p:nvSpPr>
          <p:cNvPr id="450" name="Google Shape;450;p40"/>
          <p:cNvSpPr txBox="1"/>
          <p:nvPr/>
        </p:nvSpPr>
        <p:spPr>
          <a:xfrm>
            <a:off x="952500" y="3881437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Edge Computing: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Drones processing classification data onboard in real-time.</a:t>
            </a:r>
            <a:endParaRPr/>
          </a:p>
        </p:txBody>
      </p:sp>
      <p:sp>
        <p:nvSpPr>
          <p:cNvPr id="451" name="Google Shape;451;p40"/>
          <p:cNvSpPr txBox="1"/>
          <p:nvPr/>
        </p:nvSpPr>
        <p:spPr>
          <a:xfrm>
            <a:off x="952500" y="4407098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Participatory GIS: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Local communities using apps to map their own indigenous land use.</a:t>
            </a:r>
            <a:endParaRPr/>
          </a:p>
        </p:txBody>
      </p:sp>
      <p:sp>
        <p:nvSpPr>
          <p:cNvPr id="452" name="Google Shape;452;p40"/>
          <p:cNvSpPr txBox="1"/>
          <p:nvPr/>
        </p:nvSpPr>
        <p:spPr>
          <a:xfrm>
            <a:off x="762000" y="571500"/>
            <a:ext cx="11430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A237E"/>
                </a:solidFill>
                <a:latin typeface="Poppins"/>
                <a:ea typeface="Poppins"/>
                <a:cs typeface="Poppins"/>
                <a:sym typeface="Poppins"/>
              </a:rPr>
              <a:t>FUTURE TRENDS IN MAPPING</a:t>
            </a:r>
            <a:endParaRPr/>
          </a:p>
        </p:txBody>
      </p:sp>
      <p:sp>
        <p:nvSpPr>
          <p:cNvPr id="453" name="Google Shape;453;p40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4" name="Google Shape;454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83011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355776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88143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407098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3" name="Google Shape;463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869108"/>
            <a:ext cx="5334000" cy="2024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869108"/>
            <a:ext cx="5334000" cy="2024657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41"/>
          <p:cNvSpPr txBox="1"/>
          <p:nvPr/>
        </p:nvSpPr>
        <p:spPr>
          <a:xfrm>
            <a:off x="866775" y="3164383"/>
            <a:ext cx="498062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E7D32"/>
                </a:solidFill>
                <a:latin typeface="Poppins"/>
                <a:ea typeface="Poppins"/>
                <a:cs typeface="Poppins"/>
                <a:sym typeface="Poppins"/>
              </a:rPr>
              <a:t>Mapping Bias</a:t>
            </a:r>
            <a:endParaRPr/>
          </a:p>
        </p:txBody>
      </p:sp>
      <p:sp>
        <p:nvSpPr>
          <p:cNvPr id="466" name="Google Shape;466;p41"/>
          <p:cNvSpPr txBox="1"/>
          <p:nvPr/>
        </p:nvSpPr>
        <p:spPr>
          <a:xfrm>
            <a:off x="866775" y="3593008"/>
            <a:ext cx="47434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Who is being mapped? Who is doing the mapping? We must ensure mapping reflects local reality, not just external priorities.</a:t>
            </a:r>
            <a:endParaRPr/>
          </a:p>
        </p:txBody>
      </p:sp>
      <p:sp>
        <p:nvSpPr>
          <p:cNvPr id="467" name="Google Shape;467;p41"/>
          <p:cNvSpPr txBox="1"/>
          <p:nvPr/>
        </p:nvSpPr>
        <p:spPr>
          <a:xfrm>
            <a:off x="6581775" y="3164383"/>
            <a:ext cx="498062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E7D32"/>
                </a:solidFill>
                <a:latin typeface="Poppins"/>
                <a:ea typeface="Poppins"/>
                <a:cs typeface="Poppins"/>
                <a:sym typeface="Poppins"/>
              </a:rPr>
              <a:t>Data Privacy</a:t>
            </a:r>
            <a:endParaRPr/>
          </a:p>
        </p:txBody>
      </p:sp>
      <p:sp>
        <p:nvSpPr>
          <p:cNvPr id="468" name="Google Shape;468;p41"/>
          <p:cNvSpPr txBox="1"/>
          <p:nvPr/>
        </p:nvSpPr>
        <p:spPr>
          <a:xfrm>
            <a:off x="6581775" y="3593008"/>
            <a:ext cx="47434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With high-res imagery, individuals' privacy can be compromised. Regulations are evolving to manage these risks.</a:t>
            </a:r>
            <a:endParaRPr/>
          </a:p>
        </p:txBody>
      </p:sp>
      <p:sp>
        <p:nvSpPr>
          <p:cNvPr id="469" name="Google Shape;469;p41"/>
          <p:cNvSpPr txBox="1"/>
          <p:nvPr/>
        </p:nvSpPr>
        <p:spPr>
          <a:xfrm>
            <a:off x="762000" y="571500"/>
            <a:ext cx="11430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A237E"/>
                </a:solidFill>
                <a:latin typeface="Poppins"/>
                <a:ea typeface="Poppins"/>
                <a:cs typeface="Poppins"/>
                <a:sym typeface="Poppins"/>
              </a:rPr>
              <a:t>ETHICS &amp; CONSIDERATIONS</a:t>
            </a:r>
            <a:endParaRPr/>
          </a:p>
        </p:txBody>
      </p:sp>
      <p:sp>
        <p:nvSpPr>
          <p:cNvPr id="470" name="Google Shape;470;p41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24500" y="1285875"/>
            <a:ext cx="1143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42"/>
          <p:cNvSpPr txBox="1"/>
          <p:nvPr/>
        </p:nvSpPr>
        <p:spPr>
          <a:xfrm>
            <a:off x="865346" y="2809875"/>
            <a:ext cx="1046130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C107"/>
                </a:solidFill>
                <a:latin typeface="Poppins"/>
                <a:ea typeface="Poppins"/>
                <a:cs typeface="Poppins"/>
                <a:sym typeface="Poppins"/>
              </a:rPr>
              <a:t>QUESTIONS &amp; DISCUSSION</a:t>
            </a:r>
            <a:endParaRPr/>
          </a:p>
        </p:txBody>
      </p:sp>
      <p:sp>
        <p:nvSpPr>
          <p:cNvPr id="478" name="Google Shape;478;p42"/>
          <p:cNvSpPr/>
          <p:nvPr/>
        </p:nvSpPr>
        <p:spPr>
          <a:xfrm>
            <a:off x="5619750" y="4238625"/>
            <a:ext cx="952500" cy="5715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42"/>
          <p:cNvSpPr txBox="1"/>
          <p:nvPr/>
        </p:nvSpPr>
        <p:spPr>
          <a:xfrm>
            <a:off x="4776787" y="4581525"/>
            <a:ext cx="26384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Thank you for your attention.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1040</Words>
  <Application>Microsoft Office PowerPoint</Application>
  <PresentationFormat>Widescreen</PresentationFormat>
  <Paragraphs>149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Calibri</vt:lpstr>
      <vt:lpstr>Poppins</vt:lpstr>
      <vt:lpstr>Arial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bwalya.mutale.writer@gmail.com</cp:lastModifiedBy>
  <cp:revision>4</cp:revision>
  <dcterms:modified xsi:type="dcterms:W3CDTF">2026-02-10T12:05:01Z</dcterms:modified>
</cp:coreProperties>
</file>