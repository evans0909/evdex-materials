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</p:sldIdLst>
  <p:sldSz cx="12192000" cy="6858000"/>
  <p:notesSz cx="6858000" cy="9144000"/>
  <p:embeddedFontLs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C3C12E-93E3-4DC6-8DA7-3ABD316CE588}">
  <a:tblStyle styleId="{6FC3C12E-93E3-4DC6-8DA7-3ABD316CE5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0" y="1499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838200"/>
            <a:ext cx="110490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00" b="0" i="0" u="none" strike="noStrike" cap="none" dirty="0">
              <a:solidFill>
                <a:srgbClr val="006A4E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00" dirty="0">
              <a:solidFill>
                <a:srgbClr val="006A4E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00" b="0" i="0" u="none" strike="noStrike" cap="none" dirty="0">
              <a:solidFill>
                <a:srgbClr val="006A4E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6A4E"/>
                </a:solidFill>
                <a:latin typeface="Lato"/>
                <a:ea typeface="Lato"/>
                <a:cs typeface="Lato"/>
                <a:sym typeface="Lato"/>
              </a:rPr>
              <a:t>Kapasa Makasa University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796412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Rural Land Use Planning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Methodology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36589" y="4545271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Integrated Approaches for Sustainable Resource Management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302398" y="5238750"/>
            <a:ext cx="35872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latin typeface="Times New Roman"/>
                <a:cs typeface="Times New Roman"/>
                <a:sym typeface="Times New Roman"/>
              </a:rPr>
              <a:t>B.Mutale</a:t>
            </a:r>
            <a:endParaRPr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48922B-6435-48E5-FBE2-D72FA54DB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06" y="340762"/>
            <a:ext cx="1722969" cy="1772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 I: Context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Understanding Zambia's Land Landscape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54292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895475"/>
            <a:ext cx="54292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43375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4143375"/>
            <a:ext cx="54292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57250" y="2219325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Customary Land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7250" y="2724150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Covers roughly 60-90% of Zambia. Managed by Traditional Authorities (Chiefs and Headmen). Rights are often undocumented but recognized by the 1995 Lands Act.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477000" y="2219325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State Land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477000" y="2724150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Managed by the Ministry of Lands. Primarily urban areas and former commercial blocks. Rights held under statutory leaseholds (typically 99 years).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7250" y="4467225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Key Challenge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7250" y="497205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Overlapping jurisdictions between state laws and traditional norms often lead to land use conflicts and tenure insecurity.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477000" y="4467225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Integration Need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477000" y="497205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Planning must balanceengagement with customary authorities alongside state administrative boundaries (Wards/Districts).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ZAMBIAN LAND CONTEXT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33675"/>
            <a:ext cx="35559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33675"/>
            <a:ext cx="35559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33675"/>
            <a:ext cx="3556099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35088" y="30575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82638" y="3629025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Documentation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57250" y="4133850"/>
            <a:ext cx="2984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Establish current status of land use and management regimes.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3057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4529089" y="3629025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Strategic Guide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03700" y="4133850"/>
            <a:ext cx="2984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Create a roadmap for internal and external investments.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4325" y="30575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275535" y="3629025"/>
            <a:ext cx="313382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Conflict Mitigation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350150" y="4133850"/>
            <a:ext cx="29845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Resolve tensions between competing resource users.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PRIMARY OBJECTIVES OF LUP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21859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Since 2014, the TGCC program has supported customary land documentation in Petauke and Chipata Districts.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421481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methodology is "bottom-up," starting with village-level information to inform higher-level Chiefdom Development Plans.</a:t>
            </a:r>
            <a:endParaRPr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52500" y="287178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 700 communities documented.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331946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12,000+ land parcels certified.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37671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Focused on Chiefdom-level planning.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098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57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052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USAID TGCC METHODOLOGY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1: Legal Framework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Clarifying the Regulatory Environment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52500" y="28003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Urban and Regional Planning Act (2015):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Creates government responsibilities on customary land.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52500" y="3248025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Forest Act (2015):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Governance of community forests and protection areas.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52500" y="369570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Wildlife Act (2015):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Management of Game Management Areas (GMAs).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52500" y="4143375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Mines and Minerals Act (2015):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Rights that often override customary land claims.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52500" y="45910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Chiefs Act (1964):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Defines roles of traditional authorities in administration.</a:t>
            </a:r>
            <a:endParaRPr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8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861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33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2915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LEGAL PILLARS OF PLANNING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2: Area &amp; Goals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Defining Boundaries and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024062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14787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014787"/>
            <a:ext cx="54292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857250" y="234791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Chiefdom Focus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57250" y="2852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unit of planning. Boundaries are often based on 1958 historical maps, which may require validation.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477000" y="234791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Digitization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477000" y="2852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Collecting village center locations via GPS to draw representative boundaries where official shapefiles are missing.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57250" y="4338637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Neighbor Coordination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57250" y="484346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Essential to inform bordering wards and Chiefdoms to avoid periphery conflicts during planning.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477000" y="4338637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Scope Clarification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477000" y="484346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Deciding if planning includes state land enclaves or just the core customary areas.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DEFINING THE PLANNING AREA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3743325" y="3024187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Problems: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e.g., conflict between pastoralists and cultivators.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3743325" y="3471862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Opportunities: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e.g., unused irrigation potential or tourism.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3743325" y="3919537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Constraints: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Legal, financial, or institutional limitations.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3743325" y="4367212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 Planning Period: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Typically a 3 to 5-year outlook with phases.</a:t>
            </a:r>
            <a:endParaRPr/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2325" y="3062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2325" y="350996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2325" y="3957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62325" y="44053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GOAL SETTING &amp; VISION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3: Conditions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Resource and Infrastructure Inventory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571500" y="20145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Point vs. Shape Data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571500" y="246221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Information is collected to identify service delivery gaps.</a:t>
            </a:r>
            <a:endParaRPr/>
          </a:p>
        </p:txBody>
      </p:sp>
      <p:pic>
        <p:nvPicPr>
          <p:cNvPr id="251" name="Google Shape;25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952500" y="28908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Water: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Boreholes and seasonal streams.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952500" y="333851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Education: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School locations and catchments.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952500" y="378618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Transport: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Bridges, culverts, and road status.</a:t>
            </a:r>
            <a:endParaRPr/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2893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3766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2428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INFRASTRUCTURE MAPPING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26"/>
          <p:cNvGraphicFramePr/>
          <p:nvPr/>
        </p:nvGraphicFramePr>
        <p:xfrm>
          <a:off x="571500" y="2543175"/>
          <a:ext cx="11049000" cy="2752750"/>
        </p:xfrm>
        <a:graphic>
          <a:graphicData uri="http://schemas.openxmlformats.org/drawingml/2006/table">
            <a:tbl>
              <a:tblPr firstRow="1" bandRow="1">
                <a:noFill/>
                <a:tableStyleId>{6FC3C12E-93E3-4DC6-8DA7-3ABD316CE588}</a:tableStyleId>
              </a:tblPr>
              <a:tblGrid>
                <a:gridCol w="258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 in Planning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Local Communities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Food security, tenure, resources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beneficiaries and data sources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Traditional Leaders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Governance, land allocation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Decision-makers and enforcers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District Council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 delivery, statutory law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Regulatory oversight and alignment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Private Sector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Agribusiness, mining, tourism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Potential investors and partners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" name="Google Shape;266;p26"/>
          <p:cNvSpPr/>
          <p:nvPr/>
        </p:nvSpPr>
        <p:spPr>
          <a:xfrm>
            <a:off x="571500" y="3624262"/>
            <a:ext cx="2589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3160811" y="3624262"/>
            <a:ext cx="3877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7038082" y="3624262"/>
            <a:ext cx="4582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71500" y="4176712"/>
            <a:ext cx="2589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3160811" y="4176712"/>
            <a:ext cx="3877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7038082" y="4176712"/>
            <a:ext cx="4582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71500" y="4729162"/>
            <a:ext cx="2589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3160811" y="4729162"/>
            <a:ext cx="3877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7038082" y="4729162"/>
            <a:ext cx="4582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571500" y="5281612"/>
            <a:ext cx="2589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3160811" y="5281612"/>
            <a:ext cx="3877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7038082" y="5281612"/>
            <a:ext cx="4582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STAKEHOLDER ANALYSIS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4: Challenges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Analyzing Barriers and Opportunities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024062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14787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014787"/>
            <a:ext cx="54292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857250" y="234791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Mining Expansion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857250" y="2852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Challenge: Mines entering GMAs or agricultural zones without local consultation.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6477000" y="234791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Settler Pressure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6477000" y="2852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Challenge: Rapid in-migration (e.g., from Katete to Sandwe) causing land scarcity.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857250" y="4338637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Resource Depletion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857250" y="484346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Challenge: Unregulated charcoal burning reducing forest cover and soil quality.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6477000" y="4338637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Boundary Disputes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6477000" y="484346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Challenge: Overlapping village claims leading to social unrest and stalled investment.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PROBLEM STATEMENTS</a:t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952500" y="3024187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New Technology: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Improved fertilizers, irrigation, or storage methods.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952500" y="347186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Human Capital: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Local labor, skills, and traditional resource knowledge.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952500" y="3919537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Economic Shifts: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New markets for crops or carbon credit opportunities.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952500" y="436721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Policy Reform: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Leveraging the Lands Act to secure communal rights.</a:t>
            </a:r>
            <a:endParaRPr/>
          </a:p>
        </p:txBody>
      </p:sp>
      <p:pic>
        <p:nvPicPr>
          <p:cNvPr id="317" name="Google Shape;31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2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099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76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053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OPPORTUNITIES FOR CHANGE</a:t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0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5: Appraisal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Evaluating and Choosing Alternatives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 txBox="1"/>
          <p:nvPr/>
        </p:nvSpPr>
        <p:spPr>
          <a:xfrm>
            <a:off x="571500" y="58578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Zoning decisions must balance these four pillars to ensure sustainability.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APPRAISAL CRITERIA</a:t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2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6: Plan Prep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Zoning and Finalizing the Document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3"/>
          <p:cNvSpPr txBox="1"/>
          <p:nvPr/>
        </p:nvSpPr>
        <p:spPr>
          <a:xfrm>
            <a:off x="762000" y="5715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ZONING STRATEGY</a:t>
            </a: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3"/>
          <p:cNvSpPr txBox="1"/>
          <p:nvPr/>
        </p:nvSpPr>
        <p:spPr>
          <a:xfrm>
            <a:off x="571500" y="1552575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Standard Rural Zones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571500" y="200025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Allocating land based on highest potential and community preference:</a:t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952500" y="2838450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Settlement &amp; Public Inst.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952500" y="3286125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Current &amp; Future Cultivation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952500" y="3733800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Community Forests</a:t>
            </a:r>
            <a:endParaRPr/>
          </a:p>
        </p:txBody>
      </p:sp>
      <p:sp>
        <p:nvSpPr>
          <p:cNvPr id="363" name="Google Shape;363;p33"/>
          <p:cNvSpPr txBox="1"/>
          <p:nvPr/>
        </p:nvSpPr>
        <p:spPr>
          <a:xfrm>
            <a:off x="952500" y="4181475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Game Ranches &amp; Tourism</a:t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952500" y="4629150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Mining Concessions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4"/>
          <p:cNvSpPr/>
          <p:nvPr/>
        </p:nvSpPr>
        <p:spPr>
          <a:xfrm>
            <a:off x="571500" y="390048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1451520" y="335309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6A4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 txBox="1"/>
          <p:nvPr/>
        </p:nvSpPr>
        <p:spPr>
          <a:xfrm>
            <a:off x="521780" y="3809702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1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Mobilize</a:t>
            </a:r>
            <a:endParaRPr/>
          </a:p>
        </p:txBody>
      </p:sp>
      <p:sp>
        <p:nvSpPr>
          <p:cNvPr id="373" name="Google Shape;373;p34"/>
          <p:cNvSpPr txBox="1"/>
          <p:nvPr/>
        </p:nvSpPr>
        <p:spPr>
          <a:xfrm>
            <a:off x="571500" y="4181177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Community consent and introduction.</a:t>
            </a: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3716535" y="335309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6A4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2786795" y="3809702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1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</a:t>
            </a:r>
            <a:endParaRPr/>
          </a:p>
        </p:txBody>
      </p:sp>
      <p:sp>
        <p:nvSpPr>
          <p:cNvPr id="376" name="Google Shape;376;p34"/>
          <p:cNvSpPr txBox="1"/>
          <p:nvPr/>
        </p:nvSpPr>
        <p:spPr>
          <a:xfrm>
            <a:off x="2836515" y="4181177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collection and mapping.</a:t>
            </a:r>
            <a:endParaRPr/>
          </a:p>
        </p:txBody>
      </p:sp>
      <p:sp>
        <p:nvSpPr>
          <p:cNvPr id="377" name="Google Shape;377;p34"/>
          <p:cNvSpPr/>
          <p:nvPr/>
        </p:nvSpPr>
        <p:spPr>
          <a:xfrm>
            <a:off x="5981551" y="335309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6A4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5051810" y="3809702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1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Consult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5101530" y="4181177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 options with stakeholders.</a:t>
            </a:r>
            <a:endParaRPr/>
          </a:p>
        </p:txBody>
      </p:sp>
      <p:sp>
        <p:nvSpPr>
          <p:cNvPr id="380" name="Google Shape;380;p34"/>
          <p:cNvSpPr/>
          <p:nvPr/>
        </p:nvSpPr>
        <p:spPr>
          <a:xfrm>
            <a:off x="8246566" y="335309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6A4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7316825" y="3809702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1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</a:t>
            </a:r>
            <a:endParaRPr/>
          </a:p>
        </p:txBody>
      </p:sp>
      <p:sp>
        <p:nvSpPr>
          <p:cNvPr id="382" name="Google Shape;382;p34"/>
          <p:cNvSpPr txBox="1"/>
          <p:nvPr/>
        </p:nvSpPr>
        <p:spPr>
          <a:xfrm>
            <a:off x="7366545" y="4181177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Zoning and drafting narratives.</a:t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10511581" y="335309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6A4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9581841" y="3809702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1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9631560" y="4181177"/>
            <a:ext cx="198879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Consensus and approvals.</a:t>
            </a:r>
            <a:endParaRPr/>
          </a:p>
        </p:txBody>
      </p:sp>
      <p:sp>
        <p:nvSpPr>
          <p:cNvPr id="386" name="Google Shape;386;p3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PLANNING WORKFLOW</a:t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5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5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 7: Realization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Implementation, Monitoring, and Revision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024062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14787"/>
            <a:ext cx="54292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014787"/>
            <a:ext cx="54292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6"/>
          <p:cNvSpPr txBox="1"/>
          <p:nvPr/>
        </p:nvSpPr>
        <p:spPr>
          <a:xfrm>
            <a:off x="857250" y="234791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Institutional Support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857250" y="2852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Formation of independent units to track progress and budget allocation.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6477000" y="234791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Public Relations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6477000" y="2852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Two-way communication: not just "explaining" but "exchanging" ideas with users.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857250" y="4338637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Enforcement</a:t>
            </a:r>
            <a:endParaRPr/>
          </a:p>
        </p:txBody>
      </p:sp>
      <p:sp>
        <p:nvSpPr>
          <p:cNvPr id="411" name="Google Shape;411;p36"/>
          <p:cNvSpPr txBox="1"/>
          <p:nvPr/>
        </p:nvSpPr>
        <p:spPr>
          <a:xfrm>
            <a:off x="857250" y="484346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Village-level penalties and social pressure to maintain zoning rules.</a:t>
            </a:r>
            <a:endParaRPr/>
          </a:p>
        </p:txBody>
      </p:sp>
      <p:sp>
        <p:nvSpPr>
          <p:cNvPr id="412" name="Google Shape;412;p36"/>
          <p:cNvSpPr txBox="1"/>
          <p:nvPr/>
        </p:nvSpPr>
        <p:spPr>
          <a:xfrm>
            <a:off x="6477000" y="4338637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6A4E"/>
                </a:solidFill>
                <a:latin typeface="Poppins"/>
                <a:ea typeface="Poppins"/>
                <a:cs typeface="Poppins"/>
                <a:sym typeface="Poppins"/>
              </a:rPr>
              <a:t>Revision (3-5 Years)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6477000" y="484346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Regular updates to ensure the plan remains responsive to new data.</a:t>
            </a:r>
            <a:endParaRPr/>
          </a:p>
        </p:txBody>
      </p:sp>
      <p:sp>
        <p:nvSpPr>
          <p:cNvPr id="414" name="Google Shape;414;p3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GOVERNANCE &amp; ENFORCEMENT</a:t>
            </a:r>
            <a:endParaRPr/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7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7"/>
          <p:cNvSpPr txBox="1"/>
          <p:nvPr/>
        </p:nvSpPr>
        <p:spPr>
          <a:xfrm>
            <a:off x="295275" y="1181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Cross-Cutting Issues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571500" y="2552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Conflict and Technology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8"/>
          <p:cNvSpPr txBox="1"/>
          <p:nvPr/>
        </p:nvSpPr>
        <p:spPr>
          <a:xfrm>
            <a:off x="571500" y="20145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Common Conflict Drivers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571500" y="246221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Dry season field prep, cattle damage to crops, and inheritance disputes.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571500" y="28908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Resolution Strategies</a:t>
            </a:r>
            <a:endParaRPr/>
          </a:p>
        </p:txBody>
      </p:sp>
      <p:pic>
        <p:nvPicPr>
          <p:cNvPr id="434" name="Google Shape;434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8"/>
          <p:cNvSpPr txBox="1"/>
          <p:nvPr/>
        </p:nvSpPr>
        <p:spPr>
          <a:xfrm>
            <a:off x="952500" y="331946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Detailed Investigation of history.</a:t>
            </a:r>
            <a:endParaRPr/>
          </a:p>
        </p:txBody>
      </p:sp>
      <p:sp>
        <p:nvSpPr>
          <p:cNvPr id="436" name="Google Shape;436;p38"/>
          <p:cNvSpPr txBox="1"/>
          <p:nvPr/>
        </p:nvSpPr>
        <p:spPr>
          <a:xfrm>
            <a:off x="952500" y="37671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Multi-stakeholder separate/joint meetings.</a:t>
            </a:r>
            <a:endParaRPr/>
          </a:p>
        </p:txBody>
      </p:sp>
      <p:sp>
        <p:nvSpPr>
          <p:cNvPr id="437" name="Google Shape;437;p38"/>
          <p:cNvSpPr txBox="1"/>
          <p:nvPr/>
        </p:nvSpPr>
        <p:spPr>
          <a:xfrm>
            <a:off x="952500" y="421481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Training on legal rights (Lands Act).</a:t>
            </a:r>
            <a:endParaRPr/>
          </a:p>
        </p:txBody>
      </p:sp>
      <p:pic>
        <p:nvPicPr>
          <p:cNvPr id="438" name="Google Shape;438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575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052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2529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CONFLICT MITIGATION</a:t>
            </a:r>
            <a:endParaRPr/>
          </a:p>
        </p:txBody>
      </p:sp>
      <p:sp>
        <p:nvSpPr>
          <p:cNvPr id="442" name="Google Shape;442;p3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0"/>
          <p:cNvSpPr txBox="1"/>
          <p:nvPr/>
        </p:nvSpPr>
        <p:spPr>
          <a:xfrm>
            <a:off x="6334125" y="30099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Mobile Applications (MAST)</a:t>
            </a:r>
            <a:endParaRPr/>
          </a:p>
        </p:txBody>
      </p:sp>
      <p:sp>
        <p:nvSpPr>
          <p:cNvPr id="463" name="Google Shape;463;p40"/>
          <p:cNvSpPr txBox="1"/>
          <p:nvPr/>
        </p:nvSpPr>
        <p:spPr>
          <a:xfrm>
            <a:off x="6334125" y="34575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Mobile tools allow for rapid, "crowdsourced" collection of boundary and infrastructure points.</a:t>
            </a:r>
            <a:endParaRPr/>
          </a:p>
        </p:txBody>
      </p:sp>
      <p:sp>
        <p:nvSpPr>
          <p:cNvPr id="464" name="Google Shape;464;p40"/>
          <p:cNvSpPr txBox="1"/>
          <p:nvPr/>
        </p:nvSpPr>
        <p:spPr>
          <a:xfrm>
            <a:off x="6334125" y="41433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is stored in cloud servers for immediate analysis by GIS specialists, ensuring high accuracy (3-5m error margin).</a:t>
            </a:r>
            <a:endParaRPr/>
          </a:p>
        </p:txBody>
      </p:sp>
      <p:sp>
        <p:nvSpPr>
          <p:cNvPr id="465" name="Google Shape;465;p4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GEOSPATIAL TOOLS (MAST)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952500" y="3024187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Capacity: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Limited financial and human resources at the local level.</a:t>
            </a:r>
            <a:endParaRPr/>
          </a:p>
        </p:txBody>
      </p:sp>
      <p:sp>
        <p:nvSpPr>
          <p:cNvPr id="473" name="Google Shape;473;p41"/>
          <p:cNvSpPr txBox="1"/>
          <p:nvPr/>
        </p:nvSpPr>
        <p:spPr>
          <a:xfrm>
            <a:off x="952500" y="347186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Ambiguity: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Overlapping roles between District Councils and Traditional Chiefs.</a:t>
            </a:r>
            <a:endParaRPr/>
          </a:p>
        </p:txBody>
      </p:sp>
      <p:sp>
        <p:nvSpPr>
          <p:cNvPr id="474" name="Google Shape;474;p41"/>
          <p:cNvSpPr txBox="1"/>
          <p:nvPr/>
        </p:nvSpPr>
        <p:spPr>
          <a:xfrm>
            <a:off x="952500" y="3919537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Crisis Management: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Moving from "emergency" reactions to "proactive" planning.</a:t>
            </a:r>
            <a:endParaRPr/>
          </a:p>
        </p:txBody>
      </p:sp>
      <p:sp>
        <p:nvSpPr>
          <p:cNvPr id="475" name="Google Shape;475;p41"/>
          <p:cNvSpPr txBox="1"/>
          <p:nvPr/>
        </p:nvSpPr>
        <p:spPr>
          <a:xfrm>
            <a:off x="952500" y="436721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Limited ability to enforce rules on outside mining/commercial actors.</a:t>
            </a:r>
            <a:endParaRPr/>
          </a:p>
        </p:txBody>
      </p:sp>
      <p:pic>
        <p:nvPicPr>
          <p:cNvPr id="476" name="Google Shape;476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2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099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7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053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CHALLENGES TO IMPLEMENTATION</a:t>
            </a:r>
            <a:endParaRPr/>
          </a:p>
        </p:txBody>
      </p:sp>
      <p:sp>
        <p:nvSpPr>
          <p:cNvPr id="481" name="Google Shape;481;p4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57150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2"/>
          <p:cNvSpPr txBox="1"/>
          <p:nvPr/>
        </p:nvSpPr>
        <p:spPr>
          <a:xfrm>
            <a:off x="295275" y="15240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490" name="Google Shape;490;p42"/>
          <p:cNvSpPr txBox="1"/>
          <p:nvPr/>
        </p:nvSpPr>
        <p:spPr>
          <a:xfrm>
            <a:off x="571500" y="254496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6A4E"/>
                </a:solidFill>
                <a:latin typeface="Lato"/>
                <a:ea typeface="Lato"/>
                <a:cs typeface="Lato"/>
                <a:sym typeface="Lato"/>
              </a:rPr>
              <a:t>Time for Questions and Academic Discussion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3987384" y="3429000"/>
            <a:ext cx="391017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"Land is our Heritage, Planning is our Future"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991</Words>
  <Application>Microsoft Office PowerPoint</Application>
  <PresentationFormat>Widescreen</PresentationFormat>
  <Paragraphs>152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Calibri</vt:lpstr>
      <vt:lpstr>Times New Roman</vt:lpstr>
      <vt:lpstr>Lato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bwalya.mutale.writer@gmail.com</cp:lastModifiedBy>
  <cp:revision>4</cp:revision>
  <dcterms:modified xsi:type="dcterms:W3CDTF">2026-02-10T08:08:36Z</dcterms:modified>
</cp:coreProperties>
</file>