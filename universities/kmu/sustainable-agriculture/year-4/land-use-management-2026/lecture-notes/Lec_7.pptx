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1" r:id="rId7"/>
    <p:sldId id="260" r:id="rId8"/>
    <p:sldId id="262" r:id="rId9"/>
    <p:sldId id="263" r:id="rId10"/>
    <p:sldId id="264" r:id="rId11"/>
    <p:sldId id="266" r:id="rId12"/>
    <p:sldId id="265" r:id="rId13"/>
    <p:sldId id="267" r:id="rId14"/>
    <p:sldId id="268" r:id="rId15"/>
    <p:sldId id="270" r:id="rId16"/>
    <p:sldId id="275" r:id="rId17"/>
    <p:sldId id="271" r:id="rId18"/>
    <p:sldId id="272" r:id="rId19"/>
    <p:sldId id="273" r:id="rId20"/>
    <p:sldId id="274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9DB33-6CBD-DE27-2303-553D79BC8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35F91-50DC-3F90-77A8-6CD629CF7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993F5-758F-8BCC-F7BF-AE493A676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EBDFE-4ED1-4D82-8D6A-2A497499946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C81F7-6B20-FA90-DF99-3434495DB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CD65C-B9C6-9C11-1B21-C59773AE3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0BD56-90CB-4372-ABF9-9FF957B5D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97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7E429-F59E-341D-9D07-8873D6D0B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6EBCE-35F6-B53C-5329-E449D7C10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51EA7-33E2-C4EF-44AE-578F47F0F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EBDFE-4ED1-4D82-8D6A-2A497499946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3BABC-B48A-D684-2AEB-6400CF220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48F0C-A592-EF19-AD53-B072243F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0BD56-90CB-4372-ABF9-9FF957B5D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54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667A7-C6EF-FF86-3CF6-CDB221DDD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B10C1-0E3F-6ADE-D94C-142652E12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693DA-3686-36B5-2BDF-2AC10DE12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EBDFE-4ED1-4D82-8D6A-2A497499946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82E2C-A662-8CAE-0355-D89A675E2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3D215-7ADD-A848-A8ED-6D4FC7871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0BD56-90CB-4372-ABF9-9FF957B5D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587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4E0AD-A5BE-FF25-3A05-EEB4EA595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0F1CA-5E49-F049-3A30-936905F9C5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8A5734-C557-81C5-6D29-E8239246C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768C33-3036-411C-8F5F-CD2BBB4D4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EBDFE-4ED1-4D82-8D6A-2A497499946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9D6F4-5B9A-75C1-194A-AE9CB27A6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7CF57-FFC5-F4ED-398B-3575E238B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0BD56-90CB-4372-ABF9-9FF957B5D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982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C1134-3D88-EC38-A56B-21AB11652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124AB-2996-7254-13A6-12D5D29BE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DDAB59-893D-B6E8-CDE7-CA545BA37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01FBC-B076-0ECF-814B-BA34AE30B7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DD7F9F-33C9-4188-C83B-522D27C7D8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974C8C-84EE-795E-AF0F-A2CFD659F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EBDFE-4ED1-4D82-8D6A-2A497499946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2E9E10-D7C4-AF06-DAB9-5F92DDBA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AF560C-E1C9-68D7-5355-F4878CF5F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0BD56-90CB-4372-ABF9-9FF957B5D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917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3A782-2C78-26F3-8F9A-F0CD7995C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23BA1F-F70F-E6F4-ABFD-6B350EE3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EBDFE-4ED1-4D82-8D6A-2A497499946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CBD63C-1F1F-C05E-0FA0-33B5A872D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224027-F140-7F60-3F9A-B6407575B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0BD56-90CB-4372-ABF9-9FF957B5D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883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0F84FF-E868-4CA9-85C2-2E7B19ECB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EBDFE-4ED1-4D82-8D6A-2A497499946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89FF35-837C-9B5E-1CBC-65E62F320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6CBE3-E1F1-8191-D15D-678FDB08C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0BD56-90CB-4372-ABF9-9FF957B5D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09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27A2A-D4A9-B073-7D48-872BA0715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D33A6-037E-B90E-EF87-4DC1F1FFA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1013C5-310C-79F0-0DA5-8ABCEF763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06B58-6526-B190-7294-082EEFEF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EBDFE-4ED1-4D82-8D6A-2A497499946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45AF6-6B8C-F2F2-80F1-A21EE268D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1268E-9E0B-5CAF-A3CC-210A5D4F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0BD56-90CB-4372-ABF9-9FF957B5D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62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88D4B-265C-806E-FFF2-F3086310D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3C4FB9-D041-026B-E587-71B2D59A4D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8BB4C-5A07-CD4C-1226-F4B6BC0BB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F14F5-E2F5-4CB6-551B-F692C6433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EBDFE-4ED1-4D82-8D6A-2A497499946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9A823-96F9-3ED4-3DE8-932389B04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BF9D6-0EEF-FB0E-96B5-416682A49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0BD56-90CB-4372-ABF9-9FF957B5D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28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A308C-4C50-E910-B1BC-A214C9E95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0CDA1C-3169-CB5A-5580-DA23CEAA9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6DD19-9B6C-725D-40E9-4B03F4F4C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EBDFE-4ED1-4D82-8D6A-2A497499946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06B5E-48F9-AD34-8A72-5E822222E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522BB-0558-7D7F-C2DA-884FBBC65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0BD56-90CB-4372-ABF9-9FF957B5D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741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F614E7-C1D0-FD1C-F2B5-0936F2F9D1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0685BA-C1EA-3724-AC32-4ACBC84EB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CD4E0-A558-B63C-1207-CAAAAA337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EBDFE-4ED1-4D82-8D6A-2A497499946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DB941-C31E-6116-FB08-C0693CA5C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0A92B-C34F-4F01-967D-73152EDA4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0BD56-90CB-4372-ABF9-9FF957B5D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F3A116-F2DB-AF56-DBE1-8ED7CD520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1595A-86D9-2977-996E-9B900CF17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04FF9-067B-8789-CB5D-EE8B998757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EBDFE-4ED1-4D82-8D6A-2A497499946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23687-D8ED-B677-7B49-4F72BF2D8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08750-3644-EF30-3F7C-8A0BC2A9B8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0BD56-90CB-4372-ABF9-9FF957B5D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093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8028E-486E-26F2-3BDF-878BBE7CD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8903" y="304800"/>
            <a:ext cx="7197213" cy="1180102"/>
          </a:xfrm>
        </p:spPr>
        <p:txBody>
          <a:bodyPr>
            <a:noAutofit/>
          </a:bodyPr>
          <a:lstStyle/>
          <a:p>
            <a:r>
              <a:rPr lang="en-US" sz="4000" b="1" dirty="0"/>
              <a:t>PRINCIPLES IN LAND USE MAPPING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11F06E-6B64-49D4-D458-068C1D575C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84901"/>
            <a:ext cx="9144000" cy="4886401"/>
          </a:xfrm>
        </p:spPr>
        <p:txBody>
          <a:bodyPr>
            <a:normAutofit/>
          </a:bodyPr>
          <a:lstStyle/>
          <a:p>
            <a:pPr algn="just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CD0FEA-C6C9-7026-F595-00BB0C6FB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754" y="1867090"/>
            <a:ext cx="1722969" cy="21148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0C6BB1-F828-17ED-A88E-091A7E8FBA55}"/>
              </a:ext>
            </a:extLst>
          </p:cNvPr>
          <p:cNvSpPr txBox="1"/>
          <p:nvPr/>
        </p:nvSpPr>
        <p:spPr>
          <a:xfrm>
            <a:off x="3048000" y="3981979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2800" b="1" dirty="0">
                <a:solidFill>
                  <a:schemeClr val="accent2"/>
                </a:solidFill>
              </a:rPr>
              <a:t>Kapasa Makasa University</a:t>
            </a:r>
          </a:p>
          <a:p>
            <a:pPr algn="ctr"/>
            <a:r>
              <a:rPr lang="fi-FI" sz="2800" b="1" dirty="0"/>
              <a:t>Bwalya Mutale</a:t>
            </a:r>
          </a:p>
        </p:txBody>
      </p:sp>
    </p:spTree>
    <p:extLst>
      <p:ext uri="{BB962C8B-B14F-4D97-AF65-F5344CB8AC3E}">
        <p14:creationId xmlns:p14="http://schemas.microsoft.com/office/powerpoint/2010/main" val="3501953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D7E59-FCA2-AAA4-0DF9-AEB361D19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0BC43-B398-9D30-ADA0-9233392AF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8903" y="139368"/>
            <a:ext cx="7374194" cy="1345534"/>
          </a:xfrm>
        </p:spPr>
        <p:txBody>
          <a:bodyPr>
            <a:normAutofit/>
          </a:bodyPr>
          <a:lstStyle/>
          <a:p>
            <a:r>
              <a:rPr lang="en-US" sz="4000" b="1" dirty="0"/>
              <a:t>What is land use mapping?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72D737-5004-2B18-9979-EF1E94CA7E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84901"/>
            <a:ext cx="9144000" cy="4886401"/>
          </a:xfrm>
        </p:spPr>
        <p:txBody>
          <a:bodyPr>
            <a:normAutofit/>
          </a:bodyPr>
          <a:lstStyle/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Land Use Mapping </a:t>
            </a:r>
            <a:r>
              <a:rPr lang="en-US" dirty="0"/>
              <a:t>is the process of categorizing and visualizing how land is utilized </a:t>
            </a:r>
            <a:r>
              <a:rPr lang="en-US"/>
              <a:t>by humans-such </a:t>
            </a:r>
            <a:r>
              <a:rPr lang="en-US" dirty="0"/>
              <a:t>as agriculture, residential, commercial, industrial, transportation, recreational, etc.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dirty="0"/>
              <a:t>Distinguishing from land cover</a:t>
            </a:r>
          </a:p>
        </p:txBody>
      </p:sp>
    </p:spTree>
    <p:extLst>
      <p:ext uri="{BB962C8B-B14F-4D97-AF65-F5344CB8AC3E}">
        <p14:creationId xmlns:p14="http://schemas.microsoft.com/office/powerpoint/2010/main" val="2063507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634B3-7C42-A2D2-0B4D-19559D94D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Land Cover vs. Land Use:</a:t>
            </a:r>
            <a:br>
              <a:rPr lang="en-US" b="1" dirty="0">
                <a:solidFill>
                  <a:schemeClr val="accent1"/>
                </a:solidFill>
              </a:rPr>
            </a:b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61F65-0BBB-81E8-997E-D4784F8D1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Land Cover describes the physical material at the surface of the earth (e.g., vegetation, water, bare soil).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Land Use focuses on the function of land (e.g., cropland, urban development, industrial </a:t>
            </a:r>
            <a:r>
              <a:rPr lang="en-US" dirty="0" err="1"/>
              <a:t>etc</a:t>
            </a:r>
            <a:r>
              <a:rPr lang="en-US" dirty="0"/>
              <a:t>…).</a:t>
            </a:r>
          </a:p>
        </p:txBody>
      </p:sp>
    </p:spTree>
    <p:extLst>
      <p:ext uri="{BB962C8B-B14F-4D97-AF65-F5344CB8AC3E}">
        <p14:creationId xmlns:p14="http://schemas.microsoft.com/office/powerpoint/2010/main" val="3962048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875AA-62F2-6459-41B5-070B8FF74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303"/>
            <a:ext cx="10515600" cy="141538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1. Principle of Classification</a:t>
            </a:r>
            <a:br>
              <a:rPr lang="en-US" b="1" dirty="0">
                <a:solidFill>
                  <a:schemeClr val="accent1"/>
                </a:solidFill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186C8-7E43-6142-DC57-90B1F075B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of a standardized </a:t>
            </a:r>
            <a:r>
              <a:rPr lang="en-US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classification scheme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(e.g., FAO, Anderson Classification System).</a:t>
            </a: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Categories must be </a:t>
            </a:r>
            <a:r>
              <a:rPr lang="en-US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mutually exclusive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collectively exhaustive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Classes should reflect </a:t>
            </a:r>
            <a:r>
              <a:rPr lang="en-US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actual land use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types: residential, industrial, recreational, agricultural, etc.</a:t>
            </a:r>
          </a:p>
        </p:txBody>
      </p:sp>
    </p:spTree>
    <p:extLst>
      <p:ext uri="{BB962C8B-B14F-4D97-AF65-F5344CB8AC3E}">
        <p14:creationId xmlns:p14="http://schemas.microsoft.com/office/powerpoint/2010/main" val="695400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0188C-64F6-34D4-4084-4F19BB5EA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2 Principle of Scale</a:t>
            </a:r>
            <a:br>
              <a:rPr lang="en-US" b="1" dirty="0">
                <a:solidFill>
                  <a:schemeClr val="accent1"/>
                </a:solidFill>
              </a:rPr>
            </a:b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66E2E-EF6E-65FE-4AFC-55369F59A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map scale determines the level of detail.</a:t>
            </a:r>
          </a:p>
          <a:p>
            <a:endParaRPr lang="en-US" dirty="0"/>
          </a:p>
          <a:p>
            <a:r>
              <a:rPr lang="en-US" dirty="0"/>
              <a:t>Large-scale (e.g., 1:10,000) for local planning.</a:t>
            </a:r>
          </a:p>
          <a:p>
            <a:endParaRPr lang="en-US" dirty="0"/>
          </a:p>
          <a:p>
            <a:r>
              <a:rPr lang="en-US" dirty="0"/>
              <a:t>Small-scale (e.g., 1:250,000) for regional or national analysis.</a:t>
            </a:r>
          </a:p>
          <a:p>
            <a:endParaRPr lang="en-US" dirty="0"/>
          </a:p>
          <a:p>
            <a:r>
              <a:rPr lang="en-US" dirty="0"/>
              <a:t>Larger scales provide finer spatial resolution</a:t>
            </a:r>
          </a:p>
        </p:txBody>
      </p:sp>
    </p:spTree>
    <p:extLst>
      <p:ext uri="{BB962C8B-B14F-4D97-AF65-F5344CB8AC3E}">
        <p14:creationId xmlns:p14="http://schemas.microsoft.com/office/powerpoint/2010/main" val="2491576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AFA9-08BA-8D3D-8C28-C62D3635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3 Principle of Temporal Relevance</a:t>
            </a:r>
            <a:br>
              <a:rPr lang="en-US" b="1" dirty="0">
                <a:solidFill>
                  <a:schemeClr val="accent1"/>
                </a:solidFill>
              </a:rPr>
            </a:b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5A385-D95A-B0BE-76D2-90BD7EE4B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Land use data must be time-sensitive.</a:t>
            </a:r>
          </a:p>
          <a:p>
            <a:endParaRPr lang="en-US" dirty="0"/>
          </a:p>
          <a:p>
            <a:r>
              <a:rPr lang="en-US" dirty="0"/>
              <a:t>Changes in land use patterns over time are important for trend analysis.</a:t>
            </a:r>
          </a:p>
          <a:p>
            <a:endParaRPr lang="en-US" dirty="0"/>
          </a:p>
          <a:p>
            <a:r>
              <a:rPr lang="en-US" dirty="0"/>
              <a:t>Periodic updating is necessary to maintain map relevance.</a:t>
            </a:r>
          </a:p>
        </p:txBody>
      </p:sp>
    </p:spTree>
    <p:extLst>
      <p:ext uri="{BB962C8B-B14F-4D97-AF65-F5344CB8AC3E}">
        <p14:creationId xmlns:p14="http://schemas.microsoft.com/office/powerpoint/2010/main" val="1434927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9C9E4-3C8B-A645-DB54-12D77227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4 Principle of Data Accuracy and Reliability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23C17-1E10-73EC-6B58-413B641F7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	Base data must be accurate, verifiable, and georeferenced.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	Use ground truthing, high-resolution imagery, and reliable datasets.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	Ensure positional accuracy and attribute accuracy</a:t>
            </a:r>
          </a:p>
        </p:txBody>
      </p:sp>
    </p:spTree>
    <p:extLst>
      <p:ext uri="{BB962C8B-B14F-4D97-AF65-F5344CB8AC3E}">
        <p14:creationId xmlns:p14="http://schemas.microsoft.com/office/powerpoint/2010/main" val="7740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E1AC9-1F50-07A4-B2D3-1FCC643A1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5 Principle of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0B838-49EF-3E57-26D6-0FBDC42C9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Uniform methods and standards should be applied across different regions and time periods.</a:t>
            </a:r>
          </a:p>
          <a:p>
            <a:endParaRPr lang="en-US" dirty="0"/>
          </a:p>
          <a:p>
            <a:r>
              <a:rPr lang="en-US" dirty="0"/>
              <a:t>Ensures comparability and interoperability of maps.</a:t>
            </a:r>
          </a:p>
        </p:txBody>
      </p:sp>
    </p:spTree>
    <p:extLst>
      <p:ext uri="{BB962C8B-B14F-4D97-AF65-F5344CB8AC3E}">
        <p14:creationId xmlns:p14="http://schemas.microsoft.com/office/powerpoint/2010/main" val="1109102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18C81-8E24-AAA1-435D-D973E6761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6 Principle of Purpose and User Needs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F4F14-0A17-8FF1-C292-35FCF26C9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Mapping should be goal-driven—whether for zoning, agriculture, urban planning, conservation, etc.</a:t>
            </a:r>
          </a:p>
          <a:p>
            <a:endParaRPr lang="en-US" dirty="0"/>
          </a:p>
          <a:p>
            <a:r>
              <a:rPr lang="en-US" dirty="0"/>
              <a:t>Stakeholder input is key in determining the functional classes to map.</a:t>
            </a:r>
          </a:p>
        </p:txBody>
      </p:sp>
    </p:spTree>
    <p:extLst>
      <p:ext uri="{BB962C8B-B14F-4D97-AF65-F5344CB8AC3E}">
        <p14:creationId xmlns:p14="http://schemas.microsoft.com/office/powerpoint/2010/main" val="2978819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4CB74-20D3-3ED1-FE1B-525A1B96A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7 Principle of Visual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C8303-0310-9482-A383-34C728EE6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Use clear symbology, color codes, legends, and labels.</a:t>
            </a:r>
          </a:p>
          <a:p>
            <a:endParaRPr lang="en-US" dirty="0"/>
          </a:p>
          <a:p>
            <a:r>
              <a:rPr lang="en-US" dirty="0"/>
              <a:t>Maps should be interpretable by non-specialists.</a:t>
            </a:r>
          </a:p>
          <a:p>
            <a:endParaRPr lang="en-US" dirty="0"/>
          </a:p>
          <a:p>
            <a:r>
              <a:rPr lang="en-US" dirty="0"/>
              <a:t>Follow cartographic standards and ensure readability.</a:t>
            </a:r>
          </a:p>
        </p:txBody>
      </p:sp>
    </p:spTree>
    <p:extLst>
      <p:ext uri="{BB962C8B-B14F-4D97-AF65-F5344CB8AC3E}">
        <p14:creationId xmlns:p14="http://schemas.microsoft.com/office/powerpoint/2010/main" val="40679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D4027-99DD-6247-C6A0-5880E9D7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9242"/>
          </a:xfrm>
        </p:spPr>
        <p:txBody>
          <a:bodyPr/>
          <a:lstStyle/>
          <a:p>
            <a:pPr algn="ctr"/>
            <a:r>
              <a:rPr lang="en-US" b="1" dirty="0"/>
              <a:t>LAND USE CLASSIFICATION SYSTEMS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A31871-7FD7-444F-213B-4B18A32782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1447692"/>
            <a:ext cx="11169443" cy="410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by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Food and Agriculture Organization (FAO)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United Nations.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to support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land resource assessment, agricultural statistics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land use planning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Main Land Use Categories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Agricultural Land: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Arable land, permanent crops, and pasture.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Forest Land: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Areas under natural forest or forest plantations.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Urban and Built-up Land: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 settlements, infrastructure, industrial zones.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221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84AA-4615-AD23-BA74-9F13A50D9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Continue….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36E5-81C4-CB64-4725-444BB3385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b="1" dirty="0"/>
              <a:t>4. Wetlands</a:t>
            </a:r>
            <a:r>
              <a:rPr lang="en-US" dirty="0"/>
              <a:t>: Permanent or seasonally flooded lands, marshes.</a:t>
            </a:r>
          </a:p>
          <a:p>
            <a:pPr marL="0" indent="0">
              <a:buNone/>
            </a:pPr>
            <a:r>
              <a:rPr lang="en-US" b="1" dirty="0"/>
              <a:t>5. Other Land</a:t>
            </a:r>
            <a:r>
              <a:rPr lang="en-US" dirty="0"/>
              <a:t>: Deserts, tundra, rock outcrops.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Key Features</a:t>
            </a:r>
            <a:r>
              <a:rPr lang="en-US" dirty="0"/>
              <a:t>: Suitable for national reporting, policy development, and food security analysis. Aligns with international reporting obligations (e.g., SDGs, UNCCD).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Use Case</a:t>
            </a:r>
            <a:r>
              <a:rPr lang="en-US" dirty="0"/>
              <a:t>: Governments use FAO classification for agricultural census and land productivity assessments.</a:t>
            </a:r>
          </a:p>
        </p:txBody>
      </p:sp>
    </p:spTree>
    <p:extLst>
      <p:ext uri="{BB962C8B-B14F-4D97-AF65-F5344CB8AC3E}">
        <p14:creationId xmlns:p14="http://schemas.microsoft.com/office/powerpoint/2010/main" val="2852098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E12F-55C5-E91E-7170-C193BD839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Anderson Land Use Classification System (USGS)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80FD9-78BB-5DF2-D991-3265AD652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Developed in the 1970s by the U.S. Geological Survey (USGS).</a:t>
            </a:r>
          </a:p>
          <a:p>
            <a:endParaRPr lang="en-US" dirty="0"/>
          </a:p>
          <a:p>
            <a:r>
              <a:rPr lang="en-US" dirty="0"/>
              <a:t>Widely used in the United States for land use/land cover classification using remote sensing imagery, especially aerial photos.</a:t>
            </a:r>
          </a:p>
        </p:txBody>
      </p:sp>
    </p:spTree>
    <p:extLst>
      <p:ext uri="{BB962C8B-B14F-4D97-AF65-F5344CB8AC3E}">
        <p14:creationId xmlns:p14="http://schemas.microsoft.com/office/powerpoint/2010/main" val="4013863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3706D-480D-9632-BD70-F979E2EF8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9569C-D39C-A023-F6B5-61C5AEFC5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  <a:p>
            <a:pPr>
              <a:buNone/>
            </a:pPr>
            <a:r>
              <a:rPr lang="en-US" b="1" dirty="0"/>
              <a:t>Level I – General Categories: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Urban or Built-Up Land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Agricultural Land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Rangeland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Forest Land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Water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Wetland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Barren Land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Tundra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Perennial Snow or Ice</a:t>
            </a:r>
          </a:p>
        </p:txBody>
      </p:sp>
    </p:spTree>
    <p:extLst>
      <p:ext uri="{BB962C8B-B14F-4D97-AF65-F5344CB8AC3E}">
        <p14:creationId xmlns:p14="http://schemas.microsoft.com/office/powerpoint/2010/main" val="1919032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49097-9146-3481-0EB5-2541B1233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D6858-4E83-AE55-0931-5F232DE2E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Level II – Specific Subclasses: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Urban: Single-family residential, multifamily residential, commercial, industrial, transportation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Agriculture: Row crops, pasture, orchards, vineyards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Forest: Deciduous, evergreen, mixed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664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B2BBA-DF39-DC9F-5EA5-5DFE17B31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29" y="698090"/>
            <a:ext cx="10704871" cy="547887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Key Features:</a:t>
            </a:r>
          </a:p>
          <a:p>
            <a:r>
              <a:rPr lang="en-US" dirty="0"/>
              <a:t>Designed to support classification using medium-resolution imagery (e.g., Landsat).</a:t>
            </a:r>
          </a:p>
          <a:p>
            <a:endParaRPr lang="en-US" dirty="0"/>
          </a:p>
          <a:p>
            <a:r>
              <a:rPr lang="en-US" dirty="0"/>
              <a:t>Level I suitable for broad national mapping; Level II adds detail for local or regional analysis.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Use Case</a:t>
            </a:r>
            <a:r>
              <a:rPr lang="en-US" dirty="0"/>
              <a:t>: Useful for land cover change detection, urban sprawl studies, and resource planning in the U.S.</a:t>
            </a:r>
          </a:p>
        </p:txBody>
      </p:sp>
    </p:spTree>
    <p:extLst>
      <p:ext uri="{BB962C8B-B14F-4D97-AF65-F5344CB8AC3E}">
        <p14:creationId xmlns:p14="http://schemas.microsoft.com/office/powerpoint/2010/main" val="1589263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A1202-B81D-C4F8-A10D-8838A3EF4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CORINE Land Cover Classification (Europe)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AFD8D-B4BB-2B94-BB45-7D5AFABCB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CORINE </a:t>
            </a:r>
            <a:r>
              <a:rPr lang="en-US" dirty="0"/>
              <a:t>= Coordination of Information on the Environment.</a:t>
            </a:r>
          </a:p>
          <a:p>
            <a:endParaRPr lang="en-US" dirty="0"/>
          </a:p>
          <a:p>
            <a:r>
              <a:rPr lang="en-US" dirty="0"/>
              <a:t>Initiated by the European Environment Agency (EEA) in 1985.</a:t>
            </a:r>
          </a:p>
          <a:p>
            <a:endParaRPr lang="en-US" dirty="0"/>
          </a:p>
          <a:p>
            <a:r>
              <a:rPr lang="en-US" dirty="0"/>
              <a:t>Aims to map land cover and land use across European countries using satellite imagery.</a:t>
            </a:r>
          </a:p>
        </p:txBody>
      </p:sp>
    </p:spTree>
    <p:extLst>
      <p:ext uri="{BB962C8B-B14F-4D97-AF65-F5344CB8AC3E}">
        <p14:creationId xmlns:p14="http://schemas.microsoft.com/office/powerpoint/2010/main" val="476966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3DBBB-8920-3368-B28E-4E135B01B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1B1D0-5BC9-CE04-245D-558E2E558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Classification Structure: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Level 1:</a:t>
            </a:r>
            <a:r>
              <a:rPr lang="en-US" dirty="0"/>
              <a:t> 5 broad classes (e.g., artificial surfaces, agricultural areas, forests and seminatural areas, wetlands, water bodies)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Level 2:</a:t>
            </a:r>
            <a:r>
              <a:rPr lang="en-US" dirty="0"/>
              <a:t> Intermediate subclasses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Level 3:</a:t>
            </a:r>
            <a:r>
              <a:rPr lang="en-US" dirty="0"/>
              <a:t> Very detailed categories (44 land cover classes)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531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F8E19-7D1F-EBD7-2FA6-5E4DD0711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3907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Examples of CORINE Classes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CE3B2-573A-D2B1-953B-CF2CBE7D4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9032"/>
            <a:ext cx="10515600" cy="49479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Artificial Surfaces:</a:t>
            </a:r>
            <a:r>
              <a:rPr lang="en-US" dirty="0"/>
              <a:t> Continuous urban fabric, airports, industrial sites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Agricultural Areas:</a:t>
            </a:r>
            <a:r>
              <a:rPr lang="en-US" dirty="0"/>
              <a:t> Arable land, permanent crops, pastures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Forest Areas:</a:t>
            </a:r>
            <a:r>
              <a:rPr lang="en-US" dirty="0"/>
              <a:t> Broad-leaved, coniferous, mixed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Wetlands &amp; Water Bodies:</a:t>
            </a:r>
            <a:r>
              <a:rPr lang="en-US" dirty="0"/>
              <a:t> Inland marshes, coastal lagoons, rivers, lakes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529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8B2CD-D95E-250D-3C0F-5FBDEA874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7CA7E-5301-F889-7B9F-FADB4638E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Key </a:t>
            </a:r>
            <a:r>
              <a:rPr lang="en-US" b="1" dirty="0" err="1">
                <a:solidFill>
                  <a:srgbClr val="FF0000"/>
                </a:solidFill>
              </a:rPr>
              <a:t>Features</a:t>
            </a:r>
            <a:r>
              <a:rPr lang="en-US" dirty="0" err="1"/>
              <a:t>:Harmonized</a:t>
            </a:r>
            <a:r>
              <a:rPr lang="en-US" dirty="0"/>
              <a:t> for cross-country comparison and EU-wide environmental policy support.</a:t>
            </a:r>
          </a:p>
          <a:p>
            <a:r>
              <a:rPr lang="en-US" dirty="0"/>
              <a:t>Updated every 6 years (e.g., 2000, 2006, 2012, 2018, 2022).</a:t>
            </a:r>
          </a:p>
          <a:p>
            <a:endParaRPr lang="en-US" dirty="0"/>
          </a:p>
          <a:p>
            <a:r>
              <a:rPr lang="en-US" dirty="0"/>
              <a:t>Data used for climate reporting, habitat monitoring, and urbanization tracking.</a:t>
            </a:r>
          </a:p>
          <a:p>
            <a:r>
              <a:rPr lang="en-US" b="1" dirty="0">
                <a:solidFill>
                  <a:srgbClr val="FF0000"/>
                </a:solidFill>
              </a:rPr>
              <a:t>Use Case</a:t>
            </a:r>
            <a:r>
              <a:rPr lang="en-US" dirty="0"/>
              <a:t>: European countries use CORINE for environmental monitoring, urban planning, and reporting to the EU.</a:t>
            </a:r>
          </a:p>
        </p:txBody>
      </p:sp>
    </p:spTree>
    <p:extLst>
      <p:ext uri="{BB962C8B-B14F-4D97-AF65-F5344CB8AC3E}">
        <p14:creationId xmlns:p14="http://schemas.microsoft.com/office/powerpoint/2010/main" val="3082953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ADE98-A53F-82FF-6CDF-3E69855E0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2956458" y="2254569"/>
            <a:ext cx="838200" cy="4571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FB681-BE6C-54F0-0933-D31A15733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0103"/>
            <a:ext cx="10515600" cy="5596860"/>
          </a:xfr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6000" b="1" dirty="0">
                <a:solidFill>
                  <a:srgbClr val="00B0F0"/>
                </a:solidFill>
              </a:rPr>
              <a:t>Thank you for your attention</a:t>
            </a:r>
          </a:p>
          <a:p>
            <a:pPr marL="0" indent="0" algn="ctr">
              <a:buNone/>
            </a:pPr>
            <a:endParaRPr lang="en-US" sz="40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sz="4000" b="1" dirty="0">
                <a:solidFill>
                  <a:srgbClr val="FF0000"/>
                </a:solidFill>
              </a:rPr>
              <a:t>“Discipline is true freedom”</a:t>
            </a:r>
          </a:p>
        </p:txBody>
      </p:sp>
    </p:spTree>
    <p:extLst>
      <p:ext uri="{BB962C8B-B14F-4D97-AF65-F5344CB8AC3E}">
        <p14:creationId xmlns:p14="http://schemas.microsoft.com/office/powerpoint/2010/main" val="4140636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10296</TotalTime>
  <Words>898</Words>
  <Application>Microsoft Office PowerPoint</Application>
  <PresentationFormat>Widescreen</PresentationFormat>
  <Paragraphs>141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Wingdings</vt:lpstr>
      <vt:lpstr>Office Theme</vt:lpstr>
      <vt:lpstr>PRINCIPLES IN LAND USE MAPPING</vt:lpstr>
      <vt:lpstr>What is land use mapping?</vt:lpstr>
      <vt:lpstr>Land Cover vs. Land Use: </vt:lpstr>
      <vt:lpstr>1. Principle of Classification  </vt:lpstr>
      <vt:lpstr>2 Principle of Scale </vt:lpstr>
      <vt:lpstr>3 Principle of Temporal Relevance </vt:lpstr>
      <vt:lpstr>4 Principle of Data Accuracy and Reliability</vt:lpstr>
      <vt:lpstr>5 Principle of Consistency</vt:lpstr>
      <vt:lpstr>6 Principle of Purpose and User Needs</vt:lpstr>
      <vt:lpstr>7 Principle of Visual Representation</vt:lpstr>
      <vt:lpstr>LAND USE CLASSIFICATION SYSTEMS</vt:lpstr>
      <vt:lpstr>Continue….</vt:lpstr>
      <vt:lpstr>Anderson Land Use Classification System (USGS)</vt:lpstr>
      <vt:lpstr>Continue…</vt:lpstr>
      <vt:lpstr>Continue…</vt:lpstr>
      <vt:lpstr>PowerPoint Presentation</vt:lpstr>
      <vt:lpstr>CORINE Land Cover Classification (Europe)</vt:lpstr>
      <vt:lpstr>PowerPoint Presentation</vt:lpstr>
      <vt:lpstr>Examples of CORINE Classes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bwalya.mutale.writer@gmail.com</dc:creator>
  <cp:lastModifiedBy>Bwalya Mutale</cp:lastModifiedBy>
  <cp:revision>6</cp:revision>
  <dcterms:created xsi:type="dcterms:W3CDTF">2025-02-17T18:14:39Z</dcterms:created>
  <dcterms:modified xsi:type="dcterms:W3CDTF">2026-05-17T07:05:30Z</dcterms:modified>
</cp:coreProperties>
</file>