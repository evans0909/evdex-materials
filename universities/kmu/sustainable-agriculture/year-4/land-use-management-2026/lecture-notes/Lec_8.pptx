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embeddedFontLst>
    <p:embeddedFont>
      <p:font typeface="Merriweather" panose="00000500000000000000" pitchFamily="2" charset="0"/>
      <p:regular r:id="rId43"/>
      <p:bold r:id="rId44"/>
      <p:italic r:id="rId45"/>
      <p:boldItalic r:id="rId46"/>
    </p:embeddedFont>
    <p:embeddedFont>
      <p:font typeface="Plus Jakarta Sans" panose="020B0604020202020204" charset="0"/>
      <p:regular r:id="rId47"/>
      <p:bold r:id="rId48"/>
      <p:italic r:id="rId49"/>
      <p:boldItalic r:id="rId50"/>
    </p:embeddedFont>
    <p:embeddedFont>
      <p:font typeface="Plus Jakarta Sans Medium" panose="020B0604020202020204" charset="0"/>
      <p:regular r:id="rId51"/>
      <p:bold r:id="rId52"/>
      <p:italic r:id="rId53"/>
      <p:boldItalic r:id="rId54"/>
    </p:embeddedFont>
    <p:embeddedFont>
      <p:font typeface="Plus Jakarta Sans SemiBold" panose="020B060402020202020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1148E5-017B-438A-B5E8-74EFD067D354}">
  <a:tblStyle styleId="{6F1148E5-017B-438A-B5E8-74EFD067D35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30.png"/><Relationship Id="rId4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35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6.png"/><Relationship Id="rId10" Type="http://schemas.openxmlformats.org/officeDocument/2006/relationships/image" Target="../media/image49.png"/><Relationship Id="rId4" Type="http://schemas.openxmlformats.org/officeDocument/2006/relationships/image" Target="../media/image5.pn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53.png"/><Relationship Id="rId4" Type="http://schemas.openxmlformats.org/officeDocument/2006/relationships/image" Target="../media/image26.png"/><Relationship Id="rId9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57.png"/><Relationship Id="rId4" Type="http://schemas.openxmlformats.org/officeDocument/2006/relationships/image" Target="../media/image15.png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58.png"/><Relationship Id="rId9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4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72.png"/><Relationship Id="rId4" Type="http://schemas.openxmlformats.org/officeDocument/2006/relationships/image" Target="../media/image68.png"/><Relationship Id="rId9" Type="http://schemas.openxmlformats.org/officeDocument/2006/relationships/image" Target="../media/image7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6.png"/><Relationship Id="rId10" Type="http://schemas.openxmlformats.org/officeDocument/2006/relationships/image" Target="../media/image75.png"/><Relationship Id="rId4" Type="http://schemas.openxmlformats.org/officeDocument/2006/relationships/image" Target="../media/image5.png"/><Relationship Id="rId9" Type="http://schemas.openxmlformats.org/officeDocument/2006/relationships/image" Target="../media/image7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80.png"/><Relationship Id="rId4" Type="http://schemas.openxmlformats.org/officeDocument/2006/relationships/image" Target="../media/image76.png"/><Relationship Id="rId9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4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8.png"/><Relationship Id="rId9" Type="http://schemas.openxmlformats.org/officeDocument/2006/relationships/image" Target="../media/image8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6.png"/><Relationship Id="rId10" Type="http://schemas.openxmlformats.org/officeDocument/2006/relationships/image" Target="../media/image87.png"/><Relationship Id="rId4" Type="http://schemas.openxmlformats.org/officeDocument/2006/relationships/image" Target="../media/image5.png"/><Relationship Id="rId9" Type="http://schemas.openxmlformats.org/officeDocument/2006/relationships/image" Target="../media/image8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8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4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6.png"/><Relationship Id="rId4" Type="http://schemas.openxmlformats.org/officeDocument/2006/relationships/image" Target="../media/image5.png"/><Relationship Id="rId9" Type="http://schemas.openxmlformats.org/officeDocument/2006/relationships/image" Target="../media/image9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4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97.png"/><Relationship Id="rId4" Type="http://schemas.openxmlformats.org/officeDocument/2006/relationships/image" Target="../media/image26.png"/><Relationship Id="rId9" Type="http://schemas.openxmlformats.org/officeDocument/2006/relationships/image" Target="../media/image9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4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101.png"/><Relationship Id="rId4" Type="http://schemas.openxmlformats.org/officeDocument/2006/relationships/image" Target="../media/image15.png"/><Relationship Id="rId9" Type="http://schemas.openxmlformats.org/officeDocument/2006/relationships/image" Target="../media/image10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6.png"/><Relationship Id="rId4" Type="http://schemas.openxmlformats.org/officeDocument/2006/relationships/image" Target="../media/image5.png"/><Relationship Id="rId9" Type="http://schemas.openxmlformats.org/officeDocument/2006/relationships/image" Target="../media/image10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4.png"/><Relationship Id="rId7" Type="http://schemas.openxmlformats.org/officeDocument/2006/relationships/image" Target="../media/image10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8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4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10" Type="http://schemas.openxmlformats.org/officeDocument/2006/relationships/image" Target="../media/image108.png"/><Relationship Id="rId4" Type="http://schemas.openxmlformats.org/officeDocument/2006/relationships/image" Target="../media/image15.png"/><Relationship Id="rId9" Type="http://schemas.openxmlformats.org/officeDocument/2006/relationships/image" Target="../media/image10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9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353800" y="6600825"/>
            <a:ext cx="6000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3B0A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 / 40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325528" y="2130772"/>
            <a:ext cx="7540942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600" b="1" i="0" u="none" strike="noStrike" cap="none" dirty="0">
              <a:solidFill>
                <a:srgbClr val="FAF9F5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AF9F5"/>
                </a:solidFill>
                <a:latin typeface="Merriweather"/>
                <a:ea typeface="Merriweather"/>
                <a:cs typeface="Merriweather"/>
                <a:sym typeface="Merriweather"/>
              </a:rPr>
              <a:t>Formulation of Farm-Land Plan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639135" y="3811545"/>
            <a:ext cx="491372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 err="1">
                <a:solidFill>
                  <a:srgbClr val="E6ECE8"/>
                </a:solidFill>
                <a:latin typeface="Plus Jakarta Sans"/>
                <a:cs typeface="Plus Jakarta Sans"/>
                <a:sym typeface="Plus Jakarta Sans"/>
              </a:rPr>
              <a:t>B.Mutale</a:t>
            </a:r>
            <a:endParaRPr b="1" dirty="0"/>
          </a:p>
        </p:txBody>
      </p:sp>
      <p:sp>
        <p:nvSpPr>
          <p:cNvPr id="90" name="Google Shape;90;p13"/>
          <p:cNvSpPr/>
          <p:nvPr/>
        </p:nvSpPr>
        <p:spPr>
          <a:xfrm>
            <a:off x="5715000" y="3517552"/>
            <a:ext cx="762000" cy="381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184167" y="4134710"/>
            <a:ext cx="382366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E6EC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Department of </a:t>
            </a:r>
            <a:r>
              <a:rPr lang="en-US" sz="1200" dirty="0">
                <a:solidFill>
                  <a:srgbClr val="E6EC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Agriculture and Aquatic Sciences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94" name="Google Shape;94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32039-7B0F-4E31-4EA2-43BBEFBA9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304" y="254450"/>
            <a:ext cx="2861388" cy="2444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Presentation Outline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11334750" y="66008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 / 40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1000125" y="2781300"/>
            <a:ext cx="3000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Part 1 &amp; 2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1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Foundations of farm-land planning, sustainable principles, and the distinct process of goal setting for both smallholder and commercial models.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4810125" y="2781300"/>
            <a:ext cx="3000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Part 3 &amp; 4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52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Conducting systematic resource inventories (soil, climate, water, labor) and utilizing Land Capability Classifications (LCC) &amp; GIS methods.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648700" y="2781300"/>
            <a:ext cx="297037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Part 5 &amp; 6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3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Formulating physical farm layouts (conservation design, roadways, irrigation blocks) followed by dynamic implementation timelines.</a:t>
            </a:r>
            <a:endParaRPr/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27955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24375" y="27955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34375" y="27955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11334750" y="66008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3B0A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 / 40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705475" y="2138362"/>
            <a:ext cx="781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49B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PART ONE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2490549" y="2433637"/>
            <a:ext cx="721090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AF9F5"/>
                </a:solidFill>
                <a:latin typeface="Merriweather"/>
                <a:ea typeface="Merriweather"/>
                <a:cs typeface="Merriweather"/>
                <a:sym typeface="Merriweather"/>
              </a:rPr>
              <a:t>Introduction to Farm-Land Planning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810250" y="3128962"/>
            <a:ext cx="571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3724275" y="3395662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6EC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Defining scales, core terms, and sustainable agricultural principles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24062"/>
            <a:ext cx="5429250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Farm-Land Planning?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325225" y="6600825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4 / 40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476250" y="2002184"/>
            <a:ext cx="5429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3A2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"The systematic spatial evaluation, allocation, and organization of farm resources to maximize sustainable productivity."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524625" y="2300287"/>
            <a:ext cx="52006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The Cost of Non-Planning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524625" y="2681287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Without a detailed plan, farms commonly suffer from: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2741265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Spatial Science: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Mapping specific uses to the most suitable soil parcels.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62000" y="3312765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Integrated Framework: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Links agronomic production directly with ecological conservation.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62000" y="3884265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Long-term Stewardship: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Prevents environmental degradation while securing steady financial yields.</a:t>
            </a:r>
            <a:endParaRPr/>
          </a:p>
        </p:txBody>
      </p:sp>
      <p:pic>
        <p:nvPicPr>
          <p:cNvPr id="155" name="Google Shape;15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3288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6629400" y="2976562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715125" y="2976562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Cultivation of highly erodible slopes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6629400" y="3281362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715125" y="3281362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Compaction of clayey transit routes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6629400" y="3586162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715125" y="3586162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Siltation of irrigation channels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6629400" y="3890962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715125" y="3890962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Misallocation of high-cost inputs</a:t>
            </a:r>
            <a:endParaRPr/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77460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334610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391760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09725"/>
            <a:ext cx="542925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What constitutes a "Farm Plan"?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1334750" y="66008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5 / 40</a:t>
            </a:r>
            <a:endParaRPr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476250" y="2071687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completed farm plan is a dynamic document containing both </a:t>
            </a:r>
            <a:r>
              <a:rPr lang="en-US" sz="1200" b="1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spatial designs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</a:t>
            </a:r>
            <a:r>
              <a:rPr lang="en-US" sz="1200" b="1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temporal operations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endParaRPr/>
          </a:p>
        </p:txBody>
      </p:sp>
      <p:pic>
        <p:nvPicPr>
          <p:cNvPr id="182" name="Google Shape;18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5550" y="1628775"/>
            <a:ext cx="53911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762000" y="26717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Zoning Maps: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Definitive boundary map separating crop fields, livestock pasture, and forest reserves.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762000" y="32432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Schedules: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Detailed crop rotations, grazing timelines, and input application cycles.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762000" y="38147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Protection Layouts: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Engineered soil contour designs, windbreaks, and drainage alignments.</a:t>
            </a:r>
            <a:endParaRPr/>
          </a:p>
        </p:txBody>
      </p:sp>
      <p:pic>
        <p:nvPicPr>
          <p:cNvPr id="186" name="Google Shape;18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270510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32766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384810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05062"/>
            <a:ext cx="36195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405062"/>
            <a:ext cx="36195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405062"/>
            <a:ext cx="361950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Why is Farm Planning Vital?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11334750" y="66008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6 / 40</a:t>
            </a:r>
            <a:endParaRPr/>
          </a:p>
        </p:txBody>
      </p:sp>
      <p:pic>
        <p:nvPicPr>
          <p:cNvPr id="204" name="Google Shape;20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1000125" y="2681287"/>
            <a:ext cx="3000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Production Efficiency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714375" y="3014662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Ensures that premium inputs (like fertilizers, hybrid seeds, water) are matched strictly to highly responsive soils, maximizing return on investment.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4857750" y="2681287"/>
            <a:ext cx="29503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Climate Adaptation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4524375" y="3014662"/>
            <a:ext cx="31432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Constructs physical features (like water harvesting swales and shade trees) to insulate smallholdings against heat waves and seasonal rainfall anomalies.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8667750" y="2681287"/>
            <a:ext cx="29503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Regulatory &amp; Policy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8334375" y="3014662"/>
            <a:ext cx="31432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Aligns agricultural lands with government water rights, national environmental legislation (e.g., ZEMA in Zambia), and local customary zoning policies.</a:t>
            </a:r>
            <a:endParaRPr/>
          </a:p>
        </p:txBody>
      </p:sp>
      <p:pic>
        <p:nvPicPr>
          <p:cNvPr id="211" name="Google Shape;21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2695575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24375" y="2695575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34375" y="2695575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185987"/>
            <a:ext cx="1123950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9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Farm LUP vs Macro-Level LUP</a:t>
            </a:r>
            <a:endParaRPr/>
          </a:p>
        </p:txBody>
      </p:sp>
      <p:sp>
        <p:nvSpPr>
          <p:cNvPr id="223" name="Google Shape;223;p19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 txBox="1"/>
          <p:nvPr/>
        </p:nvSpPr>
        <p:spPr>
          <a:xfrm>
            <a:off x="11334750" y="66008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7 / 40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485775" y="2195512"/>
            <a:ext cx="1122045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8" name="Google Shape;228;p19"/>
          <p:cNvGraphicFramePr/>
          <p:nvPr/>
        </p:nvGraphicFramePr>
        <p:xfrm>
          <a:off x="485775" y="2195512"/>
          <a:ext cx="11220450" cy="2066875"/>
        </p:xfrm>
        <a:graphic>
          <a:graphicData uri="http://schemas.openxmlformats.org/drawingml/2006/table">
            <a:tbl>
              <a:tblPr firstRow="1" bandRow="1">
                <a:noFill/>
                <a:tableStyleId>{6F1148E5-017B-438A-B5E8-74EFD067D354}</a:tableStyleId>
              </a:tblPr>
              <a:tblGrid>
                <a:gridCol w="159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0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Planning Attribute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Farm-Level Planning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Macro-Level (District/Regional) Planning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Scale &amp; Resolution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Highly detailed (1:500 to 1:5,000); covers 1 to 5,000 hectares.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Broad strategic (1:50,000 to 1:250,000); covers entire districts.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Actor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Individual farmer, agricultural manager, or consultant.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Government departments, spatial planners, or district councils.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Objective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Maximized long-term production, crop security, and farm profits.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Balanced socio-economic zoning, public infrastructure, and forests.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Data Requirement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Detailed local soil pits, specific water points, and family labor constraints.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Aggregate census trends, climatic patterns, and major watersheds.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29" name="Google Shape;22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/>
          <p:nvPr/>
        </p:nvSpPr>
        <p:spPr>
          <a:xfrm>
            <a:off x="485775" y="3028950"/>
            <a:ext cx="15943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2080170" y="3028950"/>
            <a:ext cx="49400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7020222" y="3028950"/>
            <a:ext cx="46860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85775" y="3438525"/>
            <a:ext cx="15943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2080170" y="3438525"/>
            <a:ext cx="49400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7020222" y="3438525"/>
            <a:ext cx="46860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485775" y="3848100"/>
            <a:ext cx="159439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2080170" y="3848100"/>
            <a:ext cx="49400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7020222" y="3848100"/>
            <a:ext cx="46860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14600"/>
            <a:ext cx="54292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Sustainable Planning Principles</a:t>
            </a:r>
            <a:endParaRPr/>
          </a:p>
        </p:txBody>
      </p:sp>
      <p:sp>
        <p:nvSpPr>
          <p:cNvPr id="248" name="Google Shape;248;p20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11325225" y="6600825"/>
            <a:ext cx="6286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8 / 40</a:t>
            </a:r>
            <a:endParaRPr/>
          </a:p>
        </p:txBody>
      </p:sp>
      <p:pic>
        <p:nvPicPr>
          <p:cNvPr id="252" name="Google Shape;25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0"/>
          <p:cNvSpPr txBox="1"/>
          <p:nvPr/>
        </p:nvSpPr>
        <p:spPr>
          <a:xfrm>
            <a:off x="6524625" y="279082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Cycle of Sustainability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6524625" y="3105150"/>
            <a:ext cx="4953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truly sustainable farm-land plan treats the agricultural parcel as a self-sustaining cycle where livestock wastes feed the soil, contour barriers hold water table levels, and woodlots block strong wind profiles.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762000" y="2371725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Ecological Suitability: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Never push land beyond its natural carrying capacity.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762000" y="2943225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Social Integration: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Plans must respect customary rights, communal boundaries, and regional migration corridors.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762000" y="3514725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Enterprise Diversity: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Multi-crop zoning builds natural systems and breaks monoculture disease cycles.</a:t>
            </a:r>
            <a:endParaRPr/>
          </a:p>
        </p:txBody>
      </p:sp>
      <p:pic>
        <p:nvPicPr>
          <p:cNvPr id="258" name="Google Shape;25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8194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4050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297656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3548062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 txBox="1"/>
          <p:nvPr/>
        </p:nvSpPr>
        <p:spPr>
          <a:xfrm>
            <a:off x="11334750" y="6600825"/>
            <a:ext cx="6191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3B0A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9 / 40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5691187" y="2138362"/>
            <a:ext cx="809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49B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PART TWO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3115627" y="2433637"/>
            <a:ext cx="596074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AF9F5"/>
                </a:solidFill>
                <a:latin typeface="Merriweather"/>
                <a:ea typeface="Merriweather"/>
                <a:cs typeface="Merriweather"/>
                <a:sym typeface="Merriweather"/>
              </a:rPr>
              <a:t>Goal Setting in Farm Planning</a:t>
            </a: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5810250" y="3128962"/>
            <a:ext cx="571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3752850" y="3395662"/>
            <a:ext cx="4686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6EC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Divergent objectives across smallholder and commercial models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276" name="Google Shape;27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50306"/>
            <a:ext cx="5429250" cy="1557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Identifying Farm Objectives</a:t>
            </a:r>
            <a:endParaRPr/>
          </a:p>
        </p:txBody>
      </p:sp>
      <p:sp>
        <p:nvSpPr>
          <p:cNvPr id="286" name="Google Shape;286;p22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10 / 40</a:t>
            </a:r>
            <a:endParaRPr/>
          </a:p>
        </p:txBody>
      </p:sp>
      <p:pic>
        <p:nvPicPr>
          <p:cNvPr id="290" name="Google Shape;29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2"/>
          <p:cNvSpPr txBox="1"/>
          <p:nvPr/>
        </p:nvSpPr>
        <p:spPr>
          <a:xfrm>
            <a:off x="476250" y="2071687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farm's goals directly define its physical layout. Objective formulation must be collaborative and cover: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524625" y="2726531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Essential Planner Inquiries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524625" y="3059906"/>
            <a:ext cx="49530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Is the farm's primary purpose cash generation or household food security?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524625" y="3321843"/>
            <a:ext cx="49530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What is the access level to capital, storage, and transport infrastructure?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6524625" y="3583781"/>
            <a:ext cx="49530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What risks (drought, frost, price volatility) is the farm exposed to?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762000" y="26717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Household Needs: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Ensuring baseline nutritional requirements are met in smallholder communities.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762000" y="32432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Financial Viability: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Matching cash crop production plans to realistic market demands.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762000" y="38147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Planning Horizon: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Balancing immediate harvest needs with long-term soil conservation.</a:t>
            </a:r>
            <a:endParaRPr/>
          </a:p>
        </p:txBody>
      </p:sp>
      <p:pic>
        <p:nvPicPr>
          <p:cNvPr id="299" name="Google Shape;29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755106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7051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327660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3848100"/>
            <a:ext cx="1333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2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843087"/>
            <a:ext cx="11239500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3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Subsistence vs Commercial Goals</a:t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 txBox="1"/>
          <p:nvPr/>
        </p:nvSpPr>
        <p:spPr>
          <a:xfrm>
            <a:off x="11306175" y="6600825"/>
            <a:ext cx="6477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11 / 40</a:t>
            </a:r>
            <a:endParaRPr/>
          </a:p>
        </p:txBody>
      </p:sp>
      <p:sp>
        <p:nvSpPr>
          <p:cNvPr id="316" name="Google Shape;316;p23"/>
          <p:cNvSpPr/>
          <p:nvPr/>
        </p:nvSpPr>
        <p:spPr>
          <a:xfrm>
            <a:off x="485775" y="1852612"/>
            <a:ext cx="11220450" cy="27527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7" name="Google Shape;317;p23"/>
          <p:cNvGraphicFramePr/>
          <p:nvPr/>
        </p:nvGraphicFramePr>
        <p:xfrm>
          <a:off x="485775" y="1852612"/>
          <a:ext cx="11220450" cy="2752750"/>
        </p:xfrm>
        <a:graphic>
          <a:graphicData uri="http://schemas.openxmlformats.org/drawingml/2006/table">
            <a:tbl>
              <a:tblPr firstRow="1" bandRow="1">
                <a:noFill/>
                <a:tableStyleId>{6F1148E5-017B-438A-B5E8-74EFD067D354}</a:tableStyleId>
              </a:tblPr>
              <a:tblGrid>
                <a:gridCol w="166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Zoning 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Subsistence / Smallholder Goals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Commercial Farm Goals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Primary Mandate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Household food security, local dietary diversity, low cash outlay.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Maximized net financial return, market share growth, high capital efficiency.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Risk Tolerance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Very Low:</a:t>
                      </a: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High priority on cropping diversity to guarantee food yield.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Moderate to High:</a:t>
                      </a: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Insured monocultures or specialized dual-crop zones.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Spatial Layout Focus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Irregular, multi-crop fields; integrated crop-livestock; communal access.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Large, standardized rectangular blocks to optimize mechanization.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Conservation Input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Low-cost organic methods, compost, handmade soil contours.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Capital-intensive dams, precision drainage networks, laser-leveled soils.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18" name="Google Shape;318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3"/>
          <p:cNvSpPr/>
          <p:nvPr/>
        </p:nvSpPr>
        <p:spPr>
          <a:xfrm>
            <a:off x="485775" y="2857500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2145952" y="2857500"/>
            <a:ext cx="4717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6863357" y="2857500"/>
            <a:ext cx="4842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485775" y="3438525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2145952" y="3438525"/>
            <a:ext cx="4717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6863357" y="3438525"/>
            <a:ext cx="4842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485775" y="4019550"/>
            <a:ext cx="166017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2145952" y="4019550"/>
            <a:ext cx="47174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6863357" y="4019550"/>
            <a:ext cx="48428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3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319337"/>
            <a:ext cx="542925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19337"/>
            <a:ext cx="542925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4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Short vs Long-term Goals</a:t>
            </a:r>
            <a:endParaRPr/>
          </a:p>
        </p:txBody>
      </p:sp>
      <p:sp>
        <p:nvSpPr>
          <p:cNvPr id="338" name="Google Shape;338;p24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 txBox="1"/>
          <p:nvPr/>
        </p:nvSpPr>
        <p:spPr>
          <a:xfrm>
            <a:off x="11287125" y="66008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12 / 40</a:t>
            </a:r>
            <a:endParaRPr/>
          </a:p>
        </p:txBody>
      </p:sp>
      <p:sp>
        <p:nvSpPr>
          <p:cNvPr id="340" name="Google Shape;340;p24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sp>
        <p:nvSpPr>
          <p:cNvPr id="341" name="Google Shape;341;p24"/>
          <p:cNvSpPr txBox="1"/>
          <p:nvPr/>
        </p:nvSpPr>
        <p:spPr>
          <a:xfrm>
            <a:off x="666750" y="5810250"/>
            <a:ext cx="10906125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Contrast immediate operational goals with long-term infrastructure planning. Explain that long-term investments require secure land tenure, such as Title Deeds, to justify the upfront capital investment.</a:t>
            </a:r>
            <a:endParaRPr/>
          </a:p>
        </p:txBody>
      </p:sp>
      <p:pic>
        <p:nvPicPr>
          <p:cNvPr id="342" name="Google Shape;34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4"/>
          <p:cNvSpPr txBox="1"/>
          <p:nvPr/>
        </p:nvSpPr>
        <p:spPr>
          <a:xfrm>
            <a:off x="1000125" y="2595562"/>
            <a:ext cx="49006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Short-Term Focus (1-12 Months)</a:t>
            </a:r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6858000" y="2595562"/>
            <a:ext cx="48506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Long-Term Focus (3-10+ Years)</a:t>
            </a:r>
            <a:endParaRPr/>
          </a:p>
        </p:txBody>
      </p:sp>
      <p:pic>
        <p:nvPicPr>
          <p:cNvPr id="345" name="Google Shape;345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2609850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4"/>
          <p:cNvSpPr txBox="1"/>
          <p:nvPr/>
        </p:nvSpPr>
        <p:spPr>
          <a:xfrm>
            <a:off x="819150" y="2928937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47" name="Google Shape;347;p24"/>
          <p:cNvSpPr txBox="1"/>
          <p:nvPr/>
        </p:nvSpPr>
        <p:spPr>
          <a:xfrm>
            <a:off x="904875" y="2928937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Select crop cultivars for the upcoming rainy season.</a:t>
            </a:r>
            <a:endParaRPr/>
          </a:p>
        </p:txBody>
      </p:sp>
      <p:sp>
        <p:nvSpPr>
          <p:cNvPr id="348" name="Google Shape;348;p24"/>
          <p:cNvSpPr txBox="1"/>
          <p:nvPr/>
        </p:nvSpPr>
        <p:spPr>
          <a:xfrm>
            <a:off x="819150" y="3252787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49" name="Google Shape;349;p24"/>
          <p:cNvSpPr txBox="1"/>
          <p:nvPr/>
        </p:nvSpPr>
        <p:spPr>
          <a:xfrm>
            <a:off x="904875" y="3252787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Apply soil amendments (e.g., lime) to clear nutrient blocks.</a:t>
            </a:r>
            <a:endParaRPr/>
          </a:p>
        </p:txBody>
      </p:sp>
      <p:sp>
        <p:nvSpPr>
          <p:cNvPr id="350" name="Google Shape;350;p24"/>
          <p:cNvSpPr txBox="1"/>
          <p:nvPr/>
        </p:nvSpPr>
        <p:spPr>
          <a:xfrm>
            <a:off x="819150" y="3576637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51" name="Google Shape;351;p24"/>
          <p:cNvSpPr txBox="1"/>
          <p:nvPr/>
        </p:nvSpPr>
        <p:spPr>
          <a:xfrm>
            <a:off x="904875" y="3576637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Prepare basic surface runoff drains prior to intense storms.</a:t>
            </a:r>
            <a:endParaRPr/>
          </a:p>
        </p:txBody>
      </p:sp>
      <p:pic>
        <p:nvPicPr>
          <p:cNvPr id="352" name="Google Shape;352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24625" y="2609850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4"/>
          <p:cNvSpPr txBox="1"/>
          <p:nvPr/>
        </p:nvSpPr>
        <p:spPr>
          <a:xfrm>
            <a:off x="6629400" y="2928937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54" name="Google Shape;354;p24"/>
          <p:cNvSpPr txBox="1"/>
          <p:nvPr/>
        </p:nvSpPr>
        <p:spPr>
          <a:xfrm>
            <a:off x="6715125" y="2928937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permanent water dams or install solar borehole grids.</a:t>
            </a:r>
            <a:endParaRPr/>
          </a:p>
        </p:txBody>
      </p:sp>
      <p:sp>
        <p:nvSpPr>
          <p:cNvPr id="355" name="Google Shape;355;p24"/>
          <p:cNvSpPr txBox="1"/>
          <p:nvPr/>
        </p:nvSpPr>
        <p:spPr>
          <a:xfrm>
            <a:off x="6629400" y="3252787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56" name="Google Shape;356;p24"/>
          <p:cNvSpPr txBox="1"/>
          <p:nvPr/>
        </p:nvSpPr>
        <p:spPr>
          <a:xfrm>
            <a:off x="6715125" y="3252787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Plant multi-tier windbreaks and fruit orchard blocks.</a:t>
            </a:r>
            <a:endParaRPr/>
          </a:p>
        </p:txBody>
      </p:sp>
      <p:sp>
        <p:nvSpPr>
          <p:cNvPr id="357" name="Google Shape;357;p24"/>
          <p:cNvSpPr txBox="1"/>
          <p:nvPr/>
        </p:nvSpPr>
        <p:spPr>
          <a:xfrm>
            <a:off x="6629400" y="3576637"/>
            <a:ext cx="857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358" name="Google Shape;358;p24"/>
          <p:cNvSpPr txBox="1"/>
          <p:nvPr/>
        </p:nvSpPr>
        <p:spPr>
          <a:xfrm>
            <a:off x="6715125" y="3576637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7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Transition fields to no-till conservation agriculture.</a:t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981200"/>
            <a:ext cx="11239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552825"/>
            <a:ext cx="55245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3552825"/>
            <a:ext cx="55245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5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Risk and Uncertainty Mitigation</a:t>
            </a:r>
            <a:endParaRPr/>
          </a:p>
        </p:txBody>
      </p:sp>
      <p:sp>
        <p:nvSpPr>
          <p:cNvPr id="370" name="Google Shape;370;p25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11287125" y="66008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13 / 40</a:t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838200" y="2266950"/>
            <a:ext cx="195262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85%</a:t>
            </a:r>
            <a:endParaRPr dirty="0"/>
          </a:p>
        </p:txBody>
      </p:sp>
      <p:pic>
        <p:nvPicPr>
          <p:cNvPr id="375" name="Google Shape;375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5"/>
          <p:cNvSpPr txBox="1"/>
          <p:nvPr/>
        </p:nvSpPr>
        <p:spPr>
          <a:xfrm>
            <a:off x="2790825" y="2397472"/>
            <a:ext cx="736092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Risk Management via Crop Zoning</a:t>
            </a:r>
            <a:endParaRPr/>
          </a:p>
        </p:txBody>
      </p:sp>
      <p:sp>
        <p:nvSpPr>
          <p:cNvPr id="377" name="Google Shape;377;p25"/>
          <p:cNvSpPr txBox="1"/>
          <p:nvPr/>
        </p:nvSpPr>
        <p:spPr>
          <a:xfrm>
            <a:off x="2790825" y="2711797"/>
            <a:ext cx="70104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Proper spatial allocation reduces crop exposure to frost, drought-induced water stress, and pathogen outbreaks.</a:t>
            </a:r>
            <a:endParaRPr/>
          </a:p>
        </p:txBody>
      </p:sp>
      <p:sp>
        <p:nvSpPr>
          <p:cNvPr id="378" name="Google Shape;378;p25"/>
          <p:cNvSpPr txBox="1"/>
          <p:nvPr/>
        </p:nvSpPr>
        <p:spPr>
          <a:xfrm>
            <a:off x="628650" y="3705225"/>
            <a:ext cx="5219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3A2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Climatic Risks</a:t>
            </a:r>
            <a:endParaRPr/>
          </a:p>
        </p:txBody>
      </p:sp>
      <p:sp>
        <p:nvSpPr>
          <p:cNvPr id="379" name="Google Shape;379;p25"/>
          <p:cNvSpPr txBox="1"/>
          <p:nvPr/>
        </p:nvSpPr>
        <p:spPr>
          <a:xfrm>
            <a:off x="628650" y="3952875"/>
            <a:ext cx="5219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Avoid low-lying areas for cold-sensitive crops. Use natural high-ground zones for winter production.</a:t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6343650" y="3705225"/>
            <a:ext cx="52197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3A2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Market Risks</a:t>
            </a:r>
            <a:endParaRPr/>
          </a:p>
        </p:txBody>
      </p:sp>
      <p:sp>
        <p:nvSpPr>
          <p:cNvPr id="381" name="Google Shape;381;p25"/>
          <p:cNvSpPr txBox="1"/>
          <p:nvPr/>
        </p:nvSpPr>
        <p:spPr>
          <a:xfrm>
            <a:off x="6343650" y="3952875"/>
            <a:ext cx="52197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Diversify the farm layout with permanent tree crops and livestock to offset crop price volatility.</a:t>
            </a:r>
            <a:endParaRPr/>
          </a:p>
        </p:txBody>
      </p:sp>
      <p:pic>
        <p:nvPicPr>
          <p:cNvPr id="382" name="Google Shape;382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" y="374332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43650" y="374332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5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6"/>
          <p:cNvSpPr txBox="1"/>
          <p:nvPr/>
        </p:nvSpPr>
        <p:spPr>
          <a:xfrm>
            <a:off x="11277600" y="6600825"/>
            <a:ext cx="6762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3B0A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14 / 40</a:t>
            </a:r>
            <a:endParaRPr/>
          </a:p>
        </p:txBody>
      </p:sp>
      <p:sp>
        <p:nvSpPr>
          <p:cNvPr id="392" name="Google Shape;392;p26"/>
          <p:cNvSpPr txBox="1"/>
          <p:nvPr/>
        </p:nvSpPr>
        <p:spPr>
          <a:xfrm>
            <a:off x="5629275" y="2138362"/>
            <a:ext cx="9334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49B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PART THREE</a:t>
            </a:r>
            <a:endParaRPr/>
          </a:p>
        </p:txBody>
      </p:sp>
      <p:sp>
        <p:nvSpPr>
          <p:cNvPr id="393" name="Google Shape;393;p26"/>
          <p:cNvSpPr txBox="1"/>
          <p:nvPr/>
        </p:nvSpPr>
        <p:spPr>
          <a:xfrm>
            <a:off x="3160633" y="2433637"/>
            <a:ext cx="587073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AF9F5"/>
                </a:solidFill>
                <a:latin typeface="Merriweather"/>
                <a:ea typeface="Merriweather"/>
                <a:cs typeface="Merriweather"/>
                <a:sym typeface="Merriweather"/>
              </a:rPr>
              <a:t>The Farm Resource Inventory</a:t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5810250" y="3128962"/>
            <a:ext cx="571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3567112" y="3395662"/>
            <a:ext cx="5057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6EC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Systematic auditing of physical, human, and financial capital baselines</a:t>
            </a:r>
            <a:endParaRPr/>
          </a:p>
        </p:txBody>
      </p:sp>
      <p:sp>
        <p:nvSpPr>
          <p:cNvPr id="396" name="Google Shape;396;p26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398" name="Google Shape;39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6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7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Categorizing Farm Resources</a:t>
            </a:r>
            <a:endParaRPr/>
          </a:p>
        </p:txBody>
      </p:sp>
      <p:sp>
        <p:nvSpPr>
          <p:cNvPr id="410" name="Google Shape;410;p27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11287125" y="66008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15 / 40</a:t>
            </a:r>
            <a:endParaRPr/>
          </a:p>
        </p:txBody>
      </p:sp>
      <p:sp>
        <p:nvSpPr>
          <p:cNvPr id="412" name="Google Shape;412;p27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sp>
        <p:nvSpPr>
          <p:cNvPr id="413" name="Google Shape;413;p27"/>
          <p:cNvSpPr txBox="1"/>
          <p:nvPr/>
        </p:nvSpPr>
        <p:spPr>
          <a:xfrm>
            <a:off x="666750" y="5810250"/>
            <a:ext cx="10906125" cy="17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Clearly break down the agricultural asset pillars. A shortfall in human labor at harvest or a lack of transport roads will bottleneck production, regardless of how fertile the soil is.</a:t>
            </a:r>
            <a:endParaRPr/>
          </a:p>
        </p:txBody>
      </p:sp>
      <p:pic>
        <p:nvPicPr>
          <p:cNvPr id="414" name="Google Shape;414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7"/>
          <p:cNvSpPr txBox="1"/>
          <p:nvPr/>
        </p:nvSpPr>
        <p:spPr>
          <a:xfrm>
            <a:off x="1047750" y="2781300"/>
            <a:ext cx="29503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Physical Capital</a:t>
            </a:r>
            <a:endParaRPr/>
          </a:p>
        </p:txBody>
      </p:sp>
      <p:sp>
        <p:nvSpPr>
          <p:cNvPr id="416" name="Google Shape;416;p27"/>
          <p:cNvSpPr txBox="1"/>
          <p:nvPr/>
        </p:nvSpPr>
        <p:spPr>
          <a:xfrm>
            <a:off x="71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Includes land area, soil profile properties, topographic slope, hydrology, agro-ecological climate zone, and native woody vegetation.</a:t>
            </a:r>
            <a:endParaRPr/>
          </a:p>
        </p:txBody>
      </p:sp>
      <p:sp>
        <p:nvSpPr>
          <p:cNvPr id="417" name="Google Shape;417;p27"/>
          <p:cNvSpPr txBox="1"/>
          <p:nvPr/>
        </p:nvSpPr>
        <p:spPr>
          <a:xfrm>
            <a:off x="4857750" y="2781300"/>
            <a:ext cx="29503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Human Capital</a:t>
            </a:r>
            <a:endParaRPr/>
          </a:p>
        </p:txBody>
      </p:sp>
      <p:sp>
        <p:nvSpPr>
          <p:cNvPr id="418" name="Google Shape;418;p27"/>
          <p:cNvSpPr txBox="1"/>
          <p:nvPr/>
        </p:nvSpPr>
        <p:spPr>
          <a:xfrm>
            <a:off x="452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Evaluates available family labor, local hired labor markets, technical skill competencies, and managerial experience levels.</a:t>
            </a:r>
            <a:endParaRPr/>
          </a:p>
        </p:txBody>
      </p:sp>
      <p:sp>
        <p:nvSpPr>
          <p:cNvPr id="419" name="Google Shape;419;p27"/>
          <p:cNvSpPr txBox="1"/>
          <p:nvPr/>
        </p:nvSpPr>
        <p:spPr>
          <a:xfrm>
            <a:off x="8667750" y="2781300"/>
            <a:ext cx="29503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Financial &amp; Built Capital</a:t>
            </a:r>
            <a:endParaRPr/>
          </a:p>
        </p:txBody>
      </p:sp>
      <p:sp>
        <p:nvSpPr>
          <p:cNvPr id="420" name="Google Shape;420;p27"/>
          <p:cNvSpPr txBox="1"/>
          <p:nvPr/>
        </p:nvSpPr>
        <p:spPr>
          <a:xfrm>
            <a:off x="833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Encompasses savings, bank lines of credit, traction tools (oxen/tractors), crop storage facilities, and transport connections.</a:t>
            </a:r>
            <a:endParaRPr/>
          </a:p>
        </p:txBody>
      </p:sp>
      <p:pic>
        <p:nvPicPr>
          <p:cNvPr id="421" name="Google Shape;421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279558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24375" y="279558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34375" y="279558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27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14600"/>
            <a:ext cx="54292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8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Land Size, Shape &amp; Boundaries</a:t>
            </a: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8"/>
          <p:cNvSpPr txBox="1"/>
          <p:nvPr/>
        </p:nvSpPr>
        <p:spPr>
          <a:xfrm>
            <a:off x="11287125" y="66008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16 / 40</a:t>
            </a:r>
            <a:endParaRPr/>
          </a:p>
        </p:txBody>
      </p:sp>
      <p:sp>
        <p:nvSpPr>
          <p:cNvPr id="435" name="Google Shape;435;p28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sp>
        <p:nvSpPr>
          <p:cNvPr id="436" name="Google Shape;436;p28"/>
          <p:cNvSpPr txBox="1"/>
          <p:nvPr/>
        </p:nvSpPr>
        <p:spPr>
          <a:xfrm>
            <a:off x="666750" y="5810250"/>
            <a:ext cx="10906125" cy="21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Discuss the challenges of irregular farm shapes, which are common in traditional customary land areas. </a:t>
            </a:r>
            <a:endParaRPr dirty="0"/>
          </a:p>
        </p:txBody>
      </p:sp>
      <p:pic>
        <p:nvPicPr>
          <p:cNvPr id="437" name="Google Shape;437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8"/>
          <p:cNvSpPr txBox="1"/>
          <p:nvPr/>
        </p:nvSpPr>
        <p:spPr>
          <a:xfrm>
            <a:off x="476250" y="2185987"/>
            <a:ext cx="5429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farm's geometry shapes its spatial design options:</a:t>
            </a:r>
            <a:endParaRPr/>
          </a:p>
        </p:txBody>
      </p:sp>
      <p:sp>
        <p:nvSpPr>
          <p:cNvPr id="439" name="Google Shape;439;p28"/>
          <p:cNvSpPr txBox="1"/>
          <p:nvPr/>
        </p:nvSpPr>
        <p:spPr>
          <a:xfrm>
            <a:off x="6524625" y="279082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Boundary Demarcation</a:t>
            </a:r>
            <a:endParaRPr/>
          </a:p>
        </p:txBody>
      </p:sp>
      <p:sp>
        <p:nvSpPr>
          <p:cNvPr id="440" name="Google Shape;440;p28"/>
          <p:cNvSpPr txBox="1"/>
          <p:nvPr/>
        </p:nvSpPr>
        <p:spPr>
          <a:xfrm>
            <a:off x="6524625" y="3105150"/>
            <a:ext cx="4953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Planners must cross-check official registry survey beacons against natural boundary lines on the ground to ensure the farm plan is legally accurate and secure.</a:t>
            </a:r>
            <a:endParaRPr/>
          </a:p>
        </p:txBody>
      </p:sp>
      <p:sp>
        <p:nvSpPr>
          <p:cNvPr id="441" name="Google Shape;441;p28"/>
          <p:cNvSpPr txBox="1"/>
          <p:nvPr/>
        </p:nvSpPr>
        <p:spPr>
          <a:xfrm>
            <a:off x="762000" y="25574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Fencing Costs: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Irregular boundaries increase perimeter lengths, driving up fencing and border security costs.</a:t>
            </a:r>
            <a:endParaRPr/>
          </a:p>
        </p:txBody>
      </p:sp>
      <p:sp>
        <p:nvSpPr>
          <p:cNvPr id="442" name="Google Shape;442;p28"/>
          <p:cNvSpPr txBox="1"/>
          <p:nvPr/>
        </p:nvSpPr>
        <p:spPr>
          <a:xfrm>
            <a:off x="762000" y="31289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Encroachment Risks: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Clearly defined, legal physical boundaries prevent community and leasehold boundary disputes.</a:t>
            </a:r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762000" y="37004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Mechanization Flow: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Straight fields and square boundaries allow tractors to turn efficiently, reducing fuel waste.</a:t>
            </a:r>
            <a:endParaRPr/>
          </a:p>
        </p:txBody>
      </p:sp>
      <p:pic>
        <p:nvPicPr>
          <p:cNvPr id="444" name="Google Shape;444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819400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5908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31623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3733800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8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09725"/>
            <a:ext cx="542925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9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Soil Characteristics and Slope</a:t>
            </a:r>
            <a:endParaRPr/>
          </a:p>
        </p:txBody>
      </p:sp>
      <p:sp>
        <p:nvSpPr>
          <p:cNvPr id="457" name="Google Shape;457;p29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9"/>
          <p:cNvSpPr txBox="1"/>
          <p:nvPr/>
        </p:nvSpPr>
        <p:spPr>
          <a:xfrm>
            <a:off x="11287125" y="66008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17 / 40</a:t>
            </a:r>
            <a:endParaRPr/>
          </a:p>
        </p:txBody>
      </p:sp>
      <p:sp>
        <p:nvSpPr>
          <p:cNvPr id="459" name="Google Shape;459;p29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461" name="Google Shape;461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9"/>
          <p:cNvSpPr txBox="1"/>
          <p:nvPr/>
        </p:nvSpPr>
        <p:spPr>
          <a:xfrm>
            <a:off x="476250" y="2185987"/>
            <a:ext cx="5429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soil profile represents the true baseline constraint of any farm design:</a:t>
            </a:r>
            <a:endParaRPr/>
          </a:p>
        </p:txBody>
      </p:sp>
      <p:pic>
        <p:nvPicPr>
          <p:cNvPr id="463" name="Google Shape;463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5550" y="1628775"/>
            <a:ext cx="53911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9"/>
          <p:cNvSpPr txBox="1"/>
          <p:nvPr/>
        </p:nvSpPr>
        <p:spPr>
          <a:xfrm>
            <a:off x="762000" y="25574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Profile: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Soil texture (silt/sand/clay), organic matter, and depth control water storage and crop rooting success.</a:t>
            </a:r>
            <a:endParaRPr/>
          </a:p>
        </p:txBody>
      </p:sp>
      <p:sp>
        <p:nvSpPr>
          <p:cNvPr id="465" name="Google Shape;465;p29"/>
          <p:cNvSpPr txBox="1"/>
          <p:nvPr/>
        </p:nvSpPr>
        <p:spPr>
          <a:xfrm>
            <a:off x="762000" y="31289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Chemical Status: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Base pH, nitrogen, phosphorus, potassium, and micronutrient balances.</a:t>
            </a:r>
            <a:endParaRPr/>
          </a:p>
        </p:txBody>
      </p:sp>
      <p:sp>
        <p:nvSpPr>
          <p:cNvPr id="466" name="Google Shape;466;p29"/>
          <p:cNvSpPr txBox="1"/>
          <p:nvPr/>
        </p:nvSpPr>
        <p:spPr>
          <a:xfrm>
            <a:off x="762000" y="37004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Slope Class: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Directly dictates water drainage velocity and structural erosion risks.</a:t>
            </a:r>
            <a:endParaRPr/>
          </a:p>
        </p:txBody>
      </p:sp>
      <p:pic>
        <p:nvPicPr>
          <p:cNvPr id="467" name="Google Shape;467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59080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31623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373380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29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181225"/>
            <a:ext cx="542925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0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Climate &amp; Agro-ecological Zones</a:t>
            </a:r>
            <a:endParaRPr/>
          </a:p>
        </p:txBody>
      </p:sp>
      <p:sp>
        <p:nvSpPr>
          <p:cNvPr id="479" name="Google Shape;479;p30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 txBox="1"/>
          <p:nvPr/>
        </p:nvSpPr>
        <p:spPr>
          <a:xfrm>
            <a:off x="11277600" y="6600825"/>
            <a:ext cx="6762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18 / 40</a:t>
            </a:r>
            <a:endParaRPr/>
          </a:p>
        </p:txBody>
      </p:sp>
      <p:sp>
        <p:nvSpPr>
          <p:cNvPr id="481" name="Google Shape;481;p30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483" name="Google Shape;483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0"/>
          <p:cNvSpPr txBox="1"/>
          <p:nvPr/>
        </p:nvSpPr>
        <p:spPr>
          <a:xfrm>
            <a:off x="476250" y="2357437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Macro climate defines regional parameters, but localized topographies create important microclimatic conditions:</a:t>
            </a:r>
            <a:endParaRPr/>
          </a:p>
        </p:txBody>
      </p:sp>
      <p:sp>
        <p:nvSpPr>
          <p:cNvPr id="485" name="Google Shape;485;p30"/>
          <p:cNvSpPr txBox="1"/>
          <p:nvPr/>
        </p:nvSpPr>
        <p:spPr>
          <a:xfrm>
            <a:off x="6524625" y="245745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Case Study: Zambia AEZ Regions</a:t>
            </a:r>
            <a:endParaRPr/>
          </a:p>
        </p:txBody>
      </p:sp>
      <p:sp>
        <p:nvSpPr>
          <p:cNvPr id="486" name="Google Shape;486;p30"/>
          <p:cNvSpPr txBox="1"/>
          <p:nvPr/>
        </p:nvSpPr>
        <p:spPr>
          <a:xfrm>
            <a:off x="6524625" y="2771775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 I:</a:t>
            </a: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Semi-arid valleys (&lt;800mm rain). High drought risk. Requires sorghum, millet, and goats.</a:t>
            </a:r>
            <a:endParaRPr/>
          </a:p>
        </p:txBody>
      </p:sp>
      <p:sp>
        <p:nvSpPr>
          <p:cNvPr id="487" name="Google Shape;487;p30"/>
          <p:cNvSpPr txBox="1"/>
          <p:nvPr/>
        </p:nvSpPr>
        <p:spPr>
          <a:xfrm>
            <a:off x="6524625" y="3219450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 II:</a:t>
            </a: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Fertile plateaus (800-1000mm). Maize, soybeans, tobacco, and cattle commercial hubs.</a:t>
            </a:r>
            <a:endParaRPr/>
          </a:p>
        </p:txBody>
      </p:sp>
      <p:sp>
        <p:nvSpPr>
          <p:cNvPr id="488" name="Google Shape;488;p30"/>
          <p:cNvSpPr txBox="1"/>
          <p:nvPr/>
        </p:nvSpPr>
        <p:spPr>
          <a:xfrm>
            <a:off x="6524625" y="3667125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 III:</a:t>
            </a: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Wet northern belt (&gt;1000mm). Acidic, highly leached soils. High suitability for tea, coffee, and macadamia.</a:t>
            </a:r>
            <a:endParaRPr/>
          </a:p>
        </p:txBody>
      </p:sp>
      <p:sp>
        <p:nvSpPr>
          <p:cNvPr id="489" name="Google Shape;489;p30"/>
          <p:cNvSpPr txBox="1"/>
          <p:nvPr/>
        </p:nvSpPr>
        <p:spPr>
          <a:xfrm>
            <a:off x="762000" y="29575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Rainfall Profile: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Annual rain totals, dry season duration, and single-day downpour trends.</a:t>
            </a:r>
            <a:endParaRPr/>
          </a:p>
        </p:txBody>
      </p:sp>
      <p:sp>
        <p:nvSpPr>
          <p:cNvPr id="490" name="Google Shape;490;p30"/>
          <p:cNvSpPr txBox="1"/>
          <p:nvPr/>
        </p:nvSpPr>
        <p:spPr>
          <a:xfrm>
            <a:off x="762000" y="35290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Temperature Extremes: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Frost hazards in low valleys vs intense midday heat peaks on exposed plateaus.</a:t>
            </a:r>
            <a:endParaRPr/>
          </a:p>
        </p:txBody>
      </p:sp>
      <p:pic>
        <p:nvPicPr>
          <p:cNvPr id="491" name="Google Shape;491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48602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99085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3" name="Google Shape;493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3562350"/>
            <a:ext cx="1047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0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78881"/>
            <a:ext cx="5429250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78881"/>
            <a:ext cx="5429250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1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Water Availability &amp; Hydrology</a:t>
            </a:r>
            <a:endParaRPr/>
          </a:p>
        </p:txBody>
      </p:sp>
      <p:sp>
        <p:nvSpPr>
          <p:cNvPr id="504" name="Google Shape;504;p31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1"/>
          <p:cNvSpPr txBox="1"/>
          <p:nvPr/>
        </p:nvSpPr>
        <p:spPr>
          <a:xfrm>
            <a:off x="11287125" y="66008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19 / 40</a:t>
            </a:r>
            <a:endParaRPr/>
          </a:p>
        </p:txBody>
      </p:sp>
      <p:sp>
        <p:nvSpPr>
          <p:cNvPr id="506" name="Google Shape;506;p31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sp>
        <p:nvSpPr>
          <p:cNvPr id="507" name="Google Shape;507;p31"/>
          <p:cNvSpPr txBox="1"/>
          <p:nvPr/>
        </p:nvSpPr>
        <p:spPr>
          <a:xfrm>
            <a:off x="666750" y="5810250"/>
            <a:ext cx="10906125" cy="21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Discuss the delicate nature of </a:t>
            </a:r>
            <a:r>
              <a:rPr lang="en-US" sz="975" b="0" i="0" u="none" strike="noStrike" cap="none" dirty="0" err="1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dambos</a:t>
            </a:r>
            <a:r>
              <a:rPr lang="en-US" sz="975" b="0" i="0" u="none" strike="noStrike" cap="none" dirty="0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(grass-covered depressions ). </a:t>
            </a:r>
            <a:endParaRPr dirty="0"/>
          </a:p>
        </p:txBody>
      </p:sp>
      <p:pic>
        <p:nvPicPr>
          <p:cNvPr id="508" name="Google Shape;508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1"/>
          <p:cNvSpPr txBox="1"/>
          <p:nvPr/>
        </p:nvSpPr>
        <p:spPr>
          <a:xfrm>
            <a:off x="952500" y="2755106"/>
            <a:ext cx="495061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Surface Water Assets</a:t>
            </a:r>
            <a:endParaRPr/>
          </a:p>
        </p:txBody>
      </p:sp>
      <p:sp>
        <p:nvSpPr>
          <p:cNvPr id="510" name="Google Shape;510;p31"/>
          <p:cNvSpPr txBox="1"/>
          <p:nvPr/>
        </p:nvSpPr>
        <p:spPr>
          <a:xfrm>
            <a:off x="714375" y="3088481"/>
            <a:ext cx="49530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 the reliability of streams, rivers, dams, and seasonal wetlands (dambos).</a:t>
            </a:r>
            <a:endParaRPr/>
          </a:p>
        </p:txBody>
      </p:sp>
      <p:sp>
        <p:nvSpPr>
          <p:cNvPr id="511" name="Google Shape;511;p31"/>
          <p:cNvSpPr txBox="1"/>
          <p:nvPr/>
        </p:nvSpPr>
        <p:spPr>
          <a:xfrm>
            <a:off x="714375" y="3369468"/>
            <a:ext cx="495300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Protect dambos from deep ploughing to preserve natural wetlands and shield downstream systems from sedimentation.</a:t>
            </a:r>
            <a:endParaRPr/>
          </a:p>
        </p:txBody>
      </p:sp>
      <p:sp>
        <p:nvSpPr>
          <p:cNvPr id="512" name="Google Shape;512;p31"/>
          <p:cNvSpPr txBox="1"/>
          <p:nvPr/>
        </p:nvSpPr>
        <p:spPr>
          <a:xfrm>
            <a:off x="6619875" y="2755106"/>
            <a:ext cx="510063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Groundwater Assets</a:t>
            </a:r>
            <a:endParaRPr/>
          </a:p>
        </p:txBody>
      </p:sp>
      <p:sp>
        <p:nvSpPr>
          <p:cNvPr id="513" name="Google Shape;513;p31"/>
          <p:cNvSpPr txBox="1"/>
          <p:nvPr/>
        </p:nvSpPr>
        <p:spPr>
          <a:xfrm>
            <a:off x="6524625" y="3088481"/>
            <a:ext cx="49530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 local aquifers, dry-season water table levels, and borehole recharge metrics.</a:t>
            </a:r>
            <a:endParaRPr/>
          </a:p>
        </p:txBody>
      </p:sp>
      <p:sp>
        <p:nvSpPr>
          <p:cNvPr id="514" name="Google Shape;514;p31"/>
          <p:cNvSpPr txBox="1"/>
          <p:nvPr/>
        </p:nvSpPr>
        <p:spPr>
          <a:xfrm>
            <a:off x="6524625" y="3369468"/>
            <a:ext cx="495300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Groundwater security is critical for dry-season high-value vegetable production.</a:t>
            </a:r>
            <a:endParaRPr/>
          </a:p>
        </p:txBody>
      </p:sp>
      <p:pic>
        <p:nvPicPr>
          <p:cNvPr id="515" name="Google Shape;515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2769393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1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2"/>
          <p:cNvSpPr txBox="1"/>
          <p:nvPr/>
        </p:nvSpPr>
        <p:spPr>
          <a:xfrm>
            <a:off x="11249025" y="6600825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20 / 40</a:t>
            </a:r>
            <a:endParaRPr/>
          </a:p>
        </p:txBody>
      </p:sp>
      <p:sp>
        <p:nvSpPr>
          <p:cNvPr id="523" name="Google Shape;523;p32"/>
          <p:cNvSpPr txBox="1"/>
          <p:nvPr/>
        </p:nvSpPr>
        <p:spPr>
          <a:xfrm>
            <a:off x="476250" y="381000"/>
            <a:ext cx="5650706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Vegetation &amp; Agroforestry</a:t>
            </a:r>
            <a:endParaRPr/>
          </a:p>
        </p:txBody>
      </p:sp>
      <p:sp>
        <p:nvSpPr>
          <p:cNvPr id="524" name="Google Shape;524;p32"/>
          <p:cNvSpPr/>
          <p:nvPr/>
        </p:nvSpPr>
        <p:spPr>
          <a:xfrm>
            <a:off x="476250" y="857250"/>
            <a:ext cx="5381625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2"/>
          <p:cNvSpPr txBox="1"/>
          <p:nvPr/>
        </p:nvSpPr>
        <p:spPr>
          <a:xfrm>
            <a:off x="476250" y="2790825"/>
            <a:ext cx="53816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Native forest stands are valuable spatial assets, not obstacles to be cleared:</a:t>
            </a:r>
            <a:endParaRPr/>
          </a:p>
        </p:txBody>
      </p:sp>
      <p:sp>
        <p:nvSpPr>
          <p:cNvPr id="527" name="Google Shape;527;p32"/>
          <p:cNvSpPr txBox="1"/>
          <p:nvPr/>
        </p:nvSpPr>
        <p:spPr>
          <a:xfrm>
            <a:off x="762000" y="3390900"/>
            <a:ext cx="50958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Indicator Species: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Native trees signal soil quality. For example, </a:t>
            </a:r>
            <a:r>
              <a:rPr lang="en-US" sz="1200" b="0" i="1" u="none" strike="noStrike" cap="none">
                <a:solidFill>
                  <a:srgbClr val="D49B2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Acacia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indicates sweet, fertile soils, while certain sedges point to clay-heavy water retention.</a:t>
            </a:r>
            <a:endParaRPr/>
          </a:p>
        </p:txBody>
      </p:sp>
      <p:sp>
        <p:nvSpPr>
          <p:cNvPr id="528" name="Google Shape;528;p32"/>
          <p:cNvSpPr txBox="1"/>
          <p:nvPr/>
        </p:nvSpPr>
        <p:spPr>
          <a:xfrm>
            <a:off x="762000" y="4191000"/>
            <a:ext cx="50958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Agroforestry Systems: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Retain nitrogen-fixing trees (such as </a:t>
            </a:r>
            <a:r>
              <a:rPr lang="en-US" sz="1200" b="0" i="1" u="none" strike="noStrike" cap="none">
                <a:solidFill>
                  <a:srgbClr val="D49B2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Faidherbia albida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in cropping blocks to naturally boost soil fertility.</a:t>
            </a:r>
            <a:endParaRPr/>
          </a:p>
        </p:txBody>
      </p:sp>
      <p:pic>
        <p:nvPicPr>
          <p:cNvPr id="529" name="Google Shape;529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4242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422433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14612"/>
            <a:ext cx="54292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3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Human Labor &amp; Management</a:t>
            </a:r>
            <a:endParaRPr/>
          </a:p>
        </p:txBody>
      </p:sp>
      <p:sp>
        <p:nvSpPr>
          <p:cNvPr id="539" name="Google Shape;539;p33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3"/>
          <p:cNvSpPr txBox="1"/>
          <p:nvPr/>
        </p:nvSpPr>
        <p:spPr>
          <a:xfrm>
            <a:off x="11287125" y="66008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21 / 40</a:t>
            </a:r>
            <a:endParaRPr/>
          </a:p>
        </p:txBody>
      </p:sp>
      <p:sp>
        <p:nvSpPr>
          <p:cNvPr id="541" name="Google Shape;541;p33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543" name="Google Shape;543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3"/>
          <p:cNvSpPr txBox="1"/>
          <p:nvPr/>
        </p:nvSpPr>
        <p:spPr>
          <a:xfrm>
            <a:off x="476250" y="2185987"/>
            <a:ext cx="5429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farm plan can only succeed if it fits the household and local labor profiles:</a:t>
            </a:r>
            <a:endParaRPr/>
          </a:p>
        </p:txBody>
      </p:sp>
      <p:sp>
        <p:nvSpPr>
          <p:cNvPr id="545" name="Google Shape;545;p33"/>
          <p:cNvSpPr txBox="1"/>
          <p:nvPr/>
        </p:nvSpPr>
        <p:spPr>
          <a:xfrm>
            <a:off x="6524625" y="289083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Spreading Labor Demand</a:t>
            </a:r>
            <a:endParaRPr/>
          </a:p>
        </p:txBody>
      </p:sp>
      <p:sp>
        <p:nvSpPr>
          <p:cNvPr id="546" name="Google Shape;546;p33"/>
          <p:cNvSpPr txBox="1"/>
          <p:nvPr/>
        </p:nvSpPr>
        <p:spPr>
          <a:xfrm>
            <a:off x="6524625" y="3205162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Planners must stagger planting dates and diversify crop varieties in the plan to flatten labor spikes and prevent costly crop loss at harvest.</a:t>
            </a:r>
            <a:endParaRPr/>
          </a:p>
        </p:txBody>
      </p:sp>
      <p:sp>
        <p:nvSpPr>
          <p:cNvPr id="547" name="Google Shape;547;p33"/>
          <p:cNvSpPr txBox="1"/>
          <p:nvPr/>
        </p:nvSpPr>
        <p:spPr>
          <a:xfrm>
            <a:off x="762000" y="25574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Labor Constraints: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Smallholders are heavily restricted by family size, age structure, and domestic duties.</a:t>
            </a:r>
            <a:endParaRPr/>
          </a:p>
        </p:txBody>
      </p:sp>
      <p:sp>
        <p:nvSpPr>
          <p:cNvPr id="548" name="Google Shape;548;p33"/>
          <p:cNvSpPr txBox="1"/>
          <p:nvPr/>
        </p:nvSpPr>
        <p:spPr>
          <a:xfrm>
            <a:off x="762000" y="31289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Seasonal Peaks: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Land preparation, weeding, and harvests create major labor bottlenecks.</a:t>
            </a:r>
            <a:endParaRPr/>
          </a:p>
        </p:txBody>
      </p:sp>
      <p:sp>
        <p:nvSpPr>
          <p:cNvPr id="549" name="Google Shape;549;p33"/>
          <p:cNvSpPr txBox="1"/>
          <p:nvPr/>
        </p:nvSpPr>
        <p:spPr>
          <a:xfrm>
            <a:off x="762000" y="37004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Skills Assessment: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Ensure the workforce has the technical training required for precision pesticide use or complex irrigation operations.</a:t>
            </a:r>
            <a:endParaRPr/>
          </a:p>
        </p:txBody>
      </p:sp>
      <p:pic>
        <p:nvPicPr>
          <p:cNvPr id="550" name="Google Shape;550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9194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59080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31623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3733800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33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34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Capital, Tools &amp; Machinery</a:t>
            </a:r>
            <a:endParaRPr/>
          </a:p>
        </p:txBody>
      </p:sp>
      <p:sp>
        <p:nvSpPr>
          <p:cNvPr id="565" name="Google Shape;565;p34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4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22 / 40</a:t>
            </a:r>
            <a:endParaRPr/>
          </a:p>
        </p:txBody>
      </p:sp>
      <p:sp>
        <p:nvSpPr>
          <p:cNvPr id="567" name="Google Shape;567;p34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569" name="Google Shape;569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4"/>
          <p:cNvSpPr txBox="1"/>
          <p:nvPr/>
        </p:nvSpPr>
        <p:spPr>
          <a:xfrm>
            <a:off x="1028700" y="2781300"/>
            <a:ext cx="297037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Financial Reserves</a:t>
            </a:r>
            <a:endParaRPr/>
          </a:p>
        </p:txBody>
      </p:sp>
      <p:sp>
        <p:nvSpPr>
          <p:cNvPr id="571" name="Google Shape;571;p34"/>
          <p:cNvSpPr txBox="1"/>
          <p:nvPr/>
        </p:nvSpPr>
        <p:spPr>
          <a:xfrm>
            <a:off x="71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 cash resources, seasonal bank loan access, and government input subsidies (like FISP in Zambia) to determine scope and scaling options.</a:t>
            </a:r>
            <a:endParaRPr/>
          </a:p>
        </p:txBody>
      </p:sp>
      <p:sp>
        <p:nvSpPr>
          <p:cNvPr id="572" name="Google Shape;572;p34"/>
          <p:cNvSpPr txBox="1"/>
          <p:nvPr/>
        </p:nvSpPr>
        <p:spPr>
          <a:xfrm>
            <a:off x="4857750" y="2781300"/>
            <a:ext cx="29503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Traction Capabilities</a:t>
            </a:r>
            <a:endParaRPr/>
          </a:p>
        </p:txBody>
      </p:sp>
      <p:sp>
        <p:nvSpPr>
          <p:cNvPr id="573" name="Google Shape;573;p34"/>
          <p:cNvSpPr txBox="1"/>
          <p:nvPr/>
        </p:nvSpPr>
        <p:spPr>
          <a:xfrm>
            <a:off x="452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Track access to draft animal power (oxen) or tractors. This directly dictates field length design and turnaround space parameters.</a:t>
            </a:r>
            <a:endParaRPr/>
          </a:p>
        </p:txBody>
      </p:sp>
      <p:sp>
        <p:nvSpPr>
          <p:cNvPr id="574" name="Google Shape;574;p34"/>
          <p:cNvSpPr txBox="1"/>
          <p:nvPr/>
        </p:nvSpPr>
        <p:spPr>
          <a:xfrm>
            <a:off x="8667750" y="2781300"/>
            <a:ext cx="295036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Storage Infrastructure</a:t>
            </a:r>
            <a:endParaRPr/>
          </a:p>
        </p:txBody>
      </p:sp>
      <p:sp>
        <p:nvSpPr>
          <p:cNvPr id="575" name="Google Shape;575;p34"/>
          <p:cNvSpPr txBox="1"/>
          <p:nvPr/>
        </p:nvSpPr>
        <p:spPr>
          <a:xfrm>
            <a:off x="833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Inspect existing granaries, cold-chain capacity, and tool sheds. This determines the shelf-life and volume potential of high-value yields.</a:t>
            </a:r>
            <a:endParaRPr/>
          </a:p>
        </p:txBody>
      </p:sp>
      <p:pic>
        <p:nvPicPr>
          <p:cNvPr id="576" name="Google Shape;576;p3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27955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24375" y="2795587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8" name="Google Shape;578;p3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34375" y="279558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34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185987"/>
            <a:ext cx="1123950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35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Farm Resource Checklist</a:t>
            </a:r>
            <a:endParaRPr/>
          </a:p>
        </p:txBody>
      </p:sp>
      <p:sp>
        <p:nvSpPr>
          <p:cNvPr id="588" name="Google Shape;588;p35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5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23 / 40</a:t>
            </a:r>
            <a:endParaRPr/>
          </a:p>
        </p:txBody>
      </p:sp>
      <p:sp>
        <p:nvSpPr>
          <p:cNvPr id="590" name="Google Shape;590;p35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sp>
        <p:nvSpPr>
          <p:cNvPr id="592" name="Google Shape;592;p35"/>
          <p:cNvSpPr/>
          <p:nvPr/>
        </p:nvSpPr>
        <p:spPr>
          <a:xfrm>
            <a:off x="485775" y="2195512"/>
            <a:ext cx="1122045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3" name="Google Shape;593;p35"/>
          <p:cNvGraphicFramePr/>
          <p:nvPr/>
        </p:nvGraphicFramePr>
        <p:xfrm>
          <a:off x="485775" y="2195512"/>
          <a:ext cx="11220425" cy="2066875"/>
        </p:xfrm>
        <a:graphic>
          <a:graphicData uri="http://schemas.openxmlformats.org/drawingml/2006/table">
            <a:tbl>
              <a:tblPr firstRow="1" bandRow="1">
                <a:noFill/>
                <a:tableStyleId>{6F1148E5-017B-438A-B5E8-74EFD067D354}</a:tableStyleId>
              </a:tblPr>
              <a:tblGrid>
                <a:gridCol w="163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5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2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Resource Category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Key Parameter to Audit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Field Measurement Method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Strategic Planning Value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Physical Land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Total boundary area, slope %, soil pH.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GPS tracking, clinometer, chemical soil kits.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Shapes field layout and crop matching.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Hydrology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Water point yields, stream flow, wetland extent.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V-notch weir, depth measures, satellite maps.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Defines dry-season irrigation limits.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Human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Active workers, peak labor bottlenecks.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Household surveys, seasonal calendars.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Staggers crop rotations to smooth labor.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Built Assets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Shed capacity, farm roads, tractor power.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Physical audits and machinery checks.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Specifies input staging and yield limits.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94" name="Google Shape;594;p3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35"/>
          <p:cNvSpPr/>
          <p:nvPr/>
        </p:nvSpPr>
        <p:spPr>
          <a:xfrm>
            <a:off x="485775" y="3028950"/>
            <a:ext cx="1637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5"/>
          <p:cNvSpPr/>
          <p:nvPr/>
        </p:nvSpPr>
        <p:spPr>
          <a:xfrm>
            <a:off x="2123628" y="3028950"/>
            <a:ext cx="33739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5"/>
          <p:cNvSpPr/>
          <p:nvPr/>
        </p:nvSpPr>
        <p:spPr>
          <a:xfrm>
            <a:off x="5497562" y="3028950"/>
            <a:ext cx="3275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5"/>
          <p:cNvSpPr/>
          <p:nvPr/>
        </p:nvSpPr>
        <p:spPr>
          <a:xfrm>
            <a:off x="8773417" y="3028950"/>
            <a:ext cx="2932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5"/>
          <p:cNvSpPr/>
          <p:nvPr/>
        </p:nvSpPr>
        <p:spPr>
          <a:xfrm>
            <a:off x="485775" y="3438525"/>
            <a:ext cx="1637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5"/>
          <p:cNvSpPr/>
          <p:nvPr/>
        </p:nvSpPr>
        <p:spPr>
          <a:xfrm>
            <a:off x="2123628" y="3438525"/>
            <a:ext cx="33739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5"/>
          <p:cNvSpPr/>
          <p:nvPr/>
        </p:nvSpPr>
        <p:spPr>
          <a:xfrm>
            <a:off x="5497562" y="3438525"/>
            <a:ext cx="3275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5"/>
          <p:cNvSpPr/>
          <p:nvPr/>
        </p:nvSpPr>
        <p:spPr>
          <a:xfrm>
            <a:off x="8773417" y="3438525"/>
            <a:ext cx="2932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5"/>
          <p:cNvSpPr/>
          <p:nvPr/>
        </p:nvSpPr>
        <p:spPr>
          <a:xfrm>
            <a:off x="485775" y="3848100"/>
            <a:ext cx="16378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5"/>
          <p:cNvSpPr/>
          <p:nvPr/>
        </p:nvSpPr>
        <p:spPr>
          <a:xfrm>
            <a:off x="2123628" y="3848100"/>
            <a:ext cx="33739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5"/>
          <p:cNvSpPr/>
          <p:nvPr/>
        </p:nvSpPr>
        <p:spPr>
          <a:xfrm>
            <a:off x="5497562" y="3848100"/>
            <a:ext cx="32758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5"/>
          <p:cNvSpPr/>
          <p:nvPr/>
        </p:nvSpPr>
        <p:spPr>
          <a:xfrm>
            <a:off x="8773417" y="3848100"/>
            <a:ext cx="29328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5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6"/>
          <p:cNvSpPr txBox="1"/>
          <p:nvPr/>
        </p:nvSpPr>
        <p:spPr>
          <a:xfrm>
            <a:off x="11258550" y="66008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3B0A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24 / 40</a:t>
            </a:r>
            <a:endParaRPr/>
          </a:p>
        </p:txBody>
      </p:sp>
      <p:sp>
        <p:nvSpPr>
          <p:cNvPr id="615" name="Google Shape;615;p36"/>
          <p:cNvSpPr txBox="1"/>
          <p:nvPr/>
        </p:nvSpPr>
        <p:spPr>
          <a:xfrm>
            <a:off x="5653087" y="2138362"/>
            <a:ext cx="885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49B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PART FOUR</a:t>
            </a:r>
            <a:endParaRPr/>
          </a:p>
        </p:txBody>
      </p:sp>
      <p:sp>
        <p:nvSpPr>
          <p:cNvPr id="616" name="Google Shape;616;p36"/>
          <p:cNvSpPr txBox="1"/>
          <p:nvPr/>
        </p:nvSpPr>
        <p:spPr>
          <a:xfrm>
            <a:off x="3260645" y="2433637"/>
            <a:ext cx="567070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AF9F5"/>
                </a:solidFill>
                <a:latin typeface="Merriweather"/>
                <a:ea typeface="Merriweather"/>
                <a:cs typeface="Merriweather"/>
                <a:sym typeface="Merriweather"/>
              </a:rPr>
              <a:t>Land Capability &amp; Suitability</a:t>
            </a:r>
            <a:endParaRPr/>
          </a:p>
        </p:txBody>
      </p:sp>
      <p:sp>
        <p:nvSpPr>
          <p:cNvPr id="617" name="Google Shape;617;p36"/>
          <p:cNvSpPr/>
          <p:nvPr/>
        </p:nvSpPr>
        <p:spPr>
          <a:xfrm>
            <a:off x="5810250" y="3128962"/>
            <a:ext cx="571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6"/>
          <p:cNvSpPr txBox="1"/>
          <p:nvPr/>
        </p:nvSpPr>
        <p:spPr>
          <a:xfrm>
            <a:off x="4033837" y="3395662"/>
            <a:ext cx="41243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6EC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Leveraging LCC, the FAO framework, and GIS technology</a:t>
            </a:r>
            <a:endParaRPr/>
          </a:p>
        </p:txBody>
      </p:sp>
      <p:sp>
        <p:nvSpPr>
          <p:cNvPr id="619" name="Google Shape;619;p36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621" name="Google Shape;621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6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927026"/>
            <a:ext cx="11239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3498651"/>
            <a:ext cx="5524500" cy="1032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3498651"/>
            <a:ext cx="5524500" cy="1032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7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Land Capability Classification</a:t>
            </a:r>
            <a:endParaRPr/>
          </a:p>
        </p:txBody>
      </p:sp>
      <p:sp>
        <p:nvSpPr>
          <p:cNvPr id="633" name="Google Shape;633;p37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7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25 / 40</a:t>
            </a:r>
            <a:endParaRPr/>
          </a:p>
        </p:txBody>
      </p:sp>
      <p:sp>
        <p:nvSpPr>
          <p:cNvPr id="635" name="Google Shape;635;p37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sp>
        <p:nvSpPr>
          <p:cNvPr id="637" name="Google Shape;637;p37"/>
          <p:cNvSpPr txBox="1"/>
          <p:nvPr/>
        </p:nvSpPr>
        <p:spPr>
          <a:xfrm>
            <a:off x="838200" y="2212776"/>
            <a:ext cx="47625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8</a:t>
            </a:r>
            <a:endParaRPr/>
          </a:p>
        </p:txBody>
      </p:sp>
      <p:pic>
        <p:nvPicPr>
          <p:cNvPr id="638" name="Google Shape;638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7"/>
          <p:cNvSpPr txBox="1"/>
          <p:nvPr/>
        </p:nvSpPr>
        <p:spPr>
          <a:xfrm>
            <a:off x="1600200" y="2343298"/>
            <a:ext cx="68008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USDA Capability Classes</a:t>
            </a:r>
            <a:endParaRPr/>
          </a:p>
        </p:txBody>
      </p:sp>
      <p:sp>
        <p:nvSpPr>
          <p:cNvPr id="640" name="Google Shape;640;p37"/>
          <p:cNvSpPr txBox="1"/>
          <p:nvPr/>
        </p:nvSpPr>
        <p:spPr>
          <a:xfrm>
            <a:off x="1600200" y="2657623"/>
            <a:ext cx="6477000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Classifies land from Class I (ideal for tillage) to Class VIII (extremely fragile and restricted to conservation).</a:t>
            </a:r>
            <a:endParaRPr/>
          </a:p>
        </p:txBody>
      </p:sp>
      <p:sp>
        <p:nvSpPr>
          <p:cNvPr id="641" name="Google Shape;641;p37"/>
          <p:cNvSpPr txBox="1"/>
          <p:nvPr/>
        </p:nvSpPr>
        <p:spPr>
          <a:xfrm>
            <a:off x="666750" y="3727251"/>
            <a:ext cx="54006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Arable Classes (I - IV)</a:t>
            </a:r>
            <a:endParaRPr/>
          </a:p>
        </p:txBody>
      </p:sp>
      <p:sp>
        <p:nvSpPr>
          <p:cNvPr id="642" name="Google Shape;642;p37"/>
          <p:cNvSpPr txBox="1"/>
          <p:nvPr/>
        </p:nvSpPr>
        <p:spPr>
          <a:xfrm>
            <a:off x="666750" y="3993951"/>
            <a:ext cx="514350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Flat or gentle slopes. Deep soil depth. Suitable for intensive annual crop cultivation with appropriate conservation steps.</a:t>
            </a:r>
            <a:endParaRPr/>
          </a:p>
        </p:txBody>
      </p:sp>
      <p:sp>
        <p:nvSpPr>
          <p:cNvPr id="643" name="Google Shape;643;p37"/>
          <p:cNvSpPr txBox="1"/>
          <p:nvPr/>
        </p:nvSpPr>
        <p:spPr>
          <a:xfrm>
            <a:off x="6381750" y="3727251"/>
            <a:ext cx="540067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Non-Arable Classes (V - VIII)</a:t>
            </a:r>
            <a:endParaRPr/>
          </a:p>
        </p:txBody>
      </p:sp>
      <p:sp>
        <p:nvSpPr>
          <p:cNvPr id="644" name="Google Shape;644;p37"/>
          <p:cNvSpPr txBox="1"/>
          <p:nvPr/>
        </p:nvSpPr>
        <p:spPr>
          <a:xfrm>
            <a:off x="6381750" y="3993951"/>
            <a:ext cx="5143500" cy="34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Steep slopes, rocky soil, or severe erosion hazards. Use must be restricted to pasture, agroforestry, or wildlife reserves.</a:t>
            </a:r>
            <a:endParaRPr/>
          </a:p>
        </p:txBody>
      </p:sp>
      <p:pic>
        <p:nvPicPr>
          <p:cNvPr id="645" name="Google Shape;645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" y="374630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3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381750" y="374630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37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09725"/>
            <a:ext cx="542925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8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USDA Land Capability Classes</a:t>
            </a:r>
            <a:endParaRPr/>
          </a:p>
        </p:txBody>
      </p:sp>
      <p:sp>
        <p:nvSpPr>
          <p:cNvPr id="656" name="Google Shape;656;p38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8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26 / 40</a:t>
            </a:r>
            <a:endParaRPr/>
          </a:p>
        </p:txBody>
      </p:sp>
      <p:sp>
        <p:nvSpPr>
          <p:cNvPr id="658" name="Google Shape;658;p38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660" name="Google Shape;660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8"/>
          <p:cNvSpPr txBox="1"/>
          <p:nvPr/>
        </p:nvSpPr>
        <p:spPr>
          <a:xfrm>
            <a:off x="476250" y="1900237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close look at how the 8 LCC classes guide the placement of farm boundaries:</a:t>
            </a:r>
            <a:endParaRPr/>
          </a:p>
        </p:txBody>
      </p:sp>
      <p:pic>
        <p:nvPicPr>
          <p:cNvPr id="662" name="Google Shape;662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05550" y="1628775"/>
            <a:ext cx="53911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38"/>
          <p:cNvSpPr txBox="1"/>
          <p:nvPr/>
        </p:nvSpPr>
        <p:spPr>
          <a:xfrm>
            <a:off x="762000" y="25003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Classes I &amp; II: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Flat, deep, non-erodible soils. Ideal for continuous row crops.</a:t>
            </a:r>
            <a:endParaRPr/>
          </a:p>
        </p:txBody>
      </p:sp>
      <p:sp>
        <p:nvSpPr>
          <p:cNvPr id="664" name="Google Shape;664;p38"/>
          <p:cNvSpPr txBox="1"/>
          <p:nvPr/>
        </p:nvSpPr>
        <p:spPr>
          <a:xfrm>
            <a:off x="762000" y="30718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Classes III &amp; IV: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Moderate to steep slopes. Requires contouring, strip cropping, or terrace farming.</a:t>
            </a:r>
            <a:endParaRPr/>
          </a:p>
        </p:txBody>
      </p:sp>
      <p:sp>
        <p:nvSpPr>
          <p:cNvPr id="665" name="Google Shape;665;p38"/>
          <p:cNvSpPr txBox="1"/>
          <p:nvPr/>
        </p:nvSpPr>
        <p:spPr>
          <a:xfrm>
            <a:off x="762000" y="36433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Classes V - VII: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Highly erodible, shallow, or waterlogged soils. Safe only for pastures or tree woodlots.</a:t>
            </a:r>
            <a:endParaRPr/>
          </a:p>
        </p:txBody>
      </p:sp>
      <p:sp>
        <p:nvSpPr>
          <p:cNvPr id="666" name="Google Shape;666;p38"/>
          <p:cNvSpPr txBox="1"/>
          <p:nvPr/>
        </p:nvSpPr>
        <p:spPr>
          <a:xfrm>
            <a:off x="762000" y="4214812"/>
            <a:ext cx="5143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 VIII: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Restricted to environmental conservation.</a:t>
            </a:r>
            <a:endParaRPr/>
          </a:p>
        </p:txBody>
      </p:sp>
      <p:sp>
        <p:nvSpPr>
          <p:cNvPr id="667" name="Google Shape;667;p38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14612"/>
            <a:ext cx="54292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9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The FAO Suitability Framework</a:t>
            </a:r>
            <a:endParaRPr/>
          </a:p>
        </p:txBody>
      </p:sp>
      <p:sp>
        <p:nvSpPr>
          <p:cNvPr id="676" name="Google Shape;676;p39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9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27 / 40</a:t>
            </a:r>
            <a:endParaRPr/>
          </a:p>
        </p:txBody>
      </p:sp>
      <p:sp>
        <p:nvSpPr>
          <p:cNvPr id="678" name="Google Shape;678;p39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680" name="Google Shape;680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39"/>
          <p:cNvSpPr txBox="1"/>
          <p:nvPr/>
        </p:nvSpPr>
        <p:spPr>
          <a:xfrm>
            <a:off x="476250" y="2357437"/>
            <a:ext cx="5429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Unlike LCC, the FAO framework rates land suitability for </a:t>
            </a:r>
            <a:r>
              <a:rPr lang="en-US" sz="1200" b="1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specific crop uses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endParaRPr/>
          </a:p>
        </p:txBody>
      </p:sp>
      <p:sp>
        <p:nvSpPr>
          <p:cNvPr id="682" name="Google Shape;682;p39"/>
          <p:cNvSpPr txBox="1"/>
          <p:nvPr/>
        </p:nvSpPr>
        <p:spPr>
          <a:xfrm>
            <a:off x="6524625" y="289083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Subclass Suffixes</a:t>
            </a:r>
            <a:endParaRPr/>
          </a:p>
        </p:txBody>
      </p:sp>
      <p:sp>
        <p:nvSpPr>
          <p:cNvPr id="683" name="Google Shape;683;p39"/>
          <p:cNvSpPr txBox="1"/>
          <p:nvPr/>
        </p:nvSpPr>
        <p:spPr>
          <a:xfrm>
            <a:off x="6524625" y="3205162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Planners use lowercase letters to flag specific constraints. For example: </a:t>
            </a:r>
            <a:r>
              <a:rPr lang="en-US" sz="1050" b="1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S2w</a:t>
            </a: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indicates wetness limitations, while </a:t>
            </a:r>
            <a:r>
              <a:rPr lang="en-US" sz="1050" b="1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S3s</a:t>
            </a: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flags shallow soil depth constraints.</a:t>
            </a:r>
            <a:endParaRPr/>
          </a:p>
        </p:txBody>
      </p:sp>
      <p:sp>
        <p:nvSpPr>
          <p:cNvPr id="684" name="Google Shape;684;p39"/>
          <p:cNvSpPr txBox="1"/>
          <p:nvPr/>
        </p:nvSpPr>
        <p:spPr>
          <a:xfrm>
            <a:off x="762000" y="2728912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Order S (Suitable):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Land where benefits outweigh inputs. Divided into Highly Suitable (S1), Moderately Suitable (S2), and Marginally Suitable (S3).</a:t>
            </a:r>
            <a:endParaRPr/>
          </a:p>
        </p:txBody>
      </p:sp>
      <p:sp>
        <p:nvSpPr>
          <p:cNvPr id="685" name="Google Shape;685;p39"/>
          <p:cNvSpPr txBox="1"/>
          <p:nvPr/>
        </p:nvSpPr>
        <p:spPr>
          <a:xfrm>
            <a:off x="762000" y="35290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Order N (Unsuitable):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Land with severe biological or physical barriers. S3 land can be upgraded with soil amendments.</a:t>
            </a:r>
            <a:endParaRPr/>
          </a:p>
        </p:txBody>
      </p:sp>
      <p:pic>
        <p:nvPicPr>
          <p:cNvPr id="686" name="Google Shape;686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919412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7622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3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356235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39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Google Shape;69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0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Soil Testing &amp; Decision Support</a:t>
            </a:r>
            <a:endParaRPr/>
          </a:p>
        </p:txBody>
      </p:sp>
      <p:sp>
        <p:nvSpPr>
          <p:cNvPr id="700" name="Google Shape;700;p40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0"/>
          <p:cNvSpPr txBox="1"/>
          <p:nvPr/>
        </p:nvSpPr>
        <p:spPr>
          <a:xfrm>
            <a:off x="11258550" y="66008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28 / 40</a:t>
            </a:r>
            <a:endParaRPr/>
          </a:p>
        </p:txBody>
      </p:sp>
      <p:sp>
        <p:nvSpPr>
          <p:cNvPr id="702" name="Google Shape;702;p40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704" name="Google Shape;704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40"/>
          <p:cNvSpPr txBox="1"/>
          <p:nvPr/>
        </p:nvSpPr>
        <p:spPr>
          <a:xfrm>
            <a:off x="1000125" y="2781300"/>
            <a:ext cx="3000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pH Determination</a:t>
            </a:r>
            <a:endParaRPr/>
          </a:p>
        </p:txBody>
      </p:sp>
      <p:sp>
        <p:nvSpPr>
          <p:cNvPr id="706" name="Google Shape;706;p40"/>
          <p:cNvSpPr txBox="1"/>
          <p:nvPr/>
        </p:nvSpPr>
        <p:spPr>
          <a:xfrm>
            <a:off x="71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soil acidity determines liming needs. This is critical in high-rainfall zones where acidity locks up key plant nutrients.</a:t>
            </a:r>
            <a:endParaRPr/>
          </a:p>
        </p:txBody>
      </p:sp>
      <p:sp>
        <p:nvSpPr>
          <p:cNvPr id="707" name="Google Shape;707;p40"/>
          <p:cNvSpPr txBox="1"/>
          <p:nvPr/>
        </p:nvSpPr>
        <p:spPr>
          <a:xfrm>
            <a:off x="4838700" y="2781300"/>
            <a:ext cx="297037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Textural Analysis</a:t>
            </a:r>
            <a:endParaRPr/>
          </a:p>
        </p:txBody>
      </p:sp>
      <p:sp>
        <p:nvSpPr>
          <p:cNvPr id="708" name="Google Shape;708;p40"/>
          <p:cNvSpPr txBox="1"/>
          <p:nvPr/>
        </p:nvSpPr>
        <p:spPr>
          <a:xfrm>
            <a:off x="452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Sands drain quickly but lose nutrients. Clays store water but compact easily. Loam offers the ideal balance for annual crops.</a:t>
            </a:r>
            <a:endParaRPr/>
          </a:p>
        </p:txBody>
      </p:sp>
      <p:sp>
        <p:nvSpPr>
          <p:cNvPr id="709" name="Google Shape;709;p40"/>
          <p:cNvSpPr txBox="1"/>
          <p:nvPr/>
        </p:nvSpPr>
        <p:spPr>
          <a:xfrm>
            <a:off x="8648700" y="2781300"/>
            <a:ext cx="297037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Organic Carbon</a:t>
            </a:r>
            <a:endParaRPr/>
          </a:p>
        </p:txBody>
      </p:sp>
      <p:sp>
        <p:nvSpPr>
          <p:cNvPr id="710" name="Google Shape;710;p40"/>
          <p:cNvSpPr txBox="1"/>
          <p:nvPr/>
        </p:nvSpPr>
        <p:spPr>
          <a:xfrm>
            <a:off x="833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Acts as an indicator of soil biological health. Plans should include cover crops if organic carbon levels drop below 2%.</a:t>
            </a:r>
            <a:endParaRPr/>
          </a:p>
        </p:txBody>
      </p:sp>
      <p:pic>
        <p:nvPicPr>
          <p:cNvPr id="711" name="Google Shape;711;p4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27955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4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24375" y="27955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4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34375" y="2795587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0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9" name="Google Shape;719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14612"/>
            <a:ext cx="54292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1" name="Google Shape;721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1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Slope &amp; Terrain Constraints</a:t>
            </a:r>
            <a:endParaRPr/>
          </a:p>
        </p:txBody>
      </p:sp>
      <p:sp>
        <p:nvSpPr>
          <p:cNvPr id="723" name="Google Shape;723;p41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1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29 / 40</a:t>
            </a:r>
            <a:endParaRPr/>
          </a:p>
        </p:txBody>
      </p:sp>
      <p:sp>
        <p:nvSpPr>
          <p:cNvPr id="725" name="Google Shape;725;p41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727" name="Google Shape;727;p4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1"/>
          <p:cNvSpPr txBox="1"/>
          <p:nvPr/>
        </p:nvSpPr>
        <p:spPr>
          <a:xfrm>
            <a:off x="476250" y="1785937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Slope percentage directly limits mechanization options and shapes required conservation features:</a:t>
            </a:r>
            <a:endParaRPr/>
          </a:p>
        </p:txBody>
      </p:sp>
      <p:sp>
        <p:nvSpPr>
          <p:cNvPr id="729" name="Google Shape;729;p41"/>
          <p:cNvSpPr txBox="1"/>
          <p:nvPr/>
        </p:nvSpPr>
        <p:spPr>
          <a:xfrm>
            <a:off x="6524625" y="289083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Physics of Erosion</a:t>
            </a:r>
            <a:endParaRPr/>
          </a:p>
        </p:txBody>
      </p:sp>
      <p:sp>
        <p:nvSpPr>
          <p:cNvPr id="730" name="Google Shape;730;p41"/>
          <p:cNvSpPr txBox="1"/>
          <p:nvPr/>
        </p:nvSpPr>
        <p:spPr>
          <a:xfrm>
            <a:off x="6524625" y="3205162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When water flows down an slope, doubling the gradient increases the speed of the water, which dramatically multiplies its soil-carrying capacity.</a:t>
            </a:r>
            <a:endParaRPr/>
          </a:p>
        </p:txBody>
      </p:sp>
      <p:sp>
        <p:nvSpPr>
          <p:cNvPr id="731" name="Google Shape;731;p41"/>
          <p:cNvSpPr txBox="1"/>
          <p:nvPr/>
        </p:nvSpPr>
        <p:spPr>
          <a:xfrm>
            <a:off x="762000" y="23860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0 - 2% Slope: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Minimal erosion risk. Ideal for large machinery and center-pivot irrigation.</a:t>
            </a:r>
            <a:endParaRPr/>
          </a:p>
        </p:txBody>
      </p:sp>
      <p:sp>
        <p:nvSpPr>
          <p:cNvPr id="732" name="Google Shape;732;p41"/>
          <p:cNvSpPr txBox="1"/>
          <p:nvPr/>
        </p:nvSpPr>
        <p:spPr>
          <a:xfrm>
            <a:off x="762000" y="29575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2 - 8% Slope: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Moderate erosion risk. Cultivation must follow contour lines to slow runoff.</a:t>
            </a:r>
            <a:endParaRPr/>
          </a:p>
        </p:txBody>
      </p:sp>
      <p:sp>
        <p:nvSpPr>
          <p:cNvPr id="733" name="Google Shape;733;p41"/>
          <p:cNvSpPr txBox="1"/>
          <p:nvPr/>
        </p:nvSpPr>
        <p:spPr>
          <a:xfrm>
            <a:off x="762000" y="35290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8 - 15% Slope: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 erosion risk. Requires engineered terracing or contour grass strips.</a:t>
            </a:r>
            <a:endParaRPr/>
          </a:p>
        </p:txBody>
      </p:sp>
      <p:sp>
        <p:nvSpPr>
          <p:cNvPr id="734" name="Google Shape;734;p41"/>
          <p:cNvSpPr txBox="1"/>
          <p:nvPr/>
        </p:nvSpPr>
        <p:spPr>
          <a:xfrm>
            <a:off x="762000" y="410051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&gt; 15% Slope: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Severe erosion risk. Planners should preserve these slopes for permanent tree crops or pasture.</a:t>
            </a:r>
            <a:endParaRPr/>
          </a:p>
        </p:txBody>
      </p:sp>
      <p:pic>
        <p:nvPicPr>
          <p:cNvPr id="735" name="Google Shape;735;p4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91941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4193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9908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35623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4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4133850"/>
            <a:ext cx="1047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41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42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GIS &amp; Remote Sensing in Plans</a:t>
            </a:r>
            <a:endParaRPr/>
          </a:p>
        </p:txBody>
      </p:sp>
      <p:sp>
        <p:nvSpPr>
          <p:cNvPr id="751" name="Google Shape;751;p42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2"/>
          <p:cNvSpPr txBox="1"/>
          <p:nvPr/>
        </p:nvSpPr>
        <p:spPr>
          <a:xfrm>
            <a:off x="11249025" y="6600825"/>
            <a:ext cx="7048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30 / 40</a:t>
            </a:r>
            <a:endParaRPr/>
          </a:p>
        </p:txBody>
      </p:sp>
      <p:sp>
        <p:nvSpPr>
          <p:cNvPr id="753" name="Google Shape;753;p42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755" name="Google Shape;755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42"/>
          <p:cNvSpPr txBox="1"/>
          <p:nvPr/>
        </p:nvSpPr>
        <p:spPr>
          <a:xfrm>
            <a:off x="1028700" y="2781300"/>
            <a:ext cx="297037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Layer Overlays</a:t>
            </a:r>
            <a:endParaRPr/>
          </a:p>
        </p:txBody>
      </p:sp>
      <p:sp>
        <p:nvSpPr>
          <p:cNvPr id="757" name="Google Shape;757;p42"/>
          <p:cNvSpPr txBox="1"/>
          <p:nvPr/>
        </p:nvSpPr>
        <p:spPr>
          <a:xfrm>
            <a:off x="71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Stack maps of soils, slope, and water access within QGIS to automatically locate high-suitability production parcels.</a:t>
            </a:r>
            <a:endParaRPr/>
          </a:p>
        </p:txBody>
      </p:sp>
      <p:sp>
        <p:nvSpPr>
          <p:cNvPr id="758" name="Google Shape;758;p42"/>
          <p:cNvSpPr txBox="1"/>
          <p:nvPr/>
        </p:nvSpPr>
        <p:spPr>
          <a:xfrm>
            <a:off x="4810125" y="2781300"/>
            <a:ext cx="3000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Sentinel Imagery</a:t>
            </a:r>
            <a:endParaRPr/>
          </a:p>
        </p:txBody>
      </p:sp>
      <p:sp>
        <p:nvSpPr>
          <p:cNvPr id="759" name="Google Shape;759;p42"/>
          <p:cNvSpPr txBox="1"/>
          <p:nvPr/>
        </p:nvSpPr>
        <p:spPr>
          <a:xfrm>
            <a:off x="452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Analyze historical Sentinel-2 vegetation indices (NDVI) to track crop health, locate wet spots, and spot nutrient trends.</a:t>
            </a:r>
            <a:endParaRPr/>
          </a:p>
        </p:txBody>
      </p:sp>
      <p:sp>
        <p:nvSpPr>
          <p:cNvPr id="760" name="Google Shape;760;p42"/>
          <p:cNvSpPr txBox="1"/>
          <p:nvPr/>
        </p:nvSpPr>
        <p:spPr>
          <a:xfrm>
            <a:off x="8620125" y="2781300"/>
            <a:ext cx="3000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Elevation Models</a:t>
            </a:r>
            <a:endParaRPr/>
          </a:p>
        </p:txBody>
      </p:sp>
      <p:sp>
        <p:nvSpPr>
          <p:cNvPr id="761" name="Google Shape;761;p42"/>
          <p:cNvSpPr txBox="1"/>
          <p:nvPr/>
        </p:nvSpPr>
        <p:spPr>
          <a:xfrm>
            <a:off x="833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 digital elevation models (DEM) to map precise drainage networks, locate contour lines, and plan dam sites.</a:t>
            </a:r>
            <a:endParaRPr/>
          </a:p>
        </p:txBody>
      </p:sp>
      <p:pic>
        <p:nvPicPr>
          <p:cNvPr id="762" name="Google Shape;762;p4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27955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4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24375" y="27955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4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34375" y="27955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42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185987"/>
            <a:ext cx="1123950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43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Agro-Ecological Suitability</a:t>
            </a:r>
            <a:endParaRPr/>
          </a:p>
        </p:txBody>
      </p:sp>
      <p:sp>
        <p:nvSpPr>
          <p:cNvPr id="774" name="Google Shape;774;p43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3"/>
          <p:cNvSpPr txBox="1"/>
          <p:nvPr/>
        </p:nvSpPr>
        <p:spPr>
          <a:xfrm>
            <a:off x="11287125" y="6600825"/>
            <a:ext cx="6667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31 / 40</a:t>
            </a:r>
            <a:endParaRPr/>
          </a:p>
        </p:txBody>
      </p:sp>
      <p:sp>
        <p:nvSpPr>
          <p:cNvPr id="776" name="Google Shape;776;p43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sp>
        <p:nvSpPr>
          <p:cNvPr id="778" name="Google Shape;778;p43"/>
          <p:cNvSpPr/>
          <p:nvPr/>
        </p:nvSpPr>
        <p:spPr>
          <a:xfrm>
            <a:off x="485775" y="2195512"/>
            <a:ext cx="1122045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79" name="Google Shape;779;p43"/>
          <p:cNvGraphicFramePr/>
          <p:nvPr/>
        </p:nvGraphicFramePr>
        <p:xfrm>
          <a:off x="485775" y="2195512"/>
          <a:ext cx="11220475" cy="2066875"/>
        </p:xfrm>
        <a:graphic>
          <a:graphicData uri="http://schemas.openxmlformats.org/drawingml/2006/table">
            <a:tbl>
              <a:tblPr firstRow="1" bandRow="1">
                <a:noFill/>
                <a:tableStyleId>{6F1148E5-017B-438A-B5E8-74EFD067D354}</a:tableStyleId>
              </a:tblPr>
              <a:tblGrid>
                <a:gridCol w="146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6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Crop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Ideal Soil Textures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Min Soil Depth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Rainfall Range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FAF9F5"/>
                          </a:solidFill>
                          <a:latin typeface="Plus Jakarta Sans SemiBold"/>
                          <a:ea typeface="Plus Jakarta Sans SemiBold"/>
                          <a:cs typeface="Plus Jakarta Sans SemiBold"/>
                          <a:sym typeface="Plus Jakarta Sans SemiBold"/>
                        </a:rPr>
                        <a:t>Target Agro-ecological Region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Maize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Sandy Loam to Clay Loam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90 cm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600 - 1000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Region II (Plateau, medium rain)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Sorghum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Clay Loam to Sandy clay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60 cm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450 - 650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Region I (Low rain, valleys)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Irish Potato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Loose, well-drained Sandy Loam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45 cm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500 - 800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Region II (High elevation cooler spots)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3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Tea / Coffee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Deep Acidic Clay Loam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150 cm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&gt; 1200 mm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D443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Region III (High rain, leached soils)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A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80" name="Google Shape;780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43"/>
          <p:cNvSpPr/>
          <p:nvPr/>
        </p:nvSpPr>
        <p:spPr>
          <a:xfrm>
            <a:off x="485775" y="3028950"/>
            <a:ext cx="1468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3"/>
          <p:cNvSpPr/>
          <p:nvPr/>
        </p:nvSpPr>
        <p:spPr>
          <a:xfrm>
            <a:off x="1953964" y="3028950"/>
            <a:ext cx="305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3"/>
          <p:cNvSpPr/>
          <p:nvPr/>
        </p:nvSpPr>
        <p:spPr>
          <a:xfrm>
            <a:off x="5012828" y="3028950"/>
            <a:ext cx="15783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3"/>
          <p:cNvSpPr/>
          <p:nvPr/>
        </p:nvSpPr>
        <p:spPr>
          <a:xfrm>
            <a:off x="6591151" y="3028950"/>
            <a:ext cx="1688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3"/>
          <p:cNvSpPr/>
          <p:nvPr/>
        </p:nvSpPr>
        <p:spPr>
          <a:xfrm>
            <a:off x="8279606" y="3028950"/>
            <a:ext cx="3426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3"/>
          <p:cNvSpPr/>
          <p:nvPr/>
        </p:nvSpPr>
        <p:spPr>
          <a:xfrm>
            <a:off x="485775" y="3438525"/>
            <a:ext cx="1468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3"/>
          <p:cNvSpPr/>
          <p:nvPr/>
        </p:nvSpPr>
        <p:spPr>
          <a:xfrm>
            <a:off x="1953964" y="3438525"/>
            <a:ext cx="305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43"/>
          <p:cNvSpPr/>
          <p:nvPr/>
        </p:nvSpPr>
        <p:spPr>
          <a:xfrm>
            <a:off x="5012828" y="3438525"/>
            <a:ext cx="15783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3"/>
          <p:cNvSpPr/>
          <p:nvPr/>
        </p:nvSpPr>
        <p:spPr>
          <a:xfrm>
            <a:off x="6591151" y="3438525"/>
            <a:ext cx="1688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43"/>
          <p:cNvSpPr/>
          <p:nvPr/>
        </p:nvSpPr>
        <p:spPr>
          <a:xfrm>
            <a:off x="8279606" y="3438525"/>
            <a:ext cx="3426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3"/>
          <p:cNvSpPr/>
          <p:nvPr/>
        </p:nvSpPr>
        <p:spPr>
          <a:xfrm>
            <a:off x="485775" y="3848100"/>
            <a:ext cx="14681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43"/>
          <p:cNvSpPr/>
          <p:nvPr/>
        </p:nvSpPr>
        <p:spPr>
          <a:xfrm>
            <a:off x="1953964" y="3848100"/>
            <a:ext cx="30588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3"/>
          <p:cNvSpPr/>
          <p:nvPr/>
        </p:nvSpPr>
        <p:spPr>
          <a:xfrm>
            <a:off x="5012828" y="3848100"/>
            <a:ext cx="15783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3"/>
          <p:cNvSpPr/>
          <p:nvPr/>
        </p:nvSpPr>
        <p:spPr>
          <a:xfrm>
            <a:off x="6591151" y="3848100"/>
            <a:ext cx="16884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3"/>
          <p:cNvSpPr/>
          <p:nvPr/>
        </p:nvSpPr>
        <p:spPr>
          <a:xfrm>
            <a:off x="8279606" y="3848100"/>
            <a:ext cx="342661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3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44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3B0A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32 / 40</a:t>
            </a:r>
            <a:endParaRPr/>
          </a:p>
        </p:txBody>
      </p:sp>
      <p:sp>
        <p:nvSpPr>
          <p:cNvPr id="804" name="Google Shape;804;p44"/>
          <p:cNvSpPr txBox="1"/>
          <p:nvPr/>
        </p:nvSpPr>
        <p:spPr>
          <a:xfrm>
            <a:off x="5695950" y="2138362"/>
            <a:ext cx="800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49B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PART FIVE</a:t>
            </a:r>
            <a:endParaRPr/>
          </a:p>
        </p:txBody>
      </p:sp>
      <p:sp>
        <p:nvSpPr>
          <p:cNvPr id="805" name="Google Shape;805;p44"/>
          <p:cNvSpPr txBox="1"/>
          <p:nvPr/>
        </p:nvSpPr>
        <p:spPr>
          <a:xfrm>
            <a:off x="3350656" y="2433637"/>
            <a:ext cx="549068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AF9F5"/>
                </a:solidFill>
                <a:latin typeface="Merriweather"/>
                <a:ea typeface="Merriweather"/>
                <a:cs typeface="Merriweather"/>
                <a:sym typeface="Merriweather"/>
              </a:rPr>
              <a:t>Designing Physical Layouts</a:t>
            </a:r>
            <a:endParaRPr/>
          </a:p>
        </p:txBody>
      </p:sp>
      <p:sp>
        <p:nvSpPr>
          <p:cNvPr id="806" name="Google Shape;806;p44"/>
          <p:cNvSpPr/>
          <p:nvPr/>
        </p:nvSpPr>
        <p:spPr>
          <a:xfrm>
            <a:off x="5810250" y="3128962"/>
            <a:ext cx="571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44"/>
          <p:cNvSpPr txBox="1"/>
          <p:nvPr/>
        </p:nvSpPr>
        <p:spPr>
          <a:xfrm>
            <a:off x="3819525" y="3395662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6EC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Zoning boundaries, roads, and irrigation networks on the ground</a:t>
            </a:r>
            <a:endParaRPr/>
          </a:p>
        </p:txBody>
      </p:sp>
      <p:sp>
        <p:nvSpPr>
          <p:cNvPr id="808" name="Google Shape;808;p44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810" name="Google Shape;810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44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816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7" name="Google Shape;817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14600"/>
            <a:ext cx="54292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45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Principles of Farm Zoning</a:t>
            </a:r>
            <a:endParaRPr/>
          </a:p>
        </p:txBody>
      </p:sp>
      <p:sp>
        <p:nvSpPr>
          <p:cNvPr id="820" name="Google Shape;820;p45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45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33 / 40</a:t>
            </a:r>
            <a:endParaRPr/>
          </a:p>
        </p:txBody>
      </p:sp>
      <p:sp>
        <p:nvSpPr>
          <p:cNvPr id="822" name="Google Shape;822;p45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824" name="Google Shape;824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45"/>
          <p:cNvSpPr txBox="1"/>
          <p:nvPr/>
        </p:nvSpPr>
        <p:spPr>
          <a:xfrm>
            <a:off x="476250" y="2071687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Zoning divides the farm into clear management units to simplify logistics and protect fragile zones:</a:t>
            </a:r>
            <a:endParaRPr/>
          </a:p>
        </p:txBody>
      </p:sp>
      <p:sp>
        <p:nvSpPr>
          <p:cNvPr id="826" name="Google Shape;826;p45"/>
          <p:cNvSpPr txBox="1"/>
          <p:nvPr/>
        </p:nvSpPr>
        <p:spPr>
          <a:xfrm>
            <a:off x="6524625" y="279082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Logistical Optimization</a:t>
            </a:r>
            <a:endParaRPr/>
          </a:p>
        </p:txBody>
      </p:sp>
      <p:sp>
        <p:nvSpPr>
          <p:cNvPr id="827" name="Google Shape;827;p45"/>
          <p:cNvSpPr txBox="1"/>
          <p:nvPr/>
        </p:nvSpPr>
        <p:spPr>
          <a:xfrm>
            <a:off x="6524625" y="3105150"/>
            <a:ext cx="49530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Improper zoning wastes fuel and labor. Moving manure or transporting heavy grain bags over long distances inside the farm is a major source of operational waste.</a:t>
            </a:r>
            <a:endParaRPr/>
          </a:p>
        </p:txBody>
      </p:sp>
      <p:sp>
        <p:nvSpPr>
          <p:cNvPr id="828" name="Google Shape;828;p45"/>
          <p:cNvSpPr txBox="1"/>
          <p:nvPr/>
        </p:nvSpPr>
        <p:spPr>
          <a:xfrm>
            <a:off x="762000" y="26717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Farmstead Zone: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Place houses, processing sheds, and tool storage in a central, easily accessible spot near primary access roads.</a:t>
            </a:r>
            <a:endParaRPr/>
          </a:p>
        </p:txBody>
      </p:sp>
      <p:sp>
        <p:nvSpPr>
          <p:cNvPr id="829" name="Google Shape;829;p45"/>
          <p:cNvSpPr txBox="1"/>
          <p:nvPr/>
        </p:nvSpPr>
        <p:spPr>
          <a:xfrm>
            <a:off x="762000" y="32432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Intensive Zone: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Keep high-monitoring enterprises (like chicken coops, nurseries, and pig pens) close to the farmstead.</a:t>
            </a:r>
            <a:endParaRPr/>
          </a:p>
        </p:txBody>
      </p:sp>
      <p:sp>
        <p:nvSpPr>
          <p:cNvPr id="830" name="Google Shape;830;p45"/>
          <p:cNvSpPr txBox="1"/>
          <p:nvPr/>
        </p:nvSpPr>
        <p:spPr>
          <a:xfrm>
            <a:off x="762000" y="38147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Extensive Zone: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Place pasture blocks and large crop fields on more distant, open acreage.</a:t>
            </a:r>
            <a:endParaRPr/>
          </a:p>
        </p:txBody>
      </p:sp>
      <p:pic>
        <p:nvPicPr>
          <p:cNvPr id="831" name="Google Shape;831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24625" y="281940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4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70510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4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327660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4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3848100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45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0" name="Google Shape;840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09725"/>
            <a:ext cx="542925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46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Field Demarcation &amp; Design</a:t>
            </a:r>
            <a:endParaRPr/>
          </a:p>
        </p:txBody>
      </p:sp>
      <p:sp>
        <p:nvSpPr>
          <p:cNvPr id="844" name="Google Shape;844;p46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6"/>
          <p:cNvSpPr txBox="1"/>
          <p:nvPr/>
        </p:nvSpPr>
        <p:spPr>
          <a:xfrm>
            <a:off x="11258550" y="66008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34 / 40</a:t>
            </a:r>
            <a:endParaRPr/>
          </a:p>
        </p:txBody>
      </p:sp>
      <p:sp>
        <p:nvSpPr>
          <p:cNvPr id="846" name="Google Shape;846;p46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848" name="Google Shape;848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46"/>
          <p:cNvSpPr txBox="1"/>
          <p:nvPr/>
        </p:nvSpPr>
        <p:spPr>
          <a:xfrm>
            <a:off x="476250" y="2071687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 field shapes and boundaries to match the farm's management scale and equipment:</a:t>
            </a:r>
            <a:endParaRPr/>
          </a:p>
        </p:txBody>
      </p:sp>
      <p:pic>
        <p:nvPicPr>
          <p:cNvPr id="850" name="Google Shape;850;p4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5550" y="1628775"/>
            <a:ext cx="53911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46"/>
          <p:cNvSpPr txBox="1"/>
          <p:nvPr/>
        </p:nvSpPr>
        <p:spPr>
          <a:xfrm>
            <a:off x="762000" y="26717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Field Shape: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Use rectangular fields with parallel boundaries to streamline tractor movements and reduce headland turning waste.</a:t>
            </a:r>
            <a:endParaRPr/>
          </a:p>
        </p:txBody>
      </p:sp>
      <p:sp>
        <p:nvSpPr>
          <p:cNvPr id="852" name="Google Shape;852;p46"/>
          <p:cNvSpPr txBox="1"/>
          <p:nvPr/>
        </p:nvSpPr>
        <p:spPr>
          <a:xfrm>
            <a:off x="762000" y="32432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Block Alignment: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Align long field boundaries across slopes to naturally slow down heavy water runoff.</a:t>
            </a:r>
            <a:endParaRPr/>
          </a:p>
        </p:txBody>
      </p:sp>
      <p:sp>
        <p:nvSpPr>
          <p:cNvPr id="853" name="Google Shape;853;p46"/>
          <p:cNvSpPr txBox="1"/>
          <p:nvPr/>
        </p:nvSpPr>
        <p:spPr>
          <a:xfrm>
            <a:off x="762000" y="38147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Rotational Match: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Standardize the sizes of crop blocks to simplify rotations and make fertilizer applications uniform.</a:t>
            </a:r>
            <a:endParaRPr/>
          </a:p>
        </p:txBody>
      </p:sp>
      <p:pic>
        <p:nvPicPr>
          <p:cNvPr id="854" name="Google Shape;854;p4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7051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5" name="Google Shape;855;p4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32766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4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384810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46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3" name="Google Shape;863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5" name="Google Shape;865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0" y="2505075"/>
            <a:ext cx="3619500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4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47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Soil &amp; Water Conservation</a:t>
            </a:r>
            <a:endParaRPr/>
          </a:p>
        </p:txBody>
      </p:sp>
      <p:sp>
        <p:nvSpPr>
          <p:cNvPr id="868" name="Google Shape;868;p47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7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35 / 40</a:t>
            </a:r>
            <a:endParaRPr/>
          </a:p>
        </p:txBody>
      </p:sp>
      <p:sp>
        <p:nvSpPr>
          <p:cNvPr id="870" name="Google Shape;870;p47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872" name="Google Shape;872;p4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47"/>
          <p:cNvSpPr txBox="1"/>
          <p:nvPr/>
        </p:nvSpPr>
        <p:spPr>
          <a:xfrm>
            <a:off x="809625" y="2781300"/>
            <a:ext cx="32004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Contour Bunds</a:t>
            </a:r>
            <a:endParaRPr/>
          </a:p>
        </p:txBody>
      </p:sp>
      <p:sp>
        <p:nvSpPr>
          <p:cNvPr id="874" name="Google Shape;874;p47"/>
          <p:cNvSpPr txBox="1"/>
          <p:nvPr/>
        </p:nvSpPr>
        <p:spPr>
          <a:xfrm>
            <a:off x="71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Construct physical earth ridges along topographic contour lines to catch and spread runoff, preventing topsoil erosion.</a:t>
            </a:r>
            <a:endParaRPr/>
          </a:p>
        </p:txBody>
      </p:sp>
      <p:sp>
        <p:nvSpPr>
          <p:cNvPr id="875" name="Google Shape;875;p47"/>
          <p:cNvSpPr txBox="1"/>
          <p:nvPr/>
        </p:nvSpPr>
        <p:spPr>
          <a:xfrm>
            <a:off x="4810125" y="2781300"/>
            <a:ext cx="3000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Shelterbelts</a:t>
            </a:r>
            <a:endParaRPr/>
          </a:p>
        </p:txBody>
      </p:sp>
      <p:sp>
        <p:nvSpPr>
          <p:cNvPr id="876" name="Google Shape;876;p47"/>
          <p:cNvSpPr txBox="1"/>
          <p:nvPr/>
        </p:nvSpPr>
        <p:spPr>
          <a:xfrm>
            <a:off x="452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Plant multi-tier rows of tall native trees perpendicular to dry winds. This protects young crops and reduces evapotranspiration.</a:t>
            </a:r>
            <a:endParaRPr/>
          </a:p>
        </p:txBody>
      </p:sp>
      <p:sp>
        <p:nvSpPr>
          <p:cNvPr id="877" name="Google Shape;877;p47"/>
          <p:cNvSpPr txBox="1"/>
          <p:nvPr/>
        </p:nvSpPr>
        <p:spPr>
          <a:xfrm>
            <a:off x="8620125" y="2781300"/>
            <a:ext cx="30003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Buffer Zones</a:t>
            </a:r>
            <a:endParaRPr/>
          </a:p>
        </p:txBody>
      </p:sp>
      <p:sp>
        <p:nvSpPr>
          <p:cNvPr id="878" name="Google Shape;878;p47"/>
          <p:cNvSpPr txBox="1"/>
          <p:nvPr/>
        </p:nvSpPr>
        <p:spPr>
          <a:xfrm>
            <a:off x="8334375" y="3114675"/>
            <a:ext cx="31432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Keep a permanent grass buffer strip of at least 30 meters along streams to capture fertilizer runoff and stop river siltation.</a:t>
            </a:r>
            <a:endParaRPr/>
          </a:p>
        </p:txBody>
      </p:sp>
      <p:pic>
        <p:nvPicPr>
          <p:cNvPr id="879" name="Google Shape;879;p4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24375" y="27955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4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34375" y="27955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47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614612"/>
            <a:ext cx="5429250" cy="12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48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Planning Farm Access Networks</a:t>
            </a:r>
            <a:endParaRPr/>
          </a:p>
        </p:txBody>
      </p:sp>
      <p:sp>
        <p:nvSpPr>
          <p:cNvPr id="890" name="Google Shape;890;p48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8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36 / 40</a:t>
            </a:r>
            <a:endParaRPr/>
          </a:p>
        </p:txBody>
      </p:sp>
      <p:sp>
        <p:nvSpPr>
          <p:cNvPr id="892" name="Google Shape;892;p48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894" name="Google Shape;894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48"/>
          <p:cNvSpPr txBox="1"/>
          <p:nvPr/>
        </p:nvSpPr>
        <p:spPr>
          <a:xfrm>
            <a:off x="476250" y="1957387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Farm roads must be planned carefully; poorly routed roads are a leading cause of soil erosion:</a:t>
            </a:r>
            <a:endParaRPr/>
          </a:p>
        </p:txBody>
      </p:sp>
      <p:sp>
        <p:nvSpPr>
          <p:cNvPr id="896" name="Google Shape;896;p48"/>
          <p:cNvSpPr txBox="1"/>
          <p:nvPr/>
        </p:nvSpPr>
        <p:spPr>
          <a:xfrm>
            <a:off x="6524625" y="2890837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Water Diversion Drains</a:t>
            </a:r>
            <a:endParaRPr/>
          </a:p>
        </p:txBody>
      </p:sp>
      <p:sp>
        <p:nvSpPr>
          <p:cNvPr id="897" name="Google Shape;897;p48"/>
          <p:cNvSpPr txBox="1"/>
          <p:nvPr/>
        </p:nvSpPr>
        <p:spPr>
          <a:xfrm>
            <a:off x="6524625" y="3205162"/>
            <a:ext cx="4953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 angled miter drains along roadways to divert fast runoff into grassy fields, safely spreading water out before it can carve channels.</a:t>
            </a:r>
            <a:endParaRPr/>
          </a:p>
        </p:txBody>
      </p:sp>
      <p:sp>
        <p:nvSpPr>
          <p:cNvPr id="898" name="Google Shape;898;p48"/>
          <p:cNvSpPr txBox="1"/>
          <p:nvPr/>
        </p:nvSpPr>
        <p:spPr>
          <a:xfrm>
            <a:off x="762000" y="25574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Ridge Alignment: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Run main farm access roads along natural ridge lines to ensure good drainage and avoid muddy bogging.</a:t>
            </a:r>
            <a:endParaRPr/>
          </a:p>
        </p:txBody>
      </p:sp>
      <p:sp>
        <p:nvSpPr>
          <p:cNvPr id="899" name="Google Shape;899;p48"/>
          <p:cNvSpPr txBox="1"/>
          <p:nvPr/>
        </p:nvSpPr>
        <p:spPr>
          <a:xfrm>
            <a:off x="762000" y="3128962"/>
            <a:ext cx="5143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Avoid Straight Slopes: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Never run farm roads straight down a slope. They quickly become pathways for heavy runoff, turning roads into deep gullies.</a:t>
            </a:r>
            <a:endParaRPr/>
          </a:p>
        </p:txBody>
      </p:sp>
      <p:sp>
        <p:nvSpPr>
          <p:cNvPr id="900" name="Google Shape;900;p48"/>
          <p:cNvSpPr txBox="1"/>
          <p:nvPr/>
        </p:nvSpPr>
        <p:spPr>
          <a:xfrm>
            <a:off x="762000" y="39290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Livestock Lanes: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Establish dedicated, fenced pathways for cattle to keep animals from trampling valuable crops.</a:t>
            </a:r>
            <a:endParaRPr/>
          </a:p>
        </p:txBody>
      </p:sp>
      <p:pic>
        <p:nvPicPr>
          <p:cNvPr id="901" name="Google Shape;901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2590800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Google Shape;902;p4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3962400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48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09725"/>
            <a:ext cx="542925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4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49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Designing Water Networks</a:t>
            </a:r>
            <a:endParaRPr/>
          </a:p>
        </p:txBody>
      </p:sp>
      <p:sp>
        <p:nvSpPr>
          <p:cNvPr id="912" name="Google Shape;912;p49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49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37 / 40</a:t>
            </a:r>
            <a:endParaRPr/>
          </a:p>
        </p:txBody>
      </p:sp>
      <p:sp>
        <p:nvSpPr>
          <p:cNvPr id="914" name="Google Shape;914;p49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916" name="Google Shape;916;p4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49"/>
          <p:cNvSpPr txBox="1"/>
          <p:nvPr/>
        </p:nvSpPr>
        <p:spPr>
          <a:xfrm>
            <a:off x="476250" y="2071687"/>
            <a:ext cx="54292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Water delivery plans must balance layout choices with seasonal water supplies:</a:t>
            </a:r>
            <a:endParaRPr/>
          </a:p>
        </p:txBody>
      </p:sp>
      <p:pic>
        <p:nvPicPr>
          <p:cNvPr id="918" name="Google Shape;918;p4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05550" y="1628775"/>
            <a:ext cx="539115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49"/>
          <p:cNvSpPr txBox="1"/>
          <p:nvPr/>
        </p:nvSpPr>
        <p:spPr>
          <a:xfrm>
            <a:off x="762000" y="26717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Micro Drip Systems: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Deliver targeted water directly to plant root zones, minimizing evaporation losses on dry plots.</a:t>
            </a:r>
            <a:endParaRPr/>
          </a:p>
        </p:txBody>
      </p:sp>
      <p:sp>
        <p:nvSpPr>
          <p:cNvPr id="920" name="Google Shape;920;p49"/>
          <p:cNvSpPr txBox="1"/>
          <p:nvPr/>
        </p:nvSpPr>
        <p:spPr>
          <a:xfrm>
            <a:off x="762000" y="32432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Gravity vs Pump: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Place header tanks on the highest ground points to utilize gravity feeding, reducing diesel and electricity pumping bills.</a:t>
            </a:r>
            <a:endParaRPr/>
          </a:p>
        </p:txBody>
      </p:sp>
      <p:sp>
        <p:nvSpPr>
          <p:cNvPr id="921" name="Google Shape;921;p49"/>
          <p:cNvSpPr txBox="1"/>
          <p:nvPr/>
        </p:nvSpPr>
        <p:spPr>
          <a:xfrm>
            <a:off x="762000" y="3814762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Runoff Planning: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Size collection channels to safely route water away from crop fields during heavy storms.</a:t>
            </a:r>
            <a:endParaRPr/>
          </a:p>
        </p:txBody>
      </p:sp>
      <p:pic>
        <p:nvPicPr>
          <p:cNvPr id="922" name="Google Shape;922;p4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27051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4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327660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4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250" y="3848100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49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0" name="Google Shape;930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50"/>
          <p:cNvSpPr txBox="1"/>
          <p:nvPr/>
        </p:nvSpPr>
        <p:spPr>
          <a:xfrm>
            <a:off x="11258550" y="6600825"/>
            <a:ext cx="69532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A3B0A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38 / 40</a:t>
            </a:r>
            <a:endParaRPr/>
          </a:p>
        </p:txBody>
      </p:sp>
      <p:sp>
        <p:nvSpPr>
          <p:cNvPr id="933" name="Google Shape;933;p50"/>
          <p:cNvSpPr txBox="1"/>
          <p:nvPr/>
        </p:nvSpPr>
        <p:spPr>
          <a:xfrm>
            <a:off x="5743575" y="2138362"/>
            <a:ext cx="7048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49B2C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PART SIX</a:t>
            </a:r>
            <a:endParaRPr/>
          </a:p>
        </p:txBody>
      </p:sp>
      <p:sp>
        <p:nvSpPr>
          <p:cNvPr id="934" name="Google Shape;934;p50"/>
          <p:cNvSpPr txBox="1"/>
          <p:nvPr/>
        </p:nvSpPr>
        <p:spPr>
          <a:xfrm>
            <a:off x="3020615" y="2433637"/>
            <a:ext cx="61507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AF9F5"/>
                </a:solidFill>
                <a:latin typeface="Merriweather"/>
                <a:ea typeface="Merriweather"/>
                <a:cs typeface="Merriweather"/>
                <a:sym typeface="Merriweather"/>
              </a:rPr>
              <a:t>Plan Implementation &amp; Control</a:t>
            </a:r>
            <a:endParaRPr/>
          </a:p>
        </p:txBody>
      </p:sp>
      <p:sp>
        <p:nvSpPr>
          <p:cNvPr id="935" name="Google Shape;935;p50"/>
          <p:cNvSpPr/>
          <p:nvPr/>
        </p:nvSpPr>
        <p:spPr>
          <a:xfrm>
            <a:off x="5810250" y="3128962"/>
            <a:ext cx="571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50"/>
          <p:cNvSpPr txBox="1"/>
          <p:nvPr/>
        </p:nvSpPr>
        <p:spPr>
          <a:xfrm>
            <a:off x="3762375" y="3395662"/>
            <a:ext cx="4667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6EC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Staging operations, budgeting cash flows, and tracking progress</a:t>
            </a:r>
            <a:endParaRPr/>
          </a:p>
        </p:txBody>
      </p:sp>
      <p:sp>
        <p:nvSpPr>
          <p:cNvPr id="937" name="Google Shape;937;p50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939" name="Google Shape;939;p5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50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5" name="Google Shape;945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48705" y="271670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1385" y="271670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5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94066" y="271670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5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66746" y="2716708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5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5524500"/>
            <a:ext cx="1123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51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Phased Plan Implementation</a:t>
            </a:r>
            <a:endParaRPr/>
          </a:p>
        </p:txBody>
      </p:sp>
      <p:sp>
        <p:nvSpPr>
          <p:cNvPr id="952" name="Google Shape;952;p51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51"/>
          <p:cNvSpPr txBox="1"/>
          <p:nvPr/>
        </p:nvSpPr>
        <p:spPr>
          <a:xfrm>
            <a:off x="11268075" y="6600825"/>
            <a:ext cx="685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39 / 40</a:t>
            </a:r>
            <a:endParaRPr/>
          </a:p>
        </p:txBody>
      </p:sp>
      <p:sp>
        <p:nvSpPr>
          <p:cNvPr id="954" name="Google Shape;954;p51"/>
          <p:cNvSpPr txBox="1"/>
          <p:nvPr/>
        </p:nvSpPr>
        <p:spPr>
          <a:xfrm>
            <a:off x="866775" y="5619750"/>
            <a:ext cx="107061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LECTURER NOTES:</a:t>
            </a:r>
            <a:endParaRPr/>
          </a:p>
        </p:txBody>
      </p:sp>
      <p:pic>
        <p:nvPicPr>
          <p:cNvPr id="956" name="Google Shape;956;p5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6750" y="5634037"/>
            <a:ext cx="1524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7" name="Google Shape;957;p51"/>
          <p:cNvSpPr txBox="1"/>
          <p:nvPr/>
        </p:nvSpPr>
        <p:spPr>
          <a:xfrm>
            <a:off x="510733" y="3335833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Survey &amp; Contour</a:t>
            </a:r>
            <a:endParaRPr/>
          </a:p>
        </p:txBody>
      </p:sp>
      <p:sp>
        <p:nvSpPr>
          <p:cNvPr id="958" name="Google Shape;958;p51"/>
          <p:cNvSpPr txBox="1"/>
          <p:nvPr/>
        </p:nvSpPr>
        <p:spPr>
          <a:xfrm>
            <a:off x="571500" y="3602533"/>
            <a:ext cx="2430660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Conduct soil profiling, verify boundaries, establish baseline contour barriers, and clear initial access paths.</a:t>
            </a:r>
            <a:endParaRPr/>
          </a:p>
        </p:txBody>
      </p:sp>
      <p:sp>
        <p:nvSpPr>
          <p:cNvPr id="959" name="Google Shape;959;p51"/>
          <p:cNvSpPr txBox="1"/>
          <p:nvPr/>
        </p:nvSpPr>
        <p:spPr>
          <a:xfrm>
            <a:off x="3383413" y="3335833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Water &amp; Fencing</a:t>
            </a:r>
            <a:endParaRPr/>
          </a:p>
        </p:txBody>
      </p:sp>
      <p:sp>
        <p:nvSpPr>
          <p:cNvPr id="960" name="Google Shape;960;p51"/>
          <p:cNvSpPr txBox="1"/>
          <p:nvPr/>
        </p:nvSpPr>
        <p:spPr>
          <a:xfrm>
            <a:off x="3444180" y="3602533"/>
            <a:ext cx="2430660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Install header tanks, sink boreholes, fence outer boundary zones, and construct primary silage pits.</a:t>
            </a:r>
            <a:endParaRPr/>
          </a:p>
        </p:txBody>
      </p:sp>
      <p:sp>
        <p:nvSpPr>
          <p:cNvPr id="961" name="Google Shape;961;p51"/>
          <p:cNvSpPr txBox="1"/>
          <p:nvPr/>
        </p:nvSpPr>
        <p:spPr>
          <a:xfrm>
            <a:off x="6256094" y="3335833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Block Staging</a:t>
            </a:r>
            <a:endParaRPr/>
          </a:p>
        </p:txBody>
      </p:sp>
      <p:sp>
        <p:nvSpPr>
          <p:cNvPr id="962" name="Google Shape;962;p51"/>
          <p:cNvSpPr txBox="1"/>
          <p:nvPr/>
        </p:nvSpPr>
        <p:spPr>
          <a:xfrm>
            <a:off x="6316860" y="3602533"/>
            <a:ext cx="2430660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Plant high-value cropping blocks, launch rotation loops, and plant perimeter tree windbreaks.</a:t>
            </a:r>
            <a:endParaRPr/>
          </a:p>
        </p:txBody>
      </p:sp>
      <p:sp>
        <p:nvSpPr>
          <p:cNvPr id="963" name="Google Shape;963;p51"/>
          <p:cNvSpPr txBox="1"/>
          <p:nvPr/>
        </p:nvSpPr>
        <p:spPr>
          <a:xfrm>
            <a:off x="9128774" y="3335833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Scale &amp; Audit</a:t>
            </a:r>
            <a:endParaRPr/>
          </a:p>
        </p:txBody>
      </p:sp>
      <p:sp>
        <p:nvSpPr>
          <p:cNvPr id="964" name="Google Shape;964;p51"/>
          <p:cNvSpPr txBox="1"/>
          <p:nvPr/>
        </p:nvSpPr>
        <p:spPr>
          <a:xfrm>
            <a:off x="9189541" y="3602533"/>
            <a:ext cx="2430660" cy="519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4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Maximize production scale, analyze nutrient balances, and adjust field rotations based on initial harvest results.</a:t>
            </a:r>
            <a:endParaRPr/>
          </a:p>
        </p:txBody>
      </p:sp>
      <p:sp>
        <p:nvSpPr>
          <p:cNvPr id="965" name="Google Shape;965;p51"/>
          <p:cNvSpPr/>
          <p:nvPr/>
        </p:nvSpPr>
        <p:spPr>
          <a:xfrm>
            <a:off x="1038225" y="2954833"/>
            <a:ext cx="10115550" cy="381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51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038350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4" name="Google Shape;974;p52"/>
          <p:cNvSpPr txBox="1"/>
          <p:nvPr/>
        </p:nvSpPr>
        <p:spPr>
          <a:xfrm>
            <a:off x="476250" y="381000"/>
            <a:ext cx="11715750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Student Practical Exercise</a:t>
            </a:r>
            <a:endParaRPr/>
          </a:p>
        </p:txBody>
      </p:sp>
      <p:sp>
        <p:nvSpPr>
          <p:cNvPr id="975" name="Google Shape;975;p52"/>
          <p:cNvSpPr/>
          <p:nvPr/>
        </p:nvSpPr>
        <p:spPr>
          <a:xfrm>
            <a:off x="476250" y="857250"/>
            <a:ext cx="11239500" cy="28575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52"/>
          <p:cNvSpPr txBox="1"/>
          <p:nvPr/>
        </p:nvSpPr>
        <p:spPr>
          <a:xfrm>
            <a:off x="11239500" y="6600825"/>
            <a:ext cx="714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8B948E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Slide 40 / 40</a:t>
            </a:r>
            <a:endParaRPr/>
          </a:p>
        </p:txBody>
      </p:sp>
      <p:pic>
        <p:nvPicPr>
          <p:cNvPr id="980" name="Google Shape;980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2095500"/>
            <a:ext cx="22669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52"/>
          <p:cNvSpPr txBox="1"/>
          <p:nvPr/>
        </p:nvSpPr>
        <p:spPr>
          <a:xfrm>
            <a:off x="3238500" y="2331243"/>
            <a:ext cx="776097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27"/>
                </a:solidFill>
                <a:latin typeface="Merriweather"/>
                <a:ea typeface="Merriweather"/>
                <a:cs typeface="Merriweather"/>
                <a:sym typeface="Merriweather"/>
              </a:rPr>
              <a:t>Task: Formulate a Farm-Land Plan</a:t>
            </a:r>
            <a:endParaRPr/>
          </a:p>
        </p:txBody>
      </p:sp>
      <p:pic>
        <p:nvPicPr>
          <p:cNvPr id="983" name="Google Shape;983;p5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38500" y="235981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52"/>
          <p:cNvSpPr txBox="1"/>
          <p:nvPr/>
        </p:nvSpPr>
        <p:spPr>
          <a:xfrm>
            <a:off x="3524250" y="3098006"/>
            <a:ext cx="7105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Baseline Audit: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Complete a soil core audit, assess slope %, and record water source volumes.</a:t>
            </a:r>
            <a:endParaRPr/>
          </a:p>
        </p:txBody>
      </p:sp>
      <p:sp>
        <p:nvSpPr>
          <p:cNvPr id="985" name="Google Shape;985;p52"/>
          <p:cNvSpPr txBox="1"/>
          <p:nvPr/>
        </p:nvSpPr>
        <p:spPr>
          <a:xfrm>
            <a:off x="3524250" y="3440906"/>
            <a:ext cx="7105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Spatial Zoning Map: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Classify land into capability zones (Classes I - VIII) and draw field layout blocks.</a:t>
            </a:r>
            <a:endParaRPr/>
          </a:p>
        </p:txBody>
      </p:sp>
      <p:sp>
        <p:nvSpPr>
          <p:cNvPr id="986" name="Google Shape;986;p52"/>
          <p:cNvSpPr txBox="1"/>
          <p:nvPr/>
        </p:nvSpPr>
        <p:spPr>
          <a:xfrm>
            <a:off x="3524250" y="3783806"/>
            <a:ext cx="7105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3A2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Rotational Schedule:</a:t>
            </a:r>
            <a:r>
              <a:rPr lang="en-US" sz="1200" b="0" i="0" u="none" strike="noStrike" cap="none">
                <a:solidFill>
                  <a:srgbClr val="3D443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Build a 3-year crop matching matrix to balance seasonal labor peaks.</a:t>
            </a:r>
            <a:endParaRPr/>
          </a:p>
        </p:txBody>
      </p:sp>
      <p:pic>
        <p:nvPicPr>
          <p:cNvPr id="987" name="Google Shape;987;p5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38500" y="313134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5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38500" y="3474243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38500" y="3817143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52"/>
          <p:cNvSpPr/>
          <p:nvPr/>
        </p:nvSpPr>
        <p:spPr>
          <a:xfrm>
            <a:off x="10763250" y="0"/>
            <a:ext cx="1428750" cy="76200"/>
          </a:xfrm>
          <a:prstGeom prst="rect">
            <a:avLst/>
          </a:prstGeom>
          <a:solidFill>
            <a:srgbClr val="D49B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3364</Words>
  <Application>Microsoft Office PowerPoint</Application>
  <PresentationFormat>Widescreen</PresentationFormat>
  <Paragraphs>387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Plus Jakarta Sans</vt:lpstr>
      <vt:lpstr>Calibri</vt:lpstr>
      <vt:lpstr>Plus Jakarta Sans SemiBold</vt:lpstr>
      <vt:lpstr>Merriweather</vt:lpstr>
      <vt:lpstr>Arial</vt:lpstr>
      <vt:lpstr>Plus Jakarta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Bwalya Mutale</cp:lastModifiedBy>
  <cp:revision>2</cp:revision>
  <dcterms:modified xsi:type="dcterms:W3CDTF">2026-05-17T08:35:42Z</dcterms:modified>
</cp:coreProperties>
</file>