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embeddedFontLst>
    <p:embeddedFont>
      <p:font typeface="DM Sans" panose="020F0502020204030204" pitchFamily="2" charset="0"/>
      <p:regular r:id="rId35"/>
      <p:bold r:id="rId36"/>
      <p:italic r:id="rId37"/>
      <p:boldItalic r:id="rId38"/>
    </p:embeddedFont>
    <p:embeddedFont>
      <p:font typeface="DM Sans Medium" panose="020F0502020204030204" pitchFamily="2" charset="0"/>
      <p:regular r:id="rId39"/>
      <p:bold r:id="rId40"/>
      <p:italic r:id="rId41"/>
      <p:boldItalic r:id="rId42"/>
    </p:embeddedFont>
    <p:embeddedFont>
      <p:font typeface="DM Sans SemiBold" panose="020B0604020202020204" charset="0"/>
      <p:regular r:id="rId43"/>
      <p:bold r:id="rId44"/>
      <p:italic r:id="rId45"/>
      <p:boldItalic r:id="rId46"/>
    </p:embeddedFont>
    <p:embeddedFont>
      <p:font typeface="Merriweather" panose="020F0502020204030204" pitchFamily="2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BFF0B81-5BEF-4FE2-8410-1A7A1A33FA04}">
  <a:tblStyle styleId="{ABFF0B81-5BEF-4FE2-8410-1A7A1A33FA0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604837" y="2778195"/>
            <a:ext cx="1098232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chemeClr val="accent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Kapasa Makasa University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5381625" y="2443162"/>
            <a:ext cx="142875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51579" y="3486151"/>
            <a:ext cx="116014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800" dirty="0">
                <a:solidFill>
                  <a:srgbClr val="14362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Agriculture &amp; Forestry Governance in Zambia</a:t>
            </a:r>
            <a:endParaRPr lang="en-US" sz="28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186237"/>
            <a:ext cx="11049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14362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B.Mutale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735470"/>
            <a:ext cx="110490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Department of Agriculture and Aquatic Sciences</a:t>
            </a:r>
            <a:endParaRPr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9FAD46-35D5-B184-1983-391F9A7FB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316" y="485977"/>
            <a:ext cx="2865368" cy="24447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5619750" y="857250"/>
            <a:ext cx="9525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295275" y="1181100"/>
            <a:ext cx="116014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DFCF0"/>
                </a:solidFill>
                <a:latin typeface="Merriweather"/>
                <a:ea typeface="Merriweather"/>
                <a:cs typeface="Merriweather"/>
                <a:sym typeface="Merriweather"/>
              </a:rPr>
              <a:t>The Dynamics of Land Regulation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21336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Introduction to Statutory Oversight and Conflict Reduction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068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673548"/>
            <a:ext cx="5238750" cy="23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Competing Land Uses in Zambia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571500" y="2673548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Key Drivers of Competition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667500" y="3197423"/>
            <a:ext cx="4667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"Land use planning is legally governed, not discretionary. It ensures sustainability and conflict reduction through structured frameworks."</a:t>
            </a:r>
            <a:endParaRPr dirty="0"/>
          </a:p>
        </p:txBody>
      </p:sp>
      <p:sp>
        <p:nvSpPr>
          <p:cNvPr id="109" name="Google Shape;109;p15"/>
          <p:cNvSpPr txBox="1"/>
          <p:nvPr/>
        </p:nvSpPr>
        <p:spPr>
          <a:xfrm>
            <a:off x="1000125" y="3045023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Intensive Agricultural Expansion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000125" y="3540323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Biodiversity and Forest Preservation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000125" y="4035623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Urban and Peri-Urban Settlement Growth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1000125" y="4530923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Infrastructure and Resource Extraction</a:t>
            </a:r>
            <a:endParaRPr/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4502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4032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3562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530923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59235"/>
            <a:ext cx="349240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459235"/>
            <a:ext cx="3492549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459235"/>
            <a:ext cx="3492400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Learning Objectives</a:t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2792610"/>
            <a:ext cx="29209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857250" y="3364110"/>
            <a:ext cx="306694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Legal Provisions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57250" y="3849885"/>
            <a:ext cx="2920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Detail the mechanisms of the Agricultural Lands Act and Forests Act.</a:t>
            </a:r>
            <a:endParaRPr/>
          </a:p>
        </p:txBody>
      </p:sp>
      <p:pic>
        <p:nvPicPr>
          <p:cNvPr id="130" name="Google Shape;13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35400" y="2792610"/>
            <a:ext cx="292104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4635400" y="3364110"/>
            <a:ext cx="306710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Governance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635400" y="3849885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Identify institutional roles and administrative structures in land oversight.</a:t>
            </a:r>
            <a:endParaRPr/>
          </a:p>
        </p:txBody>
      </p:sp>
      <p:pic>
        <p:nvPicPr>
          <p:cNvPr id="133" name="Google Shape;13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13700" y="2792610"/>
            <a:ext cx="29209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8413700" y="3364110"/>
            <a:ext cx="306694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GIS Application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413700" y="3849885"/>
            <a:ext cx="2920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Analyze how spatial data supports legal compliance in planning.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762000" y="571500"/>
            <a:ext cx="11401425" cy="55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Agricultural Lands Act</a:t>
            </a:r>
            <a:r>
              <a:rPr lang="en-US" sz="3300" b="1" i="0" u="none" strike="noStrike" cap="none" dirty="0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 Cap 187</a:t>
            </a:r>
            <a:endParaRPr dirty="0"/>
          </a:p>
        </p:txBody>
      </p:sp>
      <p:sp>
        <p:nvSpPr>
          <p:cNvPr id="142" name="Google Shape;142;p17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4488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6810375" y="2097285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Enacted in 1960: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Part of major land administration reforms.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810375" y="2897385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Post-Colonial Needs: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Addressed the transition of land settlement schemes.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810375" y="3697485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Structural Order: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Designed to provide a regulated agricultural development path.</a:t>
            </a:r>
            <a:endParaRPr/>
          </a:p>
        </p:txBody>
      </p:sp>
      <p:pic>
        <p:nvPicPr>
          <p:cNvPr id="147" name="Google Shape;14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9728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89738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69748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59235"/>
            <a:ext cx="349240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459235"/>
            <a:ext cx="3492549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459235"/>
            <a:ext cx="3492400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Purpose of the Act (Cap 187)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2792610"/>
            <a:ext cx="29209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857250" y="3364110"/>
            <a:ext cx="306694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Prevent Speculation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857250" y="3849885"/>
            <a:ext cx="2920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Ensuring land is not held for purely financial gain without active production.</a:t>
            </a:r>
            <a:endParaRPr/>
          </a:p>
        </p:txBody>
      </p:sp>
      <p:pic>
        <p:nvPicPr>
          <p:cNvPr id="163" name="Google Shape;163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35400" y="2792610"/>
            <a:ext cx="292104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4635400" y="3364110"/>
            <a:ext cx="306710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Efficient Production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4635400" y="3849885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Promoting structured agricultural systems for national food security.</a:t>
            </a:r>
            <a:endParaRPr/>
          </a:p>
        </p:txBody>
      </p:sp>
      <p:pic>
        <p:nvPicPr>
          <p:cNvPr id="166" name="Google Shape;166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13700" y="2792610"/>
            <a:ext cx="29209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8413700" y="3364110"/>
            <a:ext cx="306694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Tenure Security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413700" y="3849885"/>
            <a:ext cx="2920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Establishing clear rules for leasing, allocation, and land rights.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Tenure Instruments Under the Act</a:t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6" name="Google Shape;176;p19"/>
          <p:cNvGraphicFramePr/>
          <p:nvPr/>
        </p:nvGraphicFramePr>
        <p:xfrm>
          <a:off x="571500" y="2559248"/>
          <a:ext cx="11049025" cy="2771800"/>
        </p:xfrm>
        <a:graphic>
          <a:graphicData uri="http://schemas.openxmlformats.org/drawingml/2006/table">
            <a:tbl>
              <a:tblPr firstRow="1" bandRow="1">
                <a:noFill/>
                <a:tableStyleId>{ABFF0B81-5BEF-4FE2-8410-1A7A1A33FA04}</a:tableStyleId>
              </a:tblPr>
              <a:tblGrid>
                <a:gridCol w="228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Tenure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36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Nature of Interest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36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Typical Duration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3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State Lease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Time-bound land use right subject to conditions.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30 Years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State Grant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36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Stronger ownership interest issued by the state.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36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Indefinite (subject to terms)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3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Tenancy Scheme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Small-scale or specialized production unit rights.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Variable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7" name="Google Shape;177;p19"/>
          <p:cNvSpPr/>
          <p:nvPr/>
        </p:nvSpPr>
        <p:spPr>
          <a:xfrm>
            <a:off x="571500" y="3926085"/>
            <a:ext cx="228748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2858988" y="3926085"/>
            <a:ext cx="545231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8311306" y="3926085"/>
            <a:ext cx="3309193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571500" y="4621410"/>
            <a:ext cx="228748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2858988" y="4621410"/>
            <a:ext cx="545231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8311306" y="4621410"/>
            <a:ext cx="3309193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571500" y="5316735"/>
            <a:ext cx="228748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2858988" y="5316735"/>
            <a:ext cx="545231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8311306" y="5316735"/>
            <a:ext cx="3309193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44985"/>
            <a:ext cx="523875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744985"/>
            <a:ext cx="5238750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Key Legal Definitions</a:t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857250" y="3078360"/>
            <a:ext cx="490061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Agricultural Purposes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857250" y="3564135"/>
            <a:ext cx="4667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Legally includes the cultivation of crops, livestock raising, and dedicated grazing or stock raising activities.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6667500" y="3078360"/>
            <a:ext cx="490061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Holding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6667500" y="3564135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Defined as an allocated unit specifically designated for agricultural production within a planned scheme.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Agricultural Lands Board</a:t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6381750" y="194488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Composition</a:t>
            </a:r>
            <a:endParaRPr/>
          </a:p>
        </p:txBody>
      </p:sp>
      <p:pic>
        <p:nvPicPr>
          <p:cNvPr id="207" name="Google Shape;20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4488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6810375" y="2316360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Chairperson: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Appointed by the Minister (Non-Public Officer).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6810375" y="311646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Public Sector: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Three officials from relevant ministries.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810375" y="3611760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Farmer Stakeholders: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Reps from Zambia National Farmers Union (ZNFU).</a:t>
            </a:r>
            <a:endParaRPr/>
          </a:p>
        </p:txBody>
      </p:sp>
      <p:pic>
        <p:nvPicPr>
          <p:cNvPr id="211" name="Google Shape;211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31636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11646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61176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59235"/>
            <a:ext cx="349240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459235"/>
            <a:ext cx="3492549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459235"/>
            <a:ext cx="3492400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Functions of the Board</a:t>
            </a: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2792610"/>
            <a:ext cx="29209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857250" y="3364110"/>
            <a:ext cx="306694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Suitability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857250" y="3849885"/>
            <a:ext cx="2920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Evaluating land allocation requests based on agricultural potential.</a:t>
            </a:r>
            <a:endParaRPr/>
          </a:p>
        </p:txBody>
      </p:sp>
      <p:pic>
        <p:nvPicPr>
          <p:cNvPr id="227" name="Google Shape;227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35400" y="2792610"/>
            <a:ext cx="292104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4635400" y="3364110"/>
            <a:ext cx="306710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Advisory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4635400" y="3849885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Providing policy guidance to the Minister regarding land distribution.</a:t>
            </a:r>
            <a:endParaRPr/>
          </a:p>
        </p:txBody>
      </p:sp>
      <p:pic>
        <p:nvPicPr>
          <p:cNvPr id="230" name="Google Shape;230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13700" y="2792610"/>
            <a:ext cx="29209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8413700" y="3364110"/>
            <a:ext cx="306694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Compliance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8413700" y="3849885"/>
            <a:ext cx="2920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Monitoring whether lessees meet mandated development targets.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The Land Alienation Process</a:t>
            </a:r>
            <a:endParaRPr/>
          </a:p>
        </p:txBody>
      </p:sp>
      <p:sp>
        <p:nvSpPr>
          <p:cNvPr id="239" name="Google Shape;239;p23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71500" y="4211835"/>
            <a:ext cx="110490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510733" y="3245048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President</a:t>
            </a:r>
            <a:endParaRPr/>
          </a:p>
        </p:txBody>
      </p:sp>
      <p:sp>
        <p:nvSpPr>
          <p:cNvPr id="242" name="Google Shape;242;p23"/>
          <p:cNvSpPr/>
          <p:nvPr/>
        </p:nvSpPr>
        <p:spPr>
          <a:xfrm>
            <a:off x="1596330" y="3749873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4362B"/>
          </a:solidFill>
          <a:ln w="57150" cap="flat" cmpd="sng">
            <a:solidFill>
              <a:srgbClr val="FDF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571500" y="4416623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Holds ultimate authority over land.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3383413" y="3245048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Board Review</a:t>
            </a:r>
            <a:endParaRPr/>
          </a:p>
        </p:txBody>
      </p:sp>
      <p:sp>
        <p:nvSpPr>
          <p:cNvPr id="245" name="Google Shape;245;p23"/>
          <p:cNvSpPr/>
          <p:nvPr/>
        </p:nvSpPr>
        <p:spPr>
          <a:xfrm>
            <a:off x="4469010" y="3749873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4362B"/>
          </a:solidFill>
          <a:ln w="57150" cap="flat" cmpd="sng">
            <a:solidFill>
              <a:srgbClr val="FDF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 txBox="1"/>
          <p:nvPr/>
        </p:nvSpPr>
        <p:spPr>
          <a:xfrm>
            <a:off x="3444180" y="4416623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Technical evaluation of the applicant.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6256094" y="3245048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Allotment</a:t>
            </a:r>
            <a:endParaRPr/>
          </a:p>
        </p:txBody>
      </p:sp>
      <p:sp>
        <p:nvSpPr>
          <p:cNvPr id="248" name="Google Shape;248;p23"/>
          <p:cNvSpPr/>
          <p:nvPr/>
        </p:nvSpPr>
        <p:spPr>
          <a:xfrm>
            <a:off x="7341691" y="3749873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4362B"/>
          </a:solidFill>
          <a:ln w="57150" cap="flat" cmpd="sng">
            <a:solidFill>
              <a:srgbClr val="FDF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 txBox="1"/>
          <p:nvPr/>
        </p:nvSpPr>
        <p:spPr>
          <a:xfrm>
            <a:off x="6316860" y="4416623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Publication of farm boundaries.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9128774" y="3245048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Lease Issued</a:t>
            </a:r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10214371" y="3749873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4362B"/>
          </a:solidFill>
          <a:ln w="57150" cap="flat" cmpd="sng">
            <a:solidFill>
              <a:srgbClr val="FDF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9189541" y="4416623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Formal legal transfer of rights.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4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Planning Agricultural Schemes</a:t>
            </a:r>
            <a:endParaRPr/>
          </a:p>
        </p:txBody>
      </p:sp>
      <p:sp>
        <p:nvSpPr>
          <p:cNvPr id="259" name="Google Shape;259;p24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4488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4"/>
          <p:cNvSpPr txBox="1"/>
          <p:nvPr/>
        </p:nvSpPr>
        <p:spPr>
          <a:xfrm>
            <a:off x="1000125" y="2097285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Suitability Assessment: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Analyzing soil, slope, and rainfall.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1000125" y="2897385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Economic Units: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Designing farm sizes that ensure financial viability.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1000125" y="3697485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Infrastructure: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Mapping roads, water access, and service centers.</a:t>
            </a:r>
            <a:endParaRPr/>
          </a:p>
        </p:txBody>
      </p:sp>
      <p:pic>
        <p:nvPicPr>
          <p:cNvPr id="264" name="Google Shape;26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9728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89738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9748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44985"/>
            <a:ext cx="349240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744985"/>
            <a:ext cx="3492549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744985"/>
            <a:ext cx="3492400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5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Allotment Plans &amp; Transparency</a:t>
            </a:r>
            <a:endParaRPr/>
          </a:p>
        </p:txBody>
      </p:sp>
      <p:sp>
        <p:nvSpPr>
          <p:cNvPr id="276" name="Google Shape;276;p25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 txBox="1"/>
          <p:nvPr/>
        </p:nvSpPr>
        <p:spPr>
          <a:xfrm>
            <a:off x="857250" y="3078360"/>
            <a:ext cx="306694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Boundaries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857250" y="3564135"/>
            <a:ext cx="2920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Precise mapping of farm parcel layouts and access points.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4635400" y="3078360"/>
            <a:ext cx="306710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Conditions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4635400" y="3564135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Specifying required land use and development milestones.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8413700" y="3078360"/>
            <a:ext cx="306694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Public Display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8413700" y="3564135"/>
            <a:ext cx="2920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Ensuring transparency through Gazette notices and public inspection.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6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Key Lease Metrics</a:t>
            </a:r>
            <a:endParaRPr/>
          </a:p>
        </p:txBody>
      </p:sp>
      <p:sp>
        <p:nvSpPr>
          <p:cNvPr id="289" name="Google Shape;289;p26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6"/>
          <p:cNvSpPr txBox="1"/>
          <p:nvPr/>
        </p:nvSpPr>
        <p:spPr>
          <a:xfrm>
            <a:off x="571500" y="2983110"/>
            <a:ext cx="52387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D4AF37"/>
                </a:solidFill>
                <a:latin typeface="DM Sans"/>
                <a:ea typeface="DM Sans"/>
                <a:cs typeface="DM Sans"/>
                <a:sym typeface="DM Sans"/>
              </a:rPr>
              <a:t>30</a:t>
            </a:r>
            <a:endParaRPr/>
          </a:p>
        </p:txBody>
      </p:sp>
      <p:sp>
        <p:nvSpPr>
          <p:cNvPr id="291" name="Google Shape;291;p26"/>
          <p:cNvSpPr txBox="1"/>
          <p:nvPr/>
        </p:nvSpPr>
        <p:spPr>
          <a:xfrm>
            <a:off x="571500" y="4316610"/>
            <a:ext cx="52387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4362B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Years of Tenure</a:t>
            </a:r>
            <a:endParaRPr/>
          </a:p>
        </p:txBody>
      </p:sp>
      <p:sp>
        <p:nvSpPr>
          <p:cNvPr id="292" name="Google Shape;292;p26"/>
          <p:cNvSpPr txBox="1"/>
          <p:nvPr/>
        </p:nvSpPr>
        <p:spPr>
          <a:xfrm>
            <a:off x="6381750" y="3092648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Standard Lease Duration</a:t>
            </a:r>
            <a:endParaRPr/>
          </a:p>
        </p:txBody>
      </p:sp>
      <p:sp>
        <p:nvSpPr>
          <p:cNvPr id="293" name="Google Shape;293;p26"/>
          <p:cNvSpPr txBox="1"/>
          <p:nvPr/>
        </p:nvSpPr>
        <p:spPr>
          <a:xfrm>
            <a:off x="6381750" y="3502223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The Act provides a 30-year window to encourage long-term capital investment while allowing the state to periodically review land utilization and compliance.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7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Applicant Evaluation Criteria</a:t>
            </a:r>
            <a:endParaRPr/>
          </a:p>
        </p:txBody>
      </p:sp>
      <p:sp>
        <p:nvSpPr>
          <p:cNvPr id="300" name="Google Shape;300;p27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1" name="Google Shape;301;p27"/>
          <p:cNvGraphicFramePr/>
          <p:nvPr/>
        </p:nvGraphicFramePr>
        <p:xfrm>
          <a:off x="571500" y="2211585"/>
          <a:ext cx="11049000" cy="3467125"/>
        </p:xfrm>
        <a:graphic>
          <a:graphicData uri="http://schemas.openxmlformats.org/drawingml/2006/table">
            <a:tbl>
              <a:tblPr firstRow="1" bandRow="1">
                <a:noFill/>
                <a:tableStyleId>{ABFF0B81-5BEF-4FE2-8410-1A7A1A33FA04}</a:tableStyleId>
              </a:tblPr>
              <a:tblGrid>
                <a:gridCol w="283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6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Metric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36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Requirement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3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Financial Capacity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36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Proof of funds for farm development and operations.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3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Experience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Technical farming knowledge or prior agricultural success.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Integrity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36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Clear history of legal and commercial compliance.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3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Integrity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Evaluation of applicant capability to manage the specific holding.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2" name="Google Shape;302;p27"/>
          <p:cNvSpPr/>
          <p:nvPr/>
        </p:nvSpPr>
        <p:spPr>
          <a:xfrm>
            <a:off x="571500" y="3578423"/>
            <a:ext cx="283264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7"/>
          <p:cNvSpPr/>
          <p:nvPr/>
        </p:nvSpPr>
        <p:spPr>
          <a:xfrm>
            <a:off x="3404145" y="3578423"/>
            <a:ext cx="821635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7"/>
          <p:cNvSpPr/>
          <p:nvPr/>
        </p:nvSpPr>
        <p:spPr>
          <a:xfrm>
            <a:off x="571500" y="4273748"/>
            <a:ext cx="283264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7"/>
          <p:cNvSpPr/>
          <p:nvPr/>
        </p:nvSpPr>
        <p:spPr>
          <a:xfrm>
            <a:off x="3404145" y="4273748"/>
            <a:ext cx="821635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7"/>
          <p:cNvSpPr/>
          <p:nvPr/>
        </p:nvSpPr>
        <p:spPr>
          <a:xfrm>
            <a:off x="571500" y="4969073"/>
            <a:ext cx="283264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7"/>
          <p:cNvSpPr/>
          <p:nvPr/>
        </p:nvSpPr>
        <p:spPr>
          <a:xfrm>
            <a:off x="3404145" y="4969073"/>
            <a:ext cx="821635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7"/>
          <p:cNvSpPr/>
          <p:nvPr/>
        </p:nvSpPr>
        <p:spPr>
          <a:xfrm>
            <a:off x="571500" y="5664398"/>
            <a:ext cx="283264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7"/>
          <p:cNvSpPr/>
          <p:nvPr/>
        </p:nvSpPr>
        <p:spPr>
          <a:xfrm>
            <a:off x="3404145" y="5664398"/>
            <a:ext cx="821635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8"/>
          <p:cNvSpPr txBox="1"/>
          <p:nvPr/>
        </p:nvSpPr>
        <p:spPr>
          <a:xfrm>
            <a:off x="571500" y="1312515"/>
            <a:ext cx="5200650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Beneficial Occupation</a:t>
            </a:r>
            <a:endParaRPr/>
          </a:p>
        </p:txBody>
      </p:sp>
      <p:sp>
        <p:nvSpPr>
          <p:cNvPr id="316" name="Google Shape;316;p28"/>
          <p:cNvSpPr txBox="1"/>
          <p:nvPr/>
        </p:nvSpPr>
        <p:spPr>
          <a:xfrm>
            <a:off x="571500" y="234493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The "Use it or Lose it" Principle:</a:t>
            </a:r>
            <a:endParaRPr/>
          </a:p>
        </p:txBody>
      </p:sp>
      <p:pic>
        <p:nvPicPr>
          <p:cNvPr id="317" name="Google Shape;317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8"/>
          <p:cNvSpPr txBox="1"/>
          <p:nvPr/>
        </p:nvSpPr>
        <p:spPr>
          <a:xfrm>
            <a:off x="1000125" y="299263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Active Use: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Mandatory development of crops or livestock.</a:t>
            </a:r>
            <a:endParaRPr/>
          </a:p>
        </p:txBody>
      </p:sp>
      <p:sp>
        <p:nvSpPr>
          <p:cNvPr id="319" name="Google Shape;319;p28"/>
          <p:cNvSpPr txBox="1"/>
          <p:nvPr/>
        </p:nvSpPr>
        <p:spPr>
          <a:xfrm>
            <a:off x="1000125" y="379273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Infrastructure: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Requirement to build dwellings, fences, or storage.</a:t>
            </a:r>
            <a:endParaRPr/>
          </a:p>
        </p:txBody>
      </p:sp>
      <p:sp>
        <p:nvSpPr>
          <p:cNvPr id="320" name="Google Shape;320;p28"/>
          <p:cNvSpPr txBox="1"/>
          <p:nvPr/>
        </p:nvSpPr>
        <p:spPr>
          <a:xfrm>
            <a:off x="1000125" y="459283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Residency: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Often required for scheme-based allocations.</a:t>
            </a:r>
            <a:endParaRPr/>
          </a:p>
        </p:txBody>
      </p:sp>
      <p:pic>
        <p:nvPicPr>
          <p:cNvPr id="321" name="Google Shape;321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9263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9273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59283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1524000" y="2224087"/>
            <a:ext cx="91440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1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 "Idle land triggers revocation. The state reserves the right to re-enter any holding that is not productively occupied for the benefit of the nation." </a:t>
            </a:r>
            <a:endParaRPr/>
          </a:p>
        </p:txBody>
      </p:sp>
      <p:sp>
        <p:nvSpPr>
          <p:cNvPr id="330" name="Google Shape;330;p29"/>
          <p:cNvSpPr txBox="1"/>
          <p:nvPr/>
        </p:nvSpPr>
        <p:spPr>
          <a:xfrm>
            <a:off x="1143000" y="4795837"/>
            <a:ext cx="99060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u="none" strike="noStrike" cap="none">
                <a:solidFill>
                  <a:srgbClr val="D4AF37"/>
                </a:solidFill>
                <a:latin typeface="DM Sans"/>
                <a:ea typeface="DM Sans"/>
                <a:cs typeface="DM Sans"/>
                <a:sym typeface="DM Sans"/>
              </a:rPr>
              <a:t>— Section 36, Agricultural Lands Act</a:t>
            </a:r>
            <a:endParaRPr/>
          </a:p>
        </p:txBody>
      </p:sp>
      <p:sp>
        <p:nvSpPr>
          <p:cNvPr id="331" name="Google Shape;331;p29"/>
          <p:cNvSpPr txBox="1"/>
          <p:nvPr/>
        </p:nvSpPr>
        <p:spPr>
          <a:xfrm>
            <a:off x="1143000" y="1143000"/>
            <a:ext cx="99060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1" u="none" strike="noStrike" cap="none">
                <a:solidFill>
                  <a:srgbClr val="D4AF37"/>
                </a:solidFill>
                <a:latin typeface="DM Sans"/>
                <a:ea typeface="DM Sans"/>
                <a:cs typeface="DM Sans"/>
                <a:sym typeface="DM Sans"/>
              </a:rPr>
              <a:t>— Section 36, Agricultural Lands Act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0"/>
          <p:cNvSpPr/>
          <p:nvPr/>
        </p:nvSpPr>
        <p:spPr>
          <a:xfrm>
            <a:off x="5619750" y="857250"/>
            <a:ext cx="9525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0"/>
          <p:cNvSpPr txBox="1"/>
          <p:nvPr/>
        </p:nvSpPr>
        <p:spPr>
          <a:xfrm>
            <a:off x="295275" y="1181100"/>
            <a:ext cx="116014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DFCF0"/>
                </a:solidFill>
                <a:latin typeface="Merriweather"/>
                <a:ea typeface="Merriweather"/>
                <a:cs typeface="Merriweather"/>
                <a:sym typeface="Merriweather"/>
              </a:rPr>
              <a:t>Sustainable Forest Management</a:t>
            </a:r>
            <a:endParaRPr/>
          </a:p>
        </p:txBody>
      </p:sp>
      <p:sp>
        <p:nvSpPr>
          <p:cNvPr id="340" name="Google Shape;340;p30"/>
          <p:cNvSpPr txBox="1"/>
          <p:nvPr/>
        </p:nvSpPr>
        <p:spPr>
          <a:xfrm>
            <a:off x="571500" y="2133600"/>
            <a:ext cx="1104900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rPr>
              <a:t>The Forests Act No. 4 of 2015</a:t>
            </a:r>
            <a:endParaRPr sz="28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97385"/>
            <a:ext cx="34924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897385"/>
            <a:ext cx="349254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897385"/>
            <a:ext cx="34924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1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Context of the 2015 Act</a:t>
            </a:r>
            <a:endParaRPr/>
          </a:p>
        </p:txBody>
      </p:sp>
      <p:sp>
        <p:nvSpPr>
          <p:cNvPr id="350" name="Google Shape;350;p31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1"/>
          <p:cNvSpPr txBox="1"/>
          <p:nvPr/>
        </p:nvSpPr>
        <p:spPr>
          <a:xfrm>
            <a:off x="857250" y="3230760"/>
            <a:ext cx="306694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Degradation</a:t>
            </a:r>
            <a:endParaRPr/>
          </a:p>
        </p:txBody>
      </p:sp>
      <p:sp>
        <p:nvSpPr>
          <p:cNvPr id="352" name="Google Shape;352;p31"/>
          <p:cNvSpPr txBox="1"/>
          <p:nvPr/>
        </p:nvSpPr>
        <p:spPr>
          <a:xfrm>
            <a:off x="857250" y="3716535"/>
            <a:ext cx="2920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Response to increased charcoal demand and deforestation rates.</a:t>
            </a:r>
            <a:endParaRPr/>
          </a:p>
        </p:txBody>
      </p:sp>
      <p:sp>
        <p:nvSpPr>
          <p:cNvPr id="353" name="Google Shape;353;p31"/>
          <p:cNvSpPr txBox="1"/>
          <p:nvPr/>
        </p:nvSpPr>
        <p:spPr>
          <a:xfrm>
            <a:off x="4635400" y="3230760"/>
            <a:ext cx="306710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Devolution</a:t>
            </a:r>
            <a:endParaRPr/>
          </a:p>
        </p:txBody>
      </p:sp>
      <p:sp>
        <p:nvSpPr>
          <p:cNvPr id="354" name="Google Shape;354;p31"/>
          <p:cNvSpPr txBox="1"/>
          <p:nvPr/>
        </p:nvSpPr>
        <p:spPr>
          <a:xfrm>
            <a:off x="4635400" y="3716535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Stronger focus on community-led forestry management (CFM).</a:t>
            </a:r>
            <a:endParaRPr/>
          </a:p>
        </p:txBody>
      </p:sp>
      <p:sp>
        <p:nvSpPr>
          <p:cNvPr id="355" name="Google Shape;355;p31"/>
          <p:cNvSpPr txBox="1"/>
          <p:nvPr/>
        </p:nvSpPr>
        <p:spPr>
          <a:xfrm>
            <a:off x="8413700" y="3230760"/>
            <a:ext cx="306694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Climate</a:t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8413700" y="3716535"/>
            <a:ext cx="2920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Integrating global standards for carbon stock management.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2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Ownership of Trees</a:t>
            </a:r>
            <a:endParaRPr/>
          </a:p>
        </p:txBody>
      </p:sp>
      <p:sp>
        <p:nvSpPr>
          <p:cNvPr id="363" name="Google Shape;363;p32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2"/>
          <p:cNvSpPr txBox="1"/>
          <p:nvPr/>
        </p:nvSpPr>
        <p:spPr>
          <a:xfrm>
            <a:off x="571500" y="2983110"/>
            <a:ext cx="52387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D4AF37"/>
                </a:solidFill>
                <a:latin typeface="DM Sans"/>
                <a:ea typeface="DM Sans"/>
                <a:cs typeface="DM Sans"/>
                <a:sym typeface="DM Sans"/>
              </a:rPr>
              <a:t>100%</a:t>
            </a:r>
            <a:endParaRPr/>
          </a:p>
        </p:txBody>
      </p:sp>
      <p:sp>
        <p:nvSpPr>
          <p:cNvPr id="365" name="Google Shape;365;p32"/>
          <p:cNvSpPr txBox="1"/>
          <p:nvPr/>
        </p:nvSpPr>
        <p:spPr>
          <a:xfrm>
            <a:off x="571500" y="4316610"/>
            <a:ext cx="52387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4362B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Vested in President</a:t>
            </a:r>
            <a:endParaRPr/>
          </a:p>
        </p:txBody>
      </p:sp>
      <p:sp>
        <p:nvSpPr>
          <p:cNvPr id="366" name="Google Shape;366;p32"/>
          <p:cNvSpPr txBox="1"/>
          <p:nvPr/>
        </p:nvSpPr>
        <p:spPr>
          <a:xfrm>
            <a:off x="6381750" y="3092648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State Authority</a:t>
            </a:r>
            <a:endParaRPr/>
          </a:p>
        </p:txBody>
      </p:sp>
      <p:sp>
        <p:nvSpPr>
          <p:cNvPr id="367" name="Google Shape;367;p32"/>
          <p:cNvSpPr txBox="1"/>
          <p:nvPr/>
        </p:nvSpPr>
        <p:spPr>
          <a:xfrm>
            <a:off x="6381750" y="3502223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Trees across all land categories (State, Customary, Private) are vested in the President. Permission is mandatory for felling, regardless of land tenure.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25835"/>
            <a:ext cx="5238750" cy="384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3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The Forestry Department</a:t>
            </a:r>
            <a:endParaRPr/>
          </a:p>
        </p:txBody>
      </p:sp>
      <p:sp>
        <p:nvSpPr>
          <p:cNvPr id="375" name="Google Shape;375;p33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3"/>
          <p:cNvSpPr txBox="1"/>
          <p:nvPr/>
        </p:nvSpPr>
        <p:spPr>
          <a:xfrm>
            <a:off x="571500" y="497383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The lead institution for enforcing protection and issuing harvesting licenses.</a:t>
            </a:r>
            <a:endParaRPr/>
          </a:p>
        </p:txBody>
      </p:sp>
      <p:sp>
        <p:nvSpPr>
          <p:cNvPr id="377" name="Google Shape;377;p33"/>
          <p:cNvSpPr txBox="1"/>
          <p:nvPr/>
        </p:nvSpPr>
        <p:spPr>
          <a:xfrm>
            <a:off x="6667500" y="2259210"/>
            <a:ext cx="490061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Core Responsibilities</a:t>
            </a:r>
            <a:endParaRPr/>
          </a:p>
        </p:txBody>
      </p:sp>
      <p:pic>
        <p:nvPicPr>
          <p:cNvPr id="378" name="Google Shape;378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925835"/>
            <a:ext cx="523875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3"/>
          <p:cNvSpPr txBox="1"/>
          <p:nvPr/>
        </p:nvSpPr>
        <p:spPr>
          <a:xfrm>
            <a:off x="7096125" y="2706885"/>
            <a:ext cx="423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Management of Protected Forest Reserves.</a:t>
            </a:r>
            <a:endParaRPr/>
          </a:p>
        </p:txBody>
      </p:sp>
      <p:sp>
        <p:nvSpPr>
          <p:cNvPr id="380" name="Google Shape;380;p33"/>
          <p:cNvSpPr txBox="1"/>
          <p:nvPr/>
        </p:nvSpPr>
        <p:spPr>
          <a:xfrm>
            <a:off x="7096125" y="3202185"/>
            <a:ext cx="423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Conducting inspections and patrols.</a:t>
            </a:r>
            <a:endParaRPr/>
          </a:p>
        </p:txBody>
      </p:sp>
      <p:sp>
        <p:nvSpPr>
          <p:cNvPr id="381" name="Google Shape;381;p33"/>
          <p:cNvSpPr txBox="1"/>
          <p:nvPr/>
        </p:nvSpPr>
        <p:spPr>
          <a:xfrm>
            <a:off x="7096125" y="3697485"/>
            <a:ext cx="423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Monitoring biodiversity and conservation.</a:t>
            </a:r>
            <a:endParaRPr/>
          </a:p>
        </p:txBody>
      </p:sp>
      <p:pic>
        <p:nvPicPr>
          <p:cNvPr id="382" name="Google Shape;382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0" y="270688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0" y="320218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0" y="369748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13420"/>
            <a:ext cx="11049000" cy="4873079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34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Statutory Forest Categories</a:t>
            </a:r>
            <a:endParaRPr/>
          </a:p>
        </p:txBody>
      </p:sp>
      <p:sp>
        <p:nvSpPr>
          <p:cNvPr id="392" name="Google Shape;392;p34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35"/>
          <p:cNvSpPr txBox="1"/>
          <p:nvPr/>
        </p:nvSpPr>
        <p:spPr>
          <a:xfrm>
            <a:off x="6667500" y="1617315"/>
            <a:ext cx="5200650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National Forests</a:t>
            </a:r>
            <a:endParaRPr/>
          </a:p>
        </p:txBody>
      </p:sp>
      <p:sp>
        <p:nvSpPr>
          <p:cNvPr id="400" name="Google Shape;400;p35"/>
          <p:cNvSpPr txBox="1"/>
          <p:nvPr/>
        </p:nvSpPr>
        <p:spPr>
          <a:xfrm>
            <a:off x="6667500" y="264973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Highest status of legal protection:</a:t>
            </a:r>
            <a:endParaRPr/>
          </a:p>
        </p:txBody>
      </p:sp>
      <p:sp>
        <p:nvSpPr>
          <p:cNvPr id="401" name="Google Shape;401;p35"/>
          <p:cNvSpPr txBox="1"/>
          <p:nvPr/>
        </p:nvSpPr>
        <p:spPr>
          <a:xfrm>
            <a:off x="7096125" y="3297435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Conservation: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Priority for biodiversity hotspots.</a:t>
            </a:r>
            <a:endParaRPr/>
          </a:p>
        </p:txBody>
      </p:sp>
      <p:sp>
        <p:nvSpPr>
          <p:cNvPr id="402" name="Google Shape;402;p35"/>
          <p:cNvSpPr txBox="1"/>
          <p:nvPr/>
        </p:nvSpPr>
        <p:spPr>
          <a:xfrm>
            <a:off x="7096125" y="3792735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Water Catchments: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Protecting vital river sources.</a:t>
            </a:r>
            <a:endParaRPr/>
          </a:p>
        </p:txBody>
      </p:sp>
      <p:sp>
        <p:nvSpPr>
          <p:cNvPr id="403" name="Google Shape;403;p35"/>
          <p:cNvSpPr txBox="1"/>
          <p:nvPr/>
        </p:nvSpPr>
        <p:spPr>
          <a:xfrm>
            <a:off x="7096125" y="428803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Access: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Entry and activities strictly prohibited without permit.</a:t>
            </a:r>
            <a:endParaRPr/>
          </a:p>
        </p:txBody>
      </p:sp>
      <p:pic>
        <p:nvPicPr>
          <p:cNvPr id="404" name="Google Shape;404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0" y="329743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0" y="379273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0" y="428803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6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Community Forestry (CFM)</a:t>
            </a:r>
            <a:endParaRPr/>
          </a:p>
        </p:txBody>
      </p:sp>
      <p:sp>
        <p:nvSpPr>
          <p:cNvPr id="413" name="Google Shape;413;p36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4" name="Google Shape;414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4488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6"/>
          <p:cNvSpPr txBox="1"/>
          <p:nvPr/>
        </p:nvSpPr>
        <p:spPr>
          <a:xfrm>
            <a:off x="1000125" y="2097285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Registered Groups: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Managed by recognized community forest groups.</a:t>
            </a:r>
            <a:endParaRPr/>
          </a:p>
        </p:txBody>
      </p:sp>
      <p:sp>
        <p:nvSpPr>
          <p:cNvPr id="416" name="Google Shape;416;p36"/>
          <p:cNvSpPr txBox="1"/>
          <p:nvPr/>
        </p:nvSpPr>
        <p:spPr>
          <a:xfrm>
            <a:off x="1000125" y="2897385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Benefit-Sharing: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Allowed use of forest resources for livelihoods.</a:t>
            </a:r>
            <a:endParaRPr/>
          </a:p>
        </p:txBody>
      </p:sp>
      <p:sp>
        <p:nvSpPr>
          <p:cNvPr id="417" name="Google Shape;417;p36"/>
          <p:cNvSpPr txBox="1"/>
          <p:nvPr/>
        </p:nvSpPr>
        <p:spPr>
          <a:xfrm>
            <a:off x="1000125" y="3697485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Co-Management: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Shared governance with the Forestry Department.</a:t>
            </a:r>
            <a:endParaRPr/>
          </a:p>
        </p:txBody>
      </p:sp>
      <p:pic>
        <p:nvPicPr>
          <p:cNvPr id="418" name="Google Shape;418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9728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89738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9748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44985"/>
            <a:ext cx="349240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744985"/>
            <a:ext cx="3492549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744985"/>
            <a:ext cx="3492400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7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Other Forest Categories</a:t>
            </a:r>
            <a:endParaRPr/>
          </a:p>
        </p:txBody>
      </p:sp>
      <p:sp>
        <p:nvSpPr>
          <p:cNvPr id="430" name="Google Shape;430;p37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7"/>
          <p:cNvSpPr txBox="1"/>
          <p:nvPr/>
        </p:nvSpPr>
        <p:spPr>
          <a:xfrm>
            <a:off x="857250" y="3078360"/>
            <a:ext cx="306694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Botanical Reserves</a:t>
            </a:r>
            <a:endParaRPr/>
          </a:p>
        </p:txBody>
      </p:sp>
      <p:sp>
        <p:nvSpPr>
          <p:cNvPr id="432" name="Google Shape;432;p37"/>
          <p:cNvSpPr txBox="1"/>
          <p:nvPr/>
        </p:nvSpPr>
        <p:spPr>
          <a:xfrm>
            <a:off x="857250" y="3564135"/>
            <a:ext cx="2920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Strict zones for rare species and scientific research importance.</a:t>
            </a:r>
            <a:endParaRPr/>
          </a:p>
        </p:txBody>
      </p:sp>
      <p:sp>
        <p:nvSpPr>
          <p:cNvPr id="433" name="Google Shape;433;p37"/>
          <p:cNvSpPr txBox="1"/>
          <p:nvPr/>
        </p:nvSpPr>
        <p:spPr>
          <a:xfrm>
            <a:off x="4635400" y="3078360"/>
            <a:ext cx="306710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Private Forests</a:t>
            </a:r>
            <a:endParaRPr/>
          </a:p>
        </p:txBody>
      </p:sp>
      <p:sp>
        <p:nvSpPr>
          <p:cNvPr id="434" name="Google Shape;434;p37"/>
          <p:cNvSpPr txBox="1"/>
          <p:nvPr/>
        </p:nvSpPr>
        <p:spPr>
          <a:xfrm>
            <a:off x="4635400" y="3564135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Registered for commercial timber or carbon credit production.</a:t>
            </a:r>
            <a:endParaRPr/>
          </a:p>
        </p:txBody>
      </p:sp>
      <p:sp>
        <p:nvSpPr>
          <p:cNvPr id="435" name="Google Shape;435;p37"/>
          <p:cNvSpPr txBox="1"/>
          <p:nvPr/>
        </p:nvSpPr>
        <p:spPr>
          <a:xfrm>
            <a:off x="8413700" y="3078360"/>
            <a:ext cx="306694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Local Forests</a:t>
            </a:r>
            <a:endParaRPr/>
          </a:p>
        </p:txBody>
      </p:sp>
      <p:sp>
        <p:nvSpPr>
          <p:cNvPr id="436" name="Google Shape;436;p37"/>
          <p:cNvSpPr txBox="1"/>
          <p:nvPr/>
        </p:nvSpPr>
        <p:spPr>
          <a:xfrm>
            <a:off x="8413700" y="3564135"/>
            <a:ext cx="2920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Protection of local ecosystems and community resource buffers.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13420"/>
            <a:ext cx="11049000" cy="4873079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8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Deforestation Trends in Zambia</a:t>
            </a:r>
            <a:endParaRPr/>
          </a:p>
        </p:txBody>
      </p:sp>
      <p:sp>
        <p:nvSpPr>
          <p:cNvPr id="444" name="Google Shape;444;p38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8"/>
          <p:cNvSpPr txBox="1"/>
          <p:nvPr/>
        </p:nvSpPr>
        <p:spPr>
          <a:xfrm>
            <a:off x="571500" y="1905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Forest Cover Loss Over Time (Illustrative Trend):</a:t>
            </a:r>
            <a:endParaRPr/>
          </a:p>
        </p:txBody>
      </p:sp>
      <p:sp>
        <p:nvSpPr>
          <p:cNvPr id="446" name="Google Shape;446;p38"/>
          <p:cNvSpPr txBox="1"/>
          <p:nvPr/>
        </p:nvSpPr>
        <p:spPr>
          <a:xfrm>
            <a:off x="571500" y="5638800"/>
            <a:ext cx="110490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Drivers: Agricultural expansion, Charcoal production, and Settlement pressure.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39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Licensing &amp; Enforcement</a:t>
            </a:r>
            <a:endParaRPr/>
          </a:p>
        </p:txBody>
      </p:sp>
      <p:sp>
        <p:nvSpPr>
          <p:cNvPr id="453" name="Google Shape;453;p39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4" name="Google Shape;454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4488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9"/>
          <p:cNvSpPr txBox="1"/>
          <p:nvPr/>
        </p:nvSpPr>
        <p:spPr>
          <a:xfrm>
            <a:off x="6381750" y="194488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Strict Regulation</a:t>
            </a:r>
            <a:endParaRPr/>
          </a:p>
        </p:txBody>
      </p:sp>
      <p:sp>
        <p:nvSpPr>
          <p:cNvPr id="456" name="Google Shape;456;p39"/>
          <p:cNvSpPr txBox="1"/>
          <p:nvPr/>
        </p:nvSpPr>
        <p:spPr>
          <a:xfrm>
            <a:off x="6810375" y="2316360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Timber Harvesting: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License required for felling and transport.</a:t>
            </a:r>
            <a:endParaRPr/>
          </a:p>
        </p:txBody>
      </p:sp>
      <p:sp>
        <p:nvSpPr>
          <p:cNvPr id="457" name="Google Shape;457;p39"/>
          <p:cNvSpPr txBox="1"/>
          <p:nvPr/>
        </p:nvSpPr>
        <p:spPr>
          <a:xfrm>
            <a:off x="6810375" y="3116460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Charcoal: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Mandatory licenses for production and trade.</a:t>
            </a:r>
            <a:endParaRPr/>
          </a:p>
        </p:txBody>
      </p:sp>
      <p:sp>
        <p:nvSpPr>
          <p:cNvPr id="458" name="Google Shape;458;p39"/>
          <p:cNvSpPr txBox="1"/>
          <p:nvPr/>
        </p:nvSpPr>
        <p:spPr>
          <a:xfrm>
            <a:off x="6810375" y="3916560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Penalties: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 Fines, imprisonment, and forfeiture of machinery.</a:t>
            </a:r>
            <a:endParaRPr/>
          </a:p>
        </p:txBody>
      </p:sp>
      <p:pic>
        <p:nvPicPr>
          <p:cNvPr id="459" name="Google Shape;459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31636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11646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91656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49635"/>
            <a:ext cx="52387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49635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40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GIS in Compliance Monitoring</a:t>
            </a:r>
            <a:endParaRPr/>
          </a:p>
        </p:txBody>
      </p:sp>
      <p:sp>
        <p:nvSpPr>
          <p:cNvPr id="470" name="Google Shape;470;p40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40"/>
          <p:cNvSpPr txBox="1"/>
          <p:nvPr/>
        </p:nvSpPr>
        <p:spPr>
          <a:xfrm>
            <a:off x="857250" y="4278510"/>
            <a:ext cx="490061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Spatial Integrity</a:t>
            </a:r>
            <a:endParaRPr/>
          </a:p>
        </p:txBody>
      </p:sp>
      <p:sp>
        <p:nvSpPr>
          <p:cNvPr id="472" name="Google Shape;472;p40"/>
          <p:cNvSpPr txBox="1"/>
          <p:nvPr/>
        </p:nvSpPr>
        <p:spPr>
          <a:xfrm>
            <a:off x="857250" y="4764285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Using satellite data to detect illegal encroachment and monitor farm development adherence.</a:t>
            </a:r>
            <a:endParaRPr/>
          </a:p>
        </p:txBody>
      </p:sp>
      <p:sp>
        <p:nvSpPr>
          <p:cNvPr id="473" name="Google Shape;473;p40"/>
          <p:cNvSpPr txBox="1"/>
          <p:nvPr/>
        </p:nvSpPr>
        <p:spPr>
          <a:xfrm>
            <a:off x="6667500" y="2183010"/>
            <a:ext cx="490061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Applications</a:t>
            </a:r>
            <a:endParaRPr/>
          </a:p>
        </p:txBody>
      </p:sp>
      <p:pic>
        <p:nvPicPr>
          <p:cNvPr id="474" name="Google Shape;474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2183010"/>
            <a:ext cx="466725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40"/>
          <p:cNvSpPr txBox="1"/>
          <p:nvPr/>
        </p:nvSpPr>
        <p:spPr>
          <a:xfrm>
            <a:off x="7096125" y="2630685"/>
            <a:ext cx="423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Mapping Forest Reserve Boundaries.</a:t>
            </a:r>
            <a:endParaRPr/>
          </a:p>
        </p:txBody>
      </p:sp>
      <p:sp>
        <p:nvSpPr>
          <p:cNvPr id="476" name="Google Shape;476;p40"/>
          <p:cNvSpPr txBox="1"/>
          <p:nvPr/>
        </p:nvSpPr>
        <p:spPr>
          <a:xfrm>
            <a:off x="7096125" y="3125985"/>
            <a:ext cx="423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Zoning for Agricultural Schemes.</a:t>
            </a:r>
            <a:endParaRPr/>
          </a:p>
        </p:txBody>
      </p:sp>
      <p:sp>
        <p:nvSpPr>
          <p:cNvPr id="477" name="Google Shape;477;p40"/>
          <p:cNvSpPr txBox="1"/>
          <p:nvPr/>
        </p:nvSpPr>
        <p:spPr>
          <a:xfrm>
            <a:off x="7096125" y="3621285"/>
            <a:ext cx="4238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Analyzing Change in Land Cover.</a:t>
            </a:r>
            <a:endParaRPr/>
          </a:p>
        </p:txBody>
      </p:sp>
      <p:pic>
        <p:nvPicPr>
          <p:cNvPr id="478" name="Google Shape;478;p4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0" y="263068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4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0" y="312598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4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0" y="362128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744985"/>
            <a:ext cx="5238750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41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Resolving Land Use Conflicts</a:t>
            </a:r>
            <a:endParaRPr/>
          </a:p>
        </p:txBody>
      </p:sp>
      <p:sp>
        <p:nvSpPr>
          <p:cNvPr id="488" name="Google Shape;488;p41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41"/>
          <p:cNvSpPr txBox="1"/>
          <p:nvPr/>
        </p:nvSpPr>
        <p:spPr>
          <a:xfrm>
            <a:off x="571500" y="274498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Common Conflict Zones</a:t>
            </a:r>
            <a:endParaRPr/>
          </a:p>
        </p:txBody>
      </p:sp>
      <p:sp>
        <p:nvSpPr>
          <p:cNvPr id="490" name="Google Shape;490;p41"/>
          <p:cNvSpPr txBox="1"/>
          <p:nvPr/>
        </p:nvSpPr>
        <p:spPr>
          <a:xfrm>
            <a:off x="6667500" y="3078360"/>
            <a:ext cx="490061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Resolution Strategies</a:t>
            </a:r>
            <a:endParaRPr/>
          </a:p>
        </p:txBody>
      </p:sp>
      <p:sp>
        <p:nvSpPr>
          <p:cNvPr id="491" name="Google Shape;491;p41"/>
          <p:cNvSpPr txBox="1"/>
          <p:nvPr/>
        </p:nvSpPr>
        <p:spPr>
          <a:xfrm>
            <a:off x="6667500" y="3564135"/>
            <a:ext cx="4667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Integration of multi-agency decision making and spatial planning ensures that development does not come at the cost of sustainability.</a:t>
            </a:r>
            <a:endParaRPr/>
          </a:p>
        </p:txBody>
      </p:sp>
      <p:sp>
        <p:nvSpPr>
          <p:cNvPr id="492" name="Google Shape;492;p41"/>
          <p:cNvSpPr txBox="1"/>
          <p:nvPr/>
        </p:nvSpPr>
        <p:spPr>
          <a:xfrm>
            <a:off x="1000125" y="313551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Encroachment for subsistence farming.</a:t>
            </a:r>
            <a:endParaRPr/>
          </a:p>
        </p:txBody>
      </p:sp>
      <p:sp>
        <p:nvSpPr>
          <p:cNvPr id="493" name="Google Shape;493;p41"/>
          <p:cNvSpPr txBox="1"/>
          <p:nvPr/>
        </p:nvSpPr>
        <p:spPr>
          <a:xfrm>
            <a:off x="1000125" y="363081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Illegal logging in protected water towers.</a:t>
            </a:r>
            <a:endParaRPr/>
          </a:p>
        </p:txBody>
      </p:sp>
      <p:sp>
        <p:nvSpPr>
          <p:cNvPr id="494" name="Google Shape;494;p41"/>
          <p:cNvSpPr txBox="1"/>
          <p:nvPr/>
        </p:nvSpPr>
        <p:spPr>
          <a:xfrm>
            <a:off x="1000125" y="412611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Charcoal driving landscape degradation.</a:t>
            </a:r>
            <a:endParaRPr/>
          </a:p>
        </p:txBody>
      </p:sp>
      <p:pic>
        <p:nvPicPr>
          <p:cNvPr id="495" name="Google Shape;495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3551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3081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2611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" name="Google Shape;502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2"/>
          <p:cNvSpPr txBox="1"/>
          <p:nvPr/>
        </p:nvSpPr>
        <p:spPr>
          <a:xfrm>
            <a:off x="295275" y="1677292"/>
            <a:ext cx="11601450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</a:t>
            </a:r>
            <a:endParaRPr/>
          </a:p>
        </p:txBody>
      </p:sp>
      <p:sp>
        <p:nvSpPr>
          <p:cNvPr id="505" name="Google Shape;505;p42"/>
          <p:cNvSpPr txBox="1"/>
          <p:nvPr/>
        </p:nvSpPr>
        <p:spPr>
          <a:xfrm>
            <a:off x="571500" y="3001267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4362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Questions &amp; Discussion</a:t>
            </a:r>
            <a:endParaRPr/>
          </a:p>
        </p:txBody>
      </p:sp>
      <p:sp>
        <p:nvSpPr>
          <p:cNvPr id="506" name="Google Shape;506;p42"/>
          <p:cNvSpPr/>
          <p:nvPr/>
        </p:nvSpPr>
        <p:spPr>
          <a:xfrm>
            <a:off x="5381625" y="4075658"/>
            <a:ext cx="142875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42"/>
          <p:cNvSpPr txBox="1"/>
          <p:nvPr/>
        </p:nvSpPr>
        <p:spPr>
          <a:xfrm>
            <a:off x="571500" y="4685258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Kapasa Makasa University | Land Use Planning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Google Shape;512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3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514" name="Google Shape;514;p43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43"/>
          <p:cNvSpPr/>
          <p:nvPr/>
        </p:nvSpPr>
        <p:spPr>
          <a:xfrm>
            <a:off x="571500" y="141342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43"/>
          <p:cNvSpPr/>
          <p:nvPr/>
        </p:nvSpPr>
        <p:spPr>
          <a:xfrm>
            <a:off x="571500" y="219819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43"/>
          <p:cNvSpPr/>
          <p:nvPr/>
        </p:nvSpPr>
        <p:spPr>
          <a:xfrm>
            <a:off x="571500" y="298296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43"/>
          <p:cNvSpPr/>
          <p:nvPr/>
        </p:nvSpPr>
        <p:spPr>
          <a:xfrm>
            <a:off x="571500" y="376773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43"/>
          <p:cNvSpPr/>
          <p:nvPr/>
        </p:nvSpPr>
        <p:spPr>
          <a:xfrm>
            <a:off x="571500" y="4552503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43"/>
          <p:cNvSpPr/>
          <p:nvPr/>
        </p:nvSpPr>
        <p:spPr>
          <a:xfrm>
            <a:off x="571500" y="21886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43"/>
          <p:cNvSpPr/>
          <p:nvPr/>
        </p:nvSpPr>
        <p:spPr>
          <a:xfrm>
            <a:off x="571500" y="21886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43"/>
          <p:cNvSpPr/>
          <p:nvPr/>
        </p:nvSpPr>
        <p:spPr>
          <a:xfrm>
            <a:off x="571500" y="29734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43"/>
          <p:cNvSpPr/>
          <p:nvPr/>
        </p:nvSpPr>
        <p:spPr>
          <a:xfrm>
            <a:off x="571500" y="29734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43"/>
          <p:cNvSpPr/>
          <p:nvPr/>
        </p:nvSpPr>
        <p:spPr>
          <a:xfrm>
            <a:off x="571500" y="375820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43"/>
          <p:cNvSpPr/>
          <p:nvPr/>
        </p:nvSpPr>
        <p:spPr>
          <a:xfrm>
            <a:off x="571500" y="375820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43"/>
          <p:cNvSpPr/>
          <p:nvPr/>
        </p:nvSpPr>
        <p:spPr>
          <a:xfrm>
            <a:off x="571500" y="454297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43"/>
          <p:cNvSpPr/>
          <p:nvPr/>
        </p:nvSpPr>
        <p:spPr>
          <a:xfrm>
            <a:off x="571500" y="454297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43"/>
          <p:cNvSpPr/>
          <p:nvPr/>
        </p:nvSpPr>
        <p:spPr>
          <a:xfrm>
            <a:off x="571500" y="552583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43"/>
          <p:cNvSpPr/>
          <p:nvPr/>
        </p:nvSpPr>
        <p:spPr>
          <a:xfrm>
            <a:off x="571500" y="552583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0" name="Google Shape;530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6284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43"/>
          <p:cNvSpPr txBox="1"/>
          <p:nvPr/>
        </p:nvSpPr>
        <p:spPr>
          <a:xfrm>
            <a:off x="1666875" y="155629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https://www.parliament.gov.zm/sites/default/files/styles/carousel_image/public/field/image/WhatsApp%20Image%202026-05-06%20at%2014.00.34.jpeg?itok=y8cx9TO5</a:t>
            </a:r>
            <a:endParaRPr/>
          </a:p>
        </p:txBody>
      </p:sp>
      <p:sp>
        <p:nvSpPr>
          <p:cNvPr id="532" name="Google Shape;532;p43"/>
          <p:cNvSpPr txBox="1"/>
          <p:nvPr/>
        </p:nvSpPr>
        <p:spPr>
          <a:xfrm>
            <a:off x="1666875" y="180201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www.parliament.gov.zm</a:t>
            </a:r>
            <a:endParaRPr/>
          </a:p>
        </p:txBody>
      </p:sp>
      <p:pic>
        <p:nvPicPr>
          <p:cNvPr id="533" name="Google Shape;533;p4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34761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43"/>
          <p:cNvSpPr txBox="1"/>
          <p:nvPr/>
        </p:nvSpPr>
        <p:spPr>
          <a:xfrm>
            <a:off x="1666875" y="234106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https://www.finelib.com/images/events/2067_IMAGE.jpg</a:t>
            </a:r>
            <a:endParaRPr/>
          </a:p>
        </p:txBody>
      </p:sp>
      <p:sp>
        <p:nvSpPr>
          <p:cNvPr id="535" name="Google Shape;535;p43"/>
          <p:cNvSpPr txBox="1"/>
          <p:nvPr/>
        </p:nvSpPr>
        <p:spPr>
          <a:xfrm>
            <a:off x="1666875" y="258678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www.finelib.com</a:t>
            </a:r>
            <a:endParaRPr/>
          </a:p>
        </p:txBody>
      </p:sp>
      <p:pic>
        <p:nvPicPr>
          <p:cNvPr id="536" name="Google Shape;536;p4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13238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43"/>
          <p:cNvSpPr txBox="1"/>
          <p:nvPr/>
        </p:nvSpPr>
        <p:spPr>
          <a:xfrm>
            <a:off x="1666875" y="312583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https://saskpulse.com/wp-content/uploads/2023/04/Examples-of-tools-commonly-used-for-soil-sampling.png</a:t>
            </a:r>
            <a:endParaRPr/>
          </a:p>
        </p:txBody>
      </p:sp>
      <p:sp>
        <p:nvSpPr>
          <p:cNvPr id="538" name="Google Shape;538;p43"/>
          <p:cNvSpPr txBox="1"/>
          <p:nvPr/>
        </p:nvSpPr>
        <p:spPr>
          <a:xfrm>
            <a:off x="1666875" y="337155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saskpulse.com</a:t>
            </a:r>
            <a:endParaRPr/>
          </a:p>
        </p:txBody>
      </p:sp>
      <p:pic>
        <p:nvPicPr>
          <p:cNvPr id="539" name="Google Shape;539;p4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91715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43"/>
          <p:cNvSpPr txBox="1"/>
          <p:nvPr/>
        </p:nvSpPr>
        <p:spPr>
          <a:xfrm>
            <a:off x="1666875" y="391060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https://www.global-agriculture.com/wp-content/uploads/2026/04/Untitled-1-copy-296-768x427.jpg</a:t>
            </a:r>
            <a:endParaRPr/>
          </a:p>
        </p:txBody>
      </p:sp>
      <p:sp>
        <p:nvSpPr>
          <p:cNvPr id="541" name="Google Shape;541;p43"/>
          <p:cNvSpPr txBox="1"/>
          <p:nvPr/>
        </p:nvSpPr>
        <p:spPr>
          <a:xfrm>
            <a:off x="1666875" y="415632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www.global-agriculture.com</a:t>
            </a:r>
            <a:endParaRPr/>
          </a:p>
        </p:txBody>
      </p:sp>
      <p:pic>
        <p:nvPicPr>
          <p:cNvPr id="542" name="Google Shape;542;p4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80104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43"/>
          <p:cNvSpPr txBox="1"/>
          <p:nvPr/>
        </p:nvSpPr>
        <p:spPr>
          <a:xfrm>
            <a:off x="1666875" y="4695378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https://media.gettyimages.com/id/1269842636/photo/aerial-view-on-the-green-bush-land-in-the-lower-zanbezi-area-in-zambia.jpg?s=612x612&amp;w=gi&amp;k=20&amp;c=b8JLuYY8M0vpIIDWWp4f08HrRyr35qy1_dp7STJ_cR8=</a:t>
            </a:r>
            <a:endParaRPr/>
          </a:p>
        </p:txBody>
      </p:sp>
      <p:sp>
        <p:nvSpPr>
          <p:cNvPr id="544" name="Google Shape;544;p43"/>
          <p:cNvSpPr txBox="1"/>
          <p:nvPr/>
        </p:nvSpPr>
        <p:spPr>
          <a:xfrm>
            <a:off x="1666875" y="513918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www.gettyimages.fi</a:t>
            </a:r>
            <a:endParaRPr/>
          </a:p>
        </p:txBody>
      </p:sp>
      <p:pic>
        <p:nvPicPr>
          <p:cNvPr id="545" name="Google Shape;545;p4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56847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3"/>
          <p:cNvSpPr txBox="1"/>
          <p:nvPr/>
        </p:nvSpPr>
        <p:spPr>
          <a:xfrm>
            <a:off x="1666875" y="567823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https://zambia.unfpa.org/sites/default/files/styles/original/public/news/untitled_1000_x_560_px_24.png?itok=LtX-X_PR</a:t>
            </a:r>
            <a:endParaRPr/>
          </a:p>
        </p:txBody>
      </p:sp>
      <p:sp>
        <p:nvSpPr>
          <p:cNvPr id="547" name="Google Shape;547;p43"/>
          <p:cNvSpPr txBox="1"/>
          <p:nvPr/>
        </p:nvSpPr>
        <p:spPr>
          <a:xfrm>
            <a:off x="1666875" y="592395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zambia.unfpa.org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4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4362B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554" name="Google Shape;554;p44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44"/>
          <p:cNvSpPr/>
          <p:nvPr/>
        </p:nvSpPr>
        <p:spPr>
          <a:xfrm>
            <a:off x="571500" y="306987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44"/>
          <p:cNvSpPr/>
          <p:nvPr/>
        </p:nvSpPr>
        <p:spPr>
          <a:xfrm>
            <a:off x="571500" y="384512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44"/>
          <p:cNvSpPr/>
          <p:nvPr/>
        </p:nvSpPr>
        <p:spPr>
          <a:xfrm>
            <a:off x="571500" y="384512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8" name="Google Shape;558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1930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44"/>
          <p:cNvSpPr txBox="1"/>
          <p:nvPr/>
        </p:nvSpPr>
        <p:spPr>
          <a:xfrm>
            <a:off x="1666875" y="321275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https://www.policyalternatives.ca/wp-content/uploads/2025/04/pn_mar2023_logging-trucks.jpg</a:t>
            </a:r>
            <a:endParaRPr/>
          </a:p>
        </p:txBody>
      </p:sp>
      <p:sp>
        <p:nvSpPr>
          <p:cNvPr id="560" name="Google Shape;560;p44"/>
          <p:cNvSpPr txBox="1"/>
          <p:nvPr/>
        </p:nvSpPr>
        <p:spPr>
          <a:xfrm>
            <a:off x="1666875" y="345846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www.policyalternatives.ca</a:t>
            </a:r>
            <a:endParaRPr/>
          </a:p>
        </p:txBody>
      </p:sp>
      <p:pic>
        <p:nvPicPr>
          <p:cNvPr id="561" name="Google Shape;561;p4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0407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44"/>
          <p:cNvSpPr txBox="1"/>
          <p:nvPr/>
        </p:nvSpPr>
        <p:spPr>
          <a:xfrm>
            <a:off x="1666875" y="399752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https://www.mdpi.com/sustainability/sustainability-13-01234/article_deploy/html/images/sustainability-13-01234-g003-550.jpg</a:t>
            </a:r>
            <a:endParaRPr/>
          </a:p>
        </p:txBody>
      </p:sp>
      <p:sp>
        <p:nvSpPr>
          <p:cNvPr id="563" name="Google Shape;563;p44"/>
          <p:cNvSpPr txBox="1"/>
          <p:nvPr/>
        </p:nvSpPr>
        <p:spPr>
          <a:xfrm>
            <a:off x="1666875" y="424323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4495E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www.mdpi.com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1277</Words>
  <Application>Microsoft Office PowerPoint</Application>
  <PresentationFormat>Widescreen</PresentationFormat>
  <Paragraphs>185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Merriweather</vt:lpstr>
      <vt:lpstr>DM Sans SemiBold</vt:lpstr>
      <vt:lpstr>DM Sans</vt:lpstr>
      <vt:lpstr>Arial</vt:lpstr>
      <vt:lpstr>DM Sans Medium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MUMWENSI MUMWENSI</dc:creator>
  <cp:lastModifiedBy>MAPENZI MUMWENSI</cp:lastModifiedBy>
  <cp:revision>3</cp:revision>
  <dcterms:modified xsi:type="dcterms:W3CDTF">2026-07-07T14:08:26Z</dcterms:modified>
</cp:coreProperties>
</file>