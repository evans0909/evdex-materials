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4"/>
  </p:notesMasterIdLst>
  <p:sldIdLst>
    <p:sldId id="308" r:id="rId2"/>
    <p:sldId id="293" r:id="rId3"/>
    <p:sldId id="259" r:id="rId4"/>
    <p:sldId id="270" r:id="rId5"/>
    <p:sldId id="281" r:id="rId6"/>
    <p:sldId id="344" r:id="rId7"/>
    <p:sldId id="260" r:id="rId8"/>
    <p:sldId id="282" r:id="rId9"/>
    <p:sldId id="319" r:id="rId10"/>
    <p:sldId id="321" r:id="rId11"/>
    <p:sldId id="322" r:id="rId12"/>
    <p:sldId id="349" r:id="rId13"/>
    <p:sldId id="269" r:id="rId14"/>
    <p:sldId id="262" r:id="rId15"/>
    <p:sldId id="280" r:id="rId16"/>
    <p:sldId id="283" r:id="rId17"/>
    <p:sldId id="272" r:id="rId18"/>
    <p:sldId id="273" r:id="rId19"/>
    <p:sldId id="346" r:id="rId20"/>
    <p:sldId id="347" r:id="rId21"/>
    <p:sldId id="274" r:id="rId22"/>
    <p:sldId id="275" r:id="rId23"/>
    <p:sldId id="276" r:id="rId24"/>
    <p:sldId id="277" r:id="rId25"/>
    <p:sldId id="278" r:id="rId26"/>
    <p:sldId id="285" r:id="rId27"/>
    <p:sldId id="295" r:id="rId28"/>
    <p:sldId id="286" r:id="rId29"/>
    <p:sldId id="287" r:id="rId30"/>
    <p:sldId id="288" r:id="rId31"/>
    <p:sldId id="338" r:id="rId32"/>
    <p:sldId id="339" r:id="rId33"/>
    <p:sldId id="340" r:id="rId34"/>
    <p:sldId id="341" r:id="rId35"/>
    <p:sldId id="342" r:id="rId36"/>
    <p:sldId id="350" r:id="rId37"/>
    <p:sldId id="268" r:id="rId38"/>
    <p:sldId id="351" r:id="rId39"/>
    <p:sldId id="352" r:id="rId40"/>
    <p:sldId id="279" r:id="rId41"/>
    <p:sldId id="294" r:id="rId42"/>
    <p:sldId id="353"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792" autoAdjust="0"/>
  </p:normalViewPr>
  <p:slideViewPr>
    <p:cSldViewPr snapToGrid="0">
      <p:cViewPr varScale="1">
        <p:scale>
          <a:sx n="62" d="100"/>
          <a:sy n="62" d="100"/>
        </p:scale>
        <p:origin x="82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D99989-D66D-47AB-BF9E-663F7504DAAE}" type="datetimeFigureOut">
              <a:rPr lang="en-US" smtClean="0"/>
              <a:t>3/20/2026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99170E-19CD-40D1-BD25-9F37691B20C0}" type="slidenum">
              <a:rPr lang="en-US" smtClean="0"/>
              <a:t>‹#›</a:t>
            </a:fld>
            <a:endParaRPr lang="en-US"/>
          </a:p>
        </p:txBody>
      </p:sp>
    </p:spTree>
    <p:extLst>
      <p:ext uri="{BB962C8B-B14F-4D97-AF65-F5344CB8AC3E}">
        <p14:creationId xmlns:p14="http://schemas.microsoft.com/office/powerpoint/2010/main" val="202501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27AEE659-E1C1-4959-8006-C7F19194396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a:extLst>
              <a:ext uri="{FF2B5EF4-FFF2-40B4-BE49-F238E27FC236}">
                <a16:creationId xmlns:a16="http://schemas.microsoft.com/office/drawing/2014/main" id="{16854AE0-D50E-490C-8F23-47C504FBD59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268" name="Slide Number Placeholder 3">
            <a:extLst>
              <a:ext uri="{FF2B5EF4-FFF2-40B4-BE49-F238E27FC236}">
                <a16:creationId xmlns:a16="http://schemas.microsoft.com/office/drawing/2014/main" id="{D28A0683-54D8-4C0E-84C5-9184B4AF504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70AFB34C-480C-4A9A-A867-60ACA64864DB}" type="slidenum">
              <a:rPr lang="en-US" altLang="en-US" smtClean="0">
                <a:latin typeface="Arial" panose="020B0604020202020204" pitchFamily="34" charset="0"/>
              </a:rPr>
              <a:pPr>
                <a:spcBef>
                  <a:spcPct val="0"/>
                </a:spcBef>
              </a:pPr>
              <a:t>3</a:t>
            </a:fld>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B6D2FE17-3CB3-4FAF-B13B-2DAEB47A8F8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a:extLst>
              <a:ext uri="{FF2B5EF4-FFF2-40B4-BE49-F238E27FC236}">
                <a16:creationId xmlns:a16="http://schemas.microsoft.com/office/drawing/2014/main" id="{6FADEB5C-C6AB-4051-8D19-FFA1E3533A7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9220" name="Slide Number Placeholder 3">
            <a:extLst>
              <a:ext uri="{FF2B5EF4-FFF2-40B4-BE49-F238E27FC236}">
                <a16:creationId xmlns:a16="http://schemas.microsoft.com/office/drawing/2014/main" id="{F2C1DA4E-0C0C-4CAB-8333-7AFEA450A77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85B6BBA-3CDE-4ACA-BD34-42751BB8ED7F}" type="slidenum">
              <a:rPr lang="en-US" altLang="en-US" smtClean="0">
                <a:latin typeface="Arial" panose="020B0604020202020204" pitchFamily="34" charset="0"/>
              </a:rPr>
              <a:pPr>
                <a:spcBef>
                  <a:spcPct val="0"/>
                </a:spcBef>
              </a:pPr>
              <a:t>4</a:t>
            </a:fld>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E99170E-19CD-40D1-BD25-9F37691B20C0}" type="slidenum">
              <a:rPr lang="en-US" smtClean="0"/>
              <a:t>5</a:t>
            </a:fld>
            <a:endParaRPr lang="en-US"/>
          </a:p>
        </p:txBody>
      </p:sp>
    </p:spTree>
    <p:extLst>
      <p:ext uri="{BB962C8B-B14F-4D97-AF65-F5344CB8AC3E}">
        <p14:creationId xmlns:p14="http://schemas.microsoft.com/office/powerpoint/2010/main" val="18553919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E99170E-19CD-40D1-BD25-9F37691B20C0}" type="slidenum">
              <a:rPr lang="en-US" smtClean="0"/>
              <a:t>6</a:t>
            </a:fld>
            <a:endParaRPr lang="en-US"/>
          </a:p>
        </p:txBody>
      </p:sp>
    </p:spTree>
    <p:extLst>
      <p:ext uri="{BB962C8B-B14F-4D97-AF65-F5344CB8AC3E}">
        <p14:creationId xmlns:p14="http://schemas.microsoft.com/office/powerpoint/2010/main" val="1345197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8E99170E-19CD-40D1-BD25-9F37691B20C0}" type="slidenum">
              <a:rPr lang="en-US" smtClean="0"/>
              <a:t>7</a:t>
            </a:fld>
            <a:endParaRPr lang="en-US"/>
          </a:p>
        </p:txBody>
      </p:sp>
    </p:spTree>
    <p:extLst>
      <p:ext uri="{BB962C8B-B14F-4D97-AF65-F5344CB8AC3E}">
        <p14:creationId xmlns:p14="http://schemas.microsoft.com/office/powerpoint/2010/main" val="37760797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E99170E-19CD-40D1-BD25-9F37691B20C0}" type="slidenum">
              <a:rPr lang="en-US" smtClean="0"/>
              <a:t>9</a:t>
            </a:fld>
            <a:endParaRPr lang="en-US"/>
          </a:p>
        </p:txBody>
      </p:sp>
    </p:spTree>
    <p:extLst>
      <p:ext uri="{BB962C8B-B14F-4D97-AF65-F5344CB8AC3E}">
        <p14:creationId xmlns:p14="http://schemas.microsoft.com/office/powerpoint/2010/main" val="42105414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E99170E-19CD-40D1-BD25-9F37691B20C0}" type="slidenum">
              <a:rPr lang="en-US" smtClean="0"/>
              <a:t>10</a:t>
            </a:fld>
            <a:endParaRPr lang="en-US"/>
          </a:p>
        </p:txBody>
      </p:sp>
    </p:spTree>
    <p:extLst>
      <p:ext uri="{BB962C8B-B14F-4D97-AF65-F5344CB8AC3E}">
        <p14:creationId xmlns:p14="http://schemas.microsoft.com/office/powerpoint/2010/main" val="1930426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E99170E-19CD-40D1-BD25-9F37691B20C0}" type="slidenum">
              <a:rPr lang="en-US" smtClean="0"/>
              <a:t>13</a:t>
            </a:fld>
            <a:endParaRPr lang="en-US"/>
          </a:p>
        </p:txBody>
      </p:sp>
    </p:spTree>
    <p:extLst>
      <p:ext uri="{BB962C8B-B14F-4D97-AF65-F5344CB8AC3E}">
        <p14:creationId xmlns:p14="http://schemas.microsoft.com/office/powerpoint/2010/main" val="6323688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123784F1-1850-4488-8337-6C0902DFC61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Notes Placeholder 2">
            <a:extLst>
              <a:ext uri="{FF2B5EF4-FFF2-40B4-BE49-F238E27FC236}">
                <a16:creationId xmlns:a16="http://schemas.microsoft.com/office/drawing/2014/main" id="{27900BB4-7D01-42AB-A678-B32FE17C375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8436" name="Slide Number Placeholder 3">
            <a:extLst>
              <a:ext uri="{FF2B5EF4-FFF2-40B4-BE49-F238E27FC236}">
                <a16:creationId xmlns:a16="http://schemas.microsoft.com/office/drawing/2014/main" id="{115A96D5-7FA9-4CA2-B1ED-84155816D35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3D4B06A9-1AF8-4A1E-B6E8-003D6D8365B7}" type="slidenum">
              <a:rPr lang="en-US" altLang="en-US" smtClean="0">
                <a:latin typeface="Arial" panose="020B0604020202020204" pitchFamily="34" charset="0"/>
              </a:rPr>
              <a:pPr>
                <a:spcBef>
                  <a:spcPct val="0"/>
                </a:spcBef>
              </a:pPr>
              <a:t>16</a:t>
            </a:fld>
            <a:endParaRPr lang="en-US"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E99170E-19CD-40D1-BD25-9F37691B20C0}" type="slidenum">
              <a:rPr lang="en-US" smtClean="0"/>
              <a:t>19</a:t>
            </a:fld>
            <a:endParaRPr lang="en-US"/>
          </a:p>
        </p:txBody>
      </p:sp>
    </p:spTree>
    <p:extLst>
      <p:ext uri="{BB962C8B-B14F-4D97-AF65-F5344CB8AC3E}">
        <p14:creationId xmlns:p14="http://schemas.microsoft.com/office/powerpoint/2010/main" val="1518282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46FB40E9-66A6-4705-A299-904B8391120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a:extLst>
              <a:ext uri="{FF2B5EF4-FFF2-40B4-BE49-F238E27FC236}">
                <a16:creationId xmlns:a16="http://schemas.microsoft.com/office/drawing/2014/main" id="{7E2E4767-C563-40E0-8E37-28F437E015B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21508" name="Slide Number Placeholder 3">
            <a:extLst>
              <a:ext uri="{FF2B5EF4-FFF2-40B4-BE49-F238E27FC236}">
                <a16:creationId xmlns:a16="http://schemas.microsoft.com/office/drawing/2014/main" id="{D3CD8ED6-B04C-4B56-8729-BFC2895C1DA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B07FAE43-3EC8-44D9-9D9C-258401D017DC}" type="slidenum">
              <a:rPr lang="en-US" altLang="en-US" smtClean="0">
                <a:latin typeface="Arial" panose="020B0604020202020204" pitchFamily="34" charset="0"/>
              </a:rPr>
              <a:pPr>
                <a:spcBef>
                  <a:spcPct val="0"/>
                </a:spcBef>
              </a:pPr>
              <a:t>22</a:t>
            </a:fld>
            <a:endParaRPr lang="en-US"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E99170E-19CD-40D1-BD25-9F37691B20C0}" type="slidenum">
              <a:rPr lang="en-US" smtClean="0"/>
              <a:t>31</a:t>
            </a:fld>
            <a:endParaRPr lang="en-US"/>
          </a:p>
        </p:txBody>
      </p:sp>
    </p:spTree>
    <p:extLst>
      <p:ext uri="{BB962C8B-B14F-4D97-AF65-F5344CB8AC3E}">
        <p14:creationId xmlns:p14="http://schemas.microsoft.com/office/powerpoint/2010/main" val="6048937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E99170E-19CD-40D1-BD25-9F37691B20C0}" type="slidenum">
              <a:rPr lang="en-US" smtClean="0"/>
              <a:t>35</a:t>
            </a:fld>
            <a:endParaRPr lang="en-US"/>
          </a:p>
        </p:txBody>
      </p:sp>
    </p:spTree>
    <p:extLst>
      <p:ext uri="{BB962C8B-B14F-4D97-AF65-F5344CB8AC3E}">
        <p14:creationId xmlns:p14="http://schemas.microsoft.com/office/powerpoint/2010/main" val="41433274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E99170E-19CD-40D1-BD25-9F37691B20C0}" type="slidenum">
              <a:rPr lang="en-US" smtClean="0"/>
              <a:t>37</a:t>
            </a:fld>
            <a:endParaRPr lang="en-US"/>
          </a:p>
        </p:txBody>
      </p:sp>
    </p:spTree>
    <p:extLst>
      <p:ext uri="{BB962C8B-B14F-4D97-AF65-F5344CB8AC3E}">
        <p14:creationId xmlns:p14="http://schemas.microsoft.com/office/powerpoint/2010/main" val="41571954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3FC0CF23-9949-4CA1-BC3C-4B30A56C5F1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es Placeholder 2">
            <a:extLst>
              <a:ext uri="{FF2B5EF4-FFF2-40B4-BE49-F238E27FC236}">
                <a16:creationId xmlns:a16="http://schemas.microsoft.com/office/drawing/2014/main" id="{DA4DBC0D-A1E1-4295-A22E-56C232224EA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40964" name="Slide Number Placeholder 3">
            <a:extLst>
              <a:ext uri="{FF2B5EF4-FFF2-40B4-BE49-F238E27FC236}">
                <a16:creationId xmlns:a16="http://schemas.microsoft.com/office/drawing/2014/main" id="{C2FE57E4-D2E6-4874-8F24-30F63D585BF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5F34D5D-04E3-4140-9398-A447810A2A07}" type="slidenum">
              <a:rPr lang="en-US" altLang="en-US" smtClean="0">
                <a:latin typeface="Arial" panose="020B0604020202020204" pitchFamily="34" charset="0"/>
              </a:rPr>
              <a:pPr>
                <a:spcBef>
                  <a:spcPct val="0"/>
                </a:spcBef>
              </a:pPr>
              <a:t>40</a:t>
            </a:fld>
            <a:endParaRPr lang="en-US" altLang="en-US">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E99170E-19CD-40D1-BD25-9F37691B20C0}" type="slidenum">
              <a:rPr lang="en-US" smtClean="0"/>
              <a:t>42</a:t>
            </a:fld>
            <a:endParaRPr lang="en-US"/>
          </a:p>
        </p:txBody>
      </p:sp>
    </p:spTree>
    <p:extLst>
      <p:ext uri="{BB962C8B-B14F-4D97-AF65-F5344CB8AC3E}">
        <p14:creationId xmlns:p14="http://schemas.microsoft.com/office/powerpoint/2010/main" val="17842979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7">
            <a:extLst>
              <a:ext uri="{FF2B5EF4-FFF2-40B4-BE49-F238E27FC236}">
                <a16:creationId xmlns:a16="http://schemas.microsoft.com/office/drawing/2014/main" id="{6F5DB644-529E-42CE-B5B4-E08CF5467BC8}"/>
              </a:ext>
            </a:extLst>
          </p:cNvPr>
          <p:cNvGrpSpPr>
            <a:grpSpLocks/>
          </p:cNvGrpSpPr>
          <p:nvPr/>
        </p:nvGrpSpPr>
        <p:grpSpPr bwMode="auto">
          <a:xfrm>
            <a:off x="304800" y="2889251"/>
            <a:ext cx="11480800" cy="201613"/>
            <a:chOff x="144" y="1680"/>
            <a:chExt cx="5424" cy="144"/>
          </a:xfrm>
        </p:grpSpPr>
        <p:sp>
          <p:nvSpPr>
            <p:cNvPr id="5" name="Rectangle 8">
              <a:extLst>
                <a:ext uri="{FF2B5EF4-FFF2-40B4-BE49-F238E27FC236}">
                  <a16:creationId xmlns:a16="http://schemas.microsoft.com/office/drawing/2014/main" id="{C838D771-7C7E-421C-9475-3D2C4611D7FE}"/>
                </a:ext>
              </a:extLst>
            </p:cNvPr>
            <p:cNvSpPr>
              <a:spLocks noChangeArrowheads="1"/>
            </p:cNvSpPr>
            <p:nvPr userDrawn="1"/>
          </p:nvSpPr>
          <p:spPr bwMode="auto">
            <a:xfrm>
              <a:off x="144" y="1680"/>
              <a:ext cx="1808" cy="14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defRPr/>
              </a:pPr>
              <a:endParaRPr lang="en-ZA" altLang="en-US" sz="1800"/>
            </a:p>
          </p:txBody>
        </p:sp>
        <p:sp>
          <p:nvSpPr>
            <p:cNvPr id="6" name="Rectangle 9">
              <a:extLst>
                <a:ext uri="{FF2B5EF4-FFF2-40B4-BE49-F238E27FC236}">
                  <a16:creationId xmlns:a16="http://schemas.microsoft.com/office/drawing/2014/main" id="{78F8D199-AA41-49FF-8F9D-01094E22601B}"/>
                </a:ext>
              </a:extLst>
            </p:cNvPr>
            <p:cNvSpPr>
              <a:spLocks noChangeArrowheads="1"/>
            </p:cNvSpPr>
            <p:nvPr userDrawn="1"/>
          </p:nvSpPr>
          <p:spPr bwMode="auto">
            <a:xfrm>
              <a:off x="1952" y="1680"/>
              <a:ext cx="1808" cy="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defRPr/>
              </a:pPr>
              <a:endParaRPr lang="en-ZA" altLang="en-US" sz="1800"/>
            </a:p>
          </p:txBody>
        </p:sp>
        <p:sp>
          <p:nvSpPr>
            <p:cNvPr id="7" name="Rectangle 10">
              <a:extLst>
                <a:ext uri="{FF2B5EF4-FFF2-40B4-BE49-F238E27FC236}">
                  <a16:creationId xmlns:a16="http://schemas.microsoft.com/office/drawing/2014/main" id="{642A0674-6A80-4EE1-9908-53636311B07E}"/>
                </a:ext>
              </a:extLst>
            </p:cNvPr>
            <p:cNvSpPr>
              <a:spLocks noChangeArrowheads="1"/>
            </p:cNvSpPr>
            <p:nvPr userDrawn="1"/>
          </p:nvSpPr>
          <p:spPr bwMode="auto">
            <a:xfrm>
              <a:off x="3760" y="1680"/>
              <a:ext cx="1808" cy="144"/>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defRPr/>
              </a:pPr>
              <a:endParaRPr lang="en-ZA" altLang="en-US" sz="1800"/>
            </a:p>
          </p:txBody>
        </p:sp>
      </p:grpSp>
      <p:sp>
        <p:nvSpPr>
          <p:cNvPr id="50178" name="Rectangle 2"/>
          <p:cNvSpPr>
            <a:spLocks noGrp="1" noChangeArrowheads="1"/>
          </p:cNvSpPr>
          <p:nvPr>
            <p:ph type="ctrTitle"/>
          </p:nvPr>
        </p:nvSpPr>
        <p:spPr>
          <a:xfrm>
            <a:off x="914400" y="685800"/>
            <a:ext cx="10363200" cy="2127250"/>
          </a:xfrm>
        </p:spPr>
        <p:txBody>
          <a:bodyPr/>
          <a:lstStyle>
            <a:lvl1pPr algn="ctr">
              <a:defRPr sz="5800"/>
            </a:lvl1pPr>
          </a:lstStyle>
          <a:p>
            <a:pPr lvl="0"/>
            <a:r>
              <a:rPr lang="en-US" noProof="0"/>
              <a:t>Click to edit Master title style</a:t>
            </a:r>
          </a:p>
        </p:txBody>
      </p:sp>
      <p:sp>
        <p:nvSpPr>
          <p:cNvPr id="50179" name="Rectangle 3"/>
          <p:cNvSpPr>
            <a:spLocks noGrp="1" noChangeArrowheads="1"/>
          </p:cNvSpPr>
          <p:nvPr>
            <p:ph type="subTitle" idx="1"/>
          </p:nvPr>
        </p:nvSpPr>
        <p:spPr>
          <a:xfrm>
            <a:off x="1828800" y="3270250"/>
            <a:ext cx="8534400" cy="2209800"/>
          </a:xfrm>
        </p:spPr>
        <p:txBody>
          <a:bodyPr/>
          <a:lstStyle>
            <a:lvl1pPr marL="0" indent="0" algn="ctr">
              <a:buFont typeface="Wingdings" pitchFamily="2" charset="2"/>
              <a:buNone/>
              <a:defRPr sz="3000"/>
            </a:lvl1pPr>
          </a:lstStyle>
          <a:p>
            <a:pPr lvl="0"/>
            <a:r>
              <a:rPr lang="en-US" noProof="0"/>
              <a:t>Click to edit Master subtitle style</a:t>
            </a:r>
          </a:p>
        </p:txBody>
      </p:sp>
      <p:sp>
        <p:nvSpPr>
          <p:cNvPr id="8" name="Rectangle 4">
            <a:extLst>
              <a:ext uri="{FF2B5EF4-FFF2-40B4-BE49-F238E27FC236}">
                <a16:creationId xmlns:a16="http://schemas.microsoft.com/office/drawing/2014/main" id="{2A042495-28DA-466C-9743-8E064462234A}"/>
              </a:ext>
            </a:extLst>
          </p:cNvPr>
          <p:cNvSpPr>
            <a:spLocks noGrp="1" noChangeArrowheads="1"/>
          </p:cNvSpPr>
          <p:nvPr>
            <p:ph type="dt" sz="half" idx="10"/>
          </p:nvPr>
        </p:nvSpPr>
        <p:spPr/>
        <p:txBody>
          <a:bodyPr/>
          <a:lstStyle>
            <a:lvl1pPr>
              <a:defRPr/>
            </a:lvl1pPr>
          </a:lstStyle>
          <a:p>
            <a:pPr>
              <a:defRPr/>
            </a:pPr>
            <a:endParaRPr lang="en-US"/>
          </a:p>
        </p:txBody>
      </p:sp>
      <p:sp>
        <p:nvSpPr>
          <p:cNvPr id="9" name="Rectangle 5">
            <a:extLst>
              <a:ext uri="{FF2B5EF4-FFF2-40B4-BE49-F238E27FC236}">
                <a16:creationId xmlns:a16="http://schemas.microsoft.com/office/drawing/2014/main" id="{5E98B845-7E29-4F84-BB36-DFFCB6870366}"/>
              </a:ext>
            </a:extLst>
          </p:cNvPr>
          <p:cNvSpPr>
            <a:spLocks noGrp="1" noChangeArrowheads="1"/>
          </p:cNvSpPr>
          <p:nvPr>
            <p:ph type="ftr" sz="quarter" idx="11"/>
          </p:nvPr>
        </p:nvSpPr>
        <p:spPr/>
        <p:txBody>
          <a:bodyPr/>
          <a:lstStyle>
            <a:lvl1pPr>
              <a:defRPr/>
            </a:lvl1pPr>
          </a:lstStyle>
          <a:p>
            <a:pPr>
              <a:defRPr/>
            </a:pPr>
            <a:endParaRPr lang="en-US"/>
          </a:p>
        </p:txBody>
      </p:sp>
      <p:sp>
        <p:nvSpPr>
          <p:cNvPr id="10" name="Rectangle 6">
            <a:extLst>
              <a:ext uri="{FF2B5EF4-FFF2-40B4-BE49-F238E27FC236}">
                <a16:creationId xmlns:a16="http://schemas.microsoft.com/office/drawing/2014/main" id="{C590F9C7-CF56-4885-ABE1-DE6F652335B7}"/>
              </a:ext>
            </a:extLst>
          </p:cNvPr>
          <p:cNvSpPr>
            <a:spLocks noGrp="1" noChangeArrowheads="1"/>
          </p:cNvSpPr>
          <p:nvPr>
            <p:ph type="sldNum" sz="quarter" idx="12"/>
          </p:nvPr>
        </p:nvSpPr>
        <p:spPr/>
        <p:txBody>
          <a:bodyPr/>
          <a:lstStyle>
            <a:lvl1pPr>
              <a:defRPr/>
            </a:lvl1pPr>
          </a:lstStyle>
          <a:p>
            <a:pPr>
              <a:defRPr/>
            </a:pPr>
            <a:fld id="{CFE292A4-3438-4CA0-8573-76325BF8E567}" type="slidenum">
              <a:rPr lang="en-US" altLang="en-US"/>
              <a:pPr>
                <a:defRPr/>
              </a:pPr>
              <a:t>‹#›</a:t>
            </a:fld>
            <a:endParaRPr lang="en-US" altLang="en-US"/>
          </a:p>
        </p:txBody>
      </p:sp>
    </p:spTree>
    <p:extLst>
      <p:ext uri="{BB962C8B-B14F-4D97-AF65-F5344CB8AC3E}">
        <p14:creationId xmlns:p14="http://schemas.microsoft.com/office/powerpoint/2010/main" val="7245819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Rectangle 4">
            <a:extLst>
              <a:ext uri="{FF2B5EF4-FFF2-40B4-BE49-F238E27FC236}">
                <a16:creationId xmlns:a16="http://schemas.microsoft.com/office/drawing/2014/main" id="{6ECFFC4D-9D75-47A2-AD36-F62964CC531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B5E168D-8AF1-44F0-A0AD-AA67A82AD3B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A69E12A-4761-456C-A6F0-A3AC66BF692C}"/>
              </a:ext>
            </a:extLst>
          </p:cNvPr>
          <p:cNvSpPr>
            <a:spLocks noGrp="1" noChangeArrowheads="1"/>
          </p:cNvSpPr>
          <p:nvPr>
            <p:ph type="sldNum" sz="quarter" idx="12"/>
          </p:nvPr>
        </p:nvSpPr>
        <p:spPr>
          <a:ln/>
        </p:spPr>
        <p:txBody>
          <a:bodyPr/>
          <a:lstStyle>
            <a:lvl1pPr>
              <a:defRPr/>
            </a:lvl1pPr>
          </a:lstStyle>
          <a:p>
            <a:pPr>
              <a:defRPr/>
            </a:pPr>
            <a:fld id="{68D0770B-CCD3-4FD4-9666-BBFD40663B32}" type="slidenum">
              <a:rPr lang="en-US" altLang="en-US"/>
              <a:pPr>
                <a:defRPr/>
              </a:pPr>
              <a:t>‹#›</a:t>
            </a:fld>
            <a:endParaRPr lang="en-US" altLang="en-US"/>
          </a:p>
        </p:txBody>
      </p:sp>
    </p:spTree>
    <p:extLst>
      <p:ext uri="{BB962C8B-B14F-4D97-AF65-F5344CB8AC3E}">
        <p14:creationId xmlns:p14="http://schemas.microsoft.com/office/powerpoint/2010/main" val="1172445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ZA"/>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47B3BD02-6DB7-480F-8ABB-664FD276242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304604FE-17BC-42E3-B5E1-867530EF751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F070B8C-E548-44F9-B1B4-4C5037BE1289}"/>
              </a:ext>
            </a:extLst>
          </p:cNvPr>
          <p:cNvSpPr>
            <a:spLocks noGrp="1" noChangeArrowheads="1"/>
          </p:cNvSpPr>
          <p:nvPr>
            <p:ph type="sldNum" sz="quarter" idx="12"/>
          </p:nvPr>
        </p:nvSpPr>
        <p:spPr>
          <a:ln/>
        </p:spPr>
        <p:txBody>
          <a:bodyPr/>
          <a:lstStyle>
            <a:lvl1pPr>
              <a:defRPr/>
            </a:lvl1pPr>
          </a:lstStyle>
          <a:p>
            <a:pPr>
              <a:defRPr/>
            </a:pPr>
            <a:fld id="{09950B63-01D0-4514-97AD-1AF522549BF7}" type="slidenum">
              <a:rPr lang="en-US" altLang="en-US"/>
              <a:pPr>
                <a:defRPr/>
              </a:pPr>
              <a:t>‹#›</a:t>
            </a:fld>
            <a:endParaRPr lang="en-US" altLang="en-US"/>
          </a:p>
        </p:txBody>
      </p:sp>
    </p:spTree>
    <p:extLst>
      <p:ext uri="{BB962C8B-B14F-4D97-AF65-F5344CB8AC3E}">
        <p14:creationId xmlns:p14="http://schemas.microsoft.com/office/powerpoint/2010/main" val="1686016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Content Placeholder 2"/>
          <p:cNvSpPr>
            <a:spLocks noGrp="1"/>
          </p:cNvSpPr>
          <p:nvPr>
            <p:ph sz="half" idx="1"/>
          </p:nvPr>
        </p:nvSpPr>
        <p:spPr>
          <a:xfrm>
            <a:off x="609600" y="1600201"/>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p:cNvSpPr>
            <a:spLocks noGrp="1"/>
          </p:cNvSpPr>
          <p:nvPr>
            <p:ph sz="half" idx="2"/>
          </p:nvPr>
        </p:nvSpPr>
        <p:spPr>
          <a:xfrm>
            <a:off x="6197600" y="1600201"/>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Rectangle 4">
            <a:extLst>
              <a:ext uri="{FF2B5EF4-FFF2-40B4-BE49-F238E27FC236}">
                <a16:creationId xmlns:a16="http://schemas.microsoft.com/office/drawing/2014/main" id="{D786FBF9-6EC9-40F7-B953-A2ACB1275AB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CF15C28D-A52A-41E7-B13C-8676F1CD284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3D2947B6-C297-4590-ADFA-3C589FA55AD5}"/>
              </a:ext>
            </a:extLst>
          </p:cNvPr>
          <p:cNvSpPr>
            <a:spLocks noGrp="1" noChangeArrowheads="1"/>
          </p:cNvSpPr>
          <p:nvPr>
            <p:ph type="sldNum" sz="quarter" idx="12"/>
          </p:nvPr>
        </p:nvSpPr>
        <p:spPr>
          <a:ln/>
        </p:spPr>
        <p:txBody>
          <a:bodyPr/>
          <a:lstStyle>
            <a:lvl1pPr>
              <a:defRPr/>
            </a:lvl1pPr>
          </a:lstStyle>
          <a:p>
            <a:pPr>
              <a:defRPr/>
            </a:pPr>
            <a:fld id="{094415A0-1767-4731-A664-F6333FB0949E}" type="slidenum">
              <a:rPr lang="en-US" altLang="en-US"/>
              <a:pPr>
                <a:defRPr/>
              </a:pPr>
              <a:t>‹#›</a:t>
            </a:fld>
            <a:endParaRPr lang="en-US" altLang="en-US"/>
          </a:p>
        </p:txBody>
      </p:sp>
    </p:spTree>
    <p:extLst>
      <p:ext uri="{BB962C8B-B14F-4D97-AF65-F5344CB8AC3E}">
        <p14:creationId xmlns:p14="http://schemas.microsoft.com/office/powerpoint/2010/main" val="1575681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ZA"/>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Rectangle 4">
            <a:extLst>
              <a:ext uri="{FF2B5EF4-FFF2-40B4-BE49-F238E27FC236}">
                <a16:creationId xmlns:a16="http://schemas.microsoft.com/office/drawing/2014/main" id="{438F59B4-7F50-461F-B08B-47075788B655}"/>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DE4D0CDC-A65F-4090-AC68-1CFEEA8B771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E866A4DE-8D89-49CF-B200-DC8E3104D256}"/>
              </a:ext>
            </a:extLst>
          </p:cNvPr>
          <p:cNvSpPr>
            <a:spLocks noGrp="1" noChangeArrowheads="1"/>
          </p:cNvSpPr>
          <p:nvPr>
            <p:ph type="sldNum" sz="quarter" idx="12"/>
          </p:nvPr>
        </p:nvSpPr>
        <p:spPr>
          <a:ln/>
        </p:spPr>
        <p:txBody>
          <a:bodyPr/>
          <a:lstStyle>
            <a:lvl1pPr>
              <a:defRPr/>
            </a:lvl1pPr>
          </a:lstStyle>
          <a:p>
            <a:pPr>
              <a:defRPr/>
            </a:pPr>
            <a:fld id="{D3D2EE0E-E86B-4ECB-8BF0-7669F732A518}" type="slidenum">
              <a:rPr lang="en-US" altLang="en-US"/>
              <a:pPr>
                <a:defRPr/>
              </a:pPr>
              <a:t>‹#›</a:t>
            </a:fld>
            <a:endParaRPr lang="en-US" altLang="en-US"/>
          </a:p>
        </p:txBody>
      </p:sp>
    </p:spTree>
    <p:extLst>
      <p:ext uri="{BB962C8B-B14F-4D97-AF65-F5344CB8AC3E}">
        <p14:creationId xmlns:p14="http://schemas.microsoft.com/office/powerpoint/2010/main" val="39123940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Rectangle 4">
            <a:extLst>
              <a:ext uri="{FF2B5EF4-FFF2-40B4-BE49-F238E27FC236}">
                <a16:creationId xmlns:a16="http://schemas.microsoft.com/office/drawing/2014/main" id="{B3AA0C8E-70C0-40E3-9EF4-E204B0555F94}"/>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3CA2BC29-643C-4140-85CC-FDF71A90041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1E6B2E78-32A6-4157-94B6-50C7830B65EB}"/>
              </a:ext>
            </a:extLst>
          </p:cNvPr>
          <p:cNvSpPr>
            <a:spLocks noGrp="1" noChangeArrowheads="1"/>
          </p:cNvSpPr>
          <p:nvPr>
            <p:ph type="sldNum" sz="quarter" idx="12"/>
          </p:nvPr>
        </p:nvSpPr>
        <p:spPr>
          <a:ln/>
        </p:spPr>
        <p:txBody>
          <a:bodyPr/>
          <a:lstStyle>
            <a:lvl1pPr>
              <a:defRPr/>
            </a:lvl1pPr>
          </a:lstStyle>
          <a:p>
            <a:pPr>
              <a:defRPr/>
            </a:pPr>
            <a:fld id="{FD147AA8-51BC-475C-B015-53163F77AE80}" type="slidenum">
              <a:rPr lang="en-US" altLang="en-US"/>
              <a:pPr>
                <a:defRPr/>
              </a:pPr>
              <a:t>‹#›</a:t>
            </a:fld>
            <a:endParaRPr lang="en-US" altLang="en-US"/>
          </a:p>
        </p:txBody>
      </p:sp>
    </p:spTree>
    <p:extLst>
      <p:ext uri="{BB962C8B-B14F-4D97-AF65-F5344CB8AC3E}">
        <p14:creationId xmlns:p14="http://schemas.microsoft.com/office/powerpoint/2010/main" val="3887452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DF78312D-BBDD-4099-8E8A-5AB10538FF84}"/>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7C6CD775-62B6-49A3-8280-ED3A071D686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56526DDB-5264-42BC-B7E9-C0AFF2B50DD2}"/>
              </a:ext>
            </a:extLst>
          </p:cNvPr>
          <p:cNvSpPr>
            <a:spLocks noGrp="1" noChangeArrowheads="1"/>
          </p:cNvSpPr>
          <p:nvPr>
            <p:ph type="sldNum" sz="quarter" idx="12"/>
          </p:nvPr>
        </p:nvSpPr>
        <p:spPr>
          <a:ln/>
        </p:spPr>
        <p:txBody>
          <a:bodyPr/>
          <a:lstStyle>
            <a:lvl1pPr>
              <a:defRPr/>
            </a:lvl1pPr>
          </a:lstStyle>
          <a:p>
            <a:pPr>
              <a:defRPr/>
            </a:pPr>
            <a:fld id="{5AE3B80A-C654-40B7-B01E-8699294DE054}" type="slidenum">
              <a:rPr lang="en-US" altLang="en-US"/>
              <a:pPr>
                <a:defRPr/>
              </a:pPr>
              <a:t>‹#›</a:t>
            </a:fld>
            <a:endParaRPr lang="en-US" altLang="en-US"/>
          </a:p>
        </p:txBody>
      </p:sp>
    </p:spTree>
    <p:extLst>
      <p:ext uri="{BB962C8B-B14F-4D97-AF65-F5344CB8AC3E}">
        <p14:creationId xmlns:p14="http://schemas.microsoft.com/office/powerpoint/2010/main" val="27991400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endParaRPr lang="en-ZA"/>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F073B9FE-BEDB-4BEE-A845-198527AFD63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97913D49-1069-4F85-8DF5-FC8139F5BF2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2895D029-C989-45AD-80A7-A6E2DB792BF1}"/>
              </a:ext>
            </a:extLst>
          </p:cNvPr>
          <p:cNvSpPr>
            <a:spLocks noGrp="1" noChangeArrowheads="1"/>
          </p:cNvSpPr>
          <p:nvPr>
            <p:ph type="sldNum" sz="quarter" idx="12"/>
          </p:nvPr>
        </p:nvSpPr>
        <p:spPr>
          <a:ln/>
        </p:spPr>
        <p:txBody>
          <a:bodyPr/>
          <a:lstStyle>
            <a:lvl1pPr>
              <a:defRPr/>
            </a:lvl1pPr>
          </a:lstStyle>
          <a:p>
            <a:pPr>
              <a:defRPr/>
            </a:pPr>
            <a:fld id="{18053780-2B00-4E3D-B96E-ABC2FA9E8553}" type="slidenum">
              <a:rPr lang="en-US" altLang="en-US"/>
              <a:pPr>
                <a:defRPr/>
              </a:pPr>
              <a:t>‹#›</a:t>
            </a:fld>
            <a:endParaRPr lang="en-US" altLang="en-US"/>
          </a:p>
        </p:txBody>
      </p:sp>
    </p:spTree>
    <p:extLst>
      <p:ext uri="{BB962C8B-B14F-4D97-AF65-F5344CB8AC3E}">
        <p14:creationId xmlns:p14="http://schemas.microsoft.com/office/powerpoint/2010/main" val="11197346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endParaRPr lang="en-ZA"/>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ZA"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66175BFE-C58C-45AB-B729-E8F01CE2050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FD984E77-D5E3-4943-8648-A83E239B1E0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A344A434-7C20-4ECB-BF04-E5987D6B6882}"/>
              </a:ext>
            </a:extLst>
          </p:cNvPr>
          <p:cNvSpPr>
            <a:spLocks noGrp="1" noChangeArrowheads="1"/>
          </p:cNvSpPr>
          <p:nvPr>
            <p:ph type="sldNum" sz="quarter" idx="12"/>
          </p:nvPr>
        </p:nvSpPr>
        <p:spPr>
          <a:ln/>
        </p:spPr>
        <p:txBody>
          <a:bodyPr/>
          <a:lstStyle>
            <a:lvl1pPr>
              <a:defRPr/>
            </a:lvl1pPr>
          </a:lstStyle>
          <a:p>
            <a:pPr>
              <a:defRPr/>
            </a:pPr>
            <a:fld id="{BBEA4182-876C-4BAA-8F62-2904973ADEFF}" type="slidenum">
              <a:rPr lang="en-US" altLang="en-US"/>
              <a:pPr>
                <a:defRPr/>
              </a:pPr>
              <a:t>‹#›</a:t>
            </a:fld>
            <a:endParaRPr lang="en-US" altLang="en-US"/>
          </a:p>
        </p:txBody>
      </p:sp>
    </p:spTree>
    <p:extLst>
      <p:ext uri="{BB962C8B-B14F-4D97-AF65-F5344CB8AC3E}">
        <p14:creationId xmlns:p14="http://schemas.microsoft.com/office/powerpoint/2010/main" val="17457700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Rectangle 4">
            <a:extLst>
              <a:ext uri="{FF2B5EF4-FFF2-40B4-BE49-F238E27FC236}">
                <a16:creationId xmlns:a16="http://schemas.microsoft.com/office/drawing/2014/main" id="{349C1B42-2709-4411-9528-5540B8BD111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BC5B4B4-BAD6-4F8A-A447-D1B3F5A8A4F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A3DF8681-441E-475B-A0C9-9DB161E03C04}"/>
              </a:ext>
            </a:extLst>
          </p:cNvPr>
          <p:cNvSpPr>
            <a:spLocks noGrp="1" noChangeArrowheads="1"/>
          </p:cNvSpPr>
          <p:nvPr>
            <p:ph type="sldNum" sz="quarter" idx="12"/>
          </p:nvPr>
        </p:nvSpPr>
        <p:spPr>
          <a:ln/>
        </p:spPr>
        <p:txBody>
          <a:bodyPr/>
          <a:lstStyle>
            <a:lvl1pPr>
              <a:defRPr/>
            </a:lvl1pPr>
          </a:lstStyle>
          <a:p>
            <a:pPr>
              <a:defRPr/>
            </a:pPr>
            <a:fld id="{EA961591-B38F-4D31-9F6F-0655303C8049}" type="slidenum">
              <a:rPr lang="en-US" altLang="en-US"/>
              <a:pPr>
                <a:defRPr/>
              </a:pPr>
              <a:t>‹#›</a:t>
            </a:fld>
            <a:endParaRPr lang="en-US" altLang="en-US"/>
          </a:p>
        </p:txBody>
      </p:sp>
    </p:spTree>
    <p:extLst>
      <p:ext uri="{BB962C8B-B14F-4D97-AF65-F5344CB8AC3E}">
        <p14:creationId xmlns:p14="http://schemas.microsoft.com/office/powerpoint/2010/main" val="2461574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7813"/>
            <a:ext cx="2743200" cy="5853112"/>
          </a:xfrm>
        </p:spPr>
        <p:txBody>
          <a:bodyPr vert="eaVert"/>
          <a:lstStyle/>
          <a:p>
            <a:r>
              <a:rPr lang="en-US"/>
              <a:t>Click to edit Master title style</a:t>
            </a:r>
            <a:endParaRPr lang="en-ZA"/>
          </a:p>
        </p:txBody>
      </p:sp>
      <p:sp>
        <p:nvSpPr>
          <p:cNvPr id="3" name="Vertical Text Placeholder 2"/>
          <p:cNvSpPr>
            <a:spLocks noGrp="1"/>
          </p:cNvSpPr>
          <p:nvPr>
            <p:ph type="body" orient="vert" idx="1"/>
          </p:nvPr>
        </p:nvSpPr>
        <p:spPr>
          <a:xfrm>
            <a:off x="609600" y="277813"/>
            <a:ext cx="80264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Rectangle 4">
            <a:extLst>
              <a:ext uri="{FF2B5EF4-FFF2-40B4-BE49-F238E27FC236}">
                <a16:creationId xmlns:a16="http://schemas.microsoft.com/office/drawing/2014/main" id="{15137594-12EC-4963-8815-10C98D3A1E0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42DA1D9-9919-465F-AD10-7C8F28963FD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9A41544-E317-4207-BB3F-9DC666CD5CB0}"/>
              </a:ext>
            </a:extLst>
          </p:cNvPr>
          <p:cNvSpPr>
            <a:spLocks noGrp="1" noChangeArrowheads="1"/>
          </p:cNvSpPr>
          <p:nvPr>
            <p:ph type="sldNum" sz="quarter" idx="12"/>
          </p:nvPr>
        </p:nvSpPr>
        <p:spPr>
          <a:ln/>
        </p:spPr>
        <p:txBody>
          <a:bodyPr/>
          <a:lstStyle>
            <a:lvl1pPr>
              <a:defRPr/>
            </a:lvl1pPr>
          </a:lstStyle>
          <a:p>
            <a:pPr>
              <a:defRPr/>
            </a:pPr>
            <a:fld id="{FA9EC532-676A-45CC-98A7-2314AC0CAB07}" type="slidenum">
              <a:rPr lang="en-US" altLang="en-US"/>
              <a:pPr>
                <a:defRPr/>
              </a:pPr>
              <a:t>‹#›</a:t>
            </a:fld>
            <a:endParaRPr lang="en-US" altLang="en-US"/>
          </a:p>
        </p:txBody>
      </p:sp>
    </p:spTree>
    <p:extLst>
      <p:ext uri="{BB962C8B-B14F-4D97-AF65-F5344CB8AC3E}">
        <p14:creationId xmlns:p14="http://schemas.microsoft.com/office/powerpoint/2010/main" val="36051414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D5F94E18-DBA1-49BF-A196-9932AD8EE448}"/>
              </a:ext>
            </a:extLst>
          </p:cNvPr>
          <p:cNvSpPr>
            <a:spLocks noGrp="1" noChangeArrowheads="1"/>
          </p:cNvSpPr>
          <p:nvPr>
            <p:ph type="title"/>
          </p:nvPr>
        </p:nvSpPr>
        <p:spPr bwMode="auto">
          <a:xfrm>
            <a:off x="609600" y="277814"/>
            <a:ext cx="109728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68818CC7-616B-43D2-AF00-91D6D5BF7A7E}"/>
              </a:ext>
            </a:extLst>
          </p:cNvPr>
          <p:cNvSpPr>
            <a:spLocks noGrp="1" noChangeArrowheads="1"/>
          </p:cNvSpPr>
          <p:nvPr>
            <p:ph type="body" idx="1"/>
          </p:nvPr>
        </p:nvSpPr>
        <p:spPr bwMode="auto">
          <a:xfrm>
            <a:off x="609600" y="1600201"/>
            <a:ext cx="109728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9156" name="Rectangle 4">
            <a:extLst>
              <a:ext uri="{FF2B5EF4-FFF2-40B4-BE49-F238E27FC236}">
                <a16:creationId xmlns:a16="http://schemas.microsoft.com/office/drawing/2014/main" id="{81D28A26-83B6-43F5-AC8A-6AA7C92F9475}"/>
              </a:ext>
            </a:extLst>
          </p:cNvPr>
          <p:cNvSpPr>
            <a:spLocks noGrp="1" noChangeArrowheads="1"/>
          </p:cNvSpPr>
          <p:nvPr>
            <p:ph type="dt" sz="half" idx="2"/>
          </p:nvPr>
        </p:nvSpPr>
        <p:spPr bwMode="auto">
          <a:xfrm>
            <a:off x="609600" y="6248400"/>
            <a:ext cx="2844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eaLnBrk="1" hangingPunct="1">
              <a:defRPr sz="1000"/>
            </a:lvl1pPr>
          </a:lstStyle>
          <a:p>
            <a:pPr>
              <a:defRPr/>
            </a:pPr>
            <a:endParaRPr lang="en-US"/>
          </a:p>
        </p:txBody>
      </p:sp>
      <p:sp>
        <p:nvSpPr>
          <p:cNvPr id="49157" name="Rectangle 5">
            <a:extLst>
              <a:ext uri="{FF2B5EF4-FFF2-40B4-BE49-F238E27FC236}">
                <a16:creationId xmlns:a16="http://schemas.microsoft.com/office/drawing/2014/main" id="{65277FF0-6B20-4195-BBD9-D0CC10B15EA6}"/>
              </a:ext>
            </a:extLst>
          </p:cNvPr>
          <p:cNvSpPr>
            <a:spLocks noGrp="1" noChangeArrowheads="1"/>
          </p:cNvSpPr>
          <p:nvPr>
            <p:ph type="ftr" sz="quarter" idx="3"/>
          </p:nvPr>
        </p:nvSpPr>
        <p:spPr bwMode="auto">
          <a:xfrm>
            <a:off x="4165600" y="6248400"/>
            <a:ext cx="3860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ctr" eaLnBrk="1" hangingPunct="1">
              <a:defRPr sz="1000"/>
            </a:lvl1pPr>
          </a:lstStyle>
          <a:p>
            <a:pPr>
              <a:defRPr/>
            </a:pPr>
            <a:endParaRPr lang="en-US"/>
          </a:p>
        </p:txBody>
      </p:sp>
      <p:sp>
        <p:nvSpPr>
          <p:cNvPr id="49158" name="Rectangle 6">
            <a:extLst>
              <a:ext uri="{FF2B5EF4-FFF2-40B4-BE49-F238E27FC236}">
                <a16:creationId xmlns:a16="http://schemas.microsoft.com/office/drawing/2014/main" id="{FAA90937-AF94-4524-A71C-FA43E09E2DBD}"/>
              </a:ext>
            </a:extLst>
          </p:cNvPr>
          <p:cNvSpPr>
            <a:spLocks noGrp="1" noChangeArrowheads="1"/>
          </p:cNvSpPr>
          <p:nvPr>
            <p:ph type="sldNum" sz="quarter" idx="4"/>
          </p:nvPr>
        </p:nvSpPr>
        <p:spPr bwMode="auto">
          <a:xfrm>
            <a:off x="8737600" y="6248400"/>
            <a:ext cx="2844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eaLnBrk="1" hangingPunct="1">
              <a:defRPr sz="1000"/>
            </a:lvl1pPr>
          </a:lstStyle>
          <a:p>
            <a:pPr>
              <a:defRPr/>
            </a:pPr>
            <a:fld id="{028CFC84-47EC-41A9-83CB-77B74EBBC173}" type="slidenum">
              <a:rPr lang="en-US" altLang="en-US"/>
              <a:pPr>
                <a:defRPr/>
              </a:pPr>
              <a:t>‹#›</a:t>
            </a:fld>
            <a:endParaRPr lang="en-US" altLang="en-US"/>
          </a:p>
        </p:txBody>
      </p:sp>
      <p:sp>
        <p:nvSpPr>
          <p:cNvPr id="1031" name="Rectangle 7">
            <a:extLst>
              <a:ext uri="{FF2B5EF4-FFF2-40B4-BE49-F238E27FC236}">
                <a16:creationId xmlns:a16="http://schemas.microsoft.com/office/drawing/2014/main" id="{C2F9010E-5A12-4C6C-A7FF-F6C000D0E173}"/>
              </a:ext>
            </a:extLst>
          </p:cNvPr>
          <p:cNvSpPr>
            <a:spLocks noChangeArrowheads="1"/>
          </p:cNvSpPr>
          <p:nvPr/>
        </p:nvSpPr>
        <p:spPr bwMode="auto">
          <a:xfrm>
            <a:off x="0" y="0"/>
            <a:ext cx="30480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ctr" eaLnBrk="1" hangingPunct="1">
              <a:defRPr/>
            </a:pPr>
            <a:endParaRPr lang="en-US" altLang="en-US" sz="2400">
              <a:latin typeface="Times New Roman" panose="02020603050405020304" pitchFamily="18" charset="0"/>
            </a:endParaRPr>
          </a:p>
        </p:txBody>
      </p:sp>
      <p:sp>
        <p:nvSpPr>
          <p:cNvPr id="1032" name="Line 8">
            <a:extLst>
              <a:ext uri="{FF2B5EF4-FFF2-40B4-BE49-F238E27FC236}">
                <a16:creationId xmlns:a16="http://schemas.microsoft.com/office/drawing/2014/main" id="{626D89BB-42A5-454A-9F6C-D6C976447DBB}"/>
              </a:ext>
            </a:extLst>
          </p:cNvPr>
          <p:cNvSpPr>
            <a:spLocks noChangeShapeType="1"/>
          </p:cNvSpPr>
          <p:nvPr/>
        </p:nvSpPr>
        <p:spPr bwMode="auto">
          <a:xfrm>
            <a:off x="609600" y="1447800"/>
            <a:ext cx="10769600"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1033" name="Rectangle 9">
            <a:extLst>
              <a:ext uri="{FF2B5EF4-FFF2-40B4-BE49-F238E27FC236}">
                <a16:creationId xmlns:a16="http://schemas.microsoft.com/office/drawing/2014/main" id="{C5FE0300-F88F-42AB-B6E9-3203745A0DE3}"/>
              </a:ext>
            </a:extLst>
          </p:cNvPr>
          <p:cNvSpPr>
            <a:spLocks noChangeArrowheads="1"/>
          </p:cNvSpPr>
          <p:nvPr/>
        </p:nvSpPr>
        <p:spPr bwMode="auto">
          <a:xfrm>
            <a:off x="0" y="2286000"/>
            <a:ext cx="30480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ctr" eaLnBrk="1" hangingPunct="1">
              <a:defRPr/>
            </a:pPr>
            <a:endParaRPr lang="en-US" altLang="en-US" sz="2400">
              <a:latin typeface="Times New Roman" panose="02020603050405020304" pitchFamily="18" charset="0"/>
            </a:endParaRPr>
          </a:p>
        </p:txBody>
      </p:sp>
      <p:sp>
        <p:nvSpPr>
          <p:cNvPr id="1034" name="Rectangle 10">
            <a:extLst>
              <a:ext uri="{FF2B5EF4-FFF2-40B4-BE49-F238E27FC236}">
                <a16:creationId xmlns:a16="http://schemas.microsoft.com/office/drawing/2014/main" id="{CD3415BD-0470-448A-B736-558BA2382EF1}"/>
              </a:ext>
            </a:extLst>
          </p:cNvPr>
          <p:cNvSpPr>
            <a:spLocks noChangeArrowheads="1"/>
          </p:cNvSpPr>
          <p:nvPr/>
        </p:nvSpPr>
        <p:spPr bwMode="auto">
          <a:xfrm>
            <a:off x="0" y="4572000"/>
            <a:ext cx="304800" cy="22860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algn="ctr" eaLnBrk="1" hangingPunct="1">
              <a:defRPr/>
            </a:pPr>
            <a:endParaRPr lang="en-US" altLang="en-US" sz="2400">
              <a:latin typeface="Times New Roman" panose="02020603050405020304" pitchFamily="18" charset="0"/>
            </a:endParaRPr>
          </a:p>
        </p:txBody>
      </p:sp>
    </p:spTree>
    <p:extLst>
      <p:ext uri="{BB962C8B-B14F-4D97-AF65-F5344CB8AC3E}">
        <p14:creationId xmlns:p14="http://schemas.microsoft.com/office/powerpoint/2010/main" val="25307003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Garamond" pitchFamily="18" charset="0"/>
        </a:defRPr>
      </a:lvl2pPr>
      <a:lvl3pPr algn="l" rtl="0" eaLnBrk="0" fontAlgn="base" hangingPunct="0">
        <a:spcBef>
          <a:spcPct val="0"/>
        </a:spcBef>
        <a:spcAft>
          <a:spcPct val="0"/>
        </a:spcAft>
        <a:defRPr sz="4400">
          <a:solidFill>
            <a:schemeClr val="tx2"/>
          </a:solidFill>
          <a:latin typeface="Garamond" pitchFamily="18" charset="0"/>
        </a:defRPr>
      </a:lvl3pPr>
      <a:lvl4pPr algn="l" rtl="0" eaLnBrk="0" fontAlgn="base" hangingPunct="0">
        <a:spcBef>
          <a:spcPct val="0"/>
        </a:spcBef>
        <a:spcAft>
          <a:spcPct val="0"/>
        </a:spcAft>
        <a:defRPr sz="4400">
          <a:solidFill>
            <a:schemeClr val="tx2"/>
          </a:solidFill>
          <a:latin typeface="Garamond" pitchFamily="18" charset="0"/>
        </a:defRPr>
      </a:lvl4pPr>
      <a:lvl5pPr algn="l" rtl="0" eaLnBrk="0" fontAlgn="base" hangingPunct="0">
        <a:spcBef>
          <a:spcPct val="0"/>
        </a:spcBef>
        <a:spcAft>
          <a:spcPct val="0"/>
        </a:spcAft>
        <a:defRPr sz="4400">
          <a:solidFill>
            <a:schemeClr val="tx2"/>
          </a:solidFill>
          <a:latin typeface="Garamond" pitchFamily="18" charset="0"/>
        </a:defRPr>
      </a:lvl5pPr>
      <a:lvl6pPr marL="457200" algn="l" rtl="0" fontAlgn="base">
        <a:spcBef>
          <a:spcPct val="0"/>
        </a:spcBef>
        <a:spcAft>
          <a:spcPct val="0"/>
        </a:spcAft>
        <a:defRPr sz="4400">
          <a:solidFill>
            <a:schemeClr val="tx2"/>
          </a:solidFill>
          <a:latin typeface="Garamond" pitchFamily="18" charset="0"/>
        </a:defRPr>
      </a:lvl6pPr>
      <a:lvl7pPr marL="914400" algn="l" rtl="0" fontAlgn="base">
        <a:spcBef>
          <a:spcPct val="0"/>
        </a:spcBef>
        <a:spcAft>
          <a:spcPct val="0"/>
        </a:spcAft>
        <a:defRPr sz="4400">
          <a:solidFill>
            <a:schemeClr val="tx2"/>
          </a:solidFill>
          <a:latin typeface="Garamond" pitchFamily="18" charset="0"/>
        </a:defRPr>
      </a:lvl7pPr>
      <a:lvl8pPr marL="1371600" algn="l" rtl="0" fontAlgn="base">
        <a:spcBef>
          <a:spcPct val="0"/>
        </a:spcBef>
        <a:spcAft>
          <a:spcPct val="0"/>
        </a:spcAft>
        <a:defRPr sz="4400">
          <a:solidFill>
            <a:schemeClr val="tx2"/>
          </a:solidFill>
          <a:latin typeface="Garamond" pitchFamily="18" charset="0"/>
        </a:defRPr>
      </a:lvl8pPr>
      <a:lvl9pPr marL="1828800" algn="l" rtl="0" fontAlgn="base">
        <a:spcBef>
          <a:spcPct val="0"/>
        </a:spcBef>
        <a:spcAft>
          <a:spcPct val="0"/>
        </a:spcAft>
        <a:defRPr sz="44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Char char="n"/>
        <a:defRPr sz="2400">
          <a:solidFill>
            <a:schemeClr val="tx1"/>
          </a:solidFill>
          <a:latin typeface="+mn-lt"/>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mn-lt"/>
        </a:defRPr>
      </a:lvl5pPr>
      <a:lvl6pPr marL="25146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defRPr>
      </a:lvl6pPr>
      <a:lvl7pPr marL="29718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defRPr>
      </a:lvl7pPr>
      <a:lvl8pPr marL="34290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defRPr>
      </a:lvl8pPr>
      <a:lvl9pPr marL="3886200" indent="-228600" algn="l" rtl="0" fontAlgn="base">
        <a:spcBef>
          <a:spcPct val="20000"/>
        </a:spcBef>
        <a:spcAft>
          <a:spcPct val="0"/>
        </a:spcAft>
        <a:buClr>
          <a:schemeClr val="tx2"/>
        </a:buClr>
        <a:buSzPct val="80000"/>
        <a:buFont typeface="Wingdings" pitchFamily="2" charset="2"/>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68E36A0B-8BC4-4CCE-8E92-0730DEAB72CF}"/>
              </a:ext>
            </a:extLst>
          </p:cNvPr>
          <p:cNvSpPr>
            <a:spLocks noGrp="1" noChangeArrowheads="1"/>
          </p:cNvSpPr>
          <p:nvPr>
            <p:ph type="title"/>
          </p:nvPr>
        </p:nvSpPr>
        <p:spPr>
          <a:xfrm>
            <a:off x="2697163" y="457201"/>
            <a:ext cx="7772400" cy="614363"/>
          </a:xfrm>
        </p:spPr>
        <p:txBody>
          <a:bodyPr/>
          <a:lstStyle/>
          <a:p>
            <a:pPr eaLnBrk="1" hangingPunct="1"/>
            <a:r>
              <a:rPr lang="en-US" altLang="en-US" sz="2800" b="1">
                <a:latin typeface="Arial Black" panose="020B0A04020102020204" pitchFamily="34" charset="0"/>
              </a:rPr>
              <a:t>KAPASA MAKASA UNIVERSITY</a:t>
            </a:r>
          </a:p>
        </p:txBody>
      </p:sp>
      <p:sp>
        <p:nvSpPr>
          <p:cNvPr id="5124" name="TextBox 3">
            <a:extLst>
              <a:ext uri="{FF2B5EF4-FFF2-40B4-BE49-F238E27FC236}">
                <a16:creationId xmlns:a16="http://schemas.microsoft.com/office/drawing/2014/main" id="{2E91CEFB-CD15-4803-BD60-0428F996DFA6}"/>
              </a:ext>
            </a:extLst>
          </p:cNvPr>
          <p:cNvSpPr txBox="1">
            <a:spLocks noChangeArrowheads="1"/>
          </p:cNvSpPr>
          <p:nvPr/>
        </p:nvSpPr>
        <p:spPr bwMode="auto">
          <a:xfrm>
            <a:off x="2252663" y="1857375"/>
            <a:ext cx="7772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defRPr>
            </a:lvl3pPr>
            <a:lvl4pPr marL="1600200" indent="-228600">
              <a:spcBef>
                <a:spcPct val="20000"/>
              </a:spcBef>
              <a:buClr>
                <a:schemeClr val="bg2"/>
              </a:buClr>
              <a:buFont typeface="Wingdings" panose="05000000000000000000" pitchFamily="2" charset="2"/>
              <a:buChar char="§"/>
              <a:defRPr sz="2000">
                <a:solidFill>
                  <a:schemeClr val="tx1"/>
                </a:solidFill>
                <a:latin typeface="Verdana" panose="020B0604030504040204" pitchFamily="34" charset="0"/>
              </a:defRPr>
            </a:lvl4pPr>
            <a:lvl5pPr marL="2057400" indent="-228600">
              <a:spcBef>
                <a:spcPct val="20000"/>
              </a:spcBef>
              <a:buClr>
                <a:schemeClr val="tx2"/>
              </a:buClr>
              <a:buSzPct val="80000"/>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defRPr>
            </a:lvl9pPr>
          </a:lstStyle>
          <a:p>
            <a:pPr algn="ctr" fontAlgn="base">
              <a:spcBef>
                <a:spcPct val="0"/>
              </a:spcBef>
              <a:spcAft>
                <a:spcPct val="0"/>
              </a:spcAft>
              <a:buClrTx/>
              <a:buSzTx/>
              <a:buNone/>
            </a:pPr>
            <a:r>
              <a:rPr lang="en-US" altLang="en-US" b="1" dirty="0">
                <a:solidFill>
                  <a:srgbClr val="000000"/>
                </a:solidFill>
                <a:latin typeface="Times New Roman" panose="02020603050405020304" pitchFamily="18" charset="0"/>
                <a:cs typeface="Times New Roman" panose="02020603050405020304" pitchFamily="18" charset="0"/>
              </a:rPr>
              <a:t>Research Methods (AA400/ AA300)</a:t>
            </a:r>
          </a:p>
          <a:p>
            <a:pPr algn="ctr" fontAlgn="base">
              <a:spcBef>
                <a:spcPct val="0"/>
              </a:spcBef>
              <a:spcAft>
                <a:spcPct val="0"/>
              </a:spcAft>
              <a:buClrTx/>
              <a:buSzTx/>
              <a:buNone/>
            </a:pPr>
            <a:endParaRPr lang="en-US" altLang="en-US" sz="2000" b="1" dirty="0">
              <a:solidFill>
                <a:srgbClr val="006600"/>
              </a:solidFill>
              <a:latin typeface="Times New Roman" panose="02020603050405020304" pitchFamily="18" charset="0"/>
              <a:cs typeface="Times New Roman" panose="02020603050405020304" pitchFamily="18" charset="0"/>
            </a:endParaRPr>
          </a:p>
          <a:p>
            <a:pPr algn="ctr" fontAlgn="base">
              <a:spcBef>
                <a:spcPct val="0"/>
              </a:spcBef>
              <a:spcAft>
                <a:spcPct val="0"/>
              </a:spcAft>
              <a:buClrTx/>
              <a:buSzTx/>
              <a:buNone/>
            </a:pPr>
            <a:r>
              <a:rPr lang="en-US" altLang="en-US" sz="2400" b="1" dirty="0">
                <a:solidFill>
                  <a:srgbClr val="006600"/>
                </a:solidFill>
                <a:latin typeface="Arial Black" panose="020B0A04020102020204" pitchFamily="34" charset="0"/>
                <a:cs typeface="Times New Roman" panose="02020603050405020304" pitchFamily="18" charset="0"/>
              </a:rPr>
              <a:t>Lecture IV – Literature review</a:t>
            </a:r>
          </a:p>
        </p:txBody>
      </p:sp>
      <p:sp>
        <p:nvSpPr>
          <p:cNvPr id="5125" name="TextBox 4">
            <a:extLst>
              <a:ext uri="{FF2B5EF4-FFF2-40B4-BE49-F238E27FC236}">
                <a16:creationId xmlns:a16="http://schemas.microsoft.com/office/drawing/2014/main" id="{6D35D525-CB0A-4CE8-A51E-8EAEBCBC9C59}"/>
              </a:ext>
            </a:extLst>
          </p:cNvPr>
          <p:cNvSpPr txBox="1">
            <a:spLocks noChangeArrowheads="1"/>
          </p:cNvSpPr>
          <p:nvPr/>
        </p:nvSpPr>
        <p:spPr bwMode="auto">
          <a:xfrm>
            <a:off x="5303838" y="5013326"/>
            <a:ext cx="342900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p"/>
              <a:defRPr sz="2800">
                <a:solidFill>
                  <a:schemeClr val="tx1"/>
                </a:solidFill>
                <a:latin typeface="Verdana" panose="020B0604030504040204" pitchFamily="34" charset="0"/>
              </a:defRPr>
            </a:lvl1pPr>
            <a:lvl2pPr marL="742950" indent="-285750">
              <a:spcBef>
                <a:spcPct val="20000"/>
              </a:spcBef>
              <a:buClr>
                <a:schemeClr val="tx2"/>
              </a:buClr>
              <a:buSzPct val="75000"/>
              <a:buFont typeface="Wingdings" panose="05000000000000000000" pitchFamily="2" charset="2"/>
              <a:buChar char="n"/>
              <a:defRPr sz="2400">
                <a:solidFill>
                  <a:schemeClr val="tx1"/>
                </a:solidFill>
                <a:latin typeface="Verdana" panose="020B0604030504040204" pitchFamily="34" charset="0"/>
              </a:defRPr>
            </a:lvl2pPr>
            <a:lvl3pPr marL="1143000" indent="-228600">
              <a:spcBef>
                <a:spcPct val="20000"/>
              </a:spcBef>
              <a:buClr>
                <a:schemeClr val="accent1"/>
              </a:buClr>
              <a:buSzPct val="65000"/>
              <a:buFont typeface="Wingdings" panose="05000000000000000000" pitchFamily="2" charset="2"/>
              <a:buChar char="p"/>
              <a:defRPr sz="2000">
                <a:solidFill>
                  <a:schemeClr val="tx1"/>
                </a:solidFill>
                <a:latin typeface="Verdana" panose="020B0604030504040204" pitchFamily="34" charset="0"/>
              </a:defRPr>
            </a:lvl3pPr>
            <a:lvl4pPr marL="1600200" indent="-228600">
              <a:spcBef>
                <a:spcPct val="20000"/>
              </a:spcBef>
              <a:buClr>
                <a:schemeClr val="bg2"/>
              </a:buClr>
              <a:buFont typeface="Wingdings" panose="05000000000000000000" pitchFamily="2" charset="2"/>
              <a:buChar char="§"/>
              <a:defRPr sz="2000">
                <a:solidFill>
                  <a:schemeClr val="tx1"/>
                </a:solidFill>
                <a:latin typeface="Verdana" panose="020B0604030504040204" pitchFamily="34" charset="0"/>
              </a:defRPr>
            </a:lvl4pPr>
            <a:lvl5pPr marL="2057400" indent="-228600">
              <a:spcBef>
                <a:spcPct val="20000"/>
              </a:spcBef>
              <a:buClr>
                <a:schemeClr val="tx2"/>
              </a:buClr>
              <a:buSzPct val="80000"/>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Verdana" panose="020B0604030504040204" pitchFamily="34" charset="0"/>
              </a:defRPr>
            </a:lvl9pPr>
          </a:lstStyle>
          <a:p>
            <a:pPr algn="ctr" fontAlgn="base">
              <a:spcBef>
                <a:spcPct val="0"/>
              </a:spcBef>
              <a:spcAft>
                <a:spcPct val="0"/>
              </a:spcAft>
              <a:buClrTx/>
              <a:buSzTx/>
              <a:buNone/>
            </a:pPr>
            <a:r>
              <a:rPr lang="en-US" altLang="en-US" sz="1600" b="1">
                <a:solidFill>
                  <a:srgbClr val="000000"/>
                </a:solidFill>
                <a:latin typeface="Times New Roman" panose="02020603050405020304" pitchFamily="18" charset="0"/>
                <a:cs typeface="Times New Roman" panose="02020603050405020304" pitchFamily="18" charset="0"/>
              </a:rPr>
              <a:t>Mrs Sarah Ng’andwe Tembo</a:t>
            </a:r>
          </a:p>
          <a:p>
            <a:pPr algn="ctr" fontAlgn="base">
              <a:spcBef>
                <a:spcPct val="0"/>
              </a:spcBef>
              <a:spcAft>
                <a:spcPct val="0"/>
              </a:spcAft>
              <a:buClrTx/>
              <a:buSzTx/>
              <a:buNone/>
            </a:pPr>
            <a:r>
              <a:rPr lang="en-US" altLang="en-US" sz="1600" b="1">
                <a:solidFill>
                  <a:srgbClr val="000000"/>
                </a:solidFill>
                <a:latin typeface="Times New Roman" panose="02020603050405020304" pitchFamily="18" charset="0"/>
                <a:cs typeface="Times New Roman" panose="02020603050405020304" pitchFamily="18" charset="0"/>
              </a:rPr>
              <a:t>Dept of Agric and Aquatic sciences</a:t>
            </a:r>
          </a:p>
          <a:p>
            <a:pPr algn="ctr" fontAlgn="base">
              <a:spcBef>
                <a:spcPct val="0"/>
              </a:spcBef>
              <a:spcAft>
                <a:spcPct val="0"/>
              </a:spcAft>
              <a:buClrTx/>
              <a:buSzTx/>
              <a:buNone/>
            </a:pPr>
            <a:r>
              <a:rPr lang="en-US" altLang="en-US" sz="1600" b="1">
                <a:solidFill>
                  <a:srgbClr val="000000"/>
                </a:solidFill>
                <a:latin typeface="Times New Roman" panose="02020603050405020304" pitchFamily="18" charset="0"/>
                <a:cs typeface="Times New Roman" panose="02020603050405020304" pitchFamily="18" charset="0"/>
              </a:rPr>
              <a:t>March 2026</a:t>
            </a:r>
          </a:p>
          <a:p>
            <a:pPr algn="ctr" fontAlgn="base">
              <a:spcBef>
                <a:spcPct val="0"/>
              </a:spcBef>
              <a:spcAft>
                <a:spcPct val="0"/>
              </a:spcAft>
              <a:buClrTx/>
              <a:buSzTx/>
              <a:buNone/>
            </a:pPr>
            <a:endParaRPr lang="en-US" altLang="en-US" sz="1600" b="1">
              <a:solidFill>
                <a:srgbClr val="006600"/>
              </a:solidFill>
              <a:latin typeface="Times New Roman" panose="02020603050405020304" pitchFamily="18" charset="0"/>
              <a:cs typeface="Times New Roman" panose="02020603050405020304" pitchFamily="18" charset="0"/>
            </a:endParaRPr>
          </a:p>
        </p:txBody>
      </p:sp>
      <p:pic>
        <p:nvPicPr>
          <p:cNvPr id="5126" name="Picture 1">
            <a:extLst>
              <a:ext uri="{FF2B5EF4-FFF2-40B4-BE49-F238E27FC236}">
                <a16:creationId xmlns:a16="http://schemas.microsoft.com/office/drawing/2014/main" id="{43034A9E-AA91-49E3-97D8-1032A4A790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9301" y="5791201"/>
            <a:ext cx="1376363" cy="83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F1D3AC63-EADF-4C48-9A25-8CE9413982D1}"/>
              </a:ext>
            </a:extLst>
          </p:cNvPr>
          <p:cNvSpPr>
            <a:spLocks noGrp="1"/>
          </p:cNvSpPr>
          <p:nvPr>
            <p:ph type="title"/>
          </p:nvPr>
        </p:nvSpPr>
        <p:spPr>
          <a:xfrm>
            <a:off x="2952750" y="571501"/>
            <a:ext cx="6643688" cy="811213"/>
          </a:xfrm>
        </p:spPr>
        <p:txBody>
          <a:bodyPr/>
          <a:lstStyle/>
          <a:p>
            <a:pPr eaLnBrk="1" hangingPunct="1"/>
            <a:r>
              <a:rPr lang="en-US" altLang="en-US" sz="4000">
                <a:latin typeface="Times New Roman" panose="02020603050405020304" pitchFamily="18" charset="0"/>
                <a:cs typeface="Times New Roman" panose="02020603050405020304" pitchFamily="18" charset="0"/>
              </a:rPr>
              <a:t>The Process So Far</a:t>
            </a:r>
          </a:p>
        </p:txBody>
      </p:sp>
      <p:grpSp>
        <p:nvGrpSpPr>
          <p:cNvPr id="7171" name="Group 9">
            <a:extLst>
              <a:ext uri="{FF2B5EF4-FFF2-40B4-BE49-F238E27FC236}">
                <a16:creationId xmlns:a16="http://schemas.microsoft.com/office/drawing/2014/main" id="{40E4BD49-46B7-4362-9C49-F2551CE592B2}"/>
              </a:ext>
            </a:extLst>
          </p:cNvPr>
          <p:cNvGrpSpPr>
            <a:grpSpLocks/>
          </p:cNvGrpSpPr>
          <p:nvPr/>
        </p:nvGrpSpPr>
        <p:grpSpPr bwMode="auto">
          <a:xfrm>
            <a:off x="1943101" y="1500189"/>
            <a:ext cx="8505825" cy="5146675"/>
            <a:chOff x="457200" y="1295400"/>
            <a:chExt cx="8397765" cy="5343155"/>
          </a:xfrm>
        </p:grpSpPr>
        <p:sp>
          <p:nvSpPr>
            <p:cNvPr id="13" name="Down Arrow 12">
              <a:extLst>
                <a:ext uri="{FF2B5EF4-FFF2-40B4-BE49-F238E27FC236}">
                  <a16:creationId xmlns:a16="http://schemas.microsoft.com/office/drawing/2014/main" id="{C192B336-5DC6-42BB-86C6-59E2ADFA7AC4}"/>
                </a:ext>
              </a:extLst>
            </p:cNvPr>
            <p:cNvSpPr/>
            <p:nvPr/>
          </p:nvSpPr>
          <p:spPr>
            <a:xfrm>
              <a:off x="2441442" y="2259541"/>
              <a:ext cx="380862" cy="407082"/>
            </a:xfrm>
            <a:prstGeom prst="downArrow">
              <a:avLst/>
            </a:prstGeom>
            <a:solidFill>
              <a:srgbClr val="FFFF00"/>
            </a:solidFill>
          </p:spPr>
          <p:style>
            <a:lnRef idx="1">
              <a:schemeClr val="accent3"/>
            </a:lnRef>
            <a:fillRef idx="2">
              <a:schemeClr val="accent3"/>
            </a:fillRef>
            <a:effectRef idx="1">
              <a:schemeClr val="accent3"/>
            </a:effectRef>
            <a:fontRef idx="minor">
              <a:schemeClr val="dk1"/>
            </a:fontRef>
          </p:style>
          <p:txBody>
            <a:bodyPr anchor="ctr"/>
            <a:lstStyle/>
            <a:p>
              <a:pPr algn="ctr" eaLnBrk="1" hangingPunct="1">
                <a:defRPr/>
              </a:pPr>
              <a:endParaRPr lang="en-US"/>
            </a:p>
          </p:txBody>
        </p:sp>
        <p:sp>
          <p:nvSpPr>
            <p:cNvPr id="7" name="Rectangle 6">
              <a:extLst>
                <a:ext uri="{FF2B5EF4-FFF2-40B4-BE49-F238E27FC236}">
                  <a16:creationId xmlns:a16="http://schemas.microsoft.com/office/drawing/2014/main" id="{9072ED6D-E4EF-49C6-9894-CF0356005D2C}"/>
                </a:ext>
              </a:extLst>
            </p:cNvPr>
            <p:cNvSpPr/>
            <p:nvPr/>
          </p:nvSpPr>
          <p:spPr>
            <a:xfrm>
              <a:off x="457200" y="1295400"/>
              <a:ext cx="4800738" cy="990510"/>
            </a:xfrm>
            <a:prstGeom prst="rect">
              <a:avLst/>
            </a:prstGeom>
            <a:solidFill>
              <a:srgbClr val="FFFF00"/>
            </a:solidFill>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sz="3600" dirty="0">
                  <a:latin typeface="Times New Roman" panose="02020603050405020304" pitchFamily="18" charset="0"/>
                  <a:cs typeface="Times New Roman" panose="02020603050405020304" pitchFamily="18" charset="0"/>
                </a:rPr>
                <a:t>What is the Problem?</a:t>
              </a:r>
            </a:p>
          </p:txBody>
        </p:sp>
        <p:sp>
          <p:nvSpPr>
            <p:cNvPr id="8" name="Rectangle 7">
              <a:extLst>
                <a:ext uri="{FF2B5EF4-FFF2-40B4-BE49-F238E27FC236}">
                  <a16:creationId xmlns:a16="http://schemas.microsoft.com/office/drawing/2014/main" id="{CD178A91-AD3A-49DD-8FCC-6D16583F197D}"/>
                </a:ext>
              </a:extLst>
            </p:cNvPr>
            <p:cNvSpPr/>
            <p:nvPr/>
          </p:nvSpPr>
          <p:spPr>
            <a:xfrm>
              <a:off x="457200" y="2742436"/>
              <a:ext cx="4800738" cy="1524496"/>
            </a:xfrm>
            <a:prstGeom prst="rect">
              <a:avLst/>
            </a:prstGeom>
            <a:solidFill>
              <a:srgbClr val="92D050"/>
            </a:solidFill>
          </p:spPr>
          <p:style>
            <a:lnRef idx="2">
              <a:schemeClr val="accent6"/>
            </a:lnRef>
            <a:fillRef idx="1">
              <a:schemeClr val="lt1"/>
            </a:fillRef>
            <a:effectRef idx="0">
              <a:schemeClr val="accent6"/>
            </a:effectRef>
            <a:fontRef idx="minor">
              <a:schemeClr val="dk1"/>
            </a:fontRef>
          </p:style>
          <p:txBody>
            <a:bodyPr anchor="ctr"/>
            <a:lstStyle/>
            <a:p>
              <a:pPr algn="ctr" eaLnBrk="1" hangingPunct="1">
                <a:defRPr/>
              </a:pPr>
              <a:r>
                <a:rPr lang="en-US" sz="3600" dirty="0">
                  <a:latin typeface="Times New Roman" panose="02020603050405020304" pitchFamily="18" charset="0"/>
                  <a:cs typeface="Times New Roman" panose="02020603050405020304" pitchFamily="18" charset="0"/>
                </a:rPr>
                <a:t>Why Should it be studied?</a:t>
              </a:r>
            </a:p>
          </p:txBody>
        </p:sp>
        <p:sp>
          <p:nvSpPr>
            <p:cNvPr id="9" name="Rectangle 8">
              <a:extLst>
                <a:ext uri="{FF2B5EF4-FFF2-40B4-BE49-F238E27FC236}">
                  <a16:creationId xmlns:a16="http://schemas.microsoft.com/office/drawing/2014/main" id="{05021311-2830-4C29-87B9-C6AEB1A9927C}"/>
                </a:ext>
              </a:extLst>
            </p:cNvPr>
            <p:cNvSpPr/>
            <p:nvPr/>
          </p:nvSpPr>
          <p:spPr>
            <a:xfrm>
              <a:off x="466604" y="4929470"/>
              <a:ext cx="4799171" cy="1524497"/>
            </a:xfrm>
            <a:prstGeom prst="rect">
              <a:avLst/>
            </a:prstGeom>
            <a:solidFill>
              <a:srgbClr val="FFC000"/>
            </a:solidFill>
          </p:spPr>
          <p:style>
            <a:lnRef idx="1">
              <a:schemeClr val="accent2"/>
            </a:lnRef>
            <a:fillRef idx="2">
              <a:schemeClr val="accent2"/>
            </a:fillRef>
            <a:effectRef idx="1">
              <a:schemeClr val="accent2"/>
            </a:effectRef>
            <a:fontRef idx="minor">
              <a:schemeClr val="dk1"/>
            </a:fontRef>
          </p:style>
          <p:txBody>
            <a:bodyPr anchor="ctr"/>
            <a:lstStyle/>
            <a:p>
              <a:pPr algn="ctr" eaLnBrk="1" hangingPunct="1">
                <a:defRPr/>
              </a:pPr>
              <a:r>
                <a:rPr lang="en-US" sz="3600" dirty="0">
                  <a:latin typeface="Times New Roman" panose="02020603050405020304" pitchFamily="18" charset="0"/>
                  <a:cs typeface="Times New Roman" panose="02020603050405020304" pitchFamily="18" charset="0"/>
                </a:rPr>
                <a:t>What information is already available?</a:t>
              </a:r>
            </a:p>
          </p:txBody>
        </p:sp>
        <p:sp>
          <p:nvSpPr>
            <p:cNvPr id="12" name="Left Arrow Callout 11">
              <a:extLst>
                <a:ext uri="{FF2B5EF4-FFF2-40B4-BE49-F238E27FC236}">
                  <a16:creationId xmlns:a16="http://schemas.microsoft.com/office/drawing/2014/main" id="{7958A702-28CA-4424-AF2C-1E66E4D0DC80}"/>
                </a:ext>
              </a:extLst>
            </p:cNvPr>
            <p:cNvSpPr/>
            <p:nvPr/>
          </p:nvSpPr>
          <p:spPr>
            <a:xfrm>
              <a:off x="5257938" y="4632811"/>
              <a:ext cx="3597027" cy="2005744"/>
            </a:xfrm>
            <a:prstGeom prst="leftArrowCallout">
              <a:avLst>
                <a:gd name="adj1" fmla="val 10586"/>
                <a:gd name="adj2" fmla="val 15219"/>
                <a:gd name="adj3" fmla="val 25000"/>
                <a:gd name="adj4" fmla="val 75084"/>
              </a:avLst>
            </a:prstGeom>
          </p:spPr>
          <p:style>
            <a:lnRef idx="0">
              <a:schemeClr val="accent2"/>
            </a:lnRef>
            <a:fillRef idx="3">
              <a:schemeClr val="accent2"/>
            </a:fillRef>
            <a:effectRef idx="3">
              <a:schemeClr val="accent2"/>
            </a:effectRef>
            <a:fontRef idx="minor">
              <a:schemeClr val="lt1"/>
            </a:fontRef>
          </p:style>
          <p:txBody>
            <a:bodyPr anchor="ctr"/>
            <a:lstStyle/>
            <a:p>
              <a:pPr algn="ctr" eaLnBrk="1" hangingPunct="1">
                <a:defRPr/>
              </a:pPr>
              <a:r>
                <a:rPr lang="en-US" sz="3200" dirty="0">
                  <a:latin typeface="Times New Roman" panose="02020603050405020304" pitchFamily="18" charset="0"/>
                  <a:cs typeface="Times New Roman" panose="02020603050405020304" pitchFamily="18" charset="0"/>
                </a:rPr>
                <a:t>Literature &amp; other available information</a:t>
              </a:r>
            </a:p>
          </p:txBody>
        </p:sp>
        <p:sp>
          <p:nvSpPr>
            <p:cNvPr id="14" name="Down Arrow 13">
              <a:extLst>
                <a:ext uri="{FF2B5EF4-FFF2-40B4-BE49-F238E27FC236}">
                  <a16:creationId xmlns:a16="http://schemas.microsoft.com/office/drawing/2014/main" id="{43CF28B9-3F4A-48C6-B2C5-792905E0085B}"/>
                </a:ext>
              </a:extLst>
            </p:cNvPr>
            <p:cNvSpPr/>
            <p:nvPr/>
          </p:nvSpPr>
          <p:spPr>
            <a:xfrm>
              <a:off x="2438308" y="4342745"/>
              <a:ext cx="380862" cy="512561"/>
            </a:xfrm>
            <a:prstGeom prst="downArrow">
              <a:avLst/>
            </a:prstGeom>
            <a:solidFill>
              <a:srgbClr val="92D050"/>
            </a:solidFill>
          </p:spPr>
          <p:style>
            <a:lnRef idx="1">
              <a:schemeClr val="accent3"/>
            </a:lnRef>
            <a:fillRef idx="2">
              <a:schemeClr val="accent3"/>
            </a:fillRef>
            <a:effectRef idx="1">
              <a:schemeClr val="accent3"/>
            </a:effectRef>
            <a:fontRef idx="minor">
              <a:schemeClr val="dk1"/>
            </a:fontRef>
          </p:style>
          <p:txBody>
            <a:bodyPr anchor="ctr"/>
            <a:lstStyle/>
            <a:p>
              <a:pPr algn="ctr" eaLnBrk="1" hangingPunct="1">
                <a:defRPr/>
              </a:pPr>
              <a:endParaRPr 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25361D44-30A4-4A43-8CB4-AE2F7964A5EC}"/>
              </a:ext>
            </a:extLst>
          </p:cNvPr>
          <p:cNvSpPr>
            <a:spLocks noGrp="1" noChangeArrowheads="1"/>
          </p:cNvSpPr>
          <p:nvPr>
            <p:ph type="title"/>
          </p:nvPr>
        </p:nvSpPr>
        <p:spPr/>
        <p:txBody>
          <a:bodyPr/>
          <a:lstStyle/>
          <a:p>
            <a:r>
              <a:rPr lang="en-GB" altLang="en-US" b="1" dirty="0"/>
              <a:t>Definition of Literature Review</a:t>
            </a:r>
          </a:p>
        </p:txBody>
      </p:sp>
      <p:sp>
        <p:nvSpPr>
          <p:cNvPr id="10243" name="Rectangle 3">
            <a:extLst>
              <a:ext uri="{FF2B5EF4-FFF2-40B4-BE49-F238E27FC236}">
                <a16:creationId xmlns:a16="http://schemas.microsoft.com/office/drawing/2014/main" id="{627B63EA-FB30-4C46-AE1D-7B7FB8D0D8A8}"/>
              </a:ext>
            </a:extLst>
          </p:cNvPr>
          <p:cNvSpPr>
            <a:spLocks noGrp="1" noChangeArrowheads="1"/>
          </p:cNvSpPr>
          <p:nvPr>
            <p:ph idx="1"/>
          </p:nvPr>
        </p:nvSpPr>
        <p:spPr>
          <a:xfrm>
            <a:off x="609600" y="1600201"/>
            <a:ext cx="10972800" cy="5105399"/>
          </a:xfrm>
        </p:spPr>
        <p:txBody>
          <a:bodyPr/>
          <a:lstStyle/>
          <a:p>
            <a:endParaRPr lang="en-US" altLang="en-US" dirty="0"/>
          </a:p>
          <a:p>
            <a:endParaRPr lang="en-US" altLang="en-US" dirty="0"/>
          </a:p>
          <a:p>
            <a:endParaRPr lang="en-US" altLang="en-US" dirty="0"/>
          </a:p>
          <a:p>
            <a:endParaRPr lang="en-US" altLang="en-US" dirty="0"/>
          </a:p>
          <a:p>
            <a:endParaRPr lang="en-US" altLang="en-US" dirty="0"/>
          </a:p>
          <a:p>
            <a:endParaRPr lang="en-US" altLang="en-US" dirty="0"/>
          </a:p>
          <a:p>
            <a:endParaRPr lang="en-GB" altLang="en-US" dirty="0"/>
          </a:p>
        </p:txBody>
      </p:sp>
      <p:sp>
        <p:nvSpPr>
          <p:cNvPr id="5" name="Rectangle 4">
            <a:extLst>
              <a:ext uri="{FF2B5EF4-FFF2-40B4-BE49-F238E27FC236}">
                <a16:creationId xmlns:a16="http://schemas.microsoft.com/office/drawing/2014/main" id="{E9EBE992-6864-42EE-AF74-63579B4CD662}"/>
              </a:ext>
            </a:extLst>
          </p:cNvPr>
          <p:cNvSpPr/>
          <p:nvPr/>
        </p:nvSpPr>
        <p:spPr>
          <a:xfrm>
            <a:off x="1016000" y="1600201"/>
            <a:ext cx="9144000" cy="21590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eaLnBrk="1" hangingPunct="1">
              <a:lnSpc>
                <a:spcPct val="90000"/>
              </a:lnSpc>
              <a:defRPr/>
            </a:pPr>
            <a:r>
              <a:rPr lang="en-US" sz="2800" dirty="0">
                <a:solidFill>
                  <a:schemeClr val="bg1"/>
                </a:solidFill>
                <a:latin typeface="Times New Roman" panose="02020603050405020304" pitchFamily="18" charset="0"/>
                <a:cs typeface="Times New Roman" panose="02020603050405020304" pitchFamily="18" charset="0"/>
              </a:rPr>
              <a:t>It is the </a:t>
            </a:r>
            <a:r>
              <a:rPr lang="en-US" sz="2800" u="sng" dirty="0">
                <a:solidFill>
                  <a:schemeClr val="bg1"/>
                </a:solidFill>
                <a:latin typeface="Times New Roman" panose="02020603050405020304" pitchFamily="18" charset="0"/>
                <a:cs typeface="Times New Roman" panose="02020603050405020304" pitchFamily="18" charset="0"/>
              </a:rPr>
              <a:t>exploration</a:t>
            </a:r>
            <a:r>
              <a:rPr lang="en-US" sz="2800" dirty="0">
                <a:solidFill>
                  <a:schemeClr val="bg1"/>
                </a:solidFill>
                <a:latin typeface="Times New Roman" panose="02020603050405020304" pitchFamily="18" charset="0"/>
                <a:cs typeface="Times New Roman" panose="02020603050405020304" pitchFamily="18" charset="0"/>
              </a:rPr>
              <a:t>, </a:t>
            </a:r>
            <a:r>
              <a:rPr lang="en-US" sz="2800" u="sng" dirty="0">
                <a:solidFill>
                  <a:schemeClr val="bg1"/>
                </a:solidFill>
                <a:latin typeface="Times New Roman" panose="02020603050405020304" pitchFamily="18" charset="0"/>
                <a:cs typeface="Times New Roman" panose="02020603050405020304" pitchFamily="18" charset="0"/>
              </a:rPr>
              <a:t>analysis</a:t>
            </a:r>
            <a:r>
              <a:rPr lang="en-US" sz="2800" dirty="0">
                <a:solidFill>
                  <a:schemeClr val="bg1"/>
                </a:solidFill>
                <a:latin typeface="Times New Roman" panose="02020603050405020304" pitchFamily="18" charset="0"/>
                <a:cs typeface="Times New Roman" panose="02020603050405020304" pitchFamily="18" charset="0"/>
              </a:rPr>
              <a:t> and </a:t>
            </a:r>
            <a:r>
              <a:rPr lang="en-US" sz="2800" b="1" u="sng" dirty="0">
                <a:solidFill>
                  <a:schemeClr val="bg1"/>
                </a:solidFill>
                <a:latin typeface="Times New Roman" panose="02020603050405020304" pitchFamily="18" charset="0"/>
                <a:cs typeface="Times New Roman" panose="02020603050405020304" pitchFamily="18" charset="0"/>
              </a:rPr>
              <a:t>critical discussion </a:t>
            </a:r>
            <a:r>
              <a:rPr lang="en-US" sz="2800" dirty="0">
                <a:solidFill>
                  <a:schemeClr val="bg1"/>
                </a:solidFill>
                <a:latin typeface="Times New Roman" panose="02020603050405020304" pitchFamily="18" charset="0"/>
                <a:cs typeface="Times New Roman" panose="02020603050405020304" pitchFamily="18" charset="0"/>
              </a:rPr>
              <a:t>of studies that have been conducted in order to discover </a:t>
            </a:r>
            <a:r>
              <a:rPr lang="en-US" sz="2800" b="1" u="sng" dirty="0">
                <a:solidFill>
                  <a:schemeClr val="bg1"/>
                </a:solidFill>
                <a:latin typeface="Times New Roman" panose="02020603050405020304" pitchFamily="18" charset="0"/>
                <a:cs typeface="Times New Roman" panose="02020603050405020304" pitchFamily="18" charset="0"/>
              </a:rPr>
              <a:t>their relationship with an identified problem</a:t>
            </a:r>
            <a:r>
              <a:rPr lang="en-US" sz="2800" dirty="0">
                <a:solidFill>
                  <a:schemeClr val="bg1"/>
                </a:solidFill>
                <a:latin typeface="Times New Roman" panose="02020603050405020304" pitchFamily="18" charset="0"/>
                <a:cs typeface="Times New Roman" panose="02020603050405020304" pitchFamily="18" charset="0"/>
              </a:rPr>
              <a:t> (or proposed study)</a:t>
            </a:r>
          </a:p>
        </p:txBody>
      </p:sp>
      <p:sp>
        <p:nvSpPr>
          <p:cNvPr id="6" name="Rectangle 5">
            <a:extLst>
              <a:ext uri="{FF2B5EF4-FFF2-40B4-BE49-F238E27FC236}">
                <a16:creationId xmlns:a16="http://schemas.microsoft.com/office/drawing/2014/main" id="{A0C91E77-AB06-437C-BF9E-8F2792FB8C46}"/>
              </a:ext>
            </a:extLst>
          </p:cNvPr>
          <p:cNvSpPr/>
          <p:nvPr/>
        </p:nvSpPr>
        <p:spPr>
          <a:xfrm>
            <a:off x="1181100" y="4292599"/>
            <a:ext cx="9144000" cy="201612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eaLnBrk="1" hangingPunct="1">
              <a:lnSpc>
                <a:spcPct val="90000"/>
              </a:lnSpc>
              <a:defRPr/>
            </a:pPr>
            <a:r>
              <a:rPr lang="en-US" sz="2800" b="1" dirty="0">
                <a:solidFill>
                  <a:schemeClr val="tx1">
                    <a:lumMod val="95000"/>
                    <a:lumOff val="5000"/>
                  </a:schemeClr>
                </a:solidFill>
                <a:latin typeface="Times New Roman" panose="02020603050405020304" pitchFamily="18" charset="0"/>
                <a:cs typeface="Times New Roman" panose="02020603050405020304" pitchFamily="18" charset="0"/>
              </a:rPr>
              <a:t>The underlying principle is that; the more one knows about studies conducted in areas related to a proposed study the more knowledgeable and more equipped one is to investigate the identified problem (or to conduct their own study)</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D39080C1-99DF-49C8-99D2-2AB0CABA7B14}"/>
              </a:ext>
            </a:extLst>
          </p:cNvPr>
          <p:cNvSpPr>
            <a:spLocks noGrp="1"/>
          </p:cNvSpPr>
          <p:nvPr>
            <p:ph type="title"/>
          </p:nvPr>
        </p:nvSpPr>
        <p:spPr>
          <a:xfrm>
            <a:off x="2595564" y="714375"/>
            <a:ext cx="6275387" cy="711200"/>
          </a:xfrm>
        </p:spPr>
        <p:txBody>
          <a:bodyPr/>
          <a:lstStyle/>
          <a:p>
            <a:pPr algn="ctr" eaLnBrk="1" hangingPunct="1"/>
            <a:endParaRPr lang="en-US" altLang="en-US"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7763EAF-0CBA-4CC0-9C4D-13411E46EE4A}"/>
              </a:ext>
            </a:extLst>
          </p:cNvPr>
          <p:cNvSpPr>
            <a:spLocks noGrp="1"/>
          </p:cNvSpPr>
          <p:nvPr>
            <p:ph idx="1"/>
          </p:nvPr>
        </p:nvSpPr>
        <p:spPr>
          <a:xfrm>
            <a:off x="1524000" y="1557338"/>
            <a:ext cx="9144000" cy="5300662"/>
          </a:xfrm>
        </p:spPr>
        <p:txBody>
          <a:bodyPr/>
          <a:lstStyle/>
          <a:p>
            <a:pPr eaLnBrk="1" hangingPunct="1">
              <a:buFont typeface="Wingdings" panose="05000000000000000000" pitchFamily="2" charset="2"/>
              <a:buChar char="§"/>
            </a:pPr>
            <a:r>
              <a:rPr lang="en-US" altLang="en-US" sz="2000" dirty="0">
                <a:ea typeface="Verdana" panose="020B0604030504040204" pitchFamily="34" charset="0"/>
                <a:cs typeface="Times New Roman" panose="02020603050405020304" pitchFamily="18" charset="0"/>
              </a:rPr>
              <a:t>Fundamental question?</a:t>
            </a:r>
          </a:p>
          <a:p>
            <a:pPr lvl="1" eaLnBrk="1" hangingPunct="1">
              <a:buFont typeface="Wingdings" panose="05000000000000000000" pitchFamily="2" charset="2"/>
              <a:buChar char="§"/>
            </a:pPr>
            <a:r>
              <a:rPr lang="en-US" altLang="en-US" sz="2000" dirty="0">
                <a:ea typeface="Verdana" panose="020B0604030504040204" pitchFamily="34" charset="0"/>
                <a:cs typeface="Times New Roman" panose="02020603050405020304" pitchFamily="18" charset="0"/>
              </a:rPr>
              <a:t>What is known about a particular topic</a:t>
            </a:r>
          </a:p>
          <a:p>
            <a:pPr lvl="1" eaLnBrk="1" hangingPunct="1">
              <a:buFont typeface="Wingdings" panose="05000000000000000000" pitchFamily="2" charset="2"/>
              <a:buChar char="§"/>
            </a:pPr>
            <a:r>
              <a:rPr lang="en-US" altLang="en-US" sz="2000" dirty="0">
                <a:ea typeface="Verdana" panose="020B0604030504040204" pitchFamily="34" charset="0"/>
                <a:cs typeface="Times New Roman" panose="02020603050405020304" pitchFamily="18" charset="0"/>
              </a:rPr>
              <a:t>What needs to be known</a:t>
            </a:r>
          </a:p>
          <a:p>
            <a:pPr lvl="1" eaLnBrk="1" hangingPunct="1">
              <a:buFont typeface="Wingdings" panose="05000000000000000000" pitchFamily="2" charset="2"/>
              <a:buChar char="§"/>
            </a:pPr>
            <a:endParaRPr lang="en-US" altLang="en-US" sz="2000" dirty="0">
              <a:ea typeface="Verdana" panose="020B0604030504040204" pitchFamily="34" charset="0"/>
              <a:cs typeface="Times New Roman" panose="02020603050405020304" pitchFamily="18" charset="0"/>
            </a:endParaRPr>
          </a:p>
          <a:p>
            <a:pPr eaLnBrk="1" hangingPunct="1">
              <a:buFont typeface="Wingdings" panose="05000000000000000000" pitchFamily="2" charset="2"/>
              <a:buChar char="§"/>
            </a:pPr>
            <a:r>
              <a:rPr lang="en-US" altLang="en-US" sz="2000" dirty="0">
                <a:ea typeface="Verdana" panose="020B0604030504040204" pitchFamily="34" charset="0"/>
                <a:cs typeface="Times New Roman" panose="02020603050405020304" pitchFamily="18" charset="0"/>
              </a:rPr>
              <a:t>It is important to convince the reader that the research problem is well understood.</a:t>
            </a:r>
          </a:p>
          <a:p>
            <a:pPr lvl="1" eaLnBrk="1" hangingPunct="1">
              <a:buFont typeface="Wingdings" panose="05000000000000000000" pitchFamily="2" charset="2"/>
              <a:buChar char="§"/>
            </a:pPr>
            <a:endParaRPr lang="en-US" altLang="en-US" sz="2000" dirty="0">
              <a:ea typeface="Verdana" panose="020B0604030504040204" pitchFamily="34" charset="0"/>
              <a:cs typeface="Times New Roman" panose="02020603050405020304" pitchFamily="18" charset="0"/>
            </a:endParaRPr>
          </a:p>
          <a:p>
            <a:pPr eaLnBrk="1" hangingPunct="1">
              <a:buFont typeface="Wingdings" panose="05000000000000000000" pitchFamily="2" charset="2"/>
              <a:buChar char="§"/>
            </a:pPr>
            <a:r>
              <a:rPr lang="en-US" altLang="en-US" sz="2000" dirty="0">
                <a:ea typeface="Verdana" panose="020B0604030504040204" pitchFamily="34" charset="0"/>
                <a:cs typeface="Times New Roman" panose="02020603050405020304" pitchFamily="18" charset="0"/>
              </a:rPr>
              <a:t>Literature review may point out to </a:t>
            </a:r>
            <a:r>
              <a:rPr lang="en-US" altLang="en-US" sz="2000" b="1" u="sng" dirty="0">
                <a:solidFill>
                  <a:srgbClr val="FF0000"/>
                </a:solidFill>
                <a:ea typeface="Verdana" panose="020B0604030504040204" pitchFamily="34" charset="0"/>
                <a:cs typeface="Times New Roman" panose="02020603050405020304" pitchFamily="18" charset="0"/>
              </a:rPr>
              <a:t>inconsistencies or </a:t>
            </a:r>
            <a:r>
              <a:rPr lang="en-US" altLang="en-US" sz="2000" b="1" u="sng" dirty="0">
                <a:solidFill>
                  <a:srgbClr val="00B050"/>
                </a:solidFill>
                <a:ea typeface="Verdana" panose="020B0604030504040204" pitchFamily="34" charset="0"/>
                <a:cs typeface="Times New Roman" panose="02020603050405020304" pitchFamily="18" charset="0"/>
              </a:rPr>
              <a:t>disagreements</a:t>
            </a:r>
            <a:r>
              <a:rPr lang="en-US" altLang="en-US" sz="2000" dirty="0">
                <a:solidFill>
                  <a:srgbClr val="002060"/>
                </a:solidFill>
                <a:ea typeface="Verdana" panose="020B0604030504040204" pitchFamily="34" charset="0"/>
                <a:cs typeface="Times New Roman" panose="02020603050405020304" pitchFamily="18" charset="0"/>
              </a:rPr>
              <a:t> </a:t>
            </a:r>
            <a:r>
              <a:rPr lang="en-US" altLang="en-US" sz="2000" dirty="0">
                <a:ea typeface="Verdana" panose="020B0604030504040204" pitchFamily="34" charset="0"/>
                <a:cs typeface="Times New Roman" panose="02020603050405020304" pitchFamily="18" charset="0"/>
              </a:rPr>
              <a:t>among findings </a:t>
            </a:r>
          </a:p>
        </p:txBody>
      </p:sp>
      <p:sp>
        <p:nvSpPr>
          <p:cNvPr id="6" name="Rectangle 5">
            <a:extLst>
              <a:ext uri="{FF2B5EF4-FFF2-40B4-BE49-F238E27FC236}">
                <a16:creationId xmlns:a16="http://schemas.microsoft.com/office/drawing/2014/main" id="{0910C43F-2381-4F72-AFCA-D47BAF14BB7C}"/>
              </a:ext>
            </a:extLst>
          </p:cNvPr>
          <p:cNvSpPr/>
          <p:nvPr/>
        </p:nvSpPr>
        <p:spPr>
          <a:xfrm>
            <a:off x="1524000" y="5373688"/>
            <a:ext cx="9144000" cy="148431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eaLnBrk="1" hangingPunct="1">
              <a:defRPr/>
            </a:pPr>
            <a:r>
              <a:rPr lang="en-US" sz="2400" dirty="0">
                <a:solidFill>
                  <a:srgbClr val="FFFF00"/>
                </a:solidFill>
                <a:latin typeface="Times New Roman" panose="02020603050405020304" pitchFamily="18" charset="0"/>
                <a:cs typeface="Times New Roman" panose="02020603050405020304" pitchFamily="18" charset="0"/>
              </a:rPr>
              <a:t>The literature review should </a:t>
            </a:r>
            <a:r>
              <a:rPr lang="en-US" sz="2400" b="1" u="sng" dirty="0">
                <a:solidFill>
                  <a:srgbClr val="FFFF00"/>
                </a:solidFill>
                <a:latin typeface="Times New Roman" panose="02020603050405020304" pitchFamily="18" charset="0"/>
                <a:cs typeface="Times New Roman" panose="02020603050405020304" pitchFamily="18" charset="0"/>
              </a:rPr>
              <a:t>introduce the reader to  the topic</a:t>
            </a:r>
            <a:r>
              <a:rPr lang="en-US" sz="2400" dirty="0">
                <a:solidFill>
                  <a:srgbClr val="FFFF00"/>
                </a:solidFill>
                <a:latin typeface="Times New Roman" panose="02020603050405020304" pitchFamily="18" charset="0"/>
                <a:cs typeface="Times New Roman" panose="02020603050405020304" pitchFamily="18" charset="0"/>
              </a:rPr>
              <a:t>  of interest, laying out in a </a:t>
            </a:r>
            <a:r>
              <a:rPr lang="en-US" sz="2400" b="1" u="sng" dirty="0">
                <a:solidFill>
                  <a:schemeClr val="accent3"/>
                </a:solidFill>
                <a:latin typeface="Times New Roman" panose="02020603050405020304" pitchFamily="18" charset="0"/>
                <a:cs typeface="Times New Roman" panose="02020603050405020304" pitchFamily="18" charset="0"/>
              </a:rPr>
              <a:t>logical manner what has already been learnt in a topic by past researchers</a:t>
            </a:r>
            <a:r>
              <a:rPr lang="en-US" sz="2400" dirty="0">
                <a:solidFill>
                  <a:srgbClr val="FFFF00"/>
                </a:solidFill>
                <a:latin typeface="Times New Roman" panose="02020603050405020304" pitchFamily="18" charset="0"/>
                <a:cs typeface="Times New Roman" panose="02020603050405020304" pitchFamily="18" charset="0"/>
              </a:rPr>
              <a:t>, then leading to </a:t>
            </a:r>
            <a:r>
              <a:rPr lang="en-US" sz="2400" b="1" u="sng" dirty="0">
                <a:solidFill>
                  <a:srgbClr val="FF0000"/>
                </a:solidFill>
                <a:latin typeface="Times New Roman" panose="02020603050405020304" pitchFamily="18" charset="0"/>
                <a:cs typeface="Times New Roman" panose="02020603050405020304" pitchFamily="18" charset="0"/>
              </a:rPr>
              <a:t>the holes or loose ends in the knowledge of the topic.</a:t>
            </a:r>
            <a:endParaRPr lang="en-US" sz="2400"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403AC628-7A77-4788-9580-795C15C3BFE8}"/>
              </a:ext>
            </a:extLst>
          </p:cNvPr>
          <p:cNvSpPr>
            <a:spLocks noGrp="1"/>
          </p:cNvSpPr>
          <p:nvPr>
            <p:ph type="title"/>
          </p:nvPr>
        </p:nvSpPr>
        <p:spPr>
          <a:xfrm>
            <a:off x="2952751" y="630238"/>
            <a:ext cx="7115175" cy="711200"/>
          </a:xfrm>
        </p:spPr>
        <p:txBody>
          <a:bodyPr/>
          <a:lstStyle/>
          <a:p>
            <a:pPr eaLnBrk="1" hangingPunct="1"/>
            <a:r>
              <a:rPr lang="en-US" altLang="en-US" sz="3600" b="1" dirty="0">
                <a:latin typeface="Times New Roman" panose="02020603050405020304" pitchFamily="18" charset="0"/>
                <a:cs typeface="Times New Roman" panose="02020603050405020304" pitchFamily="18" charset="0"/>
              </a:rPr>
              <a:t>What are the challenges?</a:t>
            </a:r>
          </a:p>
        </p:txBody>
      </p:sp>
      <p:sp>
        <p:nvSpPr>
          <p:cNvPr id="12291" name="Content Placeholder 2">
            <a:extLst>
              <a:ext uri="{FF2B5EF4-FFF2-40B4-BE49-F238E27FC236}">
                <a16:creationId xmlns:a16="http://schemas.microsoft.com/office/drawing/2014/main" id="{CAD3D6B1-FC37-4D0D-B73D-F9B22A536497}"/>
              </a:ext>
            </a:extLst>
          </p:cNvPr>
          <p:cNvSpPr>
            <a:spLocks noGrp="1"/>
          </p:cNvSpPr>
          <p:nvPr>
            <p:ph idx="1"/>
          </p:nvPr>
        </p:nvSpPr>
        <p:spPr>
          <a:xfrm>
            <a:off x="1828800" y="1600200"/>
            <a:ext cx="8839200" cy="4800600"/>
          </a:xfrm>
        </p:spPr>
        <p:txBody>
          <a:bodyPr/>
          <a:lstStyle/>
          <a:p>
            <a:pPr eaLnBrk="1" hangingPunct="1">
              <a:lnSpc>
                <a:spcPct val="150000"/>
              </a:lnSpc>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Too little material available</a:t>
            </a:r>
          </a:p>
          <a:p>
            <a:pPr eaLnBrk="1" hangingPunct="1">
              <a:lnSpc>
                <a:spcPct val="150000"/>
              </a:lnSpc>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Too many publications to deal with meaningfully</a:t>
            </a:r>
          </a:p>
          <a:p>
            <a:pPr eaLnBrk="1" hangingPunct="1">
              <a:lnSpc>
                <a:spcPct val="150000"/>
              </a:lnSpc>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Don’t know how to access literature needed</a:t>
            </a:r>
          </a:p>
          <a:p>
            <a:pPr eaLnBrk="1" hangingPunct="1">
              <a:lnSpc>
                <a:spcPct val="150000"/>
              </a:lnSpc>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Don’t know how to structure the information</a:t>
            </a:r>
          </a:p>
          <a:p>
            <a:pPr eaLnBrk="1" hangingPunct="1">
              <a:lnSpc>
                <a:spcPct val="150000"/>
              </a:lnSpc>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Afraid of forgetting to include important facts</a:t>
            </a:r>
          </a:p>
          <a:p>
            <a:pPr eaLnBrk="1" hangingPunct="1">
              <a:lnSpc>
                <a:spcPct val="150000"/>
              </a:lnSpc>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Don’t know how and where to begin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1FD49F3C-52C8-488B-9FE9-AB10C6ED5B25}"/>
              </a:ext>
            </a:extLst>
          </p:cNvPr>
          <p:cNvSpPr>
            <a:spLocks noGrp="1" noChangeArrowheads="1"/>
          </p:cNvSpPr>
          <p:nvPr>
            <p:ph type="title"/>
          </p:nvPr>
        </p:nvSpPr>
        <p:spPr/>
        <p:txBody>
          <a:bodyPr/>
          <a:lstStyle/>
          <a:p>
            <a:pPr eaLnBrk="1" hangingPunct="1">
              <a:lnSpc>
                <a:spcPct val="90000"/>
              </a:lnSpc>
              <a:spcBef>
                <a:spcPct val="20000"/>
              </a:spcBef>
              <a:buClr>
                <a:schemeClr val="bg2"/>
              </a:buClr>
              <a:buSzPct val="75000"/>
              <a:defRPr/>
            </a:pPr>
            <a:r>
              <a:rPr lang="en-ZW" sz="2400" b="1" kern="1200" dirty="0">
                <a:solidFill>
                  <a:schemeClr val="tx1"/>
                </a:solidFill>
                <a:latin typeface="Arial Black" pitchFamily="34" charset="0"/>
                <a:ea typeface="+mn-ea"/>
                <a:cs typeface="+mn-cs"/>
              </a:rPr>
              <a:t>The Purpose of a Literature </a:t>
            </a:r>
            <a:r>
              <a:rPr lang="en-US" sz="2400" b="1" kern="1200" dirty="0">
                <a:solidFill>
                  <a:schemeClr val="tx1"/>
                </a:solidFill>
                <a:latin typeface="Arial Black" pitchFamily="34" charset="0"/>
                <a:ea typeface="+mn-ea"/>
                <a:cs typeface="+mn-cs"/>
              </a:rPr>
              <a:t>Review</a:t>
            </a:r>
          </a:p>
        </p:txBody>
      </p:sp>
      <p:sp>
        <p:nvSpPr>
          <p:cNvPr id="7171" name="Rectangle 3">
            <a:extLst>
              <a:ext uri="{FF2B5EF4-FFF2-40B4-BE49-F238E27FC236}">
                <a16:creationId xmlns:a16="http://schemas.microsoft.com/office/drawing/2014/main" id="{B4519E44-2F32-4A6A-BB41-3DABD3506A05}"/>
              </a:ext>
            </a:extLst>
          </p:cNvPr>
          <p:cNvSpPr>
            <a:spLocks noGrp="1" noChangeArrowheads="1"/>
          </p:cNvSpPr>
          <p:nvPr>
            <p:ph type="body" idx="1"/>
          </p:nvPr>
        </p:nvSpPr>
        <p:spPr>
          <a:xfrm>
            <a:off x="1981200" y="1828800"/>
            <a:ext cx="8229600" cy="4876800"/>
          </a:xfrm>
        </p:spPr>
        <p:txBody>
          <a:bodyPr/>
          <a:lstStyle/>
          <a:p>
            <a:r>
              <a:rPr lang="en-ZW" altLang="en-US" sz="2400" dirty="0"/>
              <a:t>To explain the historical background of a topic</a:t>
            </a:r>
          </a:p>
          <a:p>
            <a:r>
              <a:rPr lang="en-ZW" altLang="en-US" sz="2400" dirty="0"/>
              <a:t>To describe and compare the schools of thought on an </a:t>
            </a:r>
            <a:r>
              <a:rPr lang="en-US" altLang="en-US" sz="2400" dirty="0"/>
              <a:t>issue</a:t>
            </a:r>
          </a:p>
          <a:p>
            <a:r>
              <a:rPr lang="en-ZW" altLang="en-US" sz="2400" dirty="0"/>
              <a:t>To synthesize the available research</a:t>
            </a:r>
          </a:p>
          <a:p>
            <a:r>
              <a:rPr lang="en-ZW" altLang="en-US" sz="2400" dirty="0"/>
              <a:t>To highlight and critique research methods</a:t>
            </a:r>
          </a:p>
          <a:p>
            <a:r>
              <a:rPr lang="en-ZW" altLang="en-US" sz="2400" dirty="0"/>
              <a:t>To note areas of disagreement</a:t>
            </a:r>
          </a:p>
          <a:p>
            <a:r>
              <a:rPr lang="en-ZW" altLang="en-US" sz="2400" dirty="0"/>
              <a:t>To justify the topic you plan to investigate</a:t>
            </a:r>
            <a:endParaRPr lang="en-US" alt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890741A6-1897-423F-B17A-88A007DCADC5}"/>
              </a:ext>
            </a:extLst>
          </p:cNvPr>
          <p:cNvSpPr>
            <a:spLocks noGrp="1" noChangeArrowheads="1"/>
          </p:cNvSpPr>
          <p:nvPr>
            <p:ph type="title"/>
          </p:nvPr>
        </p:nvSpPr>
        <p:spPr>
          <a:xfrm>
            <a:off x="2927351" y="630238"/>
            <a:ext cx="7140575" cy="711200"/>
          </a:xfrm>
        </p:spPr>
        <p:txBody>
          <a:bodyPr/>
          <a:lstStyle/>
          <a:p>
            <a:pPr eaLnBrk="1" hangingPunct="1"/>
            <a:r>
              <a:rPr lang="en-GB" altLang="en-US" b="1" dirty="0">
                <a:latin typeface="Times New Roman" panose="02020603050405020304" pitchFamily="18" charset="0"/>
                <a:cs typeface="Times New Roman" panose="02020603050405020304" pitchFamily="18" charset="0"/>
              </a:rPr>
              <a:t>Purpose of the Review</a:t>
            </a:r>
          </a:p>
        </p:txBody>
      </p:sp>
      <p:sp>
        <p:nvSpPr>
          <p:cNvPr id="4099" name="Rectangle 3">
            <a:extLst>
              <a:ext uri="{FF2B5EF4-FFF2-40B4-BE49-F238E27FC236}">
                <a16:creationId xmlns:a16="http://schemas.microsoft.com/office/drawing/2014/main" id="{0B1FADBC-B0E6-4847-BE49-6D3D2E1BCE4E}"/>
              </a:ext>
            </a:extLst>
          </p:cNvPr>
          <p:cNvSpPr>
            <a:spLocks noGrp="1" noChangeArrowheads="1"/>
          </p:cNvSpPr>
          <p:nvPr>
            <p:ph idx="1"/>
          </p:nvPr>
        </p:nvSpPr>
        <p:spPr>
          <a:xfrm>
            <a:off x="1524001" y="1428750"/>
            <a:ext cx="9143999" cy="5429250"/>
          </a:xfrm>
        </p:spPr>
        <p:txBody>
          <a:bodyPr/>
          <a:lstStyle/>
          <a:p>
            <a:pPr eaLnBrk="1" hangingPunct="1">
              <a:buFont typeface="Wingdings" panose="05000000000000000000" pitchFamily="2" charset="2"/>
              <a:buChar char="§"/>
            </a:pPr>
            <a:r>
              <a:rPr lang="en-US" altLang="en-US" sz="2400" b="1" u="sng" dirty="0">
                <a:solidFill>
                  <a:srgbClr val="FF0000"/>
                </a:solidFill>
                <a:latin typeface="Times New Roman" panose="02020603050405020304" pitchFamily="18" charset="0"/>
                <a:cs typeface="Times New Roman" panose="02020603050405020304" pitchFamily="18" charset="0"/>
              </a:rPr>
              <a:t>To sharpen</a:t>
            </a:r>
            <a:r>
              <a:rPr lang="en-US" altLang="en-US" sz="2400" dirty="0">
                <a:latin typeface="Times New Roman" panose="02020603050405020304" pitchFamily="18" charset="0"/>
                <a:cs typeface="Times New Roman" panose="02020603050405020304" pitchFamily="18" charset="0"/>
              </a:rPr>
              <a:t> and </a:t>
            </a:r>
            <a:r>
              <a:rPr lang="en-US" altLang="en-US" sz="2400" b="1" u="sng" dirty="0">
                <a:solidFill>
                  <a:srgbClr val="FF0000"/>
                </a:solidFill>
                <a:latin typeface="Times New Roman" panose="02020603050405020304" pitchFamily="18" charset="0"/>
                <a:cs typeface="Times New Roman" panose="02020603050405020304" pitchFamily="18" charset="0"/>
              </a:rPr>
              <a:t>deepen</a:t>
            </a:r>
            <a:r>
              <a:rPr lang="en-US" altLang="en-US" sz="2400" dirty="0">
                <a:latin typeface="Times New Roman" panose="02020603050405020304" pitchFamily="18" charset="0"/>
                <a:cs typeface="Times New Roman" panose="02020603050405020304" pitchFamily="18" charset="0"/>
              </a:rPr>
              <a:t> the theoretical/conceptual framework for the study taking an interdisciplinary approach where possible</a:t>
            </a:r>
          </a:p>
          <a:p>
            <a:pPr eaLnBrk="1" hangingPunct="1">
              <a:buFont typeface="Wingdings" panose="05000000000000000000" pitchFamily="2" charset="2"/>
              <a:buChar char="§"/>
            </a:pPr>
            <a:endParaRPr lang="en-US" altLang="en-US" sz="2400"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To </a:t>
            </a:r>
            <a:r>
              <a:rPr lang="en-US" altLang="en-US" sz="2400" b="1" u="sng" dirty="0">
                <a:solidFill>
                  <a:srgbClr val="FF0000"/>
                </a:solidFill>
                <a:latin typeface="Times New Roman" panose="02020603050405020304" pitchFamily="18" charset="0"/>
                <a:cs typeface="Times New Roman" panose="02020603050405020304" pitchFamily="18" charset="0"/>
              </a:rPr>
              <a:t>identify knowledge gaps </a:t>
            </a:r>
            <a:r>
              <a:rPr lang="en-US" altLang="en-US" sz="2400" dirty="0">
                <a:latin typeface="Times New Roman" panose="02020603050405020304" pitchFamily="18" charset="0"/>
                <a:cs typeface="Times New Roman" panose="02020603050405020304" pitchFamily="18" charset="0"/>
              </a:rPr>
              <a:t>in order to avoid re-inventing the wheel or making the same mistakes</a:t>
            </a:r>
          </a:p>
          <a:p>
            <a:pPr eaLnBrk="1" hangingPunct="1">
              <a:buFont typeface="Wingdings" panose="05000000000000000000" pitchFamily="2" charset="2"/>
              <a:buChar char="§"/>
            </a:pPr>
            <a:endParaRPr lang="en-US" altLang="en-US" sz="2400"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To </a:t>
            </a:r>
            <a:r>
              <a:rPr lang="en-US" altLang="en-US" sz="2400" b="1" u="sng" dirty="0">
                <a:solidFill>
                  <a:srgbClr val="FF0000"/>
                </a:solidFill>
                <a:latin typeface="Times New Roman" panose="02020603050405020304" pitchFamily="18" charset="0"/>
                <a:cs typeface="Times New Roman" panose="02020603050405020304" pitchFamily="18" charset="0"/>
              </a:rPr>
              <a:t>familiarize</a:t>
            </a:r>
            <a:r>
              <a:rPr lang="en-US" altLang="en-US" sz="2400" dirty="0">
                <a:latin typeface="Times New Roman" panose="02020603050405020304" pitchFamily="18" charset="0"/>
                <a:cs typeface="Times New Roman" panose="02020603050405020304" pitchFamily="18" charset="0"/>
              </a:rPr>
              <a:t> the researcher with the latest development in the area of research as well as in related areas-</a:t>
            </a:r>
          </a:p>
          <a:p>
            <a:pPr eaLnBrk="1" hangingPunct="1"/>
            <a:endParaRPr lang="en-US" altLang="en-US" dirty="0">
              <a:cs typeface="Times New Roman" panose="02020603050405020304" pitchFamily="18" charset="0"/>
            </a:endParaRPr>
          </a:p>
          <a:p>
            <a:pPr eaLnBrk="1" hangingPunct="1"/>
            <a:endParaRPr lang="en-US" altLang="en-US" dirty="0">
              <a:cs typeface="Times New Roman" panose="02020603050405020304" pitchFamily="18" charset="0"/>
            </a:endParaRPr>
          </a:p>
          <a:p>
            <a:pPr eaLnBrk="1" hangingPunct="1"/>
            <a:endParaRPr lang="en-US" altLang="en-US" dirty="0">
              <a:cs typeface="Times New Roman" panose="02020603050405020304" pitchFamily="18" charset="0"/>
            </a:endParaRPr>
          </a:p>
          <a:p>
            <a:pPr eaLnBrk="1" hangingPunct="1"/>
            <a:endParaRPr lang="en-GB" altLang="en-US" dirty="0"/>
          </a:p>
        </p:txBody>
      </p:sp>
      <p:sp>
        <p:nvSpPr>
          <p:cNvPr id="5" name="Rectangle 4">
            <a:extLst>
              <a:ext uri="{FF2B5EF4-FFF2-40B4-BE49-F238E27FC236}">
                <a16:creationId xmlns:a16="http://schemas.microsoft.com/office/drawing/2014/main" id="{38C86484-F564-4EB4-B642-F9589C5B3780}"/>
              </a:ext>
            </a:extLst>
          </p:cNvPr>
          <p:cNvSpPr/>
          <p:nvPr/>
        </p:nvSpPr>
        <p:spPr>
          <a:xfrm>
            <a:off x="1524000" y="5013326"/>
            <a:ext cx="9144000" cy="184467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eaLnBrk="1" hangingPunct="1">
              <a:defRPr/>
            </a:pPr>
            <a:r>
              <a:rPr lang="en-US" sz="2400" b="1" dirty="0">
                <a:solidFill>
                  <a:schemeClr val="bg1"/>
                </a:solidFill>
                <a:latin typeface="Times New Roman" panose="02020603050405020304" pitchFamily="18" charset="0"/>
                <a:cs typeface="Times New Roman" panose="02020603050405020304" pitchFamily="18" charset="0"/>
              </a:rPr>
              <a:t>Literature review helps  the researcher to refine the research topic/problem. A researcher should be acquainted with the problems, hypothesis, and results obtained by previous studies in order not to duplicate efforts</a:t>
            </a:r>
            <a:r>
              <a:rPr lang="en-US" sz="2400" b="1" dirty="0">
                <a:solidFill>
                  <a:schemeClr val="bg1"/>
                </a:solidFill>
                <a:cs typeface="Times New Roman" pitchFamily="18" charset="0"/>
              </a:rPr>
              <a:t>. </a:t>
            </a:r>
            <a:endParaRPr lang="en-US" sz="2400" b="1" dirty="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A0ABE739-E1A7-492A-A528-BDEF09115556}"/>
              </a:ext>
            </a:extLst>
          </p:cNvPr>
          <p:cNvSpPr>
            <a:spLocks noGrp="1" noChangeArrowheads="1"/>
          </p:cNvSpPr>
          <p:nvPr>
            <p:ph type="title"/>
          </p:nvPr>
        </p:nvSpPr>
        <p:spPr>
          <a:xfrm>
            <a:off x="2927351" y="630238"/>
            <a:ext cx="7140575" cy="711200"/>
          </a:xfrm>
        </p:spPr>
        <p:txBody>
          <a:bodyPr/>
          <a:lstStyle/>
          <a:p>
            <a:pPr eaLnBrk="1" hangingPunct="1"/>
            <a:r>
              <a:rPr lang="en-GB" altLang="en-US" sz="3600" b="1" dirty="0">
                <a:latin typeface="Times New Roman" panose="02020603050405020304" pitchFamily="18" charset="0"/>
                <a:cs typeface="Times New Roman" panose="02020603050405020304" pitchFamily="18" charset="0"/>
              </a:rPr>
              <a:t>Purpose of the Review</a:t>
            </a:r>
          </a:p>
        </p:txBody>
      </p:sp>
      <p:sp>
        <p:nvSpPr>
          <p:cNvPr id="15363" name="Rectangle 3">
            <a:extLst>
              <a:ext uri="{FF2B5EF4-FFF2-40B4-BE49-F238E27FC236}">
                <a16:creationId xmlns:a16="http://schemas.microsoft.com/office/drawing/2014/main" id="{6DBF108A-802A-4033-A1AA-0E2F7DA9EF9E}"/>
              </a:ext>
            </a:extLst>
          </p:cNvPr>
          <p:cNvSpPr>
            <a:spLocks noGrp="1" noChangeArrowheads="1"/>
          </p:cNvSpPr>
          <p:nvPr>
            <p:ph idx="1"/>
          </p:nvPr>
        </p:nvSpPr>
        <p:spPr>
          <a:xfrm>
            <a:off x="1703389" y="1600200"/>
            <a:ext cx="8569325" cy="4852988"/>
          </a:xfrm>
        </p:spPr>
        <p:txBody>
          <a:bodyPr/>
          <a:lstStyle/>
          <a:p>
            <a:pPr algn="just" eaLnBrk="1" hangingPunct="1">
              <a:buFont typeface="Wingdings" panose="05000000000000000000" pitchFamily="2" charset="2"/>
              <a:buChar char="§"/>
            </a:pPr>
            <a:r>
              <a:rPr lang="en-US" altLang="en-US" sz="2200" dirty="0">
                <a:latin typeface="Times New Roman" panose="02020603050405020304" pitchFamily="18" charset="0"/>
                <a:cs typeface="Times New Roman" panose="02020603050405020304" pitchFamily="18" charset="0"/>
              </a:rPr>
              <a:t>To </a:t>
            </a:r>
            <a:r>
              <a:rPr lang="en-US" altLang="en-US" sz="2200" b="1" u="sng" dirty="0">
                <a:solidFill>
                  <a:srgbClr val="FF0000"/>
                </a:solidFill>
                <a:latin typeface="Times New Roman" panose="02020603050405020304" pitchFamily="18" charset="0"/>
                <a:cs typeface="Times New Roman" panose="02020603050405020304" pitchFamily="18" charset="0"/>
              </a:rPr>
              <a:t>discover connections, disconnections, analogies, or relations </a:t>
            </a:r>
            <a:r>
              <a:rPr lang="en-US" altLang="en-US" sz="2200" dirty="0">
                <a:latin typeface="Times New Roman" panose="02020603050405020304" pitchFamily="18" charset="0"/>
                <a:cs typeface="Times New Roman" panose="02020603050405020304" pitchFamily="18" charset="0"/>
              </a:rPr>
              <a:t>between different research results by comparing various investigations</a:t>
            </a:r>
          </a:p>
          <a:p>
            <a:pPr algn="just" eaLnBrk="1" hangingPunct="1">
              <a:buFont typeface="Wingdings" panose="05000000000000000000" pitchFamily="2" charset="2"/>
              <a:buChar char="§"/>
            </a:pPr>
            <a:endParaRPr lang="en-US" altLang="en-US" sz="2200" dirty="0">
              <a:latin typeface="Times New Roman" panose="02020603050405020304" pitchFamily="18" charset="0"/>
              <a:cs typeface="Times New Roman" panose="02020603050405020304" pitchFamily="18" charset="0"/>
            </a:endParaRPr>
          </a:p>
          <a:p>
            <a:pPr algn="just" eaLnBrk="1" hangingPunct="1">
              <a:buFont typeface="Wingdings" panose="05000000000000000000" pitchFamily="2" charset="2"/>
              <a:buChar char="§"/>
            </a:pPr>
            <a:r>
              <a:rPr lang="en-US" altLang="en-US" sz="2200" dirty="0">
                <a:latin typeface="Times New Roman" panose="02020603050405020304" pitchFamily="18" charset="0"/>
                <a:cs typeface="Times New Roman" panose="02020603050405020304" pitchFamily="18" charset="0"/>
              </a:rPr>
              <a:t>To </a:t>
            </a:r>
            <a:r>
              <a:rPr lang="en-US" altLang="en-US" sz="2200" b="1" u="sng" dirty="0">
                <a:solidFill>
                  <a:srgbClr val="FF0000"/>
                </a:solidFill>
                <a:latin typeface="Times New Roman" panose="02020603050405020304" pitchFamily="18" charset="0"/>
                <a:cs typeface="Times New Roman" panose="02020603050405020304" pitchFamily="18" charset="0"/>
              </a:rPr>
              <a:t>identify variables </a:t>
            </a:r>
            <a:r>
              <a:rPr lang="en-US" altLang="en-US" sz="2200" dirty="0">
                <a:latin typeface="Times New Roman" panose="02020603050405020304" pitchFamily="18" charset="0"/>
                <a:cs typeface="Times New Roman" panose="02020603050405020304" pitchFamily="18" charset="0"/>
              </a:rPr>
              <a:t>that must be considered in the study</a:t>
            </a:r>
          </a:p>
          <a:p>
            <a:pPr algn="just" eaLnBrk="1" hangingPunct="1">
              <a:buFont typeface="Wingdings" panose="05000000000000000000" pitchFamily="2" charset="2"/>
              <a:buChar char="§"/>
            </a:pPr>
            <a:endParaRPr lang="en-US" altLang="en-US" sz="2200" dirty="0">
              <a:latin typeface="Times New Roman" panose="02020603050405020304" pitchFamily="18" charset="0"/>
              <a:cs typeface="Times New Roman" panose="02020603050405020304" pitchFamily="18" charset="0"/>
            </a:endParaRPr>
          </a:p>
          <a:p>
            <a:pPr algn="just" eaLnBrk="1" hangingPunct="1">
              <a:buFont typeface="Wingdings" panose="05000000000000000000" pitchFamily="2" charset="2"/>
              <a:buChar char="§"/>
            </a:pPr>
            <a:r>
              <a:rPr lang="en-US" altLang="en-US" sz="2200" dirty="0">
                <a:latin typeface="Times New Roman" panose="02020603050405020304" pitchFamily="18" charset="0"/>
                <a:cs typeface="Times New Roman" panose="02020603050405020304" pitchFamily="18" charset="0"/>
              </a:rPr>
              <a:t>To </a:t>
            </a:r>
            <a:r>
              <a:rPr lang="en-US" altLang="en-US" sz="2200" b="1" u="sng" dirty="0">
                <a:solidFill>
                  <a:srgbClr val="FF0000"/>
                </a:solidFill>
                <a:latin typeface="Times New Roman" panose="02020603050405020304" pitchFamily="18" charset="0"/>
                <a:cs typeface="Times New Roman" panose="02020603050405020304" pitchFamily="18" charset="0"/>
              </a:rPr>
              <a:t>identify weaknesses </a:t>
            </a:r>
            <a:r>
              <a:rPr lang="en-US" altLang="en-US" sz="2200" dirty="0">
                <a:latin typeface="Times New Roman" panose="02020603050405020304" pitchFamily="18" charset="0"/>
                <a:cs typeface="Times New Roman" panose="02020603050405020304" pitchFamily="18" charset="0"/>
              </a:rPr>
              <a:t>and</a:t>
            </a:r>
            <a:r>
              <a:rPr lang="en-US" altLang="en-US" sz="2200" b="1" u="sng" dirty="0">
                <a:solidFill>
                  <a:srgbClr val="FF0000"/>
                </a:solidFill>
                <a:latin typeface="Times New Roman" panose="02020603050405020304" pitchFamily="18" charset="0"/>
                <a:cs typeface="Times New Roman" panose="02020603050405020304" pitchFamily="18" charset="0"/>
              </a:rPr>
              <a:t> pitfalls </a:t>
            </a:r>
            <a:r>
              <a:rPr lang="en-US" altLang="en-US" sz="2200" dirty="0">
                <a:latin typeface="Times New Roman" panose="02020603050405020304" pitchFamily="18" charset="0"/>
                <a:cs typeface="Times New Roman" panose="02020603050405020304" pitchFamily="18" charset="0"/>
              </a:rPr>
              <a:t>other researchers have fallen into.</a:t>
            </a:r>
          </a:p>
          <a:p>
            <a:pPr algn="just" eaLnBrk="1" hangingPunct="1">
              <a:buFont typeface="Wingdings" panose="05000000000000000000" pitchFamily="2" charset="2"/>
              <a:buChar char="§"/>
            </a:pPr>
            <a:endParaRPr lang="en-US" altLang="en-US" sz="2200" dirty="0">
              <a:latin typeface="Times New Roman" panose="02020603050405020304" pitchFamily="18" charset="0"/>
              <a:cs typeface="Times New Roman" panose="02020603050405020304" pitchFamily="18" charset="0"/>
            </a:endParaRPr>
          </a:p>
          <a:p>
            <a:pPr algn="just" eaLnBrk="1" hangingPunct="1">
              <a:buFont typeface="Wingdings" panose="05000000000000000000" pitchFamily="2" charset="2"/>
              <a:buChar char="§"/>
            </a:pPr>
            <a:r>
              <a:rPr lang="en-US" altLang="en-US" sz="2200" dirty="0">
                <a:latin typeface="Times New Roman" panose="02020603050405020304" pitchFamily="18" charset="0"/>
                <a:cs typeface="Times New Roman" panose="02020603050405020304" pitchFamily="18" charset="0"/>
              </a:rPr>
              <a:t>To </a:t>
            </a:r>
            <a:r>
              <a:rPr lang="en-US" altLang="en-US" sz="2200" b="1" u="sng" dirty="0">
                <a:solidFill>
                  <a:srgbClr val="FF0000"/>
                </a:solidFill>
                <a:latin typeface="Times New Roman" panose="02020603050405020304" pitchFamily="18" charset="0"/>
                <a:cs typeface="Times New Roman" panose="02020603050405020304" pitchFamily="18" charset="0"/>
              </a:rPr>
              <a:t>identify</a:t>
            </a:r>
            <a:r>
              <a:rPr lang="en-US" altLang="en-US" sz="2200" dirty="0">
                <a:latin typeface="Times New Roman" panose="02020603050405020304" pitchFamily="18" charset="0"/>
                <a:cs typeface="Times New Roman" panose="02020603050405020304" pitchFamily="18" charset="0"/>
              </a:rPr>
              <a:t> and </a:t>
            </a:r>
            <a:r>
              <a:rPr lang="en-US" altLang="en-US" sz="2200" b="1" u="sng" dirty="0">
                <a:solidFill>
                  <a:srgbClr val="FF0000"/>
                </a:solidFill>
                <a:latin typeface="Times New Roman" panose="02020603050405020304" pitchFamily="18" charset="0"/>
                <a:cs typeface="Times New Roman" panose="02020603050405020304" pitchFamily="18" charset="0"/>
              </a:rPr>
              <a:t>compare</a:t>
            </a:r>
            <a:r>
              <a:rPr lang="en-US" altLang="en-US" sz="2200" dirty="0">
                <a:latin typeface="Times New Roman" panose="02020603050405020304" pitchFamily="18" charset="0"/>
                <a:cs typeface="Times New Roman" panose="02020603050405020304" pitchFamily="18" charset="0"/>
              </a:rPr>
              <a:t> methodologies used by others in relation to those one intends to use</a:t>
            </a:r>
          </a:p>
          <a:p>
            <a:pPr algn="just" eaLnBrk="1" hangingPunct="1">
              <a:buFont typeface="Wingdings" panose="05000000000000000000" pitchFamily="2" charset="2"/>
              <a:buChar char="§"/>
            </a:pPr>
            <a:endParaRPr lang="en-US" altLang="en-US" sz="2200" dirty="0">
              <a:latin typeface="Times New Roman" panose="02020603050405020304" pitchFamily="18" charset="0"/>
              <a:cs typeface="Times New Roman" panose="02020603050405020304" pitchFamily="18" charset="0"/>
            </a:endParaRPr>
          </a:p>
          <a:p>
            <a:pPr algn="just" eaLnBrk="1" hangingPunct="1">
              <a:buFont typeface="Wingdings" panose="05000000000000000000" pitchFamily="2" charset="2"/>
              <a:buChar char="§"/>
            </a:pPr>
            <a:r>
              <a:rPr lang="en-US" altLang="en-US" sz="2200" dirty="0">
                <a:latin typeface="Times New Roman" panose="02020603050405020304" pitchFamily="18" charset="0"/>
                <a:cs typeface="Times New Roman" panose="02020603050405020304" pitchFamily="18" charset="0"/>
              </a:rPr>
              <a:t>To identify other researchers in the subject for possible </a:t>
            </a:r>
            <a:r>
              <a:rPr lang="en-US" altLang="en-US" sz="2200" b="1" dirty="0">
                <a:solidFill>
                  <a:srgbClr val="FF0000"/>
                </a:solidFill>
                <a:latin typeface="Times New Roman" panose="02020603050405020304" pitchFamily="18" charset="0"/>
                <a:cs typeface="Times New Roman" panose="02020603050405020304" pitchFamily="18" charset="0"/>
              </a:rPr>
              <a:t>areas of collaboration </a:t>
            </a:r>
          </a:p>
          <a:p>
            <a:pPr algn="just" eaLnBrk="1" hangingPunct="1">
              <a:buFont typeface="Wingdings" panose="05000000000000000000" pitchFamily="2" charset="2"/>
              <a:buChar char="§"/>
            </a:pPr>
            <a:endParaRPr lang="en-US" altLang="en-US" sz="2200" dirty="0">
              <a:latin typeface="Times New Roman" panose="02020603050405020304" pitchFamily="18" charset="0"/>
              <a:cs typeface="Times New Roman" panose="02020603050405020304" pitchFamily="18" charset="0"/>
            </a:endParaRPr>
          </a:p>
          <a:p>
            <a:pPr algn="just" eaLnBrk="1" hangingPunct="1"/>
            <a:endParaRPr lang="en-GB" altLang="en-US" sz="2200" dirty="0"/>
          </a:p>
        </p:txBody>
      </p:sp>
      <p:sp>
        <p:nvSpPr>
          <p:cNvPr id="15364" name="Slide Number Placeholder 5">
            <a:extLst>
              <a:ext uri="{FF2B5EF4-FFF2-40B4-BE49-F238E27FC236}">
                <a16:creationId xmlns:a16="http://schemas.microsoft.com/office/drawing/2014/main" id="{24A3C651-2EB4-475B-9EC6-4712929D8A1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endParaRPr lang="en-US" altLang="en-US" sz="1400" dirty="0">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977F36DB-4A05-47CC-8ACB-AD334FA5FE82}"/>
              </a:ext>
            </a:extLst>
          </p:cNvPr>
          <p:cNvSpPr>
            <a:spLocks noGrp="1" noChangeArrowheads="1"/>
          </p:cNvSpPr>
          <p:nvPr>
            <p:ph type="title"/>
          </p:nvPr>
        </p:nvSpPr>
        <p:spPr>
          <a:xfrm>
            <a:off x="2133600" y="304800"/>
            <a:ext cx="7772400" cy="990600"/>
          </a:xfrm>
        </p:spPr>
        <p:txBody>
          <a:bodyPr/>
          <a:lstStyle/>
          <a:p>
            <a:r>
              <a:rPr lang="en-US" altLang="en-US" sz="2800" b="1"/>
              <a:t>How to write the section on the related literature</a:t>
            </a:r>
          </a:p>
        </p:txBody>
      </p:sp>
      <p:sp>
        <p:nvSpPr>
          <p:cNvPr id="8195" name="Rectangle 3">
            <a:extLst>
              <a:ext uri="{FF2B5EF4-FFF2-40B4-BE49-F238E27FC236}">
                <a16:creationId xmlns:a16="http://schemas.microsoft.com/office/drawing/2014/main" id="{7FA9EF7A-293B-4E4B-877F-628DB2E78CB6}"/>
              </a:ext>
            </a:extLst>
          </p:cNvPr>
          <p:cNvSpPr>
            <a:spLocks noGrp="1" noChangeArrowheads="1"/>
          </p:cNvSpPr>
          <p:nvPr>
            <p:ph type="body" idx="1"/>
          </p:nvPr>
        </p:nvSpPr>
        <p:spPr>
          <a:xfrm>
            <a:off x="1905000" y="1828800"/>
            <a:ext cx="8077200" cy="3733800"/>
          </a:xfrm>
        </p:spPr>
        <p:txBody>
          <a:bodyPr/>
          <a:lstStyle/>
          <a:p>
            <a:r>
              <a:rPr lang="en-US" altLang="en-US" sz="2400" dirty="0"/>
              <a:t>Review the literature; </a:t>
            </a:r>
            <a:r>
              <a:rPr lang="en-US" altLang="en-US" sz="2400" i="1" dirty="0"/>
              <a:t>don’t reproduce it</a:t>
            </a:r>
          </a:p>
          <a:p>
            <a:pPr lvl="1"/>
            <a:r>
              <a:rPr lang="en-US" altLang="en-US" dirty="0"/>
              <a:t>Present your own discussion</a:t>
            </a:r>
          </a:p>
          <a:p>
            <a:pPr lvl="1"/>
            <a:r>
              <a:rPr lang="en-US" altLang="en-US" dirty="0"/>
              <a:t>Paraphrase </a:t>
            </a:r>
          </a:p>
          <a:p>
            <a:pPr lvl="1"/>
            <a:r>
              <a:rPr lang="en-US" altLang="en-US" dirty="0"/>
              <a:t>Use short direct quotations if necessary</a:t>
            </a:r>
          </a:p>
          <a:p>
            <a:pPr lvl="1"/>
            <a:r>
              <a:rPr lang="en-US" altLang="en-US" dirty="0"/>
              <a:t>Long direct quotations are a last resort. Use them only for a very good reason</a:t>
            </a:r>
          </a:p>
        </p:txBody>
      </p:sp>
    </p:spTree>
    <p:extLst>
      <p:ext uri="{BB962C8B-B14F-4D97-AF65-F5344CB8AC3E}">
        <p14:creationId xmlns:p14="http://schemas.microsoft.com/office/powerpoint/2010/main" val="11383915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D2D68953-DACE-42B4-A64E-E78046FCD67A}"/>
              </a:ext>
            </a:extLst>
          </p:cNvPr>
          <p:cNvSpPr>
            <a:spLocks noGrp="1" noChangeArrowheads="1"/>
          </p:cNvSpPr>
          <p:nvPr>
            <p:ph type="title"/>
          </p:nvPr>
        </p:nvSpPr>
        <p:spPr>
          <a:xfrm>
            <a:off x="895350" y="152399"/>
            <a:ext cx="9239250" cy="1142145"/>
          </a:xfrm>
        </p:spPr>
        <p:txBody>
          <a:bodyPr/>
          <a:lstStyle/>
          <a:p>
            <a:r>
              <a:rPr lang="en-US" altLang="en-US" sz="3200" b="1" dirty="0"/>
              <a:t>How to write the section on the related literature</a:t>
            </a:r>
          </a:p>
        </p:txBody>
      </p:sp>
      <p:sp>
        <p:nvSpPr>
          <p:cNvPr id="9219" name="Rectangle 3">
            <a:extLst>
              <a:ext uri="{FF2B5EF4-FFF2-40B4-BE49-F238E27FC236}">
                <a16:creationId xmlns:a16="http://schemas.microsoft.com/office/drawing/2014/main" id="{D9E42B58-F78D-4286-AADF-7712AB88AEBB}"/>
              </a:ext>
            </a:extLst>
          </p:cNvPr>
          <p:cNvSpPr>
            <a:spLocks noGrp="1" noChangeArrowheads="1"/>
          </p:cNvSpPr>
          <p:nvPr>
            <p:ph type="body" idx="1"/>
          </p:nvPr>
        </p:nvSpPr>
        <p:spPr>
          <a:xfrm>
            <a:off x="895350" y="1724024"/>
            <a:ext cx="9239250" cy="4905375"/>
          </a:xfrm>
        </p:spPr>
        <p:txBody>
          <a:bodyPr/>
          <a:lstStyle/>
          <a:p>
            <a:r>
              <a:rPr lang="en-US" altLang="en-US" sz="2000" dirty="0"/>
              <a:t>Showing the relatedness of the literature review to the research problem</a:t>
            </a:r>
          </a:p>
          <a:p>
            <a:pPr lvl="1"/>
            <a:r>
              <a:rPr lang="en-US" altLang="en-US" sz="2000" dirty="0"/>
              <a:t>Write your problem at the top of the page where you cannot lose sight of it. In this location you will be constantly reminded of the central axis around which everything else revolves</a:t>
            </a:r>
          </a:p>
          <a:p>
            <a:pPr lvl="2"/>
            <a:r>
              <a:rPr lang="en-US" sz="1600" dirty="0"/>
              <a:t>Example problem: </a:t>
            </a:r>
            <a:r>
              <a:rPr lang="en-US" sz="1600" i="1" dirty="0"/>
              <a:t>“How can smallholder farmers in Zambia improve soil fertility using sustainable practices without increasing production costs?”</a:t>
            </a:r>
            <a:r>
              <a:rPr lang="en-US" sz="1600" dirty="0"/>
              <a:t> </a:t>
            </a:r>
            <a:endParaRPr lang="en-US" altLang="en-US" sz="1600" dirty="0"/>
          </a:p>
          <a:p>
            <a:pPr lvl="1"/>
            <a:r>
              <a:rPr lang="en-US" altLang="en-US" sz="2000" dirty="0"/>
              <a:t>Dissect the problem by numbering its various subparts</a:t>
            </a:r>
          </a:p>
          <a:p>
            <a:pPr lvl="1"/>
            <a:r>
              <a:rPr lang="en-US" altLang="en-US" sz="2000" dirty="0"/>
              <a:t>Divide the page into two columns by drawing a vertical line down the middle of the page, starting below the statement of the problem</a:t>
            </a:r>
          </a:p>
          <a:p>
            <a:pPr lvl="1"/>
            <a:r>
              <a:rPr lang="en-US" altLang="en-US" sz="2000" dirty="0"/>
              <a:t>Cite each specific study in the left-hand column</a:t>
            </a:r>
          </a:p>
          <a:p>
            <a:pPr lvl="1"/>
            <a:r>
              <a:rPr lang="en-US" altLang="en-US" sz="2000" dirty="0"/>
              <a:t>In the right-hand column, opposite each study, note the particular sub-division of the problem to which the study relates and note also the rationale for including it.</a:t>
            </a:r>
          </a:p>
          <a:p>
            <a:endParaRPr lang="en-US" altLang="en-US" sz="2400" dirty="0"/>
          </a:p>
        </p:txBody>
      </p:sp>
    </p:spTree>
    <p:extLst>
      <p:ext uri="{BB962C8B-B14F-4D97-AF65-F5344CB8AC3E}">
        <p14:creationId xmlns:p14="http://schemas.microsoft.com/office/powerpoint/2010/main" val="3228792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
            <a:extLst>
              <a:ext uri="{FF2B5EF4-FFF2-40B4-BE49-F238E27FC236}">
                <a16:creationId xmlns:a16="http://schemas.microsoft.com/office/drawing/2014/main" id="{1520E306-C84B-45D5-988F-6B1DAE6178A8}"/>
              </a:ext>
            </a:extLst>
          </p:cNvPr>
          <p:cNvSpPr>
            <a:spLocks noGrp="1" noChangeArrowheads="1"/>
          </p:cNvSpPr>
          <p:nvPr>
            <p:ph type="body" idx="1"/>
          </p:nvPr>
        </p:nvSpPr>
        <p:spPr>
          <a:xfrm>
            <a:off x="800099" y="1752600"/>
            <a:ext cx="10467975" cy="4724400"/>
          </a:xfrm>
        </p:spPr>
        <p:txBody>
          <a:bodyPr/>
          <a:lstStyle/>
          <a:p>
            <a:pPr lvl="1"/>
            <a:r>
              <a:rPr lang="en-US" altLang="en-US" dirty="0"/>
              <a:t>Gather together all the citations that refer to a particular aspect of the problem, so that you have as many groups you have sub-divisions of your main problem</a:t>
            </a:r>
          </a:p>
          <a:p>
            <a:pPr lvl="1"/>
            <a:endParaRPr lang="en-US" altLang="en-US" dirty="0"/>
          </a:p>
          <a:p>
            <a:pPr lvl="1"/>
            <a:r>
              <a:rPr lang="en-US" altLang="en-US" dirty="0"/>
              <a:t>Study these groups in relation to each other, with the view of planning and organizing the discussion of the related literature.</a:t>
            </a:r>
          </a:p>
          <a:p>
            <a:pPr lvl="1"/>
            <a:endParaRPr lang="en-US" altLang="en-US" dirty="0"/>
          </a:p>
          <a:p>
            <a:pPr lvl="1"/>
            <a:r>
              <a:rPr lang="en-US" altLang="en-US" dirty="0"/>
              <a:t>Write the review. Head each section with headings whose wording contains the identical words found in statement of the problem</a:t>
            </a:r>
          </a:p>
        </p:txBody>
      </p:sp>
    </p:spTree>
    <p:extLst>
      <p:ext uri="{BB962C8B-B14F-4D97-AF65-F5344CB8AC3E}">
        <p14:creationId xmlns:p14="http://schemas.microsoft.com/office/powerpoint/2010/main" val="13454470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649D4-A593-4A8A-B7D1-FAF7A0B9095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A287759-FFE2-4F39-A56B-AC32FBB3623D}"/>
              </a:ext>
            </a:extLst>
          </p:cNvPr>
          <p:cNvSpPr>
            <a:spLocks noGrp="1"/>
          </p:cNvSpPr>
          <p:nvPr>
            <p:ph idx="1"/>
          </p:nvPr>
        </p:nvSpPr>
        <p:spPr/>
        <p:txBody>
          <a:bodyPr/>
          <a:lstStyle/>
          <a:p>
            <a:r>
              <a:rPr lang="en-US" dirty="0"/>
              <a:t>If you discover you have not yet found literature or information on some aspects of your problem that you suspect are important, make a special effort to find this literature.</a:t>
            </a:r>
          </a:p>
          <a:p>
            <a:r>
              <a:rPr lang="en-US" dirty="0"/>
              <a:t> If there is no literature, this supports your justification for conducting the study.</a:t>
            </a:r>
          </a:p>
          <a:p>
            <a:r>
              <a:rPr lang="en-US" dirty="0"/>
              <a:t> </a:t>
            </a:r>
          </a:p>
          <a:p>
            <a:r>
              <a:rPr lang="en-US" dirty="0"/>
              <a:t>Conclude by explaining how your study will add to the body of knowledge</a:t>
            </a:r>
          </a:p>
          <a:p>
            <a:endParaRPr lang="en-US" dirty="0"/>
          </a:p>
        </p:txBody>
      </p:sp>
    </p:spTree>
    <p:extLst>
      <p:ext uri="{BB962C8B-B14F-4D97-AF65-F5344CB8AC3E}">
        <p14:creationId xmlns:p14="http://schemas.microsoft.com/office/powerpoint/2010/main" val="1474212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EB6CFA24-1EB6-4A93-A8BF-CCD61AF87D2E}"/>
              </a:ext>
            </a:extLst>
          </p:cNvPr>
          <p:cNvSpPr>
            <a:spLocks noGrp="1" noChangeArrowheads="1"/>
          </p:cNvSpPr>
          <p:nvPr>
            <p:ph type="title"/>
          </p:nvPr>
        </p:nvSpPr>
        <p:spPr>
          <a:xfrm>
            <a:off x="1919289" y="630238"/>
            <a:ext cx="8148637" cy="711200"/>
          </a:xfrm>
        </p:spPr>
        <p:txBody>
          <a:bodyPr/>
          <a:lstStyle/>
          <a:p>
            <a:pPr eaLnBrk="1" hangingPunct="1"/>
            <a:r>
              <a:rPr lang="en-GB" altLang="en-US" sz="3200" b="1">
                <a:latin typeface="Times New Roman" panose="02020603050405020304" pitchFamily="18" charset="0"/>
                <a:cs typeface="Times New Roman" panose="02020603050405020304" pitchFamily="18" charset="0"/>
              </a:rPr>
              <a:t>Writing a Review Ethical Considerations</a:t>
            </a:r>
          </a:p>
        </p:txBody>
      </p:sp>
      <p:sp>
        <p:nvSpPr>
          <p:cNvPr id="11267" name="Rectangle 3">
            <a:extLst>
              <a:ext uri="{FF2B5EF4-FFF2-40B4-BE49-F238E27FC236}">
                <a16:creationId xmlns:a16="http://schemas.microsoft.com/office/drawing/2014/main" id="{A3155C6D-625D-4908-8514-4FA26697B1EF}"/>
              </a:ext>
            </a:extLst>
          </p:cNvPr>
          <p:cNvSpPr>
            <a:spLocks noGrp="1" noChangeArrowheads="1"/>
          </p:cNvSpPr>
          <p:nvPr>
            <p:ph idx="1"/>
          </p:nvPr>
        </p:nvSpPr>
        <p:spPr>
          <a:xfrm>
            <a:off x="1981201" y="1600201"/>
            <a:ext cx="8543925" cy="4525963"/>
          </a:xfrm>
        </p:spPr>
        <p:txBody>
          <a:bodyPr/>
          <a:lstStyle/>
          <a:p>
            <a:pPr eaLnBrk="1" hangingPunct="1">
              <a:buFont typeface="Wingdings" panose="05000000000000000000" pitchFamily="2" charset="2"/>
              <a:buChar char="§"/>
            </a:pPr>
            <a:r>
              <a:rPr lang="en-GB" altLang="en-US" dirty="0">
                <a:latin typeface="Times New Roman" panose="02020603050405020304" pitchFamily="18" charset="0"/>
                <a:cs typeface="Times New Roman" panose="02020603050405020304" pitchFamily="18" charset="0"/>
              </a:rPr>
              <a:t>Appropriate referencing (quoting authors) is critical in research proposal (scientific fraud!!!)</a:t>
            </a:r>
          </a:p>
          <a:p>
            <a:pPr eaLnBrk="1" hangingPunct="1">
              <a:buFont typeface="Wingdings" panose="05000000000000000000" pitchFamily="2" charset="2"/>
              <a:buChar char="§"/>
            </a:pPr>
            <a:r>
              <a:rPr lang="en-GB" altLang="en-US" dirty="0">
                <a:latin typeface="Times New Roman" panose="02020603050405020304" pitchFamily="18" charset="0"/>
                <a:cs typeface="Times New Roman" panose="02020603050405020304" pitchFamily="18" charset="0"/>
              </a:rPr>
              <a:t>Poor authorship</a:t>
            </a:r>
          </a:p>
          <a:p>
            <a:pPr lvl="1" eaLnBrk="1" hangingPunct="1">
              <a:buFont typeface="Wingdings" panose="05000000000000000000" pitchFamily="2" charset="2"/>
              <a:buChar char="§"/>
            </a:pPr>
            <a:r>
              <a:rPr lang="en-GB" altLang="en-US" dirty="0">
                <a:latin typeface="Times New Roman" panose="02020603050405020304" pitchFamily="18" charset="0"/>
                <a:cs typeface="Times New Roman" panose="02020603050405020304" pitchFamily="18" charset="0"/>
              </a:rPr>
              <a:t>Raises questions about the integrity of the researcher</a:t>
            </a:r>
          </a:p>
          <a:p>
            <a:pPr lvl="1" eaLnBrk="1" hangingPunct="1">
              <a:buFont typeface="Wingdings" panose="05000000000000000000" pitchFamily="2" charset="2"/>
              <a:buChar char="§"/>
            </a:pPr>
            <a:r>
              <a:rPr lang="en-GB" altLang="en-US" dirty="0">
                <a:latin typeface="Times New Roman" panose="02020603050405020304" pitchFamily="18" charset="0"/>
                <a:cs typeface="Times New Roman" panose="02020603050405020304" pitchFamily="18" charset="0"/>
              </a:rPr>
              <a:t>Puts readers who want to use study findings on the wrong track</a:t>
            </a:r>
          </a:p>
          <a:p>
            <a:pPr lvl="1" eaLnBrk="1" hangingPunct="1">
              <a:buFont typeface="Wingdings" panose="05000000000000000000" pitchFamily="2" charset="2"/>
              <a:buChar char="§"/>
            </a:pPr>
            <a:r>
              <a:rPr lang="en-GB" altLang="en-US" dirty="0">
                <a:latin typeface="Times New Roman" panose="02020603050405020304" pitchFamily="18" charset="0"/>
                <a:cs typeface="Times New Roman" panose="02020603050405020304" pitchFamily="18" charset="0"/>
              </a:rPr>
              <a:t>Leads to waste of time and money conducting research that is not applicable</a:t>
            </a:r>
          </a:p>
          <a:p>
            <a:pPr lvl="1" eaLnBrk="1" hangingPunct="1">
              <a:buFont typeface="Wingdings" panose="05000000000000000000" pitchFamily="2" charset="2"/>
              <a:buChar char="§"/>
            </a:pPr>
            <a:r>
              <a:rPr lang="en-GB" altLang="en-US" dirty="0">
                <a:latin typeface="Times New Roman" panose="02020603050405020304" pitchFamily="18" charset="0"/>
                <a:cs typeface="Times New Roman" panose="02020603050405020304" pitchFamily="18" charset="0"/>
              </a:rPr>
              <a:t>Leads to wrong decisions</a:t>
            </a:r>
          </a:p>
        </p:txBody>
      </p:sp>
      <p:sp>
        <p:nvSpPr>
          <p:cNvPr id="38916" name="Slide Number Placeholder 5">
            <a:extLst>
              <a:ext uri="{FF2B5EF4-FFF2-40B4-BE49-F238E27FC236}">
                <a16:creationId xmlns:a16="http://schemas.microsoft.com/office/drawing/2014/main" id="{46C079C4-0FCA-4920-ADBB-090E9CD1FD3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endParaRPr lang="en-US" altLang="en-US" sz="1400" dirty="0">
              <a:latin typeface="Arial" panose="020B0604020202020204" pitchFamily="34" charset="0"/>
            </a:endParaRPr>
          </a:p>
        </p:txBody>
      </p:sp>
    </p:spTree>
    <p:extLst>
      <p:ext uri="{BB962C8B-B14F-4D97-AF65-F5344CB8AC3E}">
        <p14:creationId xmlns:p14="http://schemas.microsoft.com/office/powerpoint/2010/main" val="30431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1" name="Rectangle 2">
            <a:extLst>
              <a:ext uri="{FF2B5EF4-FFF2-40B4-BE49-F238E27FC236}">
                <a16:creationId xmlns:a16="http://schemas.microsoft.com/office/drawing/2014/main" id="{B501EA02-0000-499A-99B5-194396084B6A}"/>
              </a:ext>
            </a:extLst>
          </p:cNvPr>
          <p:cNvSpPr>
            <a:spLocks noGrp="1" noChangeArrowheads="1"/>
          </p:cNvSpPr>
          <p:nvPr>
            <p:ph type="title"/>
          </p:nvPr>
        </p:nvSpPr>
        <p:spPr>
          <a:xfrm>
            <a:off x="780837" y="115888"/>
            <a:ext cx="9287090" cy="1225550"/>
          </a:xfrm>
        </p:spPr>
        <p:txBody>
          <a:bodyPr rtlCol="0">
            <a:normAutofit fontScale="90000"/>
          </a:bodyPr>
          <a:lstStyle/>
          <a:p>
            <a:pPr eaLnBrk="1" fontAlgn="auto" hangingPunct="1">
              <a:spcAft>
                <a:spcPts val="0"/>
              </a:spcAft>
              <a:defRPr/>
            </a:pPr>
            <a:r>
              <a:rPr lang="en-GB" altLang="en-US" b="1" dirty="0">
                <a:latin typeface="Times New Roman" panose="02020603050405020304" pitchFamily="18" charset="0"/>
                <a:cs typeface="Times New Roman" panose="02020603050405020304" pitchFamily="18" charset="0"/>
              </a:rPr>
              <a:t>Reliability and Validity of Information</a:t>
            </a:r>
          </a:p>
        </p:txBody>
      </p:sp>
      <p:sp>
        <p:nvSpPr>
          <p:cNvPr id="1027" name="Rectangle 3">
            <a:extLst>
              <a:ext uri="{FF2B5EF4-FFF2-40B4-BE49-F238E27FC236}">
                <a16:creationId xmlns:a16="http://schemas.microsoft.com/office/drawing/2014/main" id="{1095A428-A443-4961-819F-E22FDBD6D055}"/>
              </a:ext>
            </a:extLst>
          </p:cNvPr>
          <p:cNvSpPr>
            <a:spLocks noGrp="1" noChangeArrowheads="1"/>
          </p:cNvSpPr>
          <p:nvPr>
            <p:ph idx="1"/>
          </p:nvPr>
        </p:nvSpPr>
        <p:spPr/>
        <p:txBody>
          <a:bodyPr/>
          <a:lstStyle/>
          <a:p>
            <a:pPr eaLnBrk="1" hangingPunct="1">
              <a:buFont typeface="Wingdings" panose="05000000000000000000" pitchFamily="2" charset="2"/>
              <a:buChar char="§"/>
            </a:pPr>
            <a:r>
              <a:rPr lang="en-US" altLang="en-US" sz="2400" b="1" i="1" dirty="0">
                <a:latin typeface="Times New Roman" panose="02020603050405020304" pitchFamily="18" charset="0"/>
                <a:cs typeface="Times New Roman" panose="02020603050405020304" pitchFamily="18" charset="0"/>
              </a:rPr>
              <a:t>Use only authentic sources of information</a:t>
            </a:r>
          </a:p>
          <a:p>
            <a:pPr eaLnBrk="1" hangingPunct="1">
              <a:buFont typeface="Wingdings" panose="05000000000000000000" pitchFamily="2" charset="2"/>
              <a:buChar char="§"/>
            </a:pPr>
            <a:endParaRPr lang="en-US" altLang="en-US" sz="2400" b="1" i="1"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
            </a:pPr>
            <a:r>
              <a:rPr lang="en-GB" altLang="en-US" sz="2400" dirty="0">
                <a:cs typeface="Times New Roman" panose="02020603050405020304" pitchFamily="18" charset="0"/>
              </a:rPr>
              <a:t>How reliable is the information, especially from reports, documents without peer review?</a:t>
            </a:r>
          </a:p>
          <a:p>
            <a:pPr eaLnBrk="1" hangingPunct="1">
              <a:buFont typeface="Wingdings" panose="05000000000000000000" pitchFamily="2" charset="2"/>
              <a:buChar char="§"/>
            </a:pPr>
            <a:endParaRPr lang="en-GB" altLang="en-US" sz="2400" dirty="0">
              <a:cs typeface="Times New Roman" panose="02020603050405020304" pitchFamily="18" charset="0"/>
            </a:endParaRPr>
          </a:p>
          <a:p>
            <a:pPr lvl="1" eaLnBrk="1" hangingPunct="1">
              <a:buFont typeface="Wingdings" panose="05000000000000000000" pitchFamily="2" charset="2"/>
              <a:buChar char="§"/>
            </a:pPr>
            <a:r>
              <a:rPr lang="en-GB" altLang="en-US" dirty="0">
                <a:cs typeface="Times New Roman" panose="02020603050405020304" pitchFamily="18" charset="0"/>
              </a:rPr>
              <a:t>E.g. use of internet sources not recognised as scholarly. </a:t>
            </a:r>
            <a:r>
              <a:rPr lang="en-US" dirty="0"/>
              <a:t>Blogs, Wikipedia, or commercial websites are not reliable for academic work. They can be used for background understanding but not as citations in a proposal.</a:t>
            </a:r>
            <a:endParaRPr lang="en-GB" altLang="en-US" dirty="0">
              <a:cs typeface="Times New Roman" panose="02020603050405020304" pitchFamily="18" charset="0"/>
            </a:endParaRPr>
          </a:p>
          <a:p>
            <a:pPr lvl="1" eaLnBrk="1" hangingPunct="1">
              <a:buFont typeface="Wingdings" panose="05000000000000000000" pitchFamily="2" charset="2"/>
              <a:buChar char="§"/>
            </a:pPr>
            <a:endParaRPr lang="en-GB" altLang="en-US" dirty="0">
              <a:cs typeface="Times New Roman" panose="02020603050405020304" pitchFamily="18" charset="0"/>
            </a:endParaRPr>
          </a:p>
          <a:p>
            <a:pPr eaLnBrk="1" hangingPunct="1">
              <a:buFont typeface="Wingdings" panose="05000000000000000000" pitchFamily="2" charset="2"/>
              <a:buChar char="§"/>
            </a:pPr>
            <a:r>
              <a:rPr lang="en-GB" altLang="en-US" sz="2400" dirty="0">
                <a:cs typeface="Times New Roman" panose="02020603050405020304" pitchFamily="18" charset="0"/>
              </a:rPr>
              <a:t>Consider internal and external validity of scientific articles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EA1D8D65-A577-47D2-8741-C8512EBBC52B}"/>
              </a:ext>
            </a:extLst>
          </p:cNvPr>
          <p:cNvSpPr>
            <a:spLocks noGrp="1"/>
          </p:cNvSpPr>
          <p:nvPr>
            <p:ph type="title"/>
          </p:nvPr>
        </p:nvSpPr>
        <p:spPr>
          <a:xfrm>
            <a:off x="1774825" y="115888"/>
            <a:ext cx="7886700" cy="1325562"/>
          </a:xfrm>
        </p:spPr>
        <p:txBody>
          <a:bodyPr/>
          <a:lstStyle/>
          <a:p>
            <a:pPr eaLnBrk="1" hangingPunct="1"/>
            <a:r>
              <a:rPr lang="en-US" altLang="en-US" dirty="0">
                <a:latin typeface="Times New Roman" panose="02020603050405020304" pitchFamily="18" charset="0"/>
                <a:cs typeface="Times New Roman" panose="02020603050405020304" pitchFamily="18" charset="0"/>
              </a:rPr>
              <a:t>Searching the Web</a:t>
            </a:r>
          </a:p>
        </p:txBody>
      </p:sp>
      <p:sp>
        <p:nvSpPr>
          <p:cNvPr id="3" name="Content Placeholder 2">
            <a:extLst>
              <a:ext uri="{FF2B5EF4-FFF2-40B4-BE49-F238E27FC236}">
                <a16:creationId xmlns:a16="http://schemas.microsoft.com/office/drawing/2014/main" id="{27D4BF92-2B3C-4E5D-8828-988604963827}"/>
              </a:ext>
            </a:extLst>
          </p:cNvPr>
          <p:cNvSpPr>
            <a:spLocks noGrp="1"/>
          </p:cNvSpPr>
          <p:nvPr>
            <p:ph idx="1"/>
          </p:nvPr>
        </p:nvSpPr>
        <p:spPr>
          <a:xfrm>
            <a:off x="1981200" y="1600200"/>
            <a:ext cx="8229600" cy="4400550"/>
          </a:xfrm>
        </p:spPr>
        <p:txBody>
          <a:bodyPr/>
          <a:lstStyle/>
          <a:p>
            <a:pPr eaLnBrk="1" hangingPunct="1"/>
            <a:r>
              <a:rPr lang="en-US" altLang="en-US" dirty="0">
                <a:latin typeface="Times New Roman" panose="02020603050405020304" pitchFamily="18" charset="0"/>
                <a:cs typeface="Times New Roman" panose="02020603050405020304" pitchFamily="18" charset="0"/>
              </a:rPr>
              <a:t>Use search engines</a:t>
            </a:r>
          </a:p>
          <a:p>
            <a:pPr lvl="1" eaLnBrk="1" hangingPunct="1"/>
            <a:r>
              <a:rPr lang="en-US" altLang="en-US" sz="2800" dirty="0">
                <a:latin typeface="Times New Roman" panose="02020603050405020304" pitchFamily="18" charset="0"/>
                <a:cs typeface="Times New Roman" panose="02020603050405020304" pitchFamily="18" charset="0"/>
              </a:rPr>
              <a:t>Google Scholar</a:t>
            </a:r>
          </a:p>
          <a:p>
            <a:pPr lvl="1" eaLnBrk="1" hangingPunct="1"/>
            <a:r>
              <a:rPr lang="en-US" altLang="en-US" sz="2800" dirty="0">
                <a:latin typeface="Times New Roman" panose="02020603050405020304" pitchFamily="18" charset="0"/>
                <a:cs typeface="Times New Roman" panose="02020603050405020304" pitchFamily="18" charset="0"/>
              </a:rPr>
              <a:t>Google</a:t>
            </a:r>
          </a:p>
          <a:p>
            <a:pPr lvl="1" eaLnBrk="1" hangingPunct="1"/>
            <a:r>
              <a:rPr lang="en-US" altLang="en-US" sz="2800" dirty="0">
                <a:latin typeface="Times New Roman" panose="02020603050405020304" pitchFamily="18" charset="0"/>
                <a:cs typeface="Times New Roman" panose="02020603050405020304" pitchFamily="18" charset="0"/>
              </a:rPr>
              <a:t>Web of Science</a:t>
            </a:r>
          </a:p>
          <a:p>
            <a:pPr eaLnBrk="1" hangingPunct="1"/>
            <a:r>
              <a:rPr lang="en-US" altLang="en-US" dirty="0">
                <a:latin typeface="Times New Roman" panose="02020603050405020304" pitchFamily="18" charset="0"/>
                <a:cs typeface="Times New Roman" panose="02020603050405020304" pitchFamily="18" charset="0"/>
              </a:rPr>
              <a:t>Research gate</a:t>
            </a:r>
          </a:p>
          <a:p>
            <a:pPr lvl="1" eaLnBrk="1" hangingPunct="1"/>
            <a:r>
              <a:rPr lang="en-US" altLang="en-US" sz="2800" dirty="0">
                <a:latin typeface="Times New Roman" panose="02020603050405020304" pitchFamily="18" charset="0"/>
                <a:cs typeface="Times New Roman" panose="02020603050405020304" pitchFamily="18" charset="0"/>
              </a:rPr>
              <a:t>Searching for prominent authors, profiles and their publications.</a:t>
            </a:r>
          </a:p>
          <a:p>
            <a:pPr lvl="1" eaLnBrk="1" hangingPunct="1"/>
            <a:endParaRPr lang="en-US" alt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41E4B793-EF2D-4E05-B255-5EE4EB833313}"/>
              </a:ext>
            </a:extLst>
          </p:cNvPr>
          <p:cNvSpPr>
            <a:spLocks noGrp="1" noChangeArrowheads="1"/>
          </p:cNvSpPr>
          <p:nvPr>
            <p:ph type="title"/>
          </p:nvPr>
        </p:nvSpPr>
        <p:spPr>
          <a:xfrm>
            <a:off x="2152650" y="1"/>
            <a:ext cx="7886700" cy="1325563"/>
          </a:xfrm>
        </p:spPr>
        <p:txBody>
          <a:bodyPr/>
          <a:lstStyle/>
          <a:p>
            <a:pPr eaLnBrk="1" hangingPunct="1"/>
            <a:r>
              <a:rPr lang="en-GB" altLang="en-US" sz="3200" b="1">
                <a:latin typeface="Times New Roman" panose="02020603050405020304" pitchFamily="18" charset="0"/>
                <a:cs typeface="Times New Roman" panose="02020603050405020304" pitchFamily="18" charset="0"/>
              </a:rPr>
              <a:t>Validity and Reliability</a:t>
            </a:r>
          </a:p>
        </p:txBody>
      </p:sp>
      <p:sp>
        <p:nvSpPr>
          <p:cNvPr id="17411" name="Rectangle 3">
            <a:extLst>
              <a:ext uri="{FF2B5EF4-FFF2-40B4-BE49-F238E27FC236}">
                <a16:creationId xmlns:a16="http://schemas.microsoft.com/office/drawing/2014/main" id="{0E8467E2-ED49-4AA4-BB62-12CFD89A18A3}"/>
              </a:ext>
            </a:extLst>
          </p:cNvPr>
          <p:cNvSpPr>
            <a:spLocks noGrp="1" noChangeArrowheads="1"/>
          </p:cNvSpPr>
          <p:nvPr>
            <p:ph idx="1"/>
          </p:nvPr>
        </p:nvSpPr>
        <p:spPr>
          <a:xfrm>
            <a:off x="1524000" y="1600200"/>
            <a:ext cx="9144000" cy="5257800"/>
          </a:xfrm>
        </p:spPr>
        <p:txBody>
          <a:bodyPr/>
          <a:lstStyle/>
          <a:p>
            <a:pPr lvl="2" eaLnBrk="1" hangingPunct="1"/>
            <a:endParaRPr lang="en-GB" altLang="en-US" u="sng"/>
          </a:p>
          <a:p>
            <a:pPr lvl="2" eaLnBrk="1" hangingPunct="1"/>
            <a:endParaRPr lang="en-GB" altLang="en-US" u="sng"/>
          </a:p>
          <a:p>
            <a:pPr lvl="2" eaLnBrk="1" hangingPunct="1"/>
            <a:endParaRPr lang="en-GB" altLang="en-US" u="sng"/>
          </a:p>
          <a:p>
            <a:pPr lvl="2" eaLnBrk="1" hangingPunct="1"/>
            <a:endParaRPr lang="en-GB" altLang="en-US" u="sng"/>
          </a:p>
          <a:p>
            <a:pPr lvl="2" eaLnBrk="1" hangingPunct="1"/>
            <a:endParaRPr lang="en-GB" altLang="en-US" u="sng"/>
          </a:p>
          <a:p>
            <a:pPr lvl="2" eaLnBrk="1" hangingPunct="1"/>
            <a:endParaRPr lang="en-GB" altLang="en-US" u="sng"/>
          </a:p>
          <a:p>
            <a:pPr lvl="1" eaLnBrk="1" hangingPunct="1">
              <a:buFontTx/>
              <a:buChar char="•"/>
            </a:pPr>
            <a:endParaRPr lang="en-GB" altLang="en-US" b="1" u="sng"/>
          </a:p>
          <a:p>
            <a:pPr lvl="1" eaLnBrk="1" hangingPunct="1">
              <a:buFontTx/>
              <a:buChar char="•"/>
            </a:pPr>
            <a:endParaRPr lang="en-GB" altLang="en-US" b="1" u="sng"/>
          </a:p>
          <a:p>
            <a:pPr lvl="1" eaLnBrk="1" hangingPunct="1">
              <a:buFontTx/>
              <a:buChar char="•"/>
            </a:pPr>
            <a:endParaRPr lang="en-GB" altLang="en-US" b="1" u="sng"/>
          </a:p>
          <a:p>
            <a:pPr lvl="1" eaLnBrk="1" hangingPunct="1">
              <a:buFontTx/>
              <a:buChar char="•"/>
            </a:pPr>
            <a:endParaRPr lang="en-GB" altLang="en-US" b="1" u="sng"/>
          </a:p>
        </p:txBody>
      </p:sp>
      <p:sp>
        <p:nvSpPr>
          <p:cNvPr id="17412" name="Slide Number Placeholder 5">
            <a:extLst>
              <a:ext uri="{FF2B5EF4-FFF2-40B4-BE49-F238E27FC236}">
                <a16:creationId xmlns:a16="http://schemas.microsoft.com/office/drawing/2014/main" id="{C43DE8EB-A0A6-4FFC-AB61-42C9BA63252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endParaRPr lang="en-US" altLang="en-US" sz="1400" dirty="0">
              <a:latin typeface="Arial" panose="020B0604020202020204" pitchFamily="34" charset="0"/>
            </a:endParaRPr>
          </a:p>
        </p:txBody>
      </p:sp>
      <p:sp>
        <p:nvSpPr>
          <p:cNvPr id="5" name="Rectangle 4">
            <a:extLst>
              <a:ext uri="{FF2B5EF4-FFF2-40B4-BE49-F238E27FC236}">
                <a16:creationId xmlns:a16="http://schemas.microsoft.com/office/drawing/2014/main" id="{E824E8B6-2327-42E6-94B4-1555CDCEDC34}"/>
              </a:ext>
            </a:extLst>
          </p:cNvPr>
          <p:cNvSpPr/>
          <p:nvPr/>
        </p:nvSpPr>
        <p:spPr>
          <a:xfrm>
            <a:off x="1524000" y="1504950"/>
            <a:ext cx="9144000" cy="192405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eaLnBrk="1" hangingPunct="1">
              <a:lnSpc>
                <a:spcPct val="90000"/>
              </a:lnSpc>
              <a:defRPr/>
            </a:pPr>
            <a:r>
              <a:rPr lang="en-GB" sz="2800" b="1" u="sng" dirty="0">
                <a:solidFill>
                  <a:srgbClr val="FFFF00"/>
                </a:solidFill>
                <a:latin typeface="Times New Roman" panose="02020603050405020304" pitchFamily="18" charset="0"/>
                <a:cs typeface="Times New Roman" panose="02020603050405020304" pitchFamily="18" charset="0"/>
              </a:rPr>
              <a:t>Validity</a:t>
            </a:r>
            <a:r>
              <a:rPr lang="en-GB" sz="2400" dirty="0">
                <a:latin typeface="Times New Roman" panose="02020603050405020304" pitchFamily="18" charset="0"/>
                <a:cs typeface="Times New Roman" panose="02020603050405020304" pitchFamily="18" charset="0"/>
              </a:rPr>
              <a:t> means that conclusions are true</a:t>
            </a:r>
          </a:p>
          <a:p>
            <a:pPr algn="just" eaLnBrk="1" hangingPunct="1">
              <a:lnSpc>
                <a:spcPct val="90000"/>
              </a:lnSpc>
              <a:defRPr/>
            </a:pPr>
            <a:endParaRPr lang="en-GB" sz="2400" b="1" u="sng" dirty="0">
              <a:latin typeface="Times New Roman" panose="02020603050405020304" pitchFamily="18" charset="0"/>
              <a:cs typeface="Times New Roman" panose="02020603050405020304" pitchFamily="18" charset="0"/>
            </a:endParaRPr>
          </a:p>
          <a:p>
            <a:pPr algn="just" eaLnBrk="1" hangingPunct="1">
              <a:lnSpc>
                <a:spcPct val="90000"/>
              </a:lnSpc>
              <a:defRPr/>
            </a:pPr>
            <a:r>
              <a:rPr lang="en-GB" sz="2800" b="1" u="sng" dirty="0">
                <a:solidFill>
                  <a:srgbClr val="FFFF00"/>
                </a:solidFill>
                <a:latin typeface="Times New Roman" panose="02020603050405020304" pitchFamily="18" charset="0"/>
                <a:cs typeface="Times New Roman" panose="02020603050405020304" pitchFamily="18" charset="0"/>
              </a:rPr>
              <a:t>Internal validity</a:t>
            </a:r>
            <a:r>
              <a:rPr lang="en-GB" sz="2400" dirty="0">
                <a:solidFill>
                  <a:srgbClr val="FFFF00"/>
                </a:solidFill>
                <a:latin typeface="Times New Roman" panose="02020603050405020304" pitchFamily="18" charset="0"/>
                <a:cs typeface="Times New Roman" panose="02020603050405020304" pitchFamily="18" charset="0"/>
              </a:rPr>
              <a:t> </a:t>
            </a:r>
            <a:r>
              <a:rPr lang="en-GB" sz="2400" dirty="0">
                <a:latin typeface="Times New Roman" panose="02020603050405020304" pitchFamily="18" charset="0"/>
                <a:cs typeface="Times New Roman" panose="02020603050405020304" pitchFamily="18" charset="0"/>
              </a:rPr>
              <a:t>is the degree to which the results of a study are correct for the sample or units being studied. </a:t>
            </a:r>
          </a:p>
          <a:p>
            <a:pPr algn="just" eaLnBrk="1" hangingPunct="1">
              <a:lnSpc>
                <a:spcPct val="90000"/>
              </a:lnSpc>
              <a:defRPr/>
            </a:pPr>
            <a:r>
              <a:rPr lang="en-GB" sz="2400" dirty="0">
                <a:latin typeface="Times New Roman" panose="02020603050405020304" pitchFamily="18" charset="0"/>
                <a:cs typeface="Times New Roman" panose="02020603050405020304" pitchFamily="18" charset="0"/>
              </a:rPr>
              <a:t>Determined by how well the design, data collection and analyses are carried out .Threatened by several </a:t>
            </a:r>
            <a:r>
              <a:rPr lang="en-GB" sz="2400" u="sng" dirty="0">
                <a:solidFill>
                  <a:srgbClr val="FFFF00"/>
                </a:solidFill>
                <a:latin typeface="Times New Roman" panose="02020603050405020304" pitchFamily="18" charset="0"/>
                <a:cs typeface="Times New Roman" panose="02020603050405020304" pitchFamily="18" charset="0"/>
              </a:rPr>
              <a:t>biases</a:t>
            </a:r>
          </a:p>
        </p:txBody>
      </p:sp>
      <p:sp>
        <p:nvSpPr>
          <p:cNvPr id="7" name="Rectangle 6">
            <a:extLst>
              <a:ext uri="{FF2B5EF4-FFF2-40B4-BE49-F238E27FC236}">
                <a16:creationId xmlns:a16="http://schemas.microsoft.com/office/drawing/2014/main" id="{2096439A-5306-4FFB-B83F-819E49FC5927}"/>
              </a:ext>
            </a:extLst>
          </p:cNvPr>
          <p:cNvSpPr/>
          <p:nvPr/>
        </p:nvSpPr>
        <p:spPr>
          <a:xfrm>
            <a:off x="1524000" y="3573463"/>
            <a:ext cx="9144000" cy="15113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lnSpc>
                <a:spcPct val="90000"/>
              </a:lnSpc>
              <a:defRPr/>
            </a:pPr>
            <a:r>
              <a:rPr lang="en-GB" sz="2800" b="1" u="sng" dirty="0">
                <a:solidFill>
                  <a:srgbClr val="FFFF00"/>
                </a:solidFill>
                <a:latin typeface="Times New Roman" panose="02020603050405020304" pitchFamily="18" charset="0"/>
                <a:cs typeface="Times New Roman" panose="02020603050405020304" pitchFamily="18" charset="0"/>
              </a:rPr>
              <a:t>External validity</a:t>
            </a:r>
            <a:r>
              <a:rPr lang="en-GB" sz="3200" dirty="0">
                <a:solidFill>
                  <a:srgbClr val="FFFF00"/>
                </a:solidFill>
                <a:latin typeface="Times New Roman" panose="02020603050405020304" pitchFamily="18" charset="0"/>
                <a:cs typeface="Times New Roman" panose="02020603050405020304" pitchFamily="18" charset="0"/>
              </a:rPr>
              <a:t> </a:t>
            </a:r>
            <a:r>
              <a:rPr lang="en-GB" sz="3200" dirty="0">
                <a:solidFill>
                  <a:schemeClr val="tx1">
                    <a:lumMod val="95000"/>
                    <a:lumOff val="5000"/>
                  </a:schemeClr>
                </a:solidFill>
                <a:latin typeface="Times New Roman" panose="02020603050405020304" pitchFamily="18" charset="0"/>
                <a:cs typeface="Times New Roman" panose="02020603050405020304" pitchFamily="18" charset="0"/>
              </a:rPr>
              <a:t>is the degree to which the results of an observation hold true in other settings i.e.</a:t>
            </a:r>
            <a:r>
              <a:rPr lang="en-GB" sz="3200" dirty="0">
                <a:latin typeface="Times New Roman" panose="02020603050405020304" pitchFamily="18" charset="0"/>
                <a:cs typeface="Times New Roman" panose="02020603050405020304" pitchFamily="18" charset="0"/>
              </a:rPr>
              <a:t> </a:t>
            </a:r>
            <a:r>
              <a:rPr lang="en-GB" sz="2400" b="1" u="sng" dirty="0">
                <a:solidFill>
                  <a:srgbClr val="FFFF00"/>
                </a:solidFill>
                <a:latin typeface="Times New Roman" panose="02020603050405020304" pitchFamily="18" charset="0"/>
                <a:cs typeface="Times New Roman" panose="02020603050405020304" pitchFamily="18" charset="0"/>
              </a:rPr>
              <a:t>Generalisability</a:t>
            </a:r>
          </a:p>
        </p:txBody>
      </p:sp>
      <p:sp>
        <p:nvSpPr>
          <p:cNvPr id="8" name="Rectangle 7">
            <a:extLst>
              <a:ext uri="{FF2B5EF4-FFF2-40B4-BE49-F238E27FC236}">
                <a16:creationId xmlns:a16="http://schemas.microsoft.com/office/drawing/2014/main" id="{012D1464-C078-4CD6-95D2-BE38710E082C}"/>
              </a:ext>
            </a:extLst>
          </p:cNvPr>
          <p:cNvSpPr/>
          <p:nvPr/>
        </p:nvSpPr>
        <p:spPr>
          <a:xfrm>
            <a:off x="1524000" y="5373688"/>
            <a:ext cx="9144000" cy="12954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lnSpc>
                <a:spcPct val="90000"/>
              </a:lnSpc>
              <a:defRPr/>
            </a:pPr>
            <a:r>
              <a:rPr lang="en-GB" sz="2800" b="1" u="sng" dirty="0">
                <a:solidFill>
                  <a:schemeClr val="tx1">
                    <a:lumMod val="95000"/>
                    <a:lumOff val="5000"/>
                  </a:schemeClr>
                </a:solidFill>
                <a:latin typeface="Times New Roman" panose="02020603050405020304" pitchFamily="18" charset="0"/>
                <a:cs typeface="Times New Roman" panose="02020603050405020304" pitchFamily="18" charset="0"/>
              </a:rPr>
              <a:t>Reliability</a:t>
            </a:r>
            <a:r>
              <a:rPr lang="en-GB" sz="2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GB" sz="2800" dirty="0">
                <a:solidFill>
                  <a:schemeClr val="tx1">
                    <a:lumMod val="95000"/>
                    <a:lumOff val="5000"/>
                  </a:schemeClr>
                </a:solidFill>
                <a:latin typeface="Times New Roman" panose="02020603050405020304" pitchFamily="18" charset="0"/>
                <a:cs typeface="Times New Roman" panose="02020603050405020304" pitchFamily="18" charset="0"/>
              </a:rPr>
              <a:t>means that someone using the same method in the same circumstances should be able to obtain the same findings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B4D4FA92-285B-41F7-A145-DEA2AA1086FF}"/>
              </a:ext>
            </a:extLst>
          </p:cNvPr>
          <p:cNvSpPr>
            <a:spLocks noGrp="1" noChangeArrowheads="1"/>
          </p:cNvSpPr>
          <p:nvPr>
            <p:ph type="title"/>
          </p:nvPr>
        </p:nvSpPr>
        <p:spPr/>
        <p:txBody>
          <a:bodyPr/>
          <a:lstStyle/>
          <a:p>
            <a:pPr eaLnBrk="1" hangingPunct="1">
              <a:lnSpc>
                <a:spcPct val="90000"/>
              </a:lnSpc>
              <a:spcBef>
                <a:spcPct val="20000"/>
              </a:spcBef>
              <a:buClr>
                <a:schemeClr val="bg2"/>
              </a:buClr>
              <a:buSzPct val="75000"/>
              <a:defRPr/>
            </a:pPr>
            <a:r>
              <a:rPr lang="en-US" sz="2400" b="1" kern="1200" dirty="0">
                <a:solidFill>
                  <a:schemeClr val="tx1"/>
                </a:solidFill>
                <a:latin typeface="Arial Black" pitchFamily="34" charset="0"/>
                <a:ea typeface="+mn-ea"/>
                <a:cs typeface="+mn-cs"/>
              </a:rPr>
              <a:t>Common Problems</a:t>
            </a:r>
          </a:p>
        </p:txBody>
      </p:sp>
      <p:sp>
        <p:nvSpPr>
          <p:cNvPr id="69635" name="Rectangle 3">
            <a:extLst>
              <a:ext uri="{FF2B5EF4-FFF2-40B4-BE49-F238E27FC236}">
                <a16:creationId xmlns:a16="http://schemas.microsoft.com/office/drawing/2014/main" id="{19B5CE6B-D34B-4437-93E5-5AAED808770E}"/>
              </a:ext>
            </a:extLst>
          </p:cNvPr>
          <p:cNvSpPr>
            <a:spLocks noGrp="1" noChangeArrowheads="1"/>
          </p:cNvSpPr>
          <p:nvPr>
            <p:ph type="body" idx="1"/>
          </p:nvPr>
        </p:nvSpPr>
        <p:spPr>
          <a:xfrm>
            <a:off x="1981200" y="1600200"/>
            <a:ext cx="8229600" cy="5029200"/>
          </a:xfrm>
        </p:spPr>
        <p:txBody>
          <a:bodyPr/>
          <a:lstStyle/>
          <a:p>
            <a:pPr marL="0" indent="0">
              <a:buNone/>
              <a:defRPr/>
            </a:pPr>
            <a:r>
              <a:rPr lang="en-US" sz="2400" b="1" dirty="0"/>
              <a:t>DO NOT:</a:t>
            </a:r>
          </a:p>
          <a:p>
            <a:pPr marL="0" indent="0">
              <a:buNone/>
              <a:defRPr/>
            </a:pPr>
            <a:endParaRPr lang="en-US" b="1" dirty="0"/>
          </a:p>
          <a:p>
            <a:pPr>
              <a:defRPr/>
            </a:pPr>
            <a:r>
              <a:rPr lang="en-US" sz="2400" dirty="0"/>
              <a:t>Include every source found</a:t>
            </a:r>
          </a:p>
          <a:p>
            <a:pPr>
              <a:defRPr/>
            </a:pPr>
            <a:r>
              <a:rPr lang="en-ZW" sz="2400" dirty="0"/>
              <a:t>Include every source in a sequential order</a:t>
            </a:r>
          </a:p>
          <a:p>
            <a:pPr>
              <a:defRPr/>
            </a:pPr>
            <a:r>
              <a:rPr lang="en-ZW" sz="2400" dirty="0"/>
              <a:t>Organize the discussion in an ineffective manner</a:t>
            </a:r>
          </a:p>
          <a:p>
            <a:pPr>
              <a:defRPr/>
            </a:pPr>
            <a:r>
              <a:rPr lang="en-ZW" sz="2400" dirty="0"/>
              <a:t>Lose track of sources and spend time searching for </a:t>
            </a:r>
            <a:r>
              <a:rPr lang="en-US" sz="2400" dirty="0"/>
              <a:t>them</a:t>
            </a:r>
          </a:p>
        </p:txBody>
      </p:sp>
    </p:spTree>
    <p:extLst>
      <p:ext uri="{BB962C8B-B14F-4D97-AF65-F5344CB8AC3E}">
        <p14:creationId xmlns:p14="http://schemas.microsoft.com/office/powerpoint/2010/main" val="1931907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
            <a:extLst>
              <a:ext uri="{FF2B5EF4-FFF2-40B4-BE49-F238E27FC236}">
                <a16:creationId xmlns:a16="http://schemas.microsoft.com/office/drawing/2014/main" id="{E0E00366-8B2A-4425-8107-32B5D9B27EA6}"/>
              </a:ext>
            </a:extLst>
          </p:cNvPr>
          <p:cNvSpPr>
            <a:spLocks noChangeArrowheads="1"/>
          </p:cNvSpPr>
          <p:nvPr/>
        </p:nvSpPr>
        <p:spPr bwMode="auto">
          <a:xfrm>
            <a:off x="3124200" y="750888"/>
            <a:ext cx="2590800"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lnSpc>
                <a:spcPct val="90000"/>
              </a:lnSpc>
              <a:spcBef>
                <a:spcPct val="20000"/>
              </a:spcBef>
              <a:buClr>
                <a:schemeClr val="bg2"/>
              </a:buClr>
              <a:buSzPct val="75000"/>
            </a:pPr>
            <a:r>
              <a:rPr lang="en-US" altLang="en-US" sz="2400" b="1">
                <a:latin typeface="Arial Black" panose="020B0A04020102020204" pitchFamily="34" charset="0"/>
              </a:rPr>
              <a:t>Transitions</a:t>
            </a:r>
          </a:p>
        </p:txBody>
      </p:sp>
      <p:sp>
        <p:nvSpPr>
          <p:cNvPr id="10243" name="Rectangle 2">
            <a:extLst>
              <a:ext uri="{FF2B5EF4-FFF2-40B4-BE49-F238E27FC236}">
                <a16:creationId xmlns:a16="http://schemas.microsoft.com/office/drawing/2014/main" id="{5C47A712-C8E1-4681-9219-120BED4F6CB6}"/>
              </a:ext>
            </a:extLst>
          </p:cNvPr>
          <p:cNvSpPr>
            <a:spLocks noChangeArrowheads="1"/>
          </p:cNvSpPr>
          <p:nvPr/>
        </p:nvSpPr>
        <p:spPr bwMode="auto">
          <a:xfrm>
            <a:off x="2590800" y="1568450"/>
            <a:ext cx="69342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r>
              <a:rPr lang="en-ZW" altLang="en-US" b="1"/>
              <a:t>Transitions help connect paragraphs together</a:t>
            </a:r>
            <a:endParaRPr lang="en-US" altLang="en-US"/>
          </a:p>
        </p:txBody>
      </p:sp>
      <p:sp>
        <p:nvSpPr>
          <p:cNvPr id="4" name="Rectangle 3">
            <a:extLst>
              <a:ext uri="{FF2B5EF4-FFF2-40B4-BE49-F238E27FC236}">
                <a16:creationId xmlns:a16="http://schemas.microsoft.com/office/drawing/2014/main" id="{16F5C486-C3AB-470E-94CB-A2DCB5DA1F28}"/>
              </a:ext>
            </a:extLst>
          </p:cNvPr>
          <p:cNvSpPr/>
          <p:nvPr/>
        </p:nvSpPr>
        <p:spPr>
          <a:xfrm>
            <a:off x="2408238" y="1936750"/>
            <a:ext cx="7772400" cy="4986338"/>
          </a:xfrm>
          <a:prstGeom prst="rect">
            <a:avLst/>
          </a:prstGeom>
        </p:spPr>
        <p:txBody>
          <a:bodyPr>
            <a:spAutoFit/>
          </a:bodyPr>
          <a:lstStyle/>
          <a:p>
            <a:pPr>
              <a:defRPr/>
            </a:pPr>
            <a:r>
              <a:rPr lang="en-US" b="1" dirty="0"/>
              <a:t>Examples:</a:t>
            </a:r>
          </a:p>
          <a:p>
            <a:pPr marL="342900" indent="-342900">
              <a:spcBef>
                <a:spcPct val="20000"/>
              </a:spcBef>
              <a:buClr>
                <a:schemeClr val="bg2"/>
              </a:buClr>
              <a:buSzPct val="75000"/>
              <a:buFont typeface="Wingdings" pitchFamily="2" charset="2"/>
              <a:buChar char="p"/>
              <a:defRPr/>
            </a:pPr>
            <a:r>
              <a:rPr lang="en-ZW" sz="2000" dirty="0"/>
              <a:t>One of the first researchers to investigate this problem is </a:t>
            </a:r>
            <a:r>
              <a:rPr lang="en-US" sz="2000" dirty="0"/>
              <a:t>Chen . . .</a:t>
            </a:r>
          </a:p>
          <a:p>
            <a:pPr marL="342900" indent="-342900">
              <a:spcBef>
                <a:spcPct val="20000"/>
              </a:spcBef>
              <a:buClr>
                <a:schemeClr val="bg2"/>
              </a:buClr>
              <a:buSzPct val="75000"/>
              <a:buFont typeface="Wingdings" pitchFamily="2" charset="2"/>
              <a:buChar char="p"/>
              <a:defRPr/>
            </a:pPr>
            <a:r>
              <a:rPr lang="en-ZW" sz="2000" dirty="0"/>
              <a:t>Smith and Jones counter Chen’s argument . . .</a:t>
            </a:r>
          </a:p>
          <a:p>
            <a:pPr marL="342900" indent="-342900">
              <a:spcBef>
                <a:spcPct val="20000"/>
              </a:spcBef>
              <a:buClr>
                <a:schemeClr val="bg2"/>
              </a:buClr>
              <a:buSzPct val="75000"/>
              <a:buFont typeface="Wingdings" pitchFamily="2" charset="2"/>
              <a:buChar char="p"/>
              <a:defRPr/>
            </a:pPr>
            <a:r>
              <a:rPr lang="en-ZW" sz="2000" dirty="0"/>
              <a:t>The issue becomes more complex when a third school of</a:t>
            </a:r>
          </a:p>
          <a:p>
            <a:pPr>
              <a:spcBef>
                <a:spcPct val="20000"/>
              </a:spcBef>
              <a:buClr>
                <a:schemeClr val="bg2"/>
              </a:buClr>
              <a:buSzPct val="75000"/>
              <a:defRPr/>
            </a:pPr>
            <a:r>
              <a:rPr lang="en-US" sz="2000" dirty="0"/>
              <a:t>     thought is considered . . .</a:t>
            </a:r>
          </a:p>
          <a:p>
            <a:pPr marL="342900" indent="-342900">
              <a:spcBef>
                <a:spcPct val="20000"/>
              </a:spcBef>
              <a:buClr>
                <a:schemeClr val="bg2"/>
              </a:buClr>
              <a:buSzPct val="75000"/>
              <a:buFont typeface="Wingdings" pitchFamily="2" charset="2"/>
              <a:buChar char="p"/>
              <a:defRPr/>
            </a:pPr>
            <a:r>
              <a:rPr lang="en-ZW" sz="2000" dirty="0"/>
              <a:t>One researcher who agrees with Chen is . . .</a:t>
            </a:r>
          </a:p>
          <a:p>
            <a:pPr marL="342900" indent="-342900">
              <a:spcBef>
                <a:spcPct val="20000"/>
              </a:spcBef>
              <a:buClr>
                <a:schemeClr val="bg2"/>
              </a:buClr>
              <a:buSzPct val="75000"/>
              <a:buFont typeface="Wingdings" pitchFamily="2" charset="2"/>
              <a:buChar char="p"/>
              <a:defRPr/>
            </a:pPr>
            <a:r>
              <a:rPr lang="en-ZW" sz="2000" dirty="0"/>
              <a:t>A different approach to this question looks at problems in X</a:t>
            </a:r>
          </a:p>
          <a:p>
            <a:pPr marL="342900" indent="-342900">
              <a:spcBef>
                <a:spcPct val="20000"/>
              </a:spcBef>
              <a:buClr>
                <a:schemeClr val="bg2"/>
              </a:buClr>
              <a:buSzPct val="75000"/>
              <a:buFont typeface="Wingdings" pitchFamily="2" charset="2"/>
              <a:buChar char="p"/>
              <a:defRPr/>
            </a:pPr>
            <a:r>
              <a:rPr lang="en-ZW" sz="2000" dirty="0"/>
              <a:t>One of the most troublesome problems is addressed by </a:t>
            </a:r>
            <a:r>
              <a:rPr lang="en-US" sz="2000" dirty="0"/>
              <a:t>Green . . .</a:t>
            </a:r>
          </a:p>
          <a:p>
            <a:pPr marL="342900" indent="-342900">
              <a:spcBef>
                <a:spcPct val="20000"/>
              </a:spcBef>
              <a:buClr>
                <a:schemeClr val="bg2"/>
              </a:buClr>
              <a:buSzPct val="75000"/>
              <a:buFont typeface="Wingdings" pitchFamily="2" charset="2"/>
              <a:buChar char="p"/>
              <a:defRPr/>
            </a:pPr>
            <a:r>
              <a:rPr lang="en-ZW" sz="2000" dirty="0"/>
              <a:t>A problem with this approach is that . . .</a:t>
            </a:r>
          </a:p>
          <a:p>
            <a:pPr marL="342900" indent="-342900">
              <a:spcBef>
                <a:spcPct val="20000"/>
              </a:spcBef>
              <a:buClr>
                <a:schemeClr val="bg2"/>
              </a:buClr>
              <a:buSzPct val="75000"/>
              <a:buFont typeface="Wingdings" pitchFamily="2" charset="2"/>
              <a:buChar char="p"/>
              <a:defRPr/>
            </a:pPr>
            <a:r>
              <a:rPr lang="en-ZW" sz="2000" dirty="0"/>
              <a:t>A recent study adds this to the mix . . .</a:t>
            </a:r>
          </a:p>
          <a:p>
            <a:pPr marL="342900" indent="-342900">
              <a:spcBef>
                <a:spcPct val="20000"/>
              </a:spcBef>
              <a:buClr>
                <a:schemeClr val="bg2"/>
              </a:buClr>
              <a:buSzPct val="75000"/>
              <a:buFont typeface="Wingdings" pitchFamily="2" charset="2"/>
              <a:buChar char="p"/>
              <a:defRPr/>
            </a:pPr>
            <a:r>
              <a:rPr lang="en-ZW" sz="2000" dirty="0"/>
              <a:t>A crucial issue that has not been addressed is z . . .</a:t>
            </a:r>
          </a:p>
        </p:txBody>
      </p:sp>
    </p:spTree>
    <p:extLst>
      <p:ext uri="{BB962C8B-B14F-4D97-AF65-F5344CB8AC3E}">
        <p14:creationId xmlns:p14="http://schemas.microsoft.com/office/powerpoint/2010/main" val="11332833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99166-E307-4363-9A26-D04DCB2814FE}"/>
              </a:ext>
            </a:extLst>
          </p:cNvPr>
          <p:cNvSpPr>
            <a:spLocks noGrp="1"/>
          </p:cNvSpPr>
          <p:nvPr>
            <p:ph type="title"/>
          </p:nvPr>
        </p:nvSpPr>
        <p:spPr/>
        <p:txBody>
          <a:bodyPr/>
          <a:lstStyle/>
          <a:p>
            <a:pPr eaLnBrk="1" hangingPunct="1">
              <a:lnSpc>
                <a:spcPct val="90000"/>
              </a:lnSpc>
              <a:spcBef>
                <a:spcPct val="20000"/>
              </a:spcBef>
              <a:buClr>
                <a:schemeClr val="bg2"/>
              </a:buClr>
              <a:buSzPct val="75000"/>
              <a:defRPr/>
            </a:pPr>
            <a:r>
              <a:rPr lang="en-US" sz="2400" b="1" kern="1200" dirty="0">
                <a:solidFill>
                  <a:schemeClr val="tx1"/>
                </a:solidFill>
                <a:latin typeface="Arial Black" pitchFamily="34" charset="0"/>
                <a:ea typeface="+mn-ea"/>
                <a:cs typeface="+mn-cs"/>
              </a:rPr>
              <a:t>Word Choice</a:t>
            </a:r>
          </a:p>
        </p:txBody>
      </p:sp>
      <p:pic>
        <p:nvPicPr>
          <p:cNvPr id="11267" name="Picture 2">
            <a:extLst>
              <a:ext uri="{FF2B5EF4-FFF2-40B4-BE49-F238E27FC236}">
                <a16:creationId xmlns:a16="http://schemas.microsoft.com/office/drawing/2014/main" id="{4E50DF8B-36CA-4BBB-80CB-0AAC9B7C06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8098" y="1563492"/>
            <a:ext cx="7789863" cy="3190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Lst>
        </p:spPr>
      </p:pic>
      <p:sp>
        <p:nvSpPr>
          <p:cNvPr id="3" name="Rectangle 2">
            <a:extLst>
              <a:ext uri="{FF2B5EF4-FFF2-40B4-BE49-F238E27FC236}">
                <a16:creationId xmlns:a16="http://schemas.microsoft.com/office/drawing/2014/main" id="{258B2CE7-ADA7-4AAC-8F07-16CCFD206ECD}"/>
              </a:ext>
            </a:extLst>
          </p:cNvPr>
          <p:cNvSpPr/>
          <p:nvPr/>
        </p:nvSpPr>
        <p:spPr>
          <a:xfrm>
            <a:off x="609599" y="5074866"/>
            <a:ext cx="10681699" cy="2031325"/>
          </a:xfrm>
          <a:prstGeom prst="rect">
            <a:avLst/>
          </a:prstGeom>
        </p:spPr>
        <p:txBody>
          <a:bodyPr wrap="square">
            <a:spAutoFit/>
          </a:bodyPr>
          <a:lstStyle/>
          <a:p>
            <a:r>
              <a:rPr lang="en-US" dirty="0"/>
              <a:t>Example:</a:t>
            </a:r>
          </a:p>
          <a:p>
            <a:r>
              <a:rPr lang="en-US" dirty="0"/>
              <a:t>1.  Lal (2021) </a:t>
            </a:r>
            <a:r>
              <a:rPr lang="en-US" dirty="0">
                <a:solidFill>
                  <a:srgbClr val="FF0000"/>
                </a:solidFill>
              </a:rPr>
              <a:t>notes</a:t>
            </a:r>
            <a:r>
              <a:rPr lang="en-US" dirty="0"/>
              <a:t> that soil carbon sequestration can mitigate climate change.</a:t>
            </a:r>
          </a:p>
          <a:p>
            <a:r>
              <a:rPr lang="en-US" dirty="0"/>
              <a:t>2.  </a:t>
            </a:r>
            <a:r>
              <a:rPr lang="en-US" dirty="0" err="1"/>
              <a:t>Vanlauwe</a:t>
            </a:r>
            <a:r>
              <a:rPr lang="en-US" dirty="0"/>
              <a:t> et al. (2022) </a:t>
            </a:r>
            <a:r>
              <a:rPr lang="en-US" dirty="0">
                <a:solidFill>
                  <a:srgbClr val="00B050"/>
                </a:solidFill>
              </a:rPr>
              <a:t>concludes</a:t>
            </a:r>
            <a:r>
              <a:rPr lang="en-US" dirty="0"/>
              <a:t> that integrated soil fertility management                    improves yields under certain conditions</a:t>
            </a:r>
          </a:p>
          <a:p>
            <a:r>
              <a:rPr lang="en-US" dirty="0"/>
              <a:t>3. Thornton et al. (2023) concurs with FAO (2022) that climate-smart agriculture requires farmer training</a:t>
            </a:r>
          </a:p>
          <a:p>
            <a:endParaRPr lang="en-US" dirty="0"/>
          </a:p>
        </p:txBody>
      </p:sp>
    </p:spTree>
    <p:extLst>
      <p:ext uri="{BB962C8B-B14F-4D97-AF65-F5344CB8AC3E}">
        <p14:creationId xmlns:p14="http://schemas.microsoft.com/office/powerpoint/2010/main" val="7627035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69D76-B27D-4456-9776-2D16160E9740}"/>
              </a:ext>
            </a:extLst>
          </p:cNvPr>
          <p:cNvSpPr>
            <a:spLocks noGrp="1"/>
          </p:cNvSpPr>
          <p:nvPr>
            <p:ph type="title"/>
          </p:nvPr>
        </p:nvSpPr>
        <p:spPr/>
        <p:txBody>
          <a:bodyPr/>
          <a:lstStyle/>
          <a:p>
            <a:pPr eaLnBrk="1" hangingPunct="1">
              <a:lnSpc>
                <a:spcPct val="90000"/>
              </a:lnSpc>
              <a:spcBef>
                <a:spcPct val="20000"/>
              </a:spcBef>
              <a:buClr>
                <a:schemeClr val="bg2"/>
              </a:buClr>
              <a:buSzPct val="75000"/>
              <a:defRPr/>
            </a:pPr>
            <a:r>
              <a:rPr lang="en-US" sz="2400" b="1" kern="1200" dirty="0">
                <a:solidFill>
                  <a:schemeClr val="tx1"/>
                </a:solidFill>
                <a:latin typeface="Arial Black" pitchFamily="34" charset="0"/>
                <a:ea typeface="+mn-ea"/>
                <a:cs typeface="+mn-cs"/>
              </a:rPr>
              <a:t>Tips for Success</a:t>
            </a:r>
          </a:p>
        </p:txBody>
      </p:sp>
      <p:sp>
        <p:nvSpPr>
          <p:cNvPr id="12291" name="Content Placeholder 2">
            <a:extLst>
              <a:ext uri="{FF2B5EF4-FFF2-40B4-BE49-F238E27FC236}">
                <a16:creationId xmlns:a16="http://schemas.microsoft.com/office/drawing/2014/main" id="{B1C8EE65-7F34-439B-9DC3-D08CFD2D76E2}"/>
              </a:ext>
            </a:extLst>
          </p:cNvPr>
          <p:cNvSpPr>
            <a:spLocks noGrp="1"/>
          </p:cNvSpPr>
          <p:nvPr>
            <p:ph idx="1"/>
          </p:nvPr>
        </p:nvSpPr>
        <p:spPr>
          <a:xfrm>
            <a:off x="1981200" y="1905000"/>
            <a:ext cx="8229600" cy="3429000"/>
          </a:xfrm>
        </p:spPr>
        <p:txBody>
          <a:bodyPr/>
          <a:lstStyle/>
          <a:p>
            <a:r>
              <a:rPr lang="en-ZW" altLang="en-US" sz="2400" dirty="0"/>
              <a:t>Look at other literature reviews in your area of interest or </a:t>
            </a:r>
            <a:r>
              <a:rPr lang="en-US" altLang="en-US" sz="2400" dirty="0"/>
              <a:t>in the discipline</a:t>
            </a:r>
          </a:p>
          <a:p>
            <a:r>
              <a:rPr lang="en-US" altLang="en-US" sz="2400" dirty="0"/>
              <a:t>Keep track of sources</a:t>
            </a:r>
          </a:p>
          <a:p>
            <a:r>
              <a:rPr lang="en-ZW" altLang="en-US" sz="2400" dirty="0"/>
              <a:t>Give yourself time for multiple drafts</a:t>
            </a:r>
          </a:p>
          <a:p>
            <a:r>
              <a:rPr lang="en-ZW" altLang="en-US" sz="2400" dirty="0"/>
              <a:t>Have someone in your field read your literature review</a:t>
            </a:r>
          </a:p>
        </p:txBody>
      </p:sp>
    </p:spTree>
    <p:extLst>
      <p:ext uri="{BB962C8B-B14F-4D97-AF65-F5344CB8AC3E}">
        <p14:creationId xmlns:p14="http://schemas.microsoft.com/office/powerpoint/2010/main" val="40699390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2C4C7B11-8FFD-4F6D-81E6-B8CEBAC9797E}"/>
              </a:ext>
            </a:extLst>
          </p:cNvPr>
          <p:cNvSpPr>
            <a:spLocks noGrp="1"/>
          </p:cNvSpPr>
          <p:nvPr>
            <p:ph type="title"/>
          </p:nvPr>
        </p:nvSpPr>
        <p:spPr>
          <a:xfrm>
            <a:off x="2057400" y="228600"/>
            <a:ext cx="8229600" cy="1143000"/>
          </a:xfrm>
        </p:spPr>
        <p:txBody>
          <a:bodyPr/>
          <a:lstStyle/>
          <a:p>
            <a:pPr eaLnBrk="1" hangingPunct="1"/>
            <a:r>
              <a:rPr lang="en-US" altLang="en-US" sz="4000" dirty="0">
                <a:latin typeface="Times New Roman" panose="02020603050405020304" pitchFamily="18" charset="0"/>
                <a:cs typeface="Times New Roman" panose="02020603050405020304" pitchFamily="18" charset="0"/>
              </a:rPr>
              <a:t>Literature &amp; Information Sources</a:t>
            </a:r>
          </a:p>
        </p:txBody>
      </p:sp>
      <p:sp>
        <p:nvSpPr>
          <p:cNvPr id="19459" name="Content Placeholder 2">
            <a:extLst>
              <a:ext uri="{FF2B5EF4-FFF2-40B4-BE49-F238E27FC236}">
                <a16:creationId xmlns:a16="http://schemas.microsoft.com/office/drawing/2014/main" id="{0DDC9648-7B5A-4FC8-B9F7-926F9A02796D}"/>
              </a:ext>
            </a:extLst>
          </p:cNvPr>
          <p:cNvSpPr>
            <a:spLocks noGrp="1"/>
          </p:cNvSpPr>
          <p:nvPr>
            <p:ph idx="1"/>
          </p:nvPr>
        </p:nvSpPr>
        <p:spPr>
          <a:xfrm>
            <a:off x="2133600" y="1295400"/>
            <a:ext cx="7696200" cy="1295400"/>
          </a:xfrm>
        </p:spPr>
        <p:txBody>
          <a:bodyPr/>
          <a:lstStyle/>
          <a:p>
            <a:pPr eaLnBrk="1" hangingPunct="1"/>
            <a:r>
              <a:rPr lang="en-US" altLang="en-US">
                <a:latin typeface="Times New Roman" panose="02020603050405020304" pitchFamily="18" charset="0"/>
                <a:cs typeface="Times New Roman" panose="02020603050405020304" pitchFamily="18" charset="0"/>
              </a:rPr>
              <a:t>Types of Sources</a:t>
            </a:r>
          </a:p>
        </p:txBody>
      </p:sp>
      <p:grpSp>
        <p:nvGrpSpPr>
          <p:cNvPr id="19460" name="Group 7">
            <a:extLst>
              <a:ext uri="{FF2B5EF4-FFF2-40B4-BE49-F238E27FC236}">
                <a16:creationId xmlns:a16="http://schemas.microsoft.com/office/drawing/2014/main" id="{78B2D967-5050-4260-8D83-8A0714919217}"/>
              </a:ext>
            </a:extLst>
          </p:cNvPr>
          <p:cNvGrpSpPr>
            <a:grpSpLocks/>
          </p:cNvGrpSpPr>
          <p:nvPr/>
        </p:nvGrpSpPr>
        <p:grpSpPr bwMode="auto">
          <a:xfrm>
            <a:off x="2881313" y="2071688"/>
            <a:ext cx="4800600" cy="4572000"/>
            <a:chOff x="1828800" y="2057400"/>
            <a:chExt cx="4800600" cy="4572000"/>
          </a:xfrm>
        </p:grpSpPr>
        <p:sp>
          <p:nvSpPr>
            <p:cNvPr id="7" name="Oval 6">
              <a:extLst>
                <a:ext uri="{FF2B5EF4-FFF2-40B4-BE49-F238E27FC236}">
                  <a16:creationId xmlns:a16="http://schemas.microsoft.com/office/drawing/2014/main" id="{3DF458BC-BE93-4DAA-8266-58AC2B5AF893}"/>
                </a:ext>
              </a:extLst>
            </p:cNvPr>
            <p:cNvSpPr/>
            <p:nvPr/>
          </p:nvSpPr>
          <p:spPr>
            <a:xfrm flipH="1">
              <a:off x="1828800" y="2057400"/>
              <a:ext cx="4800600" cy="4572000"/>
            </a:xfrm>
            <a:prstGeom prst="ellipse">
              <a:avLst/>
            </a:prstGeom>
          </p:spPr>
          <p:style>
            <a:lnRef idx="1">
              <a:schemeClr val="accent2"/>
            </a:lnRef>
            <a:fillRef idx="3">
              <a:schemeClr val="accent2"/>
            </a:fillRef>
            <a:effectRef idx="2">
              <a:schemeClr val="accent2"/>
            </a:effectRef>
            <a:fontRef idx="minor">
              <a:schemeClr val="lt1"/>
            </a:fontRef>
          </p:style>
          <p:txBody>
            <a:bodyPr anchor="ctr"/>
            <a:lstStyle/>
            <a:p>
              <a:pPr algn="ctr" eaLnBrk="1" hangingPunct="1">
                <a:defRPr/>
              </a:pPr>
              <a:r>
                <a:rPr lang="en-US" sz="2800" b="1" dirty="0"/>
                <a:t>Tertiary</a:t>
              </a:r>
            </a:p>
            <a:p>
              <a:pPr algn="ctr" eaLnBrk="1" hangingPunct="1">
                <a:defRPr/>
              </a:pPr>
              <a:endParaRPr lang="en-US" sz="2800" b="1" dirty="0"/>
            </a:p>
            <a:p>
              <a:pPr algn="ctr" eaLnBrk="1" hangingPunct="1">
                <a:defRPr/>
              </a:pPr>
              <a:endParaRPr lang="en-US" sz="2800" b="1" dirty="0"/>
            </a:p>
            <a:p>
              <a:pPr algn="ctr" eaLnBrk="1" hangingPunct="1">
                <a:defRPr/>
              </a:pPr>
              <a:endParaRPr lang="en-US" sz="2800" b="1" dirty="0"/>
            </a:p>
            <a:p>
              <a:pPr algn="ctr" eaLnBrk="1" hangingPunct="1">
                <a:defRPr/>
              </a:pPr>
              <a:endParaRPr lang="en-US" sz="2800" b="1" dirty="0"/>
            </a:p>
            <a:p>
              <a:pPr algn="ctr" eaLnBrk="1" hangingPunct="1">
                <a:defRPr/>
              </a:pPr>
              <a:endParaRPr lang="en-US" sz="2800" b="1" dirty="0"/>
            </a:p>
            <a:p>
              <a:pPr algn="ctr" eaLnBrk="1" hangingPunct="1">
                <a:defRPr/>
              </a:pPr>
              <a:endParaRPr lang="en-US" sz="2800" b="1" dirty="0"/>
            </a:p>
            <a:p>
              <a:pPr algn="ctr" eaLnBrk="1" hangingPunct="1">
                <a:defRPr/>
              </a:pPr>
              <a:endParaRPr lang="en-US" sz="2800" b="1" dirty="0"/>
            </a:p>
            <a:p>
              <a:pPr algn="ctr" eaLnBrk="1" hangingPunct="1">
                <a:defRPr/>
              </a:pPr>
              <a:endParaRPr lang="en-US" sz="2800" b="1" dirty="0"/>
            </a:p>
          </p:txBody>
        </p:sp>
        <p:sp>
          <p:nvSpPr>
            <p:cNvPr id="4" name="Oval 3">
              <a:extLst>
                <a:ext uri="{FF2B5EF4-FFF2-40B4-BE49-F238E27FC236}">
                  <a16:creationId xmlns:a16="http://schemas.microsoft.com/office/drawing/2014/main" id="{8F4A9C3C-D5DC-44E6-A47B-1AF7F2B160C6}"/>
                </a:ext>
              </a:extLst>
            </p:cNvPr>
            <p:cNvSpPr/>
            <p:nvPr/>
          </p:nvSpPr>
          <p:spPr>
            <a:xfrm flipH="1">
              <a:off x="2128837" y="2895600"/>
              <a:ext cx="3662363" cy="2971800"/>
            </a:xfrm>
            <a:prstGeom prst="ellipse">
              <a:avLst/>
            </a:prstGeom>
            <a:solidFill>
              <a:srgbClr val="FFFF00"/>
            </a:solidFill>
          </p:spPr>
          <p:style>
            <a:lnRef idx="1">
              <a:schemeClr val="accent5"/>
            </a:lnRef>
            <a:fillRef idx="2">
              <a:schemeClr val="accent5"/>
            </a:fillRef>
            <a:effectRef idx="1">
              <a:schemeClr val="accent5"/>
            </a:effectRef>
            <a:fontRef idx="minor">
              <a:schemeClr val="dk1"/>
            </a:fontRef>
          </p:style>
          <p:txBody>
            <a:bodyPr anchor="ctr"/>
            <a:lstStyle/>
            <a:p>
              <a:pPr algn="ctr" eaLnBrk="1" hangingPunct="1">
                <a:defRPr/>
              </a:pPr>
              <a:r>
                <a:rPr lang="en-US" sz="2800" b="1" dirty="0">
                  <a:solidFill>
                    <a:schemeClr val="tx1"/>
                  </a:solidFill>
                </a:rPr>
                <a:t>Secondary</a:t>
              </a:r>
            </a:p>
            <a:p>
              <a:pPr algn="ctr" eaLnBrk="1" hangingPunct="1">
                <a:defRPr/>
              </a:pPr>
              <a:endParaRPr lang="en-US" sz="2800" b="1" dirty="0">
                <a:solidFill>
                  <a:schemeClr val="tx1"/>
                </a:solidFill>
              </a:endParaRPr>
            </a:p>
            <a:p>
              <a:pPr algn="ctr" eaLnBrk="1" hangingPunct="1">
                <a:defRPr/>
              </a:pPr>
              <a:endParaRPr lang="en-US" sz="2800" b="1" dirty="0">
                <a:solidFill>
                  <a:schemeClr val="tx1"/>
                </a:solidFill>
              </a:endParaRPr>
            </a:p>
            <a:p>
              <a:pPr algn="ctr" eaLnBrk="1" hangingPunct="1">
                <a:defRPr/>
              </a:pPr>
              <a:endParaRPr lang="en-US" sz="2800" b="1" dirty="0">
                <a:solidFill>
                  <a:schemeClr val="tx1"/>
                </a:solidFill>
              </a:endParaRPr>
            </a:p>
            <a:p>
              <a:pPr algn="ctr" eaLnBrk="1" hangingPunct="1">
                <a:defRPr/>
              </a:pPr>
              <a:endParaRPr lang="en-US" sz="2800" b="1" dirty="0">
                <a:solidFill>
                  <a:schemeClr val="tx1"/>
                </a:solidFill>
              </a:endParaRPr>
            </a:p>
            <a:p>
              <a:pPr algn="ctr" eaLnBrk="1" hangingPunct="1">
                <a:defRPr/>
              </a:pPr>
              <a:endParaRPr lang="en-US" sz="2800" b="1" dirty="0">
                <a:solidFill>
                  <a:schemeClr val="tx1"/>
                </a:solidFill>
              </a:endParaRPr>
            </a:p>
          </p:txBody>
        </p:sp>
        <p:sp>
          <p:nvSpPr>
            <p:cNvPr id="6" name="Oval 5">
              <a:extLst>
                <a:ext uri="{FF2B5EF4-FFF2-40B4-BE49-F238E27FC236}">
                  <a16:creationId xmlns:a16="http://schemas.microsoft.com/office/drawing/2014/main" id="{BC52D2D7-95AF-4404-A642-7CC516C7A904}"/>
                </a:ext>
              </a:extLst>
            </p:cNvPr>
            <p:cNvSpPr/>
            <p:nvPr/>
          </p:nvSpPr>
          <p:spPr>
            <a:xfrm>
              <a:off x="3276600" y="3429000"/>
              <a:ext cx="2252662" cy="1828800"/>
            </a:xfrm>
            <a:prstGeom prst="ellipse">
              <a:avLst/>
            </a:prstGeom>
            <a:solidFill>
              <a:srgbClr val="FF0000"/>
            </a:solidFill>
          </p:spPr>
          <p:style>
            <a:lnRef idx="1">
              <a:schemeClr val="accent3"/>
            </a:lnRef>
            <a:fillRef idx="2">
              <a:schemeClr val="accent3"/>
            </a:fillRef>
            <a:effectRef idx="1">
              <a:schemeClr val="accent3"/>
            </a:effectRef>
            <a:fontRef idx="minor">
              <a:schemeClr val="dk1"/>
            </a:fontRef>
          </p:style>
          <p:txBody>
            <a:bodyPr anchor="ctr"/>
            <a:lstStyle/>
            <a:p>
              <a:pPr algn="ctr" eaLnBrk="1" hangingPunct="1">
                <a:defRPr/>
              </a:pPr>
              <a:r>
                <a:rPr lang="en-US" sz="2400" b="1" dirty="0"/>
                <a:t>Primary</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1609DB5-3708-4382-84FC-74198B225F63}"/>
              </a:ext>
            </a:extLst>
          </p:cNvPr>
          <p:cNvSpPr/>
          <p:nvPr/>
        </p:nvSpPr>
        <p:spPr>
          <a:xfrm>
            <a:off x="5591176" y="928688"/>
            <a:ext cx="5076825" cy="592931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r>
              <a:rPr lang="en-US" sz="3200" dirty="0">
                <a:latin typeface="Times New Roman" panose="02020603050405020304" pitchFamily="18" charset="0"/>
                <a:cs typeface="Times New Roman" panose="02020603050405020304" pitchFamily="18" charset="0"/>
              </a:rPr>
              <a:t>Information retrieved directly from the original sources</a:t>
            </a:r>
          </a:p>
          <a:p>
            <a:pPr eaLnBrk="1" hangingPunct="1">
              <a:lnSpc>
                <a:spcPct val="150000"/>
              </a:lnSpc>
              <a:defRPr/>
            </a:pPr>
            <a:endParaRPr lang="en-US" sz="2400" dirty="0">
              <a:solidFill>
                <a:srgbClr val="FFFF00"/>
              </a:solidFill>
              <a:latin typeface="Times New Roman" panose="02020603050405020304" pitchFamily="18" charset="0"/>
              <a:cs typeface="Times New Roman" panose="02020603050405020304" pitchFamily="18" charset="0"/>
            </a:endParaRPr>
          </a:p>
          <a:p>
            <a:pPr lvl="1">
              <a:lnSpc>
                <a:spcPct val="150000"/>
              </a:lnSpc>
              <a:defRPr/>
            </a:pPr>
            <a:endParaRPr lang="en-US" sz="2400" dirty="0">
              <a:solidFill>
                <a:srgbClr val="FFFF00"/>
              </a:solidFill>
              <a:latin typeface="Times New Roman" panose="02020603050405020304" pitchFamily="18" charset="0"/>
              <a:cs typeface="Times New Roman" panose="02020603050405020304" pitchFamily="18" charset="0"/>
            </a:endParaRPr>
          </a:p>
          <a:p>
            <a:pPr marL="914400" lvl="1" indent="-457200">
              <a:lnSpc>
                <a:spcPct val="150000"/>
              </a:lnSpc>
              <a:buFont typeface="+mj-lt"/>
              <a:buAutoNum type="arabicPeriod"/>
              <a:defRPr/>
            </a:pPr>
            <a:r>
              <a:rPr lang="en-US" sz="2400" dirty="0">
                <a:solidFill>
                  <a:srgbClr val="FFFF00"/>
                </a:solidFill>
                <a:latin typeface="Times New Roman" panose="02020603050405020304" pitchFamily="18" charset="0"/>
                <a:cs typeface="Times New Roman" panose="02020603050405020304" pitchFamily="18" charset="0"/>
              </a:rPr>
              <a:t>Eyewitness reports</a:t>
            </a:r>
          </a:p>
          <a:p>
            <a:pPr marL="914400" lvl="1" indent="-457200">
              <a:lnSpc>
                <a:spcPct val="150000"/>
              </a:lnSpc>
              <a:buFont typeface="+mj-lt"/>
              <a:buAutoNum type="arabicPeriod"/>
              <a:defRPr/>
            </a:pPr>
            <a:r>
              <a:rPr lang="en-US" sz="2400" dirty="0">
                <a:solidFill>
                  <a:srgbClr val="FFFF00"/>
                </a:solidFill>
                <a:latin typeface="Times New Roman" panose="02020603050405020304" pitchFamily="18" charset="0"/>
                <a:cs typeface="Times New Roman" panose="02020603050405020304" pitchFamily="18" charset="0"/>
              </a:rPr>
              <a:t>Personal communications</a:t>
            </a:r>
          </a:p>
          <a:p>
            <a:pPr marL="914400" lvl="1" indent="-457200">
              <a:lnSpc>
                <a:spcPct val="150000"/>
              </a:lnSpc>
              <a:buFont typeface="+mj-lt"/>
              <a:buAutoNum type="arabicPeriod"/>
              <a:defRPr/>
            </a:pPr>
            <a:r>
              <a:rPr lang="en-US" sz="2400" dirty="0">
                <a:solidFill>
                  <a:srgbClr val="FFFF00"/>
                </a:solidFill>
                <a:latin typeface="Times New Roman" panose="02020603050405020304" pitchFamily="18" charset="0"/>
                <a:cs typeface="Times New Roman" panose="02020603050405020304" pitchFamily="18" charset="0"/>
              </a:rPr>
              <a:t>Government publications</a:t>
            </a:r>
          </a:p>
        </p:txBody>
      </p:sp>
      <p:sp>
        <p:nvSpPr>
          <p:cNvPr id="9" name="Rectangle 8">
            <a:extLst>
              <a:ext uri="{FF2B5EF4-FFF2-40B4-BE49-F238E27FC236}">
                <a16:creationId xmlns:a16="http://schemas.microsoft.com/office/drawing/2014/main" id="{36E5B07A-4428-4761-BE79-D0F29FFD1A1B}"/>
              </a:ext>
            </a:extLst>
          </p:cNvPr>
          <p:cNvSpPr/>
          <p:nvPr/>
        </p:nvSpPr>
        <p:spPr>
          <a:xfrm>
            <a:off x="1349340" y="5038726"/>
            <a:ext cx="4427538" cy="177323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eaLnBrk="1" hangingPunct="1">
              <a:defRPr/>
            </a:pPr>
            <a:r>
              <a:rPr lang="en-US" sz="2400" b="1" dirty="0">
                <a:solidFill>
                  <a:schemeClr val="bg1"/>
                </a:solidFill>
                <a:latin typeface="Times New Roman" panose="02020603050405020304" pitchFamily="18" charset="0"/>
                <a:cs typeface="Times New Roman" panose="02020603050405020304" pitchFamily="18" charset="0"/>
              </a:rPr>
              <a:t>Experienced professionals, lecturers and researchers may be considered as primary sources</a:t>
            </a:r>
          </a:p>
        </p:txBody>
      </p:sp>
      <p:pic>
        <p:nvPicPr>
          <p:cNvPr id="20484" name="Picture 9">
            <a:extLst>
              <a:ext uri="{FF2B5EF4-FFF2-40B4-BE49-F238E27FC236}">
                <a16:creationId xmlns:a16="http://schemas.microsoft.com/office/drawing/2014/main" id="{4D2570CD-1439-4039-9362-B408A5DB32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428751"/>
            <a:ext cx="3786188" cy="360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775765B-1774-4E87-B1CB-D573D716C73C}"/>
              </a:ext>
            </a:extLst>
          </p:cNvPr>
          <p:cNvSpPr/>
          <p:nvPr/>
        </p:nvSpPr>
        <p:spPr>
          <a:xfrm>
            <a:off x="5303838" y="0"/>
            <a:ext cx="5364162" cy="68580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buFont typeface="Arial" pitchFamily="34" charset="0"/>
              <a:buChar char="•"/>
              <a:defRPr/>
            </a:pPr>
            <a:r>
              <a:rPr lang="en-US" sz="2800" dirty="0">
                <a:solidFill>
                  <a:srgbClr val="FFFF00"/>
                </a:solidFill>
                <a:latin typeface="Times New Roman" panose="02020603050405020304" pitchFamily="18" charset="0"/>
                <a:cs typeface="Times New Roman" panose="02020603050405020304" pitchFamily="18" charset="0"/>
              </a:rPr>
              <a:t>Comprise information that has been processed by other people.</a:t>
            </a:r>
          </a:p>
          <a:p>
            <a:pPr eaLnBrk="1" hangingPunct="1">
              <a:buFont typeface="Arial" pitchFamily="34" charset="0"/>
              <a:buChar char="•"/>
              <a:defRPr/>
            </a:pPr>
            <a:r>
              <a:rPr lang="en-US" sz="2800" dirty="0">
                <a:solidFill>
                  <a:srgbClr val="FFFF00"/>
                </a:solidFill>
                <a:latin typeface="Times New Roman" panose="02020603050405020304" pitchFamily="18" charset="0"/>
                <a:cs typeface="Times New Roman" panose="02020603050405020304" pitchFamily="18" charset="0"/>
              </a:rPr>
              <a:t>Information is drawn from primary sources such as </a:t>
            </a:r>
            <a:r>
              <a:rPr lang="en-US" sz="2800" dirty="0">
                <a:latin typeface="Times New Roman" panose="02020603050405020304" pitchFamily="18" charset="0"/>
                <a:cs typeface="Times New Roman" panose="02020603050405020304" pitchFamily="18" charset="0"/>
              </a:rPr>
              <a:t>:</a:t>
            </a:r>
          </a:p>
          <a:p>
            <a:pPr eaLnBrk="1" hangingPunct="1">
              <a:defRPr/>
            </a:pPr>
            <a:endParaRPr lang="en-US" sz="2800" dirty="0">
              <a:latin typeface="Times New Roman" panose="02020603050405020304" pitchFamily="18" charset="0"/>
              <a:cs typeface="Times New Roman" panose="02020603050405020304" pitchFamily="18" charset="0"/>
            </a:endParaRPr>
          </a:p>
          <a:p>
            <a:pPr marL="971550" lvl="1" indent="-514350">
              <a:lnSpc>
                <a:spcPct val="150000"/>
              </a:lnSpc>
              <a:buFont typeface="+mj-lt"/>
              <a:buAutoNum type="arabicPeriod"/>
              <a:defRPr/>
            </a:pPr>
            <a:r>
              <a:rPr lang="en-US" sz="2800" dirty="0">
                <a:latin typeface="Times New Roman" panose="02020603050405020304" pitchFamily="18" charset="0"/>
                <a:cs typeface="Times New Roman" panose="02020603050405020304" pitchFamily="18" charset="0"/>
              </a:rPr>
              <a:t>Research reports</a:t>
            </a:r>
          </a:p>
          <a:p>
            <a:pPr marL="971550" lvl="1" indent="-514350">
              <a:lnSpc>
                <a:spcPct val="150000"/>
              </a:lnSpc>
              <a:buFont typeface="+mj-lt"/>
              <a:buAutoNum type="arabicPeriod"/>
              <a:defRPr/>
            </a:pPr>
            <a:r>
              <a:rPr lang="en-US" sz="2800" dirty="0">
                <a:latin typeface="Times New Roman" panose="02020603050405020304" pitchFamily="18" charset="0"/>
                <a:cs typeface="Times New Roman" panose="02020603050405020304" pitchFamily="18" charset="0"/>
              </a:rPr>
              <a:t>Books</a:t>
            </a:r>
          </a:p>
          <a:p>
            <a:pPr marL="971550" lvl="1" indent="-514350">
              <a:lnSpc>
                <a:spcPct val="150000"/>
              </a:lnSpc>
              <a:buFont typeface="+mj-lt"/>
              <a:buAutoNum type="arabicPeriod"/>
              <a:defRPr/>
            </a:pPr>
            <a:r>
              <a:rPr lang="en-US" sz="2800" dirty="0">
                <a:latin typeface="Times New Roman" panose="02020603050405020304" pitchFamily="18" charset="0"/>
                <a:cs typeface="Times New Roman" panose="02020603050405020304" pitchFamily="18" charset="0"/>
              </a:rPr>
              <a:t>Journal articles</a:t>
            </a:r>
          </a:p>
          <a:p>
            <a:pPr marL="971550" lvl="1" indent="-514350">
              <a:lnSpc>
                <a:spcPct val="150000"/>
              </a:lnSpc>
              <a:buFont typeface="+mj-lt"/>
              <a:buAutoNum type="arabicPeriod"/>
              <a:defRPr/>
            </a:pPr>
            <a:r>
              <a:rPr lang="en-US" sz="2800" dirty="0">
                <a:latin typeface="Times New Roman" panose="02020603050405020304" pitchFamily="18" charset="0"/>
                <a:cs typeface="Times New Roman" panose="02020603050405020304" pitchFamily="18" charset="0"/>
              </a:rPr>
              <a:t>Summaries and Reviews</a:t>
            </a:r>
          </a:p>
        </p:txBody>
      </p:sp>
      <p:pic>
        <p:nvPicPr>
          <p:cNvPr id="22531" name="Picture 7">
            <a:extLst>
              <a:ext uri="{FF2B5EF4-FFF2-40B4-BE49-F238E27FC236}">
                <a16:creationId xmlns:a16="http://schemas.microsoft.com/office/drawing/2014/main" id="{994180F9-99AA-4D03-966D-46B11D0F04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032001"/>
            <a:ext cx="3786188" cy="360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8EC86D9-FA0E-44CA-9D03-D0519E5014F5}"/>
              </a:ext>
            </a:extLst>
          </p:cNvPr>
          <p:cNvSpPr/>
          <p:nvPr/>
        </p:nvSpPr>
        <p:spPr>
          <a:xfrm>
            <a:off x="5519738" y="1428750"/>
            <a:ext cx="5148262" cy="542925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lnSpc>
                <a:spcPct val="150000"/>
              </a:lnSpc>
              <a:defRPr/>
            </a:pPr>
            <a:r>
              <a:rPr lang="en-US" sz="3200" dirty="0">
                <a:latin typeface="Times New Roman" panose="02020603050405020304" pitchFamily="18" charset="0"/>
                <a:cs typeface="Times New Roman" panose="02020603050405020304" pitchFamily="18" charset="0"/>
              </a:rPr>
              <a:t>Information is compiled from secondary sources</a:t>
            </a:r>
          </a:p>
          <a:p>
            <a:pPr eaLnBrk="1" hangingPunct="1">
              <a:lnSpc>
                <a:spcPct val="150000"/>
              </a:lnSpc>
              <a:defRPr/>
            </a:pPr>
            <a:endParaRPr lang="en-US" sz="3200" dirty="0">
              <a:latin typeface="Times New Roman" panose="02020603050405020304" pitchFamily="18" charset="0"/>
              <a:cs typeface="Times New Roman" panose="02020603050405020304" pitchFamily="18" charset="0"/>
            </a:endParaRPr>
          </a:p>
          <a:p>
            <a:pPr marL="971550" lvl="1" indent="-514350">
              <a:lnSpc>
                <a:spcPct val="150000"/>
              </a:lnSpc>
              <a:buFont typeface="+mj-lt"/>
              <a:buAutoNum type="arabicPeriod"/>
              <a:defRPr/>
            </a:pPr>
            <a:r>
              <a:rPr lang="en-US" sz="3200" dirty="0">
                <a:solidFill>
                  <a:srgbClr val="FFFF00"/>
                </a:solidFill>
                <a:latin typeface="Times New Roman" panose="02020603050405020304" pitchFamily="18" charset="0"/>
                <a:cs typeface="Times New Roman" panose="02020603050405020304" pitchFamily="18" charset="0"/>
              </a:rPr>
              <a:t>Encyclopedias</a:t>
            </a:r>
          </a:p>
          <a:p>
            <a:pPr marL="971550" lvl="1" indent="-514350">
              <a:lnSpc>
                <a:spcPct val="150000"/>
              </a:lnSpc>
              <a:buFont typeface="+mj-lt"/>
              <a:buAutoNum type="arabicPeriod"/>
              <a:defRPr/>
            </a:pPr>
            <a:r>
              <a:rPr lang="en-US" sz="3200" dirty="0">
                <a:solidFill>
                  <a:srgbClr val="FFFF00"/>
                </a:solidFill>
                <a:latin typeface="Times New Roman" panose="02020603050405020304" pitchFamily="18" charset="0"/>
                <a:cs typeface="Times New Roman" panose="02020603050405020304" pitchFamily="18" charset="0"/>
              </a:rPr>
              <a:t>Dictionaries</a:t>
            </a:r>
          </a:p>
        </p:txBody>
      </p:sp>
      <p:pic>
        <p:nvPicPr>
          <p:cNvPr id="23555" name="Picture 7">
            <a:extLst>
              <a:ext uri="{FF2B5EF4-FFF2-40B4-BE49-F238E27FC236}">
                <a16:creationId xmlns:a16="http://schemas.microsoft.com/office/drawing/2014/main" id="{BB9DE334-D5D0-4343-8295-F611C38E15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428751"/>
            <a:ext cx="4000500" cy="381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02F5F-822C-40FD-B774-FB11417AB5CF}"/>
              </a:ext>
            </a:extLst>
          </p:cNvPr>
          <p:cNvSpPr>
            <a:spLocks noGrp="1"/>
          </p:cNvSpPr>
          <p:nvPr>
            <p:ph type="title"/>
          </p:nvPr>
        </p:nvSpPr>
        <p:spPr>
          <a:xfrm>
            <a:off x="2135189" y="188914"/>
            <a:ext cx="7932737" cy="1152525"/>
          </a:xfrm>
        </p:spPr>
        <p:txBody>
          <a:bodyPr rtlCol="0">
            <a:normAutofit fontScale="90000"/>
          </a:bodyPr>
          <a:lstStyle/>
          <a:p>
            <a:pPr eaLnBrk="1" fontAlgn="auto" hangingPunct="1">
              <a:spcAft>
                <a:spcPts val="0"/>
              </a:spcAft>
              <a:defRPr/>
            </a:pPr>
            <a:r>
              <a:rPr lang="en-US" dirty="0">
                <a:latin typeface="Times New Roman" panose="02020603050405020304" pitchFamily="18" charset="0"/>
                <a:cs typeface="Times New Roman" panose="02020603050405020304" pitchFamily="18" charset="0"/>
              </a:rPr>
              <a:t>Evaluating the quality of Internet Materials</a:t>
            </a:r>
          </a:p>
        </p:txBody>
      </p:sp>
      <p:sp>
        <p:nvSpPr>
          <p:cNvPr id="25603" name="Content Placeholder 2">
            <a:extLst>
              <a:ext uri="{FF2B5EF4-FFF2-40B4-BE49-F238E27FC236}">
                <a16:creationId xmlns:a16="http://schemas.microsoft.com/office/drawing/2014/main" id="{50C3F932-34D4-4B73-8D4D-6A7B611DA6D4}"/>
              </a:ext>
            </a:extLst>
          </p:cNvPr>
          <p:cNvSpPr>
            <a:spLocks noGrp="1"/>
          </p:cNvSpPr>
          <p:nvPr>
            <p:ph idx="1"/>
          </p:nvPr>
        </p:nvSpPr>
        <p:spPr>
          <a:xfrm>
            <a:off x="1981200" y="1600200"/>
            <a:ext cx="8229600" cy="4997450"/>
          </a:xfrm>
        </p:spPr>
        <p:txBody>
          <a:bodyPr/>
          <a:lstStyle/>
          <a:p>
            <a:pPr eaLnBrk="1" hangingPunct="1">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Is the author or institution clearly identified?</a:t>
            </a:r>
          </a:p>
          <a:p>
            <a:pPr eaLnBrk="1" hangingPunct="1">
              <a:buFont typeface="Wingdings" panose="05000000000000000000" pitchFamily="2" charset="2"/>
              <a:buChar char="§"/>
            </a:pPr>
            <a:endParaRPr lang="en-US" altLang="en-US" sz="2400"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Is the site advocating a point of view?</a:t>
            </a:r>
          </a:p>
          <a:p>
            <a:pPr eaLnBrk="1" hangingPunct="1">
              <a:buFont typeface="Wingdings" panose="05000000000000000000" pitchFamily="2" charset="2"/>
              <a:buChar char="§"/>
            </a:pPr>
            <a:endParaRPr lang="en-US" altLang="en-US" sz="2400"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Does the website give accurate and complete references?</a:t>
            </a:r>
          </a:p>
          <a:p>
            <a:pPr eaLnBrk="1" hangingPunct="1">
              <a:buFont typeface="Wingdings" panose="05000000000000000000" pitchFamily="2" charset="2"/>
              <a:buChar char="§"/>
            </a:pPr>
            <a:endParaRPr lang="en-US" altLang="en-US" sz="2400"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Are the data up-to-date?</a:t>
            </a:r>
          </a:p>
          <a:p>
            <a:pPr eaLnBrk="1" hangingPunct="1">
              <a:buFont typeface="Wingdings" panose="05000000000000000000" pitchFamily="2" charset="2"/>
              <a:buChar char="§"/>
            </a:pPr>
            <a:endParaRPr lang="en-US" altLang="en-US" sz="2400"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Does the data seem consistent with data from other sites?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72344EF0-C5C9-47FE-994F-6F9BFDE06457}"/>
              </a:ext>
            </a:extLst>
          </p:cNvPr>
          <p:cNvSpPr>
            <a:spLocks noGrp="1"/>
          </p:cNvSpPr>
          <p:nvPr>
            <p:ph type="title"/>
          </p:nvPr>
        </p:nvSpPr>
        <p:spPr>
          <a:xfrm>
            <a:off x="3143250" y="620713"/>
            <a:ext cx="6275388" cy="711200"/>
          </a:xfrm>
        </p:spPr>
        <p:txBody>
          <a:bodyPr/>
          <a:lstStyle/>
          <a:p>
            <a:pPr eaLnBrk="1" hangingPunct="1"/>
            <a:r>
              <a:rPr lang="en-US" altLang="en-US" b="1">
                <a:latin typeface="Times New Roman" panose="02020603050405020304" pitchFamily="18" charset="0"/>
                <a:cs typeface="Times New Roman" panose="02020603050405020304" pitchFamily="18" charset="0"/>
              </a:rPr>
              <a:t>Reviewing Technique</a:t>
            </a:r>
          </a:p>
        </p:txBody>
      </p:sp>
      <p:sp>
        <p:nvSpPr>
          <p:cNvPr id="28675" name="Content Placeholder 2">
            <a:extLst>
              <a:ext uri="{FF2B5EF4-FFF2-40B4-BE49-F238E27FC236}">
                <a16:creationId xmlns:a16="http://schemas.microsoft.com/office/drawing/2014/main" id="{7CBF7BDB-9092-4BF3-9782-F17E26AC596E}"/>
              </a:ext>
            </a:extLst>
          </p:cNvPr>
          <p:cNvSpPr>
            <a:spLocks noGrp="1"/>
          </p:cNvSpPr>
          <p:nvPr>
            <p:ph idx="1"/>
          </p:nvPr>
        </p:nvSpPr>
        <p:spPr>
          <a:xfrm>
            <a:off x="1828800" y="1785938"/>
            <a:ext cx="7767638" cy="4843462"/>
          </a:xfrm>
        </p:spPr>
        <p:txBody>
          <a:bodyPr/>
          <a:lstStyle/>
          <a:p>
            <a:pPr eaLnBrk="1" hangingPunct="1">
              <a:buFont typeface="Wingdings" panose="05000000000000000000" pitchFamily="2" charset="2"/>
              <a:buChar char="§"/>
            </a:pPr>
            <a:r>
              <a:rPr lang="en-US" altLang="en-US" sz="3200" dirty="0">
                <a:latin typeface="Times New Roman" panose="02020603050405020304" pitchFamily="18" charset="0"/>
                <a:cs typeface="Times New Roman" panose="02020603050405020304" pitchFamily="18" charset="0"/>
              </a:rPr>
              <a:t>Select a number of relevant publications</a:t>
            </a:r>
          </a:p>
          <a:p>
            <a:pPr lvl="1" eaLnBrk="1" hangingPunct="1">
              <a:buFont typeface="Wingdings" panose="05000000000000000000" pitchFamily="2" charset="2"/>
              <a:buChar char="§"/>
            </a:pPr>
            <a:r>
              <a:rPr lang="en-US" altLang="en-US" sz="3200" dirty="0">
                <a:latin typeface="Times New Roman" panose="02020603050405020304" pitchFamily="18" charset="0"/>
                <a:cs typeface="Times New Roman" panose="02020603050405020304" pitchFamily="18" charset="0"/>
              </a:rPr>
              <a:t>Especially review articles on the topic </a:t>
            </a:r>
          </a:p>
          <a:p>
            <a:pPr eaLnBrk="1" hangingPunct="1">
              <a:buFont typeface="Wingdings" panose="05000000000000000000" pitchFamily="2" charset="2"/>
              <a:buChar char="§"/>
            </a:pPr>
            <a:endParaRPr lang="en-US" altLang="en-US" sz="3200" dirty="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
            </a:pPr>
            <a:r>
              <a:rPr lang="en-US" altLang="en-US" sz="3200" dirty="0">
                <a:latin typeface="Times New Roman" panose="02020603050405020304" pitchFamily="18" charset="0"/>
                <a:cs typeface="Times New Roman" panose="02020603050405020304" pitchFamily="18" charset="0"/>
              </a:rPr>
              <a:t>Review for use in the study</a:t>
            </a:r>
          </a:p>
          <a:p>
            <a:pPr eaLnBrk="1" hangingPunct="1">
              <a:buFont typeface="Wingdings" panose="05000000000000000000" pitchFamily="2" charset="2"/>
              <a:buChar char="§"/>
            </a:pPr>
            <a:endParaRPr lang="en-US" altLang="en-US"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1">
            <a:extLst>
              <a:ext uri="{FF2B5EF4-FFF2-40B4-BE49-F238E27FC236}">
                <a16:creationId xmlns:a16="http://schemas.microsoft.com/office/drawing/2014/main" id="{5B116586-2B52-40F4-8904-D6D006EE20E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endParaRPr lang="en-US" altLang="en-US" sz="1400" dirty="0">
              <a:latin typeface="Arial" panose="020B0604020202020204" pitchFamily="34" charset="0"/>
            </a:endParaRPr>
          </a:p>
        </p:txBody>
      </p:sp>
      <p:sp>
        <p:nvSpPr>
          <p:cNvPr id="3" name="Title 1">
            <a:extLst>
              <a:ext uri="{FF2B5EF4-FFF2-40B4-BE49-F238E27FC236}">
                <a16:creationId xmlns:a16="http://schemas.microsoft.com/office/drawing/2014/main" id="{EA9D2CF8-28C9-4E5E-8EC7-62C678C4255C}"/>
              </a:ext>
            </a:extLst>
          </p:cNvPr>
          <p:cNvSpPr txBox="1">
            <a:spLocks/>
          </p:cNvSpPr>
          <p:nvPr/>
        </p:nvSpPr>
        <p:spPr>
          <a:xfrm>
            <a:off x="3143250" y="620713"/>
            <a:ext cx="6275388" cy="711200"/>
          </a:xfrm>
          <a:prstGeom prst="rect">
            <a:avLst/>
          </a:prstGeom>
        </p:spPr>
        <p:txBody>
          <a:bodyPr/>
          <a:lstStyle/>
          <a:p>
            <a:pPr>
              <a:defRPr/>
            </a:pPr>
            <a:r>
              <a:rPr lang="en-US" sz="3600" b="1" kern="0" dirty="0">
                <a:latin typeface="Times New Roman" panose="02020603050405020304" pitchFamily="18" charset="0"/>
                <a:ea typeface="+mj-ea"/>
                <a:cs typeface="Times New Roman" panose="02020603050405020304" pitchFamily="18" charset="0"/>
              </a:rPr>
              <a:t>Reviewing Technique</a:t>
            </a:r>
          </a:p>
        </p:txBody>
      </p:sp>
      <p:sp>
        <p:nvSpPr>
          <p:cNvPr id="4" name="Content Placeholder 2">
            <a:extLst>
              <a:ext uri="{FF2B5EF4-FFF2-40B4-BE49-F238E27FC236}">
                <a16:creationId xmlns:a16="http://schemas.microsoft.com/office/drawing/2014/main" id="{4B075DE5-1E9A-42F5-9BAB-12A66A19F306}"/>
              </a:ext>
            </a:extLst>
          </p:cNvPr>
          <p:cNvSpPr txBox="1">
            <a:spLocks/>
          </p:cNvSpPr>
          <p:nvPr/>
        </p:nvSpPr>
        <p:spPr>
          <a:xfrm>
            <a:off x="1828800" y="1643064"/>
            <a:ext cx="8839200" cy="4986337"/>
          </a:xfrm>
          <a:prstGeom prst="rect">
            <a:avLst/>
          </a:prstGeom>
        </p:spPr>
        <p:txBody>
          <a:bodyPr/>
          <a:lstStyle/>
          <a:p>
            <a:pPr marL="342900" indent="-342900">
              <a:spcBef>
                <a:spcPct val="20000"/>
              </a:spcBef>
              <a:buFontTx/>
              <a:buChar char="•"/>
              <a:defRPr/>
            </a:pPr>
            <a:r>
              <a:rPr lang="en-US" sz="2800" kern="0" dirty="0">
                <a:latin typeface="Times New Roman" panose="02020603050405020304" pitchFamily="18" charset="0"/>
                <a:cs typeface="Times New Roman" panose="02020603050405020304" pitchFamily="18" charset="0"/>
              </a:rPr>
              <a:t>What to look for?</a:t>
            </a:r>
          </a:p>
          <a:p>
            <a:pPr marL="342900" indent="-342900">
              <a:spcBef>
                <a:spcPct val="20000"/>
              </a:spcBef>
              <a:defRPr/>
            </a:pPr>
            <a:endParaRPr lang="en-US" sz="2800" kern="0" dirty="0">
              <a:latin typeface="Times New Roman" panose="02020603050405020304" pitchFamily="18" charset="0"/>
              <a:cs typeface="Times New Roman" panose="02020603050405020304" pitchFamily="18" charset="0"/>
            </a:endParaRPr>
          </a:p>
          <a:p>
            <a:pPr marL="971550" lvl="1" indent="-514350">
              <a:spcBef>
                <a:spcPct val="20000"/>
              </a:spcBef>
              <a:buFont typeface="+mj-lt"/>
              <a:buAutoNum type="alphaLcParenR"/>
              <a:defRPr/>
            </a:pPr>
            <a:r>
              <a:rPr lang="en-US" sz="2800" kern="0" dirty="0">
                <a:latin typeface="Times New Roman" panose="02020603050405020304" pitchFamily="18" charset="0"/>
                <a:cs typeface="Times New Roman" panose="02020603050405020304" pitchFamily="18" charset="0"/>
              </a:rPr>
              <a:t>Full references, including topic or title or name(s), name of journal, book etc in which publication appears and date and place of publication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0BCF4680-D53B-4943-9CD0-43C1B9427FD4}"/>
              </a:ext>
            </a:extLst>
          </p:cNvPr>
          <p:cNvSpPr>
            <a:spLocks noGrp="1"/>
          </p:cNvSpPr>
          <p:nvPr>
            <p:ph type="title"/>
          </p:nvPr>
        </p:nvSpPr>
        <p:spPr/>
        <p:txBody>
          <a:bodyPr/>
          <a:lstStyle/>
          <a:p>
            <a:pPr eaLnBrk="1" hangingPunct="1"/>
            <a:r>
              <a:rPr lang="en-US" altLang="en-US">
                <a:solidFill>
                  <a:srgbClr val="FFFF00"/>
                </a:solidFill>
                <a:latin typeface="Arial Black" panose="020B0A04020102020204" pitchFamily="34" charset="0"/>
              </a:rPr>
              <a:t> </a:t>
            </a:r>
            <a:r>
              <a:rPr lang="en-US" altLang="en-US">
                <a:latin typeface="Times New Roman" panose="02020603050405020304" pitchFamily="18" charset="0"/>
                <a:cs typeface="Times New Roman" panose="02020603050405020304" pitchFamily="18" charset="0"/>
              </a:rPr>
              <a:t>Reviewing Technique</a:t>
            </a:r>
          </a:p>
        </p:txBody>
      </p:sp>
      <p:sp>
        <p:nvSpPr>
          <p:cNvPr id="30723" name="Content Placeholder 2">
            <a:extLst>
              <a:ext uri="{FF2B5EF4-FFF2-40B4-BE49-F238E27FC236}">
                <a16:creationId xmlns:a16="http://schemas.microsoft.com/office/drawing/2014/main" id="{EBE45521-15CC-4330-852A-0CC0B82DAFBF}"/>
              </a:ext>
            </a:extLst>
          </p:cNvPr>
          <p:cNvSpPr>
            <a:spLocks noGrp="1"/>
          </p:cNvSpPr>
          <p:nvPr>
            <p:ph idx="1"/>
          </p:nvPr>
        </p:nvSpPr>
        <p:spPr/>
        <p:txBody>
          <a:bodyPr/>
          <a:lstStyle/>
          <a:p>
            <a:pPr algn="just" eaLnBrk="1" hangingPunct="1"/>
            <a:r>
              <a:rPr lang="en-US" altLang="en-US" sz="3200">
                <a:latin typeface="Times New Roman" panose="02020603050405020304" pitchFamily="18" charset="0"/>
                <a:cs typeface="Times New Roman" panose="02020603050405020304" pitchFamily="18" charset="0"/>
              </a:rPr>
              <a:t>What to look for?</a:t>
            </a:r>
          </a:p>
          <a:p>
            <a:pPr algn="just" eaLnBrk="1" hangingPunct="1">
              <a:buFontTx/>
              <a:buNone/>
            </a:pPr>
            <a:endParaRPr lang="en-US" altLang="en-US" sz="3200">
              <a:latin typeface="Times New Roman" panose="02020603050405020304" pitchFamily="18" charset="0"/>
              <a:cs typeface="Times New Roman" panose="02020603050405020304" pitchFamily="18" charset="0"/>
            </a:endParaRPr>
          </a:p>
          <a:p>
            <a:pPr marL="971550" lvl="1" indent="-514350" algn="just" eaLnBrk="1" hangingPunct="1">
              <a:buFontTx/>
              <a:buAutoNum type="alphaLcParenR" startAt="2"/>
            </a:pPr>
            <a:r>
              <a:rPr lang="en-US" altLang="en-US" sz="3200">
                <a:latin typeface="Times New Roman" panose="02020603050405020304" pitchFamily="18" charset="0"/>
                <a:cs typeface="Times New Roman" panose="02020603050405020304" pitchFamily="18" charset="0"/>
              </a:rPr>
              <a:t>Purpose and hypothesis, which should include a summary of the problem, indicate the hypothesis to be tested, the variables at stake etc</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6E1E5504-F6F4-4E70-A1AF-AE351C5F20EC}"/>
              </a:ext>
            </a:extLst>
          </p:cNvPr>
          <p:cNvSpPr>
            <a:spLocks noGrp="1"/>
          </p:cNvSpPr>
          <p:nvPr>
            <p:ph type="title"/>
          </p:nvPr>
        </p:nvSpPr>
        <p:spPr/>
        <p:txBody>
          <a:bodyPr/>
          <a:lstStyle/>
          <a:p>
            <a:pPr eaLnBrk="1" hangingPunct="1"/>
            <a:r>
              <a:rPr lang="en-US" altLang="en-US">
                <a:solidFill>
                  <a:srgbClr val="FFFF00"/>
                </a:solidFill>
                <a:latin typeface="Arial Black" panose="020B0A04020102020204" pitchFamily="34" charset="0"/>
              </a:rPr>
              <a:t> </a:t>
            </a:r>
            <a:r>
              <a:rPr lang="en-US" altLang="en-US">
                <a:latin typeface="Times New Roman" panose="02020603050405020304" pitchFamily="18" charset="0"/>
                <a:cs typeface="Times New Roman" panose="02020603050405020304" pitchFamily="18" charset="0"/>
              </a:rPr>
              <a:t>Reviewing Technique</a:t>
            </a:r>
          </a:p>
        </p:txBody>
      </p:sp>
      <p:sp>
        <p:nvSpPr>
          <p:cNvPr id="31747" name="Content Placeholder 2">
            <a:extLst>
              <a:ext uri="{FF2B5EF4-FFF2-40B4-BE49-F238E27FC236}">
                <a16:creationId xmlns:a16="http://schemas.microsoft.com/office/drawing/2014/main" id="{0D8033FC-D17E-4AD3-9ABA-317B10AFF314}"/>
              </a:ext>
            </a:extLst>
          </p:cNvPr>
          <p:cNvSpPr>
            <a:spLocks noGrp="1"/>
          </p:cNvSpPr>
          <p:nvPr>
            <p:ph idx="1"/>
          </p:nvPr>
        </p:nvSpPr>
        <p:spPr/>
        <p:txBody>
          <a:bodyPr/>
          <a:lstStyle/>
          <a:p>
            <a:pPr algn="just" eaLnBrk="1" hangingPunct="1"/>
            <a:r>
              <a:rPr lang="en-US" altLang="en-US">
                <a:latin typeface="Times New Roman" panose="02020603050405020304" pitchFamily="18" charset="0"/>
                <a:cs typeface="Times New Roman" panose="02020603050405020304" pitchFamily="18" charset="0"/>
              </a:rPr>
              <a:t>What to look for?</a:t>
            </a:r>
          </a:p>
          <a:p>
            <a:pPr algn="just" eaLnBrk="1" hangingPunct="1"/>
            <a:endParaRPr lang="en-US" altLang="en-US">
              <a:latin typeface="Times New Roman" panose="02020603050405020304" pitchFamily="18" charset="0"/>
              <a:cs typeface="Times New Roman" panose="02020603050405020304" pitchFamily="18" charset="0"/>
            </a:endParaRPr>
          </a:p>
          <a:p>
            <a:pPr marL="971550" lvl="1" indent="-514350" algn="just" eaLnBrk="1" hangingPunct="1">
              <a:buFontTx/>
              <a:buAutoNum type="alphaLcParenR" startAt="3"/>
            </a:pPr>
            <a:r>
              <a:rPr lang="en-US" altLang="en-US" sz="2800">
                <a:latin typeface="Times New Roman" panose="02020603050405020304" pitchFamily="18" charset="0"/>
                <a:cs typeface="Times New Roman" panose="02020603050405020304" pitchFamily="18" charset="0"/>
              </a:rPr>
              <a:t>Methodology, comprising a description of the population and the sample, of the design, the instruments of measurement and the method(s) of analysis (statistics)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228E3F97-93E0-4294-AB89-BA8D90E6D489}"/>
              </a:ext>
            </a:extLst>
          </p:cNvPr>
          <p:cNvSpPr>
            <a:spLocks noGrp="1"/>
          </p:cNvSpPr>
          <p:nvPr>
            <p:ph type="title"/>
          </p:nvPr>
        </p:nvSpPr>
        <p:spPr/>
        <p:txBody>
          <a:bodyPr/>
          <a:lstStyle/>
          <a:p>
            <a:pPr eaLnBrk="1" hangingPunct="1"/>
            <a:r>
              <a:rPr lang="en-US" altLang="en-US">
                <a:latin typeface="Times New Roman" panose="02020603050405020304" pitchFamily="18" charset="0"/>
                <a:cs typeface="Times New Roman" panose="02020603050405020304" pitchFamily="18" charset="0"/>
              </a:rPr>
              <a:t>Reviewing Technique</a:t>
            </a:r>
          </a:p>
        </p:txBody>
      </p:sp>
      <p:sp>
        <p:nvSpPr>
          <p:cNvPr id="32771" name="Content Placeholder 2">
            <a:extLst>
              <a:ext uri="{FF2B5EF4-FFF2-40B4-BE49-F238E27FC236}">
                <a16:creationId xmlns:a16="http://schemas.microsoft.com/office/drawing/2014/main" id="{F308D30D-83F6-4099-AB91-AB071131C267}"/>
              </a:ext>
            </a:extLst>
          </p:cNvPr>
          <p:cNvSpPr>
            <a:spLocks noGrp="1"/>
          </p:cNvSpPr>
          <p:nvPr>
            <p:ph idx="1"/>
          </p:nvPr>
        </p:nvSpPr>
        <p:spPr/>
        <p:txBody>
          <a:bodyPr/>
          <a:lstStyle/>
          <a:p>
            <a:pPr algn="just" eaLnBrk="1" hangingPunct="1"/>
            <a:r>
              <a:rPr lang="en-US" altLang="en-US">
                <a:latin typeface="Times New Roman" panose="02020603050405020304" pitchFamily="18" charset="0"/>
                <a:cs typeface="Times New Roman" panose="02020603050405020304" pitchFamily="18" charset="0"/>
              </a:rPr>
              <a:t>What to look for?</a:t>
            </a:r>
          </a:p>
          <a:p>
            <a:pPr algn="just" eaLnBrk="1" hangingPunct="1">
              <a:buFontTx/>
              <a:buNone/>
            </a:pPr>
            <a:endParaRPr lang="en-US" altLang="en-US">
              <a:latin typeface="Times New Roman" panose="02020603050405020304" pitchFamily="18" charset="0"/>
              <a:cs typeface="Times New Roman" panose="02020603050405020304" pitchFamily="18" charset="0"/>
            </a:endParaRPr>
          </a:p>
          <a:p>
            <a:pPr marL="971550" lvl="1" indent="-514350" algn="just" eaLnBrk="1" hangingPunct="1">
              <a:buFontTx/>
              <a:buAutoNum type="alphaLcParenR" startAt="4"/>
            </a:pPr>
            <a:r>
              <a:rPr lang="en-US" altLang="en-US" sz="2800">
                <a:latin typeface="Times New Roman" panose="02020603050405020304" pitchFamily="18" charset="0"/>
                <a:cs typeface="Times New Roman" panose="02020603050405020304" pitchFamily="18" charset="0"/>
              </a:rPr>
              <a:t>Findings and conclusions, which should incorporate a summary of the results and their interpretations stated and the consequences suggested by the author(s)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ZA" dirty="0"/>
              <a:t>Steps in conducting a literature review</a:t>
            </a:r>
          </a:p>
        </p:txBody>
      </p:sp>
      <p:sp>
        <p:nvSpPr>
          <p:cNvPr id="3" name="Content Placeholder 2"/>
          <p:cNvSpPr>
            <a:spLocks noGrp="1"/>
          </p:cNvSpPr>
          <p:nvPr>
            <p:ph idx="1"/>
          </p:nvPr>
        </p:nvSpPr>
        <p:spPr>
          <a:xfrm>
            <a:off x="1981200" y="1628801"/>
            <a:ext cx="8229600" cy="5229199"/>
          </a:xfrm>
        </p:spPr>
        <p:txBody>
          <a:bodyPr>
            <a:normAutofit/>
          </a:bodyPr>
          <a:lstStyle/>
          <a:p>
            <a:r>
              <a:rPr lang="en-ZA" dirty="0"/>
              <a:t>Search for literature</a:t>
            </a:r>
          </a:p>
          <a:p>
            <a:pPr lvl="1"/>
            <a:r>
              <a:rPr lang="en-ZA" dirty="0"/>
              <a:t>Use structured approach</a:t>
            </a:r>
          </a:p>
          <a:p>
            <a:pPr lvl="1"/>
            <a:r>
              <a:rPr lang="en-ZA" dirty="0"/>
              <a:t>Careful selection of search terms</a:t>
            </a:r>
          </a:p>
          <a:p>
            <a:pPr lvl="2"/>
            <a:r>
              <a:rPr lang="en-ZA" dirty="0"/>
              <a:t>Use of Boolean Terms:  AND ;  OR ;  NOT</a:t>
            </a:r>
          </a:p>
          <a:p>
            <a:pPr lvl="2"/>
            <a:r>
              <a:rPr lang="en-ZA" dirty="0"/>
              <a:t>Keep a record of search terms / Save searches</a:t>
            </a:r>
          </a:p>
          <a:p>
            <a:pPr lvl="1"/>
            <a:r>
              <a:rPr lang="en-ZA" dirty="0"/>
              <a:t>Identification of relevant databases</a:t>
            </a:r>
          </a:p>
          <a:p>
            <a:pPr lvl="2"/>
            <a:r>
              <a:rPr lang="en-ZA" dirty="0"/>
              <a:t>MDPI forestry</a:t>
            </a:r>
          </a:p>
          <a:p>
            <a:pPr lvl="2"/>
            <a:r>
              <a:rPr lang="en-ZA" dirty="0"/>
              <a:t>Agroforestry systems</a:t>
            </a:r>
          </a:p>
          <a:p>
            <a:pPr lvl="1"/>
            <a:r>
              <a:rPr lang="en-ZA" dirty="0"/>
              <a:t>Identification of relevant journal publishers e.g.</a:t>
            </a:r>
          </a:p>
          <a:p>
            <a:pPr lvl="2"/>
            <a:r>
              <a:rPr lang="en-ZA" dirty="0"/>
              <a:t>African Journals Online</a:t>
            </a:r>
          </a:p>
          <a:p>
            <a:pPr lvl="2"/>
            <a:r>
              <a:rPr lang="en-ZA" dirty="0" err="1"/>
              <a:t>ScienceDirect</a:t>
            </a:r>
            <a:endParaRPr lang="en-ZA" dirty="0"/>
          </a:p>
          <a:p>
            <a:pPr marL="118872" indent="0">
              <a:buNone/>
            </a:pPr>
            <a:endParaRPr lang="en-ZA" dirty="0"/>
          </a:p>
        </p:txBody>
      </p:sp>
    </p:spTree>
    <p:extLst>
      <p:ext uri="{BB962C8B-B14F-4D97-AF65-F5344CB8AC3E}">
        <p14:creationId xmlns:p14="http://schemas.microsoft.com/office/powerpoint/2010/main" val="17037015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ZA" dirty="0"/>
              <a:t>Steps in conducting a literature review</a:t>
            </a:r>
          </a:p>
        </p:txBody>
      </p:sp>
      <p:sp>
        <p:nvSpPr>
          <p:cNvPr id="3" name="Content Placeholder 2"/>
          <p:cNvSpPr>
            <a:spLocks noGrp="1"/>
          </p:cNvSpPr>
          <p:nvPr>
            <p:ph idx="1"/>
          </p:nvPr>
        </p:nvSpPr>
        <p:spPr/>
        <p:txBody>
          <a:bodyPr>
            <a:normAutofit/>
          </a:bodyPr>
          <a:lstStyle/>
          <a:p>
            <a:pPr lvl="1"/>
            <a:r>
              <a:rPr lang="en-ZA" dirty="0"/>
              <a:t>Electronic searches of individual key journals</a:t>
            </a:r>
          </a:p>
          <a:p>
            <a:pPr lvl="1"/>
            <a:r>
              <a:rPr lang="en-ZA" dirty="0"/>
              <a:t>Use existing literature reviews and systematic reviews</a:t>
            </a:r>
          </a:p>
          <a:p>
            <a:pPr lvl="2"/>
            <a:r>
              <a:rPr lang="en-ZA" dirty="0"/>
              <a:t>Good overview of research already conducted</a:t>
            </a:r>
          </a:p>
          <a:p>
            <a:pPr lvl="1"/>
            <a:r>
              <a:rPr lang="en-ZA" dirty="0"/>
              <a:t>Acceptable time frame - 5-10 years</a:t>
            </a:r>
          </a:p>
          <a:p>
            <a:pPr lvl="2"/>
            <a:r>
              <a:rPr lang="en-ZA" dirty="0"/>
              <a:t>Unless referring to seminal or influential articles</a:t>
            </a:r>
          </a:p>
        </p:txBody>
      </p:sp>
    </p:spTree>
    <p:extLst>
      <p:ext uri="{BB962C8B-B14F-4D97-AF65-F5344CB8AC3E}">
        <p14:creationId xmlns:p14="http://schemas.microsoft.com/office/powerpoint/2010/main" val="33145338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Exploiting the literature</a:t>
            </a:r>
          </a:p>
        </p:txBody>
      </p:sp>
      <p:sp>
        <p:nvSpPr>
          <p:cNvPr id="3" name="Content Placeholder 2"/>
          <p:cNvSpPr>
            <a:spLocks noGrp="1"/>
          </p:cNvSpPr>
          <p:nvPr>
            <p:ph idx="1"/>
          </p:nvPr>
        </p:nvSpPr>
        <p:spPr/>
        <p:txBody>
          <a:bodyPr/>
          <a:lstStyle/>
          <a:p>
            <a:r>
              <a:rPr lang="en-ZA" dirty="0"/>
              <a:t>How should you read?</a:t>
            </a:r>
          </a:p>
          <a:p>
            <a:pPr lvl="1"/>
            <a:r>
              <a:rPr lang="en-ZA" dirty="0"/>
              <a:t>Cover to cover?</a:t>
            </a:r>
          </a:p>
          <a:p>
            <a:pPr lvl="1"/>
            <a:r>
              <a:rPr lang="en-ZA" dirty="0"/>
              <a:t>Read parts?</a:t>
            </a:r>
          </a:p>
          <a:p>
            <a:pPr lvl="1"/>
            <a:r>
              <a:rPr lang="en-ZA" dirty="0"/>
              <a:t>Dip into?</a:t>
            </a:r>
          </a:p>
          <a:p>
            <a:pPr lvl="1"/>
            <a:r>
              <a:rPr lang="en-ZA" dirty="0"/>
              <a:t>Read it again and again?</a:t>
            </a:r>
          </a:p>
          <a:p>
            <a:pPr lvl="1"/>
            <a:r>
              <a:rPr lang="en-ZA" dirty="0"/>
              <a:t>Read it anywhere? Anytime?</a:t>
            </a:r>
          </a:p>
        </p:txBody>
      </p:sp>
    </p:spTree>
    <p:extLst>
      <p:ext uri="{BB962C8B-B14F-4D97-AF65-F5344CB8AC3E}">
        <p14:creationId xmlns:p14="http://schemas.microsoft.com/office/powerpoint/2010/main" val="34533587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Exploiting the literature</a:t>
            </a:r>
          </a:p>
        </p:txBody>
      </p:sp>
      <p:sp>
        <p:nvSpPr>
          <p:cNvPr id="3" name="Content Placeholder 2"/>
          <p:cNvSpPr>
            <a:spLocks noGrp="1"/>
          </p:cNvSpPr>
          <p:nvPr>
            <p:ph idx="1"/>
          </p:nvPr>
        </p:nvSpPr>
        <p:spPr/>
        <p:txBody>
          <a:bodyPr>
            <a:normAutofit/>
          </a:bodyPr>
          <a:lstStyle/>
          <a:p>
            <a:r>
              <a:rPr lang="en-ZA" dirty="0"/>
              <a:t>How should you read?</a:t>
            </a:r>
          </a:p>
          <a:p>
            <a:pPr lvl="1"/>
            <a:r>
              <a:rPr lang="en-ZA" dirty="0"/>
              <a:t>First read – abstract</a:t>
            </a:r>
          </a:p>
          <a:p>
            <a:pPr lvl="2"/>
            <a:r>
              <a:rPr lang="en-ZA" dirty="0"/>
              <a:t>Decision to include or exclude</a:t>
            </a:r>
          </a:p>
          <a:p>
            <a:pPr lvl="2"/>
            <a:r>
              <a:rPr lang="en-ZA" dirty="0"/>
              <a:t>Categorise – according to </a:t>
            </a:r>
          </a:p>
          <a:p>
            <a:pPr lvl="3"/>
            <a:r>
              <a:rPr lang="en-ZA" dirty="0"/>
              <a:t>Theme</a:t>
            </a:r>
          </a:p>
          <a:p>
            <a:pPr lvl="3"/>
            <a:r>
              <a:rPr lang="en-ZA" dirty="0"/>
              <a:t>Type of source</a:t>
            </a:r>
          </a:p>
          <a:p>
            <a:pPr lvl="4"/>
            <a:r>
              <a:rPr lang="en-ZA" dirty="0"/>
              <a:t>Journal or book</a:t>
            </a:r>
          </a:p>
          <a:p>
            <a:pPr lvl="4"/>
            <a:r>
              <a:rPr lang="en-ZA" dirty="0"/>
              <a:t>Primary</a:t>
            </a:r>
          </a:p>
          <a:p>
            <a:pPr lvl="4"/>
            <a:r>
              <a:rPr lang="en-ZA" dirty="0"/>
              <a:t>Secondary</a:t>
            </a:r>
          </a:p>
          <a:p>
            <a:pPr lvl="4"/>
            <a:r>
              <a:rPr lang="en-ZA" dirty="0"/>
              <a:t>Conceptual or theoretical</a:t>
            </a:r>
          </a:p>
        </p:txBody>
      </p:sp>
    </p:spTree>
    <p:extLst>
      <p:ext uri="{BB962C8B-B14F-4D97-AF65-F5344CB8AC3E}">
        <p14:creationId xmlns:p14="http://schemas.microsoft.com/office/powerpoint/2010/main" val="10842560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Exploiting the literature</a:t>
            </a:r>
          </a:p>
        </p:txBody>
      </p:sp>
      <p:sp>
        <p:nvSpPr>
          <p:cNvPr id="3" name="Content Placeholder 2"/>
          <p:cNvSpPr>
            <a:spLocks noGrp="1"/>
          </p:cNvSpPr>
          <p:nvPr>
            <p:ph idx="1"/>
          </p:nvPr>
        </p:nvSpPr>
        <p:spPr/>
        <p:txBody>
          <a:bodyPr/>
          <a:lstStyle/>
          <a:p>
            <a:r>
              <a:rPr lang="en-ZA" dirty="0"/>
              <a:t>How should you read?</a:t>
            </a:r>
          </a:p>
          <a:p>
            <a:pPr lvl="1"/>
            <a:r>
              <a:rPr lang="en-ZA" dirty="0"/>
              <a:t>Second read – PQRS system</a:t>
            </a:r>
          </a:p>
          <a:p>
            <a:pPr lvl="2"/>
            <a:r>
              <a:rPr lang="en-ZA" dirty="0"/>
              <a:t>Preview  - from selected papers decide what to keep and what to discard</a:t>
            </a:r>
          </a:p>
          <a:p>
            <a:pPr lvl="2"/>
            <a:r>
              <a:rPr lang="en-ZA" dirty="0"/>
              <a:t>Question – ask questions of each study as you study</a:t>
            </a:r>
          </a:p>
          <a:p>
            <a:pPr lvl="2"/>
            <a:r>
              <a:rPr lang="en-ZA" dirty="0"/>
              <a:t>Read</a:t>
            </a:r>
          </a:p>
          <a:p>
            <a:pPr lvl="2"/>
            <a:r>
              <a:rPr lang="en-ZA" dirty="0"/>
              <a:t>Summarise</a:t>
            </a:r>
          </a:p>
          <a:p>
            <a:endParaRPr lang="en-ZA" dirty="0"/>
          </a:p>
        </p:txBody>
      </p:sp>
      <p:sp>
        <p:nvSpPr>
          <p:cNvPr id="6" name="Left Brace 5"/>
          <p:cNvSpPr/>
          <p:nvPr/>
        </p:nvSpPr>
        <p:spPr>
          <a:xfrm>
            <a:off x="1205533" y="2713435"/>
            <a:ext cx="288032" cy="1152128"/>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ZA"/>
          </a:p>
        </p:txBody>
      </p:sp>
      <p:sp>
        <p:nvSpPr>
          <p:cNvPr id="12" name="Curved Right Arrow 11"/>
          <p:cNvSpPr/>
          <p:nvPr/>
        </p:nvSpPr>
        <p:spPr>
          <a:xfrm>
            <a:off x="619535" y="2852936"/>
            <a:ext cx="288032" cy="1152128"/>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solidFill>
                <a:schemeClr val="tx1"/>
              </a:solidFill>
            </a:endParaRPr>
          </a:p>
        </p:txBody>
      </p:sp>
    </p:spTree>
    <p:extLst>
      <p:ext uri="{BB962C8B-B14F-4D97-AF65-F5344CB8AC3E}">
        <p14:creationId xmlns:p14="http://schemas.microsoft.com/office/powerpoint/2010/main" val="13325634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FCB25-8401-43F9-9958-C797930480C0}"/>
              </a:ext>
            </a:extLst>
          </p:cNvPr>
          <p:cNvSpPr>
            <a:spLocks noGrp="1"/>
          </p:cNvSpPr>
          <p:nvPr>
            <p:ph type="title"/>
          </p:nvPr>
        </p:nvSpPr>
        <p:spPr/>
        <p:txBody>
          <a:bodyPr/>
          <a:lstStyle/>
          <a:p>
            <a:r>
              <a:rPr lang="en-US" b="1" dirty="0">
                <a:solidFill>
                  <a:schemeClr val="tx1"/>
                </a:solidFill>
              </a:rPr>
              <a:t>Example</a:t>
            </a:r>
          </a:p>
        </p:txBody>
      </p:sp>
      <p:sp>
        <p:nvSpPr>
          <p:cNvPr id="3" name="Content Placeholder 2">
            <a:extLst>
              <a:ext uri="{FF2B5EF4-FFF2-40B4-BE49-F238E27FC236}">
                <a16:creationId xmlns:a16="http://schemas.microsoft.com/office/drawing/2014/main" id="{D0B85C2E-81B7-41FD-9630-2ECA57915106}"/>
              </a:ext>
            </a:extLst>
          </p:cNvPr>
          <p:cNvSpPr>
            <a:spLocks noGrp="1"/>
          </p:cNvSpPr>
          <p:nvPr>
            <p:ph idx="1"/>
          </p:nvPr>
        </p:nvSpPr>
        <p:spPr>
          <a:xfrm>
            <a:off x="609600" y="1600201"/>
            <a:ext cx="10972800" cy="4979985"/>
          </a:xfrm>
        </p:spPr>
        <p:txBody>
          <a:bodyPr/>
          <a:lstStyle/>
          <a:p>
            <a:pPr algn="just"/>
            <a:r>
              <a:rPr lang="en-US" sz="1600" dirty="0"/>
              <a:t>Most of the professional and scholarly literature on sustainable agriculture in recent years has emphasized large-scale or commercial farming systems, often overlooking the realities of smallholder farmers in sub-Saharan Africa. Kassam et al. (2020) provides a global overview of conservation agriculture, focusing primarily on mechanized systems in Latin America and Asia. Similarly, Lal (2021) highlights soil carbon sequestration as a climate mitigation strategy, but his examples are drawn largely from industrialized contexts. </a:t>
            </a:r>
            <a:r>
              <a:rPr lang="en-US" sz="1600" dirty="0" err="1"/>
              <a:t>Vanlauwe</a:t>
            </a:r>
            <a:r>
              <a:rPr lang="en-US" sz="1600" dirty="0"/>
              <a:t> (2022) discuss integrated soil fertility management in Africa, yet their case studies concentrate on pilot projects with significant donor support rather than everyday smallholder practices. Review articles on agroecology (Altieri &amp; Nicholls, 2020; </a:t>
            </a:r>
            <a:r>
              <a:rPr lang="en-US" sz="1600" dirty="0" err="1"/>
              <a:t>Wezel</a:t>
            </a:r>
            <a:r>
              <a:rPr lang="en-US" sz="1600" dirty="0"/>
              <a:t> et al., 2021) emphasize biodiversity and ecological resilience but devote limited attention to economic feasibility for resource-poor farmers. Studies on climate-smart agriculture (Thornton et al., 2021; FAO, 2023) highlight adaptation strategies such as drought tolerant crops and digital advisory services, yet most examples are drawn from large-scale demonstration farms. Even systematic reviews of organic farming (Smith et al., 2024; Rigby, 2025) tend to focus on European and North American contexts. Professional journals such as Agricultural Systems and Sustainability have published numerous articles on sustainable farming between 2020 and 2026, but the majority feature large commercial farms or global policy frameworks (</a:t>
            </a:r>
            <a:r>
              <a:rPr lang="en-US" sz="1600" dirty="0" err="1"/>
              <a:t>Giller</a:t>
            </a:r>
            <a:r>
              <a:rPr lang="en-US" sz="1600" dirty="0"/>
              <a:t> et al., 2020; Pretty, 2025). This creates a clear gap in the literature: the specific challenges and opportunities of smallholder farmers in Zambia and similar regions remain underexplored, particularly in relation to balancing soil fertility improvement with cost constraints.</a:t>
            </a:r>
          </a:p>
        </p:txBody>
      </p:sp>
    </p:spTree>
    <p:extLst>
      <p:ext uri="{BB962C8B-B14F-4D97-AF65-F5344CB8AC3E}">
        <p14:creationId xmlns:p14="http://schemas.microsoft.com/office/powerpoint/2010/main" val="10469955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E48AB734-640F-4E49-8132-0995E408B2D6}"/>
              </a:ext>
            </a:extLst>
          </p:cNvPr>
          <p:cNvSpPr>
            <a:spLocks noGrp="1" noChangeArrowheads="1"/>
          </p:cNvSpPr>
          <p:nvPr>
            <p:ph type="title"/>
          </p:nvPr>
        </p:nvSpPr>
        <p:spPr>
          <a:xfrm>
            <a:off x="3143250" y="620713"/>
            <a:ext cx="6851650" cy="711200"/>
          </a:xfrm>
        </p:spPr>
        <p:txBody>
          <a:bodyPr/>
          <a:lstStyle/>
          <a:p>
            <a:pPr eaLnBrk="1" hangingPunct="1"/>
            <a:r>
              <a:rPr lang="en-GB" altLang="en-US" sz="3200" b="1" dirty="0">
                <a:latin typeface="Times New Roman" panose="02020603050405020304" pitchFamily="18" charset="0"/>
                <a:cs typeface="Times New Roman" panose="02020603050405020304" pitchFamily="18" charset="0"/>
              </a:rPr>
              <a:t>Bias in literature</a:t>
            </a:r>
            <a:endParaRPr lang="en-GB" altLang="en-US" sz="3200" b="1" i="1" dirty="0">
              <a:latin typeface="Times New Roman" panose="02020603050405020304" pitchFamily="18" charset="0"/>
              <a:cs typeface="Times New Roman" panose="02020603050405020304" pitchFamily="18" charset="0"/>
            </a:endParaRPr>
          </a:p>
        </p:txBody>
      </p:sp>
      <p:sp>
        <p:nvSpPr>
          <p:cNvPr id="37891" name="Rectangle 3">
            <a:extLst>
              <a:ext uri="{FF2B5EF4-FFF2-40B4-BE49-F238E27FC236}">
                <a16:creationId xmlns:a16="http://schemas.microsoft.com/office/drawing/2014/main" id="{61981240-188D-4EAE-877E-FE269C3B4C74}"/>
              </a:ext>
            </a:extLst>
          </p:cNvPr>
          <p:cNvSpPr>
            <a:spLocks noGrp="1" noChangeArrowheads="1"/>
          </p:cNvSpPr>
          <p:nvPr>
            <p:ph idx="1"/>
          </p:nvPr>
        </p:nvSpPr>
        <p:spPr>
          <a:xfrm>
            <a:off x="1524000" y="1412876"/>
            <a:ext cx="9144000" cy="5445125"/>
          </a:xfrm>
        </p:spPr>
        <p:txBody>
          <a:bodyPr/>
          <a:lstStyle/>
          <a:p>
            <a:pPr eaLnBrk="1" hangingPunct="1"/>
            <a:endParaRPr lang="en-GB" altLang="en-US" dirty="0"/>
          </a:p>
          <a:p>
            <a:pPr eaLnBrk="1" hangingPunct="1"/>
            <a:endParaRPr lang="en-GB" altLang="en-US" dirty="0"/>
          </a:p>
          <a:p>
            <a:pPr eaLnBrk="1" hangingPunct="1"/>
            <a:endParaRPr lang="en-GB" altLang="en-US" dirty="0"/>
          </a:p>
          <a:p>
            <a:pPr lvl="1" eaLnBrk="1" hangingPunct="1">
              <a:buFontTx/>
              <a:buNone/>
            </a:pPr>
            <a:endParaRPr lang="en-GB" altLang="en-US" dirty="0"/>
          </a:p>
          <a:p>
            <a:pPr lvl="1" eaLnBrk="1" hangingPunct="1">
              <a:buFontTx/>
              <a:buNone/>
            </a:pPr>
            <a:r>
              <a:rPr lang="en-GB" altLang="en-US" dirty="0">
                <a:latin typeface="Times New Roman" panose="02020603050405020304" pitchFamily="18" charset="0"/>
                <a:cs typeface="Times New Roman" panose="02020603050405020304" pitchFamily="18" charset="0"/>
              </a:rPr>
              <a:t>Playing down controversies and differences in one’s own study</a:t>
            </a:r>
          </a:p>
          <a:p>
            <a:pPr lvl="1" eaLnBrk="1" hangingPunct="1"/>
            <a:endParaRPr lang="en-GB" altLang="en-US" dirty="0">
              <a:latin typeface="Times New Roman" panose="02020603050405020304" pitchFamily="18" charset="0"/>
              <a:cs typeface="Times New Roman" panose="02020603050405020304" pitchFamily="18" charset="0"/>
            </a:endParaRPr>
          </a:p>
          <a:p>
            <a:pPr lvl="1" eaLnBrk="1" hangingPunct="1">
              <a:buFontTx/>
              <a:buNone/>
            </a:pPr>
            <a:r>
              <a:rPr lang="en-GB" altLang="en-US" dirty="0">
                <a:latin typeface="Times New Roman" panose="02020603050405020304" pitchFamily="18" charset="0"/>
                <a:cs typeface="Times New Roman" panose="02020603050405020304" pitchFamily="18" charset="0"/>
              </a:rPr>
              <a:t>Restricting references to those supporting view of author</a:t>
            </a:r>
          </a:p>
          <a:p>
            <a:pPr lvl="1" eaLnBrk="1" hangingPunct="1"/>
            <a:endParaRPr lang="en-GB" altLang="en-US" dirty="0">
              <a:latin typeface="Times New Roman" panose="02020603050405020304" pitchFamily="18" charset="0"/>
              <a:cs typeface="Times New Roman" panose="02020603050405020304" pitchFamily="18" charset="0"/>
            </a:endParaRPr>
          </a:p>
          <a:p>
            <a:pPr lvl="1" eaLnBrk="1" hangingPunct="1">
              <a:buFontTx/>
              <a:buNone/>
            </a:pPr>
            <a:r>
              <a:rPr lang="en-GB" altLang="en-US" dirty="0">
                <a:latin typeface="Times New Roman" panose="02020603050405020304" pitchFamily="18" charset="0"/>
                <a:cs typeface="Times New Roman" panose="02020603050405020304" pitchFamily="18" charset="0"/>
              </a:rPr>
              <a:t>Drawing far reaching conclusions from preliminary or weak results, making sweeping generalisations from a study with little external validity (case study or small study)</a:t>
            </a:r>
          </a:p>
        </p:txBody>
      </p:sp>
      <p:sp>
        <p:nvSpPr>
          <p:cNvPr id="37892" name="Slide Number Placeholder 5">
            <a:extLst>
              <a:ext uri="{FF2B5EF4-FFF2-40B4-BE49-F238E27FC236}">
                <a16:creationId xmlns:a16="http://schemas.microsoft.com/office/drawing/2014/main" id="{71D49F98-B632-4D3F-BAC7-80FB50372E4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endParaRPr lang="en-US" altLang="en-US" sz="1400" dirty="0">
              <a:latin typeface="Arial" panose="020B0604020202020204" pitchFamily="34" charset="0"/>
            </a:endParaRPr>
          </a:p>
        </p:txBody>
      </p:sp>
      <p:sp>
        <p:nvSpPr>
          <p:cNvPr id="5" name="Rectangle 4">
            <a:extLst>
              <a:ext uri="{FF2B5EF4-FFF2-40B4-BE49-F238E27FC236}">
                <a16:creationId xmlns:a16="http://schemas.microsoft.com/office/drawing/2014/main" id="{2453BD94-CAE2-405B-8F21-2099D00237F9}"/>
              </a:ext>
            </a:extLst>
          </p:cNvPr>
          <p:cNvSpPr/>
          <p:nvPr/>
        </p:nvSpPr>
        <p:spPr>
          <a:xfrm>
            <a:off x="1524000" y="1412875"/>
            <a:ext cx="9144000" cy="1728788"/>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eaLnBrk="1" hangingPunct="1">
              <a:defRPr/>
            </a:pPr>
            <a:r>
              <a:rPr lang="en-GB" sz="2800" dirty="0">
                <a:solidFill>
                  <a:srgbClr val="FFFF00"/>
                </a:solidFill>
                <a:latin typeface="Times New Roman" panose="02020603050405020304" pitchFamily="18" charset="0"/>
                <a:cs typeface="Times New Roman" panose="02020603050405020304" pitchFamily="18" charset="0"/>
              </a:rPr>
              <a:t>Bias in literature or review of the literature is a distortion of the available information in such a way that it reflects opinions or conclusions that do not represent the real situation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4AAD5-2644-46F5-8E1F-925F5DBBC0CA}"/>
              </a:ext>
            </a:extLst>
          </p:cNvPr>
          <p:cNvSpPr>
            <a:spLocks noGrp="1"/>
          </p:cNvSpPr>
          <p:nvPr>
            <p:ph type="title"/>
          </p:nvPr>
        </p:nvSpPr>
        <p:spPr>
          <a:xfrm>
            <a:off x="887002" y="727074"/>
            <a:ext cx="10972800" cy="1029807"/>
          </a:xfrm>
        </p:spPr>
        <p:txBody>
          <a:bodyPr/>
          <a:lstStyle/>
          <a:p>
            <a:r>
              <a:rPr lang="en-US" b="1" dirty="0"/>
              <a:t>Biased Literature Review Example</a:t>
            </a:r>
            <a:br>
              <a:rPr lang="en-US" dirty="0"/>
            </a:br>
            <a:endParaRPr lang="en-US" dirty="0"/>
          </a:p>
        </p:txBody>
      </p:sp>
      <p:sp>
        <p:nvSpPr>
          <p:cNvPr id="3" name="Content Placeholder 2">
            <a:extLst>
              <a:ext uri="{FF2B5EF4-FFF2-40B4-BE49-F238E27FC236}">
                <a16:creationId xmlns:a16="http://schemas.microsoft.com/office/drawing/2014/main" id="{9BB90E69-F424-4A44-95F8-4A171B2F9219}"/>
              </a:ext>
            </a:extLst>
          </p:cNvPr>
          <p:cNvSpPr>
            <a:spLocks noGrp="1"/>
          </p:cNvSpPr>
          <p:nvPr>
            <p:ph idx="1"/>
          </p:nvPr>
        </p:nvSpPr>
        <p:spPr/>
        <p:txBody>
          <a:bodyPr/>
          <a:lstStyle/>
          <a:p>
            <a:r>
              <a:rPr lang="en-US" dirty="0"/>
              <a:t>Recent studies prove that zero-grazing systems are always the best option for dairy farmers. Mwangi (2021) shows higher milk yields, and Banda (2022) confirms improved animal health. Since these studies demonstrate clear benefits, zero-grazing should be adopted by all farmers without question.</a:t>
            </a:r>
          </a:p>
        </p:txBody>
      </p:sp>
    </p:spTree>
    <p:extLst>
      <p:ext uri="{BB962C8B-B14F-4D97-AF65-F5344CB8AC3E}">
        <p14:creationId xmlns:p14="http://schemas.microsoft.com/office/powerpoint/2010/main" val="18263126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DEF47-3F58-4683-B596-2F78C5FA55C2}"/>
              </a:ext>
            </a:extLst>
          </p:cNvPr>
          <p:cNvSpPr>
            <a:spLocks noGrp="1"/>
          </p:cNvSpPr>
          <p:nvPr>
            <p:ph type="title"/>
          </p:nvPr>
        </p:nvSpPr>
        <p:spPr/>
        <p:txBody>
          <a:bodyPr/>
          <a:lstStyle/>
          <a:p>
            <a:r>
              <a:rPr lang="en-US" b="1" dirty="0"/>
              <a:t>Unbiased Literature Review Example</a:t>
            </a:r>
          </a:p>
        </p:txBody>
      </p:sp>
      <p:sp>
        <p:nvSpPr>
          <p:cNvPr id="3" name="Content Placeholder 2">
            <a:extLst>
              <a:ext uri="{FF2B5EF4-FFF2-40B4-BE49-F238E27FC236}">
                <a16:creationId xmlns:a16="http://schemas.microsoft.com/office/drawing/2014/main" id="{8BD8FC7B-3CAE-4867-B705-DF3C57BED1F8}"/>
              </a:ext>
            </a:extLst>
          </p:cNvPr>
          <p:cNvSpPr>
            <a:spLocks noGrp="1"/>
          </p:cNvSpPr>
          <p:nvPr>
            <p:ph idx="1"/>
          </p:nvPr>
        </p:nvSpPr>
        <p:spPr/>
        <p:txBody>
          <a:bodyPr/>
          <a:lstStyle/>
          <a:p>
            <a:pPr algn="just"/>
            <a:r>
              <a:rPr lang="en-US" dirty="0"/>
              <a:t>Research on zero-grazing systems in dairy farming shows mixed outcomes. Mwangi (2021) reports higher milk yields under controlled feeding, while Banda (2022) notes improved animal health. However, Phiri (2023) highlights that labor and feed costs can limit adoption among smallholder farmers. Other studies suggest that semi-intensive systems may be more feasible in resource-poor contexts (</a:t>
            </a:r>
            <a:r>
              <a:rPr lang="en-US" dirty="0" err="1"/>
              <a:t>Kunda</a:t>
            </a:r>
            <a:r>
              <a:rPr lang="en-US" dirty="0"/>
              <a:t>, 2024). These findings indicate that zero-grazing can be beneficial, but its success depends on local conditions, and alternative systems may be more suitable for some farmers</a:t>
            </a:r>
          </a:p>
        </p:txBody>
      </p:sp>
    </p:spTree>
    <p:extLst>
      <p:ext uri="{BB962C8B-B14F-4D97-AF65-F5344CB8AC3E}">
        <p14:creationId xmlns:p14="http://schemas.microsoft.com/office/powerpoint/2010/main" val="9688026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xplosion 2 4">
            <a:extLst>
              <a:ext uri="{FF2B5EF4-FFF2-40B4-BE49-F238E27FC236}">
                <a16:creationId xmlns:a16="http://schemas.microsoft.com/office/drawing/2014/main" id="{C3CAE142-11EB-4D9A-9617-534EBDE7E836}"/>
              </a:ext>
            </a:extLst>
          </p:cNvPr>
          <p:cNvSpPr/>
          <p:nvPr/>
        </p:nvSpPr>
        <p:spPr>
          <a:xfrm>
            <a:off x="2133600" y="228600"/>
            <a:ext cx="7772400" cy="2819400"/>
          </a:xfrm>
          <a:prstGeom prst="irregularSeal2">
            <a:avLst/>
          </a:prstGeom>
          <a:solidFill>
            <a:srgbClr val="00B050"/>
          </a:solidFill>
        </p:spPr>
        <p:style>
          <a:lnRef idx="3">
            <a:schemeClr val="lt1"/>
          </a:lnRef>
          <a:fillRef idx="1">
            <a:schemeClr val="accent2"/>
          </a:fillRef>
          <a:effectRef idx="1">
            <a:schemeClr val="accent2"/>
          </a:effectRef>
          <a:fontRef idx="minor">
            <a:schemeClr val="lt1"/>
          </a:fontRef>
        </p:style>
        <p:txBody>
          <a:bodyPr anchor="ctr"/>
          <a:lstStyle/>
          <a:p>
            <a:pPr algn="ctr" eaLnBrk="1" hangingPunct="1">
              <a:defRPr/>
            </a:pPr>
            <a:r>
              <a:rPr lang="en-US" sz="4400" dirty="0">
                <a:latin typeface="Arial Black" pitchFamily="34" charset="0"/>
              </a:rPr>
              <a:t>Important</a:t>
            </a:r>
          </a:p>
        </p:txBody>
      </p:sp>
      <p:sp>
        <p:nvSpPr>
          <p:cNvPr id="4" name="Rectangle 3">
            <a:extLst>
              <a:ext uri="{FF2B5EF4-FFF2-40B4-BE49-F238E27FC236}">
                <a16:creationId xmlns:a16="http://schemas.microsoft.com/office/drawing/2014/main" id="{4C041090-C1A4-4E6E-84B6-232139509E67}"/>
              </a:ext>
            </a:extLst>
          </p:cNvPr>
          <p:cNvSpPr/>
          <p:nvPr/>
        </p:nvSpPr>
        <p:spPr>
          <a:xfrm>
            <a:off x="1524000" y="3789364"/>
            <a:ext cx="9144000" cy="3068637"/>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eaLnBrk="1" hangingPunct="1">
              <a:defRPr/>
            </a:pPr>
            <a:r>
              <a:rPr lang="en-US" sz="4000" dirty="0">
                <a:latin typeface="Times New Roman" panose="02020603050405020304" pitchFamily="18" charset="0"/>
                <a:cs typeface="Times New Roman" panose="02020603050405020304" pitchFamily="18" charset="0"/>
              </a:rPr>
              <a:t>Do not be influenced by the results of previous research and fail to discover new possibilities and to observe objectively without preconceptions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4C270C79-B974-4B3F-AA73-1675AD2A45A7}"/>
              </a:ext>
            </a:extLst>
          </p:cNvPr>
          <p:cNvSpPr>
            <a:spLocks noGrp="1"/>
          </p:cNvSpPr>
          <p:nvPr>
            <p:ph type="title"/>
          </p:nvPr>
        </p:nvSpPr>
        <p:spPr>
          <a:xfrm>
            <a:off x="2782889" y="333376"/>
            <a:ext cx="7285037" cy="1008063"/>
          </a:xfrm>
        </p:spPr>
        <p:txBody>
          <a:bodyPr/>
          <a:lstStyle/>
          <a:p>
            <a:pPr algn="ctr" eaLnBrk="1" hangingPunct="1"/>
            <a:r>
              <a:rPr lang="en-US" altLang="en-US" b="1" dirty="0">
                <a:latin typeface="Times New Roman" panose="02020603050405020304" pitchFamily="18" charset="0"/>
                <a:cs typeface="Times New Roman" panose="02020603050405020304" pitchFamily="18" charset="0"/>
              </a:rPr>
              <a:t>Plagiarism</a:t>
            </a:r>
          </a:p>
        </p:txBody>
      </p:sp>
      <p:sp>
        <p:nvSpPr>
          <p:cNvPr id="3" name="Content Placeholder 2">
            <a:extLst>
              <a:ext uri="{FF2B5EF4-FFF2-40B4-BE49-F238E27FC236}">
                <a16:creationId xmlns:a16="http://schemas.microsoft.com/office/drawing/2014/main" id="{9A2BD724-1DAD-4964-AB71-9E2CDF3C23B6}"/>
              </a:ext>
            </a:extLst>
          </p:cNvPr>
          <p:cNvSpPr>
            <a:spLocks noGrp="1"/>
          </p:cNvSpPr>
          <p:nvPr>
            <p:ph idx="1"/>
          </p:nvPr>
        </p:nvSpPr>
        <p:spPr>
          <a:xfrm>
            <a:off x="1524000" y="1484314"/>
            <a:ext cx="8686800" cy="5373687"/>
          </a:xfrm>
        </p:spPr>
        <p:txBody>
          <a:bodyPr/>
          <a:lstStyle/>
          <a:p>
            <a:pPr eaLnBrk="1" hangingPunct="1">
              <a:buFont typeface="Wingdings" panose="05000000000000000000" pitchFamily="2" charset="2"/>
              <a:buChar char="§"/>
            </a:pPr>
            <a:r>
              <a:rPr lang="en-US" altLang="en-US" sz="2400" dirty="0">
                <a:latin typeface="Verdana" panose="020B0604030504040204" pitchFamily="34" charset="0"/>
                <a:ea typeface="Verdana" panose="020B0604030504040204" pitchFamily="34" charset="0"/>
                <a:cs typeface="Times New Roman" panose="02020603050405020304" pitchFamily="18" charset="0"/>
              </a:rPr>
              <a:t>What is plagiarism?</a:t>
            </a:r>
          </a:p>
          <a:p>
            <a:pPr eaLnBrk="1" hangingPunct="1">
              <a:buFont typeface="Wingdings" panose="05000000000000000000" pitchFamily="2" charset="2"/>
              <a:buChar char="§"/>
            </a:pPr>
            <a:endParaRPr lang="en-US" altLang="en-US" sz="2400" dirty="0">
              <a:latin typeface="Verdana" panose="020B0604030504040204" pitchFamily="34" charset="0"/>
              <a:ea typeface="Verdana" panose="020B0604030504040204" pitchFamily="34" charset="0"/>
              <a:cs typeface="Times New Roman" panose="02020603050405020304" pitchFamily="18" charset="0"/>
            </a:endParaRPr>
          </a:p>
          <a:p>
            <a:pPr eaLnBrk="1" hangingPunct="1">
              <a:buFont typeface="Wingdings" panose="05000000000000000000" pitchFamily="2" charset="2"/>
              <a:buChar char="§"/>
            </a:pPr>
            <a:r>
              <a:rPr lang="en-US" altLang="en-US" sz="2400" b="1" u="sng" dirty="0">
                <a:solidFill>
                  <a:srgbClr val="FF0000"/>
                </a:solidFill>
                <a:latin typeface="Verdana" panose="020B0604030504040204" pitchFamily="34" charset="0"/>
                <a:ea typeface="Verdana" panose="020B0604030504040204" pitchFamily="34" charset="0"/>
                <a:cs typeface="Times New Roman" panose="02020603050405020304" pitchFamily="18" charset="0"/>
              </a:rPr>
              <a:t>Plagiarize:</a:t>
            </a:r>
            <a:r>
              <a:rPr lang="en-US" altLang="en-US" sz="2400" dirty="0">
                <a:latin typeface="Verdana" panose="020B0604030504040204" pitchFamily="34" charset="0"/>
                <a:ea typeface="Verdana" panose="020B0604030504040204" pitchFamily="34" charset="0"/>
                <a:cs typeface="Times New Roman" panose="02020603050405020304" pitchFamily="18" charset="0"/>
              </a:rPr>
              <a:t> </a:t>
            </a:r>
          </a:p>
          <a:p>
            <a:pPr eaLnBrk="1" hangingPunct="1">
              <a:buFont typeface="Wingdings" panose="05000000000000000000" pitchFamily="2" charset="2"/>
              <a:buChar char="§"/>
            </a:pPr>
            <a:endParaRPr lang="en-US" altLang="en-US" sz="2400" dirty="0">
              <a:latin typeface="Verdana" panose="020B0604030504040204" pitchFamily="34" charset="0"/>
              <a:ea typeface="Verdana" panose="020B0604030504040204" pitchFamily="34" charset="0"/>
              <a:cs typeface="Times New Roman" panose="02020603050405020304" pitchFamily="18" charset="0"/>
            </a:endParaRPr>
          </a:p>
          <a:p>
            <a:pPr lvl="1" eaLnBrk="1" hangingPunct="1">
              <a:buFont typeface="Wingdings" panose="05000000000000000000" pitchFamily="2" charset="2"/>
              <a:buChar char="§"/>
            </a:pPr>
            <a:r>
              <a:rPr lang="en-US" altLang="en-US" dirty="0">
                <a:latin typeface="Verdana" panose="020B0604030504040204" pitchFamily="34" charset="0"/>
                <a:ea typeface="Verdana" panose="020B0604030504040204" pitchFamily="34" charset="0"/>
                <a:cs typeface="Times New Roman" panose="02020603050405020304" pitchFamily="18" charset="0"/>
              </a:rPr>
              <a:t>to steal and pass on  information, ideas or  words of another person as one‘s own without crediting the source</a:t>
            </a:r>
          </a:p>
          <a:p>
            <a:pPr lvl="1" eaLnBrk="1" hangingPunct="1">
              <a:buFont typeface="Wingdings" panose="05000000000000000000" pitchFamily="2" charset="2"/>
              <a:buChar char="§"/>
            </a:pPr>
            <a:endParaRPr lang="en-US" altLang="en-US" dirty="0">
              <a:latin typeface="Verdana" panose="020B0604030504040204" pitchFamily="34" charset="0"/>
              <a:ea typeface="Verdana" panose="020B0604030504040204" pitchFamily="34" charset="0"/>
              <a:cs typeface="Times New Roman" panose="02020603050405020304" pitchFamily="18" charset="0"/>
            </a:endParaRPr>
          </a:p>
          <a:p>
            <a:pPr lvl="1" eaLnBrk="1" hangingPunct="1">
              <a:buFont typeface="Wingdings" panose="05000000000000000000" pitchFamily="2" charset="2"/>
              <a:buChar char="§"/>
            </a:pPr>
            <a:r>
              <a:rPr lang="en-US" altLang="en-US" dirty="0">
                <a:latin typeface="Verdana" panose="020B0604030504040204" pitchFamily="34" charset="0"/>
                <a:ea typeface="Verdana" panose="020B0604030504040204" pitchFamily="34" charset="0"/>
                <a:cs typeface="Times New Roman" panose="02020603050405020304" pitchFamily="18" charset="0"/>
              </a:rPr>
              <a:t>To commit literacy theft</a:t>
            </a:r>
          </a:p>
          <a:p>
            <a:pPr lvl="1" eaLnBrk="1" hangingPunct="1">
              <a:buFont typeface="Wingdings" panose="05000000000000000000" pitchFamily="2" charset="2"/>
              <a:buChar char="§"/>
            </a:pPr>
            <a:endParaRPr lang="en-US" altLang="en-US" dirty="0">
              <a:latin typeface="Verdana" panose="020B0604030504040204" pitchFamily="34" charset="0"/>
              <a:ea typeface="Verdana" panose="020B0604030504040204" pitchFamily="34" charset="0"/>
              <a:cs typeface="Times New Roman" panose="02020603050405020304" pitchFamily="18" charset="0"/>
            </a:endParaRPr>
          </a:p>
          <a:p>
            <a:pPr lvl="1" eaLnBrk="1" hangingPunct="1">
              <a:buFont typeface="Wingdings" panose="05000000000000000000" pitchFamily="2" charset="2"/>
              <a:buChar char="§"/>
            </a:pPr>
            <a:r>
              <a:rPr lang="en-US" altLang="en-US" dirty="0">
                <a:latin typeface="Verdana" panose="020B0604030504040204" pitchFamily="34" charset="0"/>
                <a:ea typeface="Verdana" panose="020B0604030504040204" pitchFamily="34" charset="0"/>
                <a:cs typeface="Times New Roman" panose="02020603050405020304" pitchFamily="18" charset="0"/>
              </a:rPr>
              <a:t>Presenting  as new and original an idea or  product derived from an existing source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D3A56-0A8B-4902-84EB-D25987270778}"/>
              </a:ext>
            </a:extLst>
          </p:cNvPr>
          <p:cNvSpPr>
            <a:spLocks noGrp="1"/>
          </p:cNvSpPr>
          <p:nvPr>
            <p:ph type="title"/>
          </p:nvPr>
        </p:nvSpPr>
        <p:spPr/>
        <p:txBody>
          <a:bodyPr/>
          <a:lstStyle/>
          <a:p>
            <a:r>
              <a:rPr lang="en-US" b="1" dirty="0"/>
              <a:t>Examples of Plagiarism</a:t>
            </a:r>
          </a:p>
        </p:txBody>
      </p:sp>
      <p:sp>
        <p:nvSpPr>
          <p:cNvPr id="3" name="Content Placeholder 2">
            <a:extLst>
              <a:ext uri="{FF2B5EF4-FFF2-40B4-BE49-F238E27FC236}">
                <a16:creationId xmlns:a16="http://schemas.microsoft.com/office/drawing/2014/main" id="{637EF43F-F002-49B8-9235-FAA083EF2601}"/>
              </a:ext>
            </a:extLst>
          </p:cNvPr>
          <p:cNvSpPr>
            <a:spLocks noGrp="1"/>
          </p:cNvSpPr>
          <p:nvPr>
            <p:ph idx="1"/>
          </p:nvPr>
        </p:nvSpPr>
        <p:spPr/>
        <p:txBody>
          <a:bodyPr/>
          <a:lstStyle/>
          <a:p>
            <a:r>
              <a:rPr lang="en-US" sz="2400" dirty="0"/>
              <a:t>Copying text from a book or article without citation.</a:t>
            </a:r>
          </a:p>
          <a:p>
            <a:r>
              <a:rPr lang="en-US" sz="2400" dirty="0"/>
              <a:t>Paraphrasing someone’s idea but failing to credit the source.</a:t>
            </a:r>
          </a:p>
          <a:p>
            <a:r>
              <a:rPr lang="en-US" sz="2400" dirty="0"/>
              <a:t>Submitting another person’s work (essay, report, data) as your own.</a:t>
            </a:r>
          </a:p>
          <a:p>
            <a:r>
              <a:rPr lang="en-US" sz="2400" dirty="0"/>
              <a:t>Using figures, tables, or images without attribution.</a:t>
            </a:r>
          </a:p>
          <a:p>
            <a:r>
              <a:rPr lang="en-US" sz="2400" b="1" dirty="0">
                <a:solidFill>
                  <a:srgbClr val="00B0F0"/>
                </a:solidFill>
              </a:rPr>
              <a:t>Example of a plagiarized sentence</a:t>
            </a:r>
            <a:r>
              <a:rPr lang="en-US" sz="2400" dirty="0"/>
              <a:t>:  </a:t>
            </a:r>
          </a:p>
          <a:p>
            <a:pPr lvl="2"/>
            <a:r>
              <a:rPr lang="en-US" dirty="0"/>
              <a:t>Organic farming improves soil fertility and reduces environmental impact.</a:t>
            </a:r>
          </a:p>
          <a:p>
            <a:pPr lvl="2"/>
            <a:endParaRPr lang="en-US" dirty="0"/>
          </a:p>
          <a:p>
            <a:pPr lvl="1"/>
            <a:r>
              <a:rPr lang="en-US" b="1" dirty="0">
                <a:solidFill>
                  <a:srgbClr val="00B0F0"/>
                </a:solidFill>
              </a:rPr>
              <a:t>Correct version  </a:t>
            </a:r>
          </a:p>
          <a:p>
            <a:pPr lvl="2"/>
            <a:r>
              <a:rPr lang="en-US" dirty="0"/>
              <a:t>According to Mwanza (2021), organic farming can improve soil fertility and reduce environmental impact.</a:t>
            </a:r>
          </a:p>
        </p:txBody>
      </p:sp>
    </p:spTree>
    <p:extLst>
      <p:ext uri="{BB962C8B-B14F-4D97-AF65-F5344CB8AC3E}">
        <p14:creationId xmlns:p14="http://schemas.microsoft.com/office/powerpoint/2010/main" val="1313712372"/>
      </p:ext>
    </p:extLst>
  </p:cSld>
  <p:clrMapOvr>
    <a:masterClrMapping/>
  </p:clrMapOvr>
</p:sld>
</file>

<file path=ppt/theme/theme1.xml><?xml version="1.0" encoding="utf-8"?>
<a:theme xmlns:a="http://schemas.openxmlformats.org/drawingml/2006/main" name="Level">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Garamond"/>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4687</TotalTime>
  <Words>2464</Words>
  <Application>Microsoft Office PowerPoint</Application>
  <PresentationFormat>Widescreen</PresentationFormat>
  <Paragraphs>312</Paragraphs>
  <Slides>42</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Arial</vt:lpstr>
      <vt:lpstr>Arial Black</vt:lpstr>
      <vt:lpstr>Calibri</vt:lpstr>
      <vt:lpstr>Garamond</vt:lpstr>
      <vt:lpstr>Times New Roman</vt:lpstr>
      <vt:lpstr>Verdana</vt:lpstr>
      <vt:lpstr>Wingdings</vt:lpstr>
      <vt:lpstr>Level</vt:lpstr>
      <vt:lpstr>KAPASA MAKASA UNIVERSITY</vt:lpstr>
      <vt:lpstr>The Process So Far</vt:lpstr>
      <vt:lpstr>Definition of Literature Review</vt:lpstr>
      <vt:lpstr>PowerPoint Presentation</vt:lpstr>
      <vt:lpstr>What are the challenges?</vt:lpstr>
      <vt:lpstr>The Purpose of a Literature Review</vt:lpstr>
      <vt:lpstr>Purpose of the Review</vt:lpstr>
      <vt:lpstr>Purpose of the Review</vt:lpstr>
      <vt:lpstr>How to write the section on the related literature</vt:lpstr>
      <vt:lpstr>How to write the section on the related literature</vt:lpstr>
      <vt:lpstr>PowerPoint Presentation</vt:lpstr>
      <vt:lpstr>PowerPoint Presentation</vt:lpstr>
      <vt:lpstr>Writing a Review Ethical Considerations</vt:lpstr>
      <vt:lpstr>Reliability and Validity of Information</vt:lpstr>
      <vt:lpstr>Searching the Web</vt:lpstr>
      <vt:lpstr>Validity and Reliability</vt:lpstr>
      <vt:lpstr>Common Problems</vt:lpstr>
      <vt:lpstr>PowerPoint Presentation</vt:lpstr>
      <vt:lpstr>Word Choice</vt:lpstr>
      <vt:lpstr>Tips for Success</vt:lpstr>
      <vt:lpstr>Literature &amp; Information Sources</vt:lpstr>
      <vt:lpstr>PowerPoint Presentation</vt:lpstr>
      <vt:lpstr>PowerPoint Presentation</vt:lpstr>
      <vt:lpstr>PowerPoint Presentation</vt:lpstr>
      <vt:lpstr>Evaluating the quality of Internet Materials</vt:lpstr>
      <vt:lpstr>Reviewing Technique</vt:lpstr>
      <vt:lpstr>PowerPoint Presentation</vt:lpstr>
      <vt:lpstr> Reviewing Technique</vt:lpstr>
      <vt:lpstr> Reviewing Technique</vt:lpstr>
      <vt:lpstr>Reviewing Technique</vt:lpstr>
      <vt:lpstr>Steps in conducting a literature review</vt:lpstr>
      <vt:lpstr>Steps in conducting a literature review</vt:lpstr>
      <vt:lpstr>Exploiting the literature</vt:lpstr>
      <vt:lpstr>Exploiting the literature</vt:lpstr>
      <vt:lpstr>Exploiting the literature</vt:lpstr>
      <vt:lpstr>Example</vt:lpstr>
      <vt:lpstr>Bias in literature</vt:lpstr>
      <vt:lpstr>Biased Literature Review Example </vt:lpstr>
      <vt:lpstr>Unbiased Literature Review Example</vt:lpstr>
      <vt:lpstr>PowerPoint Presentation</vt:lpstr>
      <vt:lpstr>Plagiarism</vt:lpstr>
      <vt:lpstr>Examples of Plagiarism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KAPASA MAKASA UNIVERSITY</dc:title>
  <dc:creator>sarah ngandwe</dc:creator>
  <cp:lastModifiedBy>sarah ngandwe</cp:lastModifiedBy>
  <cp:revision>41</cp:revision>
  <dcterms:created xsi:type="dcterms:W3CDTF">2026-03-15T15:51:08Z</dcterms:created>
  <dcterms:modified xsi:type="dcterms:W3CDTF">2026-03-20T12:06:40Z</dcterms:modified>
</cp:coreProperties>
</file>