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B0554-55A3-40E7-8DAF-F243498E55A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6F8AB-5E05-4CE3-B2B4-DABB02D2A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9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B0554-55A3-40E7-8DAF-F243498E55A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6F8AB-5E05-4CE3-B2B4-DABB02D2A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22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B0554-55A3-40E7-8DAF-F243498E55A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6F8AB-5E05-4CE3-B2B4-DABB02D2A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880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B0554-55A3-40E7-8DAF-F243498E55A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6F8AB-5E05-4CE3-B2B4-DABB02D2A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154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B0554-55A3-40E7-8DAF-F243498E55A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6F8AB-5E05-4CE3-B2B4-DABB02D2A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945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B0554-55A3-40E7-8DAF-F243498E55A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6F8AB-5E05-4CE3-B2B4-DABB02D2A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384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B0554-55A3-40E7-8DAF-F243498E55A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6F8AB-5E05-4CE3-B2B4-DABB02D2A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754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B0554-55A3-40E7-8DAF-F243498E55A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6F8AB-5E05-4CE3-B2B4-DABB02D2A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885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B0554-55A3-40E7-8DAF-F243498E55A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6F8AB-5E05-4CE3-B2B4-DABB02D2A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4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B0554-55A3-40E7-8DAF-F243498E55A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6F8AB-5E05-4CE3-B2B4-DABB02D2A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780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B0554-55A3-40E7-8DAF-F243498E55A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6F8AB-5E05-4CE3-B2B4-DABB02D2A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B0554-55A3-40E7-8DAF-F243498E55A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6F8AB-5E05-4CE3-B2B4-DABB02D2A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54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SA420-NATURAL RESOURCE ECONOMICS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LECTURER NAME:</a:t>
            </a:r>
          </a:p>
          <a:p>
            <a:r>
              <a:rPr 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MULENGA MPOLOKOSO</a:t>
            </a:r>
          </a:p>
          <a:p>
            <a:r>
              <a:rPr 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Ph.D_WIP</a:t>
            </a:r>
            <a:r>
              <a:rPr 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MBA, BBA, BICTED, BSCFO, TM, ISP, CMP)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31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TOPIC 5: ACCOUNTING FOR INFLATION IN FINANCIAL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OUTLINE OF THE TOPIC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Definition of Inflation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Types of Inflation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Measuring Inflation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Calculating Inflation Rate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Deflated and Inflated values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Nominal and Real Dollar Values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Real and Nominal Rates of Return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05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INFLATION CONT…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DEFINITION</a:t>
            </a:r>
          </a:p>
          <a:p>
            <a:r>
              <a:rPr lang="en-GB" dirty="0"/>
              <a:t>Inflation is the broad rate of increase in prices over a given period, leading to a decline in the </a:t>
            </a:r>
            <a:r>
              <a:rPr lang="en-GB" b="1" dirty="0"/>
              <a:t>purchasing power</a:t>
            </a:r>
            <a:r>
              <a:rPr lang="en-GB" dirty="0"/>
              <a:t> of money. </a:t>
            </a:r>
            <a:endParaRPr lang="en-US" dirty="0"/>
          </a:p>
          <a:p>
            <a:r>
              <a:rPr lang="en-GB" b="1" dirty="0"/>
              <a:t>1. Measuring Inflation (Consumer Price Index - CPI)</a:t>
            </a:r>
            <a:endParaRPr lang="en-US" dirty="0"/>
          </a:p>
          <a:p>
            <a:r>
              <a:rPr lang="en-GB" dirty="0"/>
              <a:t>The CPI tracks the cost of a "market basket" of goods and services. </a:t>
            </a:r>
            <a:endParaRPr lang="en-US" dirty="0"/>
          </a:p>
          <a:p>
            <a:pPr lvl="0"/>
            <a:r>
              <a:rPr lang="en-GB" b="1" dirty="0"/>
              <a:t>CPI Formula</a:t>
            </a:r>
            <a:r>
              <a:rPr lang="en-GB" dirty="0"/>
              <a:t>: </a:t>
            </a:r>
            <a:endParaRPr lang="en-US" dirty="0"/>
          </a:p>
          <a:p>
            <a:r>
              <a:rPr lang="en-GB" b="1" dirty="0"/>
              <a:t>Inflation Rate Formula</a:t>
            </a:r>
            <a:endParaRPr lang="en-US" dirty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9519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INFLATION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b="1" dirty="0"/>
              <a:t>Demand-Pull Inflation</a:t>
            </a:r>
            <a:r>
              <a:rPr lang="en-GB" dirty="0"/>
              <a:t>: Occurs when demand for goods exceeds supply (YOU HAVE HEAD A SAYING “too much money chasing too few goods").</a:t>
            </a:r>
            <a:endParaRPr lang="en-US" dirty="0"/>
          </a:p>
          <a:p>
            <a:pPr lvl="0"/>
            <a:r>
              <a:rPr lang="en-GB" b="1" dirty="0"/>
              <a:t>Cost-Push Inflation</a:t>
            </a:r>
            <a:r>
              <a:rPr lang="en-GB" dirty="0"/>
              <a:t>: Driven by increases in production costs, such as wages or raw materials (e.g., oil prices).</a:t>
            </a:r>
            <a:endParaRPr lang="en-US" dirty="0"/>
          </a:p>
          <a:p>
            <a:r>
              <a:rPr lang="en-GB" b="1" dirty="0"/>
              <a:t>Built-in Inflation</a:t>
            </a:r>
            <a:r>
              <a:rPr lang="en-GB" dirty="0"/>
              <a:t>: Linked to adaptive expectations; as prices rise, workers demand higher wages to maintain their standard of living, creating a cycle.</a:t>
            </a:r>
            <a:endParaRPr lang="en-US" dirty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301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UNDERSTANDING CPI AND INFLATION</a:t>
            </a:r>
            <a:endParaRPr lang="en-GB" dirty="0"/>
          </a:p>
        </p:txBody>
      </p:sp>
      <p:pic>
        <p:nvPicPr>
          <p:cNvPr id="4" name="Content Placeholder 3" descr="C:\Users\Martha\Pictures\Screenshots\Screenshot (264).png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02" t="16851" r="25026" b="10113"/>
          <a:stretch/>
        </p:blipFill>
        <p:spPr bwMode="auto">
          <a:xfrm>
            <a:off x="679270" y="1825625"/>
            <a:ext cx="10006148" cy="494093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88107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Martha\Pictures\Screenshots\Screenshot (265)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0" t="18033" r="25705" b="6287"/>
          <a:stretch/>
        </p:blipFill>
        <p:spPr bwMode="auto">
          <a:xfrm>
            <a:off x="742122" y="119270"/>
            <a:ext cx="10654748" cy="662608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34904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Martha\Pictures\Screenshots\Screenshot (266)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00" t="14190" r="25539" b="8044"/>
          <a:stretch/>
        </p:blipFill>
        <p:spPr bwMode="auto">
          <a:xfrm>
            <a:off x="887896" y="0"/>
            <a:ext cx="10548730" cy="6858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10870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Martha\Pictures\Screenshots\Screenshot (267)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6" t="15372" r="23377" b="5400"/>
          <a:stretch/>
        </p:blipFill>
        <p:spPr bwMode="auto">
          <a:xfrm>
            <a:off x="556591" y="0"/>
            <a:ext cx="11396870" cy="6858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67593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Martha\Pictures\Screenshots\Screenshot (268)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69" t="14782" r="26854" b="6564"/>
          <a:stretch/>
        </p:blipFill>
        <p:spPr bwMode="auto">
          <a:xfrm>
            <a:off x="450574" y="119270"/>
            <a:ext cx="10906539" cy="663933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30231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Martha\Pictures\Screenshots\Screenshot (269)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30" t="15372" r="25691" b="12183"/>
          <a:stretch/>
        </p:blipFill>
        <p:spPr bwMode="auto">
          <a:xfrm>
            <a:off x="768626" y="225286"/>
            <a:ext cx="10641496" cy="663271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23252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Martha\Pictures\Screenshots\Screenshot (270)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64" t="15372" r="25026" b="5086"/>
          <a:stretch/>
        </p:blipFill>
        <p:spPr bwMode="auto">
          <a:xfrm>
            <a:off x="583096" y="278297"/>
            <a:ext cx="10548730" cy="638754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7668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09" t="14862" r="24457" b="6645"/>
          <a:stretch/>
        </p:blipFill>
        <p:spPr>
          <a:xfrm>
            <a:off x="967410" y="106017"/>
            <a:ext cx="9727094" cy="646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767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09" t="14668" r="26522" b="5098"/>
          <a:stretch/>
        </p:blipFill>
        <p:spPr>
          <a:xfrm>
            <a:off x="768625" y="119269"/>
            <a:ext cx="10455965" cy="652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263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 OF LESSON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1133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170</Words>
  <Application>Microsoft Office PowerPoint</Application>
  <PresentationFormat>Widescreen</PresentationFormat>
  <Paragraphs>28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SA420-NATURAL RESOURCE ECONOMICS</vt:lpstr>
      <vt:lpstr>TOPIC 5: ACCOUNTING FOR INFLATION IN FINANCIAL ANALYSIS</vt:lpstr>
      <vt:lpstr>INFLATION CONT…</vt:lpstr>
      <vt:lpstr>INFLATION</vt:lpstr>
      <vt:lpstr>UNDERSTANDING CPI AND INFLATION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OF LESSON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SA420-NATURAL RESOURCE ECONOMICS</dc:title>
  <dc:creator>Martha</dc:creator>
  <cp:lastModifiedBy>Martha</cp:lastModifiedBy>
  <cp:revision>10</cp:revision>
  <dcterms:created xsi:type="dcterms:W3CDTF">2026-02-05T07:29:04Z</dcterms:created>
  <dcterms:modified xsi:type="dcterms:W3CDTF">2026-05-08T11:20:30Z</dcterms:modified>
</cp:coreProperties>
</file>