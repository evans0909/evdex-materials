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71" r:id="rId7"/>
    <p:sldId id="270" r:id="rId8"/>
    <p:sldId id="272" r:id="rId9"/>
    <p:sldId id="273" r:id="rId10"/>
    <p:sldId id="274" r:id="rId11"/>
    <p:sldId id="275" r:id="rId12"/>
    <p:sldId id="276" r:id="rId13"/>
    <p:sldId id="261" r:id="rId14"/>
    <p:sldId id="277" r:id="rId15"/>
    <p:sldId id="278" r:id="rId16"/>
    <p:sldId id="279" r:id="rId17"/>
    <p:sldId id="280" r:id="rId18"/>
    <p:sldId id="281" r:id="rId19"/>
    <p:sldId id="282" r:id="rId20"/>
    <p:sldId id="262" r:id="rId21"/>
    <p:sldId id="266" r:id="rId22"/>
    <p:sldId id="267" r:id="rId23"/>
    <p:sldId id="268" r:id="rId24"/>
    <p:sldId id="269" r:id="rId25"/>
    <p:sldId id="283" r:id="rId26"/>
    <p:sldId id="284" r:id="rId27"/>
    <p:sldId id="263" r:id="rId28"/>
    <p:sldId id="285" r:id="rId29"/>
    <p:sldId id="264" r:id="rId30"/>
    <p:sldId id="286" r:id="rId31"/>
    <p:sldId id="287" r:id="rId32"/>
    <p:sldId id="288" r:id="rId33"/>
    <p:sldId id="289" r:id="rId34"/>
    <p:sldId id="290" r:id="rId35"/>
    <p:sldId id="265" r:id="rId36"/>
    <p:sldId id="291" r:id="rId37"/>
    <p:sldId id="292" r:id="rId38"/>
    <p:sldId id="293"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1" d="100"/>
          <a:sy n="71" d="100"/>
        </p:scale>
        <p:origin x="6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4330F9D-2133-4D4A-8D3F-303BF97F9B0F}"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8D8CAE-1F7A-45EC-9C3A-90A3AAA779A5}" type="slidenum">
              <a:rPr lang="en-US" smtClean="0"/>
              <a:t>‹#›</a:t>
            </a:fld>
            <a:endParaRPr lang="en-US"/>
          </a:p>
        </p:txBody>
      </p:sp>
    </p:spTree>
    <p:extLst>
      <p:ext uri="{BB962C8B-B14F-4D97-AF65-F5344CB8AC3E}">
        <p14:creationId xmlns:p14="http://schemas.microsoft.com/office/powerpoint/2010/main" val="27774352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4330F9D-2133-4D4A-8D3F-303BF97F9B0F}"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8D8CAE-1F7A-45EC-9C3A-90A3AAA779A5}" type="slidenum">
              <a:rPr lang="en-US" smtClean="0"/>
              <a:t>‹#›</a:t>
            </a:fld>
            <a:endParaRPr lang="en-US"/>
          </a:p>
        </p:txBody>
      </p:sp>
    </p:spTree>
    <p:extLst>
      <p:ext uri="{BB962C8B-B14F-4D97-AF65-F5344CB8AC3E}">
        <p14:creationId xmlns:p14="http://schemas.microsoft.com/office/powerpoint/2010/main" val="36687878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4330F9D-2133-4D4A-8D3F-303BF97F9B0F}"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8D8CAE-1F7A-45EC-9C3A-90A3AAA779A5}" type="slidenum">
              <a:rPr lang="en-US" smtClean="0"/>
              <a:t>‹#›</a:t>
            </a:fld>
            <a:endParaRPr lang="en-US"/>
          </a:p>
        </p:txBody>
      </p:sp>
    </p:spTree>
    <p:extLst>
      <p:ext uri="{BB962C8B-B14F-4D97-AF65-F5344CB8AC3E}">
        <p14:creationId xmlns:p14="http://schemas.microsoft.com/office/powerpoint/2010/main" val="2511670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4330F9D-2133-4D4A-8D3F-303BF97F9B0F}" type="datetimeFigureOut">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8D8CAE-1F7A-45EC-9C3A-90A3AAA779A5}" type="slidenum">
              <a:rPr lang="en-US" smtClean="0"/>
              <a:t>‹#›</a:t>
            </a:fld>
            <a:endParaRPr lang="en-US"/>
          </a:p>
        </p:txBody>
      </p:sp>
    </p:spTree>
    <p:extLst>
      <p:ext uri="{BB962C8B-B14F-4D97-AF65-F5344CB8AC3E}">
        <p14:creationId xmlns:p14="http://schemas.microsoft.com/office/powerpoint/2010/main" val="3307085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4330F9D-2133-4D4A-8D3F-303BF97F9B0F}" type="datetimeFigureOut">
              <a:rPr lang="en-US" smtClean="0"/>
              <a:t>6/17/2026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E8D8CAE-1F7A-45EC-9C3A-90A3AAA779A5}" type="slidenum">
              <a:rPr lang="en-US" smtClean="0"/>
              <a:t>‹#›</a:t>
            </a:fld>
            <a:endParaRPr lang="en-US"/>
          </a:p>
        </p:txBody>
      </p:sp>
    </p:spTree>
    <p:extLst>
      <p:ext uri="{BB962C8B-B14F-4D97-AF65-F5344CB8AC3E}">
        <p14:creationId xmlns:p14="http://schemas.microsoft.com/office/powerpoint/2010/main" val="3941774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4330F9D-2133-4D4A-8D3F-303BF97F9B0F}" type="datetimeFigureOut">
              <a:rPr lang="en-US" smtClean="0"/>
              <a:t>6/17/2026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8D8CAE-1F7A-45EC-9C3A-90A3AAA779A5}" type="slidenum">
              <a:rPr lang="en-US" smtClean="0"/>
              <a:t>‹#›</a:t>
            </a:fld>
            <a:endParaRPr lang="en-US"/>
          </a:p>
        </p:txBody>
      </p:sp>
    </p:spTree>
    <p:extLst>
      <p:ext uri="{BB962C8B-B14F-4D97-AF65-F5344CB8AC3E}">
        <p14:creationId xmlns:p14="http://schemas.microsoft.com/office/powerpoint/2010/main" val="38434355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330F9D-2133-4D4A-8D3F-303BF97F9B0F}" type="datetimeFigureOut">
              <a:rPr lang="en-US" smtClean="0"/>
              <a:t>6/17/2026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E8D8CAE-1F7A-45EC-9C3A-90A3AAA779A5}" type="slidenum">
              <a:rPr lang="en-US" smtClean="0"/>
              <a:t>‹#›</a:t>
            </a:fld>
            <a:endParaRPr lang="en-US"/>
          </a:p>
        </p:txBody>
      </p:sp>
    </p:spTree>
    <p:extLst>
      <p:ext uri="{BB962C8B-B14F-4D97-AF65-F5344CB8AC3E}">
        <p14:creationId xmlns:p14="http://schemas.microsoft.com/office/powerpoint/2010/main" val="1779210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4330F9D-2133-4D4A-8D3F-303BF97F9B0F}" type="datetimeFigureOut">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8D8CAE-1F7A-45EC-9C3A-90A3AAA779A5}" type="slidenum">
              <a:rPr lang="en-US" smtClean="0"/>
              <a:t>‹#›</a:t>
            </a:fld>
            <a:endParaRPr lang="en-US"/>
          </a:p>
        </p:txBody>
      </p:sp>
    </p:spTree>
    <p:extLst>
      <p:ext uri="{BB962C8B-B14F-4D97-AF65-F5344CB8AC3E}">
        <p14:creationId xmlns:p14="http://schemas.microsoft.com/office/powerpoint/2010/main" val="1375408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4330F9D-2133-4D4A-8D3F-303BF97F9B0F}" type="datetimeFigureOut">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8D8CAE-1F7A-45EC-9C3A-90A3AAA779A5}" type="slidenum">
              <a:rPr lang="en-US" smtClean="0"/>
              <a:t>‹#›</a:t>
            </a:fld>
            <a:endParaRPr lang="en-US"/>
          </a:p>
        </p:txBody>
      </p:sp>
    </p:spTree>
    <p:extLst>
      <p:ext uri="{BB962C8B-B14F-4D97-AF65-F5344CB8AC3E}">
        <p14:creationId xmlns:p14="http://schemas.microsoft.com/office/powerpoint/2010/main" val="4230547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4330F9D-2133-4D4A-8D3F-303BF97F9B0F}"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8D8CAE-1F7A-45EC-9C3A-90A3AAA779A5}" type="slidenum">
              <a:rPr lang="en-US" smtClean="0"/>
              <a:t>‹#›</a:t>
            </a:fld>
            <a:endParaRPr lang="en-US"/>
          </a:p>
        </p:txBody>
      </p:sp>
    </p:spTree>
    <p:extLst>
      <p:ext uri="{BB962C8B-B14F-4D97-AF65-F5344CB8AC3E}">
        <p14:creationId xmlns:p14="http://schemas.microsoft.com/office/powerpoint/2010/main" val="20232959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4330F9D-2133-4D4A-8D3F-303BF97F9B0F}"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8D8CAE-1F7A-45EC-9C3A-90A3AAA779A5}" type="slidenum">
              <a:rPr lang="en-US" smtClean="0"/>
              <a:t>‹#›</a:t>
            </a:fld>
            <a:endParaRPr lang="en-US"/>
          </a:p>
        </p:txBody>
      </p:sp>
    </p:spTree>
    <p:extLst>
      <p:ext uri="{BB962C8B-B14F-4D97-AF65-F5344CB8AC3E}">
        <p14:creationId xmlns:p14="http://schemas.microsoft.com/office/powerpoint/2010/main" val="2546609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330F9D-2133-4D4A-8D3F-303BF97F9B0F}" type="datetimeFigureOut">
              <a:rPr lang="en-US" smtClean="0"/>
              <a:t>6/17/2026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8D8CAE-1F7A-45EC-9C3A-90A3AAA779A5}" type="slidenum">
              <a:rPr lang="en-US" smtClean="0"/>
              <a:t>‹#›</a:t>
            </a:fld>
            <a:endParaRPr lang="en-US"/>
          </a:p>
        </p:txBody>
      </p:sp>
    </p:spTree>
    <p:extLst>
      <p:ext uri="{BB962C8B-B14F-4D97-AF65-F5344CB8AC3E}">
        <p14:creationId xmlns:p14="http://schemas.microsoft.com/office/powerpoint/2010/main" val="33560896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effectLst>
                  <a:outerShdw blurRad="38100" dist="38100" dir="2700000" algn="tl">
                    <a:srgbClr val="000000">
                      <a:alpha val="43137"/>
                    </a:srgbClr>
                  </a:outerShdw>
                </a:effectLst>
              </a:rPr>
              <a:t>SA420-NATURAL RESOURCE ECONOMICS</a:t>
            </a:r>
            <a:endParaRPr lang="en-US" dirty="0"/>
          </a:p>
        </p:txBody>
      </p:sp>
      <p:sp>
        <p:nvSpPr>
          <p:cNvPr id="3" name="Subtitle 2"/>
          <p:cNvSpPr>
            <a:spLocks noGrp="1"/>
          </p:cNvSpPr>
          <p:nvPr>
            <p:ph type="subTitle" idx="1"/>
          </p:nvPr>
        </p:nvSpPr>
        <p:spPr/>
        <p:txBody>
          <a:bodyPr>
            <a:normAutofit fontScale="85000" lnSpcReduction="20000"/>
          </a:bodyPr>
          <a:lstStyle/>
          <a:p>
            <a:r>
              <a:rPr lang="en-US" sz="6000" b="1" dirty="0" smtClean="0">
                <a:effectLst>
                  <a:outerShdw blurRad="38100" dist="38100" dir="2700000" algn="tl">
                    <a:srgbClr val="000000">
                      <a:alpha val="43137"/>
                    </a:srgbClr>
                  </a:outerShdw>
                </a:effectLst>
              </a:rPr>
              <a:t>LECTURER NAME:</a:t>
            </a:r>
          </a:p>
          <a:p>
            <a:r>
              <a:rPr lang="en-US" sz="6000" b="1" dirty="0" smtClean="0">
                <a:effectLst>
                  <a:outerShdw blurRad="38100" dist="38100" dir="2700000" algn="tl">
                    <a:srgbClr val="000000">
                      <a:alpha val="43137"/>
                    </a:srgbClr>
                  </a:outerShdw>
                </a:effectLst>
              </a:rPr>
              <a:t>MULENGA MPOLOKOSO</a:t>
            </a:r>
          </a:p>
          <a:p>
            <a:r>
              <a:rPr lang="en-US" i="1" dirty="0" smtClean="0">
                <a:effectLst>
                  <a:outerShdw blurRad="38100" dist="38100" dir="2700000" algn="tl">
                    <a:srgbClr val="000000">
                      <a:alpha val="43137"/>
                    </a:srgbClr>
                  </a:outerShdw>
                </a:effectLst>
              </a:rPr>
              <a:t>(</a:t>
            </a:r>
            <a:r>
              <a:rPr lang="en-US" i="1" dirty="0" err="1" smtClean="0">
                <a:effectLst>
                  <a:outerShdw blurRad="38100" dist="38100" dir="2700000" algn="tl">
                    <a:srgbClr val="000000">
                      <a:alpha val="43137"/>
                    </a:srgbClr>
                  </a:outerShdw>
                </a:effectLst>
              </a:rPr>
              <a:t>Ph.D_WIP</a:t>
            </a:r>
            <a:r>
              <a:rPr lang="en-US" i="1" dirty="0" smtClean="0">
                <a:effectLst>
                  <a:outerShdw blurRad="38100" dist="38100" dir="2700000" algn="tl">
                    <a:srgbClr val="000000">
                      <a:alpha val="43137"/>
                    </a:srgbClr>
                  </a:outerShdw>
                </a:effectLst>
              </a:rPr>
              <a:t>, MBA, BBA, BICTED, BSCFO, TM, ISP, CMP)</a:t>
            </a:r>
          </a:p>
          <a:p>
            <a:endParaRPr lang="en-US" dirty="0" smtClean="0"/>
          </a:p>
          <a:p>
            <a:endParaRPr lang="en-US" dirty="0" smtClean="0"/>
          </a:p>
          <a:p>
            <a:endParaRPr lang="en-US" dirty="0"/>
          </a:p>
        </p:txBody>
      </p:sp>
    </p:spTree>
    <p:extLst>
      <p:ext uri="{BB962C8B-B14F-4D97-AF65-F5344CB8AC3E}">
        <p14:creationId xmlns:p14="http://schemas.microsoft.com/office/powerpoint/2010/main" val="423580149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TOPIC 4: INVESTMENT FINANCIAL ANALYSIS</a:t>
            </a:r>
            <a:endParaRPr lang="en-US" dirty="0"/>
          </a:p>
        </p:txBody>
      </p:sp>
      <p:sp>
        <p:nvSpPr>
          <p:cNvPr id="3" name="Content Placeholder 2"/>
          <p:cNvSpPr>
            <a:spLocks noGrp="1"/>
          </p:cNvSpPr>
          <p:nvPr>
            <p:ph idx="1"/>
          </p:nvPr>
        </p:nvSpPr>
        <p:spPr/>
        <p:txBody>
          <a:bodyPr>
            <a:normAutofit fontScale="85000" lnSpcReduction="10000"/>
          </a:bodyPr>
          <a:lstStyle/>
          <a:p>
            <a:pPr marL="0" indent="0">
              <a:buNone/>
            </a:pPr>
            <a:r>
              <a:rPr lang="en-US" b="1" dirty="0" smtClean="0"/>
              <a:t>OUTLINE OF THE TOPIC</a:t>
            </a:r>
          </a:p>
          <a:p>
            <a:pPr>
              <a:buFont typeface="Wingdings" panose="05000000000000000000" pitchFamily="2" charset="2"/>
              <a:buChar char="v"/>
            </a:pPr>
            <a:r>
              <a:rPr lang="en-US" sz="3000" dirty="0" smtClean="0"/>
              <a:t>Concept of Interest Rate</a:t>
            </a:r>
          </a:p>
          <a:p>
            <a:pPr>
              <a:buFont typeface="Wingdings" panose="05000000000000000000" pitchFamily="2" charset="2"/>
              <a:buChar char="v"/>
            </a:pPr>
            <a:r>
              <a:rPr lang="en-US" sz="3000" dirty="0" smtClean="0"/>
              <a:t>Components of Interest Rate</a:t>
            </a:r>
          </a:p>
          <a:p>
            <a:pPr>
              <a:buFont typeface="Wingdings" panose="05000000000000000000" pitchFamily="2" charset="2"/>
              <a:buChar char="v"/>
            </a:pPr>
            <a:r>
              <a:rPr lang="en-US" sz="3000" dirty="0" smtClean="0"/>
              <a:t>Simple Vs Compound Interest Rate (Effect of Compound Interest And Time)</a:t>
            </a:r>
          </a:p>
          <a:p>
            <a:pPr>
              <a:buFont typeface="Wingdings" panose="05000000000000000000" pitchFamily="2" charset="2"/>
              <a:buChar char="v"/>
            </a:pPr>
            <a:r>
              <a:rPr lang="en-US" sz="3000" dirty="0" smtClean="0"/>
              <a:t>Basics of Compounding And Discounting (Calculating Future And Present Values of Single Sum)</a:t>
            </a:r>
          </a:p>
          <a:p>
            <a:pPr>
              <a:buFont typeface="Wingdings" panose="05000000000000000000" pitchFamily="2" charset="2"/>
              <a:buChar char="v"/>
            </a:pPr>
            <a:r>
              <a:rPr lang="en-US" sz="3000" dirty="0" smtClean="0"/>
              <a:t>Rate of Return And Discounted Cash Flow Method</a:t>
            </a:r>
          </a:p>
          <a:p>
            <a:pPr>
              <a:buFont typeface="Wingdings" panose="05000000000000000000" pitchFamily="2" charset="2"/>
              <a:buChar char="v"/>
            </a:pPr>
            <a:r>
              <a:rPr lang="en-US" sz="3000" dirty="0" smtClean="0"/>
              <a:t>Present value of perpetual annual and periodic series</a:t>
            </a:r>
          </a:p>
          <a:p>
            <a:pPr>
              <a:buFont typeface="Wingdings" panose="05000000000000000000" pitchFamily="2" charset="2"/>
              <a:buChar char="v"/>
            </a:pPr>
            <a:r>
              <a:rPr lang="en-US" sz="3000" dirty="0" smtClean="0"/>
              <a:t>Present value of terminating annual and periodic series</a:t>
            </a:r>
          </a:p>
          <a:p>
            <a:pPr>
              <a:buFont typeface="Wingdings" panose="05000000000000000000" pitchFamily="2" charset="2"/>
              <a:buChar char="v"/>
            </a:pPr>
            <a:r>
              <a:rPr lang="en-US" sz="3000" dirty="0" smtClean="0"/>
              <a:t>Sinking fund and capital recovery</a:t>
            </a:r>
          </a:p>
          <a:p>
            <a:pPr marL="0" indent="0">
              <a:buNone/>
            </a:pPr>
            <a:endParaRPr lang="en-US" sz="3000" dirty="0" smtClean="0"/>
          </a:p>
          <a:p>
            <a:pPr marL="0" indent="0">
              <a:buNone/>
            </a:pPr>
            <a:endParaRPr lang="en-US" dirty="0" smtClean="0"/>
          </a:p>
        </p:txBody>
      </p:sp>
    </p:spTree>
    <p:extLst>
      <p:ext uri="{BB962C8B-B14F-4D97-AF65-F5344CB8AC3E}">
        <p14:creationId xmlns:p14="http://schemas.microsoft.com/office/powerpoint/2010/main" val="8779372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effectLst>
                  <a:outerShdw blurRad="38100" dist="38100" dir="2700000" algn="tl">
                    <a:srgbClr val="000000">
                      <a:alpha val="43137"/>
                    </a:srgbClr>
                  </a:outerShdw>
                </a:effectLst>
              </a:rPr>
              <a:t/>
            </a:r>
            <a:br>
              <a:rPr lang="en-US" b="1" dirty="0" smtClean="0">
                <a:effectLst>
                  <a:outerShdw blurRad="38100" dist="38100" dir="2700000" algn="tl">
                    <a:srgbClr val="000000">
                      <a:alpha val="43137"/>
                    </a:srgbClr>
                  </a:outerShdw>
                </a:effectLst>
              </a:rPr>
            </a:br>
            <a:r>
              <a:rPr lang="en-US" b="1" dirty="0">
                <a:effectLst>
                  <a:outerShdw blurRad="38100" dist="38100" dir="2700000" algn="tl">
                    <a:srgbClr val="000000">
                      <a:alpha val="43137"/>
                    </a:srgbClr>
                  </a:outerShdw>
                </a:effectLst>
              </a:rPr>
              <a:t/>
            </a:r>
            <a:br>
              <a:rPr lang="en-US" b="1" dirty="0">
                <a:effectLst>
                  <a:outerShdw blurRad="38100" dist="38100" dir="2700000" algn="tl">
                    <a:srgbClr val="000000">
                      <a:alpha val="43137"/>
                    </a:srgbClr>
                  </a:outerShdw>
                </a:effectLst>
              </a:rPr>
            </a:br>
            <a:r>
              <a:rPr lang="en-US" b="1" dirty="0" smtClean="0">
                <a:effectLst>
                  <a:outerShdw blurRad="38100" dist="38100" dir="2700000" algn="tl">
                    <a:srgbClr val="000000">
                      <a:alpha val="43137"/>
                    </a:srgbClr>
                  </a:outerShdw>
                </a:effectLst>
              </a:rPr>
              <a:t>Concept </a:t>
            </a:r>
            <a:r>
              <a:rPr lang="en-US" b="1" dirty="0">
                <a:effectLst>
                  <a:outerShdw blurRad="38100" dist="38100" dir="2700000" algn="tl">
                    <a:srgbClr val="000000">
                      <a:alpha val="43137"/>
                    </a:srgbClr>
                  </a:outerShdw>
                </a:effectLst>
              </a:rPr>
              <a:t>of Interest Rate</a:t>
            </a:r>
            <a:br>
              <a:rPr lang="en-US" b="1" dirty="0">
                <a:effectLst>
                  <a:outerShdw blurRad="38100" dist="38100" dir="2700000" algn="tl">
                    <a:srgbClr val="000000">
                      <a:alpha val="43137"/>
                    </a:srgbClr>
                  </a:outerShdw>
                </a:effectLst>
              </a:rPr>
            </a:br>
            <a:r>
              <a:rPr lang="en-US" b="1" dirty="0">
                <a:effectLst>
                  <a:outerShdw blurRad="38100" dist="38100" dir="2700000" algn="tl">
                    <a:srgbClr val="000000">
                      <a:alpha val="43137"/>
                    </a:srgbClr>
                  </a:outerShdw>
                </a:effectLst>
              </a:rPr>
              <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a:t>What are interest rates? </a:t>
            </a:r>
            <a:endParaRPr lang="en-US" dirty="0" smtClean="0"/>
          </a:p>
          <a:p>
            <a:r>
              <a:rPr lang="en-US" dirty="0" smtClean="0"/>
              <a:t>Interest </a:t>
            </a:r>
            <a:r>
              <a:rPr lang="en-US" dirty="0"/>
              <a:t>rates are prices for loanable funds – </a:t>
            </a:r>
            <a:r>
              <a:rPr lang="en-US" dirty="0" smtClean="0"/>
              <a:t>that is:</a:t>
            </a:r>
          </a:p>
          <a:p>
            <a:r>
              <a:rPr lang="en-US" dirty="0" smtClean="0"/>
              <a:t>Prices </a:t>
            </a:r>
            <a:r>
              <a:rPr lang="en-US" dirty="0"/>
              <a:t>of funds invested, lent out or borrowed for various periods. </a:t>
            </a:r>
            <a:endParaRPr lang="en-US" dirty="0" smtClean="0"/>
          </a:p>
          <a:p>
            <a:r>
              <a:rPr lang="en-US" dirty="0" smtClean="0"/>
              <a:t>The </a:t>
            </a:r>
            <a:r>
              <a:rPr lang="en-US" dirty="0"/>
              <a:t>supplier or lender of funds </a:t>
            </a:r>
            <a:r>
              <a:rPr lang="en-US" dirty="0" smtClean="0"/>
              <a:t>normally </a:t>
            </a:r>
            <a:r>
              <a:rPr lang="en-US" dirty="0"/>
              <a:t>wants to earn an income </a:t>
            </a:r>
            <a:r>
              <a:rPr lang="en-US" dirty="0" smtClean="0"/>
              <a:t>and</a:t>
            </a:r>
          </a:p>
          <a:p>
            <a:r>
              <a:rPr lang="en-US" dirty="0"/>
              <a:t>T</a:t>
            </a:r>
            <a:r>
              <a:rPr lang="en-US" dirty="0" smtClean="0"/>
              <a:t>he </a:t>
            </a:r>
            <a:r>
              <a:rPr lang="en-US" dirty="0"/>
              <a:t>user or borrower </a:t>
            </a:r>
            <a:r>
              <a:rPr lang="en-US" dirty="0" smtClean="0"/>
              <a:t>will generally </a:t>
            </a:r>
            <a:r>
              <a:rPr lang="en-US" dirty="0"/>
              <a:t>be prepared to pay for the right to use the accumulated funds.</a:t>
            </a:r>
          </a:p>
        </p:txBody>
      </p:sp>
    </p:spTree>
    <p:extLst>
      <p:ext uri="{BB962C8B-B14F-4D97-AF65-F5344CB8AC3E}">
        <p14:creationId xmlns:p14="http://schemas.microsoft.com/office/powerpoint/2010/main" val="166255895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effectLst>
                  <a:outerShdw blurRad="38100" dist="38100" dir="2700000" algn="tl">
                    <a:srgbClr val="000000">
                      <a:alpha val="43137"/>
                    </a:srgbClr>
                  </a:outerShdw>
                </a:effectLst>
              </a:rPr>
              <a:t/>
            </a:r>
            <a:br>
              <a:rPr lang="en-US" b="1" dirty="0">
                <a:effectLst>
                  <a:outerShdw blurRad="38100" dist="38100" dir="2700000" algn="tl">
                    <a:srgbClr val="000000">
                      <a:alpha val="43137"/>
                    </a:srgbClr>
                  </a:outerShdw>
                </a:effectLst>
              </a:rPr>
            </a:br>
            <a:r>
              <a:rPr lang="en-US" b="1" dirty="0">
                <a:effectLst>
                  <a:outerShdw blurRad="38100" dist="38100" dir="2700000" algn="tl">
                    <a:srgbClr val="000000">
                      <a:alpha val="43137"/>
                    </a:srgbClr>
                  </a:outerShdw>
                </a:effectLst>
              </a:rPr>
              <a:t>Components of Interest Rate</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lnSpcReduction="10000"/>
          </a:bodyPr>
          <a:lstStyle/>
          <a:p>
            <a:r>
              <a:rPr lang="en-US" dirty="0"/>
              <a:t>Using the concept of present value, the yield to maturity on a simple loan is easy to calculate. </a:t>
            </a:r>
            <a:endParaRPr lang="en-US" dirty="0" smtClean="0"/>
          </a:p>
          <a:p>
            <a:r>
              <a:rPr lang="en-US" dirty="0" smtClean="0"/>
              <a:t>For </a:t>
            </a:r>
            <a:r>
              <a:rPr lang="en-US" dirty="0"/>
              <a:t>the one-year loan we discussed, today’s value is $100, and the payments in one year’s time would be $110 (the repayment of $100 plus the interest payment of $10). </a:t>
            </a:r>
            <a:endParaRPr lang="en-US" dirty="0" smtClean="0"/>
          </a:p>
          <a:p>
            <a:r>
              <a:rPr lang="en-US" dirty="0" smtClean="0"/>
              <a:t>We </a:t>
            </a:r>
            <a:r>
              <a:rPr lang="en-US" dirty="0"/>
              <a:t>can use this information to solve for the yield to </a:t>
            </a:r>
            <a:r>
              <a:rPr lang="en-US" dirty="0" smtClean="0"/>
              <a:t>maturity </a:t>
            </a:r>
            <a:r>
              <a:rPr lang="en-US" dirty="0" err="1"/>
              <a:t>i</a:t>
            </a:r>
            <a:r>
              <a:rPr lang="en-US" dirty="0"/>
              <a:t> by recognizing that the present value of the future payments must equal today’s value of a loan. </a:t>
            </a:r>
            <a:endParaRPr lang="en-US" dirty="0" smtClean="0"/>
          </a:p>
          <a:p>
            <a:r>
              <a:rPr lang="en-US" dirty="0" smtClean="0"/>
              <a:t>Making </a:t>
            </a:r>
            <a:r>
              <a:rPr lang="en-US" dirty="0"/>
              <a:t>today’s value of the loan ($100) equal to the present value of the $110 payment in a year (using </a:t>
            </a:r>
            <a:r>
              <a:rPr lang="pt-BR" dirty="0"/>
              <a:t>PV </a:t>
            </a:r>
            <a:r>
              <a:rPr lang="pt-BR" dirty="0" smtClean="0"/>
              <a:t>= FV/ </a:t>
            </a:r>
            <a:r>
              <a:rPr lang="pt-BR" dirty="0"/>
              <a:t>(1 </a:t>
            </a:r>
            <a:r>
              <a:rPr lang="pt-BR" dirty="0" smtClean="0"/>
              <a:t>+i )^n</a:t>
            </a:r>
            <a:r>
              <a:rPr lang="en-US" dirty="0" smtClean="0"/>
              <a:t>) </a:t>
            </a:r>
            <a:r>
              <a:rPr lang="en-US" dirty="0"/>
              <a:t>gives us: $</a:t>
            </a:r>
            <a:r>
              <a:rPr lang="en-US" dirty="0" smtClean="0"/>
              <a:t>100 =  </a:t>
            </a:r>
            <a:r>
              <a:rPr lang="en-US" dirty="0"/>
              <a:t>$110 </a:t>
            </a:r>
            <a:r>
              <a:rPr lang="en-US" dirty="0" smtClean="0"/>
              <a:t>/(1 +</a:t>
            </a:r>
            <a:r>
              <a:rPr lang="en-US" dirty="0" err="1" smtClean="0"/>
              <a:t>i</a:t>
            </a:r>
            <a:r>
              <a:rPr lang="en-US" dirty="0" smtClean="0"/>
              <a:t>)^1. Solve for I = 10%</a:t>
            </a:r>
            <a:endParaRPr lang="en-US" dirty="0"/>
          </a:p>
        </p:txBody>
      </p:sp>
    </p:spTree>
    <p:extLst>
      <p:ext uri="{BB962C8B-B14F-4D97-AF65-F5344CB8AC3E}">
        <p14:creationId xmlns:p14="http://schemas.microsoft.com/office/powerpoint/2010/main" val="377306448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effectLst>
                  <a:outerShdw blurRad="38100" dist="38100" dir="2700000" algn="tl">
                    <a:srgbClr val="000000">
                      <a:alpha val="43137"/>
                    </a:srgbClr>
                  </a:outerShdw>
                </a:effectLst>
              </a:rPr>
              <a:t/>
            </a:r>
            <a:br>
              <a:rPr lang="en-US" dirty="0">
                <a:effectLst>
                  <a:outerShdw blurRad="38100" dist="38100" dir="2700000" algn="tl">
                    <a:srgbClr val="000000">
                      <a:alpha val="43137"/>
                    </a:srgbClr>
                  </a:outerShdw>
                </a:effectLst>
              </a:rPr>
            </a:br>
            <a:r>
              <a:rPr lang="en-US" dirty="0" smtClean="0">
                <a:effectLst>
                  <a:outerShdw blurRad="38100" dist="38100" dir="2700000" algn="tl">
                    <a:srgbClr val="000000">
                      <a:alpha val="43137"/>
                    </a:srgbClr>
                  </a:outerShdw>
                </a:effectLst>
              </a:rPr>
              <a:t>Simple </a:t>
            </a:r>
            <a:r>
              <a:rPr lang="en-US" dirty="0">
                <a:effectLst>
                  <a:outerShdw blurRad="38100" dist="38100" dir="2700000" algn="tl">
                    <a:srgbClr val="000000">
                      <a:alpha val="43137"/>
                    </a:srgbClr>
                  </a:outerShdw>
                </a:effectLst>
              </a:rPr>
              <a:t>Vs Compound Interest Rate (Effect of Compound Interest And Time)</a:t>
            </a:r>
            <a:br>
              <a:rPr lang="en-US" dirty="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590260"/>
            <a:ext cx="10515600" cy="5088835"/>
          </a:xfrm>
        </p:spPr>
        <p:txBody>
          <a:bodyPr>
            <a:normAutofit lnSpcReduction="10000"/>
          </a:bodyPr>
          <a:lstStyle/>
          <a:p>
            <a:r>
              <a:rPr lang="en-US" dirty="0"/>
              <a:t>Let’s look at the simplest kind of debt instrument, which we will call a simple loan. In this loan, the lender provides the borrower with an amount of funds (called the principal) that must be repaid to the lender at the maturity date, along with an additional payment for the interest. </a:t>
            </a:r>
            <a:endParaRPr lang="en-US" dirty="0" smtClean="0"/>
          </a:p>
          <a:p>
            <a:r>
              <a:rPr lang="en-US" dirty="0" smtClean="0"/>
              <a:t>For </a:t>
            </a:r>
            <a:r>
              <a:rPr lang="en-US" dirty="0"/>
              <a:t>example, if you made your friend, Jane, a </a:t>
            </a:r>
            <a:r>
              <a:rPr lang="en-US" dirty="0" smtClean="0"/>
              <a:t>simple </a:t>
            </a:r>
            <a:r>
              <a:rPr lang="en-US" dirty="0"/>
              <a:t>loan of $100 for one year, you would require her to repay the principal of $100 in one year’s time along with an additional payment for interest; say, $10. </a:t>
            </a:r>
            <a:endParaRPr lang="en-US" dirty="0" smtClean="0"/>
          </a:p>
          <a:p>
            <a:r>
              <a:rPr lang="en-US" dirty="0" smtClean="0"/>
              <a:t>In </a:t>
            </a:r>
            <a:r>
              <a:rPr lang="en-US" dirty="0"/>
              <a:t>the case of a simple loan like this one, the interest payment divided by the amount of the loan is a natural and sensible way to measure the interest rate. </a:t>
            </a:r>
            <a:endParaRPr lang="en-US" dirty="0" smtClean="0"/>
          </a:p>
          <a:p>
            <a:r>
              <a:rPr lang="en-US" dirty="0" smtClean="0"/>
              <a:t>This </a:t>
            </a:r>
            <a:r>
              <a:rPr lang="en-US" dirty="0"/>
              <a:t>measure of the so called </a:t>
            </a:r>
            <a:r>
              <a:rPr lang="en-US" b="1" dirty="0"/>
              <a:t>simple interest rate,</a:t>
            </a:r>
            <a:r>
              <a:rPr lang="en-US" dirty="0"/>
              <a:t> </a:t>
            </a:r>
            <a:r>
              <a:rPr lang="en-US" dirty="0" err="1"/>
              <a:t>i</a:t>
            </a:r>
            <a:r>
              <a:rPr lang="en-US" dirty="0" smtClean="0"/>
              <a:t>,= PRT. Note rate is in decimals or I = PRT/100</a:t>
            </a:r>
            <a:endParaRPr lang="en-US" dirty="0"/>
          </a:p>
        </p:txBody>
      </p:sp>
    </p:spTree>
    <p:extLst>
      <p:ext uri="{BB962C8B-B14F-4D97-AF65-F5344CB8AC3E}">
        <p14:creationId xmlns:p14="http://schemas.microsoft.com/office/powerpoint/2010/main" val="38367159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Generally, the formula will be…</a:t>
            </a:r>
            <a:endParaRPr lang="en-GB" dirty="0"/>
          </a:p>
        </p:txBody>
      </p:sp>
      <p:sp>
        <p:nvSpPr>
          <p:cNvPr id="3" name="Content Placeholder 2"/>
          <p:cNvSpPr>
            <a:spLocks noGrp="1"/>
          </p:cNvSpPr>
          <p:nvPr>
            <p:ph idx="1"/>
          </p:nvPr>
        </p:nvSpPr>
        <p:spPr/>
        <p:txBody>
          <a:bodyPr>
            <a:normAutofit fontScale="92500" lnSpcReduction="20000"/>
          </a:bodyPr>
          <a:lstStyle/>
          <a:p>
            <a:r>
              <a:rPr lang="pt-BR" dirty="0" smtClean="0"/>
              <a:t>PV=  FV/ </a:t>
            </a:r>
            <a:r>
              <a:rPr lang="pt-BR" dirty="0"/>
              <a:t>(</a:t>
            </a:r>
            <a:r>
              <a:rPr lang="pt-BR" dirty="0" smtClean="0"/>
              <a:t>1+ </a:t>
            </a:r>
            <a:r>
              <a:rPr lang="pt-BR" dirty="0"/>
              <a:t>i </a:t>
            </a:r>
            <a:r>
              <a:rPr lang="pt-BR" dirty="0" smtClean="0"/>
              <a:t>)^n</a:t>
            </a:r>
          </a:p>
          <a:p>
            <a:r>
              <a:rPr lang="en-US" dirty="0"/>
              <a:t>As an example of how the present value concept can be used, let’s assume that you just hit the $20 million jackpot in the New York State </a:t>
            </a:r>
            <a:endParaRPr lang="en-US" dirty="0" smtClean="0"/>
          </a:p>
          <a:p>
            <a:r>
              <a:rPr lang="en-US" dirty="0" smtClean="0"/>
              <a:t>Lottery</a:t>
            </a:r>
            <a:r>
              <a:rPr lang="en-US" dirty="0"/>
              <a:t>, which promises you a payment of $1 million for the next twenty years. </a:t>
            </a:r>
            <a:endParaRPr lang="en-US" dirty="0" smtClean="0"/>
          </a:p>
          <a:p>
            <a:r>
              <a:rPr lang="en-US" dirty="0" smtClean="0"/>
              <a:t>You </a:t>
            </a:r>
            <a:r>
              <a:rPr lang="en-US" dirty="0"/>
              <a:t>are clearly excited, but have you really won $20 million? No, not in the present value sense. In today’s </a:t>
            </a:r>
            <a:r>
              <a:rPr lang="en-US" dirty="0" smtClean="0"/>
              <a:t>dollars</a:t>
            </a:r>
            <a:r>
              <a:rPr lang="en-US" dirty="0"/>
              <a:t>, that $20 million is worth a lot less. </a:t>
            </a:r>
            <a:endParaRPr lang="en-US" dirty="0" smtClean="0"/>
          </a:p>
          <a:p>
            <a:r>
              <a:rPr lang="en-US" dirty="0" smtClean="0"/>
              <a:t>If </a:t>
            </a:r>
            <a:r>
              <a:rPr lang="en-US" dirty="0"/>
              <a:t>we assume an interest rate of 10% as in the earlier examples, the first payment of $1 million is clearly worth $1 million today, but the next payment next year is only worth $1 million/(</a:t>
            </a:r>
            <a:r>
              <a:rPr lang="en-US" dirty="0" smtClean="0"/>
              <a:t>1+ </a:t>
            </a:r>
            <a:r>
              <a:rPr lang="en-US" dirty="0"/>
              <a:t>0.10) $909,090, a lot less 0.10)2 than $1 million. The following year the payment is worth $1 million/(1 $826,446 in today’s dollars, and so on</a:t>
            </a:r>
            <a:endParaRPr lang="en-GB" dirty="0"/>
          </a:p>
        </p:txBody>
      </p:sp>
    </p:spTree>
    <p:extLst>
      <p:ext uri="{BB962C8B-B14F-4D97-AF65-F5344CB8AC3E}">
        <p14:creationId xmlns:p14="http://schemas.microsoft.com/office/powerpoint/2010/main" val="345363444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34674" t="15829" r="25544" b="5292"/>
          <a:stretch/>
        </p:blipFill>
        <p:spPr>
          <a:xfrm>
            <a:off x="1484243" y="251792"/>
            <a:ext cx="9554818" cy="6493565"/>
          </a:xfrm>
          <a:prstGeom prst="rect">
            <a:avLst/>
          </a:prstGeom>
        </p:spPr>
      </p:pic>
    </p:spTree>
    <p:extLst>
      <p:ext uri="{BB962C8B-B14F-4D97-AF65-F5344CB8AC3E}">
        <p14:creationId xmlns:p14="http://schemas.microsoft.com/office/powerpoint/2010/main" val="31291520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In </a:t>
            </a:r>
            <a:r>
              <a:rPr lang="en-US" b="1" dirty="0"/>
              <a:t>terms of the timing of their payments, there are four basic types of credit market instruments. </a:t>
            </a:r>
            <a:br>
              <a:rPr lang="en-US" b="1" dirty="0"/>
            </a:br>
            <a:endParaRPr lang="en-GB" b="1" dirty="0"/>
          </a:p>
        </p:txBody>
      </p:sp>
      <p:sp>
        <p:nvSpPr>
          <p:cNvPr id="3" name="Content Placeholder 2"/>
          <p:cNvSpPr>
            <a:spLocks noGrp="1"/>
          </p:cNvSpPr>
          <p:nvPr>
            <p:ph idx="1"/>
          </p:nvPr>
        </p:nvSpPr>
        <p:spPr/>
        <p:txBody>
          <a:bodyPr/>
          <a:lstStyle/>
          <a:p>
            <a:r>
              <a:rPr lang="en-US" dirty="0" smtClean="0"/>
              <a:t>1</a:t>
            </a:r>
            <a:r>
              <a:rPr lang="en-US" dirty="0"/>
              <a:t>. </a:t>
            </a:r>
            <a:r>
              <a:rPr lang="en-US" b="1" dirty="0"/>
              <a:t>A simple loan, </a:t>
            </a:r>
            <a:r>
              <a:rPr lang="en-US" dirty="0"/>
              <a:t>which we have already discussed, in which the lender provides the borrower with an amount of funds, which must be repaid to the lender at the maturity date along with an additional payment for the interest. </a:t>
            </a:r>
            <a:endParaRPr lang="en-US" dirty="0" smtClean="0"/>
          </a:p>
          <a:p>
            <a:r>
              <a:rPr lang="en-US" dirty="0" smtClean="0"/>
              <a:t>Many </a:t>
            </a:r>
            <a:r>
              <a:rPr lang="en-US" dirty="0"/>
              <a:t>money market instruments are of this type: for example, commercial loans to businesses.</a:t>
            </a:r>
            <a:endParaRPr lang="en-GB" dirty="0"/>
          </a:p>
        </p:txBody>
      </p:sp>
    </p:spTree>
    <p:extLst>
      <p:ext uri="{BB962C8B-B14F-4D97-AF65-F5344CB8AC3E}">
        <p14:creationId xmlns:p14="http://schemas.microsoft.com/office/powerpoint/2010/main" val="237170743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GB" dirty="0"/>
          </a:p>
        </p:txBody>
      </p:sp>
      <p:sp>
        <p:nvSpPr>
          <p:cNvPr id="3" name="Content Placeholder 2"/>
          <p:cNvSpPr>
            <a:spLocks noGrp="1"/>
          </p:cNvSpPr>
          <p:nvPr>
            <p:ph idx="1"/>
          </p:nvPr>
        </p:nvSpPr>
        <p:spPr/>
        <p:txBody>
          <a:bodyPr/>
          <a:lstStyle/>
          <a:p>
            <a:r>
              <a:rPr lang="en-US" dirty="0"/>
              <a:t>2. </a:t>
            </a:r>
            <a:r>
              <a:rPr lang="en-US" b="1" dirty="0"/>
              <a:t>A fixed-payment loan </a:t>
            </a:r>
            <a:r>
              <a:rPr lang="en-US" dirty="0"/>
              <a:t>(which is also called a fully amortized loan) in which the lender provides the borrower with an amount of funds, which must be repaid by </a:t>
            </a:r>
            <a:r>
              <a:rPr lang="en-US" dirty="0" smtClean="0"/>
              <a:t>making </a:t>
            </a:r>
            <a:r>
              <a:rPr lang="en-US" dirty="0"/>
              <a:t>the same payment every period (such as a month), consisting of part of the </a:t>
            </a:r>
            <a:r>
              <a:rPr lang="en-US" dirty="0" smtClean="0"/>
              <a:t>principal </a:t>
            </a:r>
            <a:r>
              <a:rPr lang="en-US" dirty="0"/>
              <a:t>and interest for a set number of years. </a:t>
            </a:r>
            <a:endParaRPr lang="en-US" dirty="0" smtClean="0"/>
          </a:p>
          <a:p>
            <a:r>
              <a:rPr lang="en-US" dirty="0" smtClean="0"/>
              <a:t>For </a:t>
            </a:r>
            <a:r>
              <a:rPr lang="en-US" dirty="0"/>
              <a:t>example, if you borrowed $1,000, a fixed-payment loan might require you to pay $126 every year for 25 years. Installment loans (such as auto loans) and mortgages are frequently of the fixed-payment type.</a:t>
            </a:r>
            <a:endParaRPr lang="en-GB" dirty="0"/>
          </a:p>
        </p:txBody>
      </p:sp>
    </p:spTree>
    <p:extLst>
      <p:ext uri="{BB962C8B-B14F-4D97-AF65-F5344CB8AC3E}">
        <p14:creationId xmlns:p14="http://schemas.microsoft.com/office/powerpoint/2010/main" val="183098325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a:t>
            </a:r>
            <a:endParaRPr lang="en-GB" b="1" dirty="0"/>
          </a:p>
        </p:txBody>
      </p:sp>
      <p:sp>
        <p:nvSpPr>
          <p:cNvPr id="3" name="Content Placeholder 2"/>
          <p:cNvSpPr>
            <a:spLocks noGrp="1"/>
          </p:cNvSpPr>
          <p:nvPr>
            <p:ph idx="1"/>
          </p:nvPr>
        </p:nvSpPr>
        <p:spPr/>
        <p:txBody>
          <a:bodyPr>
            <a:normAutofit fontScale="92500" lnSpcReduction="10000"/>
          </a:bodyPr>
          <a:lstStyle/>
          <a:p>
            <a:r>
              <a:rPr lang="en-US" dirty="0"/>
              <a:t>3. A coupon bond pays the owner of the bond a fixed interest payment (coupon payment) every year until the maturity date, when a specified final amount (face value or par value) is repaid. </a:t>
            </a:r>
            <a:endParaRPr lang="en-US" dirty="0" smtClean="0"/>
          </a:p>
          <a:p>
            <a:r>
              <a:rPr lang="en-US" dirty="0" smtClean="0"/>
              <a:t>The </a:t>
            </a:r>
            <a:r>
              <a:rPr lang="en-US" dirty="0"/>
              <a:t>coupon payment is so named because the bond holder used to obtain payment by clipping a coupon off the bond and sending it to the bond issuer, who then sent the payment to the holder. </a:t>
            </a:r>
            <a:endParaRPr lang="en-US" dirty="0" smtClean="0"/>
          </a:p>
          <a:p>
            <a:r>
              <a:rPr lang="en-US" dirty="0" smtClean="0"/>
              <a:t>Nowadays</a:t>
            </a:r>
            <a:r>
              <a:rPr lang="en-US" dirty="0"/>
              <a:t>, it is no longer necessary to send in coupons to receive these payments. </a:t>
            </a:r>
            <a:endParaRPr lang="en-US" dirty="0" smtClean="0"/>
          </a:p>
          <a:p>
            <a:r>
              <a:rPr lang="en-US" dirty="0" smtClean="0"/>
              <a:t>A </a:t>
            </a:r>
            <a:r>
              <a:rPr lang="en-US" dirty="0"/>
              <a:t>coupon bond with $1,000 face value, for example, might pay you a coupon payment of $100 per year for ten years, and at the maturity date repay you the face value amount of $1,000. (The face value of a bond is usually in $1,000 increments.)</a:t>
            </a:r>
            <a:endParaRPr lang="en-GB" dirty="0"/>
          </a:p>
        </p:txBody>
      </p:sp>
    </p:spTree>
    <p:extLst>
      <p:ext uri="{BB962C8B-B14F-4D97-AF65-F5344CB8AC3E}">
        <p14:creationId xmlns:p14="http://schemas.microsoft.com/office/powerpoint/2010/main" val="417780324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A </a:t>
            </a:r>
            <a:r>
              <a:rPr lang="en-US" b="1" dirty="0"/>
              <a:t>coupon bond is identified by three pieces of information. </a:t>
            </a:r>
            <a:br>
              <a:rPr lang="en-US" b="1" dirty="0"/>
            </a:br>
            <a:endParaRPr lang="en-GB" b="1" dirty="0"/>
          </a:p>
        </p:txBody>
      </p:sp>
      <p:sp>
        <p:nvSpPr>
          <p:cNvPr id="3" name="Content Placeholder 2"/>
          <p:cNvSpPr>
            <a:spLocks noGrp="1"/>
          </p:cNvSpPr>
          <p:nvPr>
            <p:ph idx="1"/>
          </p:nvPr>
        </p:nvSpPr>
        <p:spPr/>
        <p:txBody>
          <a:bodyPr>
            <a:normAutofit lnSpcReduction="10000"/>
          </a:bodyPr>
          <a:lstStyle/>
          <a:p>
            <a:r>
              <a:rPr lang="en-US" dirty="0" smtClean="0"/>
              <a:t>First </a:t>
            </a:r>
            <a:r>
              <a:rPr lang="en-US" dirty="0"/>
              <a:t>is the </a:t>
            </a:r>
            <a:r>
              <a:rPr lang="en-US" dirty="0" smtClean="0"/>
              <a:t>corporation </a:t>
            </a:r>
            <a:r>
              <a:rPr lang="en-US" dirty="0"/>
              <a:t>or government agency that issues the bond. </a:t>
            </a:r>
            <a:endParaRPr lang="en-US" dirty="0" smtClean="0"/>
          </a:p>
          <a:p>
            <a:r>
              <a:rPr lang="en-US" dirty="0" smtClean="0"/>
              <a:t>Second </a:t>
            </a:r>
            <a:r>
              <a:rPr lang="en-US" dirty="0"/>
              <a:t>is the maturity date of the 64 PART II Financial Markets bond. </a:t>
            </a:r>
            <a:endParaRPr lang="en-US" dirty="0" smtClean="0"/>
          </a:p>
          <a:p>
            <a:r>
              <a:rPr lang="en-US" dirty="0" smtClean="0"/>
              <a:t>Third </a:t>
            </a:r>
            <a:r>
              <a:rPr lang="en-US" dirty="0"/>
              <a:t>is the bond’s coupon rate, the dollar amount of the yearly coupon </a:t>
            </a:r>
            <a:r>
              <a:rPr lang="en-US" dirty="0" smtClean="0"/>
              <a:t>payment </a:t>
            </a:r>
            <a:r>
              <a:rPr lang="en-US" dirty="0"/>
              <a:t>expressed as a percentage of the face value of the bond. </a:t>
            </a:r>
            <a:endParaRPr lang="en-US" dirty="0" smtClean="0"/>
          </a:p>
          <a:p>
            <a:r>
              <a:rPr lang="en-US" dirty="0" smtClean="0"/>
              <a:t>In </a:t>
            </a:r>
            <a:r>
              <a:rPr lang="en-US" dirty="0"/>
              <a:t>our example, the coupon bond has a yearly coupon payment of $100 and a face value of $1,000. </a:t>
            </a:r>
            <a:endParaRPr lang="en-US" dirty="0" smtClean="0"/>
          </a:p>
          <a:p>
            <a:r>
              <a:rPr lang="en-US" dirty="0" smtClean="0"/>
              <a:t>The </a:t>
            </a:r>
            <a:r>
              <a:rPr lang="en-US" dirty="0"/>
              <a:t>coupon rate is then $100/$1,000 </a:t>
            </a:r>
            <a:r>
              <a:rPr lang="en-US" dirty="0" smtClean="0"/>
              <a:t>= 0.10</a:t>
            </a:r>
            <a:r>
              <a:rPr lang="en-US" dirty="0"/>
              <a:t>, or 10%. </a:t>
            </a:r>
            <a:endParaRPr lang="en-US" dirty="0" smtClean="0"/>
          </a:p>
          <a:p>
            <a:r>
              <a:rPr lang="en-US" dirty="0" smtClean="0"/>
              <a:t>Capital </a:t>
            </a:r>
            <a:r>
              <a:rPr lang="en-US" dirty="0"/>
              <a:t>market instruments such as U.S. Treasury bonds and notes and corporate bonds are examples of coupon bonds</a:t>
            </a:r>
            <a:endParaRPr lang="en-GB" dirty="0"/>
          </a:p>
        </p:txBody>
      </p:sp>
    </p:spTree>
    <p:extLst>
      <p:ext uri="{BB962C8B-B14F-4D97-AF65-F5344CB8AC3E}">
        <p14:creationId xmlns:p14="http://schemas.microsoft.com/office/powerpoint/2010/main" val="69315270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a:t>
            </a:r>
            <a:endParaRPr lang="en-GB" b="1" dirty="0"/>
          </a:p>
        </p:txBody>
      </p:sp>
      <p:sp>
        <p:nvSpPr>
          <p:cNvPr id="3" name="Content Placeholder 2"/>
          <p:cNvSpPr>
            <a:spLocks noGrp="1"/>
          </p:cNvSpPr>
          <p:nvPr>
            <p:ph idx="1"/>
          </p:nvPr>
        </p:nvSpPr>
        <p:spPr/>
        <p:txBody>
          <a:bodyPr/>
          <a:lstStyle/>
          <a:p>
            <a:r>
              <a:rPr lang="en-US" dirty="0"/>
              <a:t>4.</a:t>
            </a:r>
            <a:r>
              <a:rPr lang="en-US" b="1" dirty="0"/>
              <a:t> A discount bond (also called a zero-coupon bond) </a:t>
            </a:r>
            <a:r>
              <a:rPr lang="en-US" dirty="0"/>
              <a:t>is bought at a price below its face value (at a discount), and the face value is repaid at the maturity date. </a:t>
            </a:r>
            <a:endParaRPr lang="en-US" dirty="0" smtClean="0"/>
          </a:p>
          <a:p>
            <a:r>
              <a:rPr lang="en-US" dirty="0" smtClean="0"/>
              <a:t>Unlike </a:t>
            </a:r>
            <a:r>
              <a:rPr lang="en-US" dirty="0"/>
              <a:t>a coupon bond, a discount bond does not make any interest payments; it just pays off the face value. </a:t>
            </a:r>
            <a:endParaRPr lang="en-US" dirty="0" smtClean="0"/>
          </a:p>
          <a:p>
            <a:r>
              <a:rPr lang="en-US" dirty="0" smtClean="0"/>
              <a:t>For </a:t>
            </a:r>
            <a:r>
              <a:rPr lang="en-US" dirty="0"/>
              <a:t>example, a discount bond with a face value of $1,000 might be bought for $900; in a year’s time the owner would be repaid the face value of $1,000. </a:t>
            </a:r>
            <a:endParaRPr lang="en-US" dirty="0" smtClean="0"/>
          </a:p>
          <a:p>
            <a:r>
              <a:rPr lang="en-US" dirty="0" smtClean="0"/>
              <a:t>U.S</a:t>
            </a:r>
            <a:r>
              <a:rPr lang="en-US" dirty="0"/>
              <a:t>. Treasury bills, U.S. savings bonds, and long-term zero-coupon bonds are </a:t>
            </a:r>
            <a:r>
              <a:rPr lang="en-US" dirty="0" smtClean="0"/>
              <a:t>examples </a:t>
            </a:r>
            <a:r>
              <a:rPr lang="en-US" dirty="0"/>
              <a:t>of discount bonds.</a:t>
            </a:r>
            <a:endParaRPr lang="en-GB" dirty="0"/>
          </a:p>
        </p:txBody>
      </p:sp>
    </p:spTree>
    <p:extLst>
      <p:ext uri="{BB962C8B-B14F-4D97-AF65-F5344CB8AC3E}">
        <p14:creationId xmlns:p14="http://schemas.microsoft.com/office/powerpoint/2010/main" val="118780567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r>
            <a:br>
              <a:rPr lang="en-US" dirty="0"/>
            </a:br>
            <a:r>
              <a:rPr lang="en-US" dirty="0" smtClean="0"/>
              <a:t/>
            </a:r>
            <a:br>
              <a:rPr lang="en-US" dirty="0" smtClean="0"/>
            </a:br>
            <a:r>
              <a:rPr lang="en-US" sz="4000" b="1" dirty="0" smtClean="0">
                <a:effectLst>
                  <a:outerShdw blurRad="38100" dist="38100" dir="2700000" algn="tl">
                    <a:srgbClr val="000000">
                      <a:alpha val="43137"/>
                    </a:srgbClr>
                  </a:outerShdw>
                </a:effectLst>
              </a:rPr>
              <a:t>Basics </a:t>
            </a:r>
            <a:r>
              <a:rPr lang="en-US" sz="4000" b="1" dirty="0">
                <a:effectLst>
                  <a:outerShdw blurRad="38100" dist="38100" dir="2700000" algn="tl">
                    <a:srgbClr val="000000">
                      <a:alpha val="43137"/>
                    </a:srgbClr>
                  </a:outerShdw>
                </a:effectLst>
              </a:rPr>
              <a:t>of Compounding And Discounting (Calculating Future And Present Values of Single Sum)</a:t>
            </a:r>
            <a:br>
              <a:rPr lang="en-US" sz="4000"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92500" lnSpcReduction="10000"/>
          </a:bodyPr>
          <a:lstStyle/>
          <a:p>
            <a:r>
              <a:rPr lang="en-US" dirty="0"/>
              <a:t>These four types of instruments require payments at different times: Simple loans and discount bonds make payment only at their maturity dates, </a:t>
            </a:r>
            <a:endParaRPr lang="en-US" dirty="0" smtClean="0"/>
          </a:p>
          <a:p>
            <a:r>
              <a:rPr lang="en-US" dirty="0" smtClean="0"/>
              <a:t>Whereas </a:t>
            </a:r>
            <a:r>
              <a:rPr lang="en-US" dirty="0"/>
              <a:t>fixed-payment loans and coupon bonds have payments periodically until maturity. </a:t>
            </a:r>
            <a:endParaRPr lang="en-US" dirty="0" smtClean="0"/>
          </a:p>
          <a:p>
            <a:r>
              <a:rPr lang="en-US" dirty="0" smtClean="0"/>
              <a:t>How </a:t>
            </a:r>
            <a:r>
              <a:rPr lang="en-US" dirty="0"/>
              <a:t>would you decide which of these instruments provides you with more income? </a:t>
            </a:r>
            <a:endParaRPr lang="en-US" dirty="0" smtClean="0"/>
          </a:p>
          <a:p>
            <a:r>
              <a:rPr lang="en-US" dirty="0" smtClean="0"/>
              <a:t>They </a:t>
            </a:r>
            <a:r>
              <a:rPr lang="en-US" dirty="0"/>
              <a:t>all seem so different because they make payments at different times. </a:t>
            </a:r>
            <a:endParaRPr lang="en-US" dirty="0" smtClean="0"/>
          </a:p>
          <a:p>
            <a:r>
              <a:rPr lang="en-US" dirty="0" smtClean="0"/>
              <a:t>To </a:t>
            </a:r>
            <a:r>
              <a:rPr lang="en-US" dirty="0"/>
              <a:t>solve this problem, </a:t>
            </a:r>
            <a:r>
              <a:rPr lang="en-US" b="1" dirty="0"/>
              <a:t>we use the concept of present value, explained earlier, to provide us with a procedure for measuring interest rates on these different types of </a:t>
            </a:r>
            <a:r>
              <a:rPr lang="en-US" b="1" dirty="0" smtClean="0"/>
              <a:t>instruments</a:t>
            </a:r>
            <a:r>
              <a:rPr lang="en-US" dirty="0" smtClean="0"/>
              <a:t>.</a:t>
            </a:r>
            <a:endParaRPr lang="en-US" dirty="0"/>
          </a:p>
        </p:txBody>
      </p:sp>
    </p:spTree>
    <p:extLst>
      <p:ext uri="{BB962C8B-B14F-4D97-AF65-F5344CB8AC3E}">
        <p14:creationId xmlns:p14="http://schemas.microsoft.com/office/powerpoint/2010/main" val="174791613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lnSpcReduction="10000"/>
          </a:bodyPr>
          <a:lstStyle/>
          <a:p>
            <a:r>
              <a:rPr lang="en-US" b="1" dirty="0"/>
              <a:t>Simple Loan. </a:t>
            </a:r>
            <a:r>
              <a:rPr lang="en-US" dirty="0"/>
              <a:t>Using the concept of present value, the yield to maturity on a simple loan is easy to calculate. </a:t>
            </a:r>
            <a:endParaRPr lang="en-US" dirty="0" smtClean="0"/>
          </a:p>
          <a:p>
            <a:r>
              <a:rPr lang="en-US" dirty="0" smtClean="0"/>
              <a:t>For </a:t>
            </a:r>
            <a:r>
              <a:rPr lang="en-US" dirty="0"/>
              <a:t>the one-year loan we discussed, today’s value is $100, and the payments in one year’s time would be $110 (the repayment of $100 plus the interest payment of $10). </a:t>
            </a:r>
            <a:endParaRPr lang="en-US" dirty="0" smtClean="0"/>
          </a:p>
          <a:p>
            <a:r>
              <a:rPr lang="en-US" dirty="0" smtClean="0"/>
              <a:t>We </a:t>
            </a:r>
            <a:r>
              <a:rPr lang="en-US" dirty="0"/>
              <a:t>can use this information to solve for the yield to </a:t>
            </a:r>
            <a:r>
              <a:rPr lang="en-US" dirty="0" smtClean="0"/>
              <a:t>maturity </a:t>
            </a:r>
            <a:r>
              <a:rPr lang="en-US" dirty="0" err="1"/>
              <a:t>i</a:t>
            </a:r>
            <a:r>
              <a:rPr lang="en-US" dirty="0"/>
              <a:t> by recognizing that the present value of the future payments must equal today’s value of a loan. </a:t>
            </a:r>
            <a:endParaRPr lang="en-US" dirty="0" smtClean="0"/>
          </a:p>
          <a:p>
            <a:r>
              <a:rPr lang="en-US" dirty="0" smtClean="0"/>
              <a:t>Making </a:t>
            </a:r>
            <a:r>
              <a:rPr lang="en-US" dirty="0"/>
              <a:t>today’s value of the loan ($100) equal to the present value of the $110 payment in a year (using Equation 1) gives us: $</a:t>
            </a:r>
            <a:r>
              <a:rPr lang="en-US" dirty="0" smtClean="0"/>
              <a:t>100 = </a:t>
            </a:r>
            <a:r>
              <a:rPr lang="en-US" dirty="0"/>
              <a:t>$110 </a:t>
            </a:r>
            <a:r>
              <a:rPr lang="en-US" dirty="0" smtClean="0"/>
              <a:t>/(1+ </a:t>
            </a:r>
            <a:r>
              <a:rPr lang="en-US" dirty="0" err="1" smtClean="0"/>
              <a:t>i</a:t>
            </a:r>
            <a:r>
              <a:rPr lang="en-US" dirty="0" smtClean="0"/>
              <a:t>) </a:t>
            </a:r>
            <a:r>
              <a:rPr lang="en-US" dirty="0"/>
              <a:t>Solving for </a:t>
            </a:r>
            <a:r>
              <a:rPr lang="en-US" dirty="0" err="1"/>
              <a:t>i</a:t>
            </a:r>
            <a:r>
              <a:rPr lang="en-US" dirty="0"/>
              <a:t>, </a:t>
            </a:r>
            <a:r>
              <a:rPr lang="en-US" dirty="0" err="1"/>
              <a:t>i</a:t>
            </a:r>
            <a:r>
              <a:rPr lang="en-US" dirty="0"/>
              <a:t> </a:t>
            </a:r>
            <a:r>
              <a:rPr lang="en-US" dirty="0" smtClean="0"/>
              <a:t>= ($</a:t>
            </a:r>
            <a:r>
              <a:rPr lang="en-US" dirty="0"/>
              <a:t>110 </a:t>
            </a:r>
            <a:r>
              <a:rPr lang="en-US" dirty="0" smtClean="0"/>
              <a:t>- $</a:t>
            </a:r>
            <a:r>
              <a:rPr lang="en-US" dirty="0"/>
              <a:t>100 </a:t>
            </a:r>
            <a:r>
              <a:rPr lang="en-US" dirty="0" smtClean="0"/>
              <a:t>)/$</a:t>
            </a:r>
            <a:r>
              <a:rPr lang="en-US" dirty="0"/>
              <a:t>100 </a:t>
            </a:r>
            <a:r>
              <a:rPr lang="en-US" dirty="0" smtClean="0"/>
              <a:t>=$</a:t>
            </a:r>
            <a:r>
              <a:rPr lang="en-US" dirty="0"/>
              <a:t>10 </a:t>
            </a:r>
            <a:r>
              <a:rPr lang="en-US" dirty="0" smtClean="0"/>
              <a:t>/$</a:t>
            </a:r>
            <a:r>
              <a:rPr lang="en-US" dirty="0"/>
              <a:t>100 </a:t>
            </a:r>
            <a:r>
              <a:rPr lang="en-US" dirty="0" smtClean="0"/>
              <a:t>= 0.10 OR 10</a:t>
            </a:r>
            <a:r>
              <a:rPr lang="en-US" dirty="0"/>
              <a:t>%</a:t>
            </a:r>
            <a:endParaRPr lang="en-GB" dirty="0"/>
          </a:p>
        </p:txBody>
      </p:sp>
    </p:spTree>
    <p:extLst>
      <p:ext uri="{BB962C8B-B14F-4D97-AF65-F5344CB8AC3E}">
        <p14:creationId xmlns:p14="http://schemas.microsoft.com/office/powerpoint/2010/main" val="184007112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a:t>
            </a:r>
            <a:endParaRPr lang="en-GB" b="1" dirty="0"/>
          </a:p>
        </p:txBody>
      </p:sp>
      <p:sp>
        <p:nvSpPr>
          <p:cNvPr id="3" name="Content Placeholder 2"/>
          <p:cNvSpPr>
            <a:spLocks noGrp="1"/>
          </p:cNvSpPr>
          <p:nvPr>
            <p:ph idx="1"/>
          </p:nvPr>
        </p:nvSpPr>
        <p:spPr/>
        <p:txBody>
          <a:bodyPr/>
          <a:lstStyle/>
          <a:p>
            <a:r>
              <a:rPr lang="en-US" dirty="0"/>
              <a:t>An important point to recognize is that for simple loans, the simple interest rate equals the yield to maturity. </a:t>
            </a:r>
            <a:endParaRPr lang="en-US" dirty="0" smtClean="0"/>
          </a:p>
          <a:p>
            <a:r>
              <a:rPr lang="en-US" dirty="0" smtClean="0"/>
              <a:t>Hence </a:t>
            </a:r>
            <a:r>
              <a:rPr lang="en-US" dirty="0"/>
              <a:t>the same term </a:t>
            </a:r>
            <a:r>
              <a:rPr lang="en-US" dirty="0" err="1"/>
              <a:t>i</a:t>
            </a:r>
            <a:r>
              <a:rPr lang="en-US" dirty="0"/>
              <a:t> is used to denote both the yield to maturity and the simple interest </a:t>
            </a:r>
            <a:r>
              <a:rPr lang="en-US" dirty="0" smtClean="0"/>
              <a:t>rate.</a:t>
            </a:r>
            <a:endParaRPr lang="en-GB" dirty="0"/>
          </a:p>
        </p:txBody>
      </p:sp>
    </p:spTree>
    <p:extLst>
      <p:ext uri="{BB962C8B-B14F-4D97-AF65-F5344CB8AC3E}">
        <p14:creationId xmlns:p14="http://schemas.microsoft.com/office/powerpoint/2010/main" val="330637080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Fixed-Payment Loan</a:t>
            </a:r>
            <a:endParaRPr lang="en-GB" b="1" dirty="0"/>
          </a:p>
        </p:txBody>
      </p:sp>
      <p:sp>
        <p:nvSpPr>
          <p:cNvPr id="3" name="Content Placeholder 2"/>
          <p:cNvSpPr>
            <a:spLocks noGrp="1"/>
          </p:cNvSpPr>
          <p:nvPr>
            <p:ph idx="1"/>
          </p:nvPr>
        </p:nvSpPr>
        <p:spPr>
          <a:xfrm>
            <a:off x="838200" y="1192696"/>
            <a:ext cx="10515600" cy="5665303"/>
          </a:xfrm>
        </p:spPr>
        <p:txBody>
          <a:bodyPr>
            <a:normAutofit/>
          </a:bodyPr>
          <a:lstStyle/>
          <a:p>
            <a:r>
              <a:rPr lang="en-US" dirty="0"/>
              <a:t>To calculate the yield to maturity for a fixed-payment loan, </a:t>
            </a:r>
            <a:endParaRPr lang="en-US" dirty="0" smtClean="0"/>
          </a:p>
          <a:p>
            <a:r>
              <a:rPr lang="en-US" dirty="0"/>
              <a:t>W</a:t>
            </a:r>
            <a:r>
              <a:rPr lang="en-US" dirty="0" smtClean="0"/>
              <a:t>e </a:t>
            </a:r>
            <a:r>
              <a:rPr lang="en-US" dirty="0"/>
              <a:t>follow the same strategy we used for the simple loan</a:t>
            </a:r>
            <a:r>
              <a:rPr lang="en-US" dirty="0" smtClean="0"/>
              <a:t>—</a:t>
            </a:r>
          </a:p>
          <a:p>
            <a:r>
              <a:rPr lang="en-US" dirty="0"/>
              <a:t>W</a:t>
            </a:r>
            <a:r>
              <a:rPr lang="en-US" dirty="0" smtClean="0"/>
              <a:t>e </a:t>
            </a:r>
            <a:r>
              <a:rPr lang="en-US" dirty="0"/>
              <a:t>equate today’s value of the loan with its present value. </a:t>
            </a:r>
            <a:endParaRPr lang="en-US" dirty="0" smtClean="0"/>
          </a:p>
          <a:p>
            <a:r>
              <a:rPr lang="en-US" dirty="0" smtClean="0"/>
              <a:t>Because </a:t>
            </a:r>
            <a:r>
              <a:rPr lang="en-US" dirty="0"/>
              <a:t>the fixed-payment loan involves more than one payment, the present value of the fixed-payment loan is calculated as the sum of the present values of all payments (using Equation 1). </a:t>
            </a:r>
            <a:endParaRPr lang="en-US" dirty="0" smtClean="0"/>
          </a:p>
          <a:p>
            <a:r>
              <a:rPr lang="en-US" dirty="0" smtClean="0"/>
              <a:t>In </a:t>
            </a:r>
            <a:r>
              <a:rPr lang="en-US" dirty="0"/>
              <a:t>the case of our earlier example, the loan is $1,000 and the yearly payment is $126 for the next 25 years. </a:t>
            </a:r>
            <a:endParaRPr lang="en-US" dirty="0" smtClean="0"/>
          </a:p>
          <a:p>
            <a:r>
              <a:rPr lang="en-US" dirty="0" smtClean="0"/>
              <a:t>The </a:t>
            </a:r>
            <a:r>
              <a:rPr lang="en-US" dirty="0"/>
              <a:t>present value is calculated as follows: </a:t>
            </a:r>
            <a:endParaRPr lang="en-US" dirty="0" smtClean="0"/>
          </a:p>
        </p:txBody>
      </p:sp>
    </p:spTree>
    <p:extLst>
      <p:ext uri="{BB962C8B-B14F-4D97-AF65-F5344CB8AC3E}">
        <p14:creationId xmlns:p14="http://schemas.microsoft.com/office/powerpoint/2010/main" val="33262256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a:t>
            </a:r>
            <a:endParaRPr lang="en-GB" b="1" dirty="0"/>
          </a:p>
        </p:txBody>
      </p:sp>
      <p:sp>
        <p:nvSpPr>
          <p:cNvPr id="3" name="Content Placeholder 2"/>
          <p:cNvSpPr>
            <a:spLocks noGrp="1"/>
          </p:cNvSpPr>
          <p:nvPr>
            <p:ph idx="1"/>
          </p:nvPr>
        </p:nvSpPr>
        <p:spPr/>
        <p:txBody>
          <a:bodyPr/>
          <a:lstStyle/>
          <a:p>
            <a:r>
              <a:rPr lang="en-US" dirty="0" smtClean="0"/>
              <a:t>In </a:t>
            </a:r>
            <a:r>
              <a:rPr lang="en-US" dirty="0"/>
              <a:t>the case of our earlier example, the loan is $1,000 and the yearly payment is $126 for the next 25 years. </a:t>
            </a:r>
            <a:endParaRPr lang="en-US" dirty="0" smtClean="0"/>
          </a:p>
          <a:p>
            <a:r>
              <a:rPr lang="en-US" dirty="0" smtClean="0"/>
              <a:t>The </a:t>
            </a:r>
            <a:r>
              <a:rPr lang="en-US" dirty="0"/>
              <a:t>present value is calculated as follows: </a:t>
            </a:r>
            <a:endParaRPr lang="en-US" dirty="0" smtClean="0"/>
          </a:p>
          <a:p>
            <a:r>
              <a:rPr lang="en-US" dirty="0" smtClean="0"/>
              <a:t>At </a:t>
            </a:r>
            <a:r>
              <a:rPr lang="en-US" dirty="0"/>
              <a:t>the end of one year, there is a $126 payment with a PV of $</a:t>
            </a:r>
            <a:r>
              <a:rPr lang="en-US" dirty="0" smtClean="0"/>
              <a:t>126/(1+i),there </a:t>
            </a:r>
            <a:r>
              <a:rPr lang="en-US" dirty="0"/>
              <a:t>is another $126 payment with a PV of $126/(</a:t>
            </a:r>
            <a:r>
              <a:rPr lang="en-US" dirty="0" smtClean="0"/>
              <a:t>1+ </a:t>
            </a:r>
            <a:r>
              <a:rPr lang="en-US" dirty="0" err="1"/>
              <a:t>i</a:t>
            </a:r>
            <a:r>
              <a:rPr lang="en-US" dirty="0"/>
              <a:t>); </a:t>
            </a:r>
            <a:endParaRPr lang="en-US" dirty="0" smtClean="0"/>
          </a:p>
          <a:p>
            <a:r>
              <a:rPr lang="en-US" dirty="0" smtClean="0"/>
              <a:t>At </a:t>
            </a:r>
            <a:r>
              <a:rPr lang="en-US" dirty="0"/>
              <a:t>the end of two years</a:t>
            </a:r>
            <a:r>
              <a:rPr lang="en-US" dirty="0" smtClean="0"/>
              <a:t>,</a:t>
            </a:r>
            <a:r>
              <a:rPr lang="en-US" dirty="0"/>
              <a:t> there is another $126 payment with a PV of $126/(1+ </a:t>
            </a:r>
            <a:r>
              <a:rPr lang="en-US" dirty="0" err="1"/>
              <a:t>i</a:t>
            </a:r>
            <a:r>
              <a:rPr lang="en-US" dirty="0" smtClean="0"/>
              <a:t>)^2; </a:t>
            </a:r>
            <a:r>
              <a:rPr lang="en-US" dirty="0"/>
              <a:t>and so on until at the end of the twenty-fifth year, the last payment of $126 with a PV of $126/(</a:t>
            </a:r>
            <a:r>
              <a:rPr lang="en-US" dirty="0" smtClean="0"/>
              <a:t>1+ </a:t>
            </a:r>
            <a:r>
              <a:rPr lang="en-US" dirty="0" err="1"/>
              <a:t>i</a:t>
            </a:r>
            <a:r>
              <a:rPr lang="en-US" dirty="0" smtClean="0"/>
              <a:t>)^25 </a:t>
            </a:r>
            <a:r>
              <a:rPr lang="en-US" dirty="0"/>
              <a:t>is made. Making today’s value of the loan ($1,000) equal to the sum of the present values of all the yearly payments gives us:</a:t>
            </a:r>
            <a:endParaRPr lang="en-GB" dirty="0"/>
          </a:p>
        </p:txBody>
      </p:sp>
    </p:spTree>
    <p:extLst>
      <p:ext uri="{BB962C8B-B14F-4D97-AF65-F5344CB8AC3E}">
        <p14:creationId xmlns:p14="http://schemas.microsoft.com/office/powerpoint/2010/main" val="234729666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a:t>
            </a:r>
            <a:endParaRPr lang="en-GB" b="1" dirty="0"/>
          </a:p>
        </p:txBody>
      </p:sp>
      <p:sp>
        <p:nvSpPr>
          <p:cNvPr id="3" name="Content Placeholder 2"/>
          <p:cNvSpPr>
            <a:spLocks noGrp="1"/>
          </p:cNvSpPr>
          <p:nvPr>
            <p:ph idx="1"/>
          </p:nvPr>
        </p:nvSpPr>
        <p:spPr/>
        <p:txBody>
          <a:bodyPr/>
          <a:lstStyle/>
          <a:p>
            <a:r>
              <a:rPr lang="en-US" dirty="0"/>
              <a:t>$1,000 </a:t>
            </a:r>
            <a:r>
              <a:rPr lang="en-US" dirty="0" smtClean="0"/>
              <a:t>=$</a:t>
            </a:r>
            <a:r>
              <a:rPr lang="en-US" dirty="0"/>
              <a:t>126 </a:t>
            </a:r>
            <a:r>
              <a:rPr lang="en-US" dirty="0" smtClean="0"/>
              <a:t>/(1 +</a:t>
            </a:r>
            <a:r>
              <a:rPr lang="en-US" dirty="0" err="1" smtClean="0"/>
              <a:t>i</a:t>
            </a:r>
            <a:r>
              <a:rPr lang="en-US" dirty="0" smtClean="0"/>
              <a:t>) + </a:t>
            </a:r>
            <a:r>
              <a:rPr lang="en-US" dirty="0"/>
              <a:t>$126 </a:t>
            </a:r>
            <a:r>
              <a:rPr lang="en-US" dirty="0" smtClean="0"/>
              <a:t>/(</a:t>
            </a:r>
            <a:r>
              <a:rPr lang="en-US" dirty="0"/>
              <a:t>1 </a:t>
            </a:r>
            <a:r>
              <a:rPr lang="en-US" dirty="0" smtClean="0"/>
              <a:t>+</a:t>
            </a:r>
            <a:r>
              <a:rPr lang="en-US" dirty="0" err="1" smtClean="0"/>
              <a:t>i</a:t>
            </a:r>
            <a:r>
              <a:rPr lang="en-US" dirty="0" smtClean="0"/>
              <a:t> )^2 + </a:t>
            </a:r>
            <a:r>
              <a:rPr lang="en-US" dirty="0"/>
              <a:t>$126 /(1 +</a:t>
            </a:r>
            <a:r>
              <a:rPr lang="en-US" dirty="0" err="1"/>
              <a:t>i</a:t>
            </a:r>
            <a:r>
              <a:rPr lang="en-US" dirty="0"/>
              <a:t> </a:t>
            </a:r>
            <a:r>
              <a:rPr lang="en-US" dirty="0" smtClean="0"/>
              <a:t>)^3 +……+</a:t>
            </a:r>
            <a:r>
              <a:rPr lang="en-US" dirty="0"/>
              <a:t> $126 /(1 +</a:t>
            </a:r>
            <a:r>
              <a:rPr lang="en-US" dirty="0" err="1"/>
              <a:t>i</a:t>
            </a:r>
            <a:r>
              <a:rPr lang="en-US" dirty="0"/>
              <a:t> )^</a:t>
            </a:r>
            <a:r>
              <a:rPr lang="en-US" dirty="0" smtClean="0"/>
              <a:t>25 </a:t>
            </a:r>
          </a:p>
          <a:p>
            <a:r>
              <a:rPr lang="en-US" dirty="0" smtClean="0"/>
              <a:t>More </a:t>
            </a:r>
            <a:r>
              <a:rPr lang="en-US" dirty="0"/>
              <a:t>generally, for any fixed-payment loan, </a:t>
            </a:r>
            <a:endParaRPr lang="en-US" dirty="0" smtClean="0"/>
          </a:p>
          <a:p>
            <a:pPr marL="0" indent="0">
              <a:buNone/>
            </a:pPr>
            <a:r>
              <a:rPr lang="en-US" dirty="0" smtClean="0"/>
              <a:t>LV = FP /(1+ </a:t>
            </a:r>
            <a:r>
              <a:rPr lang="en-US" dirty="0" err="1" smtClean="0"/>
              <a:t>i</a:t>
            </a:r>
            <a:r>
              <a:rPr lang="en-US" dirty="0" smtClean="0"/>
              <a:t>) + FP/(</a:t>
            </a:r>
            <a:r>
              <a:rPr lang="en-US" dirty="0"/>
              <a:t>1 </a:t>
            </a:r>
            <a:r>
              <a:rPr lang="en-US" dirty="0" smtClean="0"/>
              <a:t>+ </a:t>
            </a:r>
            <a:r>
              <a:rPr lang="en-US" dirty="0" err="1" smtClean="0"/>
              <a:t>i</a:t>
            </a:r>
            <a:r>
              <a:rPr lang="en-US" dirty="0" smtClean="0"/>
              <a:t> )^2 + </a:t>
            </a:r>
            <a:r>
              <a:rPr lang="en-US" dirty="0"/>
              <a:t>FP/(1 + </a:t>
            </a:r>
            <a:r>
              <a:rPr lang="en-US" dirty="0" err="1"/>
              <a:t>i</a:t>
            </a:r>
            <a:r>
              <a:rPr lang="en-US" dirty="0"/>
              <a:t> </a:t>
            </a:r>
            <a:r>
              <a:rPr lang="en-US" dirty="0" smtClean="0"/>
              <a:t>)^3 +…..+FP /(1+ </a:t>
            </a:r>
            <a:r>
              <a:rPr lang="en-US" dirty="0" err="1"/>
              <a:t>i</a:t>
            </a:r>
            <a:r>
              <a:rPr lang="en-US" dirty="0"/>
              <a:t> </a:t>
            </a:r>
            <a:r>
              <a:rPr lang="en-US" dirty="0" smtClean="0"/>
              <a:t>)^n </a:t>
            </a:r>
          </a:p>
          <a:p>
            <a:r>
              <a:rPr lang="en-US" dirty="0" smtClean="0"/>
              <a:t>Where; LV = loan </a:t>
            </a:r>
            <a:r>
              <a:rPr lang="en-US" dirty="0"/>
              <a:t>value </a:t>
            </a:r>
            <a:endParaRPr lang="en-US" dirty="0" smtClean="0"/>
          </a:p>
          <a:p>
            <a:r>
              <a:rPr lang="en-US" dirty="0" smtClean="0"/>
              <a:t>FP = fixed </a:t>
            </a:r>
            <a:r>
              <a:rPr lang="en-US" dirty="0"/>
              <a:t>yearly payment </a:t>
            </a:r>
            <a:endParaRPr lang="en-US" dirty="0" smtClean="0"/>
          </a:p>
          <a:p>
            <a:r>
              <a:rPr lang="en-US" dirty="0" smtClean="0"/>
              <a:t>n = number </a:t>
            </a:r>
            <a:r>
              <a:rPr lang="en-US" dirty="0"/>
              <a:t>of years until maturity</a:t>
            </a:r>
            <a:endParaRPr lang="en-GB" dirty="0"/>
          </a:p>
        </p:txBody>
      </p:sp>
    </p:spTree>
    <p:extLst>
      <p:ext uri="{BB962C8B-B14F-4D97-AF65-F5344CB8AC3E}">
        <p14:creationId xmlns:p14="http://schemas.microsoft.com/office/powerpoint/2010/main" val="359887637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a:t>
            </a:r>
            <a:endParaRPr lang="en-GB" b="1" dirty="0"/>
          </a:p>
        </p:txBody>
      </p:sp>
      <p:sp>
        <p:nvSpPr>
          <p:cNvPr id="3" name="Content Placeholder 2"/>
          <p:cNvSpPr>
            <a:spLocks noGrp="1"/>
          </p:cNvSpPr>
          <p:nvPr>
            <p:ph idx="1"/>
          </p:nvPr>
        </p:nvSpPr>
        <p:spPr/>
        <p:txBody>
          <a:bodyPr>
            <a:normAutofit fontScale="92500" lnSpcReduction="10000"/>
          </a:bodyPr>
          <a:lstStyle/>
          <a:p>
            <a:r>
              <a:rPr lang="en-US" dirty="0"/>
              <a:t>For a fixed-payment loan amount, the fixed yearly payment and the number of years until maturity are known quantities, and only the yield to maturity is not. </a:t>
            </a:r>
            <a:endParaRPr lang="en-US" dirty="0" smtClean="0"/>
          </a:p>
          <a:p>
            <a:r>
              <a:rPr lang="en-US" dirty="0" smtClean="0"/>
              <a:t>So </a:t>
            </a:r>
            <a:r>
              <a:rPr lang="en-US" dirty="0"/>
              <a:t>we can solve this equation for the yield to maturity </a:t>
            </a:r>
            <a:r>
              <a:rPr lang="en-US" dirty="0" err="1"/>
              <a:t>i</a:t>
            </a:r>
            <a:r>
              <a:rPr lang="en-US" dirty="0"/>
              <a:t>. Because this calculation is not easy, many pocket calculators have programs that allow you to find </a:t>
            </a:r>
            <a:r>
              <a:rPr lang="en-US" dirty="0" err="1"/>
              <a:t>i</a:t>
            </a:r>
            <a:r>
              <a:rPr lang="en-US" dirty="0"/>
              <a:t> given the loan’s </a:t>
            </a:r>
            <a:r>
              <a:rPr lang="en-US" dirty="0" smtClean="0"/>
              <a:t>numbers </a:t>
            </a:r>
            <a:r>
              <a:rPr lang="en-US" dirty="0"/>
              <a:t>for LV, FP, and n. </a:t>
            </a:r>
            <a:endParaRPr lang="en-US" dirty="0" smtClean="0"/>
          </a:p>
          <a:p>
            <a:r>
              <a:rPr lang="en-US" dirty="0" smtClean="0"/>
              <a:t>For </a:t>
            </a:r>
            <a:r>
              <a:rPr lang="en-US" dirty="0"/>
              <a:t>example, in the case of the 25-year loan with yearly payments of $126, the yield to maturity that solves Equation 2 is 12%. </a:t>
            </a:r>
            <a:endParaRPr lang="en-US" dirty="0" smtClean="0"/>
          </a:p>
          <a:p>
            <a:r>
              <a:rPr lang="en-US" dirty="0" smtClean="0"/>
              <a:t>Real </a:t>
            </a:r>
            <a:r>
              <a:rPr lang="en-US" dirty="0"/>
              <a:t>estate brokers always have a pocket calculator that can solve such equations so that they can immediately tell the prospective house buyer exactly what the yearly (or monthly) payments will be if the house purchase is financed by taking out a mortgage</a:t>
            </a:r>
            <a:endParaRPr lang="en-GB" dirty="0"/>
          </a:p>
        </p:txBody>
      </p:sp>
    </p:spTree>
    <p:extLst>
      <p:ext uri="{BB962C8B-B14F-4D97-AF65-F5344CB8AC3E}">
        <p14:creationId xmlns:p14="http://schemas.microsoft.com/office/powerpoint/2010/main" val="179032441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effectLst>
                  <a:outerShdw blurRad="38100" dist="38100" dir="2700000" algn="tl">
                    <a:srgbClr val="000000">
                      <a:alpha val="43137"/>
                    </a:srgbClr>
                  </a:outerShdw>
                </a:effectLst>
              </a:rPr>
              <a:t/>
            </a:r>
            <a:br>
              <a:rPr lang="en-US" b="1" dirty="0" smtClean="0">
                <a:effectLst>
                  <a:outerShdw blurRad="38100" dist="38100" dir="2700000" algn="tl">
                    <a:srgbClr val="000000">
                      <a:alpha val="43137"/>
                    </a:srgbClr>
                  </a:outerShdw>
                </a:effectLst>
              </a:rPr>
            </a:br>
            <a:r>
              <a:rPr lang="en-US" b="1" dirty="0">
                <a:effectLst>
                  <a:outerShdw blurRad="38100" dist="38100" dir="2700000" algn="tl">
                    <a:srgbClr val="000000">
                      <a:alpha val="43137"/>
                    </a:srgbClr>
                  </a:outerShdw>
                </a:effectLst>
              </a:rPr>
              <a:t/>
            </a:r>
            <a:br>
              <a:rPr lang="en-US" b="1" dirty="0">
                <a:effectLst>
                  <a:outerShdw blurRad="38100" dist="38100" dir="2700000" algn="tl">
                    <a:srgbClr val="000000">
                      <a:alpha val="43137"/>
                    </a:srgbClr>
                  </a:outerShdw>
                </a:effectLst>
              </a:rPr>
            </a:br>
            <a:r>
              <a:rPr lang="en-US" b="1" dirty="0" smtClean="0">
                <a:effectLst>
                  <a:outerShdw blurRad="38100" dist="38100" dir="2700000" algn="tl">
                    <a:srgbClr val="000000">
                      <a:alpha val="43137"/>
                    </a:srgbClr>
                  </a:outerShdw>
                </a:effectLst>
              </a:rPr>
              <a:t>Rate </a:t>
            </a:r>
            <a:r>
              <a:rPr lang="en-US" b="1" dirty="0">
                <a:effectLst>
                  <a:outerShdw blurRad="38100" dist="38100" dir="2700000" algn="tl">
                    <a:srgbClr val="000000">
                      <a:alpha val="43137"/>
                    </a:srgbClr>
                  </a:outerShdw>
                </a:effectLst>
              </a:rPr>
              <a:t>of Return And Discounted Cash Flow Method</a:t>
            </a:r>
            <a:br>
              <a:rPr lang="en-US" b="1" dirty="0">
                <a:effectLst>
                  <a:outerShdw blurRad="38100" dist="38100" dir="2700000" algn="tl">
                    <a:srgbClr val="000000">
                      <a:alpha val="43137"/>
                    </a:srgbClr>
                  </a:outerShdw>
                </a:effectLst>
              </a:rPr>
            </a:br>
            <a:r>
              <a:rPr lang="en-US" b="1" dirty="0">
                <a:effectLst>
                  <a:outerShdw blurRad="38100" dist="38100" dir="2700000" algn="tl">
                    <a:srgbClr val="000000">
                      <a:alpha val="43137"/>
                    </a:srgbClr>
                  </a:outerShdw>
                </a:effectLst>
              </a:rPr>
              <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85000" lnSpcReduction="20000"/>
          </a:bodyPr>
          <a:lstStyle/>
          <a:p>
            <a:r>
              <a:rPr lang="en-US" b="1" dirty="0" smtClean="0"/>
              <a:t>Example on DCF</a:t>
            </a:r>
          </a:p>
          <a:p>
            <a:r>
              <a:rPr lang="en-US" dirty="0" smtClean="0"/>
              <a:t>Estimate </a:t>
            </a:r>
            <a:r>
              <a:rPr lang="en-US" dirty="0"/>
              <a:t>the value of the equity of a firm using the DCF method.  Assume the firm has the following cash flows to equity for the next five years:</a:t>
            </a:r>
          </a:p>
          <a:p>
            <a:r>
              <a:rPr lang="en-US" dirty="0"/>
              <a:t>Year 1: $80</a:t>
            </a:r>
          </a:p>
          <a:p>
            <a:r>
              <a:rPr lang="en-US" dirty="0"/>
              <a:t>Year 2: $90</a:t>
            </a:r>
          </a:p>
          <a:p>
            <a:r>
              <a:rPr lang="en-US" dirty="0"/>
              <a:t>Year 3: $110</a:t>
            </a:r>
          </a:p>
          <a:p>
            <a:r>
              <a:rPr lang="en-US" dirty="0"/>
              <a:t>Year 4: $130</a:t>
            </a:r>
          </a:p>
          <a:p>
            <a:r>
              <a:rPr lang="en-US" dirty="0"/>
              <a:t>Year 5: $150</a:t>
            </a:r>
          </a:p>
          <a:p>
            <a:r>
              <a:rPr lang="en-US" dirty="0"/>
              <a:t>The cost of equity is 12.5%, and the </a:t>
            </a:r>
            <a:r>
              <a:rPr lang="en-US" dirty="0" smtClean="0"/>
              <a:t>firm </a:t>
            </a:r>
            <a:r>
              <a:rPr lang="en-US" dirty="0"/>
              <a:t>can borrow long-term at 9% (pre-tax). The tax rate for the firm is 40%. </a:t>
            </a:r>
            <a:endParaRPr lang="en-US" dirty="0" smtClean="0"/>
          </a:p>
          <a:p>
            <a:r>
              <a:rPr lang="en-US" dirty="0" smtClean="0"/>
              <a:t>Assume </a:t>
            </a:r>
            <a:r>
              <a:rPr lang="en-US" dirty="0"/>
              <a:t>a perpetual growth rate of 2 percent after year 5.</a:t>
            </a:r>
          </a:p>
          <a:p>
            <a:r>
              <a:rPr lang="en-US" dirty="0"/>
              <a:t>Show your calculations</a:t>
            </a:r>
          </a:p>
        </p:txBody>
      </p:sp>
    </p:spTree>
    <p:extLst>
      <p:ext uri="{BB962C8B-B14F-4D97-AF65-F5344CB8AC3E}">
        <p14:creationId xmlns:p14="http://schemas.microsoft.com/office/powerpoint/2010/main" val="341830508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SOLUTIONS</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a:t>To estimate the value of the equity of the firm using the Discounted Cash Flow (DCF) method, follow these steps</a:t>
            </a:r>
            <a:r>
              <a:rPr lang="en-US" dirty="0" smtClean="0"/>
              <a:t>:</a:t>
            </a:r>
            <a:r>
              <a:rPr lang="en-US" b="1" dirty="0"/>
              <a:t> </a:t>
            </a:r>
            <a:endParaRPr lang="en-US" dirty="0"/>
          </a:p>
          <a:p>
            <a:r>
              <a:rPr lang="en-US" dirty="0"/>
              <a:t>1.Calculate the present value of the cash flows to equity for each year.</a:t>
            </a:r>
          </a:p>
          <a:p>
            <a:r>
              <a:rPr lang="en-US" dirty="0"/>
              <a:t>2.Determine the terminal value of equity at the end of Year 5.</a:t>
            </a:r>
          </a:p>
          <a:p>
            <a:r>
              <a:rPr lang="en-US" dirty="0"/>
              <a:t>3.Discount the terminal value of  equity to its present value.</a:t>
            </a:r>
          </a:p>
          <a:p>
            <a:r>
              <a:rPr lang="en-US" dirty="0"/>
              <a:t>4.Add the present values of the cash flows and the terminal value to find the total value of equity.</a:t>
            </a:r>
          </a:p>
          <a:p>
            <a:endParaRPr lang="en-US" dirty="0"/>
          </a:p>
        </p:txBody>
      </p:sp>
    </p:spTree>
    <p:extLst>
      <p:ext uri="{BB962C8B-B14F-4D97-AF65-F5344CB8AC3E}">
        <p14:creationId xmlns:p14="http://schemas.microsoft.com/office/powerpoint/2010/main" val="261812791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Present Value of Cash Flows to Equity:</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Year </a:t>
            </a:r>
            <a:r>
              <a:rPr lang="en-US" dirty="0"/>
              <a:t>1: PV1 = $80 / (1 + 0.125)^1 = $71.11</a:t>
            </a:r>
          </a:p>
          <a:p>
            <a:r>
              <a:rPr lang="en-US" dirty="0"/>
              <a:t>Year 2: PV2 = $90 / (1 + 0.125)^2 = $</a:t>
            </a:r>
            <a:r>
              <a:rPr lang="en-US" dirty="0" smtClean="0"/>
              <a:t>71.11</a:t>
            </a:r>
            <a:endParaRPr lang="en-US" dirty="0"/>
          </a:p>
          <a:p>
            <a:r>
              <a:rPr lang="en-US" dirty="0"/>
              <a:t>Year 3: PV3 = $110 / (1 + 0.125)^3 = $</a:t>
            </a:r>
            <a:r>
              <a:rPr lang="en-US" dirty="0" smtClean="0"/>
              <a:t>77.26</a:t>
            </a:r>
            <a:endParaRPr lang="en-US" dirty="0"/>
          </a:p>
          <a:p>
            <a:r>
              <a:rPr lang="en-US" dirty="0"/>
              <a:t>Year 4: PV4 = $130 / (1 + 0.125)^4 = $</a:t>
            </a:r>
            <a:r>
              <a:rPr lang="en-US" dirty="0" smtClean="0"/>
              <a:t>81.16</a:t>
            </a:r>
            <a:endParaRPr lang="en-US" dirty="0"/>
          </a:p>
          <a:p>
            <a:r>
              <a:rPr lang="en-US" dirty="0"/>
              <a:t>Year 5: PV5 = $150 / (1 + 0.125)^5 = $</a:t>
            </a:r>
            <a:r>
              <a:rPr lang="en-US" dirty="0" smtClean="0"/>
              <a:t>83.24</a:t>
            </a:r>
          </a:p>
          <a:p>
            <a:pPr marL="0" indent="0">
              <a:buNone/>
            </a:pPr>
            <a:endParaRPr lang="en-US" dirty="0"/>
          </a:p>
          <a:p>
            <a:endParaRPr lang="en-US" dirty="0"/>
          </a:p>
        </p:txBody>
      </p:sp>
    </p:spTree>
    <p:extLst>
      <p:ext uri="{BB962C8B-B14F-4D97-AF65-F5344CB8AC3E}">
        <p14:creationId xmlns:p14="http://schemas.microsoft.com/office/powerpoint/2010/main" val="34275438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Terminal Value:</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dirty="0" smtClean="0"/>
              <a:t>Using </a:t>
            </a:r>
            <a:r>
              <a:rPr lang="en-US" dirty="0"/>
              <a:t>the perpetuity growth model: TV = (CF5 × (1 + g)) / (r - g)</a:t>
            </a:r>
          </a:p>
          <a:p>
            <a:r>
              <a:rPr lang="en-US" dirty="0"/>
              <a:t>CF5 = Cash flow in Year 5 = $150</a:t>
            </a:r>
          </a:p>
          <a:p>
            <a:r>
              <a:rPr lang="en-US" dirty="0"/>
              <a:t>g = Long-term growth rate (assumed to be 2%)</a:t>
            </a:r>
          </a:p>
          <a:p>
            <a:r>
              <a:rPr lang="en-US" dirty="0"/>
              <a:t>r = Cost of equity = 12.5%</a:t>
            </a:r>
          </a:p>
          <a:p>
            <a:r>
              <a:rPr lang="en-US" dirty="0"/>
              <a:t>TV = ($150 × (1 + 0.02)) / (0.125 - 0.02) = $1,436.36</a:t>
            </a:r>
          </a:p>
          <a:p>
            <a:r>
              <a:rPr lang="en-US" dirty="0"/>
              <a:t>Discounting Terminal Value and Cash Flows:</a:t>
            </a:r>
          </a:p>
          <a:p>
            <a:r>
              <a:rPr lang="en-US" dirty="0"/>
              <a:t>Discounted Terminal Value = $</a:t>
            </a:r>
            <a:r>
              <a:rPr lang="en-US" dirty="0" smtClean="0"/>
              <a:t>1,457.14 </a:t>
            </a:r>
            <a:r>
              <a:rPr lang="en-US" dirty="0"/>
              <a:t>/ (1 + 0.125)^5 = </a:t>
            </a:r>
            <a:r>
              <a:rPr lang="en-US" dirty="0" smtClean="0"/>
              <a:t>$</a:t>
            </a:r>
            <a:r>
              <a:rPr lang="en-US" dirty="0" smtClean="0"/>
              <a:t>808.61</a:t>
            </a:r>
            <a:endParaRPr lang="en-US" dirty="0"/>
          </a:p>
          <a:p>
            <a:r>
              <a:rPr lang="en-US" dirty="0"/>
              <a:t>Total Discounted Cash Flows = PV1 + PV2 + PV3 + PV4 + PV5 = </a:t>
            </a:r>
          </a:p>
          <a:p>
            <a:endParaRPr lang="en-US" dirty="0"/>
          </a:p>
        </p:txBody>
      </p:sp>
    </p:spTree>
    <p:extLst>
      <p:ext uri="{BB962C8B-B14F-4D97-AF65-F5344CB8AC3E}">
        <p14:creationId xmlns:p14="http://schemas.microsoft.com/office/powerpoint/2010/main" val="35490045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Calculate Equity Value:</a:t>
            </a:r>
            <a:br>
              <a:rPr lang="en-US" b="1" dirty="0"/>
            </a:br>
            <a:endParaRPr lang="en-US" b="1" dirty="0"/>
          </a:p>
        </p:txBody>
      </p:sp>
      <p:sp>
        <p:nvSpPr>
          <p:cNvPr id="3" name="Content Placeholder 2"/>
          <p:cNvSpPr>
            <a:spLocks noGrp="1"/>
          </p:cNvSpPr>
          <p:nvPr>
            <p:ph idx="1"/>
          </p:nvPr>
        </p:nvSpPr>
        <p:spPr/>
        <p:txBody>
          <a:bodyPr/>
          <a:lstStyle/>
          <a:p>
            <a:r>
              <a:rPr lang="en-US" dirty="0" smtClean="0"/>
              <a:t>Equity </a:t>
            </a:r>
            <a:r>
              <a:rPr lang="en-US" dirty="0"/>
              <a:t>Value = Discounted Terminal Value + Total Discounted Cash Flows</a:t>
            </a:r>
          </a:p>
          <a:p>
            <a:r>
              <a:rPr lang="en-US" dirty="0"/>
              <a:t>= </a:t>
            </a:r>
            <a:r>
              <a:rPr lang="en-US" dirty="0" smtClean="0"/>
              <a:t>$</a:t>
            </a:r>
            <a:r>
              <a:rPr lang="en-US" dirty="0" smtClean="0"/>
              <a:t>808</a:t>
            </a:r>
            <a:r>
              <a:rPr lang="en-US" dirty="0" smtClean="0"/>
              <a:t>.61 </a:t>
            </a:r>
            <a:r>
              <a:rPr lang="en-US" dirty="0"/>
              <a:t>+ </a:t>
            </a:r>
            <a:r>
              <a:rPr lang="en-US" dirty="0" smtClean="0"/>
              <a:t>$</a:t>
            </a:r>
            <a:r>
              <a:rPr lang="en-US" dirty="0" smtClean="0"/>
              <a:t>383.86</a:t>
            </a:r>
            <a:endParaRPr lang="en-US" dirty="0"/>
          </a:p>
          <a:p>
            <a:r>
              <a:rPr lang="en-US" dirty="0"/>
              <a:t>= </a:t>
            </a:r>
            <a:r>
              <a:rPr lang="en-US" dirty="0" smtClean="0"/>
              <a:t>$</a:t>
            </a:r>
            <a:r>
              <a:rPr lang="en-US" dirty="0" smtClean="0"/>
              <a:t>1192.47</a:t>
            </a:r>
            <a:endParaRPr lang="en-US" dirty="0"/>
          </a:p>
          <a:p>
            <a:r>
              <a:rPr lang="en-US" dirty="0"/>
              <a:t>Therefore, the estimated value of the equity of the firm using the DCF method is approximately $</a:t>
            </a:r>
            <a:r>
              <a:rPr lang="en-US" dirty="0" smtClean="0"/>
              <a:t>1,192.47.</a:t>
            </a:r>
            <a:endParaRPr lang="en-US" dirty="0"/>
          </a:p>
          <a:p>
            <a:endParaRPr lang="en-US" dirty="0"/>
          </a:p>
        </p:txBody>
      </p:sp>
    </p:spTree>
    <p:extLst>
      <p:ext uri="{BB962C8B-B14F-4D97-AF65-F5344CB8AC3E}">
        <p14:creationId xmlns:p14="http://schemas.microsoft.com/office/powerpoint/2010/main" val="50673815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PRACTICE QUESTION</a:t>
            </a:r>
            <a:endParaRPr lang="en-GB" b="1" dirty="0"/>
          </a:p>
        </p:txBody>
      </p:sp>
      <p:sp>
        <p:nvSpPr>
          <p:cNvPr id="3" name="Content Placeholder 2"/>
          <p:cNvSpPr>
            <a:spLocks noGrp="1"/>
          </p:cNvSpPr>
          <p:nvPr>
            <p:ph idx="1"/>
          </p:nvPr>
        </p:nvSpPr>
        <p:spPr/>
        <p:txBody>
          <a:bodyPr/>
          <a:lstStyle/>
          <a:p>
            <a:r>
              <a:rPr lang="en-US" dirty="0" smtClean="0"/>
              <a:t>A business is due K10,000 from a customer and a customer has agreed to make the payment in 90days time. The business approaches a debt factor who agrees to pay the amount due now less a discount rate of 10%, calculate;</a:t>
            </a:r>
          </a:p>
          <a:p>
            <a:r>
              <a:rPr lang="en-US" dirty="0" smtClean="0"/>
              <a:t>A) The discount charged</a:t>
            </a:r>
          </a:p>
          <a:p>
            <a:r>
              <a:rPr lang="en-US" dirty="0" smtClean="0"/>
              <a:t>B) What interest rate does the discount charged represent? </a:t>
            </a:r>
          </a:p>
          <a:p>
            <a:r>
              <a:rPr lang="en-US" dirty="0" smtClean="0"/>
              <a:t>Solution:</a:t>
            </a:r>
          </a:p>
          <a:p>
            <a:r>
              <a:rPr lang="en-US" dirty="0" smtClean="0"/>
              <a:t>Apply Simple Interest formula payable on monthly basis to calculate the discount factor: DF = Amount Due*Rate*Time (In days)</a:t>
            </a:r>
          </a:p>
          <a:p>
            <a:endParaRPr lang="en-GB" dirty="0"/>
          </a:p>
        </p:txBody>
      </p:sp>
    </p:spTree>
    <p:extLst>
      <p:ext uri="{BB962C8B-B14F-4D97-AF65-F5344CB8AC3E}">
        <p14:creationId xmlns:p14="http://schemas.microsoft.com/office/powerpoint/2010/main" val="37782617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Solution Continues</a:t>
            </a:r>
            <a:endParaRPr lang="en-GB" b="1" dirty="0"/>
          </a:p>
        </p:txBody>
      </p:sp>
      <p:sp>
        <p:nvSpPr>
          <p:cNvPr id="3" name="Content Placeholder 2"/>
          <p:cNvSpPr>
            <a:spLocks noGrp="1"/>
          </p:cNvSpPr>
          <p:nvPr>
            <p:ph idx="1"/>
          </p:nvPr>
        </p:nvSpPr>
        <p:spPr/>
        <p:txBody>
          <a:bodyPr>
            <a:normAutofit fontScale="92500"/>
          </a:bodyPr>
          <a:lstStyle/>
          <a:p>
            <a:r>
              <a:rPr lang="en-US" dirty="0" smtClean="0"/>
              <a:t>Discount Factor (DF) = 10,000*10%*(90/365)</a:t>
            </a:r>
          </a:p>
          <a:p>
            <a:r>
              <a:rPr lang="en-US" dirty="0" smtClean="0"/>
              <a:t>DF =K246.58</a:t>
            </a:r>
          </a:p>
          <a:p>
            <a:r>
              <a:rPr lang="en-US" dirty="0" smtClean="0"/>
              <a:t>What is the Amount (A) to be paid? 10,000 – 246.58 = K9,753.42</a:t>
            </a:r>
          </a:p>
          <a:p>
            <a:r>
              <a:rPr lang="en-US" dirty="0" smtClean="0"/>
              <a:t>B) The debt factor will pay the business K10,000 less K246.58 which is K9,753.42.</a:t>
            </a:r>
          </a:p>
          <a:p>
            <a:r>
              <a:rPr lang="en-US" dirty="0" smtClean="0"/>
              <a:t>However K246.58 does not represent a charge based on the amount of the advance (K9,753.42). Rather, it is based on the higher original amount of the customer’s debt of K10,000. As a proportion of K9,753.42 advanced by the debt factor, K246.58 represents an interest rate of 10.25%. Calculated as r = DF/(A+T) = 246.58/(9,753.42*(90/365) = 10.25%</a:t>
            </a:r>
            <a:endParaRPr lang="en-GB" dirty="0"/>
          </a:p>
        </p:txBody>
      </p:sp>
    </p:spTree>
    <p:extLst>
      <p:ext uri="{BB962C8B-B14F-4D97-AF65-F5344CB8AC3E}">
        <p14:creationId xmlns:p14="http://schemas.microsoft.com/office/powerpoint/2010/main" val="38654397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effectLst>
                  <a:outerShdw blurRad="38100" dist="38100" dir="2700000" algn="tl">
                    <a:srgbClr val="000000">
                      <a:alpha val="43137"/>
                    </a:srgbClr>
                  </a:outerShdw>
                </a:effectLst>
              </a:rPr>
              <a:t/>
            </a:r>
            <a:br>
              <a:rPr lang="en-US" b="1" dirty="0">
                <a:effectLst>
                  <a:outerShdw blurRad="38100" dist="38100" dir="2700000" algn="tl">
                    <a:srgbClr val="000000">
                      <a:alpha val="43137"/>
                    </a:srgbClr>
                  </a:outerShdw>
                </a:effectLst>
              </a:rPr>
            </a:br>
            <a:r>
              <a:rPr lang="en-US" b="1" dirty="0">
                <a:effectLst>
                  <a:outerShdw blurRad="38100" dist="38100" dir="2700000" algn="tl">
                    <a:srgbClr val="000000">
                      <a:alpha val="43137"/>
                    </a:srgbClr>
                  </a:outerShdw>
                </a:effectLst>
              </a:rPr>
              <a:t>Present value of perpetual annual and periodic series</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CONSTANT PERPETUITIES (ANNUAL VS PERIODIC)</a:t>
            </a:r>
          </a:p>
          <a:p>
            <a:r>
              <a:rPr lang="en-US" dirty="0" smtClean="0"/>
              <a:t>When equal fixed amount is paid at regular intervals  forever, this is a standard constant perpetuity. The frequency of the payments determines whether it is annual (paid once a year) or periodic (paid multiple times a year, like monthly or </a:t>
            </a:r>
            <a:r>
              <a:rPr lang="en-US" dirty="0" err="1" smtClean="0"/>
              <a:t>quartery</a:t>
            </a:r>
            <a:r>
              <a:rPr lang="en-US" dirty="0" smtClean="0"/>
              <a:t>.</a:t>
            </a:r>
          </a:p>
          <a:p>
            <a:r>
              <a:rPr lang="en-US" dirty="0" smtClean="0"/>
              <a:t>Formula: PV = C/r. where PV is present value, C = Cash Flow (Payment amount) and r = Discount rate the required rate of return or interest rate expressed as a decimal. </a:t>
            </a:r>
            <a:endParaRPr lang="en-US" dirty="0"/>
          </a:p>
        </p:txBody>
      </p:sp>
    </p:spTree>
    <p:extLst>
      <p:ext uri="{BB962C8B-B14F-4D97-AF65-F5344CB8AC3E}">
        <p14:creationId xmlns:p14="http://schemas.microsoft.com/office/powerpoint/2010/main" val="115977863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Examples </a:t>
            </a:r>
            <a:endParaRPr lang="en-GB" b="1" dirty="0"/>
          </a:p>
        </p:txBody>
      </p:sp>
      <p:sp>
        <p:nvSpPr>
          <p:cNvPr id="3" name="Content Placeholder 2"/>
          <p:cNvSpPr>
            <a:spLocks noGrp="1"/>
          </p:cNvSpPr>
          <p:nvPr>
            <p:ph idx="1"/>
          </p:nvPr>
        </p:nvSpPr>
        <p:spPr/>
        <p:txBody>
          <a:bodyPr/>
          <a:lstStyle/>
          <a:p>
            <a:r>
              <a:rPr lang="en-US" b="1" dirty="0" smtClean="0"/>
              <a:t>Annual Series: </a:t>
            </a:r>
            <a:r>
              <a:rPr lang="en-US" dirty="0" smtClean="0"/>
              <a:t>Imagine you want to endow an annual university scholarship that awards K5,000 every year forever. If the discount (interest) rate is 6% (0.06), the present value (Amount you need to deposit today is? </a:t>
            </a:r>
          </a:p>
          <a:p>
            <a:r>
              <a:rPr lang="en-US" dirty="0" smtClean="0"/>
              <a:t>PV = K5,000/0.06 = K83,333.33</a:t>
            </a:r>
          </a:p>
          <a:p>
            <a:r>
              <a:rPr lang="en-US" b="1" dirty="0" smtClean="0"/>
              <a:t>Periodic (Monthly) series: </a:t>
            </a:r>
            <a:r>
              <a:rPr lang="en-US" dirty="0" smtClean="0"/>
              <a:t>A trust fund guarantees you a payout of K1000 per month forever, Assuming an annual discount rate of 12%,. Calculate the present value .</a:t>
            </a:r>
          </a:p>
          <a:p>
            <a:r>
              <a:rPr lang="en-US" dirty="0" smtClean="0"/>
              <a:t>Solution: PV = K1000/(0.12/12) = K100,000 interest is reduced to monthly. </a:t>
            </a:r>
            <a:endParaRPr lang="en-GB" dirty="0"/>
          </a:p>
        </p:txBody>
      </p:sp>
    </p:spTree>
    <p:extLst>
      <p:ext uri="{BB962C8B-B14F-4D97-AF65-F5344CB8AC3E}">
        <p14:creationId xmlns:p14="http://schemas.microsoft.com/office/powerpoint/2010/main" val="26918431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effectLst>
                  <a:outerShdw blurRad="38100" dist="38100" dir="2700000" algn="tl">
                    <a:srgbClr val="000000">
                      <a:alpha val="43137"/>
                    </a:srgbClr>
                  </a:outerShdw>
                </a:effectLst>
              </a:rPr>
              <a:t/>
            </a:r>
            <a:br>
              <a:rPr lang="en-US" b="1" dirty="0">
                <a:effectLst>
                  <a:outerShdw blurRad="38100" dist="38100" dir="2700000" algn="tl">
                    <a:srgbClr val="000000">
                      <a:alpha val="43137"/>
                    </a:srgbClr>
                  </a:outerShdw>
                </a:effectLst>
              </a:rPr>
            </a:br>
            <a:r>
              <a:rPr lang="en-US" b="1" dirty="0">
                <a:effectLst>
                  <a:outerShdw blurRad="38100" dist="38100" dir="2700000" algn="tl">
                    <a:srgbClr val="000000">
                      <a:alpha val="43137"/>
                    </a:srgbClr>
                  </a:outerShdw>
                </a:effectLst>
              </a:rPr>
              <a:t>Present value of terminating annual and periodic </a:t>
            </a:r>
            <a:r>
              <a:rPr lang="en-US" b="1" dirty="0" smtClean="0">
                <a:effectLst>
                  <a:outerShdw blurRad="38100" dist="38100" dir="2700000" algn="tl">
                    <a:srgbClr val="000000">
                      <a:alpha val="43137"/>
                    </a:srgbClr>
                  </a:outerShdw>
                </a:effectLst>
              </a:rPr>
              <a:t>series</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PV of terminating cash flows represent the current worth of finite sequence of </a:t>
            </a:r>
            <a:r>
              <a:rPr lang="en-US" dirty="0" err="1" smtClean="0"/>
              <a:t>furture</a:t>
            </a:r>
            <a:r>
              <a:rPr lang="en-US" dirty="0" smtClean="0"/>
              <a:t> payments, discounted at a specific interest rate.</a:t>
            </a:r>
          </a:p>
          <a:p>
            <a:r>
              <a:rPr lang="en-US" dirty="0" smtClean="0"/>
              <a:t>These series gradually falls into categories: </a:t>
            </a:r>
          </a:p>
          <a:p>
            <a:r>
              <a:rPr lang="en-US" dirty="0" smtClean="0"/>
              <a:t>Annual cash flows and periodic cash flows.</a:t>
            </a:r>
          </a:p>
          <a:p>
            <a:r>
              <a:rPr lang="en-US" dirty="0" smtClean="0"/>
              <a:t>Terminating Annual Series (Ordinary Annuity)</a:t>
            </a:r>
          </a:p>
          <a:p>
            <a:r>
              <a:rPr lang="en-US" dirty="0" smtClean="0"/>
              <a:t>Here annual series involves equal payments made at the end of each year for a fixed number of years. </a:t>
            </a:r>
            <a:endParaRPr lang="en-US" dirty="0"/>
          </a:p>
        </p:txBody>
      </p:sp>
    </p:spTree>
    <p:extLst>
      <p:ext uri="{BB962C8B-B14F-4D97-AF65-F5344CB8AC3E}">
        <p14:creationId xmlns:p14="http://schemas.microsoft.com/office/powerpoint/2010/main" val="324307949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Formula.</a:t>
            </a:r>
            <a:endParaRPr lang="en-GB" dirty="0"/>
          </a:p>
        </p:txBody>
      </p:sp>
      <p:sp>
        <p:nvSpPr>
          <p:cNvPr id="3" name="Content Placeholder 2"/>
          <p:cNvSpPr>
            <a:spLocks noGrp="1"/>
          </p:cNvSpPr>
          <p:nvPr>
            <p:ph idx="1"/>
          </p:nvPr>
        </p:nvSpPr>
        <p:spPr/>
        <p:txBody>
          <a:bodyPr/>
          <a:lstStyle/>
          <a:p>
            <a:r>
              <a:rPr lang="en-US" dirty="0" smtClean="0"/>
              <a:t>PV = PMT x [(1-(1+r)^-n))/r]</a:t>
            </a:r>
          </a:p>
          <a:p>
            <a:r>
              <a:rPr lang="en-US" dirty="0" smtClean="0"/>
              <a:t>Where PV is present value. </a:t>
            </a:r>
          </a:p>
          <a:p>
            <a:r>
              <a:rPr lang="en-US" dirty="0" smtClean="0"/>
              <a:t>PMT is Annual Payment</a:t>
            </a:r>
          </a:p>
          <a:p>
            <a:r>
              <a:rPr lang="en-US" dirty="0" smtClean="0"/>
              <a:t>R is interest rate (as decimal)</a:t>
            </a:r>
          </a:p>
          <a:p>
            <a:r>
              <a:rPr lang="en-US" dirty="0" smtClean="0"/>
              <a:t>n is Total Number of Years.</a:t>
            </a:r>
          </a:p>
          <a:p>
            <a:r>
              <a:rPr lang="en-US" dirty="0" smtClean="0"/>
              <a:t>Example: You are promised an annual payout from your timber investment project of $5000 at the end of the year each year for 4 years. If the annual discount rate is 6%, what is the series worth to you today?</a:t>
            </a:r>
            <a:endParaRPr lang="en-GB" dirty="0"/>
          </a:p>
        </p:txBody>
      </p:sp>
    </p:spTree>
    <p:extLst>
      <p:ext uri="{BB962C8B-B14F-4D97-AF65-F5344CB8AC3E}">
        <p14:creationId xmlns:p14="http://schemas.microsoft.com/office/powerpoint/2010/main" val="9964793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Solutions</a:t>
            </a:r>
            <a:endParaRPr lang="en-GB" b="1" dirty="0"/>
          </a:p>
        </p:txBody>
      </p:sp>
      <p:sp>
        <p:nvSpPr>
          <p:cNvPr id="3" name="Content Placeholder 2"/>
          <p:cNvSpPr>
            <a:spLocks noGrp="1"/>
          </p:cNvSpPr>
          <p:nvPr>
            <p:ph idx="1"/>
          </p:nvPr>
        </p:nvSpPr>
        <p:spPr/>
        <p:txBody>
          <a:bodyPr/>
          <a:lstStyle/>
          <a:p>
            <a:r>
              <a:rPr lang="en-US" dirty="0" smtClean="0"/>
              <a:t>PMT = 5000</a:t>
            </a:r>
          </a:p>
          <a:p>
            <a:r>
              <a:rPr lang="en-US" dirty="0"/>
              <a:t>r</a:t>
            </a:r>
            <a:r>
              <a:rPr lang="en-US" dirty="0" smtClean="0"/>
              <a:t> = 0.06</a:t>
            </a:r>
          </a:p>
          <a:p>
            <a:r>
              <a:rPr lang="en-US" dirty="0" smtClean="0"/>
              <a:t>n=4</a:t>
            </a:r>
          </a:p>
          <a:p>
            <a:r>
              <a:rPr lang="en-US" dirty="0" smtClean="0"/>
              <a:t>PV = 5000 X [(1-(1+0.06)^-4)/0.06]</a:t>
            </a:r>
          </a:p>
          <a:p>
            <a:r>
              <a:rPr lang="en-US" dirty="0" smtClean="0"/>
              <a:t>PV = 5000 x [(1-0.792094)/0.06]</a:t>
            </a:r>
          </a:p>
          <a:p>
            <a:r>
              <a:rPr lang="en-US" dirty="0" smtClean="0"/>
              <a:t>PV = 5000 x 3.465106</a:t>
            </a:r>
          </a:p>
          <a:p>
            <a:r>
              <a:rPr lang="en-US" dirty="0" smtClean="0"/>
              <a:t>PV = 17,325.53.</a:t>
            </a:r>
            <a:endParaRPr lang="en-GB" dirty="0"/>
          </a:p>
        </p:txBody>
      </p:sp>
    </p:spTree>
    <p:extLst>
      <p:ext uri="{BB962C8B-B14F-4D97-AF65-F5344CB8AC3E}">
        <p14:creationId xmlns:p14="http://schemas.microsoft.com/office/powerpoint/2010/main" val="14926166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PERIODIC</a:t>
            </a:r>
            <a:endParaRPr lang="en-GB" b="1" dirty="0"/>
          </a:p>
        </p:txBody>
      </p:sp>
      <p:sp>
        <p:nvSpPr>
          <p:cNvPr id="3" name="Content Placeholder 2"/>
          <p:cNvSpPr>
            <a:spLocks noGrp="1"/>
          </p:cNvSpPr>
          <p:nvPr>
            <p:ph idx="1"/>
          </p:nvPr>
        </p:nvSpPr>
        <p:spPr/>
        <p:txBody>
          <a:bodyPr>
            <a:normAutofit lnSpcReduction="10000"/>
          </a:bodyPr>
          <a:lstStyle/>
          <a:p>
            <a:r>
              <a:rPr lang="en-US" dirty="0" smtClean="0"/>
              <a:t>A periodic series involves equal payments made multiples times</a:t>
            </a:r>
          </a:p>
          <a:p>
            <a:r>
              <a:rPr lang="en-US" dirty="0" smtClean="0"/>
              <a:t>Formula:</a:t>
            </a:r>
          </a:p>
          <a:p>
            <a:r>
              <a:rPr lang="en-US" dirty="0" smtClean="0"/>
              <a:t>Payments occur m times per year. </a:t>
            </a:r>
          </a:p>
          <a:p>
            <a:r>
              <a:rPr lang="en-US" dirty="0" smtClean="0"/>
              <a:t>FORMULA</a:t>
            </a:r>
          </a:p>
          <a:p>
            <a:r>
              <a:rPr lang="en-US" dirty="0"/>
              <a:t>PV = PMT x [(1-(</a:t>
            </a:r>
            <a:r>
              <a:rPr lang="en-US" dirty="0" smtClean="0"/>
              <a:t>1+r/m)^-(n x m))/r/m]</a:t>
            </a:r>
          </a:p>
          <a:p>
            <a:r>
              <a:rPr lang="en-US" dirty="0" smtClean="0"/>
              <a:t>Where; PMT = Periodic Payment Amount</a:t>
            </a:r>
          </a:p>
          <a:p>
            <a:r>
              <a:rPr lang="en-US" dirty="0" smtClean="0"/>
              <a:t>r = Annual interest rate (nominal rate)</a:t>
            </a:r>
          </a:p>
          <a:p>
            <a:r>
              <a:rPr lang="en-US" dirty="0" smtClean="0"/>
              <a:t>m = Number of compounding periods per year</a:t>
            </a:r>
          </a:p>
          <a:p>
            <a:r>
              <a:rPr lang="en-US" dirty="0" smtClean="0"/>
              <a:t>n = Total Number of Years.</a:t>
            </a:r>
            <a:endParaRPr lang="en-US" dirty="0"/>
          </a:p>
          <a:p>
            <a:endParaRPr lang="en-US" dirty="0" smtClean="0"/>
          </a:p>
          <a:p>
            <a:endParaRPr lang="en-GB" dirty="0"/>
          </a:p>
        </p:txBody>
      </p:sp>
    </p:spTree>
    <p:extLst>
      <p:ext uri="{BB962C8B-B14F-4D97-AF65-F5344CB8AC3E}">
        <p14:creationId xmlns:p14="http://schemas.microsoft.com/office/powerpoint/2010/main" val="12949211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EXAMPLE</a:t>
            </a:r>
            <a:endParaRPr lang="en-GB"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You sign a contract to supply farm inputs to Ministry of Agriculture. that pays you K400 every quarter for 3 years. Annual interest rate is 8%. What is the Present Value of this contract?</a:t>
            </a:r>
          </a:p>
          <a:p>
            <a:r>
              <a:rPr lang="en-US" b="1" dirty="0" smtClean="0"/>
              <a:t>SOLUTION</a:t>
            </a:r>
          </a:p>
          <a:p>
            <a:r>
              <a:rPr lang="en-US" dirty="0" smtClean="0"/>
              <a:t>PMT=400, r = 0.08, m = 4 months, n = 3 </a:t>
            </a:r>
            <a:r>
              <a:rPr lang="en-US" dirty="0" err="1" smtClean="0"/>
              <a:t>yrs</a:t>
            </a:r>
            <a:endParaRPr lang="en-US" dirty="0" smtClean="0"/>
          </a:p>
          <a:p>
            <a:r>
              <a:rPr lang="en-US" dirty="0" smtClean="0"/>
              <a:t>Rate = r/m = 0.08/12 = 0.02</a:t>
            </a:r>
          </a:p>
          <a:p>
            <a:r>
              <a:rPr lang="en-US" dirty="0" smtClean="0"/>
              <a:t>Total period = 3x 4 = 12</a:t>
            </a:r>
          </a:p>
          <a:p>
            <a:r>
              <a:rPr lang="en-US" dirty="0" smtClean="0"/>
              <a:t>PV [ (1-(1+0.02)^-12)/0.02]</a:t>
            </a:r>
          </a:p>
          <a:p>
            <a:r>
              <a:rPr lang="en-US" dirty="0" smtClean="0"/>
              <a:t>PV = 400 [1-0.788493)/0.02] = 400 x 10.57341 = 4,230.14.</a:t>
            </a:r>
            <a:endParaRPr lang="en-GB" dirty="0"/>
          </a:p>
        </p:txBody>
      </p:sp>
    </p:spTree>
    <p:extLst>
      <p:ext uri="{BB962C8B-B14F-4D97-AF65-F5344CB8AC3E}">
        <p14:creationId xmlns:p14="http://schemas.microsoft.com/office/powerpoint/2010/main" val="354108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ANNUITY DUE</a:t>
            </a:r>
            <a:endParaRPr lang="en-GB"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92500" lnSpcReduction="20000"/>
          </a:bodyPr>
          <a:lstStyle/>
          <a:p>
            <a:r>
              <a:rPr lang="en-US" dirty="0" smtClean="0"/>
              <a:t>FORMULA: Multiply the standard formula for ordinary </a:t>
            </a:r>
            <a:r>
              <a:rPr lang="en-US" dirty="0" err="1" smtClean="0"/>
              <a:t>sannuity</a:t>
            </a:r>
            <a:r>
              <a:rPr lang="en-US" dirty="0" smtClean="0"/>
              <a:t> by (1+r).</a:t>
            </a:r>
          </a:p>
          <a:p>
            <a:r>
              <a:rPr lang="en-US" dirty="0" err="1" smtClean="0"/>
              <a:t>PV_due</a:t>
            </a:r>
            <a:r>
              <a:rPr lang="en-US" dirty="0" smtClean="0"/>
              <a:t> = </a:t>
            </a:r>
            <a:r>
              <a:rPr lang="en-US" dirty="0"/>
              <a:t>PV = PMT x [(1-(1+r)^-n))/r</a:t>
            </a:r>
            <a:r>
              <a:rPr lang="en-US" dirty="0" smtClean="0"/>
              <a:t>] x (1+r)</a:t>
            </a:r>
          </a:p>
          <a:p>
            <a:r>
              <a:rPr lang="en-US" dirty="0" smtClean="0"/>
              <a:t>Example: You rent an office for $5000 per year for 4 years. The rent must be paid at the beginning of each year. If the discount rate is 6%, What is the present value of these lease payments?</a:t>
            </a:r>
          </a:p>
          <a:p>
            <a:r>
              <a:rPr lang="en-US" dirty="0" err="1"/>
              <a:t>PV_due</a:t>
            </a:r>
            <a:r>
              <a:rPr lang="en-US" dirty="0" smtClean="0"/>
              <a:t> </a:t>
            </a:r>
            <a:r>
              <a:rPr lang="en-US" dirty="0"/>
              <a:t>= $</a:t>
            </a:r>
            <a:r>
              <a:rPr lang="en-US" dirty="0" smtClean="0"/>
              <a:t>5000 </a:t>
            </a:r>
            <a:r>
              <a:rPr lang="en-US" dirty="0"/>
              <a:t>x [(1-(</a:t>
            </a:r>
            <a:r>
              <a:rPr lang="en-US" dirty="0" smtClean="0"/>
              <a:t>1+0.06)^-4))/0.06] x (1+0.06)</a:t>
            </a:r>
          </a:p>
          <a:p>
            <a:r>
              <a:rPr lang="en-US" dirty="0" err="1" smtClean="0"/>
              <a:t>PV_due</a:t>
            </a:r>
            <a:r>
              <a:rPr lang="en-US" dirty="0" smtClean="0"/>
              <a:t> = $5000 x 3.465106 x 1.06</a:t>
            </a:r>
          </a:p>
          <a:p>
            <a:r>
              <a:rPr lang="en-US" dirty="0" err="1" smtClean="0"/>
              <a:t>PV_due</a:t>
            </a:r>
            <a:r>
              <a:rPr lang="en-US" dirty="0" smtClean="0"/>
              <a:t> = $18,365.06.</a:t>
            </a:r>
          </a:p>
          <a:p>
            <a:r>
              <a:rPr lang="en-US" dirty="0" smtClean="0"/>
              <a:t>This is exactly $18,365.06 higher than the ordinary annual annuity example. </a:t>
            </a:r>
          </a:p>
          <a:p>
            <a:r>
              <a:rPr lang="en-US" dirty="0" smtClean="0"/>
              <a:t>For periodic change: r = r/m and n to be n x m. In the same formula. </a:t>
            </a:r>
            <a:endParaRPr lang="en-US" dirty="0"/>
          </a:p>
          <a:p>
            <a:endParaRPr lang="en-GB" dirty="0"/>
          </a:p>
        </p:txBody>
      </p:sp>
    </p:spTree>
    <p:extLst>
      <p:ext uri="{BB962C8B-B14F-4D97-AF65-F5344CB8AC3E}">
        <p14:creationId xmlns:p14="http://schemas.microsoft.com/office/powerpoint/2010/main" val="12953479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effectLst>
                  <a:outerShdw blurRad="38100" dist="38100" dir="2700000" algn="tl">
                    <a:srgbClr val="000000">
                      <a:alpha val="43137"/>
                    </a:srgbClr>
                  </a:outerShdw>
                </a:effectLst>
              </a:rPr>
              <a:t/>
            </a:r>
            <a:br>
              <a:rPr lang="en-US" b="1" dirty="0">
                <a:effectLst>
                  <a:outerShdw blurRad="38100" dist="38100" dir="2700000" algn="tl">
                    <a:srgbClr val="000000">
                      <a:alpha val="43137"/>
                    </a:srgbClr>
                  </a:outerShdw>
                </a:effectLst>
              </a:rPr>
            </a:br>
            <a:r>
              <a:rPr lang="en-US" b="1" dirty="0">
                <a:effectLst>
                  <a:outerShdw blurRad="38100" dist="38100" dir="2700000" algn="tl">
                    <a:srgbClr val="000000">
                      <a:alpha val="43137"/>
                    </a:srgbClr>
                  </a:outerShdw>
                </a:effectLst>
              </a:rPr>
              <a:t>Sinking fund and capital recovery</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lnSpcReduction="10000"/>
          </a:bodyPr>
          <a:lstStyle/>
          <a:p>
            <a:r>
              <a:rPr lang="en-US" dirty="0" smtClean="0"/>
              <a:t>A sinking fund is an annuity structured to calculate a predetermined sum of money at the significant future date. In most case it is used by businesses to replace aging </a:t>
            </a:r>
            <a:r>
              <a:rPr lang="en-US" dirty="0" err="1" smtClean="0"/>
              <a:t>machinaery</a:t>
            </a:r>
            <a:r>
              <a:rPr lang="en-US" dirty="0" smtClean="0"/>
              <a:t> or pay off maturing bonds. </a:t>
            </a:r>
          </a:p>
          <a:p>
            <a:r>
              <a:rPr lang="en-US" dirty="0" smtClean="0"/>
              <a:t>Formula:</a:t>
            </a:r>
          </a:p>
          <a:p>
            <a:r>
              <a:rPr lang="en-US" dirty="0" smtClean="0"/>
              <a:t>PMT = FV x [ r/(1+r)^n – 1]</a:t>
            </a:r>
          </a:p>
          <a:p>
            <a:r>
              <a:rPr lang="en-US" dirty="0" smtClean="0"/>
              <a:t>Example:</a:t>
            </a:r>
          </a:p>
          <a:p>
            <a:r>
              <a:rPr lang="en-US" dirty="0" smtClean="0"/>
              <a:t>An Agricultural company knows it must replace $100,000 tractors in 5 years. They decided to make annual deposits at the end of each year into an account earning 6% interest. How much must they deposit annually?</a:t>
            </a:r>
            <a:endParaRPr lang="en-US" dirty="0"/>
          </a:p>
        </p:txBody>
      </p:sp>
    </p:spTree>
    <p:extLst>
      <p:ext uri="{BB962C8B-B14F-4D97-AF65-F5344CB8AC3E}">
        <p14:creationId xmlns:p14="http://schemas.microsoft.com/office/powerpoint/2010/main" val="278997701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solution</a:t>
            </a:r>
            <a:endParaRPr lang="en-GB"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PMT  = 100,000 X [0.06/(1+0.06)^5 -1)]</a:t>
            </a:r>
          </a:p>
          <a:p>
            <a:r>
              <a:rPr lang="en-US" dirty="0" smtClean="0"/>
              <a:t>PMT = 100,000 X [0.06/(1.338226-1)</a:t>
            </a:r>
          </a:p>
          <a:p>
            <a:r>
              <a:rPr lang="en-US" dirty="0" smtClean="0"/>
              <a:t>PMT = 100,000 X 0.177396</a:t>
            </a:r>
          </a:p>
          <a:p>
            <a:r>
              <a:rPr lang="en-US" dirty="0" smtClean="0"/>
              <a:t>PMT = </a:t>
            </a:r>
            <a:r>
              <a:rPr lang="en-US" b="1" dirty="0" smtClean="0"/>
              <a:t>17,739.64 PER YEAR.</a:t>
            </a:r>
            <a:endParaRPr lang="en-GB" b="1" dirty="0"/>
          </a:p>
        </p:txBody>
      </p:sp>
    </p:spTree>
    <p:extLst>
      <p:ext uri="{BB962C8B-B14F-4D97-AF65-F5344CB8AC3E}">
        <p14:creationId xmlns:p14="http://schemas.microsoft.com/office/powerpoint/2010/main" val="1947809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Capital recovery </a:t>
            </a:r>
            <a:endParaRPr lang="en-GB"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Capital recovery determines the steady revenue or payment required over a specific timeframe to recoup an initial investment or wipe out a loan balance today. While factoring in the time value of money.</a:t>
            </a:r>
          </a:p>
          <a:p>
            <a:r>
              <a:rPr lang="en-US" dirty="0" smtClean="0"/>
              <a:t>Formula:</a:t>
            </a:r>
          </a:p>
          <a:p>
            <a:r>
              <a:rPr lang="en-US" dirty="0" smtClean="0"/>
              <a:t>PMT = PV x [ (r(1+r)^n)/(1+r)^n – 1)]</a:t>
            </a:r>
          </a:p>
          <a:p>
            <a:r>
              <a:rPr lang="en-US" dirty="0" smtClean="0"/>
              <a:t>Example: A company purchases commercial solar panel grid today for K100,000. The equipment has a lifespan of 5 years. If the company expects an annual discount rate of 6%. What is the uniform annual revenue required to fully recover their initial cost of capital?</a:t>
            </a:r>
          </a:p>
          <a:p>
            <a:endParaRPr lang="en-GB" dirty="0"/>
          </a:p>
        </p:txBody>
      </p:sp>
    </p:spTree>
    <p:extLst>
      <p:ext uri="{BB962C8B-B14F-4D97-AF65-F5344CB8AC3E}">
        <p14:creationId xmlns:p14="http://schemas.microsoft.com/office/powerpoint/2010/main" val="29902881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SOLUTION</a:t>
            </a:r>
            <a:endParaRPr lang="en-GB"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PMT = 100,000 X[ (0.06(1+0.06)^5)/(1+0.06)^5 – 1]</a:t>
            </a:r>
          </a:p>
          <a:p>
            <a:r>
              <a:rPr lang="en-US" dirty="0" err="1" smtClean="0"/>
              <a:t>Pmt</a:t>
            </a:r>
            <a:r>
              <a:rPr lang="en-US" dirty="0" smtClean="0"/>
              <a:t> = 100,000 x [0.080294/0.338226]</a:t>
            </a:r>
          </a:p>
          <a:p>
            <a:r>
              <a:rPr lang="en-US" dirty="0" smtClean="0"/>
              <a:t>PMT = 100,000 x 0.237396</a:t>
            </a:r>
          </a:p>
          <a:p>
            <a:r>
              <a:rPr lang="en-US" dirty="0" smtClean="0"/>
              <a:t>PMT = 23,739.64</a:t>
            </a:r>
            <a:endParaRPr lang="en-GB" dirty="0"/>
          </a:p>
        </p:txBody>
      </p:sp>
    </p:spTree>
    <p:extLst>
      <p:ext uri="{BB962C8B-B14F-4D97-AF65-F5344CB8AC3E}">
        <p14:creationId xmlns:p14="http://schemas.microsoft.com/office/powerpoint/2010/main" val="16861277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7746</TotalTime>
  <Words>3524</Words>
  <Application>Microsoft Office PowerPoint</Application>
  <PresentationFormat>Widescreen</PresentationFormat>
  <Paragraphs>224</Paragraphs>
  <Slides>38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Arial</vt:lpstr>
      <vt:lpstr>Calibri</vt:lpstr>
      <vt:lpstr>Calibri Light</vt:lpstr>
      <vt:lpstr>Wingdings</vt:lpstr>
      <vt:lpstr>Office Theme</vt:lpstr>
      <vt:lpstr>SA420-NATURAL RESOURCE ECONOMICS</vt:lpstr>
      <vt:lpstr>TOPIC 4: INVESTMENT FINANCIAL ANALYSIS</vt:lpstr>
      <vt:lpstr>  Concept of Interest Rate  </vt:lpstr>
      <vt:lpstr> Components of Interest Rate </vt:lpstr>
      <vt:lpstr> Simple Vs Compound Interest Rate (Effect of Compound Interest And Time) </vt:lpstr>
      <vt:lpstr>Generally, the formula will be…</vt:lpstr>
      <vt:lpstr>PowerPoint Presentation</vt:lpstr>
      <vt:lpstr> In terms of the timing of their payments, there are four basic types of credit market instruments.  </vt:lpstr>
      <vt:lpstr>Cont..</vt:lpstr>
      <vt:lpstr>CONT..</vt:lpstr>
      <vt:lpstr> A coupon bond is identified by three pieces of information.  </vt:lpstr>
      <vt:lpstr>CONT…</vt:lpstr>
      <vt:lpstr>  Basics of Compounding And Discounting (Calculating Future And Present Values of Single Sum) </vt:lpstr>
      <vt:lpstr>PowerPoint Presentation</vt:lpstr>
      <vt:lpstr>CONT..</vt:lpstr>
      <vt:lpstr>Fixed-Payment Loan</vt:lpstr>
      <vt:lpstr>CONT…</vt:lpstr>
      <vt:lpstr>CONT…</vt:lpstr>
      <vt:lpstr>CONT…</vt:lpstr>
      <vt:lpstr>  Rate of Return And Discounted Cash Flow Method  </vt:lpstr>
      <vt:lpstr>SOLUTIONS</vt:lpstr>
      <vt:lpstr>Present Value of Cash Flows to Equity: </vt:lpstr>
      <vt:lpstr>Terminal Value: </vt:lpstr>
      <vt:lpstr>Calculate Equity Value: </vt:lpstr>
      <vt:lpstr>PRACTICE QUESTION</vt:lpstr>
      <vt:lpstr>Solution Continues</vt:lpstr>
      <vt:lpstr> Present value of perpetual annual and periodic series </vt:lpstr>
      <vt:lpstr>Examples </vt:lpstr>
      <vt:lpstr> Present value of terminating annual and periodic series</vt:lpstr>
      <vt:lpstr>Formula.</vt:lpstr>
      <vt:lpstr>Solutions</vt:lpstr>
      <vt:lpstr>PERIODIC</vt:lpstr>
      <vt:lpstr>EXAMPLE</vt:lpstr>
      <vt:lpstr>ANNUITY DUE</vt:lpstr>
      <vt:lpstr> Sinking fund and capital recovery </vt:lpstr>
      <vt:lpstr>solution</vt:lpstr>
      <vt:lpstr>Capital recovery </vt:lpstr>
      <vt:lpstr>SOLUTION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SA420-NATURAL RESOURCE ECONOMICS</dc:title>
  <dc:creator>Martha</dc:creator>
  <cp:lastModifiedBy>Martha</cp:lastModifiedBy>
  <cp:revision>56</cp:revision>
  <cp:lastPrinted>2026-06-22T08:04:37Z</cp:lastPrinted>
  <dcterms:created xsi:type="dcterms:W3CDTF">2026-02-05T07:11:32Z</dcterms:created>
  <dcterms:modified xsi:type="dcterms:W3CDTF">2026-06-22T08:07:06Z</dcterms:modified>
</cp:coreProperties>
</file>