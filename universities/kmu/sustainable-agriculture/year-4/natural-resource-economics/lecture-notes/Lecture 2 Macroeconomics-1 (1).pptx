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4" r:id="rId5"/>
    <p:sldId id="295" r:id="rId6"/>
    <p:sldId id="296" r:id="rId7"/>
    <p:sldId id="329" r:id="rId8"/>
    <p:sldId id="330" r:id="rId9"/>
    <p:sldId id="331" r:id="rId10"/>
    <p:sldId id="332" r:id="rId11"/>
    <p:sldId id="333" r:id="rId12"/>
    <p:sldId id="334" r:id="rId13"/>
    <p:sldId id="335" r:id="rId14"/>
    <p:sldId id="336" r:id="rId15"/>
    <p:sldId id="337" r:id="rId16"/>
    <p:sldId id="338" r:id="rId17"/>
    <p:sldId id="339" r:id="rId18"/>
    <p:sldId id="340" r:id="rId19"/>
    <p:sldId id="297" r:id="rId20"/>
    <p:sldId id="298" r:id="rId21"/>
    <p:sldId id="299" r:id="rId22"/>
    <p:sldId id="306" r:id="rId23"/>
    <p:sldId id="300" r:id="rId24"/>
    <p:sldId id="301" r:id="rId25"/>
    <p:sldId id="302" r:id="rId26"/>
    <p:sldId id="307" r:id="rId27"/>
    <p:sldId id="308" r:id="rId28"/>
    <p:sldId id="303" r:id="rId29"/>
    <p:sldId id="304" r:id="rId30"/>
    <p:sldId id="305" r:id="rId31"/>
    <p:sldId id="309" r:id="rId32"/>
    <p:sldId id="311" r:id="rId33"/>
    <p:sldId id="310" r:id="rId34"/>
    <p:sldId id="312" r:id="rId35"/>
    <p:sldId id="313" r:id="rId36"/>
    <p:sldId id="314" r:id="rId37"/>
    <p:sldId id="315" r:id="rId38"/>
    <p:sldId id="316" r:id="rId39"/>
    <p:sldId id="259" r:id="rId40"/>
    <p:sldId id="261" r:id="rId41"/>
    <p:sldId id="262" r:id="rId42"/>
    <p:sldId id="263" r:id="rId43"/>
    <p:sldId id="264" r:id="rId44"/>
    <p:sldId id="265" r:id="rId45"/>
    <p:sldId id="266" r:id="rId46"/>
    <p:sldId id="317" r:id="rId47"/>
    <p:sldId id="267" r:id="rId48"/>
    <p:sldId id="318" r:id="rId49"/>
    <p:sldId id="319" r:id="rId50"/>
    <p:sldId id="320" r:id="rId51"/>
    <p:sldId id="321" r:id="rId52"/>
    <p:sldId id="322" r:id="rId53"/>
    <p:sldId id="323" r:id="rId54"/>
    <p:sldId id="268" r:id="rId55"/>
    <p:sldId id="269" r:id="rId56"/>
    <p:sldId id="270" r:id="rId57"/>
    <p:sldId id="271" r:id="rId58"/>
    <p:sldId id="272" r:id="rId59"/>
    <p:sldId id="273" r:id="rId60"/>
    <p:sldId id="274" r:id="rId61"/>
    <p:sldId id="275" r:id="rId62"/>
    <p:sldId id="276" r:id="rId63"/>
    <p:sldId id="277" r:id="rId64"/>
    <p:sldId id="278" r:id="rId65"/>
    <p:sldId id="279" r:id="rId66"/>
    <p:sldId id="280" r:id="rId67"/>
    <p:sldId id="281" r:id="rId68"/>
    <p:sldId id="282" r:id="rId69"/>
    <p:sldId id="292" r:id="rId70"/>
    <p:sldId id="293" r:id="rId71"/>
    <p:sldId id="324" r:id="rId72"/>
    <p:sldId id="326" r:id="rId73"/>
    <p:sldId id="325" r:id="rId74"/>
    <p:sldId id="327" r:id="rId75"/>
    <p:sldId id="260" r:id="rId76"/>
    <p:sldId id="283" r:id="rId77"/>
    <p:sldId id="284" r:id="rId78"/>
    <p:sldId id="285" r:id="rId79"/>
    <p:sldId id="286" r:id="rId80"/>
    <p:sldId id="287" r:id="rId81"/>
    <p:sldId id="288" r:id="rId82"/>
    <p:sldId id="289" r:id="rId83"/>
    <p:sldId id="290" r:id="rId84"/>
    <p:sldId id="291" r:id="rId85"/>
    <p:sldId id="328"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2" autoAdjust="0"/>
    <p:restoredTop sz="94660"/>
  </p:normalViewPr>
  <p:slideViewPr>
    <p:cSldViewPr snapToGrid="0">
      <p:cViewPr varScale="1">
        <p:scale>
          <a:sx n="73" d="100"/>
          <a:sy n="73" d="100"/>
        </p:scale>
        <p:origin x="61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2D01126-AF32-4D5C-9756-99CB1B5E45DC}"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4B6FA3-86F5-4844-BA3B-C6E6A7225226}" type="slidenum">
              <a:rPr lang="en-US" smtClean="0"/>
              <a:t>‹#›</a:t>
            </a:fld>
            <a:endParaRPr lang="en-US"/>
          </a:p>
        </p:txBody>
      </p:sp>
    </p:spTree>
    <p:extLst>
      <p:ext uri="{BB962C8B-B14F-4D97-AF65-F5344CB8AC3E}">
        <p14:creationId xmlns:p14="http://schemas.microsoft.com/office/powerpoint/2010/main" val="126867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D01126-AF32-4D5C-9756-99CB1B5E45DC}"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4B6FA3-86F5-4844-BA3B-C6E6A7225226}" type="slidenum">
              <a:rPr lang="en-US" smtClean="0"/>
              <a:t>‹#›</a:t>
            </a:fld>
            <a:endParaRPr lang="en-US"/>
          </a:p>
        </p:txBody>
      </p:sp>
    </p:spTree>
    <p:extLst>
      <p:ext uri="{BB962C8B-B14F-4D97-AF65-F5344CB8AC3E}">
        <p14:creationId xmlns:p14="http://schemas.microsoft.com/office/powerpoint/2010/main" val="1277820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2D01126-AF32-4D5C-9756-99CB1B5E45DC}"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4B6FA3-86F5-4844-BA3B-C6E6A7225226}" type="slidenum">
              <a:rPr lang="en-US" smtClean="0"/>
              <a:t>‹#›</a:t>
            </a:fld>
            <a:endParaRPr lang="en-US"/>
          </a:p>
        </p:txBody>
      </p:sp>
    </p:spTree>
    <p:extLst>
      <p:ext uri="{BB962C8B-B14F-4D97-AF65-F5344CB8AC3E}">
        <p14:creationId xmlns:p14="http://schemas.microsoft.com/office/powerpoint/2010/main" val="447614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2D01126-AF32-4D5C-9756-99CB1B5E45DC}"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4B6FA3-86F5-4844-BA3B-C6E6A7225226}" type="slidenum">
              <a:rPr lang="en-US" smtClean="0"/>
              <a:t>‹#›</a:t>
            </a:fld>
            <a:endParaRPr lang="en-US"/>
          </a:p>
        </p:txBody>
      </p:sp>
    </p:spTree>
    <p:extLst>
      <p:ext uri="{BB962C8B-B14F-4D97-AF65-F5344CB8AC3E}">
        <p14:creationId xmlns:p14="http://schemas.microsoft.com/office/powerpoint/2010/main" val="2439640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2D01126-AF32-4D5C-9756-99CB1B5E45DC}"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4B6FA3-86F5-4844-BA3B-C6E6A7225226}" type="slidenum">
              <a:rPr lang="en-US" smtClean="0"/>
              <a:t>‹#›</a:t>
            </a:fld>
            <a:endParaRPr lang="en-US"/>
          </a:p>
        </p:txBody>
      </p:sp>
    </p:spTree>
    <p:extLst>
      <p:ext uri="{BB962C8B-B14F-4D97-AF65-F5344CB8AC3E}">
        <p14:creationId xmlns:p14="http://schemas.microsoft.com/office/powerpoint/2010/main" val="1398137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2D01126-AF32-4D5C-9756-99CB1B5E45DC}"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4B6FA3-86F5-4844-BA3B-C6E6A7225226}" type="slidenum">
              <a:rPr lang="en-US" smtClean="0"/>
              <a:t>‹#›</a:t>
            </a:fld>
            <a:endParaRPr lang="en-US"/>
          </a:p>
        </p:txBody>
      </p:sp>
    </p:spTree>
    <p:extLst>
      <p:ext uri="{BB962C8B-B14F-4D97-AF65-F5344CB8AC3E}">
        <p14:creationId xmlns:p14="http://schemas.microsoft.com/office/powerpoint/2010/main" val="863867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D01126-AF32-4D5C-9756-99CB1B5E45DC}"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4B6FA3-86F5-4844-BA3B-C6E6A7225226}" type="slidenum">
              <a:rPr lang="en-US" smtClean="0"/>
              <a:t>‹#›</a:t>
            </a:fld>
            <a:endParaRPr lang="en-US"/>
          </a:p>
        </p:txBody>
      </p:sp>
    </p:spTree>
    <p:extLst>
      <p:ext uri="{BB962C8B-B14F-4D97-AF65-F5344CB8AC3E}">
        <p14:creationId xmlns:p14="http://schemas.microsoft.com/office/powerpoint/2010/main" val="920359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2D01126-AF32-4D5C-9756-99CB1B5E45DC}"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4B6FA3-86F5-4844-BA3B-C6E6A7225226}" type="slidenum">
              <a:rPr lang="en-US" smtClean="0"/>
              <a:t>‹#›</a:t>
            </a:fld>
            <a:endParaRPr lang="en-US"/>
          </a:p>
        </p:txBody>
      </p:sp>
    </p:spTree>
    <p:extLst>
      <p:ext uri="{BB962C8B-B14F-4D97-AF65-F5344CB8AC3E}">
        <p14:creationId xmlns:p14="http://schemas.microsoft.com/office/powerpoint/2010/main" val="762376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2D01126-AF32-4D5C-9756-99CB1B5E45DC}"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4B6FA3-86F5-4844-BA3B-C6E6A7225226}" type="slidenum">
              <a:rPr lang="en-US" smtClean="0"/>
              <a:t>‹#›</a:t>
            </a:fld>
            <a:endParaRPr lang="en-US"/>
          </a:p>
        </p:txBody>
      </p:sp>
    </p:spTree>
    <p:extLst>
      <p:ext uri="{BB962C8B-B14F-4D97-AF65-F5344CB8AC3E}">
        <p14:creationId xmlns:p14="http://schemas.microsoft.com/office/powerpoint/2010/main" val="3455081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D01126-AF32-4D5C-9756-99CB1B5E45DC}"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4B6FA3-86F5-4844-BA3B-C6E6A7225226}" type="slidenum">
              <a:rPr lang="en-US" smtClean="0"/>
              <a:t>‹#›</a:t>
            </a:fld>
            <a:endParaRPr lang="en-US"/>
          </a:p>
        </p:txBody>
      </p:sp>
    </p:spTree>
    <p:extLst>
      <p:ext uri="{BB962C8B-B14F-4D97-AF65-F5344CB8AC3E}">
        <p14:creationId xmlns:p14="http://schemas.microsoft.com/office/powerpoint/2010/main" val="3972274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D01126-AF32-4D5C-9756-99CB1B5E45DC}"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4B6FA3-86F5-4844-BA3B-C6E6A7225226}" type="slidenum">
              <a:rPr lang="en-US" smtClean="0"/>
              <a:t>‹#›</a:t>
            </a:fld>
            <a:endParaRPr lang="en-US"/>
          </a:p>
        </p:txBody>
      </p:sp>
    </p:spTree>
    <p:extLst>
      <p:ext uri="{BB962C8B-B14F-4D97-AF65-F5344CB8AC3E}">
        <p14:creationId xmlns:p14="http://schemas.microsoft.com/office/powerpoint/2010/main" val="4248845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D01126-AF32-4D5C-9756-99CB1B5E45DC}" type="datetimeFigureOut">
              <a:rPr lang="en-US" smtClean="0"/>
              <a:t>3/16/2026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4B6FA3-86F5-4844-BA3B-C6E6A7225226}" type="slidenum">
              <a:rPr lang="en-US" smtClean="0"/>
              <a:t>‹#›</a:t>
            </a:fld>
            <a:endParaRPr lang="en-US"/>
          </a:p>
        </p:txBody>
      </p:sp>
    </p:spTree>
    <p:extLst>
      <p:ext uri="{BB962C8B-B14F-4D97-AF65-F5344CB8AC3E}">
        <p14:creationId xmlns:p14="http://schemas.microsoft.com/office/powerpoint/2010/main" val="29736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google.com/url?sa=i&amp;source=web&amp;rct=j&amp;url=https://redcliffetraining.com/blog/money-market-instruments-definition&amp;ved=2ahUKEwjumMKh4IiTAxUmX0EAHV4GJWgQy_kOegQIAhAB&amp;opi=89978449&amp;cd&amp;psig=AOvVaw2DU9cWZ-kV_7XrAQHdUlUI&amp;ust=1772799861976000"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google.com/url?sa=i&amp;source=web&amp;rct=j&amp;url=https://www.kotak.bank.in/en/stories-in-focus/mutual-funds/what-is-money-market.html&amp;ved=2ahUKEwjumMKh4IiTAxUmX0EAHV4GJWgQy_kOegQIBBAD&amp;opi=89978449&amp;cd&amp;psig=AOvVaw2DU9cWZ-kV_7XrAQHdUlUI&amp;ust=1772799861976000"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google.com/url?sa=i&amp;source=web&amp;rct=j&amp;url=https://www.boz.zm/monitory-policy-framework.htm&amp;ved=2ahUKEwjm8OrS4oiTAxWyU0EAHfSqAm4Qy_kOegYIAQgEEAI&amp;opi=89978449&amp;cd&amp;psig=AOvVaw21R-FoV-VYaoa6ytbUW48m&amp;ust=1772800502355000"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google.com/url?sa=i&amp;source=web&amp;rct=j&amp;url=https://www.5paisa.com/finschool/finance-dictionary/money-market/&amp;ved=2ahUKEwjumMKh4IiTAxUmX0EAHV4GJWgQy_kOegQIBhAE&amp;opi=89978449&amp;cd&amp;psig=AOvVaw2DU9cWZ-kV_7XrAQHdUlUI&amp;ust=1772799861976000"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s://afdc.energy.gov/data/10310" TargetMode="External"/><Relationship Id="rId2" Type="http://schemas.openxmlformats.org/officeDocument/2006/relationships/hyperlink" Target="https://forestresources.org/2022/09/15/inflations-impact-on-contract-logging/"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hyperlink" Target="https://www.census.gov/content/dam/Census/library/publications/2017/econ/ec17tcf-us.pdf" TargetMode="External"/><Relationship Id="rId2" Type="http://schemas.openxmlformats.org/officeDocument/2006/relationships/hyperlink" Target="https://forestry.umn.edu/people/charlie-blinn" TargetMode="External"/><Relationship Id="rId1" Type="http://schemas.openxmlformats.org/officeDocument/2006/relationships/slideLayout" Target="../slideLayouts/slideLayout2.xml"/><Relationship Id="rId4" Type="http://schemas.openxmlformats.org/officeDocument/2006/relationships/hyperlink" Target="https://www.fs.usda.gov/research/inventory"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effectLst>
                  <a:outerShdw blurRad="38100" dist="38100" dir="2700000" algn="tl">
                    <a:srgbClr val="000000">
                      <a:alpha val="43137"/>
                    </a:srgbClr>
                  </a:outerShdw>
                </a:effectLst>
              </a:rPr>
              <a:t>SA420-NATURAL RESOURCE ECONOMICS</a:t>
            </a:r>
            <a:endParaRPr lang="en-US" dirty="0"/>
          </a:p>
        </p:txBody>
      </p:sp>
      <p:sp>
        <p:nvSpPr>
          <p:cNvPr id="3" name="Subtitle 2"/>
          <p:cNvSpPr>
            <a:spLocks noGrp="1"/>
          </p:cNvSpPr>
          <p:nvPr>
            <p:ph type="subTitle" idx="1"/>
          </p:nvPr>
        </p:nvSpPr>
        <p:spPr/>
        <p:txBody>
          <a:bodyPr>
            <a:normAutofit fontScale="85000" lnSpcReduction="20000"/>
          </a:bodyPr>
          <a:lstStyle/>
          <a:p>
            <a:r>
              <a:rPr lang="en-US" sz="6000" b="1" dirty="0" smtClean="0">
                <a:effectLst>
                  <a:outerShdw blurRad="38100" dist="38100" dir="2700000" algn="tl">
                    <a:srgbClr val="000000">
                      <a:alpha val="43137"/>
                    </a:srgbClr>
                  </a:outerShdw>
                </a:effectLst>
              </a:rPr>
              <a:t>LECTURER NAME:</a:t>
            </a:r>
          </a:p>
          <a:p>
            <a:r>
              <a:rPr lang="en-US" sz="6000" b="1" dirty="0" smtClean="0">
                <a:effectLst>
                  <a:outerShdw blurRad="38100" dist="38100" dir="2700000" algn="tl">
                    <a:srgbClr val="000000">
                      <a:alpha val="43137"/>
                    </a:srgbClr>
                  </a:outerShdw>
                </a:effectLst>
              </a:rPr>
              <a:t>MULENGA MPOLOKOSO</a:t>
            </a:r>
          </a:p>
          <a:p>
            <a:r>
              <a:rPr lang="en-US" i="1" dirty="0" smtClean="0">
                <a:effectLst>
                  <a:outerShdw blurRad="38100" dist="38100" dir="2700000" algn="tl">
                    <a:srgbClr val="000000">
                      <a:alpha val="43137"/>
                    </a:srgbClr>
                  </a:outerShdw>
                </a:effectLst>
              </a:rPr>
              <a:t>(</a:t>
            </a:r>
            <a:r>
              <a:rPr lang="en-US" i="1" dirty="0" err="1" smtClean="0">
                <a:effectLst>
                  <a:outerShdw blurRad="38100" dist="38100" dir="2700000" algn="tl">
                    <a:srgbClr val="000000">
                      <a:alpha val="43137"/>
                    </a:srgbClr>
                  </a:outerShdw>
                </a:effectLst>
              </a:rPr>
              <a:t>Ph.D_WIP</a:t>
            </a:r>
            <a:r>
              <a:rPr lang="en-US" i="1" dirty="0" smtClean="0">
                <a:effectLst>
                  <a:outerShdw blurRad="38100" dist="38100" dir="2700000" algn="tl">
                    <a:srgbClr val="000000">
                      <a:alpha val="43137"/>
                    </a:srgbClr>
                  </a:outerShdw>
                </a:effectLst>
              </a:rPr>
              <a:t>, MBA, BBA, BICTED, BSCFO, TM, ISP, CMP)</a:t>
            </a:r>
          </a:p>
          <a:p>
            <a:endParaRPr lang="en-US" dirty="0" smtClean="0"/>
          </a:p>
          <a:p>
            <a:endParaRPr lang="en-US" dirty="0"/>
          </a:p>
        </p:txBody>
      </p:sp>
    </p:spTree>
    <p:extLst>
      <p:ext uri="{BB962C8B-B14F-4D97-AF65-F5344CB8AC3E}">
        <p14:creationId xmlns:p14="http://schemas.microsoft.com/office/powerpoint/2010/main" val="18434453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TOPIC 1: MACROECONOMICS</a:t>
            </a:r>
            <a:endParaRPr lang="en-US" dirty="0"/>
          </a:p>
        </p:txBody>
      </p:sp>
      <p:sp>
        <p:nvSpPr>
          <p:cNvPr id="3" name="Content Placeholder 2"/>
          <p:cNvSpPr>
            <a:spLocks noGrp="1"/>
          </p:cNvSpPr>
          <p:nvPr>
            <p:ph idx="1"/>
          </p:nvPr>
        </p:nvSpPr>
        <p:spPr/>
        <p:txBody>
          <a:bodyPr/>
          <a:lstStyle/>
          <a:p>
            <a:pPr marL="0" indent="0">
              <a:buNone/>
            </a:pPr>
            <a:r>
              <a:rPr lang="en-US" b="1" dirty="0" smtClean="0"/>
              <a:t>OUTLINE OF TOPIC</a:t>
            </a:r>
          </a:p>
          <a:p>
            <a:pPr marL="0" indent="0">
              <a:buNone/>
            </a:pPr>
            <a:r>
              <a:rPr lang="en-US" dirty="0" smtClean="0"/>
              <a:t>MONEY MARKET</a:t>
            </a:r>
          </a:p>
          <a:p>
            <a:pPr marL="0" indent="0">
              <a:buNone/>
            </a:pPr>
            <a:r>
              <a:rPr lang="en-US" dirty="0" smtClean="0"/>
              <a:t>EMPLOYMENT</a:t>
            </a:r>
          </a:p>
          <a:p>
            <a:pPr marL="0" indent="0">
              <a:buNone/>
            </a:pPr>
            <a:r>
              <a:rPr lang="en-US" dirty="0" smtClean="0"/>
              <a:t>INFLATION</a:t>
            </a:r>
          </a:p>
          <a:p>
            <a:pPr marL="0" indent="0">
              <a:buNone/>
            </a:pPr>
            <a:endParaRPr lang="en-US" dirty="0"/>
          </a:p>
        </p:txBody>
      </p:sp>
    </p:spTree>
    <p:extLst>
      <p:ext uri="{BB962C8B-B14F-4D97-AF65-F5344CB8AC3E}">
        <p14:creationId xmlns:p14="http://schemas.microsoft.com/office/powerpoint/2010/main" val="2336361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MONEY MARKET</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Prices of goods and services make up the heart and soul of a free market economy. </a:t>
            </a:r>
            <a:endParaRPr lang="en-US" dirty="0" smtClean="0"/>
          </a:p>
          <a:p>
            <a:r>
              <a:rPr lang="en-US" dirty="0" smtClean="0"/>
              <a:t>Producers who </a:t>
            </a:r>
            <a:r>
              <a:rPr lang="en-US" dirty="0"/>
              <a:t>understand how and why the prices of goods and resources change over time can </a:t>
            </a:r>
            <a:r>
              <a:rPr lang="en-US" dirty="0" smtClean="0"/>
              <a:t>use this </a:t>
            </a:r>
            <a:r>
              <a:rPr lang="en-US" dirty="0"/>
              <a:t>information to increase </a:t>
            </a:r>
            <a:r>
              <a:rPr lang="en-US" dirty="0" smtClean="0"/>
              <a:t>profitability</a:t>
            </a:r>
            <a:r>
              <a:rPr lang="en-US" dirty="0"/>
              <a:t>. </a:t>
            </a:r>
            <a:endParaRPr lang="en-US" dirty="0" smtClean="0"/>
          </a:p>
          <a:p>
            <a:r>
              <a:rPr lang="en-US" dirty="0" smtClean="0"/>
              <a:t>Consumers </a:t>
            </a:r>
            <a:r>
              <a:rPr lang="en-US" dirty="0"/>
              <a:t>make better choices if they </a:t>
            </a:r>
            <a:r>
              <a:rPr lang="en-US" dirty="0" smtClean="0"/>
              <a:t>understand market </a:t>
            </a:r>
            <a:r>
              <a:rPr lang="en-US" dirty="0"/>
              <a:t>forces that determine price </a:t>
            </a:r>
            <a:r>
              <a:rPr lang="en-US" dirty="0" smtClean="0"/>
              <a:t>changes.</a:t>
            </a:r>
            <a:endParaRPr lang="en-US" dirty="0"/>
          </a:p>
        </p:txBody>
      </p:sp>
    </p:spTree>
    <p:extLst>
      <p:ext uri="{BB962C8B-B14F-4D97-AF65-F5344CB8AC3E}">
        <p14:creationId xmlns:p14="http://schemas.microsoft.com/office/powerpoint/2010/main" val="38945633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WHAT IS A MARKET?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A </a:t>
            </a:r>
            <a:r>
              <a:rPr lang="en-US" b="1" dirty="0"/>
              <a:t>Market </a:t>
            </a:r>
            <a:r>
              <a:rPr lang="en-US" dirty="0"/>
              <a:t>is an institution or a process that allows buyers and sellers to interact. A </a:t>
            </a:r>
            <a:r>
              <a:rPr lang="en-US" dirty="0" smtClean="0"/>
              <a:t>market is </a:t>
            </a:r>
            <a:r>
              <a:rPr lang="en-US" dirty="0"/>
              <a:t>not necessarily a </a:t>
            </a:r>
            <a:r>
              <a:rPr lang="en-US" b="1" dirty="0"/>
              <a:t>Marketplace </a:t>
            </a:r>
            <a:r>
              <a:rPr lang="en-US" dirty="0"/>
              <a:t>, which is a physical location where buyers and sellers </a:t>
            </a:r>
            <a:r>
              <a:rPr lang="en-US" dirty="0" smtClean="0"/>
              <a:t>go to </a:t>
            </a:r>
            <a:r>
              <a:rPr lang="en-US" dirty="0"/>
              <a:t>exchange goods. </a:t>
            </a:r>
            <a:endParaRPr lang="en-US" dirty="0" smtClean="0"/>
          </a:p>
          <a:p>
            <a:r>
              <a:rPr lang="en-US" dirty="0" smtClean="0"/>
              <a:t>It </a:t>
            </a:r>
            <a:r>
              <a:rPr lang="en-US" dirty="0"/>
              <a:t>can be a farmer’s market, or the commodity trading pits of the </a:t>
            </a:r>
            <a:r>
              <a:rPr lang="en-US" dirty="0" smtClean="0"/>
              <a:t>Chicago Board </a:t>
            </a:r>
            <a:r>
              <a:rPr lang="en-US" dirty="0"/>
              <a:t>of Trade.</a:t>
            </a:r>
          </a:p>
          <a:p>
            <a:r>
              <a:rPr lang="en-US" b="1" i="1" dirty="0" smtClean="0"/>
              <a:t>Marketplace </a:t>
            </a:r>
            <a:r>
              <a:rPr lang="en-US" dirty="0"/>
              <a:t>= a physical location where buyers and sellers meet to trade goods.</a:t>
            </a:r>
          </a:p>
        </p:txBody>
      </p:sp>
    </p:spTree>
    <p:extLst>
      <p:ext uri="{BB962C8B-B14F-4D97-AF65-F5344CB8AC3E}">
        <p14:creationId xmlns:p14="http://schemas.microsoft.com/office/powerpoint/2010/main" val="11858483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a:bodyPr>
          <a:lstStyle/>
          <a:p>
            <a:r>
              <a:rPr lang="en-US" dirty="0"/>
              <a:t>A </a:t>
            </a:r>
            <a:r>
              <a:rPr lang="en-US" b="1" dirty="0"/>
              <a:t>Market </a:t>
            </a:r>
            <a:r>
              <a:rPr lang="en-US" dirty="0"/>
              <a:t>can be located in a physical space such as a shopping mall in </a:t>
            </a:r>
            <a:r>
              <a:rPr lang="en-US" dirty="0" smtClean="0"/>
              <a:t>CHINSALI MARKET OR INTER-CITY MARKET IN LUISAKA,</a:t>
            </a:r>
            <a:r>
              <a:rPr lang="en-US" dirty="0"/>
              <a:t> </a:t>
            </a:r>
            <a:r>
              <a:rPr lang="en-US" dirty="0" smtClean="0"/>
              <a:t>but </a:t>
            </a:r>
            <a:r>
              <a:rPr lang="en-US" dirty="0"/>
              <a:t>it need not be. </a:t>
            </a:r>
            <a:endParaRPr lang="en-US" dirty="0" smtClean="0"/>
          </a:p>
          <a:p>
            <a:r>
              <a:rPr lang="en-US" dirty="0" smtClean="0"/>
              <a:t>Buying </a:t>
            </a:r>
            <a:r>
              <a:rPr lang="en-US" dirty="0"/>
              <a:t>and selling goods on the Internet from a </a:t>
            </a:r>
            <a:r>
              <a:rPr lang="en-US" dirty="0" smtClean="0"/>
              <a:t>firm </a:t>
            </a:r>
            <a:r>
              <a:rPr lang="en-US" dirty="0"/>
              <a:t>such as Amazon or</a:t>
            </a:r>
          </a:p>
          <a:p>
            <a:r>
              <a:rPr lang="en-US" dirty="0"/>
              <a:t>eBay makes the Internet into a market, even though the buyers and sellers are not in the </a:t>
            </a:r>
            <a:r>
              <a:rPr lang="en-US" dirty="0" smtClean="0"/>
              <a:t>same physical </a:t>
            </a:r>
            <a:r>
              <a:rPr lang="en-US" dirty="0"/>
              <a:t>location and may never exchange a word. </a:t>
            </a:r>
            <a:endParaRPr lang="en-US" dirty="0" smtClean="0"/>
          </a:p>
          <a:p>
            <a:r>
              <a:rPr lang="en-US" dirty="0" smtClean="0"/>
              <a:t>A </a:t>
            </a:r>
            <a:r>
              <a:rPr lang="en-US" dirty="0"/>
              <a:t>market appears wherever there is </a:t>
            </a:r>
            <a:r>
              <a:rPr lang="en-US" dirty="0" smtClean="0"/>
              <a:t>interaction between </a:t>
            </a:r>
            <a:r>
              <a:rPr lang="en-US" dirty="0"/>
              <a:t>buyers and sellers of a good:</a:t>
            </a:r>
          </a:p>
          <a:p>
            <a:r>
              <a:rPr lang="en-US" b="1" i="1" dirty="0" smtClean="0"/>
              <a:t>Market </a:t>
            </a:r>
            <a:r>
              <a:rPr lang="en-US" dirty="0"/>
              <a:t>= the interaction between buyers and sellers</a:t>
            </a:r>
          </a:p>
        </p:txBody>
      </p:sp>
    </p:spTree>
    <p:extLst>
      <p:ext uri="{BB962C8B-B14F-4D97-AF65-F5344CB8AC3E}">
        <p14:creationId xmlns:p14="http://schemas.microsoft.com/office/powerpoint/2010/main" val="18460753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MONEY MARKETS</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GB" b="1" dirty="0"/>
              <a:t>Money Market</a:t>
            </a:r>
            <a:r>
              <a:rPr lang="en-GB" dirty="0"/>
              <a:t> is a critical segment of the financial system dedicated to the borrowing and lending of high-quality, short-term </a:t>
            </a:r>
            <a:r>
              <a:rPr lang="en-GB" dirty="0" smtClean="0"/>
              <a:t>debt instruments </a:t>
            </a:r>
            <a:r>
              <a:rPr lang="en-GB" dirty="0"/>
              <a:t>with maturities typically ranging from </a:t>
            </a:r>
            <a:r>
              <a:rPr lang="en-GB" b="1" dirty="0"/>
              <a:t>overnight to one year</a:t>
            </a:r>
            <a:r>
              <a:rPr lang="en-GB" dirty="0"/>
              <a:t>. </a:t>
            </a:r>
            <a:endParaRPr lang="en-GB" dirty="0" smtClean="0"/>
          </a:p>
          <a:p>
            <a:r>
              <a:rPr lang="en-GB" dirty="0" smtClean="0"/>
              <a:t>Unlike </a:t>
            </a:r>
            <a:r>
              <a:rPr lang="en-GB" dirty="0"/>
              <a:t>the </a:t>
            </a:r>
            <a:r>
              <a:rPr lang="en-GB" u="sng" dirty="0">
                <a:hlinkClick r:id="rId2"/>
              </a:rPr>
              <a:t>Capital Market</a:t>
            </a:r>
            <a:r>
              <a:rPr lang="en-GB" u="sng" dirty="0"/>
              <a:t>, </a:t>
            </a:r>
            <a:r>
              <a:rPr lang="en-GB" dirty="0"/>
              <a:t>which deals in long-term equity and bonds for wealth creation, the money market focuses on </a:t>
            </a:r>
            <a:r>
              <a:rPr lang="en-GB" b="1" dirty="0"/>
              <a:t>liquidity management</a:t>
            </a:r>
            <a:r>
              <a:rPr lang="en-GB" dirty="0"/>
              <a:t> and meeting immediate cash flow </a:t>
            </a:r>
            <a:r>
              <a:rPr lang="en-GB" dirty="0" smtClean="0"/>
              <a:t>needs.</a:t>
            </a:r>
            <a:endParaRPr lang="en-US" dirty="0"/>
          </a:p>
        </p:txBody>
      </p:sp>
    </p:spTree>
    <p:extLst>
      <p:ext uri="{BB962C8B-B14F-4D97-AF65-F5344CB8AC3E}">
        <p14:creationId xmlns:p14="http://schemas.microsoft.com/office/powerpoint/2010/main" val="6448195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DEFINITION</a:t>
            </a: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0" indent="0">
              <a:buNone/>
            </a:pPr>
            <a:r>
              <a:rPr lang="en-US" dirty="0" smtClean="0"/>
              <a:t>Money </a:t>
            </a:r>
            <a:r>
              <a:rPr lang="en-US" dirty="0"/>
              <a:t>market is a market for short-term funds. We define the short-term as a period of 364 days or less. </a:t>
            </a:r>
            <a:endParaRPr lang="en-US" dirty="0" smtClean="0"/>
          </a:p>
          <a:p>
            <a:pPr marL="0" indent="0">
              <a:buNone/>
            </a:pPr>
            <a:r>
              <a:rPr lang="en-US" dirty="0" smtClean="0"/>
              <a:t>In </a:t>
            </a:r>
            <a:r>
              <a:rPr lang="en-US" dirty="0"/>
              <a:t>other words, the borrowing and repayment take place in 364 days or less. </a:t>
            </a:r>
            <a:endParaRPr lang="en-US" dirty="0" smtClean="0"/>
          </a:p>
          <a:p>
            <a:pPr marL="0" indent="0">
              <a:buNone/>
            </a:pPr>
            <a:r>
              <a:rPr lang="en-US" dirty="0" smtClean="0"/>
              <a:t>The </a:t>
            </a:r>
            <a:r>
              <a:rPr lang="en-US" dirty="0"/>
              <a:t>manufacturers need two types of finance: finance to meet daily expenses like purchase of raw material, payment of wages, excise duty, electricity charges etc., and finance to meet capital expenditure like purchase of machinery, installation of pollution control equipment etc. </a:t>
            </a:r>
            <a:endParaRPr lang="en-GB" dirty="0"/>
          </a:p>
        </p:txBody>
      </p:sp>
    </p:spTree>
    <p:extLst>
      <p:ext uri="{BB962C8B-B14F-4D97-AF65-F5344CB8AC3E}">
        <p14:creationId xmlns:p14="http://schemas.microsoft.com/office/powerpoint/2010/main" val="22848050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 </a:t>
            </a:r>
            <a:r>
              <a:rPr lang="en-US" dirty="0"/>
              <a:t>The first category of finance is invested in the production process for a short-period of time. The market where such short-time finance is borrowed and lent is called ‘money </a:t>
            </a:r>
            <a:r>
              <a:rPr lang="en-US" dirty="0" smtClean="0"/>
              <a:t>market.</a:t>
            </a:r>
          </a:p>
          <a:p>
            <a:r>
              <a:rPr lang="en-US" dirty="0" smtClean="0"/>
              <a:t>In </a:t>
            </a:r>
            <a:r>
              <a:rPr lang="en-US" dirty="0"/>
              <a:t>simple words, the money market is an avenue for borrowing and lending for the short-term. </a:t>
            </a:r>
            <a:endParaRPr lang="en-US" dirty="0" smtClean="0"/>
          </a:p>
          <a:p>
            <a:r>
              <a:rPr lang="en-US" dirty="0" smtClean="0"/>
              <a:t>While </a:t>
            </a:r>
            <a:r>
              <a:rPr lang="en-US" dirty="0"/>
              <a:t>on one hand the money market helps in shifting vast sums of money between banks, on the other hand, it provides a means by which the surplus of funds of the cash rich corporations and other institutions can be used (at a cost) by banks, corporations and other institutions which need short-term money. </a:t>
            </a:r>
            <a:endParaRPr lang="en-GB" dirty="0"/>
          </a:p>
        </p:txBody>
      </p:sp>
    </p:spTree>
    <p:extLst>
      <p:ext uri="{BB962C8B-B14F-4D97-AF65-F5344CB8AC3E}">
        <p14:creationId xmlns:p14="http://schemas.microsoft.com/office/powerpoint/2010/main" val="1960303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WHO SUPPLY FUNDS IN MONEY MARKET</a:t>
            </a: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 </a:t>
            </a:r>
            <a:r>
              <a:rPr lang="en-US" dirty="0"/>
              <a:t>A supplier of funds to the money market can be virtually anyone with a temporary excess of funds. </a:t>
            </a:r>
            <a:endParaRPr lang="en-US" dirty="0" smtClean="0"/>
          </a:p>
          <a:p>
            <a:r>
              <a:rPr lang="en-US" dirty="0" smtClean="0"/>
              <a:t>The </a:t>
            </a:r>
            <a:r>
              <a:rPr lang="en-US" dirty="0"/>
              <a:t>government bonds, corporate bonds and bonds issued by banks are examples of money market instruments, where the instrument has a ready market like the equity shares of a listed company. </a:t>
            </a:r>
            <a:endParaRPr lang="en-US" dirty="0" smtClean="0"/>
          </a:p>
          <a:p>
            <a:r>
              <a:rPr lang="en-US" dirty="0" smtClean="0"/>
              <a:t>The </a:t>
            </a:r>
            <a:r>
              <a:rPr lang="en-US" dirty="0"/>
              <a:t>money markets refer to the market for short-term securities (one year or less in original maturity) such as treasury bills, certificates of deposits, commercial paper etc. Money market instruments are more liquid in nature. </a:t>
            </a:r>
            <a:endParaRPr lang="en-GB" dirty="0"/>
          </a:p>
        </p:txBody>
      </p:sp>
    </p:spTree>
    <p:extLst>
      <p:ext uri="{BB962C8B-B14F-4D97-AF65-F5344CB8AC3E}">
        <p14:creationId xmlns:p14="http://schemas.microsoft.com/office/powerpoint/2010/main" val="27537994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WHAT MONEY MARKET IS NOT</a:t>
            </a: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The </a:t>
            </a:r>
            <a:r>
              <a:rPr lang="en-US" dirty="0"/>
              <a:t>money market is a market where money and highly liquid marketable securities are bought and sold. </a:t>
            </a:r>
            <a:endParaRPr lang="en-US" dirty="0" smtClean="0"/>
          </a:p>
          <a:p>
            <a:r>
              <a:rPr lang="en-US" dirty="0" smtClean="0"/>
              <a:t>It </a:t>
            </a:r>
            <a:r>
              <a:rPr lang="en-US" dirty="0"/>
              <a:t>is </a:t>
            </a:r>
            <a:r>
              <a:rPr lang="en-US" b="1" dirty="0"/>
              <a:t>not a place like the stock market </a:t>
            </a:r>
            <a:r>
              <a:rPr lang="en-US" dirty="0"/>
              <a:t>but an </a:t>
            </a:r>
            <a:r>
              <a:rPr lang="en-US" b="1" dirty="0"/>
              <a:t>activity and all the trading is done through telephones. </a:t>
            </a:r>
            <a:endParaRPr lang="en-US" b="1" dirty="0" smtClean="0"/>
          </a:p>
          <a:p>
            <a:r>
              <a:rPr lang="en-US" dirty="0" smtClean="0"/>
              <a:t>One </a:t>
            </a:r>
            <a:r>
              <a:rPr lang="en-US" dirty="0"/>
              <a:t>of the important features of the money market is honor of commitment and creditworthiness </a:t>
            </a:r>
            <a:endParaRPr lang="en-GB" dirty="0"/>
          </a:p>
        </p:txBody>
      </p:sp>
    </p:spTree>
    <p:extLst>
      <p:ext uri="{BB962C8B-B14F-4D97-AF65-F5344CB8AC3E}">
        <p14:creationId xmlns:p14="http://schemas.microsoft.com/office/powerpoint/2010/main" val="1425913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Features of Money Market </a:t>
            </a:r>
            <a:endParaRPr lang="en-GB"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345474"/>
            <a:ext cx="10515600" cy="5381897"/>
          </a:xfrm>
        </p:spPr>
        <p:txBody>
          <a:bodyPr>
            <a:normAutofit fontScale="92500" lnSpcReduction="20000"/>
          </a:bodyPr>
          <a:lstStyle/>
          <a:p>
            <a:r>
              <a:rPr lang="en-US" dirty="0" smtClean="0"/>
              <a:t>1</a:t>
            </a:r>
            <a:r>
              <a:rPr lang="en-US" dirty="0"/>
              <a:t>. Money market has no geographical constraints as that of a stock exchange. The financial institutions dealing in monetary assets may be spread over a wide geographical area. </a:t>
            </a:r>
          </a:p>
          <a:p>
            <a:r>
              <a:rPr lang="en-US" dirty="0"/>
              <a:t>2. Even though there are various centers of money market such as </a:t>
            </a:r>
            <a:r>
              <a:rPr lang="en-US" dirty="0" smtClean="0"/>
              <a:t>LUSAKA, NDOLA, </a:t>
            </a:r>
            <a:r>
              <a:rPr lang="en-US" dirty="0"/>
              <a:t>Chennai, etc., they are not separate independent markets but are inter-linked and interrelated. </a:t>
            </a:r>
          </a:p>
          <a:p>
            <a:r>
              <a:rPr lang="en-US" dirty="0"/>
              <a:t>3. It relates to all dealings in money or monetary assets. </a:t>
            </a:r>
          </a:p>
          <a:p>
            <a:r>
              <a:rPr lang="en-US" dirty="0"/>
              <a:t>4. It is a market purely for short-term funds. </a:t>
            </a:r>
          </a:p>
          <a:p>
            <a:r>
              <a:rPr lang="en-US" dirty="0"/>
              <a:t>5. It is not a single homogeneous market. There are various sub-markets such as Call money market, Bill market, etc. </a:t>
            </a:r>
          </a:p>
          <a:p>
            <a:r>
              <a:rPr lang="en-US" dirty="0"/>
              <a:t>6. Money market establishes a link between </a:t>
            </a:r>
            <a:r>
              <a:rPr lang="en-US" dirty="0" smtClean="0"/>
              <a:t>Central Banks </a:t>
            </a:r>
            <a:r>
              <a:rPr lang="en-US" dirty="0"/>
              <a:t>and </a:t>
            </a:r>
            <a:r>
              <a:rPr lang="en-US" dirty="0" smtClean="0"/>
              <a:t>Commercial banks </a:t>
            </a:r>
            <a:r>
              <a:rPr lang="en-US" dirty="0"/>
              <a:t>and provides information of monetary policy and management. </a:t>
            </a:r>
          </a:p>
          <a:p>
            <a:r>
              <a:rPr lang="en-US" dirty="0"/>
              <a:t>7. Transactions can be conducted without the help of brokers. </a:t>
            </a:r>
          </a:p>
          <a:p>
            <a:r>
              <a:rPr lang="en-US" dirty="0"/>
              <a:t>8. Variety of instruments are traded in money market </a:t>
            </a:r>
          </a:p>
          <a:p>
            <a:endParaRPr lang="en-GB" dirty="0"/>
          </a:p>
        </p:txBody>
      </p:sp>
    </p:spTree>
    <p:extLst>
      <p:ext uri="{BB962C8B-B14F-4D97-AF65-F5344CB8AC3E}">
        <p14:creationId xmlns:p14="http://schemas.microsoft.com/office/powerpoint/2010/main" val="2378650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Objectives of Money Market: </a:t>
            </a:r>
            <a:br>
              <a:rPr lang="en-GB" b="1" dirty="0">
                <a:effectLst>
                  <a:outerShdw blurRad="38100" dist="38100" dir="2700000" algn="tl">
                    <a:srgbClr val="000000">
                      <a:alpha val="43137"/>
                    </a:srgbClr>
                  </a:outerShdw>
                </a:effectLst>
              </a:rPr>
            </a:b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To </a:t>
            </a:r>
            <a:r>
              <a:rPr lang="en-US" dirty="0"/>
              <a:t>cater to the requirements of borrowers for short term funds, and provide liquidity to the lenders of these funds. </a:t>
            </a:r>
          </a:p>
          <a:p>
            <a:r>
              <a:rPr lang="en-US" dirty="0"/>
              <a:t>2. To provide parking place for temporary employment of surplus fund. </a:t>
            </a:r>
          </a:p>
          <a:p>
            <a:r>
              <a:rPr lang="en-US" dirty="0"/>
              <a:t>3. To provide facility to overcome short term deficits. </a:t>
            </a:r>
          </a:p>
          <a:p>
            <a:r>
              <a:rPr lang="en-US" dirty="0"/>
              <a:t>4. To enable the central bank to influence and regulate liquidity in the economy. </a:t>
            </a:r>
          </a:p>
          <a:p>
            <a:r>
              <a:rPr lang="en-US" dirty="0"/>
              <a:t>To help the government to implement its monetary policy through open market operation. </a:t>
            </a:r>
            <a:endParaRPr lang="en-GB" dirty="0"/>
          </a:p>
        </p:txBody>
      </p:sp>
    </p:spTree>
    <p:extLst>
      <p:ext uri="{BB962C8B-B14F-4D97-AF65-F5344CB8AC3E}">
        <p14:creationId xmlns:p14="http://schemas.microsoft.com/office/powerpoint/2010/main" val="34058651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Who are </a:t>
            </a:r>
            <a:r>
              <a:rPr lang="en-US" b="1" dirty="0">
                <a:effectLst>
                  <a:outerShdw blurRad="38100" dist="38100" dir="2700000" algn="tl">
                    <a:srgbClr val="000000">
                      <a:alpha val="43137"/>
                    </a:srgbClr>
                  </a:outerShdw>
                </a:effectLst>
              </a:rPr>
              <a:t>t</a:t>
            </a:r>
            <a:r>
              <a:rPr lang="en-US" b="1" dirty="0" smtClean="0">
                <a:effectLst>
                  <a:outerShdw blurRad="38100" dist="38100" dir="2700000" algn="tl">
                    <a:srgbClr val="000000">
                      <a:alpha val="43137"/>
                    </a:srgbClr>
                  </a:outerShdw>
                </a:effectLst>
              </a:rPr>
              <a:t>he </a:t>
            </a:r>
            <a:r>
              <a:rPr lang="en-US" b="1" dirty="0">
                <a:effectLst>
                  <a:outerShdw blurRad="38100" dist="38100" dir="2700000" algn="tl">
                    <a:srgbClr val="000000">
                      <a:alpha val="43137"/>
                    </a:srgbClr>
                  </a:outerShdw>
                </a:effectLst>
              </a:rPr>
              <a:t>main borrowers of short-term </a:t>
            </a:r>
            <a:r>
              <a:rPr lang="en-US" b="1" dirty="0" smtClean="0">
                <a:effectLst>
                  <a:outerShdw blurRad="38100" dist="38100" dir="2700000" algn="tl">
                    <a:srgbClr val="000000">
                      <a:alpha val="43137"/>
                    </a:srgbClr>
                  </a:outerShdw>
                </a:effectLst>
              </a:rPr>
              <a:t>funds</a:t>
            </a: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a:t>
            </a:r>
            <a:r>
              <a:rPr lang="en-US" dirty="0"/>
              <a:t>a) Central Government, (b) State Governments, (c) Local bodies, such as, municipalities, village </a:t>
            </a:r>
          </a:p>
          <a:p>
            <a:r>
              <a:rPr lang="en-US" dirty="0"/>
              <a:t>panchayats, etc., (d) traders, industrialists, farmers, exporters and </a:t>
            </a:r>
            <a:r>
              <a:rPr lang="en-US" dirty="0" smtClean="0"/>
              <a:t>importers</a:t>
            </a:r>
            <a:r>
              <a:rPr lang="en-US" dirty="0"/>
              <a:t>, and (e) general public. </a:t>
            </a:r>
            <a:endParaRPr lang="en-US" dirty="0" smtClean="0"/>
          </a:p>
          <a:p>
            <a:endParaRPr lang="en-GB" dirty="0"/>
          </a:p>
        </p:txBody>
      </p:sp>
    </p:spTree>
    <p:extLst>
      <p:ext uri="{BB962C8B-B14F-4D97-AF65-F5344CB8AC3E}">
        <p14:creationId xmlns:p14="http://schemas.microsoft.com/office/powerpoint/2010/main" val="5320805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3869"/>
            <a:ext cx="10515600" cy="875846"/>
          </a:xfrm>
        </p:spPr>
        <p:txBody>
          <a:bodyPr/>
          <a:lstStyle/>
          <a:p>
            <a:r>
              <a:rPr lang="en-US" b="1" dirty="0">
                <a:effectLst>
                  <a:outerShdw blurRad="38100" dist="38100" dir="2700000" algn="tl">
                    <a:srgbClr val="000000">
                      <a:alpha val="43137"/>
                    </a:srgbClr>
                  </a:outerShdw>
                </a:effectLst>
              </a:rPr>
              <a:t>Sub-Markets of Organised Money Market</a:t>
            </a:r>
            <a:endParaRPr lang="en-GB"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979715"/>
            <a:ext cx="10515600" cy="5708468"/>
          </a:xfrm>
        </p:spPr>
        <p:txBody>
          <a:bodyPr>
            <a:normAutofit fontScale="85000" lnSpcReduction="20000"/>
          </a:bodyPr>
          <a:lstStyle/>
          <a:p>
            <a:pPr marL="0" indent="0">
              <a:buNone/>
            </a:pPr>
            <a:r>
              <a:rPr lang="en-GB" b="1" dirty="0" smtClean="0">
                <a:effectLst>
                  <a:outerShdw blurRad="38100" dist="38100" dir="2700000" algn="tl">
                    <a:srgbClr val="000000">
                      <a:alpha val="43137"/>
                    </a:srgbClr>
                  </a:outerShdw>
                </a:effectLst>
              </a:rPr>
              <a:t>1. Call </a:t>
            </a:r>
            <a:r>
              <a:rPr lang="en-GB" b="1" dirty="0">
                <a:effectLst>
                  <a:outerShdw blurRad="38100" dist="38100" dir="2700000" algn="tl">
                    <a:srgbClr val="000000">
                      <a:alpha val="43137"/>
                    </a:srgbClr>
                  </a:outerShdw>
                </a:effectLst>
              </a:rPr>
              <a:t>Money Market</a:t>
            </a:r>
            <a:r>
              <a:rPr lang="en-GB" b="1" dirty="0" smtClean="0">
                <a:effectLst>
                  <a:outerShdw blurRad="38100" dist="38100" dir="2700000" algn="tl">
                    <a:srgbClr val="000000">
                      <a:alpha val="43137"/>
                    </a:srgbClr>
                  </a:outerShdw>
                </a:effectLst>
              </a:rPr>
              <a:t>:</a:t>
            </a:r>
          </a:p>
          <a:p>
            <a:pPr marL="0" indent="0">
              <a:buNone/>
            </a:pPr>
            <a:r>
              <a:rPr lang="en-US" dirty="0"/>
              <a:t>The main features </a:t>
            </a:r>
            <a:r>
              <a:rPr lang="en-US" dirty="0" smtClean="0"/>
              <a:t>of call </a:t>
            </a:r>
            <a:r>
              <a:rPr lang="en-US" dirty="0"/>
              <a:t>money market are as follows: </a:t>
            </a:r>
          </a:p>
          <a:p>
            <a:pPr>
              <a:buFont typeface="Wingdings" panose="05000000000000000000" pitchFamily="2" charset="2"/>
              <a:buChar char="v"/>
            </a:pPr>
            <a:r>
              <a:rPr lang="en-US" dirty="0" smtClean="0"/>
              <a:t>Call </a:t>
            </a:r>
            <a:r>
              <a:rPr lang="en-US" dirty="0"/>
              <a:t>money market provides the institutional arrangement for making the temporary surplus of some banks available to other banks which are temporary in short of funds. </a:t>
            </a:r>
          </a:p>
          <a:p>
            <a:pPr>
              <a:buFont typeface="Wingdings" panose="05000000000000000000" pitchFamily="2" charset="2"/>
              <a:buChar char="v"/>
            </a:pPr>
            <a:r>
              <a:rPr lang="en-US" dirty="0" smtClean="0"/>
              <a:t>Mainly </a:t>
            </a:r>
            <a:r>
              <a:rPr lang="en-US" dirty="0"/>
              <a:t>the banks participate in the call money market. The </a:t>
            </a:r>
            <a:r>
              <a:rPr lang="en-US" dirty="0" smtClean="0"/>
              <a:t>central banks is </a:t>
            </a:r>
            <a:r>
              <a:rPr lang="en-US" dirty="0"/>
              <a:t>always on the lenders’ side of the market. </a:t>
            </a:r>
          </a:p>
          <a:p>
            <a:pPr>
              <a:buFont typeface="Wingdings" panose="05000000000000000000" pitchFamily="2" charset="2"/>
              <a:buChar char="v"/>
            </a:pPr>
            <a:r>
              <a:rPr lang="en-US" dirty="0" smtClean="0"/>
              <a:t>The </a:t>
            </a:r>
            <a:r>
              <a:rPr lang="en-US" dirty="0"/>
              <a:t>call money market operates through brokers who always keep in touch with banks and establish a link between the borrowing and lending banks. </a:t>
            </a:r>
          </a:p>
          <a:p>
            <a:pPr>
              <a:buFont typeface="Wingdings" panose="05000000000000000000" pitchFamily="2" charset="2"/>
              <a:buChar char="v"/>
            </a:pPr>
            <a:r>
              <a:rPr lang="en-US" dirty="0" smtClean="0"/>
              <a:t>The </a:t>
            </a:r>
            <a:r>
              <a:rPr lang="en-US" dirty="0"/>
              <a:t>call money market is highly sensitive and competitive market. As such, it acts as the best indicator of the liquidity position of the organised money market. </a:t>
            </a:r>
          </a:p>
          <a:p>
            <a:pPr>
              <a:buFont typeface="Wingdings" panose="05000000000000000000" pitchFamily="2" charset="2"/>
              <a:buChar char="v"/>
            </a:pPr>
            <a:r>
              <a:rPr lang="en-US" dirty="0" smtClean="0"/>
              <a:t>The </a:t>
            </a:r>
            <a:r>
              <a:rPr lang="en-US" dirty="0"/>
              <a:t>rate of interest in the call money market is highly unstable. It quickly rises under the pressures of excess demand for funds and quickly falls under the pressures of excess supply of funds. </a:t>
            </a:r>
          </a:p>
          <a:p>
            <a:pPr>
              <a:buFont typeface="Wingdings" panose="05000000000000000000" pitchFamily="2" charset="2"/>
              <a:buChar char="v"/>
            </a:pPr>
            <a:r>
              <a:rPr lang="en-US" dirty="0" smtClean="0"/>
              <a:t>The </a:t>
            </a:r>
            <a:r>
              <a:rPr lang="en-US" dirty="0"/>
              <a:t>call money market plays a vital role in removing the day-to-day fluctuations in the reserve position of the individual banks and improving the functioning of the banking system in the country.</a:t>
            </a:r>
            <a:endParaRPr lang="en-GB" dirty="0"/>
          </a:p>
        </p:txBody>
      </p:sp>
    </p:spTree>
    <p:extLst>
      <p:ext uri="{BB962C8B-B14F-4D97-AF65-F5344CB8AC3E}">
        <p14:creationId xmlns:p14="http://schemas.microsoft.com/office/powerpoint/2010/main" val="42337180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Sub-Markets of Organised Money Market</a:t>
            </a:r>
            <a:endParaRPr lang="en-GB" dirty="0"/>
          </a:p>
        </p:txBody>
      </p:sp>
      <p:sp>
        <p:nvSpPr>
          <p:cNvPr id="3" name="Content Placeholder 2"/>
          <p:cNvSpPr>
            <a:spLocks noGrp="1"/>
          </p:cNvSpPr>
          <p:nvPr>
            <p:ph idx="1"/>
          </p:nvPr>
        </p:nvSpPr>
        <p:spPr>
          <a:xfrm>
            <a:off x="838200" y="1436914"/>
            <a:ext cx="10515600" cy="5290457"/>
          </a:xfrm>
        </p:spPr>
        <p:txBody>
          <a:bodyPr>
            <a:normAutofit lnSpcReduction="10000"/>
          </a:bodyPr>
          <a:lstStyle/>
          <a:p>
            <a:pPr marL="0" indent="0">
              <a:buNone/>
            </a:pPr>
            <a:r>
              <a:rPr lang="en-GB" b="1" dirty="0"/>
              <a:t>2</a:t>
            </a:r>
            <a:r>
              <a:rPr lang="en-GB" b="1" dirty="0" smtClean="0"/>
              <a:t>. </a:t>
            </a:r>
            <a:r>
              <a:rPr lang="en-GB" b="1" dirty="0"/>
              <a:t>Treasury Bill Market</a:t>
            </a:r>
            <a:r>
              <a:rPr lang="en-GB" b="1" dirty="0" smtClean="0"/>
              <a:t>:</a:t>
            </a:r>
          </a:p>
          <a:p>
            <a:pPr>
              <a:buFont typeface="Wingdings" panose="05000000000000000000" pitchFamily="2" charset="2"/>
              <a:buChar char="v"/>
            </a:pPr>
            <a:r>
              <a:rPr lang="en-US" dirty="0"/>
              <a:t>The treasury bill market deals in treasury bills which are the short-term (i.e., 91, 182 and 364 days) liability of the </a:t>
            </a:r>
            <a:r>
              <a:rPr lang="en-US" dirty="0" smtClean="0"/>
              <a:t>Governments.</a:t>
            </a:r>
          </a:p>
          <a:p>
            <a:pPr>
              <a:buFont typeface="Wingdings" panose="05000000000000000000" pitchFamily="2" charset="2"/>
              <a:buChar char="v"/>
            </a:pPr>
            <a:r>
              <a:rPr lang="en-US" dirty="0"/>
              <a:t>The regular treasury bills are sold to the banks and public and are freely marketable. </a:t>
            </a:r>
            <a:endParaRPr lang="en-US" dirty="0" smtClean="0"/>
          </a:p>
          <a:p>
            <a:pPr>
              <a:buFont typeface="Wingdings" panose="05000000000000000000" pitchFamily="2" charset="2"/>
              <a:buChar char="v"/>
            </a:pPr>
            <a:r>
              <a:rPr lang="en-US" dirty="0" smtClean="0"/>
              <a:t>Both </a:t>
            </a:r>
            <a:r>
              <a:rPr lang="en-US" dirty="0"/>
              <a:t>types of ad hoc and regular treasury bills are sold by </a:t>
            </a:r>
            <a:r>
              <a:rPr lang="en-US" dirty="0" smtClean="0"/>
              <a:t>Central </a:t>
            </a:r>
            <a:r>
              <a:rPr lang="en-US" dirty="0"/>
              <a:t>Bank of </a:t>
            </a:r>
            <a:r>
              <a:rPr lang="en-US" dirty="0" smtClean="0"/>
              <a:t>Zambia </a:t>
            </a:r>
            <a:r>
              <a:rPr lang="en-US" dirty="0"/>
              <a:t>on behalf of the Central </a:t>
            </a:r>
            <a:r>
              <a:rPr lang="en-US" dirty="0" smtClean="0"/>
              <a:t>Government.</a:t>
            </a:r>
          </a:p>
          <a:p>
            <a:pPr>
              <a:buFont typeface="Wingdings" panose="05000000000000000000" pitchFamily="2" charset="2"/>
              <a:buChar char="v"/>
            </a:pPr>
            <a:r>
              <a:rPr lang="en-US" dirty="0"/>
              <a:t>Besides the Reserve Bank, some treasury bills are held by commercial banks, state government and semi-government bodies. </a:t>
            </a:r>
            <a:endParaRPr lang="en-US" dirty="0" smtClean="0"/>
          </a:p>
          <a:p>
            <a:pPr>
              <a:buFont typeface="Wingdings" panose="05000000000000000000" pitchFamily="2" charset="2"/>
              <a:buChar char="v"/>
            </a:pPr>
            <a:r>
              <a:rPr lang="en-US" dirty="0" smtClean="0"/>
              <a:t>But</a:t>
            </a:r>
            <a:r>
              <a:rPr lang="en-US" dirty="0"/>
              <a:t>, these treasury bills are not popular with the non-bank financial institutions, corporations, and individuals mainly because of absence of a developed treasury bill market. </a:t>
            </a:r>
            <a:endParaRPr lang="en-GB" b="1" dirty="0"/>
          </a:p>
        </p:txBody>
      </p:sp>
    </p:spTree>
    <p:extLst>
      <p:ext uri="{BB962C8B-B14F-4D97-AF65-F5344CB8AC3E}">
        <p14:creationId xmlns:p14="http://schemas.microsoft.com/office/powerpoint/2010/main" val="28847614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Sub-Markets of Organised Money Market</a:t>
            </a:r>
            <a:endParaRPr lang="en-GB" dirty="0"/>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v"/>
            </a:pPr>
            <a:r>
              <a:rPr lang="en-GB" b="1" dirty="0"/>
              <a:t>3</a:t>
            </a:r>
            <a:r>
              <a:rPr lang="en-GB" b="1" dirty="0" smtClean="0"/>
              <a:t>. </a:t>
            </a:r>
            <a:r>
              <a:rPr lang="en-GB" b="1" dirty="0"/>
              <a:t>Commercial Bill </a:t>
            </a:r>
            <a:r>
              <a:rPr lang="en-GB" b="1" dirty="0" smtClean="0"/>
              <a:t>Ma</a:t>
            </a:r>
            <a:r>
              <a:rPr lang="en-US" dirty="0"/>
              <a:t>Commercial bill market deals in commercial bills issued by the firms engaged in business. </a:t>
            </a:r>
          </a:p>
          <a:p>
            <a:pPr>
              <a:buFont typeface="Wingdings" panose="05000000000000000000" pitchFamily="2" charset="2"/>
              <a:buChar char="v"/>
            </a:pPr>
            <a:r>
              <a:rPr lang="en-US" dirty="0"/>
              <a:t>These bills are generally of three months maturity. A commercial bill is a promise to pay a specified amount in a specified period by the buyer of goods to the seller of the goods. </a:t>
            </a:r>
          </a:p>
          <a:p>
            <a:pPr>
              <a:buFont typeface="Wingdings" panose="05000000000000000000" pitchFamily="2" charset="2"/>
              <a:buChar char="v"/>
            </a:pPr>
            <a:r>
              <a:rPr lang="en-US" dirty="0"/>
              <a:t>The seller, who has sold his goods on credit draws the bill and sends it to the buyer for acceptance. </a:t>
            </a:r>
          </a:p>
          <a:p>
            <a:pPr>
              <a:buFont typeface="Wingdings" panose="05000000000000000000" pitchFamily="2" charset="2"/>
              <a:buChar char="v"/>
            </a:pPr>
            <a:r>
              <a:rPr lang="en-US" dirty="0"/>
              <a:t>After the buyer or his bank writes the word ‘accepted’ on the bill, it becomes a marketable instrument and is sent to the seller. </a:t>
            </a:r>
            <a:r>
              <a:rPr lang="en-GB" dirty="0"/>
              <a:t> </a:t>
            </a:r>
          </a:p>
          <a:p>
            <a:pPr marL="0" indent="0">
              <a:buNone/>
            </a:pPr>
            <a:r>
              <a:rPr lang="en-GB" b="1" dirty="0" err="1" smtClean="0"/>
              <a:t>rket</a:t>
            </a:r>
            <a:r>
              <a:rPr lang="en-GB" b="1" dirty="0" smtClean="0"/>
              <a:t>:</a:t>
            </a:r>
          </a:p>
        </p:txBody>
      </p:sp>
    </p:spTree>
    <p:extLst>
      <p:ext uri="{BB962C8B-B14F-4D97-AF65-F5344CB8AC3E}">
        <p14:creationId xmlns:p14="http://schemas.microsoft.com/office/powerpoint/2010/main" val="6387560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Sub-Markets of Organised Money Market</a:t>
            </a:r>
            <a:endParaRPr lang="en-GB" dirty="0"/>
          </a:p>
        </p:txBody>
      </p:sp>
      <p:sp>
        <p:nvSpPr>
          <p:cNvPr id="3" name="Content Placeholder 2"/>
          <p:cNvSpPr>
            <a:spLocks noGrp="1"/>
          </p:cNvSpPr>
          <p:nvPr>
            <p:ph idx="1"/>
          </p:nvPr>
        </p:nvSpPr>
        <p:spPr/>
        <p:txBody>
          <a:bodyPr/>
          <a:lstStyle/>
          <a:p>
            <a:pPr marL="0" indent="0">
              <a:buNone/>
            </a:pPr>
            <a:r>
              <a:rPr lang="en-GB" b="1" dirty="0" smtClean="0"/>
              <a:t>4. Collateral </a:t>
            </a:r>
            <a:r>
              <a:rPr lang="en-GB" b="1" dirty="0"/>
              <a:t>Loan Market</a:t>
            </a:r>
            <a:r>
              <a:rPr lang="en-GB" dirty="0"/>
              <a:t>: </a:t>
            </a:r>
          </a:p>
          <a:p>
            <a:r>
              <a:rPr lang="en-US" dirty="0"/>
              <a:t>Collateral loan market deals with collateral loans i.e., loans backed by security. </a:t>
            </a:r>
            <a:endParaRPr lang="en-US" dirty="0" smtClean="0"/>
          </a:p>
          <a:p>
            <a:r>
              <a:rPr lang="en-US" dirty="0" smtClean="0"/>
              <a:t>In </a:t>
            </a:r>
            <a:r>
              <a:rPr lang="en-US" dirty="0"/>
              <a:t>the Indian collateral loan market, the commercial banks provide short- term loans against government securities, shares and debentures of the government, etc. </a:t>
            </a:r>
            <a:endParaRPr lang="en-GB" dirty="0"/>
          </a:p>
        </p:txBody>
      </p:sp>
    </p:spTree>
    <p:extLst>
      <p:ext uri="{BB962C8B-B14F-4D97-AF65-F5344CB8AC3E}">
        <p14:creationId xmlns:p14="http://schemas.microsoft.com/office/powerpoint/2010/main" val="29422188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Sub-Markets of Organised Money Market</a:t>
            </a:r>
            <a:endParaRPr lang="en-GB" dirty="0"/>
          </a:p>
        </p:txBody>
      </p:sp>
      <p:sp>
        <p:nvSpPr>
          <p:cNvPr id="3" name="Content Placeholder 2"/>
          <p:cNvSpPr>
            <a:spLocks noGrp="1"/>
          </p:cNvSpPr>
          <p:nvPr>
            <p:ph idx="1"/>
          </p:nvPr>
        </p:nvSpPr>
        <p:spPr/>
        <p:txBody>
          <a:bodyPr/>
          <a:lstStyle/>
          <a:p>
            <a:pPr marL="0" indent="0">
              <a:buNone/>
            </a:pPr>
            <a:r>
              <a:rPr lang="en-US" b="1" dirty="0"/>
              <a:t>4</a:t>
            </a:r>
            <a:r>
              <a:rPr lang="en-US" b="1" dirty="0" smtClean="0"/>
              <a:t>. </a:t>
            </a:r>
            <a:r>
              <a:rPr lang="en-US" b="1" dirty="0"/>
              <a:t>Certificate of Deposit and Commercial Paper Markets: </a:t>
            </a:r>
          </a:p>
          <a:p>
            <a:r>
              <a:rPr lang="en-US" dirty="0"/>
              <a:t>Certificate of Deposit (CD) and Commercial Paper (CP) markets deal with certificates of deposit and commercial papers. </a:t>
            </a:r>
            <a:endParaRPr lang="en-US" dirty="0" smtClean="0"/>
          </a:p>
          <a:p>
            <a:r>
              <a:rPr lang="en-US" dirty="0" smtClean="0"/>
              <a:t>These </a:t>
            </a:r>
            <a:r>
              <a:rPr lang="en-US" dirty="0"/>
              <a:t>two instruments (CD and CP) were introduced by </a:t>
            </a:r>
            <a:r>
              <a:rPr lang="en-US" dirty="0" smtClean="0"/>
              <a:t>in </a:t>
            </a:r>
            <a:r>
              <a:rPr lang="en-US" dirty="0"/>
              <a:t>order to widen the range of money market instruments and give investors greater flexibility in the deployment of their short-term surplus funds. </a:t>
            </a:r>
            <a:endParaRPr lang="en-GB" dirty="0"/>
          </a:p>
        </p:txBody>
      </p:sp>
    </p:spTree>
    <p:extLst>
      <p:ext uri="{BB962C8B-B14F-4D97-AF65-F5344CB8AC3E}">
        <p14:creationId xmlns:p14="http://schemas.microsoft.com/office/powerpoint/2010/main" val="25689499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Key Characteristics</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lvl="0"/>
            <a:r>
              <a:rPr lang="en-GB" b="1" dirty="0" smtClean="0"/>
              <a:t>Short </a:t>
            </a:r>
            <a:r>
              <a:rPr lang="en-GB" b="1" dirty="0"/>
              <a:t>Maturity</a:t>
            </a:r>
            <a:r>
              <a:rPr lang="en-GB" dirty="0"/>
              <a:t>: All instruments mature within 365 days.</a:t>
            </a:r>
            <a:endParaRPr lang="en-US" dirty="0"/>
          </a:p>
          <a:p>
            <a:pPr lvl="0"/>
            <a:r>
              <a:rPr lang="en-GB" b="1" dirty="0"/>
              <a:t>High Liquidity</a:t>
            </a:r>
            <a:r>
              <a:rPr lang="en-GB" dirty="0"/>
              <a:t>: Assets are "near-money," meaning they can be converted to cash quickly with minimal value loss.</a:t>
            </a:r>
            <a:endParaRPr lang="en-US" dirty="0"/>
          </a:p>
          <a:p>
            <a:pPr lvl="0"/>
            <a:r>
              <a:rPr lang="en-GB" b="1" dirty="0"/>
              <a:t>Low Risk</a:t>
            </a:r>
            <a:r>
              <a:rPr lang="en-GB" dirty="0"/>
              <a:t>: Borrowers are typically highly-rated entities like governments and large corporations, minimizing default risk.</a:t>
            </a:r>
            <a:endParaRPr lang="en-US" dirty="0"/>
          </a:p>
          <a:p>
            <a:pPr lvl="0"/>
            <a:r>
              <a:rPr lang="en-GB" b="1" dirty="0"/>
              <a:t>Wholesale Nature</a:t>
            </a:r>
            <a:r>
              <a:rPr lang="en-GB" dirty="0"/>
              <a:t>: Historically characterized by large transaction volumes between institutional players.</a:t>
            </a:r>
            <a:endParaRPr lang="en-US" dirty="0"/>
          </a:p>
          <a:p>
            <a:endParaRPr lang="en-US" dirty="0"/>
          </a:p>
        </p:txBody>
      </p:sp>
    </p:spTree>
    <p:extLst>
      <p:ext uri="{BB962C8B-B14F-4D97-AF65-F5344CB8AC3E}">
        <p14:creationId xmlns:p14="http://schemas.microsoft.com/office/powerpoint/2010/main" val="34290400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effectLst>
                  <a:outerShdw blurRad="38100" dist="38100" dir="2700000" algn="tl">
                    <a:srgbClr val="000000">
                      <a:alpha val="43137"/>
                    </a:srgbClr>
                  </a:outerShdw>
                </a:effectLst>
              </a:rPr>
              <a:t>Principal Functions</a:t>
            </a:r>
            <a:r>
              <a:rPr lang="en-US" dirty="0">
                <a:effectLst>
                  <a:outerShdw blurRad="38100" dist="38100" dir="2700000" algn="tl">
                    <a:srgbClr val="000000">
                      <a:alpha val="43137"/>
                    </a:srgbClr>
                  </a:outerShdw>
                </a:effectLst>
              </a:rPr>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lvl="0"/>
            <a:r>
              <a:rPr lang="en-GB" b="1" dirty="0" smtClean="0"/>
              <a:t>Financing </a:t>
            </a:r>
            <a:r>
              <a:rPr lang="en-GB" b="1" dirty="0"/>
              <a:t>Trade and Industry</a:t>
            </a:r>
            <a:r>
              <a:rPr lang="en-GB" dirty="0"/>
              <a:t>: Provides working capital for firms to pay salaries and buy inventory.</a:t>
            </a:r>
            <a:endParaRPr lang="en-US" dirty="0"/>
          </a:p>
          <a:p>
            <a:pPr lvl="0"/>
            <a:r>
              <a:rPr lang="en-GB" b="1" dirty="0"/>
              <a:t>Liquidity Management</a:t>
            </a:r>
            <a:r>
              <a:rPr lang="en-GB" dirty="0"/>
              <a:t>: Allows banks and institutions to park surplus cash or borrow to meet reserve requirements.</a:t>
            </a:r>
            <a:endParaRPr lang="en-US" dirty="0"/>
          </a:p>
          <a:p>
            <a:pPr lvl="0"/>
            <a:r>
              <a:rPr lang="en-GB" b="1" dirty="0"/>
              <a:t>Monetary Policy Implementation</a:t>
            </a:r>
            <a:r>
              <a:rPr lang="en-GB" dirty="0"/>
              <a:t>: Central banks (e.g., </a:t>
            </a:r>
            <a:r>
              <a:rPr lang="en-GB" u="sng" dirty="0">
                <a:hlinkClick r:id="rId2"/>
              </a:rPr>
              <a:t>the RBI</a:t>
            </a:r>
            <a:r>
              <a:rPr lang="en-GB" dirty="0"/>
              <a:t>) use the money market to signal interest rate changes and control the money supply.</a:t>
            </a:r>
            <a:endParaRPr lang="en-US" dirty="0"/>
          </a:p>
          <a:p>
            <a:r>
              <a:rPr lang="en-GB" b="1" dirty="0"/>
              <a:t>Interest Rate Benchmark</a:t>
            </a:r>
            <a:r>
              <a:rPr lang="en-GB" dirty="0"/>
              <a:t>: Short-term rates in this market serve as a reference for pricing other loans, mortgages, and credit products.</a:t>
            </a:r>
            <a:endParaRPr lang="en-US" dirty="0"/>
          </a:p>
        </p:txBody>
      </p:sp>
    </p:spTree>
    <p:extLst>
      <p:ext uri="{BB962C8B-B14F-4D97-AF65-F5344CB8AC3E}">
        <p14:creationId xmlns:p14="http://schemas.microsoft.com/office/powerpoint/2010/main" val="19323591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effectLst>
                  <a:outerShdw blurRad="38100" dist="38100" dir="2700000" algn="tl">
                    <a:srgbClr val="000000">
                      <a:alpha val="43137"/>
                    </a:srgbClr>
                  </a:outerShdw>
                </a:effectLst>
              </a:rPr>
              <a:t>Major Instruments</a:t>
            </a:r>
            <a:r>
              <a:rPr lang="en-US" dirty="0">
                <a:effectLst>
                  <a:outerShdw blurRad="38100" dist="38100" dir="2700000" algn="tl">
                    <a:srgbClr val="000000">
                      <a:alpha val="43137"/>
                    </a:srgbClr>
                  </a:outerShdw>
                </a:effectLst>
              </a:rPr>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156447"/>
            <a:ext cx="10515600" cy="5020516"/>
          </a:xfrm>
        </p:spPr>
        <p:txBody>
          <a:bodyPr>
            <a:normAutofit fontScale="92500" lnSpcReduction="20000"/>
          </a:bodyPr>
          <a:lstStyle/>
          <a:p>
            <a:r>
              <a:rPr lang="en-GB" b="1" dirty="0" smtClean="0"/>
              <a:t>Treasury </a:t>
            </a:r>
            <a:r>
              <a:rPr lang="en-GB" b="1" dirty="0"/>
              <a:t>Bills (T-Bills)</a:t>
            </a:r>
            <a:r>
              <a:rPr lang="en-GB" dirty="0"/>
              <a:t>: Short-term government debt issued by the BoZ with maturities of </a:t>
            </a:r>
            <a:r>
              <a:rPr lang="en-GB" b="1" dirty="0"/>
              <a:t>91, 182, 273, and 364 days</a:t>
            </a:r>
            <a:r>
              <a:rPr lang="en-GB" dirty="0"/>
              <a:t>. </a:t>
            </a:r>
            <a:endParaRPr lang="en-GB" dirty="0" smtClean="0"/>
          </a:p>
          <a:p>
            <a:r>
              <a:rPr lang="en-GB" dirty="0" smtClean="0"/>
              <a:t>They </a:t>
            </a:r>
            <a:r>
              <a:rPr lang="en-GB" dirty="0"/>
              <a:t>are sold at a discount to face value, with the difference serving as the investor's </a:t>
            </a:r>
            <a:r>
              <a:rPr lang="en-GB" dirty="0" smtClean="0"/>
              <a:t>interest, </a:t>
            </a:r>
            <a:r>
              <a:rPr lang="en-GB" dirty="0"/>
              <a:t>They are considered "zero-risk</a:t>
            </a:r>
            <a:r>
              <a:rPr lang="en-GB" dirty="0" smtClean="0"/>
              <a:t>".</a:t>
            </a:r>
            <a:endParaRPr lang="en-US" dirty="0"/>
          </a:p>
          <a:p>
            <a:pPr lvl="0"/>
            <a:r>
              <a:rPr lang="en-GB" b="1" dirty="0"/>
              <a:t>Commercial Paper (CP)</a:t>
            </a:r>
            <a:r>
              <a:rPr lang="en-GB" dirty="0"/>
              <a:t>: Unsecured promissory notes issued by blue-chip corporations to fund short-term liabilities.</a:t>
            </a:r>
            <a:endParaRPr lang="en-US" dirty="0"/>
          </a:p>
          <a:p>
            <a:r>
              <a:rPr lang="en-GB" b="1" dirty="0" smtClean="0"/>
              <a:t>Certificates </a:t>
            </a:r>
            <a:r>
              <a:rPr lang="en-GB" b="1" dirty="0"/>
              <a:t>of Deposit (CDs)</a:t>
            </a:r>
            <a:r>
              <a:rPr lang="en-GB" dirty="0"/>
              <a:t>: Short-duration time deposits issued by commercial banks that generally offer higher interest rates than standard savings accounts</a:t>
            </a:r>
            <a:r>
              <a:rPr lang="en-GB" dirty="0" smtClean="0"/>
              <a:t>. Offer at </a:t>
            </a:r>
            <a:r>
              <a:rPr lang="en-GB" dirty="0"/>
              <a:t>a fixed interest rate for a specific term</a:t>
            </a:r>
            <a:r>
              <a:rPr lang="en-GB" dirty="0" smtClean="0"/>
              <a:t>.</a:t>
            </a:r>
            <a:endParaRPr lang="en-US" dirty="0"/>
          </a:p>
          <a:p>
            <a:pPr lvl="0"/>
            <a:r>
              <a:rPr lang="en-GB" b="1" dirty="0"/>
              <a:t>Repurchase Agreements (Repos)</a:t>
            </a:r>
            <a:r>
              <a:rPr lang="en-GB" dirty="0"/>
              <a:t>: Short-term loans where a seller provides securities as collateral with an agreement to buy them back later at a higher price.</a:t>
            </a:r>
            <a:endParaRPr lang="en-US" dirty="0"/>
          </a:p>
          <a:p>
            <a:pPr lvl="0"/>
            <a:r>
              <a:rPr lang="en-GB" b="1" dirty="0"/>
              <a:t>Call Money</a:t>
            </a:r>
            <a:r>
              <a:rPr lang="en-GB" dirty="0"/>
              <a:t>: Funds borrowed or lent for one day (overnight) between banks to manage daily liquidity.</a:t>
            </a:r>
            <a:endParaRPr lang="en-US" dirty="0"/>
          </a:p>
          <a:p>
            <a:endParaRPr lang="en-US" dirty="0"/>
          </a:p>
        </p:txBody>
      </p:sp>
    </p:spTree>
    <p:extLst>
      <p:ext uri="{BB962C8B-B14F-4D97-AF65-F5344CB8AC3E}">
        <p14:creationId xmlns:p14="http://schemas.microsoft.com/office/powerpoint/2010/main" val="30354391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GB" b="1" dirty="0"/>
              <a:t>Interbank Lending</a:t>
            </a:r>
            <a:r>
              <a:rPr lang="en-GB" dirty="0"/>
              <a:t>: A market where commercial banks lend to one another, typically overnight, to manage daily liquidity requirements and meet the </a:t>
            </a:r>
            <a:r>
              <a:rPr lang="en-GB" u="sng" dirty="0" smtClean="0">
                <a:hlinkClick r:id="rId2"/>
              </a:rPr>
              <a:t>Statutory </a:t>
            </a:r>
            <a:r>
              <a:rPr lang="en-GB" u="sng" dirty="0">
                <a:hlinkClick r:id="rId2"/>
              </a:rPr>
              <a:t>Reserve Ratio (</a:t>
            </a:r>
            <a:r>
              <a:rPr lang="en-GB" u="sng" dirty="0" smtClean="0">
                <a:hlinkClick r:id="rId2"/>
              </a:rPr>
              <a:t>SRR)</a:t>
            </a:r>
            <a:endParaRPr lang="en-GB" u="sng" dirty="0" smtClean="0"/>
          </a:p>
          <a:p>
            <a:pPr lvl="0"/>
            <a:r>
              <a:rPr lang="en-GB" b="1" dirty="0"/>
              <a:t>Repurchase Agreements (Repos)</a:t>
            </a:r>
            <a:r>
              <a:rPr lang="en-GB" dirty="0"/>
              <a:t>: Used by the BoZ as part of </a:t>
            </a:r>
            <a:r>
              <a:rPr lang="en-GB" b="1" dirty="0"/>
              <a:t>Open Market Operations (OMO)</a:t>
            </a:r>
            <a:r>
              <a:rPr lang="en-GB" dirty="0"/>
              <a:t> to manage short-term liquidity imbalances in the banking system and influence interest rates. </a:t>
            </a:r>
            <a:endParaRPr lang="en-US" dirty="0"/>
          </a:p>
          <a:p>
            <a:endParaRPr lang="en-US" dirty="0"/>
          </a:p>
        </p:txBody>
      </p:sp>
    </p:spTree>
    <p:extLst>
      <p:ext uri="{BB962C8B-B14F-4D97-AF65-F5344CB8AC3E}">
        <p14:creationId xmlns:p14="http://schemas.microsoft.com/office/powerpoint/2010/main" val="4375413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Market </a:t>
            </a:r>
            <a:r>
              <a:rPr lang="en-GB" b="1" dirty="0" smtClean="0">
                <a:effectLst>
                  <a:outerShdw blurRad="38100" dist="38100" dir="2700000" algn="tl">
                    <a:srgbClr val="000000">
                      <a:alpha val="43137"/>
                    </a:srgbClr>
                  </a:outerShdw>
                </a:effectLst>
              </a:rPr>
              <a:t>Participants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GB" b="1" dirty="0" smtClean="0"/>
              <a:t>Central </a:t>
            </a:r>
            <a:r>
              <a:rPr lang="en-GB" b="1" dirty="0"/>
              <a:t>Banks</a:t>
            </a:r>
            <a:r>
              <a:rPr lang="en-GB" dirty="0"/>
              <a:t>: Act as the regulator and "lender of last resort," conducting open market operations to stabilize the economy.</a:t>
            </a:r>
            <a:endParaRPr lang="en-US" dirty="0"/>
          </a:p>
          <a:p>
            <a:pPr lvl="0"/>
            <a:r>
              <a:rPr lang="en-GB" b="1" dirty="0"/>
              <a:t>Commercial Banks</a:t>
            </a:r>
            <a:r>
              <a:rPr lang="en-GB" dirty="0"/>
              <a:t>: The most active players, borrowing and lending to each other to maintain statutory reserve ratios.</a:t>
            </a:r>
            <a:endParaRPr lang="en-US" dirty="0"/>
          </a:p>
          <a:p>
            <a:pPr lvl="0"/>
            <a:r>
              <a:rPr lang="en-GB" b="1" dirty="0"/>
              <a:t>Corporations</a:t>
            </a:r>
            <a:r>
              <a:rPr lang="en-GB" dirty="0"/>
              <a:t>: Issue commercial paper to bridge cash gaps or invest idle funds for modest returns.</a:t>
            </a:r>
            <a:endParaRPr lang="en-US" dirty="0"/>
          </a:p>
          <a:p>
            <a:pPr lvl="0"/>
            <a:r>
              <a:rPr lang="en-GB" b="1" dirty="0"/>
              <a:t>Mutual Funds</a:t>
            </a:r>
            <a:r>
              <a:rPr lang="en-GB" dirty="0"/>
              <a:t>: Specifically </a:t>
            </a:r>
            <a:r>
              <a:rPr lang="en-GB" u="sng" dirty="0">
                <a:hlinkClick r:id="rId2"/>
              </a:rPr>
              <a:t>Money Market Mutual Funds</a:t>
            </a:r>
            <a:r>
              <a:rPr lang="en-GB" dirty="0"/>
              <a:t>, which pool retail money to invest in high-grade short-term paper.</a:t>
            </a:r>
            <a:endParaRPr lang="en-US" dirty="0"/>
          </a:p>
          <a:p>
            <a:pPr lvl="0"/>
            <a:r>
              <a:rPr lang="en-GB" b="1" dirty="0"/>
              <a:t>Retail Investors</a:t>
            </a:r>
            <a:r>
              <a:rPr lang="en-GB" dirty="0"/>
              <a:t>: Participate indirectly through money market accounts or funds for capital preservation.</a:t>
            </a:r>
            <a:endParaRPr lang="en-US" dirty="0"/>
          </a:p>
          <a:p>
            <a:endParaRPr lang="en-US" dirty="0"/>
          </a:p>
        </p:txBody>
      </p:sp>
    </p:spTree>
    <p:extLst>
      <p:ext uri="{BB962C8B-B14F-4D97-AF65-F5344CB8AC3E}">
        <p14:creationId xmlns:p14="http://schemas.microsoft.com/office/powerpoint/2010/main" val="20454394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GB" altLang="en-US" b="1" dirty="0" smtClean="0">
                <a:solidFill>
                  <a:srgbClr val="0A0A0A"/>
                </a:solidFill>
                <a:latin typeface="Roboto"/>
                <a:ea typeface="Times New Roman" panose="02020603050405020304" pitchFamily="18" charset="0"/>
                <a:cs typeface="Times New Roman" panose="02020603050405020304" pitchFamily="18" charset="0"/>
              </a:rPr>
              <a:t/>
            </a:r>
            <a:br>
              <a:rPr lang="en-GB" altLang="en-US" b="1" dirty="0" smtClean="0">
                <a:solidFill>
                  <a:srgbClr val="0A0A0A"/>
                </a:solidFill>
                <a:latin typeface="Roboto"/>
                <a:ea typeface="Times New Roman" panose="02020603050405020304" pitchFamily="18" charset="0"/>
                <a:cs typeface="Times New Roman" panose="02020603050405020304" pitchFamily="18" charset="0"/>
              </a:rPr>
            </a:br>
            <a:r>
              <a:rPr lang="en-GB" altLang="en-US" b="1" dirty="0" smtClean="0">
                <a:solidFill>
                  <a:srgbClr val="0A0A0A"/>
                </a:solidFill>
                <a:latin typeface="Roboto"/>
                <a:ea typeface="Times New Roman" panose="02020603050405020304" pitchFamily="18" charset="0"/>
                <a:cs typeface="Times New Roman" panose="02020603050405020304" pitchFamily="18" charset="0"/>
              </a:rPr>
              <a:t>Comparative </a:t>
            </a:r>
            <a:r>
              <a:rPr lang="en-GB" altLang="en-US" b="1" dirty="0">
                <a:solidFill>
                  <a:srgbClr val="0A0A0A"/>
                </a:solidFill>
                <a:latin typeface="Roboto"/>
                <a:ea typeface="Times New Roman" panose="02020603050405020304" pitchFamily="18" charset="0"/>
                <a:cs typeface="Times New Roman" panose="02020603050405020304" pitchFamily="18" charset="0"/>
              </a:rPr>
              <a:t>Analysis: Money Market vs. Capital Market</a:t>
            </a:r>
            <a:r>
              <a:rPr lang="en-GB" altLang="en-US" sz="4800" dirty="0">
                <a:latin typeface="Arial" panose="020B0604020202020204" pitchFamily="34" charset="0"/>
              </a:rPr>
              <a:t/>
            </a:r>
            <a:br>
              <a:rPr lang="en-GB" altLang="en-US" sz="4800" dirty="0">
                <a:latin typeface="Arial" panose="020B0604020202020204" pitchFamily="34" charset="0"/>
              </a:rPr>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31362618"/>
              </p:ext>
            </p:extLst>
          </p:nvPr>
        </p:nvGraphicFramePr>
        <p:xfrm>
          <a:off x="838199" y="1690689"/>
          <a:ext cx="10515600" cy="4723559"/>
        </p:xfrm>
        <a:graphic>
          <a:graphicData uri="http://schemas.openxmlformats.org/drawingml/2006/table">
            <a:tbl>
              <a:tblPr firstRow="1" firstCol="1" bandRow="1">
                <a:tableStyleId>{5C22544A-7EE6-4342-B048-85BDC9FD1C3A}</a:tableStyleId>
              </a:tblPr>
              <a:tblGrid>
                <a:gridCol w="3505200">
                  <a:extLst>
                    <a:ext uri="{9D8B030D-6E8A-4147-A177-3AD203B41FA5}">
                      <a16:colId xmlns:a16="http://schemas.microsoft.com/office/drawing/2014/main" val="1025601614"/>
                    </a:ext>
                  </a:extLst>
                </a:gridCol>
                <a:gridCol w="3505200">
                  <a:extLst>
                    <a:ext uri="{9D8B030D-6E8A-4147-A177-3AD203B41FA5}">
                      <a16:colId xmlns:a16="http://schemas.microsoft.com/office/drawing/2014/main" val="3906228776"/>
                    </a:ext>
                  </a:extLst>
                </a:gridCol>
                <a:gridCol w="3505200">
                  <a:extLst>
                    <a:ext uri="{9D8B030D-6E8A-4147-A177-3AD203B41FA5}">
                      <a16:colId xmlns:a16="http://schemas.microsoft.com/office/drawing/2014/main" val="1443899090"/>
                    </a:ext>
                  </a:extLst>
                </a:gridCol>
              </a:tblGrid>
              <a:tr h="639278">
                <a:tc>
                  <a:txBody>
                    <a:bodyPr/>
                    <a:lstStyle/>
                    <a:p>
                      <a:pPr marL="0" marR="0">
                        <a:lnSpc>
                          <a:spcPts val="2145"/>
                        </a:lnSpc>
                        <a:spcBef>
                          <a:spcPts val="0"/>
                        </a:spcBef>
                        <a:spcAft>
                          <a:spcPts val="800"/>
                        </a:spcAft>
                      </a:pPr>
                      <a:r>
                        <a:rPr lang="en-GB" sz="2800" kern="100">
                          <a:effectLst/>
                          <a:latin typeface="Times New Roman" panose="02020603050405020304" pitchFamily="18" charset="0"/>
                          <a:cs typeface="Times New Roman" panose="02020603050405020304" pitchFamily="18" charset="0"/>
                        </a:rPr>
                        <a:t>Feature</a:t>
                      </a:r>
                      <a:endParaRPr lang="en-US" sz="3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30867" marT="65434" marB="65434"/>
                </a:tc>
                <a:tc>
                  <a:txBody>
                    <a:bodyPr/>
                    <a:lstStyle/>
                    <a:p>
                      <a:pPr marL="0" marR="0">
                        <a:lnSpc>
                          <a:spcPts val="2145"/>
                        </a:lnSpc>
                        <a:spcBef>
                          <a:spcPts val="0"/>
                        </a:spcBef>
                        <a:spcAft>
                          <a:spcPts val="800"/>
                        </a:spcAft>
                      </a:pPr>
                      <a:r>
                        <a:rPr lang="en-GB" sz="2800" kern="100">
                          <a:effectLst/>
                          <a:latin typeface="Times New Roman" panose="02020603050405020304" pitchFamily="18" charset="0"/>
                          <a:cs typeface="Times New Roman" panose="02020603050405020304" pitchFamily="18" charset="0"/>
                        </a:rPr>
                        <a:t>Money Market</a:t>
                      </a:r>
                      <a:endParaRPr lang="en-US" sz="3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30867" marR="130867" marT="65434" marB="65434"/>
                </a:tc>
                <a:tc>
                  <a:txBody>
                    <a:bodyPr/>
                    <a:lstStyle/>
                    <a:p>
                      <a:pPr marL="0" marR="0">
                        <a:lnSpc>
                          <a:spcPts val="2145"/>
                        </a:lnSpc>
                        <a:spcBef>
                          <a:spcPts val="0"/>
                        </a:spcBef>
                        <a:spcAft>
                          <a:spcPts val="800"/>
                        </a:spcAft>
                      </a:pPr>
                      <a:r>
                        <a:rPr lang="en-GB" sz="2800" kern="100">
                          <a:effectLst/>
                          <a:latin typeface="Times New Roman" panose="02020603050405020304" pitchFamily="18" charset="0"/>
                          <a:cs typeface="Times New Roman" panose="02020603050405020304" pitchFamily="18" charset="0"/>
                        </a:rPr>
                        <a:t>Capital Market</a:t>
                      </a:r>
                      <a:endParaRPr lang="en-US" sz="3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65434" marB="65434"/>
                </a:tc>
                <a:extLst>
                  <a:ext uri="{0D108BD9-81ED-4DB2-BD59-A6C34878D82A}">
                    <a16:rowId xmlns:a16="http://schemas.microsoft.com/office/drawing/2014/main" val="1713711856"/>
                  </a:ext>
                </a:extLst>
              </a:tr>
              <a:tr h="958918">
                <a:tc>
                  <a:txBody>
                    <a:bodyPr/>
                    <a:lstStyle/>
                    <a:p>
                      <a:pPr marL="0" marR="0">
                        <a:lnSpc>
                          <a:spcPts val="2145"/>
                        </a:lnSpc>
                        <a:spcBef>
                          <a:spcPts val="0"/>
                        </a:spcBef>
                        <a:spcAft>
                          <a:spcPts val="800"/>
                        </a:spcAft>
                      </a:pPr>
                      <a:r>
                        <a:rPr lang="en-GB" sz="2800" kern="100" dirty="0">
                          <a:effectLst/>
                          <a:latin typeface="Times New Roman" panose="02020603050405020304" pitchFamily="18" charset="0"/>
                          <a:cs typeface="Times New Roman" panose="02020603050405020304" pitchFamily="18" charset="0"/>
                        </a:rPr>
                        <a:t>Maturity</a:t>
                      </a:r>
                      <a:endParaRPr lang="en-US" sz="3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30867" marT="98150" marB="98150"/>
                </a:tc>
                <a:tc>
                  <a:txBody>
                    <a:bodyPr/>
                    <a:lstStyle/>
                    <a:p>
                      <a:pPr marL="0" marR="0">
                        <a:lnSpc>
                          <a:spcPts val="2145"/>
                        </a:lnSpc>
                        <a:spcBef>
                          <a:spcPts val="0"/>
                        </a:spcBef>
                        <a:spcAft>
                          <a:spcPts val="800"/>
                        </a:spcAft>
                      </a:pPr>
                      <a:r>
                        <a:rPr lang="en-GB" sz="2800" kern="100">
                          <a:effectLst/>
                          <a:latin typeface="Times New Roman" panose="02020603050405020304" pitchFamily="18" charset="0"/>
                          <a:cs typeface="Times New Roman" panose="02020603050405020304" pitchFamily="18" charset="0"/>
                        </a:rPr>
                        <a:t>Short-term (up to 1 year)</a:t>
                      </a:r>
                      <a:endParaRPr lang="en-US" sz="3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30867" marR="130867" marT="98150" marB="98150"/>
                </a:tc>
                <a:tc>
                  <a:txBody>
                    <a:bodyPr/>
                    <a:lstStyle/>
                    <a:p>
                      <a:pPr marL="0" marR="0">
                        <a:lnSpc>
                          <a:spcPts val="2145"/>
                        </a:lnSpc>
                        <a:spcBef>
                          <a:spcPts val="0"/>
                        </a:spcBef>
                        <a:spcAft>
                          <a:spcPts val="800"/>
                        </a:spcAft>
                      </a:pPr>
                      <a:r>
                        <a:rPr lang="en-GB" sz="2800" kern="100">
                          <a:effectLst/>
                          <a:latin typeface="Times New Roman" panose="02020603050405020304" pitchFamily="18" charset="0"/>
                          <a:cs typeface="Times New Roman" panose="02020603050405020304" pitchFamily="18" charset="0"/>
                        </a:rPr>
                        <a:t>Long-term (over 1 year)</a:t>
                      </a:r>
                      <a:endParaRPr lang="en-US" sz="3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98150" marB="98150"/>
                </a:tc>
                <a:extLst>
                  <a:ext uri="{0D108BD9-81ED-4DB2-BD59-A6C34878D82A}">
                    <a16:rowId xmlns:a16="http://schemas.microsoft.com/office/drawing/2014/main" val="1026709293"/>
                  </a:ext>
                </a:extLst>
              </a:tr>
              <a:tr h="958918">
                <a:tc>
                  <a:txBody>
                    <a:bodyPr/>
                    <a:lstStyle/>
                    <a:p>
                      <a:pPr marL="0" marR="0">
                        <a:lnSpc>
                          <a:spcPts val="2145"/>
                        </a:lnSpc>
                        <a:spcBef>
                          <a:spcPts val="0"/>
                        </a:spcBef>
                        <a:spcAft>
                          <a:spcPts val="800"/>
                        </a:spcAft>
                      </a:pPr>
                      <a:r>
                        <a:rPr lang="en-GB" sz="2800" kern="100">
                          <a:effectLst/>
                          <a:latin typeface="Times New Roman" panose="02020603050405020304" pitchFamily="18" charset="0"/>
                          <a:cs typeface="Times New Roman" panose="02020603050405020304" pitchFamily="18" charset="0"/>
                        </a:rPr>
                        <a:t>Instruments</a:t>
                      </a:r>
                      <a:endParaRPr lang="en-US" sz="3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30867" marT="98150" marB="98150"/>
                </a:tc>
                <a:tc>
                  <a:txBody>
                    <a:bodyPr/>
                    <a:lstStyle/>
                    <a:p>
                      <a:pPr marL="0" marR="0">
                        <a:lnSpc>
                          <a:spcPts val="2145"/>
                        </a:lnSpc>
                        <a:spcBef>
                          <a:spcPts val="0"/>
                        </a:spcBef>
                        <a:spcAft>
                          <a:spcPts val="800"/>
                        </a:spcAft>
                      </a:pPr>
                      <a:r>
                        <a:rPr lang="en-GB" sz="2800" kern="100">
                          <a:effectLst/>
                          <a:latin typeface="Times New Roman" panose="02020603050405020304" pitchFamily="18" charset="0"/>
                          <a:cs typeface="Times New Roman" panose="02020603050405020304" pitchFamily="18" charset="0"/>
                        </a:rPr>
                        <a:t>T-Bills, CP, CDs, Repos</a:t>
                      </a:r>
                      <a:endParaRPr lang="en-US" sz="3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30867" marR="130867" marT="98150" marB="98150"/>
                </a:tc>
                <a:tc>
                  <a:txBody>
                    <a:bodyPr/>
                    <a:lstStyle/>
                    <a:p>
                      <a:pPr marL="0" marR="0">
                        <a:lnSpc>
                          <a:spcPts val="2145"/>
                        </a:lnSpc>
                        <a:spcBef>
                          <a:spcPts val="0"/>
                        </a:spcBef>
                        <a:spcAft>
                          <a:spcPts val="800"/>
                        </a:spcAft>
                      </a:pPr>
                      <a:r>
                        <a:rPr lang="en-GB" sz="2800" kern="100">
                          <a:effectLst/>
                          <a:latin typeface="Times New Roman" panose="02020603050405020304" pitchFamily="18" charset="0"/>
                          <a:cs typeface="Times New Roman" panose="02020603050405020304" pitchFamily="18" charset="0"/>
                        </a:rPr>
                        <a:t>Stocks, Bonds, Debentures</a:t>
                      </a:r>
                      <a:endParaRPr lang="en-US" sz="3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98150" marB="98150"/>
                </a:tc>
                <a:extLst>
                  <a:ext uri="{0D108BD9-81ED-4DB2-BD59-A6C34878D82A}">
                    <a16:rowId xmlns:a16="http://schemas.microsoft.com/office/drawing/2014/main" val="3966307899"/>
                  </a:ext>
                </a:extLst>
              </a:tr>
              <a:tr h="958918">
                <a:tc>
                  <a:txBody>
                    <a:bodyPr/>
                    <a:lstStyle/>
                    <a:p>
                      <a:pPr marL="0" marR="0">
                        <a:lnSpc>
                          <a:spcPts val="2145"/>
                        </a:lnSpc>
                        <a:spcBef>
                          <a:spcPts val="0"/>
                        </a:spcBef>
                        <a:spcAft>
                          <a:spcPts val="800"/>
                        </a:spcAft>
                      </a:pPr>
                      <a:r>
                        <a:rPr lang="en-GB" sz="2800" kern="100">
                          <a:effectLst/>
                          <a:latin typeface="Times New Roman" panose="02020603050405020304" pitchFamily="18" charset="0"/>
                          <a:cs typeface="Times New Roman" panose="02020603050405020304" pitchFamily="18" charset="0"/>
                        </a:rPr>
                        <a:t>Risk</a:t>
                      </a:r>
                      <a:endParaRPr lang="en-US" sz="3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30867" marT="98150" marB="98150"/>
                </a:tc>
                <a:tc>
                  <a:txBody>
                    <a:bodyPr/>
                    <a:lstStyle/>
                    <a:p>
                      <a:pPr marL="0" marR="0">
                        <a:lnSpc>
                          <a:spcPts val="2145"/>
                        </a:lnSpc>
                        <a:spcBef>
                          <a:spcPts val="0"/>
                        </a:spcBef>
                        <a:spcAft>
                          <a:spcPts val="800"/>
                        </a:spcAft>
                      </a:pPr>
                      <a:r>
                        <a:rPr lang="en-GB" sz="2800" kern="100">
                          <a:effectLst/>
                          <a:latin typeface="Times New Roman" panose="02020603050405020304" pitchFamily="18" charset="0"/>
                          <a:cs typeface="Times New Roman" panose="02020603050405020304" pitchFamily="18" charset="0"/>
                        </a:rPr>
                        <a:t>Low (Credit and Market risk)</a:t>
                      </a:r>
                      <a:endParaRPr lang="en-US" sz="3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30867" marR="130867" marT="98150" marB="98150"/>
                </a:tc>
                <a:tc>
                  <a:txBody>
                    <a:bodyPr/>
                    <a:lstStyle/>
                    <a:p>
                      <a:pPr marL="0" marR="0">
                        <a:lnSpc>
                          <a:spcPts val="2145"/>
                        </a:lnSpc>
                        <a:spcBef>
                          <a:spcPts val="0"/>
                        </a:spcBef>
                        <a:spcAft>
                          <a:spcPts val="800"/>
                        </a:spcAft>
                      </a:pPr>
                      <a:r>
                        <a:rPr lang="en-GB" sz="2800" kern="100">
                          <a:effectLst/>
                          <a:latin typeface="Times New Roman" panose="02020603050405020304" pitchFamily="18" charset="0"/>
                          <a:cs typeface="Times New Roman" panose="02020603050405020304" pitchFamily="18" charset="0"/>
                        </a:rPr>
                        <a:t>High (Price volatility)</a:t>
                      </a:r>
                      <a:endParaRPr lang="en-US" sz="3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98150" marB="98150"/>
                </a:tc>
                <a:extLst>
                  <a:ext uri="{0D108BD9-81ED-4DB2-BD59-A6C34878D82A}">
                    <a16:rowId xmlns:a16="http://schemas.microsoft.com/office/drawing/2014/main" val="1799267711"/>
                  </a:ext>
                </a:extLst>
              </a:tr>
              <a:tr h="1207527">
                <a:tc>
                  <a:txBody>
                    <a:bodyPr/>
                    <a:lstStyle/>
                    <a:p>
                      <a:pPr marL="0" marR="0">
                        <a:lnSpc>
                          <a:spcPts val="2145"/>
                        </a:lnSpc>
                        <a:spcBef>
                          <a:spcPts val="0"/>
                        </a:spcBef>
                        <a:spcAft>
                          <a:spcPts val="800"/>
                        </a:spcAft>
                      </a:pPr>
                      <a:r>
                        <a:rPr lang="en-GB" sz="2800" kern="100">
                          <a:effectLst/>
                          <a:latin typeface="Times New Roman" panose="02020603050405020304" pitchFamily="18" charset="0"/>
                          <a:cs typeface="Times New Roman" panose="02020603050405020304" pitchFamily="18" charset="0"/>
                        </a:rPr>
                        <a:t>Primary Purpose</a:t>
                      </a:r>
                      <a:endParaRPr lang="en-US" sz="3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130867" marT="98150" marB="98150"/>
                </a:tc>
                <a:tc>
                  <a:txBody>
                    <a:bodyPr/>
                    <a:lstStyle/>
                    <a:p>
                      <a:pPr marL="0" marR="0">
                        <a:lnSpc>
                          <a:spcPts val="2145"/>
                        </a:lnSpc>
                        <a:spcBef>
                          <a:spcPts val="0"/>
                        </a:spcBef>
                        <a:spcAft>
                          <a:spcPts val="800"/>
                        </a:spcAft>
                      </a:pPr>
                      <a:r>
                        <a:rPr lang="en-GB" sz="2800" kern="100">
                          <a:effectLst/>
                          <a:latin typeface="Times New Roman" panose="02020603050405020304" pitchFamily="18" charset="0"/>
                          <a:cs typeface="Times New Roman" panose="02020603050405020304" pitchFamily="18" charset="0"/>
                        </a:rPr>
                        <a:t>Liquidity and Working Capital</a:t>
                      </a:r>
                      <a:endParaRPr lang="en-US" sz="3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30867" marR="130867" marT="98150" marB="98150"/>
                </a:tc>
                <a:tc>
                  <a:txBody>
                    <a:bodyPr/>
                    <a:lstStyle/>
                    <a:p>
                      <a:pPr marL="0" marR="0">
                        <a:lnSpc>
                          <a:spcPts val="2145"/>
                        </a:lnSpc>
                        <a:spcBef>
                          <a:spcPts val="0"/>
                        </a:spcBef>
                        <a:spcAft>
                          <a:spcPts val="800"/>
                        </a:spcAft>
                      </a:pPr>
                      <a:r>
                        <a:rPr lang="en-GB" sz="2800" kern="100" dirty="0">
                          <a:effectLst/>
                          <a:latin typeface="Times New Roman" panose="02020603050405020304" pitchFamily="18" charset="0"/>
                          <a:cs typeface="Times New Roman" panose="02020603050405020304" pitchFamily="18" charset="0"/>
                        </a:rPr>
                        <a:t>Wealth Creation and Expansion</a:t>
                      </a:r>
                      <a:endParaRPr lang="en-US" sz="3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98150" marB="98150"/>
                </a:tc>
                <a:extLst>
                  <a:ext uri="{0D108BD9-81ED-4DB2-BD59-A6C34878D82A}">
                    <a16:rowId xmlns:a16="http://schemas.microsoft.com/office/drawing/2014/main" val="546554551"/>
                  </a:ext>
                </a:extLst>
              </a:tr>
            </a:tbl>
          </a:graphicData>
        </a:graphic>
      </p:graphicFrame>
    </p:spTree>
    <p:extLst>
      <p:ext uri="{BB962C8B-B14F-4D97-AF65-F5344CB8AC3E}">
        <p14:creationId xmlns:p14="http://schemas.microsoft.com/office/powerpoint/2010/main" val="39164826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Part 1: Money Market Calculations</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85000" lnSpcReduction="10000"/>
          </a:bodyPr>
          <a:lstStyle/>
          <a:p>
            <a:r>
              <a:rPr lang="en-US" dirty="0" smtClean="0"/>
              <a:t>Money </a:t>
            </a:r>
            <a:r>
              <a:rPr lang="en-US" dirty="0"/>
              <a:t>market instruments are often quoted on a discount basis or as a yield. </a:t>
            </a:r>
            <a:endParaRPr lang="en-US" dirty="0" smtClean="0"/>
          </a:p>
          <a:p>
            <a:r>
              <a:rPr lang="en-US" dirty="0" smtClean="0"/>
              <a:t>Understanding </a:t>
            </a:r>
            <a:r>
              <a:rPr lang="en-US" dirty="0"/>
              <a:t>the relationship between the purchase price, face value, and various yield measures is essential.</a:t>
            </a:r>
          </a:p>
          <a:p>
            <a:pPr marL="0" indent="0">
              <a:buNone/>
            </a:pPr>
            <a:r>
              <a:rPr lang="en-US" b="1" dirty="0" smtClean="0"/>
              <a:t>Treasury </a:t>
            </a:r>
            <a:r>
              <a:rPr lang="en-US" b="1" dirty="0"/>
              <a:t>Bill (T-Bill) Price</a:t>
            </a:r>
          </a:p>
          <a:p>
            <a:r>
              <a:rPr lang="en-US" dirty="0"/>
              <a:t>T-Bills do not pay interest; instead, they are sold at a discount. </a:t>
            </a:r>
          </a:p>
          <a:p>
            <a:pPr marL="0" indent="0">
              <a:buNone/>
            </a:pPr>
            <a:r>
              <a:rPr lang="en-US" dirty="0" smtClean="0"/>
              <a:t>Formula</a:t>
            </a:r>
            <a:r>
              <a:rPr lang="en-US" dirty="0"/>
              <a:t>: </a:t>
            </a:r>
            <a:r>
              <a:rPr lang="en-US" dirty="0" smtClean="0"/>
              <a:t> </a:t>
            </a:r>
            <a:r>
              <a:rPr lang="en-US" dirty="0"/>
              <a:t>= Purchase </a:t>
            </a:r>
            <a:r>
              <a:rPr lang="en-US" dirty="0" smtClean="0"/>
              <a:t>Price</a:t>
            </a:r>
            <a:r>
              <a:rPr lang="en-US" dirty="0"/>
              <a:t>	 </a:t>
            </a:r>
          </a:p>
          <a:p>
            <a:r>
              <a:rPr lang="en-US" dirty="0"/>
              <a:t> = Face Value (e.g., $10,000</a:t>
            </a:r>
            <a:r>
              <a:rPr lang="en-US" dirty="0" smtClean="0"/>
              <a:t>)</a:t>
            </a:r>
            <a:r>
              <a:rPr lang="en-US" dirty="0"/>
              <a:t>	 </a:t>
            </a:r>
          </a:p>
          <a:p>
            <a:r>
              <a:rPr lang="en-US" dirty="0"/>
              <a:t> = Quoted Discount Rate (as a decimal</a:t>
            </a:r>
            <a:r>
              <a:rPr lang="en-US" dirty="0" smtClean="0"/>
              <a:t>) </a:t>
            </a:r>
            <a:endParaRPr lang="en-US" dirty="0"/>
          </a:p>
          <a:p>
            <a:r>
              <a:rPr lang="en-US" dirty="0"/>
              <a:t> = Number of days to maturity</a:t>
            </a:r>
          </a:p>
          <a:p>
            <a:r>
              <a:rPr lang="en-US" dirty="0" smtClean="0"/>
              <a:t>Example</a:t>
            </a:r>
            <a:r>
              <a:rPr lang="en-US" dirty="0"/>
              <a:t>: A 91-day T-bill with a $10,000 face value is quoted at a 4% discount</a:t>
            </a:r>
          </a:p>
          <a:p>
            <a:endParaRPr lang="en-US" dirty="0"/>
          </a:p>
        </p:txBody>
      </p:sp>
    </p:spTree>
    <p:extLst>
      <p:ext uri="{BB962C8B-B14F-4D97-AF65-F5344CB8AC3E}">
        <p14:creationId xmlns:p14="http://schemas.microsoft.com/office/powerpoint/2010/main" val="46827173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a:t>
            </a:r>
            <a:endParaRPr lang="en-US" dirty="0"/>
          </a:p>
        </p:txBody>
      </p:sp>
      <p:sp>
        <p:nvSpPr>
          <p:cNvPr id="3" name="Content Placeholder 2"/>
          <p:cNvSpPr>
            <a:spLocks noGrp="1"/>
          </p:cNvSpPr>
          <p:nvPr>
            <p:ph idx="1"/>
          </p:nvPr>
        </p:nvSpPr>
        <p:spPr/>
        <p:txBody>
          <a:bodyPr/>
          <a:lstStyle/>
          <a:p>
            <a:r>
              <a:rPr lang="en-US" dirty="0" smtClean="0"/>
              <a:t>STEP1. CALCULATE THE DOLLAR DISCOUNT</a:t>
            </a:r>
          </a:p>
          <a:p>
            <a:r>
              <a:rPr lang="en-US" dirty="0" smtClean="0"/>
              <a:t>FORMULA: D = F*d*n/360-days</a:t>
            </a:r>
          </a:p>
          <a:p>
            <a:r>
              <a:rPr lang="en-US" dirty="0" smtClean="0"/>
              <a:t>Where; F = Face Value = $10,000</a:t>
            </a:r>
          </a:p>
          <a:p>
            <a:r>
              <a:rPr lang="en-US" dirty="0" smtClean="0"/>
              <a:t>D = Discount Rate = 0.04</a:t>
            </a:r>
          </a:p>
          <a:p>
            <a:r>
              <a:rPr lang="en-US" dirty="0" smtClean="0"/>
              <a:t>N = Days to maturity 91 days </a:t>
            </a:r>
          </a:p>
          <a:p>
            <a:r>
              <a:rPr lang="en-US" dirty="0" smtClean="0"/>
              <a:t>Calculation</a:t>
            </a:r>
          </a:p>
          <a:p>
            <a:r>
              <a:rPr lang="en-US" dirty="0" smtClean="0"/>
              <a:t>D = 10,000*0.04*91/360 = $101.11</a:t>
            </a:r>
          </a:p>
          <a:p>
            <a:endParaRPr lang="en-US" dirty="0" smtClean="0"/>
          </a:p>
        </p:txBody>
      </p:sp>
    </p:spTree>
    <p:extLst>
      <p:ext uri="{BB962C8B-B14F-4D97-AF65-F5344CB8AC3E}">
        <p14:creationId xmlns:p14="http://schemas.microsoft.com/office/powerpoint/2010/main" val="23257535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STEP2. DETERMINE THE PURCHASE PRICE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US" dirty="0" smtClean="0"/>
              <a:t>The purchase price is the face value minus the dollar discount</a:t>
            </a:r>
          </a:p>
          <a:p>
            <a:r>
              <a:rPr lang="en-US" dirty="0" smtClean="0"/>
              <a:t>FORMULA: P = F – D</a:t>
            </a:r>
          </a:p>
          <a:p>
            <a:r>
              <a:rPr lang="en-US" dirty="0" smtClean="0"/>
              <a:t>CALCULATION</a:t>
            </a:r>
          </a:p>
          <a:p>
            <a:r>
              <a:rPr lang="en-US" dirty="0" smtClean="0"/>
              <a:t>P = 10,000 – 101.11 = $9898.89</a:t>
            </a:r>
          </a:p>
          <a:p>
            <a:r>
              <a:rPr lang="en-US" dirty="0" smtClean="0"/>
              <a:t>STEP 3. CALCULATE THE INVESTMENT RETURN (BOND EQUIVALENT YIELD)</a:t>
            </a:r>
          </a:p>
          <a:p>
            <a:r>
              <a:rPr lang="en-US" dirty="0" smtClean="0"/>
              <a:t>FORMULA: R = (D/P)*365/n</a:t>
            </a:r>
          </a:p>
          <a:p>
            <a:r>
              <a:rPr lang="en-US" dirty="0" smtClean="0"/>
              <a:t>R = (101.11/9898.89)*365/91 = 0.010214*4.010989 = 0.04097</a:t>
            </a:r>
          </a:p>
          <a:p>
            <a:r>
              <a:rPr lang="en-US" dirty="0" smtClean="0"/>
              <a:t>The return over a 365-day year (BEY) for T-Bill is 4.10%</a:t>
            </a:r>
            <a:endParaRPr lang="en-US" dirty="0"/>
          </a:p>
        </p:txBody>
      </p:sp>
    </p:spTree>
    <p:extLst>
      <p:ext uri="{BB962C8B-B14F-4D97-AF65-F5344CB8AC3E}">
        <p14:creationId xmlns:p14="http://schemas.microsoft.com/office/powerpoint/2010/main" val="71194768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lnSpc>
                <a:spcPct val="90000"/>
              </a:lnSpc>
              <a:spcBef>
                <a:spcPct val="0"/>
              </a:spcBef>
            </a:pPr>
            <a:r>
              <a:rPr lang="en-US" sz="4000" b="1" dirty="0" err="1" smtClean="0"/>
              <a:t>Cont</a:t>
            </a:r>
            <a:r>
              <a:rPr lang="en-US" sz="4000" b="1" dirty="0" smtClean="0"/>
              <a:t>…</a:t>
            </a:r>
            <a:endParaRPr lang="en-US" sz="4000" b="1" dirty="0"/>
          </a:p>
        </p:txBody>
      </p:sp>
      <p:sp>
        <p:nvSpPr>
          <p:cNvPr id="3" name="Content Placeholder 2"/>
          <p:cNvSpPr>
            <a:spLocks noGrp="1"/>
          </p:cNvSpPr>
          <p:nvPr>
            <p:ph idx="1"/>
          </p:nvPr>
        </p:nvSpPr>
        <p:spPr/>
        <p:txBody>
          <a:bodyPr/>
          <a:lstStyle/>
          <a:p>
            <a:pPr marL="0" indent="0">
              <a:buNone/>
            </a:pPr>
            <a:r>
              <a:rPr lang="en-GB" b="1" dirty="0" smtClean="0"/>
              <a:t>Money </a:t>
            </a:r>
            <a:r>
              <a:rPr lang="en-GB" b="1" dirty="0"/>
              <a:t>Market Yield (MMY</a:t>
            </a:r>
            <a:r>
              <a:rPr lang="en-GB" b="1" dirty="0" smtClean="0"/>
              <a:t>)</a:t>
            </a:r>
            <a:endParaRPr lang="en-US" dirty="0" smtClean="0"/>
          </a:p>
          <a:p>
            <a:r>
              <a:rPr lang="en-GB" dirty="0" smtClean="0"/>
              <a:t>The </a:t>
            </a:r>
            <a:r>
              <a:rPr lang="en-GB" dirty="0"/>
              <a:t>MMY (also called the CD-equivalent yield) uses a 360-day year but is based on the purchase price rather than the face value. </a:t>
            </a:r>
            <a:endParaRPr lang="en-US" dirty="0"/>
          </a:p>
          <a:p>
            <a:pPr marL="0" indent="0">
              <a:buNone/>
            </a:pPr>
            <a:r>
              <a:rPr lang="en-GB" b="1" dirty="0"/>
              <a:t>Bond Equivalent Yield (BEY)</a:t>
            </a:r>
            <a:endParaRPr lang="en-US" dirty="0"/>
          </a:p>
          <a:p>
            <a:r>
              <a:rPr lang="en-GB" dirty="0"/>
              <a:t>BEY allows for comparison with coupon-bearing bonds by using a 365-day year. </a:t>
            </a:r>
            <a:endParaRPr lang="en-US" dirty="0"/>
          </a:p>
          <a:p>
            <a:endParaRPr lang="en-US" dirty="0"/>
          </a:p>
        </p:txBody>
      </p:sp>
    </p:spTree>
    <p:extLst>
      <p:ext uri="{BB962C8B-B14F-4D97-AF65-F5344CB8AC3E}">
        <p14:creationId xmlns:p14="http://schemas.microsoft.com/office/powerpoint/2010/main" val="17088788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effectLst>
                  <a:outerShdw blurRad="38100" dist="38100" dir="2700000" algn="tl">
                    <a:srgbClr val="000000">
                      <a:alpha val="43137"/>
                    </a:srgbClr>
                  </a:outerShdw>
                </a:effectLst>
              </a:rPr>
              <a:t/>
            </a:r>
            <a:br>
              <a:rPr lang="en-GB" b="1" dirty="0" smtClean="0">
                <a:effectLst>
                  <a:outerShdw blurRad="38100" dist="38100" dir="2700000" algn="tl">
                    <a:srgbClr val="000000">
                      <a:alpha val="43137"/>
                    </a:srgbClr>
                  </a:outerShdw>
                </a:effectLst>
              </a:rPr>
            </a:br>
            <a:r>
              <a:rPr lang="en-GB" b="1" dirty="0" smtClean="0">
                <a:effectLst>
                  <a:outerShdw blurRad="38100" dist="38100" dir="2700000" algn="tl">
                    <a:srgbClr val="000000">
                      <a:alpha val="43137"/>
                    </a:srgbClr>
                  </a:outerShdw>
                </a:effectLst>
              </a:rPr>
              <a:t>Practice </a:t>
            </a:r>
            <a:r>
              <a:rPr lang="en-GB" b="1" dirty="0">
                <a:effectLst>
                  <a:outerShdw blurRad="38100" dist="38100" dir="2700000" algn="tl">
                    <a:srgbClr val="000000">
                      <a:alpha val="43137"/>
                    </a:srgbClr>
                  </a:outerShdw>
                </a:effectLst>
              </a:rPr>
              <a:t>Problem: Comparing T-Bill vs. Commercial Paper</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GB" dirty="0" smtClean="0"/>
              <a:t>Financial </a:t>
            </a:r>
            <a:r>
              <a:rPr lang="en-GB" dirty="0"/>
              <a:t>analysts use the </a:t>
            </a:r>
            <a:r>
              <a:rPr lang="en-GB" b="1" dirty="0"/>
              <a:t>Bond Equivalent Yield (BEY)</a:t>
            </a:r>
            <a:r>
              <a:rPr lang="en-GB" dirty="0"/>
              <a:t> to compare different money market instruments on an "apples-to-apples" basis by annualizing their returns over a 365-day year. </a:t>
            </a:r>
            <a:endParaRPr lang="en-US" dirty="0"/>
          </a:p>
          <a:p>
            <a:r>
              <a:rPr lang="en-GB" b="1" dirty="0"/>
              <a:t>Scenario:</a:t>
            </a:r>
            <a:r>
              <a:rPr lang="en-GB" dirty="0"/>
              <a:t> An investor is choosing between two 90-day investments, each with a face value of </a:t>
            </a:r>
            <a:r>
              <a:rPr lang="en-GB" b="1" dirty="0"/>
              <a:t>$1,000,000</a:t>
            </a:r>
            <a:r>
              <a:rPr lang="en-GB" dirty="0"/>
              <a:t>.</a:t>
            </a:r>
            <a:endParaRPr lang="en-US" dirty="0"/>
          </a:p>
          <a:p>
            <a:pPr lvl="0"/>
            <a:r>
              <a:rPr lang="en-GB" b="1" dirty="0"/>
              <a:t>Investment A (T-Bill):</a:t>
            </a:r>
            <a:r>
              <a:rPr lang="en-GB" dirty="0"/>
              <a:t> Quoted at a </a:t>
            </a:r>
            <a:r>
              <a:rPr lang="en-GB" b="1" dirty="0"/>
              <a:t>4.50% discount rate</a:t>
            </a:r>
            <a:r>
              <a:rPr lang="en-GB" dirty="0"/>
              <a:t>.</a:t>
            </a:r>
            <a:endParaRPr lang="en-US" dirty="0"/>
          </a:p>
          <a:p>
            <a:r>
              <a:rPr lang="en-GB" b="1" dirty="0"/>
              <a:t>Investment B (Commercial Paper):</a:t>
            </a:r>
            <a:r>
              <a:rPr lang="en-GB" dirty="0"/>
              <a:t> Sells for a price of </a:t>
            </a:r>
            <a:r>
              <a:rPr lang="en-GB" b="1" dirty="0"/>
              <a:t>$</a:t>
            </a:r>
            <a:r>
              <a:rPr lang="en-GB" b="1" dirty="0" smtClean="0"/>
              <a:t>988,000</a:t>
            </a:r>
          </a:p>
          <a:p>
            <a:r>
              <a:rPr lang="en-GB" dirty="0" smtClean="0"/>
              <a:t>Compare the two returns and choose the best option.</a:t>
            </a:r>
            <a:endParaRPr lang="en-US" dirty="0"/>
          </a:p>
        </p:txBody>
      </p:sp>
    </p:spTree>
    <p:extLst>
      <p:ext uri="{BB962C8B-B14F-4D97-AF65-F5344CB8AC3E}">
        <p14:creationId xmlns:p14="http://schemas.microsoft.com/office/powerpoint/2010/main" val="295644858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6184"/>
            <a:ext cx="10515600" cy="777875"/>
          </a:xfrm>
        </p:spPr>
        <p:txBody>
          <a:bodyPr/>
          <a:lstStyle/>
          <a:p>
            <a:r>
              <a:rPr lang="en-US" b="1" dirty="0" smtClean="0">
                <a:effectLst>
                  <a:outerShdw blurRad="38100" dist="38100" dir="2700000" algn="tl">
                    <a:srgbClr val="000000">
                      <a:alpha val="43137"/>
                    </a:srgbClr>
                  </a:outerShdw>
                </a:effectLst>
              </a:rPr>
              <a:t>STEPS FOR CALCULATION</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874059"/>
            <a:ext cx="10515600" cy="4832257"/>
          </a:xfrm>
        </p:spPr>
        <p:txBody>
          <a:bodyPr>
            <a:normAutofit lnSpcReduction="10000"/>
          </a:bodyPr>
          <a:lstStyle/>
          <a:p>
            <a:r>
              <a:rPr lang="en-GB" b="1" dirty="0"/>
              <a:t>Step 1: Calculate the Price of the T-Bill</a:t>
            </a:r>
            <a:endParaRPr lang="en-US" dirty="0"/>
          </a:p>
          <a:p>
            <a:r>
              <a:rPr lang="en-GB" dirty="0"/>
              <a:t>Since the T-bill is quoted as a discount, we first find its purchase price</a:t>
            </a:r>
            <a:r>
              <a:rPr lang="en-GB" dirty="0" smtClean="0"/>
              <a:t>:</a:t>
            </a:r>
          </a:p>
          <a:p>
            <a:r>
              <a:rPr lang="en-GB" dirty="0" smtClean="0"/>
              <a:t>P=F*(1-(d*t/360))=1,000000*[1-(0.045*90/360)]=$988750</a:t>
            </a:r>
            <a:endParaRPr lang="en-US" dirty="0"/>
          </a:p>
          <a:p>
            <a:r>
              <a:rPr lang="en-GB" b="1" dirty="0"/>
              <a:t>Step 2: Calculate BEY for the </a:t>
            </a:r>
            <a:r>
              <a:rPr lang="en-GB" b="1" dirty="0" smtClean="0"/>
              <a:t>T-Bill</a:t>
            </a:r>
          </a:p>
          <a:p>
            <a:r>
              <a:rPr lang="en-GB" b="1" dirty="0" smtClean="0"/>
              <a:t>R =(F-P)/P)*365/n =[(1000000-988750)/988750]*365/90=4.61%</a:t>
            </a:r>
            <a:endParaRPr lang="en-US" dirty="0"/>
          </a:p>
          <a:p>
            <a:r>
              <a:rPr lang="en-GB" b="1" dirty="0"/>
              <a:t>Step 3: Calculate BEY for the Commercial </a:t>
            </a:r>
            <a:r>
              <a:rPr lang="en-GB" b="1" dirty="0" smtClean="0"/>
              <a:t>Paper</a:t>
            </a:r>
          </a:p>
          <a:p>
            <a:r>
              <a:rPr lang="en-GB" b="1" dirty="0"/>
              <a:t>R =(F-P)/P)*365/n =[(</a:t>
            </a:r>
            <a:r>
              <a:rPr lang="en-GB" b="1" dirty="0" smtClean="0"/>
              <a:t>1000000-988000)/988000]*365/90=4.93%</a:t>
            </a:r>
            <a:endParaRPr lang="en-US" dirty="0"/>
          </a:p>
          <a:p>
            <a:r>
              <a:rPr lang="en-GB" b="1" dirty="0"/>
              <a:t>Conclusion:</a:t>
            </a:r>
            <a:r>
              <a:rPr lang="en-GB" dirty="0"/>
              <a:t> The </a:t>
            </a:r>
            <a:r>
              <a:rPr lang="en-GB" b="1" dirty="0"/>
              <a:t>Commercial Paper</a:t>
            </a:r>
            <a:r>
              <a:rPr lang="en-GB" dirty="0"/>
              <a:t> offers a higher BEY (4.92% vs 4.62%). This "risk premium" compensates the investor for the higher default risk associated with a corporation compared to the government. </a:t>
            </a:r>
            <a:endParaRPr lang="en-US" dirty="0"/>
          </a:p>
          <a:p>
            <a:endParaRPr lang="en-US" dirty="0"/>
          </a:p>
        </p:txBody>
      </p:sp>
    </p:spTree>
    <p:extLst>
      <p:ext uri="{BB962C8B-B14F-4D97-AF65-F5344CB8AC3E}">
        <p14:creationId xmlns:p14="http://schemas.microsoft.com/office/powerpoint/2010/main" val="56816742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PRACTICE QUESTIONS</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Calculate the bank discount rate on a K100,000 face value, T-bill price at K97,500 maturing in 181 days. </a:t>
            </a:r>
          </a:p>
          <a:p>
            <a:pPr marL="514350" indent="-514350">
              <a:buFont typeface="+mj-lt"/>
              <a:buAutoNum type="arabicPeriod"/>
            </a:pPr>
            <a:r>
              <a:rPr lang="en-US" dirty="0" smtClean="0"/>
              <a:t>When an investor purchases a K1000 par value bond that was quoted at </a:t>
            </a:r>
            <a:r>
              <a:rPr lang="en-US" dirty="0" smtClean="0"/>
              <a:t>97.162</a:t>
            </a:r>
            <a:r>
              <a:rPr lang="en-US" dirty="0" smtClean="0"/>
              <a:t>, the investor will pay?</a:t>
            </a:r>
          </a:p>
          <a:p>
            <a:pPr marL="514350" indent="-514350">
              <a:buFont typeface="+mj-lt"/>
              <a:buAutoNum type="arabicPeriod"/>
            </a:pPr>
            <a:r>
              <a:rPr lang="en-US" dirty="0" smtClean="0"/>
              <a:t>When an Investor purchases a six months 182-day T-Bill with K10,000 par value for K9700, the treasury bill </a:t>
            </a:r>
            <a:r>
              <a:rPr lang="en-US" smtClean="0"/>
              <a:t>discount </a:t>
            </a:r>
            <a:r>
              <a:rPr lang="en-US" smtClean="0"/>
              <a:t>Rate is </a:t>
            </a:r>
            <a:r>
              <a:rPr lang="en-US" dirty="0" smtClean="0"/>
              <a:t>?</a:t>
            </a:r>
          </a:p>
          <a:p>
            <a:pPr marL="514350" indent="-514350">
              <a:buFont typeface="+mj-lt"/>
              <a:buAutoNum type="arabicPeriod"/>
            </a:pPr>
            <a:r>
              <a:rPr lang="en-US" dirty="0" smtClean="0"/>
              <a:t>What is the face value of a 1000 bond?</a:t>
            </a:r>
          </a:p>
          <a:p>
            <a:pPr marL="514350" indent="-514350">
              <a:buFont typeface="+mj-lt"/>
              <a:buAutoNum type="arabicPeriod"/>
            </a:pPr>
            <a:r>
              <a:rPr lang="en-US" dirty="0" smtClean="0"/>
              <a:t>What is the annual coupon payment if a bond has a face value of $1000 a 5% coupon rate and pays interest?</a:t>
            </a:r>
          </a:p>
          <a:p>
            <a:endParaRPr lang="en-US" dirty="0"/>
          </a:p>
        </p:txBody>
      </p:sp>
    </p:spTree>
    <p:extLst>
      <p:ext uri="{BB962C8B-B14F-4D97-AF65-F5344CB8AC3E}">
        <p14:creationId xmlns:p14="http://schemas.microsoft.com/office/powerpoint/2010/main" val="393470068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PRACTICE QUESTIONS</a:t>
            </a:r>
            <a:endParaRPr lang="en-US" dirty="0"/>
          </a:p>
        </p:txBody>
      </p:sp>
      <p:sp>
        <p:nvSpPr>
          <p:cNvPr id="3" name="Content Placeholder 2"/>
          <p:cNvSpPr>
            <a:spLocks noGrp="1"/>
          </p:cNvSpPr>
          <p:nvPr>
            <p:ph idx="1"/>
          </p:nvPr>
        </p:nvSpPr>
        <p:spPr/>
        <p:txBody>
          <a:bodyPr/>
          <a:lstStyle/>
          <a:p>
            <a:pPr marL="0" indent="0">
              <a:buNone/>
            </a:pPr>
            <a:r>
              <a:rPr lang="en-US" dirty="0" smtClean="0"/>
              <a:t>6. When an investor buys a corporate bond, the bond is a loan to the corporation? Explain.</a:t>
            </a:r>
          </a:p>
          <a:p>
            <a:pPr marL="0" indent="0">
              <a:buNone/>
            </a:pPr>
            <a:r>
              <a:rPr lang="en-US" dirty="0" smtClean="0"/>
              <a:t>7. What is the maturity value of a 90-day 12% note for $10,000?</a:t>
            </a:r>
          </a:p>
          <a:p>
            <a:pPr marL="0" indent="0">
              <a:buNone/>
            </a:pPr>
            <a:r>
              <a:rPr lang="en-US" dirty="0" smtClean="0"/>
              <a:t>8. What are different types of bonds ?</a:t>
            </a:r>
          </a:p>
          <a:p>
            <a:pPr marL="0" indent="0">
              <a:buNone/>
            </a:pPr>
            <a:r>
              <a:rPr lang="en-US" dirty="0" smtClean="0"/>
              <a:t>9. When will a bond with a $1000 face value and 8% annual coupon rate pays interest semiannually mature? What will be the yield to maturity?</a:t>
            </a:r>
            <a:endParaRPr lang="en-US" dirty="0"/>
          </a:p>
        </p:txBody>
      </p:sp>
    </p:spTree>
    <p:extLst>
      <p:ext uri="{BB962C8B-B14F-4D97-AF65-F5344CB8AC3E}">
        <p14:creationId xmlns:p14="http://schemas.microsoft.com/office/powerpoint/2010/main" val="13627648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SOLUTIONS TO PRACTICE QUESTIONS</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a:pPr>
            <a:r>
              <a:rPr lang="en-US" dirty="0" smtClean="0"/>
              <a:t>The bank discount rate is approximately 4.97%</a:t>
            </a:r>
          </a:p>
          <a:p>
            <a:pPr marL="514350" indent="-514350">
              <a:buFont typeface="+mj-lt"/>
              <a:buAutoNum type="arabicPeriod"/>
            </a:pPr>
            <a:r>
              <a:rPr lang="en-US" dirty="0" smtClean="0"/>
              <a:t>When bond is quoted at 97.163 the investor will pay (K1000*97.162%) = K971.62 to purchase the same.</a:t>
            </a:r>
          </a:p>
          <a:p>
            <a:pPr marL="514350" indent="-514350">
              <a:buFont typeface="+mj-lt"/>
              <a:buAutoNum type="arabicPeriod"/>
            </a:pPr>
            <a:r>
              <a:rPr lang="en-US" dirty="0" smtClean="0"/>
              <a:t>It is approximately 5.93%</a:t>
            </a:r>
          </a:p>
          <a:p>
            <a:pPr marL="514350" indent="-514350">
              <a:buFont typeface="+mj-lt"/>
              <a:buAutoNum type="arabicPeriod"/>
            </a:pPr>
            <a:r>
              <a:rPr lang="en-US" dirty="0" smtClean="0"/>
              <a:t>In other words it’s the value that bondholder will receive when their investment fully matures. (Assuming the issuer does not call the bond or default) the bonds are issued in $1000 denominations, so typically the face value is $1000</a:t>
            </a:r>
          </a:p>
          <a:p>
            <a:pPr marL="514350" indent="-514350">
              <a:buFont typeface="+mj-lt"/>
              <a:buAutoNum type="arabicPeriod"/>
            </a:pPr>
            <a:r>
              <a:rPr lang="en-US" dirty="0" smtClean="0"/>
              <a:t>A coupon rate is the annual interest rate paid by the bond issuer to the bondholder, expressed as a % of bonds face value (par value). For $1000 *5% = $50 annually as interest.</a:t>
            </a:r>
            <a:endParaRPr lang="en-US" dirty="0"/>
          </a:p>
        </p:txBody>
      </p:sp>
    </p:spTree>
    <p:extLst>
      <p:ext uri="{BB962C8B-B14F-4D97-AF65-F5344CB8AC3E}">
        <p14:creationId xmlns:p14="http://schemas.microsoft.com/office/powerpoint/2010/main" val="207785422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SOLUTIONS TO PRACTICE QUESTIONS</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6. Investors who buy corporate bonds are lending money to the company issuing the bonds. In return, the company makes a legal commitment to pay interest on the principle and in most cases, to return the principle when bond comes due or matures.</a:t>
            </a:r>
          </a:p>
          <a:p>
            <a:pPr marL="0" indent="0">
              <a:buNone/>
            </a:pPr>
            <a:r>
              <a:rPr lang="en-US" dirty="0" smtClean="0"/>
              <a:t>7. The maturity value of the note is $10,300</a:t>
            </a:r>
          </a:p>
          <a:p>
            <a:pPr marL="0" indent="0">
              <a:buNone/>
            </a:pPr>
            <a:r>
              <a:rPr lang="en-US" dirty="0" smtClean="0"/>
              <a:t>8.  </a:t>
            </a:r>
            <a:r>
              <a:rPr lang="en-US" dirty="0"/>
              <a:t>T</a:t>
            </a:r>
            <a:r>
              <a:rPr lang="en-US" dirty="0" smtClean="0"/>
              <a:t>ypes of bonds you should know before you start your investment. Government bonds-safest due to backing of issuing governments Municipal bond, corporate bond, agency bonds, savings bonds, zero-coupon bonds, convertible bonds and callable bonds</a:t>
            </a:r>
          </a:p>
          <a:p>
            <a:pPr marL="0" indent="0">
              <a:buNone/>
            </a:pPr>
            <a:r>
              <a:rPr lang="en-US" smtClean="0"/>
              <a:t>9. The </a:t>
            </a:r>
            <a:r>
              <a:rPr lang="en-US" dirty="0" smtClean="0"/>
              <a:t>bond will mature in 15years and the yield to maturity is 11%</a:t>
            </a:r>
            <a:endParaRPr lang="en-US" dirty="0"/>
          </a:p>
        </p:txBody>
      </p:sp>
    </p:spTree>
    <p:extLst>
      <p:ext uri="{BB962C8B-B14F-4D97-AF65-F5344CB8AC3E}">
        <p14:creationId xmlns:p14="http://schemas.microsoft.com/office/powerpoint/2010/main" val="164456249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UNDERSTANDING THE VARIABLES</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US" dirty="0" smtClean="0"/>
              <a:t>To calculate the specific YTM and maturity you need the following Information.</a:t>
            </a:r>
          </a:p>
          <a:p>
            <a:r>
              <a:rPr lang="en-US" dirty="0" smtClean="0"/>
              <a:t>Current </a:t>
            </a:r>
            <a:r>
              <a:rPr lang="en-US" dirty="0"/>
              <a:t>M</a:t>
            </a:r>
            <a:r>
              <a:rPr lang="en-US" dirty="0" smtClean="0"/>
              <a:t>arket Price- the price at which the bond is currently being bought or sold.</a:t>
            </a:r>
          </a:p>
          <a:p>
            <a:r>
              <a:rPr lang="en-US" dirty="0" smtClean="0"/>
              <a:t>If the price is less than $1000 (discount), the yield to maturity will be higher than 8%</a:t>
            </a:r>
          </a:p>
          <a:p>
            <a:r>
              <a:rPr lang="en-US" dirty="0" smtClean="0"/>
              <a:t>If the price is more than $1000 (premium) the YTM will be less than 8%</a:t>
            </a:r>
          </a:p>
          <a:p>
            <a:r>
              <a:rPr lang="en-US" dirty="0" smtClean="0"/>
              <a:t>Maturity Date the maturity date or number of days remaining until the issuer repays the principle.</a:t>
            </a:r>
            <a:endParaRPr lang="en-US" dirty="0"/>
          </a:p>
        </p:txBody>
      </p:sp>
    </p:spTree>
    <p:extLst>
      <p:ext uri="{BB962C8B-B14F-4D97-AF65-F5344CB8AC3E}">
        <p14:creationId xmlns:p14="http://schemas.microsoft.com/office/powerpoint/2010/main" val="222849925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Standard Calculations</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If you have the price and years you can find the YTM using these methods</a:t>
            </a:r>
          </a:p>
          <a:p>
            <a:r>
              <a:rPr lang="en-US" dirty="0" smtClean="0"/>
              <a:t>YTM = [C+ (F-P)/n]/(F+P)/2</a:t>
            </a:r>
          </a:p>
          <a:p>
            <a:r>
              <a:rPr lang="en-US" dirty="0" smtClean="0"/>
              <a:t>A bond with face value $1000 and coupon rate 8% =pays an interest rate of $1000*8%v= $80. if the bond pays semiannually (twice a year) the investor receives $40 every six months.</a:t>
            </a:r>
          </a:p>
          <a:p>
            <a:r>
              <a:rPr lang="en-US" dirty="0" smtClean="0"/>
              <a:t>Current Yield: represents the annual return based on the bonds current market price rather than its face value.</a:t>
            </a:r>
          </a:p>
          <a:p>
            <a:r>
              <a:rPr lang="en-US" dirty="0" smtClean="0"/>
              <a:t>Current yield = annual coupon payment/ current price</a:t>
            </a:r>
          </a:p>
          <a:p>
            <a:endParaRPr lang="en-US" dirty="0"/>
          </a:p>
        </p:txBody>
      </p:sp>
    </p:spTree>
    <p:extLst>
      <p:ext uri="{BB962C8B-B14F-4D97-AF65-F5344CB8AC3E}">
        <p14:creationId xmlns:p14="http://schemas.microsoft.com/office/powerpoint/2010/main" val="263201736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AT PAR: if the bond sells for $1000, the current yield is 8%</a:t>
            </a:r>
          </a:p>
          <a:p>
            <a:r>
              <a:rPr lang="en-US" dirty="0" smtClean="0"/>
              <a:t>At a Discount: If market price drops to $900, yield rises =$80/$900=8.89%</a:t>
            </a:r>
          </a:p>
          <a:p>
            <a:r>
              <a:rPr lang="en-US" dirty="0" smtClean="0"/>
              <a:t>At premium: if the market price rises to $1100 the yield falls $80/$1100=7.27%</a:t>
            </a:r>
          </a:p>
          <a:p>
            <a:endParaRPr lang="en-US" dirty="0" smtClean="0"/>
          </a:p>
        </p:txBody>
      </p:sp>
      <p:graphicFrame>
        <p:nvGraphicFramePr>
          <p:cNvPr id="4" name="Table 3"/>
          <p:cNvGraphicFramePr>
            <a:graphicFrameLocks noGrp="1"/>
          </p:cNvGraphicFramePr>
          <p:nvPr>
            <p:extLst>
              <p:ext uri="{D42A27DB-BD31-4B8C-83A1-F6EECF244321}">
                <p14:modId xmlns:p14="http://schemas.microsoft.com/office/powerpoint/2010/main" val="2426892027"/>
              </p:ext>
            </p:extLst>
          </p:nvPr>
        </p:nvGraphicFramePr>
        <p:xfrm>
          <a:off x="969682" y="4202454"/>
          <a:ext cx="8127999" cy="22250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615872557"/>
                    </a:ext>
                  </a:extLst>
                </a:gridCol>
                <a:gridCol w="2709333">
                  <a:extLst>
                    <a:ext uri="{9D8B030D-6E8A-4147-A177-3AD203B41FA5}">
                      <a16:colId xmlns:a16="http://schemas.microsoft.com/office/drawing/2014/main" val="958807510"/>
                    </a:ext>
                  </a:extLst>
                </a:gridCol>
                <a:gridCol w="2709333">
                  <a:extLst>
                    <a:ext uri="{9D8B030D-6E8A-4147-A177-3AD203B41FA5}">
                      <a16:colId xmlns:a16="http://schemas.microsoft.com/office/drawing/2014/main" val="2786470061"/>
                    </a:ext>
                  </a:extLst>
                </a:gridCol>
              </a:tblGrid>
              <a:tr h="370840">
                <a:tc gridSpan="3">
                  <a:txBody>
                    <a:bodyPr/>
                    <a:lstStyle/>
                    <a:p>
                      <a:pPr algn="ctr"/>
                      <a:r>
                        <a:rPr lang="en-US" dirty="0" smtClean="0">
                          <a:solidFill>
                            <a:schemeClr val="tx1"/>
                          </a:solidFill>
                          <a:latin typeface="Arial Black" panose="020B0A04020102020204" pitchFamily="34" charset="0"/>
                        </a:rPr>
                        <a:t>SUMMARY OF SCENARIOS</a:t>
                      </a:r>
                      <a:endParaRPr lang="en-US" dirty="0">
                        <a:solidFill>
                          <a:schemeClr val="tx1"/>
                        </a:solidFill>
                        <a:latin typeface="Arial Black" panose="020B0A04020102020204" pitchFamily="34" charset="0"/>
                      </a:endParaRP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281515849"/>
                  </a:ext>
                </a:extLst>
              </a:tr>
              <a:tr h="370840">
                <a:tc>
                  <a:txBody>
                    <a:bodyPr/>
                    <a:lstStyle/>
                    <a:p>
                      <a:r>
                        <a:rPr lang="en-US" b="1" dirty="0" smtClean="0">
                          <a:effectLst>
                            <a:outerShdw blurRad="38100" dist="38100" dir="2700000" algn="tl">
                              <a:srgbClr val="000000">
                                <a:alpha val="43137"/>
                              </a:srgbClr>
                            </a:outerShdw>
                          </a:effectLst>
                        </a:rPr>
                        <a:t>Market Rate</a:t>
                      </a:r>
                      <a:endParaRPr lang="en-US" b="1" dirty="0">
                        <a:effectLst>
                          <a:outerShdw blurRad="38100" dist="38100" dir="2700000" algn="tl">
                            <a:srgbClr val="000000">
                              <a:alpha val="43137"/>
                            </a:srgbClr>
                          </a:outerShdw>
                        </a:effectLst>
                      </a:endParaRPr>
                    </a:p>
                  </a:txBody>
                  <a:tcPr/>
                </a:tc>
                <a:tc>
                  <a:txBody>
                    <a:bodyPr/>
                    <a:lstStyle/>
                    <a:p>
                      <a:r>
                        <a:rPr lang="en-US" b="1" dirty="0" smtClean="0">
                          <a:effectLst>
                            <a:outerShdw blurRad="38100" dist="38100" dir="2700000" algn="tl">
                              <a:srgbClr val="000000">
                                <a:alpha val="43137"/>
                              </a:srgbClr>
                            </a:outerShdw>
                          </a:effectLst>
                        </a:rPr>
                        <a:t>Bond Price Type</a:t>
                      </a:r>
                      <a:endParaRPr lang="en-US" b="1" dirty="0">
                        <a:effectLst>
                          <a:outerShdw blurRad="38100" dist="38100" dir="2700000" algn="tl">
                            <a:srgbClr val="000000">
                              <a:alpha val="43137"/>
                            </a:srgbClr>
                          </a:outerShdw>
                        </a:effectLst>
                      </a:endParaRPr>
                    </a:p>
                  </a:txBody>
                  <a:tcPr/>
                </a:tc>
                <a:tc>
                  <a:txBody>
                    <a:bodyPr/>
                    <a:lstStyle/>
                    <a:p>
                      <a:r>
                        <a:rPr lang="en-US" b="1" dirty="0" smtClean="0">
                          <a:effectLst>
                            <a:outerShdw blurRad="38100" dist="38100" dir="2700000" algn="tl">
                              <a:srgbClr val="000000">
                                <a:alpha val="43137"/>
                              </a:srgbClr>
                            </a:outerShdw>
                          </a:effectLst>
                        </a:rPr>
                        <a:t>Relationship</a:t>
                      </a:r>
                      <a:endParaRPr lang="en-US" b="1" dirty="0">
                        <a:effectLst>
                          <a:outerShdw blurRad="38100" dist="38100" dir="2700000" algn="tl">
                            <a:srgbClr val="000000">
                              <a:alpha val="43137"/>
                            </a:srgbClr>
                          </a:outerShdw>
                        </a:effectLst>
                      </a:endParaRPr>
                    </a:p>
                  </a:txBody>
                  <a:tcPr/>
                </a:tc>
                <a:extLst>
                  <a:ext uri="{0D108BD9-81ED-4DB2-BD59-A6C34878D82A}">
                    <a16:rowId xmlns:a16="http://schemas.microsoft.com/office/drawing/2014/main" val="1736503210"/>
                  </a:ext>
                </a:extLst>
              </a:tr>
              <a:tr h="370840">
                <a:tc>
                  <a:txBody>
                    <a:bodyPr/>
                    <a:lstStyle/>
                    <a:p>
                      <a:pPr algn="ctr"/>
                      <a:r>
                        <a:rPr lang="en-US" dirty="0" smtClean="0"/>
                        <a:t>  </a:t>
                      </a:r>
                      <a:r>
                        <a:rPr lang="en-US" b="1" dirty="0" smtClean="0">
                          <a:effectLst>
                            <a:outerShdw blurRad="38100" dist="38100" dir="2700000" algn="tl">
                              <a:srgbClr val="000000">
                                <a:alpha val="43137"/>
                              </a:srgbClr>
                            </a:outerShdw>
                          </a:effectLst>
                        </a:rPr>
                        <a:t>r ˂ 8%</a:t>
                      </a:r>
                      <a:endParaRPr lang="en-US" b="1" dirty="0">
                        <a:effectLst>
                          <a:outerShdw blurRad="38100" dist="38100" dir="2700000" algn="tl">
                            <a:srgbClr val="000000">
                              <a:alpha val="43137"/>
                            </a:srgbClr>
                          </a:outerShdw>
                        </a:effectLst>
                      </a:endParaRPr>
                    </a:p>
                  </a:txBody>
                  <a:tcPr/>
                </a:tc>
                <a:tc>
                  <a:txBody>
                    <a:bodyPr/>
                    <a:lstStyle/>
                    <a:p>
                      <a:pPr algn="ctr"/>
                      <a:r>
                        <a:rPr lang="en-US" b="1" dirty="0" smtClean="0"/>
                        <a:t>Premium</a:t>
                      </a:r>
                      <a:endParaRPr lang="en-US" b="1" dirty="0"/>
                    </a:p>
                  </a:txBody>
                  <a:tcPr/>
                </a:tc>
                <a:tc>
                  <a:txBody>
                    <a:bodyPr/>
                    <a:lstStyle/>
                    <a:p>
                      <a:r>
                        <a:rPr lang="en-US" b="1" dirty="0" smtClean="0">
                          <a:effectLst>
                            <a:outerShdw blurRad="38100" dist="38100" dir="2700000" algn="tl">
                              <a:srgbClr val="000000">
                                <a:alpha val="43137"/>
                              </a:srgbClr>
                            </a:outerShdw>
                          </a:effectLst>
                        </a:rPr>
                        <a:t>Price is greater than $1000</a:t>
                      </a:r>
                      <a:endParaRPr lang="en-US" b="1" dirty="0">
                        <a:effectLst>
                          <a:outerShdw blurRad="38100" dist="38100" dir="2700000" algn="tl">
                            <a:srgbClr val="000000">
                              <a:alpha val="43137"/>
                            </a:srgbClr>
                          </a:outerShdw>
                        </a:effectLst>
                      </a:endParaRPr>
                    </a:p>
                  </a:txBody>
                  <a:tcPr/>
                </a:tc>
                <a:extLst>
                  <a:ext uri="{0D108BD9-81ED-4DB2-BD59-A6C34878D82A}">
                    <a16:rowId xmlns:a16="http://schemas.microsoft.com/office/drawing/2014/main" val="56924344"/>
                  </a:ext>
                </a:extLst>
              </a:tr>
              <a:tr h="370840">
                <a:tc>
                  <a:txBody>
                    <a:bodyPr/>
                    <a:lstStyle/>
                    <a:p>
                      <a:pPr algn="ctr"/>
                      <a:r>
                        <a:rPr lang="en-US" b="1" dirty="0" smtClean="0">
                          <a:effectLst>
                            <a:outerShdw blurRad="38100" dist="38100" dir="2700000" algn="tl">
                              <a:srgbClr val="000000">
                                <a:alpha val="43137"/>
                              </a:srgbClr>
                            </a:outerShdw>
                          </a:effectLst>
                        </a:rPr>
                        <a:t> r =</a:t>
                      </a:r>
                      <a:r>
                        <a:rPr lang="en-US" b="1" baseline="0" dirty="0" smtClean="0">
                          <a:effectLst>
                            <a:outerShdw blurRad="38100" dist="38100" dir="2700000" algn="tl">
                              <a:srgbClr val="000000">
                                <a:alpha val="43137"/>
                              </a:srgbClr>
                            </a:outerShdw>
                          </a:effectLst>
                        </a:rPr>
                        <a:t> 8%</a:t>
                      </a:r>
                      <a:endParaRPr lang="en-US" b="1" dirty="0">
                        <a:effectLst>
                          <a:outerShdw blurRad="38100" dist="38100" dir="2700000" algn="tl">
                            <a:srgbClr val="000000">
                              <a:alpha val="43137"/>
                            </a:srgbClr>
                          </a:outerShdw>
                        </a:effectLst>
                      </a:endParaRPr>
                    </a:p>
                  </a:txBody>
                  <a:tcPr/>
                </a:tc>
                <a:tc>
                  <a:txBody>
                    <a:bodyPr/>
                    <a:lstStyle/>
                    <a:p>
                      <a:pPr algn="ctr"/>
                      <a:r>
                        <a:rPr lang="en-US" b="1" dirty="0" smtClean="0">
                          <a:effectLst>
                            <a:outerShdw blurRad="38100" dist="38100" dir="2700000" algn="tl">
                              <a:srgbClr val="000000">
                                <a:alpha val="43137"/>
                              </a:srgbClr>
                            </a:outerShdw>
                          </a:effectLst>
                        </a:rPr>
                        <a:t>Par</a:t>
                      </a:r>
                      <a:endParaRPr lang="en-US" b="1" dirty="0">
                        <a:effectLst>
                          <a:outerShdw blurRad="38100" dist="38100" dir="2700000" algn="tl">
                            <a:srgbClr val="000000">
                              <a:alpha val="43137"/>
                            </a:srgbClr>
                          </a:outerShdw>
                        </a:effectLst>
                      </a:endParaRPr>
                    </a:p>
                  </a:txBody>
                  <a:tcPr/>
                </a:tc>
                <a:tc>
                  <a:txBody>
                    <a:bodyPr/>
                    <a:lstStyle/>
                    <a:p>
                      <a:pPr algn="ctr"/>
                      <a:endParaRPr lang="en-US" b="1" dirty="0">
                        <a:effectLst>
                          <a:outerShdw blurRad="38100" dist="38100" dir="2700000" algn="tl">
                            <a:srgbClr val="000000">
                              <a:alpha val="43137"/>
                            </a:srgbClr>
                          </a:outerShdw>
                        </a:effectLst>
                      </a:endParaRPr>
                    </a:p>
                  </a:txBody>
                  <a:tcPr/>
                </a:tc>
                <a:extLst>
                  <a:ext uri="{0D108BD9-81ED-4DB2-BD59-A6C34878D82A}">
                    <a16:rowId xmlns:a16="http://schemas.microsoft.com/office/drawing/2014/main" val="1753678847"/>
                  </a:ext>
                </a:extLst>
              </a:tr>
              <a:tr h="370840">
                <a:tc>
                  <a:txBody>
                    <a:bodyPr/>
                    <a:lstStyle/>
                    <a:p>
                      <a:pPr algn="ctr"/>
                      <a:r>
                        <a:rPr lang="en-US" b="1" dirty="0" smtClean="0">
                          <a:effectLst>
                            <a:outerShdw blurRad="38100" dist="38100" dir="2700000" algn="tl">
                              <a:srgbClr val="000000">
                                <a:alpha val="43137"/>
                              </a:srgbClr>
                            </a:outerShdw>
                          </a:effectLst>
                        </a:rPr>
                        <a:t> r &gt;</a:t>
                      </a:r>
                      <a:r>
                        <a:rPr lang="en-US" b="1" baseline="0" dirty="0" smtClean="0">
                          <a:effectLst>
                            <a:outerShdw blurRad="38100" dist="38100" dir="2700000" algn="tl">
                              <a:srgbClr val="000000">
                                <a:alpha val="43137"/>
                              </a:srgbClr>
                            </a:outerShdw>
                          </a:effectLst>
                        </a:rPr>
                        <a:t> 8%</a:t>
                      </a:r>
                      <a:endParaRPr lang="en-US" b="1" dirty="0">
                        <a:effectLst>
                          <a:outerShdw blurRad="38100" dist="38100" dir="2700000" algn="tl">
                            <a:srgbClr val="000000">
                              <a:alpha val="43137"/>
                            </a:srgbClr>
                          </a:outerShdw>
                        </a:effectLst>
                      </a:endParaRPr>
                    </a:p>
                  </a:txBody>
                  <a:tcPr/>
                </a:tc>
                <a:tc>
                  <a:txBody>
                    <a:bodyPr/>
                    <a:lstStyle/>
                    <a:p>
                      <a:pPr algn="ctr"/>
                      <a:r>
                        <a:rPr lang="en-US" b="1" dirty="0" smtClean="0">
                          <a:effectLst>
                            <a:outerShdw blurRad="38100" dist="38100" dir="2700000" algn="tl">
                              <a:srgbClr val="000000">
                                <a:alpha val="43137"/>
                              </a:srgbClr>
                            </a:outerShdw>
                          </a:effectLst>
                        </a:rPr>
                        <a:t>Discount</a:t>
                      </a:r>
                      <a:endParaRPr lang="en-US" b="1" dirty="0">
                        <a:effectLst>
                          <a:outerShdw blurRad="38100" dist="38100" dir="2700000" algn="tl">
                            <a:srgbClr val="000000">
                              <a:alpha val="43137"/>
                            </a:srgbClr>
                          </a:outerShdw>
                        </a:effectLst>
                      </a:endParaRPr>
                    </a:p>
                  </a:txBody>
                  <a:tcPr/>
                </a:tc>
                <a:tc>
                  <a:txBody>
                    <a:bodyPr/>
                    <a:lstStyle/>
                    <a:p>
                      <a:r>
                        <a:rPr lang="en-US" b="1" dirty="0" smtClean="0">
                          <a:effectLst>
                            <a:outerShdw blurRad="38100" dist="38100" dir="2700000" algn="tl">
                              <a:srgbClr val="000000">
                                <a:alpha val="43137"/>
                              </a:srgbClr>
                            </a:outerShdw>
                          </a:effectLst>
                        </a:rPr>
                        <a:t>Price</a:t>
                      </a:r>
                      <a:r>
                        <a:rPr lang="en-US" b="1" baseline="0" dirty="0" smtClean="0">
                          <a:effectLst>
                            <a:outerShdw blurRad="38100" dist="38100" dir="2700000" algn="tl">
                              <a:srgbClr val="000000">
                                <a:alpha val="43137"/>
                              </a:srgbClr>
                            </a:outerShdw>
                          </a:effectLst>
                        </a:rPr>
                        <a:t> is Less than $1000</a:t>
                      </a:r>
                      <a:endParaRPr lang="en-US" b="1" dirty="0">
                        <a:effectLst>
                          <a:outerShdw blurRad="38100" dist="38100" dir="2700000" algn="tl">
                            <a:srgbClr val="000000">
                              <a:alpha val="43137"/>
                            </a:srgbClr>
                          </a:outerShdw>
                        </a:effectLst>
                      </a:endParaRPr>
                    </a:p>
                  </a:txBody>
                  <a:tcPr/>
                </a:tc>
                <a:extLst>
                  <a:ext uri="{0D108BD9-81ED-4DB2-BD59-A6C34878D82A}">
                    <a16:rowId xmlns:a16="http://schemas.microsoft.com/office/drawing/2014/main" val="2041081958"/>
                  </a:ext>
                </a:extLst>
              </a:tr>
              <a:tr h="370840">
                <a:tc>
                  <a:txBody>
                    <a:bodyPr/>
                    <a:lstStyle/>
                    <a:p>
                      <a:pPr algn="ctr"/>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61330228"/>
                  </a:ext>
                </a:extLst>
              </a:tr>
            </a:tbl>
          </a:graphicData>
        </a:graphic>
      </p:graphicFrame>
    </p:spTree>
    <p:extLst>
      <p:ext uri="{BB962C8B-B14F-4D97-AF65-F5344CB8AC3E}">
        <p14:creationId xmlns:p14="http://schemas.microsoft.com/office/powerpoint/2010/main" val="352559678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Bond </a:t>
            </a:r>
            <a:r>
              <a:rPr lang="en-US" b="1" dirty="0" smtClean="0">
                <a:effectLst>
                  <a:outerShdw blurRad="38100" dist="38100" dir="2700000" algn="tl">
                    <a:srgbClr val="000000">
                      <a:alpha val="43137"/>
                    </a:srgbClr>
                  </a:outerShdw>
                </a:effectLst>
              </a:rPr>
              <a:t>Pricing Present Value</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20000"/>
          </a:bodyPr>
          <a:lstStyle/>
          <a:p>
            <a:r>
              <a:rPr lang="en-US" dirty="0" smtClean="0"/>
              <a:t>To find the actual fair price of the bond today, you must discount all future cash flows (coupon + the final $1000 repayment) by the current market interest rate (Yield to Maturity)</a:t>
            </a:r>
          </a:p>
          <a:p>
            <a:r>
              <a:rPr lang="en-US" dirty="0" smtClean="0"/>
              <a:t>Price = </a:t>
            </a:r>
            <a:r>
              <a:rPr lang="en-US" dirty="0" smtClean="0">
                <a:sym typeface="Symbol" panose="05050102010706020507" pitchFamily="18" charset="2"/>
              </a:rPr>
              <a:t> C/(1+r)^t + F/(1+r)^n</a:t>
            </a:r>
          </a:p>
          <a:p>
            <a:r>
              <a:rPr lang="en-US" dirty="0" smtClean="0">
                <a:sym typeface="Symbol" panose="05050102010706020507" pitchFamily="18" charset="2"/>
              </a:rPr>
              <a:t>Calculate the total price if this bond has 3 years left and market value of 10%  with a coupon rate of 8% and par value of $1000</a:t>
            </a:r>
          </a:p>
          <a:p>
            <a:r>
              <a:rPr lang="en-US" dirty="0" smtClean="0">
                <a:sym typeface="Symbol" panose="05050102010706020507" pitchFamily="18" charset="2"/>
              </a:rPr>
              <a:t>C=Coupon payment ($80), r =Market interest rate (as a decimal), n = years to maturity, F = Face value ($1000)</a:t>
            </a:r>
          </a:p>
          <a:p>
            <a:r>
              <a:rPr lang="en-US" dirty="0" smtClean="0">
                <a:sym typeface="Symbol" panose="05050102010706020507" pitchFamily="18" charset="2"/>
              </a:rPr>
              <a:t>Year1 Coupon $80/(1.01)^1=$72.73</a:t>
            </a:r>
          </a:p>
          <a:p>
            <a:r>
              <a:rPr lang="en-US" dirty="0" smtClean="0">
                <a:sym typeface="Symbol" panose="05050102010706020507" pitchFamily="18" charset="2"/>
              </a:rPr>
              <a:t>Year2 coupon $80/(1,01)^2 =$66.12</a:t>
            </a:r>
          </a:p>
          <a:p>
            <a:r>
              <a:rPr lang="en-US" dirty="0" smtClean="0">
                <a:sym typeface="Symbol" panose="05050102010706020507" pitchFamily="18" charset="2"/>
              </a:rPr>
              <a:t>Year3 Coupon +face value=$1080/(1.01)^3=$950.27. The bond trades at discount because the market rate is higher than the coupon.</a:t>
            </a:r>
          </a:p>
        </p:txBody>
      </p:sp>
    </p:spTree>
    <p:extLst>
      <p:ext uri="{BB962C8B-B14F-4D97-AF65-F5344CB8AC3E}">
        <p14:creationId xmlns:p14="http://schemas.microsoft.com/office/powerpoint/2010/main" val="16895101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0624" y="123078"/>
            <a:ext cx="10515600" cy="1325563"/>
          </a:xfrm>
        </p:spPr>
        <p:txBody>
          <a:bodyPr/>
          <a:lstStyle/>
          <a:p>
            <a:r>
              <a:rPr lang="en-GB" i="1" dirty="0" smtClean="0">
                <a:effectLst>
                  <a:outerShdw blurRad="38100" dist="38100" dir="2700000" algn="tl">
                    <a:srgbClr val="000000">
                      <a:alpha val="43137"/>
                    </a:srgbClr>
                  </a:outerShdw>
                </a:effectLst>
              </a:rPr>
              <a:t>Employment </a:t>
            </a:r>
            <a:r>
              <a:rPr lang="en-GB" i="1" dirty="0">
                <a:effectLst>
                  <a:outerShdw blurRad="38100" dist="38100" dir="2700000" algn="tl">
                    <a:srgbClr val="000000">
                      <a:alpha val="43137"/>
                    </a:srgbClr>
                  </a:outerShdw>
                </a:effectLst>
              </a:rPr>
              <a:t>and Unemployment</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730624" y="1623919"/>
            <a:ext cx="10515600" cy="4351338"/>
          </a:xfrm>
        </p:spPr>
        <p:txBody>
          <a:bodyPr>
            <a:normAutofit/>
          </a:bodyPr>
          <a:lstStyle/>
          <a:p>
            <a:r>
              <a:rPr lang="en-GB" b="1" dirty="0"/>
              <a:t>Some terms to be familiar with while we’re discussing </a:t>
            </a:r>
            <a:r>
              <a:rPr lang="en-GB" b="1" dirty="0" smtClean="0"/>
              <a:t>employment</a:t>
            </a:r>
          </a:p>
          <a:p>
            <a:pPr fontAlgn="base"/>
            <a:r>
              <a:rPr lang="en-GB" b="1" dirty="0"/>
              <a:t>Labour force </a:t>
            </a:r>
            <a:r>
              <a:rPr lang="en-GB" dirty="0"/>
              <a:t>– the working population of an economy, i.e. all people of working age who are willing and able to </a:t>
            </a:r>
            <a:r>
              <a:rPr lang="en-GB" dirty="0" smtClean="0"/>
              <a:t>work.</a:t>
            </a:r>
          </a:p>
          <a:p>
            <a:pPr fontAlgn="base"/>
            <a:r>
              <a:rPr lang="en-GB" b="1" dirty="0" smtClean="0"/>
              <a:t>Dependent </a:t>
            </a:r>
            <a:r>
              <a:rPr lang="en-GB" b="1" dirty="0"/>
              <a:t>population</a:t>
            </a:r>
            <a:r>
              <a:rPr lang="en-GB" dirty="0"/>
              <a:t> – people not in the labour force and thus depend on the labour force to supply them with goods and services to </a:t>
            </a:r>
            <a:r>
              <a:rPr lang="en-GB" dirty="0" smtClean="0"/>
              <a:t>fulfil </a:t>
            </a:r>
            <a:r>
              <a:rPr lang="en-GB" dirty="0"/>
              <a:t>their needs and wants. </a:t>
            </a:r>
            <a:endParaRPr lang="en-GB" dirty="0" smtClean="0"/>
          </a:p>
          <a:p>
            <a:pPr fontAlgn="base"/>
            <a:r>
              <a:rPr lang="en-GB" dirty="0" smtClean="0"/>
              <a:t>This </a:t>
            </a:r>
            <a:r>
              <a:rPr lang="en-GB" dirty="0"/>
              <a:t>includes students in education, retired people, stay at home parents, prisoners or similar institutions as well as those choosing not to work.</a:t>
            </a:r>
            <a:endParaRPr lang="en-US" dirty="0"/>
          </a:p>
          <a:p>
            <a:endParaRPr lang="en-US" dirty="0"/>
          </a:p>
        </p:txBody>
      </p:sp>
    </p:spTree>
    <p:extLst>
      <p:ext uri="{BB962C8B-B14F-4D97-AF65-F5344CB8AC3E}">
        <p14:creationId xmlns:p14="http://schemas.microsoft.com/office/powerpoint/2010/main" val="146307390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479176"/>
            <a:ext cx="10515600" cy="5244353"/>
          </a:xfrm>
        </p:spPr>
        <p:txBody>
          <a:bodyPr>
            <a:noAutofit/>
          </a:bodyPr>
          <a:lstStyle/>
          <a:p>
            <a:pPr fontAlgn="base"/>
            <a:r>
              <a:rPr lang="en-GB" sz="3200" b="1" dirty="0" smtClean="0"/>
              <a:t>Employment</a:t>
            </a:r>
            <a:r>
              <a:rPr lang="en-GB" sz="3200" b="1" dirty="0"/>
              <a:t> </a:t>
            </a:r>
            <a:r>
              <a:rPr lang="en-GB" sz="3200" dirty="0"/>
              <a:t>is defined as an engagement of a person in the labour force in some occupation, business, trade, or profession.</a:t>
            </a:r>
            <a:endParaRPr lang="en-US" sz="3200" dirty="0"/>
          </a:p>
          <a:p>
            <a:pPr fontAlgn="base"/>
            <a:r>
              <a:rPr lang="en-GB" sz="3200" b="1" dirty="0"/>
              <a:t>Unemployment </a:t>
            </a:r>
            <a:r>
              <a:rPr lang="en-GB" sz="3200" dirty="0"/>
              <a:t>is a situation where people in the labour force are actively looking for jobs but are currently unemployed.</a:t>
            </a:r>
            <a:endParaRPr lang="en-US" sz="3200" dirty="0"/>
          </a:p>
          <a:p>
            <a:pPr fontAlgn="base"/>
            <a:r>
              <a:rPr lang="en-GB" sz="3200" dirty="0"/>
              <a:t>All governments have a macroeconomic objective of maintaining a low unemployment rate.</a:t>
            </a:r>
            <a:endParaRPr lang="en-US" sz="3200" dirty="0"/>
          </a:p>
          <a:p>
            <a:pPr fontAlgn="base"/>
            <a:r>
              <a:rPr lang="en-GB" sz="3200" b="1" dirty="0"/>
              <a:t>Full Employment</a:t>
            </a:r>
            <a:r>
              <a:rPr lang="en-GB" sz="3200" dirty="0"/>
              <a:t> is the situation where the entire labour force is employed. That is, all the people who are able and willing to work are employed – unemployment rate is 0%.</a:t>
            </a:r>
            <a:endParaRPr lang="en-US" sz="3200" dirty="0"/>
          </a:p>
          <a:p>
            <a:endParaRPr lang="en-US" sz="3200" dirty="0"/>
          </a:p>
        </p:txBody>
      </p:sp>
    </p:spTree>
    <p:extLst>
      <p:ext uri="{BB962C8B-B14F-4D97-AF65-F5344CB8AC3E}">
        <p14:creationId xmlns:p14="http://schemas.microsoft.com/office/powerpoint/2010/main" val="283283235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effectLst>
                  <a:outerShdw blurRad="38100" dist="38100" dir="2700000" algn="tl">
                    <a:srgbClr val="000000">
                      <a:alpha val="43137"/>
                    </a:srgbClr>
                  </a:outerShdw>
                </a:effectLst>
              </a:rPr>
              <a:t>Changing patterns and level of employment</a:t>
            </a:r>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GB" smtClean="0"/>
              <a:t>Over time, patterns and levels of employment change. </a:t>
            </a:r>
          </a:p>
          <a:p>
            <a:r>
              <a:rPr lang="en-GB" smtClean="0"/>
              <a:t>It could be due to the effects of the business cycle that every economy goes through from time to time (growth and recession). </a:t>
            </a:r>
          </a:p>
          <a:p>
            <a:r>
              <a:rPr lang="en-GB" smtClean="0"/>
              <a:t>It could be due to the changes to the demographics (population- age and gender) of the country. </a:t>
            </a:r>
          </a:p>
          <a:p>
            <a:r>
              <a:rPr lang="en-GB" smtClean="0"/>
              <a:t>It could also be due to structural changes (dramatic shifts in how an economy operates). </a:t>
            </a:r>
            <a:endParaRPr lang="en-GB" dirty="0" smtClean="0"/>
          </a:p>
        </p:txBody>
      </p:sp>
    </p:spTree>
    <p:extLst>
      <p:ext uri="{BB962C8B-B14F-4D97-AF65-F5344CB8AC3E}">
        <p14:creationId xmlns:p14="http://schemas.microsoft.com/office/powerpoint/2010/main" val="4297553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effectLst>
                  <a:outerShdw blurRad="38100" dist="38100" dir="2700000" algn="tl">
                    <a:srgbClr val="000000">
                      <a:alpha val="43137"/>
                    </a:srgbClr>
                  </a:outerShdw>
                </a:effectLst>
              </a:rPr>
              <a:t>Let’s look at some ways in which this happens</a:t>
            </a:r>
            <a:r>
              <a:rPr lang="en-US" dirty="0">
                <a:effectLst>
                  <a:outerShdw blurRad="38100" dist="38100" dir="2700000" algn="tl">
                    <a:srgbClr val="000000">
                      <a:alpha val="43137"/>
                    </a:srgbClr>
                  </a:outerShdw>
                </a:effectLst>
              </a:rPr>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GB" dirty="0"/>
              <a:t>As an economy develops, it undergoes a structural change as output and </a:t>
            </a:r>
            <a:r>
              <a:rPr lang="en-GB" b="1" dirty="0"/>
              <a:t>employment shifts from primary sector to manufacturing and then to the tertiary</a:t>
            </a:r>
            <a:r>
              <a:rPr lang="en-GB" dirty="0"/>
              <a:t> (services) </a:t>
            </a:r>
            <a:r>
              <a:rPr lang="en-GB" b="1" dirty="0"/>
              <a:t>sectors.</a:t>
            </a:r>
            <a:r>
              <a:rPr lang="en-GB" dirty="0"/>
              <a:t> </a:t>
            </a:r>
            <a:endParaRPr lang="en-GB" dirty="0" smtClean="0"/>
          </a:p>
          <a:p>
            <a:r>
              <a:rPr lang="en-GB" dirty="0" smtClean="0"/>
              <a:t>This </a:t>
            </a:r>
            <a:r>
              <a:rPr lang="en-GB" dirty="0"/>
              <a:t>can be seen in rapidly developing countries like India where there employment in agriculture and allied industries are rapidly falling and people are moving towards the fast-growing service sector, especially IT and retail.</a:t>
            </a:r>
            <a:endParaRPr lang="en-US" dirty="0"/>
          </a:p>
          <a:p>
            <a:endParaRPr lang="en-US" dirty="0"/>
          </a:p>
        </p:txBody>
      </p:sp>
    </p:spTree>
    <p:extLst>
      <p:ext uri="{BB962C8B-B14F-4D97-AF65-F5344CB8AC3E}">
        <p14:creationId xmlns:p14="http://schemas.microsoft.com/office/powerpoint/2010/main" val="91968456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a:bodyPr>
          <a:lstStyle/>
          <a:p>
            <a:r>
              <a:rPr lang="en-GB" dirty="0"/>
              <a:t>In the same way, </a:t>
            </a:r>
            <a:r>
              <a:rPr lang="en-GB" b="1" dirty="0"/>
              <a:t>employment moves from the informal sector</a:t>
            </a:r>
            <a:r>
              <a:rPr lang="en-GB" dirty="0"/>
              <a:t> (formally unrecognised trades such as street vending- output is not included in GDP and incomes are not taxed) </a:t>
            </a:r>
            <a:r>
              <a:rPr lang="en-GB" b="1" dirty="0"/>
              <a:t>to the formal sector</a:t>
            </a:r>
            <a:r>
              <a:rPr lang="en-GB" dirty="0"/>
              <a:t> (recognised – included in GDP and taxes) as economies develops. </a:t>
            </a:r>
            <a:endParaRPr lang="en-GB" dirty="0" smtClean="0"/>
          </a:p>
          <a:p>
            <a:r>
              <a:rPr lang="en-GB" dirty="0" smtClean="0"/>
              <a:t>People </a:t>
            </a:r>
            <a:r>
              <a:rPr lang="en-GB" dirty="0"/>
              <a:t>who previously worked as street vendors may work in registered firms, as the economy </a:t>
            </a:r>
            <a:r>
              <a:rPr lang="en-GB" dirty="0" smtClean="0"/>
              <a:t>develops</a:t>
            </a:r>
          </a:p>
          <a:p>
            <a:r>
              <a:rPr lang="en-GB" dirty="0"/>
              <a:t>Overtime, as an economy develops, the labour force also sees an </a:t>
            </a:r>
            <a:r>
              <a:rPr lang="en-GB" b="1" dirty="0"/>
              <a:t>increase in the proportion of female labour</a:t>
            </a:r>
            <a:r>
              <a:rPr lang="en-GB" dirty="0"/>
              <a:t>. </a:t>
            </a:r>
            <a:endParaRPr lang="en-GB" dirty="0" smtClean="0"/>
          </a:p>
          <a:p>
            <a:r>
              <a:rPr lang="en-GB" dirty="0" smtClean="0"/>
              <a:t>As </a:t>
            </a:r>
            <a:r>
              <a:rPr lang="en-GB" dirty="0"/>
              <a:t>social attitudes become progressive and women are encouraged to work, more women will enter the labour force and contribute to growth</a:t>
            </a:r>
            <a:endParaRPr lang="en-US" dirty="0"/>
          </a:p>
        </p:txBody>
      </p:sp>
    </p:spTree>
    <p:extLst>
      <p:ext uri="{BB962C8B-B14F-4D97-AF65-F5344CB8AC3E}">
        <p14:creationId xmlns:p14="http://schemas.microsoft.com/office/powerpoint/2010/main" val="395118722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pPr fontAlgn="base"/>
            <a:r>
              <a:rPr lang="en-GB" dirty="0"/>
              <a:t>Similarly, as the country develops, the </a:t>
            </a:r>
            <a:r>
              <a:rPr lang="en-GB" b="1" dirty="0"/>
              <a:t>proportion of old people may increase</a:t>
            </a:r>
            <a:r>
              <a:rPr lang="en-GB" dirty="0"/>
              <a:t> in proportion to young and working people (because death and birth rates fall). </a:t>
            </a:r>
            <a:endParaRPr lang="en-GB" dirty="0" smtClean="0"/>
          </a:p>
          <a:p>
            <a:pPr fontAlgn="base"/>
            <a:r>
              <a:rPr lang="en-GB" dirty="0" smtClean="0"/>
              <a:t>This </a:t>
            </a:r>
            <a:r>
              <a:rPr lang="en-GB" dirty="0"/>
              <a:t>will cause the labour force to shrink and cause a huge burden on the economy. </a:t>
            </a:r>
            <a:endParaRPr lang="en-GB" dirty="0" smtClean="0"/>
          </a:p>
          <a:p>
            <a:pPr fontAlgn="base"/>
            <a:r>
              <a:rPr lang="en-GB" dirty="0" smtClean="0"/>
              <a:t>Japan </a:t>
            </a:r>
            <a:r>
              <a:rPr lang="en-GB" dirty="0"/>
              <a:t>is now facing this problem as their birth rates are falling and it is up to a shrinking labour force to support a growing dependent senior population.</a:t>
            </a:r>
            <a:endParaRPr lang="en-US" dirty="0"/>
          </a:p>
          <a:p>
            <a:r>
              <a:rPr lang="en-GB" dirty="0"/>
              <a:t>As economies become more market-oriented (government enterprises and interventions decline), the economy will naturally see a large proportion of the </a:t>
            </a:r>
            <a:r>
              <a:rPr lang="en-GB" b="1" dirty="0"/>
              <a:t>labour force shift to the private sector</a:t>
            </a:r>
            <a:endParaRPr lang="en-US" dirty="0"/>
          </a:p>
        </p:txBody>
      </p:sp>
    </p:spTree>
    <p:extLst>
      <p:ext uri="{BB962C8B-B14F-4D97-AF65-F5344CB8AC3E}">
        <p14:creationId xmlns:p14="http://schemas.microsoft.com/office/powerpoint/2010/main" val="323468624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762"/>
            <a:ext cx="10515600" cy="1073710"/>
          </a:xfrm>
        </p:spPr>
        <p:txBody>
          <a:bodyPr>
            <a:normAutofit fontScale="90000"/>
          </a:bodyPr>
          <a:lstStyle/>
          <a:p>
            <a:r>
              <a:rPr lang="en-GB" b="1" dirty="0">
                <a:effectLst>
                  <a:outerShdw blurRad="38100" dist="38100" dir="2700000" algn="tl">
                    <a:srgbClr val="000000">
                      <a:alpha val="43137"/>
                    </a:srgbClr>
                  </a:outerShdw>
                </a:effectLst>
              </a:rPr>
              <a:t>Measuring </a:t>
            </a:r>
            <a:r>
              <a:rPr lang="en-GB" b="1" dirty="0" smtClean="0">
                <a:effectLst>
                  <a:outerShdw blurRad="38100" dist="38100" dir="2700000" algn="tl">
                    <a:srgbClr val="000000">
                      <a:alpha val="43137"/>
                    </a:srgbClr>
                  </a:outerShdw>
                </a:effectLst>
              </a:rPr>
              <a:t>Unemployment</a:t>
            </a:r>
            <a:r>
              <a:rPr lang="en-US" b="1" dirty="0"/>
              <a:t/>
            </a:r>
            <a:br>
              <a:rPr lang="en-US" b="1" dirty="0"/>
            </a:br>
            <a:endParaRPr lang="en-US" dirty="0"/>
          </a:p>
        </p:txBody>
      </p:sp>
      <p:sp>
        <p:nvSpPr>
          <p:cNvPr id="3" name="Content Placeholder 2"/>
          <p:cNvSpPr>
            <a:spLocks noGrp="1"/>
          </p:cNvSpPr>
          <p:nvPr>
            <p:ph idx="1"/>
          </p:nvPr>
        </p:nvSpPr>
        <p:spPr>
          <a:xfrm>
            <a:off x="838200" y="1143000"/>
            <a:ext cx="10515600" cy="5033963"/>
          </a:xfrm>
        </p:spPr>
        <p:txBody>
          <a:bodyPr>
            <a:normAutofit fontScale="92500"/>
          </a:bodyPr>
          <a:lstStyle/>
          <a:p>
            <a:pPr fontAlgn="base"/>
            <a:r>
              <a:rPr lang="en-GB" dirty="0"/>
              <a:t>Economies periodically calculate the number of people unemployed in their economies, to check the unemployment rate and see what policies they should implement to reduce it if it is too high. </a:t>
            </a:r>
            <a:endParaRPr lang="en-GB" dirty="0" smtClean="0"/>
          </a:p>
          <a:p>
            <a:pPr marL="0" indent="0" fontAlgn="base">
              <a:buNone/>
            </a:pPr>
            <a:r>
              <a:rPr lang="en-GB" b="1" dirty="0" smtClean="0"/>
              <a:t>They </a:t>
            </a:r>
            <a:r>
              <a:rPr lang="en-GB" b="1" dirty="0"/>
              <a:t>can do this in </a:t>
            </a:r>
            <a:r>
              <a:rPr lang="en-GB" b="1" dirty="0" smtClean="0"/>
              <a:t>these </a:t>
            </a:r>
            <a:r>
              <a:rPr lang="en-GB" b="1" dirty="0"/>
              <a:t>ways:</a:t>
            </a:r>
            <a:endParaRPr lang="en-US" b="1" dirty="0"/>
          </a:p>
          <a:p>
            <a:pPr lvl="0" fontAlgn="base"/>
            <a:r>
              <a:rPr lang="en-GB" b="1" dirty="0"/>
              <a:t>Claimant </a:t>
            </a:r>
            <a:r>
              <a:rPr lang="en-GB" b="1" dirty="0" smtClean="0"/>
              <a:t>count  (</a:t>
            </a:r>
            <a:r>
              <a:rPr lang="en-GB" b="1" dirty="0"/>
              <a:t>A</a:t>
            </a:r>
            <a:r>
              <a:rPr lang="en-GB" b="1" dirty="0" smtClean="0"/>
              <a:t>dministrative Records):</a:t>
            </a:r>
            <a:r>
              <a:rPr lang="en-GB" dirty="0"/>
              <a:t> unemployed people can file for unemployment claims (benefits/allowances provided to the unemployed job seekers) by the government. </a:t>
            </a:r>
            <a:endParaRPr lang="en-GB" dirty="0" smtClean="0"/>
          </a:p>
          <a:p>
            <a:pPr lvl="0" fontAlgn="base"/>
            <a:r>
              <a:rPr lang="en-GB" dirty="0" smtClean="0"/>
              <a:t>The </a:t>
            </a:r>
            <a:r>
              <a:rPr lang="en-GB" dirty="0"/>
              <a:t>government can count the total number of unemployment claims made in the economy to measure unemployment</a:t>
            </a:r>
            <a:r>
              <a:rPr lang="en-GB" dirty="0" smtClean="0"/>
              <a:t>.</a:t>
            </a:r>
          </a:p>
          <a:p>
            <a:pPr lvl="0" fontAlgn="base"/>
            <a:r>
              <a:rPr lang="en-GB" b="1" dirty="0" smtClean="0"/>
              <a:t>Labour Force Survey (LFS)- </a:t>
            </a:r>
            <a:r>
              <a:rPr lang="en-GB" dirty="0" smtClean="0"/>
              <a:t>A sample of households is surveyed to determine how many people are without work, available to start within two weeks and have actively looked for work in last four weeks.</a:t>
            </a:r>
            <a:endParaRPr lang="en-GB" b="1" dirty="0" smtClean="0"/>
          </a:p>
          <a:p>
            <a:pPr lvl="0" fontAlgn="base"/>
            <a:endParaRPr lang="en-US" dirty="0"/>
          </a:p>
          <a:p>
            <a:endParaRPr lang="en-US" dirty="0"/>
          </a:p>
        </p:txBody>
      </p:sp>
    </p:spTree>
    <p:extLst>
      <p:ext uri="{BB962C8B-B14F-4D97-AF65-F5344CB8AC3E}">
        <p14:creationId xmlns:p14="http://schemas.microsoft.com/office/powerpoint/2010/main" val="76294281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Measuring Unemployment</a:t>
            </a:r>
            <a:r>
              <a:rPr lang="en-US" b="1" dirty="0"/>
              <a:t/>
            </a:r>
            <a:br>
              <a:rPr lang="en-US" b="1" dirty="0"/>
            </a:br>
            <a:endParaRPr lang="en-US" dirty="0"/>
          </a:p>
        </p:txBody>
      </p:sp>
      <p:sp>
        <p:nvSpPr>
          <p:cNvPr id="3" name="Content Placeholder 2"/>
          <p:cNvSpPr>
            <a:spLocks noGrp="1"/>
          </p:cNvSpPr>
          <p:nvPr>
            <p:ph idx="1"/>
          </p:nvPr>
        </p:nvSpPr>
        <p:spPr/>
        <p:txBody>
          <a:bodyPr/>
          <a:lstStyle/>
          <a:p>
            <a:pPr marL="0" indent="0">
              <a:buNone/>
            </a:pPr>
            <a:r>
              <a:rPr lang="en-US" b="1" dirty="0" smtClean="0"/>
              <a:t>U-3 unemployment Rate: </a:t>
            </a:r>
            <a:r>
              <a:rPr lang="en-US" dirty="0" smtClean="0"/>
              <a:t>The official US Bureau of labour (BLS) measure, which includes all jobless people actively seeking work.</a:t>
            </a:r>
          </a:p>
          <a:p>
            <a:pPr marL="0" indent="0">
              <a:buNone/>
            </a:pPr>
            <a:r>
              <a:rPr lang="en-US" b="1" dirty="0" smtClean="0"/>
              <a:t>Underutilisation Rate (U-6)- </a:t>
            </a:r>
            <a:r>
              <a:rPr lang="en-US" dirty="0" smtClean="0"/>
              <a:t>a broader measure that includes the unemployed, plus marginally attached workers (stopped looking) and those working part-time for economic reasons.</a:t>
            </a:r>
          </a:p>
          <a:p>
            <a:pPr marL="0" indent="0">
              <a:buNone/>
            </a:pPr>
            <a:r>
              <a:rPr lang="en-US" b="1" dirty="0" smtClean="0"/>
              <a:t>Participation Rate –</a:t>
            </a:r>
            <a:r>
              <a:rPr lang="en-US" dirty="0" smtClean="0"/>
              <a:t> measures the percentage of working-age population that is either employed or actively seeking work.</a:t>
            </a:r>
            <a:endParaRPr lang="en-US" b="1" dirty="0" smtClean="0"/>
          </a:p>
          <a:p>
            <a:pPr marL="457200" lvl="1" indent="0">
              <a:buNone/>
            </a:pPr>
            <a:endParaRPr lang="en-US" dirty="0"/>
          </a:p>
        </p:txBody>
      </p:sp>
    </p:spTree>
    <p:extLst>
      <p:ext uri="{BB962C8B-B14F-4D97-AF65-F5344CB8AC3E}">
        <p14:creationId xmlns:p14="http://schemas.microsoft.com/office/powerpoint/2010/main" val="276998808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lvl="0" fontAlgn="base"/>
            <a:r>
              <a:rPr lang="en-GB" b="1" dirty="0"/>
              <a:t>Labour surveys:</a:t>
            </a:r>
            <a:r>
              <a:rPr lang="en-GB" dirty="0"/>
              <a:t> economies conduct surveys among the entire labour force to collect data about it. This will include data on the number of people unemployed</a:t>
            </a:r>
            <a:r>
              <a:rPr lang="en-GB" dirty="0" smtClean="0"/>
              <a:t>.</a:t>
            </a:r>
            <a:endParaRPr lang="en-US" dirty="0"/>
          </a:p>
          <a:p>
            <a:pPr fontAlgn="base"/>
            <a:r>
              <a:rPr lang="en-GB" b="1" dirty="0"/>
              <a:t>Unemployment rate </a:t>
            </a:r>
            <a:r>
              <a:rPr lang="en-GB" dirty="0"/>
              <a:t>= </a:t>
            </a:r>
            <a:r>
              <a:rPr lang="en-GB" i="1" dirty="0"/>
              <a:t>number of people unemployed </a:t>
            </a:r>
            <a:r>
              <a:rPr lang="en-GB" dirty="0"/>
              <a:t>/ </a:t>
            </a:r>
            <a:r>
              <a:rPr lang="en-GB" i="1" dirty="0"/>
              <a:t>total no. of people in the labour force</a:t>
            </a:r>
            <a:endParaRPr lang="en-US" i="1" dirty="0"/>
          </a:p>
          <a:p>
            <a:endParaRPr lang="en-US" dirty="0"/>
          </a:p>
        </p:txBody>
      </p:sp>
    </p:spTree>
    <p:extLst>
      <p:ext uri="{BB962C8B-B14F-4D97-AF65-F5344CB8AC3E}">
        <p14:creationId xmlns:p14="http://schemas.microsoft.com/office/powerpoint/2010/main" val="210115999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KEY COMPONENTS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Actively seeking work</a:t>
            </a:r>
            <a:r>
              <a:rPr lang="en-US" dirty="0" smtClean="0"/>
              <a:t>: Includes registering at employment offices, sending CV’s or Interviewing</a:t>
            </a:r>
          </a:p>
          <a:p>
            <a:r>
              <a:rPr lang="en-US" b="1" dirty="0" smtClean="0"/>
              <a:t>Available for work</a:t>
            </a:r>
            <a:r>
              <a:rPr lang="en-US" dirty="0" smtClean="0"/>
              <a:t>: Ready to start in the reference period</a:t>
            </a:r>
          </a:p>
          <a:p>
            <a:r>
              <a:rPr lang="en-US" b="1" dirty="0" smtClean="0"/>
              <a:t>Exclude</a:t>
            </a:r>
            <a:r>
              <a:rPr lang="en-US" dirty="0" smtClean="0"/>
              <a:t>: Full time students, Retirees, and Discouraged workers (those who stopped looking for work)</a:t>
            </a:r>
            <a:endParaRPr lang="en-US" dirty="0"/>
          </a:p>
        </p:txBody>
      </p:sp>
    </p:spTree>
    <p:extLst>
      <p:ext uri="{BB962C8B-B14F-4D97-AF65-F5344CB8AC3E}">
        <p14:creationId xmlns:p14="http://schemas.microsoft.com/office/powerpoint/2010/main" val="151699885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EXAMPLES FOR PRIMARY MEASURES OF EMPLOYMENT</a:t>
            </a:r>
            <a:endParaRPr lang="en-US" b="1"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t>1. THE UNEMPLOYMENT RATE (U-3)</a:t>
            </a:r>
          </a:p>
          <a:p>
            <a:r>
              <a:rPr lang="en-US" dirty="0" smtClean="0"/>
              <a:t>This is the official most commonly used measure representing the number of unemployed individuals as a percentage of the entire labour force. </a:t>
            </a:r>
          </a:p>
          <a:p>
            <a:r>
              <a:rPr lang="en-US" dirty="0" smtClean="0"/>
              <a:t>U-3 = (Number of Unemployed/Labour Force)*100</a:t>
            </a:r>
          </a:p>
          <a:p>
            <a:r>
              <a:rPr lang="en-US" dirty="0" smtClean="0"/>
              <a:t>Note: Labour Force = Employed + Unemployed</a:t>
            </a:r>
          </a:p>
          <a:p>
            <a:r>
              <a:rPr lang="en-US" b="1" dirty="0" smtClean="0"/>
              <a:t>Practice Question</a:t>
            </a:r>
          </a:p>
          <a:p>
            <a:r>
              <a:rPr lang="en-US" b="1" dirty="0" smtClean="0"/>
              <a:t>In March 2026 Zambia had recorded 7,015,000 unemployed, 163,366,000 employed. Calculate the Unemployment Rate.</a:t>
            </a:r>
          </a:p>
          <a:p>
            <a:r>
              <a:rPr lang="en-US" dirty="0" smtClean="0"/>
              <a:t>Solution: Labour Force:=170,381,000, Unemployment Rate=4.1</a:t>
            </a:r>
            <a:endParaRPr lang="en-US" dirty="0"/>
          </a:p>
        </p:txBody>
      </p:sp>
    </p:spTree>
    <p:extLst>
      <p:ext uri="{BB962C8B-B14F-4D97-AF65-F5344CB8AC3E}">
        <p14:creationId xmlns:p14="http://schemas.microsoft.com/office/powerpoint/2010/main" val="16096392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FOR PRIMARY MEASURES OF EMPLOYMENT</a:t>
            </a:r>
            <a:endParaRPr lang="en-US" dirty="0"/>
          </a:p>
        </p:txBody>
      </p:sp>
      <p:sp>
        <p:nvSpPr>
          <p:cNvPr id="3" name="Content Placeholder 2"/>
          <p:cNvSpPr>
            <a:spLocks noGrp="1"/>
          </p:cNvSpPr>
          <p:nvPr>
            <p:ph idx="1"/>
          </p:nvPr>
        </p:nvSpPr>
        <p:spPr/>
        <p:txBody>
          <a:bodyPr/>
          <a:lstStyle/>
          <a:p>
            <a:pPr marL="0" indent="0">
              <a:buNone/>
            </a:pPr>
            <a:r>
              <a:rPr lang="en-US" b="1" dirty="0" smtClean="0"/>
              <a:t>2. LABOUR FORCE PARTICIPATION RATE</a:t>
            </a:r>
          </a:p>
          <a:p>
            <a:pPr marL="0" indent="0">
              <a:buNone/>
            </a:pPr>
            <a:r>
              <a:rPr lang="en-US" dirty="0" smtClean="0"/>
              <a:t>Measures the percentage of the working-age population that is either employed or actively seeking employment </a:t>
            </a:r>
          </a:p>
          <a:p>
            <a:pPr marL="0" indent="0">
              <a:buNone/>
            </a:pPr>
            <a:r>
              <a:rPr lang="en-US" dirty="0" smtClean="0"/>
              <a:t>Formula: (Labour force/Working Age Population)*100</a:t>
            </a:r>
          </a:p>
          <a:p>
            <a:pPr marL="0" indent="0">
              <a:buNone/>
            </a:pPr>
            <a:r>
              <a:rPr lang="en-US" dirty="0" smtClean="0"/>
              <a:t>Given that Labour Force was 170,000,000 and working age population of 260,000,000. </a:t>
            </a:r>
          </a:p>
          <a:p>
            <a:pPr marL="0" indent="0">
              <a:buNone/>
            </a:pPr>
            <a:r>
              <a:rPr lang="en-US" b="1" dirty="0" smtClean="0"/>
              <a:t>Participation Rate is 65.4%</a:t>
            </a:r>
          </a:p>
          <a:p>
            <a:pPr marL="0" indent="0">
              <a:buNone/>
            </a:pPr>
            <a:endParaRPr lang="en-US" dirty="0"/>
          </a:p>
        </p:txBody>
      </p:sp>
    </p:spTree>
    <p:extLst>
      <p:ext uri="{BB962C8B-B14F-4D97-AF65-F5344CB8AC3E}">
        <p14:creationId xmlns:p14="http://schemas.microsoft.com/office/powerpoint/2010/main" val="250632933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FOR PRIMARY MEASURES OF EMPLOYMENT</a:t>
            </a:r>
            <a:endParaRPr lang="en-US" dirty="0"/>
          </a:p>
        </p:txBody>
      </p:sp>
      <p:sp>
        <p:nvSpPr>
          <p:cNvPr id="3" name="Content Placeholder 2"/>
          <p:cNvSpPr>
            <a:spLocks noGrp="1"/>
          </p:cNvSpPr>
          <p:nvPr>
            <p:ph idx="1"/>
          </p:nvPr>
        </p:nvSpPr>
        <p:spPr/>
        <p:txBody>
          <a:bodyPr/>
          <a:lstStyle/>
          <a:p>
            <a:pPr marL="0" indent="0">
              <a:buNone/>
            </a:pPr>
            <a:r>
              <a:rPr lang="en-US" b="1" dirty="0" smtClean="0"/>
              <a:t>3. EMPLOYMENT TO POPULATION RATIO</a:t>
            </a:r>
          </a:p>
          <a:p>
            <a:pPr marL="0" indent="0">
              <a:buNone/>
            </a:pPr>
            <a:r>
              <a:rPr lang="en-US" dirty="0" smtClean="0"/>
              <a:t>This shows the percentage of the working age population that is employed, offering a picture of how much of the potential workforce is actually working.</a:t>
            </a:r>
          </a:p>
          <a:p>
            <a:pPr marL="0" indent="0">
              <a:buNone/>
            </a:pPr>
            <a:r>
              <a:rPr lang="en-US" dirty="0" smtClean="0"/>
              <a:t>Formula: (Number of employed/Working-Age Population)*100</a:t>
            </a:r>
          </a:p>
          <a:p>
            <a:pPr marL="0" indent="0">
              <a:buNone/>
            </a:pPr>
            <a:r>
              <a:rPr lang="en-US" dirty="0" smtClean="0"/>
              <a:t>Calculate the employment to population ration given the employed as 160,000,000 and working-age population 260,000,000.</a:t>
            </a:r>
          </a:p>
          <a:p>
            <a:pPr marL="0" indent="0">
              <a:buNone/>
            </a:pPr>
            <a:r>
              <a:rPr lang="en-US" b="1" dirty="0" smtClean="0"/>
              <a:t>Solution: 61.5%</a:t>
            </a:r>
            <a:endParaRPr lang="en-US" b="1" dirty="0"/>
          </a:p>
        </p:txBody>
      </p:sp>
    </p:spTree>
    <p:extLst>
      <p:ext uri="{BB962C8B-B14F-4D97-AF65-F5344CB8AC3E}">
        <p14:creationId xmlns:p14="http://schemas.microsoft.com/office/powerpoint/2010/main" val="288097588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FOR </a:t>
            </a:r>
            <a:r>
              <a:rPr lang="en-US" b="1" dirty="0" smtClean="0"/>
              <a:t>BROADER </a:t>
            </a:r>
            <a:r>
              <a:rPr lang="en-US" b="1" dirty="0"/>
              <a:t>MEASURES OF EMPLOYMENT</a:t>
            </a:r>
            <a:endParaRPr lang="en-US" dirty="0"/>
          </a:p>
        </p:txBody>
      </p:sp>
      <p:sp>
        <p:nvSpPr>
          <p:cNvPr id="3" name="Content Placeholder 2"/>
          <p:cNvSpPr>
            <a:spLocks noGrp="1"/>
          </p:cNvSpPr>
          <p:nvPr>
            <p:ph idx="1"/>
          </p:nvPr>
        </p:nvSpPr>
        <p:spPr>
          <a:xfrm>
            <a:off x="838200" y="1865966"/>
            <a:ext cx="10515600" cy="4351338"/>
          </a:xfrm>
        </p:spPr>
        <p:txBody>
          <a:bodyPr>
            <a:normAutofit lnSpcReduction="10000"/>
          </a:bodyPr>
          <a:lstStyle/>
          <a:p>
            <a:pPr marL="0" indent="0">
              <a:buNone/>
            </a:pPr>
            <a:r>
              <a:rPr lang="en-US" b="1" dirty="0" smtClean="0"/>
              <a:t>4. UNDERUTILISATION RATE U-6</a:t>
            </a:r>
          </a:p>
          <a:p>
            <a:pPr marL="0" indent="0">
              <a:buNone/>
            </a:pPr>
            <a:r>
              <a:rPr lang="en-US" dirty="0" smtClean="0"/>
              <a:t>This is a comprehensive measure, often called the real </a:t>
            </a:r>
            <a:r>
              <a:rPr lang="en-US" dirty="0" err="1" smtClean="0"/>
              <a:t>unemployement</a:t>
            </a:r>
            <a:r>
              <a:rPr lang="en-US" dirty="0" smtClean="0"/>
              <a:t> rate. It includes the unemployed, plus those marginally attached to labour force (Discouraged workers) and those working part-time for economic reasons.</a:t>
            </a:r>
          </a:p>
          <a:p>
            <a:pPr marL="0" indent="0">
              <a:buNone/>
            </a:pPr>
            <a:r>
              <a:rPr lang="en-US" b="1" dirty="0" smtClean="0"/>
              <a:t>Practice Question</a:t>
            </a:r>
          </a:p>
          <a:p>
            <a:pPr marL="0" indent="0">
              <a:buNone/>
            </a:pPr>
            <a:r>
              <a:rPr lang="en-US" dirty="0" smtClean="0"/>
              <a:t>Total unemployed: 7,000,000</a:t>
            </a:r>
          </a:p>
          <a:p>
            <a:pPr marL="0" indent="0">
              <a:buNone/>
            </a:pPr>
            <a:r>
              <a:rPr lang="en-US" dirty="0" smtClean="0"/>
              <a:t>Marginally attached: 2,000,000</a:t>
            </a:r>
          </a:p>
          <a:p>
            <a:pPr marL="0" indent="0">
              <a:buNone/>
            </a:pPr>
            <a:r>
              <a:rPr lang="en-US" dirty="0" smtClean="0"/>
              <a:t>Part-time for </a:t>
            </a:r>
            <a:r>
              <a:rPr lang="en-US" dirty="0"/>
              <a:t>E</a:t>
            </a:r>
            <a:r>
              <a:rPr lang="en-US" dirty="0" smtClean="0"/>
              <a:t>conomic Reasons: 4,000,000</a:t>
            </a:r>
          </a:p>
          <a:p>
            <a:pPr marL="0" indent="0">
              <a:buNone/>
            </a:pPr>
            <a:r>
              <a:rPr lang="en-US" dirty="0" smtClean="0"/>
              <a:t>Labour Force: 170,000,000</a:t>
            </a:r>
            <a:endParaRPr lang="en-US" dirty="0"/>
          </a:p>
        </p:txBody>
      </p:sp>
    </p:spTree>
    <p:extLst>
      <p:ext uri="{BB962C8B-B14F-4D97-AF65-F5344CB8AC3E}">
        <p14:creationId xmlns:p14="http://schemas.microsoft.com/office/powerpoint/2010/main" val="130004182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SOLUTION</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U-6 =[(Unemployed + Marginally attached + Part-Time for Economic reasons)/(Labour Force + Marginally Attached)]*100%</a:t>
            </a:r>
          </a:p>
          <a:p>
            <a:r>
              <a:rPr lang="en-US" dirty="0" smtClean="0"/>
              <a:t>U-6 = [(7,000,000 + 2,000,000 + 4,000,000)/(170,000,000+2,000,000)]</a:t>
            </a:r>
          </a:p>
          <a:p>
            <a:r>
              <a:rPr lang="en-US" dirty="0" smtClean="0"/>
              <a:t>U-6 = (13,000,000/172,000,000)*100%</a:t>
            </a:r>
          </a:p>
          <a:p>
            <a:r>
              <a:rPr lang="en-US" b="1" dirty="0" smtClean="0"/>
              <a:t>U-6 = 7.5%.</a:t>
            </a:r>
            <a:endParaRPr lang="en-US" b="1" dirty="0"/>
          </a:p>
        </p:txBody>
      </p:sp>
    </p:spTree>
    <p:extLst>
      <p:ext uri="{BB962C8B-B14F-4D97-AF65-F5344CB8AC3E}">
        <p14:creationId xmlns:p14="http://schemas.microsoft.com/office/powerpoint/2010/main" val="91886777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P</a:t>
            </a:r>
            <a:r>
              <a:rPr lang="en-GB" b="1" dirty="0" smtClean="0">
                <a:effectLst>
                  <a:outerShdw blurRad="38100" dist="38100" dir="2700000" algn="tl">
                    <a:srgbClr val="000000">
                      <a:alpha val="43137"/>
                    </a:srgbClr>
                  </a:outerShdw>
                </a:effectLst>
              </a:rPr>
              <a:t>roblems </a:t>
            </a:r>
            <a:r>
              <a:rPr lang="en-GB" b="1" dirty="0">
                <a:effectLst>
                  <a:outerShdw blurRad="38100" dist="38100" dir="2700000" algn="tl">
                    <a:srgbClr val="000000">
                      <a:alpha val="43137"/>
                    </a:srgbClr>
                  </a:outerShdw>
                </a:effectLst>
              </a:rPr>
              <a:t>W</a:t>
            </a:r>
            <a:r>
              <a:rPr lang="en-GB" b="1" dirty="0" smtClean="0">
                <a:effectLst>
                  <a:outerShdw blurRad="38100" dist="38100" dir="2700000" algn="tl">
                    <a:srgbClr val="000000">
                      <a:alpha val="43137"/>
                    </a:srgbClr>
                  </a:outerShdw>
                </a:effectLst>
              </a:rPr>
              <a:t>ith </a:t>
            </a:r>
            <a:r>
              <a:rPr lang="en-GB" b="1" dirty="0">
                <a:effectLst>
                  <a:outerShdw blurRad="38100" dist="38100" dir="2700000" algn="tl">
                    <a:srgbClr val="000000">
                      <a:alpha val="43137"/>
                    </a:srgbClr>
                  </a:outerShdw>
                </a:effectLst>
              </a:rPr>
              <a:t>M</a:t>
            </a:r>
            <a:r>
              <a:rPr lang="en-GB" b="1" dirty="0" smtClean="0">
                <a:effectLst>
                  <a:outerShdw blurRad="38100" dist="38100" dir="2700000" algn="tl">
                    <a:srgbClr val="000000">
                      <a:alpha val="43137"/>
                    </a:srgbClr>
                  </a:outerShdw>
                </a:effectLst>
              </a:rPr>
              <a:t>easuring </a:t>
            </a:r>
            <a:r>
              <a:rPr lang="en-GB" b="1" dirty="0">
                <a:effectLst>
                  <a:outerShdw blurRad="38100" dist="38100" dir="2700000" algn="tl">
                    <a:srgbClr val="000000">
                      <a:alpha val="43137"/>
                    </a:srgbClr>
                  </a:outerShdw>
                </a:effectLst>
              </a:rPr>
              <a:t>E</a:t>
            </a:r>
            <a:r>
              <a:rPr lang="en-GB" b="1" dirty="0" smtClean="0">
                <a:effectLst>
                  <a:outerShdw blurRad="38100" dist="38100" dir="2700000" algn="tl">
                    <a:srgbClr val="000000">
                      <a:alpha val="43137"/>
                    </a:srgbClr>
                  </a:outerShdw>
                </a:effectLst>
              </a:rPr>
              <a:t>mployment</a:t>
            </a:r>
            <a:r>
              <a:rPr lang="en-GB" b="1" dirty="0">
                <a:effectLst>
                  <a:outerShdw blurRad="38100" dist="38100" dir="2700000" algn="tl">
                    <a:srgbClr val="000000">
                      <a:alpha val="43137"/>
                    </a:srgbClr>
                  </a:outerShdw>
                </a:effectLst>
              </a:rPr>
              <a: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398494"/>
            <a:ext cx="10515600" cy="5150224"/>
          </a:xfrm>
        </p:spPr>
        <p:txBody>
          <a:bodyPr/>
          <a:lstStyle/>
          <a:p>
            <a:pPr fontAlgn="base"/>
            <a:r>
              <a:rPr lang="en-GB" b="1" dirty="0"/>
              <a:t>Under-employment:</a:t>
            </a:r>
            <a:r>
              <a:rPr lang="en-GB" dirty="0"/>
              <a:t> people may be officially classed as employed but they may be working fewer hours than they would like. </a:t>
            </a:r>
            <a:endParaRPr lang="en-GB" dirty="0" smtClean="0"/>
          </a:p>
          <a:p>
            <a:pPr fontAlgn="base"/>
            <a:r>
              <a:rPr lang="en-GB" dirty="0" smtClean="0"/>
              <a:t>For </a:t>
            </a:r>
            <a:r>
              <a:rPr lang="en-GB" dirty="0"/>
              <a:t>example, they may have a part-time job, but want a full-time job. </a:t>
            </a:r>
            <a:endParaRPr lang="en-GB" dirty="0" smtClean="0"/>
          </a:p>
          <a:p>
            <a:pPr fontAlgn="base"/>
            <a:r>
              <a:rPr lang="en-GB" dirty="0" smtClean="0"/>
              <a:t>This </a:t>
            </a:r>
            <a:r>
              <a:rPr lang="en-GB" dirty="0"/>
              <a:t>is considered as unemployment because they may not fulfil the working hours needed to be considered employed.</a:t>
            </a:r>
            <a:endParaRPr lang="en-US" dirty="0"/>
          </a:p>
          <a:p>
            <a:r>
              <a:rPr lang="en-GB" b="1" dirty="0"/>
              <a:t>Inactivity rates:</a:t>
            </a:r>
            <a:r>
              <a:rPr lang="en-GB" dirty="0"/>
              <a:t> the long-term unemployed may become discouraged and leave the labour market completely. </a:t>
            </a:r>
            <a:endParaRPr lang="en-GB" dirty="0" smtClean="0"/>
          </a:p>
          <a:p>
            <a:r>
              <a:rPr lang="en-GB" dirty="0" smtClean="0"/>
              <a:t>In </a:t>
            </a:r>
            <a:r>
              <a:rPr lang="en-GB" dirty="0"/>
              <a:t>effect they are not working, but they are classed as economically inactive rather than unemployed. </a:t>
            </a:r>
            <a:endParaRPr lang="en-GB" dirty="0" smtClean="0"/>
          </a:p>
          <a:p>
            <a:r>
              <a:rPr lang="en-GB" dirty="0" smtClean="0"/>
              <a:t>So</a:t>
            </a:r>
            <a:r>
              <a:rPr lang="en-GB" dirty="0"/>
              <a:t>, the unemployment rate can be understated</a:t>
            </a:r>
            <a:endParaRPr lang="en-US" dirty="0"/>
          </a:p>
        </p:txBody>
      </p:sp>
    </p:spTree>
    <p:extLst>
      <p:ext uri="{BB962C8B-B14F-4D97-AF65-F5344CB8AC3E}">
        <p14:creationId xmlns:p14="http://schemas.microsoft.com/office/powerpoint/2010/main" val="23162062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The causes/types of unemployment</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lvl="0" fontAlgn="base"/>
            <a:r>
              <a:rPr lang="en-GB" b="1" dirty="0"/>
              <a:t>Frictional unemployment</a:t>
            </a:r>
            <a:r>
              <a:rPr lang="en-GB" dirty="0"/>
              <a:t>: this occurs as a result of workers leaving one job and spending time looking for a new one. This type of unemployment is short-lived.</a:t>
            </a:r>
            <a:endParaRPr lang="en-US" dirty="0"/>
          </a:p>
          <a:p>
            <a:pPr lvl="0" fontAlgn="base"/>
            <a:r>
              <a:rPr lang="en-GB" b="1" dirty="0"/>
              <a:t>Cyclical unemployment</a:t>
            </a:r>
            <a:r>
              <a:rPr lang="en-GB" dirty="0"/>
              <a:t>: this occurs as a result of fall in aggregate demand due to an economic recession. When demand falls, firms will cut their production and workers will lose their jobs. There will be a nation-wide rise in unemployment.</a:t>
            </a:r>
            <a:endParaRPr lang="en-US" dirty="0"/>
          </a:p>
          <a:p>
            <a:endParaRPr lang="en-US" dirty="0"/>
          </a:p>
        </p:txBody>
      </p:sp>
    </p:spTree>
    <p:extLst>
      <p:ext uri="{BB962C8B-B14F-4D97-AF65-F5344CB8AC3E}">
        <p14:creationId xmlns:p14="http://schemas.microsoft.com/office/powerpoint/2010/main" val="23919572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lvl="0" fontAlgn="base"/>
            <a:r>
              <a:rPr lang="en-GB" b="1" dirty="0"/>
              <a:t>Structural unemployment</a:t>
            </a:r>
            <a:r>
              <a:rPr lang="en-GB" dirty="0"/>
              <a:t>: this occurs due to the long-term change in the structure of an economy. Workers end up having the wrong skills in the wrong place – causing them to be unfit for employment. This can be explained by dividing it further:</a:t>
            </a:r>
            <a:endParaRPr lang="en-US" sz="2400" dirty="0"/>
          </a:p>
          <a:p>
            <a:pPr lvl="1" fontAlgn="base"/>
            <a:r>
              <a:rPr lang="en-GB" b="1" dirty="0"/>
              <a:t>Technological unemployment</a:t>
            </a:r>
            <a:r>
              <a:rPr lang="en-GB" dirty="0"/>
              <a:t>: this has rose in recent times as industrial robots, machinery and other technology are being substituted for labour, leaving people jobless.</a:t>
            </a:r>
            <a:endParaRPr lang="en-US" sz="2000" dirty="0"/>
          </a:p>
          <a:p>
            <a:pPr lvl="1" fontAlgn="base"/>
            <a:r>
              <a:rPr lang="en-GB" b="1" dirty="0"/>
              <a:t>Sectoral unemployment</a:t>
            </a:r>
            <a:r>
              <a:rPr lang="en-GB" dirty="0"/>
              <a:t>: unemployed caused as a sector/industry declines and leave its workers unemployed</a:t>
            </a:r>
            <a:r>
              <a:rPr lang="en-GB" dirty="0" smtClean="0"/>
              <a:t>.</a:t>
            </a:r>
            <a:endParaRPr lang="en-US" sz="2000" dirty="0"/>
          </a:p>
        </p:txBody>
      </p:sp>
    </p:spTree>
    <p:extLst>
      <p:ext uri="{BB962C8B-B14F-4D97-AF65-F5344CB8AC3E}">
        <p14:creationId xmlns:p14="http://schemas.microsoft.com/office/powerpoint/2010/main" val="422853975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lvl="0" fontAlgn="base"/>
            <a:r>
              <a:rPr lang="en-GB" b="1" dirty="0"/>
              <a:t>Seasonal unemployment</a:t>
            </a:r>
            <a:r>
              <a:rPr lang="en-GB" dirty="0"/>
              <a:t>: this occurs as a result of the demand for a product being seasonal. </a:t>
            </a:r>
            <a:endParaRPr lang="en-GB" dirty="0" smtClean="0"/>
          </a:p>
          <a:p>
            <a:pPr lvl="0" fontAlgn="base"/>
            <a:r>
              <a:rPr lang="en-GB" dirty="0" smtClean="0"/>
              <a:t>For </a:t>
            </a:r>
            <a:r>
              <a:rPr lang="en-GB" dirty="0"/>
              <a:t>example, the demand for umbrellas will fall in non-monsoon seasons, and so workers in umbrella manufacturing firms will become unemployed over those seasons.</a:t>
            </a:r>
            <a:endParaRPr lang="en-US" dirty="0"/>
          </a:p>
          <a:p>
            <a:r>
              <a:rPr lang="en-GB" b="1" dirty="0"/>
              <a:t>Voluntary unemployment</a:t>
            </a:r>
            <a:r>
              <a:rPr lang="en-GB" dirty="0"/>
              <a:t>: when people choose not to work for various reasons – they want to pursue higher education, would like to take a break etc. </a:t>
            </a:r>
            <a:endParaRPr lang="en-GB" dirty="0" smtClean="0"/>
          </a:p>
          <a:p>
            <a:r>
              <a:rPr lang="en-GB" dirty="0" smtClean="0"/>
              <a:t>Because </a:t>
            </a:r>
            <a:r>
              <a:rPr lang="en-GB" dirty="0"/>
              <a:t>they’re not actively looking for work, voluntarily unemployed people do not belong to the labour force</a:t>
            </a:r>
            <a:endParaRPr lang="en-US" dirty="0"/>
          </a:p>
        </p:txBody>
      </p:sp>
    </p:spTree>
    <p:extLst>
      <p:ext uri="{BB962C8B-B14F-4D97-AF65-F5344CB8AC3E}">
        <p14:creationId xmlns:p14="http://schemas.microsoft.com/office/powerpoint/2010/main" val="64053506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The consequences of </a:t>
            </a:r>
            <a:r>
              <a:rPr lang="en-GB" b="1" dirty="0" smtClean="0"/>
              <a:t>unemployment</a:t>
            </a:r>
            <a:r>
              <a:rPr lang="en-US" b="1" dirty="0"/>
              <a:t/>
            </a:r>
            <a:br>
              <a:rPr lang="en-US" b="1" dirty="0"/>
            </a:br>
            <a:endParaRPr lang="en-US" dirty="0"/>
          </a:p>
        </p:txBody>
      </p:sp>
      <p:sp>
        <p:nvSpPr>
          <p:cNvPr id="3" name="Content Placeholder 2"/>
          <p:cNvSpPr>
            <a:spLocks noGrp="1"/>
          </p:cNvSpPr>
          <p:nvPr>
            <p:ph idx="1"/>
          </p:nvPr>
        </p:nvSpPr>
        <p:spPr/>
        <p:txBody>
          <a:bodyPr>
            <a:normAutofit lnSpcReduction="10000"/>
          </a:bodyPr>
          <a:lstStyle/>
          <a:p>
            <a:pPr lvl="0" fontAlgn="base"/>
            <a:r>
              <a:rPr lang="en-GB" dirty="0"/>
              <a:t>People will </a:t>
            </a:r>
            <a:r>
              <a:rPr lang="en-GB" b="1" dirty="0"/>
              <a:t>lose their working skills</a:t>
            </a:r>
            <a:r>
              <a:rPr lang="en-GB" dirty="0"/>
              <a:t> if they remain unemployed for a long time and may find it even harder to find suitable jobs. As people remain unemployed, their incomes will be low, and </a:t>
            </a:r>
            <a:r>
              <a:rPr lang="en-GB" b="1" dirty="0"/>
              <a:t>living standards will fall.</a:t>
            </a:r>
            <a:endParaRPr lang="en-US" dirty="0"/>
          </a:p>
          <a:p>
            <a:pPr lvl="0" fontAlgn="base"/>
            <a:r>
              <a:rPr lang="en-GB" dirty="0"/>
              <a:t>Unemployment will also </a:t>
            </a:r>
            <a:r>
              <a:rPr lang="en-GB" b="1" dirty="0"/>
              <a:t>lead to poverty, </a:t>
            </a:r>
            <a:r>
              <a:rPr lang="en-GB" dirty="0"/>
              <a:t>homelessness and ill health and encourage people to steal and commit other crimes to make money– </a:t>
            </a:r>
            <a:r>
              <a:rPr lang="en-GB" b="1" dirty="0"/>
              <a:t>crime rates</a:t>
            </a:r>
            <a:r>
              <a:rPr lang="en-GB" dirty="0"/>
              <a:t> will rise.</a:t>
            </a:r>
            <a:endParaRPr lang="en-US" dirty="0"/>
          </a:p>
          <a:p>
            <a:r>
              <a:rPr lang="en-GB" dirty="0"/>
              <a:t>People losing skills is not just detrimental to the unemployed individuals but also to firms who may employ these people in the future. They will have to </a:t>
            </a:r>
            <a:r>
              <a:rPr lang="en-GB" b="1" dirty="0"/>
              <a:t>retrain these </a:t>
            </a:r>
            <a:r>
              <a:rPr lang="en-GB" i="1" dirty="0" smtClean="0"/>
              <a:t>workers-</a:t>
            </a:r>
            <a:r>
              <a:rPr lang="en-GB" i="1" u="sng" dirty="0" smtClean="0"/>
              <a:t>Check Pdf document on Employment</a:t>
            </a:r>
            <a:endParaRPr lang="en-US" i="1" u="sng" dirty="0"/>
          </a:p>
        </p:txBody>
      </p:sp>
    </p:spTree>
    <p:extLst>
      <p:ext uri="{BB962C8B-B14F-4D97-AF65-F5344CB8AC3E}">
        <p14:creationId xmlns:p14="http://schemas.microsoft.com/office/powerpoint/2010/main" val="378275231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lvl="0" fontAlgn="base"/>
            <a:r>
              <a:rPr lang="en-GB" dirty="0"/>
              <a:t>Firms will have to </a:t>
            </a:r>
            <a:r>
              <a:rPr lang="en-GB" b="1" dirty="0"/>
              <a:t>pay redundancy payments</a:t>
            </a:r>
            <a:r>
              <a:rPr lang="en-GB" dirty="0"/>
              <a:t> to workers they lay off.</a:t>
            </a:r>
            <a:endParaRPr lang="en-US" dirty="0"/>
          </a:p>
          <a:p>
            <a:pPr lvl="0" fontAlgn="base"/>
            <a:r>
              <a:rPr lang="en-GB" b="1" dirty="0"/>
              <a:t>Workers will be demotivated</a:t>
            </a:r>
            <a:r>
              <a:rPr lang="en-GB" dirty="0"/>
              <a:t> as they fear they could lose their jobs, especially in a recession.</a:t>
            </a:r>
            <a:endParaRPr lang="en-US" dirty="0"/>
          </a:p>
          <a:p>
            <a:pPr lvl="0" fontAlgn="base"/>
            <a:r>
              <a:rPr lang="en-GB" dirty="0"/>
              <a:t>As firms lay off workers, they will be left with spare capacity- unutilised machinery, tools and factory spaces, leading to </a:t>
            </a:r>
            <a:r>
              <a:rPr lang="en-GB" b="1" dirty="0"/>
              <a:t>higher average costs.</a:t>
            </a:r>
            <a:endParaRPr lang="en-US" dirty="0"/>
          </a:p>
          <a:p>
            <a:pPr lvl="0" fontAlgn="base"/>
            <a:r>
              <a:rPr lang="en-GB" dirty="0"/>
              <a:t>Due to low incomes, people’s purchasing power/consumption will fall, causing </a:t>
            </a:r>
            <a:r>
              <a:rPr lang="en-GB" b="1" dirty="0"/>
              <a:t>demand to fall</a:t>
            </a:r>
            <a:r>
              <a:rPr lang="en-GB" dirty="0"/>
              <a:t>.</a:t>
            </a:r>
            <a:endParaRPr lang="en-US" dirty="0"/>
          </a:p>
          <a:p>
            <a:endParaRPr lang="en-US" dirty="0"/>
          </a:p>
        </p:txBody>
      </p:sp>
    </p:spTree>
    <p:extLst>
      <p:ext uri="{BB962C8B-B14F-4D97-AF65-F5344CB8AC3E}">
        <p14:creationId xmlns:p14="http://schemas.microsoft.com/office/powerpoint/2010/main" val="355525566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66134"/>
          </a:xfrm>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331260"/>
            <a:ext cx="10515600" cy="5136775"/>
          </a:xfrm>
        </p:spPr>
        <p:txBody>
          <a:bodyPr>
            <a:normAutofit fontScale="92500" lnSpcReduction="10000"/>
          </a:bodyPr>
          <a:lstStyle/>
          <a:p>
            <a:pPr lvl="0" fontAlgn="base"/>
            <a:r>
              <a:rPr lang="en-GB" dirty="0"/>
              <a:t>People will need to rely on charity or </a:t>
            </a:r>
            <a:r>
              <a:rPr lang="en-GB" b="1" dirty="0"/>
              <a:t>government unemployment benefits</a:t>
            </a:r>
            <a:r>
              <a:rPr lang="en-GB" dirty="0"/>
              <a:t> to support themselves. </a:t>
            </a:r>
            <a:endParaRPr lang="en-GB" dirty="0" smtClean="0"/>
          </a:p>
          <a:p>
            <a:pPr lvl="0" fontAlgn="base"/>
            <a:r>
              <a:rPr lang="en-GB" dirty="0" smtClean="0"/>
              <a:t>These </a:t>
            </a:r>
            <a:r>
              <a:rPr lang="en-GB" dirty="0"/>
              <a:t>benefits are provided from tax revenue. But now, as incomes have fallen tax revenue will also fall. </a:t>
            </a:r>
            <a:endParaRPr lang="en-GB" dirty="0" smtClean="0"/>
          </a:p>
          <a:p>
            <a:pPr lvl="0" fontAlgn="base"/>
            <a:r>
              <a:rPr lang="en-GB" dirty="0" smtClean="0"/>
              <a:t>This </a:t>
            </a:r>
            <a:r>
              <a:rPr lang="en-GB" dirty="0"/>
              <a:t>might mean that people remaining in work will have to pay more of their income as tax, so that it can be distributed as unemployment benefits to the unemployed. </a:t>
            </a:r>
            <a:endParaRPr lang="en-GB" dirty="0" smtClean="0"/>
          </a:p>
          <a:p>
            <a:pPr lvl="0" fontAlgn="base"/>
            <a:r>
              <a:rPr lang="en-GB" dirty="0" smtClean="0"/>
              <a:t>The</a:t>
            </a:r>
            <a:r>
              <a:rPr lang="en-GB" dirty="0"/>
              <a:t> </a:t>
            </a:r>
            <a:r>
              <a:rPr lang="en-GB" b="1" dirty="0"/>
              <a:t>burden on tax-payers will rise.</a:t>
            </a:r>
            <a:endParaRPr lang="en-US" dirty="0"/>
          </a:p>
          <a:p>
            <a:pPr lvl="0" fontAlgn="base"/>
            <a:r>
              <a:rPr lang="en-GB" dirty="0"/>
              <a:t>Public expenditure on other projects such as schools, roads etc. will have to be cut down to make way for benefits. There is </a:t>
            </a:r>
            <a:r>
              <a:rPr lang="en-GB" b="1" dirty="0"/>
              <a:t>opportunity cost</a:t>
            </a:r>
            <a:r>
              <a:rPr lang="en-GB" dirty="0"/>
              <a:t> involved here.</a:t>
            </a:r>
            <a:endParaRPr lang="en-US" dirty="0"/>
          </a:p>
          <a:p>
            <a:r>
              <a:rPr lang="en-GB" dirty="0"/>
              <a:t>The economy doesn’t reach its maximum productive capacity, i.e., they are </a:t>
            </a:r>
            <a:r>
              <a:rPr lang="en-GB" b="1" dirty="0"/>
              <a:t>economically inefficient</a:t>
            </a:r>
            <a:r>
              <a:rPr lang="en-GB" dirty="0"/>
              <a:t> on the PPC. The economy </a:t>
            </a:r>
            <a:r>
              <a:rPr lang="en-GB" b="1" dirty="0"/>
              <a:t>loses output</a:t>
            </a:r>
            <a:endParaRPr lang="en-US" dirty="0"/>
          </a:p>
        </p:txBody>
      </p:sp>
    </p:spTree>
    <p:extLst>
      <p:ext uri="{BB962C8B-B14F-4D97-AF65-F5344CB8AC3E}">
        <p14:creationId xmlns:p14="http://schemas.microsoft.com/office/powerpoint/2010/main" val="245168272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Policies to reduce unemployment</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GB" dirty="0"/>
              <a:t>Both demand-side policies and supply-side policies help reduce unemployment. </a:t>
            </a:r>
            <a:endParaRPr lang="en-GB" dirty="0" smtClean="0"/>
          </a:p>
          <a:p>
            <a:r>
              <a:rPr lang="en-GB" dirty="0" smtClean="0"/>
              <a:t>Demand-side </a:t>
            </a:r>
            <a:r>
              <a:rPr lang="en-GB" dirty="0"/>
              <a:t>policies will address the unemployment caused by demand deficiency (cyclical) while the supply-side measures will curtail structural and frictional unemployment.</a:t>
            </a:r>
            <a:endParaRPr lang="en-US" dirty="0"/>
          </a:p>
          <a:p>
            <a:endParaRPr lang="en-US" dirty="0"/>
          </a:p>
        </p:txBody>
      </p:sp>
    </p:spTree>
    <p:extLst>
      <p:ext uri="{BB962C8B-B14F-4D97-AF65-F5344CB8AC3E}">
        <p14:creationId xmlns:p14="http://schemas.microsoft.com/office/powerpoint/2010/main" val="44648967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pPr lvl="0"/>
            <a:r>
              <a:rPr lang="en-GB" b="1" dirty="0"/>
              <a:t>Expansionary policies to increase demand:</a:t>
            </a:r>
            <a:r>
              <a:rPr lang="en-GB" dirty="0"/>
              <a:t> expansionary fiscal policies like cutting down taxes and increasing government spending (which also creates jobs) and expansionary monetary policies like cutting interest rates will help boost demand in the economy, to keep production and employment high. </a:t>
            </a:r>
            <a:endParaRPr lang="en-GB" dirty="0" smtClean="0"/>
          </a:p>
          <a:p>
            <a:pPr lvl="0"/>
            <a:r>
              <a:rPr lang="en-GB" dirty="0" smtClean="0"/>
              <a:t>However </a:t>
            </a:r>
            <a:r>
              <a:rPr lang="en-GB" dirty="0"/>
              <a:t>these will take effect only with a time lag. </a:t>
            </a:r>
            <a:endParaRPr lang="en-GB" dirty="0" smtClean="0"/>
          </a:p>
          <a:p>
            <a:pPr lvl="0"/>
            <a:r>
              <a:rPr lang="en-GB" dirty="0" smtClean="0"/>
              <a:t>Cutting </a:t>
            </a:r>
            <a:r>
              <a:rPr lang="en-GB" dirty="0"/>
              <a:t>tax rates won’t help if people don’t have confidence in the economy and prefer to save. </a:t>
            </a:r>
            <a:endParaRPr lang="en-GB" dirty="0" smtClean="0"/>
          </a:p>
          <a:p>
            <a:pPr lvl="0"/>
            <a:r>
              <a:rPr lang="en-GB" dirty="0" smtClean="0"/>
              <a:t>Similarly</a:t>
            </a:r>
            <a:r>
              <a:rPr lang="en-GB" dirty="0"/>
              <a:t>, cutting interest rates will also be ineffective if banks are unwilling to lend to businesses, due to low confidence in the economy.</a:t>
            </a:r>
            <a:endParaRPr lang="en-US" dirty="0"/>
          </a:p>
          <a:p>
            <a:endParaRPr lang="en-US" dirty="0"/>
          </a:p>
        </p:txBody>
      </p:sp>
    </p:spTree>
    <p:extLst>
      <p:ext uri="{BB962C8B-B14F-4D97-AF65-F5344CB8AC3E}">
        <p14:creationId xmlns:p14="http://schemas.microsoft.com/office/powerpoint/2010/main" val="121136810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lvl="0" fontAlgn="base"/>
            <a:r>
              <a:rPr lang="en-GB" b="1" dirty="0"/>
              <a:t>Depreciate the exchange rate:</a:t>
            </a:r>
            <a:r>
              <a:rPr lang="en-GB" dirty="0"/>
              <a:t> as the currency depreciates, the country’s exports will become cheaper and so export demand from abroad will increase, helping boost production and employment in the export industries.</a:t>
            </a:r>
            <a:endParaRPr lang="en-US" dirty="0"/>
          </a:p>
          <a:p>
            <a:pPr lvl="0" fontAlgn="base"/>
            <a:r>
              <a:rPr lang="en-GB" b="1" dirty="0"/>
              <a:t>Control inflation</a:t>
            </a:r>
            <a:r>
              <a:rPr lang="en-GB" dirty="0"/>
              <a:t>: higher inflation causes firms to lay off workers to reduce costs. So if the government tries to control inflation via monetary tools, it will help reduce firm costs and increase employment. But there is also the argument that as unemployment rises, incomes will also rise, driving up prices again.</a:t>
            </a:r>
            <a:endParaRPr lang="en-US" dirty="0"/>
          </a:p>
          <a:p>
            <a:endParaRPr lang="en-US" dirty="0"/>
          </a:p>
        </p:txBody>
      </p:sp>
    </p:spTree>
    <p:extLst>
      <p:ext uri="{BB962C8B-B14F-4D97-AF65-F5344CB8AC3E}">
        <p14:creationId xmlns:p14="http://schemas.microsoft.com/office/powerpoint/2010/main" val="179972784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Cutting </a:t>
            </a:r>
            <a:r>
              <a:rPr lang="en-GB" b="1" dirty="0" smtClean="0">
                <a:effectLst>
                  <a:outerShdw blurRad="38100" dist="38100" dir="2700000" algn="tl">
                    <a:srgbClr val="000000">
                      <a:alpha val="43137"/>
                    </a:srgbClr>
                  </a:outerShdw>
                </a:effectLst>
              </a:rPr>
              <a:t>Unemployment Benefits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lvl="0" fontAlgn="base"/>
            <a:r>
              <a:rPr lang="en-GB" dirty="0"/>
              <a:t> </a:t>
            </a:r>
            <a:r>
              <a:rPr lang="en-GB" dirty="0" smtClean="0"/>
              <a:t>To </a:t>
            </a:r>
            <a:r>
              <a:rPr lang="en-GB" dirty="0"/>
              <a:t>provide incentive to work: many people don’t work because they are comfortable living off the unemployment benefits provided by the government. </a:t>
            </a:r>
            <a:endParaRPr lang="en-GB" dirty="0" smtClean="0"/>
          </a:p>
          <a:p>
            <a:pPr lvl="0" fontAlgn="base"/>
            <a:r>
              <a:rPr lang="en-GB" dirty="0" smtClean="0"/>
              <a:t>Cutting </a:t>
            </a:r>
            <a:r>
              <a:rPr lang="en-GB" dirty="0"/>
              <a:t>down on these benefits, will persuade them to look for work and earn. </a:t>
            </a:r>
            <a:endParaRPr lang="en-GB" dirty="0" smtClean="0"/>
          </a:p>
          <a:p>
            <a:pPr lvl="0" fontAlgn="base"/>
            <a:r>
              <a:rPr lang="en-GB" dirty="0" smtClean="0"/>
              <a:t>But </a:t>
            </a:r>
            <a:r>
              <a:rPr lang="en-GB" dirty="0"/>
              <a:t>this would of course, go against the welfare principle of the government</a:t>
            </a:r>
            <a:r>
              <a:rPr lang="en-GB" dirty="0" smtClean="0"/>
              <a:t>.</a:t>
            </a:r>
            <a:endParaRPr lang="en-US" dirty="0"/>
          </a:p>
        </p:txBody>
      </p:sp>
    </p:spTree>
    <p:extLst>
      <p:ext uri="{BB962C8B-B14F-4D97-AF65-F5344CB8AC3E}">
        <p14:creationId xmlns:p14="http://schemas.microsoft.com/office/powerpoint/2010/main" val="20322782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Restricting </a:t>
            </a:r>
            <a:r>
              <a:rPr lang="en-GB" b="1" dirty="0" smtClean="0">
                <a:effectLst>
                  <a:outerShdw blurRad="38100" dist="38100" dir="2700000" algn="tl">
                    <a:srgbClr val="000000">
                      <a:alpha val="43137"/>
                    </a:srgbClr>
                  </a:outerShdw>
                </a:effectLst>
              </a:rPr>
              <a:t>Imports </a:t>
            </a:r>
            <a:r>
              <a:rPr lang="en-GB" b="1" dirty="0">
                <a:effectLst>
                  <a:outerShdw blurRad="38100" dist="38100" dir="2700000" algn="tl">
                    <a:srgbClr val="000000">
                      <a:alpha val="43137"/>
                    </a:srgbClr>
                  </a:outerShdw>
                </a:effectLst>
              </a:rPr>
              <a:t>and </a:t>
            </a:r>
            <a:r>
              <a:rPr lang="en-GB" b="1" dirty="0" smtClean="0">
                <a:effectLst>
                  <a:outerShdw blurRad="38100" dist="38100" dir="2700000" algn="tl">
                    <a:srgbClr val="000000">
                      <a:alpha val="43137"/>
                    </a:srgbClr>
                  </a:outerShdw>
                </a:effectLst>
              </a:rPr>
              <a:t>Encourage Exports</a:t>
            </a:r>
            <a:r>
              <a:rPr lang="en-GB" b="1" dirty="0">
                <a:effectLst>
                  <a:outerShdw blurRad="38100" dist="38100" dir="2700000" algn="tl">
                    <a:srgbClr val="000000">
                      <a:alpha val="43137"/>
                    </a:srgbClr>
                  </a:outerShdw>
                </a:effectLst>
              </a:rPr>
              <a: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GB" dirty="0"/>
              <a:t> </a:t>
            </a:r>
            <a:r>
              <a:rPr lang="en-GB" dirty="0" smtClean="0"/>
              <a:t>A </a:t>
            </a:r>
            <a:r>
              <a:rPr lang="en-GB" dirty="0"/>
              <a:t>lot of unemployment occurs when good quality and cheaper foreign products put domestic industries out of business. </a:t>
            </a:r>
            <a:endParaRPr lang="en-GB" dirty="0" smtClean="0"/>
          </a:p>
          <a:p>
            <a:r>
              <a:rPr lang="en-GB" dirty="0" smtClean="0"/>
              <a:t>Controlling </a:t>
            </a:r>
            <a:r>
              <a:rPr lang="en-GB" dirty="0"/>
              <a:t>imports using import tariffs and quotas will encourage domestic firms to emerge and increase production and thus increase employment. </a:t>
            </a:r>
            <a:endParaRPr lang="en-GB" dirty="0" smtClean="0"/>
          </a:p>
          <a:p>
            <a:r>
              <a:rPr lang="en-GB" dirty="0" smtClean="0"/>
              <a:t>Similarly</a:t>
            </a:r>
            <a:r>
              <a:rPr lang="en-GB" dirty="0"/>
              <a:t>, easing controls on labour-intensive export industries will open up new job opportunities. </a:t>
            </a:r>
            <a:endParaRPr lang="en-GB" dirty="0" smtClean="0"/>
          </a:p>
          <a:p>
            <a:r>
              <a:rPr lang="en-GB" dirty="0" smtClean="0"/>
              <a:t>However </a:t>
            </a:r>
            <a:r>
              <a:rPr lang="en-GB" dirty="0"/>
              <a:t>such protectionist measures can harm the country in the long-run as efficient competition from abroad </a:t>
            </a:r>
            <a:r>
              <a:rPr lang="en-GB" dirty="0" smtClean="0"/>
              <a:t>reduces.</a:t>
            </a:r>
            <a:endParaRPr lang="en-US" dirty="0"/>
          </a:p>
          <a:p>
            <a:endParaRPr lang="en-US" dirty="0"/>
          </a:p>
        </p:txBody>
      </p:sp>
    </p:spTree>
    <p:extLst>
      <p:ext uri="{BB962C8B-B14F-4D97-AF65-F5344CB8AC3E}">
        <p14:creationId xmlns:p14="http://schemas.microsoft.com/office/powerpoint/2010/main" val="317350240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Cutting </a:t>
            </a:r>
            <a:r>
              <a:rPr lang="en-GB" b="1" dirty="0" smtClean="0">
                <a:effectLst>
                  <a:outerShdw blurRad="38100" dist="38100" dir="2700000" algn="tl">
                    <a:srgbClr val="000000">
                      <a:alpha val="43137"/>
                    </a:srgbClr>
                  </a:outerShdw>
                </a:effectLst>
              </a:rPr>
              <a:t>Down Minimum Wages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lvl="0" fontAlgn="base"/>
            <a:r>
              <a:rPr lang="en-GB" dirty="0"/>
              <a:t>M</a:t>
            </a:r>
            <a:r>
              <a:rPr lang="en-GB" dirty="0" smtClean="0"/>
              <a:t>inimum </a:t>
            </a:r>
            <a:r>
              <a:rPr lang="en-GB" dirty="0"/>
              <a:t>wages increase firms’ labour costs and so they will lay off workers. Lowering the minimum wages will encourage firms to employ more labour.</a:t>
            </a:r>
            <a:endParaRPr lang="en-US" dirty="0"/>
          </a:p>
          <a:p>
            <a:r>
              <a:rPr lang="en-GB" b="1" dirty="0"/>
              <a:t>Remove labour market regulations:</a:t>
            </a:r>
            <a:r>
              <a:rPr lang="en-GB" dirty="0"/>
              <a:t> letting the market have a free hand in the labour market – abolishing maximum working weeks, minimum wages, making it easier to hire and fire workers – will improve the labour market flexibility, can improve imperfections in the labour market. However, this can cause temporary unemployment and cause greater job insecurity</a:t>
            </a:r>
            <a:endParaRPr lang="en-US" dirty="0"/>
          </a:p>
        </p:txBody>
      </p:sp>
    </p:spTree>
    <p:extLst>
      <p:ext uri="{BB962C8B-B14F-4D97-AF65-F5344CB8AC3E}">
        <p14:creationId xmlns:p14="http://schemas.microsoft.com/office/powerpoint/2010/main" val="301191883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effectLst>
                  <a:outerShdw blurRad="38100" dist="38100" dir="2700000" algn="tl">
                    <a:srgbClr val="000000">
                      <a:alpha val="43137"/>
                    </a:srgbClr>
                  </a:outerShdw>
                </a:effectLst>
              </a:rPr>
              <a:t>Training/Retraining</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a:bodyPr>
          <a:lstStyle/>
          <a:p>
            <a:pPr lvl="0" fontAlgn="base"/>
            <a:r>
              <a:rPr lang="en-GB" dirty="0"/>
              <a:t> S</a:t>
            </a:r>
            <a:r>
              <a:rPr lang="en-GB" dirty="0" smtClean="0"/>
              <a:t>tructural </a:t>
            </a:r>
            <a:r>
              <a:rPr lang="en-GB" dirty="0"/>
              <a:t>employment issues can be eliminated by retraining the unemployed in skills required in modern industries. </a:t>
            </a:r>
            <a:endParaRPr lang="en-GB" dirty="0" smtClean="0"/>
          </a:p>
          <a:p>
            <a:pPr lvl="0" fontAlgn="base"/>
            <a:r>
              <a:rPr lang="en-GB" dirty="0" smtClean="0"/>
              <a:t>This </a:t>
            </a:r>
            <a:r>
              <a:rPr lang="en-GB" dirty="0"/>
              <a:t>will also improve occupational mobility. </a:t>
            </a:r>
            <a:endParaRPr lang="en-GB" dirty="0" smtClean="0"/>
          </a:p>
          <a:p>
            <a:pPr lvl="0" fontAlgn="base"/>
            <a:r>
              <a:rPr lang="en-GB" dirty="0" smtClean="0"/>
              <a:t>This </a:t>
            </a:r>
            <a:r>
              <a:rPr lang="en-GB" dirty="0"/>
              <a:t>is very expensive when done on a large scale across the economy, requiring training centres to be built, and trainers to be employed. </a:t>
            </a:r>
            <a:endParaRPr lang="en-GB" dirty="0" smtClean="0"/>
          </a:p>
          <a:p>
            <a:pPr lvl="0" fontAlgn="base"/>
            <a:r>
              <a:rPr lang="en-GB" dirty="0" smtClean="0"/>
              <a:t>The </a:t>
            </a:r>
            <a:r>
              <a:rPr lang="en-GB" dirty="0"/>
              <a:t>benefits of providing skills and training will only be reaped in the long-term.</a:t>
            </a:r>
            <a:endParaRPr lang="en-US" dirty="0"/>
          </a:p>
          <a:p>
            <a:pPr lvl="0" fontAlgn="base"/>
            <a:r>
              <a:rPr lang="en-GB" b="1" dirty="0"/>
              <a:t>Promote industries in unemployed areas:</a:t>
            </a:r>
            <a:r>
              <a:rPr lang="en-GB" dirty="0"/>
              <a:t> a lot of employment is created when government provide subsidies and tax breaks for new industries which set up shop in certain backward regions.</a:t>
            </a:r>
            <a:endParaRPr lang="en-US" dirty="0"/>
          </a:p>
          <a:p>
            <a:endParaRPr lang="en-US" dirty="0"/>
          </a:p>
        </p:txBody>
      </p:sp>
    </p:spTree>
    <p:extLst>
      <p:ext uri="{BB962C8B-B14F-4D97-AF65-F5344CB8AC3E}">
        <p14:creationId xmlns:p14="http://schemas.microsoft.com/office/powerpoint/2010/main" val="425468482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Increase </a:t>
            </a:r>
            <a:r>
              <a:rPr lang="en-GB" b="1" dirty="0" smtClean="0">
                <a:effectLst>
                  <a:outerShdw blurRad="38100" dist="38100" dir="2700000" algn="tl">
                    <a:srgbClr val="000000">
                      <a:alpha val="43137"/>
                    </a:srgbClr>
                  </a:outerShdw>
                </a:effectLst>
              </a:rPr>
              <a:t>Geographical Mobility </a:t>
            </a:r>
            <a:r>
              <a:rPr lang="en-GB" b="1" dirty="0">
                <a:effectLst>
                  <a:outerShdw blurRad="38100" dist="38100" dir="2700000" algn="tl">
                    <a:srgbClr val="000000">
                      <a:alpha val="43137"/>
                    </a:srgbClr>
                  </a:outerShdw>
                </a:effectLst>
              </a:rPr>
              <a:t>of </a:t>
            </a:r>
            <a:r>
              <a:rPr lang="en-GB" b="1" dirty="0" smtClean="0">
                <a:effectLst>
                  <a:outerShdw blurRad="38100" dist="38100" dir="2700000" algn="tl">
                    <a:srgbClr val="000000">
                      <a:alpha val="43137"/>
                    </a:srgbClr>
                  </a:outerShdw>
                </a:effectLst>
              </a:rPr>
              <a:t>Labour</a:t>
            </a:r>
            <a:r>
              <a:rPr lang="en-GB" b="1" dirty="0">
                <a:effectLst>
                  <a:outerShdw blurRad="38100" dist="38100" dir="2700000" algn="tl">
                    <a:srgbClr val="000000">
                      <a:alpha val="43137"/>
                    </a:srgbClr>
                  </a:outerShdw>
                </a:effectLst>
              </a:rPr>
              <a:t>:</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lvl="0" fontAlgn="base"/>
            <a:r>
              <a:rPr lang="en-GB" dirty="0"/>
              <a:t> </a:t>
            </a:r>
            <a:r>
              <a:rPr lang="en-GB" dirty="0" smtClean="0"/>
              <a:t>Frictional </a:t>
            </a:r>
            <a:r>
              <a:rPr lang="en-GB" dirty="0"/>
              <a:t>unemployment is caused because people can’t move around to find good jobs. The government can improve labour mobility by investing in transport and housing services.</a:t>
            </a:r>
            <a:endParaRPr lang="en-US" dirty="0"/>
          </a:p>
          <a:p>
            <a:pPr lvl="0" fontAlgn="base"/>
            <a:r>
              <a:rPr lang="en-GB" b="1" dirty="0"/>
              <a:t>Provide information:</a:t>
            </a:r>
            <a:r>
              <a:rPr lang="en-GB" dirty="0"/>
              <a:t> frictional unemployment can be eliminated to an extent by making information available about job vacancies to the unemployed through job centres, newspapers, government websites etc.</a:t>
            </a:r>
            <a:endParaRPr lang="en-US" dirty="0"/>
          </a:p>
          <a:p>
            <a:endParaRPr lang="en-US" dirty="0"/>
          </a:p>
        </p:txBody>
      </p:sp>
    </p:spTree>
    <p:extLst>
      <p:ext uri="{BB962C8B-B14F-4D97-AF65-F5344CB8AC3E}">
        <p14:creationId xmlns:p14="http://schemas.microsoft.com/office/powerpoint/2010/main" val="52259457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INFLATION</a:t>
            </a:r>
            <a:endParaRPr lang="en-US" dirty="0"/>
          </a:p>
        </p:txBody>
      </p:sp>
      <p:sp>
        <p:nvSpPr>
          <p:cNvPr id="3" name="Content Placeholder 2"/>
          <p:cNvSpPr>
            <a:spLocks noGrp="1"/>
          </p:cNvSpPr>
          <p:nvPr>
            <p:ph idx="1"/>
          </p:nvPr>
        </p:nvSpPr>
        <p:spPr>
          <a:xfrm>
            <a:off x="838200" y="1385047"/>
            <a:ext cx="10515600" cy="5177118"/>
          </a:xfrm>
        </p:spPr>
        <p:txBody>
          <a:bodyPr>
            <a:normAutofit/>
          </a:bodyPr>
          <a:lstStyle/>
          <a:p>
            <a:r>
              <a:rPr lang="en-US" dirty="0" smtClean="0"/>
              <a:t>Inflation </a:t>
            </a:r>
            <a:r>
              <a:rPr lang="en-US" dirty="0"/>
              <a:t>can directly influence import demand by affecting domestic price levels and currency values, thus altering the relative cost of imported </a:t>
            </a:r>
            <a:r>
              <a:rPr lang="en-US" dirty="0" smtClean="0"/>
              <a:t>goods. </a:t>
            </a:r>
          </a:p>
          <a:p>
            <a:r>
              <a:rPr lang="en-US" dirty="0" smtClean="0"/>
              <a:t>National </a:t>
            </a:r>
            <a:r>
              <a:rPr lang="en-US" dirty="0"/>
              <a:t>in-come, particularly adjusted net national income per capita, reflects purchasing power and economic prosperity, both of which are closely linked to import </a:t>
            </a:r>
            <a:r>
              <a:rPr lang="en-US" dirty="0" smtClean="0"/>
              <a:t>levels. </a:t>
            </a:r>
          </a:p>
          <a:p>
            <a:r>
              <a:rPr lang="en-US" dirty="0" smtClean="0"/>
              <a:t>Mean-while</a:t>
            </a:r>
            <a:r>
              <a:rPr lang="en-US" dirty="0"/>
              <a:t>, natural resource rents influence trade structures, as resource-rich countries often rely more on exporting commodities rather than importing </a:t>
            </a:r>
            <a:r>
              <a:rPr lang="en-US" dirty="0" smtClean="0"/>
              <a:t>goods. </a:t>
            </a:r>
          </a:p>
          <a:p>
            <a:r>
              <a:rPr lang="en-US" dirty="0" smtClean="0"/>
              <a:t>Labor </a:t>
            </a:r>
            <a:r>
              <a:rPr lang="en-US" dirty="0"/>
              <a:t>force size also matters, as larger workforces drive both production and consumption, which can stimulate imports of intermediate goods and consumer products </a:t>
            </a:r>
          </a:p>
        </p:txBody>
      </p:sp>
    </p:spTree>
    <p:extLst>
      <p:ext uri="{BB962C8B-B14F-4D97-AF65-F5344CB8AC3E}">
        <p14:creationId xmlns:p14="http://schemas.microsoft.com/office/powerpoint/2010/main" val="183312581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INFLATION 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effectLst>
                  <a:outerShdw blurRad="38100" dist="38100" dir="2700000" algn="tl">
                    <a:srgbClr val="000000">
                      <a:alpha val="43137"/>
                    </a:srgbClr>
                  </a:outerShdw>
                </a:effectLst>
              </a:rPr>
              <a:t>DEFINITION</a:t>
            </a:r>
          </a:p>
          <a:p>
            <a:r>
              <a:rPr lang="en-GB" dirty="0"/>
              <a:t>Inflation is the broad rate of increase in prices over a given period, leading to a decline in the </a:t>
            </a:r>
            <a:r>
              <a:rPr lang="en-GB" b="1" dirty="0"/>
              <a:t>purchasing power</a:t>
            </a:r>
            <a:r>
              <a:rPr lang="en-GB" dirty="0"/>
              <a:t> of money. </a:t>
            </a:r>
            <a:endParaRPr lang="en-US" dirty="0"/>
          </a:p>
          <a:p>
            <a:r>
              <a:rPr lang="en-GB" b="1" dirty="0"/>
              <a:t>1. Measuring Inflation (Consumer Price Index - CPI)</a:t>
            </a:r>
            <a:endParaRPr lang="en-US" dirty="0"/>
          </a:p>
          <a:p>
            <a:r>
              <a:rPr lang="en-GB" dirty="0"/>
              <a:t>The CPI tracks the cost of a "market basket" of goods and services. </a:t>
            </a:r>
            <a:endParaRPr lang="en-US" dirty="0"/>
          </a:p>
          <a:p>
            <a:pPr lvl="0"/>
            <a:r>
              <a:rPr lang="en-GB" b="1" dirty="0"/>
              <a:t>CPI Formula</a:t>
            </a:r>
            <a:r>
              <a:rPr lang="en-GB" dirty="0"/>
              <a:t>: </a:t>
            </a:r>
            <a:endParaRPr lang="en-US" dirty="0"/>
          </a:p>
          <a:p>
            <a:r>
              <a:rPr lang="en-GB" b="1" dirty="0"/>
              <a:t>Inflation Rate Formula</a:t>
            </a:r>
            <a:endParaRPr lang="en-US" dirty="0"/>
          </a:p>
          <a:p>
            <a:endParaRPr lang="en-US" dirty="0"/>
          </a:p>
        </p:txBody>
      </p:sp>
    </p:spTree>
    <p:extLst>
      <p:ext uri="{BB962C8B-B14F-4D97-AF65-F5344CB8AC3E}">
        <p14:creationId xmlns:p14="http://schemas.microsoft.com/office/powerpoint/2010/main" val="192683936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Types and Causes</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pPr lvl="0"/>
            <a:r>
              <a:rPr lang="en-GB" b="1" dirty="0"/>
              <a:t>Demand-Pull Inflation</a:t>
            </a:r>
            <a:r>
              <a:rPr lang="en-GB" dirty="0"/>
              <a:t>: Occurs when demand for goods exceeds supply (YOU HAVE HEAD A SAYING “too much money chasing too few goods").</a:t>
            </a:r>
            <a:endParaRPr lang="en-US" dirty="0"/>
          </a:p>
          <a:p>
            <a:pPr lvl="0"/>
            <a:r>
              <a:rPr lang="en-GB" b="1" dirty="0"/>
              <a:t>Cost-Push Inflation</a:t>
            </a:r>
            <a:r>
              <a:rPr lang="en-GB" dirty="0"/>
              <a:t>: Driven by increases in production costs, such as wages or raw materials (e.g., oil prices).</a:t>
            </a:r>
            <a:endParaRPr lang="en-US" dirty="0"/>
          </a:p>
          <a:p>
            <a:r>
              <a:rPr lang="en-GB" b="1" dirty="0"/>
              <a:t>Built-in Inflation</a:t>
            </a:r>
            <a:r>
              <a:rPr lang="en-GB" dirty="0"/>
              <a:t>: Linked to adaptive expectations; as prices rise, workers demand higher wages to maintain their standard of living, creating a cycle.</a:t>
            </a:r>
            <a:endParaRPr lang="en-US" dirty="0"/>
          </a:p>
          <a:p>
            <a:endParaRPr lang="en-US" dirty="0"/>
          </a:p>
        </p:txBody>
      </p:sp>
    </p:spTree>
    <p:extLst>
      <p:ext uri="{BB962C8B-B14F-4D97-AF65-F5344CB8AC3E}">
        <p14:creationId xmlns:p14="http://schemas.microsoft.com/office/powerpoint/2010/main" val="325676586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Impact on Interest Rates (The Fisher Equation)</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838200" y="1183341"/>
            <a:ext cx="10515600" cy="5405718"/>
          </a:xfrm>
        </p:spPr>
        <p:txBody>
          <a:bodyPr>
            <a:normAutofit/>
          </a:bodyPr>
          <a:lstStyle/>
          <a:p>
            <a:r>
              <a:rPr lang="en-GB" dirty="0"/>
              <a:t>Investors require higher nominal interest rates to compensate for the eroding value of money. </a:t>
            </a:r>
            <a:endParaRPr lang="en-US" dirty="0"/>
          </a:p>
          <a:p>
            <a:pPr lvl="0"/>
            <a:r>
              <a:rPr lang="en-GB" b="1" dirty="0"/>
              <a:t>Approximate Formula</a:t>
            </a:r>
            <a:r>
              <a:rPr lang="en-GB" dirty="0"/>
              <a:t>: </a:t>
            </a:r>
            <a:endParaRPr lang="en-US" dirty="0"/>
          </a:p>
          <a:p>
            <a:pPr lvl="0"/>
            <a:r>
              <a:rPr lang="en-GB" dirty="0"/>
              <a:t>= Real interest rate</a:t>
            </a:r>
            <a:endParaRPr lang="en-US" dirty="0"/>
          </a:p>
          <a:p>
            <a:pPr lvl="0"/>
            <a:r>
              <a:rPr lang="en-GB" dirty="0"/>
              <a:t> = Nominal interest rate</a:t>
            </a:r>
            <a:endParaRPr lang="en-US" dirty="0"/>
          </a:p>
          <a:p>
            <a:pPr lvl="0"/>
            <a:r>
              <a:rPr lang="en-GB" dirty="0"/>
              <a:t>= Inflation rate</a:t>
            </a:r>
            <a:endParaRPr lang="en-US" dirty="0"/>
          </a:p>
          <a:p>
            <a:pPr lvl="0"/>
            <a:r>
              <a:rPr lang="en-GB" b="1" dirty="0"/>
              <a:t>Significance</a:t>
            </a:r>
            <a:r>
              <a:rPr lang="en-GB" dirty="0"/>
              <a:t>: If inflation is 3% and your bank account pays 2% (nominal), your real return is </a:t>
            </a:r>
            <a:r>
              <a:rPr lang="en-GB" b="1" dirty="0"/>
              <a:t>-1%</a:t>
            </a:r>
            <a:r>
              <a:rPr lang="en-GB" dirty="0"/>
              <a:t>; you are losing purchasing power</a:t>
            </a:r>
            <a:r>
              <a:rPr lang="en-GB" dirty="0" smtClean="0"/>
              <a:t>.</a:t>
            </a:r>
          </a:p>
          <a:p>
            <a:r>
              <a:rPr lang="en-GB" b="1" dirty="0" smtClean="0"/>
              <a:t>Impact</a:t>
            </a:r>
            <a:r>
              <a:rPr lang="en-GB" dirty="0"/>
              <a:t>: If a T-Bill pays </a:t>
            </a:r>
            <a:r>
              <a:rPr lang="en-GB" b="1" dirty="0"/>
              <a:t>4.62%</a:t>
            </a:r>
            <a:r>
              <a:rPr lang="en-GB" dirty="0"/>
              <a:t> (Nominal) but inflation is </a:t>
            </a:r>
            <a:r>
              <a:rPr lang="en-GB" b="1" dirty="0"/>
              <a:t>5.00%</a:t>
            </a:r>
            <a:r>
              <a:rPr lang="en-GB" dirty="0"/>
              <a:t>, the investor's </a:t>
            </a:r>
            <a:r>
              <a:rPr lang="en-GB" b="1" dirty="0"/>
              <a:t>Real Return</a:t>
            </a:r>
            <a:r>
              <a:rPr lang="en-GB" dirty="0"/>
              <a:t> is </a:t>
            </a:r>
            <a:r>
              <a:rPr lang="en-GB" b="1" dirty="0"/>
              <a:t>-0.38%</a:t>
            </a:r>
            <a:r>
              <a:rPr lang="en-GB" dirty="0"/>
              <a:t>, meaning they can actually buy </a:t>
            </a:r>
            <a:r>
              <a:rPr lang="en-GB" i="1" dirty="0"/>
              <a:t>less</a:t>
            </a:r>
            <a:r>
              <a:rPr lang="en-GB" dirty="0"/>
              <a:t> with their money after 90 days.</a:t>
            </a:r>
            <a:endParaRPr lang="en-US" dirty="0"/>
          </a:p>
          <a:p>
            <a:pPr marL="0" lvl="0" indent="0">
              <a:buNone/>
            </a:pPr>
            <a:endParaRPr lang="en-US" dirty="0"/>
          </a:p>
          <a:p>
            <a:endParaRPr lang="en-US" dirty="0"/>
          </a:p>
          <a:p>
            <a:endParaRPr lang="en-US" dirty="0"/>
          </a:p>
        </p:txBody>
      </p:sp>
    </p:spTree>
    <p:extLst>
      <p:ext uri="{BB962C8B-B14F-4D97-AF65-F5344CB8AC3E}">
        <p14:creationId xmlns:p14="http://schemas.microsoft.com/office/powerpoint/2010/main" val="251506770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effectLst>
                  <a:outerShdw blurRad="38100" dist="38100" dir="2700000" algn="tl">
                    <a:srgbClr val="000000">
                      <a:alpha val="43137"/>
                    </a:srgbClr>
                  </a:outerShdw>
                </a:effectLst>
              </a:rPr>
              <a:t>. Effects of Inflation</a:t>
            </a:r>
            <a:r>
              <a:rPr lang="en-US" dirty="0">
                <a:effectLst>
                  <a:outerShdw blurRad="38100" dist="38100" dir="2700000" algn="tl">
                    <a:srgbClr val="000000">
                      <a:alpha val="43137"/>
                    </a:srgbClr>
                  </a:outerShdw>
                </a:effectLst>
              </a:rPr>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lvl="0"/>
            <a:r>
              <a:rPr lang="en-GB" b="1" dirty="0" smtClean="0"/>
              <a:t>Redistribution </a:t>
            </a:r>
            <a:r>
              <a:rPr lang="en-GB" b="1" dirty="0"/>
              <a:t>of Wealth</a:t>
            </a:r>
            <a:r>
              <a:rPr lang="en-GB" dirty="0"/>
              <a:t>: Inflation typically benefits </a:t>
            </a:r>
            <a:r>
              <a:rPr lang="en-GB" b="1" dirty="0"/>
              <a:t>debtors</a:t>
            </a:r>
            <a:r>
              <a:rPr lang="en-GB" dirty="0"/>
              <a:t> (who pay back loans with "cheaper" money) and hurts </a:t>
            </a:r>
            <a:r>
              <a:rPr lang="en-GB" b="1" dirty="0"/>
              <a:t>creditors</a:t>
            </a:r>
            <a:r>
              <a:rPr lang="en-GB" dirty="0"/>
              <a:t>.</a:t>
            </a:r>
            <a:endParaRPr lang="en-US" dirty="0"/>
          </a:p>
          <a:p>
            <a:pPr lvl="0"/>
            <a:r>
              <a:rPr lang="en-GB" b="1" dirty="0"/>
              <a:t>Menu Costs</a:t>
            </a:r>
            <a:r>
              <a:rPr lang="en-GB" dirty="0"/>
              <a:t>: The costs firms incur to constantly update prices.</a:t>
            </a:r>
            <a:endParaRPr lang="en-US" dirty="0"/>
          </a:p>
          <a:p>
            <a:pPr lvl="0"/>
            <a:r>
              <a:rPr lang="en-GB" b="1" dirty="0"/>
              <a:t>Shoe-leather Costs</a:t>
            </a:r>
            <a:r>
              <a:rPr lang="en-GB" dirty="0"/>
              <a:t>: The cost of time and effort people spend trying to counter-act inflation (e.g., holding less cash). </a:t>
            </a:r>
            <a:endParaRPr lang="en-US" dirty="0"/>
          </a:p>
          <a:p>
            <a:endParaRPr lang="en-US" dirty="0"/>
          </a:p>
        </p:txBody>
      </p:sp>
    </p:spTree>
    <p:extLst>
      <p:ext uri="{BB962C8B-B14F-4D97-AF65-F5344CB8AC3E}">
        <p14:creationId xmlns:p14="http://schemas.microsoft.com/office/powerpoint/2010/main" val="250921317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Inflation &amp; Money Markets</a:t>
            </a:r>
            <a:r>
              <a:rPr lang="en-US" dirty="0">
                <a:effectLst>
                  <a:outerShdw blurRad="38100" dist="38100" dir="2700000" algn="tl">
                    <a:srgbClr val="000000">
                      <a:alpha val="43137"/>
                    </a:srgbClr>
                  </a:outerShdw>
                </a:effectLst>
              </a:rPr>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lvl="0"/>
            <a:r>
              <a:rPr lang="en-GB" b="1" dirty="0" smtClean="0"/>
              <a:t>Central </a:t>
            </a:r>
            <a:r>
              <a:rPr lang="en-GB" b="1" dirty="0"/>
              <a:t>Bank Response</a:t>
            </a:r>
            <a:r>
              <a:rPr lang="en-GB" dirty="0"/>
              <a:t>: To fight high inflation, central banks (like the Federal Reserve) typically raise short-term interest rates.</a:t>
            </a:r>
            <a:endParaRPr lang="en-US" dirty="0"/>
          </a:p>
          <a:p>
            <a:pPr lvl="0"/>
            <a:r>
              <a:rPr lang="en-GB" b="1" dirty="0"/>
              <a:t>Yield Spreads</a:t>
            </a:r>
            <a:r>
              <a:rPr lang="en-GB" dirty="0"/>
              <a:t>: During high inflation or economic uncertainty, the "spread" (difference in yield) between safe T-bills and riskier commercial paper often widens as investors demand more protection. </a:t>
            </a:r>
            <a:endParaRPr lang="en-US" dirty="0"/>
          </a:p>
          <a:p>
            <a:endParaRPr lang="en-US" dirty="0"/>
          </a:p>
        </p:txBody>
      </p:sp>
    </p:spTree>
    <p:extLst>
      <p:ext uri="{BB962C8B-B14F-4D97-AF65-F5344CB8AC3E}">
        <p14:creationId xmlns:p14="http://schemas.microsoft.com/office/powerpoint/2010/main" val="133059090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INFLATION-TAKING USA AS A CASE 2022</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GB" b="1" dirty="0"/>
              <a:t>Labour Shortages and Inflation Among Impacts to Intertwined Forest and Trucking Industries</a:t>
            </a:r>
            <a:endParaRPr lang="en-US" b="1" dirty="0"/>
          </a:p>
          <a:p>
            <a:endParaRPr lang="en-US" dirty="0"/>
          </a:p>
        </p:txBody>
      </p:sp>
      <p:pic>
        <p:nvPicPr>
          <p:cNvPr id="4" name="Picture 3" descr="Labor Shortages and Inflation Among Impacts to Intertwined Forest and Trucking Industries"/>
          <p:cNvPicPr/>
          <p:nvPr/>
        </p:nvPicPr>
        <p:blipFill>
          <a:blip r:embed="rId2">
            <a:extLst>
              <a:ext uri="{28A0092B-C50C-407E-A947-70E740481C1C}">
                <a14:useLocalDpi xmlns:a14="http://schemas.microsoft.com/office/drawing/2010/main" val="0"/>
              </a:ext>
            </a:extLst>
          </a:blip>
          <a:srcRect/>
          <a:stretch>
            <a:fillRect/>
          </a:stretch>
        </p:blipFill>
        <p:spPr bwMode="auto">
          <a:xfrm>
            <a:off x="1116106" y="2756646"/>
            <a:ext cx="8202706" cy="3886201"/>
          </a:xfrm>
          <a:prstGeom prst="rect">
            <a:avLst/>
          </a:prstGeom>
          <a:noFill/>
          <a:ln>
            <a:noFill/>
          </a:ln>
        </p:spPr>
      </p:pic>
    </p:spTree>
    <p:extLst>
      <p:ext uri="{BB962C8B-B14F-4D97-AF65-F5344CB8AC3E}">
        <p14:creationId xmlns:p14="http://schemas.microsoft.com/office/powerpoint/2010/main" val="28276672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GB" dirty="0"/>
              <a:t>The forest products supply chain is an interlinked network comprised of timberland owners, loggers, truckers and manufacturers. </a:t>
            </a:r>
            <a:endParaRPr lang="en-GB" dirty="0" smtClean="0"/>
          </a:p>
          <a:p>
            <a:r>
              <a:rPr lang="en-GB" dirty="0" smtClean="0"/>
              <a:t>Forest </a:t>
            </a:r>
            <a:r>
              <a:rPr lang="en-GB" dirty="0"/>
              <a:t>health and sustainability—a cyclical process that involves planting, growing, harvesting, and </a:t>
            </a:r>
            <a:r>
              <a:rPr lang="en-GB" i="1" dirty="0"/>
              <a:t>replanting</a:t>
            </a:r>
            <a:r>
              <a:rPr lang="en-GB" dirty="0"/>
              <a:t>—and the rural economies that service the forest products industry are dependent upon each participant across the wood value chain remaining viable</a:t>
            </a:r>
            <a:endParaRPr lang="en-US" dirty="0"/>
          </a:p>
        </p:txBody>
      </p:sp>
    </p:spTree>
    <p:extLst>
      <p:ext uri="{BB962C8B-B14F-4D97-AF65-F5344CB8AC3E}">
        <p14:creationId xmlns:p14="http://schemas.microsoft.com/office/powerpoint/2010/main" val="392063928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GB" dirty="0"/>
              <a:t>Loggers and truckers are the critical links that connect forest raw materials to the mill facilities that utilize them. </a:t>
            </a:r>
            <a:endParaRPr lang="en-GB" dirty="0" smtClean="0"/>
          </a:p>
          <a:p>
            <a:r>
              <a:rPr lang="en-GB" dirty="0" smtClean="0"/>
              <a:t>Even </a:t>
            </a:r>
            <a:r>
              <a:rPr lang="en-GB" dirty="0"/>
              <a:t>a temporary disruption in these links can cause cascading impacts that will be felt at the mill level, and longer-term disruptions can cause structural issues that erode sector health over an extended period. </a:t>
            </a:r>
            <a:endParaRPr lang="en-GB" dirty="0" smtClean="0"/>
          </a:p>
          <a:p>
            <a:r>
              <a:rPr lang="en-GB" dirty="0" smtClean="0"/>
              <a:t>The </a:t>
            </a:r>
            <a:r>
              <a:rPr lang="en-GB" dirty="0"/>
              <a:t>interruption of this delicate relationship—in combination with </a:t>
            </a:r>
            <a:r>
              <a:rPr lang="en-GB" dirty="0" err="1"/>
              <a:t>labor</a:t>
            </a:r>
            <a:r>
              <a:rPr lang="en-GB" dirty="0"/>
              <a:t> shortages and worsening inflation—has stressed the forest products supply chain from the woods to the mill over the last year</a:t>
            </a:r>
            <a:endParaRPr lang="en-US" dirty="0"/>
          </a:p>
        </p:txBody>
      </p:sp>
    </p:spTree>
    <p:extLst>
      <p:ext uri="{BB962C8B-B14F-4D97-AF65-F5344CB8AC3E}">
        <p14:creationId xmlns:p14="http://schemas.microsoft.com/office/powerpoint/2010/main" val="94974882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GB" dirty="0"/>
              <a:t>Logging and trucking are separate operations, but there is some crossover in costs and variables associated with each. </a:t>
            </a:r>
            <a:endParaRPr lang="en-GB" dirty="0" smtClean="0"/>
          </a:p>
          <a:p>
            <a:r>
              <a:rPr lang="en-GB" dirty="0" smtClean="0"/>
              <a:t>They </a:t>
            </a:r>
            <a:r>
              <a:rPr lang="en-GB" dirty="0"/>
              <a:t>are both capital-intensive, low margin businesses, which typically bear the brunt of economic pain during periods of high inflation. </a:t>
            </a:r>
            <a:endParaRPr lang="en-GB" dirty="0" smtClean="0"/>
          </a:p>
          <a:p>
            <a:r>
              <a:rPr lang="en-GB" dirty="0" smtClean="0"/>
              <a:t>Input </a:t>
            </a:r>
            <a:r>
              <a:rPr lang="en-GB" dirty="0"/>
              <a:t>costs for each sector continue to rise unimpeded, specifically insurance costs, </a:t>
            </a:r>
            <a:r>
              <a:rPr lang="en-GB" dirty="0" err="1"/>
              <a:t>labor</a:t>
            </a:r>
            <a:r>
              <a:rPr lang="en-GB" dirty="0"/>
              <a:t>, maintenance parts and costs (also impacted by scarcity), lubricants and diesel fuel costs, such that the inflationary pressures loggers and truckers are facing exceed the average rise in costs for American consumers</a:t>
            </a:r>
            <a:endParaRPr lang="en-US" dirty="0"/>
          </a:p>
        </p:txBody>
      </p:sp>
    </p:spTree>
    <p:extLst>
      <p:ext uri="{BB962C8B-B14F-4D97-AF65-F5344CB8AC3E}">
        <p14:creationId xmlns:p14="http://schemas.microsoft.com/office/powerpoint/2010/main" val="142410290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GB" dirty="0"/>
              <a:t>Chip Capps, a professional logger with Arcola Logging Co. in NC recently </a:t>
            </a:r>
            <a:r>
              <a:rPr lang="en-GB" u="sng" dirty="0">
                <a:hlinkClick r:id="rId2"/>
              </a:rPr>
              <a:t>noted</a:t>
            </a:r>
            <a:r>
              <a:rPr lang="en-GB" dirty="0"/>
              <a:t>, “… most logging operations will face annual cost inflation of 10 to 18% this calendar year 2022, with off-road fuel, </a:t>
            </a:r>
            <a:r>
              <a:rPr lang="en-GB" dirty="0" err="1"/>
              <a:t>labor</a:t>
            </a:r>
            <a:r>
              <a:rPr lang="en-GB" dirty="0"/>
              <a:t> costs, equipment costs, and parts/repairs leading the way.”</a:t>
            </a:r>
            <a:endParaRPr lang="en-US" dirty="0"/>
          </a:p>
          <a:p>
            <a:r>
              <a:rPr lang="en-GB" dirty="0"/>
              <a:t>Fuel prices are now rising once again, impacting everyone’s finances via increased costs that are driving prices for everything higher. </a:t>
            </a:r>
            <a:endParaRPr lang="en-GB" dirty="0" smtClean="0"/>
          </a:p>
          <a:p>
            <a:r>
              <a:rPr lang="en-GB" dirty="0" smtClean="0"/>
              <a:t>This </a:t>
            </a:r>
            <a:r>
              <a:rPr lang="en-GB" dirty="0"/>
              <a:t>increase is especially poignant for the trucking industry. </a:t>
            </a:r>
            <a:endParaRPr lang="en-GB" dirty="0" smtClean="0"/>
          </a:p>
          <a:p>
            <a:r>
              <a:rPr lang="en-GB" dirty="0" smtClean="0"/>
              <a:t>While</a:t>
            </a:r>
            <a:r>
              <a:rPr lang="en-GB" dirty="0"/>
              <a:t> </a:t>
            </a:r>
            <a:r>
              <a:rPr lang="en-GB" u="sng" dirty="0">
                <a:hlinkClick r:id="rId3"/>
              </a:rPr>
              <a:t>2020 data</a:t>
            </a:r>
            <a:r>
              <a:rPr lang="en-GB" dirty="0"/>
              <a:t> from the U.S. Department of Energy shows that the average fuel economy for cars was 24.2 miles per gallon, it was 5.29 miles per gallon for heavy trucks with a gross vehicle weight rating exceeding 33,000 pounds — such as a 5-axle log truck</a:t>
            </a:r>
            <a:endParaRPr lang="en-US" dirty="0"/>
          </a:p>
        </p:txBody>
      </p:sp>
    </p:spTree>
    <p:extLst>
      <p:ext uri="{BB962C8B-B14F-4D97-AF65-F5344CB8AC3E}">
        <p14:creationId xmlns:p14="http://schemas.microsoft.com/office/powerpoint/2010/main" val="426962803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pic>
        <p:nvPicPr>
          <p:cNvPr id="4" name="Content Placeholder 3" descr="Bar graph of the average fuel economy by major vehicle category. "/>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31259" y="2043953"/>
            <a:ext cx="9076765" cy="4450975"/>
          </a:xfrm>
          <a:prstGeom prst="rect">
            <a:avLst/>
          </a:prstGeom>
          <a:noFill/>
          <a:ln>
            <a:noFill/>
          </a:ln>
        </p:spPr>
      </p:pic>
    </p:spTree>
    <p:extLst>
      <p:ext uri="{BB962C8B-B14F-4D97-AF65-F5344CB8AC3E}">
        <p14:creationId xmlns:p14="http://schemas.microsoft.com/office/powerpoint/2010/main" val="201106681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771837"/>
            <a:ext cx="10515600" cy="4351338"/>
          </a:xfrm>
        </p:spPr>
        <p:txBody>
          <a:bodyPr/>
          <a:lstStyle/>
          <a:p>
            <a:r>
              <a:rPr lang="en-GB" dirty="0"/>
              <a:t>Retail prices for No. 2 “on-highway” diesel were generally range bound between $2 - $4 per gallon between 2007-2021. </a:t>
            </a:r>
            <a:endParaRPr lang="en-GB" dirty="0" smtClean="0"/>
          </a:p>
          <a:p>
            <a:r>
              <a:rPr lang="en-GB" dirty="0" smtClean="0"/>
              <a:t>But </a:t>
            </a:r>
            <a:r>
              <a:rPr lang="en-GB" dirty="0"/>
              <a:t>in response to rising global demand - and reduced domestic production, Russia’s invasion of Ukraine, etc. - the average price is now hovering around $5.00 per gallon, a 58% year-over-year increase. </a:t>
            </a:r>
            <a:endParaRPr lang="en-GB" dirty="0" smtClean="0"/>
          </a:p>
          <a:p>
            <a:r>
              <a:rPr lang="en-GB" dirty="0" smtClean="0"/>
              <a:t>Since </a:t>
            </a:r>
            <a:r>
              <a:rPr lang="en-GB" dirty="0"/>
              <a:t>trucks are vital for moving forest raw materials from the woods to mill consumers, rising fuel prices have significantly impacted the cost of those deliveries.</a:t>
            </a:r>
            <a:endParaRPr lang="en-US" dirty="0"/>
          </a:p>
          <a:p>
            <a:endParaRPr lang="en-US" dirty="0"/>
          </a:p>
        </p:txBody>
      </p:sp>
    </p:spTree>
    <p:extLst>
      <p:ext uri="{BB962C8B-B14F-4D97-AF65-F5344CB8AC3E}">
        <p14:creationId xmlns:p14="http://schemas.microsoft.com/office/powerpoint/2010/main" val="414638660"/>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GB" dirty="0">
                <a:hlinkClick r:id="rId2"/>
              </a:rPr>
              <a:t>Charlie </a:t>
            </a:r>
            <a:r>
              <a:rPr lang="en-GB" dirty="0" err="1">
                <a:hlinkClick r:id="rId2"/>
              </a:rPr>
              <a:t>Blinn</a:t>
            </a:r>
            <a:r>
              <a:rPr lang="en-GB" dirty="0"/>
              <a:t>, Professor at the University of Minnesota’s Dept. of Forest Resources, recently put together an analysis that </a:t>
            </a:r>
            <a:r>
              <a:rPr lang="en-GB" dirty="0" smtClean="0"/>
              <a:t>illustrated impact </a:t>
            </a:r>
            <a:r>
              <a:rPr lang="en-GB" dirty="0"/>
              <a:t>in real data—and dollars. Per the U.S. Department of Commerce Economic Census on Transportation </a:t>
            </a:r>
            <a:r>
              <a:rPr lang="en-GB" dirty="0">
                <a:hlinkClick r:id="rId3"/>
              </a:rPr>
              <a:t>2017</a:t>
            </a:r>
            <a:r>
              <a:rPr lang="en-GB" dirty="0"/>
              <a:t>, the average roundtrip distance to transport “logs and other wood in the rough” is 138 miles. </a:t>
            </a:r>
            <a:endParaRPr lang="en-GB" dirty="0" smtClean="0"/>
          </a:p>
          <a:p>
            <a:r>
              <a:rPr lang="en-GB" dirty="0" smtClean="0"/>
              <a:t>The</a:t>
            </a:r>
            <a:r>
              <a:rPr lang="en-GB" dirty="0"/>
              <a:t> </a:t>
            </a:r>
            <a:r>
              <a:rPr lang="en-GB" dirty="0">
                <a:hlinkClick r:id="rId4"/>
              </a:rPr>
              <a:t>US Forest Service</a:t>
            </a:r>
            <a:r>
              <a:rPr lang="en-GB" dirty="0"/>
              <a:t> estimates that the current harvested timber volume across the US is roughly 446 million green tons annually, and transporting that volume of material from the woods to the mill takes approximately 15.4 million truck deliveries (based on an average of 29 green tons per load).</a:t>
            </a:r>
            <a:endParaRPr lang="en-US" dirty="0"/>
          </a:p>
          <a:p>
            <a:endParaRPr lang="en-US" dirty="0"/>
          </a:p>
        </p:txBody>
      </p:sp>
    </p:spTree>
    <p:extLst>
      <p:ext uri="{BB962C8B-B14F-4D97-AF65-F5344CB8AC3E}">
        <p14:creationId xmlns:p14="http://schemas.microsoft.com/office/powerpoint/2010/main" val="334254074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UNDERSTANDING INFLATION 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GB" dirty="0"/>
              <a:t>Calculating an average haul distance of 138 miles at an average fuel efficiency of </a:t>
            </a:r>
            <a:r>
              <a:rPr lang="en-GB" dirty="0" smtClean="0"/>
              <a:t>MPG</a:t>
            </a:r>
            <a:r>
              <a:rPr lang="en-GB" dirty="0"/>
              <a:t>, the change in diesel price from 2020 - 2022 has resulted in an estimated average cost increase of $2.88 per green ton of forest raw material delivered to a mill facility. </a:t>
            </a:r>
            <a:endParaRPr lang="en-GB" dirty="0" smtClean="0"/>
          </a:p>
          <a:p>
            <a:r>
              <a:rPr lang="en-GB" dirty="0" smtClean="0"/>
              <a:t>The </a:t>
            </a:r>
            <a:r>
              <a:rPr lang="en-GB" dirty="0"/>
              <a:t>total impact to the forest supply chain is estimated at more than $1.2 billion in added fuel costs from 2020 to 2022</a:t>
            </a:r>
            <a:endParaRPr lang="en-US" dirty="0"/>
          </a:p>
        </p:txBody>
      </p:sp>
    </p:spTree>
    <p:extLst>
      <p:ext uri="{BB962C8B-B14F-4D97-AF65-F5344CB8AC3E}">
        <p14:creationId xmlns:p14="http://schemas.microsoft.com/office/powerpoint/2010/main" val="295701117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 GLOBALLY</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GB" dirty="0"/>
              <a:t>As the global economy navigates the uncertainty associated with unprecedented energy concerns, the immediate challenge for a number of manufacturers – including the forest products industry </a:t>
            </a:r>
            <a:r>
              <a:rPr lang="en-GB" dirty="0" smtClean="0"/>
              <a:t>– </a:t>
            </a:r>
          </a:p>
          <a:p>
            <a:r>
              <a:rPr lang="en-GB" dirty="0" smtClean="0"/>
              <a:t>Is </a:t>
            </a:r>
            <a:r>
              <a:rPr lang="en-GB" dirty="0"/>
              <a:t>ensuring that </a:t>
            </a:r>
            <a:r>
              <a:rPr lang="en-GB" i="1" dirty="0"/>
              <a:t>all</a:t>
            </a:r>
            <a:r>
              <a:rPr lang="en-GB" dirty="0"/>
              <a:t> stakeholders across its value chain remain viable</a:t>
            </a:r>
            <a:r>
              <a:rPr lang="en-GB" dirty="0" smtClean="0"/>
              <a:t>.</a:t>
            </a:r>
          </a:p>
          <a:p>
            <a:r>
              <a:rPr lang="en-GB" dirty="0" smtClean="0"/>
              <a:t>With </a:t>
            </a:r>
            <a:r>
              <a:rPr lang="en-GB" dirty="0"/>
              <a:t>rising costs and associated pressures, it’s in the best interest of the manufacturing sector to find creative ways to unify and pursue a strategy of blended outcomes that supports the entire supply </a:t>
            </a:r>
            <a:r>
              <a:rPr lang="en-GB" dirty="0" smtClean="0"/>
              <a:t>chain.</a:t>
            </a:r>
          </a:p>
          <a:p>
            <a:r>
              <a:rPr lang="en-GB" dirty="0" smtClean="0"/>
              <a:t>WARS IN ISREAL, IRAN, MIDDLE EAST, RUSSIA &amp; EUKRAIN CAN ESCALET INFLATION</a:t>
            </a:r>
            <a:endParaRPr lang="en-US" dirty="0"/>
          </a:p>
        </p:txBody>
      </p:sp>
    </p:spTree>
    <p:extLst>
      <p:ext uri="{BB962C8B-B14F-4D97-AF65-F5344CB8AC3E}">
        <p14:creationId xmlns:p14="http://schemas.microsoft.com/office/powerpoint/2010/main" val="311799075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t>
            </a:r>
            <a:endParaRPr lang="en-US" dirty="0"/>
          </a:p>
        </p:txBody>
      </p:sp>
      <p:sp>
        <p:nvSpPr>
          <p:cNvPr id="3" name="Content Placeholder 2"/>
          <p:cNvSpPr>
            <a:spLocks noGrp="1"/>
          </p:cNvSpPr>
          <p:nvPr>
            <p:ph idx="1"/>
          </p:nvPr>
        </p:nvSpPr>
        <p:spPr/>
        <p:txBody>
          <a:bodyPr/>
          <a:lstStyle/>
          <a:p>
            <a:r>
              <a:rPr lang="en-US" smtClean="0"/>
              <a:t>END OF SESSION</a:t>
            </a:r>
            <a:endParaRPr lang="en-US"/>
          </a:p>
        </p:txBody>
      </p:sp>
    </p:spTree>
    <p:extLst>
      <p:ext uri="{BB962C8B-B14F-4D97-AF65-F5344CB8AC3E}">
        <p14:creationId xmlns:p14="http://schemas.microsoft.com/office/powerpoint/2010/main" val="21934164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7845</TotalTime>
  <Words>4722</Words>
  <Application>Microsoft Office PowerPoint</Application>
  <PresentationFormat>Widescreen</PresentationFormat>
  <Paragraphs>450</Paragraphs>
  <Slides>85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85</vt:i4>
      </vt:variant>
    </vt:vector>
  </HeadingPairs>
  <TitlesOfParts>
    <vt:vector size="94" baseType="lpstr">
      <vt:lpstr>Arial</vt:lpstr>
      <vt:lpstr>Arial Black</vt:lpstr>
      <vt:lpstr>Calibri</vt:lpstr>
      <vt:lpstr>Calibri Light</vt:lpstr>
      <vt:lpstr>Roboto</vt:lpstr>
      <vt:lpstr>Symbol</vt:lpstr>
      <vt:lpstr>Times New Roman</vt:lpstr>
      <vt:lpstr>Wingdings</vt:lpstr>
      <vt:lpstr>Office Theme</vt:lpstr>
      <vt:lpstr>SA420-NATURAL RESOURCE ECONOMICS</vt:lpstr>
      <vt:lpstr>TOPIC 1: MACROECONOMICS</vt:lpstr>
      <vt:lpstr>MONEY MARKET </vt:lpstr>
      <vt:lpstr>WHAT IS A MARKET?</vt:lpstr>
      <vt:lpstr>CONT…</vt:lpstr>
      <vt:lpstr>MONEY MARKETS</vt:lpstr>
      <vt:lpstr>DEFINITION</vt:lpstr>
      <vt:lpstr>CONT..</vt:lpstr>
      <vt:lpstr>WHO SUPPLY FUNDS IN MONEY MARKET</vt:lpstr>
      <vt:lpstr>WHAT MONEY MARKET IS NOT</vt:lpstr>
      <vt:lpstr>Features of Money Market </vt:lpstr>
      <vt:lpstr>Objectives of Money Market:  </vt:lpstr>
      <vt:lpstr>Who are the main borrowers of short-term funds</vt:lpstr>
      <vt:lpstr>Sub-Markets of Organised Money Market</vt:lpstr>
      <vt:lpstr>Sub-Markets of Organised Money Market</vt:lpstr>
      <vt:lpstr>Sub-Markets of Organised Money Market</vt:lpstr>
      <vt:lpstr>Sub-Markets of Organised Money Market</vt:lpstr>
      <vt:lpstr>Sub-Markets of Organised Money Market</vt:lpstr>
      <vt:lpstr>Key Characteristics </vt:lpstr>
      <vt:lpstr>Principal Functions </vt:lpstr>
      <vt:lpstr>Major Instruments </vt:lpstr>
      <vt:lpstr>CONT…</vt:lpstr>
      <vt:lpstr>Market Participants</vt:lpstr>
      <vt:lpstr> Comparative Analysis: Money Market vs. Capital Market </vt:lpstr>
      <vt:lpstr>Part 1: Money Market Calculations </vt:lpstr>
      <vt:lpstr>SOLUTION</vt:lpstr>
      <vt:lpstr>STEP2. DETERMINE THE PURCHASE PRICE</vt:lpstr>
      <vt:lpstr>Cont…</vt:lpstr>
      <vt:lpstr> Practice Problem: Comparing T-Bill vs. Commercial Paper </vt:lpstr>
      <vt:lpstr>STEPS FOR CALCULATION</vt:lpstr>
      <vt:lpstr>PRACTICE QUESTIONS</vt:lpstr>
      <vt:lpstr>PRACTICE QUESTIONS</vt:lpstr>
      <vt:lpstr>SOLUTIONS TO PRACTICE QUESTIONS</vt:lpstr>
      <vt:lpstr>SOLUTIONS TO PRACTICE QUESTIONS</vt:lpstr>
      <vt:lpstr>UNDERSTANDING THE VARIABLES</vt:lpstr>
      <vt:lpstr>Standard Calculations</vt:lpstr>
      <vt:lpstr>CONT…</vt:lpstr>
      <vt:lpstr>Bond Pricing Present Value </vt:lpstr>
      <vt:lpstr>Employment and Unemployment</vt:lpstr>
      <vt:lpstr>CONT…</vt:lpstr>
      <vt:lpstr>Changing patterns and level of employment </vt:lpstr>
      <vt:lpstr>Let’s look at some ways in which this happens </vt:lpstr>
      <vt:lpstr>CONT…</vt:lpstr>
      <vt:lpstr>CONT…</vt:lpstr>
      <vt:lpstr>Measuring Unemployment </vt:lpstr>
      <vt:lpstr>Measuring Unemployment </vt:lpstr>
      <vt:lpstr>CONT…</vt:lpstr>
      <vt:lpstr>KEY COMPONENTS</vt:lpstr>
      <vt:lpstr>EXAMPLES FOR PRIMARY MEASURES OF EMPLOYMENT</vt:lpstr>
      <vt:lpstr>EXAMPLES FOR PRIMARY MEASURES OF EMPLOYMENT</vt:lpstr>
      <vt:lpstr>EXAMPLES FOR PRIMARY MEASURES OF EMPLOYMENT</vt:lpstr>
      <vt:lpstr>EXAMPLES FOR BROADER MEASURES OF EMPLOYMENT</vt:lpstr>
      <vt:lpstr>SOLUTION</vt:lpstr>
      <vt:lpstr>Problems With Measuring Employment.</vt:lpstr>
      <vt:lpstr>The causes/types of unemployment </vt:lpstr>
      <vt:lpstr>CONT…</vt:lpstr>
      <vt:lpstr>CONT…</vt:lpstr>
      <vt:lpstr>The consequences of unemployment </vt:lpstr>
      <vt:lpstr>CONT…</vt:lpstr>
      <vt:lpstr>CONT…</vt:lpstr>
      <vt:lpstr>Policies to reduce unemployment </vt:lpstr>
      <vt:lpstr>CONT…</vt:lpstr>
      <vt:lpstr>CONT…</vt:lpstr>
      <vt:lpstr>Cutting Unemployment Benefits</vt:lpstr>
      <vt:lpstr>Restricting Imports and Encourage Exports:</vt:lpstr>
      <vt:lpstr>Cutting Down Minimum Wages</vt:lpstr>
      <vt:lpstr>Training/Retraining</vt:lpstr>
      <vt:lpstr>Increase Geographical Mobility of Labour:</vt:lpstr>
      <vt:lpstr>INFLATION</vt:lpstr>
      <vt:lpstr>INFLATION CONT…</vt:lpstr>
      <vt:lpstr>Types and Causes </vt:lpstr>
      <vt:lpstr>Impact on Interest Rates (The Fisher Equation) </vt:lpstr>
      <vt:lpstr>. Effects of Inflation </vt:lpstr>
      <vt:lpstr>Inflation &amp; Money Markets </vt:lpstr>
      <vt:lpstr>INFLATION-TAKING USA AS A CASE 2022 </vt:lpstr>
      <vt:lpstr>CONT…</vt:lpstr>
      <vt:lpstr>CONT…</vt:lpstr>
      <vt:lpstr>CONT….</vt:lpstr>
      <vt:lpstr>CONT…</vt:lpstr>
      <vt:lpstr>CONT…</vt:lpstr>
      <vt:lpstr>CONT…</vt:lpstr>
      <vt:lpstr>CONT..</vt:lpstr>
      <vt:lpstr>UNDERSTANDING INFLATION CONT…</vt:lpstr>
      <vt:lpstr>CONT… GLOBALLY</vt:lpstr>
      <vt:lpstr>FIN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Martha</dc:creator>
  <cp:lastModifiedBy>Martha</cp:lastModifiedBy>
  <cp:revision>119</cp:revision>
  <dcterms:created xsi:type="dcterms:W3CDTF">2026-02-05T06:59:02Z</dcterms:created>
  <dcterms:modified xsi:type="dcterms:W3CDTF">2026-03-16T13:00:28Z</dcterms:modified>
</cp:coreProperties>
</file>