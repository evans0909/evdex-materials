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320" r:id="rId2"/>
    <p:sldId id="319" r:id="rId3"/>
    <p:sldId id="321" r:id="rId4"/>
    <p:sldId id="343" r:id="rId5"/>
    <p:sldId id="344" r:id="rId6"/>
    <p:sldId id="345" r:id="rId7"/>
    <p:sldId id="346" r:id="rId8"/>
    <p:sldId id="347" r:id="rId9"/>
    <p:sldId id="348" r:id="rId10"/>
    <p:sldId id="349" r:id="rId11"/>
    <p:sldId id="350" r:id="rId12"/>
    <p:sldId id="351" r:id="rId13"/>
    <p:sldId id="352" r:id="rId14"/>
    <p:sldId id="353" r:id="rId15"/>
    <p:sldId id="354" r:id="rId16"/>
    <p:sldId id="355" r:id="rId17"/>
    <p:sldId id="361" r:id="rId18"/>
    <p:sldId id="356" r:id="rId19"/>
    <p:sldId id="357" r:id="rId20"/>
    <p:sldId id="362" r:id="rId21"/>
    <p:sldId id="358" r:id="rId22"/>
    <p:sldId id="359" r:id="rId23"/>
    <p:sldId id="360" r:id="rId24"/>
    <p:sldId id="256" r:id="rId25"/>
    <p:sldId id="294" r:id="rId26"/>
    <p:sldId id="305" r:id="rId27"/>
    <p:sldId id="306" r:id="rId28"/>
    <p:sldId id="295" r:id="rId29"/>
    <p:sldId id="257" r:id="rId30"/>
    <p:sldId id="258" r:id="rId31"/>
    <p:sldId id="260" r:id="rId32"/>
    <p:sldId id="296" r:id="rId33"/>
    <p:sldId id="281" r:id="rId34"/>
    <p:sldId id="261" r:id="rId35"/>
    <p:sldId id="262" r:id="rId36"/>
    <p:sldId id="263" r:id="rId37"/>
    <p:sldId id="334" r:id="rId38"/>
    <p:sldId id="266" r:id="rId39"/>
    <p:sldId id="264" r:id="rId40"/>
    <p:sldId id="265" r:id="rId41"/>
    <p:sldId id="307" r:id="rId42"/>
    <p:sldId id="297" r:id="rId43"/>
    <p:sldId id="335" r:id="rId44"/>
    <p:sldId id="336" r:id="rId45"/>
    <p:sldId id="298" r:id="rId46"/>
    <p:sldId id="337" r:id="rId47"/>
    <p:sldId id="338" r:id="rId48"/>
    <p:sldId id="299" r:id="rId49"/>
    <p:sldId id="300" r:id="rId50"/>
    <p:sldId id="302" r:id="rId51"/>
    <p:sldId id="303" r:id="rId52"/>
    <p:sldId id="304" r:id="rId53"/>
    <p:sldId id="267" r:id="rId54"/>
    <p:sldId id="268" r:id="rId55"/>
    <p:sldId id="308" r:id="rId56"/>
    <p:sldId id="309" r:id="rId57"/>
    <p:sldId id="310" r:id="rId58"/>
    <p:sldId id="311" r:id="rId59"/>
    <p:sldId id="312" r:id="rId60"/>
    <p:sldId id="313" r:id="rId61"/>
    <p:sldId id="314" r:id="rId62"/>
    <p:sldId id="315" r:id="rId63"/>
    <p:sldId id="316" r:id="rId64"/>
    <p:sldId id="317" r:id="rId65"/>
    <p:sldId id="318" r:id="rId66"/>
    <p:sldId id="322" r:id="rId67"/>
    <p:sldId id="323" r:id="rId68"/>
    <p:sldId id="324" r:id="rId69"/>
    <p:sldId id="325" r:id="rId70"/>
    <p:sldId id="332" r:id="rId71"/>
    <p:sldId id="339" r:id="rId72"/>
    <p:sldId id="333" r:id="rId73"/>
    <p:sldId id="340" r:id="rId74"/>
    <p:sldId id="341" r:id="rId75"/>
    <p:sldId id="342" r:id="rId76"/>
    <p:sldId id="326" r:id="rId77"/>
    <p:sldId id="327" r:id="rId78"/>
    <p:sldId id="328" r:id="rId79"/>
    <p:sldId id="329" r:id="rId80"/>
    <p:sldId id="330" r:id="rId81"/>
    <p:sldId id="331"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364" autoAdjust="0"/>
  </p:normalViewPr>
  <p:slideViewPr>
    <p:cSldViewPr snapToGrid="0">
      <p:cViewPr varScale="1">
        <p:scale>
          <a:sx n="69" d="100"/>
          <a:sy n="69" d="100"/>
        </p:scale>
        <p:origin x="77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23A8D6-0A16-4C34-BB69-E2F7FAC4ABCF}" type="datetimeFigureOut">
              <a:rPr lang="en-US" smtClean="0"/>
              <a:pPr/>
              <a:t>3/18/2026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A64EDD-538A-4AEB-84B2-7295C964A561}" type="slidenum">
              <a:rPr lang="en-US" smtClean="0"/>
              <a:pPr/>
              <a:t>‹#›</a:t>
            </a:fld>
            <a:endParaRPr lang="en-US"/>
          </a:p>
        </p:txBody>
      </p:sp>
    </p:spTree>
    <p:extLst>
      <p:ext uri="{BB962C8B-B14F-4D97-AF65-F5344CB8AC3E}">
        <p14:creationId xmlns:p14="http://schemas.microsoft.com/office/powerpoint/2010/main" val="275502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D1CAB9F-2B47-4511-88DF-72C5A5F17DF3}"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20C10A-2894-4D38-A245-755F65E48BF6}" type="slidenum">
              <a:rPr lang="en-US" smtClean="0"/>
              <a:pPr/>
              <a:t>‹#›</a:t>
            </a:fld>
            <a:endParaRPr lang="en-US"/>
          </a:p>
        </p:txBody>
      </p:sp>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4603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1CAB9F-2B47-4511-88DF-72C5A5F17DF3}"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75458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1CAB9F-2B47-4511-88DF-72C5A5F17DF3}"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860234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1CAB9F-2B47-4511-88DF-72C5A5F17DF3}"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219138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1CAB9F-2B47-4511-88DF-72C5A5F17DF3}"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71063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1CAB9F-2B47-4511-88DF-72C5A5F17DF3}"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3837366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1CAB9F-2B47-4511-88DF-72C5A5F17DF3}"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3816008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1CAB9F-2B47-4511-88DF-72C5A5F17DF3}"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711006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1CAB9F-2B47-4511-88DF-72C5A5F17DF3}"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1629991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1CAB9F-2B47-4511-88DF-72C5A5F17DF3}"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732786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1CAB9F-2B47-4511-88DF-72C5A5F17DF3}"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20C10A-2894-4D38-A245-755F65E48BF6}" type="slidenum">
              <a:rPr lang="en-US" smtClean="0"/>
              <a:pPr/>
              <a:t>‹#›</a:t>
            </a:fld>
            <a:endParaRPr lang="en-US"/>
          </a:p>
        </p:txBody>
      </p:sp>
    </p:spTree>
    <p:extLst>
      <p:ext uri="{BB962C8B-B14F-4D97-AF65-F5344CB8AC3E}">
        <p14:creationId xmlns:p14="http://schemas.microsoft.com/office/powerpoint/2010/main" val="2674195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92D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1CAB9F-2B47-4511-88DF-72C5A5F17DF3}" type="datetimeFigureOut">
              <a:rPr lang="en-US" smtClean="0"/>
              <a:pPr/>
              <a:t>3/18/2026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0C10A-2894-4D38-A245-755F65E48BF6}" type="slidenum">
              <a:rPr lang="en-US" smtClean="0"/>
              <a:pPr/>
              <a:t>‹#›</a:t>
            </a:fld>
            <a:endParaRPr lang="en-US"/>
          </a:p>
        </p:txBody>
      </p:sp>
      <p:pic>
        <p:nvPicPr>
          <p:cNvPr id="7" name="Picture 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708333" y="5273467"/>
            <a:ext cx="1483667" cy="1584533"/>
          </a:xfrm>
          <a:prstGeom prst="rect">
            <a:avLst/>
          </a:prstGeom>
        </p:spPr>
      </p:pic>
    </p:spTree>
    <p:extLst>
      <p:ext uri="{BB962C8B-B14F-4D97-AF65-F5344CB8AC3E}">
        <p14:creationId xmlns:p14="http://schemas.microsoft.com/office/powerpoint/2010/main" val="561104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24000" y="2664823"/>
            <a:ext cx="9144000" cy="2592977"/>
          </a:xfrm>
        </p:spPr>
        <p:txBody>
          <a:bodyPr>
            <a:normAutofit/>
          </a:bodyPr>
          <a:lstStyle/>
          <a:p>
            <a:r>
              <a:rPr lang="en-US" sz="6000" b="1" dirty="0">
                <a:effectLst>
                  <a:outerShdw blurRad="38100" dist="38100" dir="2700000" algn="tl">
                    <a:srgbClr val="000000">
                      <a:alpha val="43137"/>
                    </a:srgbClr>
                  </a:outerShdw>
                </a:effectLst>
              </a:rPr>
              <a:t>LECTURER NAME:</a:t>
            </a:r>
          </a:p>
          <a:p>
            <a:r>
              <a:rPr lang="en-US" sz="6000" b="1" dirty="0">
                <a:effectLst>
                  <a:outerShdw blurRad="38100" dist="38100" dir="2700000" algn="tl">
                    <a:srgbClr val="000000">
                      <a:alpha val="43137"/>
                    </a:srgbClr>
                  </a:outerShdw>
                </a:effectLst>
              </a:rPr>
              <a:t>MULENGA MPOLOKOSO</a:t>
            </a:r>
          </a:p>
          <a:p>
            <a:r>
              <a:rPr lang="en-US" i="1" dirty="0">
                <a:effectLst>
                  <a:outerShdw blurRad="38100" dist="38100" dir="2700000" algn="tl">
                    <a:srgbClr val="000000">
                      <a:alpha val="43137"/>
                    </a:srgbClr>
                  </a:outerShdw>
                </a:effectLst>
              </a:rPr>
              <a:t>(</a:t>
            </a:r>
            <a:r>
              <a:rPr lang="en-US" i="1" dirty="0" err="1">
                <a:effectLst>
                  <a:outerShdw blurRad="38100" dist="38100" dir="2700000" algn="tl">
                    <a:srgbClr val="000000">
                      <a:alpha val="43137"/>
                    </a:srgbClr>
                  </a:outerShdw>
                </a:effectLst>
              </a:rPr>
              <a:t>Ph.D_WIP</a:t>
            </a:r>
            <a:r>
              <a:rPr lang="en-US" i="1" dirty="0">
                <a:effectLst>
                  <a:outerShdw blurRad="38100" dist="38100" dir="2700000" algn="tl">
                    <a:srgbClr val="000000">
                      <a:alpha val="43137"/>
                    </a:srgbClr>
                  </a:outerShdw>
                </a:effectLst>
              </a:rPr>
              <a:t>, MBA, BBA, BICTED, BSCFO, TM, ISP, CMP)</a:t>
            </a:r>
          </a:p>
          <a:p>
            <a:endParaRPr lang="en-US" dirty="0"/>
          </a:p>
          <a:p>
            <a:endParaRPr lang="en-US" dirty="0"/>
          </a:p>
          <a:p>
            <a:endParaRPr lang="en-GB" dirty="0"/>
          </a:p>
        </p:txBody>
      </p:sp>
      <p:sp>
        <p:nvSpPr>
          <p:cNvPr id="3" name="Title 2"/>
          <p:cNvSpPr>
            <a:spLocks noGrp="1"/>
          </p:cNvSpPr>
          <p:nvPr>
            <p:ph type="title"/>
          </p:nvPr>
        </p:nvSpPr>
        <p:spPr/>
        <p:txBody>
          <a:bodyPr/>
          <a:lstStyle/>
          <a:p>
            <a:r>
              <a:rPr lang="en-US" b="1" dirty="0">
                <a:effectLst>
                  <a:outerShdw blurRad="38100" dist="38100" dir="2700000" algn="tl">
                    <a:srgbClr val="000000">
                      <a:alpha val="43137"/>
                    </a:srgbClr>
                  </a:outerShdw>
                </a:effectLst>
              </a:rPr>
              <a:t>SA420-NATURAL RESOURCE ECONOMICS</a:t>
            </a:r>
            <a:endParaRPr lang="en-GB" dirty="0"/>
          </a:p>
        </p:txBody>
      </p:sp>
    </p:spTree>
    <p:extLst>
      <p:ext uri="{BB962C8B-B14F-4D97-AF65-F5344CB8AC3E}">
        <p14:creationId xmlns:p14="http://schemas.microsoft.com/office/powerpoint/2010/main" val="4197907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TOPIC 3: AGR/FOR/FISH ECONOMICS</a:t>
            </a:r>
            <a:endParaRPr lang="en-GB" dirty="0"/>
          </a:p>
        </p:txBody>
      </p:sp>
      <p:sp>
        <p:nvSpPr>
          <p:cNvPr id="3" name="Content Placeholder 2"/>
          <p:cNvSpPr>
            <a:spLocks noGrp="1"/>
          </p:cNvSpPr>
          <p:nvPr>
            <p:ph idx="1"/>
          </p:nvPr>
        </p:nvSpPr>
        <p:spPr/>
        <p:txBody>
          <a:bodyPr/>
          <a:lstStyle/>
          <a:p>
            <a:pPr marL="0" indent="0">
              <a:buNone/>
            </a:pPr>
            <a:r>
              <a:rPr lang="en-US" b="1" dirty="0"/>
              <a:t>OUTLINE OF THE CONTENT</a:t>
            </a:r>
          </a:p>
          <a:p>
            <a:pPr>
              <a:buFont typeface="Wingdings" panose="05000000000000000000" pitchFamily="2" charset="2"/>
              <a:buChar char="v"/>
            </a:pPr>
            <a:r>
              <a:rPr lang="en-US" dirty="0"/>
              <a:t>AGRICULTURAL ECONOMICS</a:t>
            </a:r>
          </a:p>
          <a:p>
            <a:pPr>
              <a:buFont typeface="Wingdings" panose="05000000000000000000" pitchFamily="2" charset="2"/>
              <a:buChar char="v"/>
            </a:pPr>
            <a:r>
              <a:rPr lang="en-US" dirty="0"/>
              <a:t>FORESTRY ECONOMICS</a:t>
            </a:r>
          </a:p>
          <a:p>
            <a:pPr>
              <a:buFont typeface="Wingdings" panose="05000000000000000000" pitchFamily="2" charset="2"/>
              <a:buChar char="v"/>
            </a:pPr>
            <a:r>
              <a:rPr lang="en-US" dirty="0"/>
              <a:t>FISHERIES ECONOMICS</a:t>
            </a:r>
          </a:p>
          <a:p>
            <a:pPr marL="0" indent="0">
              <a:buNone/>
            </a:pPr>
            <a:endParaRPr lang="en-US" dirty="0"/>
          </a:p>
          <a:p>
            <a:endParaRPr lang="en-GB" dirty="0"/>
          </a:p>
        </p:txBody>
      </p:sp>
    </p:spTree>
    <p:extLst>
      <p:ext uri="{BB962C8B-B14F-4D97-AF65-F5344CB8AC3E}">
        <p14:creationId xmlns:p14="http://schemas.microsoft.com/office/powerpoint/2010/main" val="212205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AGRICULTURAL ECONOMICS</a:t>
            </a:r>
            <a:br>
              <a:rPr lang="en-US" b="1" dirty="0"/>
            </a:br>
            <a:endParaRPr lang="en-GB" b="1" dirty="0"/>
          </a:p>
        </p:txBody>
      </p:sp>
      <p:sp>
        <p:nvSpPr>
          <p:cNvPr id="3" name="Content Placeholder 2"/>
          <p:cNvSpPr>
            <a:spLocks noGrp="1"/>
          </p:cNvSpPr>
          <p:nvPr>
            <p:ph idx="1"/>
          </p:nvPr>
        </p:nvSpPr>
        <p:spPr/>
        <p:txBody>
          <a:bodyPr/>
          <a:lstStyle/>
          <a:p>
            <a:pPr lvl="1"/>
            <a:r>
              <a:rPr lang="en-US" dirty="0" smtClean="0"/>
              <a:t>What is Agricultural economics</a:t>
            </a:r>
            <a:r>
              <a:rPr lang="en-US" dirty="0" smtClean="0"/>
              <a:t>?</a:t>
            </a:r>
          </a:p>
          <a:p>
            <a:pPr lvl="1"/>
            <a:r>
              <a:rPr lang="en-US" dirty="0" smtClean="0"/>
              <a:t>Agricultural </a:t>
            </a:r>
            <a:r>
              <a:rPr lang="en-US" dirty="0"/>
              <a:t>economics is the exploration of how societies allocate their finite resources to produce food, fiber, and fuel for a world in constant motion. </a:t>
            </a:r>
            <a:endParaRPr lang="en-US" dirty="0" smtClean="0"/>
          </a:p>
          <a:p>
            <a:pPr lvl="1"/>
            <a:r>
              <a:rPr lang="en-US" dirty="0" smtClean="0"/>
              <a:t>It </a:t>
            </a:r>
            <a:r>
              <a:rPr lang="en-US" dirty="0"/>
              <a:t>delves into the decisions made by farmers as they labor under the open skies, striving to optimize their yields and livelihoods</a:t>
            </a:r>
            <a:r>
              <a:rPr lang="en-US" dirty="0" smtClean="0"/>
              <a:t>.</a:t>
            </a:r>
          </a:p>
          <a:p>
            <a:pPr lvl="1"/>
            <a:r>
              <a:rPr lang="en-US" dirty="0" smtClean="0"/>
              <a:t>It </a:t>
            </a:r>
            <a:r>
              <a:rPr lang="en-US" dirty="0"/>
              <a:t>examines the behavior of consumers who fill their carts in supermarkets and the policymakers who craft the regulations that shape our food systems. </a:t>
            </a:r>
            <a:endParaRPr lang="en-US" dirty="0" smtClean="0"/>
          </a:p>
          <a:p>
            <a:pPr lvl="1"/>
            <a:r>
              <a:rPr lang="en-US" dirty="0" smtClean="0"/>
              <a:t>In </a:t>
            </a:r>
            <a:r>
              <a:rPr lang="en-US" dirty="0"/>
              <a:t>this unit, we will explore the dynamic interplay between economic theory and the realities of farming that lead to economic development.</a:t>
            </a:r>
            <a:endParaRPr lang="en-US" dirty="0" smtClean="0"/>
          </a:p>
          <a:p>
            <a:pPr lvl="1"/>
            <a:endParaRPr lang="en-GB" dirty="0"/>
          </a:p>
        </p:txBody>
      </p:sp>
    </p:spTree>
    <p:extLst>
      <p:ext uri="{BB962C8B-B14F-4D97-AF65-F5344CB8AC3E}">
        <p14:creationId xmlns:p14="http://schemas.microsoft.com/office/powerpoint/2010/main" val="390133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key reasons why the study of agricultural economics is crucial:</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dirty="0" smtClean="0"/>
              <a:t>➢ </a:t>
            </a:r>
            <a:r>
              <a:rPr lang="en-US" b="1" dirty="0"/>
              <a:t>Food Security: </a:t>
            </a:r>
            <a:r>
              <a:rPr lang="en-US" dirty="0"/>
              <a:t>Agricultural economics plays a pivotal role in ensuring food security. </a:t>
            </a:r>
            <a:r>
              <a:rPr lang="en-US" dirty="0" smtClean="0"/>
              <a:t>By </a:t>
            </a:r>
            <a:r>
              <a:rPr lang="en-US" dirty="0"/>
              <a:t>analyzing production, distribution, and consumption patterns, it helps societies understand how to produce enough food to feed growing populations. This is particularly critical in a world where hunger and malnutrition remain significant challenges. ➢ </a:t>
            </a:r>
            <a:r>
              <a:rPr lang="en-US" b="1" dirty="0"/>
              <a:t>Economic Development: </a:t>
            </a:r>
            <a:r>
              <a:rPr lang="en-US" dirty="0"/>
              <a:t>Agriculture often forms the backbone of economies in many countries, especially in developing regions. The study of agricultural economics helps identify ways to enhance agricultural productivity, increase income for farmers, and stimulate overall economic growth in rural areas.</a:t>
            </a:r>
            <a:endParaRPr lang="en-GB" dirty="0"/>
          </a:p>
        </p:txBody>
      </p:sp>
    </p:spTree>
    <p:extLst>
      <p:ext uri="{BB962C8B-B14F-4D97-AF65-F5344CB8AC3E}">
        <p14:creationId xmlns:p14="http://schemas.microsoft.com/office/powerpoint/2010/main" val="597573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key reasons why the study of agricultural economics is crucial:</a:t>
            </a:r>
            <a:endParaRPr lang="en-GB" dirty="0"/>
          </a:p>
        </p:txBody>
      </p:sp>
      <p:sp>
        <p:nvSpPr>
          <p:cNvPr id="3" name="Content Placeholder 2"/>
          <p:cNvSpPr>
            <a:spLocks noGrp="1"/>
          </p:cNvSpPr>
          <p:nvPr>
            <p:ph idx="1"/>
          </p:nvPr>
        </p:nvSpPr>
        <p:spPr/>
        <p:txBody>
          <a:bodyPr/>
          <a:lstStyle/>
          <a:p>
            <a:r>
              <a:rPr lang="en-US" b="1" dirty="0"/>
              <a:t>Resource Allocation: </a:t>
            </a:r>
            <a:r>
              <a:rPr lang="en-US" dirty="0"/>
              <a:t>Agriculture relies on finite resources such as land, water, and energy. Agricultural economics helps optimize the allocation of these resources to maximize production while considering environmental sustainability and long-term resource availability. </a:t>
            </a:r>
            <a:r>
              <a:rPr lang="en-US" dirty="0" smtClean="0"/>
              <a:t> </a:t>
            </a:r>
          </a:p>
          <a:p>
            <a:r>
              <a:rPr lang="en-US" b="1" dirty="0" smtClean="0"/>
              <a:t>Environmental </a:t>
            </a:r>
            <a:r>
              <a:rPr lang="en-US" b="1" dirty="0"/>
              <a:t>Sustainability: </a:t>
            </a:r>
            <a:r>
              <a:rPr lang="en-US" dirty="0"/>
              <a:t>Modern agriculture faces the challenge of balancing increased food production with environmental preservation. Agricultural economists contribute by researching and advocating for sustainable farming practices and policies that reduce negative environmental impacts.</a:t>
            </a:r>
            <a:endParaRPr lang="en-GB" dirty="0"/>
          </a:p>
        </p:txBody>
      </p:sp>
    </p:spTree>
    <p:extLst>
      <p:ext uri="{BB962C8B-B14F-4D97-AF65-F5344CB8AC3E}">
        <p14:creationId xmlns:p14="http://schemas.microsoft.com/office/powerpoint/2010/main" val="3599072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key reasons why the study of agricultural economics is crucial:</a:t>
            </a:r>
            <a:endParaRPr lang="en-GB" dirty="0"/>
          </a:p>
        </p:txBody>
      </p:sp>
      <p:sp>
        <p:nvSpPr>
          <p:cNvPr id="3" name="Content Placeholder 2"/>
          <p:cNvSpPr>
            <a:spLocks noGrp="1"/>
          </p:cNvSpPr>
          <p:nvPr>
            <p:ph idx="1"/>
          </p:nvPr>
        </p:nvSpPr>
        <p:spPr/>
        <p:txBody>
          <a:bodyPr/>
          <a:lstStyle/>
          <a:p>
            <a:r>
              <a:rPr lang="en-US" b="1" dirty="0"/>
              <a:t>Rural Development: </a:t>
            </a:r>
            <a:r>
              <a:rPr lang="en-US" dirty="0"/>
              <a:t>Many communities rely on agriculture as their primary source of income. Agricultural economics explores strategies for rural development, job creation, and infrastructure DDE, Pondicherry University 3 Notes improvement, thus contributing to the well-being of these communities. </a:t>
            </a:r>
            <a:endParaRPr lang="en-US" dirty="0" smtClean="0"/>
          </a:p>
          <a:p>
            <a:r>
              <a:rPr lang="en-US" b="1" dirty="0" smtClean="0"/>
              <a:t>Trade </a:t>
            </a:r>
            <a:r>
              <a:rPr lang="en-US" b="1" dirty="0"/>
              <a:t>and Global Economics: </a:t>
            </a:r>
            <a:r>
              <a:rPr lang="en-US" dirty="0"/>
              <a:t>Agricultural economics is critical in understanding the dynamics of international trade in agricultural products. It informs trade policies, trade agreements, and negotiations, affecting global food supply and prices</a:t>
            </a:r>
            <a:endParaRPr lang="en-GB" dirty="0"/>
          </a:p>
        </p:txBody>
      </p:sp>
    </p:spTree>
    <p:extLst>
      <p:ext uri="{BB962C8B-B14F-4D97-AF65-F5344CB8AC3E}">
        <p14:creationId xmlns:p14="http://schemas.microsoft.com/office/powerpoint/2010/main" val="161610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t>Policy Formulation: </a:t>
            </a:r>
            <a:r>
              <a:rPr lang="en-US" dirty="0"/>
              <a:t>Governments and policymakers rely on agricultural economists’ expertise to design effective agricultural policies. These policies can address issues such as price stability, income support for farmers, and food safety regulations. </a:t>
            </a:r>
            <a:endParaRPr lang="en-US" dirty="0" smtClean="0"/>
          </a:p>
          <a:p>
            <a:r>
              <a:rPr lang="en-US" b="1" dirty="0" smtClean="0"/>
              <a:t>Risk </a:t>
            </a:r>
            <a:r>
              <a:rPr lang="en-US" b="1" dirty="0"/>
              <a:t>Management: </a:t>
            </a:r>
            <a:r>
              <a:rPr lang="en-US" dirty="0"/>
              <a:t>Agriculture is inherently susceptible to risks like weather events, pests, and market volatility. Agricultural economists develop risk management strategies, such as insurance and hedging mechanisms, to protect farmers and ensure stable food production.</a:t>
            </a:r>
            <a:endParaRPr lang="en-GB" dirty="0"/>
          </a:p>
        </p:txBody>
      </p:sp>
    </p:spTree>
    <p:extLst>
      <p:ext uri="{BB962C8B-B14F-4D97-AF65-F5344CB8AC3E}">
        <p14:creationId xmlns:p14="http://schemas.microsoft.com/office/powerpoint/2010/main" val="75937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Consumer Welfare: Understanding consumer preferences and behavior is essential for food producers and policymakers. Agricultural economics helps ensure that consumers have access to safe, affordable, and nutritious food while respecting their choices. </a:t>
            </a:r>
            <a:endParaRPr lang="en-US" dirty="0" smtClean="0"/>
          </a:p>
          <a:p>
            <a:r>
              <a:rPr lang="en-US" dirty="0" smtClean="0"/>
              <a:t>Innovation </a:t>
            </a:r>
            <a:r>
              <a:rPr lang="en-US" dirty="0"/>
              <a:t>and Technology Adoption: Agricultural economists analyze the adoption of new technologies and innovations in agriculture. This research informs decisions on research funding, extension services, and incentives to promote technological advancements in farming</a:t>
            </a:r>
            <a:endParaRPr lang="en-GB" dirty="0"/>
          </a:p>
        </p:txBody>
      </p:sp>
    </p:spTree>
    <p:extLst>
      <p:ext uri="{BB962C8B-B14F-4D97-AF65-F5344CB8AC3E}">
        <p14:creationId xmlns:p14="http://schemas.microsoft.com/office/powerpoint/2010/main" val="3895185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Food Quality and Safety: In an era of increasing concern about food safety and quality, agricultural economics examines the economic implications of food safety regulations and standards, ensuring that consumers receive high-quality, and safe food. </a:t>
            </a:r>
          </a:p>
          <a:p>
            <a:r>
              <a:rPr lang="en-US" dirty="0" smtClean="0"/>
              <a:t>Human </a:t>
            </a:r>
            <a:r>
              <a:rPr lang="en-US" dirty="0"/>
              <a:t>Capital Development: The study of labor markets in agriculture helps address labor-related challenges, improve working conditions, and attract talent to the agricultural sector</a:t>
            </a:r>
            <a:endParaRPr lang="en-GB" dirty="0"/>
          </a:p>
        </p:txBody>
      </p:sp>
    </p:spTree>
    <p:extLst>
      <p:ext uri="{BB962C8B-B14F-4D97-AF65-F5344CB8AC3E}">
        <p14:creationId xmlns:p14="http://schemas.microsoft.com/office/powerpoint/2010/main" val="340162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Definition:</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Agricultural </a:t>
            </a:r>
            <a:r>
              <a:rPr lang="en-US" dirty="0"/>
              <a:t>economics is a branch of economics that focuses on the application of economic principles and concepts to the production, distribution, and consumption of agricultural goods and services. Different economists have provided various definitions and perspectives on agricultural economics: </a:t>
            </a:r>
            <a:endParaRPr lang="en-GB" dirty="0"/>
          </a:p>
        </p:txBody>
      </p:sp>
    </p:spTree>
    <p:extLst>
      <p:ext uri="{BB962C8B-B14F-4D97-AF65-F5344CB8AC3E}">
        <p14:creationId xmlns:p14="http://schemas.microsoft.com/office/powerpoint/2010/main" val="101918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effectLst>
                  <a:outerShdw blurRad="38100" dist="38100" dir="2700000" algn="tl">
                    <a:srgbClr val="000000">
                      <a:alpha val="43137"/>
                    </a:srgbClr>
                  </a:outerShdw>
                </a:effectLst>
              </a:rPr>
              <a:t>scope of Agricultural </a:t>
            </a:r>
            <a:r>
              <a:rPr lang="en-GB" b="1" dirty="0" smtClean="0">
                <a:effectLst>
                  <a:outerShdw blurRad="38100" dist="38100" dir="2700000" algn="tl">
                    <a:srgbClr val="000000">
                      <a:alpha val="43137"/>
                    </a:srgbClr>
                  </a:outerShdw>
                </a:effectLst>
              </a:rPr>
              <a:t>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t>Production Economics</a:t>
            </a:r>
            <a:endParaRPr lang="en-US" b="1" dirty="0" smtClean="0"/>
          </a:p>
          <a:p>
            <a:r>
              <a:rPr lang="en-US" b="1" dirty="0" smtClean="0"/>
              <a:t>Farm </a:t>
            </a:r>
            <a:r>
              <a:rPr lang="en-US" b="1" dirty="0"/>
              <a:t>Management: </a:t>
            </a:r>
            <a:r>
              <a:rPr lang="en-US" dirty="0"/>
              <a:t>Agricultural economists study how farmers make decisions about resource allocation, crop selection, and production techniques to maximize their profits or achieve other objectives. </a:t>
            </a:r>
            <a:endParaRPr lang="en-US" dirty="0" smtClean="0"/>
          </a:p>
          <a:p>
            <a:r>
              <a:rPr lang="en-US" b="1" dirty="0" smtClean="0"/>
              <a:t>Production </a:t>
            </a:r>
            <a:r>
              <a:rPr lang="en-US" b="1" dirty="0"/>
              <a:t>Function Analysis: </a:t>
            </a:r>
            <a:r>
              <a:rPr lang="en-US" dirty="0"/>
              <a:t>They analyze the relationship between inputs (e.g., land, labor, capital) and outputs (crop yields, livestock products) to optimize production processes. </a:t>
            </a:r>
            <a:endParaRPr lang="en-US" dirty="0" smtClean="0"/>
          </a:p>
          <a:p>
            <a:r>
              <a:rPr lang="en-US" b="1" dirty="0" smtClean="0"/>
              <a:t>Technology </a:t>
            </a:r>
            <a:r>
              <a:rPr lang="en-US" b="1" dirty="0"/>
              <a:t>Adoption</a:t>
            </a:r>
            <a:r>
              <a:rPr lang="en-US" dirty="0"/>
              <a:t>: Studying the adoption of new agricultural technologies and practices to improve productivity and sustainability</a:t>
            </a:r>
            <a:endParaRPr lang="en-GB" dirty="0"/>
          </a:p>
        </p:txBody>
      </p:sp>
    </p:spTree>
    <p:extLst>
      <p:ext uri="{BB962C8B-B14F-4D97-AF65-F5344CB8AC3E}">
        <p14:creationId xmlns:p14="http://schemas.microsoft.com/office/powerpoint/2010/main" val="1234707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scope of Agricultural 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lstStyle/>
          <a:p>
            <a:r>
              <a:rPr lang="en-US" dirty="0"/>
              <a:t>Agricultural Policy ➢ Government Interventions: Assessing the effects of government policies, subsidies, price supports, and trade regulations on agricultural production and income. ➢ Environmental Policy: Evaluating policies related to land use, conservation, and environmental sustainability in agriculture. ➢ Food Security: Analyzing policies aimed at ensuring a stable and accessible food supply for the population</a:t>
            </a:r>
            <a:endParaRPr lang="en-GB" dirty="0"/>
          </a:p>
        </p:txBody>
      </p:sp>
    </p:spTree>
    <p:extLst>
      <p:ext uri="{BB962C8B-B14F-4D97-AF65-F5344CB8AC3E}">
        <p14:creationId xmlns:p14="http://schemas.microsoft.com/office/powerpoint/2010/main" val="4292925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scope of Agricultural 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normAutofit fontScale="92500" lnSpcReduction="20000"/>
          </a:bodyPr>
          <a:lstStyle/>
          <a:p>
            <a:r>
              <a:rPr lang="en-US" b="1" dirty="0"/>
              <a:t>Rural Development </a:t>
            </a:r>
            <a:endParaRPr lang="en-US" b="1" dirty="0" smtClean="0"/>
          </a:p>
          <a:p>
            <a:pPr marL="0" indent="0">
              <a:buNone/>
            </a:pPr>
            <a:r>
              <a:rPr lang="en-US" dirty="0" smtClean="0"/>
              <a:t>➢ </a:t>
            </a:r>
            <a:r>
              <a:rPr lang="en-US" b="1" dirty="0"/>
              <a:t>Rural Economy Analysis: </a:t>
            </a:r>
            <a:r>
              <a:rPr lang="en-US" dirty="0"/>
              <a:t>Investigating the economic conditions of rural areas, including income distribution, employment opportunities, and infrastructure development. </a:t>
            </a:r>
            <a:endParaRPr lang="en-US" dirty="0" smtClean="0"/>
          </a:p>
          <a:p>
            <a:pPr marL="0" indent="0">
              <a:buNone/>
            </a:pPr>
            <a:r>
              <a:rPr lang="en-US" dirty="0" smtClean="0"/>
              <a:t>➢ </a:t>
            </a:r>
            <a:r>
              <a:rPr lang="en-US" b="1" dirty="0"/>
              <a:t>Agricultural Extension: </a:t>
            </a:r>
            <a:r>
              <a:rPr lang="en-US" dirty="0"/>
              <a:t>Studying the role of agricultural extension services in disseminating knowledge and technology to rural communities. </a:t>
            </a:r>
          </a:p>
          <a:p>
            <a:r>
              <a:rPr lang="en-US" dirty="0" smtClean="0"/>
              <a:t> </a:t>
            </a:r>
            <a:r>
              <a:rPr lang="en-US" b="1" dirty="0"/>
              <a:t>International Trade </a:t>
            </a:r>
            <a:endParaRPr lang="en-US" b="1" dirty="0" smtClean="0"/>
          </a:p>
          <a:p>
            <a:r>
              <a:rPr lang="en-US" dirty="0" smtClean="0"/>
              <a:t>➢ </a:t>
            </a:r>
            <a:r>
              <a:rPr lang="en-US" b="1" dirty="0"/>
              <a:t>Trade Policies: </a:t>
            </a:r>
            <a:r>
              <a:rPr lang="en-US" dirty="0"/>
              <a:t>Analyzing international trade agreements, tariffs, and trade barriers affecting the global exchange of agricultural products. </a:t>
            </a:r>
            <a:endParaRPr lang="en-US" dirty="0" smtClean="0"/>
          </a:p>
          <a:p>
            <a:r>
              <a:rPr lang="en-US" dirty="0" smtClean="0"/>
              <a:t>➢ </a:t>
            </a:r>
            <a:r>
              <a:rPr lang="en-US" dirty="0"/>
              <a:t>Export and Import Dynamics: Studying the balance of trade in agricultural commodities and its impact on domestic markets and economies.</a:t>
            </a:r>
            <a:endParaRPr lang="en-GB" dirty="0"/>
          </a:p>
        </p:txBody>
      </p:sp>
    </p:spTree>
    <p:extLst>
      <p:ext uri="{BB962C8B-B14F-4D97-AF65-F5344CB8AC3E}">
        <p14:creationId xmlns:p14="http://schemas.microsoft.com/office/powerpoint/2010/main" val="2448870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scope of Agricultural 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lstStyle/>
          <a:p>
            <a:r>
              <a:rPr lang="en-US" b="1" dirty="0"/>
              <a:t>Environmental and Resource Economics </a:t>
            </a:r>
            <a:endParaRPr lang="en-US" b="1" dirty="0" smtClean="0"/>
          </a:p>
          <a:p>
            <a:r>
              <a:rPr lang="en-US" dirty="0" smtClean="0"/>
              <a:t>➢ </a:t>
            </a:r>
            <a:r>
              <a:rPr lang="en-US" dirty="0"/>
              <a:t>Sustainable Agriculture: Evaluating the economic implications of sustainable farming practices and natural resource management. DDE, Pondicherry University 7 Notes </a:t>
            </a:r>
            <a:endParaRPr lang="en-US" dirty="0" smtClean="0"/>
          </a:p>
          <a:p>
            <a:r>
              <a:rPr lang="en-US" dirty="0" smtClean="0"/>
              <a:t>➢ </a:t>
            </a:r>
            <a:r>
              <a:rPr lang="en-US" dirty="0"/>
              <a:t>Resource Allocation: Analyzing the allocation of land, water, and other resources in agriculture, considering their economic and environmental consequences</a:t>
            </a:r>
            <a:endParaRPr lang="en-GB" dirty="0"/>
          </a:p>
        </p:txBody>
      </p:sp>
    </p:spTree>
    <p:extLst>
      <p:ext uri="{BB962C8B-B14F-4D97-AF65-F5344CB8AC3E}">
        <p14:creationId xmlns:p14="http://schemas.microsoft.com/office/powerpoint/2010/main" val="1840002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scope of Agricultural 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normAutofit lnSpcReduction="10000"/>
          </a:bodyPr>
          <a:lstStyle/>
          <a:p>
            <a:r>
              <a:rPr lang="en-US" dirty="0"/>
              <a:t>Risk and Uncertainty </a:t>
            </a:r>
            <a:endParaRPr lang="en-US" dirty="0" smtClean="0"/>
          </a:p>
          <a:p>
            <a:r>
              <a:rPr lang="en-US" dirty="0" smtClean="0"/>
              <a:t>➢ </a:t>
            </a:r>
            <a:r>
              <a:rPr lang="en-US" b="1" dirty="0"/>
              <a:t>Risk Management: </a:t>
            </a:r>
            <a:r>
              <a:rPr lang="en-US" dirty="0"/>
              <a:t>Developing strategies to mitigate risks associated with weather, pests, market fluctuations, and other factors that affect agricultural outcomes. </a:t>
            </a:r>
            <a:endParaRPr lang="en-US" dirty="0" smtClean="0"/>
          </a:p>
          <a:p>
            <a:r>
              <a:rPr lang="en-US" dirty="0" smtClean="0"/>
              <a:t>➢ </a:t>
            </a:r>
            <a:r>
              <a:rPr lang="en-US" b="1" dirty="0"/>
              <a:t>Insurance and Hedging: </a:t>
            </a:r>
            <a:r>
              <a:rPr lang="en-US" dirty="0"/>
              <a:t>Analyzing the role of insurance and hedging mechanisms in protecting farmers against income volatility. </a:t>
            </a:r>
            <a:r>
              <a:rPr lang="en-US" dirty="0" smtClean="0"/>
              <a:t>Consumer </a:t>
            </a:r>
            <a:r>
              <a:rPr lang="en-US" dirty="0"/>
              <a:t>Behavior </a:t>
            </a:r>
            <a:endParaRPr lang="en-US" dirty="0" smtClean="0"/>
          </a:p>
          <a:p>
            <a:r>
              <a:rPr lang="en-US" dirty="0" smtClean="0"/>
              <a:t>➢ </a:t>
            </a:r>
            <a:r>
              <a:rPr lang="en-US" b="1" dirty="0"/>
              <a:t>Consumer Preferences: </a:t>
            </a:r>
            <a:r>
              <a:rPr lang="en-US" dirty="0"/>
              <a:t>Investigating how consumer preferences and choices influence the demand for agricultural products. ➢ Food Safety and Quality: Analyzing the economic aspects of food safety regulations and quality standards</a:t>
            </a:r>
            <a:endParaRPr lang="en-GB" dirty="0"/>
          </a:p>
        </p:txBody>
      </p:sp>
    </p:spTree>
    <p:extLst>
      <p:ext uri="{BB962C8B-B14F-4D97-AF65-F5344CB8AC3E}">
        <p14:creationId xmlns:p14="http://schemas.microsoft.com/office/powerpoint/2010/main" val="294964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scope of Agricultural Economics-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normAutofit lnSpcReduction="10000"/>
          </a:bodyPr>
          <a:lstStyle/>
          <a:p>
            <a:r>
              <a:rPr lang="en-US" b="1" dirty="0"/>
              <a:t>Agribusiness </a:t>
            </a:r>
            <a:endParaRPr lang="en-US" b="1" dirty="0" smtClean="0"/>
          </a:p>
          <a:p>
            <a:pPr marL="0" indent="0">
              <a:buNone/>
            </a:pPr>
            <a:r>
              <a:rPr lang="en-US" dirty="0" smtClean="0"/>
              <a:t>➢ </a:t>
            </a:r>
            <a:r>
              <a:rPr lang="en-US" dirty="0"/>
              <a:t>Supply Chain Analysis: Examining the economic interactions within the agribusiness sector, including food processing, distribution, and retailing. </a:t>
            </a:r>
            <a:endParaRPr lang="en-US" dirty="0" smtClean="0"/>
          </a:p>
          <a:p>
            <a:pPr marL="0" indent="0">
              <a:buNone/>
            </a:pPr>
            <a:r>
              <a:rPr lang="en-US" dirty="0" smtClean="0"/>
              <a:t>➢ </a:t>
            </a:r>
            <a:r>
              <a:rPr lang="en-US" dirty="0"/>
              <a:t>Value Chain Management: Studying strategies for adding value to agricultural products and improving competitiveness. </a:t>
            </a:r>
            <a:endParaRPr lang="en-US" dirty="0" smtClean="0"/>
          </a:p>
          <a:p>
            <a:pPr marL="0" indent="0">
              <a:buNone/>
            </a:pPr>
            <a:r>
              <a:rPr lang="en-US" b="1" dirty="0" smtClean="0"/>
              <a:t>Human </a:t>
            </a:r>
            <a:r>
              <a:rPr lang="en-US" b="1" dirty="0"/>
              <a:t>Capital and Labor Economics </a:t>
            </a:r>
            <a:endParaRPr lang="en-US" b="1" dirty="0" smtClean="0"/>
          </a:p>
          <a:p>
            <a:pPr marL="0" indent="0">
              <a:buNone/>
            </a:pPr>
            <a:r>
              <a:rPr lang="en-US" dirty="0" smtClean="0"/>
              <a:t>➢ </a:t>
            </a:r>
            <a:r>
              <a:rPr lang="en-US" b="1" dirty="0"/>
              <a:t>Labor Market Analysis: </a:t>
            </a:r>
            <a:r>
              <a:rPr lang="en-US" dirty="0"/>
              <a:t>Assessing labor market dynamics in agriculture, including wages, employment conditions, and the impact of labor policies</a:t>
            </a:r>
            <a:endParaRPr lang="en-GB" dirty="0"/>
          </a:p>
        </p:txBody>
      </p:sp>
    </p:spTree>
    <p:extLst>
      <p:ext uri="{BB962C8B-B14F-4D97-AF65-F5344CB8AC3E}">
        <p14:creationId xmlns:p14="http://schemas.microsoft.com/office/powerpoint/2010/main" val="2142607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ROLES THAT AGRICULTURE FULFILLS </a:t>
            </a:r>
            <a:r>
              <a:rPr lang="en-US" b="1" smtClean="0"/>
              <a:t>IN ZAMBIA’S </a:t>
            </a:r>
            <a:r>
              <a:rPr lang="en-US" b="1" dirty="0" smtClean="0"/>
              <a:t>ECONOMY</a:t>
            </a:r>
            <a:endParaRPr lang="en-GB" b="1" dirty="0"/>
          </a:p>
        </p:txBody>
      </p:sp>
      <p:sp>
        <p:nvSpPr>
          <p:cNvPr id="3" name="Content Placeholder 2"/>
          <p:cNvSpPr>
            <a:spLocks noGrp="1"/>
          </p:cNvSpPr>
          <p:nvPr>
            <p:ph idx="1"/>
          </p:nvPr>
        </p:nvSpPr>
        <p:spPr/>
        <p:txBody>
          <a:bodyPr/>
          <a:lstStyle/>
          <a:p>
            <a:r>
              <a:rPr lang="en-US" dirty="0"/>
              <a:t>Primary Source of Livelihood: </a:t>
            </a:r>
            <a:endParaRPr lang="en-US" dirty="0" smtClean="0"/>
          </a:p>
          <a:p>
            <a:r>
              <a:rPr lang="en-GB" dirty="0"/>
              <a:t>Food </a:t>
            </a:r>
            <a:r>
              <a:rPr lang="en-GB" dirty="0" smtClean="0"/>
              <a:t>Security</a:t>
            </a:r>
          </a:p>
          <a:p>
            <a:r>
              <a:rPr lang="en-GB" dirty="0"/>
              <a:t>Economic Growth</a:t>
            </a:r>
            <a:r>
              <a:rPr lang="en-GB" dirty="0" smtClean="0"/>
              <a:t>:</a:t>
            </a:r>
          </a:p>
          <a:p>
            <a:r>
              <a:rPr lang="en-GB" dirty="0"/>
              <a:t>Foreign Exchange Earnings</a:t>
            </a:r>
            <a:r>
              <a:rPr lang="en-GB" dirty="0" smtClean="0"/>
              <a:t>:</a:t>
            </a:r>
          </a:p>
          <a:p>
            <a:r>
              <a:rPr lang="en-GB" dirty="0"/>
              <a:t>Rural Development</a:t>
            </a:r>
            <a:r>
              <a:rPr lang="en-GB" dirty="0" smtClean="0"/>
              <a:t>:</a:t>
            </a:r>
          </a:p>
          <a:p>
            <a:r>
              <a:rPr lang="en-GB" dirty="0"/>
              <a:t>Poverty Alleviation</a:t>
            </a:r>
            <a:r>
              <a:rPr lang="en-GB" dirty="0" smtClean="0"/>
              <a:t>:</a:t>
            </a:r>
          </a:p>
          <a:p>
            <a:r>
              <a:rPr lang="en-GB" dirty="0"/>
              <a:t>Diversification of Income Sources</a:t>
            </a:r>
            <a:r>
              <a:rPr lang="en-GB" dirty="0" smtClean="0"/>
              <a:t>:</a:t>
            </a:r>
          </a:p>
          <a:p>
            <a:r>
              <a:rPr lang="en-GB" dirty="0"/>
              <a:t>Environmental Sustainability:</a:t>
            </a:r>
          </a:p>
        </p:txBody>
      </p:sp>
    </p:spTree>
    <p:extLst>
      <p:ext uri="{BB962C8B-B14F-4D97-AF65-F5344CB8AC3E}">
        <p14:creationId xmlns:p14="http://schemas.microsoft.com/office/powerpoint/2010/main" val="3367299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ROLES THAT AGRICULTURE </a:t>
            </a:r>
            <a:r>
              <a:rPr lang="en-US" b="1" dirty="0" smtClean="0"/>
              <a:t>FULFILS IN AN ECONOMY</a:t>
            </a:r>
            <a:endParaRPr lang="en-GB" dirty="0"/>
          </a:p>
        </p:txBody>
      </p:sp>
      <p:sp>
        <p:nvSpPr>
          <p:cNvPr id="3" name="Content Placeholder 2"/>
          <p:cNvSpPr>
            <a:spLocks noGrp="1"/>
          </p:cNvSpPr>
          <p:nvPr>
            <p:ph idx="1"/>
          </p:nvPr>
        </p:nvSpPr>
        <p:spPr/>
        <p:txBody>
          <a:bodyPr/>
          <a:lstStyle/>
          <a:p>
            <a:r>
              <a:rPr lang="en-GB" dirty="0"/>
              <a:t>Source of Innovation: </a:t>
            </a:r>
            <a:endParaRPr lang="en-GB" dirty="0" smtClean="0"/>
          </a:p>
          <a:p>
            <a:r>
              <a:rPr lang="en-GB" dirty="0"/>
              <a:t>Climate Change Mitigation</a:t>
            </a:r>
            <a:r>
              <a:rPr lang="en-GB" dirty="0" smtClean="0"/>
              <a:t>:</a:t>
            </a:r>
          </a:p>
          <a:p>
            <a:r>
              <a:rPr lang="en-GB" dirty="0"/>
              <a:t>Raw Material Supply</a:t>
            </a:r>
            <a:r>
              <a:rPr lang="en-GB" dirty="0" smtClean="0"/>
              <a:t>:</a:t>
            </a:r>
          </a:p>
          <a:p>
            <a:r>
              <a:rPr lang="en-GB" dirty="0"/>
              <a:t>Employment Generation</a:t>
            </a:r>
            <a:r>
              <a:rPr lang="en-GB" dirty="0" smtClean="0"/>
              <a:t>:</a:t>
            </a:r>
          </a:p>
          <a:p>
            <a:r>
              <a:rPr lang="en-GB" dirty="0"/>
              <a:t>Income </a:t>
            </a:r>
            <a:r>
              <a:rPr lang="en-GB" dirty="0" smtClean="0"/>
              <a:t>Generation</a:t>
            </a:r>
          </a:p>
          <a:p>
            <a:r>
              <a:rPr lang="en-GB" dirty="0"/>
              <a:t>Foreign Exchange:</a:t>
            </a:r>
          </a:p>
        </p:txBody>
      </p:sp>
    </p:spTree>
    <p:extLst>
      <p:ext uri="{BB962C8B-B14F-4D97-AF65-F5344CB8AC3E}">
        <p14:creationId xmlns:p14="http://schemas.microsoft.com/office/powerpoint/2010/main" val="3642289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effectLst>
                  <a:outerShdw blurRad="38100" dist="38100" dir="2700000" algn="tl">
                    <a:srgbClr val="000000">
                      <a:alpha val="43137"/>
                    </a:srgbClr>
                  </a:outerShdw>
                </a:effectLst>
              </a:rPr>
              <a:t>Factors </a:t>
            </a:r>
            <a:r>
              <a:rPr lang="en-GB" b="1" dirty="0">
                <a:effectLst>
                  <a:outerShdw blurRad="38100" dist="38100" dir="2700000" algn="tl">
                    <a:srgbClr val="000000">
                      <a:alpha val="43137"/>
                    </a:srgbClr>
                  </a:outerShdw>
                </a:effectLst>
              </a:rPr>
              <a:t>Influencing Farm Productivity</a:t>
            </a:r>
          </a:p>
        </p:txBody>
      </p:sp>
      <p:sp>
        <p:nvSpPr>
          <p:cNvPr id="3" name="Content Placeholder 2"/>
          <p:cNvSpPr>
            <a:spLocks noGrp="1"/>
          </p:cNvSpPr>
          <p:nvPr>
            <p:ph idx="1"/>
          </p:nvPr>
        </p:nvSpPr>
        <p:spPr/>
        <p:txBody>
          <a:bodyPr>
            <a:normAutofit lnSpcReduction="10000"/>
          </a:bodyPr>
          <a:lstStyle/>
          <a:p>
            <a:r>
              <a:rPr lang="en-US" dirty="0"/>
              <a:t>Climate and Weather: </a:t>
            </a:r>
            <a:endParaRPr lang="en-US" dirty="0" smtClean="0"/>
          </a:p>
          <a:p>
            <a:r>
              <a:rPr lang="en-US" dirty="0" smtClean="0"/>
              <a:t>Weather </a:t>
            </a:r>
            <a:r>
              <a:rPr lang="en-US" dirty="0"/>
              <a:t>conditions, including rainfall and temperature, play a pivotal role in crop yields and livestock productivity. </a:t>
            </a:r>
            <a:endParaRPr lang="en-US" dirty="0" smtClean="0"/>
          </a:p>
          <a:p>
            <a:r>
              <a:rPr lang="en-US" dirty="0" smtClean="0"/>
              <a:t>Soil </a:t>
            </a:r>
            <a:r>
              <a:rPr lang="en-US" dirty="0"/>
              <a:t>Quality: </a:t>
            </a:r>
            <a:endParaRPr lang="en-US" dirty="0" smtClean="0"/>
          </a:p>
          <a:p>
            <a:r>
              <a:rPr lang="en-US" dirty="0" smtClean="0"/>
              <a:t>The </a:t>
            </a:r>
            <a:r>
              <a:rPr lang="en-US" dirty="0"/>
              <a:t>fertility and health of soil determine the nutrient availability for crops, affecting their growth and yield. </a:t>
            </a:r>
            <a:endParaRPr lang="en-US" dirty="0" smtClean="0"/>
          </a:p>
          <a:p>
            <a:pPr marL="0" indent="0">
              <a:buNone/>
            </a:pPr>
            <a:r>
              <a:rPr lang="en-US" dirty="0" smtClean="0"/>
              <a:t>➢ </a:t>
            </a:r>
            <a:r>
              <a:rPr lang="en-US" dirty="0"/>
              <a:t>Crop Variety: The choice of crop varieties, including traditional and modern high-yielding ones, impacts productivity. </a:t>
            </a:r>
            <a:endParaRPr lang="en-US" dirty="0" smtClean="0"/>
          </a:p>
          <a:p>
            <a:pPr marL="0" indent="0">
              <a:buNone/>
            </a:pPr>
            <a:r>
              <a:rPr lang="en-US" dirty="0" smtClean="0"/>
              <a:t>➢ </a:t>
            </a:r>
            <a:r>
              <a:rPr lang="en-US" dirty="0"/>
              <a:t>Irrigation: Access to adequate and timely irrigation is crucial, especially in regions with erratic rainfall</a:t>
            </a:r>
            <a:endParaRPr lang="en-GB" dirty="0"/>
          </a:p>
        </p:txBody>
      </p:sp>
    </p:spTree>
    <p:extLst>
      <p:ext uri="{BB962C8B-B14F-4D97-AF65-F5344CB8AC3E}">
        <p14:creationId xmlns:p14="http://schemas.microsoft.com/office/powerpoint/2010/main" val="4213811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Factors Influencing Farm Productivity</a:t>
            </a:r>
            <a:endParaRPr lang="en-GB" dirty="0"/>
          </a:p>
        </p:txBody>
      </p:sp>
      <p:sp>
        <p:nvSpPr>
          <p:cNvPr id="3" name="Content Placeholder 2"/>
          <p:cNvSpPr>
            <a:spLocks noGrp="1"/>
          </p:cNvSpPr>
          <p:nvPr>
            <p:ph idx="1"/>
          </p:nvPr>
        </p:nvSpPr>
        <p:spPr/>
        <p:txBody>
          <a:bodyPr>
            <a:normAutofit lnSpcReduction="10000"/>
          </a:bodyPr>
          <a:lstStyle/>
          <a:p>
            <a:r>
              <a:rPr lang="en-US" b="1" dirty="0"/>
              <a:t>Technology and Inputs: </a:t>
            </a:r>
            <a:endParaRPr lang="en-US" b="1" dirty="0" smtClean="0"/>
          </a:p>
          <a:p>
            <a:r>
              <a:rPr lang="en-US" dirty="0" smtClean="0"/>
              <a:t>The </a:t>
            </a:r>
            <a:r>
              <a:rPr lang="en-US" dirty="0"/>
              <a:t>adoption of modern technologies, quality seeds, fertilizers, and pesticides can significantly enhance productivity. </a:t>
            </a:r>
            <a:endParaRPr lang="en-US" dirty="0" smtClean="0"/>
          </a:p>
          <a:p>
            <a:pPr marL="0" indent="0">
              <a:buNone/>
            </a:pPr>
            <a:r>
              <a:rPr lang="en-US" dirty="0" smtClean="0"/>
              <a:t>➢ </a:t>
            </a:r>
            <a:r>
              <a:rPr lang="en-US" dirty="0"/>
              <a:t>Farm Size: Farm size influences the scale of agricultural operations, with larger farms having the potential for mechanization and economies of scale. </a:t>
            </a:r>
            <a:endParaRPr lang="en-US" dirty="0" smtClean="0"/>
          </a:p>
          <a:p>
            <a:pPr marL="0" indent="0">
              <a:buNone/>
            </a:pPr>
            <a:r>
              <a:rPr lang="en-US" dirty="0" smtClean="0"/>
              <a:t>➢ </a:t>
            </a:r>
            <a:r>
              <a:rPr lang="en-US" dirty="0"/>
              <a:t>Labor and Skill: The availability of skilled labor and their efficiency in farm tasks affect productivity. </a:t>
            </a:r>
            <a:endParaRPr lang="en-US" dirty="0" smtClean="0"/>
          </a:p>
          <a:p>
            <a:pPr marL="0" indent="0">
              <a:buNone/>
            </a:pPr>
            <a:r>
              <a:rPr lang="en-US" dirty="0" smtClean="0"/>
              <a:t>➢ </a:t>
            </a:r>
            <a:r>
              <a:rPr lang="en-US" dirty="0"/>
              <a:t>Market Access: Access to markets and price realization influence the motivation to produce surplus crops.</a:t>
            </a:r>
            <a:endParaRPr lang="en-GB" dirty="0"/>
          </a:p>
        </p:txBody>
      </p:sp>
    </p:spTree>
    <p:extLst>
      <p:ext uri="{BB962C8B-B14F-4D97-AF65-F5344CB8AC3E}">
        <p14:creationId xmlns:p14="http://schemas.microsoft.com/office/powerpoint/2010/main" val="3026434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1854375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200746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3040447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63541"/>
            <a:ext cx="9144000" cy="1845751"/>
          </a:xfrm>
        </p:spPr>
        <p:txBody>
          <a:bodyPr/>
          <a:lstStyle/>
          <a:p>
            <a:pPr algn="ctr"/>
            <a:r>
              <a:rPr lang="en-US" b="1" dirty="0">
                <a:ln w="22225">
                  <a:solidFill>
                    <a:schemeClr val="accent2"/>
                  </a:solidFill>
                  <a:prstDash val="solid"/>
                </a:ln>
                <a:solidFill>
                  <a:schemeClr val="tx1">
                    <a:lumMod val="95000"/>
                    <a:lumOff val="5000"/>
                  </a:schemeClr>
                </a:solidFill>
                <a:effectLst>
                  <a:outerShdw blurRad="38100" dist="38100" dir="2700000" algn="tl">
                    <a:srgbClr val="000000">
                      <a:alpha val="43137"/>
                    </a:srgbClr>
                  </a:outerShdw>
                </a:effectLst>
              </a:rPr>
              <a:t>   </a:t>
            </a:r>
            <a:r>
              <a:rPr lang="en-US" sz="4800" b="1" dirty="0">
                <a:ln w="22225">
                  <a:solidFill>
                    <a:schemeClr val="accent2"/>
                  </a:solidFill>
                  <a:prstDash val="solid"/>
                </a:ln>
                <a:solidFill>
                  <a:schemeClr val="tx1">
                    <a:lumMod val="95000"/>
                    <a:lumOff val="5000"/>
                  </a:schemeClr>
                </a:solidFill>
                <a:effectLst>
                  <a:outerShdw blurRad="38100" dist="38100" dir="2700000" algn="tl">
                    <a:srgbClr val="000000">
                      <a:alpha val="43137"/>
                    </a:srgbClr>
                  </a:outerShdw>
                </a:effectLst>
                <a:latin typeface="+mn-lt"/>
              </a:rPr>
              <a:t>Forest Economics</a:t>
            </a:r>
          </a:p>
        </p:txBody>
      </p:sp>
      <p:sp>
        <p:nvSpPr>
          <p:cNvPr id="3" name="Subtitle 2"/>
          <p:cNvSpPr>
            <a:spLocks noGrp="1"/>
          </p:cNvSpPr>
          <p:nvPr>
            <p:ph type="subTitle" idx="1"/>
          </p:nvPr>
        </p:nvSpPr>
        <p:spPr/>
        <p:txBody>
          <a:bodyPr/>
          <a:lstStyle/>
          <a:p>
            <a:r>
              <a:rPr lang="en-US" b="1" dirty="0"/>
              <a:t>                                                                       </a:t>
            </a:r>
          </a:p>
        </p:txBody>
      </p:sp>
      <p:sp>
        <p:nvSpPr>
          <p:cNvPr id="5" name="AutoShape 2" descr="https://encrypted-tbn1.gstatic.com/images?q=tbn:ANd9GcTPDekIcNcm0YaxkASkUQ61XzN5UG4z8fbB8zDJ1PLBuI-kNxKD"/>
          <p:cNvSpPr>
            <a:spLocks noChangeAspect="1" noChangeArrowheads="1"/>
          </p:cNvSpPr>
          <p:nvPr/>
        </p:nvSpPr>
        <p:spPr bwMode="auto">
          <a:xfrm>
            <a:off x="1" y="0"/>
            <a:ext cx="12084148" cy="216354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37"/>
            <a:ext cx="12192000" cy="2184277"/>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46243"/>
            <a:ext cx="12191999" cy="2311758"/>
          </a:xfrm>
          <a:prstGeom prst="rect">
            <a:avLst/>
          </a:prstGeom>
        </p:spPr>
      </p:pic>
    </p:spTree>
    <p:extLst>
      <p:ext uri="{BB962C8B-B14F-4D97-AF65-F5344CB8AC3E}">
        <p14:creationId xmlns:p14="http://schemas.microsoft.com/office/powerpoint/2010/main" val="2883787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latin typeface="+mn-lt"/>
              </a:rPr>
              <a:t>What is Forest Economics?</a:t>
            </a:r>
          </a:p>
        </p:txBody>
      </p:sp>
      <p:sp>
        <p:nvSpPr>
          <p:cNvPr id="3" name="Content Placeholder 2"/>
          <p:cNvSpPr>
            <a:spLocks noGrp="1"/>
          </p:cNvSpPr>
          <p:nvPr>
            <p:ph idx="1"/>
          </p:nvPr>
        </p:nvSpPr>
        <p:spPr>
          <a:xfrm>
            <a:off x="838200" y="1690688"/>
            <a:ext cx="10515600" cy="5057841"/>
          </a:xfrm>
        </p:spPr>
        <p:txBody>
          <a:bodyPr/>
          <a:lstStyle/>
          <a:p>
            <a:r>
              <a:rPr lang="en-US" dirty="0"/>
              <a:t>It is branch of applied economics is mainly focused on sustainable yield timber management, resource extraction and commodity production, excluding a wide range of forest values </a:t>
            </a:r>
          </a:p>
          <a:p>
            <a:endParaRPr lang="en-US" dirty="0"/>
          </a:p>
          <a:p>
            <a:r>
              <a:rPr lang="en-US" dirty="0"/>
              <a:t> The forest is viewed as a </a:t>
            </a:r>
            <a:r>
              <a:rPr lang="en-US" dirty="0">
                <a:solidFill>
                  <a:srgbClr val="FF0000"/>
                </a:solidFill>
              </a:rPr>
              <a:t>storable renewable resource </a:t>
            </a:r>
            <a:r>
              <a:rPr lang="en-US" dirty="0"/>
              <a:t>and forestry as an investment with long rotation (production) periods and easily measurable stock growth.</a:t>
            </a:r>
          </a:p>
          <a:p>
            <a:endParaRPr lang="en-US" dirty="0"/>
          </a:p>
          <a:p>
            <a:r>
              <a:rPr lang="en-US" dirty="0">
                <a:latin typeface="Calibri" panose="020F0502020204030204" pitchFamily="34" charset="0"/>
                <a:cs typeface="Calibri" panose="020F0502020204030204" pitchFamily="34" charset="0"/>
              </a:rPr>
              <a:t> The task of forestry economics is to help </a:t>
            </a:r>
            <a:r>
              <a:rPr lang="en-US" dirty="0">
                <a:solidFill>
                  <a:srgbClr val="FF0000"/>
                </a:solidFill>
                <a:latin typeface="Calibri" panose="020F0502020204030204" pitchFamily="34" charset="0"/>
                <a:cs typeface="Calibri" panose="020F0502020204030204" pitchFamily="34" charset="0"/>
              </a:rPr>
              <a:t>determine a level and pattern of forest use which maximizes the present value of forest rent</a:t>
            </a:r>
          </a:p>
          <a:p>
            <a:endParaRPr lang="en-US" dirty="0">
              <a:latin typeface="Calibri" panose="020F0502020204030204" pitchFamily="34" charset="0"/>
              <a:cs typeface="Calibri" panose="020F0502020204030204" pitchFamily="34" charset="0"/>
            </a:endParaRPr>
          </a:p>
          <a:p>
            <a:endParaRPr lang="en-US" dirty="0"/>
          </a:p>
          <a:p>
            <a:endParaRPr lang="en-US" dirty="0"/>
          </a:p>
        </p:txBody>
      </p:sp>
    </p:spTree>
    <p:extLst>
      <p:ext uri="{BB962C8B-B14F-4D97-AF65-F5344CB8AC3E}">
        <p14:creationId xmlns:p14="http://schemas.microsoft.com/office/powerpoint/2010/main" val="1560809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latin typeface="+mn-lt"/>
              </a:rPr>
              <a:t>Forestry vs. Fishery</a:t>
            </a:r>
          </a:p>
        </p:txBody>
      </p:sp>
      <p:sp>
        <p:nvSpPr>
          <p:cNvPr id="3" name="Content Placeholder 2"/>
          <p:cNvSpPr>
            <a:spLocks noGrp="1"/>
          </p:cNvSpPr>
          <p:nvPr>
            <p:ph idx="1"/>
          </p:nvPr>
        </p:nvSpPr>
        <p:spPr>
          <a:xfrm>
            <a:off x="838200" y="1558344"/>
            <a:ext cx="10515600" cy="4958365"/>
          </a:xfrm>
        </p:spPr>
        <p:txBody>
          <a:bodyPr>
            <a:normAutofit/>
          </a:bodyPr>
          <a:lstStyle/>
          <a:p>
            <a:r>
              <a:rPr lang="en-US" dirty="0"/>
              <a:t>The economics of forest resources are very similar to the dynamic management of a fishery:</a:t>
            </a:r>
          </a:p>
          <a:p>
            <a:endParaRPr lang="en-US" dirty="0"/>
          </a:p>
          <a:p>
            <a:r>
              <a:rPr lang="en-US" dirty="0"/>
              <a:t> Both </a:t>
            </a:r>
            <a:r>
              <a:rPr lang="en-US" dirty="0">
                <a:solidFill>
                  <a:srgbClr val="C00000"/>
                </a:solidFill>
              </a:rPr>
              <a:t>forests and fisheries are renewable resource systems</a:t>
            </a:r>
          </a:p>
          <a:p>
            <a:endParaRPr lang="en-US" dirty="0">
              <a:solidFill>
                <a:srgbClr val="C00000"/>
              </a:solidFill>
            </a:endParaRPr>
          </a:p>
          <a:p>
            <a:r>
              <a:rPr lang="en-US" dirty="0"/>
              <a:t>The economic principles that determine optimal management are very much the same</a:t>
            </a:r>
          </a:p>
          <a:p>
            <a:endParaRPr lang="en-US" dirty="0"/>
          </a:p>
          <a:p>
            <a:r>
              <a:rPr lang="en-US" dirty="0"/>
              <a:t>The major difference between the economics of a forest vs. A fishery resource are related to biological principles</a:t>
            </a:r>
          </a:p>
        </p:txBody>
      </p:sp>
    </p:spTree>
    <p:extLst>
      <p:ext uri="{BB962C8B-B14F-4D97-AF65-F5344CB8AC3E}">
        <p14:creationId xmlns:p14="http://schemas.microsoft.com/office/powerpoint/2010/main" val="876582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2885"/>
            <a:ext cx="10515600" cy="5314078"/>
          </a:xfrm>
        </p:spPr>
        <p:txBody>
          <a:bodyPr>
            <a:normAutofit/>
          </a:bodyPr>
          <a:lstStyle/>
          <a:p>
            <a:r>
              <a:rPr lang="en-US" dirty="0"/>
              <a:t>The </a:t>
            </a:r>
            <a:r>
              <a:rPr lang="en-US" b="1" dirty="0"/>
              <a:t>forest problem is a problem of divestment</a:t>
            </a:r>
            <a:r>
              <a:rPr lang="en-US" dirty="0"/>
              <a:t>, which means the solution calculates the optimal time to consolidate and sell the entire stock and begin the next rotation</a:t>
            </a:r>
          </a:p>
          <a:p>
            <a:endParaRPr lang="en-US" dirty="0"/>
          </a:p>
          <a:p>
            <a:r>
              <a:rPr lang="en-US" dirty="0"/>
              <a:t>The analogy of a forest rotation is that of a conventional crop which does not get harvested every season; </a:t>
            </a:r>
          </a:p>
          <a:p>
            <a:endParaRPr lang="en-US" dirty="0"/>
          </a:p>
          <a:p>
            <a:r>
              <a:rPr lang="en-US" dirty="0"/>
              <a:t>That is, the growth cycle of a forest resource is so long that resource owners get really impatient and discounting/ dynamic analysis is important.</a:t>
            </a:r>
          </a:p>
        </p:txBody>
      </p:sp>
    </p:spTree>
    <p:extLst>
      <p:ext uri="{BB962C8B-B14F-4D97-AF65-F5344CB8AC3E}">
        <p14:creationId xmlns:p14="http://schemas.microsoft.com/office/powerpoint/2010/main" val="3097638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latin typeface="+mn-lt"/>
              </a:rPr>
              <a:t>Characteristics of Forest</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GB" dirty="0">
                <a:latin typeface="Calibri" panose="020F0502020204030204" pitchFamily="34" charset="0"/>
                <a:cs typeface="Calibri" panose="020F0502020204030204" pitchFamily="34" charset="0"/>
              </a:rPr>
              <a:t>Extensive, visible and "open" resources</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Renewable resources</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Production capacity</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Multiple use</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Forests are both ecosystems and production systems</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Geographical and biological varieties</a:t>
            </a:r>
          </a:p>
          <a:p>
            <a:pPr>
              <a:buFont typeface="Wingdings" panose="05000000000000000000" pitchFamily="2" charset="2"/>
              <a:buChar char="§"/>
            </a:pPr>
            <a:r>
              <a:rPr lang="en-GB" dirty="0">
                <a:latin typeface="Calibri" panose="020F0502020204030204" pitchFamily="34" charset="0"/>
                <a:cs typeface="Calibri" panose="020F0502020204030204" pitchFamily="34" charset="0"/>
              </a:rPr>
              <a:t>Long rotation times</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1724510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92D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a:ln w="22225">
                  <a:solidFill>
                    <a:schemeClr val="accent2"/>
                  </a:solidFill>
                  <a:prstDash val="solid"/>
                </a:ln>
                <a:solidFill>
                  <a:schemeClr val="accent2">
                    <a:lumMod val="40000"/>
                    <a:lumOff val="60000"/>
                  </a:schemeClr>
                </a:solidFill>
                <a:latin typeface="+mn-lt"/>
              </a:rPr>
              <a:t>Forest management Economic principles</a:t>
            </a:r>
          </a:p>
        </p:txBody>
      </p:sp>
      <p:sp>
        <p:nvSpPr>
          <p:cNvPr id="3" name="Content Placeholder 2"/>
          <p:cNvSpPr>
            <a:spLocks noGrp="1"/>
          </p:cNvSpPr>
          <p:nvPr>
            <p:ph idx="1"/>
          </p:nvPr>
        </p:nvSpPr>
        <p:spPr>
          <a:xfrm>
            <a:off x="851079" y="1825625"/>
            <a:ext cx="10515600" cy="4351338"/>
          </a:xfrm>
        </p:spPr>
        <p:txBody>
          <a:bodyPr/>
          <a:lstStyle/>
          <a:p>
            <a:r>
              <a:rPr lang="en-US" dirty="0"/>
              <a:t>Forest cultivation is a long term production cyclic process</a:t>
            </a:r>
          </a:p>
          <a:p>
            <a:endParaRPr lang="en-US" dirty="0"/>
          </a:p>
          <a:p>
            <a:r>
              <a:rPr lang="en-US" dirty="0"/>
              <a:t>Time taken to complete one production cycle is determined by following factors</a:t>
            </a:r>
          </a:p>
          <a:p>
            <a:pPr lvl="2"/>
            <a:r>
              <a:rPr lang="en-US" sz="2800" dirty="0"/>
              <a:t>Timber species</a:t>
            </a:r>
          </a:p>
          <a:p>
            <a:pPr lvl="2"/>
            <a:r>
              <a:rPr lang="en-US" sz="2800" dirty="0"/>
              <a:t>Land and soil type</a:t>
            </a:r>
          </a:p>
          <a:p>
            <a:pPr lvl="2"/>
            <a:r>
              <a:rPr lang="en-US" sz="2800" dirty="0"/>
              <a:t>Geo- diversification</a:t>
            </a:r>
          </a:p>
          <a:p>
            <a:pPr lvl="2"/>
            <a:r>
              <a:rPr lang="en-US" sz="2800" dirty="0"/>
              <a:t>Level of Management </a:t>
            </a:r>
          </a:p>
          <a:p>
            <a:pPr lvl="2"/>
            <a:r>
              <a:rPr lang="en-US" sz="2800" dirty="0"/>
              <a:t>Plant density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333" y="5273467"/>
            <a:ext cx="1483667" cy="1584533"/>
          </a:xfrm>
          <a:prstGeom prst="rect">
            <a:avLst/>
          </a:prstGeom>
        </p:spPr>
      </p:pic>
    </p:spTree>
    <p:extLst>
      <p:ext uri="{BB962C8B-B14F-4D97-AF65-F5344CB8AC3E}">
        <p14:creationId xmlns:p14="http://schemas.microsoft.com/office/powerpoint/2010/main" val="202918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5459"/>
            <a:ext cx="10515600" cy="5481504"/>
          </a:xfrm>
        </p:spPr>
        <p:txBody>
          <a:bodyPr/>
          <a:lstStyle/>
          <a:p>
            <a:r>
              <a:rPr lang="en-US" dirty="0"/>
              <a:t>When managing a forest , 2 main problems arise…</a:t>
            </a:r>
          </a:p>
          <a:p>
            <a:endParaRPr lang="en-US" dirty="0"/>
          </a:p>
          <a:p>
            <a:pPr marL="1371600" lvl="2" indent="-457200">
              <a:buFont typeface="+mj-lt"/>
              <a:buAutoNum type="arabicPeriod"/>
            </a:pPr>
            <a:r>
              <a:rPr lang="en-US" sz="2800" dirty="0"/>
              <a:t>How to identify the level that  maximize economic rent</a:t>
            </a:r>
          </a:p>
          <a:p>
            <a:pPr marL="1371600" lvl="2" indent="-457200">
              <a:buFont typeface="+mj-lt"/>
              <a:buAutoNum type="arabicPeriod"/>
            </a:pPr>
            <a:r>
              <a:rPr lang="en-US" sz="2800" dirty="0"/>
              <a:t>How to identify the optimum age of harvesting</a:t>
            </a:r>
          </a:p>
          <a:p>
            <a:pPr marL="1371600" lvl="2" indent="-457200">
              <a:buFont typeface="+mj-lt"/>
              <a:buAutoNum type="arabicPeriod"/>
            </a:pPr>
            <a:endParaRPr lang="en-US" sz="2800" dirty="0"/>
          </a:p>
          <a:p>
            <a:r>
              <a:rPr lang="en-US" dirty="0"/>
              <a:t>Forest can be seen by dual aspects</a:t>
            </a:r>
          </a:p>
          <a:p>
            <a:pPr marL="0" indent="0">
              <a:buNone/>
            </a:pPr>
            <a:r>
              <a:rPr lang="en-US" dirty="0"/>
              <a:t>	1.Economic aspects</a:t>
            </a:r>
          </a:p>
          <a:p>
            <a:pPr marL="0" indent="0">
              <a:buNone/>
            </a:pPr>
            <a:r>
              <a:rPr lang="en-US" dirty="0"/>
              <a:t>	2.Biological aspects</a:t>
            </a:r>
          </a:p>
        </p:txBody>
      </p:sp>
    </p:spTree>
    <p:extLst>
      <p:ext uri="{BB962C8B-B14F-4D97-AF65-F5344CB8AC3E}">
        <p14:creationId xmlns:p14="http://schemas.microsoft.com/office/powerpoint/2010/main" val="3570629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0761" y="470206"/>
            <a:ext cx="9678256" cy="1446550"/>
          </a:xfrm>
          <a:prstGeom prst="rect">
            <a:avLst/>
          </a:prstGeom>
          <a:noFill/>
        </p:spPr>
        <p:txBody>
          <a:bodyPr wrap="square" rtlCol="0">
            <a:spAutoFit/>
          </a:bodyPr>
          <a:lstStyle/>
          <a:p>
            <a:r>
              <a:rPr lang="en-GB" sz="4800" b="1" dirty="0">
                <a:solidFill>
                  <a:srgbClr val="7030A0"/>
                </a:solidFill>
                <a:latin typeface="Calibri" panose="020F0502020204030204" pitchFamily="34" charset="0"/>
                <a:cs typeface="Calibri" panose="020F0502020204030204" pitchFamily="34" charset="0"/>
              </a:rPr>
              <a:t>Biological Aspects</a:t>
            </a:r>
          </a:p>
          <a:p>
            <a:r>
              <a:rPr lang="en-GB" sz="4000" b="1" dirty="0">
                <a:solidFill>
                  <a:schemeClr val="accent2">
                    <a:lumMod val="50000"/>
                  </a:schemeClr>
                </a:solidFill>
                <a:latin typeface="Calibri" panose="020F0502020204030204" pitchFamily="34" charset="0"/>
                <a:cs typeface="Calibri" panose="020F0502020204030204" pitchFamily="34" charset="0"/>
              </a:rPr>
              <a:t>Growth pattern for a single tree</a:t>
            </a:r>
          </a:p>
        </p:txBody>
      </p:sp>
      <p:pic>
        <p:nvPicPr>
          <p:cNvPr id="32770" name="Picture 2"/>
          <p:cNvPicPr>
            <a:picLocks noChangeAspect="1" noChangeArrowheads="1"/>
          </p:cNvPicPr>
          <p:nvPr/>
        </p:nvPicPr>
        <p:blipFill>
          <a:blip r:embed="rId2" cstate="print"/>
          <a:srcRect/>
          <a:stretch>
            <a:fillRect/>
          </a:stretch>
        </p:blipFill>
        <p:spPr bwMode="auto">
          <a:xfrm>
            <a:off x="1582413" y="1944709"/>
            <a:ext cx="6336703" cy="4340858"/>
          </a:xfrm>
          <a:prstGeom prst="rect">
            <a:avLst/>
          </a:prstGeom>
          <a:noFill/>
          <a:ln w="9525">
            <a:noFill/>
            <a:miter lim="800000"/>
            <a:headEnd/>
            <a:tailEnd/>
          </a:ln>
        </p:spPr>
      </p:pic>
      <p:sp>
        <p:nvSpPr>
          <p:cNvPr id="3" name="TextBox 2"/>
          <p:cNvSpPr txBox="1"/>
          <p:nvPr/>
        </p:nvSpPr>
        <p:spPr>
          <a:xfrm>
            <a:off x="5180417" y="2383455"/>
            <a:ext cx="2096145" cy="461665"/>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Maturity stage</a:t>
            </a:r>
          </a:p>
        </p:txBody>
      </p:sp>
      <p:cxnSp>
        <p:nvCxnSpPr>
          <p:cNvPr id="5" name="Straight Arrow Connector 4"/>
          <p:cNvCxnSpPr/>
          <p:nvPr/>
        </p:nvCxnSpPr>
        <p:spPr>
          <a:xfrm flipH="1">
            <a:off x="4929280" y="2783565"/>
            <a:ext cx="502276" cy="454917"/>
          </a:xfrm>
          <a:prstGeom prst="straightConnector1">
            <a:avLst/>
          </a:prstGeom>
          <a:ln>
            <a:solidFill>
              <a:schemeClr val="accent6">
                <a:lumMod val="50000"/>
              </a:schemeClr>
            </a:solidFill>
            <a:tailEnd type="triangle"/>
          </a:ln>
        </p:spPr>
        <p:style>
          <a:lnRef idx="3">
            <a:schemeClr val="accent5"/>
          </a:lnRef>
          <a:fillRef idx="0">
            <a:schemeClr val="accent5"/>
          </a:fillRef>
          <a:effectRef idx="2">
            <a:schemeClr val="accent5"/>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3848" y="0"/>
            <a:ext cx="2933246" cy="2602406"/>
          </a:xfrm>
          <a:prstGeom prst="rect">
            <a:avLst/>
          </a:prstGeom>
        </p:spPr>
      </p:pic>
    </p:spTree>
    <p:extLst>
      <p:ext uri="{BB962C8B-B14F-4D97-AF65-F5344CB8AC3E}">
        <p14:creationId xmlns:p14="http://schemas.microsoft.com/office/powerpoint/2010/main" val="53055002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611" y="1223493"/>
            <a:ext cx="7572778" cy="543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171977" y="270457"/>
            <a:ext cx="7984902" cy="769441"/>
          </a:xfrm>
          <a:prstGeom prst="rect">
            <a:avLst/>
          </a:prstGeom>
          <a:noFill/>
        </p:spPr>
        <p:txBody>
          <a:bodyPr wrap="square" rtlCol="0">
            <a:spAutoFit/>
          </a:bodyPr>
          <a:lstStyle/>
          <a:p>
            <a:r>
              <a:rPr lang="en-US" sz="4400" dirty="0">
                <a:solidFill>
                  <a:schemeClr val="accent6">
                    <a:lumMod val="50000"/>
                  </a:schemeClr>
                </a:solidFill>
                <a:latin typeface="Calibri" panose="020F0502020204030204" pitchFamily="34" charset="0"/>
                <a:cs typeface="Calibri" panose="020F0502020204030204" pitchFamily="34" charset="0"/>
              </a:rPr>
              <a:t>Growth Pattern Of Timber Volume</a:t>
            </a:r>
          </a:p>
        </p:txBody>
      </p:sp>
    </p:spTree>
    <p:extLst>
      <p:ext uri="{BB962C8B-B14F-4D97-AF65-F5344CB8AC3E}">
        <p14:creationId xmlns:p14="http://schemas.microsoft.com/office/powerpoint/2010/main" val="2622303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21217"/>
            <a:ext cx="8596668" cy="4211391"/>
          </a:xfrm>
        </p:spPr>
        <p:txBody>
          <a:bodyPr>
            <a:normAutofit/>
          </a:bodyPr>
          <a:lstStyle/>
          <a:p>
            <a:r>
              <a:rPr lang="en-US" sz="2400" dirty="0">
                <a:solidFill>
                  <a:schemeClr val="tx1"/>
                </a:solidFill>
                <a:latin typeface="Calibri" panose="020F0502020204030204" pitchFamily="34" charset="0"/>
                <a:cs typeface="Calibri" panose="020F0502020204030204" pitchFamily="34" charset="0"/>
              </a:rPr>
              <a:t>Forest volume is an increasing function of time before the point of biological maturity</a:t>
            </a:r>
          </a:p>
          <a:p>
            <a:endParaRPr lang="en-US" sz="2400" dirty="0">
              <a:solidFill>
                <a:schemeClr val="tx1"/>
              </a:solidFill>
              <a:latin typeface="Calibri" panose="020F0502020204030204" pitchFamily="34" charset="0"/>
              <a:cs typeface="Calibri" panose="020F0502020204030204" pitchFamily="34" charset="0"/>
            </a:endParaRPr>
          </a:p>
          <a:p>
            <a:r>
              <a:rPr lang="en-US" sz="2400" dirty="0">
                <a:solidFill>
                  <a:schemeClr val="tx1"/>
                </a:solidFill>
                <a:latin typeface="Calibri" panose="020F0502020204030204" pitchFamily="34" charset="0"/>
                <a:cs typeface="Calibri" panose="020F0502020204030204" pitchFamily="34" charset="0"/>
              </a:rPr>
              <a:t>After that volume declines</a:t>
            </a:r>
          </a:p>
          <a:p>
            <a:endParaRPr lang="en-US" sz="2400" dirty="0">
              <a:solidFill>
                <a:schemeClr val="tx1"/>
              </a:solidFill>
              <a:latin typeface="Calibri" panose="020F0502020204030204" pitchFamily="34" charset="0"/>
              <a:cs typeface="Calibri" panose="020F0502020204030204" pitchFamily="34" charset="0"/>
            </a:endParaRPr>
          </a:p>
          <a:p>
            <a:r>
              <a:rPr lang="en-US" sz="2400" dirty="0">
                <a:solidFill>
                  <a:schemeClr val="tx1"/>
                </a:solidFill>
                <a:latin typeface="Calibri" panose="020F0502020204030204" pitchFamily="34" charset="0"/>
                <a:cs typeface="Calibri" panose="020F0502020204030204" pitchFamily="34" charset="0"/>
              </a:rPr>
              <a:t>During the period of over maturity of stand which is characterized by volume reductions</a:t>
            </a:r>
          </a:p>
          <a:p>
            <a:endParaRPr lang="en-US" sz="2400" dirty="0">
              <a:solidFill>
                <a:schemeClr val="tx1"/>
              </a:solidFill>
              <a:latin typeface="Calibri" panose="020F0502020204030204" pitchFamily="34" charset="0"/>
              <a:cs typeface="Calibri" panose="020F0502020204030204" pitchFamily="34" charset="0"/>
            </a:endParaRPr>
          </a:p>
          <a:p>
            <a:r>
              <a:rPr lang="en-US" sz="2400" b="1" dirty="0">
                <a:solidFill>
                  <a:srgbClr val="002060"/>
                </a:solidFill>
                <a:latin typeface="Calibri" panose="020F0502020204030204" pitchFamily="34" charset="0"/>
                <a:cs typeface="Calibri" panose="020F0502020204030204" pitchFamily="34" charset="0"/>
              </a:rPr>
              <a:t>Volume of Wood=f(time)</a:t>
            </a:r>
          </a:p>
        </p:txBody>
      </p:sp>
    </p:spTree>
    <p:extLst>
      <p:ext uri="{BB962C8B-B14F-4D97-AF65-F5344CB8AC3E}">
        <p14:creationId xmlns:p14="http://schemas.microsoft.com/office/powerpoint/2010/main" val="170138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20000"/>
              <a:lumOff val="80000"/>
            </a:schemeClr>
          </a:solidFill>
        </p:spPr>
        <p:txBody>
          <a:bodyPr>
            <a:normAutofit/>
          </a:bodyPr>
          <a:lstStyle/>
          <a:p>
            <a:r>
              <a:rPr lang="en-US" sz="4400" b="1" dirty="0">
                <a:solidFill>
                  <a:srgbClr val="7030A0"/>
                </a:solidFill>
                <a:latin typeface="Calibri" panose="020F0502020204030204" pitchFamily="34" charset="0"/>
                <a:cs typeface="Calibri" panose="020F0502020204030204" pitchFamily="34" charset="0"/>
              </a:rPr>
              <a:t>Properties of Growth Function</a:t>
            </a:r>
          </a:p>
        </p:txBody>
      </p:sp>
      <p:sp>
        <p:nvSpPr>
          <p:cNvPr id="3" name="Content Placeholder 2"/>
          <p:cNvSpPr>
            <a:spLocks noGrp="1"/>
          </p:cNvSpPr>
          <p:nvPr>
            <p:ph idx="1"/>
          </p:nvPr>
        </p:nvSpPr>
        <p:spPr/>
        <p:txBody>
          <a:bodyPr>
            <a:normAutofit/>
          </a:bodyPr>
          <a:lstStyle/>
          <a:p>
            <a:pPr>
              <a:buFont typeface="+mj-lt"/>
              <a:buAutoNum type="arabicPeriod"/>
            </a:pPr>
            <a:r>
              <a:rPr lang="en-US" sz="2400" b="1" dirty="0">
                <a:solidFill>
                  <a:schemeClr val="tx1"/>
                </a:solidFill>
                <a:latin typeface="Calibri" panose="020F0502020204030204" pitchFamily="34" charset="0"/>
                <a:cs typeface="Calibri" panose="020F0502020204030204" pitchFamily="34" charset="0"/>
              </a:rPr>
              <a:t>Current Annual Increment(CAI)</a:t>
            </a:r>
          </a:p>
          <a:p>
            <a:pPr>
              <a:buFont typeface="+mj-lt"/>
              <a:buAutoNum type="arabicPeriod"/>
            </a:pPr>
            <a:endParaRPr lang="en-US" sz="2400" b="1" dirty="0">
              <a:solidFill>
                <a:schemeClr val="tx1"/>
              </a:solidFill>
              <a:latin typeface="Calibri" panose="020F0502020204030204" pitchFamily="34" charset="0"/>
              <a:cs typeface="Calibri" panose="020F0502020204030204" pitchFamily="34" charset="0"/>
            </a:endParaRPr>
          </a:p>
          <a:p>
            <a:pPr>
              <a:buFont typeface="+mj-lt"/>
              <a:buAutoNum type="arabicPeriod"/>
            </a:pPr>
            <a:r>
              <a:rPr lang="en-US" sz="2400" b="1" dirty="0">
                <a:solidFill>
                  <a:schemeClr val="tx1"/>
                </a:solidFill>
                <a:latin typeface="Calibri" panose="020F0502020204030204" pitchFamily="34" charset="0"/>
                <a:cs typeface="Calibri" panose="020F0502020204030204" pitchFamily="34" charset="0"/>
              </a:rPr>
              <a:t>Mean Annual Increment(MAI)</a:t>
            </a:r>
          </a:p>
          <a:p>
            <a:pPr>
              <a:buFont typeface="+mj-lt"/>
              <a:buAutoNum type="arabicPeriod"/>
            </a:pPr>
            <a:endParaRPr lang="en-US" sz="2400" b="1" dirty="0">
              <a:solidFill>
                <a:schemeClr val="tx1"/>
              </a:solidFill>
              <a:latin typeface="Calibri" panose="020F0502020204030204" pitchFamily="34" charset="0"/>
              <a:cs typeface="Calibri" panose="020F0502020204030204" pitchFamily="34" charset="0"/>
            </a:endParaRPr>
          </a:p>
          <a:p>
            <a:pPr marL="0" indent="0">
              <a:buNone/>
            </a:pPr>
            <a:endParaRPr lang="en-US" sz="2400" b="1" dirty="0">
              <a:solidFill>
                <a:schemeClr val="tx1"/>
              </a:solidFill>
              <a:latin typeface="Calibri" panose="020F0502020204030204" pitchFamily="34" charset="0"/>
              <a:cs typeface="Calibri" panose="020F0502020204030204" pitchFamily="34" charset="0"/>
            </a:endParaRPr>
          </a:p>
          <a:p>
            <a:pPr>
              <a:buFont typeface="+mj-lt"/>
              <a:buAutoNum type="arabicPeriod"/>
            </a:pPr>
            <a:endParaRPr lang="en-US" sz="24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6695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403"/>
            <a:ext cx="10515600" cy="1325563"/>
          </a:xfrm>
        </p:spPr>
        <p:txBody>
          <a:bodyPr/>
          <a:lstStyle/>
          <a:p>
            <a:r>
              <a:rPr lang="en-US" b="1" dirty="0">
                <a:solidFill>
                  <a:srgbClr val="7030A0"/>
                </a:solidFill>
                <a:latin typeface="+mn-lt"/>
              </a:rPr>
              <a:t>Current Annual Increment (CAI)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80160"/>
                <a:ext cx="10515600" cy="5577840"/>
              </a:xfrm>
            </p:spPr>
            <p:txBody>
              <a:bodyPr>
                <a:normAutofit fontScale="77500" lnSpcReduction="20000"/>
              </a:bodyPr>
              <a:lstStyle/>
              <a:p>
                <a:r>
                  <a:rPr lang="en-US" dirty="0" smtClean="0">
                    <a:solidFill>
                      <a:schemeClr val="tx1"/>
                    </a:solidFill>
                  </a:rPr>
                  <a:t>CAI = Current Annual Increment</a:t>
                </a:r>
                <a:endParaRPr lang="en-US" dirty="0">
                  <a:solidFill>
                    <a:schemeClr val="tx1"/>
                  </a:solidFill>
                </a:endParaRPr>
              </a:p>
              <a:p>
                <a:r>
                  <a:rPr lang="en-US" dirty="0">
                    <a:solidFill>
                      <a:schemeClr val="tx1"/>
                    </a:solidFill>
                  </a:rPr>
                  <a:t>It’s like a marginal product </a:t>
                </a:r>
                <a:r>
                  <a:rPr lang="en-US" dirty="0" smtClean="0">
                    <a:solidFill>
                      <a:schemeClr val="tx1"/>
                    </a:solidFill>
                  </a:rPr>
                  <a:t>curve</a:t>
                </a:r>
                <a:endParaRPr lang="en-US" dirty="0">
                  <a:solidFill>
                    <a:schemeClr val="tx1"/>
                  </a:solidFill>
                </a:endParaRPr>
              </a:p>
              <a:p>
                <a:r>
                  <a:rPr lang="en-US" dirty="0">
                    <a:solidFill>
                      <a:schemeClr val="tx1"/>
                    </a:solidFill>
                  </a:rPr>
                  <a:t> Shows Incremental periodic change in volume year by </a:t>
                </a:r>
                <a:r>
                  <a:rPr lang="en-US" dirty="0" smtClean="0">
                    <a:solidFill>
                      <a:schemeClr val="tx1"/>
                    </a:solidFill>
                  </a:rPr>
                  <a:t>year</a:t>
                </a:r>
                <a:endParaRPr lang="en-US" dirty="0">
                  <a:solidFill>
                    <a:schemeClr val="tx1"/>
                  </a:solidFill>
                </a:endParaRPr>
              </a:p>
              <a:p>
                <a:r>
                  <a:rPr lang="en-US" dirty="0">
                    <a:solidFill>
                      <a:schemeClr val="tx1"/>
                    </a:solidFill>
                    <a:cs typeface="Calibri" panose="020F0502020204030204" pitchFamily="34" charset="0"/>
                  </a:rPr>
                  <a:t>CAI = f’(t</a:t>
                </a:r>
                <a:r>
                  <a:rPr lang="en-US" dirty="0" smtClean="0">
                    <a:solidFill>
                      <a:schemeClr val="tx1"/>
                    </a:solidFill>
                    <a:cs typeface="Calibri" panose="020F0502020204030204" pitchFamily="34" charset="0"/>
                  </a:rPr>
                  <a:t>)</a:t>
                </a:r>
              </a:p>
              <a:p>
                <a:r>
                  <a:rPr lang="en-US" b="1" dirty="0" smtClean="0">
                    <a:solidFill>
                      <a:schemeClr val="tx1"/>
                    </a:solidFill>
                    <a:cs typeface="Calibri" panose="020F0502020204030204" pitchFamily="34" charset="0"/>
                  </a:rPr>
                  <a:t>EXAMPLE </a:t>
                </a:r>
                <a:endParaRPr lang="en-US" b="1" dirty="0">
                  <a:solidFill>
                    <a:schemeClr val="tx1"/>
                  </a:solidFill>
                  <a:cs typeface="Calibri" panose="020F0502020204030204" pitchFamily="34" charset="0"/>
                </a:endParaRPr>
              </a:p>
              <a:p>
                <a:r>
                  <a:rPr lang="en-US" dirty="0" smtClean="0">
                    <a:solidFill>
                      <a:schemeClr val="tx1"/>
                    </a:solidFill>
                  </a:rPr>
                  <a:t>CAI = Total standing timber at the end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2</m:t>
                        </m:r>
                      </m:sub>
                    </m:sSub>
                  </m:oMath>
                </a14:m>
                <a:r>
                  <a:rPr lang="en-US" dirty="0" smtClean="0">
                    <a:solidFill>
                      <a:schemeClr val="tx1"/>
                    </a:solidFill>
                  </a:rPr>
                  <a:t>) – Total standing timber at beginning </a:t>
                </a:r>
                <a:r>
                  <a:rPr lang="en-US" dirty="0">
                    <a:solidFill>
                      <a:schemeClr val="tx1"/>
                    </a:solidFill>
                  </a:rPr>
                  <a:t>(</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1</m:t>
                        </m:r>
                      </m:sub>
                    </m:sSub>
                  </m:oMath>
                </a14:m>
                <a:r>
                  <a:rPr lang="en-US" dirty="0">
                    <a:solidFill>
                      <a:schemeClr val="tx1"/>
                    </a:solidFill>
                  </a:rPr>
                  <a:t>)</a:t>
                </a:r>
              </a:p>
              <a:p>
                <a:r>
                  <a:rPr lang="en-US" dirty="0" smtClean="0">
                    <a:solidFill>
                      <a:schemeClr val="tx1"/>
                    </a:solidFill>
                  </a:rPr>
                  <a:t>Percentage formula: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𝐶𝐴𝐼</m:t>
                        </m:r>
                      </m:e>
                      <m:sub>
                        <m:r>
                          <a:rPr lang="en-US" b="0" i="1" smtClean="0">
                            <a:solidFill>
                              <a:schemeClr val="tx1"/>
                            </a:solidFill>
                            <a:latin typeface="Cambria Math" panose="02040503050406030204" pitchFamily="18" charset="0"/>
                          </a:rPr>
                          <m:t>𝑠𝑡</m:t>
                        </m:r>
                      </m:sub>
                    </m:sSub>
                  </m:oMath>
                </a14:m>
                <a:r>
                  <a:rPr lang="en-US" dirty="0" smtClean="0">
                    <a:solidFill>
                      <a:schemeClr val="tx1"/>
                    </a:solidFill>
                  </a:rPr>
                  <a:t> =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𝑃</m:t>
                        </m:r>
                        <m:r>
                          <a:rPr lang="en-US" i="1">
                            <a:solidFill>
                              <a:schemeClr val="tx1"/>
                            </a:solidFill>
                            <a:latin typeface="Cambria Math" panose="02040503050406030204" pitchFamily="18" charset="0"/>
                          </a:rPr>
                          <m:t>𝐶𝐴𝐼</m:t>
                        </m:r>
                      </m:e>
                      <m:sub>
                        <m:r>
                          <a:rPr lang="en-US" i="1">
                            <a:solidFill>
                              <a:schemeClr val="tx1"/>
                            </a:solidFill>
                            <a:latin typeface="Cambria Math" panose="02040503050406030204" pitchFamily="18" charset="0"/>
                          </a:rPr>
                          <m:t>𝑠𝑡</m:t>
                        </m:r>
                      </m:sub>
                    </m:sSub>
                  </m:oMath>
                </a14:m>
                <a:r>
                  <a:rPr lang="en-US" dirty="0" smtClean="0">
                    <a:solidFill>
                      <a:schemeClr val="tx1"/>
                    </a:solidFill>
                  </a:rPr>
                  <a:t> </a:t>
                </a:r>
                <a14:m>
                  <m:oMath xmlns:m="http://schemas.openxmlformats.org/officeDocument/2006/math">
                    <m:r>
                      <a:rPr lang="en-US" i="1" dirty="0" smtClean="0">
                        <a:solidFill>
                          <a:schemeClr val="tx1"/>
                        </a:solidFill>
                        <a:latin typeface="Cambria Math" panose="02040503050406030204" pitchFamily="18" charset="0"/>
                        <a:ea typeface="Cambria Math" panose="02040503050406030204" pitchFamily="18" charset="0"/>
                      </a:rPr>
                      <m:t>×</m:t>
                    </m:r>
                  </m:oMath>
                </a14:m>
                <a:r>
                  <a:rPr lang="en-US" dirty="0" smtClean="0">
                    <a:solidFill>
                      <a:schemeClr val="tx1"/>
                    </a:solidFill>
                  </a:rPr>
                  <a:t> </a:t>
                </a:r>
                <a14:m>
                  <m:oMath xmlns:m="http://schemas.openxmlformats.org/officeDocument/2006/math">
                    <m:f>
                      <m:fPr>
                        <m:ctrlPr>
                          <a:rPr lang="en-US" i="1" dirty="0" smtClean="0">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𝑠𝑡</m:t>
                            </m:r>
                          </m:sub>
                        </m:sSub>
                      </m:num>
                      <m:den>
                        <m:r>
                          <a:rPr lang="en-US" b="0" i="1" dirty="0" smtClean="0">
                            <a:solidFill>
                              <a:schemeClr val="tx1"/>
                            </a:solidFill>
                            <a:latin typeface="Cambria Math" panose="02040503050406030204" pitchFamily="18" charset="0"/>
                          </a:rPr>
                          <m:t>100</m:t>
                        </m:r>
                      </m:den>
                    </m:f>
                  </m:oMath>
                </a14:m>
                <a:endParaRPr lang="en-US" dirty="0" smtClean="0">
                  <a:solidFill>
                    <a:schemeClr val="tx1"/>
                  </a:solidFill>
                </a:endParaRPr>
              </a:p>
              <a:p>
                <a:r>
                  <a:rPr lang="en-US" dirty="0" smtClean="0">
                    <a:solidFill>
                      <a:schemeClr val="tx1"/>
                    </a:solidFill>
                  </a:rPr>
                  <a:t>Where;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𝐶𝐴𝐼</m:t>
                        </m:r>
                      </m:e>
                      <m:sub>
                        <m:r>
                          <a:rPr lang="en-US" i="1">
                            <a:solidFill>
                              <a:schemeClr val="tx1"/>
                            </a:solidFill>
                            <a:latin typeface="Cambria Math" panose="02040503050406030204" pitchFamily="18" charset="0"/>
                          </a:rPr>
                          <m:t>𝑠𝑡</m:t>
                        </m:r>
                      </m:sub>
                    </m:sSub>
                  </m:oMath>
                </a14:m>
                <a:r>
                  <a:rPr lang="en-US" dirty="0" smtClean="0">
                    <a:solidFill>
                      <a:schemeClr val="tx1"/>
                    </a:solidFill>
                  </a:rPr>
                  <a:t> is Current Annual Increment of the stand </a:t>
                </a:r>
              </a:p>
              <a:p>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𝑃𝐶𝐴𝐼</m:t>
                        </m:r>
                      </m:e>
                      <m:sub>
                        <m:r>
                          <a:rPr lang="en-US" i="1">
                            <a:solidFill>
                              <a:schemeClr val="tx1"/>
                            </a:solidFill>
                            <a:latin typeface="Cambria Math" panose="02040503050406030204" pitchFamily="18" charset="0"/>
                          </a:rPr>
                          <m:t>𝑠𝑡</m:t>
                        </m:r>
                      </m:sub>
                    </m:sSub>
                  </m:oMath>
                </a14:m>
                <a:r>
                  <a:rPr lang="en-US" dirty="0" smtClean="0">
                    <a:solidFill>
                      <a:schemeClr val="tx1"/>
                    </a:solidFill>
                  </a:rPr>
                  <a:t> is percentage of CAI of the stand</a:t>
                </a:r>
              </a:p>
              <a:p>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𝑠𝑡</m:t>
                        </m:r>
                      </m:sub>
                    </m:sSub>
                  </m:oMath>
                </a14:m>
                <a:r>
                  <a:rPr lang="en-US" dirty="0" smtClean="0">
                    <a:solidFill>
                      <a:schemeClr val="tx1"/>
                    </a:solidFill>
                  </a:rPr>
                  <a:t> is Standing volume</a:t>
                </a:r>
              </a:p>
              <a:p>
                <a:r>
                  <a:rPr lang="en-US" dirty="0" smtClean="0">
                    <a:solidFill>
                      <a:schemeClr val="tx1"/>
                    </a:solidFill>
                  </a:rPr>
                  <a:t>CAI represents increase in volume, diameter, basal area or height.</a:t>
                </a:r>
              </a:p>
              <a:p>
                <a:r>
                  <a:rPr lang="en-US" dirty="0" smtClean="0">
                    <a:solidFill>
                      <a:schemeClr val="tx1"/>
                    </a:solidFill>
                  </a:rPr>
                  <a:t>The initial volume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2024</m:t>
                        </m:r>
                      </m:sub>
                    </m:sSub>
                  </m:oMath>
                </a14:m>
                <a:r>
                  <a:rPr lang="en-US" dirty="0" smtClean="0">
                    <a:solidFill>
                      <a:schemeClr val="tx1"/>
                    </a:solidFill>
                  </a:rPr>
                  <a:t> =</a:t>
                </a:r>
                <a:r>
                  <a:rPr lang="en-US" dirty="0">
                    <a:solidFill>
                      <a:schemeClr val="tx1"/>
                    </a:solidFill>
                  </a:rPr>
                  <a:t> 150</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𝑚</m:t>
                        </m:r>
                      </m:e>
                      <m:sup>
                        <m:r>
                          <a:rPr lang="en-US" i="1">
                            <a:solidFill>
                              <a:schemeClr val="tx1"/>
                            </a:solidFill>
                            <a:latin typeface="Cambria Math" panose="02040503050406030204" pitchFamily="18" charset="0"/>
                          </a:rPr>
                          <m:t>3</m:t>
                        </m:r>
                      </m:sup>
                    </m:sSup>
                  </m:oMath>
                </a14:m>
                <a:r>
                  <a:rPr lang="en-GB" dirty="0">
                    <a:solidFill>
                      <a:schemeClr val="tx1"/>
                    </a:solidFill>
                  </a:rPr>
                  <a:t>/</a:t>
                </a:r>
                <a:r>
                  <a:rPr lang="en-GB" dirty="0" smtClean="0">
                    <a:solidFill>
                      <a:schemeClr val="tx1"/>
                    </a:solidFill>
                  </a:rPr>
                  <a:t>ha</a:t>
                </a:r>
                <a:r>
                  <a:rPr lang="en-GB" dirty="0">
                    <a:solidFill>
                      <a:schemeClr val="tx1"/>
                    </a:solidFill>
                  </a:rPr>
                  <a:t> </a:t>
                </a:r>
                <a:r>
                  <a:rPr lang="en-GB" dirty="0" smtClean="0">
                    <a:solidFill>
                      <a:schemeClr val="tx1"/>
                    </a:solidFill>
                  </a:rPr>
                  <a:t>(at end of 2024) and final volume </a:t>
                </a:r>
              </a:p>
              <a:p>
                <a:r>
                  <a:rPr lang="en-US" dirty="0" smtClean="0">
                    <a:solidFill>
                      <a:schemeClr val="tx1"/>
                    </a:solidFill>
                  </a:rPr>
                  <a:t>165</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𝑚</m:t>
                        </m:r>
                      </m:e>
                      <m:sup>
                        <m:r>
                          <a:rPr lang="en-US" i="1">
                            <a:solidFill>
                              <a:schemeClr val="tx1"/>
                            </a:solidFill>
                            <a:latin typeface="Cambria Math" panose="02040503050406030204" pitchFamily="18" charset="0"/>
                          </a:rPr>
                          <m:t>3</m:t>
                        </m:r>
                      </m:sup>
                    </m:sSup>
                  </m:oMath>
                </a14:m>
                <a:r>
                  <a:rPr lang="en-GB" dirty="0">
                    <a:solidFill>
                      <a:schemeClr val="tx1"/>
                    </a:solidFill>
                  </a:rPr>
                  <a:t>/ha/</a:t>
                </a:r>
                <a:r>
                  <a:rPr lang="en-US" dirty="0">
                    <a:solidFill>
                      <a:schemeClr val="tx1"/>
                    </a:solidFill>
                  </a:rPr>
                  <a:t> </a:t>
                </a:r>
                <a:r>
                  <a:rPr lang="en-US" dirty="0" smtClean="0">
                    <a:solidFill>
                      <a:schemeClr val="tx1"/>
                    </a:solidFill>
                  </a:rPr>
                  <a:t>(at end of 2025). Difference is …</a:t>
                </a:r>
                <a:endParaRPr lang="en-US" dirty="0">
                  <a:solidFill>
                    <a:schemeClr val="tx1"/>
                  </a:solidFill>
                </a:endParaRPr>
              </a:p>
              <a:p>
                <a:r>
                  <a:rPr lang="en-US" dirty="0" smtClean="0">
                    <a:solidFill>
                      <a:schemeClr val="tx1"/>
                    </a:solidFill>
                  </a:rPr>
                  <a:t>CAI = 15</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𝑚</m:t>
                        </m:r>
                      </m:e>
                      <m:sup>
                        <m:r>
                          <a:rPr lang="en-US" i="1">
                            <a:solidFill>
                              <a:schemeClr val="tx1"/>
                            </a:solidFill>
                            <a:latin typeface="Cambria Math" panose="02040503050406030204" pitchFamily="18" charset="0"/>
                          </a:rPr>
                          <m:t>3</m:t>
                        </m:r>
                      </m:sup>
                    </m:sSup>
                  </m:oMath>
                </a14:m>
                <a:r>
                  <a:rPr lang="en-GB" dirty="0">
                    <a:solidFill>
                      <a:schemeClr val="tx1"/>
                    </a:solidFill>
                  </a:rPr>
                  <a:t>/ha</a:t>
                </a:r>
                <a:r>
                  <a:rPr lang="en-GB" dirty="0" smtClean="0">
                    <a:solidFill>
                      <a:schemeClr val="tx1"/>
                    </a:solidFill>
                  </a:rPr>
                  <a:t>/</a:t>
                </a:r>
                <a:r>
                  <a:rPr lang="en-US" dirty="0" smtClean="0">
                    <a:solidFill>
                      <a:schemeClr val="tx1"/>
                    </a:solidFill>
                  </a:rPr>
                  <a:t> </a:t>
                </a:r>
                <a:r>
                  <a:rPr lang="en-US" dirty="0">
                    <a:solidFill>
                      <a:schemeClr val="tx1"/>
                    </a:solidFill>
                  </a:rPr>
                  <a:t>year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80160"/>
                <a:ext cx="10515600" cy="5577840"/>
              </a:xfrm>
              <a:blipFill>
                <a:blip r:embed="rId2"/>
                <a:stretch>
                  <a:fillRect l="-696" t="-2295"/>
                </a:stretch>
              </a:blipFill>
            </p:spPr>
            <p:txBody>
              <a:bodyPr/>
              <a:lstStyle/>
              <a:p>
                <a:r>
                  <a:rPr lang="en-GB">
                    <a:noFill/>
                  </a:rPr>
                  <a:t> </a:t>
                </a:r>
              </a:p>
            </p:txBody>
          </p:sp>
        </mc:Fallback>
      </mc:AlternateContent>
    </p:spTree>
    <p:extLst>
      <p:ext uri="{BB962C8B-B14F-4D97-AF65-F5344CB8AC3E}">
        <p14:creationId xmlns:p14="http://schemas.microsoft.com/office/powerpoint/2010/main" val="2250277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latin typeface="+mn-lt"/>
              </a:rPr>
              <a:t>Mean Annual Increment (MAI)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smtClean="0"/>
                  <a:t>MAI = Mean Annual Increment</a:t>
                </a:r>
              </a:p>
              <a:p>
                <a:r>
                  <a:rPr lang="en-US" dirty="0">
                    <a:cs typeface="Calibri" panose="020F0502020204030204" pitchFamily="34" charset="0"/>
                  </a:rPr>
                  <a:t>The average annual increase in volume of individual trees or stands up to the specified point in time</a:t>
                </a:r>
                <a:endParaRPr lang="en-US" dirty="0"/>
              </a:p>
              <a:p>
                <a:r>
                  <a:rPr lang="en-US" dirty="0"/>
                  <a:t> Like an average product curve</a:t>
                </a:r>
              </a:p>
              <a:p>
                <a:r>
                  <a:rPr lang="en-US" dirty="0"/>
                  <a:t>Average growth up to age t</a:t>
                </a:r>
              </a:p>
              <a:p>
                <a:r>
                  <a:rPr lang="en-US" dirty="0">
                    <a:cs typeface="Calibri" panose="020F0502020204030204" pitchFamily="34" charset="0"/>
                  </a:rPr>
                  <a:t>MAI=f(t)/t or                                </a:t>
                </a:r>
                <a:r>
                  <a:rPr lang="en-US" dirty="0">
                    <a:solidFill>
                      <a:srgbClr val="FF0000"/>
                    </a:solidFill>
                    <a:cs typeface="Calibri" panose="020F0502020204030204" pitchFamily="34" charset="0"/>
                  </a:rPr>
                  <a:t>MAI = volume of wood</a:t>
                </a:r>
              </a:p>
              <a:p>
                <a:r>
                  <a:rPr lang="en-US" dirty="0"/>
                  <a:t>t = age of stand</a:t>
                </a:r>
                <a:r>
                  <a:rPr lang="en-US" dirty="0">
                    <a:solidFill>
                      <a:srgbClr val="FF0000"/>
                    </a:solidFill>
                  </a:rPr>
                  <a:t>			            </a:t>
                </a:r>
                <a:r>
                  <a:rPr lang="en-US" dirty="0" smtClean="0">
                    <a:solidFill>
                      <a:srgbClr val="FF0000"/>
                    </a:solidFill>
                  </a:rPr>
                  <a:t>age </a:t>
                </a:r>
                <a:r>
                  <a:rPr lang="en-US" dirty="0">
                    <a:solidFill>
                      <a:srgbClr val="FF0000"/>
                    </a:solidFill>
                  </a:rPr>
                  <a:t>of stand</a:t>
                </a:r>
              </a:p>
              <a:p>
                <a:r>
                  <a:rPr lang="en-US" dirty="0">
                    <a:cs typeface="Calibri" panose="020F0502020204030204" pitchFamily="34" charset="0"/>
                  </a:rPr>
                  <a:t>Volume of Wood=f(time)</a:t>
                </a:r>
              </a:p>
              <a:p>
                <a:r>
                  <a:rPr lang="en-US" dirty="0" smtClean="0"/>
                  <a:t>Units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r>
                  <a:rPr lang="en-US" dirty="0" smtClean="0"/>
                  <a:t>/ha/year or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𝑓𝑡</m:t>
                        </m:r>
                      </m:e>
                      <m:sup>
                        <m:r>
                          <a:rPr lang="en-US" b="0" i="1" smtClean="0">
                            <a:latin typeface="Cambria Math" panose="02040503050406030204" pitchFamily="18" charset="0"/>
                          </a:rPr>
                          <m:t>3</m:t>
                        </m:r>
                      </m:sup>
                    </m:sSup>
                  </m:oMath>
                </a14:m>
                <a:r>
                  <a:rPr lang="en-US" dirty="0" smtClean="0"/>
                  <a:t>/acre/year</a:t>
                </a:r>
              </a:p>
              <a:p>
                <a:r>
                  <a:rPr lang="en-US" dirty="0" smtClean="0"/>
                  <a:t>Usage: helps determine site productivity and optimal time to harvest </a:t>
                </a:r>
              </a:p>
              <a:p>
                <a:r>
                  <a:rPr lang="en-US" dirty="0" smtClean="0"/>
                  <a:t>When MAI = CAI.</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3501" b="-2661"/>
                </a:stretch>
              </a:blipFill>
            </p:spPr>
            <p:txBody>
              <a:bodyPr/>
              <a:lstStyle/>
              <a:p>
                <a:r>
                  <a:rPr lang="en-GB">
                    <a:noFill/>
                  </a:rPr>
                  <a:t> </a:t>
                </a:r>
              </a:p>
            </p:txBody>
          </p:sp>
        </mc:Fallback>
      </mc:AlternateContent>
      <p:sp>
        <p:nvSpPr>
          <p:cNvPr id="5" name="Minus 4"/>
          <p:cNvSpPr/>
          <p:nvPr/>
        </p:nvSpPr>
        <p:spPr>
          <a:xfrm>
            <a:off x="5801932" y="4001294"/>
            <a:ext cx="3000777" cy="4571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9313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EXAMPLE CALCULATION MAI</a:t>
            </a:r>
            <a:endParaRPr lang="en-GB"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If a 30 year old forest stand has a total volume of 150</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r>
                  <a:rPr lang="en-GB" dirty="0" smtClean="0"/>
                  <a:t>/ha, MAI is</a:t>
                </a:r>
              </a:p>
              <a:p>
                <a:r>
                  <a:rPr lang="en-US" dirty="0" smtClean="0"/>
                  <a:t>MAI = </a:t>
                </a:r>
                <a:r>
                  <a:rPr lang="en-US" dirty="0"/>
                  <a:t>150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a:t>/</a:t>
                </a:r>
                <a:r>
                  <a:rPr lang="en-GB" dirty="0" smtClean="0"/>
                  <a:t>ha/</a:t>
                </a:r>
                <a:r>
                  <a:rPr lang="en-US" dirty="0"/>
                  <a:t> 30 year </a:t>
                </a:r>
                <a:r>
                  <a:rPr lang="en-US" dirty="0" smtClean="0"/>
                  <a:t> = 5</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a:t>/</a:t>
                </a:r>
                <a:r>
                  <a:rPr lang="en-GB" dirty="0" smtClean="0"/>
                  <a:t>ha/</a:t>
                </a:r>
                <a:r>
                  <a:rPr lang="en-US" dirty="0" smtClean="0"/>
                  <a:t>year.</a:t>
                </a:r>
              </a:p>
              <a:p>
                <a:r>
                  <a:rPr lang="en-US" dirty="0" smtClean="0"/>
                  <a:t>NOTE: MAI is average over the total life while CAI is the growth during a single specific year.</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507"/>
                </a:stretch>
              </a:blipFill>
            </p:spPr>
            <p:txBody>
              <a:bodyPr/>
              <a:lstStyle/>
              <a:p>
                <a:r>
                  <a:rPr lang="en-GB">
                    <a:noFill/>
                  </a:rPr>
                  <a:t> </a:t>
                </a:r>
              </a:p>
            </p:txBody>
          </p:sp>
        </mc:Fallback>
      </mc:AlternateContent>
    </p:spTree>
    <p:extLst>
      <p:ext uri="{BB962C8B-B14F-4D97-AF65-F5344CB8AC3E}">
        <p14:creationId xmlns:p14="http://schemas.microsoft.com/office/powerpoint/2010/main" val="706721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9550" y="1506828"/>
            <a:ext cx="8680359" cy="5215943"/>
          </a:xfrm>
          <a:prstGeom prst="rect">
            <a:avLst/>
          </a:prstGeom>
        </p:spPr>
      </p:pic>
      <p:sp>
        <p:nvSpPr>
          <p:cNvPr id="3" name="TextBox 2"/>
          <p:cNvSpPr txBox="1"/>
          <p:nvPr/>
        </p:nvSpPr>
        <p:spPr>
          <a:xfrm>
            <a:off x="3078050" y="296215"/>
            <a:ext cx="3683357" cy="830997"/>
          </a:xfrm>
          <a:prstGeom prst="rect">
            <a:avLst/>
          </a:prstGeom>
          <a:noFill/>
        </p:spPr>
        <p:txBody>
          <a:bodyPr wrap="square" rtlCol="0">
            <a:spAutoFit/>
          </a:bodyPr>
          <a:lstStyle/>
          <a:p>
            <a:r>
              <a:rPr lang="en-US" sz="4800" b="1" dirty="0">
                <a:solidFill>
                  <a:schemeClr val="accent5">
                    <a:lumMod val="75000"/>
                  </a:schemeClr>
                </a:solidFill>
                <a:latin typeface="Calibri" panose="020F0502020204030204" pitchFamily="34" charset="0"/>
                <a:cs typeface="Calibri" panose="020F0502020204030204" pitchFamily="34" charset="0"/>
              </a:rPr>
              <a:t>MAI and CAI</a:t>
            </a:r>
          </a:p>
        </p:txBody>
      </p:sp>
    </p:spTree>
    <p:extLst>
      <p:ext uri="{BB962C8B-B14F-4D97-AF65-F5344CB8AC3E}">
        <p14:creationId xmlns:p14="http://schemas.microsoft.com/office/powerpoint/2010/main" val="1415390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prstClr val="black"/>
              <a:srgbClr val="D9C3A5">
                <a:tint val="50000"/>
                <a:satMod val="180000"/>
              </a:srgbClr>
            </a:duotone>
          </a:blip>
          <a:stretch>
            <a:fillRect/>
          </a:stretch>
        </p:blipFill>
        <p:spPr>
          <a:xfrm>
            <a:off x="1" y="0"/>
            <a:ext cx="12192000" cy="6858000"/>
          </a:xfrm>
          <a:prstGeom prst="rect">
            <a:avLst/>
          </a:prstGeom>
        </p:spPr>
      </p:pic>
    </p:spTree>
    <p:extLst>
      <p:ext uri="{BB962C8B-B14F-4D97-AF65-F5344CB8AC3E}">
        <p14:creationId xmlns:p14="http://schemas.microsoft.com/office/powerpoint/2010/main" val="798871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prstClr val="black"/>
              <a:schemeClr val="accent2">
                <a:tint val="45000"/>
                <a:satMod val="400000"/>
              </a:schemeClr>
            </a:duotone>
          </a:blip>
          <a:stretch>
            <a:fillRect/>
          </a:stretch>
        </p:blipFill>
        <p:spPr>
          <a:xfrm>
            <a:off x="1771146" y="1387743"/>
            <a:ext cx="8340616" cy="4858172"/>
          </a:xfrm>
          <a:prstGeom prst="rect">
            <a:avLst/>
          </a:prstGeom>
        </p:spPr>
      </p:pic>
    </p:spTree>
    <p:extLst>
      <p:ext uri="{BB962C8B-B14F-4D97-AF65-F5344CB8AC3E}">
        <p14:creationId xmlns:p14="http://schemas.microsoft.com/office/powerpoint/2010/main" val="387452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521"/>
            <a:ext cx="10515600" cy="5275442"/>
          </a:xfrm>
        </p:spPr>
        <p:txBody>
          <a:bodyPr/>
          <a:lstStyle/>
          <a:p>
            <a:r>
              <a:rPr lang="en-US" dirty="0"/>
              <a:t>So, In biological point of view what is the optimum harvesting stage of timber ?</a:t>
            </a:r>
          </a:p>
          <a:p>
            <a:endParaRPr lang="en-US" dirty="0"/>
          </a:p>
          <a:p>
            <a:pPr marL="0" indent="0">
              <a:buNone/>
            </a:pPr>
            <a:r>
              <a:rPr lang="en-US" dirty="0">
                <a:solidFill>
                  <a:srgbClr val="C00000"/>
                </a:solidFill>
              </a:rPr>
              <a:t>Harvest timber when forestry reach it’s maximum MAI</a:t>
            </a:r>
          </a:p>
        </p:txBody>
      </p:sp>
    </p:spTree>
    <p:extLst>
      <p:ext uri="{BB962C8B-B14F-4D97-AF65-F5344CB8AC3E}">
        <p14:creationId xmlns:p14="http://schemas.microsoft.com/office/powerpoint/2010/main" val="3223431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rgbClr val="7030A0"/>
                </a:solidFill>
                <a:latin typeface="+mn-lt"/>
              </a:rPr>
              <a:t>Economic Aspects</a:t>
            </a:r>
          </a:p>
        </p:txBody>
      </p:sp>
      <p:sp>
        <p:nvSpPr>
          <p:cNvPr id="3" name="Content Placeholder 2"/>
          <p:cNvSpPr>
            <a:spLocks noGrp="1"/>
          </p:cNvSpPr>
          <p:nvPr>
            <p:ph idx="1"/>
          </p:nvPr>
        </p:nvSpPr>
        <p:spPr/>
        <p:txBody>
          <a:bodyPr>
            <a:noAutofit/>
          </a:bodyPr>
          <a:lstStyle/>
          <a:p>
            <a:r>
              <a:rPr lang="en-US" dirty="0"/>
              <a:t>According to economic aspects, The purpose of Forestry is </a:t>
            </a:r>
            <a:r>
              <a:rPr lang="en-US" dirty="0">
                <a:solidFill>
                  <a:srgbClr val="C00000"/>
                </a:solidFill>
              </a:rPr>
              <a:t>maximize economic rent</a:t>
            </a:r>
          </a:p>
          <a:p>
            <a:r>
              <a:rPr lang="en-US" dirty="0"/>
              <a:t>Economic rent:</a:t>
            </a:r>
          </a:p>
          <a:p>
            <a:pPr marL="0" indent="0">
              <a:buNone/>
            </a:pPr>
            <a:r>
              <a:rPr lang="en-US" dirty="0" smtClean="0"/>
              <a:t>Is </a:t>
            </a:r>
            <a:r>
              <a:rPr lang="en-US" dirty="0"/>
              <a:t>any payment to a factor of production in excess of the cost needed to bring that factor into production</a:t>
            </a:r>
          </a:p>
          <a:p>
            <a:pPr marL="0" indent="0" algn="ctr">
              <a:buNone/>
            </a:pPr>
            <a:r>
              <a:rPr lang="en-US" sz="2400" b="1" dirty="0" err="1">
                <a:solidFill>
                  <a:srgbClr val="FF0000"/>
                </a:solidFill>
              </a:rPr>
              <a:t>R</a:t>
            </a:r>
            <a:r>
              <a:rPr lang="en-US" sz="2400" b="1" baseline="-25000" dirty="0" err="1">
                <a:solidFill>
                  <a:srgbClr val="FF0000"/>
                </a:solidFill>
              </a:rPr>
              <a:t>f</a:t>
            </a:r>
            <a:r>
              <a:rPr lang="en-US" sz="2400" b="1" dirty="0">
                <a:solidFill>
                  <a:srgbClr val="FF0000"/>
                </a:solidFill>
              </a:rPr>
              <a:t>= (P-C)</a:t>
            </a:r>
            <a:r>
              <a:rPr lang="en-US" sz="2400" b="1" dirty="0" err="1">
                <a:solidFill>
                  <a:srgbClr val="FF0000"/>
                </a:solidFill>
              </a:rPr>
              <a:t>V</a:t>
            </a:r>
            <a:r>
              <a:rPr lang="en-US" sz="2400" b="1" baseline="-25000" dirty="0" err="1">
                <a:solidFill>
                  <a:srgbClr val="FF0000"/>
                </a:solidFill>
              </a:rPr>
              <a:t>t</a:t>
            </a:r>
            <a:endParaRPr lang="en-US" sz="2400" b="1" baseline="-25000" dirty="0">
              <a:solidFill>
                <a:srgbClr val="FF0000"/>
              </a:solidFill>
            </a:endParaRPr>
          </a:p>
          <a:p>
            <a:pPr marL="0" indent="0" algn="just">
              <a:buNone/>
            </a:pPr>
            <a:r>
              <a:rPr lang="en-US" sz="2400" dirty="0" err="1"/>
              <a:t>R</a:t>
            </a:r>
            <a:r>
              <a:rPr lang="en-US" sz="2400" baseline="-25000" dirty="0" err="1"/>
              <a:t>f</a:t>
            </a:r>
            <a:r>
              <a:rPr lang="en-US" sz="2400" baseline="-25000" dirty="0"/>
              <a:t>  </a:t>
            </a:r>
            <a:r>
              <a:rPr lang="en-US" sz="2400" dirty="0"/>
              <a:t> :Economic rent</a:t>
            </a:r>
          </a:p>
          <a:p>
            <a:pPr marL="0" indent="0" algn="just">
              <a:buNone/>
            </a:pPr>
            <a:r>
              <a:rPr lang="en-US" sz="2400" dirty="0"/>
              <a:t>P : Price of unit timber</a:t>
            </a:r>
          </a:p>
          <a:p>
            <a:pPr marL="0" indent="0" algn="just">
              <a:buNone/>
            </a:pPr>
            <a:r>
              <a:rPr lang="en-US" sz="2400" dirty="0"/>
              <a:t>C :Cost of unit timber</a:t>
            </a:r>
          </a:p>
          <a:p>
            <a:pPr marL="0" indent="0" algn="just">
              <a:buNone/>
            </a:pPr>
            <a:r>
              <a:rPr lang="en-US" sz="2400" dirty="0" err="1"/>
              <a:t>V</a:t>
            </a:r>
            <a:r>
              <a:rPr lang="en-US" sz="2400" baseline="-25000" dirty="0" err="1"/>
              <a:t>t</a:t>
            </a:r>
            <a:r>
              <a:rPr lang="en-US" sz="2400" dirty="0"/>
              <a:t> :Volume of timber at t age</a:t>
            </a:r>
          </a:p>
          <a:p>
            <a:pPr marL="0" indent="0" algn="ctr">
              <a:buNone/>
            </a:pPr>
            <a:endParaRPr lang="en-US" sz="2400" baseline="-25000" dirty="0"/>
          </a:p>
          <a:p>
            <a:pPr marL="0" indent="0" algn="ctr">
              <a:buNone/>
            </a:pPr>
            <a:endParaRPr lang="en-US" sz="2400" baseline="-25000" dirty="0"/>
          </a:p>
        </p:txBody>
      </p:sp>
    </p:spTree>
    <p:extLst>
      <p:ext uri="{BB962C8B-B14F-4D97-AF65-F5344CB8AC3E}">
        <p14:creationId xmlns:p14="http://schemas.microsoft.com/office/powerpoint/2010/main" val="3094190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EXAMPLE OF ECONOMIC RENT IN FORESTRY</a:t>
            </a:r>
            <a:endParaRPr lang="en-GB"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smtClean="0"/>
                  <a:t>Imagine ZAFFICO has the following data</a:t>
                </a:r>
              </a:p>
              <a:p>
                <a:r>
                  <a:rPr lang="en-US" dirty="0" smtClean="0"/>
                  <a:t>Timber Market Price (log Price) K100/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smtClean="0"/>
                  <a:t>Harvesting Cost K30/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smtClean="0"/>
                  <a:t>Transport Cost to mill K20/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smtClean="0"/>
                  <a:t>Operating cost (total) K50/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smtClean="0"/>
                  <a:t> (</a:t>
                </a:r>
                <a:r>
                  <a:rPr lang="en-US" dirty="0" smtClean="0"/>
                  <a:t>K30 +K20) </a:t>
                </a:r>
              </a:p>
              <a:p>
                <a:r>
                  <a:rPr lang="en-US" dirty="0" smtClean="0"/>
                  <a:t>Capital Cost and normal profit K20/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smtClean="0"/>
                  <a:t>Solutions: Step1: Total Cost = Operating Cost + normal Profit = K50+K20=K70/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smtClean="0"/>
                  <a:t>Step2: Economic Rent = Timber Market Price – Total Cost = K100-K70 = K30</a:t>
                </a:r>
              </a:p>
              <a:p>
                <a:r>
                  <a:rPr lang="en-US" dirty="0" smtClean="0"/>
                  <a:t>The maximum economic rent is K30/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smtClean="0"/>
                  <a:t>. If </a:t>
                </a:r>
                <a:r>
                  <a:rPr lang="en-US" dirty="0" smtClean="0"/>
                  <a:t>government charges less than  this the company returns excess profit but if charges K30/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smtClean="0"/>
                  <a:t>gov. captures all economic rent.</a:t>
                </a:r>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2" t="-2661" r="-1217" b="-2801"/>
                </a:stretch>
              </a:blipFill>
            </p:spPr>
            <p:txBody>
              <a:bodyPr/>
              <a:lstStyle/>
              <a:p>
                <a:r>
                  <a:rPr lang="en-GB">
                    <a:noFill/>
                  </a:rPr>
                  <a:t> </a:t>
                </a:r>
              </a:p>
            </p:txBody>
          </p:sp>
        </mc:Fallback>
      </mc:AlternateContent>
    </p:spTree>
    <p:extLst>
      <p:ext uri="{BB962C8B-B14F-4D97-AF65-F5344CB8AC3E}">
        <p14:creationId xmlns:p14="http://schemas.microsoft.com/office/powerpoint/2010/main" val="4596981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EXAMPLE OF ECONOMIC RENT IN FORESTRY</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Suppose export price of logs is $100</a:t>
                </a:r>
              </a:p>
              <a:p>
                <a:r>
                  <a:rPr lang="en-US" dirty="0" smtClean="0"/>
                  <a:t>Costs (labour, consumables, Transport, Capital) -$60</a:t>
                </a:r>
              </a:p>
              <a:p>
                <a:r>
                  <a:rPr lang="en-US" dirty="0" smtClean="0"/>
                  <a:t>Calculate the Maximum Economic Rent</a:t>
                </a:r>
              </a:p>
              <a:p>
                <a:r>
                  <a:rPr lang="en-US" dirty="0" smtClean="0"/>
                  <a:t>Solution</a:t>
                </a:r>
              </a:p>
              <a:p>
                <a:r>
                  <a:rPr lang="en-US" dirty="0" smtClean="0"/>
                  <a:t>Operating Profit is $100-$60 = $40 before tax</a:t>
                </a:r>
              </a:p>
              <a:p>
                <a:r>
                  <a:rPr lang="en-US" dirty="0" smtClean="0"/>
                  <a:t>Required Normal Profit = $15</a:t>
                </a:r>
              </a:p>
              <a:p>
                <a:r>
                  <a:rPr lang="en-US" dirty="0" smtClean="0"/>
                  <a:t>Max Economic Rent = K25/</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3258084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528034"/>
                <a:ext cx="10515600" cy="5648929"/>
              </a:xfrm>
            </p:spPr>
            <p:txBody>
              <a:bodyPr>
                <a:normAutofit fontScale="92500" lnSpcReduction="20000"/>
              </a:bodyPr>
              <a:lstStyle/>
              <a:p>
                <a:r>
                  <a:rPr lang="en-US" dirty="0" smtClean="0">
                    <a:solidFill>
                      <a:schemeClr val="tx1"/>
                    </a:solidFill>
                  </a:rPr>
                  <a:t>Forestry is a long-term investment, therefore It should maximize present value of economic rent </a:t>
                </a:r>
              </a:p>
              <a:p>
                <a:r>
                  <a:rPr lang="en-US" sz="3500" dirty="0" smtClean="0">
                    <a:solidFill>
                      <a:schemeClr val="tx1"/>
                    </a:solidFill>
                  </a:rPr>
                  <a:t>Max </a:t>
                </a:r>
                <a:r>
                  <a:rPr lang="en-US" sz="3500" dirty="0" err="1">
                    <a:solidFill>
                      <a:schemeClr val="tx1"/>
                    </a:solidFill>
                  </a:rPr>
                  <a:t>R</a:t>
                </a:r>
                <a:r>
                  <a:rPr lang="en-US" sz="3500" baseline="-25000" dirty="0" err="1">
                    <a:solidFill>
                      <a:schemeClr val="tx1"/>
                    </a:solidFill>
                  </a:rPr>
                  <a:t>f</a:t>
                </a:r>
                <a:r>
                  <a:rPr lang="en-US" sz="3500" baseline="-25000" dirty="0">
                    <a:solidFill>
                      <a:schemeClr val="tx1"/>
                    </a:solidFill>
                  </a:rPr>
                  <a:t>    </a:t>
                </a:r>
                <a:r>
                  <a:rPr lang="en-US" sz="3500" dirty="0">
                    <a:solidFill>
                      <a:schemeClr val="tx1"/>
                    </a:solidFill>
                  </a:rPr>
                  <a:t>= </a:t>
                </a:r>
                <a14:m>
                  <m:oMath xmlns:m="http://schemas.openxmlformats.org/officeDocument/2006/math">
                    <m:f>
                      <m:fPr>
                        <m:ctrlPr>
                          <a:rPr lang="en-US" sz="3500" i="1" smtClean="0">
                            <a:solidFill>
                              <a:schemeClr val="tx1"/>
                            </a:solidFill>
                            <a:latin typeface="Cambria Math" panose="02040503050406030204" pitchFamily="18" charset="0"/>
                          </a:rPr>
                        </m:ctrlPr>
                      </m:fPr>
                      <m:num>
                        <m:r>
                          <m:rPr>
                            <m:nor/>
                          </m:rPr>
                          <a:rPr lang="en-US" sz="3500" dirty="0">
                            <a:solidFill>
                              <a:schemeClr val="tx1"/>
                            </a:solidFill>
                          </a:rPr>
                          <m:t>(</m:t>
                        </m:r>
                        <m:r>
                          <m:rPr>
                            <m:nor/>
                          </m:rPr>
                          <a:rPr lang="en-US" sz="3500" dirty="0">
                            <a:solidFill>
                              <a:schemeClr val="tx1"/>
                            </a:solidFill>
                          </a:rPr>
                          <m:t>P</m:t>
                        </m:r>
                        <m:r>
                          <m:rPr>
                            <m:nor/>
                          </m:rPr>
                          <a:rPr lang="en-US" sz="3500" dirty="0">
                            <a:solidFill>
                              <a:schemeClr val="tx1"/>
                            </a:solidFill>
                          </a:rPr>
                          <m:t>−</m:t>
                        </m:r>
                        <m:r>
                          <m:rPr>
                            <m:nor/>
                          </m:rPr>
                          <a:rPr lang="en-US" sz="3500" dirty="0">
                            <a:solidFill>
                              <a:schemeClr val="tx1"/>
                            </a:solidFill>
                          </a:rPr>
                          <m:t>C</m:t>
                        </m:r>
                        <m:r>
                          <m:rPr>
                            <m:nor/>
                          </m:rPr>
                          <a:rPr lang="en-US" sz="3500" dirty="0">
                            <a:solidFill>
                              <a:schemeClr val="tx1"/>
                            </a:solidFill>
                          </a:rPr>
                          <m:t>)</m:t>
                        </m:r>
                        <m:r>
                          <m:rPr>
                            <m:nor/>
                          </m:rPr>
                          <a:rPr lang="en-US" sz="3500" dirty="0">
                            <a:solidFill>
                              <a:schemeClr val="tx1"/>
                            </a:solidFill>
                          </a:rPr>
                          <m:t>V</m:t>
                        </m:r>
                      </m:num>
                      <m:den>
                        <m:r>
                          <m:rPr>
                            <m:nor/>
                          </m:rPr>
                          <a:rPr lang="en-US" sz="3500" dirty="0">
                            <a:solidFill>
                              <a:schemeClr val="tx1"/>
                            </a:solidFill>
                          </a:rPr>
                          <m:t>(1+ </m:t>
                        </m:r>
                        <m:r>
                          <m:rPr>
                            <m:nor/>
                          </m:rPr>
                          <a:rPr lang="en-US" sz="3500" dirty="0">
                            <a:solidFill>
                              <a:schemeClr val="tx1"/>
                            </a:solidFill>
                          </a:rPr>
                          <m:t>i</m:t>
                        </m:r>
                        <m:r>
                          <m:rPr>
                            <m:nor/>
                          </m:rPr>
                          <a:rPr lang="en-US" sz="3500" dirty="0">
                            <a:solidFill>
                              <a:schemeClr val="tx1"/>
                            </a:solidFill>
                          </a:rPr>
                          <m:t>)</m:t>
                        </m:r>
                        <m:r>
                          <m:rPr>
                            <m:nor/>
                          </m:rPr>
                          <a:rPr lang="en-US" sz="3500" baseline="30000" dirty="0">
                            <a:solidFill>
                              <a:schemeClr val="tx1"/>
                            </a:solidFill>
                          </a:rPr>
                          <m:t>t</m:t>
                        </m:r>
                        <m:r>
                          <m:rPr>
                            <m:nor/>
                          </m:rPr>
                          <a:rPr lang="en-US" sz="3500" baseline="30000" dirty="0">
                            <a:solidFill>
                              <a:schemeClr val="tx1"/>
                            </a:solidFill>
                          </a:rPr>
                          <m:t> </m:t>
                        </m:r>
                      </m:den>
                    </m:f>
                  </m:oMath>
                </a14:m>
                <a:endParaRPr lang="en-US" sz="3500" baseline="30000" dirty="0" smtClean="0">
                  <a:solidFill>
                    <a:schemeClr val="tx1"/>
                  </a:solidFill>
                </a:endParaRPr>
              </a:p>
              <a:p>
                <a:r>
                  <a:rPr lang="en-US" sz="3500" baseline="30000" dirty="0" smtClean="0">
                    <a:solidFill>
                      <a:schemeClr val="tx1"/>
                    </a:solidFill>
                  </a:rPr>
                  <a:t>Economic rent = Timber volume </a:t>
                </a:r>
                <a14:m>
                  <m:oMath xmlns:m="http://schemas.openxmlformats.org/officeDocument/2006/math">
                    <m:r>
                      <a:rPr lang="en-US" sz="3500" b="0" i="1" baseline="30000" smtClean="0">
                        <a:solidFill>
                          <a:schemeClr val="tx1"/>
                        </a:solidFill>
                        <a:latin typeface="Cambria Math" panose="02040503050406030204" pitchFamily="18" charset="0"/>
                      </a:rPr>
                      <m:t>𝑥</m:t>
                    </m:r>
                    <m:r>
                      <a:rPr lang="en-US" sz="3500" b="0" i="1" baseline="30000" smtClean="0">
                        <a:solidFill>
                          <a:schemeClr val="tx1"/>
                        </a:solidFill>
                        <a:latin typeface="Cambria Math" panose="02040503050406030204" pitchFamily="18" charset="0"/>
                      </a:rPr>
                      <m:t> </m:t>
                    </m:r>
                    <m:r>
                      <a:rPr lang="en-US" sz="3500" b="0" i="1" baseline="30000" smtClean="0">
                        <a:solidFill>
                          <a:schemeClr val="tx1"/>
                        </a:solidFill>
                        <a:latin typeface="Cambria Math" panose="02040503050406030204" pitchFamily="18" charset="0"/>
                      </a:rPr>
                      <m:t>𝑃𝑟𝑖𝑐𝑒</m:t>
                    </m:r>
                    <m:r>
                      <a:rPr lang="en-US" sz="3500" b="0" i="1" baseline="30000" smtClean="0">
                        <a:solidFill>
                          <a:schemeClr val="tx1"/>
                        </a:solidFill>
                        <a:latin typeface="Cambria Math" panose="02040503050406030204" pitchFamily="18" charset="0"/>
                      </a:rPr>
                      <m:t> </m:t>
                    </m:r>
                  </m:oMath>
                </a14:m>
                <a:endParaRPr lang="en-US" sz="3500" baseline="30000" dirty="0" smtClean="0">
                  <a:solidFill>
                    <a:schemeClr val="tx1"/>
                  </a:solidFill>
                </a:endParaRPr>
              </a:p>
              <a:p>
                <a:r>
                  <a:rPr lang="en-US" sz="3500" baseline="30000" dirty="0" smtClean="0"/>
                  <a:t>To find Maximum Present Value (NPV) we discount the value back to present value</a:t>
                </a:r>
              </a:p>
              <a:p>
                <a:r>
                  <a:rPr lang="en-US" sz="3500" baseline="30000" dirty="0" smtClean="0">
                    <a:solidFill>
                      <a:schemeClr val="tx1"/>
                    </a:solidFill>
                  </a:rPr>
                  <a:t>Max PV = </a:t>
                </a:r>
                <a14:m>
                  <m:oMath xmlns:m="http://schemas.openxmlformats.org/officeDocument/2006/math">
                    <m:f>
                      <m:fPr>
                        <m:ctrlPr>
                          <a:rPr lang="en-US" sz="3500" i="1" smtClean="0">
                            <a:latin typeface="Cambria Math" panose="02040503050406030204" pitchFamily="18" charset="0"/>
                          </a:rPr>
                        </m:ctrlPr>
                      </m:fPr>
                      <m:num>
                        <m:r>
                          <m:rPr>
                            <m:nor/>
                          </m:rPr>
                          <a:rPr lang="en-US" sz="3500" dirty="0"/>
                          <m:t>(</m:t>
                        </m:r>
                        <m:sSub>
                          <m:sSubPr>
                            <m:ctrlPr>
                              <a:rPr lang="en-US" sz="3500" i="1">
                                <a:latin typeface="Cambria Math" panose="02040503050406030204" pitchFamily="18" charset="0"/>
                              </a:rPr>
                            </m:ctrlPr>
                          </m:sSubPr>
                          <m:e>
                            <m:r>
                              <a:rPr lang="en-US" sz="3500" i="1">
                                <a:latin typeface="Cambria Math" panose="02040503050406030204" pitchFamily="18" charset="0"/>
                              </a:rPr>
                              <m:t>𝑅</m:t>
                            </m:r>
                          </m:e>
                          <m:sub>
                            <m:r>
                              <a:rPr lang="en-US" sz="3500" i="1">
                                <a:latin typeface="Cambria Math" panose="02040503050406030204" pitchFamily="18" charset="0"/>
                              </a:rPr>
                              <m:t>𝑇</m:t>
                            </m:r>
                          </m:sub>
                        </m:sSub>
                        <m:r>
                          <m:rPr>
                            <m:nor/>
                          </m:rPr>
                          <a:rPr lang="en-US" sz="3500" dirty="0"/>
                          <m:t>−</m:t>
                        </m:r>
                        <m:sSub>
                          <m:sSubPr>
                            <m:ctrlPr>
                              <a:rPr lang="en-US" sz="3500" i="1">
                                <a:latin typeface="Cambria Math" panose="02040503050406030204" pitchFamily="18" charset="0"/>
                              </a:rPr>
                            </m:ctrlPr>
                          </m:sSubPr>
                          <m:e>
                            <m:r>
                              <a:rPr lang="en-US" sz="3500" b="0" i="1" smtClean="0">
                                <a:latin typeface="Cambria Math" panose="02040503050406030204" pitchFamily="18" charset="0"/>
                              </a:rPr>
                              <m:t>𝐶</m:t>
                            </m:r>
                          </m:e>
                          <m:sub>
                            <m:r>
                              <a:rPr lang="en-US" sz="3500" i="1">
                                <a:latin typeface="Cambria Math" panose="02040503050406030204" pitchFamily="18" charset="0"/>
                              </a:rPr>
                              <m:t>𝑇</m:t>
                            </m:r>
                          </m:sub>
                        </m:sSub>
                        <m:r>
                          <m:rPr>
                            <m:nor/>
                          </m:rPr>
                          <a:rPr lang="en-US" sz="3500" dirty="0"/>
                          <m:t>)</m:t>
                        </m:r>
                      </m:num>
                      <m:den>
                        <m:r>
                          <m:rPr>
                            <m:nor/>
                          </m:rPr>
                          <a:rPr lang="en-US" sz="3500" dirty="0"/>
                          <m:t>(1+ </m:t>
                        </m:r>
                        <m:r>
                          <m:rPr>
                            <m:nor/>
                          </m:rPr>
                          <a:rPr lang="en-US" sz="3500" dirty="0"/>
                          <m:t>i</m:t>
                        </m:r>
                        <m:r>
                          <m:rPr>
                            <m:nor/>
                          </m:rPr>
                          <a:rPr lang="en-US" sz="3500" dirty="0"/>
                          <m:t>)</m:t>
                        </m:r>
                        <m:r>
                          <m:rPr>
                            <m:nor/>
                          </m:rPr>
                          <a:rPr lang="en-US" sz="3500" b="0" i="0" baseline="30000" dirty="0" smtClean="0"/>
                          <m:t>T</m:t>
                        </m:r>
                        <m:r>
                          <m:rPr>
                            <m:nor/>
                          </m:rPr>
                          <a:rPr lang="en-US" sz="3500" baseline="30000" dirty="0"/>
                          <m:t> </m:t>
                        </m:r>
                      </m:den>
                    </m:f>
                  </m:oMath>
                </a14:m>
                <a:r>
                  <a:rPr lang="en-US" sz="3500" baseline="30000" dirty="0" smtClean="0">
                    <a:solidFill>
                      <a:schemeClr val="tx1"/>
                    </a:solidFill>
                  </a:rPr>
                  <a:t> - ∑ </a:t>
                </a:r>
                <a14:m>
                  <m:oMath xmlns:m="http://schemas.openxmlformats.org/officeDocument/2006/math">
                    <m:f>
                      <m:fPr>
                        <m:ctrlPr>
                          <a:rPr lang="en-US" sz="3500" i="1">
                            <a:latin typeface="Cambria Math" panose="02040503050406030204" pitchFamily="18" charset="0"/>
                          </a:rPr>
                        </m:ctrlPr>
                      </m:fPr>
                      <m:num>
                        <m:sSub>
                          <m:sSubPr>
                            <m:ctrlPr>
                              <a:rPr lang="en-US" sz="3500" i="1">
                                <a:latin typeface="Cambria Math" panose="02040503050406030204" pitchFamily="18" charset="0"/>
                              </a:rPr>
                            </m:ctrlPr>
                          </m:sSubPr>
                          <m:e>
                            <m:r>
                              <a:rPr lang="en-US" sz="3500" i="1">
                                <a:latin typeface="Cambria Math" panose="02040503050406030204" pitchFamily="18" charset="0"/>
                              </a:rPr>
                              <m:t>𝐶</m:t>
                            </m:r>
                          </m:e>
                          <m:sub>
                            <m:r>
                              <a:rPr lang="en-US" sz="3500" b="0" i="1" smtClean="0">
                                <a:latin typeface="Cambria Math" panose="02040503050406030204" pitchFamily="18" charset="0"/>
                              </a:rPr>
                              <m:t>𝑡</m:t>
                            </m:r>
                          </m:sub>
                        </m:sSub>
                      </m:num>
                      <m:den>
                        <m:r>
                          <m:rPr>
                            <m:nor/>
                          </m:rPr>
                          <a:rPr lang="en-US" sz="3500" dirty="0"/>
                          <m:t>(1+ </m:t>
                        </m:r>
                        <m:r>
                          <m:rPr>
                            <m:nor/>
                          </m:rPr>
                          <a:rPr lang="en-US" sz="3500" dirty="0"/>
                          <m:t>i</m:t>
                        </m:r>
                        <m:r>
                          <m:rPr>
                            <m:nor/>
                          </m:rPr>
                          <a:rPr lang="en-US" sz="3500" dirty="0"/>
                          <m:t>)</m:t>
                        </m:r>
                        <m:r>
                          <m:rPr>
                            <m:nor/>
                          </m:rPr>
                          <a:rPr lang="en-US" sz="3500" baseline="30000" dirty="0"/>
                          <m:t>t</m:t>
                        </m:r>
                        <m:r>
                          <m:rPr>
                            <m:nor/>
                          </m:rPr>
                          <a:rPr lang="en-US" sz="3500" baseline="30000" dirty="0"/>
                          <m:t> </m:t>
                        </m:r>
                      </m:den>
                    </m:f>
                  </m:oMath>
                </a14:m>
                <a:r>
                  <a:rPr lang="en-US" sz="3500" baseline="30000" dirty="0" smtClean="0">
                    <a:solidFill>
                      <a:schemeClr val="tx1"/>
                    </a:solidFill>
                  </a:rPr>
                  <a:t> </a:t>
                </a:r>
              </a:p>
              <a:p>
                <a14:m>
                  <m:oMath xmlns:m="http://schemas.openxmlformats.org/officeDocument/2006/math">
                    <m:sSub>
                      <m:sSubPr>
                        <m:ctrlPr>
                          <a:rPr lang="en-US" sz="3500" i="1">
                            <a:latin typeface="Cambria Math" panose="02040503050406030204" pitchFamily="18" charset="0"/>
                          </a:rPr>
                        </m:ctrlPr>
                      </m:sSubPr>
                      <m:e>
                        <m:r>
                          <a:rPr lang="en-US" sz="3500" i="1">
                            <a:latin typeface="Cambria Math" panose="02040503050406030204" pitchFamily="18" charset="0"/>
                          </a:rPr>
                          <m:t>𝑅</m:t>
                        </m:r>
                      </m:e>
                      <m:sub>
                        <m:r>
                          <a:rPr lang="en-US" sz="3500" i="1">
                            <a:latin typeface="Cambria Math" panose="02040503050406030204" pitchFamily="18" charset="0"/>
                          </a:rPr>
                          <m:t>𝑇</m:t>
                        </m:r>
                      </m:sub>
                    </m:sSub>
                  </m:oMath>
                </a14:m>
                <a:r>
                  <a:rPr lang="en-US" sz="3500" baseline="30000" dirty="0" smtClean="0">
                    <a:solidFill>
                      <a:schemeClr val="tx1"/>
                    </a:solidFill>
                  </a:rPr>
                  <a:t> </a:t>
                </a:r>
                <a:r>
                  <a:rPr lang="en-US" sz="3500" dirty="0" smtClean="0">
                    <a:solidFill>
                      <a:schemeClr val="tx1"/>
                    </a:solidFill>
                  </a:rPr>
                  <a:t> is Revenue at harvest time T</a:t>
                </a:r>
              </a:p>
              <a:p>
                <a14:m>
                  <m:oMath xmlns:m="http://schemas.openxmlformats.org/officeDocument/2006/math">
                    <m:sSub>
                      <m:sSubPr>
                        <m:ctrlPr>
                          <a:rPr lang="en-US" sz="3500" i="1">
                            <a:latin typeface="Cambria Math" panose="02040503050406030204" pitchFamily="18" charset="0"/>
                          </a:rPr>
                        </m:ctrlPr>
                      </m:sSubPr>
                      <m:e>
                        <m:r>
                          <a:rPr lang="en-US" sz="3500" i="1">
                            <a:latin typeface="Cambria Math" panose="02040503050406030204" pitchFamily="18" charset="0"/>
                          </a:rPr>
                          <m:t>𝐶</m:t>
                        </m:r>
                      </m:e>
                      <m:sub>
                        <m:r>
                          <a:rPr lang="en-US" sz="3500" i="1">
                            <a:latin typeface="Cambria Math" panose="02040503050406030204" pitchFamily="18" charset="0"/>
                          </a:rPr>
                          <m:t>𝑇</m:t>
                        </m:r>
                      </m:sub>
                    </m:sSub>
                  </m:oMath>
                </a14:m>
                <a:r>
                  <a:rPr lang="en-US" sz="3500" baseline="30000" dirty="0" smtClean="0">
                    <a:solidFill>
                      <a:schemeClr val="tx1"/>
                    </a:solidFill>
                  </a:rPr>
                  <a:t> </a:t>
                </a:r>
                <a:r>
                  <a:rPr lang="en-US" sz="3500" baseline="30000" dirty="0"/>
                  <a:t> </a:t>
                </a:r>
                <a:r>
                  <a:rPr lang="en-US" sz="3500" dirty="0" smtClean="0"/>
                  <a:t> Harvesting / Transportation cost at time T</a:t>
                </a:r>
              </a:p>
              <a:p>
                <a14:m>
                  <m:oMath xmlns:m="http://schemas.openxmlformats.org/officeDocument/2006/math">
                    <m:sSub>
                      <m:sSubPr>
                        <m:ctrlPr>
                          <a:rPr lang="en-US" sz="3500" i="1">
                            <a:latin typeface="Cambria Math" panose="02040503050406030204" pitchFamily="18" charset="0"/>
                          </a:rPr>
                        </m:ctrlPr>
                      </m:sSubPr>
                      <m:e>
                        <m:r>
                          <a:rPr lang="en-US" sz="3500" i="1">
                            <a:latin typeface="Cambria Math" panose="02040503050406030204" pitchFamily="18" charset="0"/>
                          </a:rPr>
                          <m:t>𝐶</m:t>
                        </m:r>
                      </m:e>
                      <m:sub>
                        <m:r>
                          <a:rPr lang="en-US" sz="3500" b="0" i="1" smtClean="0">
                            <a:latin typeface="Cambria Math" panose="02040503050406030204" pitchFamily="18" charset="0"/>
                          </a:rPr>
                          <m:t>𝑡</m:t>
                        </m:r>
                      </m:sub>
                    </m:sSub>
                  </m:oMath>
                </a14:m>
                <a:r>
                  <a:rPr lang="en-US" sz="3500" baseline="30000" dirty="0" smtClean="0">
                    <a:solidFill>
                      <a:schemeClr val="tx1"/>
                    </a:solidFill>
                  </a:rPr>
                  <a:t>     Management cost at time t</a:t>
                </a:r>
              </a:p>
              <a:p>
                <a:r>
                  <a:rPr lang="en-US" sz="3500" baseline="30000" dirty="0" smtClean="0"/>
                  <a:t>r</a:t>
                </a:r>
                <a:r>
                  <a:rPr lang="en-US" sz="3500" dirty="0" smtClean="0"/>
                  <a:t> Discount rate</a:t>
                </a:r>
              </a:p>
              <a:p>
                <a:r>
                  <a:rPr lang="en-US" sz="3500" baseline="30000" dirty="0" smtClean="0">
                    <a:solidFill>
                      <a:schemeClr val="tx1"/>
                    </a:solidFill>
                  </a:rPr>
                  <a:t>T</a:t>
                </a:r>
                <a:r>
                  <a:rPr lang="en-US" sz="3500" dirty="0" smtClean="0">
                    <a:solidFill>
                      <a:schemeClr val="tx1"/>
                    </a:solidFill>
                  </a:rPr>
                  <a:t> Optimal rotational age</a:t>
                </a:r>
                <a:endParaRPr lang="en-US" sz="3500" baseline="300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528034"/>
                <a:ext cx="10515600" cy="5648929"/>
              </a:xfrm>
              <a:blipFill>
                <a:blip r:embed="rId2"/>
                <a:stretch>
                  <a:fillRect l="-1333" t="-2808"/>
                </a:stretch>
              </a:blipFill>
            </p:spPr>
            <p:txBody>
              <a:bodyPr/>
              <a:lstStyle/>
              <a:p>
                <a:r>
                  <a:rPr lang="en-GB">
                    <a:noFill/>
                  </a:rPr>
                  <a:t> </a:t>
                </a:r>
              </a:p>
            </p:txBody>
          </p:sp>
        </mc:Fallback>
      </mc:AlternateContent>
    </p:spTree>
    <p:extLst>
      <p:ext uri="{BB962C8B-B14F-4D97-AF65-F5344CB8AC3E}">
        <p14:creationId xmlns:p14="http://schemas.microsoft.com/office/powerpoint/2010/main" val="1275988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EXAMPLE ON SINGLE ROTATION</a:t>
            </a:r>
            <a:endParaRPr lang="en-GB"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Given data </a:t>
                </a:r>
              </a:p>
              <a:p>
                <a:r>
                  <a:rPr lang="en-US" dirty="0" smtClean="0"/>
                  <a:t>Rotation age (T) 25 years</a:t>
                </a:r>
              </a:p>
              <a:p>
                <a:r>
                  <a:rPr lang="en-US" dirty="0" smtClean="0"/>
                  <a:t>Expected Yield (V) 300</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r>
                  <a:rPr lang="en-GB" dirty="0" smtClean="0"/>
                  <a:t>/ha</a:t>
                </a:r>
              </a:p>
              <a:p>
                <a:r>
                  <a:rPr lang="en-US" dirty="0" smtClean="0"/>
                  <a:t>Timber Selling Price (P) $100/</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r>
                  <a:rPr lang="en-GB" dirty="0" smtClean="0"/>
                  <a:t> </a:t>
                </a:r>
              </a:p>
              <a:p>
                <a:r>
                  <a:rPr lang="en-US" dirty="0" smtClean="0"/>
                  <a:t>Logging &amp; Transport Cost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r>
                      <a:rPr lang="en-US" b="0" i="0" smtClean="0">
                        <a:latin typeface="Cambria Math" panose="02040503050406030204" pitchFamily="18" charset="0"/>
                      </a:rPr>
                      <m:t>) </m:t>
                    </m:r>
                  </m:oMath>
                </a14:m>
                <a:r>
                  <a:rPr lang="en-US" dirty="0" smtClean="0"/>
                  <a:t>$40/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smtClean="0"/>
              </a:p>
              <a:p>
                <a:r>
                  <a:rPr lang="en-US" dirty="0" err="1" smtClean="0"/>
                  <a:t>Silviculture</a:t>
                </a:r>
                <a:r>
                  <a:rPr lang="en-US" dirty="0" smtClean="0"/>
                  <a:t> /Management Costs </a:t>
                </a: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m:t>
                        </m:r>
                      </m:sub>
                    </m:sSub>
                    <m:r>
                      <a:rPr lang="en-US">
                        <a:latin typeface="Cambria Math" panose="02040503050406030204" pitchFamily="18" charset="0"/>
                      </a:rPr>
                      <m:t>)</m:t>
                    </m:r>
                    <m:r>
                      <a:rPr lang="en-US" b="0" i="0" smtClean="0">
                        <a:latin typeface="Cambria Math" panose="02040503050406030204" pitchFamily="18" charset="0"/>
                      </a:rPr>
                      <m:t>: </m:t>
                    </m:r>
                  </m:oMath>
                </a14:m>
                <a:r>
                  <a:rPr lang="en-US" dirty="0" smtClean="0"/>
                  <a:t>$500/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smtClean="0"/>
                  <a:t> incurred at year 0</a:t>
                </a:r>
              </a:p>
              <a:p>
                <a:r>
                  <a:rPr lang="en-US" dirty="0" smtClean="0"/>
                  <a:t>Discount rate 5%</a:t>
                </a:r>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2678521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a:t>
            </a:r>
            <a:endParaRPr lang="en-GB"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smtClean="0"/>
                  <a:t>Step1: Calculate total Harvest Revenue (year 2025) =$300 x $100 = $30,000</a:t>
                </a:r>
              </a:p>
              <a:p>
                <a:r>
                  <a:rPr lang="en-US" dirty="0" smtClean="0"/>
                  <a:t>Step2: Calculate Total Harvest costs(year 25) = </a:t>
                </a:r>
                <a:r>
                  <a:rPr lang="en-US" dirty="0"/>
                  <a:t>300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r>
                  <a:rPr lang="en-GB" dirty="0"/>
                  <a:t>/</a:t>
                </a:r>
                <a:r>
                  <a:rPr lang="en-GB" dirty="0" smtClean="0"/>
                  <a:t>ha x </a:t>
                </a:r>
                <a:r>
                  <a:rPr lang="en-US" dirty="0"/>
                  <a:t>$40/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a14:m>
                <a:endParaRPr lang="en-GB" dirty="0"/>
              </a:p>
              <a:p>
                <a:r>
                  <a:rPr lang="en-US" dirty="0" smtClean="0"/>
                  <a:t>= $12,000</a:t>
                </a:r>
              </a:p>
              <a:p>
                <a:r>
                  <a:rPr lang="en-US" dirty="0" smtClean="0"/>
                  <a:t>Step3. Calculate Net Future Value (Year 25) = </a:t>
                </a:r>
                <a:r>
                  <a:rPr lang="en-US" dirty="0"/>
                  <a:t>$30,000-$12,000 = $</a:t>
                </a:r>
                <a:r>
                  <a:rPr lang="en-US" dirty="0" smtClean="0"/>
                  <a:t>18,000</a:t>
                </a:r>
              </a:p>
              <a:p>
                <a:r>
                  <a:rPr lang="en-US" dirty="0" smtClean="0"/>
                  <a:t>Step4. Calculate Present Value (PV)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$18,000</m:t>
                        </m:r>
                      </m:num>
                      <m:den>
                        <m:r>
                          <m:rPr>
                            <m:nor/>
                          </m:rPr>
                          <a:rPr lang="en-US" dirty="0"/>
                          <m:t>(1+ </m:t>
                        </m:r>
                        <m:r>
                          <m:rPr>
                            <m:nor/>
                          </m:rPr>
                          <a:rPr lang="en-US" b="0" i="0" dirty="0" smtClean="0"/>
                          <m:t>0.05</m:t>
                        </m:r>
                        <m:r>
                          <m:rPr>
                            <m:nor/>
                          </m:rPr>
                          <a:rPr lang="en-US" dirty="0"/>
                          <m:t>)</m:t>
                        </m:r>
                        <m:r>
                          <m:rPr>
                            <m:nor/>
                          </m:rPr>
                          <a:rPr lang="en-US" b="0" i="0" baseline="30000" dirty="0" smtClean="0"/>
                          <m:t>25</m:t>
                        </m:r>
                        <m:r>
                          <m:rPr>
                            <m:nor/>
                          </m:rPr>
                          <a:rPr lang="en-US" baseline="30000" dirty="0"/>
                          <m:t> </m:t>
                        </m:r>
                      </m:den>
                    </m:f>
                  </m:oMath>
                </a14:m>
                <a:r>
                  <a:rPr lang="en-US" baseline="30000" dirty="0" smtClean="0"/>
                  <a:t>  </a:t>
                </a:r>
                <a:r>
                  <a:rPr lang="en-US" dirty="0" smtClean="0"/>
                  <a:t> = $5,315.98</a:t>
                </a:r>
              </a:p>
              <a:p>
                <a:r>
                  <a:rPr lang="en-US" dirty="0" smtClean="0"/>
                  <a:t>Step5. subtract initial cost Max PV of Economic Rent = PV-Initial cost</a:t>
                </a:r>
              </a:p>
              <a:p>
                <a:r>
                  <a:rPr lang="en-US" dirty="0"/>
                  <a:t>Max PV of Economic </a:t>
                </a:r>
                <a:r>
                  <a:rPr lang="en-US" dirty="0" smtClean="0"/>
                  <a:t>Rent = </a:t>
                </a:r>
                <a:r>
                  <a:rPr lang="en-US" dirty="0"/>
                  <a:t>$</a:t>
                </a:r>
                <a:r>
                  <a:rPr lang="en-US" dirty="0" smtClean="0"/>
                  <a:t>5,315.98 - $500 = $4,815.98</a:t>
                </a:r>
                <a:endParaRPr lang="en-US" dirty="0"/>
              </a:p>
              <a:p>
                <a:endParaRPr lang="en-US" dirty="0" smtClean="0"/>
              </a:p>
              <a:p>
                <a:endParaRPr lang="en-US" baseline="30000" dirty="0" smtClean="0"/>
              </a:p>
              <a:p>
                <a:endParaRPr lang="en-US" baseline="30000" dirty="0" smtClean="0"/>
              </a:p>
              <a:p>
                <a:endParaRPr lang="en-US" baseline="30000" dirty="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GB">
                    <a:noFill/>
                  </a:rPr>
                  <a:t> </a:t>
                </a:r>
              </a:p>
            </p:txBody>
          </p:sp>
        </mc:Fallback>
      </mc:AlternateContent>
    </p:spTree>
    <p:extLst>
      <p:ext uri="{BB962C8B-B14F-4D97-AF65-F5344CB8AC3E}">
        <p14:creationId xmlns:p14="http://schemas.microsoft.com/office/powerpoint/2010/main" val="27744082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515600" cy="5661808"/>
          </a:xfrm>
        </p:spPr>
        <p:txBody>
          <a:bodyPr/>
          <a:lstStyle/>
          <a:p>
            <a:pPr marL="0" indent="0">
              <a:buNone/>
            </a:pPr>
            <a:r>
              <a:rPr lang="en-US" dirty="0"/>
              <a:t>Factors that missed when analyzing the problem in biological point of view;</a:t>
            </a:r>
          </a:p>
          <a:p>
            <a:pPr marL="514350" indent="-514350">
              <a:buFont typeface="+mj-lt"/>
              <a:buAutoNum type="arabicPeriod"/>
            </a:pPr>
            <a:r>
              <a:rPr lang="en-US" dirty="0"/>
              <a:t>Following costs are incurred when separating a forest as a cultivation land.</a:t>
            </a:r>
          </a:p>
          <a:p>
            <a:pPr>
              <a:buFont typeface="Wingdings" panose="05000000000000000000" pitchFamily="2" charset="2"/>
              <a:buChar char="v"/>
            </a:pPr>
            <a:r>
              <a:rPr lang="en-US" sz="2800" dirty="0"/>
              <a:t>Maintenance cost</a:t>
            </a:r>
          </a:p>
          <a:p>
            <a:pPr>
              <a:buFont typeface="Wingdings" panose="05000000000000000000" pitchFamily="2" charset="2"/>
              <a:buChar char="v"/>
            </a:pPr>
            <a:r>
              <a:rPr lang="en-US" sz="2800" dirty="0"/>
              <a:t>Opportunity cost </a:t>
            </a:r>
          </a:p>
          <a:p>
            <a:pPr marL="0" indent="0">
              <a:buNone/>
            </a:pPr>
            <a:r>
              <a:rPr lang="en-US" dirty="0" smtClean="0"/>
              <a:t>2</a:t>
            </a:r>
            <a:r>
              <a:rPr lang="en-US" dirty="0"/>
              <a:t>. Forest cultivation is economically effective when economical rent of forest cultivation  is greater than or equal to economical rent of other alternatives.</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6740567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186" y="355600"/>
            <a:ext cx="10735614" cy="5821363"/>
          </a:xfrm>
        </p:spPr>
        <p:txBody>
          <a:bodyPr/>
          <a:lstStyle/>
          <a:p>
            <a:r>
              <a:rPr lang="en-US" dirty="0"/>
              <a:t>According to above factors optimum harvesting age can be calculated follows:</a:t>
            </a:r>
          </a:p>
          <a:p>
            <a:r>
              <a:rPr lang="en-US" sz="3000" dirty="0">
                <a:solidFill>
                  <a:srgbClr val="FF0000"/>
                </a:solidFill>
              </a:rPr>
              <a:t>Marginal economic rent =</a:t>
            </a:r>
          </a:p>
          <a:p>
            <a:pPr marL="0" indent="0">
              <a:buNone/>
            </a:pPr>
            <a:r>
              <a:rPr lang="en-US" sz="3000" dirty="0">
                <a:solidFill>
                  <a:srgbClr val="FF0000"/>
                </a:solidFill>
              </a:rPr>
              <a:t> (increased timber volume X unit price of timber) – Cost</a:t>
            </a:r>
          </a:p>
          <a:p>
            <a:r>
              <a:rPr lang="en-US" sz="3000" dirty="0"/>
              <a:t>Growth rate of forestry is continuously changing, Thereby Marginal economic rent also change with the time </a:t>
            </a:r>
          </a:p>
          <a:p>
            <a:r>
              <a:rPr lang="en-US" sz="3000" dirty="0"/>
              <a:t>When consider one year of time, increased timber volume is that year’s Current Annual Increment (CAI) </a:t>
            </a:r>
          </a:p>
          <a:p>
            <a:r>
              <a:rPr lang="en-US" sz="3000" dirty="0"/>
              <a:t>When unit price of timber and cost are constant,</a:t>
            </a:r>
          </a:p>
          <a:p>
            <a:pPr marL="0" indent="0">
              <a:buNone/>
            </a:pPr>
            <a:r>
              <a:rPr lang="en-US" sz="3000" dirty="0"/>
              <a:t>		</a:t>
            </a:r>
            <a:r>
              <a:rPr lang="en-US" sz="3000" dirty="0">
                <a:solidFill>
                  <a:srgbClr val="7030A0"/>
                </a:solidFill>
              </a:rPr>
              <a:t>Marginal economic rate </a:t>
            </a:r>
            <a:r>
              <a:rPr lang="el-GR" sz="3000" dirty="0">
                <a:solidFill>
                  <a:srgbClr val="7030A0"/>
                </a:solidFill>
              </a:rPr>
              <a:t>α</a:t>
            </a:r>
            <a:r>
              <a:rPr lang="en-US" sz="3000" dirty="0">
                <a:solidFill>
                  <a:srgbClr val="7030A0"/>
                </a:solidFill>
              </a:rPr>
              <a:t> CAI</a:t>
            </a:r>
          </a:p>
        </p:txBody>
      </p:sp>
    </p:spTree>
    <p:extLst>
      <p:ext uri="{BB962C8B-B14F-4D97-AF65-F5344CB8AC3E}">
        <p14:creationId xmlns:p14="http://schemas.microsoft.com/office/powerpoint/2010/main" val="8461046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Rotation Problem</a:t>
            </a:r>
          </a:p>
        </p:txBody>
      </p:sp>
      <p:sp>
        <p:nvSpPr>
          <p:cNvPr id="3" name="Content Placeholder 2"/>
          <p:cNvSpPr>
            <a:spLocks noGrp="1"/>
          </p:cNvSpPr>
          <p:nvPr>
            <p:ph idx="1"/>
          </p:nvPr>
        </p:nvSpPr>
        <p:spPr>
          <a:xfrm>
            <a:off x="476518" y="1506828"/>
            <a:ext cx="10877282" cy="4670135"/>
          </a:xfrm>
        </p:spPr>
        <p:txBody>
          <a:bodyPr/>
          <a:lstStyle/>
          <a:p>
            <a:r>
              <a:rPr lang="en-US" dirty="0">
                <a:latin typeface="Calibri" panose="020F0502020204030204" pitchFamily="34" charset="0"/>
                <a:cs typeface="Calibri" panose="020F0502020204030204" pitchFamily="34" charset="0"/>
              </a:rPr>
              <a:t>A basic problem in forest economics is how long to let a tree grow before cutting it down</a:t>
            </a:r>
          </a:p>
          <a:p>
            <a:pPr marL="0" indent="0">
              <a:buNone/>
            </a:pPr>
            <a:r>
              <a:rPr lang="en-US" b="1" dirty="0">
                <a:latin typeface="Calibri" panose="020F0502020204030204" pitchFamily="34" charset="0"/>
                <a:cs typeface="Calibri" panose="020F0502020204030204" pitchFamily="34" charset="0"/>
              </a:rPr>
              <a:t>The answer is……</a:t>
            </a:r>
          </a:p>
          <a:p>
            <a:pPr lvl="1"/>
            <a:r>
              <a:rPr lang="en-US" sz="2800" b="1" dirty="0">
                <a:latin typeface="Calibri" panose="020F0502020204030204" pitchFamily="34" charset="0"/>
                <a:cs typeface="Calibri" panose="020F0502020204030204" pitchFamily="34" charset="0"/>
              </a:rPr>
              <a:t>Cut the trees down when they are growing at the rate of interest</a:t>
            </a:r>
          </a:p>
          <a:p>
            <a:pPr marL="457200" lvl="1" indent="0">
              <a:buNone/>
            </a:pPr>
            <a:endParaRPr lang="en-US" sz="28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The exact point at which our timber investment should be changed into another investment is when it has slowed down to a rate of growth exactly equal to the rate of interest</a:t>
            </a:r>
          </a:p>
          <a:p>
            <a:endParaRPr lang="en-US" dirty="0">
              <a:latin typeface="Calibri" panose="020F0502020204030204" pitchFamily="34" charset="0"/>
              <a:cs typeface="Calibri" panose="020F0502020204030204" pitchFamily="34" charset="0"/>
            </a:endParaRPr>
          </a:p>
          <a:p>
            <a:pPr marL="0" indent="0">
              <a:buNone/>
            </a:pPr>
            <a:r>
              <a:rPr lang="en-US" dirty="0">
                <a:solidFill>
                  <a:srgbClr val="FF0000"/>
                </a:solidFill>
                <a:latin typeface="Calibri" panose="020F0502020204030204" pitchFamily="34" charset="0"/>
                <a:cs typeface="Calibri" panose="020F0502020204030204" pitchFamily="34" charset="0"/>
              </a:rPr>
              <a:t>Rate of growth = Rate of interest</a:t>
            </a:r>
          </a:p>
          <a:p>
            <a:pPr marL="0" indent="0">
              <a:buNone/>
            </a:pPr>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544206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669701"/>
                <a:ext cx="10515600" cy="5507262"/>
              </a:xfrm>
            </p:spPr>
            <p:txBody>
              <a:bodyPr/>
              <a:lstStyle/>
              <a:p>
                <a:pPr marL="0" indent="0">
                  <a:buNone/>
                </a:pPr>
                <a:r>
                  <a:rPr lang="en-US" dirty="0">
                    <a:solidFill>
                      <a:schemeClr val="accent2">
                        <a:lumMod val="75000"/>
                      </a:schemeClr>
                    </a:solidFill>
                    <a:latin typeface="Calibri" panose="020F0502020204030204" pitchFamily="34" charset="0"/>
                    <a:cs typeface="Calibri" panose="020F0502020204030204" pitchFamily="34" charset="0"/>
                  </a:rPr>
                  <a:t>Benefit in correct t harvesting  &gt;  benefit for keep to future harvesting</a:t>
                </a:r>
              </a:p>
              <a:p>
                <a:r>
                  <a:rPr lang="en-US" dirty="0">
                    <a:latin typeface="Calibri" panose="020F0502020204030204" pitchFamily="34" charset="0"/>
                    <a:cs typeface="Calibri" panose="020F0502020204030204" pitchFamily="34" charset="0"/>
                  </a:rPr>
                  <a:t>This benefit is received according to total timber volume at harvesting age</a:t>
                </a:r>
              </a:p>
              <a:p>
                <a:r>
                  <a:rPr lang="en-US" dirty="0">
                    <a:latin typeface="Calibri" panose="020F0502020204030204" pitchFamily="34" charset="0"/>
                    <a:cs typeface="Calibri" panose="020F0502020204030204" pitchFamily="34" charset="0"/>
                  </a:rPr>
                  <a:t>If it save for future ,growth of timber volume will occur</a:t>
                </a:r>
              </a:p>
              <a:p>
                <a:r>
                  <a:rPr lang="en-US" dirty="0">
                    <a:latin typeface="Calibri" panose="020F0502020204030204" pitchFamily="34" charset="0"/>
                    <a:cs typeface="Calibri" panose="020F0502020204030204" pitchFamily="34" charset="0"/>
                  </a:rPr>
                  <a:t>Proportionate increase of growth can be as follows</a:t>
                </a:r>
              </a:p>
              <a:p>
                <a:endParaRPr lang="en-US" dirty="0">
                  <a:latin typeface="Calibri" panose="020F0502020204030204" pitchFamily="34" charset="0"/>
                  <a:cs typeface="Calibri" panose="020F0502020204030204" pitchFamily="34" charset="0"/>
                </a:endParaRPr>
              </a:p>
              <a:p>
                <a14:m>
                  <m:oMath xmlns:m="http://schemas.openxmlformats.org/officeDocument/2006/math">
                    <m:f>
                      <m:fPr>
                        <m:ctrlPr>
                          <a:rPr lang="en-US" i="1">
                            <a:latin typeface="Cambria Math" panose="02040503050406030204" pitchFamily="18" charset="0"/>
                          </a:rPr>
                        </m:ctrlPr>
                      </m:fPr>
                      <m:num>
                        <m:r>
                          <m:rPr>
                            <m:sty m:val="p"/>
                          </m:rPr>
                          <a:rPr lang="en-US">
                            <a:latin typeface="Cambria Math" panose="02040503050406030204" pitchFamily="18" charset="0"/>
                          </a:rPr>
                          <m:t>I</m:t>
                        </m:r>
                        <m:r>
                          <m:rPr>
                            <m:sty m:val="p"/>
                          </m:rPr>
                          <a:rPr lang="en-US">
                            <a:latin typeface="Cambria Math"/>
                          </a:rPr>
                          <m:t>ncrement</m:t>
                        </m:r>
                        <m:r>
                          <a:rPr lang="en-US">
                            <a:latin typeface="Cambria Math"/>
                          </a:rPr>
                          <m:t> </m:t>
                        </m:r>
                        <m:r>
                          <m:rPr>
                            <m:sty m:val="p"/>
                          </m:rPr>
                          <a:rPr lang="en-US">
                            <a:latin typeface="Cambria Math"/>
                          </a:rPr>
                          <m:t>of</m:t>
                        </m:r>
                        <m:r>
                          <a:rPr lang="en-US">
                            <a:latin typeface="Cambria Math"/>
                          </a:rPr>
                          <m:t> </m:t>
                        </m:r>
                        <m:r>
                          <m:rPr>
                            <m:sty m:val="p"/>
                          </m:rPr>
                          <a:rPr lang="en-US">
                            <a:latin typeface="Cambria Math"/>
                          </a:rPr>
                          <m:t>marginl</m:t>
                        </m:r>
                        <m:r>
                          <a:rPr lang="en-US">
                            <a:latin typeface="Cambria Math"/>
                          </a:rPr>
                          <m:t> </m:t>
                        </m:r>
                        <m:r>
                          <m:rPr>
                            <m:sty m:val="p"/>
                          </m:rPr>
                          <a:rPr lang="en-US">
                            <a:latin typeface="Cambria Math"/>
                          </a:rPr>
                          <m:t>timber</m:t>
                        </m:r>
                        <m:r>
                          <a:rPr lang="en-US">
                            <a:latin typeface="Cambria Math"/>
                          </a:rPr>
                          <m:t> </m:t>
                        </m:r>
                        <m:r>
                          <m:rPr>
                            <m:sty m:val="p"/>
                          </m:rPr>
                          <a:rPr lang="en-US">
                            <a:latin typeface="Cambria Math"/>
                          </a:rPr>
                          <m:t>production</m:t>
                        </m:r>
                      </m:num>
                      <m:den>
                        <m:r>
                          <m:rPr>
                            <m:sty m:val="p"/>
                          </m:rPr>
                          <a:rPr lang="en-US">
                            <a:latin typeface="Cambria Math" panose="02040503050406030204" pitchFamily="18" charset="0"/>
                          </a:rPr>
                          <m:t>T</m:t>
                        </m:r>
                        <m:r>
                          <m:rPr>
                            <m:sty m:val="p"/>
                          </m:rPr>
                          <a:rPr lang="en-US">
                            <a:latin typeface="Cambria Math"/>
                          </a:rPr>
                          <m:t>otal</m:t>
                        </m:r>
                        <m:r>
                          <a:rPr lang="en-US">
                            <a:latin typeface="Cambria Math"/>
                          </a:rPr>
                          <m:t> </m:t>
                        </m:r>
                        <m:r>
                          <m:rPr>
                            <m:sty m:val="p"/>
                          </m:rPr>
                          <a:rPr lang="en-US">
                            <a:latin typeface="Cambria Math"/>
                          </a:rPr>
                          <m:t>volume</m:t>
                        </m:r>
                        <m:r>
                          <a:rPr lang="en-US">
                            <a:latin typeface="Cambria Math"/>
                          </a:rPr>
                          <m:t> </m:t>
                        </m:r>
                        <m:r>
                          <m:rPr>
                            <m:sty m:val="p"/>
                          </m:rPr>
                          <a:rPr lang="en-US">
                            <a:latin typeface="Cambria Math"/>
                          </a:rPr>
                          <m:t>of</m:t>
                        </m:r>
                        <m:r>
                          <a:rPr lang="en-US">
                            <a:latin typeface="Cambria Math"/>
                          </a:rPr>
                          <m:t> </m:t>
                        </m:r>
                        <m:r>
                          <m:rPr>
                            <m:sty m:val="p"/>
                          </m:rPr>
                          <a:rPr lang="en-US">
                            <a:latin typeface="Cambria Math"/>
                          </a:rPr>
                          <m:t>timber</m:t>
                        </m:r>
                      </m:den>
                    </m:f>
                  </m:oMath>
                </a14:m>
                <a:r>
                  <a:rPr lang="en-US" dirty="0">
                    <a:latin typeface="Calibri" panose="020F0502020204030204" pitchFamily="34" charset="0"/>
                    <a:cs typeface="Calibri" panose="020F0502020204030204" pitchFamily="34" charset="0"/>
                  </a:rPr>
                  <a:t>   =    </a:t>
                </a:r>
                <a14:m>
                  <m:oMath xmlns:m="http://schemas.openxmlformats.org/officeDocument/2006/math">
                    <m:f>
                      <m:fPr>
                        <m:ctrlPr>
                          <a:rPr lang="en-US" i="1">
                            <a:latin typeface="Cambria Math" panose="02040503050406030204" pitchFamily="18" charset="0"/>
                          </a:rPr>
                        </m:ctrlPr>
                      </m:fPr>
                      <m:num>
                        <m:r>
                          <m:rPr>
                            <m:sty m:val="p"/>
                          </m:rPr>
                          <a:rPr lang="en-US">
                            <a:latin typeface="Cambria Math"/>
                          </a:rPr>
                          <m:t>CAI</m:t>
                        </m:r>
                      </m:num>
                      <m:den>
                        <m:r>
                          <m:rPr>
                            <m:sty m:val="p"/>
                          </m:rPr>
                          <a:rPr lang="en-US">
                            <a:latin typeface="Cambria Math" panose="02040503050406030204" pitchFamily="18" charset="0"/>
                          </a:rPr>
                          <m:t>T</m:t>
                        </m:r>
                        <m:r>
                          <m:rPr>
                            <m:sty m:val="p"/>
                          </m:rPr>
                          <a:rPr lang="en-US">
                            <a:latin typeface="Cambria Math"/>
                          </a:rPr>
                          <m:t>otal</m:t>
                        </m:r>
                        <m:r>
                          <a:rPr lang="en-US">
                            <a:latin typeface="Cambria Math"/>
                          </a:rPr>
                          <m:t> </m:t>
                        </m:r>
                        <m:r>
                          <m:rPr>
                            <m:sty m:val="p"/>
                          </m:rPr>
                          <a:rPr lang="en-US">
                            <a:latin typeface="Cambria Math"/>
                          </a:rPr>
                          <m:t>volume</m:t>
                        </m:r>
                        <m:r>
                          <a:rPr lang="en-US">
                            <a:latin typeface="Cambria Math"/>
                          </a:rPr>
                          <m:t> </m:t>
                        </m:r>
                        <m:r>
                          <m:rPr>
                            <m:sty m:val="p"/>
                          </m:rPr>
                          <a:rPr lang="en-US">
                            <a:latin typeface="Cambria Math"/>
                          </a:rPr>
                          <m:t>of</m:t>
                        </m:r>
                        <m:r>
                          <a:rPr lang="en-US">
                            <a:latin typeface="Cambria Math"/>
                          </a:rPr>
                          <m:t> </m:t>
                        </m:r>
                        <m:r>
                          <m:rPr>
                            <m:sty m:val="p"/>
                          </m:rPr>
                          <a:rPr lang="en-US">
                            <a:latin typeface="Cambria Math"/>
                          </a:rPr>
                          <m:t>timber</m:t>
                        </m:r>
                      </m:den>
                    </m:f>
                  </m:oMath>
                </a14:m>
                <a:r>
                  <a:rPr lang="en-US" dirty="0">
                    <a:solidFill>
                      <a:schemeClr val="accent2">
                        <a:lumMod val="75000"/>
                      </a:schemeClr>
                    </a:solidFill>
                    <a:latin typeface="Calibri" panose="020F0502020204030204" pitchFamily="34" charset="0"/>
                    <a:cs typeface="Calibri" panose="020F0502020204030204" pitchFamily="34" charset="0"/>
                  </a:rPr>
                  <a:t/>
                </a:r>
                <a:br>
                  <a:rPr lang="en-US" dirty="0">
                    <a:solidFill>
                      <a:schemeClr val="accent2">
                        <a:lumMod val="75000"/>
                      </a:schemeClr>
                    </a:solidFill>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
                </a:r>
                <a:br>
                  <a:rPr lang="en-US"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669701"/>
                <a:ext cx="10515600" cy="5507262"/>
              </a:xfrm>
              <a:blipFill rotWithShape="0">
                <a:blip r:embed="rId2"/>
                <a:stretch>
                  <a:fillRect l="-1217" t="-1883" r="-1681"/>
                </a:stretch>
              </a:blipFill>
            </p:spPr>
            <p:txBody>
              <a:bodyPr/>
              <a:lstStyle/>
              <a:p>
                <a:r>
                  <a:rPr lang="en-US">
                    <a:noFill/>
                  </a:rPr>
                  <a:t> </a:t>
                </a:r>
              </a:p>
            </p:txBody>
          </p:sp>
        </mc:Fallback>
      </mc:AlternateContent>
    </p:spTree>
    <p:extLst>
      <p:ext uri="{BB962C8B-B14F-4D97-AF65-F5344CB8AC3E}">
        <p14:creationId xmlns:p14="http://schemas.microsoft.com/office/powerpoint/2010/main" val="2013247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8392" y="752340"/>
                <a:ext cx="11733607" cy="6105659"/>
              </a:xfrm>
            </p:spPr>
            <p:txBody>
              <a:bodyPr>
                <a:noAutofit/>
              </a:bodyPr>
              <a:lstStyle/>
              <a:p>
                <a:pPr marL="0" indent="0">
                  <a:buNone/>
                </a:pPr>
                <a:r>
                  <a:rPr lang="en-US" sz="2000" dirty="0">
                    <a:solidFill>
                      <a:schemeClr val="tx1"/>
                    </a:solidFill>
                    <a:latin typeface="Calibri" panose="020F0502020204030204" pitchFamily="34" charset="0"/>
                    <a:cs typeface="Calibri" panose="020F0502020204030204" pitchFamily="34" charset="0"/>
                  </a:rPr>
                  <a:t/>
                </a:r>
                <a:br>
                  <a:rPr lang="en-US" sz="2000" dirty="0">
                    <a:solidFill>
                      <a:schemeClr val="tx1"/>
                    </a:solidFill>
                    <a:latin typeface="Calibri" panose="020F0502020204030204" pitchFamily="34" charset="0"/>
                    <a:cs typeface="Calibri" panose="020F0502020204030204" pitchFamily="34" charset="0"/>
                  </a:rPr>
                </a:br>
                <a:endParaRPr lang="en-US" sz="2000" dirty="0">
                  <a:solidFill>
                    <a:schemeClr val="tx1"/>
                  </a:solidFill>
                  <a:latin typeface="Calibri" panose="020F0502020204030204" pitchFamily="34" charset="0"/>
                  <a:cs typeface="Calibri" panose="020F0502020204030204" pitchFamily="34" charset="0"/>
                </a:endParaRPr>
              </a:p>
              <a:p>
                <a:r>
                  <a:rPr lang="en-US" sz="2400" dirty="0">
                    <a:solidFill>
                      <a:schemeClr val="tx1"/>
                    </a:solidFill>
                    <a:latin typeface="Calibri" panose="020F0502020204030204" pitchFamily="34" charset="0"/>
                    <a:cs typeface="Calibri" panose="020F0502020204030204" pitchFamily="34" charset="0"/>
                  </a:rPr>
                  <a:t>So rate of economical tax rental in the non harvesting stock</a:t>
                </a:r>
              </a:p>
              <a:p>
                <a:pPr marL="0" indent="0">
                  <a:buNone/>
                </a:pPr>
                <a:r>
                  <a:rPr lang="en-US" sz="2000" dirty="0">
                    <a:solidFill>
                      <a:schemeClr val="tx1"/>
                    </a:solidFill>
                    <a:latin typeface="Calibri" panose="020F0502020204030204" pitchFamily="34" charset="0"/>
                    <a:cs typeface="Calibri" panose="020F0502020204030204" pitchFamily="34" charset="0"/>
                  </a:rPr>
                  <a:t/>
                </a:r>
                <a:br>
                  <a:rPr lang="en-US" sz="2000" dirty="0">
                    <a:solidFill>
                      <a:schemeClr val="tx1"/>
                    </a:solidFill>
                    <a:latin typeface="Calibri" panose="020F0502020204030204" pitchFamily="34" charset="0"/>
                    <a:cs typeface="Calibri" panose="020F0502020204030204" pitchFamily="34" charset="0"/>
                  </a:rPr>
                </a:br>
                <a14:m>
                  <m:oMath xmlns:m="http://schemas.openxmlformats.org/officeDocument/2006/math">
                    <m:f>
                      <m:fPr>
                        <m:ctrlPr>
                          <a:rPr lang="en-US" sz="2400" i="1" smtClean="0">
                            <a:solidFill>
                              <a:schemeClr val="tx1"/>
                            </a:solidFill>
                            <a:latin typeface="Cambria Math" panose="02040503050406030204" pitchFamily="18" charset="0"/>
                          </a:rPr>
                        </m:ctrlPr>
                      </m:fPr>
                      <m:num>
                        <m:r>
                          <m:rPr>
                            <m:sty m:val="p"/>
                          </m:rPr>
                          <a:rPr lang="en-US" sz="2400" b="0" i="0" smtClean="0">
                            <a:solidFill>
                              <a:schemeClr val="tx1"/>
                            </a:solidFill>
                            <a:latin typeface="Cambria Math"/>
                          </a:rPr>
                          <m:t>CAI</m:t>
                        </m:r>
                        <m:r>
                          <a:rPr lang="en-US" sz="2400" b="0" i="0" smtClean="0">
                            <a:solidFill>
                              <a:schemeClr val="tx1"/>
                            </a:solidFill>
                            <a:latin typeface="Cambria Math"/>
                          </a:rPr>
                          <m:t> ×</m:t>
                        </m:r>
                        <m:r>
                          <m:rPr>
                            <m:sty m:val="p"/>
                          </m:rPr>
                          <a:rPr lang="en-US" sz="2400" b="0" i="0" smtClean="0">
                            <a:solidFill>
                              <a:schemeClr val="tx1"/>
                            </a:solidFill>
                            <a:latin typeface="Cambria Math" panose="02040503050406030204" pitchFamily="18" charset="0"/>
                          </a:rPr>
                          <m:t>P</m:t>
                        </m:r>
                        <m:r>
                          <m:rPr>
                            <m:sty m:val="p"/>
                          </m:rPr>
                          <a:rPr lang="en-US" sz="2400" b="0" i="0" smtClean="0">
                            <a:solidFill>
                              <a:schemeClr val="tx1"/>
                            </a:solidFill>
                            <a:latin typeface="Cambria Math"/>
                            <a:ea typeface="Cambria Math"/>
                          </a:rPr>
                          <m:t>rice</m:t>
                        </m:r>
                      </m:num>
                      <m:den>
                        <m:r>
                          <m:rPr>
                            <m:sty m:val="p"/>
                          </m:rPr>
                          <a:rPr lang="en-US" sz="2400" b="0" i="0" smtClean="0">
                            <a:solidFill>
                              <a:schemeClr val="tx1"/>
                            </a:solidFill>
                            <a:latin typeface="Cambria Math" panose="02040503050406030204" pitchFamily="18" charset="0"/>
                            <a:ea typeface="Cambria Math"/>
                          </a:rPr>
                          <m:t>T</m:t>
                        </m:r>
                        <m:r>
                          <m:rPr>
                            <m:sty m:val="p"/>
                          </m:rPr>
                          <a:rPr lang="en-US" sz="2400" b="0" i="0" smtClean="0">
                            <a:solidFill>
                              <a:schemeClr val="tx1"/>
                            </a:solidFill>
                            <a:latin typeface="Cambria Math"/>
                          </a:rPr>
                          <m:t>otal</m:t>
                        </m:r>
                        <m:r>
                          <a:rPr lang="en-US" sz="2400" b="0" i="0" smtClean="0">
                            <a:solidFill>
                              <a:schemeClr val="tx1"/>
                            </a:solidFill>
                            <a:latin typeface="Cambria Math"/>
                          </a:rPr>
                          <m:t> </m:t>
                        </m:r>
                        <m:r>
                          <m:rPr>
                            <m:sty m:val="p"/>
                          </m:rPr>
                          <a:rPr lang="en-US" sz="2400" b="0" i="0" smtClean="0">
                            <a:solidFill>
                              <a:schemeClr val="tx1"/>
                            </a:solidFill>
                            <a:latin typeface="Cambria Math"/>
                          </a:rPr>
                          <m:t>volume</m:t>
                        </m:r>
                        <m:r>
                          <a:rPr lang="en-US" sz="2400" b="0" i="0" smtClean="0">
                            <a:solidFill>
                              <a:schemeClr val="tx1"/>
                            </a:solidFill>
                            <a:latin typeface="Cambria Math"/>
                            <a:ea typeface="Cambria Math"/>
                          </a:rPr>
                          <m:t>×</m:t>
                        </m:r>
                        <m:r>
                          <m:rPr>
                            <m:sty m:val="p"/>
                          </m:rPr>
                          <a:rPr lang="en-US" sz="2400" b="0" i="0" smtClean="0">
                            <a:solidFill>
                              <a:schemeClr val="tx1"/>
                            </a:solidFill>
                            <a:latin typeface="Cambria Math" panose="02040503050406030204" pitchFamily="18" charset="0"/>
                            <a:ea typeface="Cambria Math"/>
                          </a:rPr>
                          <m:t>P</m:t>
                        </m:r>
                        <m:r>
                          <m:rPr>
                            <m:sty m:val="p"/>
                          </m:rPr>
                          <a:rPr lang="en-US" sz="2400" b="0" i="0" smtClean="0">
                            <a:solidFill>
                              <a:schemeClr val="tx1"/>
                            </a:solidFill>
                            <a:latin typeface="Cambria Math"/>
                            <a:ea typeface="Cambria Math"/>
                          </a:rPr>
                          <m:t>rice</m:t>
                        </m:r>
                      </m:den>
                    </m:f>
                  </m:oMath>
                </a14:m>
                <a:r>
                  <a:rPr lang="en-US" sz="2400" dirty="0">
                    <a:solidFill>
                      <a:schemeClr val="tx1"/>
                    </a:solidFill>
                    <a:latin typeface="Calibri" panose="020F0502020204030204" pitchFamily="34" charset="0"/>
                    <a:cs typeface="Calibri" panose="020F0502020204030204" pitchFamily="34" charset="0"/>
                  </a:rPr>
                  <a:t>  =  </a:t>
                </a:r>
                <a14:m>
                  <m:oMath xmlns:m="http://schemas.openxmlformats.org/officeDocument/2006/math">
                    <m:f>
                      <m:fPr>
                        <m:ctrlPr>
                          <a:rPr lang="en-US" sz="2400" i="1" smtClean="0">
                            <a:solidFill>
                              <a:schemeClr val="tx1"/>
                            </a:solidFill>
                            <a:latin typeface="Cambria Math" panose="02040503050406030204" pitchFamily="18" charset="0"/>
                          </a:rPr>
                        </m:ctrlPr>
                      </m:fPr>
                      <m:num>
                        <m:r>
                          <m:rPr>
                            <m:sty m:val="p"/>
                          </m:rPr>
                          <a:rPr lang="en-US" sz="2400" b="0" i="0" smtClean="0">
                            <a:solidFill>
                              <a:schemeClr val="tx1"/>
                            </a:solidFill>
                            <a:latin typeface="Cambria Math" panose="02040503050406030204" pitchFamily="18" charset="0"/>
                          </a:rPr>
                          <m:t>V</m:t>
                        </m:r>
                        <m:r>
                          <m:rPr>
                            <m:sty m:val="p"/>
                          </m:rPr>
                          <a:rPr lang="en-US" sz="2400" b="0" i="0" smtClean="0">
                            <a:solidFill>
                              <a:schemeClr val="tx1"/>
                            </a:solidFill>
                            <a:latin typeface="Cambria Math"/>
                          </a:rPr>
                          <m:t>alue</m:t>
                        </m:r>
                        <m:r>
                          <a:rPr lang="en-US" sz="2400" b="0" i="0" smtClean="0">
                            <a:solidFill>
                              <a:schemeClr val="tx1"/>
                            </a:solidFill>
                            <a:latin typeface="Cambria Math"/>
                          </a:rPr>
                          <m:t> </m:t>
                        </m:r>
                        <m:r>
                          <m:rPr>
                            <m:sty m:val="p"/>
                          </m:rPr>
                          <a:rPr lang="en-US" sz="2400" b="0" i="0" smtClean="0">
                            <a:solidFill>
                              <a:schemeClr val="tx1"/>
                            </a:solidFill>
                            <a:latin typeface="Cambria Math"/>
                          </a:rPr>
                          <m:t>of</m:t>
                        </m:r>
                        <m:r>
                          <a:rPr lang="en-US" sz="2400" b="0" i="0" smtClean="0">
                            <a:solidFill>
                              <a:schemeClr val="tx1"/>
                            </a:solidFill>
                            <a:latin typeface="Cambria Math"/>
                          </a:rPr>
                          <m:t> </m:t>
                        </m:r>
                        <m:r>
                          <m:rPr>
                            <m:sty m:val="p"/>
                          </m:rPr>
                          <a:rPr lang="en-US" sz="2400" b="0" i="0" smtClean="0">
                            <a:solidFill>
                              <a:schemeClr val="tx1"/>
                            </a:solidFill>
                            <a:latin typeface="Cambria Math"/>
                          </a:rPr>
                          <m:t>CAI</m:t>
                        </m:r>
                      </m:num>
                      <m:den>
                        <m:r>
                          <m:rPr>
                            <m:sty m:val="p"/>
                          </m:rPr>
                          <a:rPr lang="en-US" sz="2400" b="0" i="0" smtClean="0">
                            <a:solidFill>
                              <a:schemeClr val="tx1"/>
                            </a:solidFill>
                            <a:latin typeface="Cambria Math"/>
                          </a:rPr>
                          <m:t>value</m:t>
                        </m:r>
                        <m:r>
                          <a:rPr lang="en-US" sz="2400" b="0" i="0" smtClean="0">
                            <a:solidFill>
                              <a:schemeClr val="tx1"/>
                            </a:solidFill>
                            <a:latin typeface="Cambria Math"/>
                          </a:rPr>
                          <m:t> </m:t>
                        </m:r>
                        <m:r>
                          <m:rPr>
                            <m:sty m:val="p"/>
                          </m:rPr>
                          <a:rPr lang="en-US" sz="2400" b="0" i="0" smtClean="0">
                            <a:solidFill>
                              <a:schemeClr val="tx1"/>
                            </a:solidFill>
                            <a:latin typeface="Cambria Math"/>
                          </a:rPr>
                          <m:t>of</m:t>
                        </m:r>
                        <m:r>
                          <a:rPr lang="en-US" sz="2400" b="0" i="0" smtClean="0">
                            <a:solidFill>
                              <a:schemeClr val="tx1"/>
                            </a:solidFill>
                            <a:latin typeface="Cambria Math"/>
                          </a:rPr>
                          <m:t> </m:t>
                        </m:r>
                        <m:r>
                          <m:rPr>
                            <m:sty m:val="p"/>
                          </m:rPr>
                          <a:rPr lang="en-US" sz="2400" b="0" i="0" smtClean="0">
                            <a:solidFill>
                              <a:schemeClr val="tx1"/>
                            </a:solidFill>
                            <a:latin typeface="Cambria Math"/>
                          </a:rPr>
                          <m:t>total</m:t>
                        </m:r>
                        <m:r>
                          <a:rPr lang="en-US" sz="2400" b="0" i="0" smtClean="0">
                            <a:solidFill>
                              <a:schemeClr val="tx1"/>
                            </a:solidFill>
                            <a:latin typeface="Cambria Math"/>
                          </a:rPr>
                          <m:t> </m:t>
                        </m:r>
                        <m:r>
                          <m:rPr>
                            <m:sty m:val="p"/>
                          </m:rPr>
                          <a:rPr lang="en-US" sz="2400" b="0" i="0" smtClean="0">
                            <a:solidFill>
                              <a:schemeClr val="tx1"/>
                            </a:solidFill>
                            <a:latin typeface="Cambria Math"/>
                          </a:rPr>
                          <m:t>timber</m:t>
                        </m:r>
                        <m:r>
                          <a:rPr lang="en-US" sz="2400" b="0" i="0" smtClean="0">
                            <a:solidFill>
                              <a:schemeClr val="tx1"/>
                            </a:solidFill>
                            <a:latin typeface="Cambria Math"/>
                          </a:rPr>
                          <m:t> </m:t>
                        </m:r>
                        <m:r>
                          <m:rPr>
                            <m:sty m:val="p"/>
                          </m:rPr>
                          <a:rPr lang="en-US" sz="2400" b="0" i="0" smtClean="0">
                            <a:solidFill>
                              <a:schemeClr val="tx1"/>
                            </a:solidFill>
                            <a:latin typeface="Cambria Math"/>
                          </a:rPr>
                          <m:t>stock</m:t>
                        </m:r>
                      </m:den>
                    </m:f>
                  </m:oMath>
                </a14:m>
                <a:r>
                  <a:rPr lang="en-US" sz="2000" dirty="0">
                    <a:solidFill>
                      <a:schemeClr val="tx1"/>
                    </a:solidFill>
                    <a:latin typeface="Calibri" panose="020F0502020204030204" pitchFamily="34" charset="0"/>
                    <a:cs typeface="Calibri" panose="020F0502020204030204" pitchFamily="34" charset="0"/>
                  </a:rPr>
                  <a:t/>
                </a:r>
                <a:br>
                  <a:rPr lang="en-US" sz="2000" dirty="0">
                    <a:solidFill>
                      <a:schemeClr val="tx1"/>
                    </a:solidFill>
                    <a:latin typeface="Calibri" panose="020F0502020204030204" pitchFamily="34" charset="0"/>
                    <a:cs typeface="Calibri" panose="020F0502020204030204" pitchFamily="34" charset="0"/>
                  </a:rPr>
                </a:br>
                <a:endParaRPr lang="en-US" sz="2000" dirty="0">
                  <a:solidFill>
                    <a:schemeClr val="tx1"/>
                  </a:solidFill>
                  <a:latin typeface="Calibri" panose="020F0502020204030204" pitchFamily="34" charset="0"/>
                  <a:cs typeface="Calibri" panose="020F0502020204030204" pitchFamily="34" charset="0"/>
                </a:endParaRPr>
              </a:p>
              <a:p>
                <a:r>
                  <a:rPr lang="en-US" sz="2000" dirty="0">
                    <a:solidFill>
                      <a:srgbClr val="FF0000"/>
                    </a:solidFill>
                    <a:latin typeface="Calibri" panose="020F0502020204030204" pitchFamily="34" charset="0"/>
                    <a:cs typeface="Calibri" panose="020F0502020204030204" pitchFamily="34" charset="0"/>
                  </a:rPr>
                  <a:t>Correct time of harvesting is…..</a:t>
                </a:r>
              </a:p>
              <a:p>
                <a:pPr marL="0" indent="0">
                  <a:buNone/>
                </a:pPr>
                <a:r>
                  <a:rPr lang="en-US" sz="2000" dirty="0">
                    <a:solidFill>
                      <a:srgbClr val="FF0000"/>
                    </a:solidFill>
                    <a:latin typeface="Calibri" panose="020F0502020204030204" pitchFamily="34" charset="0"/>
                    <a:cs typeface="Calibri" panose="020F0502020204030204" pitchFamily="34" charset="0"/>
                  </a:rPr>
                  <a:t/>
                </a:r>
                <a:br>
                  <a:rPr lang="en-US" sz="2000" dirty="0">
                    <a:solidFill>
                      <a:srgbClr val="FF0000"/>
                    </a:solidFill>
                    <a:latin typeface="Calibri" panose="020F0502020204030204" pitchFamily="34" charset="0"/>
                    <a:cs typeface="Calibri" panose="020F0502020204030204" pitchFamily="34" charset="0"/>
                  </a:rPr>
                </a:br>
                <a14:m>
                  <m:oMath xmlns:m="http://schemas.openxmlformats.org/officeDocument/2006/math">
                    <m:f>
                      <m:fPr>
                        <m:ctrlPr>
                          <a:rPr lang="en-US" sz="2800" i="1" smtClean="0">
                            <a:solidFill>
                              <a:srgbClr val="FF0000"/>
                            </a:solidFill>
                            <a:latin typeface="Cambria Math" panose="02040503050406030204" pitchFamily="18" charset="0"/>
                          </a:rPr>
                        </m:ctrlPr>
                      </m:fPr>
                      <m:num>
                        <m:r>
                          <m:rPr>
                            <m:sty m:val="p"/>
                          </m:rPr>
                          <a:rPr lang="en-US" sz="2800" b="0" i="0" smtClean="0">
                            <a:solidFill>
                              <a:srgbClr val="FF0000"/>
                            </a:solidFill>
                            <a:latin typeface="Cambria Math"/>
                          </a:rPr>
                          <m:t>value</m:t>
                        </m:r>
                        <m:r>
                          <a:rPr lang="en-US" sz="2800" b="0" i="0" smtClean="0">
                            <a:solidFill>
                              <a:srgbClr val="FF0000"/>
                            </a:solidFill>
                            <a:latin typeface="Cambria Math"/>
                          </a:rPr>
                          <m:t> </m:t>
                        </m:r>
                        <m:r>
                          <m:rPr>
                            <m:sty m:val="p"/>
                          </m:rPr>
                          <a:rPr lang="en-US" sz="2800" b="0" i="0" smtClean="0">
                            <a:solidFill>
                              <a:srgbClr val="FF0000"/>
                            </a:solidFill>
                            <a:latin typeface="Cambria Math"/>
                          </a:rPr>
                          <m:t>of</m:t>
                        </m:r>
                        <m:r>
                          <a:rPr lang="en-US" sz="2800" b="0" i="0" smtClean="0">
                            <a:solidFill>
                              <a:srgbClr val="FF0000"/>
                            </a:solidFill>
                            <a:latin typeface="Cambria Math"/>
                          </a:rPr>
                          <m:t> </m:t>
                        </m:r>
                        <m:r>
                          <m:rPr>
                            <m:sty m:val="p"/>
                          </m:rPr>
                          <a:rPr lang="en-US" sz="2800" b="0" i="0" smtClean="0">
                            <a:solidFill>
                              <a:srgbClr val="FF0000"/>
                            </a:solidFill>
                            <a:latin typeface="Cambria Math"/>
                          </a:rPr>
                          <m:t>CAI</m:t>
                        </m:r>
                      </m:num>
                      <m:den>
                        <m:r>
                          <m:rPr>
                            <m:sty m:val="p"/>
                          </m:rPr>
                          <a:rPr lang="en-US" sz="2800" b="0" i="0" smtClean="0">
                            <a:solidFill>
                              <a:srgbClr val="FF0000"/>
                            </a:solidFill>
                            <a:latin typeface="Cambria Math"/>
                          </a:rPr>
                          <m:t>value</m:t>
                        </m:r>
                        <m:r>
                          <a:rPr lang="en-US" sz="2800" b="0" i="0" smtClean="0">
                            <a:solidFill>
                              <a:srgbClr val="FF0000"/>
                            </a:solidFill>
                            <a:latin typeface="Cambria Math"/>
                          </a:rPr>
                          <m:t> </m:t>
                        </m:r>
                        <m:r>
                          <m:rPr>
                            <m:sty m:val="p"/>
                          </m:rPr>
                          <a:rPr lang="en-US" sz="2800" b="0" i="0" smtClean="0">
                            <a:solidFill>
                              <a:srgbClr val="FF0000"/>
                            </a:solidFill>
                            <a:latin typeface="Cambria Math"/>
                          </a:rPr>
                          <m:t>of</m:t>
                        </m:r>
                        <m:r>
                          <a:rPr lang="en-US" sz="2800" b="0" i="0" smtClean="0">
                            <a:solidFill>
                              <a:srgbClr val="FF0000"/>
                            </a:solidFill>
                            <a:latin typeface="Cambria Math"/>
                          </a:rPr>
                          <m:t> </m:t>
                        </m:r>
                        <m:r>
                          <m:rPr>
                            <m:sty m:val="p"/>
                          </m:rPr>
                          <a:rPr lang="en-US" sz="2800" b="0" i="0" smtClean="0">
                            <a:solidFill>
                              <a:srgbClr val="FF0000"/>
                            </a:solidFill>
                            <a:latin typeface="Cambria Math"/>
                          </a:rPr>
                          <m:t>total</m:t>
                        </m:r>
                        <m:r>
                          <a:rPr lang="en-US" sz="2800" b="0" i="0" smtClean="0">
                            <a:solidFill>
                              <a:srgbClr val="FF0000"/>
                            </a:solidFill>
                            <a:latin typeface="Cambria Math"/>
                          </a:rPr>
                          <m:t> </m:t>
                        </m:r>
                        <m:r>
                          <m:rPr>
                            <m:sty m:val="p"/>
                          </m:rPr>
                          <a:rPr lang="en-US" sz="2800" b="0" i="0" smtClean="0">
                            <a:solidFill>
                              <a:srgbClr val="FF0000"/>
                            </a:solidFill>
                            <a:latin typeface="Cambria Math"/>
                          </a:rPr>
                          <m:t>timber</m:t>
                        </m:r>
                        <m:r>
                          <a:rPr lang="en-US" sz="2800" b="0" i="0" smtClean="0">
                            <a:solidFill>
                              <a:srgbClr val="FF0000"/>
                            </a:solidFill>
                            <a:latin typeface="Cambria Math"/>
                          </a:rPr>
                          <m:t> </m:t>
                        </m:r>
                        <m:r>
                          <m:rPr>
                            <m:sty m:val="p"/>
                          </m:rPr>
                          <a:rPr lang="en-US" sz="2800" b="0" i="0" smtClean="0">
                            <a:solidFill>
                              <a:srgbClr val="FF0000"/>
                            </a:solidFill>
                            <a:latin typeface="Cambria Math"/>
                          </a:rPr>
                          <m:t>stock</m:t>
                        </m:r>
                      </m:den>
                    </m:f>
                  </m:oMath>
                </a14:m>
                <a:r>
                  <a:rPr lang="en-US" sz="2800" dirty="0">
                    <a:solidFill>
                      <a:srgbClr val="FF0000"/>
                    </a:solidFill>
                    <a:latin typeface="Calibri" panose="020F0502020204030204" pitchFamily="34" charset="0"/>
                    <a:cs typeface="Calibri" panose="020F0502020204030204" pitchFamily="34" charset="0"/>
                  </a:rPr>
                  <a:t>  =  Interest rate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8392" y="752340"/>
                <a:ext cx="11733607" cy="6105659"/>
              </a:xfrm>
              <a:blipFill rotWithShape="0">
                <a:blip r:embed="rId2"/>
                <a:stretch>
                  <a:fillRect l="-675"/>
                </a:stretch>
              </a:blipFill>
            </p:spPr>
            <p:txBody>
              <a:bodyPr/>
              <a:lstStyle/>
              <a:p>
                <a:r>
                  <a:rPr lang="en-US">
                    <a:noFill/>
                  </a:rPr>
                  <a:t> </a:t>
                </a:r>
              </a:p>
            </p:txBody>
          </p:sp>
        </mc:Fallback>
      </mc:AlternateContent>
    </p:spTree>
    <p:extLst>
      <p:ext uri="{BB962C8B-B14F-4D97-AF65-F5344CB8AC3E}">
        <p14:creationId xmlns:p14="http://schemas.microsoft.com/office/powerpoint/2010/main" val="23841912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Optimal Rotation</a:t>
            </a:r>
          </a:p>
        </p:txBody>
      </p:sp>
      <p:sp>
        <p:nvSpPr>
          <p:cNvPr id="3" name="Content Placeholder 2"/>
          <p:cNvSpPr>
            <a:spLocks noGrp="1"/>
          </p:cNvSpPr>
          <p:nvPr>
            <p:ph idx="1"/>
          </p:nvPr>
        </p:nvSpPr>
        <p:spPr/>
        <p:txBody>
          <a:bodyPr/>
          <a:lstStyle/>
          <a:p>
            <a:r>
              <a:rPr lang="en-US" dirty="0"/>
              <a:t>The Maximum sustained yield (MSY) or the mean annual increment (MAI) is used by biologists to determine the optimal harvest age for timber</a:t>
            </a:r>
          </a:p>
          <a:p>
            <a:endParaRPr lang="en-US" dirty="0"/>
          </a:p>
          <a:p>
            <a:r>
              <a:rPr lang="en-US" dirty="0"/>
              <a:t> The allowable annual cut is usually based on the MSY concept</a:t>
            </a:r>
          </a:p>
          <a:p>
            <a:pPr marL="914400" lvl="2" indent="0">
              <a:buNone/>
            </a:pPr>
            <a:r>
              <a:rPr lang="en-US" sz="2800" dirty="0">
                <a:solidFill>
                  <a:schemeClr val="accent5">
                    <a:lumMod val="75000"/>
                  </a:schemeClr>
                </a:solidFill>
              </a:rPr>
              <a:t>Maximize MSY  =  f(T)/T</a:t>
            </a:r>
          </a:p>
          <a:p>
            <a:pPr marL="914400" lvl="2" indent="0">
              <a:buNone/>
            </a:pPr>
            <a:r>
              <a:rPr lang="en-US" sz="2800" dirty="0">
                <a:solidFill>
                  <a:schemeClr val="accent5">
                    <a:lumMod val="75000"/>
                  </a:schemeClr>
                </a:solidFill>
              </a:rPr>
              <a:t>                 0         =  f(T)/T</a:t>
            </a:r>
          </a:p>
          <a:p>
            <a:pPr marL="914400" lvl="2" indent="0">
              <a:buNone/>
            </a:pPr>
            <a:r>
              <a:rPr lang="en-US" sz="2800" dirty="0">
                <a:solidFill>
                  <a:schemeClr val="accent5">
                    <a:lumMod val="75000"/>
                  </a:schemeClr>
                </a:solidFill>
              </a:rPr>
              <a:t>	</a:t>
            </a:r>
          </a:p>
        </p:txBody>
      </p:sp>
    </p:spTree>
    <p:extLst>
      <p:ext uri="{BB962C8B-B14F-4D97-AF65-F5344CB8AC3E}">
        <p14:creationId xmlns:p14="http://schemas.microsoft.com/office/powerpoint/2010/main" val="2429929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5307"/>
            <a:ext cx="10515600" cy="5571656"/>
          </a:xfrm>
        </p:spPr>
        <p:txBody>
          <a:bodyPr/>
          <a:lstStyle/>
          <a:p>
            <a:r>
              <a:rPr lang="en-US" dirty="0"/>
              <a:t>Cutting rule can also use to explain optimum</a:t>
            </a:r>
          </a:p>
          <a:p>
            <a:r>
              <a:rPr lang="en-US" dirty="0"/>
              <a:t>Cutting rule is the current annual increment at harvest age meaning annual increment at harvest age </a:t>
            </a:r>
          </a:p>
          <a:p>
            <a:pPr marL="0" indent="0">
              <a:buNone/>
            </a:pPr>
            <a:r>
              <a:rPr lang="en-US" dirty="0"/>
              <a:t/>
            </a:r>
            <a:br>
              <a:rPr lang="en-US" dirty="0"/>
            </a:br>
            <a:r>
              <a:rPr lang="en-US" dirty="0"/>
              <a:t> 		</a:t>
            </a:r>
            <a:r>
              <a:rPr lang="en-US" dirty="0">
                <a:solidFill>
                  <a:schemeClr val="accent5">
                    <a:lumMod val="75000"/>
                  </a:schemeClr>
                </a:solidFill>
              </a:rPr>
              <a:t>CAI = MAI</a:t>
            </a:r>
          </a:p>
          <a:p>
            <a:r>
              <a:rPr lang="en-US" dirty="0"/>
              <a:t>Clear cut the forest, when the current annual increment (CAI) is equal to the mean annual increment (MAI) </a:t>
            </a:r>
          </a:p>
          <a:p>
            <a:endParaRPr lang="en-US" dirty="0"/>
          </a:p>
          <a:p>
            <a:r>
              <a:rPr lang="en-US" dirty="0"/>
              <a:t>Nowadays, forestry is guided by this (or some similar rule) that is often justified to guarantee sustainability instead of economic efficiency.</a:t>
            </a:r>
          </a:p>
          <a:p>
            <a:endParaRPr lang="en-US" dirty="0">
              <a:solidFill>
                <a:schemeClr val="accent5">
                  <a:lumMod val="75000"/>
                </a:schemeClr>
              </a:solidFill>
            </a:endParaRPr>
          </a:p>
          <a:p>
            <a:pPr marL="0" indent="0">
              <a:buNone/>
            </a:pPr>
            <a:endParaRPr lang="en-US" dirty="0">
              <a:solidFill>
                <a:schemeClr val="accent5">
                  <a:lumMod val="75000"/>
                </a:schemeClr>
              </a:solidFill>
            </a:endParaRPr>
          </a:p>
        </p:txBody>
      </p:sp>
    </p:spTree>
    <p:extLst>
      <p:ext uri="{BB962C8B-B14F-4D97-AF65-F5344CB8AC3E}">
        <p14:creationId xmlns:p14="http://schemas.microsoft.com/office/powerpoint/2010/main" val="39391112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solidFill>
                  <a:srgbClr val="FF0000"/>
                </a:solidFill>
              </a:rPr>
              <a:t>Bioeconomic</a:t>
            </a:r>
            <a:r>
              <a:rPr lang="en-US" dirty="0">
                <a:solidFill>
                  <a:srgbClr val="FF0000"/>
                </a:solidFill>
              </a:rPr>
              <a:t> models</a:t>
            </a:r>
          </a:p>
        </p:txBody>
      </p:sp>
      <p:sp>
        <p:nvSpPr>
          <p:cNvPr id="5" name="Content Placeholder 4"/>
          <p:cNvSpPr>
            <a:spLocks noGrp="1"/>
          </p:cNvSpPr>
          <p:nvPr>
            <p:ph idx="1"/>
          </p:nvPr>
        </p:nvSpPr>
        <p:spPr/>
        <p:txBody>
          <a:bodyPr>
            <a:normAutofit/>
          </a:bodyPr>
          <a:lstStyle/>
          <a:p>
            <a:r>
              <a:rPr lang="en-US" dirty="0"/>
              <a:t> The analysis of the values of </a:t>
            </a:r>
            <a:r>
              <a:rPr lang="en-US" dirty="0">
                <a:solidFill>
                  <a:srgbClr val="7030A0"/>
                </a:solidFill>
              </a:rPr>
              <a:t>alternative uses of the forest </a:t>
            </a:r>
            <a:r>
              <a:rPr lang="en-US" dirty="0"/>
              <a:t>is based on a </a:t>
            </a:r>
            <a:r>
              <a:rPr lang="en-US" dirty="0" err="1"/>
              <a:t>bioeconomic</a:t>
            </a:r>
            <a:r>
              <a:rPr lang="en-US" dirty="0"/>
              <a:t> model.</a:t>
            </a:r>
          </a:p>
          <a:p>
            <a:r>
              <a:rPr lang="en-US" dirty="0"/>
              <a:t> The </a:t>
            </a:r>
            <a:r>
              <a:rPr lang="en-US" dirty="0">
                <a:solidFill>
                  <a:srgbClr val="00B050"/>
                </a:solidFill>
              </a:rPr>
              <a:t>biological</a:t>
            </a:r>
            <a:r>
              <a:rPr lang="en-US" dirty="0"/>
              <a:t> component of the model describes </a:t>
            </a:r>
            <a:r>
              <a:rPr lang="en-US" dirty="0">
                <a:solidFill>
                  <a:srgbClr val="00B050"/>
                </a:solidFill>
              </a:rPr>
              <a:t>the growth of the volume of timber over time on a hectare of forest land</a:t>
            </a:r>
            <a:r>
              <a:rPr lang="en-US" dirty="0"/>
              <a:t>. </a:t>
            </a:r>
          </a:p>
          <a:p>
            <a:r>
              <a:rPr lang="en-US" dirty="0"/>
              <a:t>The </a:t>
            </a:r>
            <a:r>
              <a:rPr lang="en-US" dirty="0">
                <a:solidFill>
                  <a:srgbClr val="00B0F0"/>
                </a:solidFill>
              </a:rPr>
              <a:t>economic component </a:t>
            </a:r>
            <a:r>
              <a:rPr lang="en-US" dirty="0"/>
              <a:t>of the model places </a:t>
            </a:r>
            <a:r>
              <a:rPr lang="en-US" dirty="0">
                <a:solidFill>
                  <a:srgbClr val="00B0F0"/>
                </a:solidFill>
              </a:rPr>
              <a:t>dollar values on the output </a:t>
            </a:r>
            <a:r>
              <a:rPr lang="en-US" dirty="0"/>
              <a:t>of forested land under alternative patterns of use. </a:t>
            </a:r>
          </a:p>
        </p:txBody>
      </p:sp>
    </p:spTree>
    <p:extLst>
      <p:ext uri="{BB962C8B-B14F-4D97-AF65-F5344CB8AC3E}">
        <p14:creationId xmlns:p14="http://schemas.microsoft.com/office/powerpoint/2010/main" val="3551241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r>
              <a:rPr lang="en-US" dirty="0"/>
              <a:t>A </a:t>
            </a:r>
            <a:r>
              <a:rPr lang="en-US" dirty="0" err="1"/>
              <a:t>Bioeconomic</a:t>
            </a:r>
            <a:r>
              <a:rPr lang="en-US" dirty="0"/>
              <a:t> model is used to help determine an efficient management plan for the forest. </a:t>
            </a:r>
          </a:p>
          <a:p>
            <a:pPr algn="ctr">
              <a:buNone/>
            </a:pPr>
            <a:r>
              <a:rPr lang="en-US" dirty="0">
                <a:solidFill>
                  <a:srgbClr val="FF0000"/>
                </a:solidFill>
              </a:rPr>
              <a:t>S(t) = p(t) x(t) - c(x(t))</a:t>
            </a:r>
            <a:r>
              <a:rPr lang="en-US" dirty="0"/>
              <a:t>      </a:t>
            </a:r>
          </a:p>
          <a:p>
            <a:pPr>
              <a:buNone/>
            </a:pPr>
            <a:r>
              <a:rPr lang="en-US" dirty="0"/>
              <a:t>Where</a:t>
            </a:r>
          </a:p>
          <a:p>
            <a:r>
              <a:rPr lang="en-US" dirty="0"/>
              <a:t>S(t): stumpage value </a:t>
            </a:r>
          </a:p>
          <a:p>
            <a:r>
              <a:rPr lang="en-US" dirty="0"/>
              <a:t>p(t): market value per unit (the "price") of  biomass</a:t>
            </a:r>
          </a:p>
          <a:p>
            <a:r>
              <a:rPr lang="en-US" dirty="0"/>
              <a:t> x(t):is the quantity of biomass</a:t>
            </a:r>
          </a:p>
          <a:p>
            <a:r>
              <a:rPr lang="en-US" dirty="0"/>
              <a:t>c(x(t)): represents the cost of felling a hectare of timber and transporting it to market.</a:t>
            </a:r>
          </a:p>
        </p:txBody>
      </p:sp>
    </p:spTree>
    <p:extLst>
      <p:ext uri="{BB962C8B-B14F-4D97-AF65-F5344CB8AC3E}">
        <p14:creationId xmlns:p14="http://schemas.microsoft.com/office/powerpoint/2010/main" val="2399501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Single rotation model</a:t>
            </a:r>
          </a:p>
        </p:txBody>
      </p:sp>
      <p:sp>
        <p:nvSpPr>
          <p:cNvPr id="3" name="Content Placeholder 2"/>
          <p:cNvSpPr>
            <a:spLocks noGrp="1"/>
          </p:cNvSpPr>
          <p:nvPr>
            <p:ph idx="1"/>
          </p:nvPr>
        </p:nvSpPr>
        <p:spPr>
          <a:xfrm>
            <a:off x="1981200" y="1295401"/>
            <a:ext cx="8229600" cy="4525963"/>
          </a:xfrm>
        </p:spPr>
        <p:txBody>
          <a:bodyPr>
            <a:noAutofit/>
          </a:bodyPr>
          <a:lstStyle/>
          <a:p>
            <a:pPr>
              <a:buFont typeface="Wingdings" pitchFamily="2" charset="2"/>
              <a:buChar char="§"/>
            </a:pPr>
            <a:r>
              <a:rPr lang="en-US" dirty="0"/>
              <a:t>It is used to show that the optimal rotation should be a period of time during the life of a forest stand in which the growth in value of the forest stock equals the market interest rate.</a:t>
            </a:r>
          </a:p>
          <a:p>
            <a:pPr>
              <a:buFont typeface="Wingdings" pitchFamily="2" charset="2"/>
              <a:buChar char="§"/>
            </a:pPr>
            <a:r>
              <a:rPr lang="en-US" dirty="0"/>
              <a:t>we do not have a continuous problem here… so, the question becomes: </a:t>
            </a:r>
          </a:p>
          <a:p>
            <a:pPr>
              <a:buNone/>
            </a:pPr>
            <a:r>
              <a:rPr lang="en-US" dirty="0"/>
              <a:t> </a:t>
            </a:r>
          </a:p>
          <a:p>
            <a:pPr>
              <a:buNone/>
            </a:pPr>
            <a:r>
              <a:rPr lang="en-US" dirty="0"/>
              <a:t>Q:  what is the optimal age at which to harvest? </a:t>
            </a:r>
          </a:p>
          <a:p>
            <a:pPr>
              <a:buFont typeface="Wingdings" pitchFamily="2" charset="2"/>
              <a:buChar char="§"/>
            </a:pPr>
            <a:r>
              <a:rPr lang="en-US" dirty="0"/>
              <a:t>  → is it the maximum of the MAI? </a:t>
            </a:r>
          </a:p>
          <a:p>
            <a:pPr>
              <a:buFont typeface="Wingdings" pitchFamily="2" charset="2"/>
              <a:buChar char="§"/>
            </a:pPr>
            <a:r>
              <a:rPr lang="en-US" dirty="0"/>
              <a:t>  → is it the maximum of the CAI? </a:t>
            </a:r>
          </a:p>
          <a:p>
            <a:pPr>
              <a:buFont typeface="Wingdings" pitchFamily="2" charset="2"/>
              <a:buChar char="§"/>
            </a:pPr>
            <a:r>
              <a:rPr lang="en-US" dirty="0"/>
              <a:t>  → what factors must be considered? </a:t>
            </a:r>
          </a:p>
          <a:p>
            <a:pPr>
              <a:buFont typeface="Wingdings" pitchFamily="2" charset="2"/>
              <a:buChar char="§"/>
            </a:pPr>
            <a:endParaRPr lang="en-US" dirty="0"/>
          </a:p>
        </p:txBody>
      </p:sp>
    </p:spTree>
    <p:extLst>
      <p:ext uri="{BB962C8B-B14F-4D97-AF65-F5344CB8AC3E}">
        <p14:creationId xmlns:p14="http://schemas.microsoft.com/office/powerpoint/2010/main" val="421377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2401"/>
            <a:ext cx="8229600" cy="5973763"/>
          </a:xfrm>
        </p:spPr>
        <p:txBody>
          <a:bodyPr>
            <a:normAutofit/>
          </a:bodyPr>
          <a:lstStyle/>
          <a:p>
            <a:r>
              <a:rPr lang="en-US" b="1" dirty="0"/>
              <a:t>Maximize the Present Value of land:</a:t>
            </a:r>
            <a:endParaRPr lang="en-US" dirty="0"/>
          </a:p>
          <a:p>
            <a:endParaRPr lang="en-US" dirty="0"/>
          </a:p>
          <a:p>
            <a:pPr>
              <a:buNone/>
            </a:pPr>
            <a:endParaRPr lang="en-US" dirty="0"/>
          </a:p>
          <a:p>
            <a:pPr>
              <a:buNone/>
            </a:pPr>
            <a:r>
              <a:rPr lang="en-US" dirty="0"/>
              <a:t>• The single rotation model is referred to as the “Fisher Model”.</a:t>
            </a:r>
          </a:p>
          <a:p>
            <a:pPr>
              <a:buNone/>
            </a:pPr>
            <a:r>
              <a:rPr lang="en-US" dirty="0">
                <a:solidFill>
                  <a:srgbClr val="FF0000"/>
                </a:solidFill>
              </a:rPr>
              <a:t>3 Principles</a:t>
            </a:r>
          </a:p>
          <a:p>
            <a:pPr marL="514350" indent="-514350">
              <a:buAutoNum type="arabicPeriod"/>
            </a:pPr>
            <a:r>
              <a:rPr lang="en-US" dirty="0"/>
              <a:t>Cut the timber now and put the money in bank</a:t>
            </a:r>
          </a:p>
          <a:p>
            <a:pPr marL="514350" indent="-514350">
              <a:buAutoNum type="arabicPeriod"/>
            </a:pPr>
            <a:r>
              <a:rPr lang="en-US" dirty="0"/>
              <a:t>Keep the stand of timber</a:t>
            </a:r>
          </a:p>
          <a:p>
            <a:pPr marL="514350" indent="-514350">
              <a:buAutoNum type="arabicPeriod"/>
            </a:pPr>
            <a:r>
              <a:rPr lang="en-US" dirty="0"/>
              <a:t>Maintain the stand of trees as long as stumpage value is growing faster than rate of interest and then shifts assets to the bank</a:t>
            </a:r>
          </a:p>
        </p:txBody>
      </p:sp>
      <p:pic>
        <p:nvPicPr>
          <p:cNvPr id="4" name="Picture 2"/>
          <p:cNvPicPr>
            <a:picLocks noChangeAspect="1" noChangeArrowheads="1"/>
          </p:cNvPicPr>
          <p:nvPr/>
        </p:nvPicPr>
        <p:blipFill>
          <a:blip r:embed="rId2"/>
          <a:srcRect/>
          <a:stretch>
            <a:fillRect/>
          </a:stretch>
        </p:blipFill>
        <p:spPr bwMode="auto">
          <a:xfrm>
            <a:off x="3102428" y="694386"/>
            <a:ext cx="5987143" cy="914400"/>
          </a:xfrm>
          <a:prstGeom prst="rect">
            <a:avLst/>
          </a:prstGeom>
          <a:noFill/>
          <a:ln w="9525">
            <a:noFill/>
            <a:miter lim="800000"/>
            <a:headEnd/>
            <a:tailEnd/>
          </a:ln>
          <a:effectLst/>
        </p:spPr>
      </p:pic>
    </p:spTree>
    <p:extLst>
      <p:ext uri="{BB962C8B-B14F-4D97-AF65-F5344CB8AC3E}">
        <p14:creationId xmlns:p14="http://schemas.microsoft.com/office/powerpoint/2010/main" val="14365444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408090" y="990600"/>
            <a:ext cx="9144000" cy="5867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124200" y="304800"/>
            <a:ext cx="5257800" cy="571500"/>
          </a:xfrm>
          <a:prstGeom prst="rect">
            <a:avLst/>
          </a:prstGeom>
          <a:noFill/>
          <a:ln w="9525">
            <a:noFill/>
            <a:miter lim="800000"/>
            <a:headEnd/>
            <a:tailEnd/>
          </a:ln>
          <a:effectLst/>
        </p:spPr>
      </p:pic>
    </p:spTree>
    <p:extLst>
      <p:ext uri="{BB962C8B-B14F-4D97-AF65-F5344CB8AC3E}">
        <p14:creationId xmlns:p14="http://schemas.microsoft.com/office/powerpoint/2010/main" val="34744243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Faustmann</a:t>
            </a:r>
            <a:r>
              <a:rPr lang="en-US" dirty="0">
                <a:solidFill>
                  <a:srgbClr val="FF0000"/>
                </a:solidFill>
              </a:rPr>
              <a:t> model</a:t>
            </a:r>
          </a:p>
        </p:txBody>
      </p:sp>
      <p:sp>
        <p:nvSpPr>
          <p:cNvPr id="3" name="Content Placeholder 2"/>
          <p:cNvSpPr>
            <a:spLocks noGrp="1"/>
          </p:cNvSpPr>
          <p:nvPr>
            <p:ph idx="1"/>
          </p:nvPr>
        </p:nvSpPr>
        <p:spPr/>
        <p:txBody>
          <a:bodyPr>
            <a:normAutofit/>
          </a:bodyPr>
          <a:lstStyle/>
          <a:p>
            <a:pPr>
              <a:buNone/>
            </a:pPr>
            <a:r>
              <a:rPr lang="en-US" dirty="0">
                <a:solidFill>
                  <a:srgbClr val="FF0000"/>
                </a:solidFill>
              </a:rPr>
              <a:t>Forest rent Theory </a:t>
            </a:r>
          </a:p>
          <a:p>
            <a:pPr>
              <a:buFont typeface="Wingdings" pitchFamily="2" charset="2"/>
              <a:buChar char="§"/>
            </a:pPr>
            <a:r>
              <a:rPr lang="en-US" dirty="0"/>
              <a:t>Forest rent has been a widely used criterion because the cutting rule favored a relatively long rotation</a:t>
            </a:r>
          </a:p>
          <a:p>
            <a:pPr>
              <a:buFont typeface="Wingdings" pitchFamily="2" charset="2"/>
              <a:buChar char="§"/>
            </a:pPr>
            <a:r>
              <a:rPr lang="en-US" dirty="0"/>
              <a:t>Forest rent was to avoid compounding and rotations </a:t>
            </a:r>
          </a:p>
          <a:p>
            <a:pPr>
              <a:buFont typeface="Wingdings" pitchFamily="2" charset="2"/>
              <a:buChar char="§"/>
            </a:pPr>
            <a:r>
              <a:rPr lang="en-US" dirty="0"/>
              <a:t>The forest rent approach includes timber prices and regeneration costs, which correspond to the </a:t>
            </a:r>
            <a:r>
              <a:rPr lang="en-US" dirty="0" err="1"/>
              <a:t>Faustmann</a:t>
            </a:r>
            <a:r>
              <a:rPr lang="en-US" dirty="0"/>
              <a:t> Model with a zero rate of interest</a:t>
            </a:r>
          </a:p>
        </p:txBody>
      </p:sp>
    </p:spTree>
    <p:extLst>
      <p:ext uri="{BB962C8B-B14F-4D97-AF65-F5344CB8AC3E}">
        <p14:creationId xmlns:p14="http://schemas.microsoft.com/office/powerpoint/2010/main" val="20943710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lstStyle/>
          <a:p>
            <a:r>
              <a:rPr lang="en-US" dirty="0"/>
              <a:t>It excludes an alternative investment option and assumes that a forest owner does not have a loan</a:t>
            </a:r>
          </a:p>
          <a:p>
            <a:pPr>
              <a:buNone/>
            </a:pPr>
            <a:endParaRPr lang="en-US" dirty="0"/>
          </a:p>
          <a:p>
            <a:pPr>
              <a:buNone/>
            </a:pPr>
            <a:r>
              <a:rPr lang="en-US" dirty="0">
                <a:solidFill>
                  <a:srgbClr val="FF0000"/>
                </a:solidFill>
              </a:rPr>
              <a:t>Land rent theory</a:t>
            </a:r>
          </a:p>
          <a:p>
            <a:pPr>
              <a:buNone/>
            </a:pPr>
            <a:r>
              <a:rPr lang="en-US" dirty="0"/>
              <a:t>    The </a:t>
            </a:r>
            <a:r>
              <a:rPr lang="en-US" dirty="0" err="1"/>
              <a:t>Faustmann</a:t>
            </a:r>
            <a:r>
              <a:rPr lang="en-US" dirty="0"/>
              <a:t> Model (land rent theory) has become the best known for providing a benchmark model for </a:t>
            </a:r>
            <a:r>
              <a:rPr lang="en-US" dirty="0">
                <a:solidFill>
                  <a:schemeClr val="tx2">
                    <a:lumMod val="60000"/>
                    <a:lumOff val="40000"/>
                  </a:schemeClr>
                </a:solidFill>
              </a:rPr>
              <a:t>determining optimal timber rotation age</a:t>
            </a:r>
            <a:r>
              <a:rPr lang="en-US" dirty="0"/>
              <a:t>.</a:t>
            </a:r>
          </a:p>
          <a:p>
            <a:pPr>
              <a:buNone/>
            </a:pPr>
            <a:endParaRPr lang="en-US" dirty="0"/>
          </a:p>
        </p:txBody>
      </p:sp>
    </p:spTree>
    <p:extLst>
      <p:ext uri="{BB962C8B-B14F-4D97-AF65-F5344CB8AC3E}">
        <p14:creationId xmlns:p14="http://schemas.microsoft.com/office/powerpoint/2010/main" val="39363239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524001" y="457200"/>
            <a:ext cx="9144001" cy="2362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362201" y="3109914"/>
            <a:ext cx="6710363" cy="1081087"/>
          </a:xfrm>
          <a:prstGeom prst="rect">
            <a:avLst/>
          </a:prstGeom>
          <a:noFill/>
          <a:ln w="9525">
            <a:noFill/>
            <a:miter lim="800000"/>
            <a:headEnd/>
            <a:tailEnd/>
          </a:ln>
          <a:effectLst/>
        </p:spPr>
      </p:pic>
      <p:sp>
        <p:nvSpPr>
          <p:cNvPr id="6" name="Rectangle 5"/>
          <p:cNvSpPr/>
          <p:nvPr/>
        </p:nvSpPr>
        <p:spPr>
          <a:xfrm>
            <a:off x="1676400" y="4267200"/>
            <a:ext cx="8991600" cy="2308324"/>
          </a:xfrm>
          <a:prstGeom prst="rect">
            <a:avLst/>
          </a:prstGeom>
        </p:spPr>
        <p:txBody>
          <a:bodyPr wrap="square">
            <a:spAutoFit/>
          </a:bodyPr>
          <a:lstStyle/>
          <a:p>
            <a:r>
              <a:rPr lang="en-US" sz="2400" b="1" dirty="0" err="1"/>
              <a:t>Faustmann</a:t>
            </a:r>
            <a:r>
              <a:rPr lang="en-US" sz="2400" b="1" dirty="0"/>
              <a:t> Rule </a:t>
            </a:r>
          </a:p>
          <a:p>
            <a:r>
              <a:rPr lang="en-US" sz="2400" dirty="0"/>
              <a:t> </a:t>
            </a:r>
          </a:p>
          <a:p>
            <a:r>
              <a:rPr lang="en-US" sz="2400" dirty="0"/>
              <a:t>•   Assume an infinite number of rotations. </a:t>
            </a:r>
          </a:p>
          <a:p>
            <a:r>
              <a:rPr lang="en-US" sz="2400" dirty="0"/>
              <a:t>•   Soil fertility, real prices and costs all remain constant over time. </a:t>
            </a:r>
          </a:p>
          <a:p>
            <a:r>
              <a:rPr lang="en-US" sz="2400" dirty="0"/>
              <a:t>•   How does taking future land use into account alters our optimal harvest age. </a:t>
            </a:r>
          </a:p>
        </p:txBody>
      </p:sp>
    </p:spTree>
    <p:extLst>
      <p:ext uri="{BB962C8B-B14F-4D97-AF65-F5344CB8AC3E}">
        <p14:creationId xmlns:p14="http://schemas.microsoft.com/office/powerpoint/2010/main" val="5194288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254002"/>
            <a:ext cx="7886700" cy="5922963"/>
          </a:xfrm>
        </p:spPr>
        <p:txBody>
          <a:bodyPr>
            <a:normAutofit/>
          </a:bodyPr>
          <a:lstStyle/>
          <a:p>
            <a:pPr algn="ctr">
              <a:buNone/>
            </a:pPr>
            <a:r>
              <a:rPr lang="en-US" sz="4000" b="1" dirty="0">
                <a:solidFill>
                  <a:srgbClr val="FF0000"/>
                </a:solidFill>
              </a:rPr>
              <a:t>The Hartman Model </a:t>
            </a:r>
          </a:p>
          <a:p>
            <a:r>
              <a:rPr lang="en-US" sz="2400" dirty="0"/>
              <a:t> Multiple Use Model </a:t>
            </a:r>
          </a:p>
          <a:p>
            <a:r>
              <a:rPr lang="en-US" sz="2400" dirty="0"/>
              <a:t>The conventional </a:t>
            </a:r>
            <a:r>
              <a:rPr lang="en-US" sz="2400" dirty="0" err="1"/>
              <a:t>Faustmann</a:t>
            </a:r>
            <a:r>
              <a:rPr lang="en-US" sz="2400" dirty="0"/>
              <a:t> Model does not reflect the value of  services provided directly by the standing  forest. </a:t>
            </a:r>
          </a:p>
          <a:p>
            <a:pPr>
              <a:buNone/>
            </a:pPr>
            <a:r>
              <a:rPr lang="en-US" sz="2400" dirty="0"/>
              <a:t>  i.e. amenity values </a:t>
            </a:r>
          </a:p>
          <a:p>
            <a:pPr>
              <a:buNone/>
            </a:pPr>
            <a:r>
              <a:rPr lang="en-US" sz="2400" dirty="0"/>
              <a:t>        wildlife habitat </a:t>
            </a:r>
          </a:p>
          <a:p>
            <a:pPr>
              <a:buNone/>
            </a:pPr>
            <a:r>
              <a:rPr lang="en-US" sz="2400" dirty="0"/>
              <a:t>        erosion control </a:t>
            </a:r>
          </a:p>
          <a:p>
            <a:pPr>
              <a:buNone/>
            </a:pPr>
            <a:r>
              <a:rPr lang="en-US" sz="2400" dirty="0"/>
              <a:t>        water cycle maintenance </a:t>
            </a:r>
          </a:p>
          <a:p>
            <a:pPr>
              <a:buNone/>
            </a:pPr>
            <a:r>
              <a:rPr lang="en-US" sz="2400" dirty="0"/>
              <a:t> </a:t>
            </a:r>
          </a:p>
          <a:p>
            <a:r>
              <a:rPr lang="en-US" sz="2400" dirty="0"/>
              <a:t>Select the optimal rotation age to provide the combined net benefits from timber and other services of standing timber</a:t>
            </a:r>
          </a:p>
        </p:txBody>
      </p:sp>
    </p:spTree>
    <p:extLst>
      <p:ext uri="{BB962C8B-B14F-4D97-AF65-F5344CB8AC3E}">
        <p14:creationId xmlns:p14="http://schemas.microsoft.com/office/powerpoint/2010/main" val="4374220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2915841" y="307181"/>
            <a:ext cx="6761559" cy="282972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994423" y="3549650"/>
            <a:ext cx="6225777" cy="2622550"/>
          </a:xfrm>
          <a:prstGeom prst="rect">
            <a:avLst/>
          </a:prstGeom>
          <a:solidFill>
            <a:schemeClr val="accent6">
              <a:lumMod val="60000"/>
              <a:lumOff val="40000"/>
            </a:schemeClr>
          </a:solidFill>
          <a:ln>
            <a:headEnd/>
            <a:tailEnd/>
          </a:ln>
        </p:spPr>
        <p:style>
          <a:lnRef idx="1">
            <a:schemeClr val="accent6"/>
          </a:lnRef>
          <a:fillRef idx="2">
            <a:schemeClr val="accent6"/>
          </a:fillRef>
          <a:effectRef idx="1">
            <a:schemeClr val="accent6"/>
          </a:effectRef>
          <a:fontRef idx="minor">
            <a:schemeClr val="dk1"/>
          </a:fontRef>
        </p:style>
      </p:pic>
    </p:spTree>
    <p:extLst>
      <p:ext uri="{BB962C8B-B14F-4D97-AF65-F5344CB8AC3E}">
        <p14:creationId xmlns:p14="http://schemas.microsoft.com/office/powerpoint/2010/main" val="1346151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anose="05000000000000000000" pitchFamily="2" charset="2"/>
              <a:buChar char="v"/>
            </a:pPr>
            <a:r>
              <a:rPr lang="en-US" b="1" dirty="0">
                <a:effectLst>
                  <a:outerShdw blurRad="38100" dist="38100" dir="2700000" algn="tl">
                    <a:srgbClr val="000000">
                      <a:alpha val="43137"/>
                    </a:srgbClr>
                  </a:outerShdw>
                </a:effectLst>
              </a:rPr>
              <a:t>FISHERIES ECONOMICS</a:t>
            </a:r>
          </a:p>
        </p:txBody>
      </p:sp>
      <p:sp>
        <p:nvSpPr>
          <p:cNvPr id="3" name="Content Placeholder 2"/>
          <p:cNvSpPr>
            <a:spLocks noGrp="1"/>
          </p:cNvSpPr>
          <p:nvPr>
            <p:ph idx="1"/>
          </p:nvPr>
        </p:nvSpPr>
        <p:spPr/>
        <p:txBody>
          <a:bodyPr/>
          <a:lstStyle/>
          <a:p>
            <a:r>
              <a:rPr lang="en-US" dirty="0"/>
              <a:t>Fishery economics is a branch of economics that deals with </a:t>
            </a:r>
            <a:r>
              <a:rPr lang="en-US" dirty="0" smtClean="0"/>
              <a:t>the management</a:t>
            </a:r>
            <a:r>
              <a:rPr lang="en-US" dirty="0"/>
              <a:t>, production, and sustainability of </a:t>
            </a:r>
            <a:r>
              <a:rPr lang="en-US" dirty="0" smtClean="0"/>
              <a:t>fisheries the</a:t>
            </a:r>
            <a:r>
              <a:rPr lang="en-US" dirty="0"/>
              <a:t> </a:t>
            </a:r>
            <a:r>
              <a:rPr lang="en-US" dirty="0" smtClean="0"/>
              <a:t>commercial </a:t>
            </a:r>
            <a:r>
              <a:rPr lang="en-US" dirty="0"/>
              <a:t>activity of catching, processing, and selling fish </a:t>
            </a:r>
            <a:r>
              <a:rPr lang="en-US" dirty="0" smtClean="0"/>
              <a:t>and seafood</a:t>
            </a:r>
            <a:r>
              <a:rPr lang="en-US" dirty="0"/>
              <a:t>. </a:t>
            </a:r>
            <a:endParaRPr lang="en-US" dirty="0" smtClean="0"/>
          </a:p>
          <a:p>
            <a:r>
              <a:rPr lang="en-US" dirty="0" smtClean="0"/>
              <a:t>With </a:t>
            </a:r>
            <a:r>
              <a:rPr lang="en-US" dirty="0"/>
              <a:t>over 3 billion people depending on fish as </a:t>
            </a:r>
            <a:r>
              <a:rPr lang="en-US" dirty="0" smtClean="0"/>
              <a:t>a primary </a:t>
            </a:r>
            <a:r>
              <a:rPr lang="en-US" dirty="0"/>
              <a:t>source of protein and millions earning their </a:t>
            </a:r>
            <a:r>
              <a:rPr lang="en-US" dirty="0" smtClean="0"/>
              <a:t>livelihoods from </a:t>
            </a:r>
            <a:r>
              <a:rPr lang="en-US" dirty="0"/>
              <a:t>fishing, the economic role of fisheries is vital. </a:t>
            </a:r>
            <a:endParaRPr lang="en-US" dirty="0" smtClean="0"/>
          </a:p>
          <a:p>
            <a:r>
              <a:rPr lang="en-US" dirty="0" smtClean="0"/>
              <a:t>However</a:t>
            </a:r>
            <a:r>
              <a:rPr lang="en-US" dirty="0"/>
              <a:t>, </a:t>
            </a:r>
            <a:r>
              <a:rPr lang="en-US" dirty="0" smtClean="0"/>
              <a:t>the delicate </a:t>
            </a:r>
            <a:r>
              <a:rPr lang="en-US" dirty="0"/>
              <a:t>balance between economic gain and </a:t>
            </a:r>
            <a:r>
              <a:rPr lang="en-US" dirty="0" smtClean="0"/>
              <a:t>environmental sustainability </a:t>
            </a:r>
            <a:r>
              <a:rPr lang="en-US" dirty="0"/>
              <a:t>presents a growing global challenge</a:t>
            </a:r>
          </a:p>
        </p:txBody>
      </p:sp>
    </p:spTree>
    <p:extLst>
      <p:ext uri="{BB962C8B-B14F-4D97-AF65-F5344CB8AC3E}">
        <p14:creationId xmlns:p14="http://schemas.microsoft.com/office/powerpoint/2010/main" val="24392584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Economic importance of fisheries</a:t>
            </a:r>
            <a:br>
              <a:rPr lang="en-GB" b="1"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Fisheries </a:t>
            </a:r>
            <a:r>
              <a:rPr lang="en-US" dirty="0"/>
              <a:t>contribute significantly to national and </a:t>
            </a:r>
            <a:r>
              <a:rPr lang="en-US" dirty="0" smtClean="0"/>
              <a:t>global economies</a:t>
            </a:r>
            <a:r>
              <a:rPr lang="en-US" dirty="0"/>
              <a:t>. According to the Food and Agriculture </a:t>
            </a:r>
            <a:r>
              <a:rPr lang="en-US" dirty="0" smtClean="0"/>
              <a:t>Organization (FAO</a:t>
            </a:r>
            <a:r>
              <a:rPr lang="en-US" dirty="0"/>
              <a:t>), the fishing industry provides employment for more </a:t>
            </a:r>
            <a:r>
              <a:rPr lang="en-US" dirty="0" smtClean="0"/>
              <a:t>than 60 </a:t>
            </a:r>
            <a:r>
              <a:rPr lang="en-US" dirty="0"/>
              <a:t>million people worldwide, both directly (fishers, </a:t>
            </a:r>
            <a:r>
              <a:rPr lang="en-US" dirty="0" smtClean="0"/>
              <a:t>processors) and </a:t>
            </a:r>
            <a:r>
              <a:rPr lang="en-US" dirty="0"/>
              <a:t>indirectly (logistics, equipment, marketing). </a:t>
            </a:r>
          </a:p>
          <a:p>
            <a:r>
              <a:rPr lang="en-US" dirty="0" smtClean="0"/>
              <a:t>In </a:t>
            </a:r>
            <a:r>
              <a:rPr lang="en-US" dirty="0"/>
              <a:t>coastal </a:t>
            </a:r>
            <a:r>
              <a:rPr lang="en-US" dirty="0" smtClean="0"/>
              <a:t>and island </a:t>
            </a:r>
            <a:r>
              <a:rPr lang="en-US" dirty="0"/>
              <a:t>nations, fisheries may constitute a major portion of </a:t>
            </a:r>
            <a:r>
              <a:rPr lang="en-US" dirty="0" smtClean="0"/>
              <a:t>the </a:t>
            </a:r>
            <a:r>
              <a:rPr lang="en-GB" dirty="0" smtClean="0"/>
              <a:t>GDP </a:t>
            </a:r>
            <a:r>
              <a:rPr lang="en-GB" dirty="0"/>
              <a:t>and export revenues.</a:t>
            </a:r>
          </a:p>
        </p:txBody>
      </p:sp>
    </p:spTree>
    <p:extLst>
      <p:ext uri="{BB962C8B-B14F-4D97-AF65-F5344CB8AC3E}">
        <p14:creationId xmlns:p14="http://schemas.microsoft.com/office/powerpoint/2010/main" val="1677896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Economic importance of fisheries</a:t>
            </a:r>
            <a:br>
              <a:rPr lang="en-GB"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p:txBody>
          <a:bodyPr/>
          <a:lstStyle/>
          <a:p>
            <a:r>
              <a:rPr lang="en-US" dirty="0"/>
              <a:t>Fish and seafood are also among the most traded </a:t>
            </a:r>
            <a:r>
              <a:rPr lang="en-US" dirty="0" smtClean="0"/>
              <a:t>food commodities </a:t>
            </a:r>
            <a:r>
              <a:rPr lang="en-US" dirty="0"/>
              <a:t>globally. </a:t>
            </a:r>
            <a:endParaRPr lang="en-US" dirty="0" smtClean="0"/>
          </a:p>
          <a:p>
            <a:r>
              <a:rPr lang="en-US" dirty="0" smtClean="0"/>
              <a:t>Developing </a:t>
            </a:r>
            <a:r>
              <a:rPr lang="en-US" dirty="0"/>
              <a:t>countries, in particular, </a:t>
            </a:r>
            <a:r>
              <a:rPr lang="en-US" dirty="0" smtClean="0"/>
              <a:t>rely on </a:t>
            </a:r>
            <a:r>
              <a:rPr lang="en-US" dirty="0"/>
              <a:t>fishery exports for foreign exchange. </a:t>
            </a:r>
            <a:endParaRPr lang="en-US" dirty="0" smtClean="0"/>
          </a:p>
          <a:p>
            <a:r>
              <a:rPr lang="en-US" dirty="0" smtClean="0"/>
              <a:t>Beyond </a:t>
            </a:r>
            <a:r>
              <a:rPr lang="en-US" dirty="0"/>
              <a:t>economic </a:t>
            </a:r>
            <a:r>
              <a:rPr lang="en-US" dirty="0" smtClean="0"/>
              <a:t>value, fisheries </a:t>
            </a:r>
            <a:r>
              <a:rPr lang="en-US" dirty="0"/>
              <a:t>contribute to food security, nutrition, and </a:t>
            </a:r>
            <a:r>
              <a:rPr lang="en-US" dirty="0" smtClean="0"/>
              <a:t>cultural </a:t>
            </a:r>
            <a:r>
              <a:rPr lang="en-GB" dirty="0" smtClean="0"/>
              <a:t>identity </a:t>
            </a:r>
            <a:r>
              <a:rPr lang="en-GB" dirty="0"/>
              <a:t>in many communities</a:t>
            </a:r>
          </a:p>
        </p:txBody>
      </p:sp>
    </p:spTree>
    <p:extLst>
      <p:ext uri="{BB962C8B-B14F-4D97-AF65-F5344CB8AC3E}">
        <p14:creationId xmlns:p14="http://schemas.microsoft.com/office/powerpoint/2010/main" val="15575488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Open access and the “tragedy of the commons”</a:t>
            </a:r>
            <a:br>
              <a:rPr lang="en-US" b="1"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136469"/>
            <a:ext cx="10515600" cy="5486399"/>
          </a:xfrm>
        </p:spPr>
        <p:txBody>
          <a:bodyPr>
            <a:normAutofit/>
          </a:bodyPr>
          <a:lstStyle/>
          <a:p>
            <a:r>
              <a:rPr lang="en-US" dirty="0" smtClean="0"/>
              <a:t>Traditional </a:t>
            </a:r>
            <a:r>
              <a:rPr lang="en-US" dirty="0"/>
              <a:t>economic models show that fisheries often </a:t>
            </a:r>
            <a:r>
              <a:rPr lang="en-US" dirty="0" smtClean="0"/>
              <a:t>operate under </a:t>
            </a:r>
            <a:r>
              <a:rPr lang="en-US" dirty="0"/>
              <a:t>conditions of open access, meaning anyone can enter </a:t>
            </a:r>
            <a:r>
              <a:rPr lang="en-US" dirty="0" smtClean="0"/>
              <a:t>the fishery </a:t>
            </a:r>
            <a:r>
              <a:rPr lang="en-US" dirty="0"/>
              <a:t>and harvest as much as they can. </a:t>
            </a:r>
            <a:endParaRPr lang="en-US" dirty="0" smtClean="0"/>
          </a:p>
          <a:p>
            <a:r>
              <a:rPr lang="en-US" dirty="0" smtClean="0"/>
              <a:t>While </a:t>
            </a:r>
            <a:r>
              <a:rPr lang="en-US" dirty="0"/>
              <a:t>this may </a:t>
            </a:r>
            <a:r>
              <a:rPr lang="en-US" dirty="0" smtClean="0"/>
              <a:t>initially benefit </a:t>
            </a:r>
            <a:r>
              <a:rPr lang="en-US" dirty="0"/>
              <a:t>communities through job creation, it often leads </a:t>
            </a:r>
            <a:r>
              <a:rPr lang="en-US" dirty="0" smtClean="0"/>
              <a:t>to overfishing a </a:t>
            </a:r>
            <a:r>
              <a:rPr lang="en-US" dirty="0"/>
              <a:t>phenomenon where the fish population </a:t>
            </a:r>
            <a:r>
              <a:rPr lang="en-US" dirty="0" smtClean="0"/>
              <a:t>declines </a:t>
            </a:r>
            <a:r>
              <a:rPr lang="en-GB" dirty="0" smtClean="0"/>
              <a:t>due </a:t>
            </a:r>
            <a:r>
              <a:rPr lang="en-GB" dirty="0"/>
              <a:t>to excessive harvesting.</a:t>
            </a:r>
          </a:p>
          <a:p>
            <a:r>
              <a:rPr lang="en-US" dirty="0"/>
              <a:t>This leads to the so-called </a:t>
            </a:r>
            <a:r>
              <a:rPr lang="en-US" b="1" dirty="0"/>
              <a:t>“Tragedy of the Commons”, </a:t>
            </a:r>
            <a:r>
              <a:rPr lang="en-US" dirty="0" smtClean="0"/>
              <a:t>where individuals</a:t>
            </a:r>
            <a:r>
              <a:rPr lang="en-US" dirty="0"/>
              <a:t>, acting in their own self-interest, deplete a </a:t>
            </a:r>
            <a:r>
              <a:rPr lang="en-US" dirty="0" smtClean="0"/>
              <a:t>shared </a:t>
            </a:r>
            <a:r>
              <a:rPr lang="en-US" dirty="0"/>
              <a:t>resource, leaving everyone worse off in the long </a:t>
            </a:r>
            <a:r>
              <a:rPr lang="en-US" dirty="0" smtClean="0"/>
              <a:t>term. </a:t>
            </a:r>
          </a:p>
          <a:p>
            <a:r>
              <a:rPr lang="en-US" dirty="0" smtClean="0"/>
              <a:t>Economically</a:t>
            </a:r>
            <a:r>
              <a:rPr lang="en-US" dirty="0"/>
              <a:t>, this results in reduced catches, lower </a:t>
            </a:r>
            <a:r>
              <a:rPr lang="en-US" dirty="0" smtClean="0"/>
              <a:t>profits, rising </a:t>
            </a:r>
            <a:r>
              <a:rPr lang="en-US" dirty="0"/>
              <a:t>operational costs, and ultimately the collapse of </a:t>
            </a:r>
            <a:r>
              <a:rPr lang="en-US" dirty="0" smtClean="0"/>
              <a:t>the </a:t>
            </a:r>
            <a:r>
              <a:rPr lang="en-GB" dirty="0" smtClean="0"/>
              <a:t>fishery</a:t>
            </a:r>
            <a:r>
              <a:rPr lang="en-GB" dirty="0"/>
              <a:t>.</a:t>
            </a:r>
          </a:p>
        </p:txBody>
      </p:sp>
    </p:spTree>
    <p:extLst>
      <p:ext uri="{BB962C8B-B14F-4D97-AF65-F5344CB8AC3E}">
        <p14:creationId xmlns:p14="http://schemas.microsoft.com/office/powerpoint/2010/main" val="21092520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effectLst>
                  <a:outerShdw blurRad="38100" dist="38100" dir="2700000" algn="tl">
                    <a:srgbClr val="000000">
                      <a:alpha val="43137"/>
                    </a:srgbClr>
                  </a:outerShdw>
                </a:effectLst>
              </a:rPr>
              <a:t>Maximum </a:t>
            </a:r>
            <a:r>
              <a:rPr lang="en-US" dirty="0">
                <a:effectLst>
                  <a:outerShdw blurRad="38100" dist="38100" dir="2700000" algn="tl">
                    <a:srgbClr val="000000">
                      <a:alpha val="43137"/>
                    </a:srgbClr>
                  </a:outerShdw>
                </a:effectLst>
              </a:rPr>
              <a:t>sustainable yield </a:t>
            </a:r>
            <a:r>
              <a:rPr lang="en-US" i="1" dirty="0">
                <a:effectLst>
                  <a:outerShdw blurRad="38100" dist="38100" dir="2700000" algn="tl">
                    <a:srgbClr val="000000">
                      <a:alpha val="43137"/>
                    </a:srgbClr>
                  </a:outerShdw>
                </a:effectLst>
              </a:rPr>
              <a:t>vs</a:t>
            </a:r>
            <a:r>
              <a:rPr lang="en-US" dirty="0">
                <a:effectLst>
                  <a:outerShdw blurRad="38100" dist="38100" dir="2700000" algn="tl">
                    <a:srgbClr val="000000">
                      <a:alpha val="43137"/>
                    </a:srgbClr>
                  </a:outerShdw>
                </a:effectLst>
              </a:rPr>
              <a:t>. maximum </a:t>
            </a:r>
            <a:r>
              <a:rPr lang="en-US" dirty="0" smtClean="0">
                <a:effectLst>
                  <a:outerShdw blurRad="38100" dist="38100" dir="2700000" algn="tl">
                    <a:srgbClr val="000000">
                      <a:alpha val="43137"/>
                    </a:srgbClr>
                  </a:outerShdw>
                </a:effectLst>
              </a:rPr>
              <a:t>economic </a:t>
            </a:r>
            <a:r>
              <a:rPr lang="en-GB" dirty="0" smtClean="0">
                <a:effectLst>
                  <a:outerShdw blurRad="38100" dist="38100" dir="2700000" algn="tl">
                    <a:srgbClr val="000000">
                      <a:alpha val="43137"/>
                    </a:srgbClr>
                  </a:outerShdw>
                </a:effectLst>
              </a:rPr>
              <a:t>yield</a:t>
            </a: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a:t>In fishery economics, two critical concepts guide </a:t>
            </a:r>
            <a:r>
              <a:rPr lang="en-US" dirty="0" err="1"/>
              <a:t>decisionmaking</a:t>
            </a:r>
            <a:r>
              <a:rPr lang="en-US" dirty="0"/>
              <a:t>:</a:t>
            </a:r>
          </a:p>
          <a:p>
            <a:r>
              <a:rPr lang="en-US" b="1" dirty="0"/>
              <a:t>Maximum Sustainable Yield (MSY): </a:t>
            </a:r>
            <a:r>
              <a:rPr lang="en-US" dirty="0"/>
              <a:t>The largest amount of </a:t>
            </a:r>
            <a:r>
              <a:rPr lang="en-US" dirty="0" smtClean="0"/>
              <a:t>fish that </a:t>
            </a:r>
            <a:r>
              <a:rPr lang="en-US" dirty="0"/>
              <a:t>can be harvested annually without compromising the </a:t>
            </a:r>
            <a:r>
              <a:rPr lang="en-US" dirty="0" smtClean="0"/>
              <a:t>stock’s ability </a:t>
            </a:r>
            <a:r>
              <a:rPr lang="en-US" dirty="0"/>
              <a:t>to replenish. It’s a biological concept rooted in </a:t>
            </a:r>
            <a:r>
              <a:rPr lang="en-US" dirty="0" smtClean="0"/>
              <a:t>ecological </a:t>
            </a:r>
            <a:r>
              <a:rPr lang="en-GB" dirty="0" smtClean="0"/>
              <a:t>balance</a:t>
            </a:r>
          </a:p>
          <a:p>
            <a:r>
              <a:rPr lang="en-US" b="1" dirty="0"/>
              <a:t>Maximum Economic Yield (MEY): </a:t>
            </a:r>
            <a:r>
              <a:rPr lang="en-US" dirty="0"/>
              <a:t>The level of effort </a:t>
            </a:r>
            <a:r>
              <a:rPr lang="en-US" dirty="0" smtClean="0"/>
              <a:t>that produces </a:t>
            </a:r>
            <a:r>
              <a:rPr lang="en-US" dirty="0"/>
              <a:t>the highest possible economic return from a </a:t>
            </a:r>
            <a:r>
              <a:rPr lang="en-US" dirty="0" smtClean="0"/>
              <a:t>fishery. MEY </a:t>
            </a:r>
            <a:r>
              <a:rPr lang="en-US" dirty="0"/>
              <a:t>generally requires less effort than MSY, as the cost </a:t>
            </a:r>
            <a:r>
              <a:rPr lang="en-US" dirty="0" smtClean="0"/>
              <a:t>of fishing </a:t>
            </a:r>
            <a:r>
              <a:rPr lang="en-US" dirty="0"/>
              <a:t>increases with more intensive harvesting</a:t>
            </a:r>
            <a:endParaRPr lang="en-GB" dirty="0"/>
          </a:p>
        </p:txBody>
      </p:sp>
    </p:spTree>
    <p:extLst>
      <p:ext uri="{BB962C8B-B14F-4D97-AF65-F5344CB8AC3E}">
        <p14:creationId xmlns:p14="http://schemas.microsoft.com/office/powerpoint/2010/main" val="25134467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Maximum Sustainable Yield (MSY):</a:t>
            </a:r>
            <a:endParaRPr lang="en-GB"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smtClean="0"/>
                  <a:t>Calculated at the peak of the yield curve, when biomass is half the carrying capacity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2</m:t>
                        </m:r>
                      </m:den>
                    </m:f>
                  </m:oMath>
                </a14:m>
                <a:r>
                  <a:rPr lang="en-GB" dirty="0" smtClean="0"/>
                  <a:t>) and surplus production is highest</a:t>
                </a:r>
              </a:p>
              <a:p>
                <a:r>
                  <a:rPr lang="en-US" dirty="0" smtClean="0"/>
                  <a:t>Schaefer Surplus Production model</a:t>
                </a:r>
              </a:p>
              <a:p>
                <a:r>
                  <a:rPr lang="en-US" dirty="0" smtClean="0"/>
                  <a:t>Carrying capacity (K): 1,000 </a:t>
                </a:r>
                <a:r>
                  <a:rPr lang="en-US" dirty="0"/>
                  <a:t>T</a:t>
                </a:r>
                <a:r>
                  <a:rPr lang="en-US" dirty="0" smtClean="0"/>
                  <a:t>onnes</a:t>
                </a:r>
              </a:p>
              <a:p>
                <a:r>
                  <a:rPr lang="en-US" dirty="0" smtClean="0"/>
                  <a:t>Maximum Growth Rate (r): 0.4 per year</a:t>
                </a:r>
              </a:p>
              <a:p>
                <a:r>
                  <a:rPr lang="en-US" dirty="0" smtClean="0"/>
                  <a:t>Price per Tonne of fish (p): K100</a:t>
                </a:r>
              </a:p>
              <a:p>
                <a:r>
                  <a:rPr lang="en-US" dirty="0" smtClean="0"/>
                  <a:t>Cost per Unit of Effort (C) : K20</a:t>
                </a:r>
              </a:p>
              <a:p>
                <a:r>
                  <a:rPr lang="en-US" dirty="0" smtClean="0"/>
                  <a:t>MSY is the maximum yield in weight </a:t>
                </a:r>
                <a:r>
                  <a:rPr lang="en-US" dirty="0"/>
                  <a:t>(</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𝑘</m:t>
                        </m:r>
                      </m:num>
                      <m:den>
                        <m:r>
                          <a:rPr lang="en-US" i="1">
                            <a:latin typeface="Cambria Math" panose="02040503050406030204" pitchFamily="18" charset="0"/>
                          </a:rPr>
                          <m:t>2</m:t>
                        </m:r>
                      </m:den>
                    </m:f>
                  </m:oMath>
                </a14:m>
                <a:r>
                  <a:rPr lang="en-GB" dirty="0"/>
                  <a:t>) </a:t>
                </a:r>
                <a:r>
                  <a:rPr lang="en-GB" dirty="0" smtClean="0"/>
                  <a:t>biomass and an effort level of </a:t>
                </a:r>
              </a:p>
              <a:p>
                <a:r>
                  <a:rPr lang="en-US" dirty="0"/>
                  <a:t>(</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𝑟𝐾</m:t>
                        </m:r>
                      </m:num>
                      <m:den>
                        <m:r>
                          <a:rPr lang="en-US" i="1">
                            <a:latin typeface="Cambria Math" panose="02040503050406030204" pitchFamily="18" charset="0"/>
                          </a:rPr>
                          <m:t>2</m:t>
                        </m:r>
                        <m:r>
                          <a:rPr lang="en-US" b="0" i="1" smtClean="0">
                            <a:latin typeface="Cambria Math" panose="02040503050406030204" pitchFamily="18" charset="0"/>
                          </a:rPr>
                          <m:t>𝑞</m:t>
                        </m:r>
                      </m:den>
                    </m:f>
                  </m:oMath>
                </a14:m>
                <a:r>
                  <a:rPr lang="en-GB" dirty="0" smtClean="0"/>
                  <a:t>) where q is the catchability.</a:t>
                </a:r>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2801" r="-812"/>
                </a:stretch>
              </a:blipFill>
            </p:spPr>
            <p:txBody>
              <a:bodyPr/>
              <a:lstStyle/>
              <a:p>
                <a:r>
                  <a:rPr lang="en-GB">
                    <a:noFill/>
                  </a:rPr>
                  <a:t> </a:t>
                </a:r>
              </a:p>
            </p:txBody>
          </p:sp>
        </mc:Fallback>
      </mc:AlternateContent>
    </p:spTree>
    <p:extLst>
      <p:ext uri="{BB962C8B-B14F-4D97-AF65-F5344CB8AC3E}">
        <p14:creationId xmlns:p14="http://schemas.microsoft.com/office/powerpoint/2010/main" val="14820054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FORMULAS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MSY = </a:t>
                </a:r>
                <a:r>
                  <a:rPr lang="en-US" dirty="0"/>
                  <a:t>(</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𝑟𝐾</m:t>
                        </m:r>
                      </m:num>
                      <m:den>
                        <m:r>
                          <a:rPr lang="en-US" b="0" i="1" smtClean="0">
                            <a:latin typeface="Cambria Math" panose="02040503050406030204" pitchFamily="18" charset="0"/>
                          </a:rPr>
                          <m:t>4</m:t>
                        </m:r>
                      </m:den>
                    </m:f>
                  </m:oMath>
                </a14:m>
                <a:r>
                  <a:rPr lang="en-GB" dirty="0"/>
                  <a:t>) </a:t>
                </a:r>
                <a:endParaRPr lang="en-GB" dirty="0" smtClean="0"/>
              </a:p>
              <a:p>
                <a14:m>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𝑀𝑆𝑌</m:t>
                        </m:r>
                      </m:sub>
                    </m:sSub>
                  </m:oMath>
                </a14:m>
                <a:r>
                  <a:rPr lang="en-GB" dirty="0" smtClean="0"/>
                  <a:t> = </a:t>
                </a:r>
                <a:r>
                  <a:rPr lang="en-US" dirty="0"/>
                  <a:t>(</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𝑟</m:t>
                        </m:r>
                      </m:num>
                      <m:den>
                        <m:r>
                          <a:rPr lang="en-US" i="1">
                            <a:latin typeface="Cambria Math" panose="02040503050406030204" pitchFamily="18" charset="0"/>
                          </a:rPr>
                          <m:t>2</m:t>
                        </m:r>
                        <m:r>
                          <a:rPr lang="en-US" i="1">
                            <a:latin typeface="Cambria Math" panose="02040503050406030204" pitchFamily="18" charset="0"/>
                          </a:rPr>
                          <m:t>𝑞</m:t>
                        </m:r>
                      </m:den>
                    </m:f>
                  </m:oMath>
                </a14:m>
                <a:r>
                  <a:rPr lang="en-GB" dirty="0"/>
                  <a:t>) </a:t>
                </a:r>
                <a:r>
                  <a:rPr lang="en-GB" dirty="0" smtClean="0"/>
                  <a:t> (</a:t>
                </a:r>
                <a:r>
                  <a:rPr lang="en-US" dirty="0" smtClean="0"/>
                  <a:t>Assuming q is adjusted but typically focuses on yields</a:t>
                </a:r>
              </a:p>
              <a:p>
                <a:r>
                  <a:rPr lang="en-US" dirty="0" smtClean="0"/>
                  <a:t>MSY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0.4 </m:t>
                        </m:r>
                        <m:r>
                          <a:rPr lang="en-US" b="0" i="1" smtClean="0">
                            <a:latin typeface="Cambria Math" panose="02040503050406030204" pitchFamily="18" charset="0"/>
                            <a:ea typeface="Cambria Math" panose="02040503050406030204" pitchFamily="18" charset="0"/>
                          </a:rPr>
                          <m:t>×1,000</m:t>
                        </m:r>
                      </m:num>
                      <m:den>
                        <m:r>
                          <a:rPr lang="en-US" b="0" i="1" smtClean="0">
                            <a:latin typeface="Cambria Math" panose="02040503050406030204" pitchFamily="18" charset="0"/>
                          </a:rPr>
                          <m:t>4</m:t>
                        </m:r>
                      </m:den>
                    </m:f>
                  </m:oMath>
                </a14:m>
                <a:r>
                  <a:rPr lang="en-GB" dirty="0" smtClean="0"/>
                  <a:t> = 100 tonnes</a:t>
                </a:r>
              </a:p>
              <a:p>
                <a:r>
                  <a:rPr lang="en-US" dirty="0" smtClean="0"/>
                  <a:t>Result : The fishery can sustainably harvest 100 tones per year.</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80"/>
                </a:stretch>
              </a:blipFill>
            </p:spPr>
            <p:txBody>
              <a:bodyPr/>
              <a:lstStyle/>
              <a:p>
                <a:r>
                  <a:rPr lang="en-GB">
                    <a:noFill/>
                  </a:rPr>
                  <a:t> </a:t>
                </a:r>
              </a:p>
            </p:txBody>
          </p:sp>
        </mc:Fallback>
      </mc:AlternateContent>
    </p:spTree>
    <p:extLst>
      <p:ext uri="{BB962C8B-B14F-4D97-AF65-F5344CB8AC3E}">
        <p14:creationId xmlns:p14="http://schemas.microsoft.com/office/powerpoint/2010/main" val="21979312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Maximum Economic Yield (MEY):</a:t>
            </a:r>
            <a:endParaRPr lang="en-GB"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GB" dirty="0" smtClean="0"/>
                  <a:t>Maximum </a:t>
                </a:r>
                <a:r>
                  <a:rPr lang="en-GB" dirty="0"/>
                  <a:t>economic yield (MEY) is achieved at lower effort levels where total cost is maximized, resulting in higher profitability than MSY.</a:t>
                </a:r>
              </a:p>
              <a:p>
                <a:r>
                  <a:rPr lang="en-US" dirty="0" smtClean="0"/>
                  <a:t>MEY Occurs when the cost of adding one more unit of effort equals the revenue from that effort. Marginal Revenue = Marginal Cost.</a:t>
                </a:r>
              </a:p>
              <a:p>
                <a:r>
                  <a:rPr lang="en-US" dirty="0" smtClean="0"/>
                  <a:t>Given the profit function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𝑒</m:t>
                        </m:r>
                      </m:e>
                    </m:d>
                    <m:r>
                      <a:rPr lang="en-US" b="0" i="0" smtClean="0">
                        <a:latin typeface="Cambria Math" panose="02040503050406030204" pitchFamily="18" charset="0"/>
                        <a:ea typeface="Cambria Math" panose="02040503050406030204" pitchFamily="18" charset="0"/>
                      </a:rPr>
                      <m:t>. </m:t>
                    </m:r>
                  </m:oMath>
                </a14:m>
                <a:r>
                  <a:rPr lang="en-US" dirty="0" smtClean="0"/>
                  <a:t>MEY is calculated by maximizing the profit function</a:t>
                </a:r>
              </a:p>
              <a:p>
                <a:r>
                  <a:rPr lang="en-US" dirty="0" smtClean="0"/>
                  <a:t>Or using Static Gordon-Schaefer Model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m:t>
                        </m:r>
                        <m:r>
                          <a:rPr lang="en-US" b="0" i="1" smtClean="0">
                            <a:latin typeface="Cambria Math" panose="02040503050406030204" pitchFamily="18" charset="0"/>
                          </a:rPr>
                          <m:t>𝐸𝑌</m:t>
                        </m:r>
                      </m:sub>
                    </m:sSub>
                  </m:oMath>
                </a14:m>
                <a:r>
                  <a:rPr lang="en-GB"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𝑟</m:t>
                        </m:r>
                      </m:num>
                      <m:den>
                        <m:r>
                          <a:rPr lang="en-US" i="1">
                            <a:latin typeface="Cambria Math" panose="02040503050406030204" pitchFamily="18" charset="0"/>
                          </a:rPr>
                          <m:t>2</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2</m:t>
                        </m:r>
                        <m:r>
                          <a:rPr lang="en-US" b="0" i="1" smtClean="0">
                            <a:latin typeface="Cambria Math" panose="02040503050406030204" pitchFamily="18" charset="0"/>
                          </a:rPr>
                          <m:t>𝑝𝑞𝐾</m:t>
                        </m:r>
                      </m:den>
                    </m:f>
                  </m:oMath>
                </a14:m>
                <a:r>
                  <a:rPr lang="en-GB"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928"/>
                </a:stretch>
              </a:blipFill>
            </p:spPr>
            <p:txBody>
              <a:bodyPr/>
              <a:lstStyle/>
              <a:p>
                <a:r>
                  <a:rPr lang="en-GB">
                    <a:noFill/>
                  </a:rPr>
                  <a:t> </a:t>
                </a:r>
              </a:p>
            </p:txBody>
          </p:sp>
        </mc:Fallback>
      </mc:AlternateContent>
    </p:spTree>
    <p:extLst>
      <p:ext uri="{BB962C8B-B14F-4D97-AF65-F5344CB8AC3E}">
        <p14:creationId xmlns:p14="http://schemas.microsoft.com/office/powerpoint/2010/main" val="2921534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EXAMPLE ON MEY</a:t>
            </a:r>
            <a:endParaRPr lang="en-GB"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0000" lnSpcReduction="20000"/>
              </a:bodyPr>
              <a:lstStyle/>
              <a:p>
                <a:r>
                  <a:rPr lang="en-US" dirty="0" smtClean="0"/>
                  <a:t>Given the following </a:t>
                </a:r>
              </a:p>
              <a:p>
                <a:r>
                  <a:rPr lang="en-US" dirty="0" smtClean="0"/>
                  <a:t>Price per kg of fish (p) = $10</a:t>
                </a:r>
              </a:p>
              <a:p>
                <a:r>
                  <a:rPr lang="en-US" dirty="0" smtClean="0"/>
                  <a:t>Cost per unit of efforts (c) = K100</a:t>
                </a:r>
              </a:p>
              <a:p>
                <a:r>
                  <a:rPr lang="en-US" dirty="0" smtClean="0"/>
                  <a:t>Catchability coefficient (q) = 0.0001</a:t>
                </a:r>
              </a:p>
              <a:p>
                <a:r>
                  <a:rPr lang="en-US" dirty="0" smtClean="0"/>
                  <a:t>Maximum population /Carrying capacity (K) = 10,000 tons</a:t>
                </a:r>
              </a:p>
              <a:p>
                <a:r>
                  <a:rPr lang="en-US" dirty="0" smtClean="0"/>
                  <a:t>Intrinsic growth rate (r) =0.5</a:t>
                </a:r>
              </a:p>
              <a:p>
                <a:r>
                  <a:rPr lang="en-US" dirty="0" smtClean="0"/>
                  <a:t>Calculate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𝑀𝐸𝑌</m:t>
                        </m:r>
                      </m:sub>
                    </m:sSub>
                  </m:oMath>
                </a14:m>
                <a:r>
                  <a:rPr lang="en-GB" dirty="0" smtClean="0"/>
                  <a:t>. </a:t>
                </a:r>
              </a:p>
              <a:p>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𝑀𝐸𝑌</m:t>
                        </m:r>
                      </m:sub>
                    </m:sSub>
                  </m:oMath>
                </a14:m>
                <a:r>
                  <a:rPr lang="en-GB"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𝑟</m:t>
                        </m:r>
                      </m:num>
                      <m:den>
                        <m:r>
                          <a:rPr lang="en-US" i="1">
                            <a:latin typeface="Cambria Math" panose="02040503050406030204" pitchFamily="18" charset="0"/>
                          </a:rPr>
                          <m:t>2</m:t>
                        </m:r>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𝐶</m:t>
                        </m:r>
                      </m:num>
                      <m:den>
                        <m:r>
                          <a:rPr lang="en-US" i="1">
                            <a:latin typeface="Cambria Math" panose="02040503050406030204" pitchFamily="18" charset="0"/>
                          </a:rPr>
                          <m:t>2</m:t>
                        </m:r>
                        <m:r>
                          <a:rPr lang="en-US" i="1">
                            <a:latin typeface="Cambria Math" panose="02040503050406030204" pitchFamily="18" charset="0"/>
                          </a:rPr>
                          <m:t>𝑝𝑞𝐾</m:t>
                        </m:r>
                      </m:den>
                    </m:f>
                  </m:oMath>
                </a14:m>
                <a:r>
                  <a:rPr lang="en-GB" dirty="0"/>
                  <a:t> </a:t>
                </a:r>
                <a:r>
                  <a:rPr lang="en-GB" dirty="0" smtClean="0"/>
                  <a:t>=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0.5</m:t>
                        </m:r>
                      </m:num>
                      <m:den>
                        <m:r>
                          <a:rPr lang="en-US" i="1">
                            <a:latin typeface="Cambria Math" panose="02040503050406030204" pitchFamily="18" charset="0"/>
                          </a:rPr>
                          <m:t>2</m:t>
                        </m:r>
                      </m:den>
                    </m:f>
                    <m:r>
                      <a:rPr lang="en-US">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100</m:t>
                        </m:r>
                      </m:num>
                      <m:den>
                        <m:r>
                          <a:rPr lang="en-US" i="1">
                            <a:latin typeface="Cambria Math" panose="02040503050406030204" pitchFamily="18" charset="0"/>
                          </a:rPr>
                          <m:t>2</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10×0.0001×10,000</m:t>
                        </m:r>
                      </m:den>
                    </m:f>
                  </m:oMath>
                </a14:m>
                <a:r>
                  <a:rPr lang="en-GB" dirty="0"/>
                  <a:t> </a:t>
                </a:r>
                <a:r>
                  <a:rPr lang="en-GB" dirty="0" smtClean="0"/>
                  <a:t>= 0.25 – </a:t>
                </a:r>
                <a14:m>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100</m:t>
                        </m:r>
                      </m:num>
                      <m:den>
                        <m:r>
                          <a:rPr lang="en-US" b="0" i="1" smtClean="0">
                            <a:latin typeface="Cambria Math" panose="02040503050406030204" pitchFamily="18" charset="0"/>
                          </a:rPr>
                          <m:t>20</m:t>
                        </m:r>
                      </m:den>
                    </m:f>
                  </m:oMath>
                </a14:m>
                <a:r>
                  <a:rPr lang="en-US" dirty="0" smtClean="0"/>
                  <a:t> = 0.25-5</a:t>
                </a:r>
              </a:p>
              <a:p>
                <a:r>
                  <a:rPr lang="en-US" dirty="0" smtClean="0"/>
                  <a:t>Alternative profit maximization Total Revenue (TR) =p</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𝑞𝐸𝐾</m:t>
                    </m:r>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𝑞𝐸</m:t>
                        </m:r>
                      </m:num>
                      <m:den>
                        <m:r>
                          <a:rPr lang="en-US" b="0" i="1" smtClean="0">
                            <a:latin typeface="Cambria Math" panose="02040503050406030204" pitchFamily="18" charset="0"/>
                            <a:ea typeface="Cambria Math" panose="02040503050406030204" pitchFamily="18" charset="0"/>
                          </a:rPr>
                          <m:t>𝑟</m:t>
                        </m:r>
                      </m:den>
                    </m:f>
                  </m:oMath>
                </a14:m>
                <a:r>
                  <a:rPr lang="en-US" dirty="0" smtClean="0"/>
                  <a:t> </a:t>
                </a:r>
              </a:p>
              <a:p>
                <a:r>
                  <a:rPr lang="en-US" dirty="0" smtClean="0"/>
                  <a:t>Total Cost c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oMath>
                </a14:m>
                <a:r>
                  <a:rPr lang="en-US" dirty="0" smtClean="0"/>
                  <a:t> ,</a:t>
                </a:r>
              </a:p>
              <a:p>
                <a:r>
                  <a:rPr lang="en-US" dirty="0" smtClean="0"/>
                  <a:t>Profit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𝑇𝑅</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𝑇𝐶</m:t>
                    </m:r>
                    <m:r>
                      <a:rPr lang="en-US" b="0" i="1" smtClean="0">
                        <a:latin typeface="Cambria Math" panose="02040503050406030204" pitchFamily="18" charset="0"/>
                        <a:ea typeface="Cambria Math" panose="02040503050406030204" pitchFamily="18" charset="0"/>
                      </a:rPr>
                      <m:t> </m:t>
                    </m:r>
                  </m:oMath>
                </a14:m>
                <a:endParaRPr lang="en-US" b="0" dirty="0" smtClean="0">
                  <a:ea typeface="Cambria Math" panose="02040503050406030204" pitchFamily="18" charset="0"/>
                </a:endParaRPr>
              </a:p>
              <a:p>
                <a:r>
                  <a:rPr lang="en-US" dirty="0" smtClean="0"/>
                  <a:t>FIND E WHERE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𝑑𝐸</m:t>
                        </m:r>
                      </m:den>
                    </m:f>
                  </m:oMath>
                </a14:m>
                <a:r>
                  <a:rPr lang="en-US" dirty="0" smtClean="0"/>
                  <a:t>  = 0</a:t>
                </a:r>
                <a:endParaRPr lang="en-US" dirty="0"/>
              </a:p>
              <a:p>
                <a:endParaRPr lang="en-US" dirty="0"/>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22" t="-2521" b="-1681"/>
                </a:stretch>
              </a:blipFill>
            </p:spPr>
            <p:txBody>
              <a:bodyPr/>
              <a:lstStyle/>
              <a:p>
                <a:r>
                  <a:rPr lang="en-GB">
                    <a:noFill/>
                  </a:rPr>
                  <a:t> </a:t>
                </a:r>
              </a:p>
            </p:txBody>
          </p:sp>
        </mc:Fallback>
      </mc:AlternateContent>
    </p:spTree>
    <p:extLst>
      <p:ext uri="{BB962C8B-B14F-4D97-AF65-F5344CB8AC3E}">
        <p14:creationId xmlns:p14="http://schemas.microsoft.com/office/powerpoint/2010/main" val="22456304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smtClean="0"/>
                  <a:t>PRICE PER FISH $10 PER Kg</a:t>
                </a:r>
              </a:p>
              <a:p>
                <a:r>
                  <a:rPr lang="en-US" dirty="0" smtClean="0"/>
                  <a:t>Cost per unit of effort $200 per trip</a:t>
                </a:r>
              </a:p>
              <a:p>
                <a:r>
                  <a:rPr lang="en-US" dirty="0" smtClean="0"/>
                  <a:t>Yield Function Y = 100E -2</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2</m:t>
                        </m:r>
                      </m:sup>
                    </m:sSup>
                  </m:oMath>
                </a14:m>
                <a:endParaRPr lang="en-GB" dirty="0" smtClean="0"/>
              </a:p>
              <a:p>
                <a:r>
                  <a:rPr lang="en-US" dirty="0" smtClean="0"/>
                  <a:t>Total Cost Function: TC = 200E. Calculate the MEY</a:t>
                </a:r>
              </a:p>
              <a:p>
                <a:r>
                  <a:rPr lang="en-US" dirty="0" smtClean="0"/>
                  <a:t>Step1. Total Revenue is Yield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𝑃𝑟𝑖𝑐𝑒</m:t>
                    </m:r>
                  </m:oMath>
                </a14:m>
                <a:r>
                  <a:rPr lang="en-US" b="0" dirty="0" smtClean="0">
                    <a:ea typeface="Cambria Math" panose="02040503050406030204" pitchFamily="18" charset="0"/>
                  </a:rPr>
                  <a:t> = Y</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 </m:t>
                    </m:r>
                  </m:oMath>
                </a14:m>
                <a:endParaRPr lang="en-US" b="0" dirty="0" smtClean="0">
                  <a:ea typeface="Cambria Math" panose="02040503050406030204" pitchFamily="18" charset="0"/>
                </a:endParaRPr>
              </a:p>
              <a:p>
                <a:r>
                  <a:rPr lang="en-US" b="0" dirty="0" smtClean="0">
                    <a:ea typeface="Cambria Math" panose="02040503050406030204" pitchFamily="18" charset="0"/>
                  </a:rPr>
                  <a:t>TR = 10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b="0" dirty="0" smtClean="0">
                    <a:ea typeface="Cambria Math" panose="02040503050406030204" pitchFamily="18" charset="0"/>
                  </a:rPr>
                  <a:t>(</a:t>
                </a:r>
                <a:r>
                  <a:rPr lang="en-US" dirty="0"/>
                  <a:t>100E -2</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oMath>
                </a14:m>
                <a:r>
                  <a:rPr lang="en-US" b="0" dirty="0" smtClean="0">
                    <a:ea typeface="Cambria Math" panose="02040503050406030204" pitchFamily="18" charset="0"/>
                  </a:rPr>
                  <a:t>) = 1000E - 20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oMath>
                </a14:m>
                <a:endParaRPr lang="en-US" b="0" dirty="0" smtClean="0">
                  <a:ea typeface="Cambria Math" panose="02040503050406030204" pitchFamily="18" charset="0"/>
                </a:endParaRPr>
              </a:p>
              <a:p>
                <a:r>
                  <a:rPr lang="en-US" dirty="0" smtClean="0">
                    <a:ea typeface="Cambria Math" panose="02040503050406030204" pitchFamily="18" charset="0"/>
                  </a:rPr>
                  <a:t>Profit Function (</a:t>
                </a:r>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dirty="0" smtClean="0">
                    <a:ea typeface="Cambria Math" panose="02040503050406030204" pitchFamily="18" charset="0"/>
                  </a:rPr>
                  <a:t>) = TR – TC</a:t>
                </a:r>
              </a:p>
              <a:p>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b="0" dirty="0" smtClean="0">
                    <a:ea typeface="Cambria Math" panose="02040503050406030204" pitchFamily="18" charset="0"/>
                  </a:rPr>
                  <a:t> = (</a:t>
                </a:r>
                <a:r>
                  <a:rPr lang="en-US" dirty="0" smtClean="0">
                    <a:ea typeface="Cambria Math" panose="02040503050406030204" pitchFamily="18" charset="0"/>
                  </a:rPr>
                  <a:t>1000E </a:t>
                </a:r>
                <a:r>
                  <a:rPr lang="en-US" dirty="0">
                    <a:ea typeface="Cambria Math" panose="02040503050406030204" pitchFamily="18" charset="0"/>
                  </a:rPr>
                  <a:t>- 20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oMath>
                </a14:m>
                <a:r>
                  <a:rPr lang="en-US" b="0" dirty="0" smtClean="0">
                    <a:ea typeface="Cambria Math" panose="02040503050406030204" pitchFamily="18" charset="0"/>
                  </a:rPr>
                  <a:t>) - </a:t>
                </a:r>
                <a:r>
                  <a:rPr lang="en-US" dirty="0" smtClean="0"/>
                  <a:t>200E</a:t>
                </a:r>
              </a:p>
              <a:p>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b="0" dirty="0" smtClean="0">
                    <a:ea typeface="Cambria Math" panose="02040503050406030204" pitchFamily="18" charset="0"/>
                  </a:rPr>
                  <a:t> = 800E - </a:t>
                </a:r>
                <a:r>
                  <a:rPr lang="en-US" dirty="0">
                    <a:ea typeface="Cambria Math" panose="02040503050406030204" pitchFamily="18" charset="0"/>
                  </a:rPr>
                  <a:t>20</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oMath>
                </a14:m>
                <a:endParaRPr lang="en-GB" dirty="0" smtClean="0"/>
              </a:p>
              <a:p>
                <a:r>
                  <a:rPr lang="en-US" dirty="0" smtClean="0"/>
                  <a:t>Maximise Profit. Set MTR = MTC</a:t>
                </a:r>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ea typeface="Cambria Math" panose="02040503050406030204" pitchFamily="18" charset="0"/>
                          </a:rPr>
                          <m:t>𝜋</m:t>
                        </m:r>
                      </m:num>
                      <m:den>
                        <m:r>
                          <a:rPr lang="en-US" i="1">
                            <a:latin typeface="Cambria Math" panose="02040503050406030204" pitchFamily="18" charset="0"/>
                          </a:rPr>
                          <m:t>𝑑𝐸</m:t>
                        </m:r>
                      </m:den>
                    </m:f>
                  </m:oMath>
                </a14:m>
                <a:r>
                  <a:rPr lang="en-US" dirty="0"/>
                  <a:t>  = </a:t>
                </a:r>
                <a:r>
                  <a:rPr lang="en-US" dirty="0" smtClean="0"/>
                  <a:t>800 – 40E =0 ,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𝑀𝐸𝑌</m:t>
                        </m:r>
                      </m:sub>
                    </m:sSub>
                  </m:oMath>
                </a14:m>
                <a:r>
                  <a:rPr lang="en-US" dirty="0" smtClean="0"/>
                  <a:t> = 20 trips</a:t>
                </a:r>
                <a:endParaRPr lang="en-US" dirty="0"/>
              </a:p>
              <a:p>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2" t="-3221" b="-980"/>
                </a:stretch>
              </a:blipFill>
            </p:spPr>
            <p:txBody>
              <a:bodyPr/>
              <a:lstStyle/>
              <a:p>
                <a:r>
                  <a:rPr lang="en-GB">
                    <a:noFill/>
                  </a:rPr>
                  <a:t> </a:t>
                </a:r>
              </a:p>
            </p:txBody>
          </p:sp>
        </mc:Fallback>
      </mc:AlternateContent>
    </p:spTree>
    <p:extLst>
      <p:ext uri="{BB962C8B-B14F-4D97-AF65-F5344CB8AC3E}">
        <p14:creationId xmlns:p14="http://schemas.microsoft.com/office/powerpoint/2010/main" val="23178639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the MEY METRICS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Optimal effort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𝑀𝐸𝑌</m:t>
                        </m:r>
                      </m:sub>
                    </m:sSub>
                  </m:oMath>
                </a14:m>
                <a:r>
                  <a:rPr lang="en-GB" dirty="0" smtClean="0"/>
                  <a:t>: 20 trips</a:t>
                </a:r>
              </a:p>
              <a:p>
                <a:r>
                  <a:rPr lang="en-US" dirty="0" smtClean="0"/>
                  <a:t>Total catch/Yield at MEY: = 100(20) - 2</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(20</m:t>
                        </m:r>
                      </m:e>
                      <m:sup>
                        <m:r>
                          <a:rPr lang="en-US" b="0" i="1" smtClean="0">
                            <a:latin typeface="Cambria Math" panose="02040503050406030204" pitchFamily="18" charset="0"/>
                          </a:rPr>
                          <m:t>2</m:t>
                        </m:r>
                      </m:sup>
                    </m:sSup>
                  </m:oMath>
                </a14:m>
                <a:r>
                  <a:rPr lang="en-GB" dirty="0" smtClean="0"/>
                  <a:t>) = 2000 – 800 =1200kg</a:t>
                </a:r>
              </a:p>
              <a:p>
                <a:r>
                  <a:rPr lang="en-US" dirty="0" smtClean="0"/>
                  <a:t>Total revenue at MEY = 1200kg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GB" dirty="0" smtClean="0"/>
                  <a:t> K10/kg = K12,000</a:t>
                </a:r>
              </a:p>
              <a:p>
                <a:r>
                  <a:rPr lang="en-US" dirty="0" smtClean="0"/>
                  <a:t>Total Cost at MEY 20trips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GB" dirty="0" smtClean="0"/>
                  <a:t> K200/trip = K4,000</a:t>
                </a:r>
              </a:p>
              <a:p>
                <a:r>
                  <a:rPr lang="en-US" dirty="0" smtClean="0"/>
                  <a:t>Maximum Economic Yield = K12,000 – K8,000</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39382544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Maximum sustainable yield </a:t>
            </a:r>
            <a:r>
              <a:rPr lang="en-US" i="1" dirty="0">
                <a:effectLst>
                  <a:outerShdw blurRad="38100" dist="38100" dir="2700000" algn="tl">
                    <a:srgbClr val="000000">
                      <a:alpha val="43137"/>
                    </a:srgbClr>
                  </a:outerShdw>
                </a:effectLst>
              </a:rPr>
              <a:t>vs</a:t>
            </a:r>
            <a:r>
              <a:rPr lang="en-US" dirty="0">
                <a:effectLst>
                  <a:outerShdw blurRad="38100" dist="38100" dir="2700000" algn="tl">
                    <a:srgbClr val="000000">
                      <a:alpha val="43137"/>
                    </a:srgbClr>
                  </a:outerShdw>
                </a:effectLst>
              </a:rPr>
              <a:t>. maximum economic </a:t>
            </a:r>
            <a:r>
              <a:rPr lang="en-GB" dirty="0">
                <a:effectLst>
                  <a:outerShdw blurRad="38100" dist="38100" dir="2700000" algn="tl">
                    <a:srgbClr val="000000">
                      <a:alpha val="43137"/>
                    </a:srgbClr>
                  </a:outerShdw>
                </a:effectLst>
              </a:rPr>
              <a:t>yield</a:t>
            </a:r>
            <a:endParaRPr lang="en-GB" dirty="0"/>
          </a:p>
        </p:txBody>
      </p:sp>
      <p:sp>
        <p:nvSpPr>
          <p:cNvPr id="3" name="Content Placeholder 2"/>
          <p:cNvSpPr>
            <a:spLocks noGrp="1"/>
          </p:cNvSpPr>
          <p:nvPr>
            <p:ph idx="1"/>
          </p:nvPr>
        </p:nvSpPr>
        <p:spPr/>
        <p:txBody>
          <a:bodyPr/>
          <a:lstStyle/>
          <a:p>
            <a:pPr marL="0" indent="0">
              <a:buNone/>
            </a:pPr>
            <a:r>
              <a:rPr lang="en-US" dirty="0"/>
              <a:t>Economists argue that targeting MEY rather than MSY is </a:t>
            </a:r>
            <a:r>
              <a:rPr lang="en-US" dirty="0" smtClean="0"/>
              <a:t>both more </a:t>
            </a:r>
            <a:r>
              <a:rPr lang="en-US" dirty="0"/>
              <a:t>sustainable and more profitable in the long run. </a:t>
            </a:r>
            <a:r>
              <a:rPr lang="en-US" dirty="0" smtClean="0"/>
              <a:t>However, achieving </a:t>
            </a:r>
            <a:r>
              <a:rPr lang="en-US" dirty="0"/>
              <a:t>MEY requires regulation, monitoring, and </a:t>
            </a:r>
            <a:r>
              <a:rPr lang="en-US" dirty="0" smtClean="0"/>
              <a:t>sometimes a </a:t>
            </a:r>
            <a:r>
              <a:rPr lang="en-US" dirty="0"/>
              <a:t>reduction in fishing effort—moves that can be politically </a:t>
            </a:r>
            <a:r>
              <a:rPr lang="en-US" dirty="0" smtClean="0"/>
              <a:t>and </a:t>
            </a:r>
            <a:r>
              <a:rPr lang="en-GB" dirty="0" smtClean="0"/>
              <a:t>socially </a:t>
            </a:r>
            <a:r>
              <a:rPr lang="en-GB" dirty="0"/>
              <a:t>sensitive.</a:t>
            </a:r>
          </a:p>
        </p:txBody>
      </p:sp>
    </p:spTree>
    <p:extLst>
      <p:ext uri="{BB962C8B-B14F-4D97-AF65-F5344CB8AC3E}">
        <p14:creationId xmlns:p14="http://schemas.microsoft.com/office/powerpoint/2010/main" val="6423591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normAutofit fontScale="90000"/>
          </a:bodyPr>
          <a:lstStyle/>
          <a:p>
            <a:r>
              <a:rPr lang="en-GB" b="1" dirty="0" smtClean="0">
                <a:effectLst>
                  <a:outerShdw blurRad="38100" dist="38100" dir="2700000" algn="tl">
                    <a:srgbClr val="000000">
                      <a:alpha val="43137"/>
                    </a:srgbClr>
                  </a:outerShdw>
                </a:effectLst>
              </a:rPr>
              <a:t/>
            </a:r>
            <a:br>
              <a:rPr lang="en-GB" b="1" dirty="0" smtClean="0">
                <a:effectLst>
                  <a:outerShdw blurRad="38100" dist="38100" dir="2700000" algn="tl">
                    <a:srgbClr val="000000">
                      <a:alpha val="43137"/>
                    </a:srgbClr>
                  </a:outerShdw>
                </a:effectLst>
              </a:rPr>
            </a:br>
            <a:r>
              <a:rPr lang="en-GB" b="1" dirty="0" smtClean="0">
                <a:effectLst>
                  <a:outerShdw blurRad="38100" dist="38100" dir="2700000" algn="tl">
                    <a:srgbClr val="000000">
                      <a:alpha val="43137"/>
                    </a:srgbClr>
                  </a:outerShdw>
                </a:effectLst>
              </a:rPr>
              <a:t>Market Forces </a:t>
            </a:r>
            <a:r>
              <a:rPr lang="en-GB" b="1" dirty="0">
                <a:effectLst>
                  <a:outerShdw blurRad="38100" dist="38100" dir="2700000" algn="tl">
                    <a:srgbClr val="000000">
                      <a:alpha val="43137"/>
                    </a:srgbClr>
                  </a:outerShdw>
                </a:effectLst>
              </a:rPr>
              <a:t>in </a:t>
            </a:r>
            <a:r>
              <a:rPr lang="en-GB" b="1" dirty="0" smtClean="0">
                <a:effectLst>
                  <a:outerShdw blurRad="38100" dist="38100" dir="2700000" algn="tl">
                    <a:srgbClr val="000000">
                      <a:alpha val="43137"/>
                    </a:srgbClr>
                  </a:outerShdw>
                </a:effectLst>
              </a:rPr>
              <a:t>Fisheries</a:t>
            </a:r>
            <a:r>
              <a:rPr lang="en-GB" b="1" dirty="0">
                <a:effectLst>
                  <a:outerShdw blurRad="38100" dist="38100" dir="2700000" algn="tl">
                    <a:srgbClr val="000000">
                      <a:alpha val="43137"/>
                    </a:srgbClr>
                  </a:outerShdw>
                </a:effectLst>
              </a:rPr>
              <a:t/>
            </a:r>
            <a:br>
              <a:rPr lang="en-GB" b="1"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071154"/>
            <a:ext cx="10515600" cy="5105809"/>
          </a:xfrm>
        </p:spPr>
        <p:txBody>
          <a:bodyPr>
            <a:normAutofit lnSpcReduction="10000"/>
          </a:bodyPr>
          <a:lstStyle/>
          <a:p>
            <a:pPr marL="0" indent="0">
              <a:buNone/>
            </a:pPr>
            <a:r>
              <a:rPr lang="en-US" dirty="0" smtClean="0"/>
              <a:t>Fish </a:t>
            </a:r>
            <a:r>
              <a:rPr lang="en-US" dirty="0"/>
              <a:t>markets operate under complex </a:t>
            </a:r>
            <a:r>
              <a:rPr lang="en-US" dirty="0" smtClean="0"/>
              <a:t>supply-and-demand </a:t>
            </a:r>
            <a:r>
              <a:rPr lang="en-GB" dirty="0" smtClean="0"/>
              <a:t>conditions </a:t>
            </a:r>
            <a:r>
              <a:rPr lang="en-GB" dirty="0"/>
              <a:t>influenced by:</a:t>
            </a:r>
          </a:p>
          <a:p>
            <a:pPr marL="0" indent="0">
              <a:buNone/>
            </a:pPr>
            <a:r>
              <a:rPr lang="en-GB" b="1" dirty="0" smtClean="0"/>
              <a:t>• </a:t>
            </a:r>
            <a:r>
              <a:rPr lang="en-GB" dirty="0"/>
              <a:t>Seasonality and weather </a:t>
            </a:r>
            <a:r>
              <a:rPr lang="en-GB" dirty="0" smtClean="0"/>
              <a:t>conditions</a:t>
            </a:r>
          </a:p>
          <a:p>
            <a:pPr marL="0" indent="0">
              <a:buNone/>
            </a:pPr>
            <a:r>
              <a:rPr lang="en-GB" b="1" dirty="0" smtClean="0"/>
              <a:t>• </a:t>
            </a:r>
            <a:r>
              <a:rPr lang="en-GB" dirty="0"/>
              <a:t>Stock abundance and </a:t>
            </a:r>
            <a:r>
              <a:rPr lang="en-GB" dirty="0" smtClean="0"/>
              <a:t>variability</a:t>
            </a:r>
          </a:p>
          <a:p>
            <a:pPr marL="0" indent="0">
              <a:buNone/>
            </a:pPr>
            <a:r>
              <a:rPr lang="en-US" b="1" dirty="0" smtClean="0"/>
              <a:t>• </a:t>
            </a:r>
            <a:r>
              <a:rPr lang="en-US" dirty="0"/>
              <a:t>Consumer preferences and dietary trends</a:t>
            </a:r>
          </a:p>
          <a:p>
            <a:pPr marL="0" indent="0">
              <a:buNone/>
            </a:pPr>
            <a:r>
              <a:rPr lang="en-US" b="1" dirty="0"/>
              <a:t>• </a:t>
            </a:r>
            <a:r>
              <a:rPr lang="en-US" dirty="0"/>
              <a:t>International trade policies and </a:t>
            </a:r>
            <a:r>
              <a:rPr lang="en-US" dirty="0" smtClean="0"/>
              <a:t>tariffs</a:t>
            </a:r>
          </a:p>
          <a:p>
            <a:pPr marL="0" indent="0">
              <a:buNone/>
            </a:pPr>
            <a:r>
              <a:rPr lang="en-US" b="1" dirty="0" smtClean="0"/>
              <a:t>• </a:t>
            </a:r>
            <a:r>
              <a:rPr lang="en-US" dirty="0"/>
              <a:t>Technological advancements in fishing gear and storage</a:t>
            </a:r>
          </a:p>
          <a:p>
            <a:pPr marL="0" indent="0">
              <a:buNone/>
            </a:pPr>
            <a:r>
              <a:rPr lang="en-US" dirty="0"/>
              <a:t>Price volatility is common in fisheries, especially in wild </a:t>
            </a:r>
            <a:r>
              <a:rPr lang="en-US" dirty="0" smtClean="0"/>
              <a:t>capture fisheries </a:t>
            </a:r>
            <a:r>
              <a:rPr lang="en-US" dirty="0"/>
              <a:t>where supply is less predictable. </a:t>
            </a:r>
            <a:endParaRPr lang="en-US" dirty="0" smtClean="0"/>
          </a:p>
          <a:p>
            <a:pPr marL="0" indent="0">
              <a:buNone/>
            </a:pPr>
            <a:r>
              <a:rPr lang="en-US" dirty="0" smtClean="0"/>
              <a:t>In contrast, </a:t>
            </a:r>
            <a:r>
              <a:rPr lang="en-US" b="1" dirty="0" smtClean="0"/>
              <a:t>aquaculture </a:t>
            </a:r>
            <a:r>
              <a:rPr lang="en-US" b="1" dirty="0"/>
              <a:t>(fish farming) </a:t>
            </a:r>
            <a:r>
              <a:rPr lang="en-US" dirty="0"/>
              <a:t>has added stability and growth to </a:t>
            </a:r>
            <a:r>
              <a:rPr lang="en-US" dirty="0" smtClean="0"/>
              <a:t>the sector</a:t>
            </a:r>
            <a:r>
              <a:rPr lang="en-US" dirty="0"/>
              <a:t>, now accounting for over half of the fish </a:t>
            </a:r>
            <a:r>
              <a:rPr lang="en-US" dirty="0" smtClean="0"/>
              <a:t>consumed </a:t>
            </a:r>
            <a:r>
              <a:rPr lang="en-GB" dirty="0" smtClean="0"/>
              <a:t>globally</a:t>
            </a:r>
            <a:r>
              <a:rPr lang="en-GB" dirty="0"/>
              <a:t>.</a:t>
            </a:r>
          </a:p>
        </p:txBody>
      </p:sp>
    </p:spTree>
    <p:extLst>
      <p:ext uri="{BB962C8B-B14F-4D97-AF65-F5344CB8AC3E}">
        <p14:creationId xmlns:p14="http://schemas.microsoft.com/office/powerpoint/2010/main" val="749659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Economic </a:t>
            </a:r>
            <a:r>
              <a:rPr lang="en-US" b="1" dirty="0">
                <a:effectLst>
                  <a:outerShdw blurRad="38100" dist="38100" dir="2700000" algn="tl">
                    <a:srgbClr val="000000">
                      <a:alpha val="43137"/>
                    </a:srgbClr>
                  </a:outerShdw>
                </a:effectLst>
              </a:rPr>
              <a:t>tools for sustainable fisheries</a:t>
            </a:r>
            <a:br>
              <a:rPr lang="en-US" b="1"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031966"/>
            <a:ext cx="10515600" cy="5144997"/>
          </a:xfrm>
        </p:spPr>
        <p:txBody>
          <a:bodyPr>
            <a:normAutofit fontScale="92500" lnSpcReduction="10000"/>
          </a:bodyPr>
          <a:lstStyle/>
          <a:p>
            <a:pPr marL="0" indent="0">
              <a:buNone/>
            </a:pPr>
            <a:r>
              <a:rPr lang="en-US" dirty="0" smtClean="0"/>
              <a:t>Governments </a:t>
            </a:r>
            <a:r>
              <a:rPr lang="en-US" dirty="0"/>
              <a:t>and international bodies use a range of </a:t>
            </a:r>
            <a:r>
              <a:rPr lang="en-US" dirty="0" smtClean="0"/>
              <a:t>economic tools </a:t>
            </a:r>
            <a:r>
              <a:rPr lang="en-US" dirty="0"/>
              <a:t>to manage fisheries and avoid overexploitation:</a:t>
            </a:r>
          </a:p>
          <a:p>
            <a:r>
              <a:rPr lang="en-US" dirty="0"/>
              <a:t>Regulating the amount of fish that can be caught annually </a:t>
            </a:r>
            <a:r>
              <a:rPr lang="en-US" dirty="0" smtClean="0"/>
              <a:t>helps maintain </a:t>
            </a:r>
            <a:r>
              <a:rPr lang="en-US" dirty="0"/>
              <a:t>fish stocks. </a:t>
            </a:r>
            <a:endParaRPr lang="en-US" dirty="0" smtClean="0"/>
          </a:p>
          <a:p>
            <a:r>
              <a:rPr lang="en-US" dirty="0" smtClean="0"/>
              <a:t>These </a:t>
            </a:r>
            <a:r>
              <a:rPr lang="en-US" dirty="0"/>
              <a:t>can be assigned to individuals </a:t>
            </a:r>
            <a:r>
              <a:rPr lang="en-US" dirty="0" smtClean="0"/>
              <a:t>or groups </a:t>
            </a:r>
            <a:r>
              <a:rPr lang="en-US" dirty="0"/>
              <a:t>as </a:t>
            </a:r>
            <a:r>
              <a:rPr lang="en-US" dirty="0" smtClean="0"/>
              <a:t>Individual Transferable </a:t>
            </a:r>
            <a:r>
              <a:rPr lang="en-US" dirty="0"/>
              <a:t>Quotas (ITQs), which can </a:t>
            </a:r>
            <a:r>
              <a:rPr lang="en-US" dirty="0" smtClean="0"/>
              <a:t>be </a:t>
            </a:r>
            <a:r>
              <a:rPr lang="en-GB" dirty="0" smtClean="0"/>
              <a:t>bought </a:t>
            </a:r>
            <a:r>
              <a:rPr lang="en-GB" dirty="0"/>
              <a:t>or sold</a:t>
            </a:r>
            <a:r>
              <a:rPr lang="en-GB" dirty="0" smtClean="0"/>
              <a:t>.</a:t>
            </a:r>
          </a:p>
          <a:p>
            <a:r>
              <a:rPr lang="en-US" b="1" dirty="0"/>
              <a:t>Fishing licenses and effort controls: </a:t>
            </a:r>
            <a:r>
              <a:rPr lang="en-US" dirty="0"/>
              <a:t>Limiting the number of</a:t>
            </a:r>
          </a:p>
          <a:p>
            <a:r>
              <a:rPr lang="en-US" dirty="0"/>
              <a:t>boats, fishing days, or types of gear helps control effort </a:t>
            </a:r>
            <a:r>
              <a:rPr lang="en-US" dirty="0" smtClean="0"/>
              <a:t>and </a:t>
            </a:r>
            <a:r>
              <a:rPr lang="en-GB" dirty="0" smtClean="0"/>
              <a:t>reduce </a:t>
            </a:r>
            <a:r>
              <a:rPr lang="en-GB" dirty="0"/>
              <a:t>pressure on resources.</a:t>
            </a:r>
          </a:p>
          <a:p>
            <a:r>
              <a:rPr lang="en-US" b="1" dirty="0"/>
              <a:t>Subsidy reforms: </a:t>
            </a:r>
            <a:r>
              <a:rPr lang="en-US" dirty="0"/>
              <a:t>Many countries provide subsidies to </a:t>
            </a:r>
            <a:r>
              <a:rPr lang="en-US" dirty="0" smtClean="0"/>
              <a:t>fishers, but </a:t>
            </a:r>
            <a:r>
              <a:rPr lang="en-US" dirty="0"/>
              <a:t>poorly targeted subsidies can encourage overfishing.</a:t>
            </a:r>
          </a:p>
          <a:p>
            <a:r>
              <a:rPr lang="en-US" dirty="0"/>
              <a:t>Reforms are aimed at redirecting funds toward sustainability and</a:t>
            </a:r>
          </a:p>
          <a:p>
            <a:r>
              <a:rPr lang="en-GB" dirty="0"/>
              <a:t>conservation efforts.</a:t>
            </a:r>
          </a:p>
        </p:txBody>
      </p:sp>
    </p:spTree>
    <p:extLst>
      <p:ext uri="{BB962C8B-B14F-4D97-AF65-F5344CB8AC3E}">
        <p14:creationId xmlns:p14="http://schemas.microsoft.com/office/powerpoint/2010/main" val="3757928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Economic tools for sustainable fisheries</a:t>
            </a:r>
            <a:br>
              <a:rPr lang="en-US" b="1" dirty="0">
                <a:effectLst>
                  <a:outerShdw blurRad="38100" dist="38100" dir="2700000" algn="tl">
                    <a:srgbClr val="000000">
                      <a:alpha val="43137"/>
                    </a:srgbClr>
                  </a:outerShdw>
                </a:effectLst>
              </a:rPr>
            </a:br>
            <a:endParaRPr lang="en-GB" dirty="0"/>
          </a:p>
        </p:txBody>
      </p:sp>
      <p:sp>
        <p:nvSpPr>
          <p:cNvPr id="3" name="Content Placeholder 2"/>
          <p:cNvSpPr>
            <a:spLocks noGrp="1"/>
          </p:cNvSpPr>
          <p:nvPr>
            <p:ph idx="1"/>
          </p:nvPr>
        </p:nvSpPr>
        <p:spPr>
          <a:xfrm>
            <a:off x="838200" y="1254034"/>
            <a:ext cx="10515600" cy="5603965"/>
          </a:xfrm>
        </p:spPr>
        <p:txBody>
          <a:bodyPr>
            <a:normAutofit/>
          </a:bodyPr>
          <a:lstStyle/>
          <a:p>
            <a:r>
              <a:rPr lang="en-US" b="1" dirty="0"/>
              <a:t>Marine Protected Areas (MPAs): </a:t>
            </a:r>
            <a:r>
              <a:rPr lang="en-US" dirty="0"/>
              <a:t>Setting aside no-fishing </a:t>
            </a:r>
            <a:r>
              <a:rPr lang="en-US" dirty="0" smtClean="0"/>
              <a:t>zones can </a:t>
            </a:r>
            <a:r>
              <a:rPr lang="en-US" dirty="0"/>
              <a:t>allow fish stocks to recover and even spill over into </a:t>
            </a:r>
            <a:r>
              <a:rPr lang="en-US" dirty="0" smtClean="0"/>
              <a:t>adjacent fishing </a:t>
            </a:r>
            <a:r>
              <a:rPr lang="en-US" dirty="0"/>
              <a:t>areas, increasing overall productivity.</a:t>
            </a:r>
          </a:p>
          <a:p>
            <a:r>
              <a:rPr lang="en-GB" b="1" dirty="0" smtClean="0"/>
              <a:t>Economic Incentives </a:t>
            </a:r>
            <a:r>
              <a:rPr lang="en-GB" b="1" dirty="0"/>
              <a:t>and co-management: </a:t>
            </a:r>
            <a:r>
              <a:rPr lang="en-GB" dirty="0" smtClean="0"/>
              <a:t>Encouraging </a:t>
            </a:r>
            <a:r>
              <a:rPr lang="en-US" dirty="0" smtClean="0"/>
              <a:t>communities </a:t>
            </a:r>
            <a:r>
              <a:rPr lang="en-US" dirty="0"/>
              <a:t>to manage their local fisheries through </a:t>
            </a:r>
            <a:r>
              <a:rPr lang="en-US" dirty="0" smtClean="0"/>
              <a:t>co-management</a:t>
            </a:r>
            <a:r>
              <a:rPr lang="en-US" dirty="0"/>
              <a:t> </a:t>
            </a:r>
            <a:r>
              <a:rPr lang="en-US" dirty="0" smtClean="0"/>
              <a:t>and </a:t>
            </a:r>
            <a:r>
              <a:rPr lang="en-US" dirty="0"/>
              <a:t>providing economic incentives for </a:t>
            </a:r>
            <a:r>
              <a:rPr lang="en-US" dirty="0" smtClean="0"/>
              <a:t>sustainable practices </a:t>
            </a:r>
            <a:r>
              <a:rPr lang="en-US" dirty="0"/>
              <a:t>helps align short-term behavior with long-term goals.</a:t>
            </a:r>
          </a:p>
          <a:p>
            <a:r>
              <a:rPr lang="en-US" b="1" dirty="0"/>
              <a:t>Global Challenges and the Path Forward: </a:t>
            </a:r>
            <a:r>
              <a:rPr lang="en-US" dirty="0"/>
              <a:t>Global fish stocks are</a:t>
            </a:r>
          </a:p>
          <a:p>
            <a:r>
              <a:rPr lang="en-US" dirty="0"/>
              <a:t>under increasing stress. According to the FAO, over 35% </a:t>
            </a:r>
            <a:r>
              <a:rPr lang="en-US" dirty="0" smtClean="0"/>
              <a:t>of </a:t>
            </a:r>
            <a:r>
              <a:rPr lang="en-US" dirty="0"/>
              <a:t>global fish stocks are overexploited, with climate change, </a:t>
            </a:r>
            <a:r>
              <a:rPr lang="en-US" dirty="0" smtClean="0"/>
              <a:t>illegal fishing</a:t>
            </a:r>
            <a:r>
              <a:rPr lang="en-US" dirty="0"/>
              <a:t>, and habitat degradation adding further pressure</a:t>
            </a:r>
            <a:endParaRPr lang="en-GB" dirty="0"/>
          </a:p>
        </p:txBody>
      </p:sp>
    </p:spTree>
    <p:extLst>
      <p:ext uri="{BB962C8B-B14F-4D97-AF65-F5344CB8AC3E}">
        <p14:creationId xmlns:p14="http://schemas.microsoft.com/office/powerpoint/2010/main" val="38415256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7"/>
            <a:ext cx="10515600" cy="1332413"/>
          </a:xfrm>
        </p:spPr>
        <p:txBody>
          <a:bodyPr>
            <a:normAutofit fontScale="90000"/>
          </a:bodyPr>
          <a:lstStyle/>
          <a:p>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Fishery </a:t>
            </a:r>
            <a:r>
              <a:rPr lang="en-US" b="1" dirty="0">
                <a:effectLst>
                  <a:outerShdw blurRad="38100" dist="38100" dir="2700000" algn="tl">
                    <a:srgbClr val="000000">
                      <a:alpha val="43137"/>
                    </a:srgbClr>
                  </a:outerShdw>
                </a:effectLst>
              </a:rPr>
              <a:t>economics thus faces several key </a:t>
            </a:r>
            <a:r>
              <a:rPr lang="en-US" b="1" dirty="0" smtClean="0">
                <a:effectLst>
                  <a:outerShdw blurRad="38100" dist="38100" dir="2700000" algn="tl">
                    <a:srgbClr val="000000">
                      <a:alpha val="43137"/>
                    </a:srgbClr>
                  </a:outerShdw>
                </a:effectLst>
              </a:rPr>
              <a:t>challenges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54034"/>
            <a:ext cx="10515600" cy="4922929"/>
          </a:xfrm>
        </p:spPr>
        <p:txBody>
          <a:bodyPr>
            <a:normAutofit/>
          </a:bodyPr>
          <a:lstStyle/>
          <a:p>
            <a:pPr marL="0" indent="0">
              <a:buNone/>
            </a:pPr>
            <a:r>
              <a:rPr lang="en-US" b="1" dirty="0" smtClean="0"/>
              <a:t>• </a:t>
            </a:r>
            <a:r>
              <a:rPr lang="en-US" dirty="0"/>
              <a:t>Designing effective policies that balance </a:t>
            </a:r>
            <a:r>
              <a:rPr lang="en-US" dirty="0" smtClean="0"/>
              <a:t>ecological </a:t>
            </a:r>
            <a:r>
              <a:rPr lang="en-GB" dirty="0" smtClean="0"/>
              <a:t>sustainability </a:t>
            </a:r>
            <a:r>
              <a:rPr lang="en-GB" dirty="0"/>
              <a:t>and economic viability</a:t>
            </a:r>
          </a:p>
          <a:p>
            <a:pPr marL="0" indent="0">
              <a:buNone/>
            </a:pPr>
            <a:r>
              <a:rPr lang="en-US" b="1" dirty="0"/>
              <a:t>• </a:t>
            </a:r>
            <a:r>
              <a:rPr lang="en-US" dirty="0"/>
              <a:t>Ensuring equity among small-scale fishers and large </a:t>
            </a:r>
            <a:r>
              <a:rPr lang="en-US" dirty="0" smtClean="0"/>
              <a:t>industrial </a:t>
            </a:r>
            <a:r>
              <a:rPr lang="en-GB" dirty="0" smtClean="0"/>
              <a:t>operators</a:t>
            </a:r>
            <a:endParaRPr lang="en-GB" dirty="0"/>
          </a:p>
          <a:p>
            <a:pPr marL="0" indent="0">
              <a:buNone/>
            </a:pPr>
            <a:r>
              <a:rPr lang="en-US" b="1" dirty="0"/>
              <a:t>• </a:t>
            </a:r>
            <a:r>
              <a:rPr lang="en-US" dirty="0"/>
              <a:t>Incorporating climate change projections into </a:t>
            </a:r>
            <a:r>
              <a:rPr lang="en-US" dirty="0" smtClean="0"/>
              <a:t>resource </a:t>
            </a:r>
            <a:r>
              <a:rPr lang="en-GB" dirty="0" smtClean="0"/>
              <a:t>management</a:t>
            </a:r>
            <a:endParaRPr lang="en-GB" dirty="0"/>
          </a:p>
          <a:p>
            <a:pPr marL="0" indent="0">
              <a:buNone/>
            </a:pPr>
            <a:r>
              <a:rPr lang="en-US" b="1" dirty="0"/>
              <a:t>• </a:t>
            </a:r>
            <a:r>
              <a:rPr lang="en-US" dirty="0"/>
              <a:t>Enhancing data collection and enforcement capabilities</a:t>
            </a:r>
          </a:p>
          <a:p>
            <a:r>
              <a:rPr lang="en-US" dirty="0"/>
              <a:t>The shift toward Ecosystem-Based Fisheries </a:t>
            </a:r>
            <a:r>
              <a:rPr lang="en-US" dirty="0" smtClean="0"/>
              <a:t>Management (EBFM</a:t>
            </a:r>
            <a:r>
              <a:rPr lang="en-US" dirty="0"/>
              <a:t>)—which considers environmental, social, and </a:t>
            </a:r>
            <a:r>
              <a:rPr lang="en-US" dirty="0" smtClean="0"/>
              <a:t>economic factors—marks </a:t>
            </a:r>
            <a:r>
              <a:rPr lang="en-US" dirty="0"/>
              <a:t>a positive direction for the future</a:t>
            </a:r>
            <a:endParaRPr lang="en-GB" dirty="0"/>
          </a:p>
        </p:txBody>
      </p:sp>
    </p:spTree>
    <p:extLst>
      <p:ext uri="{BB962C8B-B14F-4D97-AF65-F5344CB8AC3E}">
        <p14:creationId xmlns:p14="http://schemas.microsoft.com/office/powerpoint/2010/main" val="8077533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effectLst>
                  <a:outerShdw blurRad="38100" dist="38100" dir="2700000" algn="tl">
                    <a:srgbClr val="000000">
                      <a:alpha val="43137"/>
                    </a:srgbClr>
                  </a:outerShdw>
                </a:effectLst>
              </a:rPr>
              <a:t/>
            </a:r>
            <a:br>
              <a:rPr lang="en-GB" b="1" dirty="0" smtClean="0">
                <a:effectLst>
                  <a:outerShdw blurRad="38100" dist="38100" dir="2700000" algn="tl">
                    <a:srgbClr val="000000">
                      <a:alpha val="43137"/>
                    </a:srgbClr>
                  </a:outerShdw>
                </a:effectLst>
              </a:rPr>
            </a:br>
            <a:r>
              <a:rPr lang="en-GB" b="1" dirty="0" smtClean="0">
                <a:effectLst>
                  <a:outerShdw blurRad="38100" dist="38100" dir="2700000" algn="tl">
                    <a:srgbClr val="000000">
                      <a:alpha val="43137"/>
                    </a:srgbClr>
                  </a:outerShdw>
                </a:effectLst>
              </a:rPr>
              <a:t>CONCLUSION</a:t>
            </a:r>
            <a:r>
              <a:rPr lang="en-GB" b="1" dirty="0">
                <a:effectLst>
                  <a:outerShdw blurRad="38100" dist="38100" dir="2700000" algn="tl">
                    <a:srgbClr val="000000">
                      <a:alpha val="43137"/>
                    </a:srgbClr>
                  </a:outerShdw>
                </a:effectLst>
              </a:rPr>
              <a:t/>
            </a:r>
            <a:br>
              <a:rPr lang="en-GB" b="1"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Fishery </a:t>
            </a:r>
            <a:r>
              <a:rPr lang="en-US" dirty="0"/>
              <a:t>economics lies at the intersection of ecology, </a:t>
            </a:r>
            <a:r>
              <a:rPr lang="en-US" dirty="0" smtClean="0"/>
              <a:t>livelihood, and </a:t>
            </a:r>
            <a:r>
              <a:rPr lang="en-US" dirty="0"/>
              <a:t>trade. </a:t>
            </a:r>
            <a:endParaRPr lang="en-US" dirty="0" smtClean="0"/>
          </a:p>
          <a:p>
            <a:r>
              <a:rPr lang="en-US" dirty="0" smtClean="0"/>
              <a:t>It </a:t>
            </a:r>
            <a:r>
              <a:rPr lang="en-US" dirty="0"/>
              <a:t>plays a central role in shaping policies that </a:t>
            </a:r>
            <a:r>
              <a:rPr lang="en-US" dirty="0" smtClean="0"/>
              <a:t>ensure the </a:t>
            </a:r>
            <a:r>
              <a:rPr lang="en-US" dirty="0"/>
              <a:t>sustainable use of one of the planet’s most </a:t>
            </a:r>
            <a:r>
              <a:rPr lang="en-US" dirty="0" smtClean="0"/>
              <a:t>valuable renewable </a:t>
            </a:r>
            <a:r>
              <a:rPr lang="en-US" dirty="0"/>
              <a:t>resources. </a:t>
            </a:r>
            <a:endParaRPr lang="en-US" dirty="0" smtClean="0"/>
          </a:p>
          <a:p>
            <a:r>
              <a:rPr lang="en-US" dirty="0" smtClean="0"/>
              <a:t>By </a:t>
            </a:r>
            <a:r>
              <a:rPr lang="en-US" dirty="0"/>
              <a:t>combining sound economic </a:t>
            </a:r>
            <a:r>
              <a:rPr lang="en-US" dirty="0" smtClean="0"/>
              <a:t>principles with </a:t>
            </a:r>
            <a:r>
              <a:rPr lang="en-US" dirty="0"/>
              <a:t>environmental stewardship and community involvement, </a:t>
            </a:r>
            <a:r>
              <a:rPr lang="en-US" dirty="0" smtClean="0"/>
              <a:t>it is </a:t>
            </a:r>
            <a:r>
              <a:rPr lang="en-US" dirty="0"/>
              <a:t>possible to manage fisheries in a way that secures </a:t>
            </a:r>
            <a:r>
              <a:rPr lang="en-US" dirty="0" smtClean="0"/>
              <a:t>both economic </a:t>
            </a:r>
            <a:r>
              <a:rPr lang="en-US" dirty="0"/>
              <a:t>benefits and ocean health for future generations.</a:t>
            </a:r>
            <a:endParaRPr lang="en-GB" dirty="0"/>
          </a:p>
        </p:txBody>
      </p:sp>
    </p:spTree>
    <p:extLst>
      <p:ext uri="{BB962C8B-B14F-4D97-AF65-F5344CB8AC3E}">
        <p14:creationId xmlns:p14="http://schemas.microsoft.com/office/powerpoint/2010/main" val="4247741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3494</TotalTime>
  <Words>4032</Words>
  <Application>Microsoft Office PowerPoint</Application>
  <PresentationFormat>Widescreen</PresentationFormat>
  <Paragraphs>446</Paragraphs>
  <Slides>81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Calibri Light</vt:lpstr>
      <vt:lpstr>Cambria Math</vt:lpstr>
      <vt:lpstr>Wingdings</vt:lpstr>
      <vt:lpstr>Office Theme</vt:lpstr>
      <vt:lpstr>SA420-NATURAL RESOURCE ECONOMICS</vt:lpstr>
      <vt:lpstr>TOPIC 3: AGR/FOR/FISH ECONOMICS</vt:lpstr>
      <vt:lpstr>AGRICULTURAL ECONOMICS </vt:lpstr>
      <vt:lpstr>key reasons why the study of agricultural economics is crucial:</vt:lpstr>
      <vt:lpstr>key reasons why the study of agricultural economics is crucial:</vt:lpstr>
      <vt:lpstr>key reasons why the study of agricultural economics is crucial:</vt:lpstr>
      <vt:lpstr>CONT…</vt:lpstr>
      <vt:lpstr>CONT…</vt:lpstr>
      <vt:lpstr>CONT…</vt:lpstr>
      <vt:lpstr>Definition:</vt:lpstr>
      <vt:lpstr>scope of Agricultural Economics- </vt:lpstr>
      <vt:lpstr>scope of Agricultural Economics- </vt:lpstr>
      <vt:lpstr>scope of Agricultural Economics- </vt:lpstr>
      <vt:lpstr>scope of Agricultural Economics- </vt:lpstr>
      <vt:lpstr>scope of Agricultural Economics- </vt:lpstr>
      <vt:lpstr>scope of Agricultural Economics- </vt:lpstr>
      <vt:lpstr>ROLES THAT AGRICULTURE FULFILLS IN ZAMBIA’S ECONOMY</vt:lpstr>
      <vt:lpstr>ROLES THAT AGRICULTURE FULFILS IN AN ECONOMY</vt:lpstr>
      <vt:lpstr>Factors Influencing Farm Productivity</vt:lpstr>
      <vt:lpstr>Factors Influencing Farm Productivity</vt:lpstr>
      <vt:lpstr>PowerPoint Presentation</vt:lpstr>
      <vt:lpstr>PowerPoint Presentation</vt:lpstr>
      <vt:lpstr>PowerPoint Presentation</vt:lpstr>
      <vt:lpstr>   Forest Economics</vt:lpstr>
      <vt:lpstr>What is Forest Economics?</vt:lpstr>
      <vt:lpstr>Forestry vs. Fishery</vt:lpstr>
      <vt:lpstr>PowerPoint Presentation</vt:lpstr>
      <vt:lpstr>Characteristics of Forest</vt:lpstr>
      <vt:lpstr>Forest management Economic principles</vt:lpstr>
      <vt:lpstr>PowerPoint Presentation</vt:lpstr>
      <vt:lpstr>PowerPoint Presentation</vt:lpstr>
      <vt:lpstr>PowerPoint Presentation</vt:lpstr>
      <vt:lpstr>PowerPoint Presentation</vt:lpstr>
      <vt:lpstr>Properties of Growth Function</vt:lpstr>
      <vt:lpstr>Current Annual Increment (CAI)</vt:lpstr>
      <vt:lpstr>Mean Annual Increment (MAI)</vt:lpstr>
      <vt:lpstr>EXAMPLE CALCULATION MAI</vt:lpstr>
      <vt:lpstr>PowerPoint Presentation</vt:lpstr>
      <vt:lpstr>PowerPoint Presentation</vt:lpstr>
      <vt:lpstr>PowerPoint Presentation</vt:lpstr>
      <vt:lpstr>PowerPoint Presentation</vt:lpstr>
      <vt:lpstr>Economic Aspects</vt:lpstr>
      <vt:lpstr>EXAMPLE OF ECONOMIC RENT IN FORESTRY</vt:lpstr>
      <vt:lpstr>EXAMPLE OF ECONOMIC RENT IN FORESTRY</vt:lpstr>
      <vt:lpstr>PowerPoint Presentation</vt:lpstr>
      <vt:lpstr>EXAMPLE ON SINGLE ROTATION</vt:lpstr>
      <vt:lpstr>SOLUTION</vt:lpstr>
      <vt:lpstr>PowerPoint Presentation</vt:lpstr>
      <vt:lpstr>PowerPoint Presentation</vt:lpstr>
      <vt:lpstr>Rotation Problem</vt:lpstr>
      <vt:lpstr>PowerPoint Presentation</vt:lpstr>
      <vt:lpstr>PowerPoint Presentation</vt:lpstr>
      <vt:lpstr>Optimal Rotation</vt:lpstr>
      <vt:lpstr>PowerPoint Presentation</vt:lpstr>
      <vt:lpstr>Bioeconomic models</vt:lpstr>
      <vt:lpstr>PowerPoint Presentation</vt:lpstr>
      <vt:lpstr>Single rotation model</vt:lpstr>
      <vt:lpstr>PowerPoint Presentation</vt:lpstr>
      <vt:lpstr>PowerPoint Presentation</vt:lpstr>
      <vt:lpstr>Faustmann model</vt:lpstr>
      <vt:lpstr>PowerPoint Presentation</vt:lpstr>
      <vt:lpstr>PowerPoint Presentation</vt:lpstr>
      <vt:lpstr>PowerPoint Presentation</vt:lpstr>
      <vt:lpstr>PowerPoint Presentation</vt:lpstr>
      <vt:lpstr>FISHERIES ECONOMICS</vt:lpstr>
      <vt:lpstr>Economic importance of fisheries </vt:lpstr>
      <vt:lpstr>Economic importance of fisheries </vt:lpstr>
      <vt:lpstr>Open access and the “tragedy of the commons” </vt:lpstr>
      <vt:lpstr>Maximum sustainable yield vs. maximum economic yield</vt:lpstr>
      <vt:lpstr>Maximum Sustainable Yield (MSY):</vt:lpstr>
      <vt:lpstr>FORMULAS</vt:lpstr>
      <vt:lpstr>Maximum Economic Yield (MEY):</vt:lpstr>
      <vt:lpstr>EXAMPLE ON MEY</vt:lpstr>
      <vt:lpstr>CALCULATION</vt:lpstr>
      <vt:lpstr>Calculate the MEY METRICS</vt:lpstr>
      <vt:lpstr>Maximum sustainable yield vs. maximum economic yield</vt:lpstr>
      <vt:lpstr> Market Forces in Fisheries </vt:lpstr>
      <vt:lpstr> Economic tools for sustainable fisheries </vt:lpstr>
      <vt:lpstr> Economic tools for sustainable fisheries </vt:lpstr>
      <vt:lpstr> Fishery economics thus faces several key challenges </vt:lpstr>
      <vt:lpstr>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Forest Economics</dc:title>
  <dc:creator>Maheshika Rathnayake</dc:creator>
  <cp:lastModifiedBy>Martha</cp:lastModifiedBy>
  <cp:revision>146</cp:revision>
  <dcterms:created xsi:type="dcterms:W3CDTF">2015-12-11T15:35:51Z</dcterms:created>
  <dcterms:modified xsi:type="dcterms:W3CDTF">2026-03-19T09:05:05Z</dcterms:modified>
</cp:coreProperties>
</file>