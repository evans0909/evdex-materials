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23" r:id="rId31"/>
    <p:sldId id="285" r:id="rId32"/>
    <p:sldId id="286" r:id="rId33"/>
    <p:sldId id="287" r:id="rId34"/>
    <p:sldId id="288" r:id="rId35"/>
    <p:sldId id="289" r:id="rId36"/>
    <p:sldId id="324" r:id="rId37"/>
    <p:sldId id="325" r:id="rId38"/>
    <p:sldId id="326" r:id="rId39"/>
    <p:sldId id="327" r:id="rId40"/>
    <p:sldId id="290" r:id="rId41"/>
    <p:sldId id="291" r:id="rId42"/>
    <p:sldId id="292"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293" r:id="rId61"/>
    <p:sldId id="294" r:id="rId62"/>
    <p:sldId id="295" r:id="rId63"/>
    <p:sldId id="296" r:id="rId64"/>
    <p:sldId id="297" r:id="rId65"/>
    <p:sldId id="298" r:id="rId66"/>
    <p:sldId id="299" r:id="rId67"/>
    <p:sldId id="300" r:id="rId68"/>
    <p:sldId id="302" r:id="rId69"/>
    <p:sldId id="301" r:id="rId70"/>
    <p:sldId id="303" r:id="rId71"/>
    <p:sldId id="304" r:id="rId72"/>
    <p:sldId id="305" r:id="rId73"/>
    <p:sldId id="306" r:id="rId74"/>
    <p:sldId id="308" r:id="rId75"/>
    <p:sldId id="309" r:id="rId76"/>
    <p:sldId id="310" r:id="rId77"/>
    <p:sldId id="311" r:id="rId78"/>
    <p:sldId id="312" r:id="rId79"/>
    <p:sldId id="313" r:id="rId80"/>
    <p:sldId id="314" r:id="rId81"/>
    <p:sldId id="315" r:id="rId82"/>
    <p:sldId id="316" r:id="rId83"/>
    <p:sldId id="317" r:id="rId84"/>
    <p:sldId id="318" r:id="rId85"/>
    <p:sldId id="319" r:id="rId86"/>
    <p:sldId id="320" r:id="rId87"/>
    <p:sldId id="321" r:id="rId88"/>
    <p:sldId id="322" r:id="rId89"/>
    <p:sldId id="328" r:id="rId90"/>
    <p:sldId id="329" r:id="rId91"/>
    <p:sldId id="330" r:id="rId92"/>
    <p:sldId id="331" r:id="rId93"/>
    <p:sldId id="332" r:id="rId94"/>
    <p:sldId id="333" r:id="rId95"/>
    <p:sldId id="334" r:id="rId96"/>
    <p:sldId id="335" r:id="rId97"/>
    <p:sldId id="336" r:id="rId98"/>
    <p:sldId id="337" r:id="rId99"/>
    <p:sldId id="338" r:id="rId100"/>
    <p:sldId id="339" r:id="rId101"/>
    <p:sldId id="340" r:id="rId102"/>
    <p:sldId id="341" r:id="rId103"/>
    <p:sldId id="342" r:id="rId104"/>
    <p:sldId id="343" r:id="rId105"/>
    <p:sldId id="344" r:id="rId106"/>
    <p:sldId id="345" r:id="rId107"/>
    <p:sldId id="346" r:id="rId108"/>
    <p:sldId id="347" r:id="rId109"/>
    <p:sldId id="348" r:id="rId110"/>
    <p:sldId id="350" r:id="rId111"/>
    <p:sldId id="34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343" autoAdjust="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FBBB7B-74E4-49B6-903E-E3750CDD4F4D}"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0CCE2-3A72-42A6-9CB2-358768E3E16E}" type="slidenum">
              <a:rPr lang="en-US" smtClean="0"/>
              <a:t>‹#›</a:t>
            </a:fld>
            <a:endParaRPr lang="en-US"/>
          </a:p>
        </p:txBody>
      </p:sp>
    </p:spTree>
    <p:extLst>
      <p:ext uri="{BB962C8B-B14F-4D97-AF65-F5344CB8AC3E}">
        <p14:creationId xmlns:p14="http://schemas.microsoft.com/office/powerpoint/2010/main" val="3300259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kern="1200" dirty="0">
                <a:solidFill>
                  <a:schemeClr val="tx1"/>
                </a:solidFill>
                <a:effectLst/>
                <a:latin typeface="+mn-lt"/>
                <a:ea typeface="+mn-ea"/>
                <a:cs typeface="+mn-cs"/>
              </a:rPr>
              <a:t>Note: movements along a demand or supply curve of a good only happen as a result of a direct change in price of the good; changes caused by any other factor, tax and subsidy included, is represented by a shift in the curves</a:t>
            </a:r>
            <a:endParaRPr lang="en-US" dirty="0"/>
          </a:p>
        </p:txBody>
      </p:sp>
      <p:sp>
        <p:nvSpPr>
          <p:cNvPr id="4" name="Slide Number Placeholder 3"/>
          <p:cNvSpPr>
            <a:spLocks noGrp="1"/>
          </p:cNvSpPr>
          <p:nvPr>
            <p:ph type="sldNum" sz="quarter" idx="10"/>
          </p:nvPr>
        </p:nvSpPr>
        <p:spPr/>
        <p:txBody>
          <a:bodyPr/>
          <a:lstStyle/>
          <a:p>
            <a:fld id="{E940CCE2-3A72-42A6-9CB2-358768E3E16E}" type="slidenum">
              <a:rPr lang="en-US" smtClean="0"/>
              <a:t>64</a:t>
            </a:fld>
            <a:endParaRPr lang="en-US"/>
          </a:p>
        </p:txBody>
      </p:sp>
    </p:spTree>
    <p:extLst>
      <p:ext uri="{BB962C8B-B14F-4D97-AF65-F5344CB8AC3E}">
        <p14:creationId xmlns:p14="http://schemas.microsoft.com/office/powerpoint/2010/main" val="1201581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D63F50-543D-46D1-A684-0B6F383C674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2550270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D63F50-543D-46D1-A684-0B6F383C674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17941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D63F50-543D-46D1-A684-0B6F383C674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274739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D63F50-543D-46D1-A684-0B6F383C674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81688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D63F50-543D-46D1-A684-0B6F383C674B}"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018529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D63F50-543D-46D1-A684-0B6F383C674B}"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544660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63F50-543D-46D1-A684-0B6F383C674B}"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2654535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D63F50-543D-46D1-A684-0B6F383C674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953101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D63F50-543D-46D1-A684-0B6F383C674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902896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D63F50-543D-46D1-A684-0B6F383C674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19311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D63F50-543D-46D1-A684-0B6F383C674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739420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63F50-543D-46D1-A684-0B6F383C674B}" type="datetimeFigureOut">
              <a:rPr lang="en-US" smtClean="0"/>
              <a:t>3/12/2026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62B425-13F8-4442-8E04-F739AA614A92}" type="slidenum">
              <a:rPr lang="en-US" smtClean="0"/>
              <a:t>‹#›</a:t>
            </a:fld>
            <a:endParaRPr lang="en-US"/>
          </a:p>
        </p:txBody>
      </p:sp>
    </p:spTree>
    <p:extLst>
      <p:ext uri="{BB962C8B-B14F-4D97-AF65-F5344CB8AC3E}">
        <p14:creationId xmlns:p14="http://schemas.microsoft.com/office/powerpoint/2010/main" val="2413465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effectLst>
                  <a:outerShdw blurRad="38100" dist="38100" dir="2700000" algn="tl">
                    <a:srgbClr val="000000">
                      <a:alpha val="43137"/>
                    </a:srgbClr>
                  </a:outerShdw>
                </a:effectLst>
              </a:rPr>
              <a:t>SA420-NATURAL RESOURCE ECONOMICS</a:t>
            </a:r>
          </a:p>
        </p:txBody>
      </p:sp>
      <p:sp>
        <p:nvSpPr>
          <p:cNvPr id="3" name="Subtitle 2"/>
          <p:cNvSpPr>
            <a:spLocks noGrp="1"/>
          </p:cNvSpPr>
          <p:nvPr>
            <p:ph type="subTitle" idx="1"/>
          </p:nvPr>
        </p:nvSpPr>
        <p:spPr/>
        <p:txBody>
          <a:bodyPr>
            <a:normAutofit fontScale="85000" lnSpcReduction="20000"/>
          </a:bodyPr>
          <a:lstStyle/>
          <a:p>
            <a:r>
              <a:rPr lang="en-US" sz="6000" b="1" dirty="0">
                <a:effectLst>
                  <a:outerShdw blurRad="38100" dist="38100" dir="2700000" algn="tl">
                    <a:srgbClr val="000000">
                      <a:alpha val="43137"/>
                    </a:srgbClr>
                  </a:outerShdw>
                </a:effectLst>
              </a:rPr>
              <a:t>LECTURER NAME:</a:t>
            </a:r>
          </a:p>
          <a:p>
            <a:r>
              <a:rPr lang="en-US" sz="6000" b="1" dirty="0">
                <a:effectLst>
                  <a:outerShdw blurRad="38100" dist="38100" dir="2700000" algn="tl">
                    <a:srgbClr val="000000">
                      <a:alpha val="43137"/>
                    </a:srgbClr>
                  </a:outerShdw>
                </a:effectLst>
              </a:rPr>
              <a:t>MULENGA MPOLOKOSO</a:t>
            </a:r>
          </a:p>
          <a:p>
            <a:r>
              <a:rPr lang="en-US" i="1" dirty="0">
                <a:effectLst>
                  <a:outerShdw blurRad="38100" dist="38100" dir="2700000" algn="tl">
                    <a:srgbClr val="000000">
                      <a:alpha val="43137"/>
                    </a:srgbClr>
                  </a:outerShdw>
                </a:effectLst>
              </a:rPr>
              <a:t>(</a:t>
            </a:r>
            <a:r>
              <a:rPr lang="en-US" i="1" dirty="0" err="1">
                <a:effectLst>
                  <a:outerShdw blurRad="38100" dist="38100" dir="2700000" algn="tl">
                    <a:srgbClr val="000000">
                      <a:alpha val="43137"/>
                    </a:srgbClr>
                  </a:outerShdw>
                </a:effectLst>
              </a:rPr>
              <a:t>Ph.D_WIP</a:t>
            </a:r>
            <a:r>
              <a:rPr lang="en-US" i="1" dirty="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423654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TOPIC 1: BASIC PRINCIPLES OF MICRO ECONOMICS</a:t>
            </a:r>
          </a:p>
        </p:txBody>
      </p:sp>
      <p:sp>
        <p:nvSpPr>
          <p:cNvPr id="3" name="Content Placeholder 2"/>
          <p:cNvSpPr>
            <a:spLocks noGrp="1"/>
          </p:cNvSpPr>
          <p:nvPr>
            <p:ph idx="1"/>
          </p:nvPr>
        </p:nvSpPr>
        <p:spPr>
          <a:xfrm>
            <a:off x="838200" y="1865381"/>
            <a:ext cx="10515600" cy="4351338"/>
          </a:xfrm>
        </p:spPr>
        <p:txBody>
          <a:bodyPr>
            <a:normAutofit/>
          </a:bodyPr>
          <a:lstStyle/>
          <a:p>
            <a:pPr marL="0" indent="0">
              <a:buNone/>
            </a:pPr>
            <a:r>
              <a:rPr lang="en-US" b="1" dirty="0"/>
              <a:t>TOPIC OUTLINE:</a:t>
            </a:r>
          </a:p>
          <a:p>
            <a:pPr>
              <a:buFont typeface="Wingdings" panose="05000000000000000000" pitchFamily="2" charset="2"/>
              <a:buChar char="v"/>
            </a:pPr>
            <a:r>
              <a:rPr lang="en-US" dirty="0"/>
              <a:t>GRAPHIC AND MATHEMATICAL REPRESENTATION OF DEMAND AND SUPPLY</a:t>
            </a:r>
          </a:p>
          <a:p>
            <a:pPr>
              <a:buFont typeface="Wingdings" panose="05000000000000000000" pitchFamily="2" charset="2"/>
              <a:buChar char="v"/>
            </a:pPr>
            <a:r>
              <a:rPr lang="en-US" dirty="0"/>
              <a:t>FACTORS SHIFTING DEMAND AND SUPPLY</a:t>
            </a:r>
          </a:p>
          <a:p>
            <a:pPr>
              <a:buFont typeface="Wingdings" panose="05000000000000000000" pitchFamily="2" charset="2"/>
              <a:buChar char="v"/>
            </a:pPr>
            <a:r>
              <a:rPr lang="en-US" dirty="0"/>
              <a:t>MARKET EQUILIBRIUM</a:t>
            </a:r>
          </a:p>
          <a:p>
            <a:pPr>
              <a:buFont typeface="Wingdings" panose="05000000000000000000" pitchFamily="2" charset="2"/>
              <a:buChar char="v"/>
            </a:pPr>
            <a:r>
              <a:rPr lang="en-US" dirty="0"/>
              <a:t>SURPLUS</a:t>
            </a:r>
          </a:p>
          <a:p>
            <a:pPr>
              <a:buFont typeface="Wingdings" panose="05000000000000000000" pitchFamily="2" charset="2"/>
              <a:buChar char="v"/>
            </a:pPr>
            <a:r>
              <a:rPr lang="en-US" dirty="0"/>
              <a:t>SHORTAGE</a:t>
            </a:r>
          </a:p>
          <a:p>
            <a:pPr>
              <a:buFont typeface="Wingdings" panose="05000000000000000000" pitchFamily="2" charset="2"/>
              <a:buChar char="v"/>
            </a:pPr>
            <a:r>
              <a:rPr lang="en-US" dirty="0"/>
              <a:t>PRICE AND CROSS PRICE ELASTICITIES OF DEMAND AND SUPPLY</a:t>
            </a:r>
          </a:p>
        </p:txBody>
      </p:sp>
    </p:spTree>
    <p:extLst>
      <p:ext uri="{BB962C8B-B14F-4D97-AF65-F5344CB8AC3E}">
        <p14:creationId xmlns:p14="http://schemas.microsoft.com/office/powerpoint/2010/main" val="344071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140516"/>
            <a:ext cx="10515600" cy="1097280"/>
          </a:xfrm>
        </p:spPr>
        <p:txBody>
          <a:bodyPr>
            <a:normAutofit fontScale="90000"/>
          </a:bodyPr>
          <a:lstStyle/>
          <a:p>
            <a:pPr algn="ctr"/>
            <a:br>
              <a:rPr lang="en-US" sz="3100" b="1" dirty="0"/>
            </a:br>
            <a:br>
              <a:rPr lang="en-US" sz="3100" b="1" dirty="0"/>
            </a:br>
            <a:r>
              <a:rPr lang="en-US" sz="3100" b="1" dirty="0"/>
              <a:t>GRAPHIC AND MATHEMATICAL REPRESENTATION OF DEMAND AND SUPPLY</a:t>
            </a:r>
            <a:br>
              <a:rPr lang="en-US" b="1" dirty="0"/>
            </a:br>
            <a:endParaRPr lang="en-US" b="1" dirty="0"/>
          </a:p>
        </p:txBody>
      </p:sp>
      <p:sp>
        <p:nvSpPr>
          <p:cNvPr id="3" name="Content Placeholder 2"/>
          <p:cNvSpPr>
            <a:spLocks noGrp="1"/>
          </p:cNvSpPr>
          <p:nvPr>
            <p:ph idx="1"/>
          </p:nvPr>
        </p:nvSpPr>
        <p:spPr>
          <a:xfrm>
            <a:off x="838200" y="1237796"/>
            <a:ext cx="10515600" cy="4939167"/>
          </a:xfrm>
        </p:spPr>
        <p:txBody>
          <a:bodyPr/>
          <a:lstStyle/>
          <a:p>
            <a:r>
              <a:rPr lang="en-US" dirty="0"/>
              <a:t>In general, Demand means desire by human.</a:t>
            </a:r>
          </a:p>
          <a:p>
            <a:r>
              <a:rPr lang="en-US" dirty="0"/>
              <a:t> In economics, Demand refers to the desire backed by ability to pay and willingness to buy it. </a:t>
            </a:r>
          </a:p>
          <a:p>
            <a:r>
              <a:rPr lang="en-US" dirty="0"/>
              <a:t>A beggar may desire to have a car, but his desire is not going to affect its market price as he is not having the necessary purchasing power to buy a car. </a:t>
            </a:r>
          </a:p>
          <a:p>
            <a:r>
              <a:rPr lang="en-US" dirty="0"/>
              <a:t>Thus, desire backed by purchasing power is called demand.</a:t>
            </a:r>
          </a:p>
          <a:p>
            <a:endParaRPr lang="en-US" dirty="0"/>
          </a:p>
        </p:txBody>
      </p:sp>
    </p:spTree>
    <p:extLst>
      <p:ext uri="{BB962C8B-B14F-4D97-AF65-F5344CB8AC3E}">
        <p14:creationId xmlns:p14="http://schemas.microsoft.com/office/powerpoint/2010/main" val="3638800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KINDS OF DEMAND </a:t>
            </a:r>
            <a:br>
              <a:rPr lang="en-US" dirty="0"/>
            </a:br>
            <a:endParaRPr lang="en-US" dirty="0"/>
          </a:p>
        </p:txBody>
      </p:sp>
      <p:sp>
        <p:nvSpPr>
          <p:cNvPr id="3" name="Content Placeholder 2"/>
          <p:cNvSpPr>
            <a:spLocks noGrp="1"/>
          </p:cNvSpPr>
          <p:nvPr>
            <p:ph idx="1"/>
          </p:nvPr>
        </p:nvSpPr>
        <p:spPr>
          <a:xfrm>
            <a:off x="838200" y="1149530"/>
            <a:ext cx="10515600" cy="5551715"/>
          </a:xfrm>
        </p:spPr>
        <p:txBody>
          <a:bodyPr>
            <a:normAutofit fontScale="85000" lnSpcReduction="20000"/>
          </a:bodyPr>
          <a:lstStyle/>
          <a:p>
            <a:pPr marL="0" indent="0">
              <a:buNone/>
            </a:pPr>
            <a:r>
              <a:rPr lang="en-US" b="1" dirty="0"/>
              <a:t>I. Direct Demand: </a:t>
            </a:r>
            <a:r>
              <a:rPr lang="en-US" dirty="0"/>
              <a:t>It refers to demand for a commodity that is directly consumed to satisfy human wants, for example demand for bread, butter and fruits. </a:t>
            </a:r>
          </a:p>
          <a:p>
            <a:pPr marL="0" indent="0">
              <a:buNone/>
            </a:pPr>
            <a:r>
              <a:rPr lang="en-US" dirty="0"/>
              <a:t>a) </a:t>
            </a:r>
            <a:r>
              <a:rPr lang="en-US" b="1" dirty="0"/>
              <a:t>Price Demand: </a:t>
            </a:r>
            <a:r>
              <a:rPr lang="en-US" dirty="0"/>
              <a:t>it refers to the demand for a commodity at a particular price </a:t>
            </a:r>
          </a:p>
          <a:p>
            <a:pPr marL="0" indent="0">
              <a:buNone/>
            </a:pPr>
            <a:r>
              <a:rPr lang="en-US" dirty="0"/>
              <a:t>b) </a:t>
            </a:r>
            <a:r>
              <a:rPr lang="en-US" b="1" dirty="0"/>
              <a:t>Income Demand: </a:t>
            </a:r>
            <a:r>
              <a:rPr lang="en-US" dirty="0"/>
              <a:t>It refers to the demand for a commodity at a various levels of consumer’s income </a:t>
            </a:r>
          </a:p>
          <a:p>
            <a:pPr marL="0" indent="0">
              <a:buNone/>
            </a:pPr>
            <a:r>
              <a:rPr lang="en-US" dirty="0"/>
              <a:t>c) </a:t>
            </a:r>
            <a:r>
              <a:rPr lang="en-US" b="1" dirty="0"/>
              <a:t>Cross Demand: </a:t>
            </a:r>
            <a:r>
              <a:rPr lang="en-US" dirty="0"/>
              <a:t>It refers to quantity demanded of a commodity due to change in the price of other commodity </a:t>
            </a:r>
          </a:p>
          <a:p>
            <a:pPr marL="0" indent="0">
              <a:buNone/>
            </a:pPr>
            <a:r>
              <a:rPr lang="en-US" b="1" dirty="0"/>
              <a:t>II. Indirect Demand or Derived Demand: </a:t>
            </a:r>
            <a:endParaRPr lang="en-US" dirty="0"/>
          </a:p>
          <a:p>
            <a:r>
              <a:rPr lang="en-US" dirty="0"/>
              <a:t>Demand for factors of production is indirect because they help in the production of a commodity which is directly demanded by the consumer in the market. </a:t>
            </a:r>
          </a:p>
          <a:p>
            <a:pPr marL="0" indent="0">
              <a:buNone/>
            </a:pPr>
            <a:r>
              <a:rPr lang="en-US" b="1" dirty="0"/>
              <a:t>III. Complementary Demand/ Joint Demand: </a:t>
            </a:r>
            <a:endParaRPr lang="en-US" dirty="0"/>
          </a:p>
          <a:p>
            <a:r>
              <a:rPr lang="en-US" dirty="0"/>
              <a:t>It refers to the demand for those goods for a commodity which are always demanded jointly. Example: car and petrol. </a:t>
            </a:r>
          </a:p>
          <a:p>
            <a:pPr marL="0" indent="0">
              <a:buNone/>
            </a:pPr>
            <a:r>
              <a:rPr lang="en-US" b="1" dirty="0"/>
              <a:t>IV. Composite Demand: </a:t>
            </a:r>
            <a:endParaRPr lang="en-US" dirty="0"/>
          </a:p>
          <a:p>
            <a:r>
              <a:rPr lang="en-US" dirty="0"/>
              <a:t>It refers to the total demand for a commodity which can be used for various purposes.</a:t>
            </a:r>
          </a:p>
          <a:p>
            <a:endParaRPr lang="en-US" dirty="0"/>
          </a:p>
        </p:txBody>
      </p:sp>
    </p:spTree>
    <p:extLst>
      <p:ext uri="{BB962C8B-B14F-4D97-AF65-F5344CB8AC3E}">
        <p14:creationId xmlns:p14="http://schemas.microsoft.com/office/powerpoint/2010/main" val="842583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LAW OF DEMAND – ALFRED MARSHALL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Definition: The law of demand states that , other things remaining equal, </a:t>
            </a:r>
          </a:p>
          <a:p>
            <a:r>
              <a:rPr lang="en-US" dirty="0"/>
              <a:t>The quantity demanded for a commodity increases when its price falls and </a:t>
            </a:r>
          </a:p>
          <a:p>
            <a:r>
              <a:rPr lang="en-US" dirty="0"/>
              <a:t>Decreases when the price rises. </a:t>
            </a:r>
          </a:p>
          <a:p>
            <a:r>
              <a:rPr lang="en-US" dirty="0"/>
              <a:t>There is a inverse relationship between the price of the good and the quantity demanded of that good. </a:t>
            </a:r>
          </a:p>
          <a:p>
            <a:endParaRPr lang="en-US" dirty="0"/>
          </a:p>
        </p:txBody>
      </p:sp>
    </p:spTree>
    <p:extLst>
      <p:ext uri="{BB962C8B-B14F-4D97-AF65-F5344CB8AC3E}">
        <p14:creationId xmlns:p14="http://schemas.microsoft.com/office/powerpoint/2010/main" val="375674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ASSUMPTIONS OF THE LAW OF DEMAND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The price of the related goods remains the same </a:t>
            </a:r>
          </a:p>
          <a:p>
            <a:r>
              <a:rPr lang="en-US" dirty="0"/>
              <a:t>The income of the consumers remain unchanged </a:t>
            </a:r>
          </a:p>
          <a:p>
            <a:r>
              <a:rPr lang="en-US" dirty="0"/>
              <a:t>Tastes and preferences of the consumer remain the same </a:t>
            </a:r>
          </a:p>
          <a:p>
            <a:pPr marL="0" indent="0">
              <a:buNone/>
            </a:pPr>
            <a:r>
              <a:rPr lang="en-US" b="1" dirty="0"/>
              <a:t>DEMAND SCHEDULE FOR ORANGE </a:t>
            </a:r>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941520" y="3691870"/>
            <a:ext cx="7200000" cy="2975106"/>
          </a:xfrm>
          <a:prstGeom prst="rect">
            <a:avLst/>
          </a:prstGeom>
        </p:spPr>
      </p:pic>
    </p:spTree>
    <p:extLst>
      <p:ext uri="{BB962C8B-B14F-4D97-AF65-F5344CB8AC3E}">
        <p14:creationId xmlns:p14="http://schemas.microsoft.com/office/powerpoint/2010/main" val="348405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DEMAND CURVE </a:t>
            </a:r>
            <a:endParaRPr lang="en-US" dirty="0"/>
          </a:p>
        </p:txBody>
      </p:sp>
      <p:pic>
        <p:nvPicPr>
          <p:cNvPr id="4" name="Content Placeholder 3"/>
          <p:cNvPicPr>
            <a:picLocks noGrp="1" noChangeAspect="1"/>
          </p:cNvPicPr>
          <p:nvPr>
            <p:ph idx="1"/>
          </p:nvPr>
        </p:nvPicPr>
        <p:blipFill>
          <a:blip r:embed="rId2"/>
          <a:stretch>
            <a:fillRect/>
          </a:stretch>
        </p:blipFill>
        <p:spPr>
          <a:xfrm>
            <a:off x="953589" y="1463040"/>
            <a:ext cx="6792403" cy="5029200"/>
          </a:xfrm>
          <a:prstGeom prst="rect">
            <a:avLst/>
          </a:prstGeom>
        </p:spPr>
      </p:pic>
    </p:spTree>
    <p:extLst>
      <p:ext uri="{BB962C8B-B14F-4D97-AF65-F5344CB8AC3E}">
        <p14:creationId xmlns:p14="http://schemas.microsoft.com/office/powerpoint/2010/main" val="632379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DEMAND SCHEDULE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254034"/>
            <a:ext cx="10515600" cy="4922929"/>
          </a:xfrm>
        </p:spPr>
        <p:txBody>
          <a:bodyPr/>
          <a:lstStyle/>
          <a:p>
            <a:r>
              <a:rPr lang="en-US" dirty="0"/>
              <a:t>A demand schedule for a market can be constructed by adding up demand schedules of the individual consumers in the market. </a:t>
            </a:r>
          </a:p>
          <a:p>
            <a:r>
              <a:rPr lang="en-US" dirty="0"/>
              <a:t>Suppose that the market for Apple consists of 2 consumers. The market demand is calculated as follows. </a:t>
            </a:r>
            <a:endParaRPr lang="en-US" dirty="0">
              <a:solidFill>
                <a:srgbClr val="000000"/>
              </a:solidFill>
              <a:latin typeface="Times New Roman" panose="02020603050405020304" pitchFamily="18" charset="0"/>
            </a:endParaRPr>
          </a:p>
          <a:p>
            <a:pPr marL="0" indent="0">
              <a:buNone/>
            </a:pPr>
            <a:r>
              <a:rPr lang="en-US" dirty="0">
                <a:solidFill>
                  <a:srgbClr val="000000"/>
                </a:solidFill>
                <a:latin typeface="Times New Roman" panose="02020603050405020304" pitchFamily="18" charset="0"/>
              </a:rPr>
              <a:t>	</a:t>
            </a:r>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1048146" y="3174274"/>
            <a:ext cx="8449788" cy="3254179"/>
          </a:xfrm>
          <a:prstGeom prst="rect">
            <a:avLst/>
          </a:prstGeom>
        </p:spPr>
      </p:pic>
    </p:spTree>
    <p:extLst>
      <p:ext uri="{BB962C8B-B14F-4D97-AF65-F5344CB8AC3E}">
        <p14:creationId xmlns:p14="http://schemas.microsoft.com/office/powerpoint/2010/main" val="53662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DERIVATION OF MARKET DEMAND CURVE</a:t>
            </a:r>
            <a:endParaRPr lang="en-US" dirty="0"/>
          </a:p>
        </p:txBody>
      </p:sp>
      <p:pic>
        <p:nvPicPr>
          <p:cNvPr id="5" name="Content Placeholder 4"/>
          <p:cNvPicPr>
            <a:picLocks noGrp="1" noChangeAspect="1"/>
          </p:cNvPicPr>
          <p:nvPr>
            <p:ph idx="1"/>
          </p:nvPr>
        </p:nvPicPr>
        <p:blipFill>
          <a:blip r:embed="rId2"/>
          <a:stretch>
            <a:fillRect/>
          </a:stretch>
        </p:blipFill>
        <p:spPr>
          <a:xfrm>
            <a:off x="565238" y="1515291"/>
            <a:ext cx="10426720" cy="4963886"/>
          </a:xfrm>
          <a:prstGeom prst="rect">
            <a:avLst/>
          </a:prstGeom>
        </p:spPr>
      </p:pic>
    </p:spTree>
    <p:extLst>
      <p:ext uri="{BB962C8B-B14F-4D97-AF65-F5344CB8AC3E}">
        <p14:creationId xmlns:p14="http://schemas.microsoft.com/office/powerpoint/2010/main" val="3180765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258"/>
            <a:ext cx="10515600" cy="1097280"/>
          </a:xfrm>
        </p:spPr>
        <p:txBody>
          <a:bodyPr>
            <a:normAutofit fontScale="90000"/>
          </a:bodyPr>
          <a:lstStyle/>
          <a:p>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REASONS BEHIND DOWNWARD SLOPE OF THE DEMAND CURVE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58538"/>
            <a:ext cx="10515600" cy="4818425"/>
          </a:xfrm>
        </p:spPr>
        <p:txBody>
          <a:bodyPr>
            <a:normAutofit lnSpcReduction="10000"/>
          </a:bodyPr>
          <a:lstStyle/>
          <a:p>
            <a:pPr marL="0" indent="0">
              <a:buNone/>
            </a:pPr>
            <a:r>
              <a:rPr lang="en-US" b="1" dirty="0"/>
              <a:t>1. Law of diminishing marginal utility: </a:t>
            </a:r>
            <a:r>
              <a:rPr lang="en-US" dirty="0"/>
              <a:t>The law of demand is based on the law of diminishing marginal utility which states that as the consumer purchases more and more units of a commodity, </a:t>
            </a:r>
          </a:p>
          <a:p>
            <a:r>
              <a:rPr lang="en-US" dirty="0"/>
              <a:t>The utility derived from such successive unit goes on decreasing. </a:t>
            </a:r>
          </a:p>
          <a:p>
            <a:r>
              <a:rPr lang="en-US" dirty="0"/>
              <a:t>Like that, consumer purchases more of the commodity so that his marginal utility from the commodity falls to be equal to the reduced price and vice‐ versa. </a:t>
            </a:r>
          </a:p>
          <a:p>
            <a:pPr marL="0" indent="0">
              <a:buNone/>
            </a:pPr>
            <a:r>
              <a:rPr lang="en-US" b="1" dirty="0"/>
              <a:t>2. Substitution Effect: </a:t>
            </a:r>
            <a:r>
              <a:rPr lang="en-US" dirty="0"/>
              <a:t>The substitution effect is the effect that a change in relative prices of substitute goods changes the quantity demanded. </a:t>
            </a:r>
          </a:p>
          <a:p>
            <a:r>
              <a:rPr lang="en-US" dirty="0"/>
              <a:t>When the price of a good rises the consumer prefers to buy its substitute goods which have became relatively cheaper. </a:t>
            </a:r>
          </a:p>
          <a:p>
            <a:endParaRPr lang="en-US" dirty="0"/>
          </a:p>
        </p:txBody>
      </p:sp>
    </p:spTree>
    <p:extLst>
      <p:ext uri="{BB962C8B-B14F-4D97-AF65-F5344CB8AC3E}">
        <p14:creationId xmlns:p14="http://schemas.microsoft.com/office/powerpoint/2010/main" val="59192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lstStyle/>
          <a:p>
            <a:r>
              <a:rPr lang="en-US" dirty="0"/>
              <a:t>CONT…</a:t>
            </a:r>
          </a:p>
        </p:txBody>
      </p:sp>
      <p:sp>
        <p:nvSpPr>
          <p:cNvPr id="3" name="Content Placeholder 2"/>
          <p:cNvSpPr>
            <a:spLocks noGrp="1"/>
          </p:cNvSpPr>
          <p:nvPr>
            <p:ph idx="1"/>
          </p:nvPr>
        </p:nvSpPr>
        <p:spPr>
          <a:xfrm>
            <a:off x="838200" y="1423851"/>
            <a:ext cx="10515600" cy="5643154"/>
          </a:xfrm>
        </p:spPr>
        <p:txBody>
          <a:bodyPr>
            <a:normAutofit fontScale="85000" lnSpcReduction="20000"/>
          </a:bodyPr>
          <a:lstStyle/>
          <a:p>
            <a:r>
              <a:rPr lang="en-US" b="1" dirty="0"/>
              <a:t>3. Income Effect: </a:t>
            </a:r>
            <a:r>
              <a:rPr lang="en-US" dirty="0"/>
              <a:t>Change in demand on account of change in real income resulting from change in the price of a commodity is known as income effect. </a:t>
            </a:r>
          </a:p>
          <a:p>
            <a:r>
              <a:rPr lang="en-US" b="1" dirty="0"/>
              <a:t>4. Several Uses. </a:t>
            </a:r>
            <a:r>
              <a:rPr lang="en-US" dirty="0"/>
              <a:t>Some commodities can be put to several uses which lead to downward slope of the demand curve. </a:t>
            </a:r>
          </a:p>
          <a:p>
            <a:r>
              <a:rPr lang="en-US" dirty="0"/>
              <a:t>When the price of such commodities goes up they will be used for important purposes, so their demand will be limited. </a:t>
            </a:r>
          </a:p>
          <a:p>
            <a:r>
              <a:rPr lang="en-US" b="1" dirty="0"/>
              <a:t>Choices :</a:t>
            </a:r>
            <a:r>
              <a:rPr lang="en-US" dirty="0"/>
              <a:t>Scarcity refers to the finite nature and availability of resources while choice refers to people's decisions about sharing and using those resources. The problem of scarcity and choice lies at the very heart of economics, which is the study of how individuals and society choose to allocate scarce resources.</a:t>
            </a:r>
          </a:p>
          <a:p>
            <a:r>
              <a:rPr lang="en-US" dirty="0"/>
              <a:t> </a:t>
            </a:r>
            <a:r>
              <a:rPr lang="en-US" b="1" dirty="0"/>
              <a:t>Opportunity Cost </a:t>
            </a:r>
            <a:r>
              <a:rPr lang="en-US" dirty="0"/>
              <a:t>: This concept of scarcity leads to the idea of opportunity cost. Opportunity cost is the cost of next best alternative foregone or the value of the best alternative forgone in making any choice </a:t>
            </a:r>
          </a:p>
          <a:p>
            <a:r>
              <a:rPr lang="en-US" b="1" dirty="0"/>
              <a:t>Rationality: </a:t>
            </a:r>
            <a:r>
              <a:rPr lang="en-US" dirty="0"/>
              <a:t>Rational behavior is the cornerstone of rational choice theory, a theory of economics that assumes that individuals always make decisions that provide them with the highest amount of personal utility. These decisions provide people with the greatest benefit or satisfaction given the choices available </a:t>
            </a:r>
          </a:p>
          <a:p>
            <a:endParaRPr lang="en-US" dirty="0"/>
          </a:p>
          <a:p>
            <a:endParaRPr lang="en-US" dirty="0"/>
          </a:p>
          <a:p>
            <a:endParaRPr lang="en-US" dirty="0"/>
          </a:p>
        </p:txBody>
      </p:sp>
    </p:spTree>
    <p:extLst>
      <p:ext uri="{BB962C8B-B14F-4D97-AF65-F5344CB8AC3E}">
        <p14:creationId xmlns:p14="http://schemas.microsoft.com/office/powerpoint/2010/main" val="279322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EXCEPTIONS TO THE LAW OF DEMAND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19349"/>
            <a:ext cx="10515600" cy="5212080"/>
          </a:xfrm>
        </p:spPr>
        <p:txBody>
          <a:bodyPr>
            <a:normAutofit/>
          </a:bodyPr>
          <a:lstStyle/>
          <a:p>
            <a:r>
              <a:rPr lang="en-US" dirty="0"/>
              <a:t>The Law of demand is a general statement telling that prices and quantities of a commodity are inversely related. </a:t>
            </a:r>
          </a:p>
          <a:p>
            <a:r>
              <a:rPr lang="en-US" dirty="0"/>
              <a:t>There are certain peculiar cases in which the law of demand will not hold good. </a:t>
            </a:r>
          </a:p>
          <a:p>
            <a:r>
              <a:rPr lang="en-US" b="1" dirty="0"/>
              <a:t>I. Veblen Effect: </a:t>
            </a:r>
            <a:r>
              <a:rPr lang="en-US" dirty="0"/>
              <a:t>Veblen has pointed out that there are some goods demanded by very rich people for their social prestige. </a:t>
            </a:r>
          </a:p>
          <a:p>
            <a:r>
              <a:rPr lang="en-US" dirty="0"/>
              <a:t>When price of such goods rise, their use becomes more attractive and they are purchased in larger quantities. </a:t>
            </a:r>
          </a:p>
          <a:p>
            <a:r>
              <a:rPr lang="en-US" dirty="0"/>
              <a:t>Demand for diamonds from the richer class will go up if there is increase in price. If such goods were cheaper, the rich would not even purchase. </a:t>
            </a:r>
          </a:p>
          <a:p>
            <a:pPr marL="0" indent="0">
              <a:buNone/>
            </a:pPr>
            <a:endParaRPr lang="en-US" dirty="0"/>
          </a:p>
          <a:p>
            <a:endParaRPr lang="en-US" dirty="0"/>
          </a:p>
        </p:txBody>
      </p:sp>
    </p:spTree>
    <p:extLst>
      <p:ext uri="{BB962C8B-B14F-4D97-AF65-F5344CB8AC3E}">
        <p14:creationId xmlns:p14="http://schemas.microsoft.com/office/powerpoint/2010/main" val="225598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r>
              <a:rPr lang="en-US" b="1" dirty="0"/>
              <a:t>II. </a:t>
            </a:r>
            <a:r>
              <a:rPr lang="en-US" b="1" dirty="0" err="1"/>
              <a:t>Giffen</a:t>
            </a:r>
            <a:r>
              <a:rPr lang="en-US" b="1" dirty="0"/>
              <a:t> Paradox : </a:t>
            </a:r>
            <a:r>
              <a:rPr lang="en-US" dirty="0"/>
              <a:t>Sir Robert </a:t>
            </a:r>
            <a:r>
              <a:rPr lang="en-US" dirty="0" err="1"/>
              <a:t>Giffen</a:t>
            </a:r>
            <a:r>
              <a:rPr lang="en-US" dirty="0"/>
              <a:t> discovered that the poor people will,</a:t>
            </a:r>
          </a:p>
          <a:p>
            <a:r>
              <a:rPr lang="en-US" dirty="0"/>
              <a:t>Demand more of inferior goods if their prices rise and </a:t>
            </a:r>
          </a:p>
          <a:p>
            <a:r>
              <a:rPr lang="en-US" dirty="0"/>
              <a:t>Demand less if their prices fall. </a:t>
            </a:r>
          </a:p>
          <a:p>
            <a:r>
              <a:rPr lang="en-US" dirty="0"/>
              <a:t>For example, poor people spend the major part of their income on coarse grains (e.g. Maize ) and only a small part on rice. </a:t>
            </a:r>
          </a:p>
          <a:p>
            <a:endParaRPr lang="en-US" dirty="0"/>
          </a:p>
          <a:p>
            <a:endParaRPr lang="en-US" dirty="0"/>
          </a:p>
        </p:txBody>
      </p:sp>
    </p:spTree>
    <p:extLst>
      <p:ext uri="{BB962C8B-B14F-4D97-AF65-F5344CB8AC3E}">
        <p14:creationId xmlns:p14="http://schemas.microsoft.com/office/powerpoint/2010/main" val="1457008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MOVEMENT IN DEMAND CURVE OR EXPANSION AND CONTRACTION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A movement along the demand curve is caused by a change in the price of the goods only other things remaining constant. </a:t>
            </a:r>
          </a:p>
          <a:p>
            <a:pPr marL="0" indent="0">
              <a:buNone/>
            </a:pPr>
            <a:r>
              <a:rPr lang="en-US" b="1" dirty="0"/>
              <a:t>I. Expansion of Demand: </a:t>
            </a:r>
            <a:endParaRPr lang="en-US" dirty="0"/>
          </a:p>
          <a:p>
            <a:r>
              <a:rPr lang="en-US" dirty="0"/>
              <a:t>It refers to rise in demand due to fall in the price of the goods. </a:t>
            </a:r>
          </a:p>
          <a:p>
            <a:pPr marL="0" indent="0">
              <a:buNone/>
            </a:pPr>
            <a:r>
              <a:rPr lang="en-US" b="1" dirty="0"/>
              <a:t>II. Contraction of Demand: </a:t>
            </a:r>
            <a:endParaRPr lang="en-US" dirty="0"/>
          </a:p>
          <a:p>
            <a:r>
              <a:rPr lang="en-US" dirty="0"/>
              <a:t>It refers to fall in demand due to rise in the price of goods. </a:t>
            </a:r>
          </a:p>
          <a:p>
            <a:endParaRPr lang="en-US" dirty="0"/>
          </a:p>
        </p:txBody>
      </p:sp>
    </p:spTree>
    <p:extLst>
      <p:ext uri="{BB962C8B-B14F-4D97-AF65-F5344CB8AC3E}">
        <p14:creationId xmlns:p14="http://schemas.microsoft.com/office/powerpoint/2010/main" val="3611752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MOVEMENT IN DEMAND CURVE OR EXPANSION AND CONTRACTION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pPr marL="0" indent="0">
              <a:buNone/>
            </a:pPr>
            <a:r>
              <a:rPr lang="en-US" b="1" dirty="0"/>
              <a:t>Expansion in demand: </a:t>
            </a:r>
            <a:r>
              <a:rPr lang="en-US" dirty="0"/>
              <a:t>A fall in price from K16 to K12 leads to an expansion (increase) in demand. As price falls, there is a movement along the demand curve and more is bought. </a:t>
            </a:r>
          </a:p>
          <a:p>
            <a:pPr marL="0" indent="0">
              <a:buNone/>
            </a:pPr>
            <a:r>
              <a:rPr lang="en-US" b="1" dirty="0"/>
              <a:t>Contraction in demand: </a:t>
            </a:r>
            <a:r>
              <a:rPr lang="en-US" dirty="0"/>
              <a:t>An increase in price from K12 to K16 causes a movement along the demand curve, and quantity demand falls from 80 to 60. We say this is a contraction in demand </a:t>
            </a:r>
          </a:p>
          <a:p>
            <a:endParaRPr lang="en-US" dirty="0"/>
          </a:p>
        </p:txBody>
      </p:sp>
    </p:spTree>
    <p:extLst>
      <p:ext uri="{BB962C8B-B14F-4D97-AF65-F5344CB8AC3E}">
        <p14:creationId xmlns:p14="http://schemas.microsoft.com/office/powerpoint/2010/main" val="4120640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MOVEMENT IN DEMAND CURVE OR EXPANSION AND CONTRACTION OF DEMAND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567544" y="2168435"/>
            <a:ext cx="7733210" cy="4284616"/>
          </a:xfrm>
          <a:prstGeom prst="rect">
            <a:avLst/>
          </a:prstGeom>
        </p:spPr>
      </p:pic>
    </p:spTree>
    <p:extLst>
      <p:ext uri="{BB962C8B-B14F-4D97-AF65-F5344CB8AC3E}">
        <p14:creationId xmlns:p14="http://schemas.microsoft.com/office/powerpoint/2010/main" val="4072655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SHIFTS IN DEMAND OR INCREASE AND DECREASE IN DEMAND</a:t>
            </a:r>
            <a:endParaRPr lang="en-US" dirty="0"/>
          </a:p>
        </p:txBody>
      </p:sp>
      <p:sp>
        <p:nvSpPr>
          <p:cNvPr id="3" name="Content Placeholder 2"/>
          <p:cNvSpPr>
            <a:spLocks noGrp="1"/>
          </p:cNvSpPr>
          <p:nvPr>
            <p:ph idx="1"/>
          </p:nvPr>
        </p:nvSpPr>
        <p:spPr>
          <a:xfrm>
            <a:off x="838200" y="1541416"/>
            <a:ext cx="10515600" cy="5316583"/>
          </a:xfrm>
        </p:spPr>
        <p:txBody>
          <a:bodyPr>
            <a:normAutofit fontScale="92500" lnSpcReduction="20000"/>
          </a:bodyPr>
          <a:lstStyle/>
          <a:p>
            <a:pPr marL="0" indent="0">
              <a:buNone/>
            </a:pPr>
            <a:r>
              <a:rPr lang="en-US" dirty="0"/>
              <a:t>The shift of the demand curve is caused by changes in factors other than price of goods. These factors are </a:t>
            </a:r>
          </a:p>
          <a:p>
            <a:pPr marL="0" indent="0">
              <a:buNone/>
            </a:pPr>
            <a:r>
              <a:rPr lang="en-US" dirty="0"/>
              <a:t>A) Consumer’s income </a:t>
            </a:r>
          </a:p>
          <a:p>
            <a:pPr marL="0" indent="0">
              <a:buNone/>
            </a:pPr>
            <a:r>
              <a:rPr lang="en-US" dirty="0"/>
              <a:t>B) Price of relative or substitute goods </a:t>
            </a:r>
          </a:p>
          <a:p>
            <a:pPr marL="0" indent="0">
              <a:buNone/>
            </a:pPr>
            <a:r>
              <a:rPr lang="en-US" dirty="0"/>
              <a:t>C) Consumer’s taste and preferences </a:t>
            </a:r>
          </a:p>
          <a:p>
            <a:pPr marL="0" indent="0">
              <a:buNone/>
            </a:pPr>
            <a:r>
              <a:rPr lang="en-US" b="1" dirty="0"/>
              <a:t>I. Increase in Demand: </a:t>
            </a:r>
            <a:endParaRPr lang="en-US" dirty="0"/>
          </a:p>
          <a:p>
            <a:r>
              <a:rPr lang="en-US" dirty="0"/>
              <a:t>It refers to the situation when the consumers buy a large amount of commodity at the same price. </a:t>
            </a:r>
          </a:p>
          <a:p>
            <a:r>
              <a:rPr lang="en-US" dirty="0"/>
              <a:t>The reasons are; </a:t>
            </a:r>
          </a:p>
          <a:p>
            <a:r>
              <a:rPr lang="en-US" dirty="0"/>
              <a:t>Increases in the income of consumer </a:t>
            </a:r>
          </a:p>
          <a:p>
            <a:r>
              <a:rPr lang="en-US" dirty="0"/>
              <a:t>Increase in the price of substitute goods </a:t>
            </a:r>
          </a:p>
          <a:p>
            <a:r>
              <a:rPr lang="en-US" dirty="0"/>
              <a:t>Expectation of rise in price in future </a:t>
            </a:r>
          </a:p>
          <a:p>
            <a:r>
              <a:rPr lang="en-US" dirty="0"/>
              <a:t>Increase in population </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3840269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Decrease in Demand: </a:t>
            </a:r>
            <a:endParaRPr lang="en-US" dirty="0"/>
          </a:p>
        </p:txBody>
      </p:sp>
      <p:sp>
        <p:nvSpPr>
          <p:cNvPr id="3" name="Content Placeholder 2"/>
          <p:cNvSpPr>
            <a:spLocks noGrp="1"/>
          </p:cNvSpPr>
          <p:nvPr>
            <p:ph idx="1"/>
          </p:nvPr>
        </p:nvSpPr>
        <p:spPr/>
        <p:txBody>
          <a:bodyPr/>
          <a:lstStyle/>
          <a:p>
            <a:r>
              <a:rPr lang="en-US" dirty="0"/>
              <a:t>It refers to a situation when the consumers buy a smaller quantity of thee commodity at the same price.</a:t>
            </a:r>
          </a:p>
          <a:p>
            <a:r>
              <a:rPr lang="en-US" dirty="0"/>
              <a:t>The reasons are; </a:t>
            </a:r>
          </a:p>
          <a:p>
            <a:r>
              <a:rPr lang="en-US" dirty="0"/>
              <a:t>Fall in the income of thee consumers </a:t>
            </a:r>
          </a:p>
          <a:p>
            <a:r>
              <a:rPr lang="en-US" dirty="0"/>
              <a:t>Fall in the price of the substitute goods </a:t>
            </a:r>
          </a:p>
          <a:p>
            <a:r>
              <a:rPr lang="en-US" dirty="0"/>
              <a:t>Expectation of fall in price </a:t>
            </a:r>
          </a:p>
          <a:p>
            <a:r>
              <a:rPr lang="en-US" dirty="0"/>
              <a:t>Decrease in Population </a:t>
            </a:r>
          </a:p>
          <a:p>
            <a:r>
              <a:rPr lang="en-US" dirty="0"/>
              <a:t>Consumers’ taste becoming unfavorable towards the goods </a:t>
            </a:r>
          </a:p>
          <a:p>
            <a:endParaRPr lang="en-US" dirty="0"/>
          </a:p>
          <a:p>
            <a:endParaRPr lang="en-US" dirty="0"/>
          </a:p>
        </p:txBody>
      </p:sp>
    </p:spTree>
    <p:extLst>
      <p:ext uri="{BB962C8B-B14F-4D97-AF65-F5344CB8AC3E}">
        <p14:creationId xmlns:p14="http://schemas.microsoft.com/office/powerpoint/2010/main" val="749631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SHIFTTS IN DEMMAND OR IINCREASEE AND DECREASE IIN DEMANND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0526" y="1690687"/>
            <a:ext cx="9692640" cy="4906055"/>
          </a:xfrm>
        </p:spPr>
      </p:pic>
    </p:spTree>
    <p:extLst>
      <p:ext uri="{BB962C8B-B14F-4D97-AF65-F5344CB8AC3E}">
        <p14:creationId xmlns:p14="http://schemas.microsoft.com/office/powerpoint/2010/main" val="103903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LAW OF SUPPLY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966650"/>
            <a:ext cx="10515600" cy="5617029"/>
          </a:xfrm>
        </p:spPr>
        <p:txBody>
          <a:bodyPr>
            <a:normAutofit/>
          </a:bodyPr>
          <a:lstStyle/>
          <a:p>
            <a:r>
              <a:rPr lang="en-US" dirty="0"/>
              <a:t>The relationship between price and quantity supplied is usually a positive relationship. A rise in price is associated with a rise in quantity supplied. </a:t>
            </a:r>
          </a:p>
          <a:p>
            <a:r>
              <a:rPr lang="en-US" b="1" dirty="0"/>
              <a:t>Definitions </a:t>
            </a:r>
            <a:endParaRPr lang="en-US" dirty="0"/>
          </a:p>
          <a:p>
            <a:r>
              <a:rPr lang="en-US" b="1" dirty="0"/>
              <a:t>Dooley says </a:t>
            </a:r>
            <a:r>
              <a:rPr lang="en-US" dirty="0"/>
              <a:t>"The law of supply states that other things being equal the higher the price, the greater the quantity supplied or the lower the price, the smaller the quantity supplied.“ </a:t>
            </a:r>
          </a:p>
          <a:p>
            <a:r>
              <a:rPr lang="en-US" b="1" dirty="0" err="1"/>
              <a:t>Lipsey</a:t>
            </a:r>
            <a:r>
              <a:rPr lang="en-US" b="1" dirty="0"/>
              <a:t>, defines it as "The</a:t>
            </a:r>
            <a:r>
              <a:rPr lang="en-US" dirty="0"/>
              <a:t> law of supply states that other things being equal, the quantity of any commodity that firms will produce and offer for sale is positively related to the commodity's own price, rising when price rises and falling when price falls.“ </a:t>
            </a:r>
          </a:p>
          <a:p>
            <a:r>
              <a:rPr lang="en-US" dirty="0"/>
              <a:t>As the price of good increases, suppliers will attempt to maximize profits by increasing the quantity of the product sold. </a:t>
            </a:r>
          </a:p>
          <a:p>
            <a:pPr marL="0" indent="0">
              <a:buNone/>
            </a:pPr>
            <a:endParaRPr lang="en-US" dirty="0"/>
          </a:p>
          <a:p>
            <a:endParaRPr lang="en-US" dirty="0"/>
          </a:p>
        </p:txBody>
      </p:sp>
    </p:spTree>
    <p:extLst>
      <p:ext uri="{BB962C8B-B14F-4D97-AF65-F5344CB8AC3E}">
        <p14:creationId xmlns:p14="http://schemas.microsoft.com/office/powerpoint/2010/main" val="3099034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SUPPLY SCHEDULE</a:t>
            </a:r>
            <a:endParaRPr lang="en-US" dirty="0"/>
          </a:p>
        </p:txBody>
      </p:sp>
      <p:pic>
        <p:nvPicPr>
          <p:cNvPr id="4" name="Content Placeholder 3"/>
          <p:cNvPicPr>
            <a:picLocks noGrp="1" noChangeAspect="1"/>
          </p:cNvPicPr>
          <p:nvPr>
            <p:ph idx="1"/>
          </p:nvPr>
        </p:nvPicPr>
        <p:blipFill>
          <a:blip r:embed="rId2"/>
          <a:stretch>
            <a:fillRect/>
          </a:stretch>
        </p:blipFill>
        <p:spPr>
          <a:xfrm>
            <a:off x="992777" y="1332411"/>
            <a:ext cx="9419565" cy="4454435"/>
          </a:xfrm>
          <a:prstGeom prst="rect">
            <a:avLst/>
          </a:prstGeom>
        </p:spPr>
      </p:pic>
    </p:spTree>
    <p:extLst>
      <p:ext uri="{BB962C8B-B14F-4D97-AF65-F5344CB8AC3E}">
        <p14:creationId xmlns:p14="http://schemas.microsoft.com/office/powerpoint/2010/main" val="2108386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SUPPLY CURVE</a:t>
            </a:r>
            <a:endParaRPr lang="en-US"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8354" y="1397727"/>
            <a:ext cx="7471955" cy="5146764"/>
          </a:xfrm>
        </p:spPr>
      </p:pic>
    </p:spTree>
    <p:extLst>
      <p:ext uri="{BB962C8B-B14F-4D97-AF65-F5344CB8AC3E}">
        <p14:creationId xmlns:p14="http://schemas.microsoft.com/office/powerpoint/2010/main" val="254827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DETERMINANTS OF SUPPLY </a:t>
            </a:r>
            <a:br>
              <a:rPr lang="en-US" dirty="0"/>
            </a:br>
            <a:endParaRPr lang="en-US" dirty="0"/>
          </a:p>
        </p:txBody>
      </p:sp>
      <p:sp>
        <p:nvSpPr>
          <p:cNvPr id="3" name="Content Placeholder 2"/>
          <p:cNvSpPr>
            <a:spLocks noGrp="1"/>
          </p:cNvSpPr>
          <p:nvPr>
            <p:ph idx="1"/>
          </p:nvPr>
        </p:nvSpPr>
        <p:spPr/>
        <p:txBody>
          <a:bodyPr/>
          <a:lstStyle/>
          <a:p>
            <a:r>
              <a:rPr lang="en-US" b="1" dirty="0"/>
              <a:t>Cost of factors of production</a:t>
            </a:r>
          </a:p>
          <a:p>
            <a:r>
              <a:rPr lang="en-US" dirty="0"/>
              <a:t>Price of raw materials</a:t>
            </a:r>
          </a:p>
          <a:p>
            <a:r>
              <a:rPr lang="en-US" dirty="0"/>
              <a:t>Rent and interest on Machinery </a:t>
            </a:r>
          </a:p>
          <a:p>
            <a:r>
              <a:rPr lang="en-US" dirty="0"/>
              <a:t>Cost of Machinery</a:t>
            </a:r>
          </a:p>
          <a:p>
            <a:r>
              <a:rPr lang="en-US" dirty="0"/>
              <a:t>Payments on Human Resources (wages &amp; Salaries)</a:t>
            </a:r>
          </a:p>
          <a:p>
            <a:r>
              <a:rPr lang="en-US" dirty="0"/>
              <a:t>Payments on Transport</a:t>
            </a:r>
          </a:p>
          <a:p>
            <a:r>
              <a:rPr lang="en-US" dirty="0"/>
              <a:t>If Production is high Supply will be low</a:t>
            </a:r>
          </a:p>
          <a:p>
            <a:endParaRPr lang="en-US" dirty="0"/>
          </a:p>
        </p:txBody>
      </p:sp>
    </p:spTree>
    <p:extLst>
      <p:ext uri="{BB962C8B-B14F-4D97-AF65-F5344CB8AC3E}">
        <p14:creationId xmlns:p14="http://schemas.microsoft.com/office/powerpoint/2010/main" val="2118586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Movement along the Supply Curve</a:t>
            </a:r>
            <a:endParaRPr lang="en-US" dirty="0"/>
          </a:p>
        </p:txBody>
      </p:sp>
      <p:sp>
        <p:nvSpPr>
          <p:cNvPr id="3" name="Content Placeholder 2"/>
          <p:cNvSpPr>
            <a:spLocks noGrp="1"/>
          </p:cNvSpPr>
          <p:nvPr>
            <p:ph idx="1"/>
          </p:nvPr>
        </p:nvSpPr>
        <p:spPr>
          <a:xfrm>
            <a:off x="838200" y="1476104"/>
            <a:ext cx="10515600" cy="5172890"/>
          </a:xfrm>
        </p:spPr>
        <p:txBody>
          <a:bodyPr/>
          <a:lstStyle/>
          <a:p>
            <a:r>
              <a:rPr lang="en-US" dirty="0"/>
              <a:t>A change in price causes a movement along the supply curve; such a movement is called a change in quantity supplied. </a:t>
            </a:r>
          </a:p>
          <a:p>
            <a:r>
              <a:rPr lang="en-US" dirty="0"/>
              <a:t>As is the case with a change in quantity demanded, a change in quantity supplied does not shift the supply curve. By definition, it is a movement along the supply curve. </a:t>
            </a:r>
          </a:p>
          <a:p>
            <a:r>
              <a:rPr lang="en-US" dirty="0"/>
              <a:t>For example, if the price rises from P1 to P3, the quantity supplied rises from Q1 to Q3 and that is an expansion in supply. </a:t>
            </a:r>
          </a:p>
          <a:p>
            <a:r>
              <a:rPr lang="en-US" dirty="0"/>
              <a:t>When the price drops from P1 to P2, the quantity supplied drops from Q1 to Q2 and that is a contraction in supply. </a:t>
            </a:r>
          </a:p>
          <a:p>
            <a:endParaRPr lang="en-US" dirty="0"/>
          </a:p>
        </p:txBody>
      </p:sp>
    </p:spTree>
    <p:extLst>
      <p:ext uri="{BB962C8B-B14F-4D97-AF65-F5344CB8AC3E}">
        <p14:creationId xmlns:p14="http://schemas.microsoft.com/office/powerpoint/2010/main" val="406193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SUPPLY CURVE</a:t>
            </a:r>
            <a:endParaRPr lang="en-US" dirty="0"/>
          </a:p>
        </p:txBody>
      </p:sp>
      <p:pic>
        <p:nvPicPr>
          <p:cNvPr id="5" name="Content Placeholder 4"/>
          <p:cNvPicPr>
            <a:picLocks noGrp="1" noChangeAspect="1"/>
          </p:cNvPicPr>
          <p:nvPr>
            <p:ph idx="1"/>
          </p:nvPr>
        </p:nvPicPr>
        <p:blipFill>
          <a:blip r:embed="rId2"/>
          <a:stretch>
            <a:fillRect/>
          </a:stretch>
        </p:blipFill>
        <p:spPr>
          <a:xfrm>
            <a:off x="1332411" y="1502229"/>
            <a:ext cx="8700791" cy="4674734"/>
          </a:xfrm>
          <a:prstGeom prst="rect">
            <a:avLst/>
          </a:prstGeom>
        </p:spPr>
      </p:pic>
    </p:spTree>
    <p:extLst>
      <p:ext uri="{BB962C8B-B14F-4D97-AF65-F5344CB8AC3E}">
        <p14:creationId xmlns:p14="http://schemas.microsoft.com/office/powerpoint/2010/main" val="3711824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fontScale="90000"/>
          </a:bodyPr>
          <a:lstStyle/>
          <a:p>
            <a:br>
              <a:rPr lang="en-US" b="1" dirty="0">
                <a:effectLst>
                  <a:outerShdw blurRad="38100" dist="38100" dir="2700000" algn="tl">
                    <a:srgbClr val="000000">
                      <a:alpha val="43137"/>
                    </a:srgbClr>
                  </a:outerShdw>
                </a:effectLst>
              </a:rPr>
            </a:b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Shifts in the Supply Curve </a:t>
            </a:r>
            <a:br>
              <a:rPr lang="en-US" b="1" dirty="0">
                <a:effectLst>
                  <a:outerShdw blurRad="38100" dist="38100" dir="2700000" algn="tl">
                    <a:srgbClr val="000000">
                      <a:alpha val="43137"/>
                    </a:srgbClr>
                  </a:outerShdw>
                </a:effectLst>
              </a:rPr>
            </a:b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06286"/>
            <a:ext cx="10515600" cy="4870677"/>
          </a:xfrm>
        </p:spPr>
        <p:txBody>
          <a:bodyPr/>
          <a:lstStyle/>
          <a:p>
            <a:r>
              <a:rPr lang="en-US" dirty="0"/>
              <a:t>Shifts in supply curve arise from changes in the following </a:t>
            </a:r>
          </a:p>
          <a:p>
            <a:r>
              <a:rPr lang="en-US" b="1" dirty="0"/>
              <a:t>The cost of production for the firms:</a:t>
            </a:r>
          </a:p>
          <a:p>
            <a:r>
              <a:rPr lang="en-US" dirty="0"/>
              <a:t>For example, autoworkers in Zambia represented by a union might negotiate a new labour contract for higher wages. </a:t>
            </a:r>
          </a:p>
          <a:p>
            <a:r>
              <a:rPr lang="en-US" dirty="0"/>
              <a:t>This represents a cost increase on the part of firms and will result in a leftward shift of the supply curve. </a:t>
            </a:r>
          </a:p>
          <a:p>
            <a:r>
              <a:rPr lang="en-US" b="1" dirty="0"/>
              <a:t>Technology that affects the production function: </a:t>
            </a:r>
          </a:p>
          <a:p>
            <a:r>
              <a:rPr lang="en-US" dirty="0"/>
              <a:t>For example, a new robotic technology that aids in the assembly of automobiles in the factory could improve the efficiency of the plant, resulting in a rightward shift of the supply curve. </a:t>
            </a:r>
          </a:p>
          <a:p>
            <a:endParaRPr lang="en-US" dirty="0"/>
          </a:p>
          <a:p>
            <a:endParaRPr lang="en-US" dirty="0"/>
          </a:p>
        </p:txBody>
      </p:sp>
    </p:spTree>
    <p:extLst>
      <p:ext uri="{BB962C8B-B14F-4D97-AF65-F5344CB8AC3E}">
        <p14:creationId xmlns:p14="http://schemas.microsoft.com/office/powerpoint/2010/main" val="886238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SHIFTS IN SUPPLY CURVE</a:t>
            </a:r>
            <a:endParaRPr lang="en-US" dirty="0"/>
          </a:p>
        </p:txBody>
      </p:sp>
      <p:sp>
        <p:nvSpPr>
          <p:cNvPr id="3" name="Content Placeholder 2"/>
          <p:cNvSpPr>
            <a:spLocks noGrp="1"/>
          </p:cNvSpPr>
          <p:nvPr>
            <p:ph idx="1"/>
          </p:nvPr>
        </p:nvSpPr>
        <p:spPr/>
        <p:txBody>
          <a:bodyPr>
            <a:normAutofit lnSpcReduction="10000"/>
          </a:bodyPr>
          <a:lstStyle/>
          <a:p>
            <a:r>
              <a:rPr lang="en-US" b="1" dirty="0"/>
              <a:t>The number of sellers in the market: </a:t>
            </a:r>
          </a:p>
          <a:p>
            <a:r>
              <a:rPr lang="en-US" dirty="0"/>
              <a:t>For example, perhaps a new company, like Toyota decides to begin to manufacture cars in Zambia, the number of sellers has increased, and the number of cars for sale is likely to increase as well, leading to a rightward shift in the supply curve. </a:t>
            </a:r>
          </a:p>
          <a:p>
            <a:r>
              <a:rPr lang="en-US" dirty="0"/>
              <a:t> </a:t>
            </a:r>
            <a:r>
              <a:rPr lang="en-US" b="1" dirty="0"/>
              <a:t>The presence of alternative markets for sellers: </a:t>
            </a:r>
          </a:p>
          <a:p>
            <a:r>
              <a:rPr lang="en-US" dirty="0"/>
              <a:t>For example, an economic boom in Zambia might cause South African manufacturers to send more of the cars they produce to Zambia instead of selling them in South African, leading to a lower supply of cars in the South African market represented by a leftward shift in the supply curve. </a:t>
            </a:r>
          </a:p>
          <a:p>
            <a:endParaRPr lang="en-US" dirty="0"/>
          </a:p>
          <a:p>
            <a:endParaRPr lang="en-US" dirty="0"/>
          </a:p>
        </p:txBody>
      </p:sp>
    </p:spTree>
    <p:extLst>
      <p:ext uri="{BB962C8B-B14F-4D97-AF65-F5344CB8AC3E}">
        <p14:creationId xmlns:p14="http://schemas.microsoft.com/office/powerpoint/2010/main" val="2635602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Increase in Supply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045030" y="1489166"/>
            <a:ext cx="8490856" cy="5055325"/>
          </a:xfrm>
          <a:prstGeom prst="rect">
            <a:avLst/>
          </a:prstGeom>
        </p:spPr>
      </p:pic>
    </p:spTree>
    <p:extLst>
      <p:ext uri="{BB962C8B-B14F-4D97-AF65-F5344CB8AC3E}">
        <p14:creationId xmlns:p14="http://schemas.microsoft.com/office/powerpoint/2010/main" val="2782692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Decrease in Supply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214846" y="1554480"/>
            <a:ext cx="8699863" cy="4846319"/>
          </a:xfrm>
          <a:prstGeom prst="rect">
            <a:avLst/>
          </a:prstGeom>
        </p:spPr>
      </p:pic>
    </p:spTree>
    <p:extLst>
      <p:ext uri="{BB962C8B-B14F-4D97-AF65-F5344CB8AC3E}">
        <p14:creationId xmlns:p14="http://schemas.microsoft.com/office/powerpoint/2010/main" val="4030097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surplus &amp; Producer surplus </a:t>
            </a:r>
            <a:endParaRPr lang="en-US" dirty="0"/>
          </a:p>
        </p:txBody>
      </p:sp>
      <p:pic>
        <p:nvPicPr>
          <p:cNvPr id="5" name="Content Placeholder 3"/>
          <p:cNvPicPr>
            <a:picLocks noGrp="1" noChangeAspect="1"/>
          </p:cNvPicPr>
          <p:nvPr>
            <p:ph idx="1"/>
          </p:nvPr>
        </p:nvPicPr>
        <p:blipFill>
          <a:blip r:embed="rId2"/>
          <a:stretch>
            <a:fillRect/>
          </a:stretch>
        </p:blipFill>
        <p:spPr>
          <a:xfrm>
            <a:off x="2026216" y="1851751"/>
            <a:ext cx="8139567" cy="4351338"/>
          </a:xfrm>
          <a:prstGeom prst="rect">
            <a:avLst/>
          </a:prstGeom>
        </p:spPr>
      </p:pic>
    </p:spTree>
    <p:extLst>
      <p:ext uri="{BB962C8B-B14F-4D97-AF65-F5344CB8AC3E}">
        <p14:creationId xmlns:p14="http://schemas.microsoft.com/office/powerpoint/2010/main" val="724123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Demand and Supply, Consumer Surplus and Producer surplus</a:t>
            </a:r>
            <a:endParaRPr lang="en-US" dirty="0"/>
          </a:p>
        </p:txBody>
      </p:sp>
      <p:sp>
        <p:nvSpPr>
          <p:cNvPr id="3" name="Content Placeholder 2"/>
          <p:cNvSpPr>
            <a:spLocks noGrp="1"/>
          </p:cNvSpPr>
          <p:nvPr>
            <p:ph idx="1"/>
          </p:nvPr>
        </p:nvSpPr>
        <p:spPr/>
        <p:txBody>
          <a:bodyPr/>
          <a:lstStyle/>
          <a:p>
            <a:r>
              <a:rPr lang="en-US" dirty="0"/>
              <a:t>Market equilibrium is the quantity-price point where supply and demand balance out in such a way that quantity demanded equals quantity supplied.</a:t>
            </a:r>
          </a:p>
          <a:p>
            <a:r>
              <a:rPr lang="en-US" dirty="0"/>
              <a:t>The market stabilizes at the price that corresponds to this quantity. When visualized on a graph, the economic equilibrium is the point of intersection between the demand and supply curves. </a:t>
            </a:r>
          </a:p>
          <a:p>
            <a:r>
              <a:rPr lang="en-US" dirty="0"/>
              <a:t>This point of intersection reflects the compromising quantity that both consumers are willing to seek out and producers are willing to supply at a certain price. </a:t>
            </a:r>
          </a:p>
          <a:p>
            <a:endParaRPr lang="en-US" dirty="0"/>
          </a:p>
        </p:txBody>
      </p:sp>
    </p:spTree>
    <p:extLst>
      <p:ext uri="{BB962C8B-B14F-4D97-AF65-F5344CB8AC3E}">
        <p14:creationId xmlns:p14="http://schemas.microsoft.com/office/powerpoint/2010/main" val="2208598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CURVE</a:t>
            </a:r>
            <a:endParaRPr lang="en-US" dirty="0"/>
          </a:p>
        </p:txBody>
      </p:sp>
      <p:pic>
        <p:nvPicPr>
          <p:cNvPr id="4" name="Content Placeholder 3"/>
          <p:cNvPicPr>
            <a:picLocks noGrp="1" noChangeAspect="1"/>
          </p:cNvPicPr>
          <p:nvPr>
            <p:ph idx="1"/>
          </p:nvPr>
        </p:nvPicPr>
        <p:blipFill>
          <a:blip r:embed="rId2"/>
          <a:stretch>
            <a:fillRect/>
          </a:stretch>
        </p:blipFill>
        <p:spPr>
          <a:xfrm>
            <a:off x="1449978" y="1891894"/>
            <a:ext cx="8194202" cy="4717911"/>
          </a:xfrm>
          <a:prstGeom prst="rect">
            <a:avLst/>
          </a:prstGeom>
        </p:spPr>
      </p:pic>
    </p:spTree>
    <p:extLst>
      <p:ext uri="{BB962C8B-B14F-4D97-AF65-F5344CB8AC3E}">
        <p14:creationId xmlns:p14="http://schemas.microsoft.com/office/powerpoint/2010/main" val="2281051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t>Market Supply Schedule</a:t>
            </a:r>
            <a:endParaRPr lang="en-US" sz="5400" dirty="0"/>
          </a:p>
        </p:txBody>
      </p:sp>
      <p:pic>
        <p:nvPicPr>
          <p:cNvPr id="5" name="Content Placeholder 4"/>
          <p:cNvPicPr>
            <a:picLocks noGrp="1" noChangeAspect="1"/>
          </p:cNvPicPr>
          <p:nvPr>
            <p:ph idx="1"/>
          </p:nvPr>
        </p:nvPicPr>
        <p:blipFill>
          <a:blip r:embed="rId2"/>
          <a:stretch>
            <a:fillRect/>
          </a:stretch>
        </p:blipFill>
        <p:spPr>
          <a:xfrm>
            <a:off x="940526" y="1690688"/>
            <a:ext cx="9484009" cy="4919118"/>
          </a:xfrm>
          <a:prstGeom prst="rect">
            <a:avLst/>
          </a:prstGeom>
        </p:spPr>
      </p:pic>
    </p:spTree>
    <p:extLst>
      <p:ext uri="{BB962C8B-B14F-4D97-AF65-F5344CB8AC3E}">
        <p14:creationId xmlns:p14="http://schemas.microsoft.com/office/powerpoint/2010/main" val="2224795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SURPLUS AND SHORTAGE</a:t>
            </a:r>
            <a:br>
              <a:rPr lang="en-US" b="1" dirty="0"/>
            </a:br>
            <a:endParaRPr lang="en-US" b="1" dirty="0"/>
          </a:p>
        </p:txBody>
      </p:sp>
      <p:sp>
        <p:nvSpPr>
          <p:cNvPr id="3" name="Content Placeholder 2"/>
          <p:cNvSpPr>
            <a:spLocks noGrp="1"/>
          </p:cNvSpPr>
          <p:nvPr>
            <p:ph idx="1"/>
          </p:nvPr>
        </p:nvSpPr>
        <p:spPr>
          <a:xfrm>
            <a:off x="838200" y="1371600"/>
            <a:ext cx="10515600" cy="4805363"/>
          </a:xfrm>
        </p:spPr>
        <p:txBody>
          <a:bodyPr/>
          <a:lstStyle/>
          <a:p>
            <a:r>
              <a:rPr lang="en-GB" dirty="0"/>
              <a:t>The specific ways in which the government, in a mixed economic system, can </a:t>
            </a:r>
            <a:r>
              <a:rPr lang="en-GB" b="1" dirty="0"/>
              <a:t>correct market failures</a:t>
            </a:r>
            <a:r>
              <a:rPr lang="en-GB" dirty="0"/>
              <a:t> of the market:</a:t>
            </a:r>
            <a:endParaRPr lang="en-US" dirty="0"/>
          </a:p>
          <a:p>
            <a:r>
              <a:rPr lang="en-GB" b="1" dirty="0"/>
              <a:t>Legislation and regulation</a:t>
            </a:r>
            <a:r>
              <a:rPr lang="en-GB" dirty="0"/>
              <a:t> – the government can make laws that regulate market activity, for example, prohibit smoking in public (which would cause a negative externality). One important kind of legislation the govt. can undertake is </a:t>
            </a:r>
            <a:r>
              <a:rPr lang="en-GB" b="1" dirty="0"/>
              <a:t>price controls</a:t>
            </a:r>
            <a:r>
              <a:rPr lang="en-GB" dirty="0"/>
              <a:t> setting a minimum</a:t>
            </a:r>
            <a:endParaRPr lang="en-US" dirty="0"/>
          </a:p>
        </p:txBody>
      </p:sp>
    </p:spTree>
    <p:extLst>
      <p:ext uri="{BB962C8B-B14F-4D97-AF65-F5344CB8AC3E}">
        <p14:creationId xmlns:p14="http://schemas.microsoft.com/office/powerpoint/2010/main" val="2259794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SURPLUS</a:t>
            </a:r>
            <a:endParaRPr lang="en-US" dirty="0"/>
          </a:p>
        </p:txBody>
      </p:sp>
      <p:pic>
        <p:nvPicPr>
          <p:cNvPr id="4" name="Content Placeholder 3" descr="price floo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428" y="1946366"/>
            <a:ext cx="6936377" cy="4911634"/>
          </a:xfrm>
          <a:prstGeom prst="rect">
            <a:avLst/>
          </a:prstGeom>
          <a:noFill/>
          <a:ln>
            <a:noFill/>
          </a:ln>
        </p:spPr>
      </p:pic>
    </p:spTree>
    <p:extLst>
      <p:ext uri="{BB962C8B-B14F-4D97-AF65-F5344CB8AC3E}">
        <p14:creationId xmlns:p14="http://schemas.microsoft.com/office/powerpoint/2010/main" val="1739654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Floor and Ceiling</a:t>
            </a:r>
            <a:endParaRPr lang="en-US" dirty="0"/>
          </a:p>
        </p:txBody>
      </p:sp>
      <p:sp>
        <p:nvSpPr>
          <p:cNvPr id="3" name="Content Placeholder 2"/>
          <p:cNvSpPr>
            <a:spLocks noGrp="1"/>
          </p:cNvSpPr>
          <p:nvPr>
            <p:ph idx="1"/>
          </p:nvPr>
        </p:nvSpPr>
        <p:spPr/>
        <p:txBody>
          <a:bodyPr>
            <a:normAutofit fontScale="92500" lnSpcReduction="20000"/>
          </a:bodyPr>
          <a:lstStyle/>
          <a:p>
            <a:r>
              <a:rPr lang="en-US" dirty="0"/>
              <a:t>Laws that government enacts to regulate prices are called Price controls. Price controls come in two flavors. A price ceiling keeps a price from rising above a certain level (the “ceiling”), while a price floor keeps a price from falling below a certain level (the “floor”). </a:t>
            </a:r>
          </a:p>
          <a:p>
            <a:r>
              <a:rPr lang="en-US" b="1" dirty="0"/>
              <a:t>Price ceiling: </a:t>
            </a:r>
            <a:r>
              <a:rPr lang="en-US" dirty="0"/>
              <a:t>is a maximum price that can be charged for a product or service. A price ceiling is non-binding when it doesn't have an effect on the market price. A non-binding price ceiling occurs when the price level is greater than or equal to the market equilibrium price. For example, rent control and gasoline. </a:t>
            </a:r>
          </a:p>
          <a:p>
            <a:r>
              <a:rPr lang="en-US" b="1" dirty="0"/>
              <a:t>Price floor: </a:t>
            </a:r>
            <a:r>
              <a:rPr lang="en-US" dirty="0"/>
              <a:t>is a minimum price at which a product or service is permitted to sell. A price floor is non-binding when it doesn't have an effect on the market price. A non-binding price floor occurs when the price level is less than or equal to the market equilibrium price. For example, agricultural products and minimum wage </a:t>
            </a:r>
          </a:p>
          <a:p>
            <a:endParaRPr lang="en-US" dirty="0"/>
          </a:p>
        </p:txBody>
      </p:sp>
    </p:spTree>
    <p:extLst>
      <p:ext uri="{BB962C8B-B14F-4D97-AF65-F5344CB8AC3E}">
        <p14:creationId xmlns:p14="http://schemas.microsoft.com/office/powerpoint/2010/main" val="544621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Ceiling &amp; Price Floor</a:t>
            </a:r>
            <a:endParaRPr lang="en-US" dirty="0"/>
          </a:p>
        </p:txBody>
      </p:sp>
      <p:pic>
        <p:nvPicPr>
          <p:cNvPr id="4" name="Content Placeholder 3"/>
          <p:cNvPicPr>
            <a:picLocks noGrp="1" noChangeAspect="1"/>
          </p:cNvPicPr>
          <p:nvPr>
            <p:ph idx="1"/>
          </p:nvPr>
        </p:nvPicPr>
        <p:blipFill>
          <a:blip r:embed="rId2"/>
          <a:stretch>
            <a:fillRect/>
          </a:stretch>
        </p:blipFill>
        <p:spPr>
          <a:xfrm>
            <a:off x="600892" y="1690688"/>
            <a:ext cx="9797143" cy="4715692"/>
          </a:xfrm>
          <a:prstGeom prst="rect">
            <a:avLst/>
          </a:prstGeom>
        </p:spPr>
      </p:pic>
    </p:spTree>
    <p:extLst>
      <p:ext uri="{BB962C8B-B14F-4D97-AF65-F5344CB8AC3E}">
        <p14:creationId xmlns:p14="http://schemas.microsoft.com/office/powerpoint/2010/main" val="3265042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 Market Equilibrium</a:t>
            </a:r>
            <a:endParaRPr lang="en-US" dirty="0"/>
          </a:p>
        </p:txBody>
      </p:sp>
      <p:sp>
        <p:nvSpPr>
          <p:cNvPr id="3" name="Content Placeholder 2"/>
          <p:cNvSpPr>
            <a:spLocks noGrp="1"/>
          </p:cNvSpPr>
          <p:nvPr>
            <p:ph idx="1"/>
          </p:nvPr>
        </p:nvSpPr>
        <p:spPr/>
        <p:txBody>
          <a:bodyPr/>
          <a:lstStyle/>
          <a:p>
            <a:r>
              <a:rPr lang="en-US" dirty="0"/>
              <a:t>Price = $2.50 and Quantity = 12 </a:t>
            </a:r>
          </a:p>
          <a:p>
            <a:r>
              <a:rPr lang="en-US" dirty="0"/>
              <a:t>The point is also the allocative efficient quantity because at Quantity = 12, Marginal Social Benefit = Marginal Social Cost </a:t>
            </a:r>
          </a:p>
          <a:p>
            <a:r>
              <a:rPr lang="en-US" b="1" dirty="0"/>
              <a:t>Price Ceiling </a:t>
            </a:r>
            <a:endParaRPr lang="en-US" dirty="0"/>
          </a:p>
          <a:p>
            <a:r>
              <a:rPr lang="en-US" dirty="0"/>
              <a:t>Ceiling Price = $ 2.00 Quantity Demand = 14 while Quantity Supply 10 </a:t>
            </a:r>
          </a:p>
          <a:p>
            <a:r>
              <a:rPr lang="en-US" dirty="0"/>
              <a:t>Therefore, the shortage is equal to 4 and this shows that, there is an allocative inefficiency: at the quantity of 10, Marginal Social Benefit &gt; Marginal Social Cost, so there is an </a:t>
            </a:r>
            <a:r>
              <a:rPr lang="en-US" b="1" dirty="0"/>
              <a:t>under </a:t>
            </a:r>
            <a:r>
              <a:rPr lang="en-US" dirty="0"/>
              <a:t>allocation of resources. </a:t>
            </a:r>
          </a:p>
          <a:p>
            <a:endParaRPr lang="en-US" dirty="0"/>
          </a:p>
        </p:txBody>
      </p:sp>
    </p:spTree>
    <p:extLst>
      <p:ext uri="{BB962C8B-B14F-4D97-AF65-F5344CB8AC3E}">
        <p14:creationId xmlns:p14="http://schemas.microsoft.com/office/powerpoint/2010/main" val="3965696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Floor</a:t>
            </a:r>
            <a:endParaRPr lang="en-US" dirty="0"/>
          </a:p>
        </p:txBody>
      </p:sp>
      <p:sp>
        <p:nvSpPr>
          <p:cNvPr id="3" name="Content Placeholder 2"/>
          <p:cNvSpPr>
            <a:spLocks noGrp="1"/>
          </p:cNvSpPr>
          <p:nvPr>
            <p:ph idx="1"/>
          </p:nvPr>
        </p:nvSpPr>
        <p:spPr/>
        <p:txBody>
          <a:bodyPr/>
          <a:lstStyle/>
          <a:p>
            <a:r>
              <a:rPr lang="en-US" dirty="0"/>
              <a:t>Floor Price = $ 3.00 Quantity Demand = 10 while Quantity Supply 14 </a:t>
            </a:r>
          </a:p>
          <a:p>
            <a:r>
              <a:rPr lang="en-US" dirty="0"/>
              <a:t>Therefore, the surplus is equal to 4 and this shows that, there is an more efficiency: at the quantity of 14, </a:t>
            </a:r>
          </a:p>
          <a:p>
            <a:r>
              <a:rPr lang="en-US" dirty="0"/>
              <a:t>Marginal Social Benefit &lt; Marginal Social Cost, </a:t>
            </a:r>
          </a:p>
          <a:p>
            <a:r>
              <a:rPr lang="en-US" dirty="0"/>
              <a:t>so there is an </a:t>
            </a:r>
            <a:r>
              <a:rPr lang="en-US" b="1" dirty="0"/>
              <a:t>over </a:t>
            </a:r>
            <a:r>
              <a:rPr lang="en-US" dirty="0"/>
              <a:t>allocation of resources. </a:t>
            </a:r>
          </a:p>
          <a:p>
            <a:endParaRPr lang="en-US" dirty="0"/>
          </a:p>
        </p:txBody>
      </p:sp>
    </p:spTree>
    <p:extLst>
      <p:ext uri="{BB962C8B-B14F-4D97-AF65-F5344CB8AC3E}">
        <p14:creationId xmlns:p14="http://schemas.microsoft.com/office/powerpoint/2010/main" val="2380037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MINIMUM PRICE</a:t>
            </a:r>
            <a:r>
              <a:rPr lang="en-GB" dirty="0"/>
              <a:t> OR</a:t>
            </a:r>
            <a:r>
              <a:rPr lang="en-GB" b="1" dirty="0"/>
              <a:t> PRICE FLOOR</a:t>
            </a:r>
            <a:endParaRPr lang="en-US" dirty="0"/>
          </a:p>
        </p:txBody>
      </p:sp>
      <p:sp>
        <p:nvSpPr>
          <p:cNvPr id="3" name="Content Placeholder 2"/>
          <p:cNvSpPr>
            <a:spLocks noGrp="1"/>
          </p:cNvSpPr>
          <p:nvPr>
            <p:ph idx="1"/>
          </p:nvPr>
        </p:nvSpPr>
        <p:spPr>
          <a:xfrm>
            <a:off x="838200" y="1580606"/>
            <a:ext cx="10515600" cy="5068388"/>
          </a:xfrm>
        </p:spPr>
        <p:txBody>
          <a:bodyPr>
            <a:normAutofit fontScale="92500" lnSpcReduction="10000"/>
          </a:bodyPr>
          <a:lstStyle/>
          <a:p>
            <a:r>
              <a:rPr lang="en-GB" b="1" dirty="0"/>
              <a:t>Minimum price</a:t>
            </a:r>
            <a:r>
              <a:rPr lang="en-GB" dirty="0"/>
              <a:t> or</a:t>
            </a:r>
            <a:r>
              <a:rPr lang="en-GB" b="1" dirty="0"/>
              <a:t> price floor</a:t>
            </a:r>
            <a:r>
              <a:rPr lang="en-GB" dirty="0"/>
              <a:t> is set to control a decreasing tendency of price. The minimum wage laws in many countries are an example of minimum price. </a:t>
            </a:r>
          </a:p>
          <a:p>
            <a:r>
              <a:rPr lang="en-GB" dirty="0"/>
              <a:t>The government sets the minimum wage above the existing market equilibrium wage, to ensure that all workers get a basic minimum wage to sustain them. </a:t>
            </a:r>
          </a:p>
          <a:p>
            <a:r>
              <a:rPr lang="en-GB" dirty="0"/>
              <a:t>But even as low-income workers now get better wages, the higher wage will cause the demand for labour to contract, as shown in the diagram to the left. </a:t>
            </a:r>
          </a:p>
          <a:p>
            <a:r>
              <a:rPr lang="en-GB" dirty="0"/>
              <a:t>There will also be higher supply of labour (workers who want work) because of higher wages. </a:t>
            </a:r>
          </a:p>
          <a:p>
            <a:r>
              <a:rPr lang="en-GB" dirty="0"/>
              <a:t>A reduced demand and increased supply will cause excess supply of labour i.e., unemployment</a:t>
            </a:r>
            <a:endParaRPr lang="en-US" dirty="0"/>
          </a:p>
        </p:txBody>
      </p:sp>
    </p:spTree>
    <p:extLst>
      <p:ext uri="{BB962C8B-B14F-4D97-AF65-F5344CB8AC3E}">
        <p14:creationId xmlns:p14="http://schemas.microsoft.com/office/powerpoint/2010/main" val="1743326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MINIMUM PRICE</a:t>
            </a:r>
            <a:r>
              <a:rPr lang="en-GB" dirty="0"/>
              <a:t> OR</a:t>
            </a:r>
            <a:r>
              <a:rPr lang="en-GB" b="1" dirty="0"/>
              <a:t> PRICE FLOOR-</a:t>
            </a:r>
            <a:r>
              <a:rPr lang="en-US" b="1" dirty="0"/>
              <a:t>SHORTAGE</a:t>
            </a:r>
            <a:br>
              <a:rPr lang="en-US" b="1" dirty="0"/>
            </a:br>
            <a:endParaRPr lang="en-US" dirty="0"/>
          </a:p>
        </p:txBody>
      </p:sp>
      <p:pic>
        <p:nvPicPr>
          <p:cNvPr id="4" name="Content Placeholder 3" descr="price ceil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0870" y="1946366"/>
            <a:ext cx="6426924" cy="4911634"/>
          </a:xfrm>
          <a:prstGeom prst="rect">
            <a:avLst/>
          </a:prstGeom>
          <a:noFill/>
          <a:ln>
            <a:noFill/>
          </a:ln>
        </p:spPr>
      </p:pic>
    </p:spTree>
    <p:extLst>
      <p:ext uri="{BB962C8B-B14F-4D97-AF65-F5344CB8AC3E}">
        <p14:creationId xmlns:p14="http://schemas.microsoft.com/office/powerpoint/2010/main" val="3472105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MAXIMUM PRICE OR PRICE CEILING</a:t>
            </a:r>
            <a:endParaRPr lang="en-US" b="1" dirty="0"/>
          </a:p>
        </p:txBody>
      </p:sp>
      <p:sp>
        <p:nvSpPr>
          <p:cNvPr id="3" name="Content Placeholder 2"/>
          <p:cNvSpPr>
            <a:spLocks noGrp="1"/>
          </p:cNvSpPr>
          <p:nvPr>
            <p:ph idx="1"/>
          </p:nvPr>
        </p:nvSpPr>
        <p:spPr/>
        <p:txBody>
          <a:bodyPr/>
          <a:lstStyle/>
          <a:p>
            <a:pPr lvl="0"/>
            <a:r>
              <a:rPr lang="en-GB" b="1" dirty="0"/>
              <a:t>Maximum price </a:t>
            </a:r>
            <a:r>
              <a:rPr lang="en-GB" dirty="0"/>
              <a:t>or </a:t>
            </a:r>
            <a:r>
              <a:rPr lang="en-GB" b="1" dirty="0"/>
              <a:t>price ceiling</a:t>
            </a:r>
            <a:r>
              <a:rPr lang="en-GB" dirty="0"/>
              <a:t> is set to control an increasing tendency of price. </a:t>
            </a:r>
          </a:p>
          <a:p>
            <a:pPr lvl="0"/>
            <a:r>
              <a:rPr lang="en-GB" dirty="0"/>
              <a:t>It is usually set on rent (this is called rent control), to ensure that low income tenants can afford to rent homes. </a:t>
            </a:r>
          </a:p>
          <a:p>
            <a:pPr lvl="0"/>
            <a:r>
              <a:rPr lang="en-GB" dirty="0"/>
              <a:t>But as a result of the lower rent, landlord will stop renting more homes, causing supply to contract, as shown in the diagram to the left.</a:t>
            </a:r>
          </a:p>
          <a:p>
            <a:pPr lvl="0"/>
            <a:r>
              <a:rPr lang="en-GB" dirty="0"/>
              <a:t> At the same time, lower rent will increase the demand for homes. A reduced supply of homes and higher demand for them will cause a shortage of supply in relation to demand.</a:t>
            </a:r>
            <a:endParaRPr lang="en-US" dirty="0"/>
          </a:p>
          <a:p>
            <a:endParaRPr lang="en-US" dirty="0"/>
          </a:p>
        </p:txBody>
      </p:sp>
    </p:spTree>
    <p:extLst>
      <p:ext uri="{BB962C8B-B14F-4D97-AF65-F5344CB8AC3E}">
        <p14:creationId xmlns:p14="http://schemas.microsoft.com/office/powerpoint/2010/main" val="2571267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KEY TAKE AWAYS on Equilibrium</a:t>
            </a:r>
          </a:p>
        </p:txBody>
      </p:sp>
      <p:sp>
        <p:nvSpPr>
          <p:cNvPr id="3" name="Content Placeholder 2"/>
          <p:cNvSpPr>
            <a:spLocks noGrp="1"/>
          </p:cNvSpPr>
          <p:nvPr>
            <p:ph idx="1"/>
          </p:nvPr>
        </p:nvSpPr>
        <p:spPr/>
        <p:txBody>
          <a:bodyPr>
            <a:normAutofit/>
          </a:bodyPr>
          <a:lstStyle/>
          <a:p>
            <a:r>
              <a:rPr lang="en-US" dirty="0"/>
              <a:t>The </a:t>
            </a:r>
            <a:r>
              <a:rPr lang="en-US" b="1" dirty="0"/>
              <a:t>Market Equilibrium </a:t>
            </a:r>
            <a:r>
              <a:rPr lang="en-US" dirty="0"/>
              <a:t>occurs at the intersection of the supply curve and the demand curve at point E in At this point, the quantity supplied (Q s ) by firms at a given price is equal to the quantity demanded (Q d ) by consumers at the same price.</a:t>
            </a:r>
          </a:p>
          <a:p>
            <a:r>
              <a:rPr lang="en-US" b="1" i="1" dirty="0"/>
              <a:t>Market Equilibrium </a:t>
            </a:r>
            <a:r>
              <a:rPr lang="en-US" dirty="0"/>
              <a:t>= the point where the quantity supplied by producers at a given price is equal to the quantity demanded by consumers at that same price.</a:t>
            </a:r>
          </a:p>
          <a:p>
            <a:r>
              <a:rPr lang="en-US" dirty="0"/>
              <a:t>At point E (and only at point E), the following market equilibrium condition holds:</a:t>
            </a:r>
          </a:p>
          <a:p>
            <a:r>
              <a:rPr lang="en-US" dirty="0"/>
              <a:t>Q = </a:t>
            </a:r>
            <a:r>
              <a:rPr lang="en-US" b="1" dirty="0"/>
              <a:t>Qs = </a:t>
            </a:r>
            <a:r>
              <a:rPr lang="en-US" b="1" dirty="0" err="1"/>
              <a:t>Qd</a:t>
            </a:r>
            <a:r>
              <a:rPr lang="en-US" dirty="0"/>
              <a:t>. </a:t>
            </a:r>
          </a:p>
        </p:txBody>
      </p:sp>
    </p:spTree>
    <p:extLst>
      <p:ext uri="{BB962C8B-B14F-4D97-AF65-F5344CB8AC3E}">
        <p14:creationId xmlns:p14="http://schemas.microsoft.com/office/powerpoint/2010/main" val="1101439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p:txBody>
          <a:bodyPr>
            <a:normAutofit fontScale="92500" lnSpcReduction="10000"/>
          </a:bodyPr>
          <a:lstStyle/>
          <a:p>
            <a:r>
              <a:rPr lang="en-US" b="1" i="1" dirty="0"/>
              <a:t>Equilibrium Price </a:t>
            </a:r>
            <a:r>
              <a:rPr lang="en-US" b="1" dirty="0"/>
              <a:t>= </a:t>
            </a:r>
            <a:r>
              <a:rPr lang="en-US" dirty="0"/>
              <a:t>the price at which the quantity supplied equals the quantity</a:t>
            </a:r>
          </a:p>
          <a:p>
            <a:r>
              <a:rPr lang="en-US" dirty="0"/>
              <a:t>demanded.</a:t>
            </a:r>
          </a:p>
          <a:p>
            <a:r>
              <a:rPr lang="en-US" dirty="0"/>
              <a:t>The equilibrium price is also the </a:t>
            </a:r>
            <a:r>
              <a:rPr lang="en-US" b="1" dirty="0"/>
              <a:t>Market Price </a:t>
            </a:r>
            <a:r>
              <a:rPr lang="en-US" dirty="0"/>
              <a:t>, since it is the price determined in the market and agreed to by buyers and sellers.</a:t>
            </a:r>
          </a:p>
          <a:p>
            <a:r>
              <a:rPr lang="en-US" b="1" i="1" dirty="0"/>
              <a:t>Market Price </a:t>
            </a:r>
            <a:r>
              <a:rPr lang="en-US" dirty="0"/>
              <a:t>= the price where quantity demanded is equal to quantity supplied.</a:t>
            </a:r>
          </a:p>
          <a:p>
            <a:r>
              <a:rPr lang="en-US" dirty="0"/>
              <a:t>The </a:t>
            </a:r>
            <a:r>
              <a:rPr lang="en-US" b="1" dirty="0"/>
              <a:t>Equilibrium Quantity </a:t>
            </a:r>
            <a:r>
              <a:rPr lang="en-US" dirty="0"/>
              <a:t>is Q, where the quantity supplied is identical to the quantity demanded.</a:t>
            </a:r>
          </a:p>
          <a:p>
            <a:r>
              <a:rPr lang="en-US" b="1" i="1" dirty="0"/>
              <a:t>Equilibrium Quantity </a:t>
            </a:r>
            <a:r>
              <a:rPr lang="en-US" dirty="0"/>
              <a:t>= the point where quantity supplied is equal to quantity demanded.</a:t>
            </a:r>
          </a:p>
        </p:txBody>
      </p:sp>
    </p:spTree>
    <p:extLst>
      <p:ext uri="{BB962C8B-B14F-4D97-AF65-F5344CB8AC3E}">
        <p14:creationId xmlns:p14="http://schemas.microsoft.com/office/powerpoint/2010/main" val="8461278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effectLst>
                  <a:outerShdw blurRad="38100" dist="38100" dir="2700000" algn="tl">
                    <a:srgbClr val="000000">
                      <a:alpha val="43137"/>
                    </a:srgbClr>
                  </a:outerShdw>
                </a:effectLst>
              </a:rPr>
              <a:t>Cont</a:t>
            </a:r>
            <a:r>
              <a:rPr lang="en-US" b="1"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p:txBody>
          <a:bodyPr/>
          <a:lstStyle/>
          <a:p>
            <a:r>
              <a:rPr lang="en-US" dirty="0"/>
              <a:t>Any point other than point E is </a:t>
            </a:r>
            <a:r>
              <a:rPr lang="en-US" b="1" dirty="0"/>
              <a:t>Disequilibrium </a:t>
            </a:r>
            <a:r>
              <a:rPr lang="en-US" dirty="0"/>
              <a:t>point unsatisfactory to either buyers or sellers or both. </a:t>
            </a:r>
          </a:p>
          <a:p>
            <a:r>
              <a:rPr lang="en-US" dirty="0"/>
              <a:t>In disequilibrium, freely operating market forces come into play to cause the market to move toward the equilibrium point, E.</a:t>
            </a:r>
          </a:p>
          <a:p>
            <a:r>
              <a:rPr lang="en-US" b="1" i="1" dirty="0"/>
              <a:t>Disequilibrium </a:t>
            </a:r>
            <a:r>
              <a:rPr lang="en-US" dirty="0"/>
              <a:t>= a market situation in which the market price does not equalize supply and demand.</a:t>
            </a:r>
          </a:p>
          <a:p>
            <a:pPr marL="0" indent="0">
              <a:buNone/>
            </a:pPr>
            <a:r>
              <a:rPr lang="en-US" b="1" dirty="0"/>
              <a:t>Quick Quiz </a:t>
            </a:r>
          </a:p>
          <a:p>
            <a:r>
              <a:rPr lang="en-US" dirty="0"/>
              <a:t>How is the supply curve for wheat derived for an individual firm? For the industry?</a:t>
            </a:r>
          </a:p>
        </p:txBody>
      </p:sp>
    </p:spTree>
    <p:extLst>
      <p:ext uri="{BB962C8B-B14F-4D97-AF65-F5344CB8AC3E}">
        <p14:creationId xmlns:p14="http://schemas.microsoft.com/office/powerpoint/2010/main" val="42555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FORCES IN A WHEAT MARKET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1417" y="1825624"/>
            <a:ext cx="8974184" cy="4823369"/>
          </a:xfrm>
        </p:spPr>
      </p:pic>
    </p:spTree>
    <p:extLst>
      <p:ext uri="{BB962C8B-B14F-4D97-AF65-F5344CB8AC3E}">
        <p14:creationId xmlns:p14="http://schemas.microsoft.com/office/powerpoint/2010/main" val="537678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DEMAND CURVE DERIVED</a:t>
            </a:r>
          </a:p>
        </p:txBody>
      </p:sp>
      <p:sp>
        <p:nvSpPr>
          <p:cNvPr id="3" name="Content Placeholder 2"/>
          <p:cNvSpPr>
            <a:spLocks noGrp="1"/>
          </p:cNvSpPr>
          <p:nvPr>
            <p:ph idx="1"/>
          </p:nvPr>
        </p:nvSpPr>
        <p:spPr/>
        <p:txBody>
          <a:bodyPr>
            <a:normAutofit/>
          </a:bodyPr>
          <a:lstStyle/>
          <a:p>
            <a:r>
              <a:rPr lang="en-US" dirty="0"/>
              <a:t>The demand curve for wheat (</a:t>
            </a:r>
            <a:r>
              <a:rPr lang="en-US" dirty="0" err="1"/>
              <a:t>Qd</a:t>
            </a:r>
            <a:r>
              <a:rPr lang="en-US" dirty="0"/>
              <a:t> ) shows the quantity of wheat that buyers will buy at each of a range of prices. </a:t>
            </a:r>
          </a:p>
          <a:p>
            <a:r>
              <a:rPr lang="en-US" dirty="0"/>
              <a:t>In the wheat market, the major consumers are millers who purchase wheat then grind it into the </a:t>
            </a:r>
            <a:r>
              <a:rPr lang="en-US" dirty="0" err="1"/>
              <a:t>fl</a:t>
            </a:r>
            <a:r>
              <a:rPr lang="en-US" dirty="0"/>
              <a:t> our used for baking bread or tortillas. </a:t>
            </a:r>
          </a:p>
          <a:p>
            <a:r>
              <a:rPr lang="en-US" dirty="0"/>
              <a:t>The demand curve for this wheat represents the consumers’ willingness and ability to pay for it. </a:t>
            </a:r>
          </a:p>
          <a:p>
            <a:r>
              <a:rPr lang="en-US" dirty="0"/>
              <a:t>Scarcity causes the demand curve to slope downward from left to right. As more wheat become available, millers offer lower prices to meet their needs for wheat.</a:t>
            </a:r>
          </a:p>
        </p:txBody>
      </p:sp>
    </p:spTree>
    <p:extLst>
      <p:ext uri="{BB962C8B-B14F-4D97-AF65-F5344CB8AC3E}">
        <p14:creationId xmlns:p14="http://schemas.microsoft.com/office/powerpoint/2010/main" val="887449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GRAPH EXPLAINED</a:t>
            </a:r>
          </a:p>
        </p:txBody>
      </p:sp>
      <p:sp>
        <p:nvSpPr>
          <p:cNvPr id="3" name="Content Placeholder 2"/>
          <p:cNvSpPr>
            <a:spLocks noGrp="1"/>
          </p:cNvSpPr>
          <p:nvPr>
            <p:ph idx="1"/>
          </p:nvPr>
        </p:nvSpPr>
        <p:spPr/>
        <p:txBody>
          <a:bodyPr>
            <a:normAutofit lnSpcReduction="10000"/>
          </a:bodyPr>
          <a:lstStyle/>
          <a:p>
            <a:r>
              <a:rPr lang="en-US" dirty="0"/>
              <a:t>The price of wheat always gravitates toward the equilibrium point, E. Suppose that the price of wheat is Phi . At this relatively high price of wheat, the Law of Demand indicates that consumers (flour millers) will purchase only a small quantity of the grain. </a:t>
            </a:r>
          </a:p>
          <a:p>
            <a:r>
              <a:rPr lang="en-US" dirty="0"/>
              <a:t>Specifically, at price P hi , they will purchase Q lo million bushels of wheat. Wheat suppliers, however, expand wheat production when the price of wheat is high. </a:t>
            </a:r>
          </a:p>
          <a:p>
            <a:r>
              <a:rPr lang="en-US" dirty="0"/>
              <a:t>They will provide Q hi million bushels to the market when the price reaches P hi . At price P hi , the quantity supplied (Q hi ) exceeds the quantity demanded (Q lo ). This situation yields a </a:t>
            </a:r>
            <a:r>
              <a:rPr lang="en-US" b="1" dirty="0"/>
              <a:t>Surplus </a:t>
            </a:r>
            <a:r>
              <a:rPr lang="en-US" dirty="0"/>
              <a:t>, which is the horizontal distance between Q hi and Q lo</a:t>
            </a:r>
          </a:p>
        </p:txBody>
      </p:sp>
    </p:spTree>
    <p:extLst>
      <p:ext uri="{BB962C8B-B14F-4D97-AF65-F5344CB8AC3E}">
        <p14:creationId xmlns:p14="http://schemas.microsoft.com/office/powerpoint/2010/main" val="1354144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SURPLUS IN THE GRAPH EXPLAINED</a:t>
            </a:r>
          </a:p>
        </p:txBody>
      </p:sp>
      <p:sp>
        <p:nvSpPr>
          <p:cNvPr id="3" name="Content Placeholder 2"/>
          <p:cNvSpPr>
            <a:spLocks noGrp="1"/>
          </p:cNvSpPr>
          <p:nvPr>
            <p:ph idx="1"/>
          </p:nvPr>
        </p:nvSpPr>
        <p:spPr/>
        <p:txBody>
          <a:bodyPr/>
          <a:lstStyle/>
          <a:p>
            <a:r>
              <a:rPr lang="en-US" b="1" i="1" dirty="0"/>
              <a:t>Surplus </a:t>
            </a:r>
            <a:r>
              <a:rPr lang="en-US" dirty="0"/>
              <a:t>= a market situation in which producers are willing to supply more of a good than consumers are willing to purchase at a given price </a:t>
            </a:r>
          </a:p>
          <a:p>
            <a:r>
              <a:rPr lang="en-US" dirty="0"/>
              <a:t>Qs </a:t>
            </a:r>
            <a:r>
              <a:rPr lang="en-US" dirty="0">
                <a:sym typeface="Symbol" panose="05050102010706020507" pitchFamily="18" charset="2"/>
              </a:rPr>
              <a:t> </a:t>
            </a:r>
            <a:r>
              <a:rPr lang="en-US" dirty="0" err="1"/>
              <a:t>Qd</a:t>
            </a:r>
            <a:r>
              <a:rPr lang="en-US" dirty="0"/>
              <a:t> .</a:t>
            </a:r>
          </a:p>
          <a:p>
            <a:r>
              <a:rPr lang="en-US" dirty="0"/>
              <a:t>A surplus occurs at any price higher than the equilibrium price (P*). In a surplus situation, there is more wheat available for sale than </a:t>
            </a:r>
            <a:r>
              <a:rPr lang="en-US" dirty="0" err="1"/>
              <a:t>fl</a:t>
            </a:r>
            <a:r>
              <a:rPr lang="en-US" dirty="0"/>
              <a:t> our millers are willing to purchase</a:t>
            </a:r>
          </a:p>
        </p:txBody>
      </p:sp>
    </p:spTree>
    <p:extLst>
      <p:ext uri="{BB962C8B-B14F-4D97-AF65-F5344CB8AC3E}">
        <p14:creationId xmlns:p14="http://schemas.microsoft.com/office/powerpoint/2010/main" val="3516746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SHORTAGE IN THE GRAPH EXPLAINED </a:t>
            </a:r>
          </a:p>
        </p:txBody>
      </p:sp>
      <p:sp>
        <p:nvSpPr>
          <p:cNvPr id="3" name="Content Placeholder 2"/>
          <p:cNvSpPr>
            <a:spLocks noGrp="1"/>
          </p:cNvSpPr>
          <p:nvPr>
            <p:ph idx="1"/>
          </p:nvPr>
        </p:nvSpPr>
        <p:spPr/>
        <p:txBody>
          <a:bodyPr>
            <a:normAutofit/>
          </a:bodyPr>
          <a:lstStyle/>
          <a:p>
            <a:r>
              <a:rPr lang="en-US" dirty="0"/>
              <a:t>If the price of wheat falls to P lo, wheat suppliers will cut back production to Q lo , and wheat</a:t>
            </a:r>
          </a:p>
          <a:p>
            <a:r>
              <a:rPr lang="en-US" dirty="0"/>
              <a:t>consumers (millers) will increase quantity demanded to Q hi . This situation results in a </a:t>
            </a:r>
            <a:r>
              <a:rPr lang="en-US" b="1" dirty="0"/>
              <a:t>Shortage </a:t>
            </a:r>
            <a:r>
              <a:rPr lang="en-US" dirty="0"/>
              <a:t>, since the quantity demanded (Q hi ) is greater than the quantity supplied (Q lo ). The shortage is the horizontal distance between Q lo and Q hi </a:t>
            </a:r>
          </a:p>
          <a:p>
            <a:r>
              <a:rPr lang="en-US" b="1" i="1" dirty="0"/>
              <a:t>Shortage </a:t>
            </a:r>
            <a:r>
              <a:rPr lang="en-US" dirty="0"/>
              <a:t>= a market situation in which consumers are willing and able to purchase more of a good than producers are willing to supply at a given price (Qs &lt; </a:t>
            </a:r>
            <a:r>
              <a:rPr lang="en-US" dirty="0" err="1"/>
              <a:t>Qd</a:t>
            </a:r>
            <a:r>
              <a:rPr lang="en-US" dirty="0"/>
              <a:t> ).</a:t>
            </a:r>
          </a:p>
        </p:txBody>
      </p:sp>
    </p:spTree>
    <p:extLst>
      <p:ext uri="{BB962C8B-B14F-4D97-AF65-F5344CB8AC3E}">
        <p14:creationId xmlns:p14="http://schemas.microsoft.com/office/powerpoint/2010/main" val="41501376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Mathematical models (optional)</a:t>
            </a:r>
            <a:endParaRPr lang="en-US" dirty="0"/>
          </a:p>
        </p:txBody>
      </p:sp>
      <p:sp>
        <p:nvSpPr>
          <p:cNvPr id="3" name="Content Placeholder 2"/>
          <p:cNvSpPr>
            <a:spLocks noGrp="1"/>
          </p:cNvSpPr>
          <p:nvPr>
            <p:ph idx="1"/>
          </p:nvPr>
        </p:nvSpPr>
        <p:spPr/>
        <p:txBody>
          <a:bodyPr/>
          <a:lstStyle/>
          <a:p>
            <a:r>
              <a:rPr lang="en-US" dirty="0"/>
              <a:t>Economics includes three ways to describe market phenomena: (1) graphs, (2) “stories,” or verbal explanations, and (3) mathematical models. The previous sections used graphs and stories to describe the market for wheat. </a:t>
            </a:r>
          </a:p>
          <a:p>
            <a:r>
              <a:rPr lang="en-US" dirty="0"/>
              <a:t>Simple algebra is another way to describe this market.</a:t>
            </a:r>
          </a:p>
        </p:txBody>
      </p:sp>
    </p:spTree>
    <p:extLst>
      <p:ext uri="{BB962C8B-B14F-4D97-AF65-F5344CB8AC3E}">
        <p14:creationId xmlns:p14="http://schemas.microsoft.com/office/powerpoint/2010/main" val="3315888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lstStyle/>
          <a:p>
            <a:r>
              <a:rPr lang="en-US" b="1" dirty="0"/>
              <a:t>CALCULATIONS</a:t>
            </a:r>
          </a:p>
        </p:txBody>
      </p:sp>
      <p:sp>
        <p:nvSpPr>
          <p:cNvPr id="3" name="Content Placeholder 2"/>
          <p:cNvSpPr>
            <a:spLocks noGrp="1"/>
          </p:cNvSpPr>
          <p:nvPr>
            <p:ph idx="1"/>
          </p:nvPr>
        </p:nvSpPr>
        <p:spPr>
          <a:xfrm>
            <a:off x="838200" y="1463040"/>
            <a:ext cx="10515600" cy="5172891"/>
          </a:xfrm>
        </p:spPr>
        <p:txBody>
          <a:bodyPr>
            <a:normAutofit fontScale="85000" lnSpcReduction="20000"/>
          </a:bodyPr>
          <a:lstStyle/>
          <a:p>
            <a:r>
              <a:rPr lang="en-US" dirty="0"/>
              <a:t>The following equation represents the supply of wheat: where P is the price of wheat in dollars per bushel, and Qs is the quantity supplied of wheat in millions of bushels. </a:t>
            </a:r>
          </a:p>
          <a:p>
            <a:r>
              <a:rPr lang="en-US" dirty="0"/>
              <a:t>This equation is called an </a:t>
            </a:r>
            <a:r>
              <a:rPr lang="en-US" b="1" dirty="0"/>
              <a:t>Inverse Supply Function </a:t>
            </a:r>
            <a:r>
              <a:rPr lang="en-US" dirty="0"/>
              <a:t>, since price (the independent variable) is a function of quantity supplied (the dependent variable). </a:t>
            </a:r>
          </a:p>
          <a:p>
            <a:r>
              <a:rPr lang="en-US" dirty="0"/>
              <a:t>Mathematically, a supply function could be described as: Q s = f(P), since price is given and producers determine how much to produce given the independent variable, price. As before, price is measured along the vertical axis and quantity supplied is on the horizontal axis. Using the </a:t>
            </a:r>
            <a:r>
              <a:rPr lang="en-US" b="1" dirty="0"/>
              <a:t>Inverse Supply Function </a:t>
            </a:r>
            <a:r>
              <a:rPr lang="en-US" dirty="0"/>
              <a:t>, P = f(Qs ), makes a function easier to graph. </a:t>
            </a:r>
          </a:p>
          <a:p>
            <a:r>
              <a:rPr lang="en-US" b="1" dirty="0"/>
              <a:t>Inverse Supply Function </a:t>
            </a:r>
            <a:r>
              <a:rPr lang="en-US" dirty="0"/>
              <a:t>= a supply function that is represented with price (the independent variable) as a function of quantity supplied (the dependent variable): P = f(Qs ). </a:t>
            </a:r>
          </a:p>
          <a:p>
            <a:r>
              <a:rPr lang="en-US" dirty="0"/>
              <a:t>Similarly, define an </a:t>
            </a:r>
            <a:r>
              <a:rPr lang="en-US" b="1" dirty="0"/>
              <a:t>Inverse Demand Function </a:t>
            </a:r>
            <a:r>
              <a:rPr lang="en-US" dirty="0"/>
              <a:t>as a demand function with the dependent variable (Q d ) and the independent variable (P) reversed: </a:t>
            </a:r>
          </a:p>
          <a:p>
            <a:r>
              <a:rPr lang="en-US" dirty="0"/>
              <a:t>P = 5 − 0.1Qd</a:t>
            </a:r>
          </a:p>
        </p:txBody>
      </p:sp>
    </p:spTree>
    <p:extLst>
      <p:ext uri="{BB962C8B-B14F-4D97-AF65-F5344CB8AC3E}">
        <p14:creationId xmlns:p14="http://schemas.microsoft.com/office/powerpoint/2010/main" val="2581651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CALCULATION</a:t>
            </a:r>
          </a:p>
        </p:txBody>
      </p:sp>
      <p:sp>
        <p:nvSpPr>
          <p:cNvPr id="3" name="Content Placeholder 2"/>
          <p:cNvSpPr>
            <a:spLocks noGrp="1"/>
          </p:cNvSpPr>
          <p:nvPr>
            <p:ph idx="1"/>
          </p:nvPr>
        </p:nvSpPr>
        <p:spPr/>
        <p:txBody>
          <a:bodyPr>
            <a:normAutofit lnSpcReduction="10000"/>
          </a:bodyPr>
          <a:lstStyle/>
          <a:p>
            <a:r>
              <a:rPr lang="en-US" b="1" dirty="0"/>
              <a:t>Inverse Demand Function </a:t>
            </a:r>
            <a:r>
              <a:rPr lang="en-US" dirty="0"/>
              <a:t>= a demand function that is represented with price (the independent variable) as a function of quantity demanded (the dependent variable): P = f(</a:t>
            </a:r>
            <a:r>
              <a:rPr lang="en-US" dirty="0" err="1"/>
              <a:t>Qd</a:t>
            </a:r>
            <a:r>
              <a:rPr lang="en-US" dirty="0"/>
              <a:t>).</a:t>
            </a:r>
          </a:p>
          <a:p>
            <a:r>
              <a:rPr lang="en-US" dirty="0"/>
              <a:t>Suppose that is the inverse demand function for wheat:</a:t>
            </a:r>
          </a:p>
          <a:p>
            <a:r>
              <a:rPr lang="en-US" dirty="0"/>
              <a:t>P </a:t>
            </a:r>
            <a:r>
              <a:rPr lang="en-US" b="1" dirty="0"/>
              <a:t>= 5</a:t>
            </a:r>
            <a:r>
              <a:rPr lang="en-US" dirty="0"/>
              <a:t>-0.1Qd,</a:t>
            </a:r>
          </a:p>
          <a:p>
            <a:r>
              <a:rPr lang="en-US" dirty="0"/>
              <a:t>To find equilibrium, set the two equations equal to each other, </a:t>
            </a:r>
          </a:p>
          <a:p>
            <a:r>
              <a:rPr lang="en-US" dirty="0"/>
              <a:t>since P = P: </a:t>
            </a:r>
            <a:r>
              <a:rPr lang="fr-FR" dirty="0"/>
              <a:t>1 </a:t>
            </a:r>
            <a:r>
              <a:rPr lang="fr-FR" b="1" dirty="0"/>
              <a:t>+ </a:t>
            </a:r>
            <a:r>
              <a:rPr lang="fr-FR" dirty="0"/>
              <a:t>0</a:t>
            </a:r>
            <a:r>
              <a:rPr lang="fr-FR" b="1" dirty="0"/>
              <a:t>.1Q</a:t>
            </a:r>
            <a:r>
              <a:rPr lang="fr-FR" dirty="0"/>
              <a:t>s </a:t>
            </a:r>
            <a:r>
              <a:rPr lang="fr-FR" b="1" dirty="0"/>
              <a:t>= 5 — 0</a:t>
            </a:r>
            <a:r>
              <a:rPr lang="fr-FR" dirty="0"/>
              <a:t>.</a:t>
            </a:r>
            <a:r>
              <a:rPr lang="fr-FR" b="1" dirty="0"/>
              <a:t>1Q </a:t>
            </a:r>
            <a:r>
              <a:rPr lang="fr-FR" dirty="0"/>
              <a:t>.</a:t>
            </a:r>
          </a:p>
          <a:p>
            <a:r>
              <a:rPr lang="en-US" dirty="0"/>
              <a:t>Next, recall that in equilibrium, Q* = Q s = Q d , so replace the quantities supplied and demanded with the equilibrium quantity: 1 </a:t>
            </a:r>
            <a:r>
              <a:rPr lang="en-US" b="1" dirty="0"/>
              <a:t>+ </a:t>
            </a:r>
            <a:r>
              <a:rPr lang="en-US" dirty="0"/>
              <a:t>0.</a:t>
            </a:r>
            <a:r>
              <a:rPr lang="en-US" b="1" dirty="0"/>
              <a:t>1Q</a:t>
            </a:r>
            <a:r>
              <a:rPr lang="en-US" dirty="0"/>
              <a:t>* </a:t>
            </a:r>
            <a:r>
              <a:rPr lang="en-US" b="1" dirty="0"/>
              <a:t>= 5</a:t>
            </a:r>
            <a:r>
              <a:rPr lang="en-US" dirty="0"/>
              <a:t>-0.1</a:t>
            </a:r>
            <a:r>
              <a:rPr lang="en-US" b="1" dirty="0"/>
              <a:t>Q</a:t>
            </a:r>
            <a:r>
              <a:rPr lang="en-US" dirty="0"/>
              <a:t>*.</a:t>
            </a:r>
          </a:p>
        </p:txBody>
      </p:sp>
    </p:spTree>
    <p:extLst>
      <p:ext uri="{BB962C8B-B14F-4D97-AF65-F5344CB8AC3E}">
        <p14:creationId xmlns:p14="http://schemas.microsoft.com/office/powerpoint/2010/main" val="4236935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CALCULATION</a:t>
            </a:r>
            <a:endParaRPr lang="en-US" dirty="0"/>
          </a:p>
        </p:txBody>
      </p:sp>
      <p:sp>
        <p:nvSpPr>
          <p:cNvPr id="3" name="Content Placeholder 2"/>
          <p:cNvSpPr>
            <a:spLocks noGrp="1"/>
          </p:cNvSpPr>
          <p:nvPr>
            <p:ph idx="1"/>
          </p:nvPr>
        </p:nvSpPr>
        <p:spPr/>
        <p:txBody>
          <a:bodyPr>
            <a:normAutofit/>
          </a:bodyPr>
          <a:lstStyle/>
          <a:p>
            <a:r>
              <a:rPr lang="en-US" dirty="0"/>
              <a:t>Now subtract one from each side of the equation, and add 0.1Q* to each side of the equation to get: 0.2Q* </a:t>
            </a:r>
            <a:r>
              <a:rPr lang="en-US" b="1" dirty="0"/>
              <a:t>= </a:t>
            </a:r>
            <a:r>
              <a:rPr lang="en-US" dirty="0"/>
              <a:t>4, or Q* </a:t>
            </a:r>
            <a:r>
              <a:rPr lang="en-US" b="1" dirty="0"/>
              <a:t>= </a:t>
            </a:r>
            <a:r>
              <a:rPr lang="en-US" dirty="0"/>
              <a:t>20 million bushels of wheat. </a:t>
            </a:r>
          </a:p>
          <a:p>
            <a:r>
              <a:rPr lang="en-US" dirty="0"/>
              <a:t>Substituting this equilibrium quantity (Q*) into the inverse supply function yields the equilibrium price:</a:t>
            </a:r>
          </a:p>
          <a:p>
            <a:r>
              <a:rPr lang="en-US" dirty="0"/>
              <a:t>P = </a:t>
            </a:r>
            <a:r>
              <a:rPr lang="en-US" b="1" dirty="0"/>
              <a:t>1 </a:t>
            </a:r>
            <a:r>
              <a:rPr lang="en-US" dirty="0"/>
              <a:t>+ 0</a:t>
            </a:r>
            <a:r>
              <a:rPr lang="en-US" b="1" dirty="0"/>
              <a:t>.1Qs </a:t>
            </a:r>
            <a:r>
              <a:rPr lang="en-US" dirty="0"/>
              <a:t>=</a:t>
            </a:r>
            <a:r>
              <a:rPr lang="en-US" b="1" dirty="0"/>
              <a:t>1 </a:t>
            </a:r>
            <a:r>
              <a:rPr lang="en-US" dirty="0"/>
              <a:t>+ 0.1(20 ) = </a:t>
            </a:r>
            <a:r>
              <a:rPr lang="en-US" b="1" dirty="0"/>
              <a:t>1 </a:t>
            </a:r>
            <a:r>
              <a:rPr lang="en-US" dirty="0"/>
              <a:t>+ 2 </a:t>
            </a:r>
            <a:r>
              <a:rPr lang="en-US" b="1" dirty="0"/>
              <a:t>= </a:t>
            </a:r>
            <a:r>
              <a:rPr lang="en-US" dirty="0"/>
              <a:t>$3/</a:t>
            </a:r>
            <a:r>
              <a:rPr lang="en-US" dirty="0" err="1"/>
              <a:t>bu</a:t>
            </a:r>
            <a:r>
              <a:rPr lang="en-US" dirty="0"/>
              <a:t> of wheat. </a:t>
            </a:r>
          </a:p>
          <a:p>
            <a:r>
              <a:rPr lang="en-US" dirty="0"/>
              <a:t>Check this result by plugging the equilibrium quantity into the inverse demand equation:</a:t>
            </a:r>
          </a:p>
          <a:p>
            <a:r>
              <a:rPr lang="en-US" dirty="0"/>
              <a:t>P </a:t>
            </a:r>
            <a:r>
              <a:rPr lang="en-US" b="1" dirty="0"/>
              <a:t>= 5-</a:t>
            </a:r>
            <a:r>
              <a:rPr lang="en-US" dirty="0"/>
              <a:t>0.</a:t>
            </a:r>
            <a:r>
              <a:rPr lang="en-US" b="1" dirty="0"/>
              <a:t>1Qd </a:t>
            </a:r>
            <a:r>
              <a:rPr lang="en-US" dirty="0"/>
              <a:t>= </a:t>
            </a:r>
            <a:r>
              <a:rPr lang="en-US" b="1" dirty="0"/>
              <a:t>5 </a:t>
            </a:r>
            <a:r>
              <a:rPr lang="en-US" dirty="0"/>
              <a:t>-0.1(20) </a:t>
            </a:r>
            <a:r>
              <a:rPr lang="en-US" b="1" dirty="0"/>
              <a:t>= 5 </a:t>
            </a:r>
            <a:r>
              <a:rPr lang="en-US" dirty="0"/>
              <a:t>- </a:t>
            </a:r>
            <a:r>
              <a:rPr lang="en-US" b="1" dirty="0"/>
              <a:t>2 = </a:t>
            </a:r>
            <a:r>
              <a:rPr lang="en-US" dirty="0"/>
              <a:t>$3/</a:t>
            </a:r>
            <a:r>
              <a:rPr lang="en-US" dirty="0" err="1"/>
              <a:t>bu</a:t>
            </a:r>
            <a:r>
              <a:rPr lang="en-US" dirty="0"/>
              <a:t> of wheat.</a:t>
            </a:r>
          </a:p>
        </p:txBody>
      </p:sp>
    </p:spTree>
    <p:extLst>
      <p:ext uri="{BB962C8B-B14F-4D97-AF65-F5344CB8AC3E}">
        <p14:creationId xmlns:p14="http://schemas.microsoft.com/office/powerpoint/2010/main" val="17855533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EXPLAINATION</a:t>
            </a:r>
          </a:p>
        </p:txBody>
      </p:sp>
      <p:sp>
        <p:nvSpPr>
          <p:cNvPr id="3" name="Content Placeholder 2"/>
          <p:cNvSpPr>
            <a:spLocks noGrp="1"/>
          </p:cNvSpPr>
          <p:nvPr>
            <p:ph idx="1"/>
          </p:nvPr>
        </p:nvSpPr>
        <p:spPr/>
        <p:txBody>
          <a:bodyPr>
            <a:normAutofit lnSpcReduction="10000"/>
          </a:bodyPr>
          <a:lstStyle/>
          <a:p>
            <a:r>
              <a:rPr lang="en-US" dirty="0"/>
              <a:t>A model such as this helps an analyst determine the implications of how a change in the price of wheat will affect the wheat market. For example, suppose that the price of wheat increases to a level above the equilibrium level to $4/bu. </a:t>
            </a:r>
          </a:p>
          <a:p>
            <a:r>
              <a:rPr lang="en-US" dirty="0"/>
              <a:t>Both the graph and the mathematical model provide information telling that a price above the equilibrium level will increase production, decrease consumption, and result in a surplus. </a:t>
            </a:r>
          </a:p>
          <a:p>
            <a:r>
              <a:rPr lang="en-US" dirty="0"/>
              <a:t>To calculate the levels of quantity supplied and demanded, simply plug in the price of $4/</a:t>
            </a:r>
            <a:r>
              <a:rPr lang="en-US" dirty="0" err="1"/>
              <a:t>bu</a:t>
            </a:r>
            <a:r>
              <a:rPr lang="en-US" dirty="0"/>
              <a:t> into the inverse supply and inverse demand equations:</a:t>
            </a:r>
          </a:p>
          <a:p>
            <a:r>
              <a:rPr lang="en-US" dirty="0"/>
              <a:t>4 = </a:t>
            </a:r>
            <a:r>
              <a:rPr lang="en-US" b="1" dirty="0"/>
              <a:t>1 </a:t>
            </a:r>
            <a:r>
              <a:rPr lang="en-US" dirty="0"/>
              <a:t>+ 0.1Qs </a:t>
            </a:r>
          </a:p>
        </p:txBody>
      </p:sp>
    </p:spTree>
    <p:extLst>
      <p:ext uri="{BB962C8B-B14F-4D97-AF65-F5344CB8AC3E}">
        <p14:creationId xmlns:p14="http://schemas.microsoft.com/office/powerpoint/2010/main" val="507953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effectLst>
                  <a:outerShdw blurRad="38100" dist="38100" dir="2700000" algn="tl">
                    <a:srgbClr val="000000">
                      <a:alpha val="43137"/>
                    </a:srgbClr>
                  </a:outerShdw>
                </a:effectLst>
              </a:rPr>
              <a:t>Cont</a:t>
            </a:r>
            <a:r>
              <a:rPr lang="en-US" b="1"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p:txBody>
          <a:bodyPr>
            <a:normAutofit fontScale="77500" lnSpcReduction="20000"/>
          </a:bodyPr>
          <a:lstStyle/>
          <a:p>
            <a:r>
              <a:rPr lang="en-US" dirty="0"/>
              <a:t>3 </a:t>
            </a:r>
            <a:r>
              <a:rPr lang="en-US" b="1" dirty="0"/>
              <a:t>= </a:t>
            </a:r>
            <a:r>
              <a:rPr lang="en-US" dirty="0"/>
              <a:t>0.1Qs </a:t>
            </a:r>
          </a:p>
          <a:p>
            <a:r>
              <a:rPr lang="en-US" dirty="0"/>
              <a:t>Qs = 30, divide both sides by o.1</a:t>
            </a:r>
          </a:p>
          <a:p>
            <a:r>
              <a:rPr lang="en-US" dirty="0"/>
              <a:t>Qs = 30 million bushels of wheat, </a:t>
            </a:r>
          </a:p>
          <a:p>
            <a:r>
              <a:rPr lang="en-US" dirty="0"/>
              <a:t>1 </a:t>
            </a:r>
            <a:r>
              <a:rPr lang="en-US" b="1" dirty="0"/>
              <a:t>= </a:t>
            </a:r>
            <a:r>
              <a:rPr lang="en-US" dirty="0"/>
              <a:t>0.1Qd Divide both sides by 0.1</a:t>
            </a:r>
          </a:p>
          <a:p>
            <a:r>
              <a:rPr lang="en-US" dirty="0" err="1"/>
              <a:t>Qd</a:t>
            </a:r>
            <a:r>
              <a:rPr lang="en-US" dirty="0"/>
              <a:t> = 10 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p>
          <a:p>
            <a:r>
              <a:rPr lang="en-US" dirty="0"/>
              <a:t>The surplus quantity (Q s - Q d ) can also be calculated:</a:t>
            </a:r>
          </a:p>
          <a:p>
            <a:r>
              <a:rPr lang="en-US" dirty="0"/>
              <a:t>Surplus (Qs - </a:t>
            </a:r>
            <a:r>
              <a:rPr lang="en-US" b="1" dirty="0" err="1"/>
              <a:t>Q</a:t>
            </a:r>
            <a:r>
              <a:rPr lang="en-US" dirty="0" err="1"/>
              <a:t>d</a:t>
            </a:r>
            <a:r>
              <a:rPr lang="en-US" dirty="0"/>
              <a:t>) = </a:t>
            </a:r>
            <a:r>
              <a:rPr lang="en-US" b="1" dirty="0"/>
              <a:t>30 – 1</a:t>
            </a:r>
            <a:r>
              <a:rPr lang="en-US" dirty="0"/>
              <a:t>0 = 20 million bushels of wheat.</a:t>
            </a:r>
          </a:p>
          <a:p>
            <a:pPr marL="0" indent="0">
              <a:buNone/>
            </a:pPr>
            <a:r>
              <a:rPr lang="en-US" dirty="0"/>
              <a:t>This procedure also helps calculate a below-equilibrium price that leads to a shortage.</a:t>
            </a:r>
          </a:p>
          <a:p>
            <a:pPr marL="0" indent="0">
              <a:buNone/>
            </a:pPr>
            <a:r>
              <a:rPr lang="en-US" dirty="0"/>
              <a:t>Suppose that the price of wheat drops to $2/bu. The inverse supply and inverse demand</a:t>
            </a:r>
          </a:p>
          <a:p>
            <a:pPr marL="0" indent="0">
              <a:buNone/>
            </a:pPr>
            <a:r>
              <a:rPr lang="en-US" dirty="0"/>
              <a:t>equations yield the following estimates of quantities:</a:t>
            </a:r>
          </a:p>
          <a:p>
            <a:r>
              <a:rPr lang="en-US" dirty="0"/>
              <a:t>2 = </a:t>
            </a:r>
            <a:r>
              <a:rPr lang="en-US" b="1" dirty="0"/>
              <a:t>1 </a:t>
            </a:r>
            <a:r>
              <a:rPr lang="en-US" dirty="0"/>
              <a:t>+ 0.1Qs </a:t>
            </a:r>
          </a:p>
          <a:p>
            <a:r>
              <a:rPr lang="en-US" dirty="0"/>
              <a:t>1 </a:t>
            </a:r>
            <a:r>
              <a:rPr lang="en-US" b="1" dirty="0"/>
              <a:t>= </a:t>
            </a:r>
            <a:r>
              <a:rPr lang="en-US" dirty="0"/>
              <a:t>0.1Qs</a:t>
            </a:r>
          </a:p>
        </p:txBody>
      </p:sp>
    </p:spTree>
    <p:extLst>
      <p:ext uri="{BB962C8B-B14F-4D97-AF65-F5344CB8AC3E}">
        <p14:creationId xmlns:p14="http://schemas.microsoft.com/office/powerpoint/2010/main" val="23951087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effectLst>
                  <a:outerShdw blurRad="38100" dist="38100" dir="2700000" algn="tl">
                    <a:srgbClr val="000000">
                      <a:alpha val="43137"/>
                    </a:srgbClr>
                  </a:outerShdw>
                </a:effectLst>
              </a:rPr>
              <a:t>Cont</a:t>
            </a:r>
            <a:r>
              <a:rPr lang="en-US" b="1" dirty="0">
                <a:effectLst>
                  <a:outerShdw blurRad="38100" dist="38100" dir="2700000" algn="tl">
                    <a:srgbClr val="000000">
                      <a:alpha val="43137"/>
                    </a:srgbClr>
                  </a:outerShdw>
                </a:effectLst>
              </a:rPr>
              <a:t>… </a:t>
            </a:r>
          </a:p>
        </p:txBody>
      </p:sp>
      <p:sp>
        <p:nvSpPr>
          <p:cNvPr id="3" name="Content Placeholder 2"/>
          <p:cNvSpPr>
            <a:spLocks noGrp="1"/>
          </p:cNvSpPr>
          <p:nvPr>
            <p:ph idx="1"/>
          </p:nvPr>
        </p:nvSpPr>
        <p:spPr/>
        <p:txBody>
          <a:bodyPr>
            <a:normAutofit/>
          </a:bodyPr>
          <a:lstStyle/>
          <a:p>
            <a:r>
              <a:rPr lang="en-US" dirty="0"/>
              <a:t>This procedure also helps calculate a below-equilibrium price that leads to a shortage. Suppose that the price of wheat drops to $2/bu. The inverse supply and inverse demand equations yield the following estimates of quantities:</a:t>
            </a:r>
          </a:p>
          <a:p>
            <a:r>
              <a:rPr lang="en-US" dirty="0"/>
              <a:t>2 = </a:t>
            </a:r>
            <a:r>
              <a:rPr lang="en-US" b="1" dirty="0"/>
              <a:t>1 </a:t>
            </a:r>
            <a:r>
              <a:rPr lang="en-US" dirty="0"/>
              <a:t>+ 0.1Qs </a:t>
            </a:r>
          </a:p>
          <a:p>
            <a:r>
              <a:rPr lang="en-US" dirty="0"/>
              <a:t>1 </a:t>
            </a:r>
            <a:r>
              <a:rPr lang="en-US" b="1" dirty="0"/>
              <a:t>= </a:t>
            </a:r>
            <a:r>
              <a:rPr lang="en-US" dirty="0"/>
              <a:t>0.1Qs</a:t>
            </a:r>
          </a:p>
          <a:p>
            <a:r>
              <a:rPr lang="en-US" dirty="0"/>
              <a:t>Qs = 10 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p>
        </p:txBody>
      </p:sp>
    </p:spTree>
    <p:extLst>
      <p:ext uri="{BB962C8B-B14F-4D97-AF65-F5344CB8AC3E}">
        <p14:creationId xmlns:p14="http://schemas.microsoft.com/office/powerpoint/2010/main" val="1428470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Shortage calculation</a:t>
            </a:r>
          </a:p>
        </p:txBody>
      </p:sp>
      <p:sp>
        <p:nvSpPr>
          <p:cNvPr id="3" name="Content Placeholder 2"/>
          <p:cNvSpPr>
            <a:spLocks noGrp="1"/>
          </p:cNvSpPr>
          <p:nvPr>
            <p:ph idx="1"/>
          </p:nvPr>
        </p:nvSpPr>
        <p:spPr/>
        <p:txBody>
          <a:bodyPr>
            <a:normAutofit/>
          </a:bodyPr>
          <a:lstStyle/>
          <a:p>
            <a:r>
              <a:rPr lang="en-US" dirty="0"/>
              <a:t>2 = 5 – 0.1Qd </a:t>
            </a:r>
          </a:p>
          <a:p>
            <a:r>
              <a:rPr lang="en-US" dirty="0"/>
              <a:t>3 = 0.1Qd </a:t>
            </a:r>
          </a:p>
          <a:p>
            <a:r>
              <a:rPr lang="en-US" dirty="0" err="1"/>
              <a:t>Qd</a:t>
            </a:r>
            <a:r>
              <a:rPr lang="en-US" dirty="0"/>
              <a:t> = 30 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p>
          <a:p>
            <a:r>
              <a:rPr lang="en-US" dirty="0"/>
              <a:t>The shortage quantity (Q d - Q s ) can also be calculated:</a:t>
            </a:r>
          </a:p>
          <a:p>
            <a:r>
              <a:rPr lang="en-US" dirty="0"/>
              <a:t>Shortage = (</a:t>
            </a:r>
            <a:r>
              <a:rPr lang="en-US" dirty="0" err="1"/>
              <a:t>Qd</a:t>
            </a:r>
            <a:r>
              <a:rPr lang="en-US" dirty="0"/>
              <a:t> - </a:t>
            </a:r>
            <a:r>
              <a:rPr lang="en-US" b="1" dirty="0"/>
              <a:t>Q </a:t>
            </a:r>
            <a:r>
              <a:rPr lang="en-US" dirty="0"/>
              <a:t>s </a:t>
            </a:r>
            <a:r>
              <a:rPr lang="en-US" b="1" dirty="0"/>
              <a:t>) = 3</a:t>
            </a:r>
            <a:r>
              <a:rPr lang="en-US" dirty="0"/>
              <a:t>0 - </a:t>
            </a:r>
            <a:r>
              <a:rPr lang="en-US" b="1" dirty="0"/>
              <a:t>10 </a:t>
            </a:r>
            <a:r>
              <a:rPr lang="en-US" dirty="0"/>
              <a:t>= 20 million bushels of wheat. </a:t>
            </a:r>
          </a:p>
          <a:p>
            <a:r>
              <a:rPr lang="en-US" dirty="0"/>
              <a:t>This procedure also helps calculate changes in supply or demand brought about by economic variables. </a:t>
            </a:r>
          </a:p>
        </p:txBody>
      </p:sp>
    </p:spTree>
    <p:extLst>
      <p:ext uri="{BB962C8B-B14F-4D97-AF65-F5344CB8AC3E}">
        <p14:creationId xmlns:p14="http://schemas.microsoft.com/office/powerpoint/2010/main" val="32019779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GRAPHICALLY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097" y="1690688"/>
            <a:ext cx="9509760" cy="4945243"/>
          </a:xfrm>
        </p:spPr>
      </p:pic>
    </p:spTree>
    <p:extLst>
      <p:ext uri="{BB962C8B-B14F-4D97-AF65-F5344CB8AC3E}">
        <p14:creationId xmlns:p14="http://schemas.microsoft.com/office/powerpoint/2010/main" val="2549604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Direct provision of merit and public goods</a:t>
            </a:r>
            <a:endParaRPr lang="en-US" dirty="0"/>
          </a:p>
        </p:txBody>
      </p:sp>
      <p:sp>
        <p:nvSpPr>
          <p:cNvPr id="3" name="Content Placeholder 2"/>
          <p:cNvSpPr>
            <a:spLocks noGrp="1"/>
          </p:cNvSpPr>
          <p:nvPr>
            <p:ph idx="1"/>
          </p:nvPr>
        </p:nvSpPr>
        <p:spPr/>
        <p:txBody>
          <a:bodyPr/>
          <a:lstStyle/>
          <a:p>
            <a:pPr lvl="0"/>
            <a:r>
              <a:rPr lang="en-GB" b="1" dirty="0"/>
              <a:t>Direct provision of merit and public goods</a:t>
            </a:r>
            <a:r>
              <a:rPr lang="en-GB" dirty="0"/>
              <a:t> – since there is little incentive for the price mechanism to supply these goods, governments usually provide them. </a:t>
            </a:r>
          </a:p>
          <a:p>
            <a:pPr lvl="0"/>
            <a:r>
              <a:rPr lang="en-GB" dirty="0"/>
              <a:t>For example, free education, free healthcare, public parks. One way the govt. can do this is by </a:t>
            </a:r>
            <a:r>
              <a:rPr lang="en-GB" b="1" dirty="0"/>
              <a:t>nationalising</a:t>
            </a:r>
            <a:r>
              <a:rPr lang="en-GB" dirty="0"/>
              <a:t> certain products it considers essential to be provided by a governing authority, rather than the market. </a:t>
            </a:r>
          </a:p>
          <a:p>
            <a:pPr lvl="0"/>
            <a:r>
              <a:rPr lang="en-GB" dirty="0"/>
              <a:t>For example, in Zambia, the government operates the only railway network because only it can provide cheap services to its millions of poor, daily passengers.</a:t>
            </a:r>
            <a:endParaRPr lang="en-US" dirty="0"/>
          </a:p>
          <a:p>
            <a:endParaRPr lang="en-US" dirty="0"/>
          </a:p>
        </p:txBody>
      </p:sp>
    </p:spTree>
    <p:extLst>
      <p:ext uri="{BB962C8B-B14F-4D97-AF65-F5344CB8AC3E}">
        <p14:creationId xmlns:p14="http://schemas.microsoft.com/office/powerpoint/2010/main" val="20233055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TAXATION ON PRODUCTS</a:t>
            </a:r>
            <a:endParaRPr lang="en-US" b="1" dirty="0"/>
          </a:p>
        </p:txBody>
      </p:sp>
      <p:sp>
        <p:nvSpPr>
          <p:cNvPr id="3" name="Content Placeholder 2"/>
          <p:cNvSpPr>
            <a:spLocks noGrp="1"/>
          </p:cNvSpPr>
          <p:nvPr>
            <p:ph idx="1"/>
          </p:nvPr>
        </p:nvSpPr>
        <p:spPr/>
        <p:txBody>
          <a:bodyPr/>
          <a:lstStyle/>
          <a:p>
            <a:r>
              <a:rPr lang="en-GB" b="1" dirty="0"/>
              <a:t>Taxation</a:t>
            </a:r>
            <a:r>
              <a:rPr lang="en-GB" dirty="0"/>
              <a:t> on Natural Resource products – imposing a tax on products (indirect taxes) with negative externalities can discourage its production and consumption. </a:t>
            </a:r>
          </a:p>
          <a:p>
            <a:r>
              <a:rPr lang="en-GB" dirty="0"/>
              <a:t>For example, a tax on tobacco will make it expensive to produce and consume. </a:t>
            </a:r>
          </a:p>
          <a:p>
            <a:r>
              <a:rPr lang="en-GB" dirty="0"/>
              <a:t>In the diagram below, a tax has been imposed on a product, causing its supply to shift from S to S1. The price rises from P to P1 because of the additional tax amount, and the quantity traded in the market falls from Q to Q1.</a:t>
            </a:r>
            <a:br>
              <a:rPr lang="en-GB" dirty="0"/>
            </a:br>
            <a:endParaRPr lang="en-US" dirty="0"/>
          </a:p>
        </p:txBody>
      </p:sp>
    </p:spTree>
    <p:extLst>
      <p:ext uri="{BB962C8B-B14F-4D97-AF65-F5344CB8AC3E}">
        <p14:creationId xmlns:p14="http://schemas.microsoft.com/office/powerpoint/2010/main" val="2276165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TAXATION ON PRODUCTS</a:t>
            </a:r>
            <a:endParaRPr lang="en-US" dirty="0"/>
          </a:p>
        </p:txBody>
      </p:sp>
      <p:pic>
        <p:nvPicPr>
          <p:cNvPr id="4" name="Content Placeholder 3" descr="TA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8697" y="1841863"/>
            <a:ext cx="5904412" cy="4741817"/>
          </a:xfrm>
          <a:prstGeom prst="rect">
            <a:avLst/>
          </a:prstGeom>
          <a:noFill/>
          <a:ln>
            <a:noFill/>
          </a:ln>
        </p:spPr>
      </p:pic>
    </p:spTree>
    <p:extLst>
      <p:ext uri="{BB962C8B-B14F-4D97-AF65-F5344CB8AC3E}">
        <p14:creationId xmlns:p14="http://schemas.microsoft.com/office/powerpoint/2010/main" val="39625091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SUBSIDIES</a:t>
            </a:r>
            <a:endParaRPr lang="en-US" dirty="0"/>
          </a:p>
        </p:txBody>
      </p:sp>
      <p:sp>
        <p:nvSpPr>
          <p:cNvPr id="3" name="Content Placeholder 2"/>
          <p:cNvSpPr>
            <a:spLocks noGrp="1"/>
          </p:cNvSpPr>
          <p:nvPr>
            <p:ph idx="1"/>
          </p:nvPr>
        </p:nvSpPr>
        <p:spPr>
          <a:xfrm>
            <a:off x="838200" y="1515291"/>
            <a:ext cx="10515600" cy="4661672"/>
          </a:xfrm>
        </p:spPr>
        <p:txBody>
          <a:bodyPr/>
          <a:lstStyle/>
          <a:p>
            <a:r>
              <a:rPr lang="en-GB" b="1" dirty="0"/>
              <a:t>Subsidies</a:t>
            </a:r>
            <a:r>
              <a:rPr lang="en-GB" dirty="0"/>
              <a:t> – a subsidy is a grant (financial aid) on products that have a positive externality. </a:t>
            </a:r>
          </a:p>
          <a:p>
            <a:r>
              <a:rPr lang="en-GB" dirty="0"/>
              <a:t>Subsidising, for example, cooking gas for the poor, will increase the living standard of the population. </a:t>
            </a:r>
          </a:p>
          <a:p>
            <a:r>
              <a:rPr lang="en-GB" dirty="0"/>
              <a:t>In the diagram below, a subsidy has been imposed on a good, causing its supply to shift from S to S1. </a:t>
            </a:r>
          </a:p>
          <a:p>
            <a:r>
              <a:rPr lang="en-GB" dirty="0"/>
              <a:t>It results in a fall in price from P to P1 and subsequently, an increase in the quantity traded in the market from Q to Q1</a:t>
            </a:r>
            <a:endParaRPr lang="en-US" dirty="0"/>
          </a:p>
        </p:txBody>
      </p:sp>
    </p:spTree>
    <p:extLst>
      <p:ext uri="{BB962C8B-B14F-4D97-AF65-F5344CB8AC3E}">
        <p14:creationId xmlns:p14="http://schemas.microsoft.com/office/powerpoint/2010/main" val="26914095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SUBSIDIES</a:t>
            </a:r>
            <a:endParaRPr lang="en-US" dirty="0"/>
          </a:p>
        </p:txBody>
      </p:sp>
      <p:pic>
        <p:nvPicPr>
          <p:cNvPr id="4" name="Content Placeholder 3" descr="SUBSIDY"/>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26771" y="1395550"/>
            <a:ext cx="5876353" cy="4415244"/>
          </a:xfrm>
          <a:prstGeom prst="rect">
            <a:avLst/>
          </a:prstGeom>
          <a:noFill/>
          <a:ln>
            <a:noFill/>
          </a:ln>
        </p:spPr>
      </p:pic>
    </p:spTree>
    <p:extLst>
      <p:ext uri="{BB962C8B-B14F-4D97-AF65-F5344CB8AC3E}">
        <p14:creationId xmlns:p14="http://schemas.microsoft.com/office/powerpoint/2010/main" val="725846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LEGISLATION AND REGULATION</a:t>
            </a:r>
            <a:endParaRPr lang="en-US" dirty="0"/>
          </a:p>
        </p:txBody>
      </p:sp>
      <p:sp>
        <p:nvSpPr>
          <p:cNvPr id="3" name="Content Placeholder 2"/>
          <p:cNvSpPr>
            <a:spLocks noGrp="1"/>
          </p:cNvSpPr>
          <p:nvPr>
            <p:ph idx="1"/>
          </p:nvPr>
        </p:nvSpPr>
        <p:spPr/>
        <p:txBody>
          <a:bodyPr>
            <a:normAutofit fontScale="92500" lnSpcReduction="20000"/>
          </a:bodyPr>
          <a:lstStyle/>
          <a:p>
            <a:pPr lvl="0"/>
            <a:r>
              <a:rPr lang="en-GB" b="1" dirty="0"/>
              <a:t>Tradable permits</a:t>
            </a:r>
            <a:r>
              <a:rPr lang="en-GB" dirty="0"/>
              <a:t> – firms will have to buy permits from the government to do something, for example, pollute at a certain level, and these can be traded among firms. Since permits require money, firms will be encouraged to pollute less.</a:t>
            </a:r>
            <a:endParaRPr lang="en-US" dirty="0"/>
          </a:p>
          <a:p>
            <a:pPr lvl="0"/>
            <a:r>
              <a:rPr lang="en-GB" b="1" dirty="0"/>
              <a:t>Extension of property rights</a:t>
            </a:r>
            <a:r>
              <a:rPr lang="en-GB" dirty="0"/>
              <a:t> – one of the main reasons for pollution in public spaces is that it is public – it does not harm a specific private individual – the resource is the governments who cannot charge compensations easily. So the government can extend property rights (right to own property) of public places to private individuals. This will effectively</a:t>
            </a:r>
            <a:r>
              <a:rPr lang="en-GB" b="1" dirty="0"/>
              <a:t> privatize</a:t>
            </a:r>
            <a:r>
              <a:rPr lang="en-GB" dirty="0"/>
              <a:t> resources, create a market for these spaces and then individuals can be fined for polluting</a:t>
            </a:r>
            <a:endParaRPr lang="en-US" dirty="0"/>
          </a:p>
          <a:p>
            <a:pPr lvl="0"/>
            <a:r>
              <a:rPr lang="en-GB" b="1" dirty="0"/>
              <a:t>International cooperation</a:t>
            </a:r>
            <a:r>
              <a:rPr lang="en-GB" dirty="0"/>
              <a:t> among governments – governments work together on issues that affect the future of the environment.</a:t>
            </a:r>
            <a:endParaRPr lang="en-US" dirty="0"/>
          </a:p>
          <a:p>
            <a:endParaRPr lang="en-US" dirty="0"/>
          </a:p>
        </p:txBody>
      </p:sp>
    </p:spTree>
    <p:extLst>
      <p:ext uri="{BB962C8B-B14F-4D97-AF65-F5344CB8AC3E}">
        <p14:creationId xmlns:p14="http://schemas.microsoft.com/office/powerpoint/2010/main" val="3057836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DRAWBACKS TO GOVERNMENT INTERVENTION IN AN ECONOMY</a:t>
            </a:r>
            <a:endParaRPr lang="en-US" b="1" dirty="0"/>
          </a:p>
        </p:txBody>
      </p:sp>
      <p:sp>
        <p:nvSpPr>
          <p:cNvPr id="3" name="Content Placeholder 2"/>
          <p:cNvSpPr>
            <a:spLocks noGrp="1"/>
          </p:cNvSpPr>
          <p:nvPr>
            <p:ph idx="1"/>
          </p:nvPr>
        </p:nvSpPr>
        <p:spPr/>
        <p:txBody>
          <a:bodyPr>
            <a:normAutofit fontScale="92500" lnSpcReduction="10000"/>
          </a:bodyPr>
          <a:lstStyle/>
          <a:p>
            <a:pPr lvl="0"/>
            <a:r>
              <a:rPr lang="en-GB" b="1" dirty="0"/>
              <a:t>Political incentives: </a:t>
            </a:r>
            <a:r>
              <a:rPr lang="en-GB" dirty="0"/>
              <a:t>this occurs when there is a clash between political and economics (because a government is a political entity with political incentives).</a:t>
            </a:r>
          </a:p>
          <a:p>
            <a:pPr lvl="0"/>
            <a:r>
              <a:rPr lang="en-GB" dirty="0"/>
              <a:t>For example, even though mining companies cause a lot of environmental damage, the government may encourage and promote their activities to garner political and financial support from them.</a:t>
            </a:r>
            <a:endParaRPr lang="en-US" dirty="0"/>
          </a:p>
          <a:p>
            <a:r>
              <a:rPr lang="en-GB" b="1" dirty="0"/>
              <a:t>Lack of incentives:</a:t>
            </a:r>
            <a:r>
              <a:rPr lang="en-GB" dirty="0"/>
              <a:t> in the free market, individuals have a profit incentive to innovate and cut costs, but in the public sector, such an incentive is absent since the government will pay them salaries regardless of their performance. </a:t>
            </a:r>
          </a:p>
          <a:p>
            <a:r>
              <a:rPr lang="en-GB" dirty="0"/>
              <a:t>So, even as the government provides certain public and merit goods directly to the people at low costs, they tend to be very inefficient</a:t>
            </a:r>
            <a:endParaRPr lang="en-US" dirty="0"/>
          </a:p>
        </p:txBody>
      </p:sp>
    </p:spTree>
    <p:extLst>
      <p:ext uri="{BB962C8B-B14F-4D97-AF65-F5344CB8AC3E}">
        <p14:creationId xmlns:p14="http://schemas.microsoft.com/office/powerpoint/2010/main" val="28683362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DRAWBACKS TO GOVERNMENT INTERVENTION IN AN ECONOMY</a:t>
            </a:r>
            <a:endParaRPr lang="en-US" dirty="0"/>
          </a:p>
        </p:txBody>
      </p:sp>
      <p:sp>
        <p:nvSpPr>
          <p:cNvPr id="3" name="Content Placeholder 2"/>
          <p:cNvSpPr>
            <a:spLocks noGrp="1"/>
          </p:cNvSpPr>
          <p:nvPr>
            <p:ph idx="1"/>
          </p:nvPr>
        </p:nvSpPr>
        <p:spPr/>
        <p:txBody>
          <a:bodyPr>
            <a:normAutofit fontScale="85000" lnSpcReduction="20000"/>
          </a:bodyPr>
          <a:lstStyle/>
          <a:p>
            <a:pPr lvl="0"/>
            <a:r>
              <a:rPr lang="en-GB" b="1" dirty="0"/>
              <a:t>Time lags, information failure</a:t>
            </a:r>
            <a:r>
              <a:rPr lang="en-GB" dirty="0"/>
              <a:t>: these are some of the government failure arising because of a lack of incentive. </a:t>
            </a:r>
          </a:p>
          <a:p>
            <a:pPr lvl="0"/>
            <a:r>
              <a:rPr lang="en-GB" dirty="0"/>
              <a:t>Government offices and employees don’t have an incentive to provide timely services or give accurate information and this leads to very inefficient systems.</a:t>
            </a:r>
            <a:endParaRPr lang="en-US" dirty="0"/>
          </a:p>
          <a:p>
            <a:pPr lvl="0"/>
            <a:r>
              <a:rPr lang="en-GB" b="1" dirty="0"/>
              <a:t>Welfare effects of policies:</a:t>
            </a:r>
            <a:r>
              <a:rPr lang="en-GB" dirty="0"/>
              <a:t> government policies such as taxation and welfare payments distort the market. This means that such policies will influence demand and supply in the </a:t>
            </a:r>
          </a:p>
          <a:p>
            <a:pPr lvl="0"/>
            <a:r>
              <a:rPr lang="en-GB" dirty="0"/>
              <a:t>Economy and cause markets to move away from the efficient points produced by a market system. For example, high corporate taxes will deter companies from expanding their operations and making more profits or deter new enterprises from entering the market. </a:t>
            </a:r>
          </a:p>
          <a:p>
            <a:pPr lvl="0"/>
            <a:r>
              <a:rPr lang="en-GB" dirty="0"/>
              <a:t>Unemployment benefits given out by the government may cause people to stay unemployed and receive free benefits instead of working.</a:t>
            </a:r>
            <a:endParaRPr lang="en-US" dirty="0"/>
          </a:p>
          <a:p>
            <a:endParaRPr lang="en-US" dirty="0"/>
          </a:p>
        </p:txBody>
      </p:sp>
    </p:spTree>
    <p:extLst>
      <p:ext uri="{BB962C8B-B14F-4D97-AF65-F5344CB8AC3E}">
        <p14:creationId xmlns:p14="http://schemas.microsoft.com/office/powerpoint/2010/main" val="12783646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DEFINITION OF ELASTICITY OF DEMAND: ALFRED MARSHAALL </a:t>
            </a:r>
            <a:br>
              <a:rPr lang="en-US" dirty="0"/>
            </a:br>
            <a:br>
              <a:rPr lang="en-US" b="1" dirty="0"/>
            </a:br>
            <a:endParaRPr lang="en-US" dirty="0"/>
          </a:p>
        </p:txBody>
      </p:sp>
      <p:sp>
        <p:nvSpPr>
          <p:cNvPr id="3" name="Content Placeholder 2"/>
          <p:cNvSpPr>
            <a:spLocks noGrp="1"/>
          </p:cNvSpPr>
          <p:nvPr>
            <p:ph idx="1"/>
          </p:nvPr>
        </p:nvSpPr>
        <p:spPr>
          <a:xfrm>
            <a:off x="685800" y="1690688"/>
            <a:ext cx="10515600" cy="4351338"/>
          </a:xfrm>
        </p:spPr>
        <p:txBody>
          <a:bodyPr/>
          <a:lstStyle/>
          <a:p>
            <a:r>
              <a:rPr lang="en-US" dirty="0"/>
              <a:t>According to him “the elasticity (or responsiveness) of demand in a market is great or small according as the amount demanded increases much or little for a given fall in price, and diminishes much or little for a given rise in price”. </a:t>
            </a:r>
          </a:p>
          <a:p>
            <a:endParaRPr lang="en-US" dirty="0"/>
          </a:p>
        </p:txBody>
      </p:sp>
    </p:spTree>
    <p:extLst>
      <p:ext uri="{BB962C8B-B14F-4D97-AF65-F5344CB8AC3E}">
        <p14:creationId xmlns:p14="http://schemas.microsoft.com/office/powerpoint/2010/main" val="21846118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FACTORS DETERMINING THE PRICE ELASTICITY OF DEMAND</a:t>
            </a:r>
            <a:br>
              <a:rPr lang="en-US" b="1" dirty="0">
                <a:effectLst>
                  <a:outerShdw blurRad="38100" dist="38100" dir="2700000" algn="tl">
                    <a:srgbClr val="000000">
                      <a:alpha val="43137"/>
                    </a:srgbClr>
                  </a:outerShdw>
                </a:effectLst>
              </a:rPr>
            </a:br>
            <a:endParaRPr lang="en-US" b="1" dirty="0"/>
          </a:p>
        </p:txBody>
      </p:sp>
      <p:sp>
        <p:nvSpPr>
          <p:cNvPr id="3" name="Content Placeholder 2"/>
          <p:cNvSpPr>
            <a:spLocks noGrp="1"/>
          </p:cNvSpPr>
          <p:nvPr>
            <p:ph idx="1"/>
          </p:nvPr>
        </p:nvSpPr>
        <p:spPr/>
        <p:txBody>
          <a:bodyPr>
            <a:normAutofit fontScale="77500" lnSpcReduction="20000"/>
          </a:bodyPr>
          <a:lstStyle/>
          <a:p>
            <a:r>
              <a:rPr lang="en-US" b="1" dirty="0"/>
              <a:t>1. Availability of Substitute: </a:t>
            </a:r>
            <a:r>
              <a:rPr lang="en-US" dirty="0"/>
              <a:t>Goods having close substitutes will have an elastic demand and goods with no close substitutes will have an inelastic demand. Commodities such as Pen, Pepsi, </a:t>
            </a:r>
            <a:r>
              <a:rPr lang="en-US" dirty="0" err="1"/>
              <a:t>Maruti</a:t>
            </a:r>
            <a:r>
              <a:rPr lang="en-US" dirty="0"/>
              <a:t> car have close substitutes and hence have an elastic demand. </a:t>
            </a:r>
          </a:p>
          <a:p>
            <a:r>
              <a:rPr lang="en-US" b="1" dirty="0"/>
              <a:t>2. Income of the consumers: </a:t>
            </a:r>
            <a:r>
              <a:rPr lang="en-US" dirty="0"/>
              <a:t>If the income level of consumers is high, the elasticity of demand will be less. It is because change in the price will not affect the quantity demanded by greater proportion </a:t>
            </a:r>
          </a:p>
          <a:p>
            <a:r>
              <a:rPr lang="en-US" b="1" dirty="0"/>
              <a:t>3. Luxuries versus Necessities: </a:t>
            </a:r>
            <a:r>
              <a:rPr lang="en-US" dirty="0"/>
              <a:t>The price elasticity of demand is likely to be low for necessities and high for luxuries </a:t>
            </a:r>
          </a:p>
          <a:p>
            <a:r>
              <a:rPr lang="en-US" b="1" dirty="0"/>
              <a:t>4. Number of uses of the commodity: </a:t>
            </a:r>
            <a:r>
              <a:rPr lang="en-US" dirty="0"/>
              <a:t>The more the number of uses of a commodity has more elastic demand. If a commodity has few uses it has an inelastic demand. </a:t>
            </a:r>
          </a:p>
          <a:p>
            <a:r>
              <a:rPr lang="en-US" b="1" dirty="0"/>
              <a:t>5. Cost relative to total income: </a:t>
            </a:r>
            <a:r>
              <a:rPr lang="en-US" dirty="0"/>
              <a:t>higher the cost of the goods relative to total income of consumer more will be the price elasticity demand. </a:t>
            </a:r>
          </a:p>
          <a:p>
            <a:r>
              <a:rPr lang="en-US" b="1" dirty="0"/>
              <a:t>6. Level of price: </a:t>
            </a:r>
            <a:r>
              <a:rPr lang="en-US" dirty="0"/>
              <a:t>if the price of the commodity is high the price elasticity of demand is more and if it is low, its price elasticity of demand is less. </a:t>
            </a:r>
          </a:p>
          <a:p>
            <a:endParaRPr lang="en-US" dirty="0"/>
          </a:p>
        </p:txBody>
      </p:sp>
    </p:spTree>
    <p:extLst>
      <p:ext uri="{BB962C8B-B14F-4D97-AF65-F5344CB8AC3E}">
        <p14:creationId xmlns:p14="http://schemas.microsoft.com/office/powerpoint/2010/main" val="35387423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ELASTICITY OF DEMAND </a:t>
            </a:r>
            <a:br>
              <a:rPr lang="en-US" dirty="0"/>
            </a:br>
            <a:endParaRPr lang="en-US" dirty="0"/>
          </a:p>
        </p:txBody>
      </p:sp>
      <p:sp>
        <p:nvSpPr>
          <p:cNvPr id="3" name="Content Placeholder 2"/>
          <p:cNvSpPr>
            <a:spLocks noGrp="1"/>
          </p:cNvSpPr>
          <p:nvPr>
            <p:ph idx="1"/>
          </p:nvPr>
        </p:nvSpPr>
        <p:spPr/>
        <p:txBody>
          <a:bodyPr/>
          <a:lstStyle/>
          <a:p>
            <a:r>
              <a:rPr lang="en-US" dirty="0"/>
              <a:t>Price Elasticity of Demand </a:t>
            </a:r>
          </a:p>
          <a:p>
            <a:r>
              <a:rPr lang="en-US" dirty="0"/>
              <a:t>Income Elasticity of Demand </a:t>
            </a:r>
          </a:p>
          <a:p>
            <a:r>
              <a:rPr lang="en-US" dirty="0"/>
              <a:t>Cross Elasticity of Demand </a:t>
            </a:r>
          </a:p>
          <a:p>
            <a:r>
              <a:rPr lang="en-US" dirty="0"/>
              <a:t>Advertising elasticity of Demand </a:t>
            </a:r>
          </a:p>
          <a:p>
            <a:r>
              <a:rPr lang="en-US" dirty="0"/>
              <a:t>Elasticity of Price Expectations </a:t>
            </a:r>
          </a:p>
          <a:p>
            <a:endParaRPr lang="en-US" dirty="0"/>
          </a:p>
        </p:txBody>
      </p:sp>
    </p:spTree>
    <p:extLst>
      <p:ext uri="{BB962C8B-B14F-4D97-AF65-F5344CB8AC3E}">
        <p14:creationId xmlns:p14="http://schemas.microsoft.com/office/powerpoint/2010/main" val="581156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ELASTICITY OF DEMAND</a:t>
            </a:r>
            <a:endParaRPr lang="en-US" dirty="0"/>
          </a:p>
        </p:txBody>
      </p:sp>
      <p:sp>
        <p:nvSpPr>
          <p:cNvPr id="3" name="Content Placeholder 2"/>
          <p:cNvSpPr>
            <a:spLocks noGrp="1"/>
          </p:cNvSpPr>
          <p:nvPr>
            <p:ph idx="1"/>
          </p:nvPr>
        </p:nvSpPr>
        <p:spPr/>
        <p:txBody>
          <a:bodyPr/>
          <a:lstStyle/>
          <a:p>
            <a:r>
              <a:rPr lang="en-US" dirty="0"/>
              <a:t>“The degree of responsiveness of quantity demanded to a change in price is called price elasticity of demand</a:t>
            </a:r>
          </a:p>
          <a:p>
            <a:endParaRPr lang="en-US" dirty="0"/>
          </a:p>
        </p:txBody>
      </p:sp>
      <p:pic>
        <p:nvPicPr>
          <p:cNvPr id="4" name="Picture 3"/>
          <p:cNvPicPr>
            <a:picLocks noChangeAspect="1"/>
          </p:cNvPicPr>
          <p:nvPr/>
        </p:nvPicPr>
        <p:blipFill>
          <a:blip r:embed="rId2"/>
          <a:stretch>
            <a:fillRect/>
          </a:stretch>
        </p:blipFill>
        <p:spPr>
          <a:xfrm>
            <a:off x="600892" y="3162117"/>
            <a:ext cx="10084526" cy="1814832"/>
          </a:xfrm>
          <a:prstGeom prst="rect">
            <a:avLst/>
          </a:prstGeom>
        </p:spPr>
      </p:pic>
    </p:spTree>
    <p:extLst>
      <p:ext uri="{BB962C8B-B14F-4D97-AF65-F5344CB8AC3E}">
        <p14:creationId xmlns:p14="http://schemas.microsoft.com/office/powerpoint/2010/main" val="30232529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DIFFERENT TYPES OF PRICE ELASTICITY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b="1" dirty="0"/>
              <a:t>1. PERFECTLY INELASTIC DEMAND (EP = 0): </a:t>
            </a:r>
            <a:endParaRPr lang="en-US" dirty="0"/>
          </a:p>
          <a:p>
            <a:r>
              <a:rPr lang="en-US" b="1" dirty="0"/>
              <a:t>Description: </a:t>
            </a:r>
            <a:r>
              <a:rPr lang="en-US" dirty="0"/>
              <a:t>when to a percentage change in price there is no change in quantity demanded. </a:t>
            </a:r>
          </a:p>
          <a:p>
            <a:r>
              <a:rPr lang="en-US" b="1" dirty="0"/>
              <a:t>Types of Goods: </a:t>
            </a:r>
            <a:r>
              <a:rPr lang="en-US" dirty="0"/>
              <a:t>Essentials like life saving goods </a:t>
            </a:r>
          </a:p>
          <a:p>
            <a:r>
              <a:rPr lang="en-US" dirty="0"/>
              <a:t>Changes in price yield no change in demand 	</a:t>
            </a:r>
          </a:p>
          <a:p>
            <a:pPr marL="0" indent="0">
              <a:buNone/>
            </a:pPr>
            <a:endParaRPr lang="en-US" dirty="0"/>
          </a:p>
        </p:txBody>
      </p:sp>
    </p:spTree>
    <p:extLst>
      <p:ext uri="{BB962C8B-B14F-4D97-AF65-F5344CB8AC3E}">
        <p14:creationId xmlns:p14="http://schemas.microsoft.com/office/powerpoint/2010/main" val="33891945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Shape of Demand curve: Vertical </a:t>
            </a:r>
            <a:br>
              <a:rPr lang="en-US"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4211690" y="2464153"/>
            <a:ext cx="2937347" cy="2714063"/>
          </a:xfrm>
          <a:prstGeom prst="rect">
            <a:avLst/>
          </a:prstGeom>
        </p:spPr>
      </p:pic>
    </p:spTree>
    <p:extLst>
      <p:ext uri="{BB962C8B-B14F-4D97-AF65-F5344CB8AC3E}">
        <p14:creationId xmlns:p14="http://schemas.microsoft.com/office/powerpoint/2010/main" val="16206620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RELATIVELY INELASTIC DEMAND (EP&lt; 1 ) </a:t>
            </a:r>
            <a:br>
              <a:rPr lang="en-US" dirty="0"/>
            </a:br>
            <a:endParaRPr lang="en-US" dirty="0"/>
          </a:p>
        </p:txBody>
      </p:sp>
      <p:sp>
        <p:nvSpPr>
          <p:cNvPr id="3" name="Content Placeholder 2"/>
          <p:cNvSpPr>
            <a:spLocks noGrp="1"/>
          </p:cNvSpPr>
          <p:nvPr>
            <p:ph idx="1"/>
          </p:nvPr>
        </p:nvSpPr>
        <p:spPr>
          <a:xfrm>
            <a:off x="838200" y="997527"/>
            <a:ext cx="10515600" cy="5179436"/>
          </a:xfrm>
        </p:spPr>
        <p:txBody>
          <a:bodyPr/>
          <a:lstStyle/>
          <a:p>
            <a:r>
              <a:rPr lang="en-US" b="1" dirty="0"/>
              <a:t>Description: </a:t>
            </a:r>
            <a:r>
              <a:rPr lang="en-US" dirty="0"/>
              <a:t>when to a percentage change in price there is less than proportionate change in quantity demanded. </a:t>
            </a:r>
          </a:p>
          <a:p>
            <a:r>
              <a:rPr lang="en-US" b="1" dirty="0"/>
              <a:t>Types of Goods: </a:t>
            </a:r>
            <a:r>
              <a:rPr lang="en-US" dirty="0"/>
              <a:t>Necessities like food, fuel </a:t>
            </a:r>
          </a:p>
          <a:p>
            <a:r>
              <a:rPr lang="en-US" b="1" dirty="0"/>
              <a:t>Shape of Demand curve: </a:t>
            </a:r>
            <a:r>
              <a:rPr lang="en-US" dirty="0"/>
              <a:t>Steeper </a:t>
            </a:r>
          </a:p>
          <a:p>
            <a:r>
              <a:rPr lang="en-US" dirty="0"/>
              <a:t>Changes in price yield an insignificant change in demand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9296004" y="2323090"/>
            <a:ext cx="3474720" cy="3709851"/>
          </a:xfrm>
          <a:prstGeom prst="rect">
            <a:avLst/>
          </a:prstGeom>
        </p:spPr>
      </p:pic>
    </p:spTree>
    <p:extLst>
      <p:ext uri="{BB962C8B-B14F-4D97-AF65-F5344CB8AC3E}">
        <p14:creationId xmlns:p14="http://schemas.microsoft.com/office/powerpoint/2010/main" val="21627532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UNITARY ELASTIC DEMAND ( EP = 1)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969818"/>
            <a:ext cx="10515600" cy="5207145"/>
          </a:xfrm>
        </p:spPr>
        <p:txBody>
          <a:bodyPr/>
          <a:lstStyle/>
          <a:p>
            <a:r>
              <a:rPr lang="en-US" b="1" dirty="0"/>
              <a:t>Description: </a:t>
            </a:r>
            <a:r>
              <a:rPr lang="en-US" dirty="0"/>
              <a:t>when to a percentage change in price there is equal change in quantity demanded. </a:t>
            </a:r>
          </a:p>
          <a:p>
            <a:r>
              <a:rPr lang="en-US" b="1" dirty="0"/>
              <a:t>Types of Goods: </a:t>
            </a:r>
            <a:r>
              <a:rPr lang="en-US" dirty="0"/>
              <a:t>Normal goods </a:t>
            </a:r>
          </a:p>
          <a:p>
            <a:r>
              <a:rPr lang="en-US" b="1" dirty="0"/>
              <a:t>Shape of Demand curve: </a:t>
            </a:r>
            <a:r>
              <a:rPr lang="en-US" dirty="0"/>
              <a:t>the linear demand curve forming 45o angle both the axes </a:t>
            </a:r>
          </a:p>
          <a:p>
            <a:r>
              <a:rPr lang="en-US" dirty="0"/>
              <a:t>Changes in price yield equivalent (%) changes in demand 	</a:t>
            </a:r>
          </a:p>
          <a:p>
            <a:endParaRPr lang="en-US" dirty="0"/>
          </a:p>
          <a:p>
            <a:endParaRPr lang="en-US" dirty="0"/>
          </a:p>
        </p:txBody>
      </p:sp>
      <p:pic>
        <p:nvPicPr>
          <p:cNvPr id="4" name="Picture 3"/>
          <p:cNvPicPr>
            <a:picLocks noChangeAspect="1"/>
          </p:cNvPicPr>
          <p:nvPr/>
        </p:nvPicPr>
        <p:blipFill>
          <a:blip r:embed="rId2"/>
          <a:stretch>
            <a:fillRect/>
          </a:stretch>
        </p:blipFill>
        <p:spPr>
          <a:xfrm>
            <a:off x="2877403" y="3644538"/>
            <a:ext cx="4715691" cy="3213462"/>
          </a:xfrm>
          <a:prstGeom prst="rect">
            <a:avLst/>
          </a:prstGeom>
        </p:spPr>
      </p:pic>
    </p:spTree>
    <p:extLst>
      <p:ext uri="{BB962C8B-B14F-4D97-AF65-F5344CB8AC3E}">
        <p14:creationId xmlns:p14="http://schemas.microsoft.com/office/powerpoint/2010/main" val="26383012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br>
              <a:rPr lang="en-US" b="1" dirty="0"/>
            </a:br>
            <a:r>
              <a:rPr lang="en-US" b="1" dirty="0"/>
              <a:t>4. RELATIVELY ELASTIC DEMAND (EP&gt; 1) </a:t>
            </a:r>
            <a:br>
              <a:rPr lang="en-US" dirty="0"/>
            </a:br>
            <a:endParaRPr lang="en-US" dirty="0"/>
          </a:p>
        </p:txBody>
      </p:sp>
      <p:sp>
        <p:nvSpPr>
          <p:cNvPr id="3" name="Content Placeholder 2"/>
          <p:cNvSpPr>
            <a:spLocks noGrp="1"/>
          </p:cNvSpPr>
          <p:nvPr>
            <p:ph idx="1"/>
          </p:nvPr>
        </p:nvSpPr>
        <p:spPr>
          <a:xfrm>
            <a:off x="838200" y="1254034"/>
            <a:ext cx="10515600" cy="4922929"/>
          </a:xfrm>
        </p:spPr>
        <p:txBody>
          <a:bodyPr/>
          <a:lstStyle/>
          <a:p>
            <a:r>
              <a:rPr lang="en-US" b="1" dirty="0"/>
              <a:t>Description: </a:t>
            </a:r>
            <a:r>
              <a:rPr lang="en-US" dirty="0"/>
              <a:t>when to a percentage change in price there is more than proportionate change in quantity demanded. </a:t>
            </a:r>
          </a:p>
          <a:p>
            <a:r>
              <a:rPr lang="en-US" b="1" dirty="0"/>
              <a:t>Types of Goods: </a:t>
            </a:r>
            <a:r>
              <a:rPr lang="en-US" dirty="0"/>
              <a:t>Luxuries </a:t>
            </a:r>
          </a:p>
          <a:p>
            <a:r>
              <a:rPr lang="en-US" b="1" dirty="0"/>
              <a:t>Shape of Demand curve: </a:t>
            </a:r>
            <a:r>
              <a:rPr lang="en-US" dirty="0"/>
              <a:t>Flatter </a:t>
            </a:r>
          </a:p>
          <a:p>
            <a:r>
              <a:rPr lang="en-US" dirty="0"/>
              <a:t>Changes in price yield a significant change in demand</a:t>
            </a:r>
          </a:p>
          <a:p>
            <a:endParaRPr lang="en-US" dirty="0"/>
          </a:p>
        </p:txBody>
      </p:sp>
      <p:pic>
        <p:nvPicPr>
          <p:cNvPr id="4" name="Picture 3"/>
          <p:cNvPicPr>
            <a:picLocks noChangeAspect="1"/>
          </p:cNvPicPr>
          <p:nvPr/>
        </p:nvPicPr>
        <p:blipFill>
          <a:blip r:embed="rId2"/>
          <a:stretch>
            <a:fillRect/>
          </a:stretch>
        </p:blipFill>
        <p:spPr>
          <a:xfrm>
            <a:off x="8830490" y="2362609"/>
            <a:ext cx="3657599" cy="3814354"/>
          </a:xfrm>
          <a:prstGeom prst="rect">
            <a:avLst/>
          </a:prstGeom>
        </p:spPr>
      </p:pic>
    </p:spTree>
    <p:extLst>
      <p:ext uri="{BB962C8B-B14F-4D97-AF65-F5344CB8AC3E}">
        <p14:creationId xmlns:p14="http://schemas.microsoft.com/office/powerpoint/2010/main" val="255693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PERFECTLY ELASTIC DEMAND (EP = ∞) </a:t>
            </a:r>
            <a:br>
              <a:rPr lang="en-US" dirty="0"/>
            </a:br>
            <a:endParaRPr lang="en-US" dirty="0"/>
          </a:p>
        </p:txBody>
      </p:sp>
      <p:sp>
        <p:nvSpPr>
          <p:cNvPr id="3" name="Content Placeholder 2"/>
          <p:cNvSpPr>
            <a:spLocks noGrp="1"/>
          </p:cNvSpPr>
          <p:nvPr>
            <p:ph idx="1"/>
          </p:nvPr>
        </p:nvSpPr>
        <p:spPr>
          <a:xfrm>
            <a:off x="838200" y="1162594"/>
            <a:ext cx="10515600" cy="5014369"/>
          </a:xfrm>
        </p:spPr>
        <p:txBody>
          <a:bodyPr/>
          <a:lstStyle/>
          <a:p>
            <a:r>
              <a:rPr lang="en-US" b="1" dirty="0"/>
              <a:t>Description: </a:t>
            </a:r>
            <a:r>
              <a:rPr lang="en-US" dirty="0"/>
              <a:t>when there is infinite change in quantity situation demanded without any changes in price </a:t>
            </a:r>
          </a:p>
          <a:p>
            <a:r>
              <a:rPr lang="en-US" b="1" dirty="0"/>
              <a:t>Types of Goods: </a:t>
            </a:r>
            <a:r>
              <a:rPr lang="en-US" dirty="0"/>
              <a:t>Imaginary </a:t>
            </a:r>
          </a:p>
          <a:p>
            <a:r>
              <a:rPr lang="en-US" b="1" dirty="0"/>
              <a:t>Shape of Demand curve: </a:t>
            </a:r>
            <a:r>
              <a:rPr lang="en-US" dirty="0"/>
              <a:t>Horizontal </a:t>
            </a:r>
          </a:p>
          <a:p>
            <a:r>
              <a:rPr lang="en-US" dirty="0"/>
              <a:t>Changes in price result in demand declining to zero</a:t>
            </a:r>
          </a:p>
        </p:txBody>
      </p:sp>
      <p:pic>
        <p:nvPicPr>
          <p:cNvPr id="4" name="Picture 3"/>
          <p:cNvPicPr>
            <a:picLocks noChangeAspect="1"/>
          </p:cNvPicPr>
          <p:nvPr/>
        </p:nvPicPr>
        <p:blipFill>
          <a:blip r:embed="rId2"/>
          <a:stretch>
            <a:fillRect/>
          </a:stretch>
        </p:blipFill>
        <p:spPr>
          <a:xfrm>
            <a:off x="8621485" y="2625634"/>
            <a:ext cx="2965268" cy="3420700"/>
          </a:xfrm>
          <a:prstGeom prst="rect">
            <a:avLst/>
          </a:prstGeom>
        </p:spPr>
      </p:pic>
    </p:spTree>
    <p:extLst>
      <p:ext uri="{BB962C8B-B14F-4D97-AF65-F5344CB8AC3E}">
        <p14:creationId xmlns:p14="http://schemas.microsoft.com/office/powerpoint/2010/main" val="883274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METHODS OF CALCULATING PRICE ELASTICITY OF DEMAND</a:t>
            </a:r>
            <a:endParaRPr lang="en-US" dirty="0"/>
          </a:p>
        </p:txBody>
      </p:sp>
      <p:sp>
        <p:nvSpPr>
          <p:cNvPr id="3" name="Content Placeholder 2"/>
          <p:cNvSpPr>
            <a:spLocks noGrp="1"/>
          </p:cNvSpPr>
          <p:nvPr>
            <p:ph idx="1"/>
          </p:nvPr>
        </p:nvSpPr>
        <p:spPr/>
        <p:txBody>
          <a:bodyPr>
            <a:normAutofit fontScale="92500"/>
          </a:bodyPr>
          <a:lstStyle/>
          <a:p>
            <a:r>
              <a:rPr lang="en-US" b="1" dirty="0"/>
              <a:t>1. The Percentage Method: </a:t>
            </a:r>
            <a:endParaRPr lang="en-US" dirty="0"/>
          </a:p>
          <a:p>
            <a:r>
              <a:rPr lang="en-US" dirty="0"/>
              <a:t>The price elasticity of demand is measured by its coefficient (Ep). This coefficient (Ep) measures the percentage change in the quantity of a commodity demanded resulting from a given percentage change in its price. </a:t>
            </a:r>
            <a:r>
              <a:rPr lang="en-US" dirty="0">
                <a:solidFill>
                  <a:srgbClr val="000000"/>
                </a:solidFill>
                <a:latin typeface="Times New Roman" panose="02020603050405020304" pitchFamily="18" charset="0"/>
              </a:rPr>
              <a:t>Where q refers to quantity demanded, p to price and Δ to change. </a:t>
            </a:r>
          </a:p>
          <a:p>
            <a:endParaRPr lang="en-US" dirty="0">
              <a:solidFill>
                <a:srgbClr val="000000"/>
              </a:solidFill>
              <a:latin typeface="Times New Roman" panose="02020603050405020304" pitchFamily="18" charset="0"/>
            </a:endParaRPr>
          </a:p>
          <a:p>
            <a:endParaRPr lang="en-US" dirty="0">
              <a:solidFill>
                <a:srgbClr val="000000"/>
              </a:solidFill>
              <a:latin typeface="Times New Roman" panose="02020603050405020304" pitchFamily="18" charset="0"/>
            </a:endParaRPr>
          </a:p>
          <a:p>
            <a:endParaRPr lang="en-US" dirty="0">
              <a:solidFill>
                <a:srgbClr val="000000"/>
              </a:solidFill>
              <a:latin typeface="Times New Roman" panose="02020603050405020304" pitchFamily="18" charset="0"/>
            </a:endParaRPr>
          </a:p>
          <a:p>
            <a:r>
              <a:rPr lang="en-US" dirty="0">
                <a:solidFill>
                  <a:srgbClr val="000000"/>
                </a:solidFill>
                <a:latin typeface="Times New Roman" panose="02020603050405020304" pitchFamily="18" charset="0"/>
              </a:rPr>
              <a:t>If 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&gt;1, demand is elastic. If 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&lt; 1, demand is inelastic, and 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 1, demand is unitary elastic. </a:t>
            </a:r>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2510246" y="3904026"/>
            <a:ext cx="8294913" cy="1254034"/>
          </a:xfrm>
          <a:prstGeom prst="rect">
            <a:avLst/>
          </a:prstGeom>
        </p:spPr>
      </p:pic>
    </p:spTree>
    <p:extLst>
      <p:ext uri="{BB962C8B-B14F-4D97-AF65-F5344CB8AC3E}">
        <p14:creationId xmlns:p14="http://schemas.microsoft.com/office/powerpoint/2010/main" val="3826121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Point Method or Geometrical or graphical method</a:t>
            </a:r>
            <a:endParaRPr lang="en-US" dirty="0"/>
          </a:p>
        </p:txBody>
      </p:sp>
      <p:sp>
        <p:nvSpPr>
          <p:cNvPr id="3" name="Content Placeholder 2"/>
          <p:cNvSpPr>
            <a:spLocks noGrp="1"/>
          </p:cNvSpPr>
          <p:nvPr>
            <p:ph idx="1"/>
          </p:nvPr>
        </p:nvSpPr>
        <p:spPr/>
        <p:txBody>
          <a:bodyPr/>
          <a:lstStyle/>
          <a:p>
            <a:r>
              <a:rPr lang="en-US" dirty="0"/>
              <a:t>The point method of measuring elasticity of demand was developed by Alfred Marshall. Elasticity measures at a point on a demand curve is known as point elasticity of demand </a:t>
            </a:r>
          </a:p>
          <a:p>
            <a:r>
              <a:rPr lang="en-US" dirty="0"/>
              <a:t>Let RS be a straight line demand curve in Figure. If the price falls from PB ( = OA) to MD ( = OC), the quantity demanded increases from OB to OD. </a:t>
            </a:r>
          </a:p>
        </p:txBody>
      </p:sp>
      <p:pic>
        <p:nvPicPr>
          <p:cNvPr id="4" name="Picture 3"/>
          <p:cNvPicPr>
            <a:picLocks noChangeAspect="1"/>
          </p:cNvPicPr>
          <p:nvPr/>
        </p:nvPicPr>
        <p:blipFill>
          <a:blip r:embed="rId2"/>
          <a:stretch>
            <a:fillRect/>
          </a:stretch>
        </p:blipFill>
        <p:spPr>
          <a:xfrm>
            <a:off x="2246811" y="4001294"/>
            <a:ext cx="3618411" cy="2873829"/>
          </a:xfrm>
          <a:prstGeom prst="rect">
            <a:avLst/>
          </a:prstGeom>
        </p:spPr>
      </p:pic>
    </p:spTree>
    <p:extLst>
      <p:ext uri="{BB962C8B-B14F-4D97-AF65-F5344CB8AC3E}">
        <p14:creationId xmlns:p14="http://schemas.microsoft.com/office/powerpoint/2010/main" val="28273357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The Arc Method: </a:t>
            </a:r>
            <a:br>
              <a:rPr lang="en-US" dirty="0"/>
            </a:br>
            <a:endParaRPr lang="en-US" dirty="0"/>
          </a:p>
        </p:txBody>
      </p:sp>
      <p:sp>
        <p:nvSpPr>
          <p:cNvPr id="3" name="Content Placeholder 2"/>
          <p:cNvSpPr>
            <a:spLocks noGrp="1"/>
          </p:cNvSpPr>
          <p:nvPr>
            <p:ph idx="1"/>
          </p:nvPr>
        </p:nvSpPr>
        <p:spPr/>
        <p:txBody>
          <a:bodyPr/>
          <a:lstStyle/>
          <a:p>
            <a:r>
              <a:rPr lang="en-US" dirty="0"/>
              <a:t>When elasticity of demand is measured over a finite range or ‘arc’ of a demand curve, it is called arc elasticity of demand. when elasticity is measured between two points on the same demand curve, it is known as arc elasticity. </a:t>
            </a:r>
          </a:p>
          <a:p>
            <a:endParaRPr lang="en-US" dirty="0"/>
          </a:p>
        </p:txBody>
      </p:sp>
      <p:pic>
        <p:nvPicPr>
          <p:cNvPr id="4" name="Picture 3"/>
          <p:cNvPicPr>
            <a:picLocks noChangeAspect="1"/>
          </p:cNvPicPr>
          <p:nvPr/>
        </p:nvPicPr>
        <p:blipFill>
          <a:blip r:embed="rId2"/>
          <a:stretch>
            <a:fillRect/>
          </a:stretch>
        </p:blipFill>
        <p:spPr>
          <a:xfrm>
            <a:off x="5175069" y="3254056"/>
            <a:ext cx="3853542" cy="3057844"/>
          </a:xfrm>
          <a:prstGeom prst="rect">
            <a:avLst/>
          </a:prstGeom>
        </p:spPr>
      </p:pic>
    </p:spTree>
    <p:extLst>
      <p:ext uri="{BB962C8B-B14F-4D97-AF65-F5344CB8AC3E}">
        <p14:creationId xmlns:p14="http://schemas.microsoft.com/office/powerpoint/2010/main" val="13089073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a:t>
            </a:r>
          </a:p>
        </p:txBody>
      </p:sp>
      <p:sp>
        <p:nvSpPr>
          <p:cNvPr id="3" name="Content Placeholder 2"/>
          <p:cNvSpPr>
            <a:spLocks noGrp="1"/>
          </p:cNvSpPr>
          <p:nvPr>
            <p:ph idx="1"/>
          </p:nvPr>
        </p:nvSpPr>
        <p:spPr/>
        <p:txBody>
          <a:bodyPr/>
          <a:lstStyle/>
          <a:p>
            <a:r>
              <a:rPr lang="en-US" dirty="0"/>
              <a:t>The area between P and M on the DD curve in Figure is an arc which measures elasticity over a certain range of price and quantities. </a:t>
            </a:r>
          </a:p>
          <a:p>
            <a:r>
              <a:rPr lang="en-US" dirty="0"/>
              <a:t>Elasticity for the arc (PM in Figure ) is calculated by taking the average of the two prices [(p1 + p2 )½] and the average of the two quantities [(q, +q2 )½]. </a:t>
            </a:r>
          </a:p>
          <a:p>
            <a:r>
              <a:rPr lang="en-US" dirty="0"/>
              <a:t>The formula for price elasticity of demand at the mid-point (C in Figure 4) of the arc on the demand curve. </a:t>
            </a:r>
          </a:p>
          <a:p>
            <a:endParaRPr lang="en-US" dirty="0"/>
          </a:p>
        </p:txBody>
      </p:sp>
    </p:spTree>
    <p:extLst>
      <p:ext uri="{BB962C8B-B14F-4D97-AF65-F5344CB8AC3E}">
        <p14:creationId xmlns:p14="http://schemas.microsoft.com/office/powerpoint/2010/main" val="12401133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Total Outlay Method: </a:t>
            </a:r>
            <a:br>
              <a:rPr lang="en-US" dirty="0"/>
            </a:br>
            <a:endParaRPr lang="en-US" dirty="0"/>
          </a:p>
        </p:txBody>
      </p:sp>
      <p:sp>
        <p:nvSpPr>
          <p:cNvPr id="3" name="Content Placeholder 2"/>
          <p:cNvSpPr>
            <a:spLocks noGrp="1"/>
          </p:cNvSpPr>
          <p:nvPr>
            <p:ph idx="1"/>
          </p:nvPr>
        </p:nvSpPr>
        <p:spPr/>
        <p:txBody>
          <a:bodyPr/>
          <a:lstStyle/>
          <a:p>
            <a:r>
              <a:rPr lang="en-US" dirty="0"/>
              <a:t>Marshall evolved the total outlay, or total revenue or total expenditure method as a measure of elasticity. By comparing the total expenditure of a purchaser both before and after the change in price, it can be known whether his demand for a good is elastic, unity or less elastic. </a:t>
            </a:r>
          </a:p>
          <a:p>
            <a:r>
              <a:rPr lang="en-US" dirty="0"/>
              <a:t>Total outlay is price multiplied by the quantity of a good purchased: Total Outlay = Price x Quantity Demanded. </a:t>
            </a:r>
          </a:p>
          <a:p>
            <a:pPr marL="0" indent="0">
              <a:buNone/>
            </a:pPr>
            <a:endParaRPr lang="en-US" dirty="0"/>
          </a:p>
          <a:p>
            <a:endParaRPr lang="en-US" dirty="0"/>
          </a:p>
        </p:txBody>
      </p:sp>
    </p:spTree>
    <p:extLst>
      <p:ext uri="{BB962C8B-B14F-4D97-AF65-F5344CB8AC3E}">
        <p14:creationId xmlns:p14="http://schemas.microsoft.com/office/powerpoint/2010/main" val="30194572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a:t>
            </a:r>
          </a:p>
        </p:txBody>
      </p:sp>
      <p:sp>
        <p:nvSpPr>
          <p:cNvPr id="3" name="Content Placeholder 2"/>
          <p:cNvSpPr>
            <a:spLocks noGrp="1"/>
          </p:cNvSpPr>
          <p:nvPr>
            <p:ph idx="1"/>
          </p:nvPr>
        </p:nvSpPr>
        <p:spPr/>
        <p:txBody>
          <a:bodyPr>
            <a:normAutofit fontScale="92500" lnSpcReduction="10000"/>
          </a:bodyPr>
          <a:lstStyle/>
          <a:p>
            <a:r>
              <a:rPr lang="en-US" dirty="0"/>
              <a:t>A dealer in deep freezers increased the price of his products from K450 to K500.</a:t>
            </a:r>
          </a:p>
          <a:p>
            <a:r>
              <a:rPr lang="en-US" dirty="0"/>
              <a:t>And his sales dropped from 800 units to 600 units, </a:t>
            </a:r>
          </a:p>
          <a:p>
            <a:r>
              <a:rPr lang="en-US" dirty="0"/>
              <a:t>Use the information above to answer the questions below:</a:t>
            </a:r>
          </a:p>
          <a:p>
            <a:r>
              <a:rPr lang="en-US" dirty="0"/>
              <a:t>A) Calculate the price elasticity of demand</a:t>
            </a:r>
          </a:p>
          <a:p>
            <a:r>
              <a:rPr lang="en-US" dirty="0"/>
              <a:t>B) What type of elasticity is this?</a:t>
            </a:r>
          </a:p>
          <a:p>
            <a:r>
              <a:rPr lang="en-US" dirty="0"/>
              <a:t>C) Was the decision to increase price Okay for the business? Why?</a:t>
            </a:r>
          </a:p>
          <a:p>
            <a:r>
              <a:rPr lang="en-US" dirty="0"/>
              <a:t>P1=K450, P2 = K500, Change in P, =50</a:t>
            </a:r>
          </a:p>
          <a:p>
            <a:r>
              <a:rPr lang="en-US" dirty="0"/>
              <a:t>Q1 = 800 units, Q2 = 600 units Change in Q = -200 units</a:t>
            </a:r>
          </a:p>
          <a:p>
            <a:r>
              <a:rPr lang="en-US" dirty="0"/>
              <a:t>Ep = (Change in Q)/Q x P/(Change in P) = -200/800 x 450/50 = -2.25</a:t>
            </a:r>
          </a:p>
          <a:p>
            <a:endParaRPr lang="en-US" dirty="0"/>
          </a:p>
          <a:p>
            <a:endParaRPr lang="en-US" dirty="0"/>
          </a:p>
        </p:txBody>
      </p:sp>
    </p:spTree>
    <p:extLst>
      <p:ext uri="{BB962C8B-B14F-4D97-AF65-F5344CB8AC3E}">
        <p14:creationId xmlns:p14="http://schemas.microsoft.com/office/powerpoint/2010/main" val="33202903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a:t>
            </a:r>
          </a:p>
        </p:txBody>
      </p:sp>
      <p:sp>
        <p:nvSpPr>
          <p:cNvPr id="3" name="Content Placeholder 2"/>
          <p:cNvSpPr>
            <a:spLocks noGrp="1"/>
          </p:cNvSpPr>
          <p:nvPr>
            <p:ph idx="1"/>
          </p:nvPr>
        </p:nvSpPr>
        <p:spPr/>
        <p:txBody>
          <a:bodyPr/>
          <a:lstStyle/>
          <a:p>
            <a:r>
              <a:rPr lang="en-US" dirty="0"/>
              <a:t>Or % Change in </a:t>
            </a:r>
            <a:r>
              <a:rPr lang="en-US" dirty="0" err="1"/>
              <a:t>Qd</a:t>
            </a:r>
            <a:r>
              <a:rPr lang="en-US" dirty="0"/>
              <a:t> /% Change in P = [((600-800)/800)x100]/[((500-450)/450)x100] = 25% /11.1% = 2.25</a:t>
            </a:r>
          </a:p>
          <a:p>
            <a:r>
              <a:rPr lang="en-US" dirty="0"/>
              <a:t>The elasticity is Relative Elastic demand</a:t>
            </a:r>
          </a:p>
          <a:p>
            <a:endParaRPr lang="en-US" dirty="0"/>
          </a:p>
          <a:p>
            <a:r>
              <a:rPr lang="en-US" dirty="0"/>
              <a:t>Q2. Calculate the arc elasticity using the data below</a:t>
            </a:r>
          </a:p>
          <a:p>
            <a:r>
              <a:rPr lang="en-US" dirty="0"/>
              <a:t>P1 = K1000, P2 = 800 Q1 = 200 UNITS , Q2 = 300 UNITS</a:t>
            </a:r>
          </a:p>
          <a:p>
            <a:r>
              <a:rPr lang="en-US" dirty="0" err="1"/>
              <a:t>Pe</a:t>
            </a:r>
            <a:r>
              <a:rPr lang="en-US" dirty="0"/>
              <a:t> = [(Q2 – Q1)/9(Q1+Q2)/2] / [(P2-P1)/(P1+P2)/2]</a:t>
            </a:r>
          </a:p>
          <a:p>
            <a:r>
              <a:rPr lang="en-US" dirty="0" err="1"/>
              <a:t>Pe</a:t>
            </a:r>
            <a:r>
              <a:rPr lang="en-US" dirty="0"/>
              <a:t> = - 1.8</a:t>
            </a:r>
          </a:p>
          <a:p>
            <a:endParaRPr lang="en-US" dirty="0"/>
          </a:p>
        </p:txBody>
      </p:sp>
    </p:spTree>
    <p:extLst>
      <p:ext uri="{BB962C8B-B14F-4D97-AF65-F5344CB8AC3E}">
        <p14:creationId xmlns:p14="http://schemas.microsoft.com/office/powerpoint/2010/main" val="22009434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ON CROSS ELASTICITY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590" y="1201783"/>
            <a:ext cx="9862456" cy="5551714"/>
          </a:xfrm>
        </p:spPr>
      </p:pic>
    </p:spTree>
    <p:extLst>
      <p:ext uri="{BB962C8B-B14F-4D97-AF65-F5344CB8AC3E}">
        <p14:creationId xmlns:p14="http://schemas.microsoft.com/office/powerpoint/2010/main" val="32968879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 Of Elasticity Of Demand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T</a:t>
            </a:r>
            <a:r>
              <a:rPr lang="en-US" dirty="0"/>
              <a:t>he Paradox of Poverty Amidst Plenty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017" y="1690688"/>
            <a:ext cx="9966959" cy="4958306"/>
          </a:xfrm>
        </p:spPr>
      </p:pic>
    </p:spTree>
    <p:extLst>
      <p:ext uri="{BB962C8B-B14F-4D97-AF65-F5344CB8AC3E}">
        <p14:creationId xmlns:p14="http://schemas.microsoft.com/office/powerpoint/2010/main" val="3137270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 Of Elasticity Of Demand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T</a:t>
            </a:r>
            <a:r>
              <a:rPr lang="en-US" dirty="0"/>
              <a:t>he Paradox of Poverty Amidst Plenty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9"/>
            <a:ext cx="10696303" cy="4932180"/>
          </a:xfrm>
        </p:spPr>
      </p:pic>
    </p:spTree>
    <p:extLst>
      <p:ext uri="{BB962C8B-B14F-4D97-AF65-F5344CB8AC3E}">
        <p14:creationId xmlns:p14="http://schemas.microsoft.com/office/powerpoint/2010/main" val="13511408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a:t>
            </a:r>
          </a:p>
        </p:txBody>
      </p:sp>
      <p:sp>
        <p:nvSpPr>
          <p:cNvPr id="3" name="Content Placeholder 2"/>
          <p:cNvSpPr>
            <a:spLocks noGrp="1"/>
          </p:cNvSpPr>
          <p:nvPr>
            <p:ph idx="1"/>
          </p:nvPr>
        </p:nvSpPr>
        <p:spPr/>
        <p:txBody>
          <a:bodyPr/>
          <a:lstStyle/>
          <a:p>
            <a:pPr marL="0" indent="0">
              <a:buNone/>
            </a:pPr>
            <a:r>
              <a:rPr lang="en-US" dirty="0"/>
              <a:t>Consider the demand equation </a:t>
            </a:r>
            <a:r>
              <a:rPr lang="en-US" i="1" dirty="0"/>
              <a:t>Q </a:t>
            </a:r>
            <a:r>
              <a:rPr lang="en-US" dirty="0"/>
              <a:t>= 80 - 10</a:t>
            </a:r>
            <a:r>
              <a:rPr lang="en-US" i="1" dirty="0"/>
              <a:t>P</a:t>
            </a:r>
            <a:r>
              <a:rPr lang="en-US" dirty="0"/>
              <a:t>. Calculate the point-price elasticity of demand (ep) and total revenue (</a:t>
            </a:r>
            <a:r>
              <a:rPr lang="en-US" i="1" dirty="0"/>
              <a:t>TR</a:t>
            </a:r>
            <a:r>
              <a:rPr lang="en-US" dirty="0"/>
              <a:t>) for </a:t>
            </a:r>
            <a:r>
              <a:rPr lang="en-US" i="1" dirty="0"/>
              <a:t>P </a:t>
            </a:r>
            <a:r>
              <a:rPr lang="en-US" dirty="0"/>
              <a:t>= 0 to </a:t>
            </a:r>
            <a:r>
              <a:rPr lang="en-US" i="1" dirty="0"/>
              <a:t>P </a:t>
            </a:r>
            <a:r>
              <a:rPr lang="en-US" dirty="0"/>
              <a:t>= 8.</a:t>
            </a:r>
          </a:p>
          <a:p>
            <a:r>
              <a:rPr lang="en-US" dirty="0"/>
              <a:t>By definition ep = (</a:t>
            </a:r>
            <a:r>
              <a:rPr lang="en-US" i="1" dirty="0" err="1"/>
              <a:t>dQ</a:t>
            </a:r>
            <a:r>
              <a:rPr lang="en-US" dirty="0"/>
              <a:t>/</a:t>
            </a:r>
            <a:r>
              <a:rPr lang="en-US" i="1" dirty="0" err="1"/>
              <a:t>dP</a:t>
            </a:r>
            <a:r>
              <a:rPr lang="en-US" dirty="0"/>
              <a:t>)(</a:t>
            </a:r>
            <a:r>
              <a:rPr lang="en-US" i="1" dirty="0"/>
              <a:t>P</a:t>
            </a:r>
            <a:r>
              <a:rPr lang="en-US" dirty="0"/>
              <a:t>/</a:t>
            </a:r>
            <a:r>
              <a:rPr lang="en-US" i="1" dirty="0"/>
              <a:t>Q</a:t>
            </a:r>
            <a:r>
              <a:rPr lang="en-US" dirty="0"/>
              <a:t>) and </a:t>
            </a:r>
            <a:r>
              <a:rPr lang="en-US" i="1" dirty="0"/>
              <a:t>TR </a:t>
            </a:r>
            <a:r>
              <a:rPr lang="en-US" dirty="0"/>
              <a:t>= </a:t>
            </a:r>
            <a:r>
              <a:rPr lang="en-US" i="1" dirty="0"/>
              <a:t>P </a:t>
            </a:r>
            <a:r>
              <a:rPr lang="en-US" dirty="0"/>
              <a:t>\ </a:t>
            </a:r>
            <a:r>
              <a:rPr lang="en-US" i="1" dirty="0"/>
              <a:t>Q</a:t>
            </a:r>
            <a:r>
              <a:rPr lang="en-US" dirty="0"/>
              <a:t>. The solution values are summarized in Table</a:t>
            </a:r>
          </a:p>
          <a:p>
            <a:r>
              <a:rPr lang="en-US" dirty="0"/>
              <a:t>When the price of the commodity is $6, the quantity demanded is 20 units. Total revenue is $120. The price elasticity of demand at the price–quantity</a:t>
            </a:r>
          </a:p>
        </p:txBody>
      </p:sp>
    </p:spTree>
    <p:extLst>
      <p:ext uri="{BB962C8B-B14F-4D97-AF65-F5344CB8AC3E}">
        <p14:creationId xmlns:p14="http://schemas.microsoft.com/office/powerpoint/2010/main" val="37628263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SOLUTION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9233262" cy="5167312"/>
          </a:xfrm>
        </p:spPr>
      </p:pic>
    </p:spTree>
    <p:extLst>
      <p:ext uri="{BB962C8B-B14F-4D97-AF65-F5344CB8AC3E}">
        <p14:creationId xmlns:p14="http://schemas.microsoft.com/office/powerpoint/2010/main" val="38753872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REPRESENTATION</a:t>
            </a:r>
          </a:p>
        </p:txBody>
      </p:sp>
      <p:pic>
        <p:nvPicPr>
          <p:cNvPr id="4" name="Content Placeholder 3"/>
          <p:cNvPicPr>
            <a:picLocks noGrp="1" noChangeAspect="1"/>
          </p:cNvPicPr>
          <p:nvPr>
            <p:ph idx="1"/>
          </p:nvPr>
        </p:nvPicPr>
        <p:blipFill>
          <a:blip r:embed="rId2"/>
          <a:stretch>
            <a:fillRect/>
          </a:stretch>
        </p:blipFill>
        <p:spPr>
          <a:xfrm>
            <a:off x="1267097" y="1384663"/>
            <a:ext cx="7798526" cy="4336867"/>
          </a:xfrm>
          <a:prstGeom prst="rect">
            <a:avLst/>
          </a:prstGeom>
        </p:spPr>
      </p:pic>
      <p:sp>
        <p:nvSpPr>
          <p:cNvPr id="5" name="Rectangle 4"/>
          <p:cNvSpPr/>
          <p:nvPr/>
        </p:nvSpPr>
        <p:spPr>
          <a:xfrm>
            <a:off x="1267097" y="5828100"/>
            <a:ext cx="8739052" cy="646331"/>
          </a:xfrm>
          <a:prstGeom prst="rect">
            <a:avLst/>
          </a:prstGeom>
        </p:spPr>
        <p:txBody>
          <a:bodyPr wrap="square">
            <a:spAutoFit/>
          </a:bodyPr>
          <a:lstStyle/>
          <a:p>
            <a:r>
              <a:rPr lang="en-US" dirty="0">
                <a:latin typeface="TimesTen-Roman"/>
              </a:rPr>
              <a:t>Price-elastic demand: a decrease (increase) in price and an increase (decrease) in total revenue.</a:t>
            </a:r>
            <a:endParaRPr lang="en-US" dirty="0"/>
          </a:p>
        </p:txBody>
      </p:sp>
    </p:spTree>
    <p:extLst>
      <p:ext uri="{BB962C8B-B14F-4D97-AF65-F5344CB8AC3E}">
        <p14:creationId xmlns:p14="http://schemas.microsoft.com/office/powerpoint/2010/main" val="8428447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EXPLAINATION</a:t>
            </a:r>
          </a:p>
        </p:txBody>
      </p:sp>
      <p:sp>
        <p:nvSpPr>
          <p:cNvPr id="3" name="Content Placeholder 2"/>
          <p:cNvSpPr>
            <a:spLocks noGrp="1"/>
          </p:cNvSpPr>
          <p:nvPr>
            <p:ph idx="1"/>
          </p:nvPr>
        </p:nvSpPr>
        <p:spPr>
          <a:xfrm>
            <a:off x="838200" y="1293223"/>
            <a:ext cx="10515600" cy="5434148"/>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Combination is –3.00; that is, a 1% decline in price instantaneously will result in 3% increase in the quantity demanded. </a:t>
            </a:r>
          </a:p>
          <a:p>
            <a:pPr marL="0" indent="0">
              <a:buNone/>
            </a:pPr>
            <a:r>
              <a:rPr lang="en-US" dirty="0">
                <a:latin typeface="Times New Roman" panose="02020603050405020304" pitchFamily="18" charset="0"/>
                <a:cs typeface="Times New Roman" panose="02020603050405020304" pitchFamily="18" charset="0"/>
              </a:rPr>
              <a:t>When the price is lowered to $5, the quantity demanded increases to 30 units. </a:t>
            </a:r>
          </a:p>
          <a:p>
            <a:pPr marL="0" indent="0">
              <a:buNone/>
            </a:pPr>
            <a:r>
              <a:rPr lang="en-US" dirty="0">
                <a:latin typeface="Times New Roman" panose="02020603050405020304" pitchFamily="18" charset="0"/>
                <a:cs typeface="Times New Roman" panose="02020603050405020304" pitchFamily="18" charset="0"/>
              </a:rPr>
              <a:t>The price elasticity of demand at that price–quantity combination is -1.67. </a:t>
            </a:r>
          </a:p>
          <a:p>
            <a:pPr marL="0" indent="0">
              <a:buNone/>
            </a:pPr>
            <a:r>
              <a:rPr lang="en-US" dirty="0">
                <a:latin typeface="Times New Roman" panose="02020603050405020304" pitchFamily="18" charset="0"/>
                <a:cs typeface="Times New Roman" panose="02020603050405020304" pitchFamily="18" charset="0"/>
              </a:rPr>
              <a:t>Intuitively, since the quantity demanded for this product is price elastic within this range of values, we would expect an increase in total expenditures (revenues) for this product as the price declines from $6 to $5, and that is exactly what happens. </a:t>
            </a:r>
          </a:p>
          <a:p>
            <a:pPr marL="0" indent="0">
              <a:buNone/>
            </a:pPr>
            <a:r>
              <a:rPr lang="en-US" dirty="0">
                <a:latin typeface="Times New Roman" panose="02020603050405020304" pitchFamily="18" charset="0"/>
                <a:cs typeface="Times New Roman" panose="02020603050405020304" pitchFamily="18" charset="0"/>
              </a:rPr>
              <a:t>As the price declines from $6 to $5, total revenues earned by the firm rises from $120</a:t>
            </a:r>
          </a:p>
        </p:txBody>
      </p:sp>
    </p:spTree>
    <p:extLst>
      <p:ext uri="{BB962C8B-B14F-4D97-AF65-F5344CB8AC3E}">
        <p14:creationId xmlns:p14="http://schemas.microsoft.com/office/powerpoint/2010/main" val="19917478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838200" y="1371600"/>
            <a:ext cx="10515600" cy="4805363"/>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To $150. The fact that total revenues increased following a decrease in price in the elastic region of the demand curve (above the midpoint </a:t>
            </a:r>
            <a:r>
              <a:rPr lang="en-US" i="1" dirty="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can be seen by comparing the rectangles 0</a:t>
            </a:r>
            <a:r>
              <a:rPr lang="en-US" i="1" dirty="0">
                <a:latin typeface="Times New Roman" panose="02020603050405020304" pitchFamily="18" charset="0"/>
                <a:cs typeface="Times New Roman" panose="02020603050405020304" pitchFamily="18" charset="0"/>
              </a:rPr>
              <a:t>JCK </a:t>
            </a:r>
            <a:r>
              <a:rPr lang="en-US" dirty="0">
                <a:latin typeface="Times New Roman" panose="02020603050405020304" pitchFamily="18" charset="0"/>
                <a:cs typeface="Times New Roman" panose="02020603050405020304" pitchFamily="18" charset="0"/>
              </a:rPr>
              <a:t>and 0</a:t>
            </a:r>
            <a:r>
              <a:rPr lang="en-US" i="1" dirty="0">
                <a:latin typeface="Times New Roman" panose="02020603050405020304" pitchFamily="18" charset="0"/>
                <a:cs typeface="Times New Roman" panose="02020603050405020304" pitchFamily="18" charset="0"/>
              </a:rPr>
              <a:t>NMK</a:t>
            </a:r>
            <a:r>
              <a:rPr lang="en-US" dirty="0">
                <a:latin typeface="Times New Roman" panose="02020603050405020304" pitchFamily="18" charset="0"/>
                <a:cs typeface="Times New Roman" panose="02020603050405020304" pitchFamily="18" charset="0"/>
              </a:rPr>
              <a:t> which represent total revenue (</a:t>
            </a:r>
            <a:r>
              <a:rPr lang="en-US" i="1" dirty="0">
                <a:latin typeface="Times New Roman" panose="02020603050405020304" pitchFamily="18" charset="0"/>
                <a:cs typeface="Times New Roman" panose="02020603050405020304" pitchFamily="18" charset="0"/>
              </a:rPr>
              <a:t>TR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Q</a:t>
            </a:r>
            <a:r>
              <a:rPr lang="en-US" dirty="0">
                <a:latin typeface="Times New Roman" panose="02020603050405020304" pitchFamily="18" charset="0"/>
                <a:cs typeface="Times New Roman" panose="02020603050405020304" pitchFamily="18" charset="0"/>
              </a:rPr>
              <a:t>) at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$6 and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$5, respectively. Note that both rectangles share the area of the rectangle 0</a:t>
            </a:r>
            <a:r>
              <a:rPr lang="en-US" i="1" dirty="0">
                <a:latin typeface="Times New Roman" panose="02020603050405020304" pitchFamily="18" charset="0"/>
                <a:cs typeface="Times New Roman" panose="02020603050405020304" pitchFamily="18" charset="0"/>
              </a:rPr>
              <a:t>NMK </a:t>
            </a:r>
            <a:r>
              <a:rPr lang="en-US" dirty="0">
                <a:latin typeface="Times New Roman" panose="02020603050405020304" pitchFamily="18" charset="0"/>
                <a:cs typeface="Times New Roman" panose="02020603050405020304" pitchFamily="18" charset="0"/>
              </a:rPr>
              <a:t>in common.</a:t>
            </a:r>
          </a:p>
          <a:p>
            <a:pPr marL="0" indent="0">
              <a:buNone/>
            </a:pPr>
            <a:r>
              <a:rPr lang="en-US" dirty="0">
                <a:latin typeface="Times New Roman" panose="02020603050405020304" pitchFamily="18" charset="0"/>
                <a:cs typeface="Times New Roman" panose="02020603050405020304" pitchFamily="18" charset="0"/>
              </a:rPr>
              <a:t>When the price declines from $6 to $5, total expenditures decline by the area of the rectangle </a:t>
            </a:r>
            <a:r>
              <a:rPr lang="en-US" i="1" dirty="0">
                <a:latin typeface="Times New Roman" panose="02020603050405020304" pitchFamily="18" charset="0"/>
                <a:cs typeface="Times New Roman" panose="02020603050405020304" pitchFamily="18" charset="0"/>
              </a:rPr>
              <a:t>NJCM </a:t>
            </a:r>
            <a:r>
              <a:rPr lang="en-US" dirty="0">
                <a:latin typeface="Times New Roman" panose="02020603050405020304" pitchFamily="18" charset="0"/>
                <a:cs typeface="Times New Roman" panose="02020603050405020304" pitchFamily="18" charset="0"/>
              </a:rPr>
              <a:t>= -$1(20) = -$20. This is not the end of the story, however. As a result of the price decline, the quantity demanded increases by 10 units, or an offsetting increase in revenue equal to the area of the rectangle </a:t>
            </a:r>
            <a:r>
              <a:rPr lang="en-US" i="1" dirty="0">
                <a:latin typeface="Times New Roman" panose="02020603050405020304" pitchFamily="18" charset="0"/>
                <a:cs typeface="Times New Roman" panose="02020603050405020304" pitchFamily="18" charset="0"/>
              </a:rPr>
              <a:t>KMDL </a:t>
            </a:r>
            <a:r>
              <a:rPr lang="en-US" dirty="0">
                <a:latin typeface="Times New Roman" panose="02020603050405020304" pitchFamily="18" charset="0"/>
                <a:cs typeface="Times New Roman" panose="02020603050405020304" pitchFamily="18" charset="0"/>
              </a:rPr>
              <a:t>= $5(10) = $50, or a net increase in total revenue of </a:t>
            </a:r>
            <a:r>
              <a:rPr lang="en-US" i="1" dirty="0">
                <a:latin typeface="Times New Roman" panose="02020603050405020304" pitchFamily="18" charset="0"/>
                <a:cs typeface="Times New Roman" panose="02020603050405020304" pitchFamily="18" charset="0"/>
              </a:rPr>
              <a:t>KMDL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NJCM </a:t>
            </a:r>
            <a:r>
              <a:rPr lang="en-US" dirty="0">
                <a:latin typeface="Times New Roman" panose="02020603050405020304" pitchFamily="18" charset="0"/>
                <a:cs typeface="Times New Roman" panose="02020603050405020304" pitchFamily="18" charset="0"/>
              </a:rPr>
              <a:t>= $50 - $20 = $30.</a:t>
            </a:r>
          </a:p>
          <a:p>
            <a:endParaRPr lang="en-US" dirty="0"/>
          </a:p>
        </p:txBody>
      </p:sp>
    </p:spTree>
    <p:extLst>
      <p:ext uri="{BB962C8B-B14F-4D97-AF65-F5344CB8AC3E}">
        <p14:creationId xmlns:p14="http://schemas.microsoft.com/office/powerpoint/2010/main" val="20720261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542052"/>
          </a:xfrm>
        </p:spPr>
        <p:txBody>
          <a:bodyPr>
            <a:normAutofit fontScale="90000"/>
          </a:bodyPr>
          <a:lstStyle/>
          <a:p>
            <a:br>
              <a:rPr lang="en-US" dirty="0"/>
            </a:br>
            <a:r>
              <a:rPr lang="en-US" dirty="0"/>
              <a:t>Price-inelastic demand: a decrease  (increase) in price and a decrease (increase) in total</a:t>
            </a:r>
            <a:br>
              <a:rPr lang="en-US" dirty="0"/>
            </a:br>
            <a:r>
              <a:rPr lang="en-US" dirty="0"/>
              <a:t>revenue.</a:t>
            </a:r>
          </a:p>
        </p:txBody>
      </p:sp>
      <p:pic>
        <p:nvPicPr>
          <p:cNvPr id="4" name="Content Placeholder 3"/>
          <p:cNvPicPr>
            <a:picLocks noGrp="1" noChangeAspect="1"/>
          </p:cNvPicPr>
          <p:nvPr>
            <p:ph idx="1"/>
          </p:nvPr>
        </p:nvPicPr>
        <p:blipFill>
          <a:blip r:embed="rId2"/>
          <a:stretch>
            <a:fillRect/>
          </a:stretch>
        </p:blipFill>
        <p:spPr>
          <a:xfrm>
            <a:off x="934243" y="2272937"/>
            <a:ext cx="6877345" cy="4232366"/>
          </a:xfrm>
          <a:prstGeom prst="rect">
            <a:avLst/>
          </a:prstGeom>
        </p:spPr>
      </p:pic>
    </p:spTree>
    <p:extLst>
      <p:ext uri="{BB962C8B-B14F-4D97-AF65-F5344CB8AC3E}">
        <p14:creationId xmlns:p14="http://schemas.microsoft.com/office/powerpoint/2010/main" val="41128343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INELASTIC CASE</a:t>
            </a:r>
          </a:p>
        </p:txBody>
      </p:sp>
      <p:sp>
        <p:nvSpPr>
          <p:cNvPr id="3" name="Content Placeholder 2"/>
          <p:cNvSpPr>
            <a:spLocks noGrp="1"/>
          </p:cNvSpPr>
          <p:nvPr>
            <p:ph idx="1"/>
          </p:nvPr>
        </p:nvSpPr>
        <p:spPr/>
        <p:txBody>
          <a:bodyPr>
            <a:normAutofit/>
          </a:bodyPr>
          <a:lstStyle/>
          <a:p>
            <a:pPr marL="0" indent="0">
              <a:buNone/>
            </a:pPr>
            <a:r>
              <a:rPr lang="en-US" dirty="0"/>
              <a:t>Suppose, on the other hand, that the price declined in the inelastic region of the demand curve. At </a:t>
            </a:r>
            <a:r>
              <a:rPr lang="en-US" i="1" dirty="0"/>
              <a:t>P </a:t>
            </a:r>
            <a:r>
              <a:rPr lang="en-US" dirty="0"/>
              <a:t>= $3 the quantity demanded is 50 units, for total expenditures of $150. This is shown in Figure 4.11 as the area of the rectangle 0</a:t>
            </a:r>
            <a:r>
              <a:rPr lang="en-US" i="1" dirty="0"/>
              <a:t>J</a:t>
            </a:r>
            <a:r>
              <a:rPr lang="en-US" dirty="0"/>
              <a:t>￠</a:t>
            </a:r>
            <a:r>
              <a:rPr lang="en-US" i="1" dirty="0"/>
              <a:t>FK</a:t>
            </a:r>
            <a:r>
              <a:rPr lang="en-US" dirty="0"/>
              <a:t>￠.We saw in the Table above that at </a:t>
            </a:r>
            <a:r>
              <a:rPr lang="en-US" i="1" dirty="0"/>
              <a:t>P </a:t>
            </a:r>
            <a:r>
              <a:rPr lang="en-US" dirty="0"/>
              <a:t>= $3, </a:t>
            </a:r>
            <a:r>
              <a:rPr lang="en-US" i="1" dirty="0"/>
              <a:t>Q </a:t>
            </a:r>
            <a:r>
              <a:rPr lang="en-US" dirty="0"/>
              <a:t>= 50, |ep| = 0.60, and </a:t>
            </a:r>
            <a:r>
              <a:rPr lang="en-US" i="1" dirty="0"/>
              <a:t>TR </a:t>
            </a:r>
            <a:r>
              <a:rPr lang="en-US" dirty="0"/>
              <a:t>= $150.</a:t>
            </a:r>
          </a:p>
          <a:p>
            <a:pPr marL="0" indent="0">
              <a:buNone/>
            </a:pPr>
            <a:r>
              <a:rPr lang="en-US" dirty="0"/>
              <a:t>When price falls to $2, the quantity demanded increased to 60 units, |ep| = 0.33, and </a:t>
            </a:r>
            <a:r>
              <a:rPr lang="en-US" i="1" dirty="0"/>
              <a:t>TR </a:t>
            </a:r>
            <a:r>
              <a:rPr lang="en-US" dirty="0"/>
              <a:t>= $120. </a:t>
            </a:r>
          </a:p>
          <a:p>
            <a:pPr marL="0" indent="0">
              <a:buNone/>
            </a:pPr>
            <a:r>
              <a:rPr lang="en-US" dirty="0"/>
              <a:t>In other words, when the price is lowered in the inelastic region of a demand curve then total revenue falls</a:t>
            </a:r>
          </a:p>
        </p:txBody>
      </p:sp>
    </p:spTree>
    <p:extLst>
      <p:ext uri="{BB962C8B-B14F-4D97-AF65-F5344CB8AC3E}">
        <p14:creationId xmlns:p14="http://schemas.microsoft.com/office/powerpoint/2010/main" val="25291526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normAutofit/>
          </a:bodyPr>
          <a:lstStyle/>
          <a:p>
            <a:pPr marL="0" indent="0">
              <a:buNone/>
            </a:pPr>
            <a:r>
              <a:rPr lang="en-US" dirty="0"/>
              <a:t>The fact that total revenues (expenditures) fall as the price declines in the inelastic region of the demand curve can also be illustrated diagrammatically. </a:t>
            </a:r>
          </a:p>
          <a:p>
            <a:pPr marL="0" indent="0">
              <a:buNone/>
            </a:pPr>
            <a:r>
              <a:rPr lang="en-US" dirty="0"/>
              <a:t>As the price declines from $3 to $2 total revenues decline by the area of the rectangle </a:t>
            </a:r>
            <a:r>
              <a:rPr lang="en-US" i="1" dirty="0"/>
              <a:t>N</a:t>
            </a:r>
            <a:r>
              <a:rPr lang="en-US" dirty="0"/>
              <a:t>’</a:t>
            </a:r>
            <a:r>
              <a:rPr lang="en-US" i="1" dirty="0"/>
              <a:t>J</a:t>
            </a:r>
            <a:r>
              <a:rPr lang="en-US" dirty="0"/>
              <a:t>’</a:t>
            </a:r>
            <a:r>
              <a:rPr lang="en-US" i="1" dirty="0"/>
              <a:t>FM</a:t>
            </a:r>
            <a:r>
              <a:rPr lang="en-US" dirty="0"/>
              <a:t>’ = -$1(50) = -$50. </a:t>
            </a:r>
          </a:p>
          <a:p>
            <a:pPr marL="0" indent="0">
              <a:buNone/>
            </a:pPr>
            <a:r>
              <a:rPr lang="en-US" dirty="0"/>
              <a:t>As a result of this price decline, however, the quantity demanded increases by 10 units, or an offsetting increase in total revenue equal to the area of the rectangle </a:t>
            </a:r>
            <a:r>
              <a:rPr lang="en-US" i="1" dirty="0"/>
              <a:t>K</a:t>
            </a:r>
            <a:r>
              <a:rPr lang="en-US" dirty="0"/>
              <a:t>’</a:t>
            </a:r>
            <a:r>
              <a:rPr lang="en-US" i="1" dirty="0"/>
              <a:t>M</a:t>
            </a:r>
            <a:r>
              <a:rPr lang="en-US" dirty="0"/>
              <a:t>’</a:t>
            </a:r>
            <a:r>
              <a:rPr lang="en-US" i="1" dirty="0"/>
              <a:t>GL</a:t>
            </a:r>
            <a:r>
              <a:rPr lang="en-US" dirty="0"/>
              <a:t>’ = $2(10) = $20, or a net decrease in total revenue of </a:t>
            </a:r>
            <a:r>
              <a:rPr lang="en-US" i="1" dirty="0"/>
              <a:t>K</a:t>
            </a:r>
            <a:r>
              <a:rPr lang="en-US" dirty="0"/>
              <a:t>’</a:t>
            </a:r>
            <a:r>
              <a:rPr lang="en-US" i="1" dirty="0"/>
              <a:t>M</a:t>
            </a:r>
            <a:r>
              <a:rPr lang="en-US" dirty="0"/>
              <a:t>’</a:t>
            </a:r>
            <a:r>
              <a:rPr lang="en-US" i="1" dirty="0"/>
              <a:t>GL</a:t>
            </a:r>
            <a:r>
              <a:rPr lang="en-US" dirty="0"/>
              <a:t>’ – </a:t>
            </a:r>
            <a:r>
              <a:rPr lang="en-US" i="1" dirty="0"/>
              <a:t>N</a:t>
            </a:r>
            <a:r>
              <a:rPr lang="en-US" dirty="0"/>
              <a:t>’</a:t>
            </a:r>
            <a:r>
              <a:rPr lang="en-US" i="1" dirty="0"/>
              <a:t>J</a:t>
            </a:r>
            <a:r>
              <a:rPr lang="en-US" dirty="0"/>
              <a:t>’</a:t>
            </a:r>
            <a:r>
              <a:rPr lang="en-US" i="1" dirty="0"/>
              <a:t>FM</a:t>
            </a:r>
            <a:r>
              <a:rPr lang="en-US" dirty="0"/>
              <a:t>’ = $20 - $50 = -$30.</a:t>
            </a:r>
          </a:p>
        </p:txBody>
      </p:sp>
    </p:spTree>
    <p:extLst>
      <p:ext uri="{BB962C8B-B14F-4D97-AF65-F5344CB8AC3E}">
        <p14:creationId xmlns:p14="http://schemas.microsoft.com/office/powerpoint/2010/main" val="3049015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elasticity of demand and total revenue.</a:t>
            </a:r>
          </a:p>
        </p:txBody>
      </p:sp>
      <p:pic>
        <p:nvPicPr>
          <p:cNvPr id="4" name="Content Placeholder 3"/>
          <p:cNvPicPr>
            <a:picLocks noGrp="1" noChangeAspect="1"/>
          </p:cNvPicPr>
          <p:nvPr>
            <p:ph idx="1"/>
          </p:nvPr>
        </p:nvPicPr>
        <p:blipFill>
          <a:blip r:embed="rId2"/>
          <a:stretch>
            <a:fillRect/>
          </a:stretch>
        </p:blipFill>
        <p:spPr>
          <a:xfrm>
            <a:off x="1436914" y="1825624"/>
            <a:ext cx="4493623" cy="4875621"/>
          </a:xfrm>
          <a:prstGeom prst="rect">
            <a:avLst/>
          </a:prstGeom>
        </p:spPr>
      </p:pic>
    </p:spTree>
    <p:extLst>
      <p:ext uri="{BB962C8B-B14F-4D97-AF65-F5344CB8AC3E}">
        <p14:creationId xmlns:p14="http://schemas.microsoft.com/office/powerpoint/2010/main" val="5559792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EXPLAINATION</a:t>
            </a:r>
          </a:p>
        </p:txBody>
      </p:sp>
      <p:sp>
        <p:nvSpPr>
          <p:cNvPr id="3" name="Content Placeholder 2"/>
          <p:cNvSpPr>
            <a:spLocks noGrp="1"/>
          </p:cNvSpPr>
          <p:nvPr>
            <p:ph idx="1"/>
          </p:nvPr>
        </p:nvSpPr>
        <p:spPr/>
        <p:txBody>
          <a:bodyPr>
            <a:normAutofit/>
          </a:bodyPr>
          <a:lstStyle/>
          <a:p>
            <a:pPr marL="0" indent="0">
              <a:buNone/>
            </a:pPr>
            <a:r>
              <a:rPr lang="en-US" dirty="0"/>
              <a:t>As the selling price of the commodity is lowered in the elastic region of the demand curve, the quantity demanded increases and total revenue rises. </a:t>
            </a:r>
          </a:p>
          <a:p>
            <a:pPr marL="0" indent="0">
              <a:buNone/>
            </a:pPr>
            <a:r>
              <a:rPr lang="en-US" dirty="0"/>
              <a:t>As the selling price is lowered in the inelastic region of the demand curve, the quantity demanded increases, although total revenue falls. </a:t>
            </a:r>
          </a:p>
          <a:p>
            <a:pPr marL="0" indent="0">
              <a:buNone/>
            </a:pPr>
            <a:r>
              <a:rPr lang="en-US" dirty="0"/>
              <a:t>Similarly, as the selling price of the product is increased in the inelastic region of the demand curve, the quantity demanded falls and total revenue increases. </a:t>
            </a:r>
          </a:p>
          <a:p>
            <a:pPr marL="0" indent="0">
              <a:buNone/>
            </a:pPr>
            <a:r>
              <a:rPr lang="en-US" dirty="0"/>
              <a:t>As the selling price is increased in the elastic region of the demand curve, quantity demanded falls, as does total revenue.</a:t>
            </a:r>
          </a:p>
        </p:txBody>
      </p:sp>
    </p:spTree>
    <p:extLst>
      <p:ext uri="{BB962C8B-B14F-4D97-AF65-F5344CB8AC3E}">
        <p14:creationId xmlns:p14="http://schemas.microsoft.com/office/powerpoint/2010/main" val="2922840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FORMAL RELATIONSHIP BETWEEN THE PRICE ELASTICITY OF DEMAND AND TOTAL REVENUE</a:t>
            </a:r>
          </a:p>
        </p:txBody>
      </p:sp>
      <p:sp>
        <p:nvSpPr>
          <p:cNvPr id="3" name="Content Placeholder 2"/>
          <p:cNvSpPr>
            <a:spLocks noGrp="1"/>
          </p:cNvSpPr>
          <p:nvPr>
            <p:ph idx="1"/>
          </p:nvPr>
        </p:nvSpPr>
        <p:spPr/>
        <p:txBody>
          <a:bodyPr>
            <a:normAutofit lnSpcReduction="10000"/>
          </a:bodyPr>
          <a:lstStyle/>
          <a:p>
            <a:r>
              <a:rPr lang="en-US" dirty="0"/>
              <a:t>The relationship between the price elasticity of demand (ep) and total revenue (</a:t>
            </a:r>
            <a:r>
              <a:rPr lang="en-US" i="1" dirty="0"/>
              <a:t>TR</a:t>
            </a:r>
            <a:r>
              <a:rPr lang="en-US" dirty="0"/>
              <a:t>) may be demonstrated by using elementary differential calculus. </a:t>
            </a:r>
          </a:p>
          <a:p>
            <a:r>
              <a:rPr lang="en-US" dirty="0"/>
              <a:t>To begin with, consider again the general form of the demand function</a:t>
            </a:r>
          </a:p>
          <a:p>
            <a:r>
              <a:rPr lang="en-US" i="1" dirty="0"/>
              <a:t>Q </a:t>
            </a:r>
            <a:r>
              <a:rPr lang="en-US" dirty="0"/>
              <a:t>= </a:t>
            </a:r>
            <a:r>
              <a:rPr lang="en-US" i="1" dirty="0"/>
              <a:t>f </a:t>
            </a:r>
            <a:r>
              <a:rPr lang="en-US" dirty="0"/>
              <a:t>(</a:t>
            </a:r>
            <a:r>
              <a:rPr lang="en-US" i="1" dirty="0"/>
              <a:t>P</a:t>
            </a:r>
            <a:r>
              <a:rPr lang="en-US" dirty="0"/>
              <a:t>)</a:t>
            </a:r>
          </a:p>
          <a:p>
            <a:r>
              <a:rPr lang="en-US" dirty="0"/>
              <a:t>Where; </a:t>
            </a:r>
            <a:r>
              <a:rPr lang="en-US" i="1" dirty="0" err="1"/>
              <a:t>dQ</a:t>
            </a:r>
            <a:r>
              <a:rPr lang="en-US" i="1" dirty="0"/>
              <a:t>/</a:t>
            </a:r>
            <a:r>
              <a:rPr lang="en-US" i="1" dirty="0" err="1"/>
              <a:t>dP</a:t>
            </a:r>
            <a:r>
              <a:rPr lang="en-US" i="1" dirty="0"/>
              <a:t> </a:t>
            </a:r>
            <a:r>
              <a:rPr lang="en-US" dirty="0"/>
              <a:t>&lt; 0</a:t>
            </a:r>
          </a:p>
          <a:p>
            <a:pPr marL="0" indent="0">
              <a:buNone/>
            </a:pPr>
            <a:r>
              <a:rPr lang="en-US" dirty="0"/>
              <a:t>In other words, the quantity demanded of a product is negatively related to the selling </a:t>
            </a:r>
            <a:r>
              <a:rPr lang="en-US" dirty="0" err="1"/>
              <a:t>price.Total</a:t>
            </a:r>
            <a:r>
              <a:rPr lang="en-US" dirty="0"/>
              <a:t> revenue is defined as price </a:t>
            </a:r>
            <a:r>
              <a:rPr lang="en-US" i="1" dirty="0"/>
              <a:t>P </a:t>
            </a:r>
            <a:r>
              <a:rPr lang="en-US" dirty="0"/>
              <a:t>times quantity </a:t>
            </a:r>
            <a:r>
              <a:rPr lang="en-US" i="1" dirty="0"/>
              <a:t>Q</a:t>
            </a:r>
            <a:r>
              <a:rPr lang="en-US" dirty="0"/>
              <a:t>, or </a:t>
            </a:r>
            <a:r>
              <a:rPr lang="en-US" i="1" dirty="0"/>
              <a:t>TR </a:t>
            </a:r>
            <a:r>
              <a:rPr lang="en-US" dirty="0"/>
              <a:t>= </a:t>
            </a:r>
            <a:r>
              <a:rPr lang="en-US" i="1" dirty="0"/>
              <a:t>PQ</a:t>
            </a:r>
            <a:endParaRPr lang="en-US" dirty="0"/>
          </a:p>
        </p:txBody>
      </p:sp>
    </p:spTree>
    <p:extLst>
      <p:ext uri="{BB962C8B-B14F-4D97-AF65-F5344CB8AC3E}">
        <p14:creationId xmlns:p14="http://schemas.microsoft.com/office/powerpoint/2010/main" val="2101385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Differentiating </a:t>
            </a:r>
            <a:r>
              <a:rPr lang="en-US" i="1" dirty="0"/>
              <a:t>TR </a:t>
            </a:r>
            <a:r>
              <a:rPr lang="en-US" dirty="0"/>
              <a:t>with respect to </a:t>
            </a:r>
            <a:r>
              <a:rPr lang="en-US" i="1" dirty="0"/>
              <a:t>Q</a:t>
            </a:r>
            <a:r>
              <a:rPr lang="en-US" dirty="0"/>
              <a:t>, and utilizing the inverse-function rule it is possible to write the inverse of the demand function</a:t>
            </a:r>
          </a:p>
          <a:p>
            <a:r>
              <a:rPr lang="en-US" i="1" dirty="0"/>
              <a:t>P </a:t>
            </a:r>
            <a:r>
              <a:rPr lang="en-US" dirty="0"/>
              <a:t>= </a:t>
            </a:r>
            <a:r>
              <a:rPr lang="en-US" i="1" dirty="0"/>
              <a:t>g</a:t>
            </a:r>
            <a:r>
              <a:rPr lang="en-US" dirty="0"/>
              <a:t>(</a:t>
            </a:r>
            <a:r>
              <a:rPr lang="en-US" i="1" dirty="0"/>
              <a:t>Q</a:t>
            </a:r>
            <a:r>
              <a:rPr lang="en-US" dirty="0"/>
              <a:t>). Where </a:t>
            </a:r>
            <a:r>
              <a:rPr lang="en-US" i="1" dirty="0" err="1"/>
              <a:t>dP</a:t>
            </a:r>
            <a:r>
              <a:rPr lang="en-US" dirty="0"/>
              <a:t>/</a:t>
            </a:r>
            <a:r>
              <a:rPr lang="en-US" i="1" dirty="0" err="1"/>
              <a:t>dQ</a:t>
            </a:r>
            <a:r>
              <a:rPr lang="en-US" i="1" dirty="0"/>
              <a:t> </a:t>
            </a:r>
            <a:r>
              <a:rPr lang="en-US" dirty="0"/>
              <a:t>&lt; 0. We use the product rule to find the appropriate first-order condition for total revenue maximization:</a:t>
            </a:r>
          </a:p>
        </p:txBody>
      </p:sp>
    </p:spTree>
    <p:extLst>
      <p:ext uri="{BB962C8B-B14F-4D97-AF65-F5344CB8AC3E}">
        <p14:creationId xmlns:p14="http://schemas.microsoft.com/office/powerpoint/2010/main" val="5961777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Equations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60" y="1825625"/>
            <a:ext cx="9235440" cy="4771118"/>
          </a:xfrm>
        </p:spPr>
      </p:pic>
    </p:spTree>
    <p:extLst>
      <p:ext uri="{BB962C8B-B14F-4D97-AF65-F5344CB8AC3E}">
        <p14:creationId xmlns:p14="http://schemas.microsoft.com/office/powerpoint/2010/main" val="31297868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lstStyle/>
          <a:p>
            <a:r>
              <a:rPr lang="en-US" dirty="0"/>
              <a:t>EXAMPLES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71154"/>
            <a:ext cx="9690463" cy="5564777"/>
          </a:xfrm>
        </p:spPr>
      </p:pic>
    </p:spTree>
    <p:extLst>
      <p:ext uri="{BB962C8B-B14F-4D97-AF65-F5344CB8AC3E}">
        <p14:creationId xmlns:p14="http://schemas.microsoft.com/office/powerpoint/2010/main" val="38339983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9166" y="1825625"/>
            <a:ext cx="9091747" cy="4836432"/>
          </a:xfrm>
        </p:spPr>
      </p:pic>
    </p:spTree>
    <p:extLst>
      <p:ext uri="{BB962C8B-B14F-4D97-AF65-F5344CB8AC3E}">
        <p14:creationId xmlns:p14="http://schemas.microsoft.com/office/powerpoint/2010/main" val="26979545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589" y="1825625"/>
            <a:ext cx="10123714" cy="4797244"/>
          </a:xfrm>
        </p:spPr>
      </p:pic>
    </p:spTree>
    <p:extLst>
      <p:ext uri="{BB962C8B-B14F-4D97-AF65-F5344CB8AC3E}">
        <p14:creationId xmlns:p14="http://schemas.microsoft.com/office/powerpoint/2010/main" val="21851285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319350"/>
            <a:ext cx="9512421" cy="5199015"/>
          </a:xfrm>
        </p:spPr>
      </p:pic>
    </p:spTree>
    <p:extLst>
      <p:ext uri="{BB962C8B-B14F-4D97-AF65-F5344CB8AC3E}">
        <p14:creationId xmlns:p14="http://schemas.microsoft.com/office/powerpoint/2010/main" val="24584400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9538"/>
          </a:xfrm>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097" y="1384664"/>
            <a:ext cx="9170126" cy="5225142"/>
          </a:xfrm>
        </p:spPr>
      </p:pic>
    </p:spTree>
    <p:extLst>
      <p:ext uri="{BB962C8B-B14F-4D97-AF65-F5344CB8AC3E}">
        <p14:creationId xmlns:p14="http://schemas.microsoft.com/office/powerpoint/2010/main" val="15284911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5658" y="1476104"/>
            <a:ext cx="8692290" cy="5199016"/>
          </a:xfrm>
        </p:spPr>
      </p:pic>
    </p:spTree>
    <p:extLst>
      <p:ext uri="{BB962C8B-B14F-4D97-AF65-F5344CB8AC3E}">
        <p14:creationId xmlns:p14="http://schemas.microsoft.com/office/powerpoint/2010/main" val="24729153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9531" y="1825624"/>
            <a:ext cx="9320007" cy="4758055"/>
          </a:xfrm>
        </p:spPr>
      </p:pic>
    </p:spTree>
    <p:extLst>
      <p:ext uri="{BB962C8B-B14F-4D97-AF65-F5344CB8AC3E}">
        <p14:creationId xmlns:p14="http://schemas.microsoft.com/office/powerpoint/2010/main" val="12910501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5030" y="1293224"/>
            <a:ext cx="9078684" cy="5290456"/>
          </a:xfrm>
        </p:spPr>
      </p:pic>
    </p:spTree>
    <p:extLst>
      <p:ext uri="{BB962C8B-B14F-4D97-AF65-F5344CB8AC3E}">
        <p14:creationId xmlns:p14="http://schemas.microsoft.com/office/powerpoint/2010/main" val="15948547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914" y="1690688"/>
            <a:ext cx="9288171" cy="4775426"/>
          </a:xfrm>
        </p:spPr>
      </p:pic>
    </p:spTree>
    <p:extLst>
      <p:ext uri="{BB962C8B-B14F-4D97-AF65-F5344CB8AC3E}">
        <p14:creationId xmlns:p14="http://schemas.microsoft.com/office/powerpoint/2010/main" val="8328867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2594" y="1838688"/>
            <a:ext cx="9144000" cy="4653552"/>
          </a:xfrm>
        </p:spPr>
      </p:pic>
    </p:spTree>
    <p:extLst>
      <p:ext uri="{BB962C8B-B14F-4D97-AF65-F5344CB8AC3E}">
        <p14:creationId xmlns:p14="http://schemas.microsoft.com/office/powerpoint/2010/main" val="20850558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4.6 SUMMARY SOLUTION FOR Q4.12</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3303" y="1825625"/>
            <a:ext cx="8030553" cy="4351338"/>
          </a:xfrm>
        </p:spPr>
      </p:pic>
    </p:spTree>
    <p:extLst>
      <p:ext uri="{BB962C8B-B14F-4D97-AF65-F5344CB8AC3E}">
        <p14:creationId xmlns:p14="http://schemas.microsoft.com/office/powerpoint/2010/main" val="2391857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941</TotalTime>
  <Words>7209</Words>
  <Application>Microsoft Office PowerPoint</Application>
  <PresentationFormat>Widescreen</PresentationFormat>
  <Paragraphs>434</Paragraphs>
  <Slides>111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111</vt:i4>
      </vt:variant>
    </vt:vector>
  </HeadingPairs>
  <TitlesOfParts>
    <vt:vector size="119" baseType="lpstr">
      <vt:lpstr>Arial</vt:lpstr>
      <vt:lpstr>Calibri</vt:lpstr>
      <vt:lpstr>Calibri Light</vt:lpstr>
      <vt:lpstr>Symbol</vt:lpstr>
      <vt:lpstr>Times New Roman</vt:lpstr>
      <vt:lpstr>TimesTen-Roman</vt:lpstr>
      <vt:lpstr>Wingdings</vt:lpstr>
      <vt:lpstr>Office Theme</vt:lpstr>
      <vt:lpstr>SA420-NATURAL RESOURCE ECONOMICS</vt:lpstr>
      <vt:lpstr>TOPIC 1: BASIC PRINCIPLES OF MICRO ECONOMICS</vt:lpstr>
      <vt:lpstr>  GRAPHIC AND MATHEMATICAL REPRESENTATION OF DEMAND AND SUPPLY </vt:lpstr>
      <vt:lpstr>KINDS OF DEMAND  </vt:lpstr>
      <vt:lpstr>LAW OF DEMAND – ALFRED MARSHALL  </vt:lpstr>
      <vt:lpstr>ASSUMPTIONS OF THE LAW OF DEMAND  </vt:lpstr>
      <vt:lpstr>DEMAND CURVE </vt:lpstr>
      <vt:lpstr>MARKET DEMAND SCHEDULE  </vt:lpstr>
      <vt:lpstr>DERIVATION OF MARKET DEMAND CURVE</vt:lpstr>
      <vt:lpstr> REASONS BEHIND DOWNWARD SLOPE OF THE DEMAND CURVE  </vt:lpstr>
      <vt:lpstr>CONT…</vt:lpstr>
      <vt:lpstr>EXCEPTIONS TO THE LAW OF DEMAND  </vt:lpstr>
      <vt:lpstr>CONT…</vt:lpstr>
      <vt:lpstr> MOVEMENT IN DEMAND CURVE OR EXPANSION AND CONTRACTION OF DEMAND  </vt:lpstr>
      <vt:lpstr> MOVEMENT IN DEMAND CURVE OR EXPANSION AND CONTRACTION OF DEMAND  </vt:lpstr>
      <vt:lpstr> MOVEMENT IN DEMAND CURVE OR EXPANSION AND CONTRACTION OF DEMAND  </vt:lpstr>
      <vt:lpstr>SHIFTS IN DEMAND OR INCREASE AND DECREASE IN DEMAND</vt:lpstr>
      <vt:lpstr>II. Decrease in Demand: </vt:lpstr>
      <vt:lpstr>SHIFTTS IN DEMMAND OR IINCREASEE AND DECREASE IIN DEMANND </vt:lpstr>
      <vt:lpstr>LAW OF SUPPLY  </vt:lpstr>
      <vt:lpstr>SUPPLY SCHEDULE</vt:lpstr>
      <vt:lpstr>SUPPLY CURVE</vt:lpstr>
      <vt:lpstr>DETERMINANTS OF SUPPLY  </vt:lpstr>
      <vt:lpstr>Movement along the Supply Curve</vt:lpstr>
      <vt:lpstr>SUPPLY CURVE</vt:lpstr>
      <vt:lpstr>  Shifts in the Supply Curve   </vt:lpstr>
      <vt:lpstr>SHIFTS IN SUPPLY CURVE</vt:lpstr>
      <vt:lpstr> Increase in Supply  </vt:lpstr>
      <vt:lpstr> Decrease in Supply  </vt:lpstr>
      <vt:lpstr>Consumer surplus &amp; Producer surplus </vt:lpstr>
      <vt:lpstr>Equilibrium Demand and Supply, Consumer Surplus and Producer surplus</vt:lpstr>
      <vt:lpstr>EQUILIBRIUM CURVE</vt:lpstr>
      <vt:lpstr>Market Supply Schedule</vt:lpstr>
      <vt:lpstr> SURPLUS AND SHORTAGE </vt:lpstr>
      <vt:lpstr>SURPLUS</vt:lpstr>
      <vt:lpstr>Price Floor and Ceiling</vt:lpstr>
      <vt:lpstr>Price Ceiling &amp; Price Floor</vt:lpstr>
      <vt:lpstr>At Market Equilibrium</vt:lpstr>
      <vt:lpstr>Price Floor</vt:lpstr>
      <vt:lpstr>MINIMUM PRICE OR PRICE FLOOR</vt:lpstr>
      <vt:lpstr>MINIMUM PRICE OR PRICE FLOOR-SHORTAGE </vt:lpstr>
      <vt:lpstr>MAXIMUM PRICE OR PRICE CEILING</vt:lpstr>
      <vt:lpstr>KEY TAKE AWAYS on Equilibrium</vt:lpstr>
      <vt:lpstr>Cont…</vt:lpstr>
      <vt:lpstr>Cont…</vt:lpstr>
      <vt:lpstr>MARKET FORCES IN A WHEAT MARKET</vt:lpstr>
      <vt:lpstr>DEMAND CURVE DERIVED</vt:lpstr>
      <vt:lpstr>GRAPH EXPLAINED</vt:lpstr>
      <vt:lpstr>SURPLUS IN THE GRAPH EXPLAINED</vt:lpstr>
      <vt:lpstr>SHORTAGE IN THE GRAPH EXPLAINED </vt:lpstr>
      <vt:lpstr>Mathematical models (optional)</vt:lpstr>
      <vt:lpstr>CALCULATIONS</vt:lpstr>
      <vt:lpstr>EQUILIBRIUM CALCULATION</vt:lpstr>
      <vt:lpstr>EQUILIBRIUM CALCULATION</vt:lpstr>
      <vt:lpstr>EXPLAINATION</vt:lpstr>
      <vt:lpstr>Cont…</vt:lpstr>
      <vt:lpstr>Cont… </vt:lpstr>
      <vt:lpstr>Shortage calculation</vt:lpstr>
      <vt:lpstr>GRAPHICALLY</vt:lpstr>
      <vt:lpstr>Direct provision of merit and public goods</vt:lpstr>
      <vt:lpstr>TAXATION ON PRODUCTS</vt:lpstr>
      <vt:lpstr>TAXATION ON PRODUCTS</vt:lpstr>
      <vt:lpstr>SUBSIDIES</vt:lpstr>
      <vt:lpstr>SUBSIDIES</vt:lpstr>
      <vt:lpstr>LEGISLATION AND REGULATION</vt:lpstr>
      <vt:lpstr>DRAWBACKS TO GOVERNMENT INTERVENTION IN AN ECONOMY</vt:lpstr>
      <vt:lpstr>DRAWBACKS TO GOVERNMENT INTERVENTION IN AN ECONOMY</vt:lpstr>
      <vt:lpstr>  DEFINITION OF ELASTICITY OF DEMAND: ALFRED MARSHAALL   </vt:lpstr>
      <vt:lpstr> FACTORS DETERMINING THE PRICE ELASTICITY OF DEMAND </vt:lpstr>
      <vt:lpstr>TYPES OF ELASTICITY OF DEMAND  </vt:lpstr>
      <vt:lpstr>PRICE ELASTICITY OF DEMAND</vt:lpstr>
      <vt:lpstr> DIFFERENT TYPES OF PRICE ELASTICITY OF DEMAND  </vt:lpstr>
      <vt:lpstr>Shape of Demand curve: Vertical  </vt:lpstr>
      <vt:lpstr>2. RELATIVELY INELASTIC DEMAND (EP&lt; 1 )  </vt:lpstr>
      <vt:lpstr>3. UNITARY ELASTIC DEMAND ( EP = 1)  </vt:lpstr>
      <vt:lpstr> 4. RELATIVELY ELASTIC DEMAND (EP&gt; 1)  </vt:lpstr>
      <vt:lpstr>5. PERFECTLY ELASTIC DEMAND (EP = ∞)  </vt:lpstr>
      <vt:lpstr>METHODS OF CALCULATING PRICE ELASTICITY OF DEMAND</vt:lpstr>
      <vt:lpstr>The Point Method or Geometrical or graphical method</vt:lpstr>
      <vt:lpstr>3. The Arc Method:  </vt:lpstr>
      <vt:lpstr>CONT.…</vt:lpstr>
      <vt:lpstr>The Total Outlay Method:  </vt:lpstr>
      <vt:lpstr>EXAMPLES</vt:lpstr>
      <vt:lpstr>CONT….</vt:lpstr>
      <vt:lpstr>EXAMPLE ON CROSS ELASTICITY</vt:lpstr>
      <vt:lpstr>Application Of Elasticity Of Demand The Paradox of Poverty Amidst Plenty</vt:lpstr>
      <vt:lpstr>Application Of Elasticity Of Demand The Paradox of Poverty Amidst Plenty</vt:lpstr>
      <vt:lpstr>EXAMPLES </vt:lpstr>
      <vt:lpstr>TABLE OF SOLUTION</vt:lpstr>
      <vt:lpstr>GRAPHICAL REPRESENTATION</vt:lpstr>
      <vt:lpstr>EXPLAINATION</vt:lpstr>
      <vt:lpstr>CONT…</vt:lpstr>
      <vt:lpstr> Price-inelastic demand: a decrease  (increase) in price and a decrease (increase) in total revenue.</vt:lpstr>
      <vt:lpstr>INELASTIC CASE</vt:lpstr>
      <vt:lpstr>CONT…</vt:lpstr>
      <vt:lpstr>Price elasticity of demand and total revenue.</vt:lpstr>
      <vt:lpstr>EXPLAINATION</vt:lpstr>
      <vt:lpstr>FORMAL RELATIONSHIP BETWEEN THE PRICE ELASTICITY OF DEMAND AND TOTAL REVENUE</vt:lpstr>
      <vt:lpstr>PowerPoint Presentation</vt:lpstr>
      <vt:lpstr>Equations</vt:lpstr>
      <vt:lpstr>EXAMPLES</vt:lpstr>
      <vt:lpstr>SOLUTIONS</vt:lpstr>
      <vt:lpstr>CONT…</vt:lpstr>
      <vt:lpstr>CONT…</vt:lpstr>
      <vt:lpstr>CONT…</vt:lpstr>
      <vt:lpstr>CONT…</vt:lpstr>
      <vt:lpstr>CONT…</vt:lpstr>
      <vt:lpstr>CONT…</vt:lpstr>
      <vt:lpstr>CONT…</vt:lpstr>
      <vt:lpstr>CONT…</vt:lpstr>
      <vt:lpstr>TABLE 4.6 SUMMARY SOLUTION FOR Q4.12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MAPENZI MUMWENSI</cp:lastModifiedBy>
  <cp:revision>122</cp:revision>
  <dcterms:created xsi:type="dcterms:W3CDTF">2026-02-05T06:33:27Z</dcterms:created>
  <dcterms:modified xsi:type="dcterms:W3CDTF">2026-03-12T15:28:44Z</dcterms:modified>
</cp:coreProperties>
</file>