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5"/>
  </p:notesMasterIdLst>
  <p:sldIdLst>
    <p:sldId id="256" r:id="rId2"/>
    <p:sldId id="257" r:id="rId3"/>
    <p:sldId id="258" r:id="rId4"/>
    <p:sldId id="259" r:id="rId5"/>
    <p:sldId id="261" r:id="rId6"/>
    <p:sldId id="275"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6" r:id="rId40"/>
    <p:sldId id="295"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3" r:id="rId66"/>
    <p:sldId id="326" r:id="rId67"/>
    <p:sldId id="321" r:id="rId68"/>
    <p:sldId id="324" r:id="rId69"/>
    <p:sldId id="327" r:id="rId70"/>
    <p:sldId id="325" r:id="rId71"/>
    <p:sldId id="329" r:id="rId72"/>
    <p:sldId id="322" r:id="rId73"/>
    <p:sldId id="330" r:id="rId74"/>
    <p:sldId id="328" r:id="rId75"/>
    <p:sldId id="331" r:id="rId76"/>
    <p:sldId id="332" r:id="rId77"/>
    <p:sldId id="333" r:id="rId78"/>
    <p:sldId id="334" r:id="rId79"/>
    <p:sldId id="336" r:id="rId80"/>
    <p:sldId id="337" r:id="rId81"/>
    <p:sldId id="338" r:id="rId82"/>
    <p:sldId id="342" r:id="rId83"/>
    <p:sldId id="335" r:id="rId84"/>
    <p:sldId id="343" r:id="rId85"/>
    <p:sldId id="344" r:id="rId86"/>
    <p:sldId id="345" r:id="rId87"/>
    <p:sldId id="340" r:id="rId88"/>
    <p:sldId id="339" r:id="rId89"/>
    <p:sldId id="346" r:id="rId90"/>
    <p:sldId id="347" r:id="rId91"/>
    <p:sldId id="348" r:id="rId92"/>
    <p:sldId id="349" r:id="rId93"/>
    <p:sldId id="350" r:id="rId9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6" d="100"/>
          <a:sy n="86" d="100"/>
        </p:scale>
        <p:origin x="96"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F92820-BA57-4519-BE56-53D355009DB8}" type="datetimeFigureOut">
              <a:rPr lang="en-GB" smtClean="0"/>
              <a:t>06/08/2024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4D48AC-CDED-4442-84E6-26EDBC2CA67F}" type="slidenum">
              <a:rPr lang="en-GB" smtClean="0"/>
              <a:t>‹#›</a:t>
            </a:fld>
            <a:endParaRPr lang="en-GB"/>
          </a:p>
        </p:txBody>
      </p:sp>
    </p:spTree>
    <p:extLst>
      <p:ext uri="{BB962C8B-B14F-4D97-AF65-F5344CB8AC3E}">
        <p14:creationId xmlns:p14="http://schemas.microsoft.com/office/powerpoint/2010/main" val="40633886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504D48AC-CDED-4442-84E6-26EDBC2CA67F}" type="slidenum">
              <a:rPr lang="en-GB" smtClean="0"/>
              <a:t>29</a:t>
            </a:fld>
            <a:endParaRPr lang="en-GB"/>
          </a:p>
        </p:txBody>
      </p:sp>
    </p:spTree>
    <p:extLst>
      <p:ext uri="{BB962C8B-B14F-4D97-AF65-F5344CB8AC3E}">
        <p14:creationId xmlns:p14="http://schemas.microsoft.com/office/powerpoint/2010/main" val="19673042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3A90EA23-A46E-4760-97A8-4622C6931423}" type="datetime2">
              <a:rPr lang="en-GB" smtClean="0"/>
              <a:t>Tuesday, 06 August 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3A33D0-93B2-4FC1-8AEF-33D8B60114DF}" type="slidenum">
              <a:rPr lang="en-GB" smtClean="0"/>
              <a:t>‹#›</a:t>
            </a:fld>
            <a:endParaRPr lang="en-GB"/>
          </a:p>
        </p:txBody>
      </p:sp>
    </p:spTree>
    <p:extLst>
      <p:ext uri="{BB962C8B-B14F-4D97-AF65-F5344CB8AC3E}">
        <p14:creationId xmlns:p14="http://schemas.microsoft.com/office/powerpoint/2010/main" val="13281712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3A33D0-93B2-4FC1-8AEF-33D8B60114DF}" type="slidenum">
              <a:rPr lang="en-GB" smtClean="0"/>
              <a:t>‹#›</a:t>
            </a:fld>
            <a:endParaRPr lang="en-GB"/>
          </a:p>
        </p:txBody>
      </p:sp>
    </p:spTree>
    <p:extLst>
      <p:ext uri="{BB962C8B-B14F-4D97-AF65-F5344CB8AC3E}">
        <p14:creationId xmlns:p14="http://schemas.microsoft.com/office/powerpoint/2010/main" val="2106618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C1D959D-E253-4D27-9393-81B03E76DFFD}" type="datetime2">
              <a:rPr lang="en-GB" smtClean="0"/>
              <a:t>Tuesday, 06 August 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3A33D0-93B2-4FC1-8AEF-33D8B60114DF}" type="slidenum">
              <a:rPr lang="en-GB" smtClean="0"/>
              <a:t>‹#›</a:t>
            </a:fld>
            <a:endParaRPr lang="en-GB"/>
          </a:p>
        </p:txBody>
      </p:sp>
    </p:spTree>
    <p:extLst>
      <p:ext uri="{BB962C8B-B14F-4D97-AF65-F5344CB8AC3E}">
        <p14:creationId xmlns:p14="http://schemas.microsoft.com/office/powerpoint/2010/main" val="28302654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A4CE9AF4-4590-40C1-994F-98945749D7F3}" type="datetime2">
              <a:rPr lang="en-GB" smtClean="0"/>
              <a:t>Tuesday, 06 August 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D3A33D0-93B2-4FC1-8AEF-33D8B60114DF}" type="slidenum">
              <a:rPr lang="en-GB" smtClean="0"/>
              <a:t>‹#›</a:t>
            </a:fld>
            <a:endParaRPr lang="en-GB"/>
          </a:p>
        </p:txBody>
      </p:sp>
    </p:spTree>
    <p:extLst>
      <p:ext uri="{BB962C8B-B14F-4D97-AF65-F5344CB8AC3E}">
        <p14:creationId xmlns:p14="http://schemas.microsoft.com/office/powerpoint/2010/main" val="19947040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6EA083D0-A693-4B35-A1A8-D8214D335876}" type="datetime2">
              <a:rPr lang="en-GB" smtClean="0"/>
              <a:t>Tuesday, 06 August 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8D3A33D0-93B2-4FC1-8AEF-33D8B60114DF}" type="slidenum">
              <a:rPr lang="en-GB" smtClean="0"/>
              <a:t>‹#›</a:t>
            </a:fld>
            <a:endParaRPr lang="en-GB"/>
          </a:p>
        </p:txBody>
      </p:sp>
    </p:spTree>
    <p:extLst>
      <p:ext uri="{BB962C8B-B14F-4D97-AF65-F5344CB8AC3E}">
        <p14:creationId xmlns:p14="http://schemas.microsoft.com/office/powerpoint/2010/main" val="21704315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B01E5FEF-FC73-463D-A0D1-B35AC041954C}" type="datetime2">
              <a:rPr lang="en-GB" smtClean="0"/>
              <a:t>Tuesday, 06 August 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a:t>
            </a:fld>
            <a:endParaRPr lang="en-GB"/>
          </a:p>
        </p:txBody>
      </p:sp>
    </p:spTree>
    <p:extLst>
      <p:ext uri="{BB962C8B-B14F-4D97-AF65-F5344CB8AC3E}">
        <p14:creationId xmlns:p14="http://schemas.microsoft.com/office/powerpoint/2010/main" val="29932361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12D1AEC-00B9-4C4F-AE35-F00439D4EF08}" type="datetime2">
              <a:rPr lang="en-GB" smtClean="0"/>
              <a:t>Tuesday, 06 August 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8D3A33D0-93B2-4FC1-8AEF-33D8B60114DF}" type="slidenum">
              <a:rPr lang="en-GB" smtClean="0"/>
              <a:t>‹#›</a:t>
            </a:fld>
            <a:endParaRPr lang="en-GB"/>
          </a:p>
        </p:txBody>
      </p:sp>
    </p:spTree>
    <p:extLst>
      <p:ext uri="{BB962C8B-B14F-4D97-AF65-F5344CB8AC3E}">
        <p14:creationId xmlns:p14="http://schemas.microsoft.com/office/powerpoint/2010/main" val="9607784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B02901E-1E29-4892-B151-E3364997B725}" type="datetime2">
              <a:rPr lang="en-GB" smtClean="0"/>
              <a:t>Tuesday, 06 August 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D3A33D0-93B2-4FC1-8AEF-33D8B60114DF}" type="slidenum">
              <a:rPr lang="en-GB" smtClean="0"/>
              <a:t>‹#›</a:t>
            </a:fld>
            <a:endParaRPr lang="en-GB"/>
          </a:p>
        </p:txBody>
      </p:sp>
    </p:spTree>
    <p:extLst>
      <p:ext uri="{BB962C8B-B14F-4D97-AF65-F5344CB8AC3E}">
        <p14:creationId xmlns:p14="http://schemas.microsoft.com/office/powerpoint/2010/main" val="29629768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82734C0-7A86-4277-80B6-F356A6BD8DF2}" type="datetime2">
              <a:rPr lang="en-GB" smtClean="0"/>
              <a:t>Tuesday, 06 August 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D3A33D0-93B2-4FC1-8AEF-33D8B60114DF}" type="slidenum">
              <a:rPr lang="en-GB" smtClean="0"/>
              <a:t>‹#›</a:t>
            </a:fld>
            <a:endParaRPr lang="en-GB"/>
          </a:p>
        </p:txBody>
      </p:sp>
    </p:spTree>
    <p:extLst>
      <p:ext uri="{BB962C8B-B14F-4D97-AF65-F5344CB8AC3E}">
        <p14:creationId xmlns:p14="http://schemas.microsoft.com/office/powerpoint/2010/main" val="29894327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D2D5D98F-71C1-4944-9846-DEA592139460}" type="datetime2">
              <a:rPr lang="en-GB" smtClean="0"/>
              <a:t>Tuesday, 06 August 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3A33D0-93B2-4FC1-8AEF-33D8B60114DF}" type="slidenum">
              <a:rPr lang="en-GB" smtClean="0"/>
              <a:t>‹#›</a:t>
            </a:fld>
            <a:endParaRPr lang="en-GB"/>
          </a:p>
        </p:txBody>
      </p:sp>
    </p:spTree>
    <p:extLst>
      <p:ext uri="{BB962C8B-B14F-4D97-AF65-F5344CB8AC3E}">
        <p14:creationId xmlns:p14="http://schemas.microsoft.com/office/powerpoint/2010/main" val="40001068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A649D658-31BD-4543-B863-6ECA342A92CD}" type="datetime2">
              <a:rPr lang="en-GB" smtClean="0"/>
              <a:t>Tuesday, 06 August 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3A33D0-93B2-4FC1-8AEF-33D8B60114DF}" type="slidenum">
              <a:rPr lang="en-GB" smtClean="0"/>
              <a:t>‹#›</a:t>
            </a:fld>
            <a:endParaRPr lang="en-GB"/>
          </a:p>
        </p:txBody>
      </p:sp>
    </p:spTree>
    <p:extLst>
      <p:ext uri="{BB962C8B-B14F-4D97-AF65-F5344CB8AC3E}">
        <p14:creationId xmlns:p14="http://schemas.microsoft.com/office/powerpoint/2010/main" val="19399165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3AF1CB-0E38-4D27-BD47-CE4F1A2F2677}" type="datetime2">
              <a:rPr lang="en-GB" smtClean="0"/>
              <a:t>Tuesday, 06 August 2024</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3A33D0-93B2-4FC1-8AEF-33D8B60114DF}" type="slidenum">
              <a:rPr lang="en-GB" smtClean="0"/>
              <a:t>‹#›</a:t>
            </a:fld>
            <a:endParaRPr lang="en-GB"/>
          </a:p>
        </p:txBody>
      </p:sp>
    </p:spTree>
    <p:extLst>
      <p:ext uri="{BB962C8B-B14F-4D97-AF65-F5344CB8AC3E}">
        <p14:creationId xmlns:p14="http://schemas.microsoft.com/office/powerpoint/2010/main" val="4070417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b="1" dirty="0" smtClean="0"/>
              <a:t>Sustainable </a:t>
            </a:r>
            <a:r>
              <a:rPr lang="en-US" b="1" dirty="0"/>
              <a:t>Organic </a:t>
            </a:r>
            <a:r>
              <a:rPr lang="en-US" b="1" dirty="0" smtClean="0"/>
              <a:t>Agriculture</a:t>
            </a:r>
            <a:br>
              <a:rPr lang="en-US" b="1" dirty="0" smtClean="0"/>
            </a:br>
            <a:r>
              <a:rPr lang="en-US" b="1" dirty="0" smtClean="0"/>
              <a:t>(SOA)</a:t>
            </a:r>
            <a:endParaRPr lang="en-GB" b="1" dirty="0"/>
          </a:p>
        </p:txBody>
      </p:sp>
      <p:sp>
        <p:nvSpPr>
          <p:cNvPr id="3" name="Subtitle 2"/>
          <p:cNvSpPr>
            <a:spLocks noGrp="1"/>
          </p:cNvSpPr>
          <p:nvPr>
            <p:ph type="subTitle" idx="1"/>
          </p:nvPr>
        </p:nvSpPr>
        <p:spPr/>
        <p:txBody>
          <a:bodyPr/>
          <a:lstStyle/>
          <a:p>
            <a:endParaRPr lang="en-GB"/>
          </a:p>
        </p:txBody>
      </p:sp>
      <p:sp>
        <p:nvSpPr>
          <p:cNvPr id="4" name="Date Placeholder 3"/>
          <p:cNvSpPr>
            <a:spLocks noGrp="1"/>
          </p:cNvSpPr>
          <p:nvPr>
            <p:ph type="dt" sz="half" idx="10"/>
          </p:nvPr>
        </p:nvSpPr>
        <p:spPr/>
        <p:txBody>
          <a:bodyPr/>
          <a:lstStyle/>
          <a:p>
            <a:fld id="{FF775459-09E6-4E36-95A6-64938801DA3F}"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1</a:t>
            </a:fld>
            <a:endParaRPr lang="en-GB"/>
          </a:p>
        </p:txBody>
      </p:sp>
    </p:spTree>
    <p:extLst>
      <p:ext uri="{BB962C8B-B14F-4D97-AF65-F5344CB8AC3E}">
        <p14:creationId xmlns:p14="http://schemas.microsoft.com/office/powerpoint/2010/main" val="211274339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Sustainable Organic Agriculture</a:t>
            </a:r>
            <a:endParaRPr lang="en-GB" dirty="0"/>
          </a:p>
        </p:txBody>
      </p:sp>
      <p:sp>
        <p:nvSpPr>
          <p:cNvPr id="3" name="Content Placeholder 2"/>
          <p:cNvSpPr>
            <a:spLocks noGrp="1"/>
          </p:cNvSpPr>
          <p:nvPr>
            <p:ph idx="1"/>
          </p:nvPr>
        </p:nvSpPr>
        <p:spPr/>
        <p:txBody>
          <a:bodyPr>
            <a:normAutofit fontScale="92500" lnSpcReduction="20000"/>
          </a:bodyPr>
          <a:lstStyle/>
          <a:p>
            <a:pPr algn="just"/>
            <a:r>
              <a:rPr lang="en-US" i="1" dirty="0"/>
              <a:t>Sustainable Organic Agriculture (SOA) is a farming system which is </a:t>
            </a:r>
            <a:r>
              <a:rPr lang="en-US" b="1" i="1" dirty="0"/>
              <a:t>environmentally friendly</a:t>
            </a:r>
            <a:r>
              <a:rPr lang="en-US" i="1" dirty="0"/>
              <a:t>, </a:t>
            </a:r>
            <a:r>
              <a:rPr lang="en-US" b="1" i="1" dirty="0"/>
              <a:t>economically viable </a:t>
            </a:r>
            <a:r>
              <a:rPr lang="en-US" i="1" dirty="0"/>
              <a:t>and </a:t>
            </a:r>
            <a:r>
              <a:rPr lang="en-US" b="1" i="1" dirty="0"/>
              <a:t>socially just</a:t>
            </a:r>
            <a:r>
              <a:rPr lang="en-US" i="1" dirty="0"/>
              <a:t>.</a:t>
            </a:r>
            <a:endParaRPr lang="en-GB" sz="2400" dirty="0"/>
          </a:p>
          <a:p>
            <a:pPr algn="just"/>
            <a:r>
              <a:rPr lang="en-US" i="1" dirty="0"/>
              <a:t> </a:t>
            </a:r>
            <a:r>
              <a:rPr lang="en-US" i="1" dirty="0" smtClean="0"/>
              <a:t>Environmentally friendly</a:t>
            </a:r>
            <a:endParaRPr lang="en-GB" sz="2000" dirty="0"/>
          </a:p>
          <a:p>
            <a:pPr algn="just"/>
            <a:r>
              <a:rPr lang="en-US" dirty="0"/>
              <a:t>The quality of natural resources is maintained. The resources are used in a way that minimizes losses of diversity, nutrients, biomass and energy and avoids pollution. It also means that the health of the entire ecosystem is enhanced and sustained.</a:t>
            </a:r>
            <a:endParaRPr lang="en-GB" dirty="0"/>
          </a:p>
          <a:p>
            <a:pPr algn="just"/>
            <a:r>
              <a:rPr lang="en-US" dirty="0"/>
              <a:t> </a:t>
            </a:r>
            <a:r>
              <a:rPr lang="en-US" i="1" dirty="0" smtClean="0"/>
              <a:t>Economically </a:t>
            </a:r>
            <a:r>
              <a:rPr lang="en-US" i="1" dirty="0"/>
              <a:t>viable</a:t>
            </a:r>
            <a:endParaRPr lang="en-GB" sz="1600" dirty="0"/>
          </a:p>
          <a:p>
            <a:pPr algn="just"/>
            <a:r>
              <a:rPr lang="en-US" dirty="0"/>
              <a:t/>
            </a:r>
            <a:br>
              <a:rPr lang="en-US" dirty="0"/>
            </a:br>
            <a:r>
              <a:rPr lang="en-US" dirty="0"/>
              <a:t>Farmers can produce enough for own consumption and a surplus for sale to gain sufficient cash to cover the cost of production and have enough money to cover their needs.</a:t>
            </a:r>
            <a:endParaRPr lang="en-GB" dirty="0"/>
          </a:p>
          <a:p>
            <a:endParaRPr lang="en-GB" dirty="0"/>
          </a:p>
        </p:txBody>
      </p:sp>
      <p:sp>
        <p:nvSpPr>
          <p:cNvPr id="4" name="Date Placeholder 3"/>
          <p:cNvSpPr>
            <a:spLocks noGrp="1"/>
          </p:cNvSpPr>
          <p:nvPr>
            <p:ph type="dt" sz="half" idx="10"/>
          </p:nvPr>
        </p:nvSpPr>
        <p:spPr/>
        <p:txBody>
          <a:bodyPr/>
          <a:lstStyle/>
          <a:p>
            <a:fld id="{3B63A156-4BBE-491F-B5F4-4F5DC9BC0AA1}"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2</a:t>
            </a:fld>
            <a:endParaRPr lang="en-GB"/>
          </a:p>
        </p:txBody>
      </p:sp>
    </p:spTree>
    <p:extLst>
      <p:ext uri="{BB962C8B-B14F-4D97-AF65-F5344CB8AC3E}">
        <p14:creationId xmlns:p14="http://schemas.microsoft.com/office/powerpoint/2010/main" val="287673708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pPr marL="1371600" lvl="3" indent="0">
              <a:buNone/>
            </a:pPr>
            <a:r>
              <a:rPr lang="en-US" sz="2800" i="1" dirty="0"/>
              <a:t>Socially </a:t>
            </a:r>
            <a:r>
              <a:rPr lang="en-US" sz="2800" i="1" dirty="0" smtClean="0"/>
              <a:t>just</a:t>
            </a:r>
            <a:endParaRPr lang="en-GB" sz="2800" dirty="0"/>
          </a:p>
          <a:p>
            <a:r>
              <a:rPr lang="en-US" dirty="0"/>
              <a:t>This means that SOA is an equitable system for all people including future generations. </a:t>
            </a:r>
            <a:endParaRPr lang="en-US" dirty="0" smtClean="0"/>
          </a:p>
          <a:p>
            <a:r>
              <a:rPr lang="en-US" dirty="0" smtClean="0"/>
              <a:t>In </a:t>
            </a:r>
            <a:r>
              <a:rPr lang="en-US" dirty="0"/>
              <a:t>SOA a farmer is urged to think of how his/her farming system is affecting those around him/her</a:t>
            </a:r>
            <a:r>
              <a:rPr lang="en-US" dirty="0" smtClean="0"/>
              <a:t>;</a:t>
            </a:r>
          </a:p>
          <a:p>
            <a:r>
              <a:rPr lang="en-US" dirty="0" smtClean="0"/>
              <a:t> </a:t>
            </a:r>
            <a:r>
              <a:rPr lang="en-US" dirty="0"/>
              <a:t>those involved in the production process; those to use the land/natural resources after him/her and how the produce would affect the consumers.</a:t>
            </a:r>
            <a:endParaRPr lang="en-GB" dirty="0"/>
          </a:p>
          <a:p>
            <a:endParaRPr lang="en-GB" dirty="0"/>
          </a:p>
        </p:txBody>
      </p:sp>
      <p:sp>
        <p:nvSpPr>
          <p:cNvPr id="4" name="Date Placeholder 3"/>
          <p:cNvSpPr>
            <a:spLocks noGrp="1"/>
          </p:cNvSpPr>
          <p:nvPr>
            <p:ph type="dt" sz="half" idx="10"/>
          </p:nvPr>
        </p:nvSpPr>
        <p:spPr/>
        <p:txBody>
          <a:bodyPr/>
          <a:lstStyle/>
          <a:p>
            <a:fld id="{02FF8898-A709-45AD-89B9-3080779D4CA3}"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3</a:t>
            </a:fld>
            <a:endParaRPr lang="en-GB"/>
          </a:p>
        </p:txBody>
      </p:sp>
    </p:spTree>
    <p:extLst>
      <p:ext uri="{BB962C8B-B14F-4D97-AF65-F5344CB8AC3E}">
        <p14:creationId xmlns:p14="http://schemas.microsoft.com/office/powerpoint/2010/main" val="335031106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r>
              <a:rPr lang="en-US" b="1" dirty="0"/>
              <a:t>Sustainable organic agriculture is therefore an agricultural production and livelihood system which:</a:t>
            </a:r>
            <a:endParaRPr lang="en-GB" b="1" dirty="0"/>
          </a:p>
          <a:p>
            <a:pPr lvl="0"/>
            <a:r>
              <a:rPr lang="en-US" dirty="0"/>
              <a:t>Contributes to the preservation, rehabilitation and maintenance of ecological balance and the environment</a:t>
            </a:r>
            <a:endParaRPr lang="en-GB" dirty="0"/>
          </a:p>
          <a:p>
            <a:pPr lvl="0"/>
            <a:r>
              <a:rPr lang="en-US" dirty="0"/>
              <a:t>Assures just economic returns</a:t>
            </a:r>
            <a:endParaRPr lang="en-GB" dirty="0"/>
          </a:p>
          <a:p>
            <a:pPr lvl="0"/>
            <a:r>
              <a:rPr lang="en-US" dirty="0"/>
              <a:t>Promotes a better quality of life for the farmers, consumers and future generations.</a:t>
            </a:r>
            <a:endParaRPr lang="en-GB" dirty="0"/>
          </a:p>
          <a:p>
            <a:pPr lvl="0"/>
            <a:r>
              <a:rPr lang="en-US" dirty="0"/>
              <a:t>Fosters the development of local institutions</a:t>
            </a:r>
            <a:endParaRPr lang="en-GB" dirty="0"/>
          </a:p>
          <a:p>
            <a:endParaRPr lang="en-GB" dirty="0"/>
          </a:p>
        </p:txBody>
      </p:sp>
      <p:sp>
        <p:nvSpPr>
          <p:cNvPr id="4" name="Date Placeholder 3"/>
          <p:cNvSpPr>
            <a:spLocks noGrp="1"/>
          </p:cNvSpPr>
          <p:nvPr>
            <p:ph type="dt" sz="half" idx="10"/>
          </p:nvPr>
        </p:nvSpPr>
        <p:spPr/>
        <p:txBody>
          <a:bodyPr/>
          <a:lstStyle/>
          <a:p>
            <a:fld id="{8D095047-3CE9-4005-89EF-BA7B86D68EDD}"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4</a:t>
            </a:fld>
            <a:endParaRPr lang="en-GB"/>
          </a:p>
        </p:txBody>
      </p:sp>
    </p:spTree>
    <p:extLst>
      <p:ext uri="{BB962C8B-B14F-4D97-AF65-F5344CB8AC3E}">
        <p14:creationId xmlns:p14="http://schemas.microsoft.com/office/powerpoint/2010/main" val="317983229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lgn="ctr" rtl="0">
              <a:lnSpc>
                <a:spcPct val="90000"/>
              </a:lnSpc>
              <a:spcBef>
                <a:spcPct val="0"/>
              </a:spcBef>
            </a:pPr>
            <a:r>
              <a:rPr lang="en-US" sz="2800" b="1" dirty="0"/>
              <a:t>Why </a:t>
            </a:r>
            <a:r>
              <a:rPr lang="en-US" sz="2800" b="1" dirty="0" smtClean="0"/>
              <a:t>Sustainable Organic Agriculture?</a:t>
            </a:r>
            <a:r>
              <a:rPr lang="en-GB" b="1" dirty="0"/>
              <a:t/>
            </a:r>
            <a:br>
              <a:rPr lang="en-GB" b="1" dirty="0"/>
            </a:br>
            <a:endParaRPr lang="en-GB" dirty="0"/>
          </a:p>
        </p:txBody>
      </p:sp>
      <p:sp>
        <p:nvSpPr>
          <p:cNvPr id="3" name="Content Placeholder 2"/>
          <p:cNvSpPr>
            <a:spLocks noGrp="1"/>
          </p:cNvSpPr>
          <p:nvPr>
            <p:ph idx="1"/>
          </p:nvPr>
        </p:nvSpPr>
        <p:spPr/>
        <p:txBody>
          <a:bodyPr>
            <a:normAutofit/>
          </a:bodyPr>
          <a:lstStyle/>
          <a:p>
            <a:pPr lvl="2"/>
            <a:r>
              <a:rPr lang="en-US" sz="2800" dirty="0"/>
              <a:t>Land </a:t>
            </a:r>
            <a:r>
              <a:rPr lang="en-US" sz="2800" dirty="0" smtClean="0"/>
              <a:t>degradation</a:t>
            </a:r>
            <a:endParaRPr lang="en-GB" sz="2800" dirty="0" smtClean="0"/>
          </a:p>
          <a:p>
            <a:pPr lvl="2"/>
            <a:r>
              <a:rPr lang="en-US" sz="2800" dirty="0"/>
              <a:t>Population </a:t>
            </a:r>
            <a:r>
              <a:rPr lang="en-US" sz="2800" dirty="0" smtClean="0"/>
              <a:t>growth</a:t>
            </a:r>
          </a:p>
          <a:p>
            <a:pPr lvl="2"/>
            <a:r>
              <a:rPr lang="en-US" sz="2800" dirty="0"/>
              <a:t>High cost of external inputs </a:t>
            </a:r>
            <a:r>
              <a:rPr lang="en-US" sz="2800" dirty="0" smtClean="0"/>
              <a:t>against </a:t>
            </a:r>
            <a:r>
              <a:rPr lang="en-US" sz="2800" dirty="0"/>
              <a:t>the high rural poverty </a:t>
            </a:r>
            <a:r>
              <a:rPr lang="en-US" sz="2800" dirty="0" smtClean="0"/>
              <a:t>levels</a:t>
            </a:r>
          </a:p>
          <a:p>
            <a:pPr lvl="2"/>
            <a:r>
              <a:rPr lang="en-US" sz="2800" dirty="0"/>
              <a:t>Imbalances in the ecosystem</a:t>
            </a:r>
            <a:endParaRPr lang="en-GB" sz="2800" dirty="0"/>
          </a:p>
          <a:p>
            <a:pPr lvl="2"/>
            <a:r>
              <a:rPr lang="en-US" sz="2800" dirty="0"/>
              <a:t>Poor nutrition at household and national level</a:t>
            </a:r>
            <a:endParaRPr lang="en-GB" sz="2800" dirty="0"/>
          </a:p>
          <a:p>
            <a:pPr lvl="2"/>
            <a:r>
              <a:rPr lang="en-US" sz="2800" dirty="0"/>
              <a:t>Climate change</a:t>
            </a:r>
            <a:endParaRPr lang="en-GB" sz="2800" dirty="0"/>
          </a:p>
          <a:p>
            <a:pPr lvl="2"/>
            <a:r>
              <a:rPr lang="en-US" sz="2800" dirty="0"/>
              <a:t>Stability of production/High yield with low year to year </a:t>
            </a:r>
            <a:r>
              <a:rPr lang="en-US" sz="2800" dirty="0" smtClean="0"/>
              <a:t>variability</a:t>
            </a:r>
          </a:p>
          <a:p>
            <a:pPr lvl="2"/>
            <a:r>
              <a:rPr lang="en-US" sz="2800" dirty="0"/>
              <a:t>Toxic effect of chemicals</a:t>
            </a:r>
            <a:endParaRPr lang="en-GB" sz="2800" dirty="0"/>
          </a:p>
          <a:p>
            <a:pPr lvl="2"/>
            <a:endParaRPr lang="en-GB" sz="2800" dirty="0"/>
          </a:p>
          <a:p>
            <a:pPr lvl="2"/>
            <a:endParaRPr lang="en-GB" b="1" dirty="0"/>
          </a:p>
          <a:p>
            <a:pPr lvl="2"/>
            <a:endParaRPr lang="en-GB" b="1" dirty="0"/>
          </a:p>
          <a:p>
            <a:pPr lvl="2"/>
            <a:endParaRPr lang="en-GB" dirty="0"/>
          </a:p>
          <a:p>
            <a:pPr marL="0" indent="0">
              <a:buNone/>
            </a:pPr>
            <a:endParaRPr lang="en-GB" dirty="0"/>
          </a:p>
          <a:p>
            <a:endParaRPr lang="en-GB" dirty="0"/>
          </a:p>
        </p:txBody>
      </p:sp>
      <p:sp>
        <p:nvSpPr>
          <p:cNvPr id="4" name="Date Placeholder 3"/>
          <p:cNvSpPr>
            <a:spLocks noGrp="1"/>
          </p:cNvSpPr>
          <p:nvPr>
            <p:ph type="dt" sz="half" idx="10"/>
          </p:nvPr>
        </p:nvSpPr>
        <p:spPr/>
        <p:txBody>
          <a:bodyPr/>
          <a:lstStyle/>
          <a:p>
            <a:fld id="{5C7929E0-416A-433F-9315-50193EED9888}"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5</a:t>
            </a:fld>
            <a:endParaRPr lang="en-GB"/>
          </a:p>
        </p:txBody>
      </p:sp>
    </p:spTree>
    <p:extLst>
      <p:ext uri="{BB962C8B-B14F-4D97-AF65-F5344CB8AC3E}">
        <p14:creationId xmlns:p14="http://schemas.microsoft.com/office/powerpoint/2010/main" val="63602364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lgn="ctr" rtl="0">
              <a:lnSpc>
                <a:spcPct val="90000"/>
              </a:lnSpc>
              <a:spcBef>
                <a:spcPct val="0"/>
              </a:spcBef>
            </a:pPr>
            <a:r>
              <a:rPr lang="en-US" sz="2800" b="1" dirty="0"/>
              <a:t>Why </a:t>
            </a:r>
            <a:r>
              <a:rPr lang="en-US" sz="2800" b="1" dirty="0" smtClean="0"/>
              <a:t>Sustainable Organic Agriculture?</a:t>
            </a:r>
            <a:r>
              <a:rPr lang="en-GB" b="1" dirty="0"/>
              <a:t/>
            </a:r>
            <a:br>
              <a:rPr lang="en-GB" b="1" dirty="0"/>
            </a:br>
            <a:endParaRPr lang="en-GB" dirty="0"/>
          </a:p>
        </p:txBody>
      </p:sp>
      <p:sp>
        <p:nvSpPr>
          <p:cNvPr id="3" name="Content Placeholder 2"/>
          <p:cNvSpPr>
            <a:spLocks noGrp="1"/>
          </p:cNvSpPr>
          <p:nvPr>
            <p:ph idx="1"/>
          </p:nvPr>
        </p:nvSpPr>
        <p:spPr/>
        <p:txBody>
          <a:bodyPr>
            <a:normAutofit/>
          </a:bodyPr>
          <a:lstStyle/>
          <a:p>
            <a:pPr lvl="2"/>
            <a:r>
              <a:rPr lang="en-US" sz="2800" b="1" dirty="0"/>
              <a:t>Land degradation</a:t>
            </a:r>
            <a:endParaRPr lang="en-GB" sz="2800" b="1" dirty="0"/>
          </a:p>
          <a:p>
            <a:pPr algn="just"/>
            <a:r>
              <a:rPr lang="en-US" dirty="0" smtClean="0"/>
              <a:t>The </a:t>
            </a:r>
            <a:r>
              <a:rPr lang="en-US" dirty="0"/>
              <a:t>Zambian trends are not different from these global trends</a:t>
            </a:r>
            <a:r>
              <a:rPr lang="en-US" baseline="30000" dirty="0"/>
              <a:t>3</a:t>
            </a:r>
            <a:r>
              <a:rPr lang="en-US" dirty="0"/>
              <a:t> and unless we change to more sustainable farming systems, the ability to meet the food and nutritional demand of an ever-increasing population is seriously at risk. </a:t>
            </a:r>
            <a:endParaRPr lang="en-US" dirty="0" smtClean="0"/>
          </a:p>
          <a:p>
            <a:pPr algn="just"/>
            <a:r>
              <a:rPr lang="en-US" dirty="0" smtClean="0"/>
              <a:t>SOA </a:t>
            </a:r>
            <a:r>
              <a:rPr lang="en-US" dirty="0"/>
              <a:t>aims at addressing the issue of land degradation by emphasizing that we work with nature and not against it in all aspects of our farming systems.</a:t>
            </a:r>
            <a:endParaRPr lang="en-GB" dirty="0"/>
          </a:p>
          <a:p>
            <a:pPr marL="0" indent="0">
              <a:buNone/>
            </a:pPr>
            <a:endParaRPr lang="en-GB" dirty="0"/>
          </a:p>
          <a:p>
            <a:endParaRPr lang="en-GB" dirty="0"/>
          </a:p>
        </p:txBody>
      </p:sp>
      <p:sp>
        <p:nvSpPr>
          <p:cNvPr id="4" name="Date Placeholder 3"/>
          <p:cNvSpPr>
            <a:spLocks noGrp="1"/>
          </p:cNvSpPr>
          <p:nvPr>
            <p:ph type="dt" sz="half" idx="10"/>
          </p:nvPr>
        </p:nvSpPr>
        <p:spPr/>
        <p:txBody>
          <a:bodyPr/>
          <a:lstStyle/>
          <a:p>
            <a:fld id="{A2D21E65-9833-4C93-A753-8ACFCA90621C}"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6</a:t>
            </a:fld>
            <a:endParaRPr lang="en-GB"/>
          </a:p>
        </p:txBody>
      </p:sp>
    </p:spTree>
    <p:extLst>
      <p:ext uri="{BB962C8B-B14F-4D97-AF65-F5344CB8AC3E}">
        <p14:creationId xmlns:p14="http://schemas.microsoft.com/office/powerpoint/2010/main" val="46362377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2" algn="ctr"/>
            <a:r>
              <a:rPr lang="en-US" sz="3200" b="1" dirty="0"/>
              <a:t>Population </a:t>
            </a:r>
            <a:r>
              <a:rPr lang="en-US" sz="3200" b="1" dirty="0" smtClean="0"/>
              <a:t>Growth</a:t>
            </a:r>
            <a:endParaRPr lang="en-GB" sz="3200" b="1" dirty="0"/>
          </a:p>
        </p:txBody>
      </p:sp>
      <p:sp>
        <p:nvSpPr>
          <p:cNvPr id="3" name="Content Placeholder 2"/>
          <p:cNvSpPr>
            <a:spLocks noGrp="1"/>
          </p:cNvSpPr>
          <p:nvPr>
            <p:ph idx="1"/>
          </p:nvPr>
        </p:nvSpPr>
        <p:spPr/>
        <p:txBody>
          <a:bodyPr>
            <a:normAutofit/>
          </a:bodyPr>
          <a:lstStyle/>
          <a:p>
            <a:pPr algn="just"/>
            <a:r>
              <a:rPr lang="en-US" dirty="0"/>
              <a:t>In Zambia, the population has more than quadrupled in the last 49 years from 4.1 million in 1969 to </a:t>
            </a:r>
            <a:r>
              <a:rPr lang="en-US" dirty="0" smtClean="0"/>
              <a:t>about</a:t>
            </a:r>
            <a:r>
              <a:rPr lang="en-GB" dirty="0" smtClean="0"/>
              <a:t> </a:t>
            </a:r>
            <a:r>
              <a:rPr lang="en-US" dirty="0" smtClean="0"/>
              <a:t>million </a:t>
            </a:r>
            <a:r>
              <a:rPr lang="en-US" dirty="0"/>
              <a:t>in 2018. </a:t>
            </a:r>
            <a:endParaRPr lang="en-US" dirty="0" smtClean="0"/>
          </a:p>
          <a:p>
            <a:pPr algn="just"/>
            <a:r>
              <a:rPr lang="en-US" dirty="0" smtClean="0"/>
              <a:t>This </a:t>
            </a:r>
            <a:r>
              <a:rPr lang="en-US" dirty="0"/>
              <a:t>rapid population growth is, unfortunately somewhat inversely proportional to the natural resource base necessary for the provision of food and fiber. </a:t>
            </a:r>
            <a:endParaRPr lang="en-US" dirty="0" smtClean="0"/>
          </a:p>
          <a:p>
            <a:pPr algn="just"/>
            <a:r>
              <a:rPr lang="en-US" dirty="0" smtClean="0"/>
              <a:t>Whereas </a:t>
            </a:r>
            <a:r>
              <a:rPr lang="en-US" dirty="0"/>
              <a:t>the number of people to feed </a:t>
            </a:r>
            <a:r>
              <a:rPr lang="en-US" dirty="0" smtClean="0"/>
              <a:t>is</a:t>
            </a:r>
            <a:r>
              <a:rPr lang="en-GB" sz="2000" dirty="0" smtClean="0"/>
              <a:t> </a:t>
            </a:r>
            <a:r>
              <a:rPr lang="en-US" dirty="0" smtClean="0"/>
              <a:t>rapidly </a:t>
            </a:r>
            <a:r>
              <a:rPr lang="en-US" dirty="0"/>
              <a:t>increasing every year, the natural resource base on which the growing population relies is actually reducing largely due to degradation as explained </a:t>
            </a:r>
            <a:r>
              <a:rPr lang="en-US" dirty="0" smtClean="0"/>
              <a:t>above.</a:t>
            </a:r>
          </a:p>
          <a:p>
            <a:pPr marL="0" indent="0">
              <a:buNone/>
            </a:pPr>
            <a:endParaRPr lang="en-GB" dirty="0"/>
          </a:p>
          <a:p>
            <a:endParaRPr lang="en-GB" dirty="0"/>
          </a:p>
        </p:txBody>
      </p:sp>
      <p:sp>
        <p:nvSpPr>
          <p:cNvPr id="4" name="Date Placeholder 3"/>
          <p:cNvSpPr>
            <a:spLocks noGrp="1"/>
          </p:cNvSpPr>
          <p:nvPr>
            <p:ph type="dt" sz="half" idx="10"/>
          </p:nvPr>
        </p:nvSpPr>
        <p:spPr/>
        <p:txBody>
          <a:bodyPr/>
          <a:lstStyle/>
          <a:p>
            <a:fld id="{D81B130D-743D-48CF-97B8-4BB1800E9046}"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7</a:t>
            </a:fld>
            <a:endParaRPr lang="en-GB"/>
          </a:p>
        </p:txBody>
      </p:sp>
    </p:spTree>
    <p:extLst>
      <p:ext uri="{BB962C8B-B14F-4D97-AF65-F5344CB8AC3E}">
        <p14:creationId xmlns:p14="http://schemas.microsoft.com/office/powerpoint/2010/main" val="393160443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2" algn="ctr"/>
            <a:r>
              <a:rPr lang="en-US" sz="3200" b="1" dirty="0"/>
              <a:t>Population </a:t>
            </a:r>
            <a:r>
              <a:rPr lang="en-US" sz="3200" b="1" dirty="0" smtClean="0"/>
              <a:t>Growth</a:t>
            </a:r>
            <a:endParaRPr lang="en-GB" sz="3200" b="1" dirty="0"/>
          </a:p>
        </p:txBody>
      </p:sp>
      <p:sp>
        <p:nvSpPr>
          <p:cNvPr id="3" name="Content Placeholder 2"/>
          <p:cNvSpPr>
            <a:spLocks noGrp="1"/>
          </p:cNvSpPr>
          <p:nvPr>
            <p:ph idx="1"/>
          </p:nvPr>
        </p:nvSpPr>
        <p:spPr/>
        <p:txBody>
          <a:bodyPr>
            <a:normAutofit/>
          </a:bodyPr>
          <a:lstStyle/>
          <a:p>
            <a:pPr algn="just"/>
            <a:r>
              <a:rPr lang="en-US" dirty="0" smtClean="0"/>
              <a:t>It </a:t>
            </a:r>
            <a:r>
              <a:rPr lang="en-US" dirty="0"/>
              <a:t>is also becoming very evident that the growing population will definitely not be sustainably fed through </a:t>
            </a:r>
            <a:r>
              <a:rPr lang="en-US" dirty="0" err="1"/>
              <a:t>extensification</a:t>
            </a:r>
            <a:r>
              <a:rPr lang="en-US" dirty="0"/>
              <a:t> of farming lands, but rather through agricultural intensification i.e. increasing productivity per unit land </a:t>
            </a:r>
            <a:r>
              <a:rPr lang="en-US" dirty="0" smtClean="0"/>
              <a:t>area.</a:t>
            </a:r>
          </a:p>
          <a:p>
            <a:pPr algn="just"/>
            <a:r>
              <a:rPr lang="en-US" dirty="0" smtClean="0"/>
              <a:t>Therefore </a:t>
            </a:r>
            <a:r>
              <a:rPr lang="en-US" dirty="0"/>
              <a:t>there is need for farming systems that would ensure that productivity per unit land area is increased and </a:t>
            </a:r>
            <a:r>
              <a:rPr lang="en-US" dirty="0" smtClean="0"/>
              <a:t>maintained.</a:t>
            </a:r>
          </a:p>
          <a:p>
            <a:pPr algn="just"/>
            <a:r>
              <a:rPr lang="en-US" dirty="0" smtClean="0"/>
              <a:t>SOA </a:t>
            </a:r>
            <a:r>
              <a:rPr lang="en-US" dirty="0"/>
              <a:t>is one such system that focuses more on the sustainable improvement and conservation of soil health, which in turn ensures high and stable production on limited land.</a:t>
            </a:r>
            <a:endParaRPr lang="en-GB" dirty="0"/>
          </a:p>
          <a:p>
            <a:r>
              <a:rPr lang="en-US" dirty="0"/>
              <a:t> </a:t>
            </a:r>
            <a:endParaRPr lang="en-GB" dirty="0"/>
          </a:p>
          <a:p>
            <a:endParaRPr lang="en-GB" dirty="0"/>
          </a:p>
        </p:txBody>
      </p:sp>
      <p:sp>
        <p:nvSpPr>
          <p:cNvPr id="4" name="Date Placeholder 3"/>
          <p:cNvSpPr>
            <a:spLocks noGrp="1"/>
          </p:cNvSpPr>
          <p:nvPr>
            <p:ph type="dt" sz="half" idx="10"/>
          </p:nvPr>
        </p:nvSpPr>
        <p:spPr/>
        <p:txBody>
          <a:bodyPr/>
          <a:lstStyle/>
          <a:p>
            <a:fld id="{7BF01A59-CCC3-41D7-B48F-5F5CA7C23486}"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8</a:t>
            </a:fld>
            <a:endParaRPr lang="en-GB"/>
          </a:p>
        </p:txBody>
      </p:sp>
    </p:spTree>
    <p:extLst>
      <p:ext uri="{BB962C8B-B14F-4D97-AF65-F5344CB8AC3E}">
        <p14:creationId xmlns:p14="http://schemas.microsoft.com/office/powerpoint/2010/main" val="282115691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2" algn="ctr"/>
            <a:r>
              <a:rPr lang="en-US" sz="3200" b="1" dirty="0"/>
              <a:t>High cost of external inputs </a:t>
            </a:r>
            <a:r>
              <a:rPr lang="en-US" sz="3200" b="1" dirty="0" smtClean="0"/>
              <a:t>against </a:t>
            </a:r>
            <a:r>
              <a:rPr lang="en-US" sz="3200" b="1" dirty="0"/>
              <a:t>the high rural poverty levels</a:t>
            </a:r>
            <a:endParaRPr lang="en-GB" sz="3200" b="1" dirty="0"/>
          </a:p>
        </p:txBody>
      </p:sp>
      <p:sp>
        <p:nvSpPr>
          <p:cNvPr id="3" name="Content Placeholder 2"/>
          <p:cNvSpPr>
            <a:spLocks noGrp="1"/>
          </p:cNvSpPr>
          <p:nvPr>
            <p:ph idx="1"/>
          </p:nvPr>
        </p:nvSpPr>
        <p:spPr/>
        <p:txBody>
          <a:bodyPr>
            <a:normAutofit/>
          </a:bodyPr>
          <a:lstStyle/>
          <a:p>
            <a:pPr algn="just"/>
            <a:r>
              <a:rPr lang="en-US" dirty="0"/>
              <a:t>With 78% of our rural population living below US$ 1.25/day (approx. ZMK 12.50/day</a:t>
            </a:r>
            <a:r>
              <a:rPr lang="en-US" dirty="0" smtClean="0"/>
              <a:t>), </a:t>
            </a:r>
            <a:r>
              <a:rPr lang="en-US" dirty="0"/>
              <a:t>it is very difficult to visualize how such households can afford to purchase external synthetic inputs such as chemical fertilizers, herbicides and pesticides</a:t>
            </a:r>
            <a:r>
              <a:rPr lang="en-US" dirty="0" smtClean="0"/>
              <a:t>.</a:t>
            </a:r>
          </a:p>
          <a:p>
            <a:pPr algn="just"/>
            <a:r>
              <a:rPr lang="en-US" dirty="0" smtClean="0"/>
              <a:t> </a:t>
            </a:r>
            <a:r>
              <a:rPr lang="en-US" dirty="0"/>
              <a:t>The market prices of a 50 kg bag of D-compound and urea in 2018 was ZMK 375/bag and ZMK 350/bag, respectively</a:t>
            </a:r>
            <a:r>
              <a:rPr lang="en-US" dirty="0" smtClean="0"/>
              <a:t>.</a:t>
            </a:r>
          </a:p>
          <a:p>
            <a:pPr algn="just"/>
            <a:r>
              <a:rPr lang="en-US" dirty="0" smtClean="0"/>
              <a:t> </a:t>
            </a:r>
            <a:r>
              <a:rPr lang="en-US" dirty="0"/>
              <a:t>Living on ZMK 12.50/day translates to roughly ZMK 375 per month, which is exactly the price of one 50kg bag of D-compound. </a:t>
            </a:r>
            <a:endParaRPr lang="en-US" dirty="0" smtClean="0"/>
          </a:p>
          <a:p>
            <a:pPr algn="just"/>
            <a:r>
              <a:rPr lang="en-US" dirty="0" smtClean="0"/>
              <a:t>The </a:t>
            </a:r>
            <a:r>
              <a:rPr lang="en-US" dirty="0"/>
              <a:t>blanket fertilizer recommendation for Zambia necessitates the use of 200 kg D-compound and 200 kg urea per hectare. </a:t>
            </a:r>
            <a:endParaRPr lang="en-US" dirty="0" smtClean="0"/>
          </a:p>
          <a:p>
            <a:endParaRPr lang="en-GB" dirty="0"/>
          </a:p>
        </p:txBody>
      </p:sp>
      <p:sp>
        <p:nvSpPr>
          <p:cNvPr id="4" name="Date Placeholder 3"/>
          <p:cNvSpPr>
            <a:spLocks noGrp="1"/>
          </p:cNvSpPr>
          <p:nvPr>
            <p:ph type="dt" sz="half" idx="10"/>
          </p:nvPr>
        </p:nvSpPr>
        <p:spPr/>
        <p:txBody>
          <a:bodyPr/>
          <a:lstStyle/>
          <a:p>
            <a:fld id="{C78EBBEE-0A80-4988-B157-9E175798B7A2}"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9</a:t>
            </a:fld>
            <a:endParaRPr lang="en-GB"/>
          </a:p>
        </p:txBody>
      </p:sp>
    </p:spTree>
    <p:extLst>
      <p:ext uri="{BB962C8B-B14F-4D97-AF65-F5344CB8AC3E}">
        <p14:creationId xmlns:p14="http://schemas.microsoft.com/office/powerpoint/2010/main" val="249922705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2" algn="ctr"/>
            <a:r>
              <a:rPr lang="en-US" sz="3200" b="1" dirty="0"/>
              <a:t>High cost of external inputs </a:t>
            </a:r>
            <a:r>
              <a:rPr lang="en-US" sz="3200" b="1" dirty="0" smtClean="0"/>
              <a:t>against </a:t>
            </a:r>
            <a:r>
              <a:rPr lang="en-US" sz="3200" b="1" dirty="0"/>
              <a:t>the high rural poverty levels</a:t>
            </a:r>
            <a:endParaRPr lang="en-GB" sz="3200" b="1" dirty="0"/>
          </a:p>
        </p:txBody>
      </p:sp>
      <p:sp>
        <p:nvSpPr>
          <p:cNvPr id="3" name="Content Placeholder 2"/>
          <p:cNvSpPr>
            <a:spLocks noGrp="1"/>
          </p:cNvSpPr>
          <p:nvPr>
            <p:ph idx="1"/>
          </p:nvPr>
        </p:nvSpPr>
        <p:spPr/>
        <p:txBody>
          <a:bodyPr>
            <a:normAutofit fontScale="92500" lnSpcReduction="10000"/>
          </a:bodyPr>
          <a:lstStyle/>
          <a:p>
            <a:pPr algn="just"/>
            <a:r>
              <a:rPr lang="en-US" dirty="0" smtClean="0"/>
              <a:t>Based on the 2018 fertilizer prices, the combined total cost of the fertilizer requirement for a one hectare of maize is ZMK 2,900 which is clearly far beyond the monthly income of ZMK 375 that is characteristic of 78% of rural households.</a:t>
            </a:r>
          </a:p>
          <a:p>
            <a:pPr algn="just"/>
            <a:r>
              <a:rPr lang="en-US" dirty="0" smtClean="0"/>
              <a:t> It is therefore imperative that affordable and sustainable alternative systems of production are designed and promoted if the majority of the rural households are to produce enough to feed themselves and have a surplus to sell and generate the much needed income. </a:t>
            </a:r>
          </a:p>
          <a:p>
            <a:pPr algn="just"/>
            <a:r>
              <a:rPr lang="en-US" dirty="0" smtClean="0"/>
              <a:t>SOA emphasizes the use of on-farm nutrient recycling and the use of own seed as opposed to reliance on expensive external inputs, thus making it possible for even the poorest households to get reasonable yields at very low cost of production. </a:t>
            </a:r>
            <a:endParaRPr lang="en-GB" dirty="0" smtClean="0"/>
          </a:p>
          <a:p>
            <a:endParaRPr lang="en-GB" dirty="0"/>
          </a:p>
        </p:txBody>
      </p:sp>
      <p:sp>
        <p:nvSpPr>
          <p:cNvPr id="4" name="Date Placeholder 3"/>
          <p:cNvSpPr>
            <a:spLocks noGrp="1"/>
          </p:cNvSpPr>
          <p:nvPr>
            <p:ph type="dt" sz="half" idx="10"/>
          </p:nvPr>
        </p:nvSpPr>
        <p:spPr/>
        <p:txBody>
          <a:bodyPr/>
          <a:lstStyle/>
          <a:p>
            <a:fld id="{FDA149C2-D843-4BDC-BADA-E43F0247DF44}"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10</a:t>
            </a:fld>
            <a:endParaRPr lang="en-GB"/>
          </a:p>
        </p:txBody>
      </p:sp>
    </p:spTree>
    <p:extLst>
      <p:ext uri="{BB962C8B-B14F-4D97-AF65-F5344CB8AC3E}">
        <p14:creationId xmlns:p14="http://schemas.microsoft.com/office/powerpoint/2010/main" val="365985993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ctr" rtl="0">
              <a:lnSpc>
                <a:spcPct val="90000"/>
              </a:lnSpc>
              <a:spcBef>
                <a:spcPct val="0"/>
              </a:spcBef>
            </a:pPr>
            <a:r>
              <a:rPr lang="en-US" sz="3200" b="1" dirty="0"/>
              <a:t>Imbalances in the ecosystem</a:t>
            </a:r>
            <a:r>
              <a:rPr lang="en-GB" b="1" dirty="0"/>
              <a:t/>
            </a:r>
            <a:br>
              <a:rPr lang="en-GB" b="1" dirty="0"/>
            </a:br>
            <a:endParaRPr lang="en-GB" dirty="0"/>
          </a:p>
        </p:txBody>
      </p:sp>
      <p:sp>
        <p:nvSpPr>
          <p:cNvPr id="3" name="Content Placeholder 2"/>
          <p:cNvSpPr>
            <a:spLocks noGrp="1"/>
          </p:cNvSpPr>
          <p:nvPr>
            <p:ph idx="1"/>
          </p:nvPr>
        </p:nvSpPr>
        <p:spPr/>
        <p:txBody>
          <a:bodyPr>
            <a:normAutofit/>
          </a:bodyPr>
          <a:lstStyle/>
          <a:p>
            <a:pPr algn="just"/>
            <a:r>
              <a:rPr lang="en-US" dirty="0"/>
              <a:t>The practice of industrial agriculture characterized by </a:t>
            </a:r>
            <a:r>
              <a:rPr lang="en-US" dirty="0" err="1"/>
              <a:t>monocropping</a:t>
            </a:r>
            <a:r>
              <a:rPr lang="en-US" dirty="0"/>
              <a:t> with its associated heavy reliance on synthetic chemicals causes serious imbalances in agricultural ecosystems both above and below </a:t>
            </a:r>
            <a:r>
              <a:rPr lang="en-US" dirty="0" smtClean="0"/>
              <a:t>ground.</a:t>
            </a:r>
          </a:p>
          <a:p>
            <a:pPr algn="just"/>
            <a:r>
              <a:rPr lang="en-US" dirty="0" smtClean="0"/>
              <a:t>As </a:t>
            </a:r>
            <a:r>
              <a:rPr lang="en-US" dirty="0"/>
              <a:t>a result of these imbalances, a number of the ecosystem’s natural services are compromised and replaced with human </a:t>
            </a:r>
            <a:r>
              <a:rPr lang="en-US" dirty="0" smtClean="0"/>
              <a:t>interventions.</a:t>
            </a:r>
          </a:p>
          <a:p>
            <a:pPr algn="just"/>
            <a:r>
              <a:rPr lang="en-US" dirty="0" smtClean="0"/>
              <a:t>For </a:t>
            </a:r>
            <a:r>
              <a:rPr lang="en-US" dirty="0"/>
              <a:t>instance the loss of diversity in the insect population as a result of </a:t>
            </a:r>
            <a:r>
              <a:rPr lang="en-US" dirty="0" err="1"/>
              <a:t>monocrops</a:t>
            </a:r>
            <a:r>
              <a:rPr lang="en-US" dirty="0"/>
              <a:t> lead to a loss in pest-predator balance and as a result very strong chemicals have to be used to control </a:t>
            </a:r>
            <a:r>
              <a:rPr lang="en-US" dirty="0" smtClean="0"/>
              <a:t>pests.</a:t>
            </a:r>
          </a:p>
          <a:p>
            <a:pPr marL="0" indent="0">
              <a:buNone/>
            </a:pPr>
            <a:endParaRPr lang="en-GB" dirty="0"/>
          </a:p>
          <a:p>
            <a:endParaRPr lang="en-GB" dirty="0"/>
          </a:p>
        </p:txBody>
      </p:sp>
      <p:sp>
        <p:nvSpPr>
          <p:cNvPr id="5" name="Date Placeholder 4"/>
          <p:cNvSpPr>
            <a:spLocks noGrp="1"/>
          </p:cNvSpPr>
          <p:nvPr>
            <p:ph type="dt" sz="half" idx="10"/>
          </p:nvPr>
        </p:nvSpPr>
        <p:spPr/>
        <p:txBody>
          <a:bodyPr/>
          <a:lstStyle/>
          <a:p>
            <a:fld id="{8AEE3409-9D9A-480F-A3C6-7753051FD3DC}" type="datetime2">
              <a:rPr lang="en-GB" smtClean="0"/>
              <a:t>Tuesday, 06 August 2024</a:t>
            </a:fld>
            <a:endParaRPr lang="en-GB"/>
          </a:p>
        </p:txBody>
      </p:sp>
      <p:sp>
        <p:nvSpPr>
          <p:cNvPr id="6" name="Slide Number Placeholder 5"/>
          <p:cNvSpPr>
            <a:spLocks noGrp="1"/>
          </p:cNvSpPr>
          <p:nvPr>
            <p:ph type="sldNum" sz="quarter" idx="12"/>
          </p:nvPr>
        </p:nvSpPr>
        <p:spPr/>
        <p:txBody>
          <a:bodyPr/>
          <a:lstStyle/>
          <a:p>
            <a:fld id="{8D3A33D0-93B2-4FC1-8AEF-33D8B60114DF}" type="slidenum">
              <a:rPr lang="en-GB" smtClean="0"/>
              <a:t>11</a:t>
            </a:fld>
            <a:endParaRPr lang="en-GB"/>
          </a:p>
        </p:txBody>
      </p:sp>
    </p:spTree>
    <p:extLst>
      <p:ext uri="{BB962C8B-B14F-4D97-AF65-F5344CB8AC3E}">
        <p14:creationId xmlns:p14="http://schemas.microsoft.com/office/powerpoint/2010/main" val="214597213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ctr" rtl="0">
              <a:lnSpc>
                <a:spcPct val="90000"/>
              </a:lnSpc>
              <a:spcBef>
                <a:spcPct val="0"/>
              </a:spcBef>
            </a:pPr>
            <a:r>
              <a:rPr lang="en-US" sz="3200" b="1" dirty="0"/>
              <a:t>Imbalances in the ecosystem</a:t>
            </a:r>
            <a:r>
              <a:rPr lang="en-GB" b="1" dirty="0"/>
              <a:t/>
            </a:r>
            <a:br>
              <a:rPr lang="en-GB" b="1" dirty="0"/>
            </a:br>
            <a:endParaRPr lang="en-GB" dirty="0"/>
          </a:p>
        </p:txBody>
      </p:sp>
      <p:sp>
        <p:nvSpPr>
          <p:cNvPr id="3" name="Content Placeholder 2"/>
          <p:cNvSpPr>
            <a:spLocks noGrp="1"/>
          </p:cNvSpPr>
          <p:nvPr>
            <p:ph idx="1"/>
          </p:nvPr>
        </p:nvSpPr>
        <p:spPr/>
        <p:txBody>
          <a:bodyPr>
            <a:normAutofit/>
          </a:bodyPr>
          <a:lstStyle/>
          <a:p>
            <a:pPr algn="just"/>
            <a:r>
              <a:rPr lang="en-US" dirty="0" smtClean="0"/>
              <a:t>Similarly</a:t>
            </a:r>
            <a:r>
              <a:rPr lang="en-US" dirty="0"/>
              <a:t>, the application of synthetic chemicals to the soil tend to have negative effects on the soil life resulting in improper functioning of soil macro and </a:t>
            </a:r>
            <a:r>
              <a:rPr lang="en-US" dirty="0" smtClean="0"/>
              <a:t>micro-organisms.</a:t>
            </a:r>
          </a:p>
          <a:p>
            <a:pPr algn="just"/>
            <a:r>
              <a:rPr lang="en-US" dirty="0" smtClean="0"/>
              <a:t>All </a:t>
            </a:r>
            <a:r>
              <a:rPr lang="en-US" dirty="0"/>
              <a:t>SOA practices are carefully designed to not only focus on increases in yields, but to also safeguard the well-being of the ecosystem.</a:t>
            </a:r>
            <a:endParaRPr lang="en-GB" dirty="0"/>
          </a:p>
          <a:p>
            <a:pPr marL="0" indent="0">
              <a:buNone/>
            </a:pPr>
            <a:endParaRPr lang="en-GB" dirty="0"/>
          </a:p>
          <a:p>
            <a:endParaRPr lang="en-GB" dirty="0"/>
          </a:p>
        </p:txBody>
      </p:sp>
      <p:sp>
        <p:nvSpPr>
          <p:cNvPr id="4" name="Date Placeholder 3"/>
          <p:cNvSpPr>
            <a:spLocks noGrp="1"/>
          </p:cNvSpPr>
          <p:nvPr>
            <p:ph type="dt" sz="half" idx="10"/>
          </p:nvPr>
        </p:nvSpPr>
        <p:spPr/>
        <p:txBody>
          <a:bodyPr/>
          <a:lstStyle/>
          <a:p>
            <a:fld id="{97E9FF76-664A-47C6-83E0-F0485C736088}"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12</a:t>
            </a:fld>
            <a:endParaRPr lang="en-GB"/>
          </a:p>
        </p:txBody>
      </p:sp>
    </p:spTree>
    <p:extLst>
      <p:ext uri="{BB962C8B-B14F-4D97-AF65-F5344CB8AC3E}">
        <p14:creationId xmlns:p14="http://schemas.microsoft.com/office/powerpoint/2010/main" val="311828759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ctr" rtl="0">
              <a:lnSpc>
                <a:spcPct val="90000"/>
              </a:lnSpc>
              <a:spcBef>
                <a:spcPct val="0"/>
              </a:spcBef>
            </a:pPr>
            <a:r>
              <a:rPr lang="en-US" sz="3200" b="1" dirty="0"/>
              <a:t>Poor nutrition at household and national level</a:t>
            </a:r>
            <a:r>
              <a:rPr lang="en-GB" b="1" dirty="0"/>
              <a:t/>
            </a:r>
            <a:br>
              <a:rPr lang="en-GB" b="1" dirty="0"/>
            </a:br>
            <a:endParaRPr lang="en-GB" dirty="0"/>
          </a:p>
        </p:txBody>
      </p:sp>
      <p:sp>
        <p:nvSpPr>
          <p:cNvPr id="3" name="Content Placeholder 2"/>
          <p:cNvSpPr>
            <a:spLocks noGrp="1"/>
          </p:cNvSpPr>
          <p:nvPr>
            <p:ph idx="1"/>
          </p:nvPr>
        </p:nvSpPr>
        <p:spPr/>
        <p:txBody>
          <a:bodyPr>
            <a:normAutofit/>
          </a:bodyPr>
          <a:lstStyle/>
          <a:p>
            <a:pPr algn="just"/>
            <a:r>
              <a:rPr lang="en-US" dirty="0"/>
              <a:t>The prevalence of food insecurity among rural communities in Zambia has stubbornly remained high despite the many years of embracing the so-called modern farming systems characterized by heavy reliance on chemical fertilizers and hybrid seeds</a:t>
            </a:r>
            <a:r>
              <a:rPr lang="en-US" dirty="0" smtClean="0"/>
              <a:t>.</a:t>
            </a:r>
          </a:p>
          <a:p>
            <a:pPr algn="just"/>
            <a:r>
              <a:rPr lang="en-US" dirty="0" smtClean="0"/>
              <a:t>A </a:t>
            </a:r>
            <a:r>
              <a:rPr lang="en-US" dirty="0"/>
              <a:t>survey conducted in 2015 for instance shows that 46% of rural households in Zambia had inadequate food provisions during the period between May 2014 and April </a:t>
            </a:r>
            <a:r>
              <a:rPr lang="en-US" dirty="0" smtClean="0"/>
              <a:t>2015. </a:t>
            </a:r>
          </a:p>
          <a:p>
            <a:pPr algn="just"/>
            <a:r>
              <a:rPr lang="en-US" dirty="0" smtClean="0"/>
              <a:t>Malnutrition </a:t>
            </a:r>
            <a:r>
              <a:rPr lang="en-US" dirty="0"/>
              <a:t>has also remained rampant nationwide as seen in the number of stunted </a:t>
            </a:r>
            <a:r>
              <a:rPr lang="en-US" dirty="0" smtClean="0"/>
              <a:t>children.</a:t>
            </a:r>
          </a:p>
          <a:p>
            <a:endParaRPr lang="en-GB" dirty="0"/>
          </a:p>
          <a:p>
            <a:pPr marL="0" indent="0">
              <a:buNone/>
            </a:pPr>
            <a:endParaRPr lang="en-GB" dirty="0"/>
          </a:p>
          <a:p>
            <a:endParaRPr lang="en-GB" dirty="0"/>
          </a:p>
        </p:txBody>
      </p:sp>
      <p:sp>
        <p:nvSpPr>
          <p:cNvPr id="4" name="Date Placeholder 3"/>
          <p:cNvSpPr>
            <a:spLocks noGrp="1"/>
          </p:cNvSpPr>
          <p:nvPr>
            <p:ph type="dt" sz="half" idx="10"/>
          </p:nvPr>
        </p:nvSpPr>
        <p:spPr/>
        <p:txBody>
          <a:bodyPr/>
          <a:lstStyle/>
          <a:p>
            <a:fld id="{7F639E47-9659-4B20-AF9E-A9119F091C04}"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13</a:t>
            </a:fld>
            <a:endParaRPr lang="en-GB"/>
          </a:p>
        </p:txBody>
      </p:sp>
    </p:spTree>
    <p:extLst>
      <p:ext uri="{BB962C8B-B14F-4D97-AF65-F5344CB8AC3E}">
        <p14:creationId xmlns:p14="http://schemas.microsoft.com/office/powerpoint/2010/main" val="377753712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ctr" rtl="0">
              <a:lnSpc>
                <a:spcPct val="90000"/>
              </a:lnSpc>
              <a:spcBef>
                <a:spcPct val="0"/>
              </a:spcBef>
            </a:pPr>
            <a:r>
              <a:rPr lang="en-US" sz="3200" b="1" dirty="0"/>
              <a:t>Poor nutrition at household and national level</a:t>
            </a:r>
            <a:r>
              <a:rPr lang="en-GB" b="1" dirty="0"/>
              <a:t/>
            </a:r>
            <a:br>
              <a:rPr lang="en-GB" b="1" dirty="0"/>
            </a:br>
            <a:endParaRPr lang="en-GB" dirty="0"/>
          </a:p>
        </p:txBody>
      </p:sp>
      <p:sp>
        <p:nvSpPr>
          <p:cNvPr id="3" name="Content Placeholder 2"/>
          <p:cNvSpPr>
            <a:spLocks noGrp="1"/>
          </p:cNvSpPr>
          <p:nvPr>
            <p:ph idx="1"/>
          </p:nvPr>
        </p:nvSpPr>
        <p:spPr/>
        <p:txBody>
          <a:bodyPr>
            <a:normAutofit/>
          </a:bodyPr>
          <a:lstStyle/>
          <a:p>
            <a:pPr algn="just"/>
            <a:r>
              <a:rPr lang="en-US" dirty="0" smtClean="0"/>
              <a:t>The Central </a:t>
            </a:r>
            <a:r>
              <a:rPr lang="en-US" dirty="0"/>
              <a:t>Statistics Office (CSO) reports that approximately 48.3% and 42.3% of children in rural and urban areas, respectively are </a:t>
            </a:r>
            <a:r>
              <a:rPr lang="en-US" dirty="0" smtClean="0"/>
              <a:t>stunted.</a:t>
            </a:r>
          </a:p>
          <a:p>
            <a:pPr algn="just"/>
            <a:r>
              <a:rPr lang="en-US" dirty="0" smtClean="0"/>
              <a:t>Low </a:t>
            </a:r>
            <a:r>
              <a:rPr lang="en-US" dirty="0"/>
              <a:t>agricultural productivity and monocultures are some of the causes for the food insecurity and poor nutrition. </a:t>
            </a:r>
            <a:endParaRPr lang="en-US" dirty="0" smtClean="0"/>
          </a:p>
          <a:p>
            <a:pPr algn="just"/>
            <a:r>
              <a:rPr lang="en-US" dirty="0" smtClean="0"/>
              <a:t>SOA</a:t>
            </a:r>
            <a:r>
              <a:rPr lang="en-US" dirty="0"/>
              <a:t>, through the improvement in productivity and crop and enterprise diversity, has the potential to alleviate these </a:t>
            </a:r>
            <a:r>
              <a:rPr lang="en-US" dirty="0" smtClean="0"/>
              <a:t>problems</a:t>
            </a:r>
            <a:r>
              <a:rPr lang="en-US" dirty="0"/>
              <a:t> </a:t>
            </a:r>
            <a:endParaRPr lang="en-GB" dirty="0"/>
          </a:p>
          <a:p>
            <a:endParaRPr lang="en-GB" dirty="0"/>
          </a:p>
          <a:p>
            <a:pPr marL="0" indent="0">
              <a:buNone/>
            </a:pPr>
            <a:endParaRPr lang="en-GB" dirty="0"/>
          </a:p>
          <a:p>
            <a:endParaRPr lang="en-GB" dirty="0"/>
          </a:p>
        </p:txBody>
      </p:sp>
      <p:sp>
        <p:nvSpPr>
          <p:cNvPr id="4" name="Date Placeholder 3"/>
          <p:cNvSpPr>
            <a:spLocks noGrp="1"/>
          </p:cNvSpPr>
          <p:nvPr>
            <p:ph type="dt" sz="half" idx="10"/>
          </p:nvPr>
        </p:nvSpPr>
        <p:spPr/>
        <p:txBody>
          <a:bodyPr/>
          <a:lstStyle/>
          <a:p>
            <a:fld id="{CD4033EA-B02E-48F7-BDA0-3770CD43E8A3}"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14</a:t>
            </a:fld>
            <a:endParaRPr lang="en-GB"/>
          </a:p>
        </p:txBody>
      </p:sp>
    </p:spTree>
    <p:extLst>
      <p:ext uri="{BB962C8B-B14F-4D97-AF65-F5344CB8AC3E}">
        <p14:creationId xmlns:p14="http://schemas.microsoft.com/office/powerpoint/2010/main" val="317797657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ctr" rtl="0">
              <a:lnSpc>
                <a:spcPct val="90000"/>
              </a:lnSpc>
              <a:spcBef>
                <a:spcPct val="0"/>
              </a:spcBef>
            </a:pPr>
            <a:r>
              <a:rPr lang="en-US" sz="3200" b="1" dirty="0"/>
              <a:t>Climate change</a:t>
            </a:r>
            <a:r>
              <a:rPr lang="en-GB" b="1" dirty="0"/>
              <a:t/>
            </a:r>
            <a:br>
              <a:rPr lang="en-GB" b="1" dirty="0"/>
            </a:br>
            <a:endParaRPr lang="en-GB" dirty="0"/>
          </a:p>
        </p:txBody>
      </p:sp>
      <p:sp>
        <p:nvSpPr>
          <p:cNvPr id="3" name="Content Placeholder 2"/>
          <p:cNvSpPr>
            <a:spLocks noGrp="1"/>
          </p:cNvSpPr>
          <p:nvPr>
            <p:ph idx="1"/>
          </p:nvPr>
        </p:nvSpPr>
        <p:spPr/>
        <p:txBody>
          <a:bodyPr/>
          <a:lstStyle/>
          <a:p>
            <a:pPr algn="just"/>
            <a:r>
              <a:rPr lang="en-US" dirty="0"/>
              <a:t>SOA practices are well tailored to ensure that the farmer is well equipped with the necessary tools and knowledge to mitigate climate change as well as to easily adapt and be resilient to climate change effects. </a:t>
            </a:r>
            <a:endParaRPr lang="en-US" dirty="0" smtClean="0"/>
          </a:p>
          <a:p>
            <a:pPr algn="just"/>
            <a:r>
              <a:rPr lang="en-US" dirty="0" smtClean="0"/>
              <a:t>Below </a:t>
            </a:r>
            <a:r>
              <a:rPr lang="en-US" dirty="0"/>
              <a:t>are some examples of SOA practices and their relevance to climate change:</a:t>
            </a:r>
            <a:endParaRPr lang="en-GB" dirty="0"/>
          </a:p>
          <a:p>
            <a:endParaRPr lang="en-GB" dirty="0"/>
          </a:p>
        </p:txBody>
      </p:sp>
      <p:sp>
        <p:nvSpPr>
          <p:cNvPr id="4" name="Date Placeholder 3"/>
          <p:cNvSpPr>
            <a:spLocks noGrp="1"/>
          </p:cNvSpPr>
          <p:nvPr>
            <p:ph type="dt" sz="half" idx="10"/>
          </p:nvPr>
        </p:nvSpPr>
        <p:spPr/>
        <p:txBody>
          <a:bodyPr/>
          <a:lstStyle/>
          <a:p>
            <a:fld id="{131355D0-335A-4B84-8CAB-2A665C916565}"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15</a:t>
            </a:fld>
            <a:endParaRPr lang="en-GB"/>
          </a:p>
        </p:txBody>
      </p:sp>
    </p:spTree>
    <p:extLst>
      <p:ext uri="{BB962C8B-B14F-4D97-AF65-F5344CB8AC3E}">
        <p14:creationId xmlns:p14="http://schemas.microsoft.com/office/powerpoint/2010/main" val="364688043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ctr" rtl="0">
              <a:lnSpc>
                <a:spcPct val="90000"/>
              </a:lnSpc>
              <a:spcBef>
                <a:spcPct val="0"/>
              </a:spcBef>
            </a:pPr>
            <a:r>
              <a:rPr lang="en-US" sz="3200" b="1" dirty="0"/>
              <a:t>Climate change</a:t>
            </a:r>
            <a:r>
              <a:rPr lang="en-GB" b="1" dirty="0"/>
              <a:t/>
            </a:r>
            <a:br>
              <a:rPr lang="en-GB" b="1" dirty="0"/>
            </a:br>
            <a:endParaRPr lang="en-GB" dirty="0"/>
          </a:p>
        </p:txBody>
      </p:sp>
      <p:sp>
        <p:nvSpPr>
          <p:cNvPr id="3" name="Content Placeholder 2"/>
          <p:cNvSpPr>
            <a:spLocks noGrp="1"/>
          </p:cNvSpPr>
          <p:nvPr>
            <p:ph idx="1"/>
          </p:nvPr>
        </p:nvSpPr>
        <p:spPr/>
        <p:txBody>
          <a:bodyPr/>
          <a:lstStyle/>
          <a:p>
            <a:pPr lvl="2" algn="just"/>
            <a:r>
              <a:rPr lang="en-US" sz="2800" b="1" dirty="0"/>
              <a:t>Ecosystem balance </a:t>
            </a:r>
            <a:endParaRPr lang="en-US" sz="2800" dirty="0" smtClean="0"/>
          </a:p>
          <a:p>
            <a:pPr lvl="2" algn="just"/>
            <a:r>
              <a:rPr lang="en-US" sz="2800" dirty="0" smtClean="0"/>
              <a:t>All </a:t>
            </a:r>
            <a:r>
              <a:rPr lang="en-US" sz="2800" dirty="0"/>
              <a:t>SOA practices strive to work in harmony with and not against nature. </a:t>
            </a:r>
            <a:endParaRPr lang="en-US" sz="2800" dirty="0" smtClean="0"/>
          </a:p>
          <a:p>
            <a:pPr lvl="2" algn="just"/>
            <a:r>
              <a:rPr lang="en-US" sz="2800" dirty="0" smtClean="0"/>
              <a:t>In </a:t>
            </a:r>
            <a:r>
              <a:rPr lang="en-US" sz="2800" dirty="0"/>
              <a:t>that respect SOA seeks to conserve and enhance the ecosystem and eco system services thus minimize/alleviate contributing to climate </a:t>
            </a:r>
            <a:r>
              <a:rPr lang="en-US" sz="2800" dirty="0" smtClean="0"/>
              <a:t>change</a:t>
            </a:r>
            <a:endParaRPr lang="en-GB" sz="2800" dirty="0"/>
          </a:p>
          <a:p>
            <a:pPr algn="just"/>
            <a:endParaRPr lang="en-GB" dirty="0"/>
          </a:p>
          <a:p>
            <a:endParaRPr lang="en-GB" dirty="0"/>
          </a:p>
        </p:txBody>
      </p:sp>
      <p:sp>
        <p:nvSpPr>
          <p:cNvPr id="4" name="Date Placeholder 3"/>
          <p:cNvSpPr>
            <a:spLocks noGrp="1"/>
          </p:cNvSpPr>
          <p:nvPr>
            <p:ph type="dt" sz="half" idx="10"/>
          </p:nvPr>
        </p:nvSpPr>
        <p:spPr/>
        <p:txBody>
          <a:bodyPr/>
          <a:lstStyle/>
          <a:p>
            <a:fld id="{E17BF540-1039-4629-B65A-E75BBB670D34}"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16</a:t>
            </a:fld>
            <a:endParaRPr lang="en-GB"/>
          </a:p>
        </p:txBody>
      </p:sp>
    </p:spTree>
    <p:extLst>
      <p:ext uri="{BB962C8B-B14F-4D97-AF65-F5344CB8AC3E}">
        <p14:creationId xmlns:p14="http://schemas.microsoft.com/office/powerpoint/2010/main" val="107711430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ctr" rtl="0">
              <a:lnSpc>
                <a:spcPct val="90000"/>
              </a:lnSpc>
              <a:spcBef>
                <a:spcPct val="0"/>
              </a:spcBef>
            </a:pPr>
            <a:r>
              <a:rPr lang="en-US" sz="3200" b="1" dirty="0"/>
              <a:t>Climate change</a:t>
            </a:r>
            <a:r>
              <a:rPr lang="en-GB" b="1" dirty="0"/>
              <a:t/>
            </a:r>
            <a:br>
              <a:rPr lang="en-GB" b="1" dirty="0"/>
            </a:br>
            <a:endParaRPr lang="en-GB" dirty="0"/>
          </a:p>
        </p:txBody>
      </p:sp>
      <p:sp>
        <p:nvSpPr>
          <p:cNvPr id="3" name="Content Placeholder 2"/>
          <p:cNvSpPr>
            <a:spLocks noGrp="1"/>
          </p:cNvSpPr>
          <p:nvPr>
            <p:ph idx="1"/>
          </p:nvPr>
        </p:nvSpPr>
        <p:spPr/>
        <p:txBody>
          <a:bodyPr>
            <a:normAutofit fontScale="92500" lnSpcReduction="20000"/>
          </a:bodyPr>
          <a:lstStyle/>
          <a:p>
            <a:pPr marL="914400" lvl="2" indent="0" algn="just">
              <a:buNone/>
            </a:pPr>
            <a:endParaRPr lang="en-GB" sz="2800" dirty="0"/>
          </a:p>
          <a:p>
            <a:pPr marL="228600" lvl="2" algn="just">
              <a:spcBef>
                <a:spcPts val="1000"/>
              </a:spcBef>
            </a:pPr>
            <a:r>
              <a:rPr lang="en-US" sz="2800" b="1" dirty="0"/>
              <a:t>Soil organic matter </a:t>
            </a:r>
            <a:r>
              <a:rPr lang="en-US" sz="2800" b="1" dirty="0" smtClean="0"/>
              <a:t>build-up</a:t>
            </a:r>
          </a:p>
          <a:p>
            <a:pPr marL="228600" lvl="2" algn="just">
              <a:spcBef>
                <a:spcPts val="1000"/>
              </a:spcBef>
            </a:pPr>
            <a:r>
              <a:rPr lang="en-US" sz="2800" dirty="0" smtClean="0"/>
              <a:t> In </a:t>
            </a:r>
            <a:r>
              <a:rPr lang="en-US" sz="2800" dirty="0"/>
              <a:t>SOA soil fertility is improved largely through the build-up of soil organic matter. With more organic matter, the soil is able to store enough moisture for the crop to use in times of dry spells. </a:t>
            </a:r>
            <a:endParaRPr lang="en-US" sz="2800" dirty="0" smtClean="0"/>
          </a:p>
          <a:p>
            <a:pPr marL="228600" lvl="2" algn="just">
              <a:spcBef>
                <a:spcPts val="1000"/>
              </a:spcBef>
            </a:pPr>
            <a:r>
              <a:rPr lang="en-US" sz="2800" dirty="0" smtClean="0"/>
              <a:t>In </a:t>
            </a:r>
            <a:r>
              <a:rPr lang="en-US" sz="2800" dirty="0"/>
              <a:t>times of excessive rainfall, the soil with high organic matter has the capacity to retain a lot of water, thus preventing water logging, run-offs and </a:t>
            </a:r>
            <a:r>
              <a:rPr lang="en-US" sz="2800" dirty="0" smtClean="0"/>
              <a:t>erosion.</a:t>
            </a:r>
          </a:p>
          <a:p>
            <a:pPr marL="228600" lvl="2" algn="just">
              <a:spcBef>
                <a:spcPts val="1000"/>
              </a:spcBef>
            </a:pPr>
            <a:r>
              <a:rPr lang="en-US" sz="2800" dirty="0" smtClean="0"/>
              <a:t>Additionally</a:t>
            </a:r>
            <a:r>
              <a:rPr lang="en-US" sz="2800" dirty="0"/>
              <a:t>, the locking-up of organic matter in the soil helps in the mitigation of global warming by ensuring that more carbon is locked-up in the soil and is not allowed to escape to the atmosphere where it can contribute to the depletion of the ozone layer.</a:t>
            </a:r>
            <a:endParaRPr lang="en-GB" sz="2800" dirty="0"/>
          </a:p>
          <a:p>
            <a:pPr algn="just"/>
            <a:endParaRPr lang="en-GB" dirty="0"/>
          </a:p>
          <a:p>
            <a:endParaRPr lang="en-GB" dirty="0"/>
          </a:p>
        </p:txBody>
      </p:sp>
      <p:sp>
        <p:nvSpPr>
          <p:cNvPr id="4" name="Date Placeholder 3"/>
          <p:cNvSpPr>
            <a:spLocks noGrp="1"/>
          </p:cNvSpPr>
          <p:nvPr>
            <p:ph type="dt" sz="half" idx="10"/>
          </p:nvPr>
        </p:nvSpPr>
        <p:spPr/>
        <p:txBody>
          <a:bodyPr/>
          <a:lstStyle/>
          <a:p>
            <a:fld id="{E466F018-A5FC-4F50-B752-E335510A70B6}"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17</a:t>
            </a:fld>
            <a:endParaRPr lang="en-GB"/>
          </a:p>
        </p:txBody>
      </p:sp>
    </p:spTree>
    <p:extLst>
      <p:ext uri="{BB962C8B-B14F-4D97-AF65-F5344CB8AC3E}">
        <p14:creationId xmlns:p14="http://schemas.microsoft.com/office/powerpoint/2010/main" val="19213439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ctr" rtl="0">
              <a:lnSpc>
                <a:spcPct val="90000"/>
              </a:lnSpc>
              <a:spcBef>
                <a:spcPct val="0"/>
              </a:spcBef>
            </a:pPr>
            <a:r>
              <a:rPr lang="en-US" sz="3200" b="1" dirty="0"/>
              <a:t>Climate change</a:t>
            </a:r>
            <a:r>
              <a:rPr lang="en-GB" b="1" dirty="0"/>
              <a:t/>
            </a:r>
            <a:br>
              <a:rPr lang="en-GB" b="1" dirty="0"/>
            </a:br>
            <a:endParaRPr lang="en-GB" dirty="0"/>
          </a:p>
        </p:txBody>
      </p:sp>
      <p:sp>
        <p:nvSpPr>
          <p:cNvPr id="3" name="Content Placeholder 2"/>
          <p:cNvSpPr>
            <a:spLocks noGrp="1"/>
          </p:cNvSpPr>
          <p:nvPr>
            <p:ph idx="1"/>
          </p:nvPr>
        </p:nvSpPr>
        <p:spPr/>
        <p:txBody>
          <a:bodyPr>
            <a:normAutofit/>
          </a:bodyPr>
          <a:lstStyle/>
          <a:p>
            <a:pPr marL="914400" lvl="2" indent="0">
              <a:buNone/>
            </a:pPr>
            <a:endParaRPr lang="en-GB" sz="1800" dirty="0"/>
          </a:p>
          <a:p>
            <a:pPr lvl="2"/>
            <a:r>
              <a:rPr lang="en-US" dirty="0"/>
              <a:t> </a:t>
            </a:r>
            <a:r>
              <a:rPr lang="en-US" sz="2800" dirty="0" smtClean="0"/>
              <a:t> </a:t>
            </a:r>
            <a:r>
              <a:rPr lang="en-US" sz="2800" b="1" dirty="0" smtClean="0"/>
              <a:t>Crop and enterprise diversity </a:t>
            </a:r>
          </a:p>
          <a:p>
            <a:pPr lvl="2"/>
            <a:r>
              <a:rPr lang="en-US" sz="2800" dirty="0" smtClean="0"/>
              <a:t>A farmer practicing SOA is likely to be more resilient to climate change effects as he/she spreads agricultural risk over a number of crops and enterprises.</a:t>
            </a:r>
          </a:p>
          <a:p>
            <a:pPr lvl="2"/>
            <a:r>
              <a:rPr lang="en-US" sz="2800" dirty="0" smtClean="0"/>
              <a:t>When there is failure with one crop or enterprise, the farmer can still rely on other crops or enterprises</a:t>
            </a:r>
            <a:endParaRPr lang="en-GB" sz="2800" dirty="0"/>
          </a:p>
          <a:p>
            <a:pPr marL="0" indent="0" algn="just">
              <a:buNone/>
            </a:pPr>
            <a:endParaRPr lang="en-GB" dirty="0"/>
          </a:p>
          <a:p>
            <a:endParaRPr lang="en-GB" dirty="0"/>
          </a:p>
        </p:txBody>
      </p:sp>
      <p:sp>
        <p:nvSpPr>
          <p:cNvPr id="4" name="Date Placeholder 3"/>
          <p:cNvSpPr>
            <a:spLocks noGrp="1"/>
          </p:cNvSpPr>
          <p:nvPr>
            <p:ph type="dt" sz="half" idx="10"/>
          </p:nvPr>
        </p:nvSpPr>
        <p:spPr/>
        <p:txBody>
          <a:bodyPr/>
          <a:lstStyle/>
          <a:p>
            <a:fld id="{EE1F06BC-27AB-40A0-8158-AD7A41DAE761}"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18</a:t>
            </a:fld>
            <a:endParaRPr lang="en-GB"/>
          </a:p>
        </p:txBody>
      </p:sp>
    </p:spTree>
    <p:extLst>
      <p:ext uri="{BB962C8B-B14F-4D97-AF65-F5344CB8AC3E}">
        <p14:creationId xmlns:p14="http://schemas.microsoft.com/office/powerpoint/2010/main" val="61034465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ctr" rtl="0">
              <a:lnSpc>
                <a:spcPct val="90000"/>
              </a:lnSpc>
              <a:spcBef>
                <a:spcPct val="0"/>
              </a:spcBef>
            </a:pPr>
            <a:r>
              <a:rPr lang="en-US" sz="3200" b="1" dirty="0"/>
              <a:t>Climate change</a:t>
            </a:r>
            <a:r>
              <a:rPr lang="en-GB" b="1" dirty="0"/>
              <a:t/>
            </a:r>
            <a:br>
              <a:rPr lang="en-GB" b="1" dirty="0"/>
            </a:br>
            <a:endParaRPr lang="en-GB" dirty="0"/>
          </a:p>
        </p:txBody>
      </p:sp>
      <p:sp>
        <p:nvSpPr>
          <p:cNvPr id="3" name="Content Placeholder 2"/>
          <p:cNvSpPr>
            <a:spLocks noGrp="1"/>
          </p:cNvSpPr>
          <p:nvPr>
            <p:ph idx="1"/>
          </p:nvPr>
        </p:nvSpPr>
        <p:spPr/>
        <p:txBody>
          <a:bodyPr>
            <a:normAutofit/>
          </a:bodyPr>
          <a:lstStyle/>
          <a:p>
            <a:pPr lvl="2" algn="just"/>
            <a:r>
              <a:rPr lang="en-US" sz="2800" b="1" dirty="0"/>
              <a:t>Reliance on readily available local </a:t>
            </a:r>
            <a:r>
              <a:rPr lang="en-US" sz="2800" b="1" dirty="0" smtClean="0"/>
              <a:t>resources</a:t>
            </a:r>
          </a:p>
          <a:p>
            <a:pPr lvl="2" algn="just"/>
            <a:r>
              <a:rPr lang="en-US" sz="2800" dirty="0" smtClean="0"/>
              <a:t>the </a:t>
            </a:r>
            <a:r>
              <a:rPr lang="en-US" sz="2800" dirty="0"/>
              <a:t>emphasis in SOA to rely on inputs that are readily available to the farmer gives the farmer some sovereignty over his/her </a:t>
            </a:r>
            <a:r>
              <a:rPr lang="en-US" sz="2800" dirty="0" smtClean="0"/>
              <a:t>production.</a:t>
            </a:r>
          </a:p>
          <a:p>
            <a:pPr lvl="2" algn="just"/>
            <a:r>
              <a:rPr lang="en-US" sz="2800" dirty="0" smtClean="0"/>
              <a:t>The </a:t>
            </a:r>
            <a:r>
              <a:rPr lang="en-US" sz="2800" dirty="0"/>
              <a:t>SOA farmer is thus better placed to cope with climate </a:t>
            </a:r>
            <a:r>
              <a:rPr lang="en-US" sz="2800" dirty="0" err="1"/>
              <a:t>variabilities</a:t>
            </a:r>
            <a:r>
              <a:rPr lang="en-US" sz="2800" dirty="0"/>
              <a:t> as he/she is in better control over the required production resources.</a:t>
            </a:r>
            <a:endParaRPr lang="en-GB" sz="2800" dirty="0"/>
          </a:p>
          <a:p>
            <a:pPr marL="914400" lvl="2" indent="0">
              <a:buNone/>
            </a:pPr>
            <a:endParaRPr lang="en-GB" sz="2800" dirty="0"/>
          </a:p>
          <a:p>
            <a:pPr marL="0" indent="0" algn="just">
              <a:buNone/>
            </a:pPr>
            <a:endParaRPr lang="en-GB" dirty="0"/>
          </a:p>
          <a:p>
            <a:endParaRPr lang="en-GB" dirty="0"/>
          </a:p>
        </p:txBody>
      </p:sp>
      <p:sp>
        <p:nvSpPr>
          <p:cNvPr id="4" name="Date Placeholder 3"/>
          <p:cNvSpPr>
            <a:spLocks noGrp="1"/>
          </p:cNvSpPr>
          <p:nvPr>
            <p:ph type="dt" sz="half" idx="10"/>
          </p:nvPr>
        </p:nvSpPr>
        <p:spPr/>
        <p:txBody>
          <a:bodyPr/>
          <a:lstStyle/>
          <a:p>
            <a:fld id="{2114DDF3-B6D0-4B86-874E-ADA398B28C6F}"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19</a:t>
            </a:fld>
            <a:endParaRPr lang="en-GB"/>
          </a:p>
        </p:txBody>
      </p:sp>
    </p:spTree>
    <p:extLst>
      <p:ext uri="{BB962C8B-B14F-4D97-AF65-F5344CB8AC3E}">
        <p14:creationId xmlns:p14="http://schemas.microsoft.com/office/powerpoint/2010/main" val="327348717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ctr" rtl="0">
              <a:lnSpc>
                <a:spcPct val="90000"/>
              </a:lnSpc>
              <a:spcBef>
                <a:spcPct val="0"/>
              </a:spcBef>
            </a:pPr>
            <a:r>
              <a:rPr lang="en-US" sz="2800" b="1" dirty="0"/>
              <a:t>Stability of production/High yield with low year to year variability</a:t>
            </a:r>
            <a:r>
              <a:rPr lang="en-GB" b="1" dirty="0"/>
              <a:t/>
            </a:r>
            <a:br>
              <a:rPr lang="en-GB" b="1" dirty="0"/>
            </a:br>
            <a:endParaRPr lang="en-GB" dirty="0"/>
          </a:p>
        </p:txBody>
      </p:sp>
      <p:sp>
        <p:nvSpPr>
          <p:cNvPr id="3" name="Content Placeholder 2"/>
          <p:cNvSpPr>
            <a:spLocks noGrp="1"/>
          </p:cNvSpPr>
          <p:nvPr>
            <p:ph idx="1"/>
          </p:nvPr>
        </p:nvSpPr>
        <p:spPr/>
        <p:txBody>
          <a:bodyPr>
            <a:normAutofit fontScale="92500" lnSpcReduction="10000"/>
          </a:bodyPr>
          <a:lstStyle/>
          <a:p>
            <a:pPr algn="just"/>
            <a:r>
              <a:rPr lang="en-US" dirty="0"/>
              <a:t>Farmers’ experiences have shown that with the conventional systems of production, yields are always high in the very first years when the soil is still inherently fertile</a:t>
            </a:r>
            <a:r>
              <a:rPr lang="en-US" dirty="0" smtClean="0"/>
              <a:t>.</a:t>
            </a:r>
          </a:p>
          <a:p>
            <a:pPr algn="just"/>
            <a:r>
              <a:rPr lang="en-US" dirty="0" smtClean="0"/>
              <a:t>However</a:t>
            </a:r>
            <a:r>
              <a:rPr lang="en-US" dirty="0"/>
              <a:t>, after a few years there is normally a decline in </a:t>
            </a:r>
            <a:r>
              <a:rPr lang="en-US" dirty="0" smtClean="0"/>
              <a:t>yield.</a:t>
            </a:r>
          </a:p>
          <a:p>
            <a:pPr algn="just"/>
            <a:r>
              <a:rPr lang="en-US" dirty="0" smtClean="0"/>
              <a:t>This </a:t>
            </a:r>
            <a:r>
              <a:rPr lang="en-US" dirty="0"/>
              <a:t>is largely due to the decline in soil organic matter and soil nutrient content as farmers only apply a few, mostly 3 or 4 crop nutrients in comparison to the 13 or more nutrients that the crop takes </a:t>
            </a:r>
            <a:r>
              <a:rPr lang="en-US" dirty="0" smtClean="0"/>
              <a:t>up.</a:t>
            </a:r>
          </a:p>
          <a:p>
            <a:pPr algn="just"/>
            <a:r>
              <a:rPr lang="en-US" dirty="0" smtClean="0"/>
              <a:t>As </a:t>
            </a:r>
            <a:r>
              <a:rPr lang="en-US" dirty="0"/>
              <a:t>a result, productivity in conventional systems start on a high level and drops until the land can no longer produce </a:t>
            </a:r>
            <a:r>
              <a:rPr lang="en-US" dirty="0" smtClean="0"/>
              <a:t>anything.</a:t>
            </a:r>
          </a:p>
          <a:p>
            <a:pPr algn="just"/>
            <a:r>
              <a:rPr lang="en-US" dirty="0"/>
              <a:t/>
            </a:r>
            <a:br>
              <a:rPr lang="en-US" dirty="0"/>
            </a:br>
            <a:endParaRPr lang="en-GB" dirty="0"/>
          </a:p>
        </p:txBody>
      </p:sp>
      <p:sp>
        <p:nvSpPr>
          <p:cNvPr id="4" name="Date Placeholder 3"/>
          <p:cNvSpPr>
            <a:spLocks noGrp="1"/>
          </p:cNvSpPr>
          <p:nvPr>
            <p:ph type="dt" sz="half" idx="10"/>
          </p:nvPr>
        </p:nvSpPr>
        <p:spPr/>
        <p:txBody>
          <a:bodyPr/>
          <a:lstStyle/>
          <a:p>
            <a:fld id="{C3EA55E7-DF66-4E3C-B34D-E4D00DA89B13}"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20</a:t>
            </a:fld>
            <a:endParaRPr lang="en-GB"/>
          </a:p>
        </p:txBody>
      </p:sp>
    </p:spTree>
    <p:extLst>
      <p:ext uri="{BB962C8B-B14F-4D97-AF65-F5344CB8AC3E}">
        <p14:creationId xmlns:p14="http://schemas.microsoft.com/office/powerpoint/2010/main" val="96212606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ctr" rtl="0">
              <a:lnSpc>
                <a:spcPct val="90000"/>
              </a:lnSpc>
              <a:spcBef>
                <a:spcPct val="0"/>
              </a:spcBef>
            </a:pPr>
            <a:r>
              <a:rPr lang="en-US" sz="2800" b="1" dirty="0"/>
              <a:t>Stability of production/High yield with low year to year variability</a:t>
            </a:r>
            <a:r>
              <a:rPr lang="en-GB" b="1" dirty="0"/>
              <a:t/>
            </a:r>
            <a:br>
              <a:rPr lang="en-GB" b="1" dirty="0"/>
            </a:br>
            <a:endParaRPr lang="en-GB" dirty="0"/>
          </a:p>
        </p:txBody>
      </p:sp>
      <p:sp>
        <p:nvSpPr>
          <p:cNvPr id="3" name="Content Placeholder 2"/>
          <p:cNvSpPr>
            <a:spLocks noGrp="1"/>
          </p:cNvSpPr>
          <p:nvPr>
            <p:ph idx="1"/>
          </p:nvPr>
        </p:nvSpPr>
        <p:spPr/>
        <p:txBody>
          <a:bodyPr>
            <a:normAutofit/>
          </a:bodyPr>
          <a:lstStyle/>
          <a:p>
            <a:pPr algn="just"/>
            <a:r>
              <a:rPr lang="en-US" dirty="0" smtClean="0"/>
              <a:t>In SOA, farmers might start with relatively low yield in the first years as SOM is being improved.</a:t>
            </a:r>
          </a:p>
          <a:p>
            <a:pPr algn="just"/>
            <a:r>
              <a:rPr lang="en-US" dirty="0" smtClean="0"/>
              <a:t>The yields normally steadily improve year after year and stabilize at a high level.</a:t>
            </a:r>
          </a:p>
          <a:p>
            <a:pPr algn="just"/>
            <a:r>
              <a:rPr lang="en-US" dirty="0" smtClean="0"/>
              <a:t>Consider the graph below depicting trends in conventional and sustainable organic systems</a:t>
            </a:r>
            <a:r>
              <a:rPr lang="en-US" dirty="0" smtClean="0"/>
              <a:t>:</a:t>
            </a:r>
            <a:endParaRPr lang="en-GB" dirty="0" smtClean="0"/>
          </a:p>
          <a:p>
            <a:pPr marL="0" indent="0" algn="just">
              <a:buNone/>
            </a:pPr>
            <a:r>
              <a:rPr lang="en-US" dirty="0" smtClean="0"/>
              <a:t/>
            </a:r>
            <a:br>
              <a:rPr lang="en-US" dirty="0" smtClean="0"/>
            </a:br>
            <a:endParaRPr lang="en-GB" dirty="0"/>
          </a:p>
        </p:txBody>
      </p:sp>
      <p:sp>
        <p:nvSpPr>
          <p:cNvPr id="4" name="Date Placeholder 3"/>
          <p:cNvSpPr>
            <a:spLocks noGrp="1"/>
          </p:cNvSpPr>
          <p:nvPr>
            <p:ph type="dt" sz="half" idx="10"/>
          </p:nvPr>
        </p:nvSpPr>
        <p:spPr/>
        <p:txBody>
          <a:bodyPr/>
          <a:lstStyle/>
          <a:p>
            <a:fld id="{EF2CFB4B-1C13-4B62-A99A-B22F35BC6CE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21</a:t>
            </a:fld>
            <a:endParaRPr lang="en-GB"/>
          </a:p>
        </p:txBody>
      </p:sp>
    </p:spTree>
    <p:extLst>
      <p:ext uri="{BB962C8B-B14F-4D97-AF65-F5344CB8AC3E}">
        <p14:creationId xmlns:p14="http://schemas.microsoft.com/office/powerpoint/2010/main" val="411324505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dirty="0" smtClean="0"/>
          </a:p>
          <a:p>
            <a:endParaRPr lang="en-US" dirty="0"/>
          </a:p>
          <a:p>
            <a:endParaRPr lang="en-US" dirty="0" smtClean="0"/>
          </a:p>
          <a:p>
            <a:endParaRPr lang="en-GB" dirty="0"/>
          </a:p>
        </p:txBody>
      </p:sp>
      <p:grpSp>
        <p:nvGrpSpPr>
          <p:cNvPr id="58" name="Group 57"/>
          <p:cNvGrpSpPr>
            <a:grpSpLocks/>
          </p:cNvGrpSpPr>
          <p:nvPr/>
        </p:nvGrpSpPr>
        <p:grpSpPr bwMode="auto">
          <a:xfrm>
            <a:off x="960755" y="502285"/>
            <a:ext cx="5662295" cy="3429000"/>
            <a:chOff x="1513" y="-5375"/>
            <a:chExt cx="8917" cy="5400"/>
          </a:xfrm>
        </p:grpSpPr>
        <p:cxnSp>
          <p:nvCxnSpPr>
            <p:cNvPr id="59" name="Line 71"/>
            <p:cNvCxnSpPr>
              <a:cxnSpLocks noChangeShapeType="1"/>
            </p:cNvCxnSpPr>
            <p:nvPr/>
          </p:nvCxnSpPr>
          <p:spPr bwMode="auto">
            <a:xfrm>
              <a:off x="2604" y="-337"/>
              <a:ext cx="0" cy="0"/>
            </a:xfrm>
            <a:prstGeom prst="line">
              <a:avLst/>
            </a:prstGeom>
            <a:noFill/>
            <a:ln w="9134">
              <a:solidFill>
                <a:srgbClr val="D9D9D9"/>
              </a:solidFill>
              <a:prstDash val="solid"/>
              <a:round/>
              <a:headEnd/>
              <a:tailEnd/>
            </a:ln>
            <a:extLst>
              <a:ext uri="{909E8E84-426E-40DD-AFC4-6F175D3DCCD1}">
                <a14:hiddenFill xmlns:a14="http://schemas.microsoft.com/office/drawing/2010/main">
                  <a:noFill/>
                </a14:hiddenFill>
              </a:ext>
            </a:extLst>
          </p:spPr>
        </p:cxnSp>
        <p:sp>
          <p:nvSpPr>
            <p:cNvPr id="60" name="Rectangle 59"/>
            <p:cNvSpPr>
              <a:spLocks noChangeArrowheads="1"/>
            </p:cNvSpPr>
            <p:nvPr/>
          </p:nvSpPr>
          <p:spPr bwMode="auto">
            <a:xfrm>
              <a:off x="2603" y="-345"/>
              <a:ext cx="7818" cy="15"/>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GB"/>
            </a:p>
          </p:txBody>
        </p:sp>
        <p:sp>
          <p:nvSpPr>
            <p:cNvPr id="61" name="Freeform 60"/>
            <p:cNvSpPr>
              <a:spLocks/>
            </p:cNvSpPr>
            <p:nvPr/>
          </p:nvSpPr>
          <p:spPr bwMode="auto">
            <a:xfrm>
              <a:off x="3371" y="-4461"/>
              <a:ext cx="6900" cy="3920"/>
            </a:xfrm>
            <a:custGeom>
              <a:avLst/>
              <a:gdLst>
                <a:gd name="T0" fmla="+- 0 3441 3371"/>
                <a:gd name="T1" fmla="*/ T0 w 6900"/>
                <a:gd name="T2" fmla="+- 0 -4432 -4460"/>
                <a:gd name="T3" fmla="*/ -4432 h 3920"/>
                <a:gd name="T4" fmla="+- 0 3580 3371"/>
                <a:gd name="T5" fmla="*/ T4 w 6900"/>
                <a:gd name="T6" fmla="+- 0 -4385 -4460"/>
                <a:gd name="T7" fmla="*/ -4385 h 3920"/>
                <a:gd name="T8" fmla="+- 0 3720 3371"/>
                <a:gd name="T9" fmla="*/ T8 w 6900"/>
                <a:gd name="T10" fmla="+- 0 -4343 -4460"/>
                <a:gd name="T11" fmla="*/ -4343 h 3920"/>
                <a:gd name="T12" fmla="+- 0 3859 3371"/>
                <a:gd name="T13" fmla="*/ T12 w 6900"/>
                <a:gd name="T14" fmla="+- 0 -4292 -4460"/>
                <a:gd name="T15" fmla="*/ -4292 h 3920"/>
                <a:gd name="T16" fmla="+- 0 3998 3371"/>
                <a:gd name="T17" fmla="*/ T16 w 6900"/>
                <a:gd name="T18" fmla="+- 0 -4221 -4460"/>
                <a:gd name="T19" fmla="*/ -4221 h 3920"/>
                <a:gd name="T20" fmla="+- 0 4138 3371"/>
                <a:gd name="T21" fmla="*/ T20 w 6900"/>
                <a:gd name="T22" fmla="+- 0 -4117 -4460"/>
                <a:gd name="T23" fmla="*/ -4117 h 3920"/>
                <a:gd name="T24" fmla="+- 0 4234 3371"/>
                <a:gd name="T25" fmla="*/ T24 w 6900"/>
                <a:gd name="T26" fmla="+- 0 -4016 -4460"/>
                <a:gd name="T27" fmla="*/ -4016 h 3920"/>
                <a:gd name="T28" fmla="+- 0 4329 3371"/>
                <a:gd name="T29" fmla="*/ T28 w 6900"/>
                <a:gd name="T30" fmla="+- 0 -3892 -4460"/>
                <a:gd name="T31" fmla="*/ -3892 h 3920"/>
                <a:gd name="T32" fmla="+- 0 4425 3371"/>
                <a:gd name="T33" fmla="*/ T32 w 6900"/>
                <a:gd name="T34" fmla="+- 0 -3751 -4460"/>
                <a:gd name="T35" fmla="*/ -3751 h 3920"/>
                <a:gd name="T36" fmla="+- 0 4521 3371"/>
                <a:gd name="T37" fmla="*/ T36 w 6900"/>
                <a:gd name="T38" fmla="+- 0 -3602 -4460"/>
                <a:gd name="T39" fmla="*/ -3602 h 3920"/>
                <a:gd name="T40" fmla="+- 0 4617 3371"/>
                <a:gd name="T41" fmla="*/ T40 w 6900"/>
                <a:gd name="T42" fmla="+- 0 -3453 -4460"/>
                <a:gd name="T43" fmla="*/ -3453 h 3920"/>
                <a:gd name="T44" fmla="+- 0 4713 3371"/>
                <a:gd name="T45" fmla="*/ T44 w 6900"/>
                <a:gd name="T46" fmla="+- 0 -3312 -4460"/>
                <a:gd name="T47" fmla="*/ -3312 h 3920"/>
                <a:gd name="T48" fmla="+- 0 4809 3371"/>
                <a:gd name="T49" fmla="*/ T48 w 6900"/>
                <a:gd name="T50" fmla="+- 0 -3187 -4460"/>
                <a:gd name="T51" fmla="*/ -3187 h 3920"/>
                <a:gd name="T52" fmla="+- 0 4905 3371"/>
                <a:gd name="T53" fmla="*/ T52 w 6900"/>
                <a:gd name="T54" fmla="+- 0 -3087 -4460"/>
                <a:gd name="T55" fmla="*/ -3087 h 3920"/>
                <a:gd name="T56" fmla="+- 0 5032 3371"/>
                <a:gd name="T57" fmla="*/ T56 w 6900"/>
                <a:gd name="T58" fmla="+- 0 -2998 -4460"/>
                <a:gd name="T59" fmla="*/ -2998 h 3920"/>
                <a:gd name="T60" fmla="+- 0 5160 3371"/>
                <a:gd name="T61" fmla="*/ T60 w 6900"/>
                <a:gd name="T62" fmla="+- 0 -2947 -4460"/>
                <a:gd name="T63" fmla="*/ -2947 h 3920"/>
                <a:gd name="T64" fmla="+- 0 5288 3371"/>
                <a:gd name="T65" fmla="*/ T64 w 6900"/>
                <a:gd name="T66" fmla="+- 0 -2915 -4460"/>
                <a:gd name="T67" fmla="*/ -2915 h 3920"/>
                <a:gd name="T68" fmla="+- 0 5416 3371"/>
                <a:gd name="T69" fmla="*/ T68 w 6900"/>
                <a:gd name="T70" fmla="+- 0 -2883 -4460"/>
                <a:gd name="T71" fmla="*/ -2883 h 3920"/>
                <a:gd name="T72" fmla="+- 0 5543 3371"/>
                <a:gd name="T73" fmla="*/ T72 w 6900"/>
                <a:gd name="T74" fmla="+- 0 -2832 -4460"/>
                <a:gd name="T75" fmla="*/ -2832 h 3920"/>
                <a:gd name="T76" fmla="+- 0 5671 3371"/>
                <a:gd name="T77" fmla="*/ T76 w 6900"/>
                <a:gd name="T78" fmla="+- 0 -2743 -4460"/>
                <a:gd name="T79" fmla="*/ -2743 h 3920"/>
                <a:gd name="T80" fmla="+- 0 5767 3371"/>
                <a:gd name="T81" fmla="*/ T80 w 6900"/>
                <a:gd name="T82" fmla="+- 0 -2645 -4460"/>
                <a:gd name="T83" fmla="*/ -2645 h 3920"/>
                <a:gd name="T84" fmla="+- 0 5863 3371"/>
                <a:gd name="T85" fmla="*/ T84 w 6900"/>
                <a:gd name="T86" fmla="+- 0 -2526 -4460"/>
                <a:gd name="T87" fmla="*/ -2526 h 3920"/>
                <a:gd name="T88" fmla="+- 0 5959 3371"/>
                <a:gd name="T89" fmla="*/ T88 w 6900"/>
                <a:gd name="T90" fmla="+- 0 -2392 -4460"/>
                <a:gd name="T91" fmla="*/ -2392 h 3920"/>
                <a:gd name="T92" fmla="+- 0 6054 3371"/>
                <a:gd name="T93" fmla="*/ T92 w 6900"/>
                <a:gd name="T94" fmla="+- 0 -2250 -4460"/>
                <a:gd name="T95" fmla="*/ -2250 h 3920"/>
                <a:gd name="T96" fmla="+- 0 6150 3371"/>
                <a:gd name="T97" fmla="*/ T96 w 6900"/>
                <a:gd name="T98" fmla="+- 0 -2105 -4460"/>
                <a:gd name="T99" fmla="*/ -2105 h 3920"/>
                <a:gd name="T100" fmla="+- 0 6246 3371"/>
                <a:gd name="T101" fmla="*/ T100 w 6900"/>
                <a:gd name="T102" fmla="+- 0 -1963 -4460"/>
                <a:gd name="T103" fmla="*/ -1963 h 3920"/>
                <a:gd name="T104" fmla="+- 0 6342 3371"/>
                <a:gd name="T105" fmla="*/ T104 w 6900"/>
                <a:gd name="T106" fmla="+- 0 -1830 -4460"/>
                <a:gd name="T107" fmla="*/ -1830 h 3920"/>
                <a:gd name="T108" fmla="+- 0 6438 3371"/>
                <a:gd name="T109" fmla="*/ T108 w 6900"/>
                <a:gd name="T110" fmla="+- 0 -1713 -4460"/>
                <a:gd name="T111" fmla="*/ -1713 h 3920"/>
                <a:gd name="T112" fmla="+- 0 6556 3371"/>
                <a:gd name="T113" fmla="*/ T112 w 6900"/>
                <a:gd name="T114" fmla="+- 0 -1585 -4460"/>
                <a:gd name="T115" fmla="*/ -1585 h 3920"/>
                <a:gd name="T116" fmla="+- 0 6674 3371"/>
                <a:gd name="T117" fmla="*/ T116 w 6900"/>
                <a:gd name="T118" fmla="+- 0 -1465 -4460"/>
                <a:gd name="T119" fmla="*/ -1465 h 3920"/>
                <a:gd name="T120" fmla="+- 0 6792 3371"/>
                <a:gd name="T121" fmla="*/ T120 w 6900"/>
                <a:gd name="T122" fmla="+- 0 -1354 -4460"/>
                <a:gd name="T123" fmla="*/ -1354 h 3920"/>
                <a:gd name="T124" fmla="+- 0 6910 3371"/>
                <a:gd name="T125" fmla="*/ T124 w 6900"/>
                <a:gd name="T126" fmla="+- 0 -1250 -4460"/>
                <a:gd name="T127" fmla="*/ -1250 h 3920"/>
                <a:gd name="T128" fmla="+- 0 7028 3371"/>
                <a:gd name="T129" fmla="*/ T128 w 6900"/>
                <a:gd name="T130" fmla="+- 0 -1154 -4460"/>
                <a:gd name="T131" fmla="*/ -1154 h 3920"/>
                <a:gd name="T132" fmla="+- 0 7146 3371"/>
                <a:gd name="T133" fmla="*/ T132 w 6900"/>
                <a:gd name="T134" fmla="+- 0 -1067 -4460"/>
                <a:gd name="T135" fmla="*/ -1067 h 3920"/>
                <a:gd name="T136" fmla="+- 0 7274 3371"/>
                <a:gd name="T137" fmla="*/ T136 w 6900"/>
                <a:gd name="T138" fmla="+- 0 -981 -4460"/>
                <a:gd name="T139" fmla="*/ -981 h 3920"/>
                <a:gd name="T140" fmla="+- 0 7414 3371"/>
                <a:gd name="T141" fmla="*/ T140 w 6900"/>
                <a:gd name="T142" fmla="+- 0 -901 -4460"/>
                <a:gd name="T143" fmla="*/ -901 h 3920"/>
                <a:gd name="T144" fmla="+- 0 7553 3371"/>
                <a:gd name="T145" fmla="*/ T144 w 6900"/>
                <a:gd name="T146" fmla="+- 0 -832 -4460"/>
                <a:gd name="T147" fmla="*/ -832 h 3920"/>
                <a:gd name="T148" fmla="+- 0 7692 3371"/>
                <a:gd name="T149" fmla="*/ T148 w 6900"/>
                <a:gd name="T150" fmla="+- 0 -773 -4460"/>
                <a:gd name="T151" fmla="*/ -773 h 3920"/>
                <a:gd name="T152" fmla="+- 0 7832 3371"/>
                <a:gd name="T153" fmla="*/ T152 w 6900"/>
                <a:gd name="T154" fmla="+- 0 -724 -4460"/>
                <a:gd name="T155" fmla="*/ -724 h 3920"/>
                <a:gd name="T156" fmla="+- 0 7971 3371"/>
                <a:gd name="T157" fmla="*/ T156 w 6900"/>
                <a:gd name="T158" fmla="+- 0 -683 -4460"/>
                <a:gd name="T159" fmla="*/ -683 h 3920"/>
                <a:gd name="T160" fmla="+- 0 8124 3371"/>
                <a:gd name="T161" fmla="*/ T160 w 6900"/>
                <a:gd name="T162" fmla="+- 0 -652 -4460"/>
                <a:gd name="T163" fmla="*/ -652 h 3920"/>
                <a:gd name="T164" fmla="+- 0 8278 3371"/>
                <a:gd name="T165" fmla="*/ T164 w 6900"/>
                <a:gd name="T166" fmla="+- 0 -636 -4460"/>
                <a:gd name="T167" fmla="*/ -636 h 3920"/>
                <a:gd name="T168" fmla="+- 0 8431 3371"/>
                <a:gd name="T169" fmla="*/ T168 w 6900"/>
                <a:gd name="T170" fmla="+- 0 -629 -4460"/>
                <a:gd name="T171" fmla="*/ -629 h 3920"/>
                <a:gd name="T172" fmla="+- 0 8584 3371"/>
                <a:gd name="T173" fmla="*/ T172 w 6900"/>
                <a:gd name="T174" fmla="+- 0 -624 -4460"/>
                <a:gd name="T175" fmla="*/ -624 h 3920"/>
                <a:gd name="T176" fmla="+- 0 8738 3371"/>
                <a:gd name="T177" fmla="*/ T176 w 6900"/>
                <a:gd name="T178" fmla="+- 0 -614 -4460"/>
                <a:gd name="T179" fmla="*/ -614 h 3920"/>
                <a:gd name="T180" fmla="+- 0 8891 3371"/>
                <a:gd name="T181" fmla="*/ T180 w 6900"/>
                <a:gd name="T182" fmla="+- 0 -600 -4460"/>
                <a:gd name="T183" fmla="*/ -600 h 3920"/>
                <a:gd name="T184" fmla="+- 0 9044 3371"/>
                <a:gd name="T185" fmla="*/ T184 w 6900"/>
                <a:gd name="T186" fmla="+- 0 -584 -4460"/>
                <a:gd name="T187" fmla="*/ -584 h 3920"/>
                <a:gd name="T188" fmla="+- 0 9198 3371"/>
                <a:gd name="T189" fmla="*/ T188 w 6900"/>
                <a:gd name="T190" fmla="+- 0 -568 -4460"/>
                <a:gd name="T191" fmla="*/ -568 h 3920"/>
                <a:gd name="T192" fmla="+- 0 9351 3371"/>
                <a:gd name="T193" fmla="*/ T192 w 6900"/>
                <a:gd name="T194" fmla="+- 0 -555 -4460"/>
                <a:gd name="T195" fmla="*/ -555 h 3920"/>
                <a:gd name="T196" fmla="+- 0 9505 3371"/>
                <a:gd name="T197" fmla="*/ T196 w 6900"/>
                <a:gd name="T198" fmla="+- 0 -546 -4460"/>
                <a:gd name="T199" fmla="*/ -546 h 3920"/>
                <a:gd name="T200" fmla="+- 0 9658 3371"/>
                <a:gd name="T201" fmla="*/ T200 w 6900"/>
                <a:gd name="T202" fmla="+- 0 -541 -4460"/>
                <a:gd name="T203" fmla="*/ -541 h 3920"/>
                <a:gd name="T204" fmla="+- 0 9811 3371"/>
                <a:gd name="T205" fmla="*/ T204 w 6900"/>
                <a:gd name="T206" fmla="+- 0 -541 -4460"/>
                <a:gd name="T207" fmla="*/ -541 h 3920"/>
                <a:gd name="T208" fmla="+- 0 9964 3371"/>
                <a:gd name="T209" fmla="*/ T208 w 6900"/>
                <a:gd name="T210" fmla="+- 0 -542 -4460"/>
                <a:gd name="T211" fmla="*/ -542 h 3920"/>
                <a:gd name="T212" fmla="+- 0 10118 3371"/>
                <a:gd name="T213" fmla="*/ T212 w 6900"/>
                <a:gd name="T214" fmla="+- 0 -545 -4460"/>
                <a:gd name="T215" fmla="*/ -545 h 3920"/>
                <a:gd name="T216" fmla="+- 0 10271 3371"/>
                <a:gd name="T217" fmla="*/ T216 w 6900"/>
                <a:gd name="T218" fmla="+- 0 -546 -4460"/>
                <a:gd name="T219" fmla="*/ -546 h 392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 ang="0">
                  <a:pos x="T129" y="T131"/>
                </a:cxn>
                <a:cxn ang="0">
                  <a:pos x="T133" y="T135"/>
                </a:cxn>
                <a:cxn ang="0">
                  <a:pos x="T137" y="T139"/>
                </a:cxn>
                <a:cxn ang="0">
                  <a:pos x="T141" y="T143"/>
                </a:cxn>
                <a:cxn ang="0">
                  <a:pos x="T145" y="T147"/>
                </a:cxn>
                <a:cxn ang="0">
                  <a:pos x="T149" y="T151"/>
                </a:cxn>
                <a:cxn ang="0">
                  <a:pos x="T153" y="T155"/>
                </a:cxn>
                <a:cxn ang="0">
                  <a:pos x="T157" y="T159"/>
                </a:cxn>
                <a:cxn ang="0">
                  <a:pos x="T161" y="T163"/>
                </a:cxn>
                <a:cxn ang="0">
                  <a:pos x="T165" y="T167"/>
                </a:cxn>
                <a:cxn ang="0">
                  <a:pos x="T169" y="T171"/>
                </a:cxn>
                <a:cxn ang="0">
                  <a:pos x="T173" y="T175"/>
                </a:cxn>
                <a:cxn ang="0">
                  <a:pos x="T177" y="T179"/>
                </a:cxn>
                <a:cxn ang="0">
                  <a:pos x="T181" y="T183"/>
                </a:cxn>
                <a:cxn ang="0">
                  <a:pos x="T185" y="T187"/>
                </a:cxn>
                <a:cxn ang="0">
                  <a:pos x="T189" y="T191"/>
                </a:cxn>
                <a:cxn ang="0">
                  <a:pos x="T193" y="T195"/>
                </a:cxn>
                <a:cxn ang="0">
                  <a:pos x="T197" y="T199"/>
                </a:cxn>
                <a:cxn ang="0">
                  <a:pos x="T201" y="T203"/>
                </a:cxn>
                <a:cxn ang="0">
                  <a:pos x="T205" y="T207"/>
                </a:cxn>
                <a:cxn ang="0">
                  <a:pos x="T209" y="T211"/>
                </a:cxn>
                <a:cxn ang="0">
                  <a:pos x="T213" y="T215"/>
                </a:cxn>
                <a:cxn ang="0">
                  <a:pos x="T217" y="T219"/>
                </a:cxn>
              </a:cxnLst>
              <a:rect l="0" t="0" r="r" b="b"/>
              <a:pathLst>
                <a:path w="6900" h="3920">
                  <a:moveTo>
                    <a:pt x="0" y="0"/>
                  </a:moveTo>
                  <a:lnTo>
                    <a:pt x="70" y="28"/>
                  </a:lnTo>
                  <a:lnTo>
                    <a:pt x="140" y="53"/>
                  </a:lnTo>
                  <a:lnTo>
                    <a:pt x="209" y="75"/>
                  </a:lnTo>
                  <a:lnTo>
                    <a:pt x="279" y="96"/>
                  </a:lnTo>
                  <a:lnTo>
                    <a:pt x="349" y="117"/>
                  </a:lnTo>
                  <a:lnTo>
                    <a:pt x="418" y="141"/>
                  </a:lnTo>
                  <a:lnTo>
                    <a:pt x="488" y="168"/>
                  </a:lnTo>
                  <a:lnTo>
                    <a:pt x="558" y="200"/>
                  </a:lnTo>
                  <a:lnTo>
                    <a:pt x="627" y="239"/>
                  </a:lnTo>
                  <a:lnTo>
                    <a:pt x="697" y="286"/>
                  </a:lnTo>
                  <a:lnTo>
                    <a:pt x="767" y="343"/>
                  </a:lnTo>
                  <a:lnTo>
                    <a:pt x="815" y="390"/>
                  </a:lnTo>
                  <a:lnTo>
                    <a:pt x="863" y="444"/>
                  </a:lnTo>
                  <a:lnTo>
                    <a:pt x="911" y="504"/>
                  </a:lnTo>
                  <a:lnTo>
                    <a:pt x="958" y="568"/>
                  </a:lnTo>
                  <a:lnTo>
                    <a:pt x="1006" y="637"/>
                  </a:lnTo>
                  <a:lnTo>
                    <a:pt x="1054" y="709"/>
                  </a:lnTo>
                  <a:lnTo>
                    <a:pt x="1102" y="783"/>
                  </a:lnTo>
                  <a:lnTo>
                    <a:pt x="1150" y="858"/>
                  </a:lnTo>
                  <a:lnTo>
                    <a:pt x="1198" y="933"/>
                  </a:lnTo>
                  <a:lnTo>
                    <a:pt x="1246" y="1007"/>
                  </a:lnTo>
                  <a:lnTo>
                    <a:pt x="1294" y="1079"/>
                  </a:lnTo>
                  <a:lnTo>
                    <a:pt x="1342" y="1148"/>
                  </a:lnTo>
                  <a:lnTo>
                    <a:pt x="1390" y="1213"/>
                  </a:lnTo>
                  <a:lnTo>
                    <a:pt x="1438" y="1273"/>
                  </a:lnTo>
                  <a:lnTo>
                    <a:pt x="1486" y="1327"/>
                  </a:lnTo>
                  <a:lnTo>
                    <a:pt x="1534" y="1373"/>
                  </a:lnTo>
                  <a:lnTo>
                    <a:pt x="1597" y="1424"/>
                  </a:lnTo>
                  <a:lnTo>
                    <a:pt x="1661" y="1462"/>
                  </a:lnTo>
                  <a:lnTo>
                    <a:pt x="1725" y="1491"/>
                  </a:lnTo>
                  <a:lnTo>
                    <a:pt x="1789" y="1513"/>
                  </a:lnTo>
                  <a:lnTo>
                    <a:pt x="1853" y="1530"/>
                  </a:lnTo>
                  <a:lnTo>
                    <a:pt x="1917" y="1545"/>
                  </a:lnTo>
                  <a:lnTo>
                    <a:pt x="1981" y="1560"/>
                  </a:lnTo>
                  <a:lnTo>
                    <a:pt x="2045" y="1577"/>
                  </a:lnTo>
                  <a:lnTo>
                    <a:pt x="2108" y="1599"/>
                  </a:lnTo>
                  <a:lnTo>
                    <a:pt x="2172" y="1628"/>
                  </a:lnTo>
                  <a:lnTo>
                    <a:pt x="2236" y="1666"/>
                  </a:lnTo>
                  <a:lnTo>
                    <a:pt x="2300" y="1717"/>
                  </a:lnTo>
                  <a:lnTo>
                    <a:pt x="2348" y="1763"/>
                  </a:lnTo>
                  <a:lnTo>
                    <a:pt x="2396" y="1815"/>
                  </a:lnTo>
                  <a:lnTo>
                    <a:pt x="2444" y="1872"/>
                  </a:lnTo>
                  <a:lnTo>
                    <a:pt x="2492" y="1934"/>
                  </a:lnTo>
                  <a:lnTo>
                    <a:pt x="2540" y="1999"/>
                  </a:lnTo>
                  <a:lnTo>
                    <a:pt x="2588" y="2068"/>
                  </a:lnTo>
                  <a:lnTo>
                    <a:pt x="2636" y="2138"/>
                  </a:lnTo>
                  <a:lnTo>
                    <a:pt x="2683" y="2210"/>
                  </a:lnTo>
                  <a:lnTo>
                    <a:pt x="2731" y="2283"/>
                  </a:lnTo>
                  <a:lnTo>
                    <a:pt x="2779" y="2355"/>
                  </a:lnTo>
                  <a:lnTo>
                    <a:pt x="2827" y="2427"/>
                  </a:lnTo>
                  <a:lnTo>
                    <a:pt x="2875" y="2497"/>
                  </a:lnTo>
                  <a:lnTo>
                    <a:pt x="2923" y="2565"/>
                  </a:lnTo>
                  <a:lnTo>
                    <a:pt x="2971" y="2630"/>
                  </a:lnTo>
                  <a:lnTo>
                    <a:pt x="3019" y="2691"/>
                  </a:lnTo>
                  <a:lnTo>
                    <a:pt x="3067" y="2747"/>
                  </a:lnTo>
                  <a:lnTo>
                    <a:pt x="3126" y="2812"/>
                  </a:lnTo>
                  <a:lnTo>
                    <a:pt x="3185" y="2875"/>
                  </a:lnTo>
                  <a:lnTo>
                    <a:pt x="3244" y="2936"/>
                  </a:lnTo>
                  <a:lnTo>
                    <a:pt x="3303" y="2995"/>
                  </a:lnTo>
                  <a:lnTo>
                    <a:pt x="3362" y="3052"/>
                  </a:lnTo>
                  <a:lnTo>
                    <a:pt x="3421" y="3106"/>
                  </a:lnTo>
                  <a:lnTo>
                    <a:pt x="3480" y="3159"/>
                  </a:lnTo>
                  <a:lnTo>
                    <a:pt x="3539" y="3210"/>
                  </a:lnTo>
                  <a:lnTo>
                    <a:pt x="3598" y="3259"/>
                  </a:lnTo>
                  <a:lnTo>
                    <a:pt x="3657" y="3306"/>
                  </a:lnTo>
                  <a:lnTo>
                    <a:pt x="3716" y="3350"/>
                  </a:lnTo>
                  <a:lnTo>
                    <a:pt x="3775" y="3393"/>
                  </a:lnTo>
                  <a:lnTo>
                    <a:pt x="3834" y="3434"/>
                  </a:lnTo>
                  <a:lnTo>
                    <a:pt x="3903" y="3479"/>
                  </a:lnTo>
                  <a:lnTo>
                    <a:pt x="3973" y="3521"/>
                  </a:lnTo>
                  <a:lnTo>
                    <a:pt x="4043" y="3559"/>
                  </a:lnTo>
                  <a:lnTo>
                    <a:pt x="4112" y="3595"/>
                  </a:lnTo>
                  <a:lnTo>
                    <a:pt x="4182" y="3628"/>
                  </a:lnTo>
                  <a:lnTo>
                    <a:pt x="4252" y="3659"/>
                  </a:lnTo>
                  <a:lnTo>
                    <a:pt x="4321" y="3687"/>
                  </a:lnTo>
                  <a:lnTo>
                    <a:pt x="4391" y="3712"/>
                  </a:lnTo>
                  <a:lnTo>
                    <a:pt x="4461" y="3736"/>
                  </a:lnTo>
                  <a:lnTo>
                    <a:pt x="4530" y="3757"/>
                  </a:lnTo>
                  <a:lnTo>
                    <a:pt x="4600" y="3777"/>
                  </a:lnTo>
                  <a:lnTo>
                    <a:pt x="4677" y="3795"/>
                  </a:lnTo>
                  <a:lnTo>
                    <a:pt x="4753" y="3808"/>
                  </a:lnTo>
                  <a:lnTo>
                    <a:pt x="4830" y="3818"/>
                  </a:lnTo>
                  <a:lnTo>
                    <a:pt x="4907" y="3824"/>
                  </a:lnTo>
                  <a:lnTo>
                    <a:pt x="4983" y="3828"/>
                  </a:lnTo>
                  <a:lnTo>
                    <a:pt x="5060" y="3831"/>
                  </a:lnTo>
                  <a:lnTo>
                    <a:pt x="5137" y="3834"/>
                  </a:lnTo>
                  <a:lnTo>
                    <a:pt x="5213" y="3836"/>
                  </a:lnTo>
                  <a:lnTo>
                    <a:pt x="5290" y="3840"/>
                  </a:lnTo>
                  <a:lnTo>
                    <a:pt x="5367" y="3846"/>
                  </a:lnTo>
                  <a:lnTo>
                    <a:pt x="5443" y="3853"/>
                  </a:lnTo>
                  <a:lnTo>
                    <a:pt x="5520" y="3860"/>
                  </a:lnTo>
                  <a:lnTo>
                    <a:pt x="5597" y="3868"/>
                  </a:lnTo>
                  <a:lnTo>
                    <a:pt x="5673" y="3876"/>
                  </a:lnTo>
                  <a:lnTo>
                    <a:pt x="5750" y="3884"/>
                  </a:lnTo>
                  <a:lnTo>
                    <a:pt x="5827" y="3892"/>
                  </a:lnTo>
                  <a:lnTo>
                    <a:pt x="5903" y="3899"/>
                  </a:lnTo>
                  <a:lnTo>
                    <a:pt x="5980" y="3905"/>
                  </a:lnTo>
                  <a:lnTo>
                    <a:pt x="6057" y="3910"/>
                  </a:lnTo>
                  <a:lnTo>
                    <a:pt x="6134" y="3914"/>
                  </a:lnTo>
                  <a:lnTo>
                    <a:pt x="6210" y="3917"/>
                  </a:lnTo>
                  <a:lnTo>
                    <a:pt x="6287" y="3919"/>
                  </a:lnTo>
                  <a:lnTo>
                    <a:pt x="6363" y="3919"/>
                  </a:lnTo>
                  <a:lnTo>
                    <a:pt x="6440" y="3919"/>
                  </a:lnTo>
                  <a:lnTo>
                    <a:pt x="6517" y="3919"/>
                  </a:lnTo>
                  <a:lnTo>
                    <a:pt x="6593" y="3918"/>
                  </a:lnTo>
                  <a:lnTo>
                    <a:pt x="6670" y="3916"/>
                  </a:lnTo>
                  <a:lnTo>
                    <a:pt x="6747" y="3915"/>
                  </a:lnTo>
                  <a:lnTo>
                    <a:pt x="6823" y="3915"/>
                  </a:lnTo>
                  <a:lnTo>
                    <a:pt x="6900" y="3914"/>
                  </a:lnTo>
                </a:path>
              </a:pathLst>
            </a:custGeom>
            <a:noFill/>
            <a:ln w="9141">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pic>
          <p:nvPicPr>
            <p:cNvPr id="62" name="Picture 6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99" y="-4533"/>
              <a:ext cx="1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 name="Picture 6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66" y="-4190"/>
              <a:ext cx="1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 name="Picture 6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33" y="-3160"/>
              <a:ext cx="1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 name="Freeform 64"/>
            <p:cNvSpPr>
              <a:spLocks/>
            </p:cNvSpPr>
            <p:nvPr/>
          </p:nvSpPr>
          <p:spPr bwMode="auto">
            <a:xfrm>
              <a:off x="5610" y="-2803"/>
              <a:ext cx="120" cy="120"/>
            </a:xfrm>
            <a:custGeom>
              <a:avLst/>
              <a:gdLst>
                <a:gd name="T0" fmla="+- 0 5670 5610"/>
                <a:gd name="T1" fmla="*/ T0 w 120"/>
                <a:gd name="T2" fmla="+- 0 -2802 -2802"/>
                <a:gd name="T3" fmla="*/ -2802 h 120"/>
                <a:gd name="T4" fmla="+- 0 5730 5610"/>
                <a:gd name="T5" fmla="*/ T4 w 120"/>
                <a:gd name="T6" fmla="+- 0 -2742 -2802"/>
                <a:gd name="T7" fmla="*/ -2742 h 120"/>
                <a:gd name="T8" fmla="+- 0 5670 5610"/>
                <a:gd name="T9" fmla="*/ T8 w 120"/>
                <a:gd name="T10" fmla="+- 0 -2682 -2802"/>
                <a:gd name="T11" fmla="*/ -2682 h 120"/>
                <a:gd name="T12" fmla="+- 0 5610 5610"/>
                <a:gd name="T13" fmla="*/ T12 w 120"/>
                <a:gd name="T14" fmla="+- 0 -2742 -2802"/>
                <a:gd name="T15" fmla="*/ -2742 h 120"/>
                <a:gd name="T16" fmla="+- 0 5670 5610"/>
                <a:gd name="T17" fmla="*/ T16 w 120"/>
                <a:gd name="T18" fmla="+- 0 -2802 -2802"/>
                <a:gd name="T19" fmla="*/ -2802 h 120"/>
              </a:gdLst>
              <a:ahLst/>
              <a:cxnLst>
                <a:cxn ang="0">
                  <a:pos x="T1" y="T3"/>
                </a:cxn>
                <a:cxn ang="0">
                  <a:pos x="T5" y="T7"/>
                </a:cxn>
                <a:cxn ang="0">
                  <a:pos x="T9" y="T11"/>
                </a:cxn>
                <a:cxn ang="0">
                  <a:pos x="T13" y="T15"/>
                </a:cxn>
                <a:cxn ang="0">
                  <a:pos x="T17" y="T19"/>
                </a:cxn>
              </a:cxnLst>
              <a:rect l="0" t="0" r="r" b="b"/>
              <a:pathLst>
                <a:path w="120" h="120">
                  <a:moveTo>
                    <a:pt x="60" y="0"/>
                  </a:moveTo>
                  <a:lnTo>
                    <a:pt x="120" y="60"/>
                  </a:lnTo>
                  <a:lnTo>
                    <a:pt x="60" y="120"/>
                  </a:lnTo>
                  <a:lnTo>
                    <a:pt x="0" y="60"/>
                  </a:lnTo>
                  <a:lnTo>
                    <a:pt x="60" y="0"/>
                  </a:lnTo>
                  <a:close/>
                </a:path>
              </a:pathLst>
            </a:custGeom>
            <a:noFill/>
            <a:ln w="15231">
              <a:solidFill>
                <a:srgbClr val="5B9BD4"/>
              </a:solidFill>
              <a:prstDash val="solid"/>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pic>
          <p:nvPicPr>
            <p:cNvPr id="66" name="Picture 6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65" y="-1785"/>
              <a:ext cx="1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 name="Picture 6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32" y="-1099"/>
              <a:ext cx="1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 name="Picture 6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97" y="-756"/>
              <a:ext cx="1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 name="Picture 6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64" y="-686"/>
              <a:ext cx="1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 name="Picture 6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31" y="-616"/>
              <a:ext cx="1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 name="Picture 7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99" y="-616"/>
              <a:ext cx="1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 name="Freeform 71"/>
            <p:cNvSpPr>
              <a:spLocks/>
            </p:cNvSpPr>
            <p:nvPr/>
          </p:nvSpPr>
          <p:spPr bwMode="auto">
            <a:xfrm>
              <a:off x="3371" y="-4486"/>
              <a:ext cx="6900" cy="2774"/>
            </a:xfrm>
            <a:custGeom>
              <a:avLst/>
              <a:gdLst>
                <a:gd name="T0" fmla="+- 0 3448 3371"/>
                <a:gd name="T1" fmla="*/ T0 w 6900"/>
                <a:gd name="T2" fmla="+- 0 -1733 -4486"/>
                <a:gd name="T3" fmla="*/ -1733 h 2774"/>
                <a:gd name="T4" fmla="+- 0 3601 3371"/>
                <a:gd name="T5" fmla="*/ T4 w 6900"/>
                <a:gd name="T6" fmla="+- 0 -1772 -4486"/>
                <a:gd name="T7" fmla="*/ -1772 h 2774"/>
                <a:gd name="T8" fmla="+- 0 3754 3371"/>
                <a:gd name="T9" fmla="*/ T8 w 6900"/>
                <a:gd name="T10" fmla="+- 0 -1811 -4486"/>
                <a:gd name="T11" fmla="*/ -1811 h 2774"/>
                <a:gd name="T12" fmla="+- 0 3908 3371"/>
                <a:gd name="T13" fmla="*/ T12 w 6900"/>
                <a:gd name="T14" fmla="+- 0 -1852 -4486"/>
                <a:gd name="T15" fmla="*/ -1852 h 2774"/>
                <a:gd name="T16" fmla="+- 0 4061 3371"/>
                <a:gd name="T17" fmla="*/ T16 w 6900"/>
                <a:gd name="T18" fmla="+- 0 -1895 -4486"/>
                <a:gd name="T19" fmla="*/ -1895 h 2774"/>
                <a:gd name="T20" fmla="+- 0 4214 3371"/>
                <a:gd name="T21" fmla="*/ T20 w 6900"/>
                <a:gd name="T22" fmla="+- 0 -1942 -4486"/>
                <a:gd name="T23" fmla="*/ -1942 h 2774"/>
                <a:gd name="T24" fmla="+- 0 4368 3371"/>
                <a:gd name="T25" fmla="*/ T24 w 6900"/>
                <a:gd name="T26" fmla="+- 0 -1987 -4486"/>
                <a:gd name="T27" fmla="*/ -1987 h 2774"/>
                <a:gd name="T28" fmla="+- 0 4521 3371"/>
                <a:gd name="T29" fmla="*/ T28 w 6900"/>
                <a:gd name="T30" fmla="+- 0 -2035 -4486"/>
                <a:gd name="T31" fmla="*/ -2035 h 2774"/>
                <a:gd name="T32" fmla="+- 0 4675 3371"/>
                <a:gd name="T33" fmla="*/ T32 w 6900"/>
                <a:gd name="T34" fmla="+- 0 -2089 -4486"/>
                <a:gd name="T35" fmla="*/ -2089 h 2774"/>
                <a:gd name="T36" fmla="+- 0 4828 3371"/>
                <a:gd name="T37" fmla="*/ T36 w 6900"/>
                <a:gd name="T38" fmla="+- 0 -2155 -4486"/>
                <a:gd name="T39" fmla="*/ -2155 h 2774"/>
                <a:gd name="T40" fmla="+- 0 4968 3371"/>
                <a:gd name="T41" fmla="*/ T40 w 6900"/>
                <a:gd name="T42" fmla="+- 0 -2230 -4486"/>
                <a:gd name="T43" fmla="*/ -2230 h 2774"/>
                <a:gd name="T44" fmla="+- 0 5096 3371"/>
                <a:gd name="T45" fmla="*/ T44 w 6900"/>
                <a:gd name="T46" fmla="+- 0 -2316 -4486"/>
                <a:gd name="T47" fmla="*/ -2316 h 2774"/>
                <a:gd name="T48" fmla="+- 0 5224 3371"/>
                <a:gd name="T49" fmla="*/ T48 w 6900"/>
                <a:gd name="T50" fmla="+- 0 -2413 -4486"/>
                <a:gd name="T51" fmla="*/ -2413 h 2774"/>
                <a:gd name="T52" fmla="+- 0 5352 3371"/>
                <a:gd name="T53" fmla="*/ T52 w 6900"/>
                <a:gd name="T54" fmla="+- 0 -2515 -4486"/>
                <a:gd name="T55" fmla="*/ -2515 h 2774"/>
                <a:gd name="T56" fmla="+- 0 5479 3371"/>
                <a:gd name="T57" fmla="*/ T56 w 6900"/>
                <a:gd name="T58" fmla="+- 0 -2614 -4486"/>
                <a:gd name="T59" fmla="*/ -2614 h 2774"/>
                <a:gd name="T60" fmla="+- 0 5607 3371"/>
                <a:gd name="T61" fmla="*/ T60 w 6900"/>
                <a:gd name="T62" fmla="+- 0 -2704 -4486"/>
                <a:gd name="T63" fmla="*/ -2704 h 2774"/>
                <a:gd name="T64" fmla="+- 0 5741 3371"/>
                <a:gd name="T65" fmla="*/ T64 w 6900"/>
                <a:gd name="T66" fmla="+- 0 -2781 -4486"/>
                <a:gd name="T67" fmla="*/ -2781 h 2774"/>
                <a:gd name="T68" fmla="+- 0 5880 3371"/>
                <a:gd name="T69" fmla="*/ T68 w 6900"/>
                <a:gd name="T70" fmla="+- 0 -2842 -4486"/>
                <a:gd name="T71" fmla="*/ -2842 h 2774"/>
                <a:gd name="T72" fmla="+- 0 6020 3371"/>
                <a:gd name="T73" fmla="*/ T72 w 6900"/>
                <a:gd name="T74" fmla="+- 0 -2894 -4486"/>
                <a:gd name="T75" fmla="*/ -2894 h 2774"/>
                <a:gd name="T76" fmla="+- 0 6159 3371"/>
                <a:gd name="T77" fmla="*/ T76 w 6900"/>
                <a:gd name="T78" fmla="+- 0 -2945 -4486"/>
                <a:gd name="T79" fmla="*/ -2945 h 2774"/>
                <a:gd name="T80" fmla="+- 0 6298 3371"/>
                <a:gd name="T81" fmla="*/ T80 w 6900"/>
                <a:gd name="T82" fmla="+- 0 -3006 -4486"/>
                <a:gd name="T83" fmla="*/ -3006 h 2774"/>
                <a:gd name="T84" fmla="+- 0 6438 3371"/>
                <a:gd name="T85" fmla="*/ T84 w 6900"/>
                <a:gd name="T86" fmla="+- 0 -3087 -4486"/>
                <a:gd name="T87" fmla="*/ -3087 h 2774"/>
                <a:gd name="T88" fmla="+- 0 6556 3371"/>
                <a:gd name="T89" fmla="*/ T88 w 6900"/>
                <a:gd name="T90" fmla="+- 0 -3177 -4486"/>
                <a:gd name="T91" fmla="*/ -3177 h 2774"/>
                <a:gd name="T92" fmla="+- 0 6674 3371"/>
                <a:gd name="T93" fmla="*/ T92 w 6900"/>
                <a:gd name="T94" fmla="+- 0 -3284 -4486"/>
                <a:gd name="T95" fmla="*/ -3284 h 2774"/>
                <a:gd name="T96" fmla="+- 0 6792 3371"/>
                <a:gd name="T97" fmla="*/ T96 w 6900"/>
                <a:gd name="T98" fmla="+- 0 -3400 -4486"/>
                <a:gd name="T99" fmla="*/ -3400 h 2774"/>
                <a:gd name="T100" fmla="+- 0 6910 3371"/>
                <a:gd name="T101" fmla="*/ T100 w 6900"/>
                <a:gd name="T102" fmla="+- 0 -3519 -4486"/>
                <a:gd name="T103" fmla="*/ -3519 h 2774"/>
                <a:gd name="T104" fmla="+- 0 7028 3371"/>
                <a:gd name="T105" fmla="*/ T104 w 6900"/>
                <a:gd name="T106" fmla="+- 0 -3631 -4486"/>
                <a:gd name="T107" fmla="*/ -3631 h 2774"/>
                <a:gd name="T108" fmla="+- 0 7146 3371"/>
                <a:gd name="T109" fmla="*/ T108 w 6900"/>
                <a:gd name="T110" fmla="+- 0 -3731 -4486"/>
                <a:gd name="T111" fmla="*/ -3731 h 2774"/>
                <a:gd name="T112" fmla="+- 0 7274 3371"/>
                <a:gd name="T113" fmla="*/ T112 w 6900"/>
                <a:gd name="T114" fmla="+- 0 -3818 -4486"/>
                <a:gd name="T115" fmla="*/ -3818 h 2774"/>
                <a:gd name="T116" fmla="+- 0 7414 3371"/>
                <a:gd name="T117" fmla="*/ T116 w 6900"/>
                <a:gd name="T118" fmla="+- 0 -3892 -4486"/>
                <a:gd name="T119" fmla="*/ -3892 h 2774"/>
                <a:gd name="T120" fmla="+- 0 7553 3371"/>
                <a:gd name="T121" fmla="*/ T120 w 6900"/>
                <a:gd name="T122" fmla="+- 0 -3953 -4486"/>
                <a:gd name="T123" fmla="*/ -3953 h 2774"/>
                <a:gd name="T124" fmla="+- 0 7692 3371"/>
                <a:gd name="T125" fmla="*/ T124 w 6900"/>
                <a:gd name="T126" fmla="+- 0 -4007 -4486"/>
                <a:gd name="T127" fmla="*/ -4007 h 2774"/>
                <a:gd name="T128" fmla="+- 0 7832 3371"/>
                <a:gd name="T129" fmla="*/ T128 w 6900"/>
                <a:gd name="T130" fmla="+- 0 -4059 -4486"/>
                <a:gd name="T131" fmla="*/ -4059 h 2774"/>
                <a:gd name="T132" fmla="+- 0 7971 3371"/>
                <a:gd name="T133" fmla="*/ T132 w 6900"/>
                <a:gd name="T134" fmla="+- 0 -4117 -4486"/>
                <a:gd name="T135" fmla="*/ -4117 h 2774"/>
                <a:gd name="T136" fmla="+- 0 8111 3371"/>
                <a:gd name="T137" fmla="*/ T136 w 6900"/>
                <a:gd name="T138" fmla="+- 0 -4184 -4486"/>
                <a:gd name="T139" fmla="*/ -4184 h 2774"/>
                <a:gd name="T140" fmla="+- 0 8250 3371"/>
                <a:gd name="T141" fmla="*/ T140 w 6900"/>
                <a:gd name="T142" fmla="+- 0 -4256 -4486"/>
                <a:gd name="T143" fmla="*/ -4256 h 2774"/>
                <a:gd name="T144" fmla="+- 0 8389 3371"/>
                <a:gd name="T145" fmla="*/ T144 w 6900"/>
                <a:gd name="T146" fmla="+- 0 -4328 -4486"/>
                <a:gd name="T147" fmla="*/ -4328 h 2774"/>
                <a:gd name="T148" fmla="+- 0 8529 3371"/>
                <a:gd name="T149" fmla="*/ T148 w 6900"/>
                <a:gd name="T150" fmla="+- 0 -4392 -4486"/>
                <a:gd name="T151" fmla="*/ -4392 h 2774"/>
                <a:gd name="T152" fmla="+- 0 8668 3371"/>
                <a:gd name="T153" fmla="*/ T152 w 6900"/>
                <a:gd name="T154" fmla="+- 0 -4442 -4486"/>
                <a:gd name="T155" fmla="*/ -4442 h 2774"/>
                <a:gd name="T156" fmla="+- 0 8814 3371"/>
                <a:gd name="T157" fmla="*/ T156 w 6900"/>
                <a:gd name="T158" fmla="+- 0 -4474 -4486"/>
                <a:gd name="T159" fmla="*/ -4474 h 2774"/>
                <a:gd name="T160" fmla="+- 0 8968 3371"/>
                <a:gd name="T161" fmla="*/ T160 w 6900"/>
                <a:gd name="T162" fmla="+- 0 -4486 -4486"/>
                <a:gd name="T163" fmla="*/ -4486 h 2774"/>
                <a:gd name="T164" fmla="+- 0 9121 3371"/>
                <a:gd name="T165" fmla="*/ T164 w 6900"/>
                <a:gd name="T166" fmla="+- 0 -4482 -4486"/>
                <a:gd name="T167" fmla="*/ -4482 h 2774"/>
                <a:gd name="T168" fmla="+- 0 9274 3371"/>
                <a:gd name="T169" fmla="*/ T168 w 6900"/>
                <a:gd name="T170" fmla="+- 0 -4471 -4486"/>
                <a:gd name="T171" fmla="*/ -4471 h 2774"/>
                <a:gd name="T172" fmla="+- 0 9428 3371"/>
                <a:gd name="T173" fmla="*/ T172 w 6900"/>
                <a:gd name="T174" fmla="+- 0 -4462 -4486"/>
                <a:gd name="T175" fmla="*/ -4462 h 2774"/>
                <a:gd name="T176" fmla="+- 0 9581 3371"/>
                <a:gd name="T177" fmla="*/ T176 w 6900"/>
                <a:gd name="T178" fmla="+- 0 -4461 -4486"/>
                <a:gd name="T179" fmla="*/ -4461 h 2774"/>
                <a:gd name="T180" fmla="+- 0 9734 3371"/>
                <a:gd name="T181" fmla="*/ T180 w 6900"/>
                <a:gd name="T182" fmla="+- 0 -4461 -4486"/>
                <a:gd name="T183" fmla="*/ -4461 h 2774"/>
                <a:gd name="T184" fmla="+- 0 9888 3371"/>
                <a:gd name="T185" fmla="*/ T184 w 6900"/>
                <a:gd name="T186" fmla="+- 0 -4461 -4486"/>
                <a:gd name="T187" fmla="*/ -4461 h 2774"/>
                <a:gd name="T188" fmla="+- 0 10041 3371"/>
                <a:gd name="T189" fmla="*/ T188 w 6900"/>
                <a:gd name="T190" fmla="+- 0 -4461 -4486"/>
                <a:gd name="T191" fmla="*/ -4461 h 2774"/>
                <a:gd name="T192" fmla="+- 0 10194 3371"/>
                <a:gd name="T193" fmla="*/ T192 w 6900"/>
                <a:gd name="T194" fmla="+- 0 -4461 -4486"/>
                <a:gd name="T195" fmla="*/ -4461 h 2774"/>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 ang="0">
                  <a:pos x="T113" y="T115"/>
                </a:cxn>
                <a:cxn ang="0">
                  <a:pos x="T117" y="T119"/>
                </a:cxn>
                <a:cxn ang="0">
                  <a:pos x="T121" y="T123"/>
                </a:cxn>
                <a:cxn ang="0">
                  <a:pos x="T125" y="T127"/>
                </a:cxn>
                <a:cxn ang="0">
                  <a:pos x="T129" y="T131"/>
                </a:cxn>
                <a:cxn ang="0">
                  <a:pos x="T133" y="T135"/>
                </a:cxn>
                <a:cxn ang="0">
                  <a:pos x="T137" y="T139"/>
                </a:cxn>
                <a:cxn ang="0">
                  <a:pos x="T141" y="T143"/>
                </a:cxn>
                <a:cxn ang="0">
                  <a:pos x="T145" y="T147"/>
                </a:cxn>
                <a:cxn ang="0">
                  <a:pos x="T149" y="T151"/>
                </a:cxn>
                <a:cxn ang="0">
                  <a:pos x="T153" y="T155"/>
                </a:cxn>
                <a:cxn ang="0">
                  <a:pos x="T157" y="T159"/>
                </a:cxn>
                <a:cxn ang="0">
                  <a:pos x="T161" y="T163"/>
                </a:cxn>
                <a:cxn ang="0">
                  <a:pos x="T165" y="T167"/>
                </a:cxn>
                <a:cxn ang="0">
                  <a:pos x="T169" y="T171"/>
                </a:cxn>
                <a:cxn ang="0">
                  <a:pos x="T173" y="T175"/>
                </a:cxn>
                <a:cxn ang="0">
                  <a:pos x="T177" y="T179"/>
                </a:cxn>
                <a:cxn ang="0">
                  <a:pos x="T181" y="T183"/>
                </a:cxn>
                <a:cxn ang="0">
                  <a:pos x="T185" y="T187"/>
                </a:cxn>
                <a:cxn ang="0">
                  <a:pos x="T189" y="T191"/>
                </a:cxn>
                <a:cxn ang="0">
                  <a:pos x="T193" y="T195"/>
                </a:cxn>
              </a:cxnLst>
              <a:rect l="0" t="0" r="r" b="b"/>
              <a:pathLst>
                <a:path w="6900" h="2774">
                  <a:moveTo>
                    <a:pt x="0" y="2773"/>
                  </a:moveTo>
                  <a:lnTo>
                    <a:pt x="77" y="2753"/>
                  </a:lnTo>
                  <a:lnTo>
                    <a:pt x="153" y="2733"/>
                  </a:lnTo>
                  <a:lnTo>
                    <a:pt x="230" y="2714"/>
                  </a:lnTo>
                  <a:lnTo>
                    <a:pt x="307" y="2694"/>
                  </a:lnTo>
                  <a:lnTo>
                    <a:pt x="383" y="2675"/>
                  </a:lnTo>
                  <a:lnTo>
                    <a:pt x="460" y="2655"/>
                  </a:lnTo>
                  <a:lnTo>
                    <a:pt x="537" y="2634"/>
                  </a:lnTo>
                  <a:lnTo>
                    <a:pt x="613" y="2613"/>
                  </a:lnTo>
                  <a:lnTo>
                    <a:pt x="690" y="2591"/>
                  </a:lnTo>
                  <a:lnTo>
                    <a:pt x="767" y="2567"/>
                  </a:lnTo>
                  <a:lnTo>
                    <a:pt x="843" y="2544"/>
                  </a:lnTo>
                  <a:lnTo>
                    <a:pt x="920" y="2521"/>
                  </a:lnTo>
                  <a:lnTo>
                    <a:pt x="997" y="2499"/>
                  </a:lnTo>
                  <a:lnTo>
                    <a:pt x="1073" y="2476"/>
                  </a:lnTo>
                  <a:lnTo>
                    <a:pt x="1150" y="2451"/>
                  </a:lnTo>
                  <a:lnTo>
                    <a:pt x="1227" y="2426"/>
                  </a:lnTo>
                  <a:lnTo>
                    <a:pt x="1304" y="2397"/>
                  </a:lnTo>
                  <a:lnTo>
                    <a:pt x="1380" y="2366"/>
                  </a:lnTo>
                  <a:lnTo>
                    <a:pt x="1457" y="2331"/>
                  </a:lnTo>
                  <a:lnTo>
                    <a:pt x="1534" y="2292"/>
                  </a:lnTo>
                  <a:lnTo>
                    <a:pt x="1597" y="2256"/>
                  </a:lnTo>
                  <a:lnTo>
                    <a:pt x="1661" y="2214"/>
                  </a:lnTo>
                  <a:lnTo>
                    <a:pt x="1725" y="2170"/>
                  </a:lnTo>
                  <a:lnTo>
                    <a:pt x="1789" y="2122"/>
                  </a:lnTo>
                  <a:lnTo>
                    <a:pt x="1853" y="2073"/>
                  </a:lnTo>
                  <a:lnTo>
                    <a:pt x="1917" y="2022"/>
                  </a:lnTo>
                  <a:lnTo>
                    <a:pt x="1981" y="1971"/>
                  </a:lnTo>
                  <a:lnTo>
                    <a:pt x="2045" y="1921"/>
                  </a:lnTo>
                  <a:lnTo>
                    <a:pt x="2108" y="1872"/>
                  </a:lnTo>
                  <a:lnTo>
                    <a:pt x="2172" y="1826"/>
                  </a:lnTo>
                  <a:lnTo>
                    <a:pt x="2236" y="1782"/>
                  </a:lnTo>
                  <a:lnTo>
                    <a:pt x="2300" y="1743"/>
                  </a:lnTo>
                  <a:lnTo>
                    <a:pt x="2370" y="1705"/>
                  </a:lnTo>
                  <a:lnTo>
                    <a:pt x="2440" y="1673"/>
                  </a:lnTo>
                  <a:lnTo>
                    <a:pt x="2509" y="1644"/>
                  </a:lnTo>
                  <a:lnTo>
                    <a:pt x="2579" y="1617"/>
                  </a:lnTo>
                  <a:lnTo>
                    <a:pt x="2649" y="1592"/>
                  </a:lnTo>
                  <a:lnTo>
                    <a:pt x="2718" y="1567"/>
                  </a:lnTo>
                  <a:lnTo>
                    <a:pt x="2788" y="1541"/>
                  </a:lnTo>
                  <a:lnTo>
                    <a:pt x="2858" y="1512"/>
                  </a:lnTo>
                  <a:lnTo>
                    <a:pt x="2927" y="1480"/>
                  </a:lnTo>
                  <a:lnTo>
                    <a:pt x="2997" y="1443"/>
                  </a:lnTo>
                  <a:lnTo>
                    <a:pt x="3067" y="1399"/>
                  </a:lnTo>
                  <a:lnTo>
                    <a:pt x="3126" y="1357"/>
                  </a:lnTo>
                  <a:lnTo>
                    <a:pt x="3185" y="1309"/>
                  </a:lnTo>
                  <a:lnTo>
                    <a:pt x="3244" y="1257"/>
                  </a:lnTo>
                  <a:lnTo>
                    <a:pt x="3303" y="1202"/>
                  </a:lnTo>
                  <a:lnTo>
                    <a:pt x="3362" y="1145"/>
                  </a:lnTo>
                  <a:lnTo>
                    <a:pt x="3421" y="1086"/>
                  </a:lnTo>
                  <a:lnTo>
                    <a:pt x="3480" y="1026"/>
                  </a:lnTo>
                  <a:lnTo>
                    <a:pt x="3539" y="967"/>
                  </a:lnTo>
                  <a:lnTo>
                    <a:pt x="3598" y="910"/>
                  </a:lnTo>
                  <a:lnTo>
                    <a:pt x="3657" y="855"/>
                  </a:lnTo>
                  <a:lnTo>
                    <a:pt x="3716" y="803"/>
                  </a:lnTo>
                  <a:lnTo>
                    <a:pt x="3775" y="755"/>
                  </a:lnTo>
                  <a:lnTo>
                    <a:pt x="3834" y="712"/>
                  </a:lnTo>
                  <a:lnTo>
                    <a:pt x="3903" y="668"/>
                  </a:lnTo>
                  <a:lnTo>
                    <a:pt x="3973" y="629"/>
                  </a:lnTo>
                  <a:lnTo>
                    <a:pt x="4043" y="594"/>
                  </a:lnTo>
                  <a:lnTo>
                    <a:pt x="4112" y="562"/>
                  </a:lnTo>
                  <a:lnTo>
                    <a:pt x="4182" y="533"/>
                  </a:lnTo>
                  <a:lnTo>
                    <a:pt x="4252" y="506"/>
                  </a:lnTo>
                  <a:lnTo>
                    <a:pt x="4321" y="479"/>
                  </a:lnTo>
                  <a:lnTo>
                    <a:pt x="4391" y="453"/>
                  </a:lnTo>
                  <a:lnTo>
                    <a:pt x="4461" y="427"/>
                  </a:lnTo>
                  <a:lnTo>
                    <a:pt x="4530" y="399"/>
                  </a:lnTo>
                  <a:lnTo>
                    <a:pt x="4600" y="369"/>
                  </a:lnTo>
                  <a:lnTo>
                    <a:pt x="4670" y="336"/>
                  </a:lnTo>
                  <a:lnTo>
                    <a:pt x="4740" y="302"/>
                  </a:lnTo>
                  <a:lnTo>
                    <a:pt x="4809" y="266"/>
                  </a:lnTo>
                  <a:lnTo>
                    <a:pt x="4879" y="230"/>
                  </a:lnTo>
                  <a:lnTo>
                    <a:pt x="4949" y="193"/>
                  </a:lnTo>
                  <a:lnTo>
                    <a:pt x="5018" y="158"/>
                  </a:lnTo>
                  <a:lnTo>
                    <a:pt x="5088" y="125"/>
                  </a:lnTo>
                  <a:lnTo>
                    <a:pt x="5158" y="94"/>
                  </a:lnTo>
                  <a:lnTo>
                    <a:pt x="5227" y="67"/>
                  </a:lnTo>
                  <a:lnTo>
                    <a:pt x="5297" y="44"/>
                  </a:lnTo>
                  <a:lnTo>
                    <a:pt x="5367" y="25"/>
                  </a:lnTo>
                  <a:lnTo>
                    <a:pt x="5443" y="12"/>
                  </a:lnTo>
                  <a:lnTo>
                    <a:pt x="5520" y="3"/>
                  </a:lnTo>
                  <a:lnTo>
                    <a:pt x="5597" y="0"/>
                  </a:lnTo>
                  <a:lnTo>
                    <a:pt x="5673" y="1"/>
                  </a:lnTo>
                  <a:lnTo>
                    <a:pt x="5750" y="4"/>
                  </a:lnTo>
                  <a:lnTo>
                    <a:pt x="5827" y="9"/>
                  </a:lnTo>
                  <a:lnTo>
                    <a:pt x="5903" y="15"/>
                  </a:lnTo>
                  <a:lnTo>
                    <a:pt x="5980" y="20"/>
                  </a:lnTo>
                  <a:lnTo>
                    <a:pt x="6057" y="24"/>
                  </a:lnTo>
                  <a:lnTo>
                    <a:pt x="6134" y="25"/>
                  </a:lnTo>
                  <a:lnTo>
                    <a:pt x="6210" y="25"/>
                  </a:lnTo>
                  <a:lnTo>
                    <a:pt x="6287" y="25"/>
                  </a:lnTo>
                  <a:lnTo>
                    <a:pt x="6363" y="25"/>
                  </a:lnTo>
                  <a:lnTo>
                    <a:pt x="6440" y="25"/>
                  </a:lnTo>
                  <a:lnTo>
                    <a:pt x="6517" y="25"/>
                  </a:lnTo>
                  <a:lnTo>
                    <a:pt x="6593" y="25"/>
                  </a:lnTo>
                  <a:lnTo>
                    <a:pt x="6670" y="25"/>
                  </a:lnTo>
                  <a:lnTo>
                    <a:pt x="6747" y="25"/>
                  </a:lnTo>
                  <a:lnTo>
                    <a:pt x="6823" y="25"/>
                  </a:lnTo>
                  <a:lnTo>
                    <a:pt x="6900" y="25"/>
                  </a:lnTo>
                </a:path>
              </a:pathLst>
            </a:custGeom>
            <a:noFill/>
            <a:ln w="9142">
              <a:solidFill>
                <a:srgbClr val="C55A11"/>
              </a:solidFill>
              <a:prstDash val="solid"/>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73" name="Rectangle 72"/>
            <p:cNvSpPr>
              <a:spLocks noChangeArrowheads="1"/>
            </p:cNvSpPr>
            <p:nvPr/>
          </p:nvSpPr>
          <p:spPr bwMode="auto">
            <a:xfrm>
              <a:off x="3311" y="-1773"/>
              <a:ext cx="120" cy="120"/>
            </a:xfrm>
            <a:prstGeom prst="rect">
              <a:avLst/>
            </a:prstGeom>
            <a:solidFill>
              <a:srgbClr val="EC7C3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GB"/>
            </a:p>
          </p:txBody>
        </p:sp>
        <p:sp>
          <p:nvSpPr>
            <p:cNvPr id="74" name="Rectangle 73"/>
            <p:cNvSpPr>
              <a:spLocks noChangeArrowheads="1"/>
            </p:cNvSpPr>
            <p:nvPr/>
          </p:nvSpPr>
          <p:spPr bwMode="auto">
            <a:xfrm>
              <a:off x="3311" y="-1773"/>
              <a:ext cx="120" cy="120"/>
            </a:xfrm>
            <a:prstGeom prst="rect">
              <a:avLst/>
            </a:prstGeom>
            <a:noFill/>
            <a:ln w="15231">
              <a:solidFill>
                <a:srgbClr val="EC7C30"/>
              </a:solidFill>
              <a:prstDash val="solid"/>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75" name="Rectangle 74"/>
            <p:cNvSpPr>
              <a:spLocks noChangeArrowheads="1"/>
            </p:cNvSpPr>
            <p:nvPr/>
          </p:nvSpPr>
          <p:spPr bwMode="auto">
            <a:xfrm>
              <a:off x="4078" y="-1979"/>
              <a:ext cx="120" cy="120"/>
            </a:xfrm>
            <a:prstGeom prst="rect">
              <a:avLst/>
            </a:prstGeom>
            <a:solidFill>
              <a:srgbClr val="EC7C3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GB"/>
            </a:p>
          </p:txBody>
        </p:sp>
        <p:sp>
          <p:nvSpPr>
            <p:cNvPr id="76" name="Rectangle 75"/>
            <p:cNvSpPr>
              <a:spLocks noChangeArrowheads="1"/>
            </p:cNvSpPr>
            <p:nvPr/>
          </p:nvSpPr>
          <p:spPr bwMode="auto">
            <a:xfrm>
              <a:off x="4078" y="-1979"/>
              <a:ext cx="120" cy="120"/>
            </a:xfrm>
            <a:prstGeom prst="rect">
              <a:avLst/>
            </a:prstGeom>
            <a:noFill/>
            <a:ln w="15231">
              <a:solidFill>
                <a:srgbClr val="EC7C30"/>
              </a:solidFill>
              <a:prstDash val="solid"/>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77" name="Rectangle 76"/>
            <p:cNvSpPr>
              <a:spLocks noChangeArrowheads="1"/>
            </p:cNvSpPr>
            <p:nvPr/>
          </p:nvSpPr>
          <p:spPr bwMode="auto">
            <a:xfrm>
              <a:off x="4845" y="-2253"/>
              <a:ext cx="120" cy="120"/>
            </a:xfrm>
            <a:prstGeom prst="rect">
              <a:avLst/>
            </a:prstGeom>
            <a:solidFill>
              <a:srgbClr val="EC7C3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GB"/>
            </a:p>
          </p:txBody>
        </p:sp>
        <p:sp>
          <p:nvSpPr>
            <p:cNvPr id="78" name="Rectangle 77"/>
            <p:cNvSpPr>
              <a:spLocks noChangeArrowheads="1"/>
            </p:cNvSpPr>
            <p:nvPr/>
          </p:nvSpPr>
          <p:spPr bwMode="auto">
            <a:xfrm>
              <a:off x="4845" y="-2253"/>
              <a:ext cx="120" cy="120"/>
            </a:xfrm>
            <a:prstGeom prst="rect">
              <a:avLst/>
            </a:prstGeom>
            <a:noFill/>
            <a:ln w="15231">
              <a:solidFill>
                <a:srgbClr val="EC7C30"/>
              </a:solidFill>
              <a:prstDash val="solid"/>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79" name="Rectangle 78"/>
            <p:cNvSpPr>
              <a:spLocks noChangeArrowheads="1"/>
            </p:cNvSpPr>
            <p:nvPr/>
          </p:nvSpPr>
          <p:spPr bwMode="auto">
            <a:xfrm>
              <a:off x="5610" y="-2803"/>
              <a:ext cx="120" cy="120"/>
            </a:xfrm>
            <a:prstGeom prst="rect">
              <a:avLst/>
            </a:prstGeom>
            <a:solidFill>
              <a:srgbClr val="EC7C3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GB"/>
            </a:p>
          </p:txBody>
        </p:sp>
        <p:sp>
          <p:nvSpPr>
            <p:cNvPr id="80" name="Rectangle 79"/>
            <p:cNvSpPr>
              <a:spLocks noChangeArrowheads="1"/>
            </p:cNvSpPr>
            <p:nvPr/>
          </p:nvSpPr>
          <p:spPr bwMode="auto">
            <a:xfrm>
              <a:off x="5610" y="-2803"/>
              <a:ext cx="120" cy="120"/>
            </a:xfrm>
            <a:prstGeom prst="rect">
              <a:avLst/>
            </a:prstGeom>
            <a:noFill/>
            <a:ln w="15231">
              <a:solidFill>
                <a:srgbClr val="EC7C30"/>
              </a:solidFill>
              <a:prstDash val="solid"/>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81" name="Rectangle 80"/>
            <p:cNvSpPr>
              <a:spLocks noChangeArrowheads="1"/>
            </p:cNvSpPr>
            <p:nvPr/>
          </p:nvSpPr>
          <p:spPr bwMode="auto">
            <a:xfrm>
              <a:off x="6377" y="-3148"/>
              <a:ext cx="120" cy="120"/>
            </a:xfrm>
            <a:prstGeom prst="rect">
              <a:avLst/>
            </a:prstGeom>
            <a:solidFill>
              <a:srgbClr val="EC7C3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GB"/>
            </a:p>
          </p:txBody>
        </p:sp>
        <p:sp>
          <p:nvSpPr>
            <p:cNvPr id="82" name="Rectangle 81"/>
            <p:cNvSpPr>
              <a:spLocks noChangeArrowheads="1"/>
            </p:cNvSpPr>
            <p:nvPr/>
          </p:nvSpPr>
          <p:spPr bwMode="auto">
            <a:xfrm>
              <a:off x="6377" y="-3148"/>
              <a:ext cx="120" cy="120"/>
            </a:xfrm>
            <a:prstGeom prst="rect">
              <a:avLst/>
            </a:prstGeom>
            <a:noFill/>
            <a:ln w="15231">
              <a:solidFill>
                <a:srgbClr val="EC7C30"/>
              </a:solidFill>
              <a:prstDash val="solid"/>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83" name="Rectangle 82"/>
            <p:cNvSpPr>
              <a:spLocks noChangeArrowheads="1"/>
            </p:cNvSpPr>
            <p:nvPr/>
          </p:nvSpPr>
          <p:spPr bwMode="auto">
            <a:xfrm>
              <a:off x="7144" y="-3834"/>
              <a:ext cx="120" cy="120"/>
            </a:xfrm>
            <a:prstGeom prst="rect">
              <a:avLst/>
            </a:prstGeom>
            <a:solidFill>
              <a:srgbClr val="EC7C3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GB"/>
            </a:p>
          </p:txBody>
        </p:sp>
        <p:sp>
          <p:nvSpPr>
            <p:cNvPr id="84" name="Rectangle 83"/>
            <p:cNvSpPr>
              <a:spLocks noChangeArrowheads="1"/>
            </p:cNvSpPr>
            <p:nvPr/>
          </p:nvSpPr>
          <p:spPr bwMode="auto">
            <a:xfrm>
              <a:off x="7144" y="-3834"/>
              <a:ext cx="120" cy="120"/>
            </a:xfrm>
            <a:prstGeom prst="rect">
              <a:avLst/>
            </a:prstGeom>
            <a:noFill/>
            <a:ln w="15231">
              <a:solidFill>
                <a:srgbClr val="EC7C30"/>
              </a:solidFill>
              <a:prstDash val="solid"/>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85" name="Rectangle 84"/>
            <p:cNvSpPr>
              <a:spLocks noChangeArrowheads="1"/>
            </p:cNvSpPr>
            <p:nvPr/>
          </p:nvSpPr>
          <p:spPr bwMode="auto">
            <a:xfrm>
              <a:off x="7909" y="-4178"/>
              <a:ext cx="120" cy="120"/>
            </a:xfrm>
            <a:prstGeom prst="rect">
              <a:avLst/>
            </a:prstGeom>
            <a:solidFill>
              <a:srgbClr val="EC7C3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GB"/>
            </a:p>
          </p:txBody>
        </p:sp>
        <p:sp>
          <p:nvSpPr>
            <p:cNvPr id="86" name="Rectangle 85"/>
            <p:cNvSpPr>
              <a:spLocks noChangeArrowheads="1"/>
            </p:cNvSpPr>
            <p:nvPr/>
          </p:nvSpPr>
          <p:spPr bwMode="auto">
            <a:xfrm>
              <a:off x="7909" y="-4178"/>
              <a:ext cx="120" cy="120"/>
            </a:xfrm>
            <a:prstGeom prst="rect">
              <a:avLst/>
            </a:prstGeom>
            <a:noFill/>
            <a:ln w="15231">
              <a:solidFill>
                <a:srgbClr val="EC7C30"/>
              </a:solidFill>
              <a:prstDash val="solid"/>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87" name="Rectangle 86"/>
            <p:cNvSpPr>
              <a:spLocks noChangeArrowheads="1"/>
            </p:cNvSpPr>
            <p:nvPr/>
          </p:nvSpPr>
          <p:spPr bwMode="auto">
            <a:xfrm>
              <a:off x="8676" y="-4521"/>
              <a:ext cx="120" cy="120"/>
            </a:xfrm>
            <a:prstGeom prst="rect">
              <a:avLst/>
            </a:prstGeom>
            <a:solidFill>
              <a:srgbClr val="EC7C3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GB"/>
            </a:p>
          </p:txBody>
        </p:sp>
        <p:sp>
          <p:nvSpPr>
            <p:cNvPr id="88" name="Rectangle 87"/>
            <p:cNvSpPr>
              <a:spLocks noChangeArrowheads="1"/>
            </p:cNvSpPr>
            <p:nvPr/>
          </p:nvSpPr>
          <p:spPr bwMode="auto">
            <a:xfrm>
              <a:off x="8676" y="-4521"/>
              <a:ext cx="120" cy="120"/>
            </a:xfrm>
            <a:prstGeom prst="rect">
              <a:avLst/>
            </a:prstGeom>
            <a:noFill/>
            <a:ln w="15231">
              <a:solidFill>
                <a:srgbClr val="EC7C30"/>
              </a:solidFill>
              <a:prstDash val="solid"/>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89" name="Rectangle 88"/>
            <p:cNvSpPr>
              <a:spLocks noChangeArrowheads="1"/>
            </p:cNvSpPr>
            <p:nvPr/>
          </p:nvSpPr>
          <p:spPr bwMode="auto">
            <a:xfrm>
              <a:off x="9443" y="-4521"/>
              <a:ext cx="120" cy="120"/>
            </a:xfrm>
            <a:prstGeom prst="rect">
              <a:avLst/>
            </a:prstGeom>
            <a:solidFill>
              <a:srgbClr val="EC7C3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GB"/>
            </a:p>
          </p:txBody>
        </p:sp>
        <p:sp>
          <p:nvSpPr>
            <p:cNvPr id="90" name="Rectangle 89"/>
            <p:cNvSpPr>
              <a:spLocks noChangeArrowheads="1"/>
            </p:cNvSpPr>
            <p:nvPr/>
          </p:nvSpPr>
          <p:spPr bwMode="auto">
            <a:xfrm>
              <a:off x="9443" y="-4521"/>
              <a:ext cx="120" cy="120"/>
            </a:xfrm>
            <a:prstGeom prst="rect">
              <a:avLst/>
            </a:prstGeom>
            <a:noFill/>
            <a:ln w="15231">
              <a:solidFill>
                <a:srgbClr val="EC7C30"/>
              </a:solidFill>
              <a:prstDash val="solid"/>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91" name="Rectangle 90"/>
            <p:cNvSpPr>
              <a:spLocks noChangeArrowheads="1"/>
            </p:cNvSpPr>
            <p:nvPr/>
          </p:nvSpPr>
          <p:spPr bwMode="auto">
            <a:xfrm>
              <a:off x="10211" y="-4521"/>
              <a:ext cx="120" cy="120"/>
            </a:xfrm>
            <a:prstGeom prst="rect">
              <a:avLst/>
            </a:prstGeom>
            <a:solidFill>
              <a:srgbClr val="EC7C3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GB"/>
            </a:p>
          </p:txBody>
        </p:sp>
        <p:sp>
          <p:nvSpPr>
            <p:cNvPr id="92" name="Rectangle 91"/>
            <p:cNvSpPr>
              <a:spLocks noChangeArrowheads="1"/>
            </p:cNvSpPr>
            <p:nvPr/>
          </p:nvSpPr>
          <p:spPr bwMode="auto">
            <a:xfrm>
              <a:off x="10211" y="-4521"/>
              <a:ext cx="120" cy="120"/>
            </a:xfrm>
            <a:prstGeom prst="rect">
              <a:avLst/>
            </a:prstGeom>
            <a:noFill/>
            <a:ln w="15231">
              <a:solidFill>
                <a:srgbClr val="EC7C30"/>
              </a:solidFill>
              <a:prstDash val="solid"/>
              <a:miter lim="800000"/>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93" name="Freeform 92"/>
            <p:cNvSpPr>
              <a:spLocks/>
            </p:cNvSpPr>
            <p:nvPr/>
          </p:nvSpPr>
          <p:spPr bwMode="auto">
            <a:xfrm>
              <a:off x="1520" y="-5368"/>
              <a:ext cx="8902" cy="5385"/>
            </a:xfrm>
            <a:custGeom>
              <a:avLst/>
              <a:gdLst>
                <a:gd name="T0" fmla="+- 0 10422 1520"/>
                <a:gd name="T1" fmla="*/ T0 w 8902"/>
                <a:gd name="T2" fmla="+- 0 -5367 -5367"/>
                <a:gd name="T3" fmla="*/ -5367 h 5385"/>
                <a:gd name="T4" fmla="+- 0 1520 1520"/>
                <a:gd name="T5" fmla="*/ T4 w 8902"/>
                <a:gd name="T6" fmla="+- 0 -5367 -5367"/>
                <a:gd name="T7" fmla="*/ -5367 h 5385"/>
                <a:gd name="T8" fmla="+- 0 1520 1520"/>
                <a:gd name="T9" fmla="*/ T8 w 8902"/>
                <a:gd name="T10" fmla="+- 0 17 -5367"/>
                <a:gd name="T11" fmla="*/ 17 h 5385"/>
              </a:gdLst>
              <a:ahLst/>
              <a:cxnLst>
                <a:cxn ang="0">
                  <a:pos x="T1" y="T3"/>
                </a:cxn>
                <a:cxn ang="0">
                  <a:pos x="T5" y="T7"/>
                </a:cxn>
                <a:cxn ang="0">
                  <a:pos x="T9" y="T11"/>
                </a:cxn>
              </a:cxnLst>
              <a:rect l="0" t="0" r="r" b="b"/>
              <a:pathLst>
                <a:path w="8902" h="5385">
                  <a:moveTo>
                    <a:pt x="8902" y="0"/>
                  </a:moveTo>
                  <a:lnTo>
                    <a:pt x="0" y="0"/>
                  </a:lnTo>
                  <a:lnTo>
                    <a:pt x="0" y="5384"/>
                  </a:lnTo>
                </a:path>
              </a:pathLst>
            </a:custGeom>
            <a:noFill/>
            <a:ln w="9141">
              <a:solidFill>
                <a:srgbClr val="D9D9D9"/>
              </a:solidFill>
              <a:prstDash val="solid"/>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GB"/>
            </a:p>
          </p:txBody>
        </p:sp>
        <p:sp>
          <p:nvSpPr>
            <p:cNvPr id="94" name="Text Box 36"/>
            <p:cNvSpPr txBox="1">
              <a:spLocks noChangeArrowheads="1"/>
            </p:cNvSpPr>
            <p:nvPr/>
          </p:nvSpPr>
          <p:spPr bwMode="auto">
            <a:xfrm>
              <a:off x="2074" y="-5232"/>
              <a:ext cx="385"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nSpc>
                  <a:spcPts val="900"/>
                </a:lnSpc>
                <a:spcAft>
                  <a:spcPts val="0"/>
                </a:spcAft>
              </a:pPr>
              <a:r>
                <a:rPr lang="en-US" sz="900">
                  <a:solidFill>
                    <a:srgbClr val="585858"/>
                  </a:solidFill>
                  <a:effectLst/>
                  <a:latin typeface="Calibri" panose="020F0502020204030204" pitchFamily="34" charset="0"/>
                  <a:ea typeface="Calibri" panose="020F0502020204030204" pitchFamily="34" charset="0"/>
                </a:rPr>
                <a:t>7000</a:t>
              </a:r>
              <a:endParaRPr lang="en-GB" sz="1100">
                <a:effectLst/>
                <a:latin typeface="Calibri" panose="020F0502020204030204" pitchFamily="34" charset="0"/>
                <a:ea typeface="Calibri" panose="020F0502020204030204" pitchFamily="34" charset="0"/>
              </a:endParaRPr>
            </a:p>
          </p:txBody>
        </p:sp>
        <p:sp>
          <p:nvSpPr>
            <p:cNvPr id="95" name="Text Box 35"/>
            <p:cNvSpPr txBox="1">
              <a:spLocks noChangeArrowheads="1"/>
            </p:cNvSpPr>
            <p:nvPr/>
          </p:nvSpPr>
          <p:spPr bwMode="auto">
            <a:xfrm>
              <a:off x="2074" y="-4545"/>
              <a:ext cx="385"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nSpc>
                  <a:spcPts val="900"/>
                </a:lnSpc>
                <a:spcAft>
                  <a:spcPts val="0"/>
                </a:spcAft>
              </a:pPr>
              <a:r>
                <a:rPr lang="en-US" sz="900">
                  <a:solidFill>
                    <a:srgbClr val="585858"/>
                  </a:solidFill>
                  <a:effectLst/>
                  <a:latin typeface="Calibri" panose="020F0502020204030204" pitchFamily="34" charset="0"/>
                  <a:ea typeface="Calibri" panose="020F0502020204030204" pitchFamily="34" charset="0"/>
                </a:rPr>
                <a:t>6000</a:t>
              </a:r>
              <a:endParaRPr lang="en-GB" sz="1100">
                <a:effectLst/>
                <a:latin typeface="Calibri" panose="020F0502020204030204" pitchFamily="34" charset="0"/>
                <a:ea typeface="Calibri" panose="020F0502020204030204" pitchFamily="34" charset="0"/>
              </a:endParaRPr>
            </a:p>
          </p:txBody>
        </p:sp>
        <p:sp>
          <p:nvSpPr>
            <p:cNvPr id="96" name="Text Box 34"/>
            <p:cNvSpPr txBox="1">
              <a:spLocks noChangeArrowheads="1"/>
            </p:cNvSpPr>
            <p:nvPr/>
          </p:nvSpPr>
          <p:spPr bwMode="auto">
            <a:xfrm>
              <a:off x="2074" y="-3858"/>
              <a:ext cx="385"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nSpc>
                  <a:spcPts val="900"/>
                </a:lnSpc>
                <a:spcAft>
                  <a:spcPts val="0"/>
                </a:spcAft>
              </a:pPr>
              <a:r>
                <a:rPr lang="en-US" sz="900">
                  <a:solidFill>
                    <a:srgbClr val="585858"/>
                  </a:solidFill>
                  <a:effectLst/>
                  <a:latin typeface="Calibri" panose="020F0502020204030204" pitchFamily="34" charset="0"/>
                  <a:ea typeface="Calibri" panose="020F0502020204030204" pitchFamily="34" charset="0"/>
                </a:rPr>
                <a:t>5000</a:t>
              </a:r>
              <a:endParaRPr lang="en-GB" sz="1100">
                <a:effectLst/>
                <a:latin typeface="Calibri" panose="020F0502020204030204" pitchFamily="34" charset="0"/>
                <a:ea typeface="Calibri" panose="020F0502020204030204" pitchFamily="34" charset="0"/>
              </a:endParaRPr>
            </a:p>
          </p:txBody>
        </p:sp>
        <p:sp>
          <p:nvSpPr>
            <p:cNvPr id="97" name="Text Box 33"/>
            <p:cNvSpPr txBox="1">
              <a:spLocks noChangeArrowheads="1"/>
            </p:cNvSpPr>
            <p:nvPr/>
          </p:nvSpPr>
          <p:spPr bwMode="auto">
            <a:xfrm>
              <a:off x="2074" y="-3171"/>
              <a:ext cx="385"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nSpc>
                  <a:spcPts val="900"/>
                </a:lnSpc>
                <a:spcAft>
                  <a:spcPts val="0"/>
                </a:spcAft>
              </a:pPr>
              <a:r>
                <a:rPr lang="en-US" sz="900">
                  <a:solidFill>
                    <a:srgbClr val="585858"/>
                  </a:solidFill>
                  <a:effectLst/>
                  <a:latin typeface="Calibri" panose="020F0502020204030204" pitchFamily="34" charset="0"/>
                  <a:ea typeface="Calibri" panose="020F0502020204030204" pitchFamily="34" charset="0"/>
                </a:rPr>
                <a:t>4000</a:t>
              </a:r>
              <a:endParaRPr lang="en-GB" sz="1100">
                <a:effectLst/>
                <a:latin typeface="Calibri" panose="020F0502020204030204" pitchFamily="34" charset="0"/>
                <a:ea typeface="Calibri" panose="020F0502020204030204" pitchFamily="34" charset="0"/>
              </a:endParaRPr>
            </a:p>
          </p:txBody>
        </p:sp>
        <p:sp>
          <p:nvSpPr>
            <p:cNvPr id="98" name="Text Box 32"/>
            <p:cNvSpPr txBox="1">
              <a:spLocks noChangeArrowheads="1"/>
            </p:cNvSpPr>
            <p:nvPr/>
          </p:nvSpPr>
          <p:spPr bwMode="auto">
            <a:xfrm>
              <a:off x="2074" y="-2483"/>
              <a:ext cx="385"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nSpc>
                  <a:spcPts val="900"/>
                </a:lnSpc>
                <a:spcAft>
                  <a:spcPts val="0"/>
                </a:spcAft>
              </a:pPr>
              <a:r>
                <a:rPr lang="en-US" sz="900">
                  <a:solidFill>
                    <a:srgbClr val="585858"/>
                  </a:solidFill>
                  <a:effectLst/>
                  <a:latin typeface="Calibri" panose="020F0502020204030204" pitchFamily="34" charset="0"/>
                  <a:ea typeface="Calibri" panose="020F0502020204030204" pitchFamily="34" charset="0"/>
                </a:rPr>
                <a:t>3000</a:t>
              </a:r>
              <a:endParaRPr lang="en-GB" sz="1100">
                <a:effectLst/>
                <a:latin typeface="Calibri" panose="020F0502020204030204" pitchFamily="34" charset="0"/>
                <a:ea typeface="Calibri" panose="020F0502020204030204" pitchFamily="34" charset="0"/>
              </a:endParaRPr>
            </a:p>
          </p:txBody>
        </p:sp>
        <p:sp>
          <p:nvSpPr>
            <p:cNvPr id="99" name="Text Box 31"/>
            <p:cNvSpPr txBox="1">
              <a:spLocks noChangeArrowheads="1"/>
            </p:cNvSpPr>
            <p:nvPr/>
          </p:nvSpPr>
          <p:spPr bwMode="auto">
            <a:xfrm>
              <a:off x="2074" y="-1795"/>
              <a:ext cx="385"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nSpc>
                  <a:spcPts val="900"/>
                </a:lnSpc>
                <a:spcAft>
                  <a:spcPts val="0"/>
                </a:spcAft>
              </a:pPr>
              <a:r>
                <a:rPr lang="en-US" sz="900">
                  <a:solidFill>
                    <a:srgbClr val="585858"/>
                  </a:solidFill>
                  <a:effectLst/>
                  <a:latin typeface="Calibri" panose="020F0502020204030204" pitchFamily="34" charset="0"/>
                  <a:ea typeface="Calibri" panose="020F0502020204030204" pitchFamily="34" charset="0"/>
                </a:rPr>
                <a:t>2000</a:t>
              </a:r>
              <a:endParaRPr lang="en-GB" sz="1100">
                <a:effectLst/>
                <a:latin typeface="Calibri" panose="020F0502020204030204" pitchFamily="34" charset="0"/>
                <a:ea typeface="Calibri" panose="020F0502020204030204" pitchFamily="34" charset="0"/>
              </a:endParaRPr>
            </a:p>
          </p:txBody>
        </p:sp>
        <p:sp>
          <p:nvSpPr>
            <p:cNvPr id="100" name="Text Box 30"/>
            <p:cNvSpPr txBox="1">
              <a:spLocks noChangeArrowheads="1"/>
            </p:cNvSpPr>
            <p:nvPr/>
          </p:nvSpPr>
          <p:spPr bwMode="auto">
            <a:xfrm>
              <a:off x="2074" y="-1108"/>
              <a:ext cx="385"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nSpc>
                  <a:spcPts val="900"/>
                </a:lnSpc>
                <a:spcAft>
                  <a:spcPts val="0"/>
                </a:spcAft>
              </a:pPr>
              <a:r>
                <a:rPr lang="en-US" sz="900">
                  <a:solidFill>
                    <a:srgbClr val="585858"/>
                  </a:solidFill>
                  <a:effectLst/>
                  <a:latin typeface="Calibri" panose="020F0502020204030204" pitchFamily="34" charset="0"/>
                  <a:ea typeface="Calibri" panose="020F0502020204030204" pitchFamily="34" charset="0"/>
                </a:rPr>
                <a:t>1000</a:t>
              </a:r>
              <a:endParaRPr lang="en-GB" sz="1100">
                <a:effectLst/>
                <a:latin typeface="Calibri" panose="020F0502020204030204" pitchFamily="34" charset="0"/>
                <a:ea typeface="Calibri" panose="020F0502020204030204" pitchFamily="34" charset="0"/>
              </a:endParaRPr>
            </a:p>
          </p:txBody>
        </p:sp>
        <p:sp>
          <p:nvSpPr>
            <p:cNvPr id="101" name="Text Box 29"/>
            <p:cNvSpPr txBox="1">
              <a:spLocks noChangeArrowheads="1"/>
            </p:cNvSpPr>
            <p:nvPr/>
          </p:nvSpPr>
          <p:spPr bwMode="auto">
            <a:xfrm>
              <a:off x="2347" y="-421"/>
              <a:ext cx="112"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nSpc>
                  <a:spcPts val="900"/>
                </a:lnSpc>
                <a:spcAft>
                  <a:spcPts val="0"/>
                </a:spcAft>
              </a:pPr>
              <a:r>
                <a:rPr lang="en-US" sz="900">
                  <a:solidFill>
                    <a:srgbClr val="585858"/>
                  </a:solidFill>
                  <a:effectLst/>
                  <a:latin typeface="Calibri" panose="020F0502020204030204" pitchFamily="34" charset="0"/>
                  <a:ea typeface="Calibri" panose="020F0502020204030204" pitchFamily="34" charset="0"/>
                </a:rPr>
                <a:t>0</a:t>
              </a:r>
              <a:endParaRPr lang="en-GB" sz="1100">
                <a:effectLst/>
                <a:latin typeface="Calibri" panose="020F0502020204030204" pitchFamily="34" charset="0"/>
                <a:ea typeface="Calibri" panose="020F0502020204030204" pitchFamily="34" charset="0"/>
              </a:endParaRPr>
            </a:p>
          </p:txBody>
        </p:sp>
        <p:sp>
          <p:nvSpPr>
            <p:cNvPr id="102" name="Text Box 28"/>
            <p:cNvSpPr txBox="1">
              <a:spLocks noChangeArrowheads="1"/>
            </p:cNvSpPr>
            <p:nvPr/>
          </p:nvSpPr>
          <p:spPr bwMode="auto">
            <a:xfrm>
              <a:off x="2559" y="-186"/>
              <a:ext cx="112"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nSpc>
                  <a:spcPts val="900"/>
                </a:lnSpc>
                <a:spcAft>
                  <a:spcPts val="0"/>
                </a:spcAft>
              </a:pPr>
              <a:r>
                <a:rPr lang="en-US" sz="900">
                  <a:solidFill>
                    <a:srgbClr val="333333"/>
                  </a:solidFill>
                  <a:effectLst/>
                  <a:latin typeface="Calibri" panose="020F0502020204030204" pitchFamily="34" charset="0"/>
                  <a:ea typeface="Calibri" panose="020F0502020204030204" pitchFamily="34" charset="0"/>
                </a:rPr>
                <a:t>0</a:t>
              </a:r>
              <a:endParaRPr lang="en-GB" sz="1100">
                <a:effectLst/>
                <a:latin typeface="Calibri" panose="020F0502020204030204" pitchFamily="34" charset="0"/>
                <a:ea typeface="Calibri" panose="020F0502020204030204" pitchFamily="34" charset="0"/>
              </a:endParaRPr>
            </a:p>
          </p:txBody>
        </p:sp>
        <p:sp>
          <p:nvSpPr>
            <p:cNvPr id="103" name="Text Box 27"/>
            <p:cNvSpPr txBox="1">
              <a:spLocks noChangeArrowheads="1"/>
            </p:cNvSpPr>
            <p:nvPr/>
          </p:nvSpPr>
          <p:spPr bwMode="auto">
            <a:xfrm>
              <a:off x="4093" y="-186"/>
              <a:ext cx="112"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nSpc>
                  <a:spcPts val="900"/>
                </a:lnSpc>
                <a:spcAft>
                  <a:spcPts val="0"/>
                </a:spcAft>
              </a:pPr>
              <a:r>
                <a:rPr lang="en-US" sz="900">
                  <a:solidFill>
                    <a:srgbClr val="333333"/>
                  </a:solidFill>
                  <a:effectLst/>
                  <a:latin typeface="Calibri" panose="020F0502020204030204" pitchFamily="34" charset="0"/>
                  <a:ea typeface="Calibri" panose="020F0502020204030204" pitchFamily="34" charset="0"/>
                </a:rPr>
                <a:t>2</a:t>
              </a:r>
              <a:endParaRPr lang="en-GB" sz="1100">
                <a:effectLst/>
                <a:latin typeface="Calibri" panose="020F0502020204030204" pitchFamily="34" charset="0"/>
                <a:ea typeface="Calibri" panose="020F0502020204030204" pitchFamily="34" charset="0"/>
              </a:endParaRPr>
            </a:p>
          </p:txBody>
        </p:sp>
        <p:sp>
          <p:nvSpPr>
            <p:cNvPr id="104" name="Text Box 26"/>
            <p:cNvSpPr txBox="1">
              <a:spLocks noChangeArrowheads="1"/>
            </p:cNvSpPr>
            <p:nvPr/>
          </p:nvSpPr>
          <p:spPr bwMode="auto">
            <a:xfrm>
              <a:off x="5626" y="-186"/>
              <a:ext cx="112"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nSpc>
                  <a:spcPts val="900"/>
                </a:lnSpc>
                <a:spcAft>
                  <a:spcPts val="0"/>
                </a:spcAft>
              </a:pPr>
              <a:r>
                <a:rPr lang="en-US" sz="900">
                  <a:solidFill>
                    <a:srgbClr val="333333"/>
                  </a:solidFill>
                  <a:effectLst/>
                  <a:latin typeface="Calibri" panose="020F0502020204030204" pitchFamily="34" charset="0"/>
                  <a:ea typeface="Calibri" panose="020F0502020204030204" pitchFamily="34" charset="0"/>
                </a:rPr>
                <a:t>4</a:t>
              </a:r>
              <a:endParaRPr lang="en-GB" sz="1100">
                <a:effectLst/>
                <a:latin typeface="Calibri" panose="020F0502020204030204" pitchFamily="34" charset="0"/>
                <a:ea typeface="Calibri" panose="020F0502020204030204" pitchFamily="34" charset="0"/>
              </a:endParaRPr>
            </a:p>
          </p:txBody>
        </p:sp>
        <p:sp>
          <p:nvSpPr>
            <p:cNvPr id="105" name="Text Box 25"/>
            <p:cNvSpPr txBox="1">
              <a:spLocks noChangeArrowheads="1"/>
            </p:cNvSpPr>
            <p:nvPr/>
          </p:nvSpPr>
          <p:spPr bwMode="auto">
            <a:xfrm>
              <a:off x="7160" y="-186"/>
              <a:ext cx="112"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nSpc>
                  <a:spcPts val="900"/>
                </a:lnSpc>
                <a:spcAft>
                  <a:spcPts val="0"/>
                </a:spcAft>
              </a:pPr>
              <a:r>
                <a:rPr lang="en-US" sz="900">
                  <a:solidFill>
                    <a:srgbClr val="333333"/>
                  </a:solidFill>
                  <a:effectLst/>
                  <a:latin typeface="Calibri" panose="020F0502020204030204" pitchFamily="34" charset="0"/>
                  <a:ea typeface="Calibri" panose="020F0502020204030204" pitchFamily="34" charset="0"/>
                </a:rPr>
                <a:t>6</a:t>
              </a:r>
              <a:endParaRPr lang="en-GB" sz="1100">
                <a:effectLst/>
                <a:latin typeface="Calibri" panose="020F0502020204030204" pitchFamily="34" charset="0"/>
                <a:ea typeface="Calibri" panose="020F0502020204030204" pitchFamily="34" charset="0"/>
              </a:endParaRPr>
            </a:p>
          </p:txBody>
        </p:sp>
        <p:sp>
          <p:nvSpPr>
            <p:cNvPr id="106" name="Text Box 24"/>
            <p:cNvSpPr txBox="1">
              <a:spLocks noChangeArrowheads="1"/>
            </p:cNvSpPr>
            <p:nvPr/>
          </p:nvSpPr>
          <p:spPr bwMode="auto">
            <a:xfrm>
              <a:off x="8693" y="-186"/>
              <a:ext cx="112"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nSpc>
                  <a:spcPts val="900"/>
                </a:lnSpc>
                <a:spcAft>
                  <a:spcPts val="0"/>
                </a:spcAft>
              </a:pPr>
              <a:r>
                <a:rPr lang="en-US" sz="900">
                  <a:solidFill>
                    <a:srgbClr val="333333"/>
                  </a:solidFill>
                  <a:effectLst/>
                  <a:latin typeface="Calibri" panose="020F0502020204030204" pitchFamily="34" charset="0"/>
                  <a:ea typeface="Calibri" panose="020F0502020204030204" pitchFamily="34" charset="0"/>
                </a:rPr>
                <a:t>8</a:t>
              </a:r>
              <a:endParaRPr lang="en-GB" sz="1100">
                <a:effectLst/>
                <a:latin typeface="Calibri" panose="020F0502020204030204" pitchFamily="34" charset="0"/>
                <a:ea typeface="Calibri" panose="020F0502020204030204" pitchFamily="34" charset="0"/>
              </a:endParaRPr>
            </a:p>
          </p:txBody>
        </p:sp>
        <p:sp>
          <p:nvSpPr>
            <p:cNvPr id="107" name="Text Box 23"/>
            <p:cNvSpPr txBox="1">
              <a:spLocks noChangeArrowheads="1"/>
            </p:cNvSpPr>
            <p:nvPr/>
          </p:nvSpPr>
          <p:spPr bwMode="auto">
            <a:xfrm>
              <a:off x="10181" y="-186"/>
              <a:ext cx="203"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nSpc>
                  <a:spcPts val="900"/>
                </a:lnSpc>
                <a:spcAft>
                  <a:spcPts val="0"/>
                </a:spcAft>
              </a:pPr>
              <a:r>
                <a:rPr lang="en-US" sz="900">
                  <a:solidFill>
                    <a:srgbClr val="333333"/>
                  </a:solidFill>
                  <a:effectLst/>
                  <a:latin typeface="Calibri" panose="020F0502020204030204" pitchFamily="34" charset="0"/>
                  <a:ea typeface="Calibri" panose="020F0502020204030204" pitchFamily="34" charset="0"/>
                </a:rPr>
                <a:t>10</a:t>
              </a:r>
              <a:endParaRPr lang="en-GB" sz="1100">
                <a:effectLst/>
                <a:latin typeface="Calibri" panose="020F0502020204030204" pitchFamily="34" charset="0"/>
                <a:ea typeface="Calibri" panose="020F0502020204030204" pitchFamily="34" charset="0"/>
              </a:endParaRPr>
            </a:p>
          </p:txBody>
        </p:sp>
      </p:grpSp>
      <p:sp>
        <p:nvSpPr>
          <p:cNvPr id="108" name="Text Box 72"/>
          <p:cNvSpPr txBox="1">
            <a:spLocks noChangeArrowheads="1"/>
          </p:cNvSpPr>
          <p:nvPr/>
        </p:nvSpPr>
        <p:spPr bwMode="auto">
          <a:xfrm>
            <a:off x="1136650" y="1824990"/>
            <a:ext cx="151765" cy="699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vert270" wrap="square" lIns="0" tIns="0" rIns="0" bIns="0" anchor="t" anchorCtr="0" upright="1">
            <a:noAutofit/>
          </a:bodyPr>
          <a:lstStyle/>
          <a:p>
            <a:pPr marL="12700">
              <a:lnSpc>
                <a:spcPts val="1115"/>
              </a:lnSpc>
              <a:spcAft>
                <a:spcPts val="0"/>
              </a:spcAft>
            </a:pPr>
            <a:r>
              <a:rPr lang="en-US" sz="1000" b="1">
                <a:effectLst/>
                <a:latin typeface="Calibri" panose="020F0502020204030204" pitchFamily="34" charset="0"/>
                <a:ea typeface="Calibri" panose="020F0502020204030204" pitchFamily="34" charset="0"/>
              </a:rPr>
              <a:t>Yield</a:t>
            </a:r>
            <a:r>
              <a:rPr lang="en-US" sz="1000" b="1" spc="-15">
                <a:effectLst/>
                <a:latin typeface="Calibri" panose="020F0502020204030204" pitchFamily="34" charset="0"/>
                <a:ea typeface="Calibri" panose="020F0502020204030204" pitchFamily="34" charset="0"/>
              </a:rPr>
              <a:t> </a:t>
            </a:r>
            <a:r>
              <a:rPr lang="en-US" sz="1000" b="1">
                <a:effectLst/>
                <a:latin typeface="Calibri" panose="020F0502020204030204" pitchFamily="34" charset="0"/>
                <a:ea typeface="Calibri" panose="020F0502020204030204" pitchFamily="34" charset="0"/>
              </a:rPr>
              <a:t>(kg/ha)</a:t>
            </a:r>
            <a:endParaRPr lang="en-GB" sz="1100">
              <a:effectLst/>
              <a:latin typeface="Calibri" panose="020F0502020204030204" pitchFamily="34" charset="0"/>
              <a:ea typeface="Calibri" panose="020F0502020204030204" pitchFamily="34" charset="0"/>
            </a:endParaRPr>
          </a:p>
        </p:txBody>
      </p:sp>
      <p:sp>
        <p:nvSpPr>
          <p:cNvPr id="109" name="Rectangle 12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smtClean="0">
                <a:ln>
                  <a:noFill/>
                </a:ln>
                <a:solidFill>
                  <a:schemeClr val="tx1"/>
                </a:solidFill>
                <a:effectLst/>
                <a:latin typeface="Arial" panose="020B0604020202020204" pitchFamily="34" charset="0"/>
                <a:ea typeface="Calibri" panose="020F0502020204030204" pitchFamily="34" charset="0"/>
              </a:rPr>
              <a:t/>
            </a:r>
            <a:br>
              <a:rPr kumimoji="0" lang="en-US" sz="1100" b="0" i="0" u="none" strike="noStrike" cap="none" normalizeH="0" baseline="0" smtClean="0">
                <a:ln>
                  <a:noFill/>
                </a:ln>
                <a:solidFill>
                  <a:schemeClr val="tx1"/>
                </a:solidFill>
                <a:effectLst/>
                <a:latin typeface="Arial" panose="020B0604020202020204" pitchFamily="34" charset="0"/>
                <a:ea typeface="Calibri" panose="020F0502020204030204" pitchFamily="34" charset="0"/>
              </a:rPr>
            </a:br>
            <a:endParaRPr kumimoji="0" lang="en-GB" sz="11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panose="020B0604020202020204" pitchFamily="34" charset="0"/>
            </a:endParaRPr>
          </a:p>
        </p:txBody>
      </p:sp>
      <p:sp>
        <p:nvSpPr>
          <p:cNvPr id="110" name="Rectangle 12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GB" sz="11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smtClean="0">
                <a:ln>
                  <a:noFill/>
                </a:ln>
                <a:solidFill>
                  <a:schemeClr val="tx1"/>
                </a:solidFill>
                <a:effectLst/>
                <a:latin typeface="Arial" panose="020B0604020202020204" pitchFamily="34" charset="0"/>
              </a:rPr>
              <a:t/>
            </a:r>
            <a:br>
              <a:rPr kumimoji="0" lang="en-GB" sz="1800" b="0" i="0" u="none" strike="noStrike" cap="none" normalizeH="0" baseline="0" smtClean="0">
                <a:ln>
                  <a:noFill/>
                </a:ln>
                <a:solidFill>
                  <a:schemeClr val="tx1"/>
                </a:solidFill>
                <a:effectLst/>
                <a:latin typeface="Arial" panose="020B0604020202020204" pitchFamily="34" charset="0"/>
              </a:rPr>
            </a:br>
            <a:endParaRPr kumimoji="0" lang="en-GB" sz="18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panose="020B0604020202020204" pitchFamily="34" charset="0"/>
            </a:endParaRPr>
          </a:p>
        </p:txBody>
      </p:sp>
      <p:sp>
        <p:nvSpPr>
          <p:cNvPr id="111" name="Rectangle 138"/>
          <p:cNvSpPr>
            <a:spLocks noChangeArrowheads="1"/>
          </p:cNvSpPr>
          <p:nvPr/>
        </p:nvSpPr>
        <p:spPr bwMode="auto">
          <a:xfrm>
            <a:off x="139700" y="381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000" b="0" i="1" u="none" strike="noStrike" cap="none" normalizeH="0" baseline="0" smtClean="0">
              <a:ln>
                <a:noFill/>
              </a:ln>
              <a:solidFill>
                <a:schemeClr val="tx1"/>
              </a:solidFill>
              <a:effectLst/>
              <a:latin typeface="Calibri Light" panose="020F0302020204030204" pitchFamily="34" charset="0"/>
              <a:ea typeface="Calibri" panose="020F0502020204030204" pitchFamily="34" charset="0"/>
              <a:cs typeface="Calibri Light" panose="020F03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000" b="0" i="1" u="none" strike="noStrike" cap="none" normalizeH="0" baseline="0" smtClean="0">
                <a:ln>
                  <a:noFill/>
                </a:ln>
                <a:solidFill>
                  <a:schemeClr val="tx1"/>
                </a:solidFill>
                <a:effectLst/>
                <a:latin typeface="Calibri Light" panose="020F0302020204030204" pitchFamily="34" charset="0"/>
                <a:ea typeface="Calibri" panose="020F0502020204030204" pitchFamily="34" charset="0"/>
                <a:cs typeface="Calibri Light" panose="020F0302020204030204" pitchFamily="34" charset="0"/>
              </a:rPr>
              <a:t> Figure 1.1. Yield trends between conventional and SOA systems. </a:t>
            </a:r>
            <a:endParaRPr kumimoji="0" lang="en-GB" sz="11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panose="020B0604020202020204" pitchFamily="34" charset="0"/>
            </a:endParaRPr>
          </a:p>
        </p:txBody>
      </p:sp>
      <p:sp>
        <p:nvSpPr>
          <p:cNvPr id="112" name="Date Placeholder 111"/>
          <p:cNvSpPr>
            <a:spLocks noGrp="1"/>
          </p:cNvSpPr>
          <p:nvPr>
            <p:ph type="dt" sz="half" idx="10"/>
          </p:nvPr>
        </p:nvSpPr>
        <p:spPr/>
        <p:txBody>
          <a:bodyPr/>
          <a:lstStyle/>
          <a:p>
            <a:fld id="{A83182B0-74B8-411E-894C-AE85C1B37C46}" type="datetime2">
              <a:rPr lang="en-GB" smtClean="0"/>
              <a:t>Tuesday, 06 August 2024</a:t>
            </a:fld>
            <a:endParaRPr lang="en-GB"/>
          </a:p>
        </p:txBody>
      </p:sp>
      <p:sp>
        <p:nvSpPr>
          <p:cNvPr id="113" name="Slide Number Placeholder 112"/>
          <p:cNvSpPr>
            <a:spLocks noGrp="1"/>
          </p:cNvSpPr>
          <p:nvPr>
            <p:ph type="sldNum" sz="quarter" idx="12"/>
          </p:nvPr>
        </p:nvSpPr>
        <p:spPr/>
        <p:txBody>
          <a:bodyPr/>
          <a:lstStyle/>
          <a:p>
            <a:fld id="{8D3A33D0-93B2-4FC1-8AEF-33D8B60114DF}" type="slidenum">
              <a:rPr lang="en-GB" smtClean="0"/>
              <a:t>22</a:t>
            </a:fld>
            <a:endParaRPr lang="en-GB"/>
          </a:p>
        </p:txBody>
      </p:sp>
    </p:spTree>
    <p:extLst>
      <p:ext uri="{BB962C8B-B14F-4D97-AF65-F5344CB8AC3E}">
        <p14:creationId xmlns:p14="http://schemas.microsoft.com/office/powerpoint/2010/main" val="267020989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ctr" rtl="0">
              <a:lnSpc>
                <a:spcPct val="90000"/>
              </a:lnSpc>
              <a:spcBef>
                <a:spcPct val="0"/>
              </a:spcBef>
            </a:pPr>
            <a:r>
              <a:rPr lang="en-US" sz="2800" b="1" dirty="0"/>
              <a:t>Toxic effect of chemicals</a:t>
            </a:r>
            <a:r>
              <a:rPr lang="en-GB" b="1" dirty="0"/>
              <a:t/>
            </a:r>
            <a:br>
              <a:rPr lang="en-GB" b="1" dirty="0"/>
            </a:br>
            <a:endParaRPr lang="en-GB" dirty="0"/>
          </a:p>
        </p:txBody>
      </p:sp>
      <p:sp>
        <p:nvSpPr>
          <p:cNvPr id="3" name="Content Placeholder 2"/>
          <p:cNvSpPr>
            <a:spLocks noGrp="1"/>
          </p:cNvSpPr>
          <p:nvPr>
            <p:ph idx="1"/>
          </p:nvPr>
        </p:nvSpPr>
        <p:spPr/>
        <p:txBody>
          <a:bodyPr>
            <a:normAutofit lnSpcReduction="10000"/>
          </a:bodyPr>
          <a:lstStyle/>
          <a:p>
            <a:pPr algn="just"/>
            <a:r>
              <a:rPr lang="en-US" dirty="0"/>
              <a:t>Although the use of agricultural chemicals such as herbicides and pesticides is usually said to be harmless to humans, livestock and other living organisms, there are numerous negative effects of these agrochemicals on humans and animals as well as soil life that have been </a:t>
            </a:r>
            <a:r>
              <a:rPr lang="en-US" dirty="0" smtClean="0"/>
              <a:t>reported.</a:t>
            </a:r>
          </a:p>
          <a:p>
            <a:pPr algn="just"/>
            <a:r>
              <a:rPr lang="en-US" dirty="0" smtClean="0"/>
              <a:t>For </a:t>
            </a:r>
            <a:r>
              <a:rPr lang="en-US" dirty="0"/>
              <a:t>instance, it has been reported that excessive use of chemical nitrogenous fertilizers can contaminate the ground water with nitrates which when taken-up, can immobilize blood </a:t>
            </a:r>
            <a:r>
              <a:rPr lang="en-US" dirty="0" smtClean="0"/>
              <a:t>hemoglobin.</a:t>
            </a:r>
          </a:p>
          <a:p>
            <a:pPr algn="just"/>
            <a:r>
              <a:rPr lang="en-US" dirty="0" smtClean="0"/>
              <a:t>The </a:t>
            </a:r>
            <a:r>
              <a:rPr lang="en-US" dirty="0"/>
              <a:t>use of organophosphate pesticides has been linked to numerous health problems such as abdominal pain, dizziness, headaches, nausea, vomiting, as well as skin and eye </a:t>
            </a:r>
            <a:r>
              <a:rPr lang="en-US" dirty="0" smtClean="0"/>
              <a:t>problems. </a:t>
            </a:r>
          </a:p>
          <a:p>
            <a:endParaRPr lang="en-GB" dirty="0"/>
          </a:p>
        </p:txBody>
      </p:sp>
      <p:sp>
        <p:nvSpPr>
          <p:cNvPr id="4" name="Date Placeholder 3"/>
          <p:cNvSpPr>
            <a:spLocks noGrp="1"/>
          </p:cNvSpPr>
          <p:nvPr>
            <p:ph type="dt" sz="half" idx="10"/>
          </p:nvPr>
        </p:nvSpPr>
        <p:spPr/>
        <p:txBody>
          <a:bodyPr/>
          <a:lstStyle/>
          <a:p>
            <a:fld id="{1C5073A1-9CC5-456C-9093-14E4DAD9B92A}"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23</a:t>
            </a:fld>
            <a:endParaRPr lang="en-GB"/>
          </a:p>
        </p:txBody>
      </p:sp>
    </p:spTree>
    <p:extLst>
      <p:ext uri="{BB962C8B-B14F-4D97-AF65-F5344CB8AC3E}">
        <p14:creationId xmlns:p14="http://schemas.microsoft.com/office/powerpoint/2010/main" val="29686994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ctr" rtl="0">
              <a:lnSpc>
                <a:spcPct val="90000"/>
              </a:lnSpc>
              <a:spcBef>
                <a:spcPct val="0"/>
              </a:spcBef>
            </a:pPr>
            <a:r>
              <a:rPr lang="en-US" sz="2800" b="1" dirty="0"/>
              <a:t>Toxic effect of chemicals</a:t>
            </a:r>
            <a:r>
              <a:rPr lang="en-GB" b="1" dirty="0"/>
              <a:t/>
            </a:r>
            <a:br>
              <a:rPr lang="en-GB" b="1" dirty="0"/>
            </a:br>
            <a:endParaRPr lang="en-GB" dirty="0"/>
          </a:p>
        </p:txBody>
      </p:sp>
      <p:sp>
        <p:nvSpPr>
          <p:cNvPr id="3" name="Content Placeholder 2"/>
          <p:cNvSpPr>
            <a:spLocks noGrp="1"/>
          </p:cNvSpPr>
          <p:nvPr>
            <p:ph idx="1"/>
          </p:nvPr>
        </p:nvSpPr>
        <p:spPr/>
        <p:txBody>
          <a:bodyPr>
            <a:normAutofit lnSpcReduction="10000"/>
          </a:bodyPr>
          <a:lstStyle/>
          <a:p>
            <a:pPr algn="just"/>
            <a:r>
              <a:rPr lang="en-US" dirty="0" smtClean="0"/>
              <a:t>Glyphosate</a:t>
            </a:r>
            <a:r>
              <a:rPr lang="en-US" dirty="0"/>
              <a:t>, one of the most commonly used herbicide in Zambia is reported to have a high potential to accumulate in food chain and could cause serious health problems for humans and </a:t>
            </a:r>
            <a:r>
              <a:rPr lang="en-US" dirty="0" smtClean="0"/>
              <a:t>animals.</a:t>
            </a:r>
          </a:p>
          <a:p>
            <a:pPr algn="just"/>
            <a:r>
              <a:rPr lang="en-US" dirty="0" smtClean="0"/>
              <a:t>These </a:t>
            </a:r>
            <a:r>
              <a:rPr lang="en-US" dirty="0"/>
              <a:t>problems are normally exacerbated by the fact that most small-scale farmers in Zambia, due to high poverty and low literacy levels do not normally follow the safety precautions when using these toxic </a:t>
            </a:r>
            <a:r>
              <a:rPr lang="en-US" dirty="0" smtClean="0"/>
              <a:t>chemicals.</a:t>
            </a:r>
          </a:p>
          <a:p>
            <a:pPr algn="just"/>
            <a:r>
              <a:rPr lang="en-US" dirty="0" smtClean="0"/>
              <a:t>SOA </a:t>
            </a:r>
            <a:r>
              <a:rPr lang="en-US" dirty="0"/>
              <a:t>through its pillars on environmentally sound and socially just practices ensures that our agricultural production systems do NOT pose a danger to the lives of the producer, consumer and our agricultural ecosystem as a whole</a:t>
            </a:r>
            <a:r>
              <a:rPr lang="en-US" dirty="0" smtClean="0"/>
              <a:t>.</a:t>
            </a:r>
            <a:r>
              <a:rPr lang="en-US" dirty="0"/>
              <a:t> </a:t>
            </a:r>
            <a:endParaRPr lang="en-GB" dirty="0"/>
          </a:p>
          <a:p>
            <a:endParaRPr lang="en-GB" dirty="0"/>
          </a:p>
        </p:txBody>
      </p:sp>
      <p:sp>
        <p:nvSpPr>
          <p:cNvPr id="4" name="Date Placeholder 3"/>
          <p:cNvSpPr>
            <a:spLocks noGrp="1"/>
          </p:cNvSpPr>
          <p:nvPr>
            <p:ph type="dt" sz="half" idx="10"/>
          </p:nvPr>
        </p:nvSpPr>
        <p:spPr/>
        <p:txBody>
          <a:bodyPr/>
          <a:lstStyle/>
          <a:p>
            <a:fld id="{6C021686-D680-4797-B556-F41856998750}"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24</a:t>
            </a:fld>
            <a:endParaRPr lang="en-GB"/>
          </a:p>
        </p:txBody>
      </p:sp>
    </p:spTree>
    <p:extLst>
      <p:ext uri="{BB962C8B-B14F-4D97-AF65-F5344CB8AC3E}">
        <p14:creationId xmlns:p14="http://schemas.microsoft.com/office/powerpoint/2010/main" val="117030122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lgn="ctr" rtl="0">
              <a:lnSpc>
                <a:spcPct val="90000"/>
              </a:lnSpc>
              <a:spcBef>
                <a:spcPct val="0"/>
              </a:spcBef>
            </a:pPr>
            <a:r>
              <a:rPr lang="en-US" sz="2800" b="1" dirty="0"/>
              <a:t>Principles and practices of SOA</a:t>
            </a:r>
            <a:r>
              <a:rPr lang="en-GB" b="1" dirty="0"/>
              <a:t/>
            </a:r>
            <a:br>
              <a:rPr lang="en-GB" b="1" dirty="0"/>
            </a:br>
            <a:endParaRPr lang="en-GB" dirty="0"/>
          </a:p>
        </p:txBody>
      </p:sp>
      <p:sp>
        <p:nvSpPr>
          <p:cNvPr id="3" name="Content Placeholder 2"/>
          <p:cNvSpPr>
            <a:spLocks noGrp="1"/>
          </p:cNvSpPr>
          <p:nvPr>
            <p:ph idx="1"/>
          </p:nvPr>
        </p:nvSpPr>
        <p:spPr/>
        <p:txBody>
          <a:bodyPr/>
          <a:lstStyle/>
          <a:p>
            <a:r>
              <a:rPr lang="en-US" dirty="0"/>
              <a:t>SOA is governed by three broad principles </a:t>
            </a:r>
            <a:r>
              <a:rPr lang="en-US" dirty="0" smtClean="0"/>
              <a:t>namely;</a:t>
            </a:r>
          </a:p>
          <a:p>
            <a:r>
              <a:rPr lang="en-US" dirty="0" smtClean="0"/>
              <a:t> </a:t>
            </a:r>
            <a:r>
              <a:rPr lang="en-US" b="1" dirty="0" smtClean="0"/>
              <a:t>Soil </a:t>
            </a:r>
            <a:r>
              <a:rPr lang="en-US" b="1" dirty="0"/>
              <a:t>fertility </a:t>
            </a:r>
            <a:r>
              <a:rPr lang="en-US" b="1" dirty="0" smtClean="0"/>
              <a:t>management</a:t>
            </a:r>
            <a:endParaRPr lang="en-US" dirty="0"/>
          </a:p>
          <a:p>
            <a:r>
              <a:rPr lang="en-US" b="1" dirty="0"/>
              <a:t>S</a:t>
            </a:r>
            <a:r>
              <a:rPr lang="en-US" b="1" dirty="0" smtClean="0"/>
              <a:t>oil </a:t>
            </a:r>
            <a:r>
              <a:rPr lang="en-US" b="1" dirty="0"/>
              <a:t>and water conservation </a:t>
            </a:r>
            <a:endParaRPr lang="en-GB" dirty="0"/>
          </a:p>
          <a:p>
            <a:r>
              <a:rPr lang="en-US" b="1" dirty="0" smtClean="0"/>
              <a:t>Natural </a:t>
            </a:r>
            <a:r>
              <a:rPr lang="en-US" b="1" dirty="0"/>
              <a:t>pest and disease management.</a:t>
            </a:r>
            <a:endParaRPr lang="en-GB" b="1" dirty="0"/>
          </a:p>
          <a:p>
            <a:pPr marL="0" indent="0">
              <a:buNone/>
            </a:pPr>
            <a:endParaRPr lang="en-GB" dirty="0"/>
          </a:p>
          <a:p>
            <a:endParaRPr lang="en-GB" dirty="0"/>
          </a:p>
        </p:txBody>
      </p:sp>
      <p:sp>
        <p:nvSpPr>
          <p:cNvPr id="4" name="Date Placeholder 3"/>
          <p:cNvSpPr>
            <a:spLocks noGrp="1"/>
          </p:cNvSpPr>
          <p:nvPr>
            <p:ph type="dt" sz="half" idx="10"/>
          </p:nvPr>
        </p:nvSpPr>
        <p:spPr/>
        <p:txBody>
          <a:bodyPr/>
          <a:lstStyle/>
          <a:p>
            <a:fld id="{ABF3D065-D327-4627-9338-60BA64FD1A8F}"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25</a:t>
            </a:fld>
            <a:endParaRPr lang="en-GB"/>
          </a:p>
        </p:txBody>
      </p:sp>
    </p:spTree>
    <p:extLst>
      <p:ext uri="{BB962C8B-B14F-4D97-AF65-F5344CB8AC3E}">
        <p14:creationId xmlns:p14="http://schemas.microsoft.com/office/powerpoint/2010/main" val="35659689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ctr" rtl="0">
              <a:lnSpc>
                <a:spcPct val="90000"/>
              </a:lnSpc>
              <a:spcBef>
                <a:spcPct val="0"/>
              </a:spcBef>
            </a:pPr>
            <a:r>
              <a:rPr lang="en-US" sz="2800" b="1" dirty="0"/>
              <a:t>Soil Fertility Management</a:t>
            </a:r>
            <a:r>
              <a:rPr lang="en-GB" b="1" dirty="0"/>
              <a:t/>
            </a:r>
            <a:br>
              <a:rPr lang="en-GB" b="1" dirty="0"/>
            </a:br>
            <a:endParaRPr lang="en-GB" dirty="0"/>
          </a:p>
        </p:txBody>
      </p:sp>
      <p:sp>
        <p:nvSpPr>
          <p:cNvPr id="3" name="Content Placeholder 2"/>
          <p:cNvSpPr>
            <a:spLocks noGrp="1"/>
          </p:cNvSpPr>
          <p:nvPr>
            <p:ph idx="1"/>
          </p:nvPr>
        </p:nvSpPr>
        <p:spPr/>
        <p:txBody>
          <a:bodyPr>
            <a:normAutofit fontScale="85000" lnSpcReduction="20000"/>
          </a:bodyPr>
          <a:lstStyle/>
          <a:p>
            <a:r>
              <a:rPr lang="en-US" dirty="0"/>
              <a:t>The management of Soil fertility in SOA is based on the underlying principle of on-farm nutrient recycling as opposed to the heavy reliance on external </a:t>
            </a:r>
            <a:r>
              <a:rPr lang="en-US" dirty="0" smtClean="0"/>
              <a:t>inputs.</a:t>
            </a:r>
          </a:p>
          <a:p>
            <a:r>
              <a:rPr lang="en-US" dirty="0" smtClean="0"/>
              <a:t>Practices </a:t>
            </a:r>
            <a:r>
              <a:rPr lang="en-US" dirty="0"/>
              <a:t>for the management of soil fertility include: </a:t>
            </a:r>
            <a:endParaRPr lang="en-US" dirty="0" smtClean="0"/>
          </a:p>
          <a:p>
            <a:pPr>
              <a:buFont typeface="Wingdings" panose="05000000000000000000" pitchFamily="2" charset="2"/>
              <a:buChar char="ü"/>
            </a:pPr>
            <a:r>
              <a:rPr lang="en-US" dirty="0" smtClean="0"/>
              <a:t>the </a:t>
            </a:r>
            <a:r>
              <a:rPr lang="en-US" dirty="0"/>
              <a:t>use of animal </a:t>
            </a:r>
            <a:r>
              <a:rPr lang="en-US" dirty="0" smtClean="0"/>
              <a:t>manure(s)</a:t>
            </a:r>
          </a:p>
          <a:p>
            <a:pPr>
              <a:buFont typeface="Wingdings" panose="05000000000000000000" pitchFamily="2" charset="2"/>
              <a:buChar char="ü"/>
            </a:pPr>
            <a:r>
              <a:rPr lang="en-US" dirty="0" smtClean="0"/>
              <a:t>compost</a:t>
            </a:r>
            <a:r>
              <a:rPr lang="en-US" dirty="0"/>
              <a:t>, compost/manure </a:t>
            </a:r>
            <a:r>
              <a:rPr lang="en-US" dirty="0" smtClean="0"/>
              <a:t>extracts</a:t>
            </a:r>
          </a:p>
          <a:p>
            <a:pPr>
              <a:buFont typeface="Wingdings" panose="05000000000000000000" pitchFamily="2" charset="2"/>
              <a:buChar char="ü"/>
            </a:pPr>
            <a:r>
              <a:rPr lang="en-US" dirty="0" smtClean="0"/>
              <a:t>compost/manure </a:t>
            </a:r>
            <a:r>
              <a:rPr lang="en-US" dirty="0"/>
              <a:t>teas, green </a:t>
            </a:r>
            <a:r>
              <a:rPr lang="en-US" dirty="0" smtClean="0"/>
              <a:t>manures</a:t>
            </a:r>
          </a:p>
          <a:p>
            <a:pPr>
              <a:buFont typeface="Wingdings" panose="05000000000000000000" pitchFamily="2" charset="2"/>
              <a:buChar char="ü"/>
            </a:pPr>
            <a:r>
              <a:rPr lang="en-US" dirty="0" smtClean="0"/>
              <a:t>fertilizer trees</a:t>
            </a:r>
          </a:p>
          <a:p>
            <a:pPr>
              <a:buFont typeface="Wingdings" panose="05000000000000000000" pitchFamily="2" charset="2"/>
              <a:buChar char="ü"/>
            </a:pPr>
            <a:r>
              <a:rPr lang="en-US" dirty="0" err="1" smtClean="0"/>
              <a:t>biofertilizers</a:t>
            </a:r>
            <a:r>
              <a:rPr lang="en-US" dirty="0" smtClean="0"/>
              <a:t> </a:t>
            </a:r>
            <a:r>
              <a:rPr lang="en-US" dirty="0"/>
              <a:t>and cultural practices such as crop </a:t>
            </a:r>
            <a:r>
              <a:rPr lang="en-US" dirty="0" smtClean="0"/>
              <a:t>rotation</a:t>
            </a:r>
          </a:p>
          <a:p>
            <a:pPr>
              <a:buFont typeface="Wingdings" panose="05000000000000000000" pitchFamily="2" charset="2"/>
              <a:buChar char="ü"/>
            </a:pPr>
            <a:r>
              <a:rPr lang="en-US" dirty="0" smtClean="0"/>
              <a:t> intercropping,</a:t>
            </a:r>
          </a:p>
          <a:p>
            <a:pPr>
              <a:buFont typeface="Wingdings" panose="05000000000000000000" pitchFamily="2" charset="2"/>
              <a:buChar char="ü"/>
            </a:pPr>
            <a:r>
              <a:rPr lang="en-US" dirty="0" smtClean="0"/>
              <a:t>Mulching</a:t>
            </a:r>
          </a:p>
          <a:p>
            <a:pPr>
              <a:buFont typeface="Wingdings" panose="05000000000000000000" pitchFamily="2" charset="2"/>
              <a:buChar char="ü"/>
            </a:pPr>
            <a:r>
              <a:rPr lang="en-US" dirty="0" smtClean="0"/>
              <a:t> </a:t>
            </a:r>
            <a:r>
              <a:rPr lang="en-US" dirty="0"/>
              <a:t>residue </a:t>
            </a:r>
            <a:r>
              <a:rPr lang="en-US" dirty="0" smtClean="0"/>
              <a:t>retention</a:t>
            </a:r>
            <a:endParaRPr lang="en-GB" dirty="0"/>
          </a:p>
          <a:p>
            <a:endParaRPr lang="en-GB" dirty="0"/>
          </a:p>
        </p:txBody>
      </p:sp>
      <p:sp>
        <p:nvSpPr>
          <p:cNvPr id="4" name="Date Placeholder 3"/>
          <p:cNvSpPr>
            <a:spLocks noGrp="1"/>
          </p:cNvSpPr>
          <p:nvPr>
            <p:ph type="dt" sz="half" idx="10"/>
          </p:nvPr>
        </p:nvSpPr>
        <p:spPr/>
        <p:txBody>
          <a:bodyPr/>
          <a:lstStyle/>
          <a:p>
            <a:fld id="{76592DF5-F8BD-40E0-9E2C-D63BB028F8BE}"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26</a:t>
            </a:fld>
            <a:endParaRPr lang="en-GB"/>
          </a:p>
        </p:txBody>
      </p:sp>
    </p:spTree>
    <p:extLst>
      <p:ext uri="{BB962C8B-B14F-4D97-AF65-F5344CB8AC3E}">
        <p14:creationId xmlns:p14="http://schemas.microsoft.com/office/powerpoint/2010/main" val="115354943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ctr" rtl="0">
              <a:lnSpc>
                <a:spcPct val="90000"/>
              </a:lnSpc>
              <a:spcBef>
                <a:spcPct val="0"/>
              </a:spcBef>
            </a:pPr>
            <a:r>
              <a:rPr lang="en-US" sz="2800" b="1" dirty="0"/>
              <a:t>Soil and Water Conservation</a:t>
            </a:r>
            <a:r>
              <a:rPr lang="en-GB" b="1" dirty="0"/>
              <a:t/>
            </a:r>
            <a:br>
              <a:rPr lang="en-GB" b="1" dirty="0"/>
            </a:br>
            <a:endParaRPr lang="en-GB" dirty="0"/>
          </a:p>
        </p:txBody>
      </p:sp>
      <p:sp>
        <p:nvSpPr>
          <p:cNvPr id="3" name="Content Placeholder 2"/>
          <p:cNvSpPr>
            <a:spLocks noGrp="1"/>
          </p:cNvSpPr>
          <p:nvPr>
            <p:ph idx="1"/>
          </p:nvPr>
        </p:nvSpPr>
        <p:spPr/>
        <p:txBody>
          <a:bodyPr>
            <a:normAutofit/>
          </a:bodyPr>
          <a:lstStyle/>
          <a:p>
            <a:pPr algn="just"/>
            <a:r>
              <a:rPr lang="en-US" dirty="0"/>
              <a:t>Soil and water conservation in SOA is based on the understanding that natural resources should not be exploited just to satisfy the immediate needs but need to be taken care of to maintain productivity in the long term</a:t>
            </a:r>
            <a:r>
              <a:rPr lang="en-US" dirty="0" smtClean="0"/>
              <a:t>.</a:t>
            </a:r>
            <a:endParaRPr lang="en-GB" dirty="0"/>
          </a:p>
          <a:p>
            <a:pPr algn="just"/>
            <a:r>
              <a:rPr lang="en-US" dirty="0"/>
              <a:t>There are three broad groups of practices for soil and water conservation namely; </a:t>
            </a:r>
            <a:r>
              <a:rPr lang="en-US" i="1" dirty="0"/>
              <a:t>minimum soil disturbance, maximum soil cover and crop diversification and </a:t>
            </a:r>
            <a:r>
              <a:rPr lang="en-US" i="1" dirty="0" smtClean="0"/>
              <a:t>rotation.</a:t>
            </a:r>
          </a:p>
        </p:txBody>
      </p:sp>
      <p:sp>
        <p:nvSpPr>
          <p:cNvPr id="4" name="Date Placeholder 3"/>
          <p:cNvSpPr>
            <a:spLocks noGrp="1"/>
          </p:cNvSpPr>
          <p:nvPr>
            <p:ph type="dt" sz="half" idx="10"/>
          </p:nvPr>
        </p:nvSpPr>
        <p:spPr/>
        <p:txBody>
          <a:bodyPr/>
          <a:lstStyle/>
          <a:p>
            <a:fld id="{A39AFAA7-70C0-4952-908A-DEC8DC8D95CE}"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27</a:t>
            </a:fld>
            <a:endParaRPr lang="en-GB"/>
          </a:p>
        </p:txBody>
      </p:sp>
    </p:spTree>
    <p:extLst>
      <p:ext uri="{BB962C8B-B14F-4D97-AF65-F5344CB8AC3E}">
        <p14:creationId xmlns:p14="http://schemas.microsoft.com/office/powerpoint/2010/main" val="221788631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ctr" rtl="0">
              <a:lnSpc>
                <a:spcPct val="90000"/>
              </a:lnSpc>
              <a:spcBef>
                <a:spcPct val="0"/>
              </a:spcBef>
            </a:pPr>
            <a:r>
              <a:rPr lang="en-US" sz="2800" b="1" dirty="0"/>
              <a:t>Soil and Water Conservation</a:t>
            </a:r>
            <a:r>
              <a:rPr lang="en-GB" b="1" dirty="0"/>
              <a:t/>
            </a:r>
            <a:br>
              <a:rPr lang="en-GB" b="1" dirty="0"/>
            </a:br>
            <a:endParaRPr lang="en-GB" dirty="0"/>
          </a:p>
        </p:txBody>
      </p:sp>
      <p:sp>
        <p:nvSpPr>
          <p:cNvPr id="3" name="Content Placeholder 2"/>
          <p:cNvSpPr>
            <a:spLocks noGrp="1"/>
          </p:cNvSpPr>
          <p:nvPr>
            <p:ph idx="1"/>
          </p:nvPr>
        </p:nvSpPr>
        <p:spPr/>
        <p:txBody>
          <a:bodyPr>
            <a:normAutofit/>
          </a:bodyPr>
          <a:lstStyle/>
          <a:p>
            <a:pPr algn="just"/>
            <a:r>
              <a:rPr lang="en-US" dirty="0" smtClean="0"/>
              <a:t>Additionally</a:t>
            </a:r>
            <a:r>
              <a:rPr lang="en-US" dirty="0"/>
              <a:t>, there are other measures that are promoted to prevent wind and water </a:t>
            </a:r>
            <a:r>
              <a:rPr lang="en-US" dirty="0" smtClean="0"/>
              <a:t>erosion.</a:t>
            </a:r>
          </a:p>
          <a:p>
            <a:pPr algn="just"/>
            <a:r>
              <a:rPr lang="en-US" dirty="0" smtClean="0"/>
              <a:t>Some </a:t>
            </a:r>
            <a:r>
              <a:rPr lang="en-US" dirty="0"/>
              <a:t>of these practices are </a:t>
            </a:r>
            <a:r>
              <a:rPr lang="en-US" i="1" dirty="0"/>
              <a:t>hedgerows, contour techniques and terraces.</a:t>
            </a:r>
            <a:endParaRPr lang="en-GB" i="1" dirty="0"/>
          </a:p>
        </p:txBody>
      </p:sp>
      <p:sp>
        <p:nvSpPr>
          <p:cNvPr id="4" name="Date Placeholder 3"/>
          <p:cNvSpPr>
            <a:spLocks noGrp="1"/>
          </p:cNvSpPr>
          <p:nvPr>
            <p:ph type="dt" sz="half" idx="10"/>
          </p:nvPr>
        </p:nvSpPr>
        <p:spPr/>
        <p:txBody>
          <a:bodyPr/>
          <a:lstStyle/>
          <a:p>
            <a:fld id="{B9DDE897-C697-4942-A213-03835ACAA2A1}"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28</a:t>
            </a:fld>
            <a:endParaRPr lang="en-GB"/>
          </a:p>
        </p:txBody>
      </p:sp>
    </p:spTree>
    <p:extLst>
      <p:ext uri="{BB962C8B-B14F-4D97-AF65-F5344CB8AC3E}">
        <p14:creationId xmlns:p14="http://schemas.microsoft.com/office/powerpoint/2010/main" val="31295777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ctr" rtl="0">
              <a:lnSpc>
                <a:spcPct val="90000"/>
              </a:lnSpc>
              <a:spcBef>
                <a:spcPct val="0"/>
              </a:spcBef>
            </a:pPr>
            <a:r>
              <a:rPr lang="en-US" sz="2800" b="1" dirty="0"/>
              <a:t>Natural Pest and Disease Management</a:t>
            </a:r>
            <a:r>
              <a:rPr lang="en-GB" b="1" dirty="0"/>
              <a:t/>
            </a:r>
            <a:br>
              <a:rPr lang="en-GB" b="1" dirty="0"/>
            </a:br>
            <a:endParaRPr lang="en-GB" dirty="0"/>
          </a:p>
        </p:txBody>
      </p:sp>
      <p:sp>
        <p:nvSpPr>
          <p:cNvPr id="3" name="Content Placeholder 2"/>
          <p:cNvSpPr>
            <a:spLocks noGrp="1"/>
          </p:cNvSpPr>
          <p:nvPr>
            <p:ph idx="1"/>
          </p:nvPr>
        </p:nvSpPr>
        <p:spPr/>
        <p:txBody>
          <a:bodyPr>
            <a:normAutofit fontScale="92500" lnSpcReduction="10000"/>
          </a:bodyPr>
          <a:lstStyle/>
          <a:p>
            <a:pPr algn="just"/>
            <a:r>
              <a:rPr lang="en-US" dirty="0"/>
              <a:t>A balanced agricultural ecosystem characterized by high diversity is key for the management of pests and </a:t>
            </a:r>
            <a:r>
              <a:rPr lang="en-US" dirty="0" smtClean="0"/>
              <a:t>diseases.</a:t>
            </a:r>
          </a:p>
          <a:p>
            <a:pPr algn="just"/>
            <a:r>
              <a:rPr lang="en-US" dirty="0" smtClean="0"/>
              <a:t>A </a:t>
            </a:r>
            <a:r>
              <a:rPr lang="en-US" dirty="0"/>
              <a:t>number of cultural practices which include</a:t>
            </a:r>
            <a:r>
              <a:rPr lang="en-US" dirty="0" smtClean="0"/>
              <a:t>;</a:t>
            </a:r>
          </a:p>
          <a:p>
            <a:pPr algn="just">
              <a:buFont typeface="Wingdings" panose="05000000000000000000" pitchFamily="2" charset="2"/>
              <a:buChar char="ü"/>
            </a:pPr>
            <a:r>
              <a:rPr lang="en-US" dirty="0" smtClean="0"/>
              <a:t> </a:t>
            </a:r>
            <a:r>
              <a:rPr lang="en-US" dirty="0"/>
              <a:t>balanced crop </a:t>
            </a:r>
            <a:r>
              <a:rPr lang="en-US" dirty="0" smtClean="0"/>
              <a:t>nutrition</a:t>
            </a:r>
          </a:p>
          <a:p>
            <a:pPr algn="just">
              <a:buFont typeface="Wingdings" panose="05000000000000000000" pitchFamily="2" charset="2"/>
              <a:buChar char="ü"/>
            </a:pPr>
            <a:r>
              <a:rPr lang="en-US" dirty="0" smtClean="0"/>
              <a:t>crop rotation</a:t>
            </a:r>
          </a:p>
          <a:p>
            <a:pPr algn="just">
              <a:buFont typeface="Wingdings" panose="05000000000000000000" pitchFamily="2" charset="2"/>
              <a:buChar char="ü"/>
            </a:pPr>
            <a:r>
              <a:rPr lang="en-US" dirty="0" smtClean="0"/>
              <a:t>Intercropping</a:t>
            </a:r>
          </a:p>
          <a:p>
            <a:pPr algn="just">
              <a:buFont typeface="Wingdings" panose="05000000000000000000" pitchFamily="2" charset="2"/>
              <a:buChar char="ü"/>
            </a:pPr>
            <a:r>
              <a:rPr lang="en-US" dirty="0" smtClean="0"/>
              <a:t>crop </a:t>
            </a:r>
            <a:r>
              <a:rPr lang="en-US" dirty="0"/>
              <a:t>diversification are effective in the management of pests and </a:t>
            </a:r>
            <a:r>
              <a:rPr lang="en-US" dirty="0" smtClean="0"/>
              <a:t>diseases.</a:t>
            </a:r>
          </a:p>
          <a:p>
            <a:pPr algn="just"/>
            <a:r>
              <a:rPr lang="en-US" dirty="0" smtClean="0"/>
              <a:t>There </a:t>
            </a:r>
            <a:r>
              <a:rPr lang="en-US" dirty="0"/>
              <a:t>are also other deliberate pest management practices such as biological pest management, push pull, hedgerows and botanical pesticides</a:t>
            </a:r>
            <a:r>
              <a:rPr lang="en-US" dirty="0" smtClean="0"/>
              <a:t>.</a:t>
            </a:r>
            <a:endParaRPr lang="en-GB" dirty="0"/>
          </a:p>
          <a:p>
            <a:endParaRPr lang="en-GB" dirty="0"/>
          </a:p>
        </p:txBody>
      </p:sp>
      <p:sp>
        <p:nvSpPr>
          <p:cNvPr id="4" name="Date Placeholder 3"/>
          <p:cNvSpPr>
            <a:spLocks noGrp="1"/>
          </p:cNvSpPr>
          <p:nvPr>
            <p:ph type="dt" sz="half" idx="10"/>
          </p:nvPr>
        </p:nvSpPr>
        <p:spPr/>
        <p:txBody>
          <a:bodyPr/>
          <a:lstStyle/>
          <a:p>
            <a:fld id="{8E6DB9CE-0FE7-4B74-B54C-48053FE51C6E}"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29</a:t>
            </a:fld>
            <a:endParaRPr lang="en-GB"/>
          </a:p>
        </p:txBody>
      </p:sp>
    </p:spTree>
    <p:extLst>
      <p:ext uri="{BB962C8B-B14F-4D97-AF65-F5344CB8AC3E}">
        <p14:creationId xmlns:p14="http://schemas.microsoft.com/office/powerpoint/2010/main" val="97288502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lgn="ctr" rtl="0">
              <a:lnSpc>
                <a:spcPct val="90000"/>
              </a:lnSpc>
              <a:spcBef>
                <a:spcPct val="0"/>
              </a:spcBef>
            </a:pPr>
            <a:r>
              <a:rPr lang="en-US" sz="3200" b="1" dirty="0"/>
              <a:t>Benefits of SOA</a:t>
            </a:r>
            <a:r>
              <a:rPr lang="en-GB" b="1" dirty="0"/>
              <a:t/>
            </a:r>
            <a:br>
              <a:rPr lang="en-GB" b="1" dirty="0"/>
            </a:br>
            <a:endParaRPr lang="en-GB" dirty="0"/>
          </a:p>
        </p:txBody>
      </p:sp>
      <p:sp>
        <p:nvSpPr>
          <p:cNvPr id="3" name="Content Placeholder 2"/>
          <p:cNvSpPr>
            <a:spLocks noGrp="1"/>
          </p:cNvSpPr>
          <p:nvPr>
            <p:ph idx="1"/>
          </p:nvPr>
        </p:nvSpPr>
        <p:spPr/>
        <p:txBody>
          <a:bodyPr/>
          <a:lstStyle/>
          <a:p>
            <a:r>
              <a:rPr lang="en-US" dirty="0"/>
              <a:t>There are numerous, economic, environmental and social benefits associated with SOA.</a:t>
            </a:r>
            <a:endParaRPr lang="en-GB" dirty="0"/>
          </a:p>
          <a:p>
            <a:endParaRPr lang="en-GB"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30</a:t>
            </a:fld>
            <a:endParaRPr lang="en-GB"/>
          </a:p>
        </p:txBody>
      </p:sp>
    </p:spTree>
    <p:extLst>
      <p:ext uri="{BB962C8B-B14F-4D97-AF65-F5344CB8AC3E}">
        <p14:creationId xmlns:p14="http://schemas.microsoft.com/office/powerpoint/2010/main" val="157282270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ctr" rtl="0">
              <a:lnSpc>
                <a:spcPct val="90000"/>
              </a:lnSpc>
              <a:spcBef>
                <a:spcPct val="0"/>
              </a:spcBef>
            </a:pPr>
            <a:r>
              <a:rPr lang="en-US" sz="2800" b="1" dirty="0"/>
              <a:t>Economic benefits</a:t>
            </a:r>
            <a:r>
              <a:rPr lang="en-GB" b="1" dirty="0"/>
              <a:t/>
            </a:r>
            <a:br>
              <a:rPr lang="en-GB" b="1" dirty="0"/>
            </a:br>
            <a:endParaRPr lang="en-GB" dirty="0"/>
          </a:p>
        </p:txBody>
      </p:sp>
      <p:sp>
        <p:nvSpPr>
          <p:cNvPr id="3" name="Content Placeholder 2"/>
          <p:cNvSpPr>
            <a:spLocks noGrp="1"/>
          </p:cNvSpPr>
          <p:nvPr>
            <p:ph idx="1"/>
          </p:nvPr>
        </p:nvSpPr>
        <p:spPr/>
        <p:txBody>
          <a:bodyPr>
            <a:normAutofit lnSpcReduction="10000"/>
          </a:bodyPr>
          <a:lstStyle/>
          <a:p>
            <a:pPr lvl="0" algn="just"/>
            <a:r>
              <a:rPr lang="en-US" dirty="0"/>
              <a:t>Low cost of production due to reliance on on-farm resources, little is spent on external inputs</a:t>
            </a:r>
            <a:endParaRPr lang="en-GB" dirty="0"/>
          </a:p>
          <a:p>
            <a:pPr lvl="0" algn="just"/>
            <a:r>
              <a:rPr lang="en-US" dirty="0"/>
              <a:t>Production stability; practices used under SOA ensure stability of yield and production even in times of unfavorable weather conditions</a:t>
            </a:r>
            <a:endParaRPr lang="en-GB" dirty="0"/>
          </a:p>
          <a:p>
            <a:pPr lvl="0" algn="just"/>
            <a:r>
              <a:rPr lang="en-US" dirty="0"/>
              <a:t>High diversity in SOA ensures that farmer can earn an income and recover his cost of production even if the price of one crop is not </a:t>
            </a:r>
            <a:r>
              <a:rPr lang="en-US" dirty="0" err="1" smtClean="0"/>
              <a:t>favourable</a:t>
            </a:r>
            <a:r>
              <a:rPr lang="en-US" dirty="0" smtClean="0"/>
              <a:t>.</a:t>
            </a:r>
          </a:p>
          <a:p>
            <a:pPr lvl="0" algn="just"/>
            <a:r>
              <a:rPr lang="en-US" dirty="0" smtClean="0"/>
              <a:t>In </a:t>
            </a:r>
            <a:r>
              <a:rPr lang="en-US" dirty="0"/>
              <a:t>addition if one crop fails, it is not all lost as the farmer will surely harvest from the other crop(s</a:t>
            </a:r>
            <a:r>
              <a:rPr lang="en-US" dirty="0" smtClean="0"/>
              <a:t>).</a:t>
            </a:r>
          </a:p>
          <a:p>
            <a:pPr lvl="0" algn="just"/>
            <a:r>
              <a:rPr lang="en-US" dirty="0" smtClean="0"/>
              <a:t>This </a:t>
            </a:r>
            <a:r>
              <a:rPr lang="en-US" dirty="0"/>
              <a:t>makes the farmer more resilient.</a:t>
            </a:r>
            <a:endParaRPr lang="en-GB" dirty="0"/>
          </a:p>
          <a:p>
            <a:endParaRPr lang="en-GB"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31</a:t>
            </a:fld>
            <a:endParaRPr lang="en-GB"/>
          </a:p>
        </p:txBody>
      </p:sp>
    </p:spTree>
    <p:extLst>
      <p:ext uri="{BB962C8B-B14F-4D97-AF65-F5344CB8AC3E}">
        <p14:creationId xmlns:p14="http://schemas.microsoft.com/office/powerpoint/2010/main" val="3365360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1143000" lvl="2" indent="-228600" algn="ctr">
              <a:spcBef>
                <a:spcPts val="5"/>
              </a:spcBef>
              <a:spcAft>
                <a:spcPts val="0"/>
              </a:spcAft>
              <a:tabLst>
                <a:tab pos="1283335" algn="l"/>
              </a:tabLst>
            </a:pPr>
            <a:r>
              <a:rPr lang="en-US" sz="3200" b="1" dirty="0" smtClean="0">
                <a:effectLst/>
                <a:latin typeface="Calibri" panose="020F0502020204030204" pitchFamily="34" charset="0"/>
                <a:ea typeface="Calibri" panose="020F0502020204030204" pitchFamily="34" charset="0"/>
              </a:rPr>
              <a:t>Environmental</a:t>
            </a:r>
            <a:r>
              <a:rPr lang="en-US" sz="3200" b="1" spc="280" dirty="0" smtClean="0">
                <a:effectLst/>
                <a:latin typeface="Calibri" panose="020F0502020204030204" pitchFamily="34" charset="0"/>
                <a:ea typeface="Calibri" panose="020F0502020204030204" pitchFamily="34" charset="0"/>
              </a:rPr>
              <a:t> </a:t>
            </a:r>
            <a:r>
              <a:rPr lang="en-US" sz="3200" b="1" dirty="0" smtClean="0">
                <a:effectLst/>
                <a:latin typeface="Calibri" panose="020F0502020204030204" pitchFamily="34" charset="0"/>
                <a:ea typeface="Calibri" panose="020F0502020204030204" pitchFamily="34" charset="0"/>
              </a:rPr>
              <a:t>benefits</a:t>
            </a:r>
            <a:r>
              <a:rPr lang="en-GB" b="1" dirty="0" smtClean="0">
                <a:effectLst/>
                <a:latin typeface="Calibri" panose="020F0502020204030204" pitchFamily="34" charset="0"/>
                <a:ea typeface="Calibri" panose="020F0502020204030204" pitchFamily="34" charset="0"/>
              </a:rPr>
              <a:t/>
            </a:r>
            <a:br>
              <a:rPr lang="en-GB" b="1" dirty="0" smtClean="0">
                <a:effectLst/>
                <a:latin typeface="Calibri" panose="020F0502020204030204" pitchFamily="34" charset="0"/>
                <a:ea typeface="Calibri" panose="020F0502020204030204" pitchFamily="34" charset="0"/>
              </a:rPr>
            </a:br>
            <a:endParaRPr lang="en-GB" dirty="0"/>
          </a:p>
        </p:txBody>
      </p:sp>
      <p:sp>
        <p:nvSpPr>
          <p:cNvPr id="3" name="Content Placeholder 2"/>
          <p:cNvSpPr>
            <a:spLocks noGrp="1"/>
          </p:cNvSpPr>
          <p:nvPr>
            <p:ph idx="1"/>
          </p:nvPr>
        </p:nvSpPr>
        <p:spPr/>
        <p:txBody>
          <a:bodyPr>
            <a:normAutofit/>
          </a:bodyPr>
          <a:lstStyle/>
          <a:p>
            <a:pPr lvl="1"/>
            <a:r>
              <a:rPr lang="en-US" sz="2800" dirty="0"/>
              <a:t>Consistent application of organic matter to the soil ensures that the soils remain productive for a longer time, if not all the time.</a:t>
            </a:r>
            <a:endParaRPr lang="en-GB" sz="2800" dirty="0"/>
          </a:p>
          <a:p>
            <a:pPr lvl="1"/>
            <a:r>
              <a:rPr lang="en-US" sz="2800" dirty="0"/>
              <a:t>Organic matter plays a key role in the conservation of water and plant nutrients</a:t>
            </a:r>
            <a:endParaRPr lang="en-GB" sz="2800" dirty="0"/>
          </a:p>
          <a:p>
            <a:pPr lvl="1"/>
            <a:r>
              <a:rPr lang="en-US" sz="2800" dirty="0"/>
              <a:t>The locking up of organic matter in the soil and practices such as residue retention and no burning reduce CO2 emissions from agricultural </a:t>
            </a:r>
            <a:r>
              <a:rPr lang="en-US" sz="2800" dirty="0" smtClean="0"/>
              <a:t>fields</a:t>
            </a:r>
            <a:endParaRPr lang="en-GB" sz="2800" dirty="0"/>
          </a:p>
          <a:p>
            <a:pPr lvl="1"/>
            <a:r>
              <a:rPr lang="en-US" sz="2800" dirty="0" smtClean="0"/>
              <a:t>Water </a:t>
            </a:r>
            <a:r>
              <a:rPr lang="en-US" sz="2800" dirty="0"/>
              <a:t>and wind erosion are also effectively controlled in SOA through the use of contour practices, cover crops, hedgerows and agro forestry.</a:t>
            </a:r>
            <a:endParaRPr lang="en-GB" sz="2800" dirty="0"/>
          </a:p>
          <a:p>
            <a:endParaRPr lang="en-GB"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32</a:t>
            </a:fld>
            <a:endParaRPr lang="en-GB"/>
          </a:p>
        </p:txBody>
      </p:sp>
    </p:spTree>
    <p:extLst>
      <p:ext uri="{BB962C8B-B14F-4D97-AF65-F5344CB8AC3E}">
        <p14:creationId xmlns:p14="http://schemas.microsoft.com/office/powerpoint/2010/main" val="390585602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ctr" rtl="0">
              <a:lnSpc>
                <a:spcPct val="90000"/>
              </a:lnSpc>
              <a:spcBef>
                <a:spcPct val="0"/>
              </a:spcBef>
            </a:pPr>
            <a:r>
              <a:rPr lang="en-US" sz="3200" b="1" dirty="0"/>
              <a:t>Social benefits</a:t>
            </a:r>
            <a:r>
              <a:rPr lang="en-GB" b="1" dirty="0"/>
              <a:t/>
            </a:r>
            <a:br>
              <a:rPr lang="en-GB" b="1" dirty="0"/>
            </a:br>
            <a:endParaRPr lang="en-GB" dirty="0"/>
          </a:p>
        </p:txBody>
      </p:sp>
      <p:sp>
        <p:nvSpPr>
          <p:cNvPr id="3" name="Content Placeholder 2"/>
          <p:cNvSpPr>
            <a:spLocks noGrp="1"/>
          </p:cNvSpPr>
          <p:nvPr>
            <p:ph idx="1"/>
          </p:nvPr>
        </p:nvSpPr>
        <p:spPr/>
        <p:txBody>
          <a:bodyPr/>
          <a:lstStyle/>
          <a:p>
            <a:pPr lvl="1" algn="just"/>
            <a:r>
              <a:rPr lang="en-US" sz="3200" dirty="0"/>
              <a:t>Safe and healthy food, through the non-usage of toxic chemicals</a:t>
            </a:r>
            <a:endParaRPr lang="en-GB" sz="3200" dirty="0"/>
          </a:p>
          <a:p>
            <a:pPr lvl="1" algn="just"/>
            <a:r>
              <a:rPr lang="en-US" sz="3200" dirty="0"/>
              <a:t>Food and nutrition security through diversity, yield stability and increased production</a:t>
            </a:r>
            <a:endParaRPr lang="en-GB" sz="3200" dirty="0"/>
          </a:p>
          <a:p>
            <a:pPr lvl="1" algn="just"/>
            <a:r>
              <a:rPr lang="en-US" sz="3200" dirty="0"/>
              <a:t>Concern for future generations through responsible use of natural resources</a:t>
            </a:r>
            <a:endParaRPr lang="en-GB" sz="3200" dirty="0"/>
          </a:p>
          <a:p>
            <a:pPr lvl="1" algn="just"/>
            <a:r>
              <a:rPr lang="en-US" sz="3200" dirty="0"/>
              <a:t>Development of mutual trust and respect between producers and consumers</a:t>
            </a:r>
            <a:endParaRPr lang="en-GB" sz="3200" dirty="0"/>
          </a:p>
          <a:p>
            <a:pPr lvl="1" algn="just"/>
            <a:r>
              <a:rPr lang="en-US" sz="3200" dirty="0"/>
              <a:t>Improved social relationships within communities</a:t>
            </a:r>
            <a:endParaRPr lang="en-GB" sz="3200" dirty="0"/>
          </a:p>
          <a:p>
            <a:endParaRPr lang="en-GB"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33</a:t>
            </a:fld>
            <a:endParaRPr lang="en-GB"/>
          </a:p>
        </p:txBody>
      </p:sp>
    </p:spTree>
    <p:extLst>
      <p:ext uri="{BB962C8B-B14F-4D97-AF65-F5344CB8AC3E}">
        <p14:creationId xmlns:p14="http://schemas.microsoft.com/office/powerpoint/2010/main" val="227137847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SOURCES OF NUTRIENTS</a:t>
            </a:r>
            <a:endParaRPr lang="en-GB" b="1" dirty="0"/>
          </a:p>
        </p:txBody>
      </p:sp>
      <p:sp>
        <p:nvSpPr>
          <p:cNvPr id="3" name="Content Placeholder 2"/>
          <p:cNvSpPr>
            <a:spLocks noGrp="1"/>
          </p:cNvSpPr>
          <p:nvPr>
            <p:ph idx="1"/>
          </p:nvPr>
        </p:nvSpPr>
        <p:spPr/>
        <p:txBody>
          <a:bodyPr>
            <a:normAutofit/>
          </a:bodyPr>
          <a:lstStyle/>
          <a:p>
            <a:pPr lvl="2"/>
            <a:r>
              <a:rPr lang="en-US" sz="3200" b="1" dirty="0"/>
              <a:t>What is compost?</a:t>
            </a:r>
            <a:endParaRPr lang="en-GB" sz="3200" b="1" dirty="0"/>
          </a:p>
          <a:p>
            <a:pPr algn="just"/>
            <a:r>
              <a:rPr lang="en-US" sz="3200" dirty="0"/>
              <a:t>Compost is a mixture of organic materials decomposed by microorganisms in a warm, moist, and aerobic environment in a process called composting</a:t>
            </a:r>
            <a:endParaRPr lang="en-GB" sz="3200"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34</a:t>
            </a:fld>
            <a:endParaRPr lang="en-GB"/>
          </a:p>
        </p:txBody>
      </p:sp>
    </p:spTree>
    <p:extLst>
      <p:ext uri="{BB962C8B-B14F-4D97-AF65-F5344CB8AC3E}">
        <p14:creationId xmlns:p14="http://schemas.microsoft.com/office/powerpoint/2010/main" val="338132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What is composting</a:t>
            </a:r>
            <a:endParaRPr lang="en-GB" b="1" dirty="0"/>
          </a:p>
        </p:txBody>
      </p:sp>
      <p:sp>
        <p:nvSpPr>
          <p:cNvPr id="3" name="Content Placeholder 2"/>
          <p:cNvSpPr>
            <a:spLocks noGrp="1"/>
          </p:cNvSpPr>
          <p:nvPr>
            <p:ph idx="1"/>
          </p:nvPr>
        </p:nvSpPr>
        <p:spPr/>
        <p:txBody>
          <a:bodyPr/>
          <a:lstStyle/>
          <a:p>
            <a:pPr algn="just"/>
            <a:r>
              <a:rPr lang="en-US" dirty="0"/>
              <a:t>Composting is the systematic and deliberate process of arranging organic materials in a certain manner (compost heap) to facilitate the decomposition of organic materials by microbes in the presence of </a:t>
            </a:r>
            <a:r>
              <a:rPr lang="en-US" dirty="0" smtClean="0"/>
              <a:t>oxygen.</a:t>
            </a:r>
          </a:p>
          <a:p>
            <a:pPr algn="just"/>
            <a:r>
              <a:rPr lang="en-US" dirty="0" smtClean="0"/>
              <a:t>Compared </a:t>
            </a:r>
            <a:r>
              <a:rPr lang="en-US" dirty="0"/>
              <a:t>with uncontrolled decomposition of organic matter, the decomposition in the composting process occurs at a faster rate, reaching higher temperatures and resulting in a product of higher quality</a:t>
            </a:r>
            <a:r>
              <a:rPr lang="en-US" dirty="0" smtClean="0"/>
              <a:t>.</a:t>
            </a:r>
            <a:endParaRPr lang="en-GB" dirty="0"/>
          </a:p>
          <a:p>
            <a:endParaRPr lang="en-GB"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35</a:t>
            </a:fld>
            <a:endParaRPr lang="en-GB"/>
          </a:p>
        </p:txBody>
      </p:sp>
    </p:spTree>
    <p:extLst>
      <p:ext uri="{BB962C8B-B14F-4D97-AF65-F5344CB8AC3E}">
        <p14:creationId xmlns:p14="http://schemas.microsoft.com/office/powerpoint/2010/main" val="51677355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Why Composting</a:t>
            </a:r>
            <a:endParaRPr lang="en-GB" b="1" dirty="0"/>
          </a:p>
        </p:txBody>
      </p:sp>
      <p:sp>
        <p:nvSpPr>
          <p:cNvPr id="3" name="Content Placeholder 2"/>
          <p:cNvSpPr>
            <a:spLocks noGrp="1"/>
          </p:cNvSpPr>
          <p:nvPr>
            <p:ph idx="1"/>
          </p:nvPr>
        </p:nvSpPr>
        <p:spPr/>
        <p:txBody>
          <a:bodyPr>
            <a:normAutofit fontScale="92500"/>
          </a:bodyPr>
          <a:lstStyle/>
          <a:p>
            <a:pPr lvl="0" algn="just"/>
            <a:r>
              <a:rPr lang="en-US" dirty="0"/>
              <a:t>Composting speeds-up the break-down of materials such as maize </a:t>
            </a:r>
            <a:r>
              <a:rPr lang="en-US" dirty="0" err="1"/>
              <a:t>stover</a:t>
            </a:r>
            <a:r>
              <a:rPr lang="en-US" dirty="0"/>
              <a:t>, wheat straws and ordinary grass that naturally take a very long time to decompose thereby making plant nutrients available within a short period of time</a:t>
            </a:r>
            <a:r>
              <a:rPr lang="en-US" dirty="0" smtClean="0"/>
              <a:t>.</a:t>
            </a:r>
            <a:r>
              <a:rPr lang="en-US" dirty="0"/>
              <a:t> </a:t>
            </a:r>
            <a:endParaRPr lang="en-GB" dirty="0"/>
          </a:p>
          <a:p>
            <a:pPr lvl="0" algn="just"/>
            <a:r>
              <a:rPr lang="en-US" dirty="0"/>
              <a:t>The process of composting helps in the multiplication of beneficial microbes that play important functions in our soils</a:t>
            </a:r>
            <a:r>
              <a:rPr lang="en-US" dirty="0" smtClean="0"/>
              <a:t>.</a:t>
            </a:r>
            <a:r>
              <a:rPr lang="en-US" dirty="0"/>
              <a:t> </a:t>
            </a:r>
            <a:endParaRPr lang="en-GB" dirty="0"/>
          </a:p>
          <a:p>
            <a:pPr lvl="0" algn="just"/>
            <a:r>
              <a:rPr lang="en-US" dirty="0"/>
              <a:t>Because of the high temperatures during the composting process, most weed seeds that could be contained in some manures are killed</a:t>
            </a:r>
            <a:r>
              <a:rPr lang="en-US" dirty="0" smtClean="0"/>
              <a:t>.</a:t>
            </a:r>
            <a:r>
              <a:rPr lang="en-US" dirty="0"/>
              <a:t> </a:t>
            </a:r>
            <a:endParaRPr lang="en-GB" dirty="0"/>
          </a:p>
          <a:p>
            <a:pPr lvl="0" algn="just"/>
            <a:r>
              <a:rPr lang="en-US" dirty="0"/>
              <a:t>The microorganisms during the composting process could also break down certain poisonous harmful substances contained in some animal manure</a:t>
            </a:r>
            <a:r>
              <a:rPr lang="en-US" dirty="0" smtClean="0"/>
              <a:t>.</a:t>
            </a:r>
            <a:endParaRPr lang="en-GB"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36</a:t>
            </a:fld>
            <a:endParaRPr lang="en-GB"/>
          </a:p>
        </p:txBody>
      </p:sp>
    </p:spTree>
    <p:extLst>
      <p:ext uri="{BB962C8B-B14F-4D97-AF65-F5344CB8AC3E}">
        <p14:creationId xmlns:p14="http://schemas.microsoft.com/office/powerpoint/2010/main" val="55767016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Why Composting</a:t>
            </a:r>
            <a:endParaRPr lang="en-GB" b="1" dirty="0"/>
          </a:p>
        </p:txBody>
      </p:sp>
      <p:sp>
        <p:nvSpPr>
          <p:cNvPr id="3" name="Content Placeholder 2"/>
          <p:cNvSpPr>
            <a:spLocks noGrp="1"/>
          </p:cNvSpPr>
          <p:nvPr>
            <p:ph idx="1"/>
          </p:nvPr>
        </p:nvSpPr>
        <p:spPr/>
        <p:txBody>
          <a:bodyPr>
            <a:normAutofit/>
          </a:bodyPr>
          <a:lstStyle/>
          <a:p>
            <a:pPr lvl="0" algn="just"/>
            <a:r>
              <a:rPr lang="en-US" dirty="0" smtClean="0"/>
              <a:t>Composting </a:t>
            </a:r>
            <a:r>
              <a:rPr lang="en-US" dirty="0"/>
              <a:t>reduces the risk of scorching (burning) the crop that could happen when manures such chicken manure are used directly on a crop</a:t>
            </a:r>
            <a:r>
              <a:rPr lang="en-US" dirty="0" smtClean="0"/>
              <a:t>.</a:t>
            </a:r>
            <a:endParaRPr lang="en-GB" dirty="0"/>
          </a:p>
          <a:p>
            <a:pPr lvl="0" algn="just"/>
            <a:r>
              <a:rPr lang="en-US" dirty="0"/>
              <a:t>Composting reduces losses of nitrogen by making this vital important crop nutrient more stable and available over a longer period of time. </a:t>
            </a:r>
            <a:endParaRPr lang="en-US" dirty="0" smtClean="0"/>
          </a:p>
          <a:p>
            <a:pPr lvl="0" algn="just"/>
            <a:r>
              <a:rPr lang="en-US" dirty="0" smtClean="0"/>
              <a:t>This </a:t>
            </a:r>
            <a:r>
              <a:rPr lang="en-US" dirty="0"/>
              <a:t>is also the case for the other plant nutrients contained in the compost, such as phosphorus, potassium, calcium, magnesium and micronutrients, which are released to the plants gradually</a:t>
            </a:r>
            <a:r>
              <a:rPr lang="en-US" dirty="0" smtClean="0"/>
              <a:t>.</a:t>
            </a:r>
            <a:endParaRPr lang="en-GB" dirty="0"/>
          </a:p>
          <a:p>
            <a:pPr lvl="0" algn="just"/>
            <a:r>
              <a:rPr lang="en-US" dirty="0"/>
              <a:t>Composting will also reduce the bad smell of fresh manure, making it more pleasant to handle</a:t>
            </a:r>
            <a:r>
              <a:rPr lang="en-US" dirty="0" smtClean="0"/>
              <a:t>.</a:t>
            </a:r>
            <a:endParaRPr lang="en-GB"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37</a:t>
            </a:fld>
            <a:endParaRPr lang="en-GB"/>
          </a:p>
        </p:txBody>
      </p:sp>
    </p:spTree>
    <p:extLst>
      <p:ext uri="{BB962C8B-B14F-4D97-AF65-F5344CB8AC3E}">
        <p14:creationId xmlns:p14="http://schemas.microsoft.com/office/powerpoint/2010/main" val="355478672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ctr" rtl="0">
              <a:lnSpc>
                <a:spcPct val="90000"/>
              </a:lnSpc>
              <a:spcBef>
                <a:spcPct val="0"/>
              </a:spcBef>
            </a:pPr>
            <a:r>
              <a:rPr lang="en-US" sz="3200" b="1" dirty="0"/>
              <a:t>Basic principle of compost-making</a:t>
            </a:r>
            <a:r>
              <a:rPr lang="en-GB" b="1" dirty="0"/>
              <a:t/>
            </a:r>
            <a:br>
              <a:rPr lang="en-GB" b="1" dirty="0"/>
            </a:br>
            <a:endParaRPr lang="en-GB" dirty="0"/>
          </a:p>
        </p:txBody>
      </p:sp>
      <p:sp>
        <p:nvSpPr>
          <p:cNvPr id="3" name="Content Placeholder 2"/>
          <p:cNvSpPr>
            <a:spLocks noGrp="1"/>
          </p:cNvSpPr>
          <p:nvPr>
            <p:ph idx="1"/>
          </p:nvPr>
        </p:nvSpPr>
        <p:spPr/>
        <p:txBody>
          <a:bodyPr>
            <a:normAutofit/>
          </a:bodyPr>
          <a:lstStyle/>
          <a:p>
            <a:pPr algn="just"/>
            <a:r>
              <a:rPr lang="en-US" sz="3200" dirty="0"/>
              <a:t>The microorganisms in the compost pile need carbon and nitrogen in the proper proportion for their growth and </a:t>
            </a:r>
            <a:r>
              <a:rPr lang="en-US" sz="3200" dirty="0" smtClean="0"/>
              <a:t>activity.</a:t>
            </a:r>
          </a:p>
          <a:p>
            <a:pPr algn="just"/>
            <a:r>
              <a:rPr lang="en-US" sz="3200" dirty="0" smtClean="0"/>
              <a:t>The </a:t>
            </a:r>
            <a:r>
              <a:rPr lang="en-US" sz="3200" dirty="0"/>
              <a:t>farmer’s job is to provide them with materials that have a proper proportion of carbon and </a:t>
            </a:r>
            <a:r>
              <a:rPr lang="en-US" sz="3200" dirty="0" smtClean="0"/>
              <a:t>nitrogen.</a:t>
            </a:r>
          </a:p>
          <a:p>
            <a:pPr algn="just"/>
            <a:r>
              <a:rPr lang="en-US" sz="3200" dirty="0" smtClean="0"/>
              <a:t>Ideally </a:t>
            </a:r>
            <a:r>
              <a:rPr lang="en-US" sz="3200" dirty="0"/>
              <a:t>microorganisms decompose organic matter better if the carbon to nitrogen ratio (C/N ratio) is in the range of 20:1 to 30:1 in the heap. </a:t>
            </a:r>
            <a:endParaRPr lang="en-US" sz="3200" dirty="0" smtClean="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38</a:t>
            </a:fld>
            <a:endParaRPr lang="en-GB"/>
          </a:p>
        </p:txBody>
      </p:sp>
    </p:spTree>
    <p:extLst>
      <p:ext uri="{BB962C8B-B14F-4D97-AF65-F5344CB8AC3E}">
        <p14:creationId xmlns:p14="http://schemas.microsoft.com/office/powerpoint/2010/main" val="356900235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ctr" rtl="0">
              <a:lnSpc>
                <a:spcPct val="90000"/>
              </a:lnSpc>
              <a:spcBef>
                <a:spcPct val="0"/>
              </a:spcBef>
            </a:pPr>
            <a:r>
              <a:rPr lang="en-US" sz="3200" b="1" dirty="0"/>
              <a:t>Basic principle of compost-making</a:t>
            </a:r>
            <a:r>
              <a:rPr lang="en-GB" b="1" dirty="0"/>
              <a:t/>
            </a:r>
            <a:br>
              <a:rPr lang="en-GB" b="1" dirty="0"/>
            </a:br>
            <a:endParaRPr lang="en-GB" dirty="0"/>
          </a:p>
        </p:txBody>
      </p:sp>
      <p:sp>
        <p:nvSpPr>
          <p:cNvPr id="3" name="Content Placeholder 2"/>
          <p:cNvSpPr>
            <a:spLocks noGrp="1"/>
          </p:cNvSpPr>
          <p:nvPr>
            <p:ph idx="1"/>
          </p:nvPr>
        </p:nvSpPr>
        <p:spPr/>
        <p:txBody>
          <a:bodyPr>
            <a:normAutofit/>
          </a:bodyPr>
          <a:lstStyle/>
          <a:p>
            <a:pPr algn="just"/>
            <a:r>
              <a:rPr lang="en-US" sz="3200" dirty="0" smtClean="0"/>
              <a:t>A </a:t>
            </a:r>
            <a:r>
              <a:rPr lang="en-US" sz="3200" dirty="0"/>
              <a:t>few materials, such as cattle manure mixed with bedding, soybean shells, and vegetable waste have C/N ratios close to this range. </a:t>
            </a:r>
            <a:endParaRPr lang="en-US" sz="3200" dirty="0" smtClean="0"/>
          </a:p>
          <a:p>
            <a:pPr algn="just"/>
            <a:r>
              <a:rPr lang="en-US" sz="3200" dirty="0" smtClean="0"/>
              <a:t>Materials </a:t>
            </a:r>
            <a:r>
              <a:rPr lang="en-US" sz="3200" dirty="0"/>
              <a:t>high in nitrogen are animal manures and legumes; while those high in carbon are maize stalks, saw dust and hay. </a:t>
            </a:r>
            <a:endParaRPr lang="en-US" sz="3200" dirty="0" smtClean="0"/>
          </a:p>
          <a:p>
            <a:pPr algn="just"/>
            <a:r>
              <a:rPr lang="en-US" sz="3200" dirty="0" smtClean="0"/>
              <a:t>See </a:t>
            </a:r>
            <a:r>
              <a:rPr lang="en-US" sz="3200" dirty="0"/>
              <a:t>Table 2 below for a list of some common compost materials and their C/N ratios</a:t>
            </a:r>
            <a:r>
              <a:rPr lang="en-US" sz="3200" dirty="0" smtClean="0"/>
              <a:t>.</a:t>
            </a:r>
            <a:r>
              <a:rPr lang="en-US" sz="3200" dirty="0"/>
              <a:t> </a:t>
            </a:r>
            <a:endParaRPr lang="en-GB" sz="3200" dirty="0"/>
          </a:p>
          <a:p>
            <a:endParaRPr lang="en-GB"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39</a:t>
            </a:fld>
            <a:endParaRPr lang="en-GB"/>
          </a:p>
        </p:txBody>
      </p:sp>
    </p:spTree>
    <p:extLst>
      <p:ext uri="{BB962C8B-B14F-4D97-AF65-F5344CB8AC3E}">
        <p14:creationId xmlns:p14="http://schemas.microsoft.com/office/powerpoint/2010/main" val="235444008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ctr" rtl="0">
              <a:lnSpc>
                <a:spcPct val="90000"/>
              </a:lnSpc>
              <a:spcBef>
                <a:spcPct val="0"/>
              </a:spcBef>
            </a:pPr>
            <a:r>
              <a:rPr lang="en-US" sz="3200" b="1" dirty="0"/>
              <a:t>Basic principle of compost-making</a:t>
            </a:r>
            <a:r>
              <a:rPr lang="en-GB" b="1" dirty="0"/>
              <a:t/>
            </a:r>
            <a:br>
              <a:rPr lang="en-GB" b="1" dirty="0"/>
            </a:br>
            <a:endParaRPr lang="en-GB" dirty="0"/>
          </a:p>
        </p:txBody>
      </p:sp>
      <p:sp>
        <p:nvSpPr>
          <p:cNvPr id="3" name="Content Placeholder 2"/>
          <p:cNvSpPr>
            <a:spLocks noGrp="1"/>
          </p:cNvSpPr>
          <p:nvPr>
            <p:ph idx="1"/>
          </p:nvPr>
        </p:nvSpPr>
        <p:spPr/>
        <p:txBody>
          <a:bodyPr>
            <a:normAutofit lnSpcReduction="10000"/>
          </a:bodyPr>
          <a:lstStyle/>
          <a:p>
            <a:pPr algn="just"/>
            <a:r>
              <a:rPr lang="en-US" dirty="0"/>
              <a:t>Having the proper C/N ratio will ensure the heap is active and the process of composting will be </a:t>
            </a:r>
            <a:r>
              <a:rPr lang="en-US" dirty="0" smtClean="0"/>
              <a:t>faster.</a:t>
            </a:r>
          </a:p>
          <a:p>
            <a:pPr algn="just"/>
            <a:r>
              <a:rPr lang="en-US" dirty="0" smtClean="0"/>
              <a:t>If </a:t>
            </a:r>
            <a:r>
              <a:rPr lang="en-US" dirty="0"/>
              <a:t>too much carbon-rich material is included at the expense of nitrogen-rich materials, the process of decomposition will be slow or might not occur at </a:t>
            </a:r>
            <a:r>
              <a:rPr lang="en-US" dirty="0" smtClean="0"/>
              <a:t>all.</a:t>
            </a:r>
          </a:p>
          <a:p>
            <a:pPr algn="just"/>
            <a:r>
              <a:rPr lang="en-US" dirty="0" smtClean="0"/>
              <a:t>Furthermore</a:t>
            </a:r>
            <a:r>
              <a:rPr lang="en-US" dirty="0"/>
              <a:t>, there might be inadequate heating such that tough lignin materials, weed seeds and pathogens will not be broken down. </a:t>
            </a:r>
            <a:endParaRPr lang="en-US" dirty="0" smtClean="0"/>
          </a:p>
          <a:p>
            <a:pPr algn="just"/>
            <a:r>
              <a:rPr lang="en-US" dirty="0" smtClean="0"/>
              <a:t>On </a:t>
            </a:r>
            <a:r>
              <a:rPr lang="en-US" dirty="0"/>
              <a:t>the other hand, if the compost heap has too much nitrogen-rich materials and little carbon-rich ones, there are high chances of the compost heap heating-up too much and burning the material into charcoal.</a:t>
            </a:r>
            <a:endParaRPr lang="en-GB" dirty="0"/>
          </a:p>
          <a:p>
            <a:endParaRPr lang="en-GB"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40</a:t>
            </a:fld>
            <a:endParaRPr lang="en-GB"/>
          </a:p>
        </p:txBody>
      </p:sp>
    </p:spTree>
    <p:extLst>
      <p:ext uri="{BB962C8B-B14F-4D97-AF65-F5344CB8AC3E}">
        <p14:creationId xmlns:p14="http://schemas.microsoft.com/office/powerpoint/2010/main" val="122079428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Table 3.2. Common materials for making compost</a:t>
            </a:r>
            <a:endParaRPr lang="en-GB" sz="3600" b="1" dirty="0"/>
          </a:p>
        </p:txBody>
      </p:sp>
      <p:pic>
        <p:nvPicPr>
          <p:cNvPr id="6" name="Content Placeholder 5"/>
          <p:cNvPicPr>
            <a:picLocks noGrp="1" noChangeAspect="1"/>
          </p:cNvPicPr>
          <p:nvPr>
            <p:ph idx="1"/>
          </p:nvPr>
        </p:nvPicPr>
        <p:blipFill>
          <a:blip r:embed="rId2"/>
          <a:stretch>
            <a:fillRect/>
          </a:stretch>
        </p:blipFill>
        <p:spPr>
          <a:xfrm>
            <a:off x="838200" y="1690688"/>
            <a:ext cx="10515600" cy="4504049"/>
          </a:xfrm>
          <a:prstGeom prst="rect">
            <a:avLst/>
          </a:prstGeom>
        </p:spPr>
      </p:pic>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41</a:t>
            </a:fld>
            <a:endParaRPr lang="en-GB"/>
          </a:p>
        </p:txBody>
      </p:sp>
    </p:spTree>
    <p:extLst>
      <p:ext uri="{BB962C8B-B14F-4D97-AF65-F5344CB8AC3E}">
        <p14:creationId xmlns:p14="http://schemas.microsoft.com/office/powerpoint/2010/main" val="402528942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Table 3.2. Common materials for making compost</a:t>
            </a:r>
            <a:endParaRPr lang="en-GB" sz="3600" dirty="0"/>
          </a:p>
        </p:txBody>
      </p:sp>
      <p:pic>
        <p:nvPicPr>
          <p:cNvPr id="6" name="Content Placeholder 5"/>
          <p:cNvPicPr>
            <a:picLocks noGrp="1" noChangeAspect="1"/>
          </p:cNvPicPr>
          <p:nvPr>
            <p:ph idx="1"/>
          </p:nvPr>
        </p:nvPicPr>
        <p:blipFill>
          <a:blip r:embed="rId2"/>
          <a:stretch>
            <a:fillRect/>
          </a:stretch>
        </p:blipFill>
        <p:spPr>
          <a:xfrm>
            <a:off x="838200" y="2382592"/>
            <a:ext cx="10515600" cy="1955785"/>
          </a:xfrm>
          <a:prstGeom prst="rect">
            <a:avLst/>
          </a:prstGeom>
        </p:spPr>
      </p:pic>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42</a:t>
            </a:fld>
            <a:endParaRPr lang="en-GB"/>
          </a:p>
        </p:txBody>
      </p:sp>
    </p:spTree>
    <p:extLst>
      <p:ext uri="{BB962C8B-B14F-4D97-AF65-F5344CB8AC3E}">
        <p14:creationId xmlns:p14="http://schemas.microsoft.com/office/powerpoint/2010/main" val="356171133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What happens in a compost heap</a:t>
            </a:r>
            <a:endParaRPr lang="en-GB" dirty="0"/>
          </a:p>
        </p:txBody>
      </p:sp>
      <p:sp>
        <p:nvSpPr>
          <p:cNvPr id="3" name="Content Placeholder 2"/>
          <p:cNvSpPr>
            <a:spLocks noGrp="1"/>
          </p:cNvSpPr>
          <p:nvPr>
            <p:ph idx="1"/>
          </p:nvPr>
        </p:nvSpPr>
        <p:spPr/>
        <p:txBody>
          <a:bodyPr>
            <a:normAutofit/>
          </a:bodyPr>
          <a:lstStyle/>
          <a:p>
            <a:pPr lvl="0" algn="just"/>
            <a:r>
              <a:rPr lang="en-US" sz="3200" dirty="0"/>
              <a:t>Micro-organism activities within a compost heap lead to the conversion of organic matter into compost.</a:t>
            </a:r>
            <a:endParaRPr lang="en-GB" sz="3200" dirty="0"/>
          </a:p>
          <a:p>
            <a:pPr lvl="0" algn="just"/>
            <a:r>
              <a:rPr lang="en-US" sz="3200" dirty="0"/>
              <a:t>There is an increase in the number of beneficial microbes during the composting process.</a:t>
            </a:r>
            <a:endParaRPr lang="en-GB" sz="3200" dirty="0"/>
          </a:p>
          <a:p>
            <a:pPr lvl="0" algn="just"/>
            <a:r>
              <a:rPr lang="en-US" sz="3200" dirty="0"/>
              <a:t>Increased temperatures due to the rapid multiplication of microorganisms and the process of converting organic matter into compost kill weed seeds and pathogens</a:t>
            </a:r>
            <a:r>
              <a:rPr lang="en-US" sz="3200" dirty="0" smtClean="0"/>
              <a:t>.</a:t>
            </a:r>
            <a:endParaRPr lang="en-GB" sz="3200"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43</a:t>
            </a:fld>
            <a:endParaRPr lang="en-GB"/>
          </a:p>
        </p:txBody>
      </p:sp>
    </p:spTree>
    <p:extLst>
      <p:ext uri="{BB962C8B-B14F-4D97-AF65-F5344CB8AC3E}">
        <p14:creationId xmlns:p14="http://schemas.microsoft.com/office/powerpoint/2010/main" val="16947528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ctr" rtl="0">
              <a:lnSpc>
                <a:spcPct val="90000"/>
              </a:lnSpc>
              <a:spcBef>
                <a:spcPct val="0"/>
              </a:spcBef>
            </a:pPr>
            <a:r>
              <a:rPr lang="en-US" sz="3200" b="1" dirty="0"/>
              <a:t>The compost-making process</a:t>
            </a:r>
            <a:r>
              <a:rPr lang="en-GB" b="1" dirty="0"/>
              <a:t/>
            </a:r>
            <a:br>
              <a:rPr lang="en-GB" b="1" dirty="0"/>
            </a:br>
            <a:endParaRPr lang="en-GB" dirty="0"/>
          </a:p>
        </p:txBody>
      </p:sp>
      <p:sp>
        <p:nvSpPr>
          <p:cNvPr id="3" name="Content Placeholder 2"/>
          <p:cNvSpPr>
            <a:spLocks noGrp="1"/>
          </p:cNvSpPr>
          <p:nvPr>
            <p:ph idx="1"/>
          </p:nvPr>
        </p:nvSpPr>
        <p:spPr/>
        <p:txBody>
          <a:bodyPr/>
          <a:lstStyle/>
          <a:p>
            <a:pPr algn="just"/>
            <a:r>
              <a:rPr lang="en-US" sz="3200" dirty="0"/>
              <a:t>There is no single, fixed way of making compost as it will depend on the materials </a:t>
            </a:r>
            <a:r>
              <a:rPr lang="en-US" sz="3200" dirty="0" smtClean="0"/>
              <a:t>available.</a:t>
            </a:r>
          </a:p>
          <a:p>
            <a:pPr algn="just"/>
            <a:r>
              <a:rPr lang="en-US" sz="3200" dirty="0" smtClean="0"/>
              <a:t>However</a:t>
            </a:r>
            <a:r>
              <a:rPr lang="en-US" sz="3200" dirty="0"/>
              <a:t>, there are principles that should be applied in making compost so that it is successful.</a:t>
            </a:r>
            <a:endParaRPr lang="en-GB" sz="3200" dirty="0"/>
          </a:p>
          <a:p>
            <a:pPr algn="just"/>
            <a:r>
              <a:rPr lang="en-US" sz="3200" dirty="0"/>
              <a:t>Here are some guidelines for successful compost-making:</a:t>
            </a:r>
            <a:endParaRPr lang="en-GB" sz="3200" dirty="0"/>
          </a:p>
          <a:p>
            <a:pPr marL="0" indent="0">
              <a:buNone/>
            </a:pPr>
            <a:endParaRPr lang="en-GB"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44</a:t>
            </a:fld>
            <a:endParaRPr lang="en-GB"/>
          </a:p>
        </p:txBody>
      </p:sp>
    </p:spTree>
    <p:extLst>
      <p:ext uri="{BB962C8B-B14F-4D97-AF65-F5344CB8AC3E}">
        <p14:creationId xmlns:p14="http://schemas.microsoft.com/office/powerpoint/2010/main" val="163664478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3" algn="ctr" rtl="0">
              <a:lnSpc>
                <a:spcPct val="90000"/>
              </a:lnSpc>
              <a:spcBef>
                <a:spcPct val="0"/>
              </a:spcBef>
            </a:pPr>
            <a:r>
              <a:rPr lang="en-US" sz="3200" b="1" dirty="0"/>
              <a:t>Site location</a:t>
            </a:r>
            <a:r>
              <a:rPr lang="en-GB" b="1" dirty="0"/>
              <a:t/>
            </a:r>
            <a:br>
              <a:rPr lang="en-GB" b="1" dirty="0"/>
            </a:br>
            <a:endParaRPr lang="en-GB" dirty="0"/>
          </a:p>
        </p:txBody>
      </p:sp>
      <p:sp>
        <p:nvSpPr>
          <p:cNvPr id="3" name="Content Placeholder 2"/>
          <p:cNvSpPr>
            <a:spLocks noGrp="1"/>
          </p:cNvSpPr>
          <p:nvPr>
            <p:ph idx="1"/>
          </p:nvPr>
        </p:nvSpPr>
        <p:spPr/>
        <p:txBody>
          <a:bodyPr/>
          <a:lstStyle/>
          <a:p>
            <a:pPr algn="just"/>
            <a:r>
              <a:rPr lang="en-US" dirty="0"/>
              <a:t>The site for making a compost heap should be as near as practically possible to the fields where the finished compost will be </a:t>
            </a:r>
            <a:r>
              <a:rPr lang="en-US" dirty="0" smtClean="0"/>
              <a:t>applied.</a:t>
            </a:r>
          </a:p>
          <a:p>
            <a:pPr algn="just"/>
            <a:r>
              <a:rPr lang="en-US" dirty="0" smtClean="0"/>
              <a:t>This </a:t>
            </a:r>
            <a:r>
              <a:rPr lang="en-US" dirty="0"/>
              <a:t>saves time and labor in carrying the compost to the </a:t>
            </a:r>
            <a:r>
              <a:rPr lang="en-US" dirty="0" smtClean="0"/>
              <a:t>fields.</a:t>
            </a:r>
          </a:p>
          <a:p>
            <a:pPr algn="just"/>
            <a:r>
              <a:rPr lang="en-US" dirty="0" smtClean="0"/>
              <a:t>The </a:t>
            </a:r>
            <a:r>
              <a:rPr lang="en-US" dirty="0"/>
              <a:t>site should also be near a source of water for watering the heap when turning it and near to the source of the raw materials for making the compost, for example livestock housing or crop </a:t>
            </a:r>
            <a:r>
              <a:rPr lang="en-US" dirty="0" smtClean="0"/>
              <a:t>residues</a:t>
            </a:r>
            <a:endParaRPr lang="en-GB" dirty="0"/>
          </a:p>
          <a:p>
            <a:endParaRPr lang="en-GB"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45</a:t>
            </a:fld>
            <a:endParaRPr lang="en-GB"/>
          </a:p>
        </p:txBody>
      </p:sp>
    </p:spTree>
    <p:extLst>
      <p:ext uri="{BB962C8B-B14F-4D97-AF65-F5344CB8AC3E}">
        <p14:creationId xmlns:p14="http://schemas.microsoft.com/office/powerpoint/2010/main" val="98969902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3" algn="ctr" rtl="0">
              <a:lnSpc>
                <a:spcPct val="90000"/>
              </a:lnSpc>
              <a:spcBef>
                <a:spcPct val="0"/>
              </a:spcBef>
            </a:pPr>
            <a:r>
              <a:rPr lang="en-US" sz="3600" b="1" dirty="0"/>
              <a:t>Mobilization of materials</a:t>
            </a:r>
            <a:r>
              <a:rPr lang="en-GB" sz="3600" b="1" dirty="0"/>
              <a:t/>
            </a:r>
            <a:br>
              <a:rPr lang="en-GB" sz="3600" b="1" dirty="0"/>
            </a:br>
            <a:endParaRPr lang="en-GB" sz="3600" dirty="0"/>
          </a:p>
        </p:txBody>
      </p:sp>
      <p:sp>
        <p:nvSpPr>
          <p:cNvPr id="3" name="Content Placeholder 2"/>
          <p:cNvSpPr>
            <a:spLocks noGrp="1"/>
          </p:cNvSpPr>
          <p:nvPr>
            <p:ph idx="1"/>
          </p:nvPr>
        </p:nvSpPr>
        <p:spPr/>
        <p:txBody>
          <a:bodyPr/>
          <a:lstStyle/>
          <a:p>
            <a:pPr algn="just"/>
            <a:r>
              <a:rPr lang="en-US" sz="3200" dirty="0"/>
              <a:t>Gather the materials for making the compost at the proposed site for the </a:t>
            </a:r>
            <a:r>
              <a:rPr lang="en-US" sz="3200" dirty="0" smtClean="0"/>
              <a:t>heap.</a:t>
            </a:r>
          </a:p>
          <a:p>
            <a:pPr algn="just"/>
            <a:r>
              <a:rPr lang="en-US" sz="3200" dirty="0" smtClean="0"/>
              <a:t>A </a:t>
            </a:r>
            <a:r>
              <a:rPr lang="en-US" sz="3200" dirty="0"/>
              <a:t>mixture of different kinds of materials is needed for the compost </a:t>
            </a:r>
            <a:r>
              <a:rPr lang="en-US" sz="3200" dirty="0" smtClean="0"/>
              <a:t>heap</a:t>
            </a:r>
          </a:p>
          <a:p>
            <a:pPr algn="just"/>
            <a:r>
              <a:rPr lang="en-US" sz="3200" dirty="0" smtClean="0"/>
              <a:t>The materials </a:t>
            </a:r>
            <a:r>
              <a:rPr lang="en-US" sz="3200" dirty="0"/>
              <a:t>should comprise of dry plant materials, green plant materials, some coarse plant materials and animal manure.</a:t>
            </a:r>
            <a:endParaRPr lang="en-GB" sz="3200" dirty="0"/>
          </a:p>
          <a:p>
            <a:endParaRPr lang="en-GB"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46</a:t>
            </a:fld>
            <a:endParaRPr lang="en-GB"/>
          </a:p>
        </p:txBody>
      </p:sp>
    </p:spTree>
    <p:extLst>
      <p:ext uri="{BB962C8B-B14F-4D97-AF65-F5344CB8AC3E}">
        <p14:creationId xmlns:p14="http://schemas.microsoft.com/office/powerpoint/2010/main" val="77207206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3" algn="ctr" rtl="0">
              <a:lnSpc>
                <a:spcPct val="90000"/>
              </a:lnSpc>
              <a:spcBef>
                <a:spcPct val="0"/>
              </a:spcBef>
            </a:pPr>
            <a:r>
              <a:rPr lang="en-US" sz="3200" b="1" dirty="0"/>
              <a:t>Preparation of materials</a:t>
            </a:r>
            <a:r>
              <a:rPr lang="en-GB" sz="3200" b="1" dirty="0"/>
              <a:t/>
            </a:r>
            <a:br>
              <a:rPr lang="en-GB" sz="3200" b="1" dirty="0"/>
            </a:br>
            <a:endParaRPr lang="en-GB" sz="3200" dirty="0"/>
          </a:p>
        </p:txBody>
      </p:sp>
      <p:sp>
        <p:nvSpPr>
          <p:cNvPr id="3" name="Content Placeholder 2"/>
          <p:cNvSpPr>
            <a:spLocks noGrp="1"/>
          </p:cNvSpPr>
          <p:nvPr>
            <p:ph idx="1"/>
          </p:nvPr>
        </p:nvSpPr>
        <p:spPr/>
        <p:txBody>
          <a:bodyPr/>
          <a:lstStyle/>
          <a:p>
            <a:pPr algn="just"/>
            <a:r>
              <a:rPr lang="en-US" dirty="0"/>
              <a:t>Bulky materials such as maize stalks should be cut up into pieces no larger than 10 cm otherwise they would take too long to break down and larger pieces will still remain intact when the rest of the material has decomposed. </a:t>
            </a:r>
            <a:endParaRPr lang="en-US" dirty="0" smtClean="0"/>
          </a:p>
          <a:p>
            <a:pPr algn="just"/>
            <a:r>
              <a:rPr lang="en-US" dirty="0" smtClean="0"/>
              <a:t>Bulky </a:t>
            </a:r>
            <a:r>
              <a:rPr lang="en-US" dirty="0"/>
              <a:t>material can easily be cut up using a hoe or a </a:t>
            </a:r>
            <a:r>
              <a:rPr lang="en-US" dirty="0" err="1"/>
              <a:t>panga</a:t>
            </a:r>
            <a:r>
              <a:rPr lang="en-US" dirty="0"/>
              <a:t> into smaller </a:t>
            </a:r>
            <a:r>
              <a:rPr lang="en-US" dirty="0" smtClean="0"/>
              <a:t>pieces.</a:t>
            </a:r>
          </a:p>
          <a:p>
            <a:pPr algn="just"/>
            <a:r>
              <a:rPr lang="en-US" dirty="0" smtClean="0"/>
              <a:t>Fresh </a:t>
            </a:r>
            <a:r>
              <a:rPr lang="en-US" dirty="0"/>
              <a:t>green materials, such as grass, weeds, leaves or vegetable trimmings can be used without preparation.</a:t>
            </a:r>
            <a:endParaRPr lang="en-GB" dirty="0"/>
          </a:p>
          <a:p>
            <a:pPr marL="0" indent="0">
              <a:buNone/>
            </a:pPr>
            <a:endParaRPr lang="en-GB" dirty="0"/>
          </a:p>
          <a:p>
            <a:endParaRPr lang="en-GB"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47</a:t>
            </a:fld>
            <a:endParaRPr lang="en-GB"/>
          </a:p>
        </p:txBody>
      </p:sp>
    </p:spTree>
    <p:extLst>
      <p:ext uri="{BB962C8B-B14F-4D97-AF65-F5344CB8AC3E}">
        <p14:creationId xmlns:p14="http://schemas.microsoft.com/office/powerpoint/2010/main" val="12298519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Materials used for making compost</a:t>
            </a:r>
            <a:r>
              <a:rPr lang="en-GB" b="1" dirty="0"/>
              <a:t/>
            </a:r>
            <a:br>
              <a:rPr lang="en-GB" b="1" dirty="0"/>
            </a:br>
            <a:endParaRPr lang="en-GB" dirty="0"/>
          </a:p>
        </p:txBody>
      </p:sp>
      <p:sp>
        <p:nvSpPr>
          <p:cNvPr id="3" name="Content Placeholder 2"/>
          <p:cNvSpPr>
            <a:spLocks noGrp="1"/>
          </p:cNvSpPr>
          <p:nvPr>
            <p:ph idx="1"/>
          </p:nvPr>
        </p:nvSpPr>
        <p:spPr/>
        <p:txBody>
          <a:bodyPr>
            <a:normAutofit/>
          </a:bodyPr>
          <a:lstStyle/>
          <a:p>
            <a:pPr lvl="0" algn="just"/>
            <a:r>
              <a:rPr lang="en-US" sz="3200" dirty="0"/>
              <a:t>Dry plant materials: straw, hay, crop residue, hulls, agro industry bi-products (dusts, cakes, dry rejects)</a:t>
            </a:r>
            <a:endParaRPr lang="en-GB" sz="3200" dirty="0"/>
          </a:p>
          <a:p>
            <a:pPr lvl="0" algn="just"/>
            <a:r>
              <a:rPr lang="en-US" sz="3200" dirty="0"/>
              <a:t>Green plant materials: weeds, biomass from trees/shrubs, vegetable residues, fresh rejects, green grass</a:t>
            </a:r>
            <a:endParaRPr lang="en-GB" sz="3200" dirty="0"/>
          </a:p>
          <a:p>
            <a:pPr lvl="0" algn="just"/>
            <a:r>
              <a:rPr lang="en-US" sz="3200" dirty="0"/>
              <a:t>Animal manure as a source of nitrogen and micro-organisms to breakdown the organic material in the compost pile</a:t>
            </a:r>
            <a:endParaRPr lang="en-GB" sz="3200" dirty="0"/>
          </a:p>
          <a:p>
            <a:pPr lvl="0" algn="just"/>
            <a:r>
              <a:rPr lang="en-US" sz="3200" dirty="0" smtClean="0"/>
              <a:t>Water </a:t>
            </a:r>
            <a:r>
              <a:rPr lang="en-US" sz="3200" dirty="0"/>
              <a:t>(moisture) to keep the micro-organisms alive</a:t>
            </a:r>
            <a:r>
              <a:rPr lang="en-US" sz="3200" dirty="0" smtClean="0"/>
              <a:t>.</a:t>
            </a:r>
            <a:endParaRPr lang="en-GB" sz="3200"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48</a:t>
            </a:fld>
            <a:endParaRPr lang="en-GB"/>
          </a:p>
        </p:txBody>
      </p:sp>
    </p:spTree>
    <p:extLst>
      <p:ext uri="{BB962C8B-B14F-4D97-AF65-F5344CB8AC3E}">
        <p14:creationId xmlns:p14="http://schemas.microsoft.com/office/powerpoint/2010/main" val="172719364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Materials not to be used for composting</a:t>
            </a:r>
            <a:r>
              <a:rPr lang="en-US" dirty="0"/>
              <a:t> </a:t>
            </a:r>
            <a:endParaRPr lang="en-GB" dirty="0"/>
          </a:p>
        </p:txBody>
      </p:sp>
      <p:sp>
        <p:nvSpPr>
          <p:cNvPr id="3" name="Content Placeholder 2"/>
          <p:cNvSpPr>
            <a:spLocks noGrp="1"/>
          </p:cNvSpPr>
          <p:nvPr>
            <p:ph idx="1"/>
          </p:nvPr>
        </p:nvSpPr>
        <p:spPr/>
        <p:txBody>
          <a:bodyPr>
            <a:normAutofit lnSpcReduction="10000"/>
          </a:bodyPr>
          <a:lstStyle/>
          <a:p>
            <a:pPr lvl="0" algn="just"/>
            <a:r>
              <a:rPr lang="en-US" sz="3200" dirty="0"/>
              <a:t>Infected plants, poisonous plants (castor beans), plant materials which take too long to breakdown, acidic and toxic plants (acacia and eucalyptus</a:t>
            </a:r>
            <a:r>
              <a:rPr lang="en-US" sz="3200" dirty="0" smtClean="0"/>
              <a:t>)</a:t>
            </a:r>
          </a:p>
          <a:p>
            <a:pPr lvl="0" algn="just"/>
            <a:r>
              <a:rPr lang="en-US" sz="3200" dirty="0" smtClean="0"/>
              <a:t> </a:t>
            </a:r>
            <a:r>
              <a:rPr lang="en-US" sz="3200" dirty="0"/>
              <a:t>P</a:t>
            </a:r>
            <a:r>
              <a:rPr lang="en-US" sz="3200" dirty="0" smtClean="0"/>
              <a:t>lants </a:t>
            </a:r>
            <a:r>
              <a:rPr lang="en-US" sz="3200" dirty="0"/>
              <a:t>containing substances that interfere with decomposition (pine needles)</a:t>
            </a:r>
            <a:endParaRPr lang="en-GB" sz="3200" dirty="0"/>
          </a:p>
          <a:p>
            <a:pPr lvl="0" algn="just"/>
            <a:r>
              <a:rPr lang="en-US" sz="3200" dirty="0"/>
              <a:t>Cat and dog manure – contain pathogens</a:t>
            </a:r>
            <a:endParaRPr lang="en-GB" sz="3200" dirty="0"/>
          </a:p>
          <a:p>
            <a:pPr lvl="0" algn="just"/>
            <a:r>
              <a:rPr lang="en-US" sz="3200" dirty="0"/>
              <a:t>Inorganic materials e.g. plastics</a:t>
            </a:r>
            <a:endParaRPr lang="en-GB" sz="3200" dirty="0"/>
          </a:p>
          <a:p>
            <a:pPr lvl="0" algn="just"/>
            <a:r>
              <a:rPr lang="en-US" sz="3200" dirty="0"/>
              <a:t>Hazardous materials such as old batteries, razor blades, chemical wastes, etc.</a:t>
            </a:r>
            <a:endParaRPr lang="en-GB" sz="3200" dirty="0"/>
          </a:p>
          <a:p>
            <a:endParaRPr lang="en-GB"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49</a:t>
            </a:fld>
            <a:endParaRPr lang="en-GB"/>
          </a:p>
        </p:txBody>
      </p:sp>
    </p:spTree>
    <p:extLst>
      <p:ext uri="{BB962C8B-B14F-4D97-AF65-F5344CB8AC3E}">
        <p14:creationId xmlns:p14="http://schemas.microsoft.com/office/powerpoint/2010/main" val="16827267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3" algn="ctr" rtl="0">
              <a:lnSpc>
                <a:spcPct val="90000"/>
              </a:lnSpc>
              <a:spcBef>
                <a:spcPct val="0"/>
              </a:spcBef>
            </a:pPr>
            <a:r>
              <a:rPr lang="en-US" sz="3200" b="1" dirty="0"/>
              <a:t>Process of making a compost heap</a:t>
            </a:r>
            <a:r>
              <a:rPr lang="en-GB" b="1" dirty="0"/>
              <a:t/>
            </a:r>
            <a:br>
              <a:rPr lang="en-GB" b="1" dirty="0"/>
            </a:br>
            <a:endParaRPr lang="en-GB" dirty="0"/>
          </a:p>
        </p:txBody>
      </p:sp>
      <p:sp>
        <p:nvSpPr>
          <p:cNvPr id="3" name="Content Placeholder 2"/>
          <p:cNvSpPr>
            <a:spLocks noGrp="1"/>
          </p:cNvSpPr>
          <p:nvPr>
            <p:ph idx="1"/>
          </p:nvPr>
        </p:nvSpPr>
        <p:spPr/>
        <p:txBody>
          <a:bodyPr/>
          <a:lstStyle/>
          <a:p>
            <a:pPr lvl="0" algn="just"/>
            <a:r>
              <a:rPr lang="en-US" dirty="0"/>
              <a:t>Collect materials to be used and assemble near the selected site for building the compost heap</a:t>
            </a:r>
            <a:endParaRPr lang="en-GB" dirty="0"/>
          </a:p>
          <a:p>
            <a:pPr lvl="0" algn="just"/>
            <a:r>
              <a:rPr lang="en-US" dirty="0"/>
              <a:t>Measure and mark the desired dimension of the heap – the maximum dimensions of a compost heap are 1.5m width and 1.5m height. </a:t>
            </a:r>
            <a:endParaRPr lang="en-US" dirty="0" smtClean="0"/>
          </a:p>
          <a:p>
            <a:pPr lvl="0" algn="just"/>
            <a:r>
              <a:rPr lang="en-US" dirty="0" smtClean="0"/>
              <a:t>The </a:t>
            </a:r>
            <a:r>
              <a:rPr lang="en-US" dirty="0"/>
              <a:t>length is dependent on what the farmer can manage. </a:t>
            </a:r>
            <a:endParaRPr lang="en-US" dirty="0" smtClean="0"/>
          </a:p>
          <a:p>
            <a:pPr lvl="0" algn="just"/>
            <a:r>
              <a:rPr lang="en-US" dirty="0" smtClean="0"/>
              <a:t>Put </a:t>
            </a:r>
            <a:r>
              <a:rPr lang="en-US" dirty="0"/>
              <a:t>long pegs in the four corners of the heap to direct and hold the heap.</a:t>
            </a:r>
            <a:endParaRPr lang="en-GB" dirty="0"/>
          </a:p>
          <a:p>
            <a:pPr lvl="0" algn="just"/>
            <a:r>
              <a:rPr lang="en-US" dirty="0"/>
              <a:t>Clear the marked area</a:t>
            </a:r>
            <a:endParaRPr lang="en-GB" dirty="0"/>
          </a:p>
          <a:p>
            <a:endParaRPr lang="en-GB"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50</a:t>
            </a:fld>
            <a:endParaRPr lang="en-GB"/>
          </a:p>
        </p:txBody>
      </p:sp>
    </p:spTree>
    <p:extLst>
      <p:ext uri="{BB962C8B-B14F-4D97-AF65-F5344CB8AC3E}">
        <p14:creationId xmlns:p14="http://schemas.microsoft.com/office/powerpoint/2010/main" val="13501041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Step by step laying of materials</a:t>
            </a:r>
            <a:r>
              <a:rPr lang="en-GB" b="1" dirty="0"/>
              <a:t/>
            </a:r>
            <a:br>
              <a:rPr lang="en-GB" b="1" dirty="0"/>
            </a:br>
            <a:endParaRPr lang="en-GB" dirty="0"/>
          </a:p>
        </p:txBody>
      </p:sp>
      <p:sp>
        <p:nvSpPr>
          <p:cNvPr id="3" name="Content Placeholder 2"/>
          <p:cNvSpPr>
            <a:spLocks noGrp="1"/>
          </p:cNvSpPr>
          <p:nvPr>
            <p:ph idx="1"/>
          </p:nvPr>
        </p:nvSpPr>
        <p:spPr/>
        <p:txBody>
          <a:bodyPr>
            <a:normAutofit lnSpcReduction="10000"/>
          </a:bodyPr>
          <a:lstStyle/>
          <a:p>
            <a:pPr algn="just"/>
            <a:r>
              <a:rPr lang="en-US" b="1" dirty="0"/>
              <a:t>Step 1</a:t>
            </a:r>
            <a:r>
              <a:rPr lang="en-US" dirty="0"/>
              <a:t>: Place chopped materials of dry twigs/maize stalks to height of 15 - 30 cm from the ground. This layer is basically to help effectively aerate the heap. In most cases materials in this layer do not completely break down by the end of the composting process</a:t>
            </a:r>
            <a:r>
              <a:rPr lang="en-US" dirty="0" smtClean="0"/>
              <a:t>.</a:t>
            </a:r>
            <a:endParaRPr lang="en-GB" dirty="0"/>
          </a:p>
          <a:p>
            <a:pPr algn="just"/>
            <a:r>
              <a:rPr lang="en-US" b="1" dirty="0"/>
              <a:t>Step 2</a:t>
            </a:r>
            <a:r>
              <a:rPr lang="en-US" dirty="0"/>
              <a:t>: Place a thick layer of dry vegetation such as grass, leaves or any crop residue (brown material) as a source of carbon, to a height of 15 - 25 cm</a:t>
            </a:r>
            <a:r>
              <a:rPr lang="en-US" dirty="0" smtClean="0"/>
              <a:t>.</a:t>
            </a:r>
            <a:endParaRPr lang="en-GB" dirty="0"/>
          </a:p>
          <a:p>
            <a:pPr algn="just"/>
            <a:r>
              <a:rPr lang="en-US" b="1" dirty="0"/>
              <a:t>Step 3: </a:t>
            </a:r>
            <a:r>
              <a:rPr lang="en-US" dirty="0"/>
              <a:t>Add water - enough water should be added to thoroughly moisten the brown material. It should be noted that throughout the process of laying the materials, water is always added after the layer of brown materials.</a:t>
            </a:r>
            <a:endParaRPr lang="en-GB" dirty="0"/>
          </a:p>
          <a:p>
            <a:endParaRPr lang="en-GB"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51</a:t>
            </a:fld>
            <a:endParaRPr lang="en-GB"/>
          </a:p>
        </p:txBody>
      </p:sp>
    </p:spTree>
    <p:extLst>
      <p:ext uri="{BB962C8B-B14F-4D97-AF65-F5344CB8AC3E}">
        <p14:creationId xmlns:p14="http://schemas.microsoft.com/office/powerpoint/2010/main" val="3301561460"/>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Step by step laying of materials</a:t>
            </a:r>
            <a:r>
              <a:rPr lang="en-GB" b="1" dirty="0"/>
              <a:t/>
            </a:r>
            <a:br>
              <a:rPr lang="en-GB" b="1" dirty="0"/>
            </a:br>
            <a:endParaRPr lang="en-GB" dirty="0"/>
          </a:p>
        </p:txBody>
      </p:sp>
      <p:sp>
        <p:nvSpPr>
          <p:cNvPr id="3" name="Content Placeholder 2"/>
          <p:cNvSpPr>
            <a:spLocks noGrp="1"/>
          </p:cNvSpPr>
          <p:nvPr>
            <p:ph idx="1"/>
          </p:nvPr>
        </p:nvSpPr>
        <p:spPr/>
        <p:txBody>
          <a:bodyPr>
            <a:normAutofit/>
          </a:bodyPr>
          <a:lstStyle/>
          <a:p>
            <a:pPr marL="0" indent="0" algn="just">
              <a:buNone/>
            </a:pPr>
            <a:r>
              <a:rPr lang="en-US" b="1" i="1" dirty="0"/>
              <a:t>Note: </a:t>
            </a:r>
            <a:endParaRPr lang="en-US" b="1" i="1" dirty="0" smtClean="0"/>
          </a:p>
          <a:p>
            <a:pPr algn="just"/>
            <a:r>
              <a:rPr lang="en-US" i="1" dirty="0" smtClean="0"/>
              <a:t>Some </a:t>
            </a:r>
            <a:r>
              <a:rPr lang="en-US" i="1" dirty="0"/>
              <a:t>people apply water only at end of the compost heap making process. </a:t>
            </a:r>
          </a:p>
          <a:p>
            <a:pPr algn="just"/>
            <a:r>
              <a:rPr lang="en-US" i="1" dirty="0" smtClean="0"/>
              <a:t>This </a:t>
            </a:r>
            <a:r>
              <a:rPr lang="en-US" i="1" dirty="0"/>
              <a:t>is wrong as water might not find its way to the </a:t>
            </a:r>
            <a:r>
              <a:rPr lang="en-US" i="1" dirty="0" err="1"/>
              <a:t>centre</a:t>
            </a:r>
            <a:r>
              <a:rPr lang="en-US" i="1" dirty="0"/>
              <a:t> of the compost pile and materials inside the pile will remain </a:t>
            </a:r>
            <a:r>
              <a:rPr lang="en-US" i="1" dirty="0" smtClean="0"/>
              <a:t>dry.</a:t>
            </a:r>
          </a:p>
          <a:p>
            <a:pPr algn="just"/>
            <a:r>
              <a:rPr lang="en-US" i="1" dirty="0" smtClean="0"/>
              <a:t>The </a:t>
            </a:r>
            <a:r>
              <a:rPr lang="en-US" i="1" dirty="0"/>
              <a:t>best way to add water to the compost is when turning so that all the material inside the compost heap is moistened.</a:t>
            </a:r>
            <a:endParaRPr lang="en-GB" dirty="0"/>
          </a:p>
          <a:p>
            <a:pPr marL="0" indent="0" algn="just">
              <a:buNone/>
            </a:pPr>
            <a:endParaRPr lang="en-GB" dirty="0"/>
          </a:p>
          <a:p>
            <a:endParaRPr lang="en-GB"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52</a:t>
            </a:fld>
            <a:endParaRPr lang="en-GB"/>
          </a:p>
        </p:txBody>
      </p:sp>
    </p:spTree>
    <p:extLst>
      <p:ext uri="{BB962C8B-B14F-4D97-AF65-F5344CB8AC3E}">
        <p14:creationId xmlns:p14="http://schemas.microsoft.com/office/powerpoint/2010/main" val="433511716"/>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Step by step laying of materials</a:t>
            </a:r>
            <a:r>
              <a:rPr lang="en-GB" b="1" dirty="0"/>
              <a:t/>
            </a:r>
            <a:br>
              <a:rPr lang="en-GB" b="1" dirty="0"/>
            </a:br>
            <a:endParaRPr lang="en-GB" dirty="0"/>
          </a:p>
        </p:txBody>
      </p:sp>
      <p:sp>
        <p:nvSpPr>
          <p:cNvPr id="3" name="Content Placeholder 2"/>
          <p:cNvSpPr>
            <a:spLocks noGrp="1"/>
          </p:cNvSpPr>
          <p:nvPr>
            <p:ph idx="1"/>
          </p:nvPr>
        </p:nvSpPr>
        <p:spPr/>
        <p:txBody>
          <a:bodyPr>
            <a:normAutofit fontScale="92500" lnSpcReduction="10000"/>
          </a:bodyPr>
          <a:lstStyle/>
          <a:p>
            <a:pPr algn="just"/>
            <a:r>
              <a:rPr lang="en-US" b="1" dirty="0"/>
              <a:t>Step 4</a:t>
            </a:r>
            <a:r>
              <a:rPr lang="en-US" dirty="0"/>
              <a:t>:   Put a 5 -10 cm thick layer of manure. The manure is the main source of nitrogen and the amount to put is largely guided by the thickness of the brown layer and the quality of manure. The idea is to achieve the desired C/N ratio in the compost heap</a:t>
            </a:r>
            <a:r>
              <a:rPr lang="en-US" dirty="0" smtClean="0"/>
              <a:t>.</a:t>
            </a:r>
            <a:endParaRPr lang="en-GB" dirty="0"/>
          </a:p>
          <a:p>
            <a:pPr algn="just"/>
            <a:r>
              <a:rPr lang="en-US" b="1" dirty="0"/>
              <a:t>Step 5: </a:t>
            </a:r>
            <a:r>
              <a:rPr lang="en-US" dirty="0"/>
              <a:t>Add a 10 - 15 cm thick layer of fresh materials (greens), preferably legumes. This layer helps to kick- start the microbial activity by providing readily available food to the microbes.</a:t>
            </a:r>
            <a:endParaRPr lang="en-GB" dirty="0"/>
          </a:p>
          <a:p>
            <a:pPr algn="just"/>
            <a:r>
              <a:rPr lang="en-US" b="1" dirty="0" smtClean="0"/>
              <a:t>Step </a:t>
            </a:r>
            <a:r>
              <a:rPr lang="en-US" b="1" dirty="0"/>
              <a:t>6: </a:t>
            </a:r>
            <a:r>
              <a:rPr lang="en-US" dirty="0"/>
              <a:t>Sprinkle some forest soil or mature compost to the heap to introduce beneficial microbes</a:t>
            </a:r>
            <a:r>
              <a:rPr lang="en-US" b="1" dirty="0"/>
              <a:t>. </a:t>
            </a:r>
            <a:r>
              <a:rPr lang="en-US" dirty="0"/>
              <a:t>This step is optional</a:t>
            </a:r>
            <a:r>
              <a:rPr lang="en-US" dirty="0" smtClean="0"/>
              <a:t>.</a:t>
            </a:r>
            <a:endParaRPr lang="en-GB" dirty="0"/>
          </a:p>
          <a:p>
            <a:pPr algn="just">
              <a:buFont typeface="Wingdings" panose="05000000000000000000" pitchFamily="2" charset="2"/>
              <a:buChar char="v"/>
            </a:pPr>
            <a:r>
              <a:rPr lang="en-US" dirty="0"/>
              <a:t>After step 5 or step 6 repeat the process starting with Step 2 - the browns. Continue until the heap is about 1.5 m high</a:t>
            </a:r>
            <a:r>
              <a:rPr lang="en-US" dirty="0" smtClean="0"/>
              <a:t>.</a:t>
            </a:r>
            <a:r>
              <a:rPr lang="en-US" dirty="0"/>
              <a:t> </a:t>
            </a:r>
            <a:endParaRPr lang="en-GB" dirty="0"/>
          </a:p>
          <a:p>
            <a:pPr marL="0" indent="0" algn="just">
              <a:buNone/>
            </a:pPr>
            <a:endParaRPr lang="en-GB" dirty="0"/>
          </a:p>
          <a:p>
            <a:endParaRPr lang="en-GB"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53</a:t>
            </a:fld>
            <a:endParaRPr lang="en-GB"/>
          </a:p>
        </p:txBody>
      </p:sp>
    </p:spTree>
    <p:extLst>
      <p:ext uri="{BB962C8B-B14F-4D97-AF65-F5344CB8AC3E}">
        <p14:creationId xmlns:p14="http://schemas.microsoft.com/office/powerpoint/2010/main" val="3409980067"/>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Step by step laying of materials</a:t>
            </a:r>
            <a:r>
              <a:rPr lang="en-GB" b="1" dirty="0"/>
              <a:t/>
            </a:r>
            <a:br>
              <a:rPr lang="en-GB" b="1" dirty="0"/>
            </a:br>
            <a:endParaRPr lang="en-GB" dirty="0"/>
          </a:p>
        </p:txBody>
      </p:sp>
      <p:sp>
        <p:nvSpPr>
          <p:cNvPr id="3" name="Content Placeholder 2"/>
          <p:cNvSpPr>
            <a:spLocks noGrp="1"/>
          </p:cNvSpPr>
          <p:nvPr>
            <p:ph idx="1"/>
          </p:nvPr>
        </p:nvSpPr>
        <p:spPr/>
        <p:txBody>
          <a:bodyPr>
            <a:normAutofit/>
          </a:bodyPr>
          <a:lstStyle/>
          <a:p>
            <a:pPr algn="just"/>
            <a:r>
              <a:rPr lang="en-US" dirty="0"/>
              <a:t>Step 7: Cover the whole heap with a layer of grass to protect from direct sunlight and rains. If the heap is made under a shade and there is no danger of rain, then it might not be necessary to cover the heap</a:t>
            </a:r>
            <a:r>
              <a:rPr lang="en-US" dirty="0" smtClean="0"/>
              <a:t>.</a:t>
            </a:r>
            <a:r>
              <a:rPr lang="en-US" dirty="0"/>
              <a:t> </a:t>
            </a:r>
            <a:endParaRPr lang="en-GB" dirty="0"/>
          </a:p>
          <a:p>
            <a:pPr algn="just"/>
            <a:r>
              <a:rPr lang="en-US" dirty="0"/>
              <a:t>Step 8: Take a long, sharp stick and drive it into the pile at an angle. After two to three days, decomposition should have started in the pile. The stick, when removed, will be warm to hot. The stick helps to check on the conditions of the pile from time to time. It will show if the pile is hot or cold, wet or dry</a:t>
            </a:r>
            <a:r>
              <a:rPr lang="en-US" dirty="0" smtClean="0"/>
              <a:t>.</a:t>
            </a:r>
            <a:endParaRPr lang="en-GB" dirty="0"/>
          </a:p>
          <a:p>
            <a:pPr algn="just">
              <a:buFont typeface="Wingdings" panose="05000000000000000000" pitchFamily="2" charset="2"/>
              <a:buChar char="v"/>
            </a:pPr>
            <a:r>
              <a:rPr lang="en-US" dirty="0"/>
              <a:t>After step 8, the process of making the heap is complete.</a:t>
            </a:r>
            <a:endParaRPr lang="en-GB" dirty="0"/>
          </a:p>
          <a:p>
            <a:pPr marL="0" indent="0" algn="just">
              <a:buNone/>
            </a:pPr>
            <a:endParaRPr lang="en-GB" dirty="0"/>
          </a:p>
          <a:p>
            <a:endParaRPr lang="en-GB"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54</a:t>
            </a:fld>
            <a:endParaRPr lang="en-GB"/>
          </a:p>
        </p:txBody>
      </p:sp>
    </p:spTree>
    <p:extLst>
      <p:ext uri="{BB962C8B-B14F-4D97-AF65-F5344CB8AC3E}">
        <p14:creationId xmlns:p14="http://schemas.microsoft.com/office/powerpoint/2010/main" val="3070276176"/>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3" algn="ctr" rtl="0">
              <a:lnSpc>
                <a:spcPct val="90000"/>
              </a:lnSpc>
              <a:spcBef>
                <a:spcPct val="0"/>
              </a:spcBef>
            </a:pPr>
            <a:r>
              <a:rPr lang="en-US" sz="2800" b="1" dirty="0"/>
              <a:t>Turning the compost</a:t>
            </a:r>
            <a:r>
              <a:rPr lang="en-GB" b="1" dirty="0"/>
              <a:t/>
            </a:r>
            <a:br>
              <a:rPr lang="en-GB" b="1" dirty="0"/>
            </a:br>
            <a:endParaRPr lang="en-GB" dirty="0"/>
          </a:p>
        </p:txBody>
      </p:sp>
      <p:sp>
        <p:nvSpPr>
          <p:cNvPr id="3" name="Content Placeholder 2"/>
          <p:cNvSpPr>
            <a:spLocks noGrp="1"/>
          </p:cNvSpPr>
          <p:nvPr>
            <p:ph idx="1"/>
          </p:nvPr>
        </p:nvSpPr>
        <p:spPr/>
        <p:txBody>
          <a:bodyPr/>
          <a:lstStyle/>
          <a:p>
            <a:pPr algn="just"/>
            <a:r>
              <a:rPr lang="en-US" dirty="0"/>
              <a:t>After the compost-heap making process has been completed, the heap needs to be turned </a:t>
            </a:r>
            <a:r>
              <a:rPr lang="en-US" dirty="0" smtClean="0"/>
              <a:t>regularly.</a:t>
            </a:r>
          </a:p>
          <a:p>
            <a:pPr algn="just"/>
            <a:r>
              <a:rPr lang="en-US" dirty="0" smtClean="0"/>
              <a:t>The </a:t>
            </a:r>
            <a:r>
              <a:rPr lang="en-US" dirty="0"/>
              <a:t>temperature in the compost heap is the key determinant of the composting process and a good guide as to when to turn or correct any observed </a:t>
            </a:r>
            <a:r>
              <a:rPr lang="en-US" dirty="0" smtClean="0"/>
              <a:t>problems.</a:t>
            </a:r>
          </a:p>
          <a:p>
            <a:pPr algn="just"/>
            <a:r>
              <a:rPr lang="en-US" dirty="0" smtClean="0"/>
              <a:t>Two </a:t>
            </a:r>
            <a:r>
              <a:rPr lang="en-US" dirty="0"/>
              <a:t>to three days after making the compost heap, remove the inserted stick and immediately place it on the back of your hand. </a:t>
            </a:r>
            <a:endParaRPr lang="en-US" dirty="0" smtClean="0"/>
          </a:p>
          <a:p>
            <a:pPr algn="just"/>
            <a:r>
              <a:rPr lang="en-US" dirty="0" smtClean="0"/>
              <a:t>Based </a:t>
            </a:r>
            <a:r>
              <a:rPr lang="en-US" dirty="0"/>
              <a:t>on how hot the stick feels, the following can be done:</a:t>
            </a:r>
            <a:endParaRPr lang="en-GB" dirty="0"/>
          </a:p>
          <a:p>
            <a:endParaRPr lang="en-GB"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55</a:t>
            </a:fld>
            <a:endParaRPr lang="en-GB"/>
          </a:p>
        </p:txBody>
      </p:sp>
    </p:spTree>
    <p:extLst>
      <p:ext uri="{BB962C8B-B14F-4D97-AF65-F5344CB8AC3E}">
        <p14:creationId xmlns:p14="http://schemas.microsoft.com/office/powerpoint/2010/main" val="631300554"/>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3" algn="ctr" rtl="0">
              <a:lnSpc>
                <a:spcPct val="90000"/>
              </a:lnSpc>
              <a:spcBef>
                <a:spcPct val="0"/>
              </a:spcBef>
            </a:pPr>
            <a:r>
              <a:rPr lang="en-US" sz="2800" b="1" dirty="0"/>
              <a:t>Turning the compost</a:t>
            </a:r>
            <a:r>
              <a:rPr lang="en-GB" b="1" dirty="0"/>
              <a:t/>
            </a:r>
            <a:br>
              <a:rPr lang="en-GB" b="1" dirty="0"/>
            </a:br>
            <a:endParaRPr lang="en-GB" dirty="0"/>
          </a:p>
        </p:txBody>
      </p:sp>
      <p:sp>
        <p:nvSpPr>
          <p:cNvPr id="3" name="Content Placeholder 2"/>
          <p:cNvSpPr>
            <a:spLocks noGrp="1"/>
          </p:cNvSpPr>
          <p:nvPr>
            <p:ph idx="1"/>
          </p:nvPr>
        </p:nvSpPr>
        <p:spPr/>
        <p:txBody>
          <a:bodyPr>
            <a:normAutofit/>
          </a:bodyPr>
          <a:lstStyle/>
          <a:p>
            <a:pPr marL="971550" lvl="1" indent="-514350" algn="just">
              <a:buFont typeface="+mj-lt"/>
              <a:buAutoNum type="romanLcPeriod"/>
            </a:pPr>
            <a:r>
              <a:rPr lang="en-US" dirty="0"/>
              <a:t>If the stick feels warm or hot and the smell is good, the temperature is normal for the compost and good decomposition has </a:t>
            </a:r>
            <a:r>
              <a:rPr lang="en-US" dirty="0" smtClean="0"/>
              <a:t>started.</a:t>
            </a:r>
            <a:endParaRPr lang="en-GB" sz="2000" dirty="0"/>
          </a:p>
          <a:p>
            <a:pPr marL="971550" lvl="1" indent="-514350" algn="just">
              <a:buFont typeface="+mj-lt"/>
              <a:buAutoNum type="romanLcPeriod"/>
            </a:pPr>
            <a:r>
              <a:rPr lang="en-US" dirty="0" smtClean="0"/>
              <a:t>If </a:t>
            </a:r>
            <a:r>
              <a:rPr lang="en-US" dirty="0"/>
              <a:t>the stick feels cool or cold and there is a foul smell, the temperature is too low for good decomposition. This might mean either that the materials are too dry or there is insufficient N-rich materials. Use the squeeze test to check if there is adequate moisture. If the moisture is enough, then the problem is that of insufficient N. Turn the compost and add more N-rich </a:t>
            </a:r>
            <a:r>
              <a:rPr lang="en-US" dirty="0" smtClean="0"/>
              <a:t>materials.</a:t>
            </a:r>
            <a:endParaRPr lang="en-GB" sz="2000" dirty="0"/>
          </a:p>
          <a:p>
            <a:pPr marL="971550" lvl="1" indent="-514350" algn="just">
              <a:buFont typeface="+mj-lt"/>
              <a:buAutoNum type="romanLcPeriod"/>
            </a:pPr>
            <a:r>
              <a:rPr lang="en-US" dirty="0" smtClean="0"/>
              <a:t>If </a:t>
            </a:r>
            <a:r>
              <a:rPr lang="en-US" dirty="0"/>
              <a:t>the squeeze test produces two to three drops of water, there is sufficient moisture. If there are no water drops, then the moisture in the heap is insufficient, turn the compost heap and add water as you turn especially after the dry layers are turned</a:t>
            </a:r>
            <a:r>
              <a:rPr lang="en-US" dirty="0" smtClean="0"/>
              <a:t>.</a:t>
            </a:r>
            <a:endParaRPr lang="en-GB" sz="2000"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56</a:t>
            </a:fld>
            <a:endParaRPr lang="en-GB"/>
          </a:p>
        </p:txBody>
      </p:sp>
    </p:spTree>
    <p:extLst>
      <p:ext uri="{BB962C8B-B14F-4D97-AF65-F5344CB8AC3E}">
        <p14:creationId xmlns:p14="http://schemas.microsoft.com/office/powerpoint/2010/main" val="2535596487"/>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3" algn="ctr" rtl="0">
              <a:lnSpc>
                <a:spcPct val="90000"/>
              </a:lnSpc>
              <a:spcBef>
                <a:spcPct val="0"/>
              </a:spcBef>
            </a:pPr>
            <a:r>
              <a:rPr lang="en-US" sz="2800" b="1" dirty="0"/>
              <a:t>Turning the compost</a:t>
            </a:r>
            <a:r>
              <a:rPr lang="en-GB" b="1" dirty="0"/>
              <a:t/>
            </a:r>
            <a:br>
              <a:rPr lang="en-GB" b="1" dirty="0"/>
            </a:br>
            <a:endParaRPr lang="en-GB" dirty="0"/>
          </a:p>
        </p:txBody>
      </p:sp>
      <p:sp>
        <p:nvSpPr>
          <p:cNvPr id="3" name="Content Placeholder 2"/>
          <p:cNvSpPr>
            <a:spLocks noGrp="1"/>
          </p:cNvSpPr>
          <p:nvPr>
            <p:ph idx="1"/>
          </p:nvPr>
        </p:nvSpPr>
        <p:spPr/>
        <p:txBody>
          <a:bodyPr>
            <a:normAutofit fontScale="92500"/>
          </a:bodyPr>
          <a:lstStyle/>
          <a:p>
            <a:pPr marL="971550" lvl="1" indent="-514350" algn="just">
              <a:buAutoNum type="romanLcPeriod" startAt="4"/>
            </a:pPr>
            <a:r>
              <a:rPr lang="en-US" dirty="0" smtClean="0"/>
              <a:t>If </a:t>
            </a:r>
            <a:r>
              <a:rPr lang="en-US" dirty="0"/>
              <a:t>the stick is warm and wet, and there is a bad smell like ammonia, this indicates that there is too little air and/or too much water in the compost. The materials will be rotting and not making a good compost. Collect some more dry plant materials and/or some old dry compost. While turning the compost, add these </a:t>
            </a:r>
            <a:r>
              <a:rPr lang="en-US" dirty="0" smtClean="0"/>
              <a:t>materials.</a:t>
            </a:r>
            <a:endParaRPr lang="en-GB" sz="2000" dirty="0"/>
          </a:p>
          <a:p>
            <a:pPr marL="971550" lvl="1" indent="-514350" algn="just">
              <a:buAutoNum type="romanLcPeriod" startAt="4"/>
            </a:pPr>
            <a:r>
              <a:rPr lang="en-US" dirty="0" smtClean="0"/>
              <a:t>If </a:t>
            </a:r>
            <a:r>
              <a:rPr lang="en-US" dirty="0"/>
              <a:t>the stick feels too hot and can’t be held continuously for a few seconds, it might mean there is too much N-rich material and the inner of the heap is burning or about to burn. Turn the compost and add more brown materials </a:t>
            </a:r>
            <a:r>
              <a:rPr lang="en-US" dirty="0" smtClean="0"/>
              <a:t>immediately.</a:t>
            </a:r>
            <a:endParaRPr lang="en-GB" sz="2000" dirty="0"/>
          </a:p>
          <a:p>
            <a:pPr marL="971550" lvl="1" indent="-514350" algn="just">
              <a:buAutoNum type="romanLcPeriod" startAt="4"/>
            </a:pPr>
            <a:r>
              <a:rPr lang="en-US" dirty="0" smtClean="0"/>
              <a:t>If </a:t>
            </a:r>
            <a:r>
              <a:rPr lang="en-US" dirty="0"/>
              <a:t>the compost heap is heating-up normally, turning should be done 10-14 days after building the heap. The best way to determine when to turn is by constantly checking the stick. If after reaching the peak temperature normally about 65 to 70</a:t>
            </a:r>
            <a:r>
              <a:rPr lang="en-US" baseline="30000" dirty="0"/>
              <a:t>0</a:t>
            </a:r>
            <a:r>
              <a:rPr lang="en-US" dirty="0"/>
              <a:t>C, the temperature of the stick starts dropping, then you know that it is time to turn</a:t>
            </a:r>
            <a:r>
              <a:rPr lang="en-US" dirty="0" smtClean="0"/>
              <a:t>.</a:t>
            </a:r>
            <a:r>
              <a:rPr lang="en-US" dirty="0"/>
              <a:t/>
            </a:r>
            <a:br>
              <a:rPr lang="en-US" dirty="0"/>
            </a:br>
            <a:endParaRPr lang="en-GB"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57</a:t>
            </a:fld>
            <a:endParaRPr lang="en-GB"/>
          </a:p>
        </p:txBody>
      </p:sp>
    </p:spTree>
    <p:extLst>
      <p:ext uri="{BB962C8B-B14F-4D97-AF65-F5344CB8AC3E}">
        <p14:creationId xmlns:p14="http://schemas.microsoft.com/office/powerpoint/2010/main" val="2875538939"/>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pPr algn="just"/>
            <a:r>
              <a:rPr lang="en-US" sz="3200" dirty="0"/>
              <a:t>Turning is done by putting the top layers down and turning the material in the </a:t>
            </a:r>
            <a:r>
              <a:rPr lang="en-US" sz="3200" dirty="0" err="1"/>
              <a:t>centre</a:t>
            </a:r>
            <a:r>
              <a:rPr lang="en-US" sz="3200" dirty="0"/>
              <a:t> outward while the outside material should go towards the </a:t>
            </a:r>
            <a:r>
              <a:rPr lang="en-US" sz="3200" dirty="0" err="1" smtClean="0"/>
              <a:t>centre</a:t>
            </a:r>
            <a:r>
              <a:rPr lang="en-US" sz="3200" dirty="0" smtClean="0"/>
              <a:t>.</a:t>
            </a:r>
          </a:p>
          <a:p>
            <a:pPr algn="just"/>
            <a:r>
              <a:rPr lang="en-US" sz="3200" dirty="0" smtClean="0"/>
              <a:t>The </a:t>
            </a:r>
            <a:r>
              <a:rPr lang="en-US" sz="3200" dirty="0"/>
              <a:t>materials will decompose faster if the compost pile is turned </a:t>
            </a:r>
            <a:r>
              <a:rPr lang="en-US" sz="3200" dirty="0" smtClean="0"/>
              <a:t>regularly.</a:t>
            </a:r>
          </a:p>
          <a:p>
            <a:pPr algn="just"/>
            <a:r>
              <a:rPr lang="en-US" sz="3200" dirty="0" smtClean="0"/>
              <a:t>Spray </a:t>
            </a:r>
            <a:r>
              <a:rPr lang="en-US" sz="3200" dirty="0"/>
              <a:t>the heap as you turn with a fine mist of water. The compost should be ready after the fourth turning or approximately six to eight weeks.</a:t>
            </a:r>
            <a:endParaRPr lang="en-GB" sz="3200" dirty="0"/>
          </a:p>
          <a:p>
            <a:endParaRPr lang="en-GB"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58</a:t>
            </a:fld>
            <a:endParaRPr lang="en-GB"/>
          </a:p>
        </p:txBody>
      </p:sp>
    </p:spTree>
    <p:extLst>
      <p:ext uri="{BB962C8B-B14F-4D97-AF65-F5344CB8AC3E}">
        <p14:creationId xmlns:p14="http://schemas.microsoft.com/office/powerpoint/2010/main" val="2388794383"/>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lnSpcReduction="10000"/>
          </a:bodyPr>
          <a:lstStyle/>
          <a:p>
            <a:pPr algn="just"/>
            <a:r>
              <a:rPr lang="en-US" dirty="0"/>
              <a:t>Note: </a:t>
            </a:r>
            <a:endParaRPr lang="en-US" dirty="0" smtClean="0"/>
          </a:p>
          <a:p>
            <a:pPr algn="just"/>
            <a:r>
              <a:rPr lang="en-US" dirty="0"/>
              <a:t>A</a:t>
            </a:r>
            <a:r>
              <a:rPr lang="en-US" dirty="0" smtClean="0"/>
              <a:t>lthough </a:t>
            </a:r>
            <a:r>
              <a:rPr lang="en-US" dirty="0"/>
              <a:t>it is always preferred to have a well-decomposed compost, we should know that compost that has undergone the full decomposition process is very good for adding organic matter to the soil, but normally has a low </a:t>
            </a:r>
            <a:r>
              <a:rPr lang="en-US" dirty="0" smtClean="0"/>
              <a:t>nutrient </a:t>
            </a:r>
            <a:r>
              <a:rPr lang="en-US" dirty="0"/>
              <a:t>content and might not provide the soil life with the food that they </a:t>
            </a:r>
            <a:r>
              <a:rPr lang="en-US" dirty="0" smtClean="0"/>
              <a:t>need.</a:t>
            </a:r>
          </a:p>
          <a:p>
            <a:pPr algn="just"/>
            <a:r>
              <a:rPr lang="en-US" dirty="0" smtClean="0"/>
              <a:t>At </a:t>
            </a:r>
            <a:r>
              <a:rPr lang="en-US" dirty="0"/>
              <a:t>times it is preferable to have a partially decomposed compost as it has a higher concentration of nutrients and might provide the microbes in the soil with food (decomposable organic matter) that they need.</a:t>
            </a:r>
            <a:endParaRPr lang="en-GB" dirty="0"/>
          </a:p>
          <a:p>
            <a:r>
              <a:rPr lang="en-US" dirty="0"/>
              <a:t> </a:t>
            </a:r>
            <a:endParaRPr lang="en-GB" dirty="0"/>
          </a:p>
          <a:p>
            <a:endParaRPr lang="en-GB"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59</a:t>
            </a:fld>
            <a:endParaRPr lang="en-GB"/>
          </a:p>
        </p:txBody>
      </p:sp>
    </p:spTree>
    <p:extLst>
      <p:ext uri="{BB962C8B-B14F-4D97-AF65-F5344CB8AC3E}">
        <p14:creationId xmlns:p14="http://schemas.microsoft.com/office/powerpoint/2010/main" val="3691348344"/>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3" algn="ctr" rtl="0">
              <a:lnSpc>
                <a:spcPct val="90000"/>
              </a:lnSpc>
              <a:spcBef>
                <a:spcPct val="0"/>
              </a:spcBef>
            </a:pPr>
            <a:r>
              <a:rPr lang="en-US" sz="3200" b="1" dirty="0"/>
              <a:t>Applying animal manures and compost</a:t>
            </a:r>
            <a:r>
              <a:rPr lang="en-GB" b="1" dirty="0"/>
              <a:t/>
            </a:r>
            <a:br>
              <a:rPr lang="en-GB" b="1" dirty="0"/>
            </a:br>
            <a:endParaRPr lang="en-GB" dirty="0"/>
          </a:p>
        </p:txBody>
      </p:sp>
      <p:sp>
        <p:nvSpPr>
          <p:cNvPr id="3" name="Content Placeholder 2"/>
          <p:cNvSpPr>
            <a:spLocks noGrp="1"/>
          </p:cNvSpPr>
          <p:nvPr>
            <p:ph idx="1"/>
          </p:nvPr>
        </p:nvSpPr>
        <p:spPr/>
        <p:txBody>
          <a:bodyPr>
            <a:normAutofit fontScale="92500"/>
          </a:bodyPr>
          <a:lstStyle/>
          <a:p>
            <a:pPr algn="just"/>
            <a:r>
              <a:rPr lang="en-US" dirty="0"/>
              <a:t>The amount of manure or compost to apply is dependent on a number of factors:</a:t>
            </a:r>
            <a:endParaRPr lang="en-GB" dirty="0"/>
          </a:p>
          <a:p>
            <a:pPr lvl="0" algn="just">
              <a:buFont typeface="Wingdings" panose="05000000000000000000" pitchFamily="2" charset="2"/>
              <a:buChar char="Ø"/>
            </a:pPr>
            <a:r>
              <a:rPr lang="en-US" i="1" dirty="0"/>
              <a:t>Fertility status of the soil </a:t>
            </a:r>
            <a:r>
              <a:rPr lang="en-US" dirty="0"/>
              <a:t>– if the soil has very low fertility, a higher rate of compost or manure might be </a:t>
            </a:r>
            <a:r>
              <a:rPr lang="en-US" dirty="0" smtClean="0"/>
              <a:t>needed.</a:t>
            </a:r>
            <a:endParaRPr lang="en-GB" dirty="0"/>
          </a:p>
          <a:p>
            <a:pPr lvl="0" algn="just">
              <a:buFont typeface="Wingdings" panose="05000000000000000000" pitchFamily="2" charset="2"/>
              <a:buChar char="Ø"/>
            </a:pPr>
            <a:r>
              <a:rPr lang="en-US" i="1" dirty="0" smtClean="0"/>
              <a:t>The </a:t>
            </a:r>
            <a:r>
              <a:rPr lang="en-US" i="1" dirty="0"/>
              <a:t>type of crop </a:t>
            </a:r>
            <a:r>
              <a:rPr lang="en-US" dirty="0"/>
              <a:t>– some crops are heavy feeders, while others are </a:t>
            </a:r>
            <a:r>
              <a:rPr lang="en-US" dirty="0" smtClean="0"/>
              <a:t>not.</a:t>
            </a:r>
            <a:endParaRPr lang="en-GB" dirty="0"/>
          </a:p>
          <a:p>
            <a:pPr lvl="0" algn="just">
              <a:buFont typeface="Wingdings" panose="05000000000000000000" pitchFamily="2" charset="2"/>
              <a:buChar char="Ø"/>
            </a:pPr>
            <a:r>
              <a:rPr lang="en-US" i="1" dirty="0" smtClean="0"/>
              <a:t>Whether </a:t>
            </a:r>
            <a:r>
              <a:rPr lang="en-US" i="1" dirty="0"/>
              <a:t>compost or manure is used in combination with other fertility management </a:t>
            </a:r>
            <a:r>
              <a:rPr lang="en-US" i="1" dirty="0" smtClean="0"/>
              <a:t>practices</a:t>
            </a:r>
            <a:r>
              <a:rPr lang="en-US" dirty="0" smtClean="0"/>
              <a:t>.</a:t>
            </a:r>
          </a:p>
          <a:p>
            <a:pPr algn="just"/>
            <a:r>
              <a:rPr lang="en-US" dirty="0" smtClean="0"/>
              <a:t>It </a:t>
            </a:r>
            <a:r>
              <a:rPr lang="en-US" dirty="0"/>
              <a:t>is encouraged that farmers use more than one fertility management practice as this will help reduce the amount of compost or manure required.</a:t>
            </a:r>
            <a:endParaRPr lang="en-GB" dirty="0"/>
          </a:p>
          <a:p>
            <a:pPr marL="0" indent="0">
              <a:buNone/>
            </a:pPr>
            <a:endParaRPr lang="en-GB" dirty="0"/>
          </a:p>
          <a:p>
            <a:endParaRPr lang="en-GB"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60</a:t>
            </a:fld>
            <a:endParaRPr lang="en-GB"/>
          </a:p>
        </p:txBody>
      </p:sp>
    </p:spTree>
    <p:extLst>
      <p:ext uri="{BB962C8B-B14F-4D97-AF65-F5344CB8AC3E}">
        <p14:creationId xmlns:p14="http://schemas.microsoft.com/office/powerpoint/2010/main" val="2645722517"/>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lgn="ctr" rtl="0">
              <a:lnSpc>
                <a:spcPct val="90000"/>
              </a:lnSpc>
              <a:spcBef>
                <a:spcPct val="0"/>
              </a:spcBef>
            </a:pPr>
            <a:r>
              <a:rPr lang="en-US" sz="4000" b="1" dirty="0"/>
              <a:t>Bokashi</a:t>
            </a:r>
            <a:r>
              <a:rPr lang="en-GB" b="1" dirty="0"/>
              <a:t/>
            </a:r>
            <a:br>
              <a:rPr lang="en-GB" b="1" dirty="0"/>
            </a:br>
            <a:endParaRPr lang="en-GB" dirty="0"/>
          </a:p>
        </p:txBody>
      </p:sp>
      <p:sp>
        <p:nvSpPr>
          <p:cNvPr id="3" name="Content Placeholder 2"/>
          <p:cNvSpPr>
            <a:spLocks noGrp="1"/>
          </p:cNvSpPr>
          <p:nvPr>
            <p:ph idx="1"/>
          </p:nvPr>
        </p:nvSpPr>
        <p:spPr/>
        <p:txBody>
          <a:bodyPr/>
          <a:lstStyle/>
          <a:p>
            <a:pPr algn="just"/>
            <a:r>
              <a:rPr lang="en-US" dirty="0"/>
              <a:t>The word </a:t>
            </a:r>
            <a:r>
              <a:rPr lang="en-US" i="1" dirty="0"/>
              <a:t>bokashi </a:t>
            </a:r>
            <a:r>
              <a:rPr lang="en-US" dirty="0"/>
              <a:t>is from the Japanese </a:t>
            </a:r>
            <a:r>
              <a:rPr lang="en-US" dirty="0" smtClean="0"/>
              <a:t>language. </a:t>
            </a:r>
          </a:p>
          <a:p>
            <a:pPr algn="just"/>
            <a:r>
              <a:rPr lang="en-US" dirty="0" smtClean="0"/>
              <a:t>It </a:t>
            </a:r>
            <a:r>
              <a:rPr lang="en-US" dirty="0"/>
              <a:t>means precooking the organic matter in its own steam, taking advantage of the heat generated by fermentation</a:t>
            </a:r>
            <a:r>
              <a:rPr lang="en-US" dirty="0" smtClean="0"/>
              <a:t>.</a:t>
            </a:r>
          </a:p>
          <a:p>
            <a:pPr algn="just"/>
            <a:r>
              <a:rPr lang="en-US" dirty="0" smtClean="0"/>
              <a:t> </a:t>
            </a:r>
            <a:r>
              <a:rPr lang="en-US" dirty="0"/>
              <a:t>It may also mean the pre-digestion of organic matter through the heat generated by </a:t>
            </a:r>
            <a:r>
              <a:rPr lang="en-US" dirty="0" smtClean="0"/>
              <a:t>decomposition.</a:t>
            </a:r>
          </a:p>
          <a:p>
            <a:pPr algn="just"/>
            <a:r>
              <a:rPr lang="en-US" i="1" dirty="0" smtClean="0"/>
              <a:t>Bokashi </a:t>
            </a:r>
            <a:r>
              <a:rPr lang="en-US" dirty="0"/>
              <a:t>is produced using low-cost resources and used to restore and maintain soil </a:t>
            </a:r>
            <a:r>
              <a:rPr lang="en-US" dirty="0" smtClean="0"/>
              <a:t>fertility.</a:t>
            </a:r>
          </a:p>
          <a:p>
            <a:pPr algn="just"/>
            <a:r>
              <a:rPr lang="en-US" dirty="0" smtClean="0"/>
              <a:t>The </a:t>
            </a:r>
            <a:r>
              <a:rPr lang="en-US" dirty="0"/>
              <a:t>short time of preparation is one major advantage that the </a:t>
            </a:r>
            <a:r>
              <a:rPr lang="en-US" i="1" dirty="0"/>
              <a:t>bokashi </a:t>
            </a:r>
            <a:r>
              <a:rPr lang="en-US" dirty="0"/>
              <a:t>has over composting.</a:t>
            </a:r>
            <a:endParaRPr lang="en-GB" dirty="0"/>
          </a:p>
          <a:p>
            <a:endParaRPr lang="en-GB"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61</a:t>
            </a:fld>
            <a:endParaRPr lang="en-GB"/>
          </a:p>
        </p:txBody>
      </p:sp>
    </p:spTree>
    <p:extLst>
      <p:ext uri="{BB962C8B-B14F-4D97-AF65-F5344CB8AC3E}">
        <p14:creationId xmlns:p14="http://schemas.microsoft.com/office/powerpoint/2010/main" val="2183931220"/>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ctr" rtl="0">
              <a:lnSpc>
                <a:spcPct val="90000"/>
              </a:lnSpc>
              <a:spcBef>
                <a:spcPct val="0"/>
              </a:spcBef>
            </a:pPr>
            <a:r>
              <a:rPr lang="en-US" sz="2800" b="1" dirty="0"/>
              <a:t>Ingredients and materials required in the preparation of Bokashi</a:t>
            </a:r>
            <a:r>
              <a:rPr lang="en-GB" b="1" dirty="0"/>
              <a:t/>
            </a:r>
            <a:br>
              <a:rPr lang="en-GB" b="1" dirty="0"/>
            </a:br>
            <a:endParaRPr lang="en-GB" dirty="0"/>
          </a:p>
        </p:txBody>
      </p:sp>
      <p:sp>
        <p:nvSpPr>
          <p:cNvPr id="3" name="Content Placeholder 2"/>
          <p:cNvSpPr>
            <a:spLocks noGrp="1"/>
          </p:cNvSpPr>
          <p:nvPr>
            <p:ph idx="1"/>
          </p:nvPr>
        </p:nvSpPr>
        <p:spPr>
          <a:xfrm>
            <a:off x="838200" y="1825625"/>
            <a:ext cx="10244769" cy="4351338"/>
          </a:xfrm>
        </p:spPr>
        <p:txBody>
          <a:bodyPr/>
          <a:lstStyle/>
          <a:p>
            <a:pPr marL="1428750" lvl="2" indent="-514350">
              <a:buFont typeface="+mj-lt"/>
              <a:buAutoNum type="romanLcPeriod"/>
            </a:pPr>
            <a:r>
              <a:rPr lang="en-US" dirty="0"/>
              <a:t>Soil – preferably clay soil - 20 x </a:t>
            </a:r>
            <a:r>
              <a:rPr lang="en-US" dirty="0" smtClean="0"/>
              <a:t>50kg</a:t>
            </a:r>
            <a:endParaRPr lang="en-GB" sz="1800" dirty="0"/>
          </a:p>
          <a:p>
            <a:pPr marL="1428750" lvl="2" indent="-514350">
              <a:buFont typeface="+mj-lt"/>
              <a:buAutoNum type="romanLcPeriod"/>
            </a:pPr>
            <a:r>
              <a:rPr lang="en-US" dirty="0" smtClean="0"/>
              <a:t>Poultry </a:t>
            </a:r>
            <a:r>
              <a:rPr lang="en-US" dirty="0"/>
              <a:t>manure, goat or cow dung (or a mixture of the different manures) - 20 x </a:t>
            </a:r>
            <a:r>
              <a:rPr lang="en-US" dirty="0" smtClean="0"/>
              <a:t>50kg</a:t>
            </a:r>
            <a:endParaRPr lang="en-GB" sz="1800" dirty="0"/>
          </a:p>
          <a:p>
            <a:pPr marL="1428750" lvl="2" indent="-514350">
              <a:buFont typeface="+mj-lt"/>
              <a:buAutoNum type="romanLcPeriod"/>
            </a:pPr>
            <a:r>
              <a:rPr lang="en-US" dirty="0" smtClean="0"/>
              <a:t>Crushed </a:t>
            </a:r>
            <a:r>
              <a:rPr lang="en-US" dirty="0"/>
              <a:t>charcoal – 1 x 50 </a:t>
            </a:r>
            <a:r>
              <a:rPr lang="en-US" dirty="0" smtClean="0"/>
              <a:t>kg</a:t>
            </a:r>
            <a:endParaRPr lang="en-GB" sz="1800" dirty="0"/>
          </a:p>
          <a:p>
            <a:pPr marL="1428750" lvl="2" indent="-514350">
              <a:buFont typeface="+mj-lt"/>
              <a:buAutoNum type="romanLcPeriod"/>
            </a:pPr>
            <a:r>
              <a:rPr lang="en-US" dirty="0" smtClean="0"/>
              <a:t>Bran </a:t>
            </a:r>
            <a:r>
              <a:rPr lang="en-US" dirty="0"/>
              <a:t>(wheat, rice, oat) or straw, or a mixture of bran and straw- 20 x 50kg </a:t>
            </a:r>
            <a:r>
              <a:rPr lang="en-US" dirty="0" smtClean="0"/>
              <a:t>bag</a:t>
            </a:r>
            <a:endParaRPr lang="en-GB" sz="1800" dirty="0"/>
          </a:p>
          <a:p>
            <a:pPr marL="1428750" lvl="2" indent="-514350">
              <a:buFont typeface="+mj-lt"/>
              <a:buAutoNum type="romanLcPeriod"/>
            </a:pPr>
            <a:r>
              <a:rPr lang="en-US" dirty="0" smtClean="0"/>
              <a:t>Molasses </a:t>
            </a:r>
            <a:r>
              <a:rPr lang="en-US" dirty="0"/>
              <a:t>(the thicker the better) or unrefined cane sugar, preferably brown sugar 5-10 </a:t>
            </a:r>
            <a:r>
              <a:rPr lang="en-US" dirty="0" smtClean="0"/>
              <a:t>liters</a:t>
            </a:r>
            <a:endParaRPr lang="en-GB" sz="1800" dirty="0"/>
          </a:p>
          <a:p>
            <a:pPr marL="1428750" lvl="2" indent="-514350">
              <a:buFont typeface="+mj-lt"/>
              <a:buAutoNum type="romanLcPeriod"/>
            </a:pPr>
            <a:r>
              <a:rPr lang="en-US" dirty="0" smtClean="0"/>
              <a:t>Yeast </a:t>
            </a:r>
            <a:r>
              <a:rPr lang="en-US" dirty="0"/>
              <a:t>(instant clover, dried yeast) -1 </a:t>
            </a:r>
            <a:r>
              <a:rPr lang="en-US" dirty="0" smtClean="0"/>
              <a:t>kg</a:t>
            </a:r>
            <a:endParaRPr lang="en-GB" sz="1800" dirty="0"/>
          </a:p>
          <a:p>
            <a:pPr marL="1428750" lvl="2" indent="-514350">
              <a:buFont typeface="+mj-lt"/>
              <a:buAutoNum type="romanLcPeriod"/>
            </a:pPr>
            <a:r>
              <a:rPr lang="en-US" dirty="0" smtClean="0"/>
              <a:t>Rock </a:t>
            </a:r>
            <a:r>
              <a:rPr lang="en-US" dirty="0"/>
              <a:t>dust or wood ash (the finer the better) - 25 – </a:t>
            </a:r>
            <a:r>
              <a:rPr lang="en-US" dirty="0" smtClean="0"/>
              <a:t>50kg</a:t>
            </a:r>
            <a:endParaRPr lang="en-GB" sz="1800" dirty="0"/>
          </a:p>
          <a:p>
            <a:pPr marL="1428750" lvl="2" indent="-514350">
              <a:buFont typeface="+mj-lt"/>
              <a:buAutoNum type="romanLcPeriod"/>
            </a:pPr>
            <a:r>
              <a:rPr lang="en-US" dirty="0" smtClean="0"/>
              <a:t>Fresh </a:t>
            </a:r>
            <a:r>
              <a:rPr lang="en-US" dirty="0"/>
              <a:t>water (non-chlorinated), apply according to the squeeze test - apply only </a:t>
            </a:r>
            <a:r>
              <a:rPr lang="en-US" dirty="0" smtClean="0"/>
              <a:t>once</a:t>
            </a:r>
            <a:endParaRPr lang="en-GB" dirty="0"/>
          </a:p>
          <a:p>
            <a:endParaRPr lang="en-GB"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62</a:t>
            </a:fld>
            <a:endParaRPr lang="en-GB"/>
          </a:p>
        </p:txBody>
      </p:sp>
    </p:spTree>
    <p:extLst>
      <p:ext uri="{BB962C8B-B14F-4D97-AF65-F5344CB8AC3E}">
        <p14:creationId xmlns:p14="http://schemas.microsoft.com/office/powerpoint/2010/main" val="2412913912"/>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pPr algn="just"/>
            <a:r>
              <a:rPr lang="en-US" b="1" dirty="0"/>
              <a:t>Note: </a:t>
            </a:r>
            <a:r>
              <a:rPr lang="en-US" dirty="0" smtClean="0"/>
              <a:t>The </a:t>
            </a:r>
            <a:r>
              <a:rPr lang="en-US" dirty="0"/>
              <a:t>quantities are not fixed, but can be varied depending on the amount of </a:t>
            </a:r>
            <a:r>
              <a:rPr lang="en-US" i="1" dirty="0"/>
              <a:t>bokashi </a:t>
            </a:r>
            <a:r>
              <a:rPr lang="en-US" dirty="0"/>
              <a:t>one wishes to make and the availability of the materials.</a:t>
            </a:r>
            <a:endParaRPr lang="en-GB" dirty="0"/>
          </a:p>
          <a:p>
            <a:endParaRPr lang="en-GB"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63</a:t>
            </a:fld>
            <a:endParaRPr lang="en-GB"/>
          </a:p>
        </p:txBody>
      </p:sp>
    </p:spTree>
    <p:extLst>
      <p:ext uri="{BB962C8B-B14F-4D97-AF65-F5344CB8AC3E}">
        <p14:creationId xmlns:p14="http://schemas.microsoft.com/office/powerpoint/2010/main" val="4265767654"/>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ctr" rtl="0">
              <a:lnSpc>
                <a:spcPct val="90000"/>
              </a:lnSpc>
              <a:spcBef>
                <a:spcPct val="0"/>
              </a:spcBef>
            </a:pPr>
            <a:r>
              <a:rPr lang="en-US" sz="2800" b="1" dirty="0"/>
              <a:t>Step-by-step guide to make bokashi</a:t>
            </a:r>
            <a:r>
              <a:rPr lang="en-GB" b="1" dirty="0"/>
              <a:t/>
            </a:r>
            <a:br>
              <a:rPr lang="en-GB" b="1" dirty="0"/>
            </a:br>
            <a:endParaRPr lang="en-GB" dirty="0"/>
          </a:p>
        </p:txBody>
      </p:sp>
      <p:sp>
        <p:nvSpPr>
          <p:cNvPr id="3" name="Content Placeholder 2"/>
          <p:cNvSpPr>
            <a:spLocks noGrp="1"/>
          </p:cNvSpPr>
          <p:nvPr>
            <p:ph idx="1"/>
          </p:nvPr>
        </p:nvSpPr>
        <p:spPr/>
        <p:txBody>
          <a:bodyPr>
            <a:normAutofit/>
          </a:bodyPr>
          <a:lstStyle/>
          <a:p>
            <a:pPr lvl="1" algn="just">
              <a:buFont typeface="Wingdings" panose="05000000000000000000" pitchFamily="2" charset="2"/>
              <a:buChar char="v"/>
            </a:pPr>
            <a:r>
              <a:rPr lang="en-US" dirty="0"/>
              <a:t>The site where Bokashi is to be made should be protected from the sun, wind and/or rain, as these might interfere with the fermenting process, halting it or affecting the final quality of the </a:t>
            </a:r>
            <a:r>
              <a:rPr lang="en-US" dirty="0" smtClean="0"/>
              <a:t>Bokashi.</a:t>
            </a:r>
            <a:endParaRPr lang="en-GB" dirty="0"/>
          </a:p>
          <a:p>
            <a:pPr lvl="1" algn="just">
              <a:buFont typeface="Wingdings" panose="05000000000000000000" pitchFamily="2" charset="2"/>
              <a:buChar char="v"/>
            </a:pPr>
            <a:r>
              <a:rPr lang="en-US" dirty="0" smtClean="0"/>
              <a:t>Lay </a:t>
            </a:r>
            <a:r>
              <a:rPr lang="en-US" dirty="0"/>
              <a:t>the ingredients layer by layer and </a:t>
            </a:r>
            <a:r>
              <a:rPr lang="en-US" dirty="0" smtClean="0"/>
              <a:t>mix. The </a:t>
            </a:r>
            <a:r>
              <a:rPr lang="en-US" dirty="0"/>
              <a:t>layers should be shoveled enough to ensure a homogeneous </a:t>
            </a:r>
            <a:r>
              <a:rPr lang="en-US" dirty="0" smtClean="0"/>
              <a:t>mix.</a:t>
            </a:r>
            <a:endParaRPr lang="en-GB" sz="2000" dirty="0"/>
          </a:p>
          <a:p>
            <a:pPr lvl="1" algn="just">
              <a:buFont typeface="Wingdings" panose="05000000000000000000" pitchFamily="2" charset="2"/>
              <a:buChar char="v"/>
            </a:pPr>
            <a:r>
              <a:rPr lang="en-US" dirty="0" smtClean="0"/>
              <a:t>The </a:t>
            </a:r>
            <a:r>
              <a:rPr lang="en-US" dirty="0"/>
              <a:t>height of the heap should not exceed 1.2 </a:t>
            </a:r>
            <a:r>
              <a:rPr lang="en-US" dirty="0" smtClean="0"/>
              <a:t>m.</a:t>
            </a:r>
            <a:endParaRPr lang="en-GB" sz="2000" dirty="0"/>
          </a:p>
          <a:p>
            <a:pPr lvl="1" algn="just">
              <a:buFont typeface="Wingdings" panose="05000000000000000000" pitchFamily="2" charset="2"/>
              <a:buChar char="v"/>
            </a:pPr>
            <a:r>
              <a:rPr lang="en-US" dirty="0" smtClean="0"/>
              <a:t>The </a:t>
            </a:r>
            <a:r>
              <a:rPr lang="en-US" dirty="0"/>
              <a:t>heap should start heating-up gradually after 3 to 4 hours. Peak temperature (60</a:t>
            </a:r>
            <a:r>
              <a:rPr lang="en-US" baseline="30000" dirty="0"/>
              <a:t>0</a:t>
            </a:r>
            <a:r>
              <a:rPr lang="en-US" dirty="0"/>
              <a:t>C) can be reached after approximately a day. Temperatures should not exceed 60</a:t>
            </a:r>
            <a:r>
              <a:rPr lang="en-US" baseline="30000" dirty="0"/>
              <a:t>0</a:t>
            </a:r>
            <a:r>
              <a:rPr lang="en-US" dirty="0"/>
              <a:t>C as the material might start burning. Temperature can be controlled by slightly spreading the materials (reducing the height of the heap) or by increasing the number of turning per </a:t>
            </a:r>
            <a:r>
              <a:rPr lang="en-US" dirty="0" smtClean="0"/>
              <a:t>day</a:t>
            </a:r>
            <a:endParaRPr lang="en-GB" sz="2400" dirty="0"/>
          </a:p>
          <a:p>
            <a:endParaRPr lang="en-GB"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64</a:t>
            </a:fld>
            <a:endParaRPr lang="en-GB"/>
          </a:p>
        </p:txBody>
      </p:sp>
    </p:spTree>
    <p:extLst>
      <p:ext uri="{BB962C8B-B14F-4D97-AF65-F5344CB8AC3E}">
        <p14:creationId xmlns:p14="http://schemas.microsoft.com/office/powerpoint/2010/main" val="3403165907"/>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ctr" rtl="0">
              <a:lnSpc>
                <a:spcPct val="90000"/>
              </a:lnSpc>
              <a:spcBef>
                <a:spcPct val="0"/>
              </a:spcBef>
            </a:pPr>
            <a:r>
              <a:rPr lang="en-US" sz="2800" b="1" dirty="0"/>
              <a:t>Step-by-step guide to make bokashi</a:t>
            </a:r>
            <a:r>
              <a:rPr lang="en-GB" b="1" dirty="0"/>
              <a:t/>
            </a:r>
            <a:br>
              <a:rPr lang="en-GB" b="1" dirty="0"/>
            </a:br>
            <a:endParaRPr lang="en-GB" dirty="0"/>
          </a:p>
        </p:txBody>
      </p:sp>
      <p:sp>
        <p:nvSpPr>
          <p:cNvPr id="3" name="Content Placeholder 2"/>
          <p:cNvSpPr>
            <a:spLocks noGrp="1"/>
          </p:cNvSpPr>
          <p:nvPr>
            <p:ph idx="1"/>
          </p:nvPr>
        </p:nvSpPr>
        <p:spPr/>
        <p:txBody>
          <a:bodyPr>
            <a:normAutofit/>
          </a:bodyPr>
          <a:lstStyle/>
          <a:p>
            <a:pPr lvl="1">
              <a:buFont typeface="Wingdings" panose="05000000000000000000" pitchFamily="2" charset="2"/>
              <a:buChar char="v"/>
            </a:pPr>
            <a:r>
              <a:rPr lang="en-US" dirty="0" smtClean="0"/>
              <a:t>Under </a:t>
            </a:r>
            <a:r>
              <a:rPr lang="en-US" dirty="0"/>
              <a:t>normal circumstances, the heap should be turned and mixed twice a day for the first 3 to 5 days. Reduce the number of turning to once a day after the first 3 – 5 </a:t>
            </a:r>
            <a:r>
              <a:rPr lang="en-US" dirty="0" smtClean="0"/>
              <a:t>days.</a:t>
            </a:r>
            <a:endParaRPr lang="en-GB" sz="2000" dirty="0"/>
          </a:p>
          <a:p>
            <a:pPr lvl="1">
              <a:buFont typeface="Wingdings" panose="05000000000000000000" pitchFamily="2" charset="2"/>
              <a:buChar char="v"/>
            </a:pPr>
            <a:r>
              <a:rPr lang="en-US" dirty="0" smtClean="0"/>
              <a:t>Turn </a:t>
            </a:r>
            <a:r>
              <a:rPr lang="en-US" dirty="0"/>
              <a:t>and mix for 15 days, (a bit longer during cold seasons). At the end of the process the heap should neither be moist nor </a:t>
            </a:r>
            <a:r>
              <a:rPr lang="en-US" dirty="0" smtClean="0"/>
              <a:t>hot.</a:t>
            </a:r>
            <a:endParaRPr lang="en-GB" sz="2000" dirty="0"/>
          </a:p>
          <a:p>
            <a:pPr lvl="1">
              <a:buFont typeface="Wingdings" panose="05000000000000000000" pitchFamily="2" charset="2"/>
              <a:buChar char="v"/>
            </a:pPr>
            <a:r>
              <a:rPr lang="en-US" dirty="0" smtClean="0"/>
              <a:t>After </a:t>
            </a:r>
            <a:r>
              <a:rPr lang="en-US" dirty="0"/>
              <a:t>about 15 days, the </a:t>
            </a:r>
            <a:r>
              <a:rPr lang="en-US" i="1" dirty="0"/>
              <a:t>bokashi </a:t>
            </a:r>
            <a:r>
              <a:rPr lang="en-US" dirty="0"/>
              <a:t>is ready to be used</a:t>
            </a:r>
            <a:r>
              <a:rPr lang="en-US" dirty="0" smtClean="0"/>
              <a:t>.</a:t>
            </a:r>
            <a:endParaRPr lang="en-GB" sz="2000"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65</a:t>
            </a:fld>
            <a:endParaRPr lang="en-GB"/>
          </a:p>
        </p:txBody>
      </p:sp>
    </p:spTree>
    <p:extLst>
      <p:ext uri="{BB962C8B-B14F-4D97-AF65-F5344CB8AC3E}">
        <p14:creationId xmlns:p14="http://schemas.microsoft.com/office/powerpoint/2010/main" val="321962113"/>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ctr" rtl="0">
              <a:lnSpc>
                <a:spcPct val="90000"/>
              </a:lnSpc>
              <a:spcBef>
                <a:spcPct val="0"/>
              </a:spcBef>
            </a:pPr>
            <a:r>
              <a:rPr lang="en-US" sz="3200" b="1" dirty="0"/>
              <a:t>Application and storage of </a:t>
            </a:r>
            <a:r>
              <a:rPr lang="en-US" sz="3200" b="1" i="1" dirty="0"/>
              <a:t>bokashi</a:t>
            </a:r>
            <a:r>
              <a:rPr lang="en-GB" sz="1400" dirty="0"/>
              <a:t/>
            </a:r>
            <a:br>
              <a:rPr lang="en-GB" sz="1400" dirty="0"/>
            </a:br>
            <a:endParaRPr lang="en-GB" dirty="0"/>
          </a:p>
        </p:txBody>
      </p:sp>
      <p:sp>
        <p:nvSpPr>
          <p:cNvPr id="3" name="Content Placeholder 2"/>
          <p:cNvSpPr>
            <a:spLocks noGrp="1"/>
          </p:cNvSpPr>
          <p:nvPr>
            <p:ph idx="1"/>
          </p:nvPr>
        </p:nvSpPr>
        <p:spPr/>
        <p:txBody>
          <a:bodyPr>
            <a:normAutofit fontScale="85000" lnSpcReduction="10000"/>
          </a:bodyPr>
          <a:lstStyle/>
          <a:p>
            <a:pPr>
              <a:buFont typeface="Wingdings" panose="05000000000000000000" pitchFamily="2" charset="2"/>
              <a:buChar char="v"/>
            </a:pPr>
            <a:r>
              <a:rPr lang="en-US" dirty="0"/>
              <a:t>The rate of application will depend on the type of crop. Ensure the </a:t>
            </a:r>
            <a:r>
              <a:rPr lang="en-US" i="1" dirty="0"/>
              <a:t>bokashi </a:t>
            </a:r>
            <a:r>
              <a:rPr lang="en-US" dirty="0"/>
              <a:t>is covered after </a:t>
            </a:r>
            <a:r>
              <a:rPr lang="en-US" dirty="0" smtClean="0"/>
              <a:t>application.</a:t>
            </a:r>
            <a:endParaRPr lang="en-GB" dirty="0"/>
          </a:p>
          <a:p>
            <a:pPr>
              <a:buFont typeface="Wingdings" panose="05000000000000000000" pitchFamily="2" charset="2"/>
              <a:buChar char="v"/>
            </a:pPr>
            <a:r>
              <a:rPr lang="en-US" b="1" dirty="0" smtClean="0"/>
              <a:t>Leafy </a:t>
            </a:r>
            <a:r>
              <a:rPr lang="en-US" b="1" dirty="0"/>
              <a:t>vegetables - </a:t>
            </a:r>
            <a:r>
              <a:rPr lang="en-US" dirty="0"/>
              <a:t>80-100g pure (not mixed with soil) </a:t>
            </a:r>
            <a:r>
              <a:rPr lang="en-US" i="1" dirty="0"/>
              <a:t>bokashi. </a:t>
            </a:r>
            <a:r>
              <a:rPr lang="en-US" dirty="0"/>
              <a:t>This can be done in the furrows, beds or </a:t>
            </a:r>
            <a:r>
              <a:rPr lang="en-US" dirty="0" smtClean="0"/>
              <a:t>basins.</a:t>
            </a:r>
            <a:endParaRPr lang="en-GB" dirty="0"/>
          </a:p>
          <a:p>
            <a:pPr>
              <a:buFont typeface="Wingdings" panose="05000000000000000000" pitchFamily="2" charset="2"/>
              <a:buChar char="v"/>
            </a:pPr>
            <a:r>
              <a:rPr lang="en-US" b="1" dirty="0" smtClean="0"/>
              <a:t>In </a:t>
            </a:r>
            <a:r>
              <a:rPr lang="en-US" b="1" dirty="0"/>
              <a:t>nursery pots </a:t>
            </a:r>
            <a:r>
              <a:rPr lang="en-US" dirty="0"/>
              <a:t>– Mix 1 part bokashi with 4 parts soil. Apply 50-80g per </a:t>
            </a:r>
            <a:r>
              <a:rPr lang="en-US" dirty="0" smtClean="0"/>
              <a:t>pot.</a:t>
            </a:r>
            <a:endParaRPr lang="en-GB" dirty="0"/>
          </a:p>
          <a:p>
            <a:pPr>
              <a:buFont typeface="Wingdings" panose="05000000000000000000" pitchFamily="2" charset="2"/>
              <a:buChar char="v"/>
            </a:pPr>
            <a:r>
              <a:rPr lang="en-US" b="1" dirty="0" smtClean="0"/>
              <a:t>For </a:t>
            </a:r>
            <a:r>
              <a:rPr lang="en-US" b="1" dirty="0"/>
              <a:t>transplanting tree seedlings </a:t>
            </a:r>
            <a:r>
              <a:rPr lang="en-US" dirty="0"/>
              <a:t>– ratio of 3:2 </a:t>
            </a:r>
            <a:r>
              <a:rPr lang="en-US" i="1" dirty="0"/>
              <a:t>bokashi </a:t>
            </a:r>
            <a:r>
              <a:rPr lang="en-US" dirty="0"/>
              <a:t>to soil. Apply 250-600g/hole prior to </a:t>
            </a:r>
            <a:r>
              <a:rPr lang="en-US" dirty="0" smtClean="0"/>
              <a:t>transplanting.</a:t>
            </a:r>
            <a:endParaRPr lang="en-GB" dirty="0"/>
          </a:p>
          <a:p>
            <a:pPr>
              <a:buFont typeface="Wingdings" panose="05000000000000000000" pitchFamily="2" charset="2"/>
              <a:buChar char="v"/>
            </a:pPr>
            <a:r>
              <a:rPr lang="en-US" b="1" dirty="0" smtClean="0"/>
              <a:t>For </a:t>
            </a:r>
            <a:r>
              <a:rPr lang="en-US" b="1" dirty="0"/>
              <a:t>maize, broad beans and other grain crops </a:t>
            </a:r>
            <a:r>
              <a:rPr lang="en-US" dirty="0"/>
              <a:t>- apply a double hand per </a:t>
            </a:r>
            <a:r>
              <a:rPr lang="en-US" dirty="0" smtClean="0"/>
              <a:t>crop</a:t>
            </a:r>
            <a:endParaRPr lang="en-GB" dirty="0"/>
          </a:p>
          <a:p>
            <a:pPr>
              <a:buFont typeface="Wingdings" panose="05000000000000000000" pitchFamily="2" charset="2"/>
              <a:buChar char="v"/>
            </a:pPr>
            <a:r>
              <a:rPr lang="en-US" b="1" dirty="0" smtClean="0"/>
              <a:t>For </a:t>
            </a:r>
            <a:r>
              <a:rPr lang="en-US" b="1" dirty="0"/>
              <a:t>headed vegetables </a:t>
            </a:r>
            <a:r>
              <a:rPr lang="en-US" dirty="0"/>
              <a:t>(cabbage, broccoli and cauliflower) – apply 100 to 150g of </a:t>
            </a:r>
            <a:r>
              <a:rPr lang="en-US" i="1" dirty="0"/>
              <a:t>bokashi </a:t>
            </a:r>
            <a:r>
              <a:rPr lang="en-US" dirty="0"/>
              <a:t>per </a:t>
            </a:r>
            <a:r>
              <a:rPr lang="en-US" dirty="0" smtClean="0"/>
              <a:t>plant</a:t>
            </a:r>
            <a:endParaRPr lang="en-GB" dirty="0"/>
          </a:p>
          <a:p>
            <a:pPr>
              <a:buFont typeface="Wingdings" panose="05000000000000000000" pitchFamily="2" charset="2"/>
              <a:buChar char="v"/>
            </a:pPr>
            <a:r>
              <a:rPr lang="en-US" b="1" dirty="0" smtClean="0"/>
              <a:t>For </a:t>
            </a:r>
            <a:r>
              <a:rPr lang="en-US" b="1" dirty="0"/>
              <a:t>tree crops</a:t>
            </a:r>
            <a:r>
              <a:rPr lang="en-US" dirty="0"/>
              <a:t>, apply a mixture of one part bokashi and one part soil.</a:t>
            </a:r>
            <a:endParaRPr lang="en-GB" dirty="0"/>
          </a:p>
          <a:p>
            <a:endParaRPr lang="en-GB"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66</a:t>
            </a:fld>
            <a:endParaRPr lang="en-GB"/>
          </a:p>
        </p:txBody>
      </p:sp>
    </p:spTree>
    <p:extLst>
      <p:ext uri="{BB962C8B-B14F-4D97-AF65-F5344CB8AC3E}">
        <p14:creationId xmlns:p14="http://schemas.microsoft.com/office/powerpoint/2010/main" val="2732463116"/>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ctr" rtl="0">
              <a:lnSpc>
                <a:spcPct val="90000"/>
              </a:lnSpc>
              <a:spcBef>
                <a:spcPct val="0"/>
              </a:spcBef>
            </a:pPr>
            <a:r>
              <a:rPr lang="en-US" sz="2800" b="1" dirty="0"/>
              <a:t>How to store bokashi</a:t>
            </a:r>
            <a:r>
              <a:rPr lang="en-GB" b="1" dirty="0"/>
              <a:t/>
            </a:r>
            <a:br>
              <a:rPr lang="en-GB" b="1" dirty="0"/>
            </a:br>
            <a:endParaRPr lang="en-GB" dirty="0"/>
          </a:p>
        </p:txBody>
      </p:sp>
      <p:sp>
        <p:nvSpPr>
          <p:cNvPr id="3" name="Content Placeholder 2"/>
          <p:cNvSpPr>
            <a:spLocks noGrp="1"/>
          </p:cNvSpPr>
          <p:nvPr>
            <p:ph idx="1"/>
          </p:nvPr>
        </p:nvSpPr>
        <p:spPr/>
        <p:txBody>
          <a:bodyPr/>
          <a:lstStyle/>
          <a:p>
            <a:pPr>
              <a:buFont typeface="Wingdings" panose="05000000000000000000" pitchFamily="2" charset="2"/>
              <a:buChar char="v"/>
            </a:pPr>
            <a:r>
              <a:rPr lang="en-US" dirty="0"/>
              <a:t>It is recommended that farmers use bokashi immediately after it has been prepared as the material will be of high quality. </a:t>
            </a:r>
          </a:p>
          <a:p>
            <a:pPr>
              <a:buFont typeface="Wingdings" panose="05000000000000000000" pitchFamily="2" charset="2"/>
              <a:buChar char="v"/>
            </a:pPr>
            <a:r>
              <a:rPr lang="en-US" dirty="0" smtClean="0"/>
              <a:t>However</a:t>
            </a:r>
            <a:r>
              <a:rPr lang="en-US" dirty="0"/>
              <a:t>, if there is need to store the bokashi, it is advisable that it is covered to protect it from the sun, wind and rain.</a:t>
            </a:r>
            <a:endParaRPr lang="en-GB" dirty="0"/>
          </a:p>
          <a:p>
            <a:endParaRPr lang="en-GB"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67</a:t>
            </a:fld>
            <a:endParaRPr lang="en-GB"/>
          </a:p>
        </p:txBody>
      </p:sp>
    </p:spTree>
    <p:extLst>
      <p:ext uri="{BB962C8B-B14F-4D97-AF65-F5344CB8AC3E}">
        <p14:creationId xmlns:p14="http://schemas.microsoft.com/office/powerpoint/2010/main" val="1954426466"/>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ctr" rtl="0">
              <a:lnSpc>
                <a:spcPct val="90000"/>
              </a:lnSpc>
              <a:spcBef>
                <a:spcPct val="0"/>
              </a:spcBef>
            </a:pPr>
            <a:r>
              <a:rPr lang="en-US" sz="2800" b="1" dirty="0"/>
              <a:t>Advantages of using bokashi</a:t>
            </a:r>
            <a:r>
              <a:rPr lang="en-GB" b="1" dirty="0"/>
              <a:t/>
            </a:r>
            <a:br>
              <a:rPr lang="en-GB" b="1" dirty="0"/>
            </a:br>
            <a:endParaRPr lang="en-GB" dirty="0"/>
          </a:p>
        </p:txBody>
      </p:sp>
      <p:sp>
        <p:nvSpPr>
          <p:cNvPr id="3" name="Content Placeholder 2"/>
          <p:cNvSpPr>
            <a:spLocks noGrp="1"/>
          </p:cNvSpPr>
          <p:nvPr>
            <p:ph idx="1"/>
          </p:nvPr>
        </p:nvSpPr>
        <p:spPr/>
        <p:txBody>
          <a:bodyPr>
            <a:normAutofit fontScale="85000" lnSpcReduction="20000"/>
          </a:bodyPr>
          <a:lstStyle/>
          <a:p>
            <a:pPr lvl="0">
              <a:buFont typeface="Wingdings" panose="05000000000000000000" pitchFamily="2" charset="2"/>
              <a:buChar char="v"/>
            </a:pPr>
            <a:r>
              <a:rPr lang="en-US" dirty="0"/>
              <a:t>Does not pose a danger to the environment , the soil and water as it does not contain toxic </a:t>
            </a:r>
            <a:r>
              <a:rPr lang="en-US" dirty="0" smtClean="0"/>
              <a:t>substances</a:t>
            </a:r>
            <a:endParaRPr lang="en-GB" dirty="0"/>
          </a:p>
          <a:p>
            <a:pPr lvl="0">
              <a:buFont typeface="Wingdings" panose="05000000000000000000" pitchFamily="2" charset="2"/>
              <a:buChar char="v"/>
            </a:pPr>
            <a:r>
              <a:rPr lang="en-US" dirty="0" smtClean="0"/>
              <a:t>Takes </a:t>
            </a:r>
            <a:r>
              <a:rPr lang="en-US" dirty="0"/>
              <a:t>a shorter time to prepare than </a:t>
            </a:r>
            <a:r>
              <a:rPr lang="en-US" dirty="0" smtClean="0"/>
              <a:t>compost</a:t>
            </a:r>
            <a:endParaRPr lang="en-GB" dirty="0"/>
          </a:p>
          <a:p>
            <a:pPr lvl="0">
              <a:buFont typeface="Wingdings" panose="05000000000000000000" pitchFamily="2" charset="2"/>
              <a:buChar char="v"/>
            </a:pPr>
            <a:r>
              <a:rPr lang="en-US" dirty="0" smtClean="0"/>
              <a:t>The </a:t>
            </a:r>
            <a:r>
              <a:rPr lang="en-US" dirty="0"/>
              <a:t>slow release of plant nutrients ensures that nutrients are available to plants over a long period of </a:t>
            </a:r>
            <a:r>
              <a:rPr lang="en-US" dirty="0" smtClean="0"/>
              <a:t>time</a:t>
            </a:r>
            <a:endParaRPr lang="en-GB" dirty="0"/>
          </a:p>
          <a:p>
            <a:pPr lvl="0">
              <a:buFont typeface="Wingdings" panose="05000000000000000000" pitchFamily="2" charset="2"/>
              <a:buChar char="v"/>
            </a:pPr>
            <a:r>
              <a:rPr lang="en-US" dirty="0" smtClean="0"/>
              <a:t>Contains </a:t>
            </a:r>
            <a:r>
              <a:rPr lang="en-US" dirty="0"/>
              <a:t>not only macronutrients but also </a:t>
            </a:r>
            <a:r>
              <a:rPr lang="en-US" dirty="0" smtClean="0"/>
              <a:t>micronutrients</a:t>
            </a:r>
            <a:endParaRPr lang="en-GB" dirty="0"/>
          </a:p>
          <a:p>
            <a:pPr lvl="0">
              <a:buFont typeface="Wingdings" panose="05000000000000000000" pitchFamily="2" charset="2"/>
              <a:buChar char="v"/>
            </a:pPr>
            <a:r>
              <a:rPr lang="en-US" dirty="0" smtClean="0"/>
              <a:t>They </a:t>
            </a:r>
            <a:r>
              <a:rPr lang="en-US" dirty="0"/>
              <a:t>improve the structure of the soil, and thus reduce surface run-off and increase water </a:t>
            </a:r>
            <a:r>
              <a:rPr lang="en-US" dirty="0" smtClean="0"/>
              <a:t>infiltration</a:t>
            </a:r>
            <a:endParaRPr lang="en-GB" dirty="0"/>
          </a:p>
          <a:p>
            <a:pPr lvl="0">
              <a:buFont typeface="Wingdings" panose="05000000000000000000" pitchFamily="2" charset="2"/>
              <a:buChar char="v"/>
            </a:pPr>
            <a:r>
              <a:rPr lang="en-US" dirty="0" smtClean="0"/>
              <a:t>Bokashi </a:t>
            </a:r>
            <a:r>
              <a:rPr lang="en-US" dirty="0"/>
              <a:t>stimulates and accelerates plant </a:t>
            </a:r>
            <a:r>
              <a:rPr lang="en-US" dirty="0" smtClean="0"/>
              <a:t>growth</a:t>
            </a:r>
            <a:endParaRPr lang="en-GB" dirty="0"/>
          </a:p>
          <a:p>
            <a:pPr lvl="0">
              <a:buFont typeface="Wingdings" panose="05000000000000000000" pitchFamily="2" charset="2"/>
              <a:buChar char="v"/>
            </a:pPr>
            <a:r>
              <a:rPr lang="en-US" dirty="0" smtClean="0"/>
              <a:t>The </a:t>
            </a:r>
            <a:r>
              <a:rPr lang="en-US" dirty="0"/>
              <a:t>plants grown are healthy and vigorous and do not easily succumb to diseases because of the balanced nutrition (minerals, hormones, vitamins, and enzymes) provided by the </a:t>
            </a:r>
            <a:r>
              <a:rPr lang="en-US" i="1" dirty="0"/>
              <a:t>bokashi</a:t>
            </a:r>
            <a:r>
              <a:rPr lang="en-US" dirty="0" smtClean="0"/>
              <a:t>.</a:t>
            </a:r>
            <a:r>
              <a:rPr lang="en-US" dirty="0"/>
              <a:t/>
            </a:r>
            <a:br>
              <a:rPr lang="en-US" dirty="0"/>
            </a:br>
            <a:endParaRPr lang="en-GB"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68</a:t>
            </a:fld>
            <a:endParaRPr lang="en-GB"/>
          </a:p>
        </p:txBody>
      </p:sp>
    </p:spTree>
    <p:extLst>
      <p:ext uri="{BB962C8B-B14F-4D97-AF65-F5344CB8AC3E}">
        <p14:creationId xmlns:p14="http://schemas.microsoft.com/office/powerpoint/2010/main" val="236716159"/>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lgn="ctr" rtl="0">
              <a:lnSpc>
                <a:spcPct val="90000"/>
              </a:lnSpc>
              <a:spcBef>
                <a:spcPct val="0"/>
              </a:spcBef>
            </a:pPr>
            <a:r>
              <a:rPr lang="en-US" sz="2800" b="1" dirty="0"/>
              <a:t>Extracts and teas</a:t>
            </a:r>
            <a:r>
              <a:rPr lang="en-GB" b="1" dirty="0"/>
              <a:t/>
            </a:r>
            <a:br>
              <a:rPr lang="en-GB" b="1" dirty="0"/>
            </a:br>
            <a:endParaRPr lang="en-GB" dirty="0"/>
          </a:p>
        </p:txBody>
      </p:sp>
      <p:sp>
        <p:nvSpPr>
          <p:cNvPr id="3" name="Content Placeholder 2"/>
          <p:cNvSpPr>
            <a:spLocks noGrp="1"/>
          </p:cNvSpPr>
          <p:nvPr>
            <p:ph idx="1"/>
          </p:nvPr>
        </p:nvSpPr>
        <p:spPr/>
        <p:txBody>
          <a:bodyPr>
            <a:normAutofit fontScale="92500"/>
          </a:bodyPr>
          <a:lstStyle/>
          <a:p>
            <a:pPr algn="just">
              <a:buFont typeface="Wingdings" panose="05000000000000000000" pitchFamily="2" charset="2"/>
              <a:buChar char="v"/>
            </a:pPr>
            <a:r>
              <a:rPr lang="en-US" dirty="0"/>
              <a:t>Animal manure, compost, green manures and other solid organic inputs have a limitation when it comes to the quick release of plant nutrients. </a:t>
            </a:r>
          </a:p>
          <a:p>
            <a:pPr algn="just">
              <a:buFont typeface="Wingdings" panose="05000000000000000000" pitchFamily="2" charset="2"/>
              <a:buChar char="v"/>
            </a:pPr>
            <a:r>
              <a:rPr lang="en-US" dirty="0" smtClean="0"/>
              <a:t>The </a:t>
            </a:r>
            <a:r>
              <a:rPr lang="en-US" dirty="0"/>
              <a:t>term “slow releasing fertilizer” is normally used to refer to these </a:t>
            </a:r>
            <a:r>
              <a:rPr lang="en-US" dirty="0" smtClean="0"/>
              <a:t>materials.</a:t>
            </a:r>
            <a:endParaRPr lang="en-GB" dirty="0"/>
          </a:p>
          <a:p>
            <a:pPr algn="just">
              <a:buFont typeface="Wingdings" panose="05000000000000000000" pitchFamily="2" charset="2"/>
              <a:buChar char="v"/>
            </a:pPr>
            <a:r>
              <a:rPr lang="en-US" dirty="0" smtClean="0"/>
              <a:t>The </a:t>
            </a:r>
            <a:r>
              <a:rPr lang="en-US" dirty="0"/>
              <a:t>major advantage of releasing nutrients slowly is that these materials help protect plant nutrients from loss due to leaching and other mechanisms and avail the nutrients to plants slowly. </a:t>
            </a:r>
          </a:p>
          <a:p>
            <a:pPr algn="just">
              <a:buFont typeface="Wingdings" panose="05000000000000000000" pitchFamily="2" charset="2"/>
              <a:buChar char="v"/>
            </a:pPr>
            <a:r>
              <a:rPr lang="en-US" dirty="0" smtClean="0"/>
              <a:t>There </a:t>
            </a:r>
            <a:r>
              <a:rPr lang="en-US" dirty="0"/>
              <a:t>are, however, times when the crop needs nutrients quickly such that the solid organic inputs are unable to release them on time. </a:t>
            </a:r>
          </a:p>
          <a:p>
            <a:pPr algn="just">
              <a:buFont typeface="Wingdings" panose="05000000000000000000" pitchFamily="2" charset="2"/>
              <a:buChar char="v"/>
            </a:pPr>
            <a:r>
              <a:rPr lang="en-US" dirty="0" smtClean="0"/>
              <a:t>In </a:t>
            </a:r>
            <a:r>
              <a:rPr lang="en-US" dirty="0"/>
              <a:t>such cases compost or manure extracts become very handy.</a:t>
            </a:r>
            <a:endParaRPr lang="en-GB" dirty="0"/>
          </a:p>
          <a:p>
            <a:endParaRPr lang="en-GB"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69</a:t>
            </a:fld>
            <a:endParaRPr lang="en-GB"/>
          </a:p>
        </p:txBody>
      </p:sp>
    </p:spTree>
    <p:extLst>
      <p:ext uri="{BB962C8B-B14F-4D97-AF65-F5344CB8AC3E}">
        <p14:creationId xmlns:p14="http://schemas.microsoft.com/office/powerpoint/2010/main" val="204392331"/>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ctr" rtl="0">
              <a:lnSpc>
                <a:spcPct val="90000"/>
              </a:lnSpc>
              <a:spcBef>
                <a:spcPct val="0"/>
              </a:spcBef>
            </a:pPr>
            <a:r>
              <a:rPr lang="en-US" sz="2800" b="1" dirty="0"/>
              <a:t>Compost and manure extracts</a:t>
            </a:r>
            <a:r>
              <a:rPr lang="en-GB" b="1" dirty="0"/>
              <a:t/>
            </a:r>
            <a:br>
              <a:rPr lang="en-GB" b="1" dirty="0"/>
            </a:br>
            <a:endParaRPr lang="en-GB" dirty="0"/>
          </a:p>
        </p:txBody>
      </p:sp>
      <p:sp>
        <p:nvSpPr>
          <p:cNvPr id="3" name="Content Placeholder 2"/>
          <p:cNvSpPr>
            <a:spLocks noGrp="1"/>
          </p:cNvSpPr>
          <p:nvPr>
            <p:ph idx="1"/>
          </p:nvPr>
        </p:nvSpPr>
        <p:spPr/>
        <p:txBody>
          <a:bodyPr/>
          <a:lstStyle/>
          <a:p>
            <a:pPr>
              <a:buFont typeface="Wingdings" panose="05000000000000000000" pitchFamily="2" charset="2"/>
              <a:buChar char="v"/>
            </a:pPr>
            <a:r>
              <a:rPr lang="en-US" dirty="0"/>
              <a:t>Compost and manure extracts are liquid fertilizers prepared by soaking compost, animal manure or nutrient- rich leafy materials in water for a number of </a:t>
            </a:r>
            <a:r>
              <a:rPr lang="en-US" dirty="0" smtClean="0"/>
              <a:t>days.</a:t>
            </a:r>
          </a:p>
          <a:p>
            <a:pPr>
              <a:buFont typeface="Wingdings" panose="05000000000000000000" pitchFamily="2" charset="2"/>
              <a:buChar char="v"/>
            </a:pPr>
            <a:r>
              <a:rPr lang="en-US" dirty="0" smtClean="0"/>
              <a:t>During </a:t>
            </a:r>
            <a:r>
              <a:rPr lang="en-US" dirty="0"/>
              <a:t>the preparation of the extracts, nutrients dissolve in water. </a:t>
            </a:r>
          </a:p>
          <a:p>
            <a:pPr>
              <a:buFont typeface="Wingdings" panose="05000000000000000000" pitchFamily="2" charset="2"/>
              <a:buChar char="v"/>
            </a:pPr>
            <a:r>
              <a:rPr lang="en-US" dirty="0" smtClean="0"/>
              <a:t>The </a:t>
            </a:r>
            <a:r>
              <a:rPr lang="en-US" dirty="0"/>
              <a:t>idea behind the making of extracts is to supply nutrients to the crop in a readily-available form so that crops can quickly take them up.</a:t>
            </a:r>
            <a:endParaRPr lang="en-GB" dirty="0"/>
          </a:p>
          <a:p>
            <a:endParaRPr lang="en-GB"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70</a:t>
            </a:fld>
            <a:endParaRPr lang="en-GB"/>
          </a:p>
        </p:txBody>
      </p:sp>
    </p:spTree>
    <p:extLst>
      <p:ext uri="{BB962C8B-B14F-4D97-AF65-F5344CB8AC3E}">
        <p14:creationId xmlns:p14="http://schemas.microsoft.com/office/powerpoint/2010/main" val="1365617109"/>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lnSpcReduction="10000"/>
          </a:bodyPr>
          <a:lstStyle/>
          <a:p>
            <a:pPr marL="0" indent="0">
              <a:buNone/>
            </a:pPr>
            <a:r>
              <a:rPr lang="en-US" b="1" dirty="0"/>
              <a:t>Note: </a:t>
            </a:r>
            <a:endParaRPr lang="en-US" b="1" dirty="0" smtClean="0"/>
          </a:p>
          <a:p>
            <a:pPr>
              <a:buFont typeface="Wingdings" panose="05000000000000000000" pitchFamily="2" charset="2"/>
              <a:buChar char="v"/>
            </a:pPr>
            <a:r>
              <a:rPr lang="en-US" dirty="0" smtClean="0"/>
              <a:t>Compost </a:t>
            </a:r>
            <a:r>
              <a:rPr lang="en-US" dirty="0"/>
              <a:t>tea is very similar to extracts in that it is also a liquid input. </a:t>
            </a:r>
            <a:endParaRPr lang="en-US" dirty="0" smtClean="0"/>
          </a:p>
          <a:p>
            <a:pPr>
              <a:buFont typeface="Wingdings" panose="05000000000000000000" pitchFamily="2" charset="2"/>
              <a:buChar char="v"/>
            </a:pPr>
            <a:r>
              <a:rPr lang="en-US" dirty="0" smtClean="0"/>
              <a:t>However</a:t>
            </a:r>
            <a:r>
              <a:rPr lang="en-US" dirty="0"/>
              <a:t>, compost tea differs from extracts in that the primary purpose of making teas is not to supply soluble nutrients, but rather to supply beneficial micro-organisms. </a:t>
            </a:r>
            <a:endParaRPr lang="en-US" dirty="0" smtClean="0"/>
          </a:p>
          <a:p>
            <a:pPr>
              <a:buFont typeface="Wingdings" panose="05000000000000000000" pitchFamily="2" charset="2"/>
              <a:buChar char="v"/>
            </a:pPr>
            <a:r>
              <a:rPr lang="en-US" dirty="0" smtClean="0"/>
              <a:t>The </a:t>
            </a:r>
            <a:r>
              <a:rPr lang="en-US" dirty="0"/>
              <a:t>making of compost teas is an aerobic process that requires constant supply of </a:t>
            </a:r>
            <a:r>
              <a:rPr lang="en-US" dirty="0" smtClean="0"/>
              <a:t>oxygen.</a:t>
            </a:r>
          </a:p>
          <a:p>
            <a:pPr>
              <a:buFont typeface="Wingdings" panose="05000000000000000000" pitchFamily="2" charset="2"/>
              <a:buChar char="v"/>
            </a:pPr>
            <a:r>
              <a:rPr lang="en-US" dirty="0" smtClean="0"/>
              <a:t>Additionally </a:t>
            </a:r>
            <a:r>
              <a:rPr lang="en-US" dirty="0"/>
              <a:t>there is also need to add microbial food source such as molasses, kelp (sea weed ash), rock dust that are added to the tea to boost microbial growth and activity. </a:t>
            </a:r>
            <a:endParaRPr lang="en-GB" dirty="0"/>
          </a:p>
          <a:p>
            <a:endParaRPr lang="en-GB"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71</a:t>
            </a:fld>
            <a:endParaRPr lang="en-GB"/>
          </a:p>
        </p:txBody>
      </p:sp>
    </p:spTree>
    <p:extLst>
      <p:ext uri="{BB962C8B-B14F-4D97-AF65-F5344CB8AC3E}">
        <p14:creationId xmlns:p14="http://schemas.microsoft.com/office/powerpoint/2010/main" val="3834275234"/>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3" algn="ctr" rtl="0">
              <a:lnSpc>
                <a:spcPct val="90000"/>
              </a:lnSpc>
              <a:spcBef>
                <a:spcPct val="0"/>
              </a:spcBef>
            </a:pPr>
            <a:r>
              <a:rPr lang="en-US" sz="2800" b="1" dirty="0"/>
              <a:t>The process of making extracts</a:t>
            </a:r>
            <a:r>
              <a:rPr lang="en-GB" b="1" dirty="0"/>
              <a:t/>
            </a:r>
            <a:br>
              <a:rPr lang="en-GB" b="1" dirty="0"/>
            </a:br>
            <a:endParaRPr lang="en-GB" dirty="0"/>
          </a:p>
        </p:txBody>
      </p:sp>
      <p:sp>
        <p:nvSpPr>
          <p:cNvPr id="3" name="Content Placeholder 2"/>
          <p:cNvSpPr>
            <a:spLocks noGrp="1"/>
          </p:cNvSpPr>
          <p:nvPr>
            <p:ph idx="1"/>
          </p:nvPr>
        </p:nvSpPr>
        <p:spPr/>
        <p:txBody>
          <a:bodyPr/>
          <a:lstStyle/>
          <a:p>
            <a:pPr algn="just">
              <a:buFont typeface="Wingdings" panose="05000000000000000000" pitchFamily="2" charset="2"/>
              <a:buChar char="v"/>
            </a:pPr>
            <a:r>
              <a:rPr lang="en-US" dirty="0"/>
              <a:t>Extracts can be made from either compost, animal manures and plant materials or a combination of two or all of these materials. </a:t>
            </a:r>
            <a:endParaRPr lang="en-US" dirty="0" smtClean="0"/>
          </a:p>
          <a:p>
            <a:pPr algn="just">
              <a:buFont typeface="Wingdings" panose="05000000000000000000" pitchFamily="2" charset="2"/>
              <a:buChar char="v"/>
            </a:pPr>
            <a:r>
              <a:rPr lang="en-US" dirty="0" smtClean="0"/>
              <a:t>Plant </a:t>
            </a:r>
            <a:r>
              <a:rPr lang="en-US" dirty="0"/>
              <a:t>materials that make good extracts are leaves from green manure crops (velvet, jack beans, etc.); leaves from agroforestry species (</a:t>
            </a:r>
            <a:r>
              <a:rPr lang="en-US" i="1" dirty="0" err="1"/>
              <a:t>tephrosia</a:t>
            </a:r>
            <a:r>
              <a:rPr lang="en-US" i="1" dirty="0"/>
              <a:t>, </a:t>
            </a:r>
            <a:r>
              <a:rPr lang="en-US" i="1" dirty="0" err="1"/>
              <a:t>Moringa</a:t>
            </a:r>
            <a:r>
              <a:rPr lang="en-US" i="1" dirty="0"/>
              <a:t>, </a:t>
            </a:r>
            <a:r>
              <a:rPr lang="en-US" i="1" dirty="0" err="1"/>
              <a:t>Leucaena</a:t>
            </a:r>
            <a:r>
              <a:rPr lang="en-US" i="1" dirty="0"/>
              <a:t>, </a:t>
            </a:r>
            <a:r>
              <a:rPr lang="en-US" i="1" dirty="0" err="1"/>
              <a:t>Sesbania</a:t>
            </a:r>
            <a:r>
              <a:rPr lang="en-US" dirty="0"/>
              <a:t>); </a:t>
            </a:r>
          </a:p>
          <a:p>
            <a:pPr algn="just">
              <a:buFont typeface="Wingdings" panose="05000000000000000000" pitchFamily="2" charset="2"/>
              <a:buChar char="v"/>
            </a:pPr>
            <a:r>
              <a:rPr lang="en-US" dirty="0" smtClean="0"/>
              <a:t>At </a:t>
            </a:r>
            <a:r>
              <a:rPr lang="en-US" dirty="0"/>
              <a:t>times non- leguminous plants such as Comfrey and </a:t>
            </a:r>
            <a:r>
              <a:rPr lang="en-US" dirty="0" err="1"/>
              <a:t>Tithonia</a:t>
            </a:r>
            <a:r>
              <a:rPr lang="en-US" dirty="0"/>
              <a:t> that are known to contain a lot of plant nutrients.</a:t>
            </a:r>
            <a:endParaRPr lang="en-GB" dirty="0"/>
          </a:p>
          <a:p>
            <a:endParaRPr lang="en-GB"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72</a:t>
            </a:fld>
            <a:endParaRPr lang="en-GB"/>
          </a:p>
        </p:txBody>
      </p:sp>
    </p:spTree>
    <p:extLst>
      <p:ext uri="{BB962C8B-B14F-4D97-AF65-F5344CB8AC3E}">
        <p14:creationId xmlns:p14="http://schemas.microsoft.com/office/powerpoint/2010/main" val="2264056001"/>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3" algn="ctr" rtl="0">
              <a:lnSpc>
                <a:spcPct val="90000"/>
              </a:lnSpc>
              <a:spcBef>
                <a:spcPct val="0"/>
              </a:spcBef>
            </a:pPr>
            <a:r>
              <a:rPr lang="en-US" sz="2800" b="1" dirty="0"/>
              <a:t>The process of making extracts</a:t>
            </a:r>
            <a:r>
              <a:rPr lang="en-GB" b="1" dirty="0"/>
              <a:t/>
            </a:r>
            <a:br>
              <a:rPr lang="en-GB" b="1" dirty="0"/>
            </a:br>
            <a:endParaRPr lang="en-GB" dirty="0"/>
          </a:p>
        </p:txBody>
      </p:sp>
      <p:sp>
        <p:nvSpPr>
          <p:cNvPr id="3" name="Content Placeholder 2"/>
          <p:cNvSpPr>
            <a:spLocks noGrp="1"/>
          </p:cNvSpPr>
          <p:nvPr>
            <p:ph idx="1"/>
          </p:nvPr>
        </p:nvSpPr>
        <p:spPr/>
        <p:txBody>
          <a:bodyPr>
            <a:normAutofit fontScale="77500" lnSpcReduction="20000"/>
          </a:bodyPr>
          <a:lstStyle/>
          <a:p>
            <a:r>
              <a:rPr lang="en-US" dirty="0"/>
              <a:t>The following is a step-by-step guide on how to make extracts:</a:t>
            </a:r>
            <a:endParaRPr lang="en-GB" dirty="0"/>
          </a:p>
          <a:p>
            <a:pPr marL="571500" lvl="0" indent="-571500">
              <a:buFont typeface="+mj-lt"/>
              <a:buAutoNum type="romanLcPeriod"/>
            </a:pPr>
            <a:r>
              <a:rPr lang="en-US" dirty="0"/>
              <a:t>Put 20-30kg of manure/compost/desired leaves in a porous </a:t>
            </a:r>
            <a:r>
              <a:rPr lang="en-US" dirty="0" smtClean="0"/>
              <a:t>bag</a:t>
            </a:r>
            <a:endParaRPr lang="en-GB" dirty="0"/>
          </a:p>
          <a:p>
            <a:pPr marL="571500" lvl="0" indent="-571500">
              <a:buFont typeface="+mj-lt"/>
              <a:buAutoNum type="romanLcPeriod"/>
            </a:pPr>
            <a:r>
              <a:rPr lang="en-US" dirty="0" smtClean="0"/>
              <a:t>Suspend </a:t>
            </a:r>
            <a:r>
              <a:rPr lang="en-US" dirty="0"/>
              <a:t>the bag from a stick laid across the top of a 210 </a:t>
            </a:r>
            <a:r>
              <a:rPr lang="en-US" dirty="0" err="1"/>
              <a:t>litre</a:t>
            </a:r>
            <a:r>
              <a:rPr lang="en-US" dirty="0"/>
              <a:t> </a:t>
            </a:r>
            <a:r>
              <a:rPr lang="en-US" dirty="0" smtClean="0"/>
              <a:t>drum</a:t>
            </a:r>
            <a:endParaRPr lang="en-GB" dirty="0"/>
          </a:p>
          <a:p>
            <a:pPr marL="571500" lvl="0" indent="-571500">
              <a:buFont typeface="+mj-lt"/>
              <a:buAutoNum type="romanLcPeriod"/>
            </a:pPr>
            <a:r>
              <a:rPr lang="en-US" dirty="0" smtClean="0"/>
              <a:t>Fill </a:t>
            </a:r>
            <a:r>
              <a:rPr lang="en-US" dirty="0"/>
              <a:t>the drum with water. The bag should be completely submerged in the </a:t>
            </a:r>
            <a:r>
              <a:rPr lang="en-US" dirty="0" smtClean="0"/>
              <a:t>water.</a:t>
            </a:r>
            <a:endParaRPr lang="en-GB" dirty="0"/>
          </a:p>
          <a:p>
            <a:pPr marL="571500" lvl="0" indent="-571500">
              <a:buFont typeface="+mj-lt"/>
              <a:buAutoNum type="romanLcPeriod"/>
            </a:pPr>
            <a:r>
              <a:rPr lang="en-US" dirty="0" smtClean="0"/>
              <a:t>Shake </a:t>
            </a:r>
            <a:r>
              <a:rPr lang="en-US" dirty="0"/>
              <a:t>the bag 2-3 times a day by moving the stick suspending the bag up and down (for increased release of nutrients in water and for aeration</a:t>
            </a:r>
            <a:r>
              <a:rPr lang="en-US" dirty="0" smtClean="0"/>
              <a:t>).</a:t>
            </a:r>
            <a:endParaRPr lang="en-GB" dirty="0"/>
          </a:p>
          <a:p>
            <a:pPr marL="571500" lvl="0" indent="-571500">
              <a:buFont typeface="+mj-lt"/>
              <a:buAutoNum type="romanLcPeriod"/>
            </a:pPr>
            <a:r>
              <a:rPr lang="en-US" dirty="0" smtClean="0"/>
              <a:t>Cover </a:t>
            </a:r>
            <a:r>
              <a:rPr lang="en-US" dirty="0"/>
              <a:t>the drum with a material that can keep out flies, but allows </a:t>
            </a:r>
            <a:r>
              <a:rPr lang="en-US" dirty="0" smtClean="0"/>
              <a:t>aeration.</a:t>
            </a:r>
            <a:endParaRPr lang="en-GB" dirty="0"/>
          </a:p>
          <a:p>
            <a:pPr marL="571500" lvl="0" indent="-571500">
              <a:buFont typeface="+mj-lt"/>
              <a:buAutoNum type="romanLcPeriod"/>
            </a:pPr>
            <a:r>
              <a:rPr lang="en-US" dirty="0" smtClean="0"/>
              <a:t>Keep </a:t>
            </a:r>
            <a:r>
              <a:rPr lang="en-US" dirty="0"/>
              <a:t>the sack under the water at all </a:t>
            </a:r>
            <a:r>
              <a:rPr lang="en-US" dirty="0" smtClean="0"/>
              <a:t>times.</a:t>
            </a:r>
            <a:endParaRPr lang="en-GB" dirty="0"/>
          </a:p>
          <a:p>
            <a:pPr marL="571500" lvl="0" indent="-571500">
              <a:buFont typeface="+mj-lt"/>
              <a:buAutoNum type="romanLcPeriod"/>
            </a:pPr>
            <a:r>
              <a:rPr lang="en-US" dirty="0" smtClean="0"/>
              <a:t>The </a:t>
            </a:r>
            <a:r>
              <a:rPr lang="en-US" dirty="0"/>
              <a:t>extract should be ready to use after 7 to 15 </a:t>
            </a:r>
            <a:r>
              <a:rPr lang="en-US" dirty="0" smtClean="0"/>
              <a:t>days.</a:t>
            </a:r>
            <a:endParaRPr lang="en-GB" dirty="0"/>
          </a:p>
          <a:p>
            <a:pPr marL="571500" lvl="0" indent="-571500">
              <a:buFont typeface="+mj-lt"/>
              <a:buAutoNum type="romanLcPeriod"/>
            </a:pPr>
            <a:r>
              <a:rPr lang="en-US" dirty="0" smtClean="0"/>
              <a:t>The </a:t>
            </a:r>
            <a:r>
              <a:rPr lang="en-US" dirty="0"/>
              <a:t>residues of compost, manure or leaves in the sack can be used as input in the compost heap or in the field</a:t>
            </a:r>
            <a:r>
              <a:rPr lang="en-US" dirty="0" smtClean="0"/>
              <a:t>.</a:t>
            </a:r>
            <a:r>
              <a:rPr lang="en-US" dirty="0"/>
              <a:t/>
            </a:r>
            <a:br>
              <a:rPr lang="en-US" dirty="0"/>
            </a:br>
            <a:endParaRPr lang="en-GB"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73</a:t>
            </a:fld>
            <a:endParaRPr lang="en-GB"/>
          </a:p>
        </p:txBody>
      </p:sp>
    </p:spTree>
    <p:extLst>
      <p:ext uri="{BB962C8B-B14F-4D97-AF65-F5344CB8AC3E}">
        <p14:creationId xmlns:p14="http://schemas.microsoft.com/office/powerpoint/2010/main" val="3965661834"/>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3" algn="ctr" rtl="0">
              <a:lnSpc>
                <a:spcPct val="90000"/>
              </a:lnSpc>
              <a:spcBef>
                <a:spcPct val="0"/>
              </a:spcBef>
            </a:pPr>
            <a:r>
              <a:rPr lang="en-US" sz="2800" b="1" dirty="0"/>
              <a:t>Application of extracts</a:t>
            </a:r>
            <a:r>
              <a:rPr lang="en-GB" b="1" dirty="0"/>
              <a:t/>
            </a:r>
            <a:br>
              <a:rPr lang="en-GB" b="1" dirty="0"/>
            </a:br>
            <a:endParaRPr lang="en-GB" dirty="0"/>
          </a:p>
        </p:txBody>
      </p:sp>
      <p:sp>
        <p:nvSpPr>
          <p:cNvPr id="3" name="Content Placeholder 2"/>
          <p:cNvSpPr>
            <a:spLocks noGrp="1"/>
          </p:cNvSpPr>
          <p:nvPr>
            <p:ph idx="1"/>
          </p:nvPr>
        </p:nvSpPr>
        <p:spPr/>
        <p:txBody>
          <a:bodyPr>
            <a:normAutofit fontScale="92500" lnSpcReduction="10000"/>
          </a:bodyPr>
          <a:lstStyle/>
          <a:p>
            <a:pPr algn="just">
              <a:buFont typeface="Wingdings" panose="05000000000000000000" pitchFamily="2" charset="2"/>
              <a:buChar char="v"/>
            </a:pPr>
            <a:r>
              <a:rPr lang="en-US" dirty="0"/>
              <a:t>The extract can be drenched on the crop by applying it to the base of the crop using a knap sack sprayer whose nozzle has been removed. </a:t>
            </a:r>
            <a:endParaRPr lang="en-US" dirty="0" smtClean="0"/>
          </a:p>
          <a:p>
            <a:pPr algn="just">
              <a:buFont typeface="Wingdings" panose="05000000000000000000" pitchFamily="2" charset="2"/>
              <a:buChar char="v"/>
            </a:pPr>
            <a:r>
              <a:rPr lang="en-US" dirty="0" smtClean="0"/>
              <a:t>In </a:t>
            </a:r>
            <a:r>
              <a:rPr lang="en-US" dirty="0"/>
              <a:t>case one does not have a knap sack sprayer, a bucket and a cup can be </a:t>
            </a:r>
            <a:r>
              <a:rPr lang="en-US" dirty="0" smtClean="0"/>
              <a:t>used.</a:t>
            </a:r>
            <a:endParaRPr lang="en-GB" dirty="0"/>
          </a:p>
          <a:p>
            <a:pPr algn="just">
              <a:buFont typeface="Wingdings" panose="05000000000000000000" pitchFamily="2" charset="2"/>
              <a:buChar char="v"/>
            </a:pPr>
            <a:r>
              <a:rPr lang="en-US" dirty="0" smtClean="0"/>
              <a:t>There </a:t>
            </a:r>
            <a:r>
              <a:rPr lang="en-US" dirty="0"/>
              <a:t>is hardly a danger of over-applying extracts as the nutrient concentration is normally below levels that could endanger plants. </a:t>
            </a:r>
            <a:endParaRPr lang="en-US" dirty="0" smtClean="0"/>
          </a:p>
          <a:p>
            <a:pPr algn="just">
              <a:buFont typeface="Wingdings" panose="05000000000000000000" pitchFamily="2" charset="2"/>
              <a:buChar char="v"/>
            </a:pPr>
            <a:r>
              <a:rPr lang="en-US" dirty="0" smtClean="0"/>
              <a:t>The </a:t>
            </a:r>
            <a:r>
              <a:rPr lang="en-US" dirty="0"/>
              <a:t>amount to apply per plant or planting station should therefore be guided by the farmers’ experience depending on the fertility status of the soil and the type of crop. </a:t>
            </a:r>
            <a:endParaRPr lang="en-US" dirty="0" smtClean="0"/>
          </a:p>
          <a:p>
            <a:pPr algn="just">
              <a:buFont typeface="Wingdings" panose="05000000000000000000" pitchFamily="2" charset="2"/>
              <a:buChar char="v"/>
            </a:pPr>
            <a:r>
              <a:rPr lang="en-US" dirty="0" smtClean="0"/>
              <a:t>Other </a:t>
            </a:r>
            <a:r>
              <a:rPr lang="en-US" dirty="0"/>
              <a:t>factors to consider are the amount of extract available and the labour requirement for the application of the extract.</a:t>
            </a:r>
            <a:endParaRPr lang="en-GB" dirty="0"/>
          </a:p>
          <a:p>
            <a:endParaRPr lang="en-GB"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74</a:t>
            </a:fld>
            <a:endParaRPr lang="en-GB"/>
          </a:p>
        </p:txBody>
      </p:sp>
    </p:spTree>
    <p:extLst>
      <p:ext uri="{BB962C8B-B14F-4D97-AF65-F5344CB8AC3E}">
        <p14:creationId xmlns:p14="http://schemas.microsoft.com/office/powerpoint/2010/main" val="2691716312"/>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E</a:t>
            </a:r>
            <a:r>
              <a:rPr lang="en-US" dirty="0" smtClean="0"/>
              <a:t>xamples </a:t>
            </a:r>
            <a:r>
              <a:rPr lang="en-US" dirty="0"/>
              <a:t>of application rates of extracts</a:t>
            </a:r>
            <a:endParaRPr lang="en-GB" dirty="0"/>
          </a:p>
        </p:txBody>
      </p:sp>
      <p:sp>
        <p:nvSpPr>
          <p:cNvPr id="3" name="Content Placeholder 2"/>
          <p:cNvSpPr>
            <a:spLocks noGrp="1"/>
          </p:cNvSpPr>
          <p:nvPr>
            <p:ph idx="1"/>
          </p:nvPr>
        </p:nvSpPr>
        <p:spPr/>
        <p:txBody>
          <a:bodyPr>
            <a:normAutofit fontScale="92500" lnSpcReduction="10000"/>
          </a:bodyPr>
          <a:lstStyle/>
          <a:p>
            <a:r>
              <a:rPr lang="en-US" b="1" i="1" dirty="0"/>
              <a:t>Field Crops</a:t>
            </a:r>
            <a:r>
              <a:rPr lang="en-US" dirty="0"/>
              <a:t>: </a:t>
            </a:r>
            <a:endParaRPr lang="en-US" dirty="0" smtClean="0"/>
          </a:p>
          <a:p>
            <a:pPr algn="just">
              <a:buFont typeface="Wingdings" panose="05000000000000000000" pitchFamily="2" charset="2"/>
              <a:buChar char="v"/>
            </a:pPr>
            <a:r>
              <a:rPr lang="en-US" dirty="0" smtClean="0"/>
              <a:t>For </a:t>
            </a:r>
            <a:r>
              <a:rPr lang="en-US" dirty="0"/>
              <a:t>crops such as cotton and maize, you can start applying as soon as your crops start germinating and continue until the crops are mature. </a:t>
            </a:r>
            <a:endParaRPr lang="en-US" dirty="0" smtClean="0"/>
          </a:p>
          <a:p>
            <a:pPr algn="just">
              <a:buFont typeface="Wingdings" panose="05000000000000000000" pitchFamily="2" charset="2"/>
              <a:buChar char="v"/>
            </a:pPr>
            <a:r>
              <a:rPr lang="en-US" dirty="0" smtClean="0"/>
              <a:t>In </a:t>
            </a:r>
            <a:r>
              <a:rPr lang="en-US" dirty="0"/>
              <a:t>the dry season apply once a week and make sure the soil is moist at application. </a:t>
            </a:r>
            <a:endParaRPr lang="en-US" dirty="0" smtClean="0"/>
          </a:p>
          <a:p>
            <a:pPr algn="just">
              <a:buFont typeface="Wingdings" panose="05000000000000000000" pitchFamily="2" charset="2"/>
              <a:buChar char="v"/>
            </a:pPr>
            <a:r>
              <a:rPr lang="en-US" dirty="0" smtClean="0"/>
              <a:t>Apply </a:t>
            </a:r>
            <a:r>
              <a:rPr lang="en-US" dirty="0"/>
              <a:t>twice a week in the rainy season.</a:t>
            </a:r>
            <a:endParaRPr lang="en-GB" dirty="0"/>
          </a:p>
          <a:p>
            <a:pPr algn="just"/>
            <a:r>
              <a:rPr lang="en-US" b="1" i="1" dirty="0"/>
              <a:t>Vegetables: </a:t>
            </a:r>
            <a:endParaRPr lang="en-US" b="1" i="1" dirty="0" smtClean="0"/>
          </a:p>
          <a:p>
            <a:pPr algn="just">
              <a:buFont typeface="Wingdings" panose="05000000000000000000" pitchFamily="2" charset="2"/>
              <a:buChar char="v"/>
            </a:pPr>
            <a:r>
              <a:rPr lang="en-US" dirty="0" smtClean="0"/>
              <a:t>You </a:t>
            </a:r>
            <a:r>
              <a:rPr lang="en-US" dirty="0"/>
              <a:t>can start applying immediately after transplanting to help plants recover from transplanting </a:t>
            </a:r>
            <a:r>
              <a:rPr lang="en-US" dirty="0" smtClean="0"/>
              <a:t>shock.</a:t>
            </a:r>
          </a:p>
          <a:p>
            <a:pPr algn="just">
              <a:buFont typeface="Wingdings" panose="05000000000000000000" pitchFamily="2" charset="2"/>
              <a:buChar char="v"/>
            </a:pPr>
            <a:r>
              <a:rPr lang="en-US" dirty="0" smtClean="0"/>
              <a:t>Thereafter</a:t>
            </a:r>
            <a:r>
              <a:rPr lang="en-US" dirty="0"/>
              <a:t>, you can continue applying your extract once a week until your vegetable crop matures.</a:t>
            </a:r>
            <a:endParaRPr lang="en-GB" dirty="0"/>
          </a:p>
          <a:p>
            <a:endParaRPr lang="en-GB"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75</a:t>
            </a:fld>
            <a:endParaRPr lang="en-GB"/>
          </a:p>
        </p:txBody>
      </p:sp>
    </p:spTree>
    <p:extLst>
      <p:ext uri="{BB962C8B-B14F-4D97-AF65-F5344CB8AC3E}">
        <p14:creationId xmlns:p14="http://schemas.microsoft.com/office/powerpoint/2010/main" val="2928693516"/>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3" algn="ctr" rtl="0">
              <a:lnSpc>
                <a:spcPct val="90000"/>
              </a:lnSpc>
              <a:spcBef>
                <a:spcPct val="0"/>
              </a:spcBef>
            </a:pPr>
            <a:r>
              <a:rPr lang="en-US" sz="2800" b="1" dirty="0"/>
              <a:t>Benefits of using extracts</a:t>
            </a:r>
            <a:r>
              <a:rPr lang="en-GB" b="1" dirty="0"/>
              <a:t/>
            </a:r>
            <a:br>
              <a:rPr lang="en-GB" b="1" dirty="0"/>
            </a:br>
            <a:endParaRPr lang="en-GB" dirty="0"/>
          </a:p>
        </p:txBody>
      </p:sp>
      <p:sp>
        <p:nvSpPr>
          <p:cNvPr id="3" name="Content Placeholder 2"/>
          <p:cNvSpPr>
            <a:spLocks noGrp="1"/>
          </p:cNvSpPr>
          <p:nvPr>
            <p:ph idx="1"/>
          </p:nvPr>
        </p:nvSpPr>
        <p:spPr/>
        <p:txBody>
          <a:bodyPr/>
          <a:lstStyle/>
          <a:p>
            <a:pPr lvl="1">
              <a:buFont typeface="Wingdings" panose="05000000000000000000" pitchFamily="2" charset="2"/>
              <a:buChar char="v"/>
            </a:pPr>
            <a:r>
              <a:rPr lang="en-US" dirty="0"/>
              <a:t>Nutrients are made readily available to crops and are taken up </a:t>
            </a:r>
            <a:r>
              <a:rPr lang="en-US" dirty="0" smtClean="0"/>
              <a:t>rapidly</a:t>
            </a:r>
            <a:endParaRPr lang="en-GB" sz="2000" dirty="0"/>
          </a:p>
          <a:p>
            <a:pPr lvl="1">
              <a:buFont typeface="Wingdings" panose="05000000000000000000" pitchFamily="2" charset="2"/>
              <a:buChar char="v"/>
            </a:pPr>
            <a:r>
              <a:rPr lang="en-US" dirty="0" smtClean="0"/>
              <a:t>Easy </a:t>
            </a:r>
            <a:r>
              <a:rPr lang="en-US" dirty="0"/>
              <a:t>to </a:t>
            </a:r>
            <a:r>
              <a:rPr lang="en-US" dirty="0" smtClean="0"/>
              <a:t>prepare</a:t>
            </a:r>
            <a:endParaRPr lang="en-GB" sz="2000" dirty="0"/>
          </a:p>
          <a:p>
            <a:pPr lvl="1">
              <a:buFont typeface="Wingdings" panose="05000000000000000000" pitchFamily="2" charset="2"/>
              <a:buChar char="v"/>
            </a:pPr>
            <a:r>
              <a:rPr lang="en-US" dirty="0" smtClean="0"/>
              <a:t>Relatively </a:t>
            </a:r>
            <a:r>
              <a:rPr lang="en-US" dirty="0"/>
              <a:t>less labor </a:t>
            </a:r>
            <a:r>
              <a:rPr lang="en-US" dirty="0" smtClean="0"/>
              <a:t>required</a:t>
            </a:r>
            <a:endParaRPr lang="en-GB" sz="2000" dirty="0"/>
          </a:p>
          <a:p>
            <a:pPr lvl="1">
              <a:buFont typeface="Wingdings" panose="05000000000000000000" pitchFamily="2" charset="2"/>
              <a:buChar char="v"/>
            </a:pPr>
            <a:r>
              <a:rPr lang="en-US" dirty="0" smtClean="0"/>
              <a:t>Prepared </a:t>
            </a:r>
            <a:r>
              <a:rPr lang="en-US" dirty="0"/>
              <a:t>from wide range of materials, many of which are locally </a:t>
            </a:r>
            <a:r>
              <a:rPr lang="en-US" dirty="0" smtClean="0"/>
              <a:t>available</a:t>
            </a:r>
            <a:endParaRPr lang="en-GB" sz="2000" dirty="0"/>
          </a:p>
          <a:p>
            <a:pPr lvl="1">
              <a:buFont typeface="Wingdings" panose="05000000000000000000" pitchFamily="2" charset="2"/>
              <a:buChar char="v"/>
            </a:pPr>
            <a:r>
              <a:rPr lang="en-US" dirty="0" smtClean="0"/>
              <a:t>Extracts </a:t>
            </a:r>
            <a:r>
              <a:rPr lang="en-US" dirty="0"/>
              <a:t>can be used to overcome problems of leaching as nutrients are supplied in small but readily available amounts.</a:t>
            </a:r>
            <a:endParaRPr lang="en-GB" sz="2000" dirty="0"/>
          </a:p>
          <a:p>
            <a:endParaRPr lang="en-GB"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76</a:t>
            </a:fld>
            <a:endParaRPr lang="en-GB"/>
          </a:p>
        </p:txBody>
      </p:sp>
    </p:spTree>
    <p:extLst>
      <p:ext uri="{BB962C8B-B14F-4D97-AF65-F5344CB8AC3E}">
        <p14:creationId xmlns:p14="http://schemas.microsoft.com/office/powerpoint/2010/main" val="3119687318"/>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r>
              <a:rPr lang="en-US" b="1" dirty="0"/>
              <a:t>Note:</a:t>
            </a:r>
            <a:r>
              <a:rPr lang="en-US" dirty="0"/>
              <a:t> </a:t>
            </a:r>
            <a:endParaRPr lang="en-US" dirty="0" smtClean="0"/>
          </a:p>
          <a:p>
            <a:pPr algn="just">
              <a:buFont typeface="Wingdings" panose="05000000000000000000" pitchFamily="2" charset="2"/>
              <a:buChar char="v"/>
            </a:pPr>
            <a:r>
              <a:rPr lang="en-US" dirty="0" smtClean="0"/>
              <a:t>extracts </a:t>
            </a:r>
            <a:r>
              <a:rPr lang="en-US" dirty="0"/>
              <a:t>alone may not be enough to sustain good plant growth hence should be used in combination with other soil fertility management practices that ensure increase in soil organic matter such as compost, animal manure, green manure, etc.</a:t>
            </a:r>
            <a:endParaRPr lang="en-GB" dirty="0"/>
          </a:p>
          <a:p>
            <a:endParaRPr lang="en-GB"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77</a:t>
            </a:fld>
            <a:endParaRPr lang="en-GB"/>
          </a:p>
        </p:txBody>
      </p:sp>
    </p:spTree>
    <p:extLst>
      <p:ext uri="{BB962C8B-B14F-4D97-AF65-F5344CB8AC3E}">
        <p14:creationId xmlns:p14="http://schemas.microsoft.com/office/powerpoint/2010/main" val="3538239256"/>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lgn="ctr" rtl="0">
              <a:lnSpc>
                <a:spcPct val="90000"/>
              </a:lnSpc>
              <a:spcBef>
                <a:spcPct val="0"/>
              </a:spcBef>
            </a:pPr>
            <a:r>
              <a:rPr lang="en-US" sz="2800" b="1" dirty="0"/>
              <a:t>Green </a:t>
            </a:r>
            <a:r>
              <a:rPr lang="en-US" sz="2800" b="1" dirty="0" smtClean="0"/>
              <a:t>manure/Cover </a:t>
            </a:r>
            <a:r>
              <a:rPr lang="en-US" sz="2800" b="1" dirty="0"/>
              <a:t>crops</a:t>
            </a:r>
            <a:r>
              <a:rPr lang="en-GB" b="1" dirty="0"/>
              <a:t/>
            </a:r>
            <a:br>
              <a:rPr lang="en-GB" b="1" dirty="0"/>
            </a:br>
            <a:endParaRPr lang="en-GB" dirty="0"/>
          </a:p>
        </p:txBody>
      </p:sp>
      <p:sp>
        <p:nvSpPr>
          <p:cNvPr id="3" name="Content Placeholder 2"/>
          <p:cNvSpPr>
            <a:spLocks noGrp="1"/>
          </p:cNvSpPr>
          <p:nvPr>
            <p:ph idx="1"/>
          </p:nvPr>
        </p:nvSpPr>
        <p:spPr/>
        <p:txBody>
          <a:bodyPr/>
          <a:lstStyle/>
          <a:p>
            <a:pPr marL="914400" lvl="2" indent="0">
              <a:buNone/>
            </a:pPr>
            <a:r>
              <a:rPr lang="en-US" b="1" dirty="0"/>
              <a:t>What are green manure and cover crops?</a:t>
            </a:r>
            <a:endParaRPr lang="en-GB" b="1" dirty="0"/>
          </a:p>
          <a:p>
            <a:pPr algn="just">
              <a:buFont typeface="Wingdings" panose="05000000000000000000" pitchFamily="2" charset="2"/>
              <a:buChar char="v"/>
            </a:pPr>
            <a:r>
              <a:rPr lang="en-US" dirty="0"/>
              <a:t>There is no clear distinction between green manures (GMs) and cover crops (c.c</a:t>
            </a:r>
            <a:r>
              <a:rPr lang="en-US" dirty="0" smtClean="0"/>
              <a:t>.).</a:t>
            </a:r>
          </a:p>
          <a:p>
            <a:pPr algn="just">
              <a:buFont typeface="Wingdings" panose="05000000000000000000" pitchFamily="2" charset="2"/>
              <a:buChar char="v"/>
            </a:pPr>
            <a:r>
              <a:rPr lang="en-US" dirty="0" smtClean="0"/>
              <a:t> </a:t>
            </a:r>
            <a:r>
              <a:rPr lang="en-US" dirty="0"/>
              <a:t>A cover crop is a crop grown specifically to protect and/or enrich the soil rather than for short economic </a:t>
            </a:r>
            <a:r>
              <a:rPr lang="en-US" dirty="0" smtClean="0"/>
              <a:t>gains.</a:t>
            </a:r>
          </a:p>
          <a:p>
            <a:pPr algn="just">
              <a:buFont typeface="Wingdings" panose="05000000000000000000" pitchFamily="2" charset="2"/>
              <a:buChar char="v"/>
            </a:pPr>
            <a:r>
              <a:rPr lang="en-US" dirty="0" smtClean="0"/>
              <a:t>However</a:t>
            </a:r>
            <a:r>
              <a:rPr lang="en-US" dirty="0"/>
              <a:t>, when the cover crop is either turned into the soil at flowering or cut and left on the soil surface while still green, it is called a green manure.</a:t>
            </a:r>
            <a:endParaRPr lang="en-GB" dirty="0"/>
          </a:p>
          <a:p>
            <a:endParaRPr lang="en-GB"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78</a:t>
            </a:fld>
            <a:endParaRPr lang="en-GB"/>
          </a:p>
        </p:txBody>
      </p:sp>
    </p:spTree>
    <p:extLst>
      <p:ext uri="{BB962C8B-B14F-4D97-AF65-F5344CB8AC3E}">
        <p14:creationId xmlns:p14="http://schemas.microsoft.com/office/powerpoint/2010/main" val="2025784018"/>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lgn="ctr" rtl="0">
              <a:lnSpc>
                <a:spcPct val="90000"/>
              </a:lnSpc>
              <a:spcBef>
                <a:spcPct val="0"/>
              </a:spcBef>
            </a:pPr>
            <a:r>
              <a:rPr lang="en-US" sz="2800" b="1" dirty="0"/>
              <a:t>Green </a:t>
            </a:r>
            <a:r>
              <a:rPr lang="en-US" sz="2800" b="1" dirty="0" smtClean="0"/>
              <a:t>manure/Cover </a:t>
            </a:r>
            <a:r>
              <a:rPr lang="en-US" sz="2800" b="1" dirty="0"/>
              <a:t>crops</a:t>
            </a:r>
            <a:r>
              <a:rPr lang="en-GB" b="1" dirty="0"/>
              <a:t/>
            </a:r>
            <a:br>
              <a:rPr lang="en-GB" b="1" dirty="0"/>
            </a:br>
            <a:endParaRPr lang="en-GB" dirty="0"/>
          </a:p>
        </p:txBody>
      </p:sp>
      <p:sp>
        <p:nvSpPr>
          <p:cNvPr id="3" name="Content Placeholder 2"/>
          <p:cNvSpPr>
            <a:spLocks noGrp="1"/>
          </p:cNvSpPr>
          <p:nvPr>
            <p:ph idx="1"/>
          </p:nvPr>
        </p:nvSpPr>
        <p:spPr/>
        <p:txBody>
          <a:bodyPr/>
          <a:lstStyle/>
          <a:p>
            <a:pPr algn="just">
              <a:buFont typeface="Wingdings" panose="05000000000000000000" pitchFamily="2" charset="2"/>
              <a:buChar char="v"/>
            </a:pPr>
            <a:r>
              <a:rPr lang="en-US" dirty="0"/>
              <a:t>In the past green manures used to be defined as crops grown for a specific period of time, and then incorporated into the soil while green or shortly after </a:t>
            </a:r>
            <a:r>
              <a:rPr lang="en-US" dirty="0" smtClean="0"/>
              <a:t>flowering.</a:t>
            </a:r>
          </a:p>
          <a:p>
            <a:pPr algn="just">
              <a:buFont typeface="Wingdings" panose="05000000000000000000" pitchFamily="2" charset="2"/>
              <a:buChar char="v"/>
            </a:pPr>
            <a:r>
              <a:rPr lang="en-US" dirty="0" smtClean="0"/>
              <a:t>This </a:t>
            </a:r>
            <a:r>
              <a:rPr lang="en-US" dirty="0"/>
              <a:t>definition is however being abandoned due to the soil disturbance associated with the burying of the green </a:t>
            </a:r>
            <a:r>
              <a:rPr lang="en-US" dirty="0" smtClean="0"/>
              <a:t>manures.</a:t>
            </a:r>
          </a:p>
          <a:p>
            <a:pPr algn="just">
              <a:buFont typeface="Wingdings" panose="05000000000000000000" pitchFamily="2" charset="2"/>
              <a:buChar char="v"/>
            </a:pPr>
            <a:r>
              <a:rPr lang="en-US" dirty="0" smtClean="0"/>
              <a:t>The </a:t>
            </a:r>
            <a:r>
              <a:rPr lang="en-US" dirty="0"/>
              <a:t>current definition of green manures is more of cover crops.</a:t>
            </a:r>
            <a:endParaRPr lang="en-GB" dirty="0"/>
          </a:p>
          <a:p>
            <a:pPr marL="0" indent="0">
              <a:buNone/>
            </a:pPr>
            <a:endParaRPr lang="en-GB" dirty="0"/>
          </a:p>
          <a:p>
            <a:endParaRPr lang="en-GB"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79</a:t>
            </a:fld>
            <a:endParaRPr lang="en-GB"/>
          </a:p>
        </p:txBody>
      </p:sp>
    </p:spTree>
    <p:extLst>
      <p:ext uri="{BB962C8B-B14F-4D97-AF65-F5344CB8AC3E}">
        <p14:creationId xmlns:p14="http://schemas.microsoft.com/office/powerpoint/2010/main" val="1580539455"/>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Benefits of using </a:t>
            </a:r>
            <a:r>
              <a:rPr lang="en-US" dirty="0" smtClean="0"/>
              <a:t>Green Manure/Cover Crops</a:t>
            </a:r>
            <a:endParaRPr lang="en-GB" dirty="0"/>
          </a:p>
        </p:txBody>
      </p:sp>
      <p:sp>
        <p:nvSpPr>
          <p:cNvPr id="3" name="Content Placeholder 2"/>
          <p:cNvSpPr>
            <a:spLocks noGrp="1"/>
          </p:cNvSpPr>
          <p:nvPr>
            <p:ph idx="1"/>
          </p:nvPr>
        </p:nvSpPr>
        <p:spPr/>
        <p:txBody>
          <a:bodyPr/>
          <a:lstStyle/>
          <a:p>
            <a:pPr lvl="1">
              <a:buFont typeface="Wingdings" panose="05000000000000000000" pitchFamily="2" charset="2"/>
              <a:buChar char="Ø"/>
            </a:pPr>
            <a:r>
              <a:rPr lang="en-US" dirty="0"/>
              <a:t>It is a good alternative or supplement to the use of compost or animal manure – green manures are a good way of improving and maintaining soil fertility especially for farmers who do not have livestock or cannot make </a:t>
            </a:r>
            <a:r>
              <a:rPr lang="en-US" dirty="0" smtClean="0"/>
              <a:t>compost.</a:t>
            </a:r>
            <a:endParaRPr lang="en-GB" sz="2000" dirty="0"/>
          </a:p>
          <a:p>
            <a:pPr lvl="1">
              <a:buFont typeface="Wingdings" panose="05000000000000000000" pitchFamily="2" charset="2"/>
              <a:buChar char="Ø"/>
            </a:pPr>
            <a:r>
              <a:rPr lang="en-US" dirty="0" smtClean="0"/>
              <a:t>Green </a:t>
            </a:r>
            <a:r>
              <a:rPr lang="en-US" dirty="0"/>
              <a:t>manures, just like compost, animal manures and other organic means of managing soil fertility, improve the soil organic matter content and thus can impart all the good properties to the </a:t>
            </a:r>
            <a:r>
              <a:rPr lang="en-US" dirty="0" smtClean="0"/>
              <a:t>soil.</a:t>
            </a:r>
            <a:endParaRPr lang="en-GB" sz="2000" dirty="0"/>
          </a:p>
          <a:p>
            <a:pPr marL="0" indent="0">
              <a:buNone/>
            </a:pPr>
            <a:endParaRPr lang="en-GB" dirty="0"/>
          </a:p>
          <a:p>
            <a:endParaRPr lang="en-GB"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80</a:t>
            </a:fld>
            <a:endParaRPr lang="en-GB"/>
          </a:p>
        </p:txBody>
      </p:sp>
    </p:spTree>
    <p:extLst>
      <p:ext uri="{BB962C8B-B14F-4D97-AF65-F5344CB8AC3E}">
        <p14:creationId xmlns:p14="http://schemas.microsoft.com/office/powerpoint/2010/main" val="1420092171"/>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Benefits of using </a:t>
            </a:r>
            <a:r>
              <a:rPr lang="en-US" dirty="0" smtClean="0"/>
              <a:t>Green Manure/Cover Crops</a:t>
            </a:r>
            <a:endParaRPr lang="en-GB" dirty="0"/>
          </a:p>
        </p:txBody>
      </p:sp>
      <p:sp>
        <p:nvSpPr>
          <p:cNvPr id="3" name="Content Placeholder 2"/>
          <p:cNvSpPr>
            <a:spLocks noGrp="1"/>
          </p:cNvSpPr>
          <p:nvPr>
            <p:ph idx="1"/>
          </p:nvPr>
        </p:nvSpPr>
        <p:spPr/>
        <p:txBody>
          <a:bodyPr/>
          <a:lstStyle/>
          <a:p>
            <a:pPr lvl="1">
              <a:buFont typeface="Wingdings" panose="05000000000000000000" pitchFamily="2" charset="2"/>
              <a:buChar char="v"/>
            </a:pPr>
            <a:r>
              <a:rPr lang="en-US" dirty="0" smtClean="0"/>
              <a:t>As </a:t>
            </a:r>
            <a:r>
              <a:rPr lang="en-US" dirty="0"/>
              <a:t>opposed to the use of animal manure and compost, green manures/C.C.s can additionally provide soil cover and thus play key functions in crop production such as:</a:t>
            </a:r>
            <a:endParaRPr lang="en-GB" sz="2000" dirty="0"/>
          </a:p>
          <a:p>
            <a:pPr lvl="2"/>
            <a:r>
              <a:rPr lang="en-US" dirty="0"/>
              <a:t>Reduction of water evaporation and soil temperature</a:t>
            </a:r>
            <a:endParaRPr lang="en-GB" sz="1800" dirty="0"/>
          </a:p>
          <a:p>
            <a:pPr lvl="2"/>
            <a:r>
              <a:rPr lang="en-US" dirty="0"/>
              <a:t>Increased water infiltration</a:t>
            </a:r>
            <a:endParaRPr lang="en-GB" sz="1800" dirty="0"/>
          </a:p>
          <a:p>
            <a:pPr lvl="2"/>
            <a:r>
              <a:rPr lang="en-US" dirty="0"/>
              <a:t>Protection of soil from erosion</a:t>
            </a:r>
            <a:endParaRPr lang="en-GB" sz="1800" dirty="0"/>
          </a:p>
          <a:p>
            <a:pPr lvl="2"/>
            <a:r>
              <a:rPr lang="en-US" dirty="0"/>
              <a:t>Suppression of weeds</a:t>
            </a:r>
            <a:endParaRPr lang="en-GB" sz="1800" dirty="0"/>
          </a:p>
          <a:p>
            <a:pPr lvl="2"/>
            <a:r>
              <a:rPr lang="en-US" dirty="0"/>
              <a:t>Provision of suitable habitat for soil life</a:t>
            </a:r>
            <a:endParaRPr lang="en-GB" sz="1800" dirty="0"/>
          </a:p>
          <a:p>
            <a:pPr lvl="2"/>
            <a:r>
              <a:rPr lang="en-US" dirty="0"/>
              <a:t>Create good environment for beneficial insects thus playing a role in the reduction of pests and diseases.</a:t>
            </a:r>
            <a:endParaRPr lang="en-GB" sz="1800" dirty="0"/>
          </a:p>
          <a:p>
            <a:pPr marL="0" indent="0">
              <a:buNone/>
            </a:pPr>
            <a:endParaRPr lang="en-GB" dirty="0"/>
          </a:p>
          <a:p>
            <a:endParaRPr lang="en-GB"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81</a:t>
            </a:fld>
            <a:endParaRPr lang="en-GB"/>
          </a:p>
        </p:txBody>
      </p:sp>
    </p:spTree>
    <p:extLst>
      <p:ext uri="{BB962C8B-B14F-4D97-AF65-F5344CB8AC3E}">
        <p14:creationId xmlns:p14="http://schemas.microsoft.com/office/powerpoint/2010/main" val="3765144394"/>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Benefits of using </a:t>
            </a:r>
            <a:r>
              <a:rPr lang="en-US" dirty="0" smtClean="0"/>
              <a:t>Green Manure/Cover Crops</a:t>
            </a:r>
            <a:endParaRPr lang="en-GB" dirty="0"/>
          </a:p>
        </p:txBody>
      </p:sp>
      <p:sp>
        <p:nvSpPr>
          <p:cNvPr id="3" name="Content Placeholder 2"/>
          <p:cNvSpPr>
            <a:spLocks noGrp="1"/>
          </p:cNvSpPr>
          <p:nvPr>
            <p:ph idx="1"/>
          </p:nvPr>
        </p:nvSpPr>
        <p:spPr/>
        <p:txBody>
          <a:bodyPr/>
          <a:lstStyle/>
          <a:p>
            <a:pPr lvl="1">
              <a:buFont typeface="Wingdings" panose="05000000000000000000" pitchFamily="2" charset="2"/>
              <a:buChar char="v"/>
            </a:pPr>
            <a:r>
              <a:rPr lang="en-US" dirty="0"/>
              <a:t>Seed for green manures/cover crops can be sold to give farmers some additional income. From the agronomic point of view, soil fertility is improved more when the GM/C.C is cut prior to, or just at flowering. However, for economic reasons, it is common to harvest the seed and only return the remaining biomass to the </a:t>
            </a:r>
            <a:r>
              <a:rPr lang="en-US" dirty="0" smtClean="0"/>
              <a:t>soil.</a:t>
            </a:r>
            <a:endParaRPr lang="en-GB" sz="2000" dirty="0"/>
          </a:p>
          <a:p>
            <a:pPr lvl="1">
              <a:buFont typeface="Wingdings" panose="05000000000000000000" pitchFamily="2" charset="2"/>
              <a:buChar char="v"/>
            </a:pPr>
            <a:r>
              <a:rPr lang="en-US" dirty="0" smtClean="0"/>
              <a:t>Some </a:t>
            </a:r>
            <a:r>
              <a:rPr lang="en-US" dirty="0"/>
              <a:t>deep-rooted green manure/cover crops will help to break the hard pan and bring nutrients that were washed to deeper regions of the soil close to the surface where they can be used by shallow- rooted crops</a:t>
            </a:r>
            <a:r>
              <a:rPr lang="en-US" dirty="0" smtClean="0"/>
              <a:t>.</a:t>
            </a:r>
          </a:p>
          <a:p>
            <a:pPr lvl="1">
              <a:buFont typeface="Wingdings" panose="05000000000000000000" pitchFamily="2" charset="2"/>
              <a:buChar char="v"/>
            </a:pPr>
            <a:r>
              <a:rPr lang="en-US" sz="2000" dirty="0"/>
              <a:t>Some GM/CCs can be used as feed for livestock and others are even consumed by humans.</a:t>
            </a:r>
            <a:endParaRPr lang="en-GB" sz="2000" dirty="0"/>
          </a:p>
          <a:p>
            <a:pPr marL="457200" lvl="1" indent="0">
              <a:buNone/>
            </a:pPr>
            <a:endParaRPr lang="en-GB" sz="2000" dirty="0"/>
          </a:p>
          <a:p>
            <a:pPr marL="0" indent="0">
              <a:buNone/>
            </a:pPr>
            <a:endParaRPr lang="en-GB" dirty="0"/>
          </a:p>
          <a:p>
            <a:endParaRPr lang="en-GB"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82</a:t>
            </a:fld>
            <a:endParaRPr lang="en-GB"/>
          </a:p>
        </p:txBody>
      </p:sp>
    </p:spTree>
    <p:extLst>
      <p:ext uri="{BB962C8B-B14F-4D97-AF65-F5344CB8AC3E}">
        <p14:creationId xmlns:p14="http://schemas.microsoft.com/office/powerpoint/2010/main" val="2298520932"/>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ctr" rtl="0">
              <a:lnSpc>
                <a:spcPct val="90000"/>
              </a:lnSpc>
              <a:spcBef>
                <a:spcPct val="0"/>
              </a:spcBef>
            </a:pPr>
            <a:r>
              <a:rPr lang="en-US" sz="2800" b="1" dirty="0"/>
              <a:t>Crops used as green manure/cover crops</a:t>
            </a:r>
            <a:r>
              <a:rPr lang="en-GB" b="1" dirty="0"/>
              <a:t/>
            </a:r>
            <a:br>
              <a:rPr lang="en-GB" b="1" dirty="0"/>
            </a:br>
            <a:endParaRPr lang="en-GB" dirty="0"/>
          </a:p>
        </p:txBody>
      </p:sp>
      <p:sp>
        <p:nvSpPr>
          <p:cNvPr id="3" name="Content Placeholder 2"/>
          <p:cNvSpPr>
            <a:spLocks noGrp="1"/>
          </p:cNvSpPr>
          <p:nvPr>
            <p:ph idx="1"/>
          </p:nvPr>
        </p:nvSpPr>
        <p:spPr/>
        <p:txBody>
          <a:bodyPr>
            <a:normAutofit/>
          </a:bodyPr>
          <a:lstStyle/>
          <a:p>
            <a:r>
              <a:rPr lang="en-US" dirty="0"/>
              <a:t>A key characteristic of green manure or cover crops is that they are legumes</a:t>
            </a:r>
            <a:r>
              <a:rPr lang="en-US" dirty="0" smtClean="0"/>
              <a:t>.</a:t>
            </a:r>
          </a:p>
          <a:p>
            <a:r>
              <a:rPr lang="en-US" dirty="0" smtClean="0"/>
              <a:t> </a:t>
            </a:r>
            <a:r>
              <a:rPr lang="en-US" dirty="0"/>
              <a:t>A special trait of legumes is that bacteria living in their roots are able to fix (incorporate) nitrogen from the air into the </a:t>
            </a:r>
            <a:r>
              <a:rPr lang="en-US" dirty="0" smtClean="0"/>
              <a:t>soil.</a:t>
            </a:r>
          </a:p>
          <a:p>
            <a:r>
              <a:rPr lang="en-US" dirty="0" smtClean="0"/>
              <a:t>The </a:t>
            </a:r>
            <a:r>
              <a:rPr lang="en-US" dirty="0"/>
              <a:t>nitrogen is then held in the plant. </a:t>
            </a:r>
            <a:endParaRPr lang="en-US" dirty="0" smtClean="0"/>
          </a:p>
          <a:p>
            <a:r>
              <a:rPr lang="en-US" dirty="0" smtClean="0"/>
              <a:t>The </a:t>
            </a:r>
            <a:r>
              <a:rPr lang="en-US" dirty="0"/>
              <a:t>fixed nitrogen is then availed to the following crop when the legume dies and decomposes.</a:t>
            </a:r>
            <a:endParaRPr lang="en-GB" dirty="0"/>
          </a:p>
          <a:p>
            <a:pPr marL="0" indent="0">
              <a:buNone/>
            </a:pPr>
            <a:r>
              <a:rPr lang="en-US" dirty="0"/>
              <a:t> </a:t>
            </a:r>
            <a:endParaRPr lang="en-GB" dirty="0"/>
          </a:p>
          <a:p>
            <a:endParaRPr lang="en-GB"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83</a:t>
            </a:fld>
            <a:endParaRPr lang="en-GB"/>
          </a:p>
        </p:txBody>
      </p:sp>
    </p:spTree>
    <p:extLst>
      <p:ext uri="{BB962C8B-B14F-4D97-AF65-F5344CB8AC3E}">
        <p14:creationId xmlns:p14="http://schemas.microsoft.com/office/powerpoint/2010/main" val="4239389368"/>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ctr" rtl="0">
              <a:lnSpc>
                <a:spcPct val="90000"/>
              </a:lnSpc>
              <a:spcBef>
                <a:spcPct val="0"/>
              </a:spcBef>
            </a:pPr>
            <a:r>
              <a:rPr lang="en-US" sz="2800" b="1" dirty="0"/>
              <a:t>Crops used as green manure/cover crops</a:t>
            </a:r>
            <a:r>
              <a:rPr lang="en-GB" b="1" dirty="0"/>
              <a:t/>
            </a:r>
            <a:br>
              <a:rPr lang="en-GB" b="1" dirty="0"/>
            </a:br>
            <a:endParaRPr lang="en-GB" dirty="0"/>
          </a:p>
        </p:txBody>
      </p:sp>
      <p:sp>
        <p:nvSpPr>
          <p:cNvPr id="3" name="Content Placeholder 2"/>
          <p:cNvSpPr>
            <a:spLocks noGrp="1"/>
          </p:cNvSpPr>
          <p:nvPr>
            <p:ph idx="1"/>
          </p:nvPr>
        </p:nvSpPr>
        <p:spPr/>
        <p:txBody>
          <a:bodyPr>
            <a:normAutofit/>
          </a:bodyPr>
          <a:lstStyle/>
          <a:p>
            <a:pPr algn="just"/>
            <a:r>
              <a:rPr lang="en-US" dirty="0" smtClean="0"/>
              <a:t>Legumes </a:t>
            </a:r>
            <a:r>
              <a:rPr lang="en-US" dirty="0"/>
              <a:t>to be used as green manures can either be edible or inedible. </a:t>
            </a:r>
            <a:endParaRPr lang="en-US" dirty="0" smtClean="0"/>
          </a:p>
          <a:p>
            <a:pPr algn="just"/>
            <a:r>
              <a:rPr lang="en-US" dirty="0" smtClean="0"/>
              <a:t>One </a:t>
            </a:r>
            <a:r>
              <a:rPr lang="en-US" dirty="0"/>
              <a:t>needs to note however, that there is always a challenge with the use of edible legumes as green manures or cover crops due to the harvesting of the grain which reduces the amount of nutrients the particular green manure/cover crop will return to the soil</a:t>
            </a:r>
            <a:r>
              <a:rPr lang="en-US" dirty="0" smtClean="0"/>
              <a:t>.</a:t>
            </a:r>
            <a:endParaRPr lang="en-GB" dirty="0"/>
          </a:p>
          <a:p>
            <a:endParaRPr lang="en-GB"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84</a:t>
            </a:fld>
            <a:endParaRPr lang="en-GB"/>
          </a:p>
        </p:txBody>
      </p:sp>
    </p:spTree>
    <p:extLst>
      <p:ext uri="{BB962C8B-B14F-4D97-AF65-F5344CB8AC3E}">
        <p14:creationId xmlns:p14="http://schemas.microsoft.com/office/powerpoint/2010/main" val="3945730854"/>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ctr" rtl="0">
              <a:lnSpc>
                <a:spcPct val="90000"/>
              </a:lnSpc>
              <a:spcBef>
                <a:spcPct val="0"/>
              </a:spcBef>
            </a:pPr>
            <a:r>
              <a:rPr lang="en-US" sz="2800" b="1" dirty="0"/>
              <a:t>Crops used as green manure/cover crops</a:t>
            </a:r>
            <a:r>
              <a:rPr lang="en-GB" b="1" dirty="0"/>
              <a:t/>
            </a:r>
            <a:br>
              <a:rPr lang="en-GB" b="1" dirty="0"/>
            </a:br>
            <a:endParaRPr lang="en-GB" dirty="0"/>
          </a:p>
        </p:txBody>
      </p:sp>
      <p:sp>
        <p:nvSpPr>
          <p:cNvPr id="3" name="Content Placeholder 2"/>
          <p:cNvSpPr>
            <a:spLocks noGrp="1"/>
          </p:cNvSpPr>
          <p:nvPr>
            <p:ph idx="1"/>
          </p:nvPr>
        </p:nvSpPr>
        <p:spPr/>
        <p:txBody>
          <a:bodyPr>
            <a:normAutofit fontScale="92500"/>
          </a:bodyPr>
          <a:lstStyle/>
          <a:p>
            <a:pPr algn="just"/>
            <a:r>
              <a:rPr lang="en-US" dirty="0"/>
              <a:t> </a:t>
            </a:r>
            <a:r>
              <a:rPr lang="en-US" dirty="0" smtClean="0"/>
              <a:t>Some </a:t>
            </a:r>
            <a:r>
              <a:rPr lang="en-US" dirty="0"/>
              <a:t>legumes will not grow well or fix nitrogen if the correct bacteria for that particular legume are not present in the soil where they are </a:t>
            </a:r>
            <a:r>
              <a:rPr lang="en-US" dirty="0" smtClean="0"/>
              <a:t>sown.</a:t>
            </a:r>
          </a:p>
          <a:p>
            <a:pPr algn="just"/>
            <a:r>
              <a:rPr lang="en-US" dirty="0" smtClean="0"/>
              <a:t>This </a:t>
            </a:r>
            <a:r>
              <a:rPr lang="en-US" dirty="0"/>
              <a:t>happens if you plant a legume that is not normally grown in your area. You can resolve this problem by pulling up some of the legumes and breaking open the root nodules. </a:t>
            </a:r>
            <a:endParaRPr lang="en-US" dirty="0" smtClean="0"/>
          </a:p>
          <a:p>
            <a:pPr algn="just"/>
            <a:r>
              <a:rPr lang="en-US" dirty="0" smtClean="0"/>
              <a:t>If </a:t>
            </a:r>
            <a:r>
              <a:rPr lang="en-US" dirty="0"/>
              <a:t>the nodules are pink inside, you know that the bacteria are present and fixing nitrogen. </a:t>
            </a:r>
            <a:endParaRPr lang="en-US" dirty="0" smtClean="0"/>
          </a:p>
          <a:p>
            <a:pPr algn="just"/>
            <a:r>
              <a:rPr lang="en-US" dirty="0" smtClean="0"/>
              <a:t>If </a:t>
            </a:r>
            <a:r>
              <a:rPr lang="en-US" dirty="0"/>
              <a:t>the nodules are </a:t>
            </a:r>
            <a:r>
              <a:rPr lang="en-US" dirty="0" smtClean="0"/>
              <a:t>not</a:t>
            </a:r>
            <a:r>
              <a:rPr lang="en-GB" dirty="0"/>
              <a:t> </a:t>
            </a:r>
            <a:r>
              <a:rPr lang="en-US" dirty="0" smtClean="0"/>
              <a:t>pink</a:t>
            </a:r>
            <a:r>
              <a:rPr lang="en-US" dirty="0"/>
              <a:t>, it means no nitrogen is being fixed. </a:t>
            </a:r>
            <a:endParaRPr lang="en-US" dirty="0" smtClean="0"/>
          </a:p>
          <a:p>
            <a:pPr algn="just"/>
            <a:r>
              <a:rPr lang="en-US" dirty="0" smtClean="0"/>
              <a:t>In </a:t>
            </a:r>
            <a:r>
              <a:rPr lang="en-US" dirty="0"/>
              <a:t>that case, collect some soil from an area where the particular legume grows successfully and mix it with your seed before planting.</a:t>
            </a:r>
            <a:endParaRPr lang="en-GB" dirty="0"/>
          </a:p>
          <a:p>
            <a:endParaRPr lang="en-GB"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85</a:t>
            </a:fld>
            <a:endParaRPr lang="en-GB"/>
          </a:p>
        </p:txBody>
      </p:sp>
    </p:spTree>
    <p:extLst>
      <p:ext uri="{BB962C8B-B14F-4D97-AF65-F5344CB8AC3E}">
        <p14:creationId xmlns:p14="http://schemas.microsoft.com/office/powerpoint/2010/main" val="2437540460"/>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2" algn="ctr" rtl="0">
              <a:lnSpc>
                <a:spcPct val="90000"/>
              </a:lnSpc>
              <a:spcBef>
                <a:spcPct val="0"/>
              </a:spcBef>
            </a:pPr>
            <a:r>
              <a:rPr lang="en-US" sz="4000" b="1" dirty="0">
                <a:latin typeface="Arial" panose="020B0604020202020204" pitchFamily="34" charset="0"/>
                <a:cs typeface="Arial" panose="020B0604020202020204" pitchFamily="34" charset="0"/>
              </a:rPr>
              <a:t>Planting of common green manure/cover crops</a:t>
            </a:r>
            <a:r>
              <a:rPr lang="en-GB" sz="4000" b="1" dirty="0">
                <a:latin typeface="Arial" panose="020B0604020202020204" pitchFamily="34" charset="0"/>
                <a:cs typeface="Arial" panose="020B0604020202020204" pitchFamily="34" charset="0"/>
              </a:rPr>
              <a:t/>
            </a:r>
            <a:br>
              <a:rPr lang="en-GB" sz="4000" b="1" dirty="0">
                <a:latin typeface="Arial" panose="020B0604020202020204" pitchFamily="34" charset="0"/>
                <a:cs typeface="Arial" panose="020B0604020202020204" pitchFamily="34" charset="0"/>
              </a:rPr>
            </a:br>
            <a:endParaRPr lang="en-GB" sz="400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r>
              <a:rPr lang="en-US" dirty="0"/>
              <a:t>The following guidelines should be considered purely as a general guide as the actual planting time, seed rate and spacing should be determined by the farmer based on his or her experience.</a:t>
            </a:r>
            <a:endParaRPr lang="en-GB" dirty="0"/>
          </a:p>
          <a:p>
            <a:r>
              <a:rPr lang="en-US" dirty="0" smtClean="0"/>
              <a:t>(See Specific notes on these)</a:t>
            </a:r>
            <a:endParaRPr lang="en-GB"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86</a:t>
            </a:fld>
            <a:endParaRPr lang="en-GB"/>
          </a:p>
        </p:txBody>
      </p:sp>
    </p:spTree>
    <p:extLst>
      <p:ext uri="{BB962C8B-B14F-4D97-AF65-F5344CB8AC3E}">
        <p14:creationId xmlns:p14="http://schemas.microsoft.com/office/powerpoint/2010/main" val="316092558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ctr" rtl="0">
              <a:lnSpc>
                <a:spcPct val="90000"/>
              </a:lnSpc>
              <a:spcBef>
                <a:spcPct val="0"/>
              </a:spcBef>
            </a:pPr>
            <a:r>
              <a:rPr lang="en-US" sz="3200" b="1" dirty="0">
                <a:latin typeface="Arial" panose="020B0604020202020204" pitchFamily="34" charset="0"/>
                <a:cs typeface="Arial" panose="020B0604020202020204" pitchFamily="34" charset="0"/>
              </a:rPr>
              <a:t>Integration of green manure/cover crops into farming systems</a:t>
            </a:r>
            <a:r>
              <a:rPr lang="en-GB" b="1" dirty="0"/>
              <a:t/>
            </a:r>
            <a:br>
              <a:rPr lang="en-GB" b="1" dirty="0"/>
            </a:br>
            <a:endParaRPr lang="en-GB" dirty="0"/>
          </a:p>
        </p:txBody>
      </p:sp>
      <p:sp>
        <p:nvSpPr>
          <p:cNvPr id="3" name="Content Placeholder 2"/>
          <p:cNvSpPr>
            <a:spLocks noGrp="1"/>
          </p:cNvSpPr>
          <p:nvPr>
            <p:ph idx="1"/>
          </p:nvPr>
        </p:nvSpPr>
        <p:spPr/>
        <p:txBody>
          <a:bodyPr/>
          <a:lstStyle/>
          <a:p>
            <a:r>
              <a:rPr lang="en-US" dirty="0"/>
              <a:t>There are many ways of integrating green manures into our farming system. </a:t>
            </a:r>
            <a:endParaRPr lang="en-US" dirty="0" smtClean="0"/>
          </a:p>
          <a:p>
            <a:r>
              <a:rPr lang="en-US" dirty="0" smtClean="0"/>
              <a:t>Below </a:t>
            </a:r>
            <a:r>
              <a:rPr lang="en-US" dirty="0"/>
              <a:t>are some common practices of integrating green manure/cover crops:</a:t>
            </a:r>
            <a:endParaRPr lang="en-GB" dirty="0"/>
          </a:p>
          <a:p>
            <a:endParaRPr lang="en-GB"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87</a:t>
            </a:fld>
            <a:endParaRPr lang="en-GB"/>
          </a:p>
        </p:txBody>
      </p:sp>
    </p:spTree>
    <p:extLst>
      <p:ext uri="{BB962C8B-B14F-4D97-AF65-F5344CB8AC3E}">
        <p14:creationId xmlns:p14="http://schemas.microsoft.com/office/powerpoint/2010/main" val="340044424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3" algn="ctr" rtl="0">
              <a:lnSpc>
                <a:spcPct val="90000"/>
              </a:lnSpc>
              <a:spcBef>
                <a:spcPct val="0"/>
              </a:spcBef>
            </a:pPr>
            <a:r>
              <a:rPr lang="en-US" sz="3600" b="1" dirty="0" smtClean="0"/>
              <a:t>Green manure/cover crops in rotation</a:t>
            </a:r>
            <a:r>
              <a:rPr lang="en-GB" b="1" dirty="0" smtClean="0"/>
              <a:t/>
            </a:r>
            <a:br>
              <a:rPr lang="en-GB" b="1" dirty="0" smtClean="0"/>
            </a:br>
            <a:endParaRPr lang="en-GB" dirty="0"/>
          </a:p>
        </p:txBody>
      </p:sp>
      <p:sp>
        <p:nvSpPr>
          <p:cNvPr id="3" name="Content Placeholder 2"/>
          <p:cNvSpPr>
            <a:spLocks noGrp="1"/>
          </p:cNvSpPr>
          <p:nvPr>
            <p:ph idx="1"/>
          </p:nvPr>
        </p:nvSpPr>
        <p:spPr/>
        <p:txBody>
          <a:bodyPr>
            <a:normAutofit fontScale="92500" lnSpcReduction="10000"/>
          </a:bodyPr>
          <a:lstStyle/>
          <a:p>
            <a:pPr algn="just"/>
            <a:r>
              <a:rPr lang="en-US" dirty="0" smtClean="0"/>
              <a:t>Crop </a:t>
            </a:r>
            <a:r>
              <a:rPr lang="en-US" dirty="0"/>
              <a:t>rotation is a planned sequence of growing different crops on the same piece of land at different times</a:t>
            </a:r>
            <a:r>
              <a:rPr lang="en-US" dirty="0" smtClean="0"/>
              <a:t>.</a:t>
            </a:r>
            <a:endParaRPr lang="en-GB" sz="2400" dirty="0"/>
          </a:p>
          <a:p>
            <a:pPr algn="just"/>
            <a:r>
              <a:rPr lang="en-US" dirty="0"/>
              <a:t>Green manures help to build soil fertility and are particularly useful when grown before crops which need a lot of nutrients</a:t>
            </a:r>
            <a:r>
              <a:rPr lang="en-US" dirty="0" smtClean="0"/>
              <a:t>.</a:t>
            </a:r>
            <a:endParaRPr lang="en-GB" sz="3200" dirty="0"/>
          </a:p>
          <a:p>
            <a:pPr algn="just"/>
            <a:r>
              <a:rPr lang="en-US" b="1" dirty="0"/>
              <a:t>When can green manures be used in rotation</a:t>
            </a:r>
            <a:r>
              <a:rPr lang="en-US" b="1" dirty="0" smtClean="0"/>
              <a:t>?</a:t>
            </a:r>
            <a:endParaRPr lang="en-GB" dirty="0"/>
          </a:p>
          <a:p>
            <a:pPr lvl="1" algn="just"/>
            <a:r>
              <a:rPr lang="en-US" dirty="0"/>
              <a:t>Whenever there is no crop in the field, rather than leaving the land bare and allowing weeds to grow and nutrients to leach out of the soil</a:t>
            </a:r>
            <a:r>
              <a:rPr lang="en-US" dirty="0" smtClean="0"/>
              <a:t>.</a:t>
            </a:r>
            <a:r>
              <a:rPr lang="en-US" dirty="0"/>
              <a:t> </a:t>
            </a:r>
            <a:endParaRPr lang="en-GB" dirty="0"/>
          </a:p>
          <a:p>
            <a:pPr lvl="1" algn="just"/>
            <a:r>
              <a:rPr lang="en-US" dirty="0"/>
              <a:t>As break crops between the same crop or crops of the same family. </a:t>
            </a:r>
            <a:endParaRPr lang="en-US" dirty="0" smtClean="0"/>
          </a:p>
          <a:p>
            <a:pPr lvl="1" algn="just"/>
            <a:r>
              <a:rPr lang="en-US" dirty="0" smtClean="0"/>
              <a:t>This </a:t>
            </a:r>
            <a:r>
              <a:rPr lang="en-US" dirty="0"/>
              <a:t>helps in the improvement of soil fertility and breaking the pest or disease cycles</a:t>
            </a:r>
            <a:r>
              <a:rPr lang="en-US" dirty="0" smtClean="0"/>
              <a:t>.</a:t>
            </a:r>
            <a:r>
              <a:rPr lang="en-US" dirty="0"/>
              <a:t> </a:t>
            </a:r>
            <a:endParaRPr lang="en-GB" dirty="0"/>
          </a:p>
          <a:p>
            <a:pPr lvl="1" algn="just"/>
            <a:r>
              <a:rPr lang="en-US" dirty="0"/>
              <a:t>When there is a felt need to improve the soil organic matter and fertility status of the field.</a:t>
            </a:r>
            <a:endParaRPr lang="en-GB" sz="2000" dirty="0"/>
          </a:p>
          <a:p>
            <a:endParaRPr lang="en-GB"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88</a:t>
            </a:fld>
            <a:endParaRPr lang="en-GB"/>
          </a:p>
        </p:txBody>
      </p:sp>
    </p:spTree>
    <p:extLst>
      <p:ext uri="{BB962C8B-B14F-4D97-AF65-F5344CB8AC3E}">
        <p14:creationId xmlns:p14="http://schemas.microsoft.com/office/powerpoint/2010/main" val="177856291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3" algn="ctr" rtl="0">
              <a:lnSpc>
                <a:spcPct val="90000"/>
              </a:lnSpc>
              <a:spcBef>
                <a:spcPct val="0"/>
              </a:spcBef>
            </a:pPr>
            <a:r>
              <a:rPr lang="en-US" sz="3600" b="1" dirty="0"/>
              <a:t>Green manures/cover crops as interplants</a:t>
            </a:r>
            <a:r>
              <a:rPr lang="en-GB" b="1" dirty="0"/>
              <a:t/>
            </a:r>
            <a:br>
              <a:rPr lang="en-GB" b="1" dirty="0"/>
            </a:br>
            <a:endParaRPr lang="en-GB" dirty="0"/>
          </a:p>
        </p:txBody>
      </p:sp>
      <p:sp>
        <p:nvSpPr>
          <p:cNvPr id="3" name="Content Placeholder 2"/>
          <p:cNvSpPr>
            <a:spLocks noGrp="1"/>
          </p:cNvSpPr>
          <p:nvPr>
            <p:ph idx="1"/>
          </p:nvPr>
        </p:nvSpPr>
        <p:spPr/>
        <p:txBody>
          <a:bodyPr/>
          <a:lstStyle/>
          <a:p>
            <a:pPr algn="just"/>
            <a:r>
              <a:rPr lang="en-US" dirty="0"/>
              <a:t>Inter-planting or intercropping is the practice of growing two or more crops with different characteristics and requirements at the same time on the same piece of land.</a:t>
            </a:r>
            <a:endParaRPr lang="en-GB" dirty="0"/>
          </a:p>
          <a:p>
            <a:pPr algn="just"/>
            <a:r>
              <a:rPr lang="en-US" dirty="0"/>
              <a:t>Green manures/cover crops can be inter-planted with the main crop provided the green manure crop has a different growth characteristic from that of the main crop.</a:t>
            </a:r>
            <a:endParaRPr lang="en-GB" dirty="0"/>
          </a:p>
          <a:p>
            <a:pPr algn="just"/>
            <a:r>
              <a:rPr lang="en-US" dirty="0"/>
              <a:t>Intercropping is particularly useful especially where the farmer has limited farm land to put aside a piece of land to just plant a green manure/cover crop, which, in most cases might not be edible or cannot be sold.</a:t>
            </a:r>
            <a:endParaRPr lang="en-GB" dirty="0"/>
          </a:p>
          <a:p>
            <a:endParaRPr lang="en-GB"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89</a:t>
            </a:fld>
            <a:endParaRPr lang="en-GB"/>
          </a:p>
        </p:txBody>
      </p:sp>
    </p:spTree>
    <p:extLst>
      <p:ext uri="{BB962C8B-B14F-4D97-AF65-F5344CB8AC3E}">
        <p14:creationId xmlns:p14="http://schemas.microsoft.com/office/powerpoint/2010/main" val="401722952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3" algn="ctr" rtl="0">
              <a:lnSpc>
                <a:spcPct val="90000"/>
              </a:lnSpc>
              <a:spcBef>
                <a:spcPct val="0"/>
              </a:spcBef>
            </a:pPr>
            <a:r>
              <a:rPr lang="en-US" sz="3600" b="1" dirty="0"/>
              <a:t>Green manures/cover crops as interplants</a:t>
            </a:r>
            <a:r>
              <a:rPr lang="en-GB" b="1" dirty="0"/>
              <a:t/>
            </a:r>
            <a:br>
              <a:rPr lang="en-GB" b="1" dirty="0"/>
            </a:br>
            <a:endParaRPr lang="en-GB" dirty="0"/>
          </a:p>
        </p:txBody>
      </p:sp>
      <p:sp>
        <p:nvSpPr>
          <p:cNvPr id="3" name="Content Placeholder 2"/>
          <p:cNvSpPr>
            <a:spLocks noGrp="1"/>
          </p:cNvSpPr>
          <p:nvPr>
            <p:ph idx="1"/>
          </p:nvPr>
        </p:nvSpPr>
        <p:spPr/>
        <p:txBody>
          <a:bodyPr>
            <a:normAutofit fontScale="85000" lnSpcReduction="20000"/>
          </a:bodyPr>
          <a:lstStyle/>
          <a:p>
            <a:r>
              <a:rPr lang="en-US" dirty="0" smtClean="0"/>
              <a:t>Note: Check details </a:t>
            </a:r>
            <a:r>
              <a:rPr lang="en-US" dirty="0"/>
              <a:t>on inter-planting.</a:t>
            </a:r>
            <a:endParaRPr lang="en-GB" dirty="0"/>
          </a:p>
          <a:p>
            <a:r>
              <a:rPr lang="en-US" dirty="0"/>
              <a:t>Care should be taken when intercropping with green manure/cover crops to ensure that there is no competition with the main </a:t>
            </a:r>
            <a:r>
              <a:rPr lang="en-US" dirty="0" smtClean="0"/>
              <a:t>crop.</a:t>
            </a:r>
          </a:p>
          <a:p>
            <a:r>
              <a:rPr lang="en-US" dirty="0" smtClean="0"/>
              <a:t>This </a:t>
            </a:r>
            <a:r>
              <a:rPr lang="en-US" dirty="0"/>
              <a:t>can be achieved by:</a:t>
            </a:r>
            <a:endParaRPr lang="en-GB" dirty="0"/>
          </a:p>
          <a:p>
            <a:pPr lvl="1"/>
            <a:r>
              <a:rPr lang="en-US" sz="2000" dirty="0"/>
              <a:t/>
            </a:r>
            <a:br>
              <a:rPr lang="en-US" sz="2000" dirty="0"/>
            </a:br>
            <a:r>
              <a:rPr lang="en-US" dirty="0"/>
              <a:t>Delaying planting of a fast-growing green manure interplant to allow the main crop to pick up;</a:t>
            </a:r>
            <a:endParaRPr lang="en-GB" sz="2000" dirty="0"/>
          </a:p>
          <a:p>
            <a:pPr lvl="1"/>
            <a:r>
              <a:rPr lang="en-US" dirty="0"/>
              <a:t>By choosing a green manure/cover crop whose growth habit is totally different from that of the main crop.</a:t>
            </a:r>
            <a:endParaRPr lang="en-GB" sz="2000" dirty="0"/>
          </a:p>
          <a:p>
            <a:pPr lvl="1"/>
            <a:r>
              <a:rPr lang="en-US" dirty="0"/>
              <a:t>Reducing the plant population of the green manure crop</a:t>
            </a:r>
            <a:endParaRPr lang="en-GB" sz="2000" dirty="0"/>
          </a:p>
          <a:p>
            <a:pPr lvl="1"/>
            <a:r>
              <a:rPr lang="en-US" dirty="0"/>
              <a:t>Trim the green manure to reduce competition with the main crop.</a:t>
            </a:r>
            <a:endParaRPr lang="en-GB" sz="2000" dirty="0"/>
          </a:p>
          <a:p>
            <a:r>
              <a:rPr lang="en-US" dirty="0"/>
              <a:t>Some examples of green manure interplant systems </a:t>
            </a:r>
            <a:r>
              <a:rPr lang="en-US" dirty="0" smtClean="0"/>
              <a:t>are:</a:t>
            </a:r>
          </a:p>
          <a:p>
            <a:r>
              <a:rPr lang="en-US" dirty="0" smtClean="0"/>
              <a:t>Maize </a:t>
            </a:r>
            <a:r>
              <a:rPr lang="en-US" dirty="0"/>
              <a:t>+ velvet beans; maize + </a:t>
            </a:r>
            <a:r>
              <a:rPr lang="en-US" dirty="0" smtClean="0"/>
              <a:t>sunhemp</a:t>
            </a:r>
            <a:r>
              <a:rPr lang="en-US" dirty="0"/>
              <a:t>; sorghum + cowpea; millet + </a:t>
            </a:r>
            <a:r>
              <a:rPr lang="en-US" dirty="0" err="1"/>
              <a:t>soyabeans</a:t>
            </a:r>
            <a:r>
              <a:rPr lang="en-US" dirty="0"/>
              <a:t>; etc</a:t>
            </a:r>
            <a:r>
              <a:rPr lang="en-US" dirty="0" smtClean="0"/>
              <a:t>.</a:t>
            </a:r>
            <a:r>
              <a:rPr lang="en-US" dirty="0"/>
              <a:t> </a:t>
            </a:r>
            <a:endParaRPr lang="en-GB" sz="4000" dirty="0"/>
          </a:p>
          <a:p>
            <a:endParaRPr lang="en-GB"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90</a:t>
            </a:fld>
            <a:endParaRPr lang="en-GB"/>
          </a:p>
        </p:txBody>
      </p:sp>
    </p:spTree>
    <p:extLst>
      <p:ext uri="{BB962C8B-B14F-4D97-AF65-F5344CB8AC3E}">
        <p14:creationId xmlns:p14="http://schemas.microsoft.com/office/powerpoint/2010/main" val="209565924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3" algn="ctr" rtl="0">
              <a:lnSpc>
                <a:spcPct val="90000"/>
              </a:lnSpc>
              <a:spcBef>
                <a:spcPct val="0"/>
              </a:spcBef>
            </a:pPr>
            <a:r>
              <a:rPr lang="en-US" sz="2800" b="1" dirty="0"/>
              <a:t>Green manures in improved fallow systems</a:t>
            </a:r>
            <a:r>
              <a:rPr lang="en-GB" b="1" dirty="0"/>
              <a:t/>
            </a:r>
            <a:br>
              <a:rPr lang="en-GB" b="1" dirty="0"/>
            </a:br>
            <a:endParaRPr lang="en-GB" dirty="0"/>
          </a:p>
        </p:txBody>
      </p:sp>
      <p:sp>
        <p:nvSpPr>
          <p:cNvPr id="3" name="Content Placeholder 2"/>
          <p:cNvSpPr>
            <a:spLocks noGrp="1"/>
          </p:cNvSpPr>
          <p:nvPr>
            <p:ph idx="1"/>
          </p:nvPr>
        </p:nvSpPr>
        <p:spPr/>
        <p:txBody>
          <a:bodyPr>
            <a:normAutofit/>
          </a:bodyPr>
          <a:lstStyle/>
          <a:p>
            <a:r>
              <a:rPr lang="en-US" dirty="0"/>
              <a:t>Fallowing is the practice of leaving cropped fields to lie idle in order to allow the soil to rest and recover some of its fertility. </a:t>
            </a:r>
            <a:endParaRPr lang="en-US" dirty="0" smtClean="0"/>
          </a:p>
          <a:p>
            <a:r>
              <a:rPr lang="en-US" dirty="0" smtClean="0"/>
              <a:t>There </a:t>
            </a:r>
            <a:r>
              <a:rPr lang="en-US" dirty="0"/>
              <a:t>are generally two types of fallow:</a:t>
            </a:r>
            <a:endParaRPr lang="en-GB" dirty="0"/>
          </a:p>
          <a:p>
            <a:pPr lvl="1"/>
            <a:r>
              <a:rPr lang="en-US" dirty="0"/>
              <a:t>The classic bush fallow or traditional fallow in which no deliberate effort has been made to introduce any soil improving plants. This type of fallow lasts for 10 - 20 years.</a:t>
            </a:r>
            <a:endParaRPr lang="en-GB" sz="2000" dirty="0"/>
          </a:p>
          <a:p>
            <a:pPr lvl="1"/>
            <a:r>
              <a:rPr lang="en-US" dirty="0"/>
              <a:t>The improved fallow in which nitrogen-fixing crops or trees are deliberately planted on the fallow field to shorten the fallow period to about 1 - 3 years.</a:t>
            </a:r>
            <a:endParaRPr lang="en-GB" sz="2000" dirty="0"/>
          </a:p>
          <a:p>
            <a:endParaRPr lang="en-GB"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91</a:t>
            </a:fld>
            <a:endParaRPr lang="en-GB"/>
          </a:p>
        </p:txBody>
      </p:sp>
    </p:spTree>
    <p:extLst>
      <p:ext uri="{BB962C8B-B14F-4D97-AF65-F5344CB8AC3E}">
        <p14:creationId xmlns:p14="http://schemas.microsoft.com/office/powerpoint/2010/main" val="230196935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3" algn="ctr" rtl="0">
              <a:lnSpc>
                <a:spcPct val="90000"/>
              </a:lnSpc>
              <a:spcBef>
                <a:spcPct val="0"/>
              </a:spcBef>
            </a:pPr>
            <a:r>
              <a:rPr lang="en-US" sz="2800" b="1" dirty="0"/>
              <a:t>Green manures in improved fallow systems</a:t>
            </a:r>
            <a:r>
              <a:rPr lang="en-GB" b="1" dirty="0"/>
              <a:t/>
            </a:r>
            <a:br>
              <a:rPr lang="en-GB" b="1" dirty="0"/>
            </a:br>
            <a:endParaRPr lang="en-GB" dirty="0"/>
          </a:p>
        </p:txBody>
      </p:sp>
      <p:sp>
        <p:nvSpPr>
          <p:cNvPr id="3" name="Content Placeholder 2"/>
          <p:cNvSpPr>
            <a:spLocks noGrp="1"/>
          </p:cNvSpPr>
          <p:nvPr>
            <p:ph idx="1"/>
          </p:nvPr>
        </p:nvSpPr>
        <p:spPr/>
        <p:txBody>
          <a:bodyPr>
            <a:normAutofit/>
          </a:bodyPr>
          <a:lstStyle/>
          <a:p>
            <a:r>
              <a:rPr lang="en-US" dirty="0" smtClean="0"/>
              <a:t>In </a:t>
            </a:r>
            <a:r>
              <a:rPr lang="en-US" dirty="0"/>
              <a:t>a fallow system, green manures can be grown for more than one season and used in the following ways:</a:t>
            </a:r>
            <a:endParaRPr lang="en-GB" dirty="0"/>
          </a:p>
          <a:p>
            <a:pPr lvl="1"/>
            <a:r>
              <a:rPr lang="en-US" dirty="0"/>
              <a:t>To restore the fertility status of degraded soils – the use of green manures over a long time can improve the fertility of degraded land.</a:t>
            </a:r>
            <a:endParaRPr lang="en-GB" sz="2000" dirty="0"/>
          </a:p>
          <a:p>
            <a:pPr lvl="1"/>
            <a:r>
              <a:rPr lang="en-US" dirty="0"/>
              <a:t>When new land is being prepared for use, especially to help control difficult perennial weeds.</a:t>
            </a:r>
            <a:endParaRPr lang="en-GB" sz="2000" dirty="0"/>
          </a:p>
          <a:p>
            <a:pPr lvl="1"/>
            <a:r>
              <a:rPr lang="en-US" dirty="0"/>
              <a:t>Where land is to have a long fallow period</a:t>
            </a:r>
            <a:r>
              <a:rPr lang="en-US" dirty="0" smtClean="0"/>
              <a:t>.</a:t>
            </a:r>
          </a:p>
          <a:p>
            <a:pPr lvl="1"/>
            <a:r>
              <a:rPr lang="en-US" dirty="0" smtClean="0"/>
              <a:t> </a:t>
            </a:r>
            <a:r>
              <a:rPr lang="en-US" dirty="0"/>
              <a:t>They help to quickly build up the fertility of the soil and reduce the length of time before the land can be used to grow crops again.</a:t>
            </a:r>
            <a:endParaRPr lang="en-GB" sz="2000" dirty="0"/>
          </a:p>
          <a:p>
            <a:endParaRPr lang="en-GB"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92</a:t>
            </a:fld>
            <a:endParaRPr lang="en-GB"/>
          </a:p>
        </p:txBody>
      </p:sp>
    </p:spTree>
    <p:extLst>
      <p:ext uri="{BB962C8B-B14F-4D97-AF65-F5344CB8AC3E}">
        <p14:creationId xmlns:p14="http://schemas.microsoft.com/office/powerpoint/2010/main" val="350830213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3" algn="ctr" rtl="0">
              <a:lnSpc>
                <a:spcPct val="90000"/>
              </a:lnSpc>
              <a:spcBef>
                <a:spcPct val="0"/>
              </a:spcBef>
            </a:pPr>
            <a:r>
              <a:rPr lang="en-US" sz="3600" b="1" dirty="0"/>
              <a:t>Green manure in the fundikila system of Northern Province of Zambia</a:t>
            </a:r>
            <a:r>
              <a:rPr lang="en-GB" b="1" dirty="0"/>
              <a:t/>
            </a:r>
            <a:br>
              <a:rPr lang="en-GB" b="1" dirty="0"/>
            </a:br>
            <a:endParaRPr lang="en-GB" dirty="0"/>
          </a:p>
        </p:txBody>
      </p:sp>
      <p:sp>
        <p:nvSpPr>
          <p:cNvPr id="3" name="Content Placeholder 2"/>
          <p:cNvSpPr>
            <a:spLocks noGrp="1"/>
          </p:cNvSpPr>
          <p:nvPr>
            <p:ph idx="1"/>
          </p:nvPr>
        </p:nvSpPr>
        <p:spPr/>
        <p:txBody>
          <a:bodyPr/>
          <a:lstStyle/>
          <a:p>
            <a:pPr algn="just"/>
            <a:r>
              <a:rPr lang="en-US" dirty="0"/>
              <a:t>Fundikila involves the burying of indigenous grass in big ridges towards the end of the rainy season, from March to April. </a:t>
            </a:r>
            <a:endParaRPr lang="en-US" dirty="0" smtClean="0"/>
          </a:p>
          <a:p>
            <a:pPr algn="just"/>
            <a:r>
              <a:rPr lang="en-US" dirty="0" smtClean="0"/>
              <a:t>Before </a:t>
            </a:r>
            <a:r>
              <a:rPr lang="en-US" dirty="0"/>
              <a:t>the start of the subsequent rainy season, in October or November, the ridges are flattened. </a:t>
            </a:r>
            <a:endParaRPr lang="en-US" dirty="0" smtClean="0"/>
          </a:p>
          <a:p>
            <a:pPr algn="just"/>
            <a:r>
              <a:rPr lang="en-US" dirty="0" smtClean="0"/>
              <a:t>Crops </a:t>
            </a:r>
            <a:r>
              <a:rPr lang="en-US" dirty="0"/>
              <a:t>are then planted on the flat surface or on smaller ridges.</a:t>
            </a:r>
            <a:endParaRPr lang="en-GB" dirty="0"/>
          </a:p>
          <a:p>
            <a:pPr algn="just"/>
            <a:r>
              <a:rPr lang="en-US" dirty="0"/>
              <a:t>Due to the low nutrient content of the indigenous grass, a green manure crop can be grown and incorporated in the </a:t>
            </a:r>
            <a:r>
              <a:rPr lang="en-US" dirty="0" smtClean="0"/>
              <a:t>ridges.</a:t>
            </a:r>
          </a:p>
          <a:p>
            <a:pPr algn="just"/>
            <a:r>
              <a:rPr lang="en-US" dirty="0" smtClean="0"/>
              <a:t>The </a:t>
            </a:r>
            <a:r>
              <a:rPr lang="en-US" dirty="0"/>
              <a:t>burying of the green manure/cover crop improves soil fertility better than the indigenous biomass.</a:t>
            </a:r>
            <a:endParaRPr lang="en-GB" dirty="0"/>
          </a:p>
          <a:p>
            <a:endParaRPr lang="en-GB" dirty="0"/>
          </a:p>
        </p:txBody>
      </p:sp>
      <p:sp>
        <p:nvSpPr>
          <p:cNvPr id="4" name="Date Placeholder 3"/>
          <p:cNvSpPr>
            <a:spLocks noGrp="1"/>
          </p:cNvSpPr>
          <p:nvPr>
            <p:ph type="dt" sz="half" idx="10"/>
          </p:nvPr>
        </p:nvSpPr>
        <p:spPr/>
        <p:txBody>
          <a:bodyPr/>
          <a:lstStyle/>
          <a:p>
            <a:fld id="{D9DCED50-5415-47D6-B869-3F1F46E44F67}" type="datetime2">
              <a:rPr lang="en-GB" smtClean="0"/>
              <a:t>Tuesday, 06 August 2024</a:t>
            </a:fld>
            <a:endParaRPr lang="en-GB"/>
          </a:p>
        </p:txBody>
      </p:sp>
      <p:sp>
        <p:nvSpPr>
          <p:cNvPr id="5" name="Slide Number Placeholder 4"/>
          <p:cNvSpPr>
            <a:spLocks noGrp="1"/>
          </p:cNvSpPr>
          <p:nvPr>
            <p:ph type="sldNum" sz="quarter" idx="12"/>
          </p:nvPr>
        </p:nvSpPr>
        <p:spPr/>
        <p:txBody>
          <a:bodyPr/>
          <a:lstStyle/>
          <a:p>
            <a:fld id="{8D3A33D0-93B2-4FC1-8AEF-33D8B60114DF}" type="slidenum">
              <a:rPr lang="en-GB" smtClean="0"/>
              <a:t>93</a:t>
            </a:fld>
            <a:endParaRPr lang="en-GB"/>
          </a:p>
        </p:txBody>
      </p:sp>
    </p:spTree>
    <p:extLst>
      <p:ext uri="{BB962C8B-B14F-4D97-AF65-F5344CB8AC3E}">
        <p14:creationId xmlns:p14="http://schemas.microsoft.com/office/powerpoint/2010/main" val="39359946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830</TotalTime>
  <Words>7406</Words>
  <Application>Microsoft Office PowerPoint</Application>
  <PresentationFormat>Widescreen</PresentationFormat>
  <Paragraphs>660</Paragraphs>
  <Slides>93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93</vt:i4>
      </vt:variant>
    </vt:vector>
  </HeadingPairs>
  <TitlesOfParts>
    <vt:vector size="98" baseType="lpstr">
      <vt:lpstr>Arial</vt:lpstr>
      <vt:lpstr>Calibri</vt:lpstr>
      <vt:lpstr>Calibri Light</vt:lpstr>
      <vt:lpstr>Wingdings</vt:lpstr>
      <vt:lpstr>Office Theme</vt:lpstr>
      <vt:lpstr>Sustainable Organic Agriculture (SOA)</vt:lpstr>
      <vt:lpstr>What is Sustainable Organic Agriculture</vt:lpstr>
      <vt:lpstr>PowerPoint Presentation</vt:lpstr>
      <vt:lpstr>PowerPoint Presentation</vt:lpstr>
      <vt:lpstr>Why Sustainable Organic Agriculture? </vt:lpstr>
      <vt:lpstr>Why Sustainable Organic Agriculture? </vt:lpstr>
      <vt:lpstr>Population Growth</vt:lpstr>
      <vt:lpstr>Population Growth</vt:lpstr>
      <vt:lpstr>High cost of external inputs against the high rural poverty levels</vt:lpstr>
      <vt:lpstr>High cost of external inputs against the high rural poverty levels</vt:lpstr>
      <vt:lpstr>Imbalances in the ecosystem </vt:lpstr>
      <vt:lpstr>Imbalances in the ecosystem </vt:lpstr>
      <vt:lpstr>Poor nutrition at household and national level </vt:lpstr>
      <vt:lpstr>Poor nutrition at household and national level </vt:lpstr>
      <vt:lpstr>Climate change </vt:lpstr>
      <vt:lpstr>Climate change </vt:lpstr>
      <vt:lpstr>Climate change </vt:lpstr>
      <vt:lpstr>Climate change </vt:lpstr>
      <vt:lpstr>Climate change </vt:lpstr>
      <vt:lpstr>Stability of production/High yield with low year to year variability </vt:lpstr>
      <vt:lpstr>Stability of production/High yield with low year to year variability </vt:lpstr>
      <vt:lpstr>PowerPoint Presentation</vt:lpstr>
      <vt:lpstr>Toxic effect of chemicals </vt:lpstr>
      <vt:lpstr>Toxic effect of chemicals </vt:lpstr>
      <vt:lpstr>Principles and practices of SOA </vt:lpstr>
      <vt:lpstr>Soil Fertility Management </vt:lpstr>
      <vt:lpstr>Soil and Water Conservation </vt:lpstr>
      <vt:lpstr>Soil and Water Conservation </vt:lpstr>
      <vt:lpstr>Natural Pest and Disease Management </vt:lpstr>
      <vt:lpstr>Benefits of SOA </vt:lpstr>
      <vt:lpstr>Economic benefits </vt:lpstr>
      <vt:lpstr>Environmental benefits </vt:lpstr>
      <vt:lpstr>Social benefits </vt:lpstr>
      <vt:lpstr>SOURCES OF NUTRIENTS</vt:lpstr>
      <vt:lpstr>What is composting</vt:lpstr>
      <vt:lpstr>Why Composting</vt:lpstr>
      <vt:lpstr>Why Composting</vt:lpstr>
      <vt:lpstr>Basic principle of compost-making </vt:lpstr>
      <vt:lpstr>Basic principle of compost-making </vt:lpstr>
      <vt:lpstr>Basic principle of compost-making </vt:lpstr>
      <vt:lpstr>Table 3.2. Common materials for making compost</vt:lpstr>
      <vt:lpstr>Table 3.2. Common materials for making compost</vt:lpstr>
      <vt:lpstr>What happens in a compost heap</vt:lpstr>
      <vt:lpstr>The compost-making process </vt:lpstr>
      <vt:lpstr>Site location </vt:lpstr>
      <vt:lpstr>Mobilization of materials </vt:lpstr>
      <vt:lpstr>Preparation of materials </vt:lpstr>
      <vt:lpstr>Materials used for making compost </vt:lpstr>
      <vt:lpstr>Materials not to be used for composting </vt:lpstr>
      <vt:lpstr>Process of making a compost heap </vt:lpstr>
      <vt:lpstr>Step by step laying of materials </vt:lpstr>
      <vt:lpstr>Step by step laying of materials </vt:lpstr>
      <vt:lpstr>Step by step laying of materials </vt:lpstr>
      <vt:lpstr>Step by step laying of materials </vt:lpstr>
      <vt:lpstr>Turning the compost </vt:lpstr>
      <vt:lpstr>Turning the compost </vt:lpstr>
      <vt:lpstr>Turning the compost </vt:lpstr>
      <vt:lpstr>PowerPoint Presentation</vt:lpstr>
      <vt:lpstr>PowerPoint Presentation</vt:lpstr>
      <vt:lpstr>Applying animal manures and compost </vt:lpstr>
      <vt:lpstr>Bokashi </vt:lpstr>
      <vt:lpstr>Ingredients and materials required in the preparation of Bokashi </vt:lpstr>
      <vt:lpstr>PowerPoint Presentation</vt:lpstr>
      <vt:lpstr>Step-by-step guide to make bokashi </vt:lpstr>
      <vt:lpstr>Step-by-step guide to make bokashi </vt:lpstr>
      <vt:lpstr>Application and storage of bokashi </vt:lpstr>
      <vt:lpstr>How to store bokashi </vt:lpstr>
      <vt:lpstr>Advantages of using bokashi </vt:lpstr>
      <vt:lpstr>Extracts and teas </vt:lpstr>
      <vt:lpstr>Compost and manure extracts </vt:lpstr>
      <vt:lpstr>PowerPoint Presentation</vt:lpstr>
      <vt:lpstr>The process of making extracts </vt:lpstr>
      <vt:lpstr>The process of making extracts </vt:lpstr>
      <vt:lpstr>Application of extracts </vt:lpstr>
      <vt:lpstr>Examples of application rates of extracts</vt:lpstr>
      <vt:lpstr>Benefits of using extracts </vt:lpstr>
      <vt:lpstr>PowerPoint Presentation</vt:lpstr>
      <vt:lpstr>Green manure/Cover crops </vt:lpstr>
      <vt:lpstr>Green manure/Cover crops </vt:lpstr>
      <vt:lpstr>Benefits of using Green Manure/Cover Crops</vt:lpstr>
      <vt:lpstr>Benefits of using Green Manure/Cover Crops</vt:lpstr>
      <vt:lpstr>Benefits of using Green Manure/Cover Crops</vt:lpstr>
      <vt:lpstr>Crops used as green manure/cover crops </vt:lpstr>
      <vt:lpstr>Crops used as green manure/cover crops </vt:lpstr>
      <vt:lpstr>Crops used as green manure/cover crops </vt:lpstr>
      <vt:lpstr>Planting of common green manure/cover crops </vt:lpstr>
      <vt:lpstr>Integration of green manure/cover crops into farming systems </vt:lpstr>
      <vt:lpstr>Green manure/cover crops in rotation </vt:lpstr>
      <vt:lpstr>Green manures/cover crops as interplants </vt:lpstr>
      <vt:lpstr>Green manures/cover crops as interplants </vt:lpstr>
      <vt:lpstr>Green manures in improved fallow systems </vt:lpstr>
      <vt:lpstr>Green manures in improved fallow systems </vt:lpstr>
      <vt:lpstr>Green manure in the fundikila system of Northern Province of Zambia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Sustainable Organic Agriculture</dc:title>
  <dc:creator>ZCA</dc:creator>
  <cp:lastModifiedBy>ZCA</cp:lastModifiedBy>
  <cp:revision>38</cp:revision>
  <dcterms:created xsi:type="dcterms:W3CDTF">2024-05-14T17:56:25Z</dcterms:created>
  <dcterms:modified xsi:type="dcterms:W3CDTF">2024-08-06T11:37:04Z</dcterms:modified>
</cp:coreProperties>
</file>