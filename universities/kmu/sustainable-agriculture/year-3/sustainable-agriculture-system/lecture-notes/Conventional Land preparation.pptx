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5" r:id="rId2"/>
    <p:sldId id="346" r:id="rId3"/>
    <p:sldId id="357" r:id="rId4"/>
    <p:sldId id="358" r:id="rId5"/>
    <p:sldId id="360" r:id="rId6"/>
    <p:sldId id="362" r:id="rId7"/>
    <p:sldId id="361" r:id="rId8"/>
    <p:sldId id="363" r:id="rId9"/>
    <p:sldId id="364" r:id="rId10"/>
    <p:sldId id="365" r:id="rId11"/>
    <p:sldId id="366" r:id="rId12"/>
    <p:sldId id="367" r:id="rId13"/>
    <p:sldId id="368" r:id="rId14"/>
    <p:sldId id="371" r:id="rId15"/>
    <p:sldId id="369" r:id="rId16"/>
    <p:sldId id="370" r:id="rId17"/>
    <p:sldId id="372" r:id="rId18"/>
    <p:sldId id="373" r:id="rId19"/>
    <p:sldId id="374" r:id="rId20"/>
    <p:sldId id="376" r:id="rId21"/>
    <p:sldId id="375" r:id="rId22"/>
    <p:sldId id="377" r:id="rId23"/>
    <p:sldId id="378" r:id="rId24"/>
    <p:sldId id="379" r:id="rId25"/>
    <p:sldId id="380" r:id="rId26"/>
    <p:sldId id="381" r:id="rId27"/>
    <p:sldId id="382" r:id="rId28"/>
    <p:sldId id="383" r:id="rId29"/>
    <p:sldId id="384" r:id="rId30"/>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91" autoAdjust="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44A5F3-4CC2-6624-6314-19F764C6DA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67536386-E285-C0F3-80DA-67377BA7E7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1B96358F-8752-94A9-08F8-43B5FBA888C6}"/>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45806448-DFAD-D670-C466-C32BA951733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356E5464-0473-7120-3257-1959868C8A15}"/>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631846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1AB60C-0773-B566-453F-1A3958824D6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A3329213-2E35-3C9E-8067-92093BA945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9A02D0F1-7049-D46A-3C0A-0A22337FF9A5}"/>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3F0792F3-190A-A31C-BB40-F578DC1D4F4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D447B22-A7B4-7EF9-ABCC-ED7E5951ADBB}"/>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1940919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4C0580-6176-125A-AD28-6BB1B72E1B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C816EB52-9037-DF00-FB69-4BEF7AB10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822D1A1A-FC46-8207-70AE-8943072BBC0D}"/>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CBCC552F-1DD1-33BF-E73B-EA13F3FAF26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77F686E-ED53-0EE4-4914-47C388A86CFD}"/>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132463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79D54E-6661-223E-C862-147675C4D3B4}"/>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6ECF285-1D83-CC83-63F4-21B45C08F3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4933418E-1B71-25D1-DA24-E5A5DB59F4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F5AD132D-05EA-7962-9A7E-505DEA687706}"/>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6" name="Footer Placeholder 5">
            <a:extLst>
              <a:ext uri="{FF2B5EF4-FFF2-40B4-BE49-F238E27FC236}">
                <a16:creationId xmlns="" xmlns:a16="http://schemas.microsoft.com/office/drawing/2014/main" id="{61BD6652-CAEA-549C-8787-84E86F8ED90A}"/>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D10C0145-0CBD-2B4B-9D36-38BBF9AD4D2B}"/>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3729853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22EC95-A932-2C58-C8FC-74DEEBDD9402}"/>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0DC9E479-E91D-1EFA-02D2-31B272E78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6B9A3CE-E4B4-435C-330F-89667D9695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E8636759-7AC5-FD96-730D-1ED918729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384FF76-F9C9-797F-9486-895CBC2C26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86869694-72D8-33E8-9D6F-5CEDA85DE0AE}"/>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8" name="Footer Placeholder 7">
            <a:extLst>
              <a:ext uri="{FF2B5EF4-FFF2-40B4-BE49-F238E27FC236}">
                <a16:creationId xmlns="" xmlns:a16="http://schemas.microsoft.com/office/drawing/2014/main" id="{3FE3971F-F6FA-AA95-EA0A-53E0A739CC3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A0675B15-B688-1652-D7BB-59BF6840651D}"/>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173077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4B3B2C-325F-CB82-9F36-57253A398E6F}"/>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AE7BC16C-8A68-5CC7-B2DA-D328E4769AA9}"/>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4" name="Footer Placeholder 3">
            <a:extLst>
              <a:ext uri="{FF2B5EF4-FFF2-40B4-BE49-F238E27FC236}">
                <a16:creationId xmlns="" xmlns:a16="http://schemas.microsoft.com/office/drawing/2014/main" id="{F52AC1A4-5449-DCB4-4336-53268B69026A}"/>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A37F36D8-444C-EFB9-D29C-6911F4E2EF3E}"/>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269178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52B3B70-2B52-236E-9908-23C1E36720E8}"/>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3" name="Footer Placeholder 2">
            <a:extLst>
              <a:ext uri="{FF2B5EF4-FFF2-40B4-BE49-F238E27FC236}">
                <a16:creationId xmlns="" xmlns:a16="http://schemas.microsoft.com/office/drawing/2014/main" id="{83D3CD4A-8505-A719-B769-7D8F776E3A5E}"/>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DA675F96-E449-822A-9231-9806774C2FE7}"/>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421230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DD39EC-C275-D4C9-6407-35F5937D54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C5A83937-CB73-2C48-BBEC-B4CFF79BE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FC04B0F8-C596-467E-C599-F42E84552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6F95135-E873-21A2-CF57-BF8085FE4740}"/>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6" name="Footer Placeholder 5">
            <a:extLst>
              <a:ext uri="{FF2B5EF4-FFF2-40B4-BE49-F238E27FC236}">
                <a16:creationId xmlns="" xmlns:a16="http://schemas.microsoft.com/office/drawing/2014/main" id="{60F0C5D2-E9E8-35DF-CBBB-D06C11A236F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BBFBF85A-E6AF-D0EE-55D2-A627C13BC4DB}"/>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76037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48306B-4E27-81DB-BF69-C00A84FD6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ED496E4D-8CF3-A59E-9BCA-72D460EA63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6BC25997-AE09-B9DC-8752-B32D271B4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F2E97C8-0E2D-C365-D4DA-B0770A58762F}"/>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6" name="Footer Placeholder 5">
            <a:extLst>
              <a:ext uri="{FF2B5EF4-FFF2-40B4-BE49-F238E27FC236}">
                <a16:creationId xmlns="" xmlns:a16="http://schemas.microsoft.com/office/drawing/2014/main" id="{DE242957-CF18-4C26-C2B2-64F7E9F8E0E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D196AC7D-4FE0-7BDD-2B44-53C8F1AF58C0}"/>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2520103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7E48B8-D478-A632-7A00-ADA0D7AADC9B}"/>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05A65C85-050E-8F65-93AC-DEE14EA3DC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BE609C8A-EC50-7047-183E-AD8759120EBA}"/>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454D4DF2-5D02-108D-8ACC-4D00473D710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1334AB0B-A632-9FA0-0978-3E2AF5838A47}"/>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3616269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FCA124B-3827-56D1-341C-88A562CA94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A973EAE3-590C-24CE-A165-0113E94DF8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C15BDB7-8A7D-2C66-8066-374145B5DD4A}"/>
              </a:ext>
            </a:extLst>
          </p:cNvPr>
          <p:cNvSpPr>
            <a:spLocks noGrp="1"/>
          </p:cNvSpPr>
          <p:nvPr>
            <p:ph type="dt" sz="half" idx="10"/>
          </p:nvPr>
        </p:nvSpPr>
        <p:spPr/>
        <p:txBody>
          <a:body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E47F497A-ECDA-8E84-9301-88059B61C6B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7C26A7B-F250-C6A0-A576-2A5EE500D041}"/>
              </a:ext>
            </a:extLst>
          </p:cNvPr>
          <p:cNvSpPr>
            <a:spLocks noGrp="1"/>
          </p:cNvSpPr>
          <p:nvPr>
            <p:ph type="sldNum" sz="quarter" idx="12"/>
          </p:nvPr>
        </p:nvSpPr>
        <p:spPr/>
        <p:txBody>
          <a:bodyPr/>
          <a:lstStyle/>
          <a:p>
            <a:fld id="{643D7145-2EFB-49B6-9BD1-2316791B1A05}" type="slidenum">
              <a:rPr lang="x-none" smtClean="0"/>
              <a:t>‹#›</a:t>
            </a:fld>
            <a:endParaRPr lang="x-none"/>
          </a:p>
        </p:txBody>
      </p:sp>
    </p:spTree>
    <p:extLst>
      <p:ext uri="{BB962C8B-B14F-4D97-AF65-F5344CB8AC3E}">
        <p14:creationId xmlns:p14="http://schemas.microsoft.com/office/powerpoint/2010/main" val="2496649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A5D4D6C-5AB1-21EF-41BF-9BD14DAEC8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404FA96E-F6BC-7E73-532A-52EE5F0EB4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37194CE-0B38-F035-869A-63BB46286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03828-8EAD-4ED3-9C4B-F9EE79F891E5}" type="datetimeFigureOut">
              <a:rPr lang="x-none" smtClean="0"/>
              <a:t>05/05/2024</a:t>
            </a:fld>
            <a:endParaRPr lang="x-none"/>
          </a:p>
        </p:txBody>
      </p:sp>
      <p:sp>
        <p:nvSpPr>
          <p:cNvPr id="5" name="Footer Placeholder 4">
            <a:extLst>
              <a:ext uri="{FF2B5EF4-FFF2-40B4-BE49-F238E27FC236}">
                <a16:creationId xmlns="" xmlns:a16="http://schemas.microsoft.com/office/drawing/2014/main" id="{B0C40620-952D-266B-5A9B-F2FC38B265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88F31B0B-7031-5769-7695-D35A0AA784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D7145-2EFB-49B6-9BD1-2316791B1A05}" type="slidenum">
              <a:rPr lang="x-none" smtClean="0"/>
              <a:t>‹#›</a:t>
            </a:fld>
            <a:endParaRPr lang="x-none"/>
          </a:p>
        </p:txBody>
      </p:sp>
    </p:spTree>
    <p:extLst>
      <p:ext uri="{BB962C8B-B14F-4D97-AF65-F5344CB8AC3E}">
        <p14:creationId xmlns:p14="http://schemas.microsoft.com/office/powerpoint/2010/main" val="554673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3111" y="790222"/>
            <a:ext cx="10340622" cy="2472267"/>
          </a:xfrm>
        </p:spPr>
        <p:txBody>
          <a:bodyPr>
            <a:normAutofit/>
          </a:bodyPr>
          <a:lstStyle/>
          <a:p>
            <a:r>
              <a:rPr lang="en-US" b="1" dirty="0"/>
              <a:t>Conventional Farming</a:t>
            </a:r>
            <a:r>
              <a:rPr lang="en-US" sz="3200" dirty="0"/>
              <a:t/>
            </a:r>
            <a:br>
              <a:rPr lang="en-US" sz="3200" dirty="0"/>
            </a:br>
            <a:endParaRPr lang="en-US" sz="2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3" name="Subtitle 2"/>
          <p:cNvSpPr>
            <a:spLocks noGrp="1"/>
          </p:cNvSpPr>
          <p:nvPr>
            <p:ph type="subTitle" idx="1"/>
          </p:nvPr>
        </p:nvSpPr>
        <p:spPr/>
        <p:txBody>
          <a:bodyPr>
            <a:normAutofit/>
          </a:bodyPr>
          <a:lstStyle/>
          <a:p>
            <a:endParaRPr lang="en-US" sz="1600" dirty="0">
              <a:latin typeface="Arial Narrow" panose="020B0606020202030204" pitchFamily="34" charset="0"/>
            </a:endParaRPr>
          </a:p>
        </p:txBody>
      </p:sp>
      <p:sp>
        <p:nvSpPr>
          <p:cNvPr id="4" name="Date Placeholder 3"/>
          <p:cNvSpPr>
            <a:spLocks noGrp="1"/>
          </p:cNvSpPr>
          <p:nvPr>
            <p:ph type="dt" sz="half" idx="10"/>
          </p:nvPr>
        </p:nvSpPr>
        <p:spPr/>
        <p:txBody>
          <a:bodyPr/>
          <a:lstStyle/>
          <a:p>
            <a:fld id="{E6C992B4-8EAC-4EF5-9695-897357E32212}" type="datetime2">
              <a:rPr lang="en-US" smtClean="0"/>
              <a:t>Sunday, May 5,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1</a:t>
            </a:fld>
            <a:endParaRPr lang="en-US"/>
          </a:p>
        </p:txBody>
      </p:sp>
    </p:spTree>
    <p:extLst>
      <p:ext uri="{BB962C8B-B14F-4D97-AF65-F5344CB8AC3E}">
        <p14:creationId xmlns:p14="http://schemas.microsoft.com/office/powerpoint/2010/main" val="4077729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a:bodyPr>
          <a:lstStyle/>
          <a:p>
            <a:pPr algn="just"/>
            <a:endParaRPr lang="en-US" dirty="0"/>
          </a:p>
          <a:p>
            <a:pPr algn="just"/>
            <a:r>
              <a:rPr lang="en-US" dirty="0" smtClean="0">
                <a:latin typeface="Arial" panose="020B0604020202020204" pitchFamily="34" charset="0"/>
                <a:cs typeface="Arial" panose="020B0604020202020204" pitchFamily="34" charset="0"/>
              </a:rPr>
              <a:t>Conventional </a:t>
            </a:r>
            <a:r>
              <a:rPr lang="en-US" dirty="0">
                <a:latin typeface="Arial" panose="020B0604020202020204" pitchFamily="34" charset="0"/>
                <a:cs typeface="Arial" panose="020B0604020202020204" pitchFamily="34" charset="0"/>
              </a:rPr>
              <a:t>farming (also known as traditional farming or industrial agriculture) often refers to high input modern agriculture systems that </a:t>
            </a:r>
            <a:r>
              <a:rPr lang="en-US" dirty="0" smtClean="0">
                <a:latin typeface="Arial" panose="020B0604020202020204" pitchFamily="34" charset="0"/>
                <a:cs typeface="Arial" panose="020B0604020202020204" pitchFamily="34" charset="0"/>
              </a:rPr>
              <a:t>include;</a:t>
            </a:r>
          </a:p>
          <a:p>
            <a:pPr algn="just"/>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frequent applications of synthetic chemical fertilizers, fungicides, insecticides, herbicides, high yielding cultivars, monoculture, GMO, heavy machinery, intensive tillage, and irrigation (Le Campion et al., 2020).</a:t>
            </a:r>
          </a:p>
          <a:p>
            <a:pPr marL="0" indent="0" algn="ctr">
              <a:buNone/>
            </a:pPr>
            <a:endParaRPr lang="en-US" sz="3600" dirty="0">
              <a:latin typeface="Arial Narrow" panose="020B0606020202030204" pitchFamily="34" charset="0"/>
            </a:endParaRPr>
          </a:p>
        </p:txBody>
      </p:sp>
      <p:sp>
        <p:nvSpPr>
          <p:cNvPr id="4" name="Date Placeholder 3"/>
          <p:cNvSpPr>
            <a:spLocks noGrp="1"/>
          </p:cNvSpPr>
          <p:nvPr>
            <p:ph type="dt" sz="half" idx="10"/>
          </p:nvPr>
        </p:nvSpPr>
        <p:spPr/>
        <p:txBody>
          <a:bodyPr/>
          <a:lstStyle/>
          <a:p>
            <a:fld id="{82D79440-AC11-4AAC-AE3C-D8F8851A3FC6}" type="datetime2">
              <a:rPr lang="en-US" smtClean="0"/>
              <a:t>Sunday, May 5,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2</a:t>
            </a:fld>
            <a:endParaRPr lang="en-US"/>
          </a:p>
        </p:txBody>
      </p:sp>
    </p:spTree>
    <p:extLst>
      <p:ext uri="{BB962C8B-B14F-4D97-AF65-F5344CB8AC3E}">
        <p14:creationId xmlns:p14="http://schemas.microsoft.com/office/powerpoint/2010/main" val="40739288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Conventional farming (CF) includes a large amount of chemical fertilizer and pesticide use to increase the yields per hectare. </a:t>
            </a:r>
            <a:endParaRPr lang="en-US" dirty="0" smtClean="0">
              <a:latin typeface="Arial" panose="020B0604020202020204" pitchFamily="34" charset="0"/>
              <a:cs typeface="Arial" panose="020B0604020202020204" pitchFamily="34" charset="0"/>
            </a:endParaRPr>
          </a:p>
          <a:p>
            <a:pPr algn="just"/>
            <a:r>
              <a:rPr lang="en-US" dirty="0" smtClean="0">
                <a:latin typeface="Arial" panose="020B0604020202020204" pitchFamily="34" charset="0"/>
                <a:cs typeface="Arial" panose="020B0604020202020204" pitchFamily="34" charset="0"/>
              </a:rPr>
              <a:t>Chemical </a:t>
            </a:r>
            <a:r>
              <a:rPr lang="en-US" dirty="0">
                <a:latin typeface="Arial" panose="020B0604020202020204" pitchFamily="34" charset="0"/>
                <a:cs typeface="Arial" panose="020B0604020202020204" pitchFamily="34" charset="0"/>
              </a:rPr>
              <a:t>and synthetic fertilizers and pesticides are not applied in the organic farming (OF) system to reduce their adverse environmental impacts.</a:t>
            </a:r>
          </a:p>
          <a:p>
            <a:pPr algn="just"/>
            <a:r>
              <a:rPr lang="en-US" dirty="0">
                <a:latin typeface="Arial" panose="020B0604020202020204" pitchFamily="34" charset="0"/>
                <a:cs typeface="Arial" panose="020B0604020202020204" pitchFamily="34" charset="0"/>
              </a:rPr>
              <a:t>Conventional farming is the use of seeds that have been genetically altered using a variety of traditional breeding methods, excluding biotechnology, and are not certified as organic.</a:t>
            </a:r>
          </a:p>
          <a:p>
            <a:endParaRPr lang="en-US" dirty="0"/>
          </a:p>
        </p:txBody>
      </p:sp>
    </p:spTree>
    <p:extLst>
      <p:ext uri="{BB962C8B-B14F-4D97-AF65-F5344CB8AC3E}">
        <p14:creationId xmlns:p14="http://schemas.microsoft.com/office/powerpoint/2010/main" val="10917232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Conventional farming is the use of seeds that have been genetically altered using a variety of traditional breeding </a:t>
            </a:r>
            <a:r>
              <a:rPr lang="en-US" dirty="0" err="1" smtClean="0">
                <a:latin typeface="Arial" panose="020B0604020202020204" pitchFamily="34" charset="0"/>
                <a:cs typeface="Arial" panose="020B0604020202020204" pitchFamily="34" charset="0"/>
              </a:rPr>
              <a:t>methods,excluding</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biotechnology, and are not certified as </a:t>
            </a:r>
            <a:r>
              <a:rPr lang="en-US" dirty="0" smtClean="0">
                <a:latin typeface="Arial" panose="020B0604020202020204" pitchFamily="34" charset="0"/>
                <a:cs typeface="Arial" panose="020B0604020202020204" pitchFamily="34" charset="0"/>
              </a:rPr>
              <a:t>organic.</a:t>
            </a:r>
          </a:p>
          <a:p>
            <a:pPr algn="just"/>
            <a:r>
              <a:rPr lang="en-US" dirty="0" smtClean="0">
                <a:latin typeface="Arial" panose="020B0604020202020204" pitchFamily="34" charset="0"/>
                <a:cs typeface="Arial" panose="020B0604020202020204" pitchFamily="34" charset="0"/>
              </a:rPr>
              <a:t>Some </a:t>
            </a:r>
            <a:r>
              <a:rPr lang="en-US" dirty="0">
                <a:latin typeface="Arial" panose="020B0604020202020204" pitchFamily="34" charset="0"/>
                <a:cs typeface="Arial" panose="020B0604020202020204" pitchFamily="34" charset="0"/>
              </a:rPr>
              <a:t>conventional breeding methods have been used for thousands of years, often times to develop plants with faster growth, higher yields, pest and disease resistance, larger seeds or sweeter fruit. </a:t>
            </a:r>
          </a:p>
        </p:txBody>
      </p:sp>
    </p:spTree>
    <p:extLst>
      <p:ext uri="{BB962C8B-B14F-4D97-AF65-F5344CB8AC3E}">
        <p14:creationId xmlns:p14="http://schemas.microsoft.com/office/powerpoint/2010/main" val="27912185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Conventional </a:t>
            </a:r>
            <a:r>
              <a:rPr lang="en-US" dirty="0"/>
              <a:t>crops may be grown simply as commodities and enter the commodity stream where they are mixed with other </a:t>
            </a:r>
            <a:r>
              <a:rPr lang="en-US" dirty="0" smtClean="0"/>
              <a:t>crops,</a:t>
            </a:r>
          </a:p>
          <a:p>
            <a:pPr algn="just"/>
            <a:r>
              <a:rPr lang="en-US" dirty="0" smtClean="0"/>
              <a:t> </a:t>
            </a:r>
            <a:r>
              <a:rPr lang="en-US" dirty="0"/>
              <a:t>they may be grown to meet a requirement set forth by an end market, such as a specific chemical or nutritional requirement. </a:t>
            </a:r>
            <a:endParaRPr lang="en-US" dirty="0" smtClean="0"/>
          </a:p>
          <a:p>
            <a:pPr algn="just"/>
            <a:r>
              <a:rPr lang="en-US" dirty="0" smtClean="0"/>
              <a:t>When </a:t>
            </a:r>
            <a:r>
              <a:rPr lang="en-US" dirty="0"/>
              <a:t>conventional crops are targeted for a unique end market, farmers often receive premium prices. </a:t>
            </a:r>
          </a:p>
        </p:txBody>
      </p:sp>
    </p:spTree>
    <p:extLst>
      <p:ext uri="{BB962C8B-B14F-4D97-AF65-F5344CB8AC3E}">
        <p14:creationId xmlns:p14="http://schemas.microsoft.com/office/powerpoint/2010/main" val="2428004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Conventional Agriculture</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a:t>
            </a:r>
            <a:r>
              <a:rPr lang="en-US" dirty="0" smtClean="0"/>
              <a:t>he </a:t>
            </a:r>
            <a:r>
              <a:rPr lang="en-US" dirty="0"/>
              <a:t>main purpose is the production of food (i.e., grain and vegetables), which is eventually removed from the </a:t>
            </a:r>
            <a:r>
              <a:rPr lang="en-US" dirty="0" smtClean="0"/>
              <a:t>farm</a:t>
            </a:r>
          </a:p>
          <a:p>
            <a:pPr algn="just"/>
            <a:r>
              <a:rPr lang="en-US" dirty="0" smtClean="0"/>
              <a:t>There is an </a:t>
            </a:r>
            <a:r>
              <a:rPr lang="en-US" dirty="0"/>
              <a:t>imbalance between input and output because ‘along with the food products, soil, water, nutrients, and energy are also </a:t>
            </a:r>
            <a:r>
              <a:rPr lang="en-US" dirty="0" smtClean="0"/>
              <a:t>removed</a:t>
            </a:r>
          </a:p>
          <a:p>
            <a:pPr algn="just"/>
            <a:r>
              <a:rPr lang="en-US" dirty="0"/>
              <a:t>H</a:t>
            </a:r>
            <a:r>
              <a:rPr lang="en-US" dirty="0" smtClean="0"/>
              <a:t>eavy </a:t>
            </a:r>
            <a:r>
              <a:rPr lang="en-US" dirty="0"/>
              <a:t>reliance upon ‘high input of synthetic fertilisers and other agricultural chemicals, intensive tillage, and mono/limited rotation cropping systems’ </a:t>
            </a:r>
          </a:p>
          <a:p>
            <a:pPr algn="just"/>
            <a:r>
              <a:rPr lang="en-US" dirty="0"/>
              <a:t>H</a:t>
            </a:r>
            <a:r>
              <a:rPr lang="en-US" dirty="0" smtClean="0"/>
              <a:t>igh </a:t>
            </a:r>
            <a:r>
              <a:rPr lang="en-US" dirty="0"/>
              <a:t>production input costs that include machinery, labor, </a:t>
            </a:r>
            <a:r>
              <a:rPr lang="en-US" dirty="0" smtClean="0"/>
              <a:t>chemicals</a:t>
            </a:r>
            <a:r>
              <a:rPr lang="en-US" dirty="0"/>
              <a:t>, fuel, and tillage equipment’ which ‘are often not considered by producers, and the focus is on yield only’. </a:t>
            </a:r>
            <a:endParaRPr lang="en-US" dirty="0" smtClean="0"/>
          </a:p>
          <a:p>
            <a:pPr algn="just"/>
            <a:r>
              <a:rPr lang="en-US" dirty="0" err="1" smtClean="0"/>
              <a:t>Monocultural</a:t>
            </a:r>
            <a:r>
              <a:rPr lang="en-US" dirty="0" smtClean="0"/>
              <a:t> production of crops/cereals</a:t>
            </a:r>
            <a:endParaRPr lang="en-US" dirty="0"/>
          </a:p>
        </p:txBody>
      </p:sp>
    </p:spTree>
    <p:extLst>
      <p:ext uri="{BB962C8B-B14F-4D97-AF65-F5344CB8AC3E}">
        <p14:creationId xmlns:p14="http://schemas.microsoft.com/office/powerpoint/2010/main" val="1645976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Negative Effects of Conventional Systems of Agriculture</a:t>
            </a:r>
            <a:endParaRPr lang="en-US" b="1" dirty="0"/>
          </a:p>
        </p:txBody>
      </p:sp>
      <p:sp>
        <p:nvSpPr>
          <p:cNvPr id="3" name="Content Placeholder 2"/>
          <p:cNvSpPr>
            <a:spLocks noGrp="1"/>
          </p:cNvSpPr>
          <p:nvPr>
            <p:ph idx="1"/>
          </p:nvPr>
        </p:nvSpPr>
        <p:spPr/>
        <p:txBody>
          <a:bodyPr>
            <a:normAutofit lnSpcReduction="10000"/>
          </a:bodyPr>
          <a:lstStyle/>
          <a:p>
            <a:r>
              <a:rPr lang="en-US" dirty="0"/>
              <a:t>The negative effects of conventional systems and practices are described as: • </a:t>
            </a:r>
            <a:endParaRPr lang="en-US" dirty="0" smtClean="0"/>
          </a:p>
          <a:p>
            <a:pPr algn="just"/>
            <a:r>
              <a:rPr lang="en-US" dirty="0"/>
              <a:t>S</a:t>
            </a:r>
            <a:r>
              <a:rPr lang="en-US" dirty="0" smtClean="0"/>
              <a:t>oil </a:t>
            </a:r>
            <a:r>
              <a:rPr lang="en-US" dirty="0"/>
              <a:t>degradation, physically and biologically, where a significant amount of soil organic carbon (SOC) has been depleted with strong adverse impacts on soil functionality </a:t>
            </a:r>
            <a:r>
              <a:rPr lang="en-US" dirty="0" smtClean="0"/>
              <a:t>the </a:t>
            </a:r>
            <a:r>
              <a:rPr lang="en-US" dirty="0"/>
              <a:t>dwindling of soil </a:t>
            </a:r>
            <a:r>
              <a:rPr lang="en-US" dirty="0" smtClean="0"/>
              <a:t>biodiversity and </a:t>
            </a:r>
            <a:r>
              <a:rPr lang="en-US" dirty="0"/>
              <a:t>a decline in soil </a:t>
            </a:r>
            <a:r>
              <a:rPr lang="en-US" dirty="0" smtClean="0"/>
              <a:t>health</a:t>
            </a:r>
          </a:p>
          <a:p>
            <a:pPr algn="just"/>
            <a:r>
              <a:rPr lang="en-US" dirty="0"/>
              <a:t>S</a:t>
            </a:r>
            <a:r>
              <a:rPr lang="en-US" dirty="0" smtClean="0"/>
              <a:t>tressing </a:t>
            </a:r>
            <a:r>
              <a:rPr lang="en-US" dirty="0"/>
              <a:t>of the soil ecosystem that ‘drives declines in SOC and eventually degrades the soil’s capacity to overcome climate </a:t>
            </a:r>
            <a:r>
              <a:rPr lang="en-US" dirty="0" smtClean="0"/>
              <a:t>disturbances</a:t>
            </a:r>
            <a:r>
              <a:rPr lang="en-US" dirty="0"/>
              <a:t>, such as drought and severe and frequent wet events’, with these events becoming more frequent and having ‘a devastating impact on crop productivity’ </a:t>
            </a:r>
          </a:p>
        </p:txBody>
      </p:sp>
    </p:spTree>
    <p:extLst>
      <p:ext uri="{BB962C8B-B14F-4D97-AF65-F5344CB8AC3E}">
        <p14:creationId xmlns:p14="http://schemas.microsoft.com/office/powerpoint/2010/main" val="42507255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Conventional Tillage </a:t>
            </a:r>
            <a:endParaRPr lang="en-US" dirty="0"/>
          </a:p>
        </p:txBody>
      </p:sp>
      <p:sp>
        <p:nvSpPr>
          <p:cNvPr id="3" name="Content Placeholder 2"/>
          <p:cNvSpPr>
            <a:spLocks noGrp="1"/>
          </p:cNvSpPr>
          <p:nvPr>
            <p:ph idx="1"/>
          </p:nvPr>
        </p:nvSpPr>
        <p:spPr/>
        <p:txBody>
          <a:bodyPr/>
          <a:lstStyle/>
          <a:p>
            <a:pPr algn="just"/>
            <a:r>
              <a:rPr lang="en-US" dirty="0"/>
              <a:t>Conventional tillage usually consists of primary tillage, or plowing, and secondary tillage, which is normally done by disking with harrows and maybe a third step with spring tooth harrows</a:t>
            </a:r>
            <a:r>
              <a:rPr lang="en-US" dirty="0" smtClean="0"/>
              <a:t>.</a:t>
            </a:r>
          </a:p>
          <a:p>
            <a:pPr algn="just"/>
            <a:r>
              <a:rPr lang="en-US" dirty="0" smtClean="0"/>
              <a:t>Conventional </a:t>
            </a:r>
            <a:r>
              <a:rPr lang="en-US" dirty="0"/>
              <a:t>tillage has been used extensively by livestock as well as horticultural operations for </a:t>
            </a:r>
            <a:r>
              <a:rPr lang="en-US" dirty="0" smtClean="0"/>
              <a:t>years using smaller </a:t>
            </a:r>
            <a:r>
              <a:rPr lang="en-US" dirty="0"/>
              <a:t>tractors available, and with working three point hitches.</a:t>
            </a:r>
          </a:p>
        </p:txBody>
      </p:sp>
    </p:spTree>
    <p:extLst>
      <p:ext uri="{BB962C8B-B14F-4D97-AF65-F5344CB8AC3E}">
        <p14:creationId xmlns:p14="http://schemas.microsoft.com/office/powerpoint/2010/main" val="41508377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Larger implements and tractors typically have hydraulic systems to raise and lower the implements as </a:t>
            </a:r>
            <a:r>
              <a:rPr lang="en-US" dirty="0" smtClean="0"/>
              <a:t>well.</a:t>
            </a:r>
            <a:endParaRPr lang="en-US" dirty="0"/>
          </a:p>
          <a:p>
            <a:pPr algn="just"/>
            <a:r>
              <a:rPr lang="en-US" dirty="0" smtClean="0"/>
              <a:t>Additionally</a:t>
            </a:r>
            <a:r>
              <a:rPr lang="en-US" dirty="0"/>
              <a:t>, </a:t>
            </a:r>
            <a:r>
              <a:rPr lang="en-US" dirty="0" smtClean="0"/>
              <a:t>animal </a:t>
            </a:r>
            <a:r>
              <a:rPr lang="en-US" dirty="0"/>
              <a:t>drawn tillage implements are very similar to small tractor drawn implements and while smaller, accomplish much the same as their engine powered </a:t>
            </a:r>
            <a:r>
              <a:rPr lang="en-US" dirty="0" smtClean="0"/>
              <a:t>engines.</a:t>
            </a:r>
          </a:p>
          <a:p>
            <a:pPr algn="just"/>
            <a:r>
              <a:rPr lang="en-US" dirty="0"/>
              <a:t>Other forms of tillage have been developed in recent years, such as no-till, reduced till, and the partial replacement of moldboard plows with chisel plows. </a:t>
            </a:r>
            <a:endParaRPr lang="en-US" dirty="0" smtClean="0"/>
          </a:p>
          <a:p>
            <a:pPr algn="just"/>
            <a:r>
              <a:rPr lang="en-US" dirty="0" smtClean="0"/>
              <a:t>All </a:t>
            </a:r>
            <a:r>
              <a:rPr lang="en-US" dirty="0"/>
              <a:t>forms of tillage have their appropriate times and places to be used</a:t>
            </a:r>
            <a:r>
              <a:rPr lang="en-US" dirty="0" smtClean="0"/>
              <a:t>.</a:t>
            </a:r>
            <a:endParaRPr lang="en-US" dirty="0"/>
          </a:p>
          <a:p>
            <a:pPr algn="just"/>
            <a:endParaRPr lang="en-US" dirty="0"/>
          </a:p>
        </p:txBody>
      </p:sp>
    </p:spTree>
    <p:extLst>
      <p:ext uri="{BB962C8B-B14F-4D97-AF65-F5344CB8AC3E}">
        <p14:creationId xmlns:p14="http://schemas.microsoft.com/office/powerpoint/2010/main" val="21246933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717964" y="365125"/>
            <a:ext cx="8783781" cy="6271201"/>
          </a:xfrm>
          <a:prstGeom prst="rect">
            <a:avLst/>
          </a:prstGeom>
        </p:spPr>
      </p:pic>
    </p:spTree>
    <p:extLst>
      <p:ext uri="{BB962C8B-B14F-4D97-AF65-F5344CB8AC3E}">
        <p14:creationId xmlns:p14="http://schemas.microsoft.com/office/powerpoint/2010/main" val="32246745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Conventional tillage can indeed harm the soil if it is done recklessly, or when conditions are too wet, or land is too steep, all the while contributing to soil and water erosion, compacted soils, and certainly uses of a lot of fossil fuel energy.</a:t>
            </a:r>
          </a:p>
        </p:txBody>
      </p:sp>
    </p:spTree>
    <p:extLst>
      <p:ext uri="{BB962C8B-B14F-4D97-AF65-F5344CB8AC3E}">
        <p14:creationId xmlns:p14="http://schemas.microsoft.com/office/powerpoint/2010/main" val="3293680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62545" y="734292"/>
            <a:ext cx="9691255" cy="5818908"/>
          </a:xfrm>
          <a:prstGeom prst="rect">
            <a:avLst/>
          </a:prstGeom>
        </p:spPr>
      </p:pic>
    </p:spTree>
    <p:extLst>
      <p:ext uri="{BB962C8B-B14F-4D97-AF65-F5344CB8AC3E}">
        <p14:creationId xmlns:p14="http://schemas.microsoft.com/office/powerpoint/2010/main" val="4062538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
            </a:r>
            <a:r>
              <a:rPr lang="en-US" b="1" dirty="0" smtClean="0"/>
              <a:t>ifferent </a:t>
            </a:r>
            <a:r>
              <a:rPr lang="en-US" b="1" dirty="0"/>
              <a:t>S</a:t>
            </a:r>
            <a:r>
              <a:rPr lang="en-US" b="1" dirty="0" smtClean="0"/>
              <a:t>tages </a:t>
            </a:r>
            <a:r>
              <a:rPr lang="en-US" b="1" dirty="0"/>
              <a:t>of </a:t>
            </a:r>
            <a:r>
              <a:rPr lang="en-US" b="1" dirty="0" smtClean="0"/>
              <a:t>Tillage</a:t>
            </a:r>
            <a:r>
              <a:rPr lang="en-US" dirty="0"/>
              <a:t>. </a:t>
            </a:r>
          </a:p>
        </p:txBody>
      </p:sp>
      <p:sp>
        <p:nvSpPr>
          <p:cNvPr id="3" name="Content Placeholder 2"/>
          <p:cNvSpPr>
            <a:spLocks noGrp="1"/>
          </p:cNvSpPr>
          <p:nvPr>
            <p:ph idx="1"/>
          </p:nvPr>
        </p:nvSpPr>
        <p:spPr/>
        <p:txBody>
          <a:bodyPr>
            <a:normAutofit/>
          </a:bodyPr>
          <a:lstStyle/>
          <a:p>
            <a:pPr algn="just"/>
            <a:r>
              <a:rPr lang="en-US" dirty="0"/>
              <a:t>Step one is </a:t>
            </a:r>
            <a:r>
              <a:rPr lang="en-US" b="1" dirty="0"/>
              <a:t>primary tillage</a:t>
            </a:r>
            <a:r>
              <a:rPr lang="en-US" dirty="0"/>
              <a:t> and is the first step in the tillage process, and is normally done with a </a:t>
            </a:r>
            <a:r>
              <a:rPr lang="en-US" b="1" dirty="0"/>
              <a:t>moldboard </a:t>
            </a:r>
            <a:r>
              <a:rPr lang="en-US" b="1" dirty="0" smtClean="0"/>
              <a:t>plow or a disc plough</a:t>
            </a:r>
            <a:r>
              <a:rPr lang="en-US" dirty="0" smtClean="0"/>
              <a:t>.</a:t>
            </a:r>
          </a:p>
          <a:p>
            <a:pPr algn="just"/>
            <a:r>
              <a:rPr lang="en-US" dirty="0" smtClean="0"/>
              <a:t>This </a:t>
            </a:r>
            <a:r>
              <a:rPr lang="en-US" dirty="0"/>
              <a:t>step inverts the soil and exposes it to the </a:t>
            </a:r>
            <a:r>
              <a:rPr lang="en-US" dirty="0" smtClean="0"/>
              <a:t>surface </a:t>
            </a:r>
          </a:p>
          <a:p>
            <a:pPr algn="just"/>
            <a:r>
              <a:rPr lang="en-US" dirty="0" smtClean="0"/>
              <a:t>Moldboard </a:t>
            </a:r>
            <a:r>
              <a:rPr lang="en-US" dirty="0"/>
              <a:t>plows have “bottoms”, or </a:t>
            </a:r>
            <a:r>
              <a:rPr lang="en-US" dirty="0" smtClean="0"/>
              <a:t>moldboards while disc plough have reversible discs</a:t>
            </a:r>
          </a:p>
          <a:p>
            <a:pPr algn="just"/>
            <a:r>
              <a:rPr lang="en-US" dirty="0" smtClean="0"/>
              <a:t> </a:t>
            </a:r>
            <a:r>
              <a:rPr lang="en-US" dirty="0"/>
              <a:t>The typical small farm tractor can pull one, two, or </a:t>
            </a:r>
            <a:r>
              <a:rPr lang="en-US" dirty="0" smtClean="0"/>
              <a:t>three moldboards/discs.</a:t>
            </a:r>
            <a:endParaRPr lang="en-US" dirty="0"/>
          </a:p>
        </p:txBody>
      </p:sp>
    </p:spTree>
    <p:extLst>
      <p:ext uri="{BB962C8B-B14F-4D97-AF65-F5344CB8AC3E}">
        <p14:creationId xmlns:p14="http://schemas.microsoft.com/office/powerpoint/2010/main" val="15112429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
            </a:r>
            <a:r>
              <a:rPr lang="en-US" b="1" dirty="0" smtClean="0"/>
              <a:t>ifferent </a:t>
            </a:r>
            <a:r>
              <a:rPr lang="en-US" b="1" dirty="0"/>
              <a:t>S</a:t>
            </a:r>
            <a:r>
              <a:rPr lang="en-US" b="1" dirty="0" smtClean="0"/>
              <a:t>tages </a:t>
            </a:r>
            <a:r>
              <a:rPr lang="en-US" b="1" dirty="0"/>
              <a:t>of </a:t>
            </a:r>
            <a:r>
              <a:rPr lang="en-US" b="1" dirty="0" smtClean="0"/>
              <a:t>Tillage</a:t>
            </a:r>
            <a:r>
              <a:rPr lang="en-US" dirty="0"/>
              <a:t>. </a:t>
            </a:r>
          </a:p>
        </p:txBody>
      </p:sp>
      <p:sp>
        <p:nvSpPr>
          <p:cNvPr id="3" name="Content Placeholder 2"/>
          <p:cNvSpPr>
            <a:spLocks noGrp="1"/>
          </p:cNvSpPr>
          <p:nvPr>
            <p:ph idx="1"/>
          </p:nvPr>
        </p:nvSpPr>
        <p:spPr/>
        <p:txBody>
          <a:bodyPr>
            <a:normAutofit/>
          </a:bodyPr>
          <a:lstStyle/>
          <a:p>
            <a:pPr algn="just"/>
            <a:r>
              <a:rPr lang="en-US" dirty="0" smtClean="0"/>
              <a:t>The </a:t>
            </a:r>
            <a:r>
              <a:rPr lang="en-US" dirty="0"/>
              <a:t>soil </a:t>
            </a:r>
            <a:r>
              <a:rPr lang="en-US" dirty="0" smtClean="0"/>
              <a:t>is turned over and exposed to agents erosion.</a:t>
            </a:r>
          </a:p>
          <a:p>
            <a:pPr algn="just"/>
            <a:r>
              <a:rPr lang="en-US" dirty="0" smtClean="0"/>
              <a:t>The disc plough is ideal for land preparations in fields that have a lot of trust. It can also be used for dry season ploughing</a:t>
            </a:r>
          </a:p>
          <a:p>
            <a:pPr algn="just"/>
            <a:r>
              <a:rPr lang="en-US" dirty="0" smtClean="0"/>
              <a:t>Moldboard can only effectively in wet conditions.</a:t>
            </a:r>
          </a:p>
          <a:p>
            <a:pPr algn="just"/>
            <a:r>
              <a:rPr lang="en-US" dirty="0" smtClean="0"/>
              <a:t>Ploughing opens </a:t>
            </a:r>
            <a:r>
              <a:rPr lang="en-US" dirty="0"/>
              <a:t>the soils up for aerating and boosts the growth of microorganisms that improve fertility of the soil</a:t>
            </a:r>
          </a:p>
        </p:txBody>
      </p:sp>
    </p:spTree>
    <p:extLst>
      <p:ext uri="{BB962C8B-B14F-4D97-AF65-F5344CB8AC3E}">
        <p14:creationId xmlns:p14="http://schemas.microsoft.com/office/powerpoint/2010/main" val="6596317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second step in tillage is </a:t>
            </a:r>
            <a:r>
              <a:rPr lang="en-US" b="1" dirty="0"/>
              <a:t>“secondary tillage”,</a:t>
            </a:r>
            <a:r>
              <a:rPr lang="en-US" dirty="0"/>
              <a:t> and is done </a:t>
            </a:r>
            <a:r>
              <a:rPr lang="en-US" dirty="0" smtClean="0"/>
              <a:t>by disking using </a:t>
            </a:r>
            <a:r>
              <a:rPr lang="en-US" dirty="0"/>
              <a:t> </a:t>
            </a:r>
            <a:r>
              <a:rPr lang="en-US" b="1" dirty="0"/>
              <a:t>disk </a:t>
            </a:r>
            <a:r>
              <a:rPr lang="en-US" b="1" dirty="0" smtClean="0"/>
              <a:t>harrows</a:t>
            </a:r>
            <a:r>
              <a:rPr lang="en-US" dirty="0" smtClean="0"/>
              <a:t>.</a:t>
            </a:r>
          </a:p>
          <a:p>
            <a:pPr algn="just"/>
            <a:r>
              <a:rPr lang="en-US" dirty="0" smtClean="0"/>
              <a:t>Typically </a:t>
            </a:r>
            <a:r>
              <a:rPr lang="en-US" dirty="0"/>
              <a:t>you go over the field a couple of times to smooth out all of the mounds created by your moldboards from </a:t>
            </a:r>
            <a:r>
              <a:rPr lang="en-US" dirty="0" smtClean="0"/>
              <a:t>plowing.</a:t>
            </a:r>
            <a:endParaRPr lang="en-US" dirty="0"/>
          </a:p>
          <a:p>
            <a:pPr algn="just"/>
            <a:r>
              <a:rPr lang="en-US" dirty="0" smtClean="0"/>
              <a:t>A </a:t>
            </a:r>
            <a:r>
              <a:rPr lang="en-US" dirty="0"/>
              <a:t>further refinement is to use a </a:t>
            </a:r>
            <a:r>
              <a:rPr lang="en-US" b="1" dirty="0"/>
              <a:t>spring tooth harrow</a:t>
            </a:r>
            <a:r>
              <a:rPr lang="en-US" dirty="0"/>
              <a:t>, to even further smooth out your seedbed</a:t>
            </a:r>
            <a:r>
              <a:rPr lang="en-US" dirty="0" smtClean="0"/>
              <a:t>.</a:t>
            </a:r>
          </a:p>
          <a:p>
            <a:pPr algn="just"/>
            <a:r>
              <a:rPr lang="en-US" dirty="0" smtClean="0"/>
              <a:t>Harrowing </a:t>
            </a:r>
            <a:r>
              <a:rPr lang="en-US" dirty="0"/>
              <a:t>involves breaking down the soil into smaller particles which creates a finer texture that is easier for tree roots to penetrate.</a:t>
            </a:r>
          </a:p>
        </p:txBody>
      </p:sp>
    </p:spTree>
    <p:extLst>
      <p:ext uri="{BB962C8B-B14F-4D97-AF65-F5344CB8AC3E}">
        <p14:creationId xmlns:p14="http://schemas.microsoft.com/office/powerpoint/2010/main" val="27163972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Disadvantages of Conventional Tillage</a:t>
            </a:r>
            <a:endParaRPr lang="en-US" b="1" dirty="0"/>
          </a:p>
        </p:txBody>
      </p:sp>
      <p:sp>
        <p:nvSpPr>
          <p:cNvPr id="3" name="Content Placeholder 2"/>
          <p:cNvSpPr>
            <a:spLocks noGrp="1"/>
          </p:cNvSpPr>
          <p:nvPr>
            <p:ph idx="1"/>
          </p:nvPr>
        </p:nvSpPr>
        <p:spPr/>
        <p:txBody>
          <a:bodyPr/>
          <a:lstStyle/>
          <a:p>
            <a:pPr marL="0" indent="0">
              <a:buNone/>
            </a:pPr>
            <a:r>
              <a:rPr lang="en-US" b="1" dirty="0" smtClean="0"/>
              <a:t>Ploughing</a:t>
            </a:r>
          </a:p>
          <a:p>
            <a:r>
              <a:rPr lang="en-US" dirty="0" smtClean="0"/>
              <a:t>Major </a:t>
            </a:r>
            <a:r>
              <a:rPr lang="en-US" dirty="0"/>
              <a:t>soil </a:t>
            </a:r>
            <a:r>
              <a:rPr lang="en-US" dirty="0" smtClean="0"/>
              <a:t>erosion.</a:t>
            </a:r>
          </a:p>
          <a:p>
            <a:r>
              <a:rPr lang="en-US" dirty="0" smtClean="0"/>
              <a:t>High </a:t>
            </a:r>
            <a:r>
              <a:rPr lang="en-US" dirty="0"/>
              <a:t>soil moisture </a:t>
            </a:r>
            <a:r>
              <a:rPr lang="en-US" dirty="0" smtClean="0"/>
              <a:t>loss.</a:t>
            </a:r>
          </a:p>
          <a:p>
            <a:r>
              <a:rPr lang="en-US" dirty="0" smtClean="0"/>
              <a:t>Timeliness considerations.</a:t>
            </a:r>
          </a:p>
          <a:p>
            <a:r>
              <a:rPr lang="en-US" dirty="0" smtClean="0"/>
              <a:t>Highest </a:t>
            </a:r>
            <a:r>
              <a:rPr lang="en-US" dirty="0"/>
              <a:t>fuel and labor costs</a:t>
            </a:r>
            <a:r>
              <a:rPr lang="en-US" dirty="0" smtClean="0"/>
              <a:t>.</a:t>
            </a:r>
          </a:p>
        </p:txBody>
      </p:sp>
    </p:spTree>
    <p:extLst>
      <p:ext uri="{BB962C8B-B14F-4D97-AF65-F5344CB8AC3E}">
        <p14:creationId xmlns:p14="http://schemas.microsoft.com/office/powerpoint/2010/main" val="20488128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Disadvantages of Conventional Tillage</a:t>
            </a:r>
            <a:endParaRPr lang="en-US" b="1" dirty="0"/>
          </a:p>
        </p:txBody>
      </p:sp>
      <p:sp>
        <p:nvSpPr>
          <p:cNvPr id="3" name="Content Placeholder 2"/>
          <p:cNvSpPr>
            <a:spLocks noGrp="1"/>
          </p:cNvSpPr>
          <p:nvPr>
            <p:ph idx="1"/>
          </p:nvPr>
        </p:nvSpPr>
        <p:spPr/>
        <p:txBody>
          <a:bodyPr/>
          <a:lstStyle/>
          <a:p>
            <a:pPr marL="0" indent="0">
              <a:buNone/>
            </a:pPr>
            <a:r>
              <a:rPr lang="en-US" b="1" dirty="0" smtClean="0"/>
              <a:t>Chisel ploughing</a:t>
            </a:r>
          </a:p>
          <a:p>
            <a:r>
              <a:rPr lang="en-US" dirty="0"/>
              <a:t>Little erosion control. </a:t>
            </a:r>
            <a:endParaRPr lang="en-US" dirty="0" smtClean="0"/>
          </a:p>
          <a:p>
            <a:r>
              <a:rPr lang="en-US" dirty="0" smtClean="0"/>
              <a:t>High </a:t>
            </a:r>
            <a:r>
              <a:rPr lang="en-US" dirty="0"/>
              <a:t>soil moisture loss. </a:t>
            </a:r>
            <a:endParaRPr lang="en-US" dirty="0" smtClean="0"/>
          </a:p>
          <a:p>
            <a:r>
              <a:rPr lang="en-US" dirty="0" smtClean="0"/>
              <a:t>Medium </a:t>
            </a:r>
            <a:r>
              <a:rPr lang="en-US" dirty="0"/>
              <a:t>fuel and labor requirements.</a:t>
            </a:r>
          </a:p>
        </p:txBody>
      </p:sp>
    </p:spTree>
    <p:extLst>
      <p:ext uri="{BB962C8B-B14F-4D97-AF65-F5344CB8AC3E}">
        <p14:creationId xmlns:p14="http://schemas.microsoft.com/office/powerpoint/2010/main" val="14704967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Disadvantages of Conventional Tillage</a:t>
            </a:r>
          </a:p>
        </p:txBody>
      </p:sp>
      <p:sp>
        <p:nvSpPr>
          <p:cNvPr id="3" name="Content Placeholder 2"/>
          <p:cNvSpPr>
            <a:spLocks noGrp="1"/>
          </p:cNvSpPr>
          <p:nvPr>
            <p:ph idx="1"/>
          </p:nvPr>
        </p:nvSpPr>
        <p:spPr/>
        <p:txBody>
          <a:bodyPr/>
          <a:lstStyle/>
          <a:p>
            <a:pPr marL="0" indent="0">
              <a:buNone/>
            </a:pPr>
            <a:r>
              <a:rPr lang="en-US" b="1" dirty="0" smtClean="0"/>
              <a:t>Disking</a:t>
            </a:r>
          </a:p>
          <a:p>
            <a:r>
              <a:rPr lang="en-US" dirty="0" smtClean="0"/>
              <a:t>Little </a:t>
            </a:r>
            <a:r>
              <a:rPr lang="en-US" dirty="0"/>
              <a:t>erosion control with more </a:t>
            </a:r>
            <a:r>
              <a:rPr lang="en-US" dirty="0" smtClean="0"/>
              <a:t>operations</a:t>
            </a:r>
          </a:p>
          <a:p>
            <a:r>
              <a:rPr lang="en-US" dirty="0" smtClean="0"/>
              <a:t>High </a:t>
            </a:r>
            <a:r>
              <a:rPr lang="en-US" dirty="0"/>
              <a:t>soil moisture </a:t>
            </a:r>
            <a:r>
              <a:rPr lang="en-US" dirty="0" smtClean="0"/>
              <a:t>loss</a:t>
            </a:r>
          </a:p>
          <a:p>
            <a:r>
              <a:rPr lang="en-US" dirty="0" smtClean="0"/>
              <a:t>Destroys </a:t>
            </a:r>
            <a:r>
              <a:rPr lang="en-US" dirty="0"/>
              <a:t>soil </a:t>
            </a:r>
            <a:r>
              <a:rPr lang="en-US" dirty="0" smtClean="0"/>
              <a:t>structure</a:t>
            </a:r>
          </a:p>
          <a:p>
            <a:r>
              <a:rPr lang="en-US" dirty="0" smtClean="0"/>
              <a:t>Compacts </a:t>
            </a:r>
            <a:r>
              <a:rPr lang="en-US" dirty="0"/>
              <a:t>wet soil</a:t>
            </a:r>
            <a:r>
              <a:rPr lang="en-US" dirty="0" smtClean="0"/>
              <a:t>.</a:t>
            </a:r>
          </a:p>
          <a:p>
            <a:r>
              <a:rPr lang="en-US" dirty="0" smtClean="0"/>
              <a:t>No crop residues left in the field leading to little microbial activities</a:t>
            </a:r>
            <a:endParaRPr lang="en-US" dirty="0"/>
          </a:p>
        </p:txBody>
      </p:sp>
    </p:spTree>
    <p:extLst>
      <p:ext uri="{BB962C8B-B14F-4D97-AF65-F5344CB8AC3E}">
        <p14:creationId xmlns:p14="http://schemas.microsoft.com/office/powerpoint/2010/main" val="10863562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Plough Pan/Soil Compaction</a:t>
            </a:r>
            <a:endParaRPr lang="en-US" b="1" dirty="0"/>
          </a:p>
        </p:txBody>
      </p:sp>
      <p:sp>
        <p:nvSpPr>
          <p:cNvPr id="3" name="Content Placeholder 2"/>
          <p:cNvSpPr>
            <a:spLocks noGrp="1"/>
          </p:cNvSpPr>
          <p:nvPr>
            <p:ph idx="1"/>
          </p:nvPr>
        </p:nvSpPr>
        <p:spPr/>
        <p:txBody>
          <a:bodyPr/>
          <a:lstStyle/>
          <a:p>
            <a:endParaRPr lang="en-US" dirty="0" smtClean="0"/>
          </a:p>
          <a:p>
            <a:pPr algn="just"/>
            <a:r>
              <a:rPr lang="en-US" dirty="0"/>
              <a:t>A plow pan is a subsurface horizon or soil layer having a high bulk density and a lower total porosity than the soil directly above or below it as a result of pressure applied by normal tillage operations, such as plows, discs, and other tillage implements</a:t>
            </a:r>
          </a:p>
          <a:p>
            <a:pPr algn="just"/>
            <a:r>
              <a:rPr lang="en-US" dirty="0" smtClean="0"/>
              <a:t>Plough </a:t>
            </a:r>
            <a:r>
              <a:rPr lang="en-US" dirty="0"/>
              <a:t>pans are partly caused by the base of the plough sliding along the furrow but also occur when the soil is wet, and there is some </a:t>
            </a:r>
            <a:r>
              <a:rPr lang="en-US" dirty="0" smtClean="0"/>
              <a:t>wheel slip </a:t>
            </a:r>
            <a:r>
              <a:rPr lang="en-US" dirty="0"/>
              <a:t>which has a smearing effect on the bottom of the furrow. </a:t>
            </a:r>
            <a:endParaRPr lang="en-US" dirty="0" smtClean="0"/>
          </a:p>
          <a:p>
            <a:pPr algn="just"/>
            <a:r>
              <a:rPr lang="en-US" dirty="0" smtClean="0"/>
              <a:t>Plough </a:t>
            </a:r>
            <a:r>
              <a:rPr lang="en-US" dirty="0"/>
              <a:t>pans are more likely to form on the heavier types of soil with a high clay content.</a:t>
            </a:r>
          </a:p>
        </p:txBody>
      </p:sp>
    </p:spTree>
    <p:extLst>
      <p:ext uri="{BB962C8B-B14F-4D97-AF65-F5344CB8AC3E}">
        <p14:creationId xmlns:p14="http://schemas.microsoft.com/office/powerpoint/2010/main" val="198840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Effect of Soil Compaction/Plough pans</a:t>
            </a:r>
            <a:endParaRPr lang="en-US" b="1" dirty="0"/>
          </a:p>
        </p:txBody>
      </p:sp>
      <p:sp>
        <p:nvSpPr>
          <p:cNvPr id="3" name="Content Placeholder 2"/>
          <p:cNvSpPr>
            <a:spLocks noGrp="1"/>
          </p:cNvSpPr>
          <p:nvPr>
            <p:ph idx="1"/>
          </p:nvPr>
        </p:nvSpPr>
        <p:spPr/>
        <p:txBody>
          <a:bodyPr>
            <a:normAutofit lnSpcReduction="10000"/>
          </a:bodyPr>
          <a:lstStyle/>
          <a:p>
            <a:pPr algn="just"/>
            <a:r>
              <a:rPr lang="en-US" dirty="0"/>
              <a:t>Soil compaction is rearrangement of soil particles and reduction in macro-porosity and total pore space by </a:t>
            </a:r>
            <a:r>
              <a:rPr lang="en-US" dirty="0" smtClean="0"/>
              <a:t>stresses.</a:t>
            </a:r>
          </a:p>
          <a:p>
            <a:pPr algn="just"/>
            <a:r>
              <a:rPr lang="en-US" dirty="0" smtClean="0"/>
              <a:t>Stresses </a:t>
            </a:r>
            <a:r>
              <a:rPr lang="en-US" dirty="0"/>
              <a:t>can be external such as those from machinery or internal from increasing pore water suction during drainage and </a:t>
            </a:r>
            <a:r>
              <a:rPr lang="en-US" dirty="0" smtClean="0"/>
              <a:t>drying.</a:t>
            </a:r>
          </a:p>
          <a:p>
            <a:pPr algn="just"/>
            <a:r>
              <a:rPr lang="en-US" dirty="0" smtClean="0"/>
              <a:t>The </a:t>
            </a:r>
            <a:r>
              <a:rPr lang="en-US" dirty="0"/>
              <a:t>main cause of subsoil compaction on agricultural soils is cropping machinery, especially heavy air carts, harvesters and chaser bins. </a:t>
            </a:r>
            <a:endParaRPr lang="en-US" dirty="0" smtClean="0"/>
          </a:p>
          <a:p>
            <a:pPr algn="just"/>
            <a:r>
              <a:rPr lang="en-US" dirty="0" smtClean="0"/>
              <a:t>Other </a:t>
            </a:r>
            <a:r>
              <a:rPr lang="en-US" dirty="0"/>
              <a:t>stresses may come from tillage, stock trampling and overburden </a:t>
            </a:r>
            <a:r>
              <a:rPr lang="en-US" dirty="0" smtClean="0"/>
              <a:t>pressure.</a:t>
            </a:r>
          </a:p>
          <a:p>
            <a:pPr algn="just"/>
            <a:r>
              <a:rPr lang="en-US" dirty="0" smtClean="0"/>
              <a:t>Compact </a:t>
            </a:r>
            <a:r>
              <a:rPr lang="en-US" dirty="0"/>
              <a:t>soils restrict crop and pasture production and increase nutrient leaching and emission of greenhouse gasses.</a:t>
            </a:r>
          </a:p>
        </p:txBody>
      </p:sp>
    </p:spTree>
    <p:extLst>
      <p:ext uri="{BB962C8B-B14F-4D97-AF65-F5344CB8AC3E}">
        <p14:creationId xmlns:p14="http://schemas.microsoft.com/office/powerpoint/2010/main" val="3000845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b="1" dirty="0" smtClean="0"/>
              <a:t>How to break a plough pan</a:t>
            </a:r>
            <a:endParaRPr lang="en-US" b="1" dirty="0"/>
          </a:p>
        </p:txBody>
      </p:sp>
      <p:sp>
        <p:nvSpPr>
          <p:cNvPr id="3" name="Content Placeholder 2"/>
          <p:cNvSpPr>
            <a:spLocks noGrp="1"/>
          </p:cNvSpPr>
          <p:nvPr>
            <p:ph idx="1"/>
          </p:nvPr>
        </p:nvSpPr>
        <p:spPr/>
        <p:txBody>
          <a:bodyPr/>
          <a:lstStyle/>
          <a:p>
            <a:pPr marL="0" indent="0">
              <a:buNone/>
            </a:pPr>
            <a:endParaRPr lang="en-US" dirty="0"/>
          </a:p>
          <a:p>
            <a:pPr algn="just"/>
            <a:r>
              <a:rPr lang="en-US" dirty="0"/>
              <a:t>Farmers use heavy equipment to break up hardpan. </a:t>
            </a:r>
            <a:endParaRPr lang="en-US" dirty="0" smtClean="0"/>
          </a:p>
          <a:p>
            <a:pPr algn="just"/>
            <a:r>
              <a:rPr lang="en-US" dirty="0" smtClean="0"/>
              <a:t>If </a:t>
            </a:r>
            <a:r>
              <a:rPr lang="en-US" dirty="0"/>
              <a:t>possible, hire a contractor to use a chisel plow to rip the hardpan. </a:t>
            </a:r>
            <a:endParaRPr lang="en-US" dirty="0" smtClean="0"/>
          </a:p>
          <a:p>
            <a:pPr algn="just"/>
            <a:r>
              <a:rPr lang="en-US" dirty="0" smtClean="0"/>
              <a:t>Chisel </a:t>
            </a:r>
            <a:r>
              <a:rPr lang="en-US" dirty="0"/>
              <a:t>plows penetrate through the hard layer and pull it upwards, shattering it into pieces.</a:t>
            </a:r>
          </a:p>
        </p:txBody>
      </p:sp>
    </p:spTree>
    <p:extLst>
      <p:ext uri="{BB962C8B-B14F-4D97-AF65-F5344CB8AC3E}">
        <p14:creationId xmlns:p14="http://schemas.microsoft.com/office/powerpoint/2010/main" val="481692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5378"/>
            <a:ext cx="10515600" cy="1205057"/>
          </a:xfrm>
        </p:spPr>
        <p:txBody>
          <a:bodyPr>
            <a:normAutofit fontScale="90000"/>
          </a:bodyPr>
          <a:lstStyle/>
          <a:p>
            <a:pPr algn="ctr"/>
            <a:r>
              <a:rPr lang="en-US" b="1" dirty="0" smtClean="0"/>
              <a:t>Disadvantages of Conventional Land Preparations</a:t>
            </a:r>
            <a:endParaRPr lang="en-GB" b="1" dirty="0"/>
          </a:p>
        </p:txBody>
      </p:sp>
      <p:sp>
        <p:nvSpPr>
          <p:cNvPr id="3" name="Content Placeholder 2"/>
          <p:cNvSpPr>
            <a:spLocks noGrp="1"/>
          </p:cNvSpPr>
          <p:nvPr>
            <p:ph idx="1"/>
          </p:nvPr>
        </p:nvSpPr>
        <p:spPr/>
        <p:txBody>
          <a:bodyPr>
            <a:normAutofit/>
          </a:bodyPr>
          <a:lstStyle/>
          <a:p>
            <a:pPr algn="just"/>
            <a:r>
              <a:rPr lang="en-US" dirty="0"/>
              <a:t>If there are any residues </a:t>
            </a:r>
            <a:r>
              <a:rPr lang="en-US" dirty="0" smtClean="0"/>
              <a:t>left </a:t>
            </a:r>
            <a:r>
              <a:rPr lang="en-US" dirty="0"/>
              <a:t>on farmers’ fields at the end of the dry season, they are raked up and burned. </a:t>
            </a:r>
            <a:endParaRPr lang="en-US" dirty="0" smtClean="0"/>
          </a:p>
          <a:p>
            <a:pPr algn="just"/>
            <a:r>
              <a:rPr lang="en-US" dirty="0" smtClean="0"/>
              <a:t>Residues </a:t>
            </a:r>
            <a:r>
              <a:rPr lang="en-US" dirty="0"/>
              <a:t>are a nuisance </a:t>
            </a:r>
            <a:r>
              <a:rPr lang="en-US" dirty="0" smtClean="0"/>
              <a:t>because they </a:t>
            </a:r>
            <a:r>
              <a:rPr lang="en-US" dirty="0"/>
              <a:t>clog up the plough. Burning also aids the hunting of mice. </a:t>
            </a:r>
            <a:endParaRPr lang="en-US" dirty="0" smtClean="0"/>
          </a:p>
          <a:p>
            <a:pPr algn="just"/>
            <a:r>
              <a:rPr lang="en-US" dirty="0" smtClean="0"/>
              <a:t>Burning </a:t>
            </a:r>
            <a:r>
              <a:rPr lang="en-US" dirty="0"/>
              <a:t>is a very destructive habit and </a:t>
            </a:r>
            <a:r>
              <a:rPr lang="en-US" b="1" dirty="0"/>
              <a:t>must be stopped</a:t>
            </a:r>
            <a:r>
              <a:rPr lang="en-US" dirty="0"/>
              <a:t>. Residues protect </a:t>
            </a:r>
            <a:r>
              <a:rPr lang="en-US" dirty="0" smtClean="0"/>
              <a:t>the soil </a:t>
            </a:r>
            <a:r>
              <a:rPr lang="en-US" dirty="0"/>
              <a:t>from sheet erosion, improve infiltration, reduce soil temperatures, which in October can rise to above 50oC, and protect top-soil from </a:t>
            </a:r>
            <a:r>
              <a:rPr lang="en-US" dirty="0" smtClean="0"/>
              <a:t>rain splash </a:t>
            </a:r>
            <a:r>
              <a:rPr lang="en-US" dirty="0"/>
              <a:t>and capping. </a:t>
            </a:r>
            <a:endParaRPr lang="en-US" dirty="0" smtClean="0"/>
          </a:p>
          <a:p>
            <a:pPr algn="just"/>
            <a:r>
              <a:rPr lang="en-US" dirty="0" smtClean="0"/>
              <a:t>Termites </a:t>
            </a:r>
            <a:r>
              <a:rPr lang="en-US" dirty="0"/>
              <a:t>and other soil fauna incorporate residues into the soil, maintaining its structure and organic matter.</a:t>
            </a:r>
            <a:endParaRPr lang="en-GB" dirty="0"/>
          </a:p>
        </p:txBody>
      </p:sp>
    </p:spTree>
    <p:extLst>
      <p:ext uri="{BB962C8B-B14F-4D97-AF65-F5344CB8AC3E}">
        <p14:creationId xmlns:p14="http://schemas.microsoft.com/office/powerpoint/2010/main" val="37441649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M</a:t>
            </a:r>
            <a:r>
              <a:rPr lang="en-US" sz="2000" b="1" dirty="0" smtClean="0"/>
              <a:t>any </a:t>
            </a:r>
            <a:r>
              <a:rPr lang="en-US" sz="2000" b="1" dirty="0"/>
              <a:t>thousands </a:t>
            </a:r>
            <a:r>
              <a:rPr lang="en-US" sz="2000" b="1" dirty="0" smtClean="0"/>
              <a:t>of farmers in Zambia destroy </a:t>
            </a:r>
            <a:r>
              <a:rPr lang="en-US" sz="2000" b="1" dirty="0"/>
              <a:t>a valuable </a:t>
            </a:r>
            <a:r>
              <a:rPr lang="en-US" sz="2000" b="1" dirty="0" smtClean="0"/>
              <a:t>resource called </a:t>
            </a:r>
            <a:r>
              <a:rPr lang="en-US" sz="2000" b="1" dirty="0" err="1" smtClean="0"/>
              <a:t>stover</a:t>
            </a:r>
            <a:r>
              <a:rPr lang="en-US" sz="2000" b="1" dirty="0" smtClean="0"/>
              <a:t>/residues. Residues improve </a:t>
            </a:r>
            <a:r>
              <a:rPr lang="en-US" sz="2000" b="1" dirty="0"/>
              <a:t>rain infiltration and protect the top-soil from erosion and capping. Bare soil increases run-off and loss of soil.</a:t>
            </a:r>
            <a:endParaRPr lang="en-GB" sz="2000" dirty="0"/>
          </a:p>
        </p:txBody>
      </p:sp>
      <p:pic>
        <p:nvPicPr>
          <p:cNvPr id="4" name="Content Placeholder 3"/>
          <p:cNvPicPr>
            <a:picLocks noGrp="1" noChangeAspect="1"/>
          </p:cNvPicPr>
          <p:nvPr>
            <p:ph idx="1"/>
          </p:nvPr>
        </p:nvPicPr>
        <p:blipFill>
          <a:blip r:embed="rId2"/>
          <a:stretch>
            <a:fillRect/>
          </a:stretch>
        </p:blipFill>
        <p:spPr>
          <a:xfrm>
            <a:off x="838200" y="1690689"/>
            <a:ext cx="4880212" cy="4519042"/>
          </a:xfrm>
          <a:prstGeom prst="rect">
            <a:avLst/>
          </a:prstGeom>
        </p:spPr>
      </p:pic>
      <p:pic>
        <p:nvPicPr>
          <p:cNvPr id="5" name="Picture 4"/>
          <p:cNvPicPr>
            <a:picLocks noChangeAspect="1"/>
          </p:cNvPicPr>
          <p:nvPr/>
        </p:nvPicPr>
        <p:blipFill>
          <a:blip r:embed="rId3"/>
          <a:stretch>
            <a:fillRect/>
          </a:stretch>
        </p:blipFill>
        <p:spPr>
          <a:xfrm>
            <a:off x="5718412" y="1690689"/>
            <a:ext cx="5635388" cy="4519042"/>
          </a:xfrm>
          <a:prstGeom prst="rect">
            <a:avLst/>
          </a:prstGeom>
        </p:spPr>
      </p:pic>
    </p:spTree>
    <p:extLst>
      <p:ext uri="{BB962C8B-B14F-4D97-AF65-F5344CB8AC3E}">
        <p14:creationId xmlns:p14="http://schemas.microsoft.com/office/powerpoint/2010/main" val="33486497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PLOUGHING</a:t>
            </a:r>
            <a:endParaRPr lang="en-GB" b="1" dirty="0"/>
          </a:p>
        </p:txBody>
      </p:sp>
      <p:sp>
        <p:nvSpPr>
          <p:cNvPr id="3" name="Content Placeholder 2"/>
          <p:cNvSpPr>
            <a:spLocks noGrp="1"/>
          </p:cNvSpPr>
          <p:nvPr>
            <p:ph idx="1"/>
          </p:nvPr>
        </p:nvSpPr>
        <p:spPr/>
        <p:txBody>
          <a:bodyPr>
            <a:normAutofit fontScale="92500" lnSpcReduction="20000"/>
          </a:bodyPr>
          <a:lstStyle/>
          <a:p>
            <a:pPr algn="just"/>
            <a:r>
              <a:rPr lang="en-US" dirty="0"/>
              <a:t>Farmers </a:t>
            </a:r>
            <a:r>
              <a:rPr lang="en-US" dirty="0" smtClean="0"/>
              <a:t>have </a:t>
            </a:r>
            <a:r>
              <a:rPr lang="en-US" dirty="0"/>
              <a:t>to wait for the rains to plough their land </a:t>
            </a:r>
            <a:r>
              <a:rPr lang="en-US" dirty="0" smtClean="0"/>
              <a:t>which  </a:t>
            </a:r>
            <a:r>
              <a:rPr lang="en-US" dirty="0"/>
              <a:t>always </a:t>
            </a:r>
            <a:r>
              <a:rPr lang="en-US" dirty="0" smtClean="0"/>
              <a:t>comes late</a:t>
            </a:r>
            <a:r>
              <a:rPr lang="en-US" dirty="0"/>
              <a:t>. </a:t>
            </a:r>
            <a:endParaRPr lang="en-US" dirty="0" smtClean="0"/>
          </a:p>
          <a:p>
            <a:pPr algn="just"/>
            <a:r>
              <a:rPr lang="en-US" dirty="0" smtClean="0"/>
              <a:t>For </a:t>
            </a:r>
            <a:r>
              <a:rPr lang="en-US" dirty="0"/>
              <a:t>each day of delay </a:t>
            </a:r>
            <a:r>
              <a:rPr lang="en-US" dirty="0" smtClean="0"/>
              <a:t>after </a:t>
            </a:r>
            <a:r>
              <a:rPr lang="en-US" dirty="0"/>
              <a:t>the first planting rains, </a:t>
            </a:r>
            <a:r>
              <a:rPr lang="en-US" b="1" dirty="0"/>
              <a:t>1.5% of </a:t>
            </a:r>
            <a:r>
              <a:rPr lang="en-US" b="1" dirty="0" smtClean="0"/>
              <a:t>potential Maize </a:t>
            </a:r>
            <a:r>
              <a:rPr lang="en-US" b="1" dirty="0"/>
              <a:t>yield is lost. </a:t>
            </a:r>
            <a:endParaRPr lang="en-US" b="1" dirty="0" smtClean="0"/>
          </a:p>
          <a:p>
            <a:pPr algn="just"/>
            <a:r>
              <a:rPr lang="en-US" dirty="0" smtClean="0"/>
              <a:t>Oxen </a:t>
            </a:r>
            <a:r>
              <a:rPr lang="en-US" dirty="0"/>
              <a:t>in Zambia are smaller than they used to be and are of ten malnourished </a:t>
            </a:r>
            <a:r>
              <a:rPr lang="en-US" dirty="0" smtClean="0"/>
              <a:t>after </a:t>
            </a:r>
            <a:r>
              <a:rPr lang="en-US" dirty="0"/>
              <a:t>the long dry season. </a:t>
            </a:r>
            <a:r>
              <a:rPr lang="en-US" dirty="0" err="1"/>
              <a:t>Ploughing</a:t>
            </a:r>
            <a:r>
              <a:rPr lang="en-US" dirty="0"/>
              <a:t> may </a:t>
            </a:r>
            <a:r>
              <a:rPr lang="en-US" dirty="0" smtClean="0"/>
              <a:t>take several </a:t>
            </a:r>
            <a:r>
              <a:rPr lang="en-US" dirty="0"/>
              <a:t>days, or even weeks, if the early rains are unreliable. If farmers have to stop </a:t>
            </a:r>
            <a:r>
              <a:rPr lang="en-US" dirty="0" err="1"/>
              <a:t>ploughing</a:t>
            </a:r>
            <a:r>
              <a:rPr lang="en-US" dirty="0"/>
              <a:t> they also have to stop planting. </a:t>
            </a:r>
            <a:endParaRPr lang="en-US" dirty="0" smtClean="0"/>
          </a:p>
          <a:p>
            <a:pPr algn="just"/>
            <a:r>
              <a:rPr lang="en-US" dirty="0" smtClean="0"/>
              <a:t>The ploughed soils are </a:t>
            </a:r>
            <a:r>
              <a:rPr lang="en-US" dirty="0"/>
              <a:t>exposed to storms. Rain splash </a:t>
            </a:r>
            <a:r>
              <a:rPr lang="en-US" dirty="0" err="1"/>
              <a:t>pulverises</a:t>
            </a:r>
            <a:r>
              <a:rPr lang="en-US" dirty="0"/>
              <a:t> </a:t>
            </a:r>
            <a:r>
              <a:rPr lang="en-US" dirty="0" smtClean="0"/>
              <a:t>the surface </a:t>
            </a:r>
            <a:r>
              <a:rPr lang="en-US" dirty="0"/>
              <a:t>causing capping, which encourages run of f and interferes with crop emergence.</a:t>
            </a:r>
          </a:p>
          <a:p>
            <a:pPr algn="just"/>
            <a:r>
              <a:rPr lang="en-US" dirty="0"/>
              <a:t>If </a:t>
            </a:r>
            <a:r>
              <a:rPr lang="en-US" dirty="0" err="1"/>
              <a:t>fertiliser</a:t>
            </a:r>
            <a:r>
              <a:rPr lang="en-US" dirty="0"/>
              <a:t> has been used, up to </a:t>
            </a:r>
            <a:r>
              <a:rPr lang="en-US" b="1" dirty="0"/>
              <a:t>50% may be washed away</a:t>
            </a:r>
            <a:r>
              <a:rPr lang="en-US" dirty="0"/>
              <a:t>. </a:t>
            </a:r>
          </a:p>
        </p:txBody>
      </p:sp>
    </p:spTree>
    <p:extLst>
      <p:ext uri="{BB962C8B-B14F-4D97-AF65-F5344CB8AC3E}">
        <p14:creationId xmlns:p14="http://schemas.microsoft.com/office/powerpoint/2010/main" val="1928541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PLOUGHING</a:t>
            </a:r>
            <a:endParaRPr lang="en-GB" b="1" dirty="0"/>
          </a:p>
        </p:txBody>
      </p:sp>
      <p:sp>
        <p:nvSpPr>
          <p:cNvPr id="3" name="Content Placeholder 2"/>
          <p:cNvSpPr>
            <a:spLocks noGrp="1"/>
          </p:cNvSpPr>
          <p:nvPr>
            <p:ph idx="1"/>
          </p:nvPr>
        </p:nvSpPr>
        <p:spPr/>
        <p:txBody>
          <a:bodyPr>
            <a:normAutofit/>
          </a:bodyPr>
          <a:lstStyle/>
          <a:p>
            <a:pPr algn="just"/>
            <a:r>
              <a:rPr lang="en-US" dirty="0"/>
              <a:t>Sowing seeds in the plough furrow leads to </a:t>
            </a:r>
            <a:r>
              <a:rPr lang="en-US" b="1" dirty="0"/>
              <a:t>uneven emergence </a:t>
            </a:r>
            <a:r>
              <a:rPr lang="en-US" dirty="0"/>
              <a:t>because some s</a:t>
            </a:r>
            <a:r>
              <a:rPr lang="en-US" dirty="0" smtClean="0"/>
              <a:t>eeds </a:t>
            </a:r>
            <a:r>
              <a:rPr lang="en-US" dirty="0"/>
              <a:t>will be planted too shallow and some too deep. By the time the farmer has finished </a:t>
            </a:r>
            <a:r>
              <a:rPr lang="en-US" dirty="0" err="1"/>
              <a:t>ploughing</a:t>
            </a:r>
            <a:r>
              <a:rPr lang="en-US" dirty="0"/>
              <a:t> his last plot, weeds are already </a:t>
            </a:r>
            <a:r>
              <a:rPr lang="en-US" dirty="0" smtClean="0"/>
              <a:t>infesting the </a:t>
            </a:r>
            <a:r>
              <a:rPr lang="en-US" dirty="0"/>
              <a:t>earlier planted plots</a:t>
            </a:r>
            <a:r>
              <a:rPr lang="en-US" dirty="0" smtClean="0"/>
              <a:t>.</a:t>
            </a:r>
          </a:p>
          <a:p>
            <a:pPr algn="just"/>
            <a:r>
              <a:rPr lang="en-US" dirty="0" smtClean="0"/>
              <a:t> </a:t>
            </a:r>
            <a:r>
              <a:rPr lang="en-US" dirty="0"/>
              <a:t>Farmers who plough are at the mercy of a tradition that wastes inputs, reduces yields and ultimately destroys the soils</a:t>
            </a:r>
          </a:p>
          <a:p>
            <a:pPr algn="just"/>
            <a:r>
              <a:rPr lang="en-US" b="1" i="1" dirty="0" smtClean="0"/>
              <a:t>Immediate </a:t>
            </a:r>
            <a:r>
              <a:rPr lang="en-US" b="1" i="1" dirty="0"/>
              <a:t>Effects: </a:t>
            </a:r>
            <a:r>
              <a:rPr lang="en-US" dirty="0" err="1"/>
              <a:t>Ploughing</a:t>
            </a:r>
            <a:r>
              <a:rPr lang="en-US" dirty="0"/>
              <a:t> 18 days </a:t>
            </a:r>
            <a:r>
              <a:rPr lang="en-US" dirty="0" smtClean="0"/>
              <a:t>after </a:t>
            </a:r>
            <a:r>
              <a:rPr lang="en-US" dirty="0"/>
              <a:t>first planting </a:t>
            </a:r>
            <a:r>
              <a:rPr lang="en-US" dirty="0" smtClean="0"/>
              <a:t>rains results </a:t>
            </a:r>
            <a:r>
              <a:rPr lang="en-US" dirty="0"/>
              <a:t>in </a:t>
            </a:r>
            <a:r>
              <a:rPr lang="en-US" b="1" dirty="0"/>
              <a:t>25% </a:t>
            </a:r>
            <a:r>
              <a:rPr lang="en-US" dirty="0"/>
              <a:t>loss of yield. </a:t>
            </a:r>
            <a:endParaRPr lang="en-US" dirty="0" smtClean="0"/>
          </a:p>
          <a:p>
            <a:pPr algn="just"/>
            <a:r>
              <a:rPr lang="en-US" b="1" dirty="0" smtClean="0"/>
              <a:t>30</a:t>
            </a:r>
            <a:r>
              <a:rPr lang="en-US" b="1" dirty="0"/>
              <a:t>% </a:t>
            </a:r>
            <a:r>
              <a:rPr lang="en-US" dirty="0"/>
              <a:t>of seasonal </a:t>
            </a:r>
            <a:r>
              <a:rPr lang="en-US" dirty="0" smtClean="0"/>
              <a:t>rainfall and </a:t>
            </a:r>
            <a:r>
              <a:rPr lang="en-US" b="1" dirty="0"/>
              <a:t>50% </a:t>
            </a:r>
            <a:r>
              <a:rPr lang="en-US" dirty="0"/>
              <a:t>of applied nutrients are also lost as storm flow.</a:t>
            </a:r>
            <a:endParaRPr lang="en-GB" dirty="0"/>
          </a:p>
        </p:txBody>
      </p:sp>
    </p:spTree>
    <p:extLst>
      <p:ext uri="{BB962C8B-B14F-4D97-AF65-F5344CB8AC3E}">
        <p14:creationId xmlns:p14="http://schemas.microsoft.com/office/powerpoint/2010/main" val="36045874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p:cNvPicPr>
            <a:picLocks noGrp="1" noChangeAspect="1"/>
          </p:cNvPicPr>
          <p:nvPr>
            <p:ph idx="1"/>
          </p:nvPr>
        </p:nvPicPr>
        <p:blipFill>
          <a:blip r:embed="rId2"/>
          <a:stretch>
            <a:fillRect/>
          </a:stretch>
        </p:blipFill>
        <p:spPr>
          <a:xfrm>
            <a:off x="838200" y="1690688"/>
            <a:ext cx="5003041" cy="4368918"/>
          </a:xfrm>
          <a:prstGeom prst="rect">
            <a:avLst/>
          </a:prstGeom>
        </p:spPr>
      </p:pic>
      <p:pic>
        <p:nvPicPr>
          <p:cNvPr id="5" name="Picture 4"/>
          <p:cNvPicPr>
            <a:picLocks noChangeAspect="1"/>
          </p:cNvPicPr>
          <p:nvPr/>
        </p:nvPicPr>
        <p:blipFill>
          <a:blip r:embed="rId3"/>
          <a:stretch>
            <a:fillRect/>
          </a:stretch>
        </p:blipFill>
        <p:spPr>
          <a:xfrm>
            <a:off x="5841242" y="1690688"/>
            <a:ext cx="5512557" cy="4368918"/>
          </a:xfrm>
          <a:prstGeom prst="rect">
            <a:avLst/>
          </a:prstGeom>
        </p:spPr>
      </p:pic>
    </p:spTree>
    <p:extLst>
      <p:ext uri="{BB962C8B-B14F-4D97-AF65-F5344CB8AC3E}">
        <p14:creationId xmlns:p14="http://schemas.microsoft.com/office/powerpoint/2010/main" val="20673411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RIDGING</a:t>
            </a:r>
            <a:endParaRPr lang="en-GB" b="1" dirty="0"/>
          </a:p>
        </p:txBody>
      </p:sp>
      <p:sp>
        <p:nvSpPr>
          <p:cNvPr id="3" name="Content Placeholder 2"/>
          <p:cNvSpPr>
            <a:spLocks noGrp="1"/>
          </p:cNvSpPr>
          <p:nvPr>
            <p:ph idx="1"/>
          </p:nvPr>
        </p:nvSpPr>
        <p:spPr/>
        <p:txBody>
          <a:bodyPr>
            <a:normAutofit fontScale="85000" lnSpcReduction="10000"/>
          </a:bodyPr>
          <a:lstStyle/>
          <a:p>
            <a:pPr algn="just"/>
            <a:r>
              <a:rPr lang="en-US" dirty="0"/>
              <a:t>This practice is common in Eastern and Northern Provinces, and in Malawi. Ridges are split each year and new ridges are made in the </a:t>
            </a:r>
            <a:r>
              <a:rPr lang="en-US" dirty="0" smtClean="0"/>
              <a:t>previous season’s </a:t>
            </a:r>
            <a:r>
              <a:rPr lang="en-US" dirty="0"/>
              <a:t>furrows. </a:t>
            </a:r>
            <a:endParaRPr lang="en-US" dirty="0" smtClean="0"/>
          </a:p>
          <a:p>
            <a:pPr algn="just"/>
            <a:r>
              <a:rPr lang="en-US" dirty="0" smtClean="0"/>
              <a:t>If </a:t>
            </a:r>
            <a:r>
              <a:rPr lang="en-US" dirty="0"/>
              <a:t>ridges are not made on the contour they accelerate erosion by concentrating rainfall into the furrow in which the hard </a:t>
            </a:r>
            <a:r>
              <a:rPr lang="en-US" dirty="0" smtClean="0"/>
              <a:t>subsoil </a:t>
            </a:r>
            <a:r>
              <a:rPr lang="en-US" dirty="0"/>
              <a:t>acts like a drain. </a:t>
            </a:r>
            <a:endParaRPr lang="en-US" dirty="0" smtClean="0"/>
          </a:p>
          <a:p>
            <a:pPr algn="just"/>
            <a:r>
              <a:rPr lang="en-US" dirty="0" smtClean="0"/>
              <a:t>Ridging </a:t>
            </a:r>
            <a:r>
              <a:rPr lang="en-US" dirty="0"/>
              <a:t>is back breaking work and is done during the hottest time of the year when food stocks are low and the family </a:t>
            </a:r>
            <a:r>
              <a:rPr lang="en-US" dirty="0" smtClean="0"/>
              <a:t>is at </a:t>
            </a:r>
            <a:r>
              <a:rPr lang="en-US" dirty="0"/>
              <a:t>its weakest. </a:t>
            </a:r>
            <a:endParaRPr lang="en-US" dirty="0" smtClean="0"/>
          </a:p>
          <a:p>
            <a:pPr algn="just"/>
            <a:r>
              <a:rPr lang="en-US" dirty="0" err="1" smtClean="0"/>
              <a:t>Oxidised</a:t>
            </a:r>
            <a:r>
              <a:rPr lang="en-US" dirty="0" smtClean="0"/>
              <a:t> </a:t>
            </a:r>
            <a:r>
              <a:rPr lang="en-US" dirty="0"/>
              <a:t>top-soil is moved backwards and forwards each year and a hoe pan is created under the ridges. Precious rainfall is </a:t>
            </a:r>
            <a:r>
              <a:rPr lang="en-US" dirty="0" smtClean="0"/>
              <a:t>lost and </a:t>
            </a:r>
            <a:r>
              <a:rPr lang="en-US" dirty="0"/>
              <a:t>erosion gullies soon </a:t>
            </a:r>
            <a:r>
              <a:rPr lang="en-US" dirty="0" smtClean="0"/>
              <a:t>develop.</a:t>
            </a:r>
          </a:p>
          <a:p>
            <a:pPr algn="just"/>
            <a:r>
              <a:rPr lang="en-US" dirty="0" smtClean="0"/>
              <a:t>Trash</a:t>
            </a:r>
            <a:r>
              <a:rPr lang="en-US" dirty="0"/>
              <a:t>, if present, is buried in the ridges. At the onset of the rains, bacteria use the early flush of Nitrogen </a:t>
            </a:r>
            <a:r>
              <a:rPr lang="en-US" dirty="0" smtClean="0"/>
              <a:t>to </a:t>
            </a:r>
            <a:r>
              <a:rPr lang="en-US" dirty="0" err="1" smtClean="0"/>
              <a:t>metabolise</a:t>
            </a:r>
            <a:r>
              <a:rPr lang="en-US" dirty="0" smtClean="0"/>
              <a:t> </a:t>
            </a:r>
            <a:r>
              <a:rPr lang="en-US" dirty="0"/>
              <a:t>the residues leaving less nitrogen for the growing crops</a:t>
            </a:r>
            <a:endParaRPr lang="en-GB" dirty="0"/>
          </a:p>
        </p:txBody>
      </p:sp>
    </p:spTree>
    <p:extLst>
      <p:ext uri="{BB962C8B-B14F-4D97-AF65-F5344CB8AC3E}">
        <p14:creationId xmlns:p14="http://schemas.microsoft.com/office/powerpoint/2010/main" val="16073371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Maize Mono-Cropping, Dry Spells and the Threat of Climate Change</a:t>
            </a:r>
            <a:endParaRPr lang="en-GB" dirty="0"/>
          </a:p>
        </p:txBody>
      </p:sp>
      <p:sp>
        <p:nvSpPr>
          <p:cNvPr id="8" name="Content Placeholder 7"/>
          <p:cNvSpPr>
            <a:spLocks noGrp="1"/>
          </p:cNvSpPr>
          <p:nvPr>
            <p:ph idx="1"/>
          </p:nvPr>
        </p:nvSpPr>
        <p:spPr/>
        <p:txBody>
          <a:bodyPr>
            <a:normAutofit fontScale="85000" lnSpcReduction="20000"/>
          </a:bodyPr>
          <a:lstStyle/>
          <a:p>
            <a:pPr algn="just"/>
            <a:r>
              <a:rPr lang="en-US" b="1" dirty="0"/>
              <a:t>Maize mono-cropping </a:t>
            </a:r>
            <a:r>
              <a:rPr lang="en-US" dirty="0"/>
              <a:t>(planting Maize in the same field year </a:t>
            </a:r>
            <a:r>
              <a:rPr lang="en-US" dirty="0" smtClean="0"/>
              <a:t>after </a:t>
            </a:r>
            <a:r>
              <a:rPr lang="en-US" dirty="0"/>
              <a:t>year), combined with the use </a:t>
            </a:r>
            <a:r>
              <a:rPr lang="en-US" dirty="0" smtClean="0"/>
              <a:t>acidifying </a:t>
            </a:r>
            <a:r>
              <a:rPr lang="en-US" dirty="0" err="1"/>
              <a:t>fertilisers</a:t>
            </a:r>
            <a:r>
              <a:rPr lang="en-US" dirty="0"/>
              <a:t> and conventional tillage, is </a:t>
            </a:r>
            <a:r>
              <a:rPr lang="en-US" dirty="0" smtClean="0"/>
              <a:t>a recipe </a:t>
            </a:r>
            <a:r>
              <a:rPr lang="en-US" dirty="0"/>
              <a:t>for disaster. </a:t>
            </a:r>
            <a:endParaRPr lang="en-US" dirty="0" smtClean="0"/>
          </a:p>
          <a:p>
            <a:pPr algn="just"/>
            <a:r>
              <a:rPr lang="en-US" dirty="0" smtClean="0"/>
              <a:t>Organic </a:t>
            </a:r>
            <a:r>
              <a:rPr lang="en-US" dirty="0"/>
              <a:t>matter is </a:t>
            </a:r>
            <a:r>
              <a:rPr lang="en-US" dirty="0" err="1"/>
              <a:t>oxidised</a:t>
            </a:r>
            <a:r>
              <a:rPr lang="en-US" dirty="0"/>
              <a:t>, soil water holding capacity declines, hard pans develop, acidity increases and fertility declines.</a:t>
            </a:r>
          </a:p>
          <a:p>
            <a:pPr algn="just"/>
            <a:r>
              <a:rPr lang="en-US" dirty="0"/>
              <a:t>Even in seasons of moderately poor rainfall, crops </a:t>
            </a:r>
            <a:r>
              <a:rPr lang="en-US" dirty="0" smtClean="0"/>
              <a:t>suffer </a:t>
            </a:r>
            <a:r>
              <a:rPr lang="en-US" dirty="0"/>
              <a:t>during dry spells and yields are reduced. Late planting increases the problem </a:t>
            </a:r>
            <a:r>
              <a:rPr lang="en-US" dirty="0" smtClean="0"/>
              <a:t>and total </a:t>
            </a:r>
            <a:r>
              <a:rPr lang="en-US" dirty="0"/>
              <a:t>crop failure of ten occurs. In this situation, farmers generally blame the weather and hope for food relief. </a:t>
            </a:r>
            <a:endParaRPr lang="en-US" dirty="0" smtClean="0"/>
          </a:p>
          <a:p>
            <a:pPr algn="just"/>
            <a:r>
              <a:rPr lang="en-US" dirty="0" smtClean="0"/>
              <a:t>But after </a:t>
            </a:r>
            <a:r>
              <a:rPr lang="en-US" dirty="0"/>
              <a:t>closer questioning </a:t>
            </a:r>
            <a:r>
              <a:rPr lang="en-US" dirty="0" smtClean="0"/>
              <a:t>they will </a:t>
            </a:r>
            <a:r>
              <a:rPr lang="en-US" dirty="0"/>
              <a:t>of ten explain that their soils have changed and no longer produce crops like the used to!</a:t>
            </a:r>
          </a:p>
          <a:p>
            <a:pPr algn="just"/>
            <a:r>
              <a:rPr lang="en-US" dirty="0"/>
              <a:t>Farmers cultivating degraded soils are particularly vulnerable to the threat of climate change.</a:t>
            </a:r>
            <a:endParaRPr lang="en-GB" dirty="0"/>
          </a:p>
        </p:txBody>
      </p:sp>
    </p:spTree>
    <p:extLst>
      <p:ext uri="{BB962C8B-B14F-4D97-AF65-F5344CB8AC3E}">
        <p14:creationId xmlns:p14="http://schemas.microsoft.com/office/powerpoint/2010/main" val="30775950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DEFORESTATION AND LAND DEGRADATION</a:t>
            </a:r>
            <a:endParaRPr lang="en-GB" b="1" dirty="0"/>
          </a:p>
        </p:txBody>
      </p:sp>
      <p:sp>
        <p:nvSpPr>
          <p:cNvPr id="5" name="Content Placeholder 4"/>
          <p:cNvSpPr>
            <a:spLocks noGrp="1"/>
          </p:cNvSpPr>
          <p:nvPr>
            <p:ph idx="1"/>
          </p:nvPr>
        </p:nvSpPr>
        <p:spPr/>
        <p:txBody>
          <a:bodyPr>
            <a:normAutofit/>
          </a:bodyPr>
          <a:lstStyle/>
          <a:p>
            <a:pPr algn="just"/>
            <a:r>
              <a:rPr lang="en-US" dirty="0"/>
              <a:t>Land degradation and deforestation is increasing in Zambia. Conventional farming methods that rely on mining out the fertility provided </a:t>
            </a:r>
            <a:r>
              <a:rPr lang="en-US" dirty="0" smtClean="0"/>
              <a:t>by nature </a:t>
            </a:r>
            <a:r>
              <a:rPr lang="en-US" dirty="0"/>
              <a:t>are a primary </a:t>
            </a:r>
            <a:r>
              <a:rPr lang="en-US" dirty="0" smtClean="0"/>
              <a:t>cause.</a:t>
            </a:r>
          </a:p>
          <a:p>
            <a:pPr algn="just"/>
            <a:r>
              <a:rPr lang="en-US" dirty="0" smtClean="0"/>
              <a:t>When </a:t>
            </a:r>
            <a:r>
              <a:rPr lang="en-US" dirty="0"/>
              <a:t>the soils become exhausted, farmers look for virgin land where they can chop down the trees and start </a:t>
            </a:r>
            <a:r>
              <a:rPr lang="en-US" dirty="0" smtClean="0"/>
              <a:t>the destructive </a:t>
            </a:r>
            <a:r>
              <a:rPr lang="en-US" dirty="0"/>
              <a:t>cycle all over again. </a:t>
            </a:r>
            <a:endParaRPr lang="en-US" dirty="0" smtClean="0"/>
          </a:p>
          <a:p>
            <a:pPr algn="just"/>
            <a:r>
              <a:rPr lang="en-US" dirty="0" smtClean="0"/>
              <a:t>This </a:t>
            </a:r>
            <a:r>
              <a:rPr lang="en-US" dirty="0"/>
              <a:t>is one reason why so many farmers migrated from Southern </a:t>
            </a:r>
            <a:r>
              <a:rPr lang="en-US" dirty="0" smtClean="0"/>
              <a:t>Province to the northern parts of Zambia.</a:t>
            </a:r>
          </a:p>
          <a:p>
            <a:pPr algn="just"/>
            <a:r>
              <a:rPr lang="en-US" dirty="0" smtClean="0"/>
              <a:t> </a:t>
            </a:r>
            <a:r>
              <a:rPr lang="en-US" dirty="0"/>
              <a:t>It also explains why Zambia now </a:t>
            </a:r>
            <a:r>
              <a:rPr lang="en-US" dirty="0" smtClean="0"/>
              <a:t>has the </a:t>
            </a:r>
            <a:r>
              <a:rPr lang="en-US" dirty="0"/>
              <a:t>2nd highest deforestation per capita in the world. </a:t>
            </a:r>
            <a:endParaRPr lang="en-GB" dirty="0"/>
          </a:p>
        </p:txBody>
      </p:sp>
    </p:spTree>
    <p:extLst>
      <p:ext uri="{BB962C8B-B14F-4D97-AF65-F5344CB8AC3E}">
        <p14:creationId xmlns:p14="http://schemas.microsoft.com/office/powerpoint/2010/main" val="3273560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1845</TotalTime>
  <Words>1787</Words>
  <Application>Microsoft Office PowerPoint</Application>
  <PresentationFormat>Widescreen</PresentationFormat>
  <Paragraphs>117</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 Unicode MS</vt:lpstr>
      <vt:lpstr>Arial</vt:lpstr>
      <vt:lpstr>Arial Narrow</vt:lpstr>
      <vt:lpstr>Calibri</vt:lpstr>
      <vt:lpstr>Calibri Light</vt:lpstr>
      <vt:lpstr>Office Theme</vt:lpstr>
      <vt:lpstr>Conventional Farming </vt:lpstr>
      <vt:lpstr>Introduction</vt:lpstr>
      <vt:lpstr>PowerPoint Presentation</vt:lpstr>
      <vt:lpstr>PowerPoint Presentation</vt:lpstr>
      <vt:lpstr>PowerPoint Presentation</vt:lpstr>
      <vt:lpstr>Characteristics of Conventional Agriculture</vt:lpstr>
      <vt:lpstr>Negative Effects of Conventional Systems of Agriculture</vt:lpstr>
      <vt:lpstr>Conventional Tillage </vt:lpstr>
      <vt:lpstr>PowerPoint Presentation</vt:lpstr>
      <vt:lpstr>PowerPoint Presentation</vt:lpstr>
      <vt:lpstr>PowerPoint Presentation</vt:lpstr>
      <vt:lpstr>PowerPoint Presentation</vt:lpstr>
      <vt:lpstr>Different Stages of Tillage. </vt:lpstr>
      <vt:lpstr>Different Stages of Tillage. </vt:lpstr>
      <vt:lpstr>PowerPoint Presentation</vt:lpstr>
      <vt:lpstr>Disadvantages of Conventional Tillage</vt:lpstr>
      <vt:lpstr>Disadvantages of Conventional Tillage</vt:lpstr>
      <vt:lpstr>Disadvantages of Conventional Tillage</vt:lpstr>
      <vt:lpstr>Plough Pan/Soil Compaction</vt:lpstr>
      <vt:lpstr>Effect of Soil Compaction/Plough pans</vt:lpstr>
      <vt:lpstr> How to break a plough pan</vt:lpstr>
      <vt:lpstr>Disadvantages of Conventional Land Preparations</vt:lpstr>
      <vt:lpstr>Many thousands of farmers in Zambia destroy a valuable resource called stover/residues. Residues improve rain infiltration and protect the top-soil from erosion and capping. Bare soil increases run-off and loss of soil.</vt:lpstr>
      <vt:lpstr>PLOUGHING</vt:lpstr>
      <vt:lpstr>PLOUGHING</vt:lpstr>
      <vt:lpstr>PowerPoint Presentation</vt:lpstr>
      <vt:lpstr>RIDGING</vt:lpstr>
      <vt:lpstr>Maize Mono-Cropping, Dry Spells and the Threat of Climate Change</vt:lpstr>
      <vt:lpstr>DEFORESTATION AND LAND DEGRADATION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Selection for an Apiary</dc:title>
  <dc:creator>LENOVO</dc:creator>
  <cp:lastModifiedBy>ZCA</cp:lastModifiedBy>
  <cp:revision>39</cp:revision>
  <dcterms:created xsi:type="dcterms:W3CDTF">2023-11-21T22:21:16Z</dcterms:created>
  <dcterms:modified xsi:type="dcterms:W3CDTF">2024-05-06T05:16:11Z</dcterms:modified>
</cp:coreProperties>
</file>