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7"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86" d="100"/>
          <a:sy n="86" d="100"/>
        </p:scale>
        <p:origin x="10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D5DABCC0-361F-4294-BD5B-761422C23D86}" type="datetimeFigureOut">
              <a:rPr lang="en-GB" smtClean="0"/>
              <a:t>15/08/2024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3307038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5DABCC0-361F-4294-BD5B-761422C23D86}" type="datetimeFigureOut">
              <a:rPr lang="en-GB" smtClean="0"/>
              <a:t>15/08/2024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291501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DABCC0-361F-4294-BD5B-761422C23D86}" type="datetimeFigureOut">
              <a:rPr lang="en-GB" smtClean="0"/>
              <a:t>15/08/2024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172762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D5DABCC0-361F-4294-BD5B-761422C23D86}" type="datetimeFigureOut">
              <a:rPr lang="en-GB" smtClean="0"/>
              <a:t>15/08/2024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209662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5DABCC0-361F-4294-BD5B-761422C23D86}" type="datetimeFigureOut">
              <a:rPr lang="en-GB" smtClean="0"/>
              <a:t>15/08/2024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187294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5DABCC0-361F-4294-BD5B-761422C23D86}" type="datetimeFigureOut">
              <a:rPr lang="en-GB" smtClean="0"/>
              <a:t>15/08/2024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2515797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ABCC0-361F-4294-BD5B-761422C23D86}" type="datetimeFigureOut">
              <a:rPr lang="en-GB" smtClean="0"/>
              <a:t>15/08/2024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1400599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DABCC0-361F-4294-BD5B-761422C23D86}" type="datetimeFigureOut">
              <a:rPr lang="en-GB" smtClean="0"/>
              <a:t>15/08/2024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4114212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DABCC0-361F-4294-BD5B-761422C23D86}" type="datetimeFigureOut">
              <a:rPr lang="en-GB" smtClean="0"/>
              <a:t>15/08/2024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2239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5DABCC0-361F-4294-BD5B-761422C23D86}" type="datetimeFigureOut">
              <a:rPr lang="en-GB" smtClean="0"/>
              <a:t>15/08/2024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3107635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5DABCC0-361F-4294-BD5B-761422C23D86}" type="datetimeFigureOut">
              <a:rPr lang="en-GB" smtClean="0"/>
              <a:t>15/08/2024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E8AB0E-0E84-4FE0-BEB3-3B7F2C36503F}" type="slidenum">
              <a:rPr lang="en-GB" smtClean="0"/>
              <a:t>‹#›</a:t>
            </a:fld>
            <a:endParaRPr lang="en-GB"/>
          </a:p>
        </p:txBody>
      </p:sp>
    </p:spTree>
    <p:extLst>
      <p:ext uri="{BB962C8B-B14F-4D97-AF65-F5344CB8AC3E}">
        <p14:creationId xmlns:p14="http://schemas.microsoft.com/office/powerpoint/2010/main" val="1170548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DABCC0-361F-4294-BD5B-761422C23D86}" type="datetimeFigureOut">
              <a:rPr lang="en-GB" smtClean="0"/>
              <a:t>15/08/2024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E8AB0E-0E84-4FE0-BEB3-3B7F2C36503F}" type="slidenum">
              <a:rPr lang="en-GB" smtClean="0"/>
              <a:t>‹#›</a:t>
            </a:fld>
            <a:endParaRPr lang="en-GB"/>
          </a:p>
        </p:txBody>
      </p:sp>
    </p:spTree>
    <p:extLst>
      <p:ext uri="{BB962C8B-B14F-4D97-AF65-F5344CB8AC3E}">
        <p14:creationId xmlns:p14="http://schemas.microsoft.com/office/powerpoint/2010/main" val="1319907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Principles of Carbon Farming</a:t>
            </a:r>
            <a:endParaRPr lang="en-GB" dirty="0"/>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7795190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US" dirty="0"/>
              <a:t>Carbon farming (also known as carbon sequestration) is a system of agricultural management that</a:t>
            </a:r>
          </a:p>
          <a:p>
            <a:pPr algn="just">
              <a:buFont typeface="Wingdings" panose="05000000000000000000" pitchFamily="2" charset="2"/>
              <a:buChar char="ü"/>
            </a:pPr>
            <a:r>
              <a:rPr lang="en-US" dirty="0"/>
              <a:t>helps the land store more carbon and reduce the number of greenhouse gases that it releases into </a:t>
            </a:r>
            <a:r>
              <a:rPr lang="en-US" dirty="0" smtClean="0"/>
              <a:t>the atmosphere.</a:t>
            </a:r>
          </a:p>
          <a:p>
            <a:pPr algn="just">
              <a:buFont typeface="Wingdings" panose="05000000000000000000" pitchFamily="2" charset="2"/>
              <a:buChar char="ü"/>
            </a:pPr>
            <a:r>
              <a:rPr lang="en-US" dirty="0" smtClean="0"/>
              <a:t> </a:t>
            </a:r>
            <a:r>
              <a:rPr lang="en-US" dirty="0"/>
              <a:t>Sustainable forest management practices do similar good by minimizing greenhouse </a:t>
            </a:r>
            <a:r>
              <a:rPr lang="en-US" dirty="0" smtClean="0"/>
              <a:t>gases and </a:t>
            </a:r>
            <a:r>
              <a:rPr lang="en-US" dirty="0"/>
              <a:t>accumulating carbon dioxide in </a:t>
            </a:r>
            <a:r>
              <a:rPr lang="en-US" dirty="0" smtClean="0"/>
              <a:t>wood.</a:t>
            </a:r>
          </a:p>
          <a:p>
            <a:pPr algn="just">
              <a:buFont typeface="Wingdings" panose="05000000000000000000" pitchFamily="2" charset="2"/>
              <a:buChar char="ü"/>
            </a:pPr>
            <a:r>
              <a:rPr lang="en-US" dirty="0" smtClean="0"/>
              <a:t>This </a:t>
            </a:r>
            <a:r>
              <a:rPr lang="en-US" dirty="0"/>
              <a:t>practice helps the land store carbon, </a:t>
            </a:r>
            <a:r>
              <a:rPr lang="en-US" dirty="0" smtClean="0"/>
              <a:t>removes greenhouse </a:t>
            </a:r>
            <a:r>
              <a:rPr lang="en-US" dirty="0"/>
              <a:t>gases from the atmosphere, and provides benefits to nearby water sources. </a:t>
            </a:r>
            <a:endParaRPr lang="en-US" dirty="0" smtClean="0"/>
          </a:p>
          <a:p>
            <a:pPr algn="just">
              <a:buFont typeface="Wingdings" panose="05000000000000000000" pitchFamily="2" charset="2"/>
              <a:buChar char="ü"/>
            </a:pPr>
            <a:r>
              <a:rPr lang="en-US" dirty="0" smtClean="0"/>
              <a:t>Implementing fertilizer </a:t>
            </a:r>
            <a:r>
              <a:rPr lang="en-US" dirty="0"/>
              <a:t>reduction strategies, such as applying compost or biochar (charcoal used as a soil additive </a:t>
            </a:r>
            <a:r>
              <a:rPr lang="en-US" dirty="0" smtClean="0"/>
              <a:t>to improve </a:t>
            </a:r>
            <a:r>
              <a:rPr lang="en-US" dirty="0"/>
              <a:t>crop yield), that reduce the number of greenhouse gases tied up in vegetation can also help </a:t>
            </a:r>
            <a:r>
              <a:rPr lang="en-US" dirty="0" smtClean="0"/>
              <a:t>in </a:t>
            </a:r>
            <a:r>
              <a:rPr lang="en-GB" dirty="0" smtClean="0"/>
              <a:t>cutting </a:t>
            </a:r>
            <a:r>
              <a:rPr lang="en-GB" dirty="0"/>
              <a:t>emissions</a:t>
            </a:r>
          </a:p>
        </p:txBody>
      </p:sp>
    </p:spTree>
    <p:extLst>
      <p:ext uri="{BB962C8B-B14F-4D97-AF65-F5344CB8AC3E}">
        <p14:creationId xmlns:p14="http://schemas.microsoft.com/office/powerpoint/2010/main" val="42096554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Methods of Carbon Farming</a:t>
            </a:r>
          </a:p>
        </p:txBody>
      </p:sp>
      <p:sp>
        <p:nvSpPr>
          <p:cNvPr id="3" name="Content Placeholder 2"/>
          <p:cNvSpPr>
            <a:spLocks noGrp="1"/>
          </p:cNvSpPr>
          <p:nvPr>
            <p:ph idx="1"/>
          </p:nvPr>
        </p:nvSpPr>
        <p:spPr/>
        <p:txBody>
          <a:bodyPr>
            <a:normAutofit/>
          </a:bodyPr>
          <a:lstStyle/>
          <a:p>
            <a:pPr algn="just"/>
            <a:r>
              <a:rPr lang="en-US" dirty="0"/>
              <a:t>Carbon farming practices are </a:t>
            </a:r>
            <a:r>
              <a:rPr lang="en-US" dirty="0" smtClean="0"/>
              <a:t>management practices </a:t>
            </a:r>
            <a:r>
              <a:rPr lang="en-US" dirty="0"/>
              <a:t>that are known to sequester </a:t>
            </a:r>
            <a:r>
              <a:rPr lang="en-US" dirty="0" smtClean="0"/>
              <a:t>carbon and/or </a:t>
            </a:r>
            <a:r>
              <a:rPr lang="en-US" dirty="0"/>
              <a:t>reduce GHG emissions. </a:t>
            </a:r>
            <a:endParaRPr lang="en-US" dirty="0" smtClean="0"/>
          </a:p>
          <a:p>
            <a:pPr algn="just"/>
            <a:r>
              <a:rPr lang="en-US" dirty="0" smtClean="0"/>
              <a:t>They are many of such practices that have been identified </a:t>
            </a:r>
            <a:r>
              <a:rPr lang="en-GB" dirty="0" smtClean="0"/>
              <a:t>as </a:t>
            </a:r>
            <a:r>
              <a:rPr lang="en-US" dirty="0" smtClean="0"/>
              <a:t>conservation </a:t>
            </a:r>
            <a:r>
              <a:rPr lang="en-US" dirty="0"/>
              <a:t>practices that improve soil </a:t>
            </a:r>
            <a:r>
              <a:rPr lang="en-US" dirty="0" smtClean="0"/>
              <a:t>health and </a:t>
            </a:r>
            <a:r>
              <a:rPr lang="en-US" dirty="0"/>
              <a:t>sequester carbon while producing </a:t>
            </a:r>
            <a:r>
              <a:rPr lang="en-US" dirty="0" smtClean="0"/>
              <a:t>important co-benefits</a:t>
            </a:r>
            <a:r>
              <a:rPr lang="en-US" dirty="0"/>
              <a:t>, including increased soil water </a:t>
            </a:r>
            <a:r>
              <a:rPr lang="en-US" dirty="0" smtClean="0"/>
              <a:t>holding capacity</a:t>
            </a:r>
            <a:r>
              <a:rPr lang="en-US" dirty="0"/>
              <a:t>, hydrological function, biodiversity, </a:t>
            </a:r>
            <a:r>
              <a:rPr lang="en-US" dirty="0" smtClean="0"/>
              <a:t>and resilience</a:t>
            </a:r>
            <a:r>
              <a:rPr lang="en-US" dirty="0"/>
              <a:t>. </a:t>
            </a:r>
            <a:endParaRPr lang="en-US" dirty="0" smtClean="0"/>
          </a:p>
          <a:p>
            <a:pPr algn="just"/>
            <a:r>
              <a:rPr lang="en-US" dirty="0" smtClean="0"/>
              <a:t>Some </a:t>
            </a:r>
            <a:r>
              <a:rPr lang="en-US" dirty="0"/>
              <a:t>of the practices for </a:t>
            </a:r>
            <a:r>
              <a:rPr lang="en-US" dirty="0" smtClean="0"/>
              <a:t>carbon farming </a:t>
            </a:r>
            <a:r>
              <a:rPr lang="en-US" dirty="0"/>
              <a:t>suitable to </a:t>
            </a:r>
            <a:r>
              <a:rPr lang="en-US" dirty="0" smtClean="0"/>
              <a:t>our</a:t>
            </a:r>
            <a:r>
              <a:rPr lang="en-US" dirty="0" smtClean="0"/>
              <a:t> </a:t>
            </a:r>
            <a:r>
              <a:rPr lang="en-US" dirty="0"/>
              <a:t>conditions</a:t>
            </a:r>
            <a:endParaRPr lang="en-GB" dirty="0"/>
          </a:p>
        </p:txBody>
      </p:sp>
    </p:spTree>
    <p:extLst>
      <p:ext uri="{BB962C8B-B14F-4D97-AF65-F5344CB8AC3E}">
        <p14:creationId xmlns:p14="http://schemas.microsoft.com/office/powerpoint/2010/main" val="30348166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Carbon </a:t>
            </a:r>
            <a:r>
              <a:rPr lang="en-GB" dirty="0" smtClean="0"/>
              <a:t>Farming Practices </a:t>
            </a:r>
            <a:endParaRPr lang="en-GB" dirty="0"/>
          </a:p>
        </p:txBody>
      </p:sp>
      <p:pic>
        <p:nvPicPr>
          <p:cNvPr id="4" name="Content Placeholder 3"/>
          <p:cNvPicPr>
            <a:picLocks noGrp="1" noChangeAspect="1"/>
          </p:cNvPicPr>
          <p:nvPr>
            <p:ph idx="1"/>
          </p:nvPr>
        </p:nvPicPr>
        <p:blipFill>
          <a:blip r:embed="rId2"/>
          <a:stretch>
            <a:fillRect/>
          </a:stretch>
        </p:blipFill>
        <p:spPr>
          <a:xfrm>
            <a:off x="838200" y="1825625"/>
            <a:ext cx="10515600" cy="4656818"/>
          </a:xfrm>
          <a:prstGeom prst="rect">
            <a:avLst/>
          </a:prstGeom>
        </p:spPr>
      </p:pic>
    </p:spTree>
    <p:extLst>
      <p:ext uri="{BB962C8B-B14F-4D97-AF65-F5344CB8AC3E}">
        <p14:creationId xmlns:p14="http://schemas.microsoft.com/office/powerpoint/2010/main" val="18819258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Agroforestry</a:t>
            </a:r>
            <a:endParaRPr lang="en-GB" dirty="0"/>
          </a:p>
        </p:txBody>
      </p:sp>
      <p:sp>
        <p:nvSpPr>
          <p:cNvPr id="3" name="Content Placeholder 2"/>
          <p:cNvSpPr>
            <a:spLocks noGrp="1"/>
          </p:cNvSpPr>
          <p:nvPr>
            <p:ph idx="1"/>
          </p:nvPr>
        </p:nvSpPr>
        <p:spPr/>
        <p:txBody>
          <a:bodyPr/>
          <a:lstStyle/>
          <a:p>
            <a:pPr algn="just"/>
            <a:r>
              <a:rPr lang="en-US" dirty="0" smtClean="0"/>
              <a:t>Creation, </a:t>
            </a:r>
            <a:r>
              <a:rPr lang="en-US" dirty="0"/>
              <a:t>restoration, and management of agroforestry </a:t>
            </a:r>
            <a:r>
              <a:rPr lang="en-US" dirty="0" smtClean="0"/>
              <a:t>systems.</a:t>
            </a:r>
          </a:p>
          <a:p>
            <a:pPr algn="just"/>
            <a:r>
              <a:rPr lang="en-US" dirty="0" smtClean="0"/>
              <a:t>In </a:t>
            </a:r>
            <a:r>
              <a:rPr lang="en-US" dirty="0"/>
              <a:t>an agroforestry system, woody vegetation, such as trees or shrubs, is integrated with crops and/ or animals (</a:t>
            </a:r>
            <a:r>
              <a:rPr lang="en-US" dirty="0" err="1"/>
              <a:t>Mcdonald</a:t>
            </a:r>
            <a:r>
              <a:rPr lang="en-US" dirty="0"/>
              <a:t> et al., 2021). </a:t>
            </a:r>
            <a:endParaRPr lang="en-US" dirty="0" smtClean="0"/>
          </a:p>
          <a:p>
            <a:pPr algn="just"/>
            <a:r>
              <a:rPr lang="en-US" dirty="0" smtClean="0"/>
              <a:t>Practices </a:t>
            </a:r>
            <a:r>
              <a:rPr lang="en-US" dirty="0"/>
              <a:t>include </a:t>
            </a:r>
            <a:r>
              <a:rPr lang="en-US" dirty="0" err="1"/>
              <a:t>silvo</a:t>
            </a:r>
            <a:r>
              <a:rPr lang="en-US" dirty="0"/>
              <a:t>-pasture, alley cropping, and boundary planting (</a:t>
            </a:r>
            <a:r>
              <a:rPr lang="en-US" dirty="0" err="1"/>
              <a:t>Lamanna</a:t>
            </a:r>
            <a:r>
              <a:rPr lang="en-US" dirty="0"/>
              <a:t> et al., 2020). </a:t>
            </a:r>
            <a:endParaRPr lang="en-GB" dirty="0"/>
          </a:p>
        </p:txBody>
      </p:sp>
    </p:spTree>
    <p:extLst>
      <p:ext uri="{BB962C8B-B14F-4D97-AF65-F5344CB8AC3E}">
        <p14:creationId xmlns:p14="http://schemas.microsoft.com/office/powerpoint/2010/main" val="29098973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Crop and Soil management</a:t>
            </a:r>
            <a:endParaRPr lang="en-GB" b="1" dirty="0"/>
          </a:p>
        </p:txBody>
      </p:sp>
      <p:sp>
        <p:nvSpPr>
          <p:cNvPr id="3" name="Content Placeholder 2"/>
          <p:cNvSpPr>
            <a:spLocks noGrp="1"/>
          </p:cNvSpPr>
          <p:nvPr>
            <p:ph idx="1"/>
          </p:nvPr>
        </p:nvSpPr>
        <p:spPr/>
        <p:txBody>
          <a:bodyPr/>
          <a:lstStyle/>
          <a:p>
            <a:pPr algn="just"/>
            <a:r>
              <a:rPr lang="en-US" dirty="0" smtClean="0"/>
              <a:t>Crop </a:t>
            </a:r>
            <a:r>
              <a:rPr lang="en-US" dirty="0"/>
              <a:t>management practices include cover crops, intercropping, improved crop rotations, and improved varieties. </a:t>
            </a:r>
            <a:endParaRPr lang="en-US" dirty="0" smtClean="0"/>
          </a:p>
          <a:p>
            <a:pPr algn="just"/>
            <a:r>
              <a:rPr lang="en-US" dirty="0" smtClean="0"/>
              <a:t>Soil </a:t>
            </a:r>
            <a:r>
              <a:rPr lang="en-US" dirty="0"/>
              <a:t>management practices include reduced tillage, crop residues, mulching, and the addition of biochar (</a:t>
            </a:r>
            <a:r>
              <a:rPr lang="en-US" dirty="0" err="1"/>
              <a:t>Lamanna</a:t>
            </a:r>
            <a:r>
              <a:rPr lang="en-US" dirty="0"/>
              <a:t> et al., 2020). </a:t>
            </a:r>
            <a:endParaRPr lang="en-GB" dirty="0"/>
          </a:p>
        </p:txBody>
      </p:sp>
    </p:spTree>
    <p:extLst>
      <p:ext uri="{BB962C8B-B14F-4D97-AF65-F5344CB8AC3E}">
        <p14:creationId xmlns:p14="http://schemas.microsoft.com/office/powerpoint/2010/main" val="35856518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Livestock Management</a:t>
            </a:r>
            <a:endParaRPr lang="en-GB" b="1" dirty="0"/>
          </a:p>
        </p:txBody>
      </p:sp>
      <p:sp>
        <p:nvSpPr>
          <p:cNvPr id="3" name="Content Placeholder 2"/>
          <p:cNvSpPr>
            <a:spLocks noGrp="1"/>
          </p:cNvSpPr>
          <p:nvPr>
            <p:ph idx="1"/>
          </p:nvPr>
        </p:nvSpPr>
        <p:spPr/>
        <p:txBody>
          <a:bodyPr/>
          <a:lstStyle/>
          <a:p>
            <a:pPr algn="just"/>
            <a:r>
              <a:rPr lang="en-US" dirty="0"/>
              <a:t>L</a:t>
            </a:r>
            <a:r>
              <a:rPr lang="en-US" dirty="0" smtClean="0"/>
              <a:t>ivestock </a:t>
            </a:r>
            <a:r>
              <a:rPr lang="en-US" dirty="0"/>
              <a:t>and manure management refer to technologies aimed at reducing enteric methane, and increasing herd and feed efficiency (</a:t>
            </a:r>
            <a:r>
              <a:rPr lang="en-US" dirty="0" err="1"/>
              <a:t>Mcdonald</a:t>
            </a:r>
            <a:r>
              <a:rPr lang="en-US" dirty="0"/>
              <a:t> et al., 2021). </a:t>
            </a:r>
            <a:endParaRPr lang="en-US" dirty="0" smtClean="0"/>
          </a:p>
          <a:p>
            <a:pPr algn="just"/>
            <a:r>
              <a:rPr lang="en-US" dirty="0"/>
              <a:t>G</a:t>
            </a:r>
            <a:r>
              <a:rPr lang="en-US" dirty="0" smtClean="0"/>
              <a:t>rassland management is included </a:t>
            </a:r>
            <a:r>
              <a:rPr lang="en-US" dirty="0"/>
              <a:t>in this category. </a:t>
            </a:r>
            <a:endParaRPr lang="en-US" dirty="0" smtClean="0"/>
          </a:p>
          <a:p>
            <a:pPr algn="just"/>
            <a:r>
              <a:rPr lang="en-US" dirty="0" smtClean="0"/>
              <a:t>Practices </a:t>
            </a:r>
            <a:r>
              <a:rPr lang="en-US" dirty="0"/>
              <a:t>include manure management (from the collection, through storage and treatment up to application), improved feeding, improved breeding as well as rotational grazing (</a:t>
            </a:r>
            <a:r>
              <a:rPr lang="en-US" dirty="0" err="1"/>
              <a:t>Lamanna</a:t>
            </a:r>
            <a:r>
              <a:rPr lang="en-US" dirty="0"/>
              <a:t> et al., 2020). </a:t>
            </a:r>
            <a:endParaRPr lang="en-GB" dirty="0"/>
          </a:p>
        </p:txBody>
      </p:sp>
    </p:spTree>
    <p:extLst>
      <p:ext uri="{BB962C8B-B14F-4D97-AF65-F5344CB8AC3E}">
        <p14:creationId xmlns:p14="http://schemas.microsoft.com/office/powerpoint/2010/main" val="37551202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Nutrient Management</a:t>
            </a:r>
            <a:endParaRPr lang="en-GB" b="1" dirty="0"/>
          </a:p>
        </p:txBody>
      </p:sp>
      <p:sp>
        <p:nvSpPr>
          <p:cNvPr id="3" name="Content Placeholder 2"/>
          <p:cNvSpPr>
            <a:spLocks noGrp="1"/>
          </p:cNvSpPr>
          <p:nvPr>
            <p:ph idx="1"/>
          </p:nvPr>
        </p:nvSpPr>
        <p:spPr/>
        <p:txBody>
          <a:bodyPr/>
          <a:lstStyle/>
          <a:p>
            <a:pPr algn="just"/>
            <a:r>
              <a:rPr lang="en-US" dirty="0"/>
              <a:t>N</a:t>
            </a:r>
            <a:r>
              <a:rPr lang="en-US" dirty="0" smtClean="0"/>
              <a:t>utrient </a:t>
            </a:r>
            <a:r>
              <a:rPr lang="en-US" dirty="0"/>
              <a:t>management on croplands and grasslands includes improved nutrient planning, timing, and application of fertilizers as well as reductions in fertilizers (</a:t>
            </a:r>
            <a:r>
              <a:rPr lang="en-US" dirty="0" err="1"/>
              <a:t>Mcdonald</a:t>
            </a:r>
            <a:r>
              <a:rPr lang="en-US" dirty="0"/>
              <a:t> et al., 2021</a:t>
            </a:r>
            <a:r>
              <a:rPr lang="en-US" dirty="0" smtClean="0"/>
              <a:t>).</a:t>
            </a:r>
          </a:p>
          <a:p>
            <a:pPr algn="just"/>
            <a:r>
              <a:rPr lang="en-US" dirty="0" smtClean="0"/>
              <a:t>To </a:t>
            </a:r>
            <a:r>
              <a:rPr lang="en-US" dirty="0"/>
              <a:t>avoid overlaps with other categories, this category focuses only on inorganic fertilizers and leaves out organic fertilizers, which are included under crop and soil management practices as well as livestock management. </a:t>
            </a:r>
            <a:endParaRPr lang="en-GB" dirty="0"/>
          </a:p>
        </p:txBody>
      </p:sp>
    </p:spTree>
    <p:extLst>
      <p:ext uri="{BB962C8B-B14F-4D97-AF65-F5344CB8AC3E}">
        <p14:creationId xmlns:p14="http://schemas.microsoft.com/office/powerpoint/2010/main" val="21230671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Management of </a:t>
            </a:r>
            <a:r>
              <a:rPr lang="en-US" b="1" dirty="0" err="1" smtClean="0"/>
              <a:t>Peatlands</a:t>
            </a:r>
            <a:endParaRPr lang="en-GB" b="1" dirty="0"/>
          </a:p>
        </p:txBody>
      </p:sp>
      <p:sp>
        <p:nvSpPr>
          <p:cNvPr id="3" name="Content Placeholder 2"/>
          <p:cNvSpPr>
            <a:spLocks noGrp="1"/>
          </p:cNvSpPr>
          <p:nvPr>
            <p:ph idx="1"/>
          </p:nvPr>
        </p:nvSpPr>
        <p:spPr/>
        <p:txBody>
          <a:bodyPr/>
          <a:lstStyle/>
          <a:p>
            <a:r>
              <a:rPr lang="en-US" dirty="0"/>
              <a:t>M</a:t>
            </a:r>
            <a:r>
              <a:rPr lang="en-US" dirty="0" smtClean="0"/>
              <a:t>anagement </a:t>
            </a:r>
            <a:r>
              <a:rPr lang="en-US" dirty="0"/>
              <a:t>of </a:t>
            </a:r>
            <a:r>
              <a:rPr lang="en-US" dirty="0" err="1" smtClean="0"/>
              <a:t>peatlands</a:t>
            </a:r>
            <a:r>
              <a:rPr lang="en-US" dirty="0"/>
              <a:t> </a:t>
            </a:r>
            <a:r>
              <a:rPr lang="en-US" dirty="0" smtClean="0"/>
              <a:t> </a:t>
            </a:r>
            <a:r>
              <a:rPr lang="en-US" dirty="0"/>
              <a:t>includes </a:t>
            </a:r>
            <a:r>
              <a:rPr lang="en-US" dirty="0" err="1"/>
              <a:t>peatland</a:t>
            </a:r>
            <a:r>
              <a:rPr lang="en-US" dirty="0"/>
              <a:t> rewetting, maintenance, and management (</a:t>
            </a:r>
            <a:r>
              <a:rPr lang="en-US" dirty="0" err="1"/>
              <a:t>Mcdonald</a:t>
            </a:r>
            <a:r>
              <a:rPr lang="en-US" dirty="0"/>
              <a:t> et al., 2021). </a:t>
            </a:r>
            <a:endParaRPr lang="en-GB" dirty="0"/>
          </a:p>
        </p:txBody>
      </p:sp>
    </p:spTree>
    <p:extLst>
      <p:ext uri="{BB962C8B-B14F-4D97-AF65-F5344CB8AC3E}">
        <p14:creationId xmlns:p14="http://schemas.microsoft.com/office/powerpoint/2010/main" val="1600970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benefits of soil carbon farming</a:t>
            </a:r>
            <a:endParaRPr lang="en-GB" dirty="0"/>
          </a:p>
        </p:txBody>
      </p:sp>
      <p:sp>
        <p:nvSpPr>
          <p:cNvPr id="3" name="Content Placeholder 2"/>
          <p:cNvSpPr>
            <a:spLocks noGrp="1"/>
          </p:cNvSpPr>
          <p:nvPr>
            <p:ph idx="1"/>
          </p:nvPr>
        </p:nvSpPr>
        <p:spPr/>
        <p:txBody>
          <a:bodyPr>
            <a:normAutofit/>
          </a:bodyPr>
          <a:lstStyle/>
          <a:p>
            <a:r>
              <a:rPr lang="en-GB" dirty="0"/>
              <a:t>Soil carbon farming is gaining traction as an effective way to improve soil health, reduce risk for businesses, and mitigate climate change. </a:t>
            </a:r>
            <a:endParaRPr lang="en-GB" dirty="0" smtClean="0"/>
          </a:p>
          <a:p>
            <a:r>
              <a:rPr lang="en-GB" dirty="0" smtClean="0"/>
              <a:t>Through </a:t>
            </a:r>
            <a:r>
              <a:rPr lang="en-GB" dirty="0"/>
              <a:t>practices such as cover crops, no-till systems, time- controlled grazing and composting, the process of increasing organic matter in soils generates a range of benefits including improved water quality; increased resilience during pests or drought conditions; and sequestration of atmospheric carbon dioxide into land</a:t>
            </a:r>
            <a:r>
              <a:rPr lang="en-GB" dirty="0" smtClean="0"/>
              <a:t>.</a:t>
            </a:r>
          </a:p>
        </p:txBody>
      </p:sp>
    </p:spTree>
    <p:extLst>
      <p:ext uri="{BB962C8B-B14F-4D97-AF65-F5344CB8AC3E}">
        <p14:creationId xmlns:p14="http://schemas.microsoft.com/office/powerpoint/2010/main" val="13317693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benefits of soil carbon farming</a:t>
            </a:r>
            <a:endParaRPr lang="en-GB" dirty="0"/>
          </a:p>
        </p:txBody>
      </p:sp>
      <p:sp>
        <p:nvSpPr>
          <p:cNvPr id="3" name="Content Placeholder 2"/>
          <p:cNvSpPr>
            <a:spLocks noGrp="1"/>
          </p:cNvSpPr>
          <p:nvPr>
            <p:ph idx="1"/>
          </p:nvPr>
        </p:nvSpPr>
        <p:spPr/>
        <p:txBody>
          <a:bodyPr>
            <a:normAutofit/>
          </a:bodyPr>
          <a:lstStyle/>
          <a:p>
            <a:r>
              <a:rPr lang="en-GB" dirty="0" smtClean="0"/>
              <a:t>As </a:t>
            </a:r>
            <a:r>
              <a:rPr lang="en-GB" dirty="0"/>
              <a:t>organisations search for viable solutions that will move us towards sustainability goals – all while protecting food security–soil carbon farming presents a promising pathway forward with co-benefits along the way</a:t>
            </a:r>
          </a:p>
        </p:txBody>
      </p:sp>
    </p:spTree>
    <p:extLst>
      <p:ext uri="{BB962C8B-B14F-4D97-AF65-F5344CB8AC3E}">
        <p14:creationId xmlns:p14="http://schemas.microsoft.com/office/powerpoint/2010/main" val="9473907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b="1" dirty="0"/>
              <a:t>Soil carbon farming benefits for the environment.</a:t>
            </a:r>
            <a:r>
              <a:rPr lang="en-GB" dirty="0"/>
              <a:t/>
            </a:r>
            <a:br>
              <a:rPr lang="en-GB" dirty="0"/>
            </a:br>
            <a:endParaRPr lang="en-GB" dirty="0"/>
          </a:p>
        </p:txBody>
      </p:sp>
      <p:sp>
        <p:nvSpPr>
          <p:cNvPr id="3" name="Content Placeholder 2"/>
          <p:cNvSpPr>
            <a:spLocks noGrp="1"/>
          </p:cNvSpPr>
          <p:nvPr>
            <p:ph idx="1"/>
          </p:nvPr>
        </p:nvSpPr>
        <p:spPr/>
        <p:txBody>
          <a:bodyPr/>
          <a:lstStyle/>
          <a:p>
            <a:pPr algn="just"/>
            <a:r>
              <a:rPr lang="en-GB" dirty="0"/>
              <a:t>Soil carbon farming provides a vital environmental service: </a:t>
            </a:r>
            <a:endParaRPr lang="en-GB" dirty="0" smtClean="0"/>
          </a:p>
          <a:p>
            <a:pPr algn="just"/>
            <a:r>
              <a:rPr lang="en-GB" dirty="0" smtClean="0"/>
              <a:t>the </a:t>
            </a:r>
            <a:r>
              <a:rPr lang="en-GB" dirty="0"/>
              <a:t>ability to pull CO2 out of our atmosphere and make use of it in beneficial </a:t>
            </a:r>
            <a:r>
              <a:rPr lang="en-GB" dirty="0" smtClean="0"/>
              <a:t>ways.</a:t>
            </a:r>
          </a:p>
          <a:p>
            <a:pPr algn="just"/>
            <a:r>
              <a:rPr lang="en-GB" dirty="0" smtClean="0"/>
              <a:t>By </a:t>
            </a:r>
            <a:r>
              <a:rPr lang="en-GB" dirty="0"/>
              <a:t>sequestering atmospheric CO2, we can not only reduce global greenhouse gas levels, but also support soil health with increased water-holding capacity and greater drought resistance.</a:t>
            </a:r>
          </a:p>
          <a:p>
            <a:endParaRPr lang="en-GB" dirty="0"/>
          </a:p>
        </p:txBody>
      </p:sp>
    </p:spTree>
    <p:extLst>
      <p:ext uri="{BB962C8B-B14F-4D97-AF65-F5344CB8AC3E}">
        <p14:creationId xmlns:p14="http://schemas.microsoft.com/office/powerpoint/2010/main" val="1272204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Soil carbon farming benefits for producers</a:t>
            </a:r>
            <a:endParaRPr lang="en-GB" dirty="0"/>
          </a:p>
        </p:txBody>
      </p:sp>
      <p:sp>
        <p:nvSpPr>
          <p:cNvPr id="3" name="Content Placeholder 2"/>
          <p:cNvSpPr>
            <a:spLocks noGrp="1"/>
          </p:cNvSpPr>
          <p:nvPr>
            <p:ph idx="1"/>
          </p:nvPr>
        </p:nvSpPr>
        <p:spPr/>
        <p:txBody>
          <a:bodyPr/>
          <a:lstStyle/>
          <a:p>
            <a:r>
              <a:rPr lang="en-GB" dirty="0"/>
              <a:t>Implementing soil carbon farming has several benefits for producers, which range from increasing soil fertility, to improving soil quality and minimising soil erosion</a:t>
            </a:r>
            <a:r>
              <a:rPr lang="en-GB" dirty="0" smtClean="0"/>
              <a:t>.</a:t>
            </a:r>
          </a:p>
          <a:p>
            <a:r>
              <a:rPr lang="en-GB" dirty="0" smtClean="0"/>
              <a:t> </a:t>
            </a:r>
            <a:r>
              <a:rPr lang="en-GB" dirty="0"/>
              <a:t>Additionally, soil carbon farming offers producers the potential of earning </a:t>
            </a:r>
            <a:r>
              <a:rPr lang="en-GB" dirty="0" smtClean="0"/>
              <a:t>Carbon </a:t>
            </a:r>
            <a:r>
              <a:rPr lang="en-GB" dirty="0"/>
              <a:t>Credit </a:t>
            </a:r>
            <a:r>
              <a:rPr lang="en-GB" dirty="0" smtClean="0"/>
              <a:t>Units, </a:t>
            </a:r>
            <a:r>
              <a:rPr lang="en-GB" dirty="0"/>
              <a:t>diversifying income sources, and reducing business risk</a:t>
            </a:r>
            <a:r>
              <a:rPr lang="en-GB" dirty="0" smtClean="0"/>
              <a:t>.</a:t>
            </a:r>
          </a:p>
          <a:p>
            <a:r>
              <a:rPr lang="en-GB" dirty="0"/>
              <a:t>However, modern soil carbon farming is not without its challenges; accurate measurement of soil carbon levels is key in order to realise the true benefits from regenerative agriculture practices.</a:t>
            </a:r>
          </a:p>
          <a:p>
            <a:endParaRPr lang="en-GB" dirty="0"/>
          </a:p>
          <a:p>
            <a:endParaRPr lang="en-GB" dirty="0"/>
          </a:p>
        </p:txBody>
      </p:sp>
    </p:spTree>
    <p:extLst>
      <p:ext uri="{BB962C8B-B14F-4D97-AF65-F5344CB8AC3E}">
        <p14:creationId xmlns:p14="http://schemas.microsoft.com/office/powerpoint/2010/main" val="23058781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Methods of Carbon Farming</a:t>
            </a:r>
          </a:p>
        </p:txBody>
      </p:sp>
      <p:sp>
        <p:nvSpPr>
          <p:cNvPr id="3" name="Content Placeholder 2"/>
          <p:cNvSpPr>
            <a:spLocks noGrp="1"/>
          </p:cNvSpPr>
          <p:nvPr>
            <p:ph idx="1"/>
          </p:nvPr>
        </p:nvSpPr>
        <p:spPr/>
        <p:txBody>
          <a:bodyPr>
            <a:normAutofit/>
          </a:bodyPr>
          <a:lstStyle/>
          <a:p>
            <a:r>
              <a:rPr lang="en-US" dirty="0"/>
              <a:t>Carbon farming practices are </a:t>
            </a:r>
            <a:r>
              <a:rPr lang="en-US" dirty="0" smtClean="0"/>
              <a:t>management practices </a:t>
            </a:r>
            <a:r>
              <a:rPr lang="en-US" dirty="0"/>
              <a:t>that are known to sequester </a:t>
            </a:r>
            <a:r>
              <a:rPr lang="en-US" dirty="0" smtClean="0"/>
              <a:t>carbon and/or </a:t>
            </a:r>
            <a:r>
              <a:rPr lang="en-US" dirty="0"/>
              <a:t>reduce GHG emissions. </a:t>
            </a:r>
            <a:endParaRPr lang="en-US" dirty="0" smtClean="0"/>
          </a:p>
          <a:p>
            <a:r>
              <a:rPr lang="en-GB" dirty="0" smtClean="0"/>
              <a:t>Resource </a:t>
            </a:r>
            <a:r>
              <a:rPr lang="en-GB" dirty="0"/>
              <a:t>Conservation Service (NRCS) </a:t>
            </a:r>
            <a:r>
              <a:rPr lang="en-GB" dirty="0" smtClean="0"/>
              <a:t>as </a:t>
            </a:r>
            <a:r>
              <a:rPr lang="en-US" dirty="0" smtClean="0"/>
              <a:t>conservation </a:t>
            </a:r>
            <a:r>
              <a:rPr lang="en-US" dirty="0"/>
              <a:t>practices that improve soil </a:t>
            </a:r>
            <a:r>
              <a:rPr lang="en-US" dirty="0" smtClean="0"/>
              <a:t>health and </a:t>
            </a:r>
            <a:r>
              <a:rPr lang="en-US" dirty="0"/>
              <a:t>sequester carbon while producing important</a:t>
            </a:r>
          </a:p>
          <a:p>
            <a:r>
              <a:rPr lang="en-US" dirty="0"/>
              <a:t>co-benefits, including increased soil water </a:t>
            </a:r>
            <a:r>
              <a:rPr lang="en-US" dirty="0" smtClean="0"/>
              <a:t>holding capacity</a:t>
            </a:r>
            <a:r>
              <a:rPr lang="en-US" dirty="0"/>
              <a:t>, hydrological function, biodiversity, </a:t>
            </a:r>
            <a:r>
              <a:rPr lang="en-US" dirty="0" smtClean="0"/>
              <a:t>and resilience</a:t>
            </a:r>
            <a:r>
              <a:rPr lang="en-US" dirty="0"/>
              <a:t>. </a:t>
            </a:r>
            <a:endParaRPr lang="en-US" dirty="0" smtClean="0"/>
          </a:p>
          <a:p>
            <a:r>
              <a:rPr lang="en-US" dirty="0" smtClean="0"/>
              <a:t>Some </a:t>
            </a:r>
            <a:r>
              <a:rPr lang="en-US" dirty="0"/>
              <a:t>of the practices for </a:t>
            </a:r>
            <a:r>
              <a:rPr lang="en-US" dirty="0" smtClean="0"/>
              <a:t>carbon farming </a:t>
            </a:r>
            <a:r>
              <a:rPr lang="en-US" dirty="0"/>
              <a:t>suitable to Indian conditions are:</a:t>
            </a:r>
            <a:endParaRPr lang="en-GB" dirty="0"/>
          </a:p>
        </p:txBody>
      </p:sp>
    </p:spTree>
    <p:extLst>
      <p:ext uri="{BB962C8B-B14F-4D97-AF65-F5344CB8AC3E}">
        <p14:creationId xmlns:p14="http://schemas.microsoft.com/office/powerpoint/2010/main" val="2128743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smtClean="0"/>
              <a:t>Forest </a:t>
            </a:r>
            <a:r>
              <a:rPr lang="en-GB" b="1" dirty="0"/>
              <a:t>Management</a:t>
            </a:r>
          </a:p>
        </p:txBody>
      </p:sp>
      <p:sp>
        <p:nvSpPr>
          <p:cNvPr id="3" name="Content Placeholder 2"/>
          <p:cNvSpPr>
            <a:spLocks noGrp="1"/>
          </p:cNvSpPr>
          <p:nvPr>
            <p:ph idx="1"/>
          </p:nvPr>
        </p:nvSpPr>
        <p:spPr/>
        <p:txBody>
          <a:bodyPr>
            <a:normAutofit/>
          </a:bodyPr>
          <a:lstStyle/>
          <a:p>
            <a:pPr algn="just"/>
            <a:r>
              <a:rPr lang="en-US" dirty="0"/>
              <a:t>Healthy forests absorb and hold carbon </a:t>
            </a:r>
            <a:r>
              <a:rPr lang="en-US" dirty="0" smtClean="0"/>
              <a:t>dioxide emissions </a:t>
            </a:r>
            <a:r>
              <a:rPr lang="en-US" dirty="0"/>
              <a:t>produced from other sources and are </a:t>
            </a:r>
            <a:r>
              <a:rPr lang="en-US" dirty="0" smtClean="0"/>
              <a:t>an important </a:t>
            </a:r>
            <a:r>
              <a:rPr lang="en-US" dirty="0"/>
              <a:t>source of greenhouse gas (</a:t>
            </a:r>
            <a:r>
              <a:rPr lang="en-US" dirty="0" smtClean="0"/>
              <a:t>GHG) </a:t>
            </a:r>
            <a:r>
              <a:rPr lang="en-GB" dirty="0" smtClean="0"/>
              <a:t>sequestration</a:t>
            </a:r>
            <a:r>
              <a:rPr lang="en-GB" dirty="0"/>
              <a:t>. </a:t>
            </a:r>
            <a:endParaRPr lang="en-GB" dirty="0" smtClean="0"/>
          </a:p>
          <a:p>
            <a:pPr algn="just"/>
            <a:r>
              <a:rPr lang="en-GB" dirty="0" smtClean="0"/>
              <a:t>Improved </a:t>
            </a:r>
            <a:r>
              <a:rPr lang="en-GB" dirty="0"/>
              <a:t>forest </a:t>
            </a:r>
            <a:r>
              <a:rPr lang="en-GB" dirty="0" smtClean="0"/>
              <a:t>management </a:t>
            </a:r>
            <a:r>
              <a:rPr lang="en-US" dirty="0" smtClean="0"/>
              <a:t>focuses </a:t>
            </a:r>
            <a:r>
              <a:rPr lang="en-US" dirty="0"/>
              <a:t>on long-term, sustainable practices </a:t>
            </a:r>
            <a:r>
              <a:rPr lang="en-US" dirty="0" smtClean="0"/>
              <a:t>to ensure </a:t>
            </a:r>
            <a:r>
              <a:rPr lang="en-US" dirty="0"/>
              <a:t>that forests continue to remove CO2 </a:t>
            </a:r>
            <a:r>
              <a:rPr lang="en-US" dirty="0" smtClean="0"/>
              <a:t>from the </a:t>
            </a:r>
            <a:r>
              <a:rPr lang="en-US" dirty="0"/>
              <a:t>atmosphere since deforestation accounts </a:t>
            </a:r>
            <a:r>
              <a:rPr lang="en-US" dirty="0" smtClean="0"/>
              <a:t>for between </a:t>
            </a:r>
            <a:r>
              <a:rPr lang="en-US" dirty="0"/>
              <a:t>15 and 20 percent of the global </a:t>
            </a:r>
            <a:r>
              <a:rPr lang="en-US" dirty="0" smtClean="0"/>
              <a:t>increase </a:t>
            </a:r>
            <a:r>
              <a:rPr lang="en-US" dirty="0"/>
              <a:t>n GHG </a:t>
            </a:r>
            <a:r>
              <a:rPr lang="en-US" dirty="0" smtClean="0"/>
              <a:t>levels.</a:t>
            </a:r>
          </a:p>
          <a:p>
            <a:pPr algn="just"/>
            <a:r>
              <a:rPr lang="en-US" dirty="0" smtClean="0"/>
              <a:t>Activities </a:t>
            </a:r>
            <a:r>
              <a:rPr lang="en-US" dirty="0"/>
              <a:t>include thinning </a:t>
            </a:r>
            <a:r>
              <a:rPr lang="en-US" dirty="0" smtClean="0"/>
              <a:t>out, selective </a:t>
            </a:r>
            <a:r>
              <a:rPr lang="en-US" dirty="0"/>
              <a:t>harvest, regeneration and </a:t>
            </a:r>
            <a:r>
              <a:rPr lang="en-US" dirty="0" smtClean="0"/>
              <a:t>planting, and </a:t>
            </a:r>
            <a:r>
              <a:rPr lang="en-US" dirty="0"/>
              <a:t>fertilization to enable productive </a:t>
            </a:r>
            <a:r>
              <a:rPr lang="en-US" dirty="0" smtClean="0"/>
              <a:t>and </a:t>
            </a:r>
            <a:r>
              <a:rPr lang="en-GB" dirty="0" smtClean="0"/>
              <a:t>sustainable </a:t>
            </a:r>
            <a:r>
              <a:rPr lang="en-GB" dirty="0"/>
              <a:t>forest growth.</a:t>
            </a:r>
          </a:p>
        </p:txBody>
      </p:sp>
    </p:spTree>
    <p:extLst>
      <p:ext uri="{BB962C8B-B14F-4D97-AF65-F5344CB8AC3E}">
        <p14:creationId xmlns:p14="http://schemas.microsoft.com/office/powerpoint/2010/main" val="40161515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Grasslands Conservation</a:t>
            </a:r>
          </a:p>
        </p:txBody>
      </p:sp>
      <p:sp>
        <p:nvSpPr>
          <p:cNvPr id="3" name="Content Placeholder 2"/>
          <p:cNvSpPr>
            <a:spLocks noGrp="1"/>
          </p:cNvSpPr>
          <p:nvPr>
            <p:ph idx="1"/>
          </p:nvPr>
        </p:nvSpPr>
        <p:spPr/>
        <p:txBody>
          <a:bodyPr/>
          <a:lstStyle/>
          <a:p>
            <a:pPr algn="just"/>
            <a:r>
              <a:rPr lang="en-US" dirty="0"/>
              <a:t>Similar to forestry, native grasses and </a:t>
            </a:r>
            <a:r>
              <a:rPr lang="en-US" dirty="0" smtClean="0"/>
              <a:t>other </a:t>
            </a:r>
            <a:r>
              <a:rPr lang="en-GB" dirty="0" smtClean="0"/>
              <a:t>vegetation </a:t>
            </a:r>
            <a:r>
              <a:rPr lang="en-GB" dirty="0"/>
              <a:t>provide a natural source </a:t>
            </a:r>
            <a:r>
              <a:rPr lang="en-GB" dirty="0" smtClean="0"/>
              <a:t>of </a:t>
            </a:r>
            <a:r>
              <a:rPr lang="en-US" dirty="0" smtClean="0"/>
              <a:t>greenhouse </a:t>
            </a:r>
            <a:r>
              <a:rPr lang="en-US" dirty="0"/>
              <a:t>gas (GHG) absorption </a:t>
            </a:r>
            <a:r>
              <a:rPr lang="en-US" dirty="0" smtClean="0"/>
              <a:t>and sequestration</a:t>
            </a:r>
            <a:r>
              <a:rPr lang="en-US" dirty="0"/>
              <a:t>. </a:t>
            </a:r>
            <a:endParaRPr lang="en-US" dirty="0" smtClean="0"/>
          </a:p>
          <a:p>
            <a:pPr algn="just"/>
            <a:r>
              <a:rPr lang="en-US" dirty="0" smtClean="0"/>
              <a:t>Carbon </a:t>
            </a:r>
            <a:r>
              <a:rPr lang="en-US" dirty="0"/>
              <a:t>offsets from this </a:t>
            </a:r>
            <a:r>
              <a:rPr lang="en-US" dirty="0" smtClean="0"/>
              <a:t>category focus </a:t>
            </a:r>
            <a:r>
              <a:rPr lang="en-US" dirty="0"/>
              <a:t>on maintaining native plant life </a:t>
            </a:r>
            <a:r>
              <a:rPr lang="en-US" dirty="0" smtClean="0"/>
              <a:t>through permanent </a:t>
            </a:r>
            <a:r>
              <a:rPr lang="en-US" dirty="0"/>
              <a:t>land conservation and </a:t>
            </a:r>
            <a:r>
              <a:rPr lang="en-US" dirty="0" smtClean="0"/>
              <a:t>avoided </a:t>
            </a:r>
            <a:r>
              <a:rPr lang="en-GB" dirty="0" smtClean="0"/>
              <a:t>conversion </a:t>
            </a:r>
            <a:r>
              <a:rPr lang="en-GB" dirty="0"/>
              <a:t>for commercial </a:t>
            </a:r>
            <a:r>
              <a:rPr lang="en-GB" dirty="0" err="1" smtClean="0"/>
              <a:t>developent</a:t>
            </a:r>
            <a:r>
              <a:rPr lang="en-GB" dirty="0" smtClean="0"/>
              <a:t> or intensive </a:t>
            </a:r>
            <a:r>
              <a:rPr lang="en-GB" dirty="0"/>
              <a:t>agriculture</a:t>
            </a:r>
            <a:r>
              <a:rPr lang="en-GB" dirty="0" smtClean="0"/>
              <a:t>.</a:t>
            </a:r>
          </a:p>
          <a:p>
            <a:pPr algn="just"/>
            <a:endParaRPr lang="en-GB" dirty="0"/>
          </a:p>
        </p:txBody>
      </p:sp>
    </p:spTree>
    <p:extLst>
      <p:ext uri="{BB962C8B-B14F-4D97-AF65-F5344CB8AC3E}">
        <p14:creationId xmlns:p14="http://schemas.microsoft.com/office/powerpoint/2010/main" val="15343073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Renewable Energy Production</a:t>
            </a:r>
          </a:p>
        </p:txBody>
      </p:sp>
      <p:sp>
        <p:nvSpPr>
          <p:cNvPr id="3" name="Content Placeholder 2"/>
          <p:cNvSpPr>
            <a:spLocks noGrp="1"/>
          </p:cNvSpPr>
          <p:nvPr>
            <p:ph idx="1"/>
          </p:nvPr>
        </p:nvSpPr>
        <p:spPr/>
        <p:txBody>
          <a:bodyPr/>
          <a:lstStyle/>
          <a:p>
            <a:pPr algn="just"/>
            <a:r>
              <a:rPr lang="en-US" dirty="0"/>
              <a:t>Renewable energy facilities, such as wind </a:t>
            </a:r>
            <a:r>
              <a:rPr lang="en-US" dirty="0" smtClean="0"/>
              <a:t>or solar</a:t>
            </a:r>
            <a:r>
              <a:rPr lang="en-US" dirty="0"/>
              <a:t>, generate carbon offsets by </a:t>
            </a:r>
            <a:r>
              <a:rPr lang="en-US" dirty="0" smtClean="0"/>
              <a:t>displacing </a:t>
            </a:r>
            <a:r>
              <a:rPr lang="en-GB" dirty="0" smtClean="0"/>
              <a:t>fossil </a:t>
            </a:r>
            <a:r>
              <a:rPr lang="en-GB" dirty="0"/>
              <a:t>fuel-based electricity production </a:t>
            </a:r>
            <a:r>
              <a:rPr lang="en-GB" dirty="0" smtClean="0"/>
              <a:t>sources </a:t>
            </a:r>
            <a:r>
              <a:rPr lang="en-US" dirty="0" smtClean="0"/>
              <a:t>within </a:t>
            </a:r>
            <a:r>
              <a:rPr lang="en-US" dirty="0"/>
              <a:t>the power grid. </a:t>
            </a:r>
            <a:endParaRPr lang="en-US" dirty="0" smtClean="0"/>
          </a:p>
          <a:p>
            <a:pPr algn="just"/>
            <a:r>
              <a:rPr lang="en-US" dirty="0" smtClean="0"/>
              <a:t>The </a:t>
            </a:r>
            <a:r>
              <a:rPr lang="en-US" dirty="0"/>
              <a:t>carbon </a:t>
            </a:r>
            <a:r>
              <a:rPr lang="en-US" dirty="0" smtClean="0"/>
              <a:t>offsets derived </a:t>
            </a:r>
            <a:r>
              <a:rPr lang="en-US" dirty="0"/>
              <a:t>from a certified third-party </a:t>
            </a:r>
            <a:r>
              <a:rPr lang="en-US" dirty="0" smtClean="0"/>
              <a:t>project generates </a:t>
            </a:r>
            <a:r>
              <a:rPr lang="en-US" dirty="0"/>
              <a:t>the carbon credit, which is owned </a:t>
            </a:r>
            <a:r>
              <a:rPr lang="en-US" dirty="0" smtClean="0"/>
              <a:t>by the </a:t>
            </a:r>
            <a:r>
              <a:rPr lang="en-US" dirty="0"/>
              <a:t>entity that develops the project</a:t>
            </a:r>
            <a:endParaRPr lang="en-GB" dirty="0"/>
          </a:p>
        </p:txBody>
      </p:sp>
    </p:spTree>
    <p:extLst>
      <p:ext uri="{BB962C8B-B14F-4D97-AF65-F5344CB8AC3E}">
        <p14:creationId xmlns:p14="http://schemas.microsoft.com/office/powerpoint/2010/main" val="35201063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Reduced fertilizer application</a:t>
            </a:r>
          </a:p>
        </p:txBody>
      </p:sp>
      <p:sp>
        <p:nvSpPr>
          <p:cNvPr id="3" name="Content Placeholder 2"/>
          <p:cNvSpPr>
            <a:spLocks noGrp="1"/>
          </p:cNvSpPr>
          <p:nvPr>
            <p:ph idx="1"/>
          </p:nvPr>
        </p:nvSpPr>
        <p:spPr/>
        <p:txBody>
          <a:bodyPr/>
          <a:lstStyle/>
          <a:p>
            <a:pPr algn="just"/>
            <a:r>
              <a:rPr lang="en-US" dirty="0"/>
              <a:t>Chemical inputs reduce the capacity of soils </a:t>
            </a:r>
            <a:r>
              <a:rPr lang="en-US" dirty="0" smtClean="0"/>
              <a:t>to sequester </a:t>
            </a:r>
            <a:r>
              <a:rPr lang="en-US" dirty="0"/>
              <a:t>carbon and can be wasteful </a:t>
            </a:r>
            <a:r>
              <a:rPr lang="en-US" dirty="0" smtClean="0"/>
              <a:t>when applied </a:t>
            </a:r>
            <a:r>
              <a:rPr lang="en-US" dirty="0"/>
              <a:t>in excess. </a:t>
            </a:r>
            <a:endParaRPr lang="en-US" dirty="0" smtClean="0"/>
          </a:p>
          <a:p>
            <a:pPr algn="just"/>
            <a:r>
              <a:rPr lang="en-US" dirty="0" smtClean="0"/>
              <a:t>With </a:t>
            </a:r>
            <a:r>
              <a:rPr lang="en-US" dirty="0"/>
              <a:t>prices going </a:t>
            </a:r>
            <a:r>
              <a:rPr lang="en-US" dirty="0" smtClean="0"/>
              <a:t>sky-high, manufacturing </a:t>
            </a:r>
            <a:r>
              <a:rPr lang="en-US" dirty="0"/>
              <a:t>inorganic fertilizers also release </a:t>
            </a:r>
            <a:r>
              <a:rPr lang="en-US" dirty="0" smtClean="0"/>
              <a:t>a lot </a:t>
            </a:r>
            <a:r>
              <a:rPr lang="en-US" dirty="0"/>
              <a:t>of greenhouse gas emissions. </a:t>
            </a:r>
            <a:endParaRPr lang="en-US" dirty="0" smtClean="0"/>
          </a:p>
          <a:p>
            <a:pPr algn="just"/>
            <a:r>
              <a:rPr lang="en-US" dirty="0" smtClean="0"/>
              <a:t>Decreased</a:t>
            </a:r>
            <a:r>
              <a:rPr lang="en-US" dirty="0"/>
              <a:t> </a:t>
            </a:r>
            <a:r>
              <a:rPr lang="en-US" dirty="0" smtClean="0"/>
              <a:t>chemical </a:t>
            </a:r>
            <a:r>
              <a:rPr lang="en-US" dirty="0"/>
              <a:t>fertilizer application is a </a:t>
            </a:r>
            <a:r>
              <a:rPr lang="en-US" dirty="0" smtClean="0"/>
              <a:t>cost-reducing way </a:t>
            </a:r>
            <a:r>
              <a:rPr lang="en-US" dirty="0"/>
              <a:t>to optimize the nutrient application for </a:t>
            </a:r>
            <a:r>
              <a:rPr lang="en-US" dirty="0" smtClean="0"/>
              <a:t>crops </a:t>
            </a:r>
            <a:r>
              <a:rPr lang="en-GB" dirty="0" smtClean="0"/>
              <a:t>and </a:t>
            </a:r>
            <a:r>
              <a:rPr lang="en-GB" dirty="0"/>
              <a:t>improve soil health.</a:t>
            </a:r>
          </a:p>
        </p:txBody>
      </p:sp>
    </p:spTree>
    <p:extLst>
      <p:ext uri="{BB962C8B-B14F-4D97-AF65-F5344CB8AC3E}">
        <p14:creationId xmlns:p14="http://schemas.microsoft.com/office/powerpoint/2010/main" val="17505372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Reduced tillage</a:t>
            </a:r>
          </a:p>
        </p:txBody>
      </p:sp>
      <p:sp>
        <p:nvSpPr>
          <p:cNvPr id="3" name="Content Placeholder 2"/>
          <p:cNvSpPr>
            <a:spLocks noGrp="1"/>
          </p:cNvSpPr>
          <p:nvPr>
            <p:ph idx="1"/>
          </p:nvPr>
        </p:nvSpPr>
        <p:spPr/>
        <p:txBody>
          <a:bodyPr/>
          <a:lstStyle/>
          <a:p>
            <a:r>
              <a:rPr lang="en-US" dirty="0"/>
              <a:t>Frequent and heavy tilling increases the rate </a:t>
            </a:r>
            <a:r>
              <a:rPr lang="en-US" dirty="0" smtClean="0"/>
              <a:t>of carbon </a:t>
            </a:r>
            <a:r>
              <a:rPr lang="en-US" dirty="0"/>
              <a:t>dioxide released from the soil. </a:t>
            </a:r>
            <a:endParaRPr lang="en-US" dirty="0" smtClean="0"/>
          </a:p>
          <a:p>
            <a:r>
              <a:rPr lang="en-US" dirty="0" smtClean="0"/>
              <a:t>In the process</a:t>
            </a:r>
            <a:r>
              <a:rPr lang="en-US" dirty="0"/>
              <a:t>, it also breaks up soil structure which </a:t>
            </a:r>
            <a:r>
              <a:rPr lang="en-US" dirty="0" smtClean="0"/>
              <a:t>can lead </a:t>
            </a:r>
            <a:r>
              <a:rPr lang="en-US" dirty="0"/>
              <a:t>to erosion and less productive croplands.</a:t>
            </a:r>
          </a:p>
          <a:p>
            <a:r>
              <a:rPr lang="en-US" dirty="0"/>
              <a:t>Regenerative tillage, which is done at minimum </a:t>
            </a:r>
            <a:r>
              <a:rPr lang="en-US" dirty="0" smtClean="0"/>
              <a:t>or no-tillage </a:t>
            </a:r>
            <a:r>
              <a:rPr lang="en-US" dirty="0"/>
              <a:t>at all, preserves soil quality and </a:t>
            </a:r>
            <a:r>
              <a:rPr lang="en-US" dirty="0" smtClean="0"/>
              <a:t>carbon that </a:t>
            </a:r>
            <a:r>
              <a:rPr lang="en-US" dirty="0"/>
              <a:t>has benefits to crop yield.</a:t>
            </a:r>
            <a:endParaRPr lang="en-GB" dirty="0"/>
          </a:p>
        </p:txBody>
      </p:sp>
    </p:spTree>
    <p:extLst>
      <p:ext uri="{BB962C8B-B14F-4D97-AF65-F5344CB8AC3E}">
        <p14:creationId xmlns:p14="http://schemas.microsoft.com/office/powerpoint/2010/main" val="36986230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Improved residue management</a:t>
            </a:r>
          </a:p>
        </p:txBody>
      </p:sp>
      <p:sp>
        <p:nvSpPr>
          <p:cNvPr id="3" name="Content Placeholder 2"/>
          <p:cNvSpPr>
            <a:spLocks noGrp="1"/>
          </p:cNvSpPr>
          <p:nvPr>
            <p:ph idx="1"/>
          </p:nvPr>
        </p:nvSpPr>
        <p:spPr/>
        <p:txBody>
          <a:bodyPr/>
          <a:lstStyle/>
          <a:p>
            <a:pPr algn="just"/>
            <a:r>
              <a:rPr lang="en-US" dirty="0"/>
              <a:t>Another soil-protecting strategy in farming is </a:t>
            </a:r>
            <a:r>
              <a:rPr lang="en-US" dirty="0" smtClean="0"/>
              <a:t>to leave </a:t>
            </a:r>
            <a:r>
              <a:rPr lang="en-US" dirty="0"/>
              <a:t>crop residue in the fields. </a:t>
            </a:r>
            <a:endParaRPr lang="en-US" dirty="0" smtClean="0"/>
          </a:p>
          <a:p>
            <a:pPr algn="just"/>
            <a:r>
              <a:rPr lang="en-US" dirty="0" smtClean="0"/>
              <a:t>Covering </a:t>
            </a:r>
            <a:r>
              <a:rPr lang="en-US" dirty="0"/>
              <a:t>the </a:t>
            </a:r>
            <a:r>
              <a:rPr lang="en-US" dirty="0" smtClean="0"/>
              <a:t>soil with </a:t>
            </a:r>
            <a:r>
              <a:rPr lang="en-US" dirty="0"/>
              <a:t>mulch, or crop residue materials like </a:t>
            </a:r>
            <a:r>
              <a:rPr lang="en-US" dirty="0" smtClean="0"/>
              <a:t>straws, enhances </a:t>
            </a:r>
            <a:r>
              <a:rPr lang="en-US" dirty="0"/>
              <a:t>soil moisture and fertility while </a:t>
            </a:r>
            <a:r>
              <a:rPr lang="en-US" dirty="0" smtClean="0"/>
              <a:t>allowing the </a:t>
            </a:r>
            <a:r>
              <a:rPr lang="en-US" dirty="0"/>
              <a:t>organic material to interact </a:t>
            </a:r>
            <a:r>
              <a:rPr lang="en-US" dirty="0" smtClean="0"/>
              <a:t>with microorganisms </a:t>
            </a:r>
            <a:r>
              <a:rPr lang="en-US" dirty="0"/>
              <a:t>for healthier soil composition.</a:t>
            </a:r>
            <a:endParaRPr lang="en-GB" dirty="0"/>
          </a:p>
        </p:txBody>
      </p:sp>
    </p:spTree>
    <p:extLst>
      <p:ext uri="{BB962C8B-B14F-4D97-AF65-F5344CB8AC3E}">
        <p14:creationId xmlns:p14="http://schemas.microsoft.com/office/powerpoint/2010/main" val="20199493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Eliminating bare fallows</a:t>
            </a:r>
          </a:p>
        </p:txBody>
      </p:sp>
      <p:sp>
        <p:nvSpPr>
          <p:cNvPr id="3" name="Content Placeholder 2"/>
          <p:cNvSpPr>
            <a:spLocks noGrp="1"/>
          </p:cNvSpPr>
          <p:nvPr>
            <p:ph idx="1"/>
          </p:nvPr>
        </p:nvSpPr>
        <p:spPr/>
        <p:txBody>
          <a:bodyPr/>
          <a:lstStyle/>
          <a:p>
            <a:pPr algn="just"/>
            <a:r>
              <a:rPr lang="en-US" dirty="0"/>
              <a:t>Leaving cultivated land to lie idle for a season </a:t>
            </a:r>
            <a:r>
              <a:rPr lang="en-US" dirty="0" smtClean="0"/>
              <a:t>or more </a:t>
            </a:r>
            <a:r>
              <a:rPr lang="en-US" dirty="0"/>
              <a:t>leaves the soil exposed without </a:t>
            </a:r>
            <a:r>
              <a:rPr lang="en-US" dirty="0" smtClean="0"/>
              <a:t>any protection </a:t>
            </a:r>
            <a:r>
              <a:rPr lang="en-US" dirty="0"/>
              <a:t>from heat, wind, rain, and weeds </a:t>
            </a:r>
            <a:r>
              <a:rPr lang="en-US" dirty="0" smtClean="0"/>
              <a:t>where soil </a:t>
            </a:r>
            <a:r>
              <a:rPr lang="en-US" dirty="0"/>
              <a:t>carbon can escape more readily</a:t>
            </a:r>
            <a:r>
              <a:rPr lang="en-US" dirty="0" smtClean="0"/>
              <a:t>.</a:t>
            </a:r>
          </a:p>
          <a:p>
            <a:pPr algn="just"/>
            <a:r>
              <a:rPr lang="en-US" dirty="0" smtClean="0"/>
              <a:t> Instead, sowing </a:t>
            </a:r>
            <a:r>
              <a:rPr lang="en-US" dirty="0"/>
              <a:t>nitrogen-fixing crops like clover can </a:t>
            </a:r>
            <a:r>
              <a:rPr lang="en-US" dirty="0" smtClean="0"/>
              <a:t>help keep </a:t>
            </a:r>
            <a:r>
              <a:rPr lang="en-US" dirty="0"/>
              <a:t>the carbon in the ground as well as </a:t>
            </a:r>
            <a:r>
              <a:rPr lang="en-US" dirty="0" smtClean="0"/>
              <a:t>improve the soils nitrogen content for the next crop.</a:t>
            </a:r>
            <a:endParaRPr lang="en-GB" dirty="0"/>
          </a:p>
        </p:txBody>
      </p:sp>
    </p:spTree>
    <p:extLst>
      <p:ext uri="{BB962C8B-B14F-4D97-AF65-F5344CB8AC3E}">
        <p14:creationId xmlns:p14="http://schemas.microsoft.com/office/powerpoint/2010/main" val="17242798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Increasing the production of cover crops</a:t>
            </a:r>
            <a:endParaRPr lang="en-GB" b="1" dirty="0"/>
          </a:p>
        </p:txBody>
      </p:sp>
      <p:sp>
        <p:nvSpPr>
          <p:cNvPr id="3" name="Content Placeholder 2"/>
          <p:cNvSpPr>
            <a:spLocks noGrp="1"/>
          </p:cNvSpPr>
          <p:nvPr>
            <p:ph idx="1"/>
          </p:nvPr>
        </p:nvSpPr>
        <p:spPr/>
        <p:txBody>
          <a:bodyPr>
            <a:normAutofit/>
          </a:bodyPr>
          <a:lstStyle/>
          <a:p>
            <a:pPr algn="just"/>
            <a:r>
              <a:rPr lang="en-US" dirty="0"/>
              <a:t>One of the most recommended carbon </a:t>
            </a:r>
            <a:r>
              <a:rPr lang="en-US" dirty="0" smtClean="0"/>
              <a:t>farming methods </a:t>
            </a:r>
            <a:r>
              <a:rPr lang="en-US" dirty="0"/>
              <a:t>is to introduce cover cropping. </a:t>
            </a:r>
            <a:endParaRPr lang="en-US" dirty="0" smtClean="0"/>
          </a:p>
          <a:p>
            <a:pPr algn="just"/>
            <a:r>
              <a:rPr lang="en-US" dirty="0" smtClean="0"/>
              <a:t>These</a:t>
            </a:r>
            <a:r>
              <a:rPr lang="en-US" dirty="0"/>
              <a:t> </a:t>
            </a:r>
            <a:r>
              <a:rPr lang="en-US" dirty="0" smtClean="0"/>
              <a:t>kinds </a:t>
            </a:r>
            <a:r>
              <a:rPr lang="en-US" dirty="0"/>
              <a:t>of crops are grown precisely to </a:t>
            </a:r>
            <a:r>
              <a:rPr lang="en-US" dirty="0" smtClean="0"/>
              <a:t>protect the </a:t>
            </a:r>
            <a:r>
              <a:rPr lang="en-US" dirty="0"/>
              <a:t>soil, which is different from the primary </a:t>
            </a:r>
            <a:r>
              <a:rPr lang="en-US" dirty="0" smtClean="0"/>
              <a:t>crop usually </a:t>
            </a:r>
            <a:r>
              <a:rPr lang="en-US" dirty="0"/>
              <a:t>cultivated on the farm. </a:t>
            </a:r>
            <a:endParaRPr lang="en-US" dirty="0" smtClean="0"/>
          </a:p>
          <a:p>
            <a:pPr algn="just"/>
            <a:r>
              <a:rPr lang="en-US" dirty="0" smtClean="0"/>
              <a:t>Cover crops reduce </a:t>
            </a:r>
            <a:r>
              <a:rPr lang="en-US" dirty="0"/>
              <a:t>surface disturbance and work to </a:t>
            </a:r>
            <a:r>
              <a:rPr lang="en-US" dirty="0" smtClean="0"/>
              <a:t>help capture </a:t>
            </a:r>
            <a:r>
              <a:rPr lang="en-US" dirty="0"/>
              <a:t>nutrients to build soil fertility and </a:t>
            </a:r>
            <a:r>
              <a:rPr lang="en-US" dirty="0" smtClean="0"/>
              <a:t>soil </a:t>
            </a:r>
            <a:r>
              <a:rPr lang="en-GB" dirty="0" smtClean="0"/>
              <a:t>organic </a:t>
            </a:r>
            <a:r>
              <a:rPr lang="en-GB" dirty="0"/>
              <a:t>carbon.</a:t>
            </a:r>
          </a:p>
        </p:txBody>
      </p:sp>
    </p:spTree>
    <p:extLst>
      <p:ext uri="{BB962C8B-B14F-4D97-AF65-F5344CB8AC3E}">
        <p14:creationId xmlns:p14="http://schemas.microsoft.com/office/powerpoint/2010/main" val="16062045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Sowing companion crops</a:t>
            </a:r>
          </a:p>
        </p:txBody>
      </p:sp>
      <p:sp>
        <p:nvSpPr>
          <p:cNvPr id="3" name="Content Placeholder 2"/>
          <p:cNvSpPr>
            <a:spLocks noGrp="1"/>
          </p:cNvSpPr>
          <p:nvPr>
            <p:ph idx="1"/>
          </p:nvPr>
        </p:nvSpPr>
        <p:spPr/>
        <p:txBody>
          <a:bodyPr/>
          <a:lstStyle/>
          <a:p>
            <a:pPr algn="just"/>
            <a:r>
              <a:rPr lang="en-US" dirty="0"/>
              <a:t>Companion planting increases plant </a:t>
            </a:r>
            <a:r>
              <a:rPr lang="en-US" dirty="0" smtClean="0"/>
              <a:t>diversity by </a:t>
            </a:r>
            <a:r>
              <a:rPr lang="en-US" dirty="0"/>
              <a:t>growing 2 or more crops close together </a:t>
            </a:r>
            <a:r>
              <a:rPr lang="en-US" dirty="0" smtClean="0"/>
              <a:t>to benefit </a:t>
            </a:r>
            <a:r>
              <a:rPr lang="en-US" dirty="0"/>
              <a:t>not just the crops but also the soil.</a:t>
            </a:r>
          </a:p>
          <a:p>
            <a:pPr algn="just"/>
            <a:r>
              <a:rPr lang="en-US" dirty="0"/>
              <a:t>Knowledge of complementary crops </a:t>
            </a:r>
            <a:r>
              <a:rPr lang="en-US" dirty="0" smtClean="0"/>
              <a:t>is necessary </a:t>
            </a:r>
            <a:r>
              <a:rPr lang="en-US" dirty="0"/>
              <a:t>to maximize the growth </a:t>
            </a:r>
            <a:r>
              <a:rPr lang="en-US" dirty="0" smtClean="0"/>
              <a:t>and production </a:t>
            </a:r>
            <a:r>
              <a:rPr lang="en-US" dirty="0"/>
              <a:t>of crops. </a:t>
            </a:r>
            <a:endParaRPr lang="en-US" dirty="0" smtClean="0"/>
          </a:p>
          <a:p>
            <a:pPr algn="just"/>
            <a:r>
              <a:rPr lang="en-US" dirty="0" smtClean="0"/>
              <a:t>For </a:t>
            </a:r>
            <a:r>
              <a:rPr lang="en-US" dirty="0"/>
              <a:t>example, one crop </a:t>
            </a:r>
            <a:r>
              <a:rPr lang="en-US" dirty="0" smtClean="0"/>
              <a:t>is sown </a:t>
            </a:r>
            <a:r>
              <a:rPr lang="en-US" dirty="0"/>
              <a:t>to protect the primary crop from </a:t>
            </a:r>
            <a:r>
              <a:rPr lang="en-US" dirty="0" smtClean="0"/>
              <a:t>pests </a:t>
            </a:r>
            <a:r>
              <a:rPr lang="en-GB" dirty="0" smtClean="0"/>
              <a:t>and </a:t>
            </a:r>
            <a:r>
              <a:rPr lang="en-GB" dirty="0"/>
              <a:t>insects.</a:t>
            </a:r>
          </a:p>
        </p:txBody>
      </p:sp>
    </p:spTree>
    <p:extLst>
      <p:ext uri="{BB962C8B-B14F-4D97-AF65-F5344CB8AC3E}">
        <p14:creationId xmlns:p14="http://schemas.microsoft.com/office/powerpoint/2010/main" val="11865229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Agroforestry</a:t>
            </a:r>
          </a:p>
        </p:txBody>
      </p:sp>
      <p:sp>
        <p:nvSpPr>
          <p:cNvPr id="3" name="Content Placeholder 2"/>
          <p:cNvSpPr>
            <a:spLocks noGrp="1"/>
          </p:cNvSpPr>
          <p:nvPr>
            <p:ph idx="1"/>
          </p:nvPr>
        </p:nvSpPr>
        <p:spPr/>
        <p:txBody>
          <a:bodyPr>
            <a:normAutofit/>
          </a:bodyPr>
          <a:lstStyle/>
          <a:p>
            <a:pPr algn="just"/>
            <a:r>
              <a:rPr lang="en-US" dirty="0"/>
              <a:t>Farming with the intentional integration of </a:t>
            </a:r>
            <a:r>
              <a:rPr lang="en-US" dirty="0" smtClean="0"/>
              <a:t>trees with </a:t>
            </a:r>
            <a:r>
              <a:rPr lang="en-US" dirty="0"/>
              <a:t>agriculture is known as agroforestry.</a:t>
            </a:r>
          </a:p>
          <a:p>
            <a:pPr algn="just"/>
            <a:r>
              <a:rPr lang="en-US" dirty="0"/>
              <a:t>Agroforestry practices can help </a:t>
            </a:r>
            <a:r>
              <a:rPr lang="en-US" dirty="0" smtClean="0"/>
              <a:t>mitigate emissions </a:t>
            </a:r>
            <a:r>
              <a:rPr lang="en-US" dirty="0"/>
              <a:t>and store carbon in both soils </a:t>
            </a:r>
            <a:r>
              <a:rPr lang="en-US" dirty="0" smtClean="0"/>
              <a:t>and trees</a:t>
            </a:r>
            <a:r>
              <a:rPr lang="en-US" dirty="0"/>
              <a:t>. </a:t>
            </a:r>
            <a:endParaRPr lang="en-US" dirty="0" smtClean="0"/>
          </a:p>
          <a:p>
            <a:pPr algn="just"/>
            <a:r>
              <a:rPr lang="en-US" dirty="0" smtClean="0"/>
              <a:t>Not </a:t>
            </a:r>
            <a:r>
              <a:rPr lang="en-US" dirty="0"/>
              <a:t>only does agroforestry </a:t>
            </a:r>
            <a:r>
              <a:rPr lang="en-US" dirty="0" smtClean="0"/>
              <a:t>provide above-ground </a:t>
            </a:r>
            <a:r>
              <a:rPr lang="en-US" dirty="0"/>
              <a:t>benefits in the field but it </a:t>
            </a:r>
            <a:r>
              <a:rPr lang="en-US" dirty="0" smtClean="0"/>
              <a:t>also provides </a:t>
            </a:r>
            <a:r>
              <a:rPr lang="en-US" dirty="0"/>
              <a:t>crucial below-ground benefits</a:t>
            </a:r>
            <a:r>
              <a:rPr lang="en-US" dirty="0" smtClean="0"/>
              <a:t>.</a:t>
            </a:r>
          </a:p>
          <a:p>
            <a:pPr algn="just"/>
            <a:r>
              <a:rPr lang="en-US" dirty="0" smtClean="0"/>
              <a:t> </a:t>
            </a:r>
            <a:r>
              <a:rPr lang="en-US" dirty="0"/>
              <a:t>It </a:t>
            </a:r>
            <a:r>
              <a:rPr lang="en-US" dirty="0" smtClean="0"/>
              <a:t>does this </a:t>
            </a:r>
            <a:r>
              <a:rPr lang="en-US" dirty="0"/>
              <a:t>while also enhancing farm </a:t>
            </a:r>
            <a:r>
              <a:rPr lang="en-US" dirty="0" smtClean="0"/>
              <a:t>productivity, increasing </a:t>
            </a:r>
            <a:r>
              <a:rPr lang="en-US" dirty="0"/>
              <a:t>soil protection, improving air </a:t>
            </a:r>
            <a:r>
              <a:rPr lang="en-US" dirty="0" smtClean="0"/>
              <a:t>and water </a:t>
            </a:r>
            <a:r>
              <a:rPr lang="en-US" dirty="0"/>
              <a:t>quality; providing wildlife habitat, </a:t>
            </a:r>
            <a:r>
              <a:rPr lang="en-US" dirty="0" smtClean="0"/>
              <a:t>and </a:t>
            </a:r>
            <a:r>
              <a:rPr lang="en-GB" dirty="0" smtClean="0"/>
              <a:t>introducing </a:t>
            </a:r>
            <a:r>
              <a:rPr lang="en-GB" dirty="0"/>
              <a:t>diversified income.</a:t>
            </a:r>
          </a:p>
        </p:txBody>
      </p:sp>
    </p:spTree>
    <p:extLst>
      <p:ext uri="{BB962C8B-B14F-4D97-AF65-F5344CB8AC3E}">
        <p14:creationId xmlns:p14="http://schemas.microsoft.com/office/powerpoint/2010/main" val="23011361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Improved water management</a:t>
            </a:r>
          </a:p>
        </p:txBody>
      </p:sp>
      <p:sp>
        <p:nvSpPr>
          <p:cNvPr id="3" name="Content Placeholder 2"/>
          <p:cNvSpPr>
            <a:spLocks noGrp="1"/>
          </p:cNvSpPr>
          <p:nvPr>
            <p:ph idx="1"/>
          </p:nvPr>
        </p:nvSpPr>
        <p:spPr/>
        <p:txBody>
          <a:bodyPr/>
          <a:lstStyle/>
          <a:p>
            <a:pPr algn="just"/>
            <a:r>
              <a:rPr lang="en-US" dirty="0"/>
              <a:t>Excess water washes away nutrients and </a:t>
            </a:r>
            <a:r>
              <a:rPr lang="en-US" dirty="0" smtClean="0"/>
              <a:t>can even </a:t>
            </a:r>
            <a:r>
              <a:rPr lang="en-US" dirty="0"/>
              <a:t>lead to erosion. </a:t>
            </a:r>
            <a:endParaRPr lang="en-US" dirty="0" smtClean="0"/>
          </a:p>
          <a:p>
            <a:pPr algn="just"/>
            <a:r>
              <a:rPr lang="en-US" dirty="0" smtClean="0"/>
              <a:t>Managing irrigation properly </a:t>
            </a:r>
            <a:r>
              <a:rPr lang="en-US" dirty="0"/>
              <a:t>by watering at appropriate </a:t>
            </a:r>
            <a:r>
              <a:rPr lang="en-US" dirty="0" smtClean="0"/>
              <a:t>times, given </a:t>
            </a:r>
            <a:r>
              <a:rPr lang="en-US" dirty="0"/>
              <a:t>at the right rates, and at the </a:t>
            </a:r>
            <a:r>
              <a:rPr lang="en-US" dirty="0" smtClean="0"/>
              <a:t>most optimum </a:t>
            </a:r>
            <a:r>
              <a:rPr lang="en-US" dirty="0"/>
              <a:t>depth and distance from the crops </a:t>
            </a:r>
            <a:r>
              <a:rPr lang="en-US" dirty="0" smtClean="0"/>
              <a:t>can optimize </a:t>
            </a:r>
            <a:r>
              <a:rPr lang="en-US" dirty="0"/>
              <a:t>crop growth and minimize </a:t>
            </a:r>
            <a:r>
              <a:rPr lang="en-US" dirty="0" smtClean="0"/>
              <a:t>resource </a:t>
            </a:r>
            <a:r>
              <a:rPr lang="en-GB" dirty="0" smtClean="0"/>
              <a:t>waste</a:t>
            </a:r>
            <a:r>
              <a:rPr lang="en-GB" dirty="0"/>
              <a:t>.</a:t>
            </a:r>
          </a:p>
        </p:txBody>
      </p:sp>
    </p:spTree>
    <p:extLst>
      <p:ext uri="{BB962C8B-B14F-4D97-AF65-F5344CB8AC3E}">
        <p14:creationId xmlns:p14="http://schemas.microsoft.com/office/powerpoint/2010/main" val="20349185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1475</Words>
  <Application>Microsoft Office PowerPoint</Application>
  <PresentationFormat>Widescreen</PresentationFormat>
  <Paragraphs>85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Wingdings</vt:lpstr>
      <vt:lpstr>Office Theme</vt:lpstr>
      <vt:lpstr>Principles of Carbon Farming</vt:lpstr>
      <vt:lpstr>PowerPoint Presentation</vt:lpstr>
      <vt:lpstr>Methods of Carbon Farming</vt:lpstr>
      <vt:lpstr>Carbon Farming Practices </vt:lpstr>
      <vt:lpstr>Agroforestry</vt:lpstr>
      <vt:lpstr>Crop and Soil management</vt:lpstr>
      <vt:lpstr>Livestock Management</vt:lpstr>
      <vt:lpstr>Nutrient Management</vt:lpstr>
      <vt:lpstr>Management of Peatlands</vt:lpstr>
      <vt:lpstr>The benefits of soil carbon farming</vt:lpstr>
      <vt:lpstr>The benefits of soil carbon farming</vt:lpstr>
      <vt:lpstr>Soil carbon farming benefits for the environment. </vt:lpstr>
      <vt:lpstr>Soil carbon farming benefits for producers</vt:lpstr>
      <vt:lpstr>Methods of Carbon Farming</vt:lpstr>
      <vt:lpstr>Forest Management</vt:lpstr>
      <vt:lpstr>Grasslands Conservation</vt:lpstr>
      <vt:lpstr>Renewable Energy Production</vt:lpstr>
      <vt:lpstr>Reduced fertilizer application</vt:lpstr>
      <vt:lpstr>Reduced tillage</vt:lpstr>
      <vt:lpstr>Improved residue management</vt:lpstr>
      <vt:lpstr>Eliminating bare fallows</vt:lpstr>
      <vt:lpstr>Increasing the production of cover crops</vt:lpstr>
      <vt:lpstr>Sowing companion crops</vt:lpstr>
      <vt:lpstr>Agroforestry</vt:lpstr>
      <vt:lpstr>Improved water management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ZCA</dc:creator>
  <cp:lastModifiedBy>ZCA</cp:lastModifiedBy>
  <cp:revision>18</cp:revision>
  <dcterms:created xsi:type="dcterms:W3CDTF">2024-06-12T01:21:05Z</dcterms:created>
  <dcterms:modified xsi:type="dcterms:W3CDTF">2024-08-15T17:05:36Z</dcterms:modified>
</cp:coreProperties>
</file>