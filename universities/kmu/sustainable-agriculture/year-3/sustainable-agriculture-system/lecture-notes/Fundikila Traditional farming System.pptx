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45" r:id="rId2"/>
    <p:sldId id="346" r:id="rId3"/>
    <p:sldId id="347" r:id="rId4"/>
    <p:sldId id="348" r:id="rId5"/>
    <p:sldId id="349" r:id="rId6"/>
    <p:sldId id="350" r:id="rId7"/>
    <p:sldId id="351" r:id="rId8"/>
    <p:sldId id="352" r:id="rId9"/>
    <p:sldId id="353" r:id="rId10"/>
    <p:sldId id="354" r:id="rId11"/>
    <p:sldId id="355" r:id="rId12"/>
    <p:sldId id="356" r:id="rId13"/>
    <p:sldId id="357" r:id="rId14"/>
    <p:sldId id="358" r:id="rId15"/>
  </p:sldIdLst>
  <p:sldSz cx="12192000" cy="6858000"/>
  <p:notesSz cx="6858000" cy="9144000"/>
  <p:defaultTextStyle>
    <a:defPPr>
      <a:defRPr lang="en-Z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291" autoAdjust="0"/>
  </p:normalViewPr>
  <p:slideViewPr>
    <p:cSldViewPr snapToGrid="0">
      <p:cViewPr varScale="1">
        <p:scale>
          <a:sx n="69" d="100"/>
          <a:sy n="69" d="100"/>
        </p:scale>
        <p:origin x="78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4A5F3-4CC2-6624-6314-19F764C6DA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M"/>
          </a:p>
        </p:txBody>
      </p:sp>
      <p:sp>
        <p:nvSpPr>
          <p:cNvPr id="3" name="Subtitle 2">
            <a:extLst>
              <a:ext uri="{FF2B5EF4-FFF2-40B4-BE49-F238E27FC236}">
                <a16:creationId xmlns:a16="http://schemas.microsoft.com/office/drawing/2014/main" id="{67536386-E285-C0F3-80DA-67377BA7E7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M"/>
          </a:p>
        </p:txBody>
      </p:sp>
      <p:sp>
        <p:nvSpPr>
          <p:cNvPr id="4" name="Date Placeholder 3">
            <a:extLst>
              <a:ext uri="{FF2B5EF4-FFF2-40B4-BE49-F238E27FC236}">
                <a16:creationId xmlns:a16="http://schemas.microsoft.com/office/drawing/2014/main" id="{1B96358F-8752-94A9-08F8-43B5FBA888C6}"/>
              </a:ext>
            </a:extLst>
          </p:cNvPr>
          <p:cNvSpPr>
            <a:spLocks noGrp="1"/>
          </p:cNvSpPr>
          <p:nvPr>
            <p:ph type="dt" sz="half" idx="10"/>
          </p:nvPr>
        </p:nvSpPr>
        <p:spPr/>
        <p:txBody>
          <a:bodyPr/>
          <a:lstStyle/>
          <a:p>
            <a:fld id="{44303828-8EAD-4ED3-9C4B-F9EE79F891E5}" type="datetimeFigureOut">
              <a:rPr lang="en-ZM" smtClean="0"/>
              <a:t>19/02/2024</a:t>
            </a:fld>
            <a:endParaRPr lang="en-ZM"/>
          </a:p>
        </p:txBody>
      </p:sp>
      <p:sp>
        <p:nvSpPr>
          <p:cNvPr id="5" name="Footer Placeholder 4">
            <a:extLst>
              <a:ext uri="{FF2B5EF4-FFF2-40B4-BE49-F238E27FC236}">
                <a16:creationId xmlns:a16="http://schemas.microsoft.com/office/drawing/2014/main" id="{45806448-DFAD-D670-C466-C32BA951733A}"/>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356E5464-0473-7120-3257-1959868C8A15}"/>
              </a:ext>
            </a:extLst>
          </p:cNvPr>
          <p:cNvSpPr>
            <a:spLocks noGrp="1"/>
          </p:cNvSpPr>
          <p:nvPr>
            <p:ph type="sldNum" sz="quarter" idx="12"/>
          </p:nvPr>
        </p:nvSpPr>
        <p:spPr/>
        <p:txBody>
          <a:bodyPr/>
          <a:lstStyle/>
          <a:p>
            <a:fld id="{643D7145-2EFB-49B6-9BD1-2316791B1A05}" type="slidenum">
              <a:rPr lang="en-ZM" smtClean="0"/>
              <a:t>‹#›</a:t>
            </a:fld>
            <a:endParaRPr lang="en-ZM"/>
          </a:p>
        </p:txBody>
      </p:sp>
    </p:spTree>
    <p:extLst>
      <p:ext uri="{BB962C8B-B14F-4D97-AF65-F5344CB8AC3E}">
        <p14:creationId xmlns:p14="http://schemas.microsoft.com/office/powerpoint/2010/main" val="631846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AB60C-0773-B566-453F-1A3958824D6D}"/>
              </a:ext>
            </a:extLst>
          </p:cNvPr>
          <p:cNvSpPr>
            <a:spLocks noGrp="1"/>
          </p:cNvSpPr>
          <p:nvPr>
            <p:ph type="title"/>
          </p:nvPr>
        </p:nvSpPr>
        <p:spPr/>
        <p:txBody>
          <a:bodyPr/>
          <a:lstStyle/>
          <a:p>
            <a:r>
              <a:rPr lang="en-US"/>
              <a:t>Click to edit Master title style</a:t>
            </a:r>
            <a:endParaRPr lang="en-ZM"/>
          </a:p>
        </p:txBody>
      </p:sp>
      <p:sp>
        <p:nvSpPr>
          <p:cNvPr id="3" name="Content Placeholder 2">
            <a:extLst>
              <a:ext uri="{FF2B5EF4-FFF2-40B4-BE49-F238E27FC236}">
                <a16:creationId xmlns:a16="http://schemas.microsoft.com/office/drawing/2014/main" id="{A3329213-2E35-3C9E-8067-92093BA945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9A02D0F1-7049-D46A-3C0A-0A22337FF9A5}"/>
              </a:ext>
            </a:extLst>
          </p:cNvPr>
          <p:cNvSpPr>
            <a:spLocks noGrp="1"/>
          </p:cNvSpPr>
          <p:nvPr>
            <p:ph type="dt" sz="half" idx="10"/>
          </p:nvPr>
        </p:nvSpPr>
        <p:spPr/>
        <p:txBody>
          <a:bodyPr/>
          <a:lstStyle/>
          <a:p>
            <a:fld id="{44303828-8EAD-4ED3-9C4B-F9EE79F891E5}" type="datetimeFigureOut">
              <a:rPr lang="en-ZM" smtClean="0"/>
              <a:t>19/02/2024</a:t>
            </a:fld>
            <a:endParaRPr lang="en-ZM"/>
          </a:p>
        </p:txBody>
      </p:sp>
      <p:sp>
        <p:nvSpPr>
          <p:cNvPr id="5" name="Footer Placeholder 4">
            <a:extLst>
              <a:ext uri="{FF2B5EF4-FFF2-40B4-BE49-F238E27FC236}">
                <a16:creationId xmlns:a16="http://schemas.microsoft.com/office/drawing/2014/main" id="{3F0792F3-190A-A31C-BB40-F578DC1D4F4A}"/>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6D447B22-A7B4-7EF9-ABCC-ED7E5951ADBB}"/>
              </a:ext>
            </a:extLst>
          </p:cNvPr>
          <p:cNvSpPr>
            <a:spLocks noGrp="1"/>
          </p:cNvSpPr>
          <p:nvPr>
            <p:ph type="sldNum" sz="quarter" idx="12"/>
          </p:nvPr>
        </p:nvSpPr>
        <p:spPr/>
        <p:txBody>
          <a:bodyPr/>
          <a:lstStyle/>
          <a:p>
            <a:fld id="{643D7145-2EFB-49B6-9BD1-2316791B1A05}" type="slidenum">
              <a:rPr lang="en-ZM" smtClean="0"/>
              <a:t>‹#›</a:t>
            </a:fld>
            <a:endParaRPr lang="en-ZM"/>
          </a:p>
        </p:txBody>
      </p:sp>
    </p:spTree>
    <p:extLst>
      <p:ext uri="{BB962C8B-B14F-4D97-AF65-F5344CB8AC3E}">
        <p14:creationId xmlns:p14="http://schemas.microsoft.com/office/powerpoint/2010/main" val="1940919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C0580-6176-125A-AD28-6BB1B72E1B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M"/>
          </a:p>
        </p:txBody>
      </p:sp>
      <p:sp>
        <p:nvSpPr>
          <p:cNvPr id="3" name="Text Placeholder 2">
            <a:extLst>
              <a:ext uri="{FF2B5EF4-FFF2-40B4-BE49-F238E27FC236}">
                <a16:creationId xmlns:a16="http://schemas.microsoft.com/office/drawing/2014/main" id="{C816EB52-9037-DF00-FB69-4BEF7AB100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2D1A1A-FC46-8207-70AE-8943072BBC0D}"/>
              </a:ext>
            </a:extLst>
          </p:cNvPr>
          <p:cNvSpPr>
            <a:spLocks noGrp="1"/>
          </p:cNvSpPr>
          <p:nvPr>
            <p:ph type="dt" sz="half" idx="10"/>
          </p:nvPr>
        </p:nvSpPr>
        <p:spPr/>
        <p:txBody>
          <a:bodyPr/>
          <a:lstStyle/>
          <a:p>
            <a:fld id="{44303828-8EAD-4ED3-9C4B-F9EE79F891E5}" type="datetimeFigureOut">
              <a:rPr lang="en-ZM" smtClean="0"/>
              <a:t>19/02/2024</a:t>
            </a:fld>
            <a:endParaRPr lang="en-ZM"/>
          </a:p>
        </p:txBody>
      </p:sp>
      <p:sp>
        <p:nvSpPr>
          <p:cNvPr id="5" name="Footer Placeholder 4">
            <a:extLst>
              <a:ext uri="{FF2B5EF4-FFF2-40B4-BE49-F238E27FC236}">
                <a16:creationId xmlns:a16="http://schemas.microsoft.com/office/drawing/2014/main" id="{CBCC552F-1DD1-33BF-E73B-EA13F3FAF26A}"/>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677F686E-ED53-0EE4-4914-47C388A86CFD}"/>
              </a:ext>
            </a:extLst>
          </p:cNvPr>
          <p:cNvSpPr>
            <a:spLocks noGrp="1"/>
          </p:cNvSpPr>
          <p:nvPr>
            <p:ph type="sldNum" sz="quarter" idx="12"/>
          </p:nvPr>
        </p:nvSpPr>
        <p:spPr/>
        <p:txBody>
          <a:bodyPr/>
          <a:lstStyle/>
          <a:p>
            <a:fld id="{643D7145-2EFB-49B6-9BD1-2316791B1A05}" type="slidenum">
              <a:rPr lang="en-ZM" smtClean="0"/>
              <a:t>‹#›</a:t>
            </a:fld>
            <a:endParaRPr lang="en-ZM"/>
          </a:p>
        </p:txBody>
      </p:sp>
    </p:spTree>
    <p:extLst>
      <p:ext uri="{BB962C8B-B14F-4D97-AF65-F5344CB8AC3E}">
        <p14:creationId xmlns:p14="http://schemas.microsoft.com/office/powerpoint/2010/main" val="1324638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9D54E-6661-223E-C862-147675C4D3B4}"/>
              </a:ext>
            </a:extLst>
          </p:cNvPr>
          <p:cNvSpPr>
            <a:spLocks noGrp="1"/>
          </p:cNvSpPr>
          <p:nvPr>
            <p:ph type="title"/>
          </p:nvPr>
        </p:nvSpPr>
        <p:spPr/>
        <p:txBody>
          <a:bodyPr/>
          <a:lstStyle/>
          <a:p>
            <a:r>
              <a:rPr lang="en-US"/>
              <a:t>Click to edit Master title style</a:t>
            </a:r>
            <a:endParaRPr lang="en-ZM"/>
          </a:p>
        </p:txBody>
      </p:sp>
      <p:sp>
        <p:nvSpPr>
          <p:cNvPr id="3" name="Content Placeholder 2">
            <a:extLst>
              <a:ext uri="{FF2B5EF4-FFF2-40B4-BE49-F238E27FC236}">
                <a16:creationId xmlns:a16="http://schemas.microsoft.com/office/drawing/2014/main" id="{56ECF285-1D83-CC83-63F4-21B45C08F3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Content Placeholder 3">
            <a:extLst>
              <a:ext uri="{FF2B5EF4-FFF2-40B4-BE49-F238E27FC236}">
                <a16:creationId xmlns:a16="http://schemas.microsoft.com/office/drawing/2014/main" id="{4933418E-1B71-25D1-DA24-E5A5DB59F4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5" name="Date Placeholder 4">
            <a:extLst>
              <a:ext uri="{FF2B5EF4-FFF2-40B4-BE49-F238E27FC236}">
                <a16:creationId xmlns:a16="http://schemas.microsoft.com/office/drawing/2014/main" id="{F5AD132D-05EA-7962-9A7E-505DEA687706}"/>
              </a:ext>
            </a:extLst>
          </p:cNvPr>
          <p:cNvSpPr>
            <a:spLocks noGrp="1"/>
          </p:cNvSpPr>
          <p:nvPr>
            <p:ph type="dt" sz="half" idx="10"/>
          </p:nvPr>
        </p:nvSpPr>
        <p:spPr/>
        <p:txBody>
          <a:bodyPr/>
          <a:lstStyle/>
          <a:p>
            <a:fld id="{44303828-8EAD-4ED3-9C4B-F9EE79F891E5}" type="datetimeFigureOut">
              <a:rPr lang="en-ZM" smtClean="0"/>
              <a:t>19/02/2024</a:t>
            </a:fld>
            <a:endParaRPr lang="en-ZM"/>
          </a:p>
        </p:txBody>
      </p:sp>
      <p:sp>
        <p:nvSpPr>
          <p:cNvPr id="6" name="Footer Placeholder 5">
            <a:extLst>
              <a:ext uri="{FF2B5EF4-FFF2-40B4-BE49-F238E27FC236}">
                <a16:creationId xmlns:a16="http://schemas.microsoft.com/office/drawing/2014/main" id="{61BD6652-CAEA-549C-8787-84E86F8ED90A}"/>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D10C0145-0CBD-2B4B-9D36-38BBF9AD4D2B}"/>
              </a:ext>
            </a:extLst>
          </p:cNvPr>
          <p:cNvSpPr>
            <a:spLocks noGrp="1"/>
          </p:cNvSpPr>
          <p:nvPr>
            <p:ph type="sldNum" sz="quarter" idx="12"/>
          </p:nvPr>
        </p:nvSpPr>
        <p:spPr/>
        <p:txBody>
          <a:bodyPr/>
          <a:lstStyle/>
          <a:p>
            <a:fld id="{643D7145-2EFB-49B6-9BD1-2316791B1A05}" type="slidenum">
              <a:rPr lang="en-ZM" smtClean="0"/>
              <a:t>‹#›</a:t>
            </a:fld>
            <a:endParaRPr lang="en-ZM"/>
          </a:p>
        </p:txBody>
      </p:sp>
    </p:spTree>
    <p:extLst>
      <p:ext uri="{BB962C8B-B14F-4D97-AF65-F5344CB8AC3E}">
        <p14:creationId xmlns:p14="http://schemas.microsoft.com/office/powerpoint/2010/main" val="3729853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2EC95-A932-2C58-C8FC-74DEEBDD9402}"/>
              </a:ext>
            </a:extLst>
          </p:cNvPr>
          <p:cNvSpPr>
            <a:spLocks noGrp="1"/>
          </p:cNvSpPr>
          <p:nvPr>
            <p:ph type="title"/>
          </p:nvPr>
        </p:nvSpPr>
        <p:spPr>
          <a:xfrm>
            <a:off x="839788" y="365125"/>
            <a:ext cx="10515600" cy="1325563"/>
          </a:xfrm>
        </p:spPr>
        <p:txBody>
          <a:bodyPr/>
          <a:lstStyle/>
          <a:p>
            <a:r>
              <a:rPr lang="en-US"/>
              <a:t>Click to edit Master title style</a:t>
            </a:r>
            <a:endParaRPr lang="en-ZM"/>
          </a:p>
        </p:txBody>
      </p:sp>
      <p:sp>
        <p:nvSpPr>
          <p:cNvPr id="3" name="Text Placeholder 2">
            <a:extLst>
              <a:ext uri="{FF2B5EF4-FFF2-40B4-BE49-F238E27FC236}">
                <a16:creationId xmlns:a16="http://schemas.microsoft.com/office/drawing/2014/main" id="{0DC9E479-E91D-1EFA-02D2-31B272E78B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B9A3CE-E4B4-435C-330F-89667D9695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5" name="Text Placeholder 4">
            <a:extLst>
              <a:ext uri="{FF2B5EF4-FFF2-40B4-BE49-F238E27FC236}">
                <a16:creationId xmlns:a16="http://schemas.microsoft.com/office/drawing/2014/main" id="{E8636759-7AC5-FD96-730D-1ED918729A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84FF76-F9C9-797F-9486-895CBC2C26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7" name="Date Placeholder 6">
            <a:extLst>
              <a:ext uri="{FF2B5EF4-FFF2-40B4-BE49-F238E27FC236}">
                <a16:creationId xmlns:a16="http://schemas.microsoft.com/office/drawing/2014/main" id="{86869694-72D8-33E8-9D6F-5CEDA85DE0AE}"/>
              </a:ext>
            </a:extLst>
          </p:cNvPr>
          <p:cNvSpPr>
            <a:spLocks noGrp="1"/>
          </p:cNvSpPr>
          <p:nvPr>
            <p:ph type="dt" sz="half" idx="10"/>
          </p:nvPr>
        </p:nvSpPr>
        <p:spPr/>
        <p:txBody>
          <a:bodyPr/>
          <a:lstStyle/>
          <a:p>
            <a:fld id="{44303828-8EAD-4ED3-9C4B-F9EE79F891E5}" type="datetimeFigureOut">
              <a:rPr lang="en-ZM" smtClean="0"/>
              <a:t>19/02/2024</a:t>
            </a:fld>
            <a:endParaRPr lang="en-ZM"/>
          </a:p>
        </p:txBody>
      </p:sp>
      <p:sp>
        <p:nvSpPr>
          <p:cNvPr id="8" name="Footer Placeholder 7">
            <a:extLst>
              <a:ext uri="{FF2B5EF4-FFF2-40B4-BE49-F238E27FC236}">
                <a16:creationId xmlns:a16="http://schemas.microsoft.com/office/drawing/2014/main" id="{3FE3971F-F6FA-AA95-EA0A-53E0A739CC3E}"/>
              </a:ext>
            </a:extLst>
          </p:cNvPr>
          <p:cNvSpPr>
            <a:spLocks noGrp="1"/>
          </p:cNvSpPr>
          <p:nvPr>
            <p:ph type="ftr" sz="quarter" idx="11"/>
          </p:nvPr>
        </p:nvSpPr>
        <p:spPr/>
        <p:txBody>
          <a:bodyPr/>
          <a:lstStyle/>
          <a:p>
            <a:endParaRPr lang="en-ZM"/>
          </a:p>
        </p:txBody>
      </p:sp>
      <p:sp>
        <p:nvSpPr>
          <p:cNvPr id="9" name="Slide Number Placeholder 8">
            <a:extLst>
              <a:ext uri="{FF2B5EF4-FFF2-40B4-BE49-F238E27FC236}">
                <a16:creationId xmlns:a16="http://schemas.microsoft.com/office/drawing/2014/main" id="{A0675B15-B688-1652-D7BB-59BF6840651D}"/>
              </a:ext>
            </a:extLst>
          </p:cNvPr>
          <p:cNvSpPr>
            <a:spLocks noGrp="1"/>
          </p:cNvSpPr>
          <p:nvPr>
            <p:ph type="sldNum" sz="quarter" idx="12"/>
          </p:nvPr>
        </p:nvSpPr>
        <p:spPr/>
        <p:txBody>
          <a:bodyPr/>
          <a:lstStyle/>
          <a:p>
            <a:fld id="{643D7145-2EFB-49B6-9BD1-2316791B1A05}" type="slidenum">
              <a:rPr lang="en-ZM" smtClean="0"/>
              <a:t>‹#›</a:t>
            </a:fld>
            <a:endParaRPr lang="en-ZM"/>
          </a:p>
        </p:txBody>
      </p:sp>
    </p:spTree>
    <p:extLst>
      <p:ext uri="{BB962C8B-B14F-4D97-AF65-F5344CB8AC3E}">
        <p14:creationId xmlns:p14="http://schemas.microsoft.com/office/powerpoint/2010/main" val="1730775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B3B2C-325F-CB82-9F36-57253A398E6F}"/>
              </a:ext>
            </a:extLst>
          </p:cNvPr>
          <p:cNvSpPr>
            <a:spLocks noGrp="1"/>
          </p:cNvSpPr>
          <p:nvPr>
            <p:ph type="title"/>
          </p:nvPr>
        </p:nvSpPr>
        <p:spPr/>
        <p:txBody>
          <a:bodyPr/>
          <a:lstStyle/>
          <a:p>
            <a:r>
              <a:rPr lang="en-US"/>
              <a:t>Click to edit Master title style</a:t>
            </a:r>
            <a:endParaRPr lang="en-ZM"/>
          </a:p>
        </p:txBody>
      </p:sp>
      <p:sp>
        <p:nvSpPr>
          <p:cNvPr id="3" name="Date Placeholder 2">
            <a:extLst>
              <a:ext uri="{FF2B5EF4-FFF2-40B4-BE49-F238E27FC236}">
                <a16:creationId xmlns:a16="http://schemas.microsoft.com/office/drawing/2014/main" id="{AE7BC16C-8A68-5CC7-B2DA-D328E4769AA9}"/>
              </a:ext>
            </a:extLst>
          </p:cNvPr>
          <p:cNvSpPr>
            <a:spLocks noGrp="1"/>
          </p:cNvSpPr>
          <p:nvPr>
            <p:ph type="dt" sz="half" idx="10"/>
          </p:nvPr>
        </p:nvSpPr>
        <p:spPr/>
        <p:txBody>
          <a:bodyPr/>
          <a:lstStyle/>
          <a:p>
            <a:fld id="{44303828-8EAD-4ED3-9C4B-F9EE79F891E5}" type="datetimeFigureOut">
              <a:rPr lang="en-ZM" smtClean="0"/>
              <a:t>19/02/2024</a:t>
            </a:fld>
            <a:endParaRPr lang="en-ZM"/>
          </a:p>
        </p:txBody>
      </p:sp>
      <p:sp>
        <p:nvSpPr>
          <p:cNvPr id="4" name="Footer Placeholder 3">
            <a:extLst>
              <a:ext uri="{FF2B5EF4-FFF2-40B4-BE49-F238E27FC236}">
                <a16:creationId xmlns:a16="http://schemas.microsoft.com/office/drawing/2014/main" id="{F52AC1A4-5449-DCB4-4336-53268B69026A}"/>
              </a:ext>
            </a:extLst>
          </p:cNvPr>
          <p:cNvSpPr>
            <a:spLocks noGrp="1"/>
          </p:cNvSpPr>
          <p:nvPr>
            <p:ph type="ftr" sz="quarter" idx="11"/>
          </p:nvPr>
        </p:nvSpPr>
        <p:spPr/>
        <p:txBody>
          <a:bodyPr/>
          <a:lstStyle/>
          <a:p>
            <a:endParaRPr lang="en-ZM"/>
          </a:p>
        </p:txBody>
      </p:sp>
      <p:sp>
        <p:nvSpPr>
          <p:cNvPr id="5" name="Slide Number Placeholder 4">
            <a:extLst>
              <a:ext uri="{FF2B5EF4-FFF2-40B4-BE49-F238E27FC236}">
                <a16:creationId xmlns:a16="http://schemas.microsoft.com/office/drawing/2014/main" id="{A37F36D8-444C-EFB9-D29C-6911F4E2EF3E}"/>
              </a:ext>
            </a:extLst>
          </p:cNvPr>
          <p:cNvSpPr>
            <a:spLocks noGrp="1"/>
          </p:cNvSpPr>
          <p:nvPr>
            <p:ph type="sldNum" sz="quarter" idx="12"/>
          </p:nvPr>
        </p:nvSpPr>
        <p:spPr/>
        <p:txBody>
          <a:bodyPr/>
          <a:lstStyle/>
          <a:p>
            <a:fld id="{643D7145-2EFB-49B6-9BD1-2316791B1A05}" type="slidenum">
              <a:rPr lang="en-ZM" smtClean="0"/>
              <a:t>‹#›</a:t>
            </a:fld>
            <a:endParaRPr lang="en-ZM"/>
          </a:p>
        </p:txBody>
      </p:sp>
    </p:spTree>
    <p:extLst>
      <p:ext uri="{BB962C8B-B14F-4D97-AF65-F5344CB8AC3E}">
        <p14:creationId xmlns:p14="http://schemas.microsoft.com/office/powerpoint/2010/main" val="2691780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2B3B70-2B52-236E-9908-23C1E36720E8}"/>
              </a:ext>
            </a:extLst>
          </p:cNvPr>
          <p:cNvSpPr>
            <a:spLocks noGrp="1"/>
          </p:cNvSpPr>
          <p:nvPr>
            <p:ph type="dt" sz="half" idx="10"/>
          </p:nvPr>
        </p:nvSpPr>
        <p:spPr/>
        <p:txBody>
          <a:bodyPr/>
          <a:lstStyle/>
          <a:p>
            <a:fld id="{44303828-8EAD-4ED3-9C4B-F9EE79F891E5}" type="datetimeFigureOut">
              <a:rPr lang="en-ZM" smtClean="0"/>
              <a:t>19/02/2024</a:t>
            </a:fld>
            <a:endParaRPr lang="en-ZM"/>
          </a:p>
        </p:txBody>
      </p:sp>
      <p:sp>
        <p:nvSpPr>
          <p:cNvPr id="3" name="Footer Placeholder 2">
            <a:extLst>
              <a:ext uri="{FF2B5EF4-FFF2-40B4-BE49-F238E27FC236}">
                <a16:creationId xmlns:a16="http://schemas.microsoft.com/office/drawing/2014/main" id="{83D3CD4A-8505-A719-B769-7D8F776E3A5E}"/>
              </a:ext>
            </a:extLst>
          </p:cNvPr>
          <p:cNvSpPr>
            <a:spLocks noGrp="1"/>
          </p:cNvSpPr>
          <p:nvPr>
            <p:ph type="ftr" sz="quarter" idx="11"/>
          </p:nvPr>
        </p:nvSpPr>
        <p:spPr/>
        <p:txBody>
          <a:bodyPr/>
          <a:lstStyle/>
          <a:p>
            <a:endParaRPr lang="en-ZM"/>
          </a:p>
        </p:txBody>
      </p:sp>
      <p:sp>
        <p:nvSpPr>
          <p:cNvPr id="4" name="Slide Number Placeholder 3">
            <a:extLst>
              <a:ext uri="{FF2B5EF4-FFF2-40B4-BE49-F238E27FC236}">
                <a16:creationId xmlns:a16="http://schemas.microsoft.com/office/drawing/2014/main" id="{DA675F96-E449-822A-9231-9806774C2FE7}"/>
              </a:ext>
            </a:extLst>
          </p:cNvPr>
          <p:cNvSpPr>
            <a:spLocks noGrp="1"/>
          </p:cNvSpPr>
          <p:nvPr>
            <p:ph type="sldNum" sz="quarter" idx="12"/>
          </p:nvPr>
        </p:nvSpPr>
        <p:spPr/>
        <p:txBody>
          <a:bodyPr/>
          <a:lstStyle/>
          <a:p>
            <a:fld id="{643D7145-2EFB-49B6-9BD1-2316791B1A05}" type="slidenum">
              <a:rPr lang="en-ZM" smtClean="0"/>
              <a:t>‹#›</a:t>
            </a:fld>
            <a:endParaRPr lang="en-ZM"/>
          </a:p>
        </p:txBody>
      </p:sp>
    </p:spTree>
    <p:extLst>
      <p:ext uri="{BB962C8B-B14F-4D97-AF65-F5344CB8AC3E}">
        <p14:creationId xmlns:p14="http://schemas.microsoft.com/office/powerpoint/2010/main" val="4212302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D39EC-C275-D4C9-6407-35F5937D54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M"/>
          </a:p>
        </p:txBody>
      </p:sp>
      <p:sp>
        <p:nvSpPr>
          <p:cNvPr id="3" name="Content Placeholder 2">
            <a:extLst>
              <a:ext uri="{FF2B5EF4-FFF2-40B4-BE49-F238E27FC236}">
                <a16:creationId xmlns:a16="http://schemas.microsoft.com/office/drawing/2014/main" id="{C5A83937-CB73-2C48-BBEC-B4CFF79BE1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Text Placeholder 3">
            <a:extLst>
              <a:ext uri="{FF2B5EF4-FFF2-40B4-BE49-F238E27FC236}">
                <a16:creationId xmlns:a16="http://schemas.microsoft.com/office/drawing/2014/main" id="{FC04B0F8-C596-467E-C599-F42E84552A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F95135-E873-21A2-CF57-BF8085FE4740}"/>
              </a:ext>
            </a:extLst>
          </p:cNvPr>
          <p:cNvSpPr>
            <a:spLocks noGrp="1"/>
          </p:cNvSpPr>
          <p:nvPr>
            <p:ph type="dt" sz="half" idx="10"/>
          </p:nvPr>
        </p:nvSpPr>
        <p:spPr/>
        <p:txBody>
          <a:bodyPr/>
          <a:lstStyle/>
          <a:p>
            <a:fld id="{44303828-8EAD-4ED3-9C4B-F9EE79F891E5}" type="datetimeFigureOut">
              <a:rPr lang="en-ZM" smtClean="0"/>
              <a:t>19/02/2024</a:t>
            </a:fld>
            <a:endParaRPr lang="en-ZM"/>
          </a:p>
        </p:txBody>
      </p:sp>
      <p:sp>
        <p:nvSpPr>
          <p:cNvPr id="6" name="Footer Placeholder 5">
            <a:extLst>
              <a:ext uri="{FF2B5EF4-FFF2-40B4-BE49-F238E27FC236}">
                <a16:creationId xmlns:a16="http://schemas.microsoft.com/office/drawing/2014/main" id="{60F0C5D2-E9E8-35DF-CBBB-D06C11A236FE}"/>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BBFBF85A-E6AF-D0EE-55D2-A627C13BC4DB}"/>
              </a:ext>
            </a:extLst>
          </p:cNvPr>
          <p:cNvSpPr>
            <a:spLocks noGrp="1"/>
          </p:cNvSpPr>
          <p:nvPr>
            <p:ph type="sldNum" sz="quarter" idx="12"/>
          </p:nvPr>
        </p:nvSpPr>
        <p:spPr/>
        <p:txBody>
          <a:bodyPr/>
          <a:lstStyle/>
          <a:p>
            <a:fld id="{643D7145-2EFB-49B6-9BD1-2316791B1A05}" type="slidenum">
              <a:rPr lang="en-ZM" smtClean="0"/>
              <a:t>‹#›</a:t>
            </a:fld>
            <a:endParaRPr lang="en-ZM"/>
          </a:p>
        </p:txBody>
      </p:sp>
    </p:spTree>
    <p:extLst>
      <p:ext uri="{BB962C8B-B14F-4D97-AF65-F5344CB8AC3E}">
        <p14:creationId xmlns:p14="http://schemas.microsoft.com/office/powerpoint/2010/main" val="760372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8306B-4E27-81DB-BF69-C00A84FD68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M"/>
          </a:p>
        </p:txBody>
      </p:sp>
      <p:sp>
        <p:nvSpPr>
          <p:cNvPr id="3" name="Picture Placeholder 2">
            <a:extLst>
              <a:ext uri="{FF2B5EF4-FFF2-40B4-BE49-F238E27FC236}">
                <a16:creationId xmlns:a16="http://schemas.microsoft.com/office/drawing/2014/main" id="{ED496E4D-8CF3-A59E-9BCA-72D460EA63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M"/>
          </a:p>
        </p:txBody>
      </p:sp>
      <p:sp>
        <p:nvSpPr>
          <p:cNvPr id="4" name="Text Placeholder 3">
            <a:extLst>
              <a:ext uri="{FF2B5EF4-FFF2-40B4-BE49-F238E27FC236}">
                <a16:creationId xmlns:a16="http://schemas.microsoft.com/office/drawing/2014/main" id="{6BC25997-AE09-B9DC-8752-B32D271B4E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2E97C8-0E2D-C365-D4DA-B0770A58762F}"/>
              </a:ext>
            </a:extLst>
          </p:cNvPr>
          <p:cNvSpPr>
            <a:spLocks noGrp="1"/>
          </p:cNvSpPr>
          <p:nvPr>
            <p:ph type="dt" sz="half" idx="10"/>
          </p:nvPr>
        </p:nvSpPr>
        <p:spPr/>
        <p:txBody>
          <a:bodyPr/>
          <a:lstStyle/>
          <a:p>
            <a:fld id="{44303828-8EAD-4ED3-9C4B-F9EE79F891E5}" type="datetimeFigureOut">
              <a:rPr lang="en-ZM" smtClean="0"/>
              <a:t>19/02/2024</a:t>
            </a:fld>
            <a:endParaRPr lang="en-ZM"/>
          </a:p>
        </p:txBody>
      </p:sp>
      <p:sp>
        <p:nvSpPr>
          <p:cNvPr id="6" name="Footer Placeholder 5">
            <a:extLst>
              <a:ext uri="{FF2B5EF4-FFF2-40B4-BE49-F238E27FC236}">
                <a16:creationId xmlns:a16="http://schemas.microsoft.com/office/drawing/2014/main" id="{DE242957-CF18-4C26-C2B2-64F7E9F8E0ED}"/>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D196AC7D-4FE0-7BDD-2B44-53C8F1AF58C0}"/>
              </a:ext>
            </a:extLst>
          </p:cNvPr>
          <p:cNvSpPr>
            <a:spLocks noGrp="1"/>
          </p:cNvSpPr>
          <p:nvPr>
            <p:ph type="sldNum" sz="quarter" idx="12"/>
          </p:nvPr>
        </p:nvSpPr>
        <p:spPr/>
        <p:txBody>
          <a:bodyPr/>
          <a:lstStyle/>
          <a:p>
            <a:fld id="{643D7145-2EFB-49B6-9BD1-2316791B1A05}" type="slidenum">
              <a:rPr lang="en-ZM" smtClean="0"/>
              <a:t>‹#›</a:t>
            </a:fld>
            <a:endParaRPr lang="en-ZM"/>
          </a:p>
        </p:txBody>
      </p:sp>
    </p:spTree>
    <p:extLst>
      <p:ext uri="{BB962C8B-B14F-4D97-AF65-F5344CB8AC3E}">
        <p14:creationId xmlns:p14="http://schemas.microsoft.com/office/powerpoint/2010/main" val="2520103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E48B8-D478-A632-7A00-ADA0D7AADC9B}"/>
              </a:ext>
            </a:extLst>
          </p:cNvPr>
          <p:cNvSpPr>
            <a:spLocks noGrp="1"/>
          </p:cNvSpPr>
          <p:nvPr>
            <p:ph type="title"/>
          </p:nvPr>
        </p:nvSpPr>
        <p:spPr/>
        <p:txBody>
          <a:bodyPr/>
          <a:lstStyle/>
          <a:p>
            <a:r>
              <a:rPr lang="en-US"/>
              <a:t>Click to edit Master title style</a:t>
            </a:r>
            <a:endParaRPr lang="en-ZM"/>
          </a:p>
        </p:txBody>
      </p:sp>
      <p:sp>
        <p:nvSpPr>
          <p:cNvPr id="3" name="Vertical Text Placeholder 2">
            <a:extLst>
              <a:ext uri="{FF2B5EF4-FFF2-40B4-BE49-F238E27FC236}">
                <a16:creationId xmlns:a16="http://schemas.microsoft.com/office/drawing/2014/main" id="{05A65C85-050E-8F65-93AC-DEE14EA3DC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BE609C8A-EC50-7047-183E-AD8759120EBA}"/>
              </a:ext>
            </a:extLst>
          </p:cNvPr>
          <p:cNvSpPr>
            <a:spLocks noGrp="1"/>
          </p:cNvSpPr>
          <p:nvPr>
            <p:ph type="dt" sz="half" idx="10"/>
          </p:nvPr>
        </p:nvSpPr>
        <p:spPr/>
        <p:txBody>
          <a:bodyPr/>
          <a:lstStyle/>
          <a:p>
            <a:fld id="{44303828-8EAD-4ED3-9C4B-F9EE79F891E5}" type="datetimeFigureOut">
              <a:rPr lang="en-ZM" smtClean="0"/>
              <a:t>19/02/2024</a:t>
            </a:fld>
            <a:endParaRPr lang="en-ZM"/>
          </a:p>
        </p:txBody>
      </p:sp>
      <p:sp>
        <p:nvSpPr>
          <p:cNvPr id="5" name="Footer Placeholder 4">
            <a:extLst>
              <a:ext uri="{FF2B5EF4-FFF2-40B4-BE49-F238E27FC236}">
                <a16:creationId xmlns:a16="http://schemas.microsoft.com/office/drawing/2014/main" id="{454D4DF2-5D02-108D-8ACC-4D00473D710B}"/>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1334AB0B-A632-9FA0-0978-3E2AF5838A47}"/>
              </a:ext>
            </a:extLst>
          </p:cNvPr>
          <p:cNvSpPr>
            <a:spLocks noGrp="1"/>
          </p:cNvSpPr>
          <p:nvPr>
            <p:ph type="sldNum" sz="quarter" idx="12"/>
          </p:nvPr>
        </p:nvSpPr>
        <p:spPr/>
        <p:txBody>
          <a:bodyPr/>
          <a:lstStyle/>
          <a:p>
            <a:fld id="{643D7145-2EFB-49B6-9BD1-2316791B1A05}" type="slidenum">
              <a:rPr lang="en-ZM" smtClean="0"/>
              <a:t>‹#›</a:t>
            </a:fld>
            <a:endParaRPr lang="en-ZM"/>
          </a:p>
        </p:txBody>
      </p:sp>
    </p:spTree>
    <p:extLst>
      <p:ext uri="{BB962C8B-B14F-4D97-AF65-F5344CB8AC3E}">
        <p14:creationId xmlns:p14="http://schemas.microsoft.com/office/powerpoint/2010/main" val="3616269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CA124B-3827-56D1-341C-88A562CA94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M"/>
          </a:p>
        </p:txBody>
      </p:sp>
      <p:sp>
        <p:nvSpPr>
          <p:cNvPr id="3" name="Vertical Text Placeholder 2">
            <a:extLst>
              <a:ext uri="{FF2B5EF4-FFF2-40B4-BE49-F238E27FC236}">
                <a16:creationId xmlns:a16="http://schemas.microsoft.com/office/drawing/2014/main" id="{A973EAE3-590C-24CE-A165-0113E94DF8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0C15BDB7-8A7D-2C66-8066-374145B5DD4A}"/>
              </a:ext>
            </a:extLst>
          </p:cNvPr>
          <p:cNvSpPr>
            <a:spLocks noGrp="1"/>
          </p:cNvSpPr>
          <p:nvPr>
            <p:ph type="dt" sz="half" idx="10"/>
          </p:nvPr>
        </p:nvSpPr>
        <p:spPr/>
        <p:txBody>
          <a:bodyPr/>
          <a:lstStyle/>
          <a:p>
            <a:fld id="{44303828-8EAD-4ED3-9C4B-F9EE79F891E5}" type="datetimeFigureOut">
              <a:rPr lang="en-ZM" smtClean="0"/>
              <a:t>19/02/2024</a:t>
            </a:fld>
            <a:endParaRPr lang="en-ZM"/>
          </a:p>
        </p:txBody>
      </p:sp>
      <p:sp>
        <p:nvSpPr>
          <p:cNvPr id="5" name="Footer Placeholder 4">
            <a:extLst>
              <a:ext uri="{FF2B5EF4-FFF2-40B4-BE49-F238E27FC236}">
                <a16:creationId xmlns:a16="http://schemas.microsoft.com/office/drawing/2014/main" id="{E47F497A-ECDA-8E84-9301-88059B61C6B6}"/>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A7C26A7B-F250-C6A0-A576-2A5EE500D041}"/>
              </a:ext>
            </a:extLst>
          </p:cNvPr>
          <p:cNvSpPr>
            <a:spLocks noGrp="1"/>
          </p:cNvSpPr>
          <p:nvPr>
            <p:ph type="sldNum" sz="quarter" idx="12"/>
          </p:nvPr>
        </p:nvSpPr>
        <p:spPr/>
        <p:txBody>
          <a:bodyPr/>
          <a:lstStyle/>
          <a:p>
            <a:fld id="{643D7145-2EFB-49B6-9BD1-2316791B1A05}" type="slidenum">
              <a:rPr lang="en-ZM" smtClean="0"/>
              <a:t>‹#›</a:t>
            </a:fld>
            <a:endParaRPr lang="en-ZM"/>
          </a:p>
        </p:txBody>
      </p:sp>
    </p:spTree>
    <p:extLst>
      <p:ext uri="{BB962C8B-B14F-4D97-AF65-F5344CB8AC3E}">
        <p14:creationId xmlns:p14="http://schemas.microsoft.com/office/powerpoint/2010/main" val="2496649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5D4D6C-5AB1-21EF-41BF-9BD14DAEC8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M"/>
          </a:p>
        </p:txBody>
      </p:sp>
      <p:sp>
        <p:nvSpPr>
          <p:cNvPr id="3" name="Text Placeholder 2">
            <a:extLst>
              <a:ext uri="{FF2B5EF4-FFF2-40B4-BE49-F238E27FC236}">
                <a16:creationId xmlns:a16="http://schemas.microsoft.com/office/drawing/2014/main" id="{404FA96E-F6BC-7E73-532A-52EE5F0EB4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E37194CE-0B38-F035-869A-63BB462860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303828-8EAD-4ED3-9C4B-F9EE79F891E5}" type="datetimeFigureOut">
              <a:rPr lang="en-ZM" smtClean="0"/>
              <a:t>19/02/2024</a:t>
            </a:fld>
            <a:endParaRPr lang="en-ZM"/>
          </a:p>
        </p:txBody>
      </p:sp>
      <p:sp>
        <p:nvSpPr>
          <p:cNvPr id="5" name="Footer Placeholder 4">
            <a:extLst>
              <a:ext uri="{FF2B5EF4-FFF2-40B4-BE49-F238E27FC236}">
                <a16:creationId xmlns:a16="http://schemas.microsoft.com/office/drawing/2014/main" id="{B0C40620-952D-266B-5A9B-F2FC38B265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M"/>
          </a:p>
        </p:txBody>
      </p:sp>
      <p:sp>
        <p:nvSpPr>
          <p:cNvPr id="6" name="Slide Number Placeholder 5">
            <a:extLst>
              <a:ext uri="{FF2B5EF4-FFF2-40B4-BE49-F238E27FC236}">
                <a16:creationId xmlns:a16="http://schemas.microsoft.com/office/drawing/2014/main" id="{88F31B0B-7031-5769-7695-D35A0AA784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3D7145-2EFB-49B6-9BD1-2316791B1A05}" type="slidenum">
              <a:rPr lang="en-ZM" smtClean="0"/>
              <a:t>‹#›</a:t>
            </a:fld>
            <a:endParaRPr lang="en-ZM"/>
          </a:p>
        </p:txBody>
      </p:sp>
    </p:spTree>
    <p:extLst>
      <p:ext uri="{BB962C8B-B14F-4D97-AF65-F5344CB8AC3E}">
        <p14:creationId xmlns:p14="http://schemas.microsoft.com/office/powerpoint/2010/main" val="5546738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Z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03111" y="790222"/>
            <a:ext cx="10340622" cy="2472267"/>
          </a:xfrm>
        </p:spPr>
        <p:txBody>
          <a:bodyPr>
            <a:normAutofit/>
          </a:bodyPr>
          <a:lstStyle/>
          <a:p>
            <a:r>
              <a:rPr lang="en-US" sz="3200" b="1" dirty="0" smtClean="0">
                <a:latin typeface="Arial Narrow" panose="020B0606020202030204" pitchFamily="34" charset="0"/>
              </a:rPr>
              <a:t>FUNDIKILA TRADITIONAL FARMING SYSTEM</a:t>
            </a:r>
            <a:endParaRPr lang="en-US" sz="20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3" name="Subtitle 2"/>
          <p:cNvSpPr>
            <a:spLocks noGrp="1"/>
          </p:cNvSpPr>
          <p:nvPr>
            <p:ph type="subTitle" idx="1"/>
          </p:nvPr>
        </p:nvSpPr>
        <p:spPr/>
        <p:txBody>
          <a:bodyPr>
            <a:normAutofit/>
          </a:bodyPr>
          <a:lstStyle/>
          <a:p>
            <a:endParaRPr lang="en-US" sz="1600" dirty="0">
              <a:latin typeface="Arial Narrow" panose="020B0606020202030204" pitchFamily="34" charset="0"/>
            </a:endParaRPr>
          </a:p>
        </p:txBody>
      </p:sp>
      <p:sp>
        <p:nvSpPr>
          <p:cNvPr id="4" name="Date Placeholder 3"/>
          <p:cNvSpPr>
            <a:spLocks noGrp="1"/>
          </p:cNvSpPr>
          <p:nvPr>
            <p:ph type="dt" sz="half" idx="10"/>
          </p:nvPr>
        </p:nvSpPr>
        <p:spPr/>
        <p:txBody>
          <a:bodyPr/>
          <a:lstStyle/>
          <a:p>
            <a:fld id="{E6C992B4-8EAC-4EF5-9695-897357E32212}" type="datetime2">
              <a:rPr lang="en-US" smtClean="0"/>
              <a:t>Monday, February 19, 2024</a:t>
            </a:fld>
            <a:endParaRPr lang="en-US"/>
          </a:p>
        </p:txBody>
      </p:sp>
      <p:sp>
        <p:nvSpPr>
          <p:cNvPr id="5" name="Slide Number Placeholder 4"/>
          <p:cNvSpPr>
            <a:spLocks noGrp="1"/>
          </p:cNvSpPr>
          <p:nvPr>
            <p:ph type="sldNum" sz="quarter" idx="12"/>
          </p:nvPr>
        </p:nvSpPr>
        <p:spPr/>
        <p:txBody>
          <a:bodyPr/>
          <a:lstStyle/>
          <a:p>
            <a:fld id="{4B0C8C63-4FCE-40ED-864D-C0FFDCB54A71}" type="slidenum">
              <a:rPr lang="en-US" smtClean="0"/>
              <a:t>1</a:t>
            </a:fld>
            <a:endParaRPr lang="en-US"/>
          </a:p>
        </p:txBody>
      </p:sp>
    </p:spTree>
    <p:extLst>
      <p:ext uri="{BB962C8B-B14F-4D97-AF65-F5344CB8AC3E}">
        <p14:creationId xmlns:p14="http://schemas.microsoft.com/office/powerpoint/2010/main" val="4077729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Introduction</a:t>
            </a:r>
          </a:p>
        </p:txBody>
      </p:sp>
      <p:sp>
        <p:nvSpPr>
          <p:cNvPr id="3" name="Content Placeholder 2"/>
          <p:cNvSpPr>
            <a:spLocks noGrp="1"/>
          </p:cNvSpPr>
          <p:nvPr>
            <p:ph idx="1"/>
          </p:nvPr>
        </p:nvSpPr>
        <p:spPr/>
        <p:txBody>
          <a:bodyPr>
            <a:normAutofit/>
          </a:bodyPr>
          <a:lstStyle/>
          <a:p>
            <a:pPr algn="just"/>
            <a:r>
              <a:rPr lang="en-US" dirty="0"/>
              <a:t>Fundikila</a:t>
            </a:r>
            <a:r>
              <a:rPr lang="en-US" dirty="0" smtClean="0"/>
              <a:t>, also known as mound cultivation system </a:t>
            </a:r>
            <a:r>
              <a:rPr lang="en-US" dirty="0"/>
              <a:t> means “covering” in the local </a:t>
            </a:r>
            <a:r>
              <a:rPr lang="en-US" dirty="0" smtClean="0"/>
              <a:t>language.</a:t>
            </a:r>
          </a:p>
          <a:p>
            <a:pPr algn="just"/>
            <a:r>
              <a:rPr lang="en-US" dirty="0" smtClean="0"/>
              <a:t>It </a:t>
            </a:r>
            <a:r>
              <a:rPr lang="en-US" dirty="0"/>
              <a:t>is commonly practiced among the ethnic groups of Mambwe in </a:t>
            </a:r>
            <a:r>
              <a:rPr lang="en-US" dirty="0" err="1"/>
              <a:t>Mbala</a:t>
            </a:r>
            <a:r>
              <a:rPr lang="en-US" dirty="0"/>
              <a:t>, </a:t>
            </a:r>
            <a:r>
              <a:rPr lang="en-US" dirty="0" err="1"/>
              <a:t>Lungu</a:t>
            </a:r>
            <a:r>
              <a:rPr lang="en-US" dirty="0"/>
              <a:t> in </a:t>
            </a:r>
            <a:r>
              <a:rPr lang="en-US" dirty="0" smtClean="0"/>
              <a:t>Mpulungu</a:t>
            </a:r>
            <a:r>
              <a:rPr lang="en-US" dirty="0"/>
              <a:t>, and </a:t>
            </a:r>
            <a:r>
              <a:rPr lang="en-US" dirty="0" err="1"/>
              <a:t>Namanga</a:t>
            </a:r>
            <a:r>
              <a:rPr lang="en-US" dirty="0"/>
              <a:t> in </a:t>
            </a:r>
            <a:r>
              <a:rPr lang="en-US" dirty="0" err="1"/>
              <a:t>Nakonde</a:t>
            </a:r>
            <a:r>
              <a:rPr lang="en-US" dirty="0"/>
              <a:t> and </a:t>
            </a:r>
            <a:r>
              <a:rPr lang="en-US" dirty="0" err="1" smtClean="0"/>
              <a:t>Isoka</a:t>
            </a:r>
            <a:r>
              <a:rPr lang="en-US" dirty="0" smtClean="0"/>
              <a:t>.</a:t>
            </a:r>
          </a:p>
          <a:p>
            <a:pPr algn="just"/>
            <a:r>
              <a:rPr lang="en-US" dirty="0" smtClean="0"/>
              <a:t>This </a:t>
            </a:r>
            <a:r>
              <a:rPr lang="en-US" dirty="0"/>
              <a:t>is applied mostly when reclaiming a new </a:t>
            </a:r>
            <a:r>
              <a:rPr lang="en-US" dirty="0" smtClean="0"/>
              <a:t>farmland.</a:t>
            </a:r>
          </a:p>
          <a:p>
            <a:pPr algn="just"/>
            <a:r>
              <a:rPr lang="en-US" dirty="0" smtClean="0"/>
              <a:t>Right </a:t>
            </a:r>
            <a:r>
              <a:rPr lang="en-US" dirty="0"/>
              <a:t>after the rainy season, specifically during March to April, a virgin land covered with tall grasses, such as elephant grass, is ploughed and soils are piled up. </a:t>
            </a:r>
          </a:p>
          <a:p>
            <a:pPr marL="0" indent="0" algn="ctr">
              <a:buNone/>
            </a:pPr>
            <a:endParaRPr lang="en-US" sz="3600" dirty="0">
              <a:latin typeface="Arial Narrow" panose="020B0606020202030204" pitchFamily="34" charset="0"/>
            </a:endParaRPr>
          </a:p>
        </p:txBody>
      </p:sp>
      <p:sp>
        <p:nvSpPr>
          <p:cNvPr id="4" name="Date Placeholder 3"/>
          <p:cNvSpPr>
            <a:spLocks noGrp="1"/>
          </p:cNvSpPr>
          <p:nvPr>
            <p:ph type="dt" sz="half" idx="10"/>
          </p:nvPr>
        </p:nvSpPr>
        <p:spPr/>
        <p:txBody>
          <a:bodyPr/>
          <a:lstStyle/>
          <a:p>
            <a:fld id="{82D79440-AC11-4AAC-AE3C-D8F8851A3FC6}" type="datetime2">
              <a:rPr lang="en-US" smtClean="0"/>
              <a:t>Monday, February 19, 2024</a:t>
            </a:fld>
            <a:endParaRPr lang="en-US"/>
          </a:p>
        </p:txBody>
      </p:sp>
      <p:sp>
        <p:nvSpPr>
          <p:cNvPr id="5" name="Slide Number Placeholder 4"/>
          <p:cNvSpPr>
            <a:spLocks noGrp="1"/>
          </p:cNvSpPr>
          <p:nvPr>
            <p:ph type="sldNum" sz="quarter" idx="12"/>
          </p:nvPr>
        </p:nvSpPr>
        <p:spPr/>
        <p:txBody>
          <a:bodyPr/>
          <a:lstStyle/>
          <a:p>
            <a:fld id="{4B0C8C63-4FCE-40ED-864D-C0FFDCB54A71}" type="slidenum">
              <a:rPr lang="en-US" smtClean="0"/>
              <a:t>2</a:t>
            </a:fld>
            <a:endParaRPr lang="en-US"/>
          </a:p>
        </p:txBody>
      </p:sp>
    </p:spTree>
    <p:extLst>
      <p:ext uri="{BB962C8B-B14F-4D97-AF65-F5344CB8AC3E}">
        <p14:creationId xmlns:p14="http://schemas.microsoft.com/office/powerpoint/2010/main" val="40739288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lgn="just"/>
            <a:r>
              <a:rPr lang="en-US" dirty="0" smtClean="0"/>
              <a:t>It </a:t>
            </a:r>
            <a:r>
              <a:rPr lang="en-US" dirty="0"/>
              <a:t>has been suggested that the system is a culmination of the breakdown of the chitemene system as the area became deforested by an increasing population (</a:t>
            </a:r>
            <a:r>
              <a:rPr lang="en-US" dirty="0" err="1"/>
              <a:t>Stromgaard</a:t>
            </a:r>
            <a:r>
              <a:rPr lang="en-US" dirty="0"/>
              <a:t>, 1989</a:t>
            </a:r>
            <a:r>
              <a:rPr lang="en-US" dirty="0" smtClean="0"/>
              <a:t>).</a:t>
            </a:r>
          </a:p>
          <a:p>
            <a:pPr algn="just"/>
            <a:r>
              <a:rPr lang="en-US" dirty="0"/>
              <a:t>T</a:t>
            </a:r>
            <a:r>
              <a:rPr lang="en-US" dirty="0" smtClean="0"/>
              <a:t>he </a:t>
            </a:r>
            <a:r>
              <a:rPr lang="en-US" dirty="0"/>
              <a:t>process involves the formation towards the end of the rainy season of mounds of grass (predominantly </a:t>
            </a:r>
            <a:r>
              <a:rPr lang="en-US" i="1" dirty="0" err="1"/>
              <a:t>Hyparrhenia</a:t>
            </a:r>
            <a:r>
              <a:rPr lang="en-US" i="1" dirty="0"/>
              <a:t> </a:t>
            </a:r>
            <a:r>
              <a:rPr lang="en-US" i="1" dirty="0" err="1"/>
              <a:t>filipendula</a:t>
            </a:r>
            <a:r>
              <a:rPr lang="en-US" i="1" dirty="0"/>
              <a:t> and </a:t>
            </a:r>
            <a:r>
              <a:rPr lang="en-US" i="1" dirty="0" err="1"/>
              <a:t>Pennisetum</a:t>
            </a:r>
            <a:r>
              <a:rPr lang="en-US" i="1" dirty="0"/>
              <a:t> purpureum</a:t>
            </a:r>
            <a:r>
              <a:rPr lang="en-US" dirty="0"/>
              <a:t>) covered by earth on a previously fallowed site</a:t>
            </a:r>
            <a:r>
              <a:rPr lang="en-US" dirty="0" smtClean="0"/>
              <a:t>.</a:t>
            </a:r>
          </a:p>
          <a:p>
            <a:pPr algn="just"/>
            <a:r>
              <a:rPr lang="en-US" dirty="0"/>
              <a:t>The grass rots within the mound during the dry season, and at the start of the next rains the mounds are levelled, and the finger millet planted. </a:t>
            </a:r>
            <a:endParaRPr lang="en-US" dirty="0"/>
          </a:p>
        </p:txBody>
      </p:sp>
    </p:spTree>
    <p:extLst>
      <p:ext uri="{BB962C8B-B14F-4D97-AF65-F5344CB8AC3E}">
        <p14:creationId xmlns:p14="http://schemas.microsoft.com/office/powerpoint/2010/main" val="36702277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This may be followed in the second season by a variety of crops including maize (</a:t>
            </a:r>
            <a:r>
              <a:rPr lang="en-US" i="1" dirty="0"/>
              <a:t>Zea mays L</a:t>
            </a:r>
            <a:r>
              <a:rPr lang="en-US" dirty="0"/>
              <a:t>.), beans, sorghum (</a:t>
            </a:r>
            <a:r>
              <a:rPr lang="en-US" i="1" dirty="0"/>
              <a:t>Sorghum bicolor L. </a:t>
            </a:r>
            <a:r>
              <a:rPr lang="en-US" i="1" dirty="0" err="1"/>
              <a:t>Moench</a:t>
            </a:r>
            <a:r>
              <a:rPr lang="en-US" dirty="0"/>
              <a:t>) and </a:t>
            </a:r>
            <a:r>
              <a:rPr lang="en-US" dirty="0" smtClean="0"/>
              <a:t>groundnuts.</a:t>
            </a:r>
          </a:p>
          <a:p>
            <a:pPr algn="just"/>
            <a:r>
              <a:rPr lang="en-US" dirty="0" smtClean="0"/>
              <a:t>Millet </a:t>
            </a:r>
            <a:r>
              <a:rPr lang="en-US" dirty="0"/>
              <a:t>is usually planted again in the third year, followed by a legume. In some cases, the field may be mounded every second year, and the crop planted on the </a:t>
            </a:r>
            <a:r>
              <a:rPr lang="en-US" dirty="0" smtClean="0"/>
              <a:t>mounds.</a:t>
            </a:r>
          </a:p>
          <a:p>
            <a:pPr algn="just"/>
            <a:r>
              <a:rPr lang="en-US" dirty="0" smtClean="0"/>
              <a:t>This </a:t>
            </a:r>
            <a:r>
              <a:rPr lang="en-US" dirty="0"/>
              <a:t>combination of green-manuring and alternating cereal crops with legumes helps to slow the exhaustion of soil fertility. </a:t>
            </a:r>
            <a:endParaRPr lang="en-US" dirty="0"/>
          </a:p>
        </p:txBody>
      </p:sp>
    </p:spTree>
    <p:extLst>
      <p:ext uri="{BB962C8B-B14F-4D97-AF65-F5344CB8AC3E}">
        <p14:creationId xmlns:p14="http://schemas.microsoft.com/office/powerpoint/2010/main" val="2840240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There is some evidence that the system is sustainable (</a:t>
            </a:r>
            <a:r>
              <a:rPr lang="en-US" dirty="0" err="1"/>
              <a:t>Stromgaard</a:t>
            </a:r>
            <a:r>
              <a:rPr lang="en-US" dirty="0"/>
              <a:t>, 1990), but in practice the cropping period is 3-5 years, and the fallow period is traditionally up to 20 years (Mansfield, 1973</a:t>
            </a:r>
            <a:r>
              <a:rPr lang="en-US" dirty="0" smtClean="0"/>
              <a:t>).</a:t>
            </a:r>
          </a:p>
          <a:p>
            <a:pPr algn="just"/>
            <a:r>
              <a:rPr lang="en-US" dirty="0" smtClean="0"/>
              <a:t>It </a:t>
            </a:r>
            <a:r>
              <a:rPr lang="en-US" dirty="0"/>
              <a:t>has been estimated that the </a:t>
            </a:r>
            <a:r>
              <a:rPr lang="en-US" dirty="0" err="1"/>
              <a:t>fundikila</a:t>
            </a:r>
            <a:r>
              <a:rPr lang="en-US" dirty="0"/>
              <a:t> system is able to support 20-40 persons per square km (Mansfield et al., 1975), considerably more than the chitemene system.</a:t>
            </a:r>
          </a:p>
          <a:p>
            <a:endParaRPr lang="en-US" dirty="0"/>
          </a:p>
        </p:txBody>
      </p:sp>
    </p:spTree>
    <p:extLst>
      <p:ext uri="{BB962C8B-B14F-4D97-AF65-F5344CB8AC3E}">
        <p14:creationId xmlns:p14="http://schemas.microsoft.com/office/powerpoint/2010/main" val="115363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Improvements to the Fundikila farming System</a:t>
            </a:r>
            <a:endParaRPr lang="en-US" b="1" dirty="0"/>
          </a:p>
        </p:txBody>
      </p:sp>
      <p:sp>
        <p:nvSpPr>
          <p:cNvPr id="3" name="Content Placeholder 2"/>
          <p:cNvSpPr>
            <a:spLocks noGrp="1"/>
          </p:cNvSpPr>
          <p:nvPr>
            <p:ph idx="1"/>
          </p:nvPr>
        </p:nvSpPr>
        <p:spPr/>
        <p:txBody>
          <a:bodyPr>
            <a:normAutofit lnSpcReduction="10000"/>
          </a:bodyPr>
          <a:lstStyle/>
          <a:p>
            <a:pPr algn="just"/>
            <a:r>
              <a:rPr lang="en-US" dirty="0" smtClean="0"/>
              <a:t>Increasing </a:t>
            </a:r>
            <a:r>
              <a:rPr lang="en-US" dirty="0"/>
              <a:t>population pressure in the Northern Province led agricultural scientists working at the </a:t>
            </a:r>
            <a:r>
              <a:rPr lang="en-US" dirty="0" err="1"/>
              <a:t>Misamfu</a:t>
            </a:r>
            <a:r>
              <a:rPr lang="en-US" dirty="0"/>
              <a:t> Regional Research Centre, </a:t>
            </a:r>
            <a:r>
              <a:rPr lang="en-US" dirty="0" smtClean="0"/>
              <a:t>in </a:t>
            </a:r>
            <a:r>
              <a:rPr lang="en-US" dirty="0" err="1" smtClean="0"/>
              <a:t>Kasama</a:t>
            </a:r>
            <a:r>
              <a:rPr lang="en-US" dirty="0"/>
              <a:t>, to begin exploring ways of maintaining soil productivity. </a:t>
            </a:r>
            <a:endParaRPr lang="en-US" dirty="0" smtClean="0"/>
          </a:p>
          <a:p>
            <a:pPr algn="just"/>
            <a:r>
              <a:rPr lang="en-US" dirty="0" smtClean="0"/>
              <a:t>Mambwe </a:t>
            </a:r>
            <a:r>
              <a:rPr lang="en-US" dirty="0"/>
              <a:t>people keep cattle but livestock numbers have declined due to tick-borne diseases after a serious breakdown in animal disease control </a:t>
            </a:r>
            <a:r>
              <a:rPr lang="en-US" dirty="0" smtClean="0"/>
              <a:t>programmes.</a:t>
            </a:r>
          </a:p>
          <a:p>
            <a:pPr algn="just"/>
            <a:r>
              <a:rPr lang="en-US" dirty="0" smtClean="0"/>
              <a:t>Those </a:t>
            </a:r>
            <a:r>
              <a:rPr lang="en-US" dirty="0"/>
              <a:t>farmers who do still own cattle use manure to </a:t>
            </a:r>
            <a:r>
              <a:rPr lang="en-US" dirty="0" err="1"/>
              <a:t>fertilise</a:t>
            </a:r>
            <a:r>
              <a:rPr lang="en-US" dirty="0"/>
              <a:t> their </a:t>
            </a:r>
            <a:r>
              <a:rPr lang="en-US" dirty="0" smtClean="0"/>
              <a:t>fields.</a:t>
            </a:r>
          </a:p>
          <a:p>
            <a:pPr algn="just"/>
            <a:r>
              <a:rPr lang="en-US" dirty="0" smtClean="0"/>
              <a:t>However</a:t>
            </a:r>
            <a:r>
              <a:rPr lang="en-US" dirty="0"/>
              <a:t>, most farmers rely heavily on other ways of managing soil fertility. </a:t>
            </a:r>
            <a:endParaRPr lang="en-US" dirty="0"/>
          </a:p>
        </p:txBody>
      </p:sp>
    </p:spTree>
    <p:extLst>
      <p:ext uri="{BB962C8B-B14F-4D97-AF65-F5344CB8AC3E}">
        <p14:creationId xmlns:p14="http://schemas.microsoft.com/office/powerpoint/2010/main" val="2006858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This </a:t>
            </a:r>
            <a:r>
              <a:rPr lang="en-US" dirty="0" err="1"/>
              <a:t>realisation</a:t>
            </a:r>
            <a:r>
              <a:rPr lang="en-US" dirty="0"/>
              <a:t> led to research based on the features of the Mambwe mound system, attempting to improve the quality of the mounds at farm </a:t>
            </a:r>
            <a:r>
              <a:rPr lang="en-US" dirty="0" smtClean="0"/>
              <a:t>level.</a:t>
            </a:r>
          </a:p>
          <a:p>
            <a:pPr algn="just"/>
            <a:r>
              <a:rPr lang="en-US" dirty="0" smtClean="0"/>
              <a:t>This </a:t>
            </a:r>
            <a:r>
              <a:rPr lang="en-US" dirty="0"/>
              <a:t>research work was supported by the Norwegian Agency for International Development (NORAD), which funded two research programmes on soil productivity, over a 15 year period (1981-1996). </a:t>
            </a:r>
            <a:endParaRPr lang="en-US" dirty="0" smtClean="0"/>
          </a:p>
          <a:p>
            <a:pPr algn="just"/>
            <a:r>
              <a:rPr lang="en-US" dirty="0" smtClean="0"/>
              <a:t>Research </a:t>
            </a:r>
            <a:r>
              <a:rPr lang="en-US" dirty="0"/>
              <a:t>showed that the quality of organic material for the mounds could be improved by incorporating easily degradable leguminous plant residues into the mounds.</a:t>
            </a:r>
            <a:endParaRPr lang="en-US" dirty="0"/>
          </a:p>
        </p:txBody>
      </p:sp>
    </p:spTree>
    <p:extLst>
      <p:ext uri="{BB962C8B-B14F-4D97-AF65-F5344CB8AC3E}">
        <p14:creationId xmlns:p14="http://schemas.microsoft.com/office/powerpoint/2010/main" val="1610133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On-farm experiments, conducted in collaboration with farmers, tested the suitability of various leguminous species for the Mambwe mound cultivation </a:t>
            </a:r>
            <a:r>
              <a:rPr lang="en-US" dirty="0" smtClean="0"/>
              <a:t>system.</a:t>
            </a:r>
          </a:p>
          <a:p>
            <a:pPr algn="just"/>
            <a:r>
              <a:rPr lang="en-US" dirty="0" smtClean="0"/>
              <a:t>It </a:t>
            </a:r>
            <a:r>
              <a:rPr lang="en-US" dirty="0"/>
              <a:t>was found that the most suitable plant species were those that could be planted with the first rains, in November, and cut and incorporated in the mounds at the end of the </a:t>
            </a:r>
            <a:r>
              <a:rPr lang="en-US" dirty="0" smtClean="0"/>
              <a:t>season.</a:t>
            </a:r>
          </a:p>
          <a:p>
            <a:pPr algn="just"/>
            <a:r>
              <a:rPr lang="en-US" dirty="0" smtClean="0"/>
              <a:t>One </a:t>
            </a:r>
            <a:r>
              <a:rPr lang="en-US" dirty="0"/>
              <a:t>useful species was </a:t>
            </a:r>
            <a:r>
              <a:rPr lang="en-US" i="1" dirty="0" err="1"/>
              <a:t>Stylosanthes</a:t>
            </a:r>
            <a:r>
              <a:rPr lang="en-US" i="1" dirty="0"/>
              <a:t> </a:t>
            </a:r>
            <a:r>
              <a:rPr lang="en-US" i="1" dirty="0" err="1"/>
              <a:t>guianensis</a:t>
            </a:r>
            <a:r>
              <a:rPr lang="en-US" i="1" dirty="0"/>
              <a:t>,</a:t>
            </a:r>
            <a:r>
              <a:rPr lang="en-US" dirty="0"/>
              <a:t> a perennial legume which can grow </a:t>
            </a:r>
            <a:r>
              <a:rPr lang="en-US" dirty="0" smtClean="0"/>
              <a:t>in less </a:t>
            </a:r>
            <a:r>
              <a:rPr lang="en-US" dirty="0"/>
              <a:t>fertile soil, is adapted to drier conditions and fixes atmospheric nitrogen well</a:t>
            </a:r>
            <a:endParaRPr lang="en-US" dirty="0"/>
          </a:p>
        </p:txBody>
      </p:sp>
    </p:spTree>
    <p:extLst>
      <p:ext uri="{BB962C8B-B14F-4D97-AF65-F5344CB8AC3E}">
        <p14:creationId xmlns:p14="http://schemas.microsoft.com/office/powerpoint/2010/main" val="1482983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Research showed that this species has the potential to improve fertility and crop performance, through raising soil pH and the nutrient status of the </a:t>
            </a:r>
            <a:r>
              <a:rPr lang="en-US" dirty="0" smtClean="0"/>
              <a:t>soils.</a:t>
            </a:r>
          </a:p>
          <a:p>
            <a:pPr algn="just"/>
            <a:r>
              <a:rPr lang="en-US" dirty="0" smtClean="0"/>
              <a:t>Another </a:t>
            </a:r>
            <a:r>
              <a:rPr lang="en-US" dirty="0"/>
              <a:t>species tested was </a:t>
            </a:r>
            <a:r>
              <a:rPr lang="en-US" i="1" dirty="0"/>
              <a:t>Crotalaria </a:t>
            </a:r>
            <a:r>
              <a:rPr lang="en-US" i="1" dirty="0" err="1"/>
              <a:t>zanzibarica</a:t>
            </a:r>
            <a:r>
              <a:rPr lang="en-US" dirty="0"/>
              <a:t>, known in many other countries as an agricultural </a:t>
            </a:r>
            <a:r>
              <a:rPr lang="en-US" dirty="0" smtClean="0"/>
              <a:t>weed.</a:t>
            </a:r>
          </a:p>
          <a:p>
            <a:pPr algn="just"/>
            <a:r>
              <a:rPr lang="en-US" dirty="0" smtClean="0"/>
              <a:t>This </a:t>
            </a:r>
            <a:r>
              <a:rPr lang="en-US" dirty="0"/>
              <a:t>also grew well, and both species decomposed rapidly within the </a:t>
            </a:r>
            <a:r>
              <a:rPr lang="en-US" dirty="0" smtClean="0"/>
              <a:t>mounds.</a:t>
            </a:r>
          </a:p>
          <a:p>
            <a:pPr algn="just"/>
            <a:r>
              <a:rPr lang="en-US" dirty="0" smtClean="0"/>
              <a:t>The </a:t>
            </a:r>
            <a:r>
              <a:rPr lang="en-US" dirty="0"/>
              <a:t>nutrients released supported crop growth during the next cropping season, after the mounds were levelled at the beginning of the rains.</a:t>
            </a:r>
            <a:endParaRPr lang="en-US" dirty="0"/>
          </a:p>
        </p:txBody>
      </p:sp>
    </p:spTree>
    <p:extLst>
      <p:ext uri="{BB962C8B-B14F-4D97-AF65-F5344CB8AC3E}">
        <p14:creationId xmlns:p14="http://schemas.microsoft.com/office/powerpoint/2010/main" val="2579322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algn="just"/>
            <a:r>
              <a:rPr lang="en-US" dirty="0"/>
              <a:t>Another key improvement was to plant a bean crop on the mounds once they have been prepared at the end of the rainy season. </a:t>
            </a:r>
            <a:endParaRPr lang="en-US" dirty="0" smtClean="0"/>
          </a:p>
          <a:p>
            <a:pPr algn="just"/>
            <a:r>
              <a:rPr lang="en-US" dirty="0" smtClean="0"/>
              <a:t>Planting </a:t>
            </a:r>
            <a:r>
              <a:rPr lang="en-US" dirty="0"/>
              <a:t>at this time yields more than planting earlier, at the onset of </a:t>
            </a:r>
            <a:r>
              <a:rPr lang="en-US" dirty="0" smtClean="0"/>
              <a:t>rains.</a:t>
            </a:r>
          </a:p>
          <a:p>
            <a:pPr algn="just"/>
            <a:r>
              <a:rPr lang="en-US" dirty="0" smtClean="0"/>
              <a:t>This </a:t>
            </a:r>
            <a:r>
              <a:rPr lang="en-US" dirty="0"/>
              <a:t>is because the crop develops under relatively drier conditions and suffers less from foliar bacterial and fungal </a:t>
            </a:r>
            <a:r>
              <a:rPr lang="en-US" dirty="0" smtClean="0"/>
              <a:t>diseases.</a:t>
            </a:r>
          </a:p>
          <a:p>
            <a:pPr algn="just"/>
            <a:r>
              <a:rPr lang="en-US" dirty="0" smtClean="0"/>
              <a:t>It </a:t>
            </a:r>
            <a:r>
              <a:rPr lang="en-US" dirty="0"/>
              <a:t>draws its water requirements from late rains, residual moisture and morning </a:t>
            </a:r>
            <a:r>
              <a:rPr lang="en-US" dirty="0" smtClean="0"/>
              <a:t>dew.</a:t>
            </a:r>
          </a:p>
          <a:p>
            <a:pPr algn="just"/>
            <a:r>
              <a:rPr lang="en-US" dirty="0" smtClean="0"/>
              <a:t>The </a:t>
            </a:r>
            <a:r>
              <a:rPr lang="en-US" dirty="0"/>
              <a:t>crop is harvested around June/July each year, when the weather is generally cool and more suitable for harvesting beans, as bean pods shatter if they are overheated by the sun.</a:t>
            </a:r>
            <a:endParaRPr lang="en-US" dirty="0"/>
          </a:p>
        </p:txBody>
      </p:sp>
    </p:spTree>
    <p:extLst>
      <p:ext uri="{BB962C8B-B14F-4D97-AF65-F5344CB8AC3E}">
        <p14:creationId xmlns:p14="http://schemas.microsoft.com/office/powerpoint/2010/main" val="3694056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The research programmes also investigated the suitability of various treatments as alternatives to the chitemene </a:t>
            </a:r>
            <a:r>
              <a:rPr lang="en-US" dirty="0" smtClean="0"/>
              <a:t>system.</a:t>
            </a:r>
          </a:p>
          <a:p>
            <a:pPr algn="just"/>
            <a:r>
              <a:rPr lang="en-US" dirty="0" smtClean="0"/>
              <a:t>Experiments</a:t>
            </a:r>
            <a:r>
              <a:rPr lang="en-US" dirty="0"/>
              <a:t>, with finger millet and groundnut showed that the Mambwe mound cultivation system achieved similar yield levels to those obtained under the traditional chitemene system of cultivation, demonstrating that the Mambwe mound cultivation system is a suitable alternative to the chitemene system of cultivation</a:t>
            </a:r>
            <a:r>
              <a:rPr lang="en-US" dirty="0" smtClean="0"/>
              <a:t>.</a:t>
            </a:r>
          </a:p>
          <a:p>
            <a:pPr algn="just"/>
            <a:r>
              <a:rPr lang="en-US" dirty="0" smtClean="0"/>
              <a:t> </a:t>
            </a:r>
            <a:r>
              <a:rPr lang="en-US" dirty="0"/>
              <a:t>Research results strongly supported the transition from slash and burn to a more settled type of agriculture for local inhabitants. </a:t>
            </a:r>
            <a:endParaRPr lang="en-US" dirty="0"/>
          </a:p>
        </p:txBody>
      </p:sp>
    </p:spTree>
    <p:extLst>
      <p:ext uri="{BB962C8B-B14F-4D97-AF65-F5344CB8AC3E}">
        <p14:creationId xmlns:p14="http://schemas.microsoft.com/office/powerpoint/2010/main" val="567938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lgn="just"/>
            <a:r>
              <a:rPr lang="en-US" dirty="0"/>
              <a:t>The extension system of the Ministry of Agriculture and Cooperatives has worked closely with scientists and farmers to promote the Mambwe mound cultivation system. </a:t>
            </a:r>
            <a:endParaRPr lang="en-US" dirty="0" smtClean="0"/>
          </a:p>
          <a:p>
            <a:pPr algn="just"/>
            <a:r>
              <a:rPr lang="en-US" dirty="0" smtClean="0"/>
              <a:t>The </a:t>
            </a:r>
            <a:r>
              <a:rPr lang="en-US" dirty="0"/>
              <a:t>Mambwe mound cultivation system, which includes a cereal-legume rotation on mounds, alternating with cultivation on flat land, has been practiced for a long </a:t>
            </a:r>
            <a:r>
              <a:rPr lang="en-US" dirty="0" smtClean="0"/>
              <a:t>time.</a:t>
            </a:r>
          </a:p>
          <a:p>
            <a:pPr algn="just"/>
            <a:r>
              <a:rPr lang="en-US" dirty="0" smtClean="0"/>
              <a:t>This </a:t>
            </a:r>
            <a:r>
              <a:rPr lang="en-US" dirty="0"/>
              <a:t>shows that the system is resilient and can support intensive crop production to meet the food and nutritional security requirements of local </a:t>
            </a:r>
            <a:r>
              <a:rPr lang="en-US" dirty="0" smtClean="0"/>
              <a:t>inhabitants.</a:t>
            </a:r>
          </a:p>
          <a:p>
            <a:pPr algn="just"/>
            <a:r>
              <a:rPr lang="en-US" dirty="0" smtClean="0"/>
              <a:t>It </a:t>
            </a:r>
            <a:r>
              <a:rPr lang="en-US" dirty="0"/>
              <a:t>is an indigenous system and has proved to be a practical and sustainable alternative to the environmentally destructive slash and burn cultivation system.</a:t>
            </a:r>
            <a:endParaRPr lang="en-US" dirty="0"/>
          </a:p>
        </p:txBody>
      </p:sp>
    </p:spTree>
    <p:extLst>
      <p:ext uri="{BB962C8B-B14F-4D97-AF65-F5344CB8AC3E}">
        <p14:creationId xmlns:p14="http://schemas.microsoft.com/office/powerpoint/2010/main" val="36583285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091723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7912185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1051</TotalTime>
  <Words>910</Words>
  <Application>Microsoft Office PowerPoint</Application>
  <PresentationFormat>Widescreen</PresentationFormat>
  <Paragraphs>45</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 Unicode MS</vt:lpstr>
      <vt:lpstr>Arial</vt:lpstr>
      <vt:lpstr>Arial Narrow</vt:lpstr>
      <vt:lpstr>Calibri</vt:lpstr>
      <vt:lpstr>Calibri Light</vt:lpstr>
      <vt:lpstr>Office Theme</vt:lpstr>
      <vt:lpstr>FUNDIKILA TRADITIONAL FARMING SYSTEM</vt:lpstr>
      <vt:lpstr>Introduction</vt:lpstr>
      <vt:lpstr>PowerPoint Presentation</vt:lpstr>
      <vt:lpstr>PowerPoint Presentation</vt:lpstr>
      <vt:lpstr>PowerPoint Presentation</vt:lpstr>
      <vt:lpstr>Improvements to the Fundikila farming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Site Selection for an Apiary</dc:title>
  <dc:creator>LENOVO</dc:creator>
  <cp:lastModifiedBy>LENOVO</cp:lastModifiedBy>
  <cp:revision>13</cp:revision>
  <dcterms:created xsi:type="dcterms:W3CDTF">2023-11-21T22:21:16Z</dcterms:created>
  <dcterms:modified xsi:type="dcterms:W3CDTF">2024-02-19T20:14:38Z</dcterms:modified>
</cp:coreProperties>
</file>