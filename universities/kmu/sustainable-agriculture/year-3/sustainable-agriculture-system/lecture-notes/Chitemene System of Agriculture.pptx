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9" r:id="rId4"/>
    <p:sldId id="270" r:id="rId5"/>
    <p:sldId id="271" r:id="rId6"/>
    <p:sldId id="257" r:id="rId7"/>
    <p:sldId id="258" r:id="rId8"/>
    <p:sldId id="260" r:id="rId9"/>
    <p:sldId id="261" r:id="rId10"/>
    <p:sldId id="263" r:id="rId11"/>
    <p:sldId id="262" r:id="rId12"/>
    <p:sldId id="264" r:id="rId13"/>
    <p:sldId id="265" r:id="rId14"/>
    <p:sldId id="266" r:id="rId15"/>
    <p:sldId id="267" r:id="rId16"/>
    <p:sldId id="268" r:id="rId17"/>
    <p:sldId id="272" r:id="rId18"/>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526B6-EE82-1151-6AAB-BF0369132E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979FA454-0AC9-7AFB-D992-FC6E2D4D5C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BBCB1217-CBCB-82CA-5747-DB1C8ECF5977}"/>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5" name="Footer Placeholder 4">
            <a:extLst>
              <a:ext uri="{FF2B5EF4-FFF2-40B4-BE49-F238E27FC236}">
                <a16:creationId xmlns:a16="http://schemas.microsoft.com/office/drawing/2014/main" id="{6C28FFE2-A46F-4A86-889A-CB5E27C39004}"/>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434E4050-2673-C218-A26D-4A4454C7C094}"/>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308663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BFA4-49DA-355A-722C-A7686EF36CCD}"/>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483F0DA1-C514-B461-8874-119CDBDFB3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5EAF9977-A6B8-37CC-4DFA-D87F3707D807}"/>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5" name="Footer Placeholder 4">
            <a:extLst>
              <a:ext uri="{FF2B5EF4-FFF2-40B4-BE49-F238E27FC236}">
                <a16:creationId xmlns:a16="http://schemas.microsoft.com/office/drawing/2014/main" id="{2E87129C-8178-DE2C-6471-4CAC55573E29}"/>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101EA5A6-D5C8-47AF-267B-E1ED6828A1C1}"/>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4106804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63C4D-FBBD-A774-8C0F-56C77C3693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566F6FED-2D15-A00B-8F56-2CA1AF0DCD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F9DC8D-C3A1-D0AD-8673-4261BB6FE9E2}"/>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5" name="Footer Placeholder 4">
            <a:extLst>
              <a:ext uri="{FF2B5EF4-FFF2-40B4-BE49-F238E27FC236}">
                <a16:creationId xmlns:a16="http://schemas.microsoft.com/office/drawing/2014/main" id="{33F32D96-F486-3EDA-B7DC-0F55C765F29C}"/>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E36BC23F-C3A0-4176-AF3C-AB8AA04F049A}"/>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3346215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BF434-FDDC-6741-0800-7EA0B1F299F6}"/>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6B414321-5CF5-F4A1-C33F-61E1C3FA4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024D6809-64A0-6418-EF4B-DD2BFE1662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1A0CD288-594D-1E3C-53EB-440A426CB842}"/>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6" name="Footer Placeholder 5">
            <a:extLst>
              <a:ext uri="{FF2B5EF4-FFF2-40B4-BE49-F238E27FC236}">
                <a16:creationId xmlns:a16="http://schemas.microsoft.com/office/drawing/2014/main" id="{DDF4CCF0-692E-DD6A-4126-3389C4B745F2}"/>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F590F46F-71AA-28B2-654F-9AFC2C978DD4}"/>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268113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3802C-B84F-4E60-B7E9-CC00D12580C2}"/>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FB3AE833-A695-472C-BB10-FBBD8AE54E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36B422-5BCF-DBF3-7D47-6A940ACB62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A95215F2-C829-D36C-4CE6-EC4DECC15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F8CBD1-490D-4629-2EFA-880C883103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5389023C-E48E-A354-017C-BE723FBAC247}"/>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8" name="Footer Placeholder 7">
            <a:extLst>
              <a:ext uri="{FF2B5EF4-FFF2-40B4-BE49-F238E27FC236}">
                <a16:creationId xmlns:a16="http://schemas.microsoft.com/office/drawing/2014/main" id="{BF79BA09-3E77-38E6-B3AE-B1D92A3950AA}"/>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5DF7F3B4-1110-ED37-6FBA-705382562892}"/>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2234652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EABAA-B1E5-474E-B965-F273FEFF94B0}"/>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29105BC6-467F-FA8F-B687-1178A59EE780}"/>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4" name="Footer Placeholder 3">
            <a:extLst>
              <a:ext uri="{FF2B5EF4-FFF2-40B4-BE49-F238E27FC236}">
                <a16:creationId xmlns:a16="http://schemas.microsoft.com/office/drawing/2014/main" id="{63A2DC20-067F-ADB1-1799-77080356E9DD}"/>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FEA6067A-AEF9-801A-63E8-7D71787AD8A6}"/>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1573621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00E107-38DF-B648-C3B6-400F3099955C}"/>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3" name="Footer Placeholder 2">
            <a:extLst>
              <a:ext uri="{FF2B5EF4-FFF2-40B4-BE49-F238E27FC236}">
                <a16:creationId xmlns:a16="http://schemas.microsoft.com/office/drawing/2014/main" id="{1A1748F4-895F-8233-301D-730D7AF8906F}"/>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84DBC12B-7FBB-F6A0-A2A6-915A28F20C1B}"/>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625980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1B155-08A8-693E-3CE2-A5B173CC9C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B89703B3-B93C-71E8-9C5B-127AB3F576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0AF55E7A-E707-759F-E120-ACE8D47690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A3E08C-FCD7-985B-2A84-8CA2722FCC5D}"/>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6" name="Footer Placeholder 5">
            <a:extLst>
              <a:ext uri="{FF2B5EF4-FFF2-40B4-BE49-F238E27FC236}">
                <a16:creationId xmlns:a16="http://schemas.microsoft.com/office/drawing/2014/main" id="{5B5E555F-EF7F-1A39-F18A-F8C824AD9328}"/>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D0734744-2CBF-83FC-D35E-31E95A2429EE}"/>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294771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9360-F48F-51F6-FD31-A3BC7BF41A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1C623E9B-63B0-90B5-CDF0-0EDF93F11D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24408856-2EB2-4E8C-93BD-8F76B70CD8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7D72E0-6ADE-5D3B-8551-DD832121DDE3}"/>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6" name="Footer Placeholder 5">
            <a:extLst>
              <a:ext uri="{FF2B5EF4-FFF2-40B4-BE49-F238E27FC236}">
                <a16:creationId xmlns:a16="http://schemas.microsoft.com/office/drawing/2014/main" id="{3DCD552B-DF97-BEFB-63FC-FA8A2C1CFAF9}"/>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2A41EEF2-7CBA-CB2D-8A9C-A2246EC654EC}"/>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32238684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4764A-4781-B51A-DBDF-ECFA4B2971CD}"/>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C730E9C1-3AEE-CF36-7974-AF4EDE2720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AFD151C3-B654-6E78-90CF-BF0FAD94BF4F}"/>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5" name="Footer Placeholder 4">
            <a:extLst>
              <a:ext uri="{FF2B5EF4-FFF2-40B4-BE49-F238E27FC236}">
                <a16:creationId xmlns:a16="http://schemas.microsoft.com/office/drawing/2014/main" id="{6A0EAD7C-03EA-9D10-F5F4-E58179E83D9C}"/>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9F46E059-82DB-8518-837E-ED9DE75983D6}"/>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829004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36C922-DAA8-E723-1050-BADE5FFF68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D699778B-57E2-5EE2-2266-9A4A30BB7B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9264E381-DDA5-3711-1992-27D0535462B1}"/>
              </a:ext>
            </a:extLst>
          </p:cNvPr>
          <p:cNvSpPr>
            <a:spLocks noGrp="1"/>
          </p:cNvSpPr>
          <p:nvPr>
            <p:ph type="dt" sz="half" idx="10"/>
          </p:nvPr>
        </p:nvSpPr>
        <p:spPr/>
        <p:txBody>
          <a:bodyPr/>
          <a:lstStyle/>
          <a:p>
            <a:fld id="{81C8D86A-F996-4FDB-84D0-CFB2EAFDB759}" type="datetimeFigureOut">
              <a:rPr lang="en-ZM" smtClean="0"/>
              <a:t>21/11/2023</a:t>
            </a:fld>
            <a:endParaRPr lang="en-ZM"/>
          </a:p>
        </p:txBody>
      </p:sp>
      <p:sp>
        <p:nvSpPr>
          <p:cNvPr id="5" name="Footer Placeholder 4">
            <a:extLst>
              <a:ext uri="{FF2B5EF4-FFF2-40B4-BE49-F238E27FC236}">
                <a16:creationId xmlns:a16="http://schemas.microsoft.com/office/drawing/2014/main" id="{737A4CCF-6AF5-6C64-730C-0D96D83D600E}"/>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179A96DD-71AD-65BC-D97C-6080F63E3AF6}"/>
              </a:ext>
            </a:extLst>
          </p:cNvPr>
          <p:cNvSpPr>
            <a:spLocks noGrp="1"/>
          </p:cNvSpPr>
          <p:nvPr>
            <p:ph type="sldNum" sz="quarter" idx="12"/>
          </p:nvPr>
        </p:nvSpPr>
        <p:spPr/>
        <p:txBody>
          <a:bodyPr/>
          <a:lstStyle/>
          <a:p>
            <a:fld id="{EB6EEBDC-EF55-4A6C-A042-3B2E503C2A29}" type="slidenum">
              <a:rPr lang="en-ZM" smtClean="0"/>
              <a:t>‹#›</a:t>
            </a:fld>
            <a:endParaRPr lang="en-ZM"/>
          </a:p>
        </p:txBody>
      </p:sp>
    </p:spTree>
    <p:extLst>
      <p:ext uri="{BB962C8B-B14F-4D97-AF65-F5344CB8AC3E}">
        <p14:creationId xmlns:p14="http://schemas.microsoft.com/office/powerpoint/2010/main" val="62499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2A1EB9-9946-0C00-1AA0-109C74FB48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4410AFEA-2CC8-AB2B-40B6-DD669A0CD3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2C8E4AED-ACE1-901C-EFA6-E75621E762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C8D86A-F996-4FDB-84D0-CFB2EAFDB759}" type="datetimeFigureOut">
              <a:rPr lang="en-ZM" smtClean="0"/>
              <a:t>21/11/2023</a:t>
            </a:fld>
            <a:endParaRPr lang="en-ZM"/>
          </a:p>
        </p:txBody>
      </p:sp>
      <p:sp>
        <p:nvSpPr>
          <p:cNvPr id="5" name="Footer Placeholder 4">
            <a:extLst>
              <a:ext uri="{FF2B5EF4-FFF2-40B4-BE49-F238E27FC236}">
                <a16:creationId xmlns:a16="http://schemas.microsoft.com/office/drawing/2014/main" id="{05502523-2342-5B65-BA18-427CC3B3F0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BB991F18-3755-A139-1533-916F239ACE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EEBDC-EF55-4A6C-A042-3B2E503C2A29}" type="slidenum">
              <a:rPr lang="en-ZM" smtClean="0"/>
              <a:t>‹#›</a:t>
            </a:fld>
            <a:endParaRPr lang="en-ZM"/>
          </a:p>
        </p:txBody>
      </p:sp>
    </p:spTree>
    <p:extLst>
      <p:ext uri="{BB962C8B-B14F-4D97-AF65-F5344CB8AC3E}">
        <p14:creationId xmlns:p14="http://schemas.microsoft.com/office/powerpoint/2010/main" val="18560220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B9484-4404-2309-BC6D-672F9EBB3E7B}"/>
              </a:ext>
            </a:extLst>
          </p:cNvPr>
          <p:cNvSpPr>
            <a:spLocks noGrp="1"/>
          </p:cNvSpPr>
          <p:nvPr>
            <p:ph type="ctrTitle"/>
          </p:nvPr>
        </p:nvSpPr>
        <p:spPr>
          <a:xfrm>
            <a:off x="1775791" y="1041400"/>
            <a:ext cx="9144000" cy="2387600"/>
          </a:xfrm>
        </p:spPr>
        <p:txBody>
          <a:bodyPr/>
          <a:lstStyle/>
          <a:p>
            <a:r>
              <a:rPr lang="en-US" b="1" dirty="0"/>
              <a:t>Chitemene System</a:t>
            </a:r>
            <a:endParaRPr lang="en-ZM" b="1" dirty="0"/>
          </a:p>
        </p:txBody>
      </p:sp>
      <p:sp>
        <p:nvSpPr>
          <p:cNvPr id="3" name="Subtitle 2">
            <a:extLst>
              <a:ext uri="{FF2B5EF4-FFF2-40B4-BE49-F238E27FC236}">
                <a16:creationId xmlns:a16="http://schemas.microsoft.com/office/drawing/2014/main" id="{E62A1B9B-BA9E-DFC6-9CA4-9F45A72D8A39}"/>
              </a:ext>
            </a:extLst>
          </p:cNvPr>
          <p:cNvSpPr>
            <a:spLocks noGrp="1"/>
          </p:cNvSpPr>
          <p:nvPr>
            <p:ph type="subTitle" idx="1"/>
          </p:nvPr>
        </p:nvSpPr>
        <p:spPr/>
        <p:txBody>
          <a:bodyPr/>
          <a:lstStyle/>
          <a:p>
            <a:endParaRPr lang="en-ZM"/>
          </a:p>
        </p:txBody>
      </p:sp>
    </p:spTree>
    <p:extLst>
      <p:ext uri="{BB962C8B-B14F-4D97-AF65-F5344CB8AC3E}">
        <p14:creationId xmlns:p14="http://schemas.microsoft.com/office/powerpoint/2010/main" val="2879649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705CB-4E42-4DCB-3FDA-0D260FA81A45}"/>
              </a:ext>
            </a:extLst>
          </p:cNvPr>
          <p:cNvSpPr>
            <a:spLocks noGrp="1"/>
          </p:cNvSpPr>
          <p:nvPr>
            <p:ph type="title"/>
          </p:nvPr>
        </p:nvSpPr>
        <p:spPr/>
        <p:txBody>
          <a:bodyPr/>
          <a:lstStyle/>
          <a:p>
            <a:pPr algn="ctr"/>
            <a:r>
              <a:rPr lang="en-US" b="1" dirty="0"/>
              <a:t>Introduction</a:t>
            </a:r>
            <a:endParaRPr lang="en-ZM" b="1" dirty="0"/>
          </a:p>
        </p:txBody>
      </p:sp>
      <p:sp>
        <p:nvSpPr>
          <p:cNvPr id="3" name="Content Placeholder 2">
            <a:extLst>
              <a:ext uri="{FF2B5EF4-FFF2-40B4-BE49-F238E27FC236}">
                <a16:creationId xmlns:a16="http://schemas.microsoft.com/office/drawing/2014/main" id="{33DD146D-146D-30FF-D770-CC25B2DCBC6B}"/>
              </a:ext>
            </a:extLst>
          </p:cNvPr>
          <p:cNvSpPr>
            <a:spLocks noGrp="1"/>
          </p:cNvSpPr>
          <p:nvPr>
            <p:ph idx="1"/>
          </p:nvPr>
        </p:nvSpPr>
        <p:spPr/>
        <p:txBody>
          <a:bodyPr/>
          <a:lstStyle/>
          <a:p>
            <a:pPr algn="just"/>
            <a:r>
              <a:rPr lang="en-US" b="1" i="0" dirty="0">
                <a:effectLst/>
                <a:latin typeface="Arial" panose="020B0604020202020204" pitchFamily="34" charset="0"/>
              </a:rPr>
              <a:t>Chitemene</a:t>
            </a:r>
            <a:r>
              <a:rPr lang="en-US" b="0" i="0" dirty="0">
                <a:effectLst/>
                <a:latin typeface="Arial" panose="020B0604020202020204" pitchFamily="34" charset="0"/>
              </a:rPr>
              <a:t>, from the </a:t>
            </a:r>
            <a:r>
              <a:rPr lang="en-US" b="0" i="0" strike="noStrike" dirty="0">
                <a:effectLst/>
                <a:latin typeface="Arial" panose="020B0604020202020204" pitchFamily="34" charset="0"/>
              </a:rPr>
              <a:t>Bemba</a:t>
            </a:r>
            <a:r>
              <a:rPr lang="en-US" b="0" i="0" dirty="0">
                <a:effectLst/>
                <a:latin typeface="Arial" panose="020B0604020202020204" pitchFamily="34" charset="0"/>
              </a:rPr>
              <a:t> word meaning “place where branches have been cut for a garden”, is a system of </a:t>
            </a:r>
            <a:r>
              <a:rPr lang="en-US" b="0" i="0" strike="noStrike" dirty="0">
                <a:effectLst/>
                <a:latin typeface="Arial" panose="020B0604020202020204" pitchFamily="34" charset="0"/>
              </a:rPr>
              <a:t>slash and burn agriculture</a:t>
            </a:r>
            <a:r>
              <a:rPr lang="en-US" b="0" i="0" dirty="0">
                <a:effectLst/>
                <a:latin typeface="Arial" panose="020B0604020202020204" pitchFamily="34" charset="0"/>
              </a:rPr>
              <a:t> practiced throughout northern </a:t>
            </a:r>
            <a:r>
              <a:rPr lang="en-US" b="0" i="0" strike="noStrike" dirty="0">
                <a:effectLst/>
                <a:latin typeface="Arial" panose="020B0604020202020204" pitchFamily="34" charset="0"/>
              </a:rPr>
              <a:t>Zambia</a:t>
            </a:r>
            <a:r>
              <a:rPr lang="en-US" b="0" i="0" dirty="0">
                <a:effectLst/>
                <a:latin typeface="Arial" panose="020B0604020202020204" pitchFamily="34" charset="0"/>
              </a:rPr>
              <a:t>. </a:t>
            </a:r>
          </a:p>
          <a:p>
            <a:pPr algn="just"/>
            <a:r>
              <a:rPr lang="en-US" b="0" i="0" dirty="0">
                <a:effectLst/>
                <a:latin typeface="Arial" panose="020B0604020202020204" pitchFamily="34" charset="0"/>
              </a:rPr>
              <a:t>It involves </a:t>
            </a:r>
            <a:r>
              <a:rPr lang="en-US" b="1" i="0" strike="noStrike" dirty="0">
                <a:effectLst/>
                <a:latin typeface="Arial" panose="020B0604020202020204" pitchFamily="34" charset="0"/>
              </a:rPr>
              <a:t>coppicing</a:t>
            </a:r>
            <a:r>
              <a:rPr lang="en-US" b="1" i="0" dirty="0">
                <a:effectLst/>
                <a:latin typeface="Arial" panose="020B0604020202020204" pitchFamily="34" charset="0"/>
              </a:rPr>
              <a:t> </a:t>
            </a:r>
            <a:r>
              <a:rPr lang="en-US" b="0" i="0" dirty="0">
                <a:effectLst/>
                <a:latin typeface="Arial" panose="020B0604020202020204" pitchFamily="34" charset="0"/>
              </a:rPr>
              <a:t>or </a:t>
            </a:r>
            <a:r>
              <a:rPr lang="en-US" b="1" i="0" strike="noStrike" dirty="0">
                <a:effectLst/>
                <a:latin typeface="Arial" panose="020B0604020202020204" pitchFamily="34" charset="0"/>
              </a:rPr>
              <a:t>pollarding</a:t>
            </a:r>
            <a:r>
              <a:rPr lang="en-US" b="0" i="0" dirty="0">
                <a:effectLst/>
                <a:latin typeface="Arial" panose="020B0604020202020204" pitchFamily="34" charset="0"/>
              </a:rPr>
              <a:t> of standing trees in a primary or secondary growth </a:t>
            </a:r>
            <a:r>
              <a:rPr lang="en-US" b="0" i="0" strike="noStrike" dirty="0">
                <a:effectLst/>
                <a:latin typeface="Arial" panose="020B0604020202020204" pitchFamily="34" charset="0"/>
              </a:rPr>
              <a:t>Miombo</a:t>
            </a:r>
            <a:r>
              <a:rPr lang="en-US" b="0" i="0" dirty="0">
                <a:effectLst/>
                <a:latin typeface="Arial" panose="020B0604020202020204" pitchFamily="34" charset="0"/>
              </a:rPr>
              <a:t> woodland, stacking of the cut </a:t>
            </a:r>
            <a:r>
              <a:rPr lang="en-US" b="0" i="0" strike="noStrike" dirty="0">
                <a:effectLst/>
                <a:latin typeface="Arial" panose="020B0604020202020204" pitchFamily="34" charset="0"/>
              </a:rPr>
              <a:t>biomass</a:t>
            </a:r>
            <a:r>
              <a:rPr lang="en-US" b="0" i="0" dirty="0">
                <a:effectLst/>
                <a:latin typeface="Arial" panose="020B0604020202020204" pitchFamily="34" charset="0"/>
              </a:rPr>
              <a:t>, and eventual burning of the cut biomass in order to create a </a:t>
            </a:r>
            <a:r>
              <a:rPr lang="en-US" b="1" i="0" dirty="0">
                <a:effectLst/>
                <a:latin typeface="Arial" panose="020B0604020202020204" pitchFamily="34" charset="0"/>
              </a:rPr>
              <a:t>thicker layer of ash </a:t>
            </a:r>
            <a:r>
              <a:rPr lang="en-US" b="0" i="0" dirty="0">
                <a:effectLst/>
                <a:latin typeface="Arial" panose="020B0604020202020204" pitchFamily="34" charset="0"/>
              </a:rPr>
              <a:t>than would be possible with in situ burning. </a:t>
            </a:r>
          </a:p>
          <a:p>
            <a:pPr algn="just"/>
            <a:r>
              <a:rPr lang="en-US" b="0" i="0" dirty="0">
                <a:effectLst/>
                <a:latin typeface="Arial" panose="020B0604020202020204" pitchFamily="34" charset="0"/>
              </a:rPr>
              <a:t>Crops such as </a:t>
            </a:r>
            <a:r>
              <a:rPr lang="en-US" b="1" i="0" strike="noStrike" dirty="0">
                <a:effectLst/>
                <a:latin typeface="Arial" panose="020B0604020202020204" pitchFamily="34" charset="0"/>
              </a:rPr>
              <a:t>maize</a:t>
            </a:r>
            <a:r>
              <a:rPr lang="en-US" b="1" i="0" dirty="0">
                <a:effectLst/>
                <a:latin typeface="Arial" panose="020B0604020202020204" pitchFamily="34" charset="0"/>
              </a:rPr>
              <a:t>,</a:t>
            </a:r>
            <a:r>
              <a:rPr lang="en-US" b="0" i="0" dirty="0">
                <a:effectLst/>
                <a:latin typeface="Arial" panose="020B0604020202020204" pitchFamily="34" charset="0"/>
              </a:rPr>
              <a:t> </a:t>
            </a:r>
            <a:r>
              <a:rPr lang="en-US" b="1" i="0" dirty="0">
                <a:effectLst/>
                <a:latin typeface="Arial" panose="020B0604020202020204" pitchFamily="34" charset="0"/>
              </a:rPr>
              <a:t>finger</a:t>
            </a:r>
            <a:r>
              <a:rPr lang="en-US" b="0" i="0" dirty="0">
                <a:effectLst/>
                <a:latin typeface="Arial" panose="020B0604020202020204" pitchFamily="34" charset="0"/>
              </a:rPr>
              <a:t> </a:t>
            </a:r>
            <a:r>
              <a:rPr lang="en-US" b="1" i="0" dirty="0">
                <a:effectLst/>
                <a:latin typeface="Arial" panose="020B0604020202020204" pitchFamily="34" charset="0"/>
              </a:rPr>
              <a:t>millet</a:t>
            </a:r>
            <a:r>
              <a:rPr lang="en-US" b="0" i="0" dirty="0">
                <a:effectLst/>
                <a:latin typeface="Arial" panose="020B0604020202020204" pitchFamily="34" charset="0"/>
              </a:rPr>
              <a:t>, </a:t>
            </a:r>
            <a:r>
              <a:rPr lang="en-US" b="1" i="0" strike="noStrike" dirty="0">
                <a:effectLst/>
                <a:latin typeface="Arial" panose="020B0604020202020204" pitchFamily="34" charset="0"/>
              </a:rPr>
              <a:t>sorghum</a:t>
            </a:r>
            <a:r>
              <a:rPr lang="en-US" b="0" i="0" dirty="0">
                <a:effectLst/>
                <a:latin typeface="Arial" panose="020B0604020202020204" pitchFamily="34" charset="0"/>
              </a:rPr>
              <a:t>, or </a:t>
            </a:r>
            <a:r>
              <a:rPr lang="en-US" b="1" i="0" strike="noStrike" dirty="0">
                <a:effectLst/>
                <a:latin typeface="Arial" panose="020B0604020202020204" pitchFamily="34" charset="0"/>
              </a:rPr>
              <a:t>cassava</a:t>
            </a:r>
            <a:r>
              <a:rPr lang="en-US" b="0" i="0" dirty="0">
                <a:effectLst/>
                <a:latin typeface="Arial" panose="020B0604020202020204" pitchFamily="34" charset="0"/>
              </a:rPr>
              <a:t> are then planted in the burned area.</a:t>
            </a:r>
            <a:endParaRPr lang="en-ZM" dirty="0"/>
          </a:p>
        </p:txBody>
      </p:sp>
    </p:spTree>
    <p:extLst>
      <p:ext uri="{BB962C8B-B14F-4D97-AF65-F5344CB8AC3E}">
        <p14:creationId xmlns:p14="http://schemas.microsoft.com/office/powerpoint/2010/main" val="3494252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3FECC-1C73-4FC6-5E65-3240AEE0B89B}"/>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Introduction </a:t>
            </a:r>
            <a:r>
              <a:rPr lang="en-US" b="1" dirty="0" err="1">
                <a:latin typeface="Arial" panose="020B0604020202020204" pitchFamily="34" charset="0"/>
                <a:cs typeface="Arial" panose="020B0604020202020204" pitchFamily="34" charset="0"/>
              </a:rPr>
              <a:t>contd</a:t>
            </a:r>
            <a:endParaRPr lang="en-ZM"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A9BB3B9-BDD6-3AE1-79FD-B4AEE1941A9E}"/>
              </a:ext>
            </a:extLst>
          </p:cNvPr>
          <p:cNvSpPr>
            <a:spLocks noGrp="1"/>
          </p:cNvSpPr>
          <p:nvPr>
            <p:ph idx="1"/>
          </p:nvPr>
        </p:nvSpPr>
        <p:spPr/>
        <p:txBody>
          <a:bodyPr/>
          <a:lstStyle/>
          <a:p>
            <a:pPr algn="just"/>
            <a:r>
              <a:rPr lang="en-US" sz="3600" kern="100" dirty="0">
                <a:solidFill>
                  <a:srgbClr val="4D5156"/>
                </a:solidFill>
                <a:latin typeface="Arial" panose="020B0604020202020204" pitchFamily="34" charset="0"/>
                <a:ea typeface="Calibri" panose="020F0502020204030204" pitchFamily="34" charset="0"/>
                <a:cs typeface="Times New Roman" panose="02020603050405020304" pitchFamily="18" charset="0"/>
              </a:rPr>
              <a:t>Type </a:t>
            </a:r>
            <a:r>
              <a:rPr lang="en-ZM" sz="3600"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of a </a:t>
            </a:r>
            <a:r>
              <a:rPr lang="en-ZM" sz="3600" b="1"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shifting </a:t>
            </a:r>
            <a:r>
              <a:rPr lang="en-US" sz="3600" b="1"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cultivation</a:t>
            </a:r>
            <a:r>
              <a:rPr lang="en-ZM" sz="3600" b="1"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 </a:t>
            </a:r>
            <a:r>
              <a:rPr lang="en-ZM" sz="3600"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called chitemene, whereby </a:t>
            </a:r>
            <a:r>
              <a:rPr lang="en-ZM" sz="3600" kern="100" dirty="0">
                <a:solidFill>
                  <a:srgbClr val="040C28"/>
                </a:solidFill>
                <a:effectLst/>
                <a:latin typeface="Arial" panose="020B0604020202020204" pitchFamily="34" charset="0"/>
                <a:ea typeface="Calibri" panose="020F0502020204030204" pitchFamily="34" charset="0"/>
                <a:cs typeface="Times New Roman" panose="02020603050405020304" pitchFamily="18" charset="0"/>
              </a:rPr>
              <a:t>trees (or their branches) are cut and then piled in the centre of the clearing for burning, the crop being planted in the </a:t>
            </a:r>
            <a:r>
              <a:rPr lang="en-ZM" sz="3600" b="1" kern="100" dirty="0">
                <a:solidFill>
                  <a:srgbClr val="040C28"/>
                </a:solidFill>
                <a:effectLst/>
                <a:latin typeface="Arial" panose="020B0604020202020204" pitchFamily="34" charset="0"/>
                <a:ea typeface="Calibri" panose="020F0502020204030204" pitchFamily="34" charset="0"/>
                <a:cs typeface="Times New Roman" panose="02020603050405020304" pitchFamily="18" charset="0"/>
              </a:rPr>
              <a:t>ashes</a:t>
            </a:r>
            <a:r>
              <a:rPr lang="en-ZM" sz="3600" b="1" kern="100" dirty="0">
                <a:solidFill>
                  <a:srgbClr val="4D5156"/>
                </a:solidFill>
                <a:effectLst/>
                <a:latin typeface="Arial" panose="020B0604020202020204" pitchFamily="34" charset="0"/>
                <a:ea typeface="Calibri" panose="020F0502020204030204" pitchFamily="34" charset="0"/>
                <a:cs typeface="Times New Roman" panose="02020603050405020304" pitchFamily="18" charset="0"/>
              </a:rPr>
              <a:t>.</a:t>
            </a:r>
            <a:endParaRPr lang="en-ZM" sz="3600" b="1"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1968940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0516E-5FDA-78CE-ADE1-01F26278AB98}"/>
              </a:ext>
            </a:extLst>
          </p:cNvPr>
          <p:cNvSpPr>
            <a:spLocks noGrp="1"/>
          </p:cNvSpPr>
          <p:nvPr>
            <p:ph type="title"/>
          </p:nvPr>
        </p:nvSpPr>
        <p:spPr/>
        <p:txBody>
          <a:bodyPr/>
          <a:lstStyle/>
          <a:p>
            <a:pPr algn="ctr"/>
            <a:r>
              <a:rPr lang="en-US" b="1" dirty="0"/>
              <a:t>Crops are planted in the ash</a:t>
            </a:r>
            <a:endParaRPr lang="en-ZM" b="1" dirty="0"/>
          </a:p>
        </p:txBody>
      </p:sp>
      <p:pic>
        <p:nvPicPr>
          <p:cNvPr id="4" name="Content Placeholder 3" descr="Chitemene Traditional Farming system - UNICEF - UNICEF">
            <a:extLst>
              <a:ext uri="{FF2B5EF4-FFF2-40B4-BE49-F238E27FC236}">
                <a16:creationId xmlns:a16="http://schemas.microsoft.com/office/drawing/2014/main" id="{81E2B9C3-AB27-F14C-FF61-7B639A7E149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5948" y="1690688"/>
            <a:ext cx="10147852" cy="4523890"/>
          </a:xfrm>
          <a:prstGeom prst="rect">
            <a:avLst/>
          </a:prstGeom>
          <a:noFill/>
          <a:ln>
            <a:noFill/>
          </a:ln>
        </p:spPr>
      </p:pic>
    </p:spTree>
    <p:extLst>
      <p:ext uri="{BB962C8B-B14F-4D97-AF65-F5344CB8AC3E}">
        <p14:creationId xmlns:p14="http://schemas.microsoft.com/office/powerpoint/2010/main" val="1413098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5B7DA-B264-A3D2-2CFD-DC5E8A058B13}"/>
              </a:ext>
            </a:extLst>
          </p:cNvPr>
          <p:cNvSpPr>
            <a:spLocks noGrp="1"/>
          </p:cNvSpPr>
          <p:nvPr>
            <p:ph type="title"/>
          </p:nvPr>
        </p:nvSpPr>
        <p:spPr/>
        <p:txBody>
          <a:bodyPr>
            <a:normAutofit fontScale="90000"/>
          </a:bodyPr>
          <a:lstStyle/>
          <a:p>
            <a:pPr algn="ctr"/>
            <a:b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br>
            <a:b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br>
            <a:br>
              <a:rPr lang="en-US" sz="18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br>
            <a:r>
              <a:rPr lang="en-ZM" sz="4900" b="1"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Why is chitemene system commonly Practised in Zambia?</a:t>
            </a:r>
            <a:br>
              <a:rPr lang="en-ZM" sz="4900" b="1" kern="100" dirty="0">
                <a:effectLst/>
                <a:latin typeface="Calibri" panose="020F0502020204030204" pitchFamily="34" charset="0"/>
                <a:ea typeface="Calibri" panose="020F0502020204030204" pitchFamily="34" charset="0"/>
                <a:cs typeface="Times New Roman" panose="02020603050405020304" pitchFamily="18" charset="0"/>
              </a:rPr>
            </a:br>
            <a:endParaRPr lang="en-ZM" sz="4900" b="1" dirty="0"/>
          </a:p>
        </p:txBody>
      </p:sp>
      <p:sp>
        <p:nvSpPr>
          <p:cNvPr id="3" name="Content Placeholder 2">
            <a:extLst>
              <a:ext uri="{FF2B5EF4-FFF2-40B4-BE49-F238E27FC236}">
                <a16:creationId xmlns:a16="http://schemas.microsoft.com/office/drawing/2014/main" id="{7C72267B-07EC-938B-A2D6-930C35D0D0F7}"/>
              </a:ext>
            </a:extLst>
          </p:cNvPr>
          <p:cNvSpPr>
            <a:spLocks noGrp="1"/>
          </p:cNvSpPr>
          <p:nvPr>
            <p:ph idx="1"/>
          </p:nvPr>
        </p:nvSpPr>
        <p:spPr/>
        <p:txBody>
          <a:bodyPr/>
          <a:lstStyle/>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This kind of traditional farming is what is well know as </a:t>
            </a:r>
            <a:r>
              <a:rPr lang="en" sz="3200" b="1"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cut and slash method</a:t>
            </a:r>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a:t>
            </a:r>
          </a:p>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 It is mostly practiced in the northern part of Zambia. </a:t>
            </a:r>
          </a:p>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People use the system very much because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it is the </a:t>
            </a:r>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cheap way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and method to </a:t>
            </a:r>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neutralise acidic soil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for growing crops such as </a:t>
            </a:r>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finger millet</a:t>
            </a:r>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ZM" sz="3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1619065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627E5-A0BC-1054-1429-38ACF49FEDFA}"/>
              </a:ext>
            </a:extLst>
          </p:cNvPr>
          <p:cNvSpPr>
            <a:spLocks noGrp="1"/>
          </p:cNvSpPr>
          <p:nvPr>
            <p:ph type="title"/>
          </p:nvPr>
        </p:nvSpPr>
        <p:spPr/>
        <p:txBody>
          <a:bodyPr>
            <a:normAutofit fontScale="90000"/>
          </a:bodyPr>
          <a:lstStyle/>
          <a:p>
            <a:r>
              <a:rPr lang="en-US" sz="4000" b="1" kern="0" dirty="0">
                <a:solidFill>
                  <a:srgbClr val="202124"/>
                </a:solidFill>
                <a:latin typeface="Arial" panose="020B0604020202020204" pitchFamily="34" charset="0"/>
                <a:ea typeface="Times New Roman" panose="02020603050405020304" pitchFamily="18" charset="0"/>
                <a:cs typeface="Times New Roman" panose="02020603050405020304" pitchFamily="18" charset="0"/>
              </a:rPr>
              <a:t>T</a:t>
            </a:r>
            <a:r>
              <a:rPr lang="en-ZM" sz="4000" b="1"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he main features of the chitemene system</a:t>
            </a:r>
            <a:r>
              <a:rPr lang="en-ZM" sz="4000" kern="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a:t>
            </a:r>
            <a:br>
              <a:rPr lang="en-ZM"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ZM" dirty="0"/>
          </a:p>
        </p:txBody>
      </p:sp>
      <p:sp>
        <p:nvSpPr>
          <p:cNvPr id="3" name="Content Placeholder 2">
            <a:extLst>
              <a:ext uri="{FF2B5EF4-FFF2-40B4-BE49-F238E27FC236}">
                <a16:creationId xmlns:a16="http://schemas.microsoft.com/office/drawing/2014/main" id="{53894D06-84C3-93F5-B7AB-EF5F181B9827}"/>
              </a:ext>
            </a:extLst>
          </p:cNvPr>
          <p:cNvSpPr>
            <a:spLocks noGrp="1"/>
          </p:cNvSpPr>
          <p:nvPr>
            <p:ph idx="1"/>
          </p:nvPr>
        </p:nvSpPr>
        <p:spPr/>
        <p:txBody>
          <a:bodyPr/>
          <a:lstStyle/>
          <a:p>
            <a:pPr algn="just"/>
            <a:r>
              <a:rPr lang="en" sz="3200" kern="0" dirty="0">
                <a:solidFill>
                  <a:srgbClr val="4D5156"/>
                </a:solidFill>
                <a:latin typeface="Arial" panose="020B0604020202020204" pitchFamily="34" charset="0"/>
                <a:ea typeface="Times New Roman" panose="02020603050405020304" pitchFamily="18" charset="0"/>
                <a:cs typeface="Times New Roman" panose="02020603050405020304" pitchFamily="18" charset="0"/>
              </a:rPr>
              <a:t>M</a:t>
            </a:r>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ain features include: </a:t>
            </a:r>
          </a:p>
          <a:p>
            <a:pPr algn="just"/>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Coppicing of trees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and </a:t>
            </a:r>
            <a:r>
              <a:rPr lang="en" sz="3200" b="1"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stacking of trunks </a:t>
            </a:r>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and branches into a series of long, rectangular-shaped mounds</a:t>
            </a:r>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 </a:t>
            </a:r>
          </a:p>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Unlike large-circle chitemene, the cleared area may contain more than one mound to be burned or cultivated. </a:t>
            </a:r>
          </a:p>
          <a:p>
            <a:pPr algn="just"/>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Immediate cultivated land use is for </a:t>
            </a:r>
            <a:r>
              <a:rPr lang="en" sz="3200" b="1"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two to three years</a:t>
            </a:r>
            <a:endParaRPr lang="en-ZM" sz="3200" b="1"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1755513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06AC-B30B-CB16-C92E-B9B5A80ABB32}"/>
              </a:ext>
            </a:extLst>
          </p:cNvPr>
          <p:cNvSpPr>
            <a:spLocks noGrp="1"/>
          </p:cNvSpPr>
          <p:nvPr>
            <p:ph type="title"/>
          </p:nvPr>
        </p:nvSpPr>
        <p:spPr/>
        <p:txBody>
          <a:bodyPr/>
          <a:lstStyle/>
          <a:p>
            <a:pPr algn="ctr"/>
            <a:r>
              <a:rPr lang="en-US" b="1" dirty="0"/>
              <a:t>Description of Chitemene System</a:t>
            </a:r>
            <a:endParaRPr lang="en-ZM" b="1" dirty="0"/>
          </a:p>
        </p:txBody>
      </p:sp>
      <p:sp>
        <p:nvSpPr>
          <p:cNvPr id="3" name="Content Placeholder 2">
            <a:extLst>
              <a:ext uri="{FF2B5EF4-FFF2-40B4-BE49-F238E27FC236}">
                <a16:creationId xmlns:a16="http://schemas.microsoft.com/office/drawing/2014/main" id="{9FDE3F7F-BFF3-FD31-46CF-DF00B5E5D5E1}"/>
              </a:ext>
            </a:extLst>
          </p:cNvPr>
          <p:cNvSpPr>
            <a:spLocks noGrp="1"/>
          </p:cNvSpPr>
          <p:nvPr>
            <p:ph idx="1"/>
          </p:nvPr>
        </p:nvSpPr>
        <p:spPr/>
        <p:txBody>
          <a:bodyPr>
            <a:normAutofit fontScale="92500" lnSpcReduction="20000"/>
          </a:bodyPr>
          <a:lstStyle/>
          <a:p>
            <a:pPr algn="just"/>
            <a:r>
              <a:rPr lang="en-US" b="0" i="0" dirty="0">
                <a:effectLst/>
                <a:latin typeface="Arial" panose="020B0604020202020204" pitchFamily="34" charset="0"/>
              </a:rPr>
              <a:t>Chitemene systems are most widely used throughout the Central Zambezian Miombo woodlands that is the largest </a:t>
            </a:r>
            <a:r>
              <a:rPr lang="en-US" b="0" i="0" u="none" strike="noStrike" dirty="0">
                <a:effectLst/>
                <a:latin typeface="Arial" panose="020B0604020202020204" pitchFamily="34" charset="0"/>
              </a:rPr>
              <a:t>ecoregion</a:t>
            </a:r>
            <a:r>
              <a:rPr lang="en-US" b="0" i="0" dirty="0">
                <a:effectLst/>
                <a:latin typeface="Arial" panose="020B0604020202020204" pitchFamily="34" charset="0"/>
              </a:rPr>
              <a:t> in Zambia</a:t>
            </a:r>
          </a:p>
          <a:p>
            <a:pPr algn="just"/>
            <a:r>
              <a:rPr lang="en-US" b="0" i="0" dirty="0">
                <a:effectLst/>
                <a:latin typeface="Arial" panose="020B0604020202020204" pitchFamily="34" charset="0"/>
              </a:rPr>
              <a:t> </a:t>
            </a:r>
            <a:r>
              <a:rPr lang="en-US" dirty="0">
                <a:latin typeface="Arial" panose="020B0604020202020204" pitchFamily="34" charset="0"/>
              </a:rPr>
              <a:t>It includes </a:t>
            </a:r>
            <a:r>
              <a:rPr lang="en-US" b="0" i="0" u="none" strike="noStrike" dirty="0">
                <a:effectLst/>
                <a:latin typeface="Arial" panose="020B0604020202020204" pitchFamily="34" charset="0"/>
              </a:rPr>
              <a:t>Northwestern</a:t>
            </a:r>
            <a:r>
              <a:rPr lang="en-US" b="0" i="0" dirty="0">
                <a:effectLst/>
                <a:latin typeface="Arial" panose="020B0604020202020204" pitchFamily="34" charset="0"/>
              </a:rPr>
              <a:t>, </a:t>
            </a:r>
            <a:r>
              <a:rPr lang="en-US" b="0" i="0" u="none" strike="noStrike" dirty="0">
                <a:effectLst/>
                <a:latin typeface="Arial" panose="020B0604020202020204" pitchFamily="34" charset="0"/>
              </a:rPr>
              <a:t>Copperbelt</a:t>
            </a:r>
            <a:r>
              <a:rPr lang="en-US" b="0" i="0" dirty="0">
                <a:effectLst/>
                <a:latin typeface="Arial" panose="020B0604020202020204" pitchFamily="34" charset="0"/>
              </a:rPr>
              <a:t>, </a:t>
            </a:r>
            <a:r>
              <a:rPr lang="en-US" b="0" i="0" u="none" strike="noStrike" dirty="0">
                <a:effectLst/>
                <a:latin typeface="Arial" panose="020B0604020202020204" pitchFamily="34" charset="0"/>
              </a:rPr>
              <a:t>Central</a:t>
            </a:r>
            <a:r>
              <a:rPr lang="en-US" b="0" i="0" dirty="0">
                <a:effectLst/>
                <a:latin typeface="Arial" panose="020B0604020202020204" pitchFamily="34" charset="0"/>
              </a:rPr>
              <a:t>, </a:t>
            </a:r>
            <a:r>
              <a:rPr lang="en-US" b="0" i="0" u="none" strike="noStrike" dirty="0">
                <a:effectLst/>
                <a:latin typeface="Arial" panose="020B0604020202020204" pitchFamily="34" charset="0"/>
              </a:rPr>
              <a:t>Northern</a:t>
            </a:r>
            <a:r>
              <a:rPr lang="en-US" b="0" i="0" dirty="0">
                <a:effectLst/>
                <a:latin typeface="Arial" panose="020B0604020202020204" pitchFamily="34" charset="0"/>
              </a:rPr>
              <a:t>, and </a:t>
            </a:r>
            <a:r>
              <a:rPr lang="en-US" b="0" i="0" u="none" strike="noStrike" dirty="0">
                <a:effectLst/>
                <a:latin typeface="Arial" panose="020B0604020202020204" pitchFamily="34" charset="0"/>
              </a:rPr>
              <a:t>Luapula</a:t>
            </a:r>
            <a:r>
              <a:rPr lang="en-US" b="0" i="0" dirty="0">
                <a:effectLst/>
                <a:latin typeface="Arial" panose="020B0604020202020204" pitchFamily="34" charset="0"/>
              </a:rPr>
              <a:t> provinces.</a:t>
            </a:r>
            <a:endParaRPr lang="en-US" b="0" i="0" baseline="30000" dirty="0">
              <a:effectLst/>
              <a:latin typeface="Arial" panose="020B0604020202020204" pitchFamily="34" charset="0"/>
            </a:endParaRPr>
          </a:p>
          <a:p>
            <a:pPr algn="just"/>
            <a:r>
              <a:rPr lang="en-US" b="0" i="0" dirty="0">
                <a:effectLst/>
                <a:latin typeface="Arial" panose="020B0604020202020204" pitchFamily="34" charset="0"/>
              </a:rPr>
              <a:t>Typical soils in this biome are of the </a:t>
            </a:r>
            <a:r>
              <a:rPr lang="en-US" b="1" i="0" dirty="0">
                <a:effectLst/>
                <a:latin typeface="Arial" panose="020B0604020202020204" pitchFamily="34" charset="0"/>
              </a:rPr>
              <a:t>order </a:t>
            </a:r>
            <a:r>
              <a:rPr lang="en-US" b="1" i="0" u="none" strike="noStrike" dirty="0">
                <a:effectLst/>
                <a:latin typeface="Arial" panose="020B0604020202020204" pitchFamily="34" charset="0"/>
              </a:rPr>
              <a:t>oxisols</a:t>
            </a:r>
            <a:r>
              <a:rPr lang="en-US" b="1" i="0" dirty="0">
                <a:effectLst/>
                <a:latin typeface="Arial" panose="020B0604020202020204" pitchFamily="34" charset="0"/>
              </a:rPr>
              <a:t>, </a:t>
            </a:r>
            <a:r>
              <a:rPr lang="en-US" b="0" i="0" dirty="0">
                <a:effectLst/>
                <a:latin typeface="Arial" panose="020B0604020202020204" pitchFamily="34" charset="0"/>
              </a:rPr>
              <a:t>which are highly weathered, acidic, and easily leached soils. </a:t>
            </a:r>
          </a:p>
          <a:p>
            <a:pPr algn="just"/>
            <a:r>
              <a:rPr lang="en-US" b="0" i="0" dirty="0">
                <a:effectLst/>
                <a:latin typeface="Arial" panose="020B0604020202020204" pitchFamily="34" charset="0"/>
              </a:rPr>
              <a:t>The </a:t>
            </a:r>
            <a:r>
              <a:rPr lang="en-US" b="0" i="0" u="none" strike="noStrike" dirty="0">
                <a:effectLst/>
                <a:latin typeface="Arial" panose="020B0604020202020204" pitchFamily="34" charset="0"/>
              </a:rPr>
              <a:t>pH</a:t>
            </a:r>
            <a:r>
              <a:rPr lang="en-US" b="0" i="0" dirty="0">
                <a:effectLst/>
                <a:latin typeface="Arial" panose="020B0604020202020204" pitchFamily="34" charset="0"/>
              </a:rPr>
              <a:t> of these soils range </a:t>
            </a:r>
            <a:r>
              <a:rPr lang="en-US" b="1" i="0" dirty="0">
                <a:effectLst/>
                <a:latin typeface="Arial" panose="020B0604020202020204" pitchFamily="34" charset="0"/>
              </a:rPr>
              <a:t>from 4.0 to 4.5</a:t>
            </a:r>
            <a:r>
              <a:rPr lang="en-US" b="0" i="0" dirty="0">
                <a:effectLst/>
                <a:latin typeface="Arial" panose="020B0604020202020204" pitchFamily="34" charset="0"/>
              </a:rPr>
              <a:t>, values too acidic for the cultivation of most common </a:t>
            </a:r>
            <a:r>
              <a:rPr lang="en-US" b="1" i="0" dirty="0">
                <a:effectLst/>
                <a:latin typeface="Arial" panose="020B0604020202020204" pitchFamily="34" charset="0"/>
              </a:rPr>
              <a:t>cereal grains </a:t>
            </a:r>
            <a:r>
              <a:rPr lang="en-US" b="0" i="0" dirty="0">
                <a:effectLst/>
                <a:latin typeface="Arial" panose="020B0604020202020204" pitchFamily="34" charset="0"/>
              </a:rPr>
              <a:t>and </a:t>
            </a:r>
            <a:r>
              <a:rPr lang="en-US" b="1" i="0" dirty="0">
                <a:effectLst/>
                <a:latin typeface="Arial" panose="020B0604020202020204" pitchFamily="34" charset="0"/>
              </a:rPr>
              <a:t>root crops </a:t>
            </a:r>
            <a:r>
              <a:rPr lang="en-US" b="0" i="0" dirty="0">
                <a:effectLst/>
                <a:latin typeface="Arial" panose="020B0604020202020204" pitchFamily="34" charset="0"/>
              </a:rPr>
              <a:t>in Zambia (maize, finger millet, sorghum, and cassava). </a:t>
            </a:r>
          </a:p>
          <a:p>
            <a:pPr algn="just"/>
            <a:r>
              <a:rPr lang="en-US" b="0" i="0" dirty="0">
                <a:effectLst/>
                <a:latin typeface="Arial" panose="020B0604020202020204" pitchFamily="34" charset="0"/>
              </a:rPr>
              <a:t>The chitemene system, which creates a </a:t>
            </a:r>
            <a:r>
              <a:rPr lang="en-US" b="1" i="0" dirty="0">
                <a:effectLst/>
                <a:latin typeface="Arial" panose="020B0604020202020204" pitchFamily="34" charset="0"/>
              </a:rPr>
              <a:t>surplus of ash </a:t>
            </a:r>
            <a:r>
              <a:rPr lang="en-US" b="0" i="0" dirty="0">
                <a:effectLst/>
                <a:latin typeface="Arial" panose="020B0604020202020204" pitchFamily="34" charset="0"/>
              </a:rPr>
              <a:t>in concentrated spaces, </a:t>
            </a:r>
            <a:r>
              <a:rPr lang="en-US" b="1" i="0" dirty="0">
                <a:effectLst/>
                <a:latin typeface="Arial" panose="020B0604020202020204" pitchFamily="34" charset="0"/>
              </a:rPr>
              <a:t>raises the </a:t>
            </a:r>
            <a:r>
              <a:rPr lang="en-US" b="1" i="0" u="none" strike="noStrike" dirty="0">
                <a:effectLst/>
                <a:latin typeface="Arial" panose="020B0604020202020204" pitchFamily="34" charset="0"/>
              </a:rPr>
              <a:t>soil pH</a:t>
            </a:r>
            <a:r>
              <a:rPr lang="en-US" b="0" i="0" dirty="0">
                <a:effectLst/>
                <a:latin typeface="Arial" panose="020B0604020202020204" pitchFamily="34" charset="0"/>
              </a:rPr>
              <a:t>, enabling the cultivation of those crops.</a:t>
            </a:r>
          </a:p>
          <a:p>
            <a:endParaRPr lang="en-ZM" dirty="0"/>
          </a:p>
        </p:txBody>
      </p:sp>
    </p:spTree>
    <p:extLst>
      <p:ext uri="{BB962C8B-B14F-4D97-AF65-F5344CB8AC3E}">
        <p14:creationId xmlns:p14="http://schemas.microsoft.com/office/powerpoint/2010/main" val="219761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B06AC-B30B-CB16-C92E-B9B5A80ABB32}"/>
              </a:ext>
            </a:extLst>
          </p:cNvPr>
          <p:cNvSpPr>
            <a:spLocks noGrp="1"/>
          </p:cNvSpPr>
          <p:nvPr>
            <p:ph type="title"/>
          </p:nvPr>
        </p:nvSpPr>
        <p:spPr/>
        <p:txBody>
          <a:bodyPr/>
          <a:lstStyle/>
          <a:p>
            <a:pPr algn="ctr"/>
            <a:r>
              <a:rPr lang="en-US" b="1" dirty="0"/>
              <a:t>Description of Chitemene System</a:t>
            </a:r>
            <a:endParaRPr lang="en-ZM" b="1" dirty="0"/>
          </a:p>
        </p:txBody>
      </p:sp>
      <p:sp>
        <p:nvSpPr>
          <p:cNvPr id="3" name="Content Placeholder 2">
            <a:extLst>
              <a:ext uri="{FF2B5EF4-FFF2-40B4-BE49-F238E27FC236}">
                <a16:creationId xmlns:a16="http://schemas.microsoft.com/office/drawing/2014/main" id="{9FDE3F7F-BFF3-FD31-46CF-DF00B5E5D5E1}"/>
              </a:ext>
            </a:extLst>
          </p:cNvPr>
          <p:cNvSpPr>
            <a:spLocks noGrp="1"/>
          </p:cNvSpPr>
          <p:nvPr>
            <p:ph idx="1"/>
          </p:nvPr>
        </p:nvSpPr>
        <p:spPr/>
        <p:txBody>
          <a:bodyPr>
            <a:normAutofit fontScale="92500" lnSpcReduction="20000"/>
          </a:bodyPr>
          <a:lstStyle/>
          <a:p>
            <a:pPr algn="l"/>
            <a:endParaRPr lang="en-US" b="0" i="0" dirty="0">
              <a:solidFill>
                <a:srgbClr val="202122"/>
              </a:solidFill>
              <a:effectLst/>
              <a:latin typeface="Arial" panose="020B0604020202020204" pitchFamily="34" charset="0"/>
            </a:endParaRPr>
          </a:p>
          <a:p>
            <a:pPr algn="just"/>
            <a:r>
              <a:rPr lang="en-US" b="0" i="0" dirty="0">
                <a:effectLst/>
                <a:latin typeface="Arial" panose="020B0604020202020204" pitchFamily="34" charset="0"/>
              </a:rPr>
              <a:t>Furthermore, the </a:t>
            </a:r>
            <a:r>
              <a:rPr lang="en-US" b="1" i="0" dirty="0">
                <a:effectLst/>
                <a:latin typeface="Arial" panose="020B0604020202020204" pitchFamily="34" charset="0"/>
              </a:rPr>
              <a:t>heat generated by the burning </a:t>
            </a:r>
            <a:r>
              <a:rPr lang="en-US" b="0" i="0" dirty="0">
                <a:effectLst/>
                <a:latin typeface="Arial" panose="020B0604020202020204" pitchFamily="34" charset="0"/>
              </a:rPr>
              <a:t>of the biomass </a:t>
            </a:r>
            <a:r>
              <a:rPr lang="en-US" b="1" i="0" dirty="0">
                <a:effectLst/>
                <a:latin typeface="Arial" panose="020B0604020202020204" pitchFamily="34" charset="0"/>
              </a:rPr>
              <a:t>fumigates the soil</a:t>
            </a:r>
            <a:r>
              <a:rPr lang="en-US" b="0" i="0" dirty="0">
                <a:effectLst/>
                <a:latin typeface="Arial" panose="020B0604020202020204" pitchFamily="34" charset="0"/>
              </a:rPr>
              <a:t>, kills any existing </a:t>
            </a:r>
            <a:r>
              <a:rPr lang="en-US" b="1" i="0" dirty="0">
                <a:effectLst/>
                <a:latin typeface="Arial" panose="020B0604020202020204" pitchFamily="34" charset="0"/>
              </a:rPr>
              <a:t>weed seeds</a:t>
            </a:r>
            <a:r>
              <a:rPr lang="en-US" b="0" i="0" dirty="0">
                <a:effectLst/>
                <a:latin typeface="Arial" panose="020B0604020202020204" pitchFamily="34" charset="0"/>
              </a:rPr>
              <a:t>, and reduces the soil to a fine </a:t>
            </a:r>
            <a:r>
              <a:rPr lang="en-US" b="0" i="0" u="none" strike="noStrike" dirty="0">
                <a:effectLst/>
                <a:latin typeface="Arial" panose="020B0604020202020204" pitchFamily="34" charset="0"/>
              </a:rPr>
              <a:t>tilth</a:t>
            </a:r>
            <a:r>
              <a:rPr lang="en-US" b="0" i="0" dirty="0">
                <a:effectLst/>
                <a:latin typeface="Arial" panose="020B0604020202020204" pitchFamily="34" charset="0"/>
              </a:rPr>
              <a:t>, reducing labor requirements for cultivation of the soil.</a:t>
            </a:r>
          </a:p>
          <a:p>
            <a:pPr algn="just"/>
            <a:r>
              <a:rPr lang="en-US" b="0" i="0" dirty="0">
                <a:effectLst/>
                <a:latin typeface="Arial" panose="020B0604020202020204" pitchFamily="34" charset="0"/>
              </a:rPr>
              <a:t>The agricultural viability of a chitemene region is limited to a few years, until the soil pH declines. </a:t>
            </a:r>
          </a:p>
          <a:p>
            <a:pPr algn="just"/>
            <a:r>
              <a:rPr lang="en-US" b="0" i="0" dirty="0">
                <a:effectLst/>
                <a:latin typeface="Arial" panose="020B0604020202020204" pitchFamily="34" charset="0"/>
              </a:rPr>
              <a:t>After the </a:t>
            </a:r>
            <a:r>
              <a:rPr lang="en-US" b="1" i="0" dirty="0">
                <a:effectLst/>
                <a:latin typeface="Arial" panose="020B0604020202020204" pitchFamily="34" charset="0"/>
              </a:rPr>
              <a:t>yield declines</a:t>
            </a:r>
            <a:r>
              <a:rPr lang="en-US" b="0" i="0" dirty="0">
                <a:effectLst/>
                <a:latin typeface="Arial" panose="020B0604020202020204" pitchFamily="34" charset="0"/>
              </a:rPr>
              <a:t>, a new area is cleared for chitemene, and the initial site is </a:t>
            </a:r>
            <a:r>
              <a:rPr lang="en-US" b="1" i="0" dirty="0">
                <a:effectLst/>
                <a:latin typeface="Arial" panose="020B0604020202020204" pitchFamily="34" charset="0"/>
              </a:rPr>
              <a:t>left to lie fallow</a:t>
            </a:r>
            <a:r>
              <a:rPr lang="en-US" b="0" i="0" dirty="0">
                <a:effectLst/>
                <a:latin typeface="Arial" panose="020B0604020202020204" pitchFamily="34" charset="0"/>
              </a:rPr>
              <a:t>. </a:t>
            </a:r>
          </a:p>
          <a:p>
            <a:pPr algn="just"/>
            <a:r>
              <a:rPr lang="en-US" b="0" i="0" dirty="0">
                <a:effectLst/>
                <a:latin typeface="Arial" panose="020B0604020202020204" pitchFamily="34" charset="0"/>
              </a:rPr>
              <a:t>Typically, the </a:t>
            </a:r>
            <a:r>
              <a:rPr lang="en-US" b="1" i="0" dirty="0">
                <a:effectLst/>
                <a:latin typeface="Arial" panose="020B0604020202020204" pitchFamily="34" charset="0"/>
              </a:rPr>
              <a:t>regrowth of branches </a:t>
            </a:r>
            <a:r>
              <a:rPr lang="en-US" b="0" i="0" dirty="0">
                <a:effectLst/>
                <a:latin typeface="Arial" panose="020B0604020202020204" pitchFamily="34" charset="0"/>
              </a:rPr>
              <a:t>and natural leaf litter from the coppiced or pollarded stumps will restore </a:t>
            </a:r>
            <a:r>
              <a:rPr lang="en-US" b="0" i="0" u="none" strike="noStrike" dirty="0">
                <a:effectLst/>
                <a:latin typeface="Arial" panose="020B0604020202020204" pitchFamily="34" charset="0"/>
              </a:rPr>
              <a:t>soil fertility</a:t>
            </a:r>
            <a:r>
              <a:rPr lang="en-US" b="0" i="0" dirty="0">
                <a:effectLst/>
                <a:latin typeface="Arial" panose="020B0604020202020204" pitchFamily="34" charset="0"/>
              </a:rPr>
              <a:t> in </a:t>
            </a:r>
            <a:r>
              <a:rPr lang="en-US" b="1" i="0" dirty="0">
                <a:effectLst/>
                <a:latin typeface="Arial" panose="020B0604020202020204" pitchFamily="34" charset="0"/>
              </a:rPr>
              <a:t>20 to 25 </a:t>
            </a:r>
            <a:r>
              <a:rPr lang="en-US" b="0" i="0" dirty="0">
                <a:effectLst/>
                <a:latin typeface="Arial" panose="020B0604020202020204" pitchFamily="34" charset="0"/>
              </a:rPr>
              <a:t>years, at which point the chitemene process is repeated.</a:t>
            </a:r>
          </a:p>
          <a:p>
            <a:endParaRPr lang="en-ZM" dirty="0"/>
          </a:p>
        </p:txBody>
      </p:sp>
    </p:spTree>
    <p:extLst>
      <p:ext uri="{BB962C8B-B14F-4D97-AF65-F5344CB8AC3E}">
        <p14:creationId xmlns:p14="http://schemas.microsoft.com/office/powerpoint/2010/main" val="1388117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3D3E9-8DD6-0B30-CBD1-16727BC68989}"/>
              </a:ext>
            </a:extLst>
          </p:cNvPr>
          <p:cNvSpPr>
            <a:spLocks noGrp="1"/>
          </p:cNvSpPr>
          <p:nvPr>
            <p:ph type="title"/>
          </p:nvPr>
        </p:nvSpPr>
        <p:spPr/>
        <p:txBody>
          <a:bodyPr/>
          <a:lstStyle/>
          <a:p>
            <a:pPr algn="ctr"/>
            <a:r>
              <a:rPr lang="en-US" b="1" dirty="0"/>
              <a:t>Types of Chitemene Systems</a:t>
            </a:r>
            <a:endParaRPr lang="en-ZM" b="1" dirty="0"/>
          </a:p>
        </p:txBody>
      </p:sp>
      <p:sp>
        <p:nvSpPr>
          <p:cNvPr id="3" name="Content Placeholder 2">
            <a:extLst>
              <a:ext uri="{FF2B5EF4-FFF2-40B4-BE49-F238E27FC236}">
                <a16:creationId xmlns:a16="http://schemas.microsoft.com/office/drawing/2014/main" id="{150B3F77-CB60-F473-0F6F-5D977D3A8B5B}"/>
              </a:ext>
            </a:extLst>
          </p:cNvPr>
          <p:cNvSpPr>
            <a:spLocks noGrp="1"/>
          </p:cNvSpPr>
          <p:nvPr>
            <p:ph idx="1"/>
          </p:nvPr>
        </p:nvSpPr>
        <p:spPr/>
        <p:txBody>
          <a:bodyPr>
            <a:normAutofit lnSpcReduction="10000"/>
          </a:bodyPr>
          <a:lstStyle/>
          <a:p>
            <a:pPr algn="l"/>
            <a:r>
              <a:rPr lang="en-US" b="0" i="0" dirty="0">
                <a:solidFill>
                  <a:srgbClr val="202122"/>
                </a:solidFill>
                <a:effectLst/>
                <a:latin typeface="Arial" panose="020B0604020202020204" pitchFamily="34" charset="0"/>
              </a:rPr>
              <a:t>Though there are numerous variations on chitemene systems, three types of chitemene are practiced in distinct groupings in Northern Zambia, depending largely on the tribal traditions and soil characteristics of the specific area. </a:t>
            </a:r>
          </a:p>
          <a:p>
            <a:pPr algn="l"/>
            <a:r>
              <a:rPr lang="en-US" b="0" i="0" dirty="0">
                <a:solidFill>
                  <a:srgbClr val="202122"/>
                </a:solidFill>
                <a:effectLst/>
                <a:latin typeface="Arial" panose="020B0604020202020204" pitchFamily="34" charset="0"/>
              </a:rPr>
              <a:t>The systems are distinguished from each other by the:</a:t>
            </a:r>
          </a:p>
          <a:p>
            <a:pPr algn="l">
              <a:buFont typeface="Arial" panose="020B0604020202020204" pitchFamily="34" charset="0"/>
              <a:buChar char="•"/>
            </a:pPr>
            <a:r>
              <a:rPr lang="en-US" b="0" i="0" dirty="0">
                <a:solidFill>
                  <a:srgbClr val="202122"/>
                </a:solidFill>
                <a:effectLst/>
                <a:latin typeface="Arial" panose="020B0604020202020204" pitchFamily="34" charset="0"/>
              </a:rPr>
              <a:t>Ratio of cleared area to that of the cultivated portion</a:t>
            </a:r>
          </a:p>
          <a:p>
            <a:pPr algn="l">
              <a:buFont typeface="Arial" panose="020B0604020202020204" pitchFamily="34" charset="0"/>
              <a:buChar char="•"/>
            </a:pPr>
            <a:r>
              <a:rPr lang="en-US" b="0" i="0" dirty="0">
                <a:solidFill>
                  <a:srgbClr val="202122"/>
                </a:solidFill>
                <a:effectLst/>
                <a:latin typeface="Arial" panose="020B0604020202020204" pitchFamily="34" charset="0"/>
              </a:rPr>
              <a:t>Shape and size of the cleared area and cultivated portion</a:t>
            </a:r>
          </a:p>
          <a:p>
            <a:pPr algn="l">
              <a:buFont typeface="Arial" panose="020B0604020202020204" pitchFamily="34" charset="0"/>
              <a:buChar char="•"/>
            </a:pPr>
            <a:r>
              <a:rPr lang="en-US" b="0" i="0" dirty="0">
                <a:solidFill>
                  <a:srgbClr val="202122"/>
                </a:solidFill>
                <a:effectLst/>
                <a:latin typeface="Arial" panose="020B0604020202020204" pitchFamily="34" charset="0"/>
              </a:rPr>
              <a:t>Period of cultivation</a:t>
            </a:r>
          </a:p>
          <a:p>
            <a:pPr algn="l">
              <a:buFont typeface="Arial" panose="020B0604020202020204" pitchFamily="34" charset="0"/>
              <a:buChar char="•"/>
            </a:pPr>
            <a:r>
              <a:rPr lang="en-US" b="0" i="0" dirty="0">
                <a:solidFill>
                  <a:srgbClr val="202122"/>
                </a:solidFill>
                <a:effectLst/>
                <a:latin typeface="Arial" panose="020B0604020202020204" pitchFamily="34" charset="0"/>
              </a:rPr>
              <a:t>Rotation of crops</a:t>
            </a:r>
          </a:p>
          <a:p>
            <a:pPr algn="l">
              <a:buFont typeface="Arial" panose="020B0604020202020204" pitchFamily="34" charset="0"/>
              <a:buChar char="•"/>
            </a:pPr>
            <a:r>
              <a:rPr lang="en-US" b="0" i="0" dirty="0">
                <a:solidFill>
                  <a:srgbClr val="202122"/>
                </a:solidFill>
                <a:effectLst/>
                <a:latin typeface="Arial" panose="020B0604020202020204" pitchFamily="34" charset="0"/>
              </a:rPr>
              <a:t>Staple crops</a:t>
            </a:r>
          </a:p>
          <a:p>
            <a:endParaRPr lang="en-ZM" dirty="0"/>
          </a:p>
        </p:txBody>
      </p:sp>
    </p:spTree>
    <p:extLst>
      <p:ext uri="{BB962C8B-B14F-4D97-AF65-F5344CB8AC3E}">
        <p14:creationId xmlns:p14="http://schemas.microsoft.com/office/powerpoint/2010/main" val="2360654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3D4B-9F3A-139B-ADBB-34F520CC50D4}"/>
              </a:ext>
            </a:extLst>
          </p:cNvPr>
          <p:cNvSpPr>
            <a:spLocks noGrp="1"/>
          </p:cNvSpPr>
          <p:nvPr>
            <p:ph type="title"/>
          </p:nvPr>
        </p:nvSpPr>
        <p:spPr/>
        <p:txBody>
          <a:bodyPr/>
          <a:lstStyle/>
          <a:p>
            <a:pPr algn="ctr"/>
            <a:r>
              <a:rPr lang="en-US" b="1" dirty="0"/>
              <a:t>Large Circle Chitemene</a:t>
            </a:r>
            <a:endParaRPr lang="en-ZM" b="1" dirty="0"/>
          </a:p>
        </p:txBody>
      </p:sp>
      <p:sp>
        <p:nvSpPr>
          <p:cNvPr id="3" name="Content Placeholder 2">
            <a:extLst>
              <a:ext uri="{FF2B5EF4-FFF2-40B4-BE49-F238E27FC236}">
                <a16:creationId xmlns:a16="http://schemas.microsoft.com/office/drawing/2014/main" id="{B756D0F0-8E14-785D-2737-C335638C4691}"/>
              </a:ext>
            </a:extLst>
          </p:cNvPr>
          <p:cNvSpPr>
            <a:spLocks noGrp="1"/>
          </p:cNvSpPr>
          <p:nvPr>
            <p:ph idx="1"/>
          </p:nvPr>
        </p:nvSpPr>
        <p:spPr/>
        <p:txBody>
          <a:bodyPr>
            <a:normAutofit fontScale="92500" lnSpcReduction="20000"/>
          </a:bodyPr>
          <a:lstStyle/>
          <a:p>
            <a:pPr algn="just"/>
            <a:r>
              <a:rPr lang="en-US" b="0" i="0" dirty="0">
                <a:solidFill>
                  <a:srgbClr val="202122"/>
                </a:solidFill>
                <a:effectLst/>
                <a:latin typeface="Arial" panose="020B0604020202020204" pitchFamily="34" charset="0"/>
              </a:rPr>
              <a:t>Large circle chitemene is practiced in northeast Zambia over the extent of the Muchinga plateau within Luapula and Northern Provinces. </a:t>
            </a:r>
          </a:p>
          <a:p>
            <a:pPr algn="just"/>
            <a:r>
              <a:rPr lang="en-US" b="0" i="0" dirty="0">
                <a:solidFill>
                  <a:srgbClr val="202122"/>
                </a:solidFill>
                <a:effectLst/>
                <a:latin typeface="Arial" panose="020B0604020202020204" pitchFamily="34" charset="0"/>
              </a:rPr>
              <a:t>In Luapula province, it is practiced uniformly in all districts in the portions outside the lowland areas surrounding Lake Bangweulu as well as those adjoining the Luapula River valley.</a:t>
            </a:r>
          </a:p>
          <a:p>
            <a:pPr algn="just"/>
            <a:r>
              <a:rPr lang="en-US" b="0" i="0" dirty="0">
                <a:solidFill>
                  <a:srgbClr val="202122"/>
                </a:solidFill>
                <a:effectLst/>
                <a:latin typeface="Arial" panose="020B0604020202020204" pitchFamily="34" charset="0"/>
              </a:rPr>
              <a:t> In Northern province, it is practiced everywhere outside the aforementioned Bangweulu lowlands, the Chambeshi River flat, the areas west of Mpulungu and north of Lake Mweru Mwantipa, and near to the borders of Tanzania (where another rake-and-hoe system is practiced). </a:t>
            </a:r>
          </a:p>
          <a:p>
            <a:pPr algn="just"/>
            <a:r>
              <a:rPr lang="en-US" b="0" i="0" dirty="0">
                <a:solidFill>
                  <a:srgbClr val="202122"/>
                </a:solidFill>
                <a:effectLst/>
                <a:latin typeface="Arial" panose="020B0604020202020204" pitchFamily="34" charset="0"/>
              </a:rPr>
              <a:t>By and large, the farmers engaged in large-circle chitemene are Bemba speakers, though not necessarily Bembas by tribe. </a:t>
            </a:r>
            <a:endParaRPr lang="en-ZM" dirty="0"/>
          </a:p>
        </p:txBody>
      </p:sp>
    </p:spTree>
    <p:extLst>
      <p:ext uri="{BB962C8B-B14F-4D97-AF65-F5344CB8AC3E}">
        <p14:creationId xmlns:p14="http://schemas.microsoft.com/office/powerpoint/2010/main" val="37394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3D4B-9F3A-139B-ADBB-34F520CC50D4}"/>
              </a:ext>
            </a:extLst>
          </p:cNvPr>
          <p:cNvSpPr>
            <a:spLocks noGrp="1"/>
          </p:cNvSpPr>
          <p:nvPr>
            <p:ph type="title"/>
          </p:nvPr>
        </p:nvSpPr>
        <p:spPr/>
        <p:txBody>
          <a:bodyPr/>
          <a:lstStyle/>
          <a:p>
            <a:pPr algn="ctr"/>
            <a:r>
              <a:rPr lang="en-US" b="1" dirty="0"/>
              <a:t>Large Circle Chitemene</a:t>
            </a:r>
            <a:endParaRPr lang="en-ZM" b="1" dirty="0"/>
          </a:p>
        </p:txBody>
      </p:sp>
      <p:sp>
        <p:nvSpPr>
          <p:cNvPr id="3" name="Content Placeholder 2">
            <a:extLst>
              <a:ext uri="{FF2B5EF4-FFF2-40B4-BE49-F238E27FC236}">
                <a16:creationId xmlns:a16="http://schemas.microsoft.com/office/drawing/2014/main" id="{B756D0F0-8E14-785D-2737-C335638C4691}"/>
              </a:ext>
            </a:extLst>
          </p:cNvPr>
          <p:cNvSpPr>
            <a:spLocks noGrp="1"/>
          </p:cNvSpPr>
          <p:nvPr>
            <p:ph idx="1"/>
          </p:nvPr>
        </p:nvSpPr>
        <p:spPr/>
        <p:txBody>
          <a:bodyPr>
            <a:normAutofit lnSpcReduction="10000"/>
          </a:bodyPr>
          <a:lstStyle/>
          <a:p>
            <a:pPr algn="just"/>
            <a:r>
              <a:rPr lang="en-US" b="0" i="0" dirty="0">
                <a:solidFill>
                  <a:srgbClr val="202122"/>
                </a:solidFill>
                <a:effectLst/>
                <a:latin typeface="Arial" panose="020B0604020202020204" pitchFamily="34" charset="0"/>
              </a:rPr>
              <a:t> Large circle chitemene has the following distinguishing features:</a:t>
            </a:r>
          </a:p>
          <a:p>
            <a:pPr algn="just">
              <a:buFont typeface="+mj-lt"/>
              <a:buAutoNum type="arabicPeriod"/>
            </a:pPr>
            <a:r>
              <a:rPr lang="en-US" b="1" i="0" dirty="0">
                <a:solidFill>
                  <a:srgbClr val="202122"/>
                </a:solidFill>
                <a:effectLst/>
                <a:latin typeface="Arial" panose="020B0604020202020204" pitchFamily="34" charset="0"/>
              </a:rPr>
              <a:t>Pollarding of trees </a:t>
            </a:r>
            <a:r>
              <a:rPr lang="en-US" b="0" i="0" dirty="0">
                <a:solidFill>
                  <a:srgbClr val="202122"/>
                </a:solidFill>
                <a:effectLst/>
                <a:latin typeface="Arial" panose="020B0604020202020204" pitchFamily="34" charset="0"/>
              </a:rPr>
              <a:t>and </a:t>
            </a:r>
            <a:r>
              <a:rPr lang="en-US" b="1" i="0" dirty="0">
                <a:solidFill>
                  <a:srgbClr val="202122"/>
                </a:solidFill>
                <a:effectLst/>
                <a:latin typeface="Arial" panose="020B0604020202020204" pitchFamily="34" charset="0"/>
              </a:rPr>
              <a:t>stacking of branches </a:t>
            </a:r>
            <a:r>
              <a:rPr lang="en-US" b="0" i="0" dirty="0">
                <a:solidFill>
                  <a:srgbClr val="202122"/>
                </a:solidFill>
                <a:effectLst/>
                <a:latin typeface="Arial" panose="020B0604020202020204" pitchFamily="34" charset="0"/>
              </a:rPr>
              <a:t>into a circular or oval space comprising 1/6 to 1/10 of the area cleared.</a:t>
            </a:r>
          </a:p>
          <a:p>
            <a:pPr algn="just">
              <a:buFont typeface="+mj-lt"/>
              <a:buAutoNum type="arabicPeriod"/>
            </a:pPr>
            <a:r>
              <a:rPr lang="en-US" b="0" i="0" dirty="0">
                <a:solidFill>
                  <a:srgbClr val="202122"/>
                </a:solidFill>
                <a:effectLst/>
                <a:latin typeface="Arial" panose="020B0604020202020204" pitchFamily="34" charset="0"/>
              </a:rPr>
              <a:t>Land use is from </a:t>
            </a:r>
            <a:r>
              <a:rPr lang="en-US" b="1" i="0" dirty="0">
                <a:solidFill>
                  <a:srgbClr val="202122"/>
                </a:solidFill>
                <a:effectLst/>
                <a:latin typeface="Arial" panose="020B0604020202020204" pitchFamily="34" charset="0"/>
              </a:rPr>
              <a:t>four to six years</a:t>
            </a:r>
          </a:p>
          <a:p>
            <a:pPr algn="just">
              <a:buFont typeface="+mj-lt"/>
              <a:buAutoNum type="arabicPeriod"/>
            </a:pPr>
            <a:r>
              <a:rPr lang="en-US" b="0" i="0" dirty="0">
                <a:solidFill>
                  <a:srgbClr val="202122"/>
                </a:solidFill>
                <a:effectLst/>
                <a:latin typeface="Arial" panose="020B0604020202020204" pitchFamily="34" charset="0"/>
              </a:rPr>
              <a:t>Common crops include </a:t>
            </a:r>
            <a:r>
              <a:rPr lang="en-US" b="1" i="0" dirty="0">
                <a:solidFill>
                  <a:srgbClr val="202122"/>
                </a:solidFill>
                <a:effectLst/>
                <a:latin typeface="Arial" panose="020B0604020202020204" pitchFamily="34" charset="0"/>
              </a:rPr>
              <a:t>finger millet, cassava, groundnuts, beans, maize, and sorghum</a:t>
            </a:r>
            <a:r>
              <a:rPr lang="en-US" b="0" i="0" dirty="0">
                <a:solidFill>
                  <a:srgbClr val="202122"/>
                </a:solidFill>
                <a:effectLst/>
                <a:latin typeface="Arial" panose="020B0604020202020204" pitchFamily="34" charset="0"/>
              </a:rPr>
              <a:t>. </a:t>
            </a:r>
          </a:p>
          <a:p>
            <a:pPr algn="just">
              <a:buFont typeface="+mj-lt"/>
              <a:buAutoNum type="arabicPeriod"/>
            </a:pPr>
            <a:r>
              <a:rPr lang="en-US" b="0" i="0" dirty="0">
                <a:solidFill>
                  <a:srgbClr val="202122"/>
                </a:solidFill>
                <a:effectLst/>
                <a:latin typeface="Arial" panose="020B0604020202020204" pitchFamily="34" charset="0"/>
              </a:rPr>
              <a:t>The dominant crop in this area is </a:t>
            </a:r>
            <a:r>
              <a:rPr lang="en-US" b="1" i="0" dirty="0">
                <a:solidFill>
                  <a:srgbClr val="202122"/>
                </a:solidFill>
                <a:effectLst/>
                <a:latin typeface="Arial" panose="020B0604020202020204" pitchFamily="34" charset="0"/>
              </a:rPr>
              <a:t>cassava.</a:t>
            </a:r>
          </a:p>
          <a:p>
            <a:pPr algn="just">
              <a:buFont typeface="+mj-lt"/>
              <a:buAutoNum type="arabicPeriod"/>
            </a:pPr>
            <a:r>
              <a:rPr lang="en-US" b="0" i="0" dirty="0">
                <a:solidFill>
                  <a:srgbClr val="202122"/>
                </a:solidFill>
                <a:effectLst/>
                <a:latin typeface="Arial" panose="020B0604020202020204" pitchFamily="34" charset="0"/>
              </a:rPr>
              <a:t>Area of cropped land (i.e. land cleared) is between </a:t>
            </a:r>
            <a:r>
              <a:rPr lang="en-US" b="1" i="0" dirty="0">
                <a:solidFill>
                  <a:srgbClr val="202122"/>
                </a:solidFill>
                <a:effectLst/>
                <a:latin typeface="Arial" panose="020B0604020202020204" pitchFamily="34" charset="0"/>
              </a:rPr>
              <a:t>4 and 5.4 acres </a:t>
            </a:r>
            <a:r>
              <a:rPr lang="en-US" b="0" i="0" dirty="0">
                <a:solidFill>
                  <a:srgbClr val="202122"/>
                </a:solidFill>
                <a:effectLst/>
                <a:latin typeface="Arial" panose="020B0604020202020204" pitchFamily="34" charset="0"/>
              </a:rPr>
              <a:t>(22,000 m</a:t>
            </a:r>
            <a:r>
              <a:rPr lang="en-US" b="0" i="0" baseline="30000" dirty="0">
                <a:solidFill>
                  <a:srgbClr val="202122"/>
                </a:solidFill>
                <a:effectLst/>
                <a:latin typeface="Arial" panose="020B0604020202020204" pitchFamily="34" charset="0"/>
              </a:rPr>
              <a:t>2</a:t>
            </a:r>
            <a:r>
              <a:rPr lang="en-US" b="0" i="0" dirty="0">
                <a:solidFill>
                  <a:srgbClr val="202122"/>
                </a:solidFill>
                <a:effectLst/>
                <a:latin typeface="Arial" panose="020B0604020202020204" pitchFamily="34" charset="0"/>
              </a:rPr>
              <a:t>).</a:t>
            </a:r>
          </a:p>
          <a:p>
            <a:endParaRPr lang="en-ZM" dirty="0"/>
          </a:p>
        </p:txBody>
      </p:sp>
    </p:spTree>
    <p:extLst>
      <p:ext uri="{BB962C8B-B14F-4D97-AF65-F5344CB8AC3E}">
        <p14:creationId xmlns:p14="http://schemas.microsoft.com/office/powerpoint/2010/main" val="251538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F95E2-3D94-5892-8045-04C87F3F1DDA}"/>
              </a:ext>
            </a:extLst>
          </p:cNvPr>
          <p:cNvSpPr>
            <a:spLocks noGrp="1"/>
          </p:cNvSpPr>
          <p:nvPr>
            <p:ph type="title"/>
          </p:nvPr>
        </p:nvSpPr>
        <p:spPr/>
        <p:txBody>
          <a:bodyPr/>
          <a:lstStyle/>
          <a:p>
            <a:pPr algn="ctr"/>
            <a:r>
              <a:rPr lang="en-US" b="1" dirty="0"/>
              <a:t>Small Circle Chitemene</a:t>
            </a:r>
            <a:endParaRPr lang="en-ZM" b="1" dirty="0"/>
          </a:p>
        </p:txBody>
      </p:sp>
      <p:sp>
        <p:nvSpPr>
          <p:cNvPr id="3" name="Content Placeholder 2">
            <a:extLst>
              <a:ext uri="{FF2B5EF4-FFF2-40B4-BE49-F238E27FC236}">
                <a16:creationId xmlns:a16="http://schemas.microsoft.com/office/drawing/2014/main" id="{CD76F701-5CEF-FA29-DF57-4A5DFA080AF0}"/>
              </a:ext>
            </a:extLst>
          </p:cNvPr>
          <p:cNvSpPr>
            <a:spLocks noGrp="1"/>
          </p:cNvSpPr>
          <p:nvPr>
            <p:ph idx="1"/>
          </p:nvPr>
        </p:nvSpPr>
        <p:spPr/>
        <p:txBody>
          <a:bodyPr>
            <a:normAutofit fontScale="85000" lnSpcReduction="20000"/>
          </a:bodyPr>
          <a:lstStyle/>
          <a:p>
            <a:pPr algn="just"/>
            <a:r>
              <a:rPr lang="en-US" b="0" i="0" dirty="0">
                <a:effectLst/>
                <a:latin typeface="Arial" panose="020B0604020202020204" pitchFamily="34" charset="0"/>
              </a:rPr>
              <a:t>This system is practiced in an area extending from the southern portion of Mpika District (Muchinga Province) westwards throughout the Muchinga Escarpment uplands of Central Province to the vicinity of </a:t>
            </a:r>
            <a:r>
              <a:rPr lang="en-US" b="0" i="0" dirty="0" err="1">
                <a:effectLst/>
                <a:latin typeface="Arial" panose="020B0604020202020204" pitchFamily="34" charset="0"/>
              </a:rPr>
              <a:t>Kapiri</a:t>
            </a:r>
            <a:r>
              <a:rPr lang="en-US" b="0" i="0" dirty="0">
                <a:effectLst/>
                <a:latin typeface="Arial" panose="020B0604020202020204" pitchFamily="34" charset="0"/>
              </a:rPr>
              <a:t> </a:t>
            </a:r>
            <a:r>
              <a:rPr lang="en-US" b="0" i="0" dirty="0" err="1">
                <a:effectLst/>
                <a:latin typeface="Arial" panose="020B0604020202020204" pitchFamily="34" charset="0"/>
              </a:rPr>
              <a:t>Mposhi</a:t>
            </a:r>
            <a:r>
              <a:rPr lang="en-US" b="0" i="0" dirty="0">
                <a:effectLst/>
                <a:latin typeface="Arial" panose="020B0604020202020204" pitchFamily="34" charset="0"/>
              </a:rPr>
              <a:t>. </a:t>
            </a:r>
          </a:p>
          <a:p>
            <a:pPr algn="just"/>
            <a:r>
              <a:rPr lang="en-US" b="0" i="0" dirty="0">
                <a:effectLst/>
                <a:latin typeface="Arial" panose="020B0604020202020204" pitchFamily="34" charset="0"/>
              </a:rPr>
              <a:t>It is a common practice of the predominant tribes of the region, the </a:t>
            </a:r>
            <a:r>
              <a:rPr lang="en-US" b="0" i="0" dirty="0" err="1">
                <a:effectLst/>
                <a:latin typeface="Arial" panose="020B0604020202020204" pitchFamily="34" charset="0"/>
              </a:rPr>
              <a:t>Laala</a:t>
            </a:r>
            <a:r>
              <a:rPr lang="en-US" b="0" i="0" dirty="0">
                <a:effectLst/>
                <a:latin typeface="Arial" panose="020B0604020202020204" pitchFamily="34" charset="0"/>
              </a:rPr>
              <a:t> and </a:t>
            </a:r>
            <a:r>
              <a:rPr lang="en-US" b="0" i="0" dirty="0" err="1">
                <a:effectLst/>
                <a:latin typeface="Arial" panose="020B0604020202020204" pitchFamily="34" charset="0"/>
              </a:rPr>
              <a:t>Swaka</a:t>
            </a:r>
            <a:r>
              <a:rPr lang="en-US" b="0" i="0" dirty="0">
                <a:effectLst/>
                <a:latin typeface="Arial" panose="020B0604020202020204" pitchFamily="34" charset="0"/>
              </a:rPr>
              <a:t> peoples.</a:t>
            </a:r>
          </a:p>
          <a:p>
            <a:pPr algn="just"/>
            <a:r>
              <a:rPr lang="en-US" b="0" i="0" dirty="0">
                <a:effectLst/>
                <a:latin typeface="Arial" panose="020B0604020202020204" pitchFamily="34" charset="0"/>
              </a:rPr>
              <a:t> Its main features include:</a:t>
            </a:r>
          </a:p>
          <a:p>
            <a:pPr algn="just">
              <a:buFont typeface="+mj-lt"/>
              <a:buAutoNum type="arabicPeriod"/>
            </a:pPr>
            <a:r>
              <a:rPr lang="en-US" b="1" i="0" dirty="0">
                <a:effectLst/>
                <a:latin typeface="Arial" panose="020B0604020202020204" pitchFamily="34" charset="0"/>
              </a:rPr>
              <a:t>Coppicing</a:t>
            </a:r>
            <a:r>
              <a:rPr lang="en-US" b="0" i="0" dirty="0">
                <a:effectLst/>
                <a:latin typeface="Arial" panose="020B0604020202020204" pitchFamily="34" charset="0"/>
              </a:rPr>
              <a:t> of trees and </a:t>
            </a:r>
            <a:r>
              <a:rPr lang="en-US" b="1" i="0" dirty="0">
                <a:effectLst/>
                <a:latin typeface="Arial" panose="020B0604020202020204" pitchFamily="34" charset="0"/>
              </a:rPr>
              <a:t>stacking of trunks </a:t>
            </a:r>
            <a:r>
              <a:rPr lang="en-US" b="0" i="0" dirty="0">
                <a:effectLst/>
                <a:latin typeface="Arial" panose="020B0604020202020204" pitchFamily="34" charset="0"/>
              </a:rPr>
              <a:t>and branches into a series of long, rectangular-shaped mounds. </a:t>
            </a:r>
          </a:p>
          <a:p>
            <a:pPr algn="just">
              <a:buFont typeface="+mj-lt"/>
              <a:buAutoNum type="arabicPeriod"/>
            </a:pPr>
            <a:r>
              <a:rPr lang="en-US" b="0" i="0" dirty="0">
                <a:effectLst/>
                <a:latin typeface="Arial" panose="020B0604020202020204" pitchFamily="34" charset="0"/>
              </a:rPr>
              <a:t>Unlike large-circle chitemene, the cleared area may contain </a:t>
            </a:r>
            <a:r>
              <a:rPr lang="en-US" b="1" i="0" dirty="0">
                <a:effectLst/>
                <a:latin typeface="Arial" panose="020B0604020202020204" pitchFamily="34" charset="0"/>
              </a:rPr>
              <a:t>more than one mound to be burned </a:t>
            </a:r>
            <a:r>
              <a:rPr lang="en-US" b="0" i="0" dirty="0">
                <a:effectLst/>
                <a:latin typeface="Arial" panose="020B0604020202020204" pitchFamily="34" charset="0"/>
              </a:rPr>
              <a:t>or cultivated.</a:t>
            </a:r>
          </a:p>
          <a:p>
            <a:pPr algn="just">
              <a:buFont typeface="+mj-lt"/>
              <a:buAutoNum type="arabicPeriod"/>
            </a:pPr>
            <a:r>
              <a:rPr lang="en-US" b="0" i="0" dirty="0">
                <a:effectLst/>
                <a:latin typeface="Arial" panose="020B0604020202020204" pitchFamily="34" charset="0"/>
              </a:rPr>
              <a:t>Immediate cultivated land use is for </a:t>
            </a:r>
            <a:r>
              <a:rPr lang="en-US" b="1" i="0" dirty="0">
                <a:effectLst/>
                <a:latin typeface="Arial" panose="020B0604020202020204" pitchFamily="34" charset="0"/>
              </a:rPr>
              <a:t>two to three years</a:t>
            </a:r>
            <a:r>
              <a:rPr lang="en-US" b="0" i="0" dirty="0">
                <a:effectLst/>
                <a:latin typeface="Arial" panose="020B0604020202020204" pitchFamily="34" charset="0"/>
              </a:rPr>
              <a:t>.</a:t>
            </a:r>
          </a:p>
          <a:p>
            <a:pPr algn="just">
              <a:buFont typeface="+mj-lt"/>
              <a:buAutoNum type="arabicPeriod"/>
            </a:pPr>
            <a:r>
              <a:rPr lang="en-US" b="0" i="0" dirty="0">
                <a:effectLst/>
                <a:latin typeface="Arial" panose="020B0604020202020204" pitchFamily="34" charset="0"/>
              </a:rPr>
              <a:t>Predominant crops are </a:t>
            </a:r>
            <a:r>
              <a:rPr lang="en-US" b="1" i="0" u="none" strike="noStrike" dirty="0">
                <a:effectLst/>
                <a:latin typeface="Arial" panose="020B0604020202020204" pitchFamily="34" charset="0"/>
              </a:rPr>
              <a:t>millet</a:t>
            </a:r>
            <a:r>
              <a:rPr lang="en-US" b="1" i="0" dirty="0">
                <a:effectLst/>
                <a:latin typeface="Arial" panose="020B0604020202020204" pitchFamily="34" charset="0"/>
              </a:rPr>
              <a:t>, </a:t>
            </a:r>
            <a:r>
              <a:rPr lang="en-US" b="1" i="0" u="none" strike="noStrike" dirty="0">
                <a:effectLst/>
                <a:latin typeface="Arial" panose="020B0604020202020204" pitchFamily="34" charset="0"/>
              </a:rPr>
              <a:t>maize</a:t>
            </a:r>
            <a:r>
              <a:rPr lang="en-US" b="1" i="0" dirty="0">
                <a:effectLst/>
                <a:latin typeface="Arial" panose="020B0604020202020204" pitchFamily="34" charset="0"/>
              </a:rPr>
              <a:t>, and </a:t>
            </a:r>
            <a:r>
              <a:rPr lang="en-US" b="1" i="0" u="none" strike="noStrike" dirty="0">
                <a:effectLst/>
                <a:latin typeface="Arial" panose="020B0604020202020204" pitchFamily="34" charset="0"/>
              </a:rPr>
              <a:t>sorghum</a:t>
            </a:r>
            <a:r>
              <a:rPr lang="en-US" b="1" i="0" dirty="0">
                <a:effectLst/>
                <a:latin typeface="Arial" panose="020B0604020202020204" pitchFamily="34" charset="0"/>
              </a:rPr>
              <a:t>.</a:t>
            </a:r>
          </a:p>
          <a:p>
            <a:endParaRPr lang="en-ZM" dirty="0"/>
          </a:p>
        </p:txBody>
      </p:sp>
    </p:spTree>
    <p:extLst>
      <p:ext uri="{BB962C8B-B14F-4D97-AF65-F5344CB8AC3E}">
        <p14:creationId xmlns:p14="http://schemas.microsoft.com/office/powerpoint/2010/main" val="2984130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25EE3F16-0332-9CB9-FAEC-A338EECCF1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4643" y="516835"/>
            <a:ext cx="10508974" cy="5791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B8CDCC8-F83E-ECDD-E5E6-A21D03B18A43}"/>
              </a:ext>
            </a:extLst>
          </p:cNvPr>
          <p:cNvSpPr txBox="1"/>
          <p:nvPr/>
        </p:nvSpPr>
        <p:spPr>
          <a:xfrm>
            <a:off x="6095999" y="3201264"/>
            <a:ext cx="4797287" cy="646331"/>
          </a:xfrm>
          <a:prstGeom prst="rect">
            <a:avLst/>
          </a:prstGeom>
          <a:noFill/>
        </p:spPr>
        <p:txBody>
          <a:bodyPr wrap="square">
            <a:spAutoFit/>
          </a:bodyPr>
          <a:lstStyle/>
          <a:p>
            <a:r>
              <a:rPr lang="it-IT" b="0" i="0" dirty="0">
                <a:solidFill>
                  <a:srgbClr val="FF0000"/>
                </a:solidFill>
                <a:effectLst/>
                <a:latin typeface="Arial" panose="020B0604020202020204" pitchFamily="34" charset="0"/>
              </a:rPr>
              <a:t>Small circle chitemene in Serenje, Central Zambia</a:t>
            </a:r>
            <a:endParaRPr lang="en-ZM" dirty="0">
              <a:solidFill>
                <a:srgbClr val="FF0000"/>
              </a:solidFill>
            </a:endParaRPr>
          </a:p>
        </p:txBody>
      </p:sp>
    </p:spTree>
    <p:extLst>
      <p:ext uri="{BB962C8B-B14F-4D97-AF65-F5344CB8AC3E}">
        <p14:creationId xmlns:p14="http://schemas.microsoft.com/office/powerpoint/2010/main" val="634310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129F-BB7C-EAA8-9095-A416C25F841A}"/>
              </a:ext>
            </a:extLst>
          </p:cNvPr>
          <p:cNvSpPr>
            <a:spLocks noGrp="1"/>
          </p:cNvSpPr>
          <p:nvPr>
            <p:ph type="title"/>
          </p:nvPr>
        </p:nvSpPr>
        <p:spPr/>
        <p:txBody>
          <a:bodyPr/>
          <a:lstStyle/>
          <a:p>
            <a:pPr algn="ctr"/>
            <a:r>
              <a:rPr lang="en-US" b="1" dirty="0"/>
              <a:t>Block Chitemene System</a:t>
            </a:r>
            <a:endParaRPr lang="en-ZM" b="1" dirty="0"/>
          </a:p>
        </p:txBody>
      </p:sp>
      <p:sp>
        <p:nvSpPr>
          <p:cNvPr id="3" name="Content Placeholder 2">
            <a:extLst>
              <a:ext uri="{FF2B5EF4-FFF2-40B4-BE49-F238E27FC236}">
                <a16:creationId xmlns:a16="http://schemas.microsoft.com/office/drawing/2014/main" id="{13BC7E5E-8750-A239-EB15-6351C3C8D584}"/>
              </a:ext>
            </a:extLst>
          </p:cNvPr>
          <p:cNvSpPr>
            <a:spLocks noGrp="1"/>
          </p:cNvSpPr>
          <p:nvPr>
            <p:ph idx="1"/>
          </p:nvPr>
        </p:nvSpPr>
        <p:spPr/>
        <p:txBody>
          <a:bodyPr>
            <a:normAutofit fontScale="92500" lnSpcReduction="10000"/>
          </a:bodyPr>
          <a:lstStyle/>
          <a:p>
            <a:pPr algn="just"/>
            <a:r>
              <a:rPr lang="en-US" b="0" i="0" dirty="0">
                <a:effectLst/>
                <a:latin typeface="Arial" panose="020B0604020202020204" pitchFamily="34" charset="0"/>
              </a:rPr>
              <a:t>This system is predominant from </a:t>
            </a:r>
            <a:r>
              <a:rPr lang="en-US" b="0" i="0" dirty="0" err="1">
                <a:effectLst/>
                <a:latin typeface="Arial" panose="020B0604020202020204" pitchFamily="34" charset="0"/>
              </a:rPr>
              <a:t>Kapiri</a:t>
            </a:r>
            <a:r>
              <a:rPr lang="en-US" b="0" i="0" dirty="0">
                <a:effectLst/>
                <a:latin typeface="Arial" panose="020B0604020202020204" pitchFamily="34" charset="0"/>
              </a:rPr>
              <a:t> </a:t>
            </a:r>
            <a:r>
              <a:rPr lang="en-US" b="0" i="0" dirty="0" err="1">
                <a:effectLst/>
                <a:latin typeface="Arial" panose="020B0604020202020204" pitchFamily="34" charset="0"/>
              </a:rPr>
              <a:t>Mposhi</a:t>
            </a:r>
            <a:r>
              <a:rPr lang="en-US" b="0" i="0" dirty="0">
                <a:effectLst/>
                <a:latin typeface="Arial" panose="020B0604020202020204" pitchFamily="34" charset="0"/>
              </a:rPr>
              <a:t> in the east to </a:t>
            </a:r>
            <a:r>
              <a:rPr lang="en-US" b="0" i="0" dirty="0" err="1">
                <a:effectLst/>
                <a:latin typeface="Arial" panose="020B0604020202020204" pitchFamily="34" charset="0"/>
              </a:rPr>
              <a:t>Mufumbwe</a:t>
            </a:r>
            <a:r>
              <a:rPr lang="en-US" b="0" i="0" dirty="0">
                <a:effectLst/>
                <a:latin typeface="Arial" panose="020B0604020202020204" pitchFamily="34" charset="0"/>
              </a:rPr>
              <a:t> in the west, and is a practice of the </a:t>
            </a:r>
            <a:r>
              <a:rPr lang="en-US" b="0" i="0" dirty="0" err="1">
                <a:effectLst/>
                <a:latin typeface="Arial" panose="020B0604020202020204" pitchFamily="34" charset="0"/>
              </a:rPr>
              <a:t>baLamba</a:t>
            </a:r>
            <a:r>
              <a:rPr lang="en-US" b="0" i="0" dirty="0">
                <a:effectLst/>
                <a:latin typeface="Arial" panose="020B0604020202020204" pitchFamily="34" charset="0"/>
              </a:rPr>
              <a:t> and </a:t>
            </a:r>
            <a:r>
              <a:rPr lang="en-US" b="0" i="0" dirty="0" err="1">
                <a:effectLst/>
                <a:latin typeface="Arial" panose="020B0604020202020204" pitchFamily="34" charset="0"/>
              </a:rPr>
              <a:t>baKaonde</a:t>
            </a:r>
            <a:r>
              <a:rPr lang="en-US" b="0" i="0" dirty="0">
                <a:effectLst/>
                <a:latin typeface="Arial" panose="020B0604020202020204" pitchFamily="34" charset="0"/>
              </a:rPr>
              <a:t> tribes of Central, Copperbelt, and Northwestern Provinces.</a:t>
            </a:r>
          </a:p>
          <a:p>
            <a:pPr algn="just">
              <a:buFont typeface="+mj-lt"/>
              <a:buAutoNum type="arabicPeriod"/>
            </a:pPr>
            <a:r>
              <a:rPr lang="en-US" b="0" i="0" dirty="0">
                <a:effectLst/>
                <a:latin typeface="Arial" panose="020B0604020202020204" pitchFamily="34" charset="0"/>
              </a:rPr>
              <a:t>Due to the relative small number of people and abundance of land, </a:t>
            </a:r>
            <a:r>
              <a:rPr lang="en-US" b="1" i="0" dirty="0">
                <a:effectLst/>
                <a:latin typeface="Arial" panose="020B0604020202020204" pitchFamily="34" charset="0"/>
              </a:rPr>
              <a:t>large trees are base-cut, left to dry, and then burned before the rains. </a:t>
            </a:r>
          </a:p>
          <a:p>
            <a:pPr algn="just">
              <a:buFont typeface="+mj-lt"/>
              <a:buAutoNum type="arabicPeriod"/>
            </a:pPr>
            <a:r>
              <a:rPr lang="en-US" b="0" i="0" dirty="0">
                <a:effectLst/>
                <a:latin typeface="Arial" panose="020B0604020202020204" pitchFamily="34" charset="0"/>
              </a:rPr>
              <a:t>Crops are planted in both the </a:t>
            </a:r>
            <a:r>
              <a:rPr lang="en-US" b="1" i="0" dirty="0">
                <a:effectLst/>
                <a:latin typeface="Arial" panose="020B0604020202020204" pitchFamily="34" charset="0"/>
              </a:rPr>
              <a:t>cleared and burned areas </a:t>
            </a:r>
            <a:r>
              <a:rPr lang="en-US" b="0" i="0" dirty="0">
                <a:effectLst/>
                <a:latin typeface="Arial" panose="020B0604020202020204" pitchFamily="34" charset="0"/>
              </a:rPr>
              <a:t>to the extent that nearly all cleared land is </a:t>
            </a:r>
            <a:r>
              <a:rPr lang="en-US" b="1" i="0" dirty="0">
                <a:effectLst/>
                <a:latin typeface="Arial" panose="020B0604020202020204" pitchFamily="34" charset="0"/>
              </a:rPr>
              <a:t>planted</a:t>
            </a:r>
            <a:r>
              <a:rPr lang="en-US" b="0" i="0" dirty="0">
                <a:effectLst/>
                <a:latin typeface="Arial" panose="020B0604020202020204" pitchFamily="34" charset="0"/>
              </a:rPr>
              <a:t>.</a:t>
            </a:r>
          </a:p>
          <a:p>
            <a:pPr algn="just">
              <a:buFont typeface="+mj-lt"/>
              <a:buAutoNum type="arabicPeriod"/>
            </a:pPr>
            <a:r>
              <a:rPr lang="en-US" b="0" i="0" dirty="0">
                <a:effectLst/>
                <a:latin typeface="Arial" panose="020B0604020202020204" pitchFamily="34" charset="0"/>
              </a:rPr>
              <a:t>Size of cleared land is approximately </a:t>
            </a:r>
            <a:r>
              <a:rPr lang="en-US" b="1" i="0" dirty="0">
                <a:effectLst/>
                <a:latin typeface="Arial" panose="020B0604020202020204" pitchFamily="34" charset="0"/>
              </a:rPr>
              <a:t>2.3 acres </a:t>
            </a:r>
            <a:r>
              <a:rPr lang="en-US" b="0" i="0" dirty="0">
                <a:effectLst/>
                <a:latin typeface="Arial" panose="020B0604020202020204" pitchFamily="34" charset="0"/>
              </a:rPr>
              <a:t>(9,300 m</a:t>
            </a:r>
            <a:r>
              <a:rPr lang="en-US" b="0" i="0" baseline="30000" dirty="0">
                <a:effectLst/>
                <a:latin typeface="Arial" panose="020B0604020202020204" pitchFamily="34" charset="0"/>
              </a:rPr>
              <a:t>2</a:t>
            </a:r>
            <a:r>
              <a:rPr lang="en-US" b="0" i="0" dirty="0">
                <a:effectLst/>
                <a:latin typeface="Arial" panose="020B0604020202020204" pitchFamily="34" charset="0"/>
              </a:rPr>
              <a:t>).</a:t>
            </a:r>
          </a:p>
          <a:p>
            <a:pPr algn="just">
              <a:buFont typeface="+mj-lt"/>
              <a:buAutoNum type="arabicPeriod"/>
            </a:pPr>
            <a:r>
              <a:rPr lang="en-US" b="0" i="0" dirty="0">
                <a:effectLst/>
                <a:latin typeface="Arial" panose="020B0604020202020204" pitchFamily="34" charset="0"/>
              </a:rPr>
              <a:t>Predominant crops are</a:t>
            </a:r>
            <a:r>
              <a:rPr lang="en-US" b="1" i="0" dirty="0">
                <a:effectLst/>
                <a:latin typeface="Arial" panose="020B0604020202020204" pitchFamily="34" charset="0"/>
              </a:rPr>
              <a:t> </a:t>
            </a:r>
            <a:r>
              <a:rPr lang="en-US" b="1" i="0" u="none" strike="noStrike" dirty="0">
                <a:effectLst/>
                <a:latin typeface="Arial" panose="020B0604020202020204" pitchFamily="34" charset="0"/>
              </a:rPr>
              <a:t>maize</a:t>
            </a:r>
            <a:r>
              <a:rPr lang="en-US" b="1" i="0" dirty="0">
                <a:effectLst/>
                <a:latin typeface="Arial" panose="020B0604020202020204" pitchFamily="34" charset="0"/>
              </a:rPr>
              <a:t> and sorghum</a:t>
            </a:r>
          </a:p>
          <a:p>
            <a:endParaRPr lang="en-ZM" dirty="0"/>
          </a:p>
        </p:txBody>
      </p:sp>
    </p:spTree>
    <p:extLst>
      <p:ext uri="{BB962C8B-B14F-4D97-AF65-F5344CB8AC3E}">
        <p14:creationId xmlns:p14="http://schemas.microsoft.com/office/powerpoint/2010/main" val="1073521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4C21C-DDD5-6E26-B674-7BAAF84E4CE0}"/>
              </a:ext>
            </a:extLst>
          </p:cNvPr>
          <p:cNvSpPr>
            <a:spLocks noGrp="1"/>
          </p:cNvSpPr>
          <p:nvPr>
            <p:ph type="title"/>
          </p:nvPr>
        </p:nvSpPr>
        <p:spPr/>
        <p:txBody>
          <a:bodyPr/>
          <a:lstStyle/>
          <a:p>
            <a:r>
              <a:rPr lang="en-US" b="0" i="0" dirty="0">
                <a:solidFill>
                  <a:srgbClr val="202122"/>
                </a:solidFill>
                <a:effectLst/>
                <a:latin typeface="Arial" panose="020B0604020202020204" pitchFamily="34" charset="0"/>
              </a:rPr>
              <a:t>Block Chitemene" in Kasempa District, Northwestern Zambia</a:t>
            </a:r>
            <a:endParaRPr lang="en-ZM" dirty="0"/>
          </a:p>
        </p:txBody>
      </p:sp>
      <p:pic>
        <p:nvPicPr>
          <p:cNvPr id="4" name="Content Placeholder 3">
            <a:extLst>
              <a:ext uri="{FF2B5EF4-FFF2-40B4-BE49-F238E27FC236}">
                <a16:creationId xmlns:a16="http://schemas.microsoft.com/office/drawing/2014/main" id="{023609C1-AE60-8820-8609-0A0D2310E416}"/>
              </a:ext>
            </a:extLst>
          </p:cNvPr>
          <p:cNvPicPr>
            <a:picLocks noGrp="1" noChangeAspect="1"/>
          </p:cNvPicPr>
          <p:nvPr>
            <p:ph idx="1"/>
          </p:nvPr>
        </p:nvPicPr>
        <p:blipFill>
          <a:blip r:embed="rId2"/>
          <a:stretch>
            <a:fillRect/>
          </a:stretch>
        </p:blipFill>
        <p:spPr>
          <a:xfrm>
            <a:off x="1509610" y="1825625"/>
            <a:ext cx="9172780" cy="4351338"/>
          </a:xfrm>
          <a:prstGeom prst="rect">
            <a:avLst/>
          </a:prstGeom>
        </p:spPr>
      </p:pic>
    </p:spTree>
    <p:extLst>
      <p:ext uri="{BB962C8B-B14F-4D97-AF65-F5344CB8AC3E}">
        <p14:creationId xmlns:p14="http://schemas.microsoft.com/office/powerpoint/2010/main" val="3688090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2BE4C-EA3A-A2B4-DF1F-47894B911ECE}"/>
              </a:ext>
            </a:extLst>
          </p:cNvPr>
          <p:cNvSpPr>
            <a:spLocks noGrp="1"/>
          </p:cNvSpPr>
          <p:nvPr>
            <p:ph type="title"/>
          </p:nvPr>
        </p:nvSpPr>
        <p:spPr/>
        <p:txBody>
          <a:bodyPr/>
          <a:lstStyle/>
          <a:p>
            <a:pPr algn="ctr"/>
            <a:r>
              <a:rPr lang="en-US" b="1" dirty="0"/>
              <a:t>Ecological Issues</a:t>
            </a:r>
            <a:endParaRPr lang="en-ZM" b="1" dirty="0"/>
          </a:p>
        </p:txBody>
      </p:sp>
      <p:sp>
        <p:nvSpPr>
          <p:cNvPr id="3" name="Content Placeholder 2">
            <a:extLst>
              <a:ext uri="{FF2B5EF4-FFF2-40B4-BE49-F238E27FC236}">
                <a16:creationId xmlns:a16="http://schemas.microsoft.com/office/drawing/2014/main" id="{463BE535-425A-55D9-A111-B795D138D4D8}"/>
              </a:ext>
            </a:extLst>
          </p:cNvPr>
          <p:cNvSpPr>
            <a:spLocks noGrp="1"/>
          </p:cNvSpPr>
          <p:nvPr>
            <p:ph idx="1"/>
          </p:nvPr>
        </p:nvSpPr>
        <p:spPr/>
        <p:txBody>
          <a:bodyPr>
            <a:normAutofit fontScale="92500" lnSpcReduction="20000"/>
          </a:bodyPr>
          <a:lstStyle/>
          <a:p>
            <a:pPr algn="just"/>
            <a:r>
              <a:rPr lang="en-US" b="0" i="0" dirty="0">
                <a:solidFill>
                  <a:srgbClr val="202122"/>
                </a:solidFill>
                <a:effectLst/>
                <a:latin typeface="Arial" panose="020B0604020202020204" pitchFamily="34" charset="0"/>
              </a:rPr>
              <a:t>Chitemene is an ecologically sound system in a situation where land </a:t>
            </a:r>
            <a:r>
              <a:rPr lang="en-US" b="1" i="0" dirty="0">
                <a:solidFill>
                  <a:srgbClr val="202122"/>
                </a:solidFill>
                <a:effectLst/>
                <a:latin typeface="Arial" panose="020B0604020202020204" pitchFamily="34" charset="0"/>
              </a:rPr>
              <a:t>pressure from population demands are low </a:t>
            </a:r>
            <a:r>
              <a:rPr lang="en-US" b="0" i="0" dirty="0">
                <a:solidFill>
                  <a:srgbClr val="202122"/>
                </a:solidFill>
                <a:effectLst/>
                <a:latin typeface="Arial" panose="020B0604020202020204" pitchFamily="34" charset="0"/>
              </a:rPr>
              <a:t>and </a:t>
            </a:r>
            <a:r>
              <a:rPr lang="en-US" b="1" i="0" dirty="0">
                <a:solidFill>
                  <a:srgbClr val="202122"/>
                </a:solidFill>
                <a:effectLst/>
                <a:latin typeface="Arial" panose="020B0604020202020204" pitchFamily="34" charset="0"/>
              </a:rPr>
              <a:t>ample woodland </a:t>
            </a:r>
            <a:r>
              <a:rPr lang="en-US" b="0" i="0" dirty="0">
                <a:solidFill>
                  <a:srgbClr val="202122"/>
                </a:solidFill>
                <a:effectLst/>
                <a:latin typeface="Arial" panose="020B0604020202020204" pitchFamily="34" charset="0"/>
              </a:rPr>
              <a:t>is present. </a:t>
            </a:r>
          </a:p>
          <a:p>
            <a:pPr algn="just"/>
            <a:r>
              <a:rPr lang="en-US" b="0" i="0" dirty="0">
                <a:solidFill>
                  <a:srgbClr val="202122"/>
                </a:solidFill>
                <a:effectLst/>
                <a:latin typeface="Arial" panose="020B0604020202020204" pitchFamily="34" charset="0"/>
              </a:rPr>
              <a:t>In the past, when land and population were respectively plentiful and sparse, chitemene fields had ample time </a:t>
            </a:r>
            <a:r>
              <a:rPr lang="en-US" b="1" i="0" dirty="0">
                <a:solidFill>
                  <a:srgbClr val="202122"/>
                </a:solidFill>
                <a:effectLst/>
                <a:latin typeface="Arial" panose="020B0604020202020204" pitchFamily="34" charset="0"/>
              </a:rPr>
              <a:t>to lay fallow and recover </a:t>
            </a:r>
            <a:r>
              <a:rPr lang="en-US" b="0" i="0" dirty="0">
                <a:solidFill>
                  <a:srgbClr val="202122"/>
                </a:solidFill>
                <a:effectLst/>
                <a:latin typeface="Arial" panose="020B0604020202020204" pitchFamily="34" charset="0"/>
              </a:rPr>
              <a:t>before farmers returned to clear the field again. </a:t>
            </a:r>
          </a:p>
          <a:p>
            <a:pPr algn="just"/>
            <a:r>
              <a:rPr lang="en-US" b="0" i="0" dirty="0">
                <a:solidFill>
                  <a:srgbClr val="202122"/>
                </a:solidFill>
                <a:effectLst/>
                <a:latin typeface="Arial" panose="020B0604020202020204" pitchFamily="34" charset="0"/>
              </a:rPr>
              <a:t>However, in contemporary Zambia, farmers switching from traditional crop rotations to monoculture of maize continue to practice chitemene.</a:t>
            </a:r>
          </a:p>
          <a:p>
            <a:pPr algn="just"/>
            <a:r>
              <a:rPr lang="en-US" b="0" i="0" dirty="0">
                <a:solidFill>
                  <a:srgbClr val="202122"/>
                </a:solidFill>
                <a:effectLst/>
                <a:latin typeface="Arial" panose="020B0604020202020204" pitchFamily="34" charset="0"/>
              </a:rPr>
              <a:t>Unfortunately, the </a:t>
            </a:r>
            <a:r>
              <a:rPr lang="en-US" b="1" i="0" dirty="0">
                <a:solidFill>
                  <a:srgbClr val="202122"/>
                </a:solidFill>
                <a:effectLst/>
                <a:latin typeface="Arial" panose="020B0604020202020204" pitchFamily="34" charset="0"/>
              </a:rPr>
              <a:t>nutrient demands of maize tend to exhaust soils faster </a:t>
            </a:r>
            <a:r>
              <a:rPr lang="en-US" b="0" i="0" dirty="0">
                <a:solidFill>
                  <a:srgbClr val="202122"/>
                </a:solidFill>
                <a:effectLst/>
                <a:latin typeface="Arial" panose="020B0604020202020204" pitchFamily="34" charset="0"/>
              </a:rPr>
              <a:t>than traditional crops such as </a:t>
            </a:r>
            <a:r>
              <a:rPr lang="en-US" b="1" i="0" dirty="0">
                <a:solidFill>
                  <a:srgbClr val="202122"/>
                </a:solidFill>
                <a:effectLst/>
                <a:latin typeface="Arial" panose="020B0604020202020204" pitchFamily="34" charset="0"/>
              </a:rPr>
              <a:t>sorghum or millet</a:t>
            </a:r>
            <a:r>
              <a:rPr lang="en-US" b="0" i="0" dirty="0">
                <a:solidFill>
                  <a:srgbClr val="202122"/>
                </a:solidFill>
                <a:effectLst/>
                <a:latin typeface="Arial" panose="020B0604020202020204" pitchFamily="34" charset="0"/>
              </a:rPr>
              <a:t>, and the </a:t>
            </a:r>
            <a:r>
              <a:rPr lang="en-US" b="1" i="0" dirty="0">
                <a:solidFill>
                  <a:srgbClr val="202122"/>
                </a:solidFill>
                <a:effectLst/>
                <a:latin typeface="Arial" panose="020B0604020202020204" pitchFamily="34" charset="0"/>
              </a:rPr>
              <a:t>desire to sell maize </a:t>
            </a:r>
            <a:r>
              <a:rPr lang="en-US" b="0" i="0" dirty="0">
                <a:solidFill>
                  <a:srgbClr val="202122"/>
                </a:solidFill>
                <a:effectLst/>
                <a:latin typeface="Arial" panose="020B0604020202020204" pitchFamily="34" charset="0"/>
              </a:rPr>
              <a:t>as a commodity expedites the expansion of chitemene clearing.</a:t>
            </a:r>
            <a:endParaRPr lang="en-ZM" dirty="0"/>
          </a:p>
        </p:txBody>
      </p:sp>
    </p:spTree>
    <p:extLst>
      <p:ext uri="{BB962C8B-B14F-4D97-AF65-F5344CB8AC3E}">
        <p14:creationId xmlns:p14="http://schemas.microsoft.com/office/powerpoint/2010/main" val="1981105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807C9-04D3-3890-2F62-1424F8FE85B5}"/>
              </a:ext>
            </a:extLst>
          </p:cNvPr>
          <p:cNvSpPr>
            <a:spLocks noGrp="1"/>
          </p:cNvSpPr>
          <p:nvPr>
            <p:ph type="title"/>
          </p:nvPr>
        </p:nvSpPr>
        <p:spPr/>
        <p:txBody>
          <a:bodyPr>
            <a:normAutofit/>
          </a:bodyPr>
          <a:lstStyle/>
          <a:p>
            <a:pPr algn="ctr"/>
            <a:r>
              <a:rPr lang="en-ZM" sz="2800" b="1" kern="0" dirty="0">
                <a:solidFill>
                  <a:srgbClr val="202124"/>
                </a:solidFill>
                <a:effectLst/>
                <a:latin typeface="Arial" panose="020B0604020202020204" pitchFamily="34" charset="0"/>
                <a:ea typeface="Times New Roman" panose="02020603050405020304" pitchFamily="18" charset="0"/>
              </a:rPr>
              <a:t>What are the disadvantages of the chitemene system</a:t>
            </a:r>
            <a:r>
              <a:rPr lang="en-US" sz="2800" b="1" kern="0" dirty="0">
                <a:solidFill>
                  <a:srgbClr val="202124"/>
                </a:solidFill>
                <a:effectLst/>
                <a:latin typeface="Arial" panose="020B0604020202020204" pitchFamily="34" charset="0"/>
                <a:ea typeface="Times New Roman" panose="02020603050405020304" pitchFamily="18" charset="0"/>
              </a:rPr>
              <a:t>?</a:t>
            </a:r>
            <a:br>
              <a:rPr lang="en-US" sz="2800" b="1" kern="0" dirty="0">
                <a:solidFill>
                  <a:srgbClr val="202124"/>
                </a:solidFill>
                <a:effectLst/>
                <a:latin typeface="Arial" panose="020B0604020202020204" pitchFamily="34" charset="0"/>
                <a:ea typeface="Times New Roman" panose="02020603050405020304" pitchFamily="18" charset="0"/>
              </a:rPr>
            </a:br>
            <a:r>
              <a:rPr lang="en-US" sz="2800" b="1" kern="0" dirty="0">
                <a:solidFill>
                  <a:srgbClr val="202124"/>
                </a:solidFill>
                <a:effectLst/>
                <a:latin typeface="Arial" panose="020B0604020202020204" pitchFamily="34" charset="0"/>
                <a:ea typeface="Times New Roman" panose="02020603050405020304" pitchFamily="18" charset="0"/>
              </a:rPr>
              <a:t>(What makes Chitemene to be regarded as Unsustainable)</a:t>
            </a:r>
            <a:endParaRPr lang="en-ZM" sz="2800" b="1" dirty="0"/>
          </a:p>
        </p:txBody>
      </p:sp>
      <p:sp>
        <p:nvSpPr>
          <p:cNvPr id="3" name="Content Placeholder 2">
            <a:extLst>
              <a:ext uri="{FF2B5EF4-FFF2-40B4-BE49-F238E27FC236}">
                <a16:creationId xmlns:a16="http://schemas.microsoft.com/office/drawing/2014/main" id="{7B92A040-8C83-44EE-70E5-6D5EB25E8379}"/>
              </a:ext>
            </a:extLst>
          </p:cNvPr>
          <p:cNvSpPr>
            <a:spLocks noGrp="1"/>
          </p:cNvSpPr>
          <p:nvPr>
            <p:ph idx="1"/>
          </p:nvPr>
        </p:nvSpPr>
        <p:spPr/>
        <p:txBody>
          <a:bodyPr>
            <a:normAutofit fontScale="92500" lnSpcReduction="20000"/>
          </a:bodyPr>
          <a:lstStyle/>
          <a:p>
            <a:r>
              <a:rPr lang="en" sz="3200" kern="0" dirty="0">
                <a:solidFill>
                  <a:srgbClr val="4D5156"/>
                </a:solidFill>
                <a:effectLst/>
                <a:latin typeface="Arial" panose="020B0604020202020204" pitchFamily="34" charset="0"/>
                <a:ea typeface="Times New Roman" panose="02020603050405020304" pitchFamily="18" charset="0"/>
                <a:cs typeface="Times New Roman" panose="02020603050405020304" pitchFamily="18" charset="0"/>
              </a:rPr>
              <a:t>Chitemene system of farming poses many threats which include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food security,</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land degradation,</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pollution,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desertification,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depletion of soil fertility,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wildlife endangerment,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climate variability </a:t>
            </a:r>
          </a:p>
          <a:p>
            <a:r>
              <a:rPr lang="en" sz="3200" kern="0" dirty="0">
                <a:solidFill>
                  <a:srgbClr val="040C28"/>
                </a:solidFill>
                <a:effectLst/>
                <a:latin typeface="Arial" panose="020B0604020202020204" pitchFamily="34" charset="0"/>
                <a:ea typeface="Times New Roman" panose="02020603050405020304" pitchFamily="18" charset="0"/>
                <a:cs typeface="Times New Roman" panose="02020603050405020304" pitchFamily="18" charset="0"/>
              </a:rPr>
              <a:t>soil erosion</a:t>
            </a:r>
            <a:endParaRPr lang="en-ZM" sz="3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ZM" dirty="0"/>
          </a:p>
        </p:txBody>
      </p:sp>
    </p:spTree>
    <p:extLst>
      <p:ext uri="{BB962C8B-B14F-4D97-AF65-F5344CB8AC3E}">
        <p14:creationId xmlns:p14="http://schemas.microsoft.com/office/powerpoint/2010/main" val="26628930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TotalTime>
  <Words>1225</Words>
  <Application>Microsoft Office PowerPoint</Application>
  <PresentationFormat>Widescreen</PresentationFormat>
  <Paragraphs>80</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Chitemene System</vt:lpstr>
      <vt:lpstr>Introduction</vt:lpstr>
      <vt:lpstr>Introduction contd</vt:lpstr>
      <vt:lpstr>Crops are planted in the ash</vt:lpstr>
      <vt:lpstr>   Why is chitemene system commonly Practised in Zambia? </vt:lpstr>
      <vt:lpstr>The main features of the chitemene system? </vt:lpstr>
      <vt:lpstr>Description of Chitemene System</vt:lpstr>
      <vt:lpstr>Description of Chitemene System</vt:lpstr>
      <vt:lpstr>Types of Chitemene Systems</vt:lpstr>
      <vt:lpstr>Large Circle Chitemene</vt:lpstr>
      <vt:lpstr>Large Circle Chitemene</vt:lpstr>
      <vt:lpstr>Small Circle Chitemene</vt:lpstr>
      <vt:lpstr>PowerPoint Presentation</vt:lpstr>
      <vt:lpstr>Block Chitemene System</vt:lpstr>
      <vt:lpstr>Block Chitemene" in Kasempa District, Northwestern Zambia</vt:lpstr>
      <vt:lpstr>Ecological Issues</vt:lpstr>
      <vt:lpstr>What are the disadvantages of the chitemene system? (What makes Chitemene to be regarded as Unsustainable)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Chitemene System</dc:title>
  <dc:creator>LENOVO</dc:creator>
  <cp:lastModifiedBy>LENOVO</cp:lastModifiedBy>
  <cp:revision>8</cp:revision>
  <dcterms:created xsi:type="dcterms:W3CDTF">2023-11-21T13:04:25Z</dcterms:created>
  <dcterms:modified xsi:type="dcterms:W3CDTF">2023-11-21T20:29:59Z</dcterms:modified>
</cp:coreProperties>
</file>