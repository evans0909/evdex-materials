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77" r:id="rId4"/>
    <p:sldId id="278" r:id="rId5"/>
    <p:sldId id="279" r:id="rId6"/>
    <p:sldId id="280"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E2AC8-4BEC-A012-D878-2C8A57EDEF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50A62104-DA16-4D6C-A143-0B5B2E8BA7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40E353B2-5EAD-30AE-4214-2E670DE3ECDE}"/>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69EF88FC-E529-5858-9C72-1DF0AD2A1696}"/>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0344E75A-63F6-8661-38F4-EACF7AC875C3}"/>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11311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8458A-3595-680F-945E-DFBE4642D617}"/>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3C09FBF5-657A-FF94-D14C-21997FFF11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AC39DB78-BF88-24AE-EC21-B3E2C76764C7}"/>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E4E0388D-829C-4883-4FC6-8500BA4AFC37}"/>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7074D96-F91B-F2DD-B975-75361E319890}"/>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50494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EA4AA-8104-3A16-CABB-76E6F5E09D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76B2F681-D7E6-E6F3-817C-51C1A7B504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63564E-43AF-3AF3-6933-6F918570C436}"/>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8FD2FA17-CA33-54B0-DE78-EB90563C8A26}"/>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49C13E4-ABD5-2A2A-0340-889F09FE1045}"/>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293926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7E34D-2CE1-1183-D459-6D8A04B6CF24}"/>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B6B5A022-F072-20B3-8D3D-9162FF2DAE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89CD67A0-10AD-1E56-8B35-90929748A0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6249BB65-642D-1C0D-91C1-54BF6EFBEA8B}"/>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6" name="Footer Placeholder 5">
            <a:extLst>
              <a:ext uri="{FF2B5EF4-FFF2-40B4-BE49-F238E27FC236}">
                <a16:creationId xmlns:a16="http://schemas.microsoft.com/office/drawing/2014/main" id="{11E1CA76-6749-D24B-00FC-FEEAF24FD6E9}"/>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1E47BBAE-0441-D511-33E4-E68C4DD092FF}"/>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259627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98A7-EDD6-D0EB-B984-976BE1F57C37}"/>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C599D9EF-375E-D44F-0051-3D5341AC97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701A2D-A1D3-D68C-E50A-5927FEB0A0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20BE4A34-5E96-B23B-B72D-703D4D350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D296B-4653-3699-7CDF-2B75493B45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F8280FE0-8DFE-3526-EF4B-552B7D015064}"/>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8" name="Footer Placeholder 7">
            <a:extLst>
              <a:ext uri="{FF2B5EF4-FFF2-40B4-BE49-F238E27FC236}">
                <a16:creationId xmlns:a16="http://schemas.microsoft.com/office/drawing/2014/main" id="{F62A4B67-8177-AD6E-A1F8-78D051EF5CE4}"/>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524119A0-C2A4-0983-CBEF-120BF4E90F5F}"/>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104469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D036-8F22-64E7-A3EF-053E99B05F31}"/>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F7AD6359-400E-DEAB-4FB3-22F4EA77C127}"/>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4" name="Footer Placeholder 3">
            <a:extLst>
              <a:ext uri="{FF2B5EF4-FFF2-40B4-BE49-F238E27FC236}">
                <a16:creationId xmlns:a16="http://schemas.microsoft.com/office/drawing/2014/main" id="{F1D804C2-5053-2934-9CC4-4C0F72287257}"/>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C571FEFB-E7D8-FB9C-6913-5D77A815EB39}"/>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3706448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4CC2C7-29D3-F358-9E6E-E80538577C5C}"/>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3" name="Footer Placeholder 2">
            <a:extLst>
              <a:ext uri="{FF2B5EF4-FFF2-40B4-BE49-F238E27FC236}">
                <a16:creationId xmlns:a16="http://schemas.microsoft.com/office/drawing/2014/main" id="{F75C28E2-2655-8CE6-B54D-85F4D66C65C1}"/>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1EE07C8E-D3BA-0FD2-9DB4-B20FF011011D}"/>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23144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46AFA-B35E-0918-B8C5-9D4B063C42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33B32542-A238-D080-FA38-C2E8551EF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7331608D-2174-5F6C-400B-4EDD8FC70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E316F-251E-85B2-9649-1D271E5DC424}"/>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6" name="Footer Placeholder 5">
            <a:extLst>
              <a:ext uri="{FF2B5EF4-FFF2-40B4-BE49-F238E27FC236}">
                <a16:creationId xmlns:a16="http://schemas.microsoft.com/office/drawing/2014/main" id="{49EAC96A-9D07-C71D-7798-E73926944D73}"/>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C57A7FD9-3F23-4AF9-E094-E6FE0D05F1DD}"/>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621106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8F1C2-E650-7F47-04ED-03AC4BC6C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33A9FEB0-0AB5-08AB-4212-8D1B2C822F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21DA4A1F-84F9-8CF4-B322-4FCE7680E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A43BD-656A-CCD3-089E-92668174A57B}"/>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6" name="Footer Placeholder 5">
            <a:extLst>
              <a:ext uri="{FF2B5EF4-FFF2-40B4-BE49-F238E27FC236}">
                <a16:creationId xmlns:a16="http://schemas.microsoft.com/office/drawing/2014/main" id="{C34A5593-CDC3-54D8-481B-D35961E64ADB}"/>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3B37150-A60D-CADE-DC7C-C0AA19688A2E}"/>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698625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D6FA9-A113-556D-9045-D0D043585E89}"/>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CDB6A3C1-30FA-27FF-E429-C454DCD53B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BE17F19D-18AA-7CBB-598B-32144571381B}"/>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F4E1312A-4B15-E298-A472-21723173F748}"/>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D6F0B7A0-4BFD-5C75-92D1-84E913B1FA72}"/>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4060077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E79F99-577F-80D7-C206-84924AF223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0318197F-A0D2-48DE-6E10-BFE0096280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AEF9E471-12D2-6C6C-FC71-13DDC65BE13D}"/>
              </a:ext>
            </a:extLst>
          </p:cNvPr>
          <p:cNvSpPr>
            <a:spLocks noGrp="1"/>
          </p:cNvSpPr>
          <p:nvPr>
            <p:ph type="dt" sz="half" idx="10"/>
          </p:nvPr>
        </p:nvSpPr>
        <p:spPr/>
        <p:txBody>
          <a:body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E910823A-5273-2A8F-CC63-CBD61182A4A5}"/>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41C56EAA-7EBB-E5A0-9E5F-49D195ED7CEB}"/>
              </a:ext>
            </a:extLst>
          </p:cNvPr>
          <p:cNvSpPr>
            <a:spLocks noGrp="1"/>
          </p:cNvSpPr>
          <p:nvPr>
            <p:ph type="sldNum" sz="quarter" idx="12"/>
          </p:nvPr>
        </p:nvSpPr>
        <p:spPr/>
        <p:txBody>
          <a:bodyPr/>
          <a:lstStyle/>
          <a:p>
            <a:fld id="{20ABCD38-7596-4ED2-A21C-150E1C7181A5}" type="slidenum">
              <a:rPr lang="en-ZM" smtClean="0"/>
              <a:t>‹#›</a:t>
            </a:fld>
            <a:endParaRPr lang="en-ZM"/>
          </a:p>
        </p:txBody>
      </p:sp>
    </p:spTree>
    <p:extLst>
      <p:ext uri="{BB962C8B-B14F-4D97-AF65-F5344CB8AC3E}">
        <p14:creationId xmlns:p14="http://schemas.microsoft.com/office/powerpoint/2010/main" val="784032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46A64-172C-E709-B8CF-403156219A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07F0D554-433B-A849-66FE-46949011F0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266A55E3-FD92-97AD-0BBF-81BED90116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2E196F-E9FC-4D9C-B44D-303AAC2D60E0}" type="datetimeFigureOut">
              <a:rPr lang="en-ZM" smtClean="0"/>
              <a:t>18/02/2024</a:t>
            </a:fld>
            <a:endParaRPr lang="en-ZM"/>
          </a:p>
        </p:txBody>
      </p:sp>
      <p:sp>
        <p:nvSpPr>
          <p:cNvPr id="5" name="Footer Placeholder 4">
            <a:extLst>
              <a:ext uri="{FF2B5EF4-FFF2-40B4-BE49-F238E27FC236}">
                <a16:creationId xmlns:a16="http://schemas.microsoft.com/office/drawing/2014/main" id="{FAEDE99D-E6FD-BEF9-63E2-5062E76FA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5AA8D9FF-FAE7-D976-A94D-7B05149D0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BCD38-7596-4ED2-A21C-150E1C7181A5}" type="slidenum">
              <a:rPr lang="en-ZM" smtClean="0"/>
              <a:t>‹#›</a:t>
            </a:fld>
            <a:endParaRPr lang="en-ZM"/>
          </a:p>
        </p:txBody>
      </p:sp>
    </p:spTree>
    <p:extLst>
      <p:ext uri="{BB962C8B-B14F-4D97-AF65-F5344CB8AC3E}">
        <p14:creationId xmlns:p14="http://schemas.microsoft.com/office/powerpoint/2010/main" val="848294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en.wikipedia.org/wiki/Sorghum" TargetMode="External"/><Relationship Id="rId13" Type="http://schemas.openxmlformats.org/officeDocument/2006/relationships/hyperlink" Target="http://en.wikipedia.org/wiki/Fruit" TargetMode="External"/><Relationship Id="rId3" Type="http://schemas.openxmlformats.org/officeDocument/2006/relationships/hyperlink" Target="http://en.wikipedia.org/wiki/Soybean" TargetMode="External"/><Relationship Id="rId7" Type="http://schemas.openxmlformats.org/officeDocument/2006/relationships/hyperlink" Target="http://en.wikipedia.org/wiki/Wheat" TargetMode="External"/><Relationship Id="rId12" Type="http://schemas.openxmlformats.org/officeDocument/2006/relationships/hyperlink" Target="http://en.wikipedia.org/wiki/Vegetable" TargetMode="External"/><Relationship Id="rId2" Type="http://schemas.openxmlformats.org/officeDocument/2006/relationships/hyperlink" Target="http://en.wikipedia.org/wiki/Cash_crop" TargetMode="External"/><Relationship Id="rId1" Type="http://schemas.openxmlformats.org/officeDocument/2006/relationships/slideLayout" Target="../slideLayouts/slideLayout2.xml"/><Relationship Id="rId6" Type="http://schemas.openxmlformats.org/officeDocument/2006/relationships/hyperlink" Target="http://en.wikipedia.org/wiki/Sunflower" TargetMode="External"/><Relationship Id="rId11" Type="http://schemas.openxmlformats.org/officeDocument/2006/relationships/hyperlink" Target="http://en.wikipedia.org/wiki/Tobacco" TargetMode="External"/><Relationship Id="rId5" Type="http://schemas.openxmlformats.org/officeDocument/2006/relationships/hyperlink" Target="http://en.wikipedia.org/wiki/Sugar" TargetMode="External"/><Relationship Id="rId10" Type="http://schemas.openxmlformats.org/officeDocument/2006/relationships/hyperlink" Target="http://en.wikipedia.org/wiki/Cassava" TargetMode="External"/><Relationship Id="rId4" Type="http://schemas.openxmlformats.org/officeDocument/2006/relationships/hyperlink" Target="http://en.wikipedia.org/wiki/Cotton" TargetMode="External"/><Relationship Id="rId9" Type="http://schemas.openxmlformats.org/officeDocument/2006/relationships/hyperlink" Target="http://en.wikipedia.org/wiki/Pearl_millet"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en.wikipedia.org/wiki/Arable_lan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5E46-6941-566B-0D96-91669BB78A3D}"/>
              </a:ext>
            </a:extLst>
          </p:cNvPr>
          <p:cNvSpPr>
            <a:spLocks noGrp="1"/>
          </p:cNvSpPr>
          <p:nvPr>
            <p:ph type="ctrTitle"/>
          </p:nvPr>
        </p:nvSpPr>
        <p:spPr/>
        <p:txBody>
          <a:bodyPr>
            <a:normAutofit/>
          </a:bodyPr>
          <a:lstStyle/>
          <a:p>
            <a:r>
              <a:rPr lang="en-US" sz="4400" b="1" dirty="0" smtClean="0">
                <a:solidFill>
                  <a:srgbClr val="333333"/>
                </a:solidFill>
                <a:latin typeface="Open Sans" panose="020B0606030504020204" pitchFamily="34" charset="0"/>
                <a:ea typeface="Calibri" panose="020F0502020204030204" pitchFamily="34" charset="0"/>
              </a:rPr>
              <a:t>STATE OF AGRICULTURE IN </a:t>
            </a:r>
            <a:r>
              <a:rPr lang="en-ZM" sz="4400" b="1" dirty="0" smtClean="0">
                <a:solidFill>
                  <a:srgbClr val="333333"/>
                </a:solidFill>
                <a:effectLst/>
                <a:latin typeface="Open Sans" panose="020B0606030504020204" pitchFamily="34" charset="0"/>
                <a:ea typeface="Calibri" panose="020F0502020204030204" pitchFamily="34" charset="0"/>
              </a:rPr>
              <a:t>Zambia</a:t>
            </a:r>
            <a:endParaRPr lang="en-ZM" sz="4400" dirty="0"/>
          </a:p>
        </p:txBody>
      </p:sp>
      <p:sp>
        <p:nvSpPr>
          <p:cNvPr id="3" name="Subtitle 2">
            <a:extLst>
              <a:ext uri="{FF2B5EF4-FFF2-40B4-BE49-F238E27FC236}">
                <a16:creationId xmlns:a16="http://schemas.microsoft.com/office/drawing/2014/main" id="{47380363-80A2-577F-4F14-3EB76458C968}"/>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354196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Introduction</a:t>
            </a:r>
            <a:endParaRPr lang="en-US" b="1" dirty="0"/>
          </a:p>
        </p:txBody>
      </p:sp>
      <p:sp>
        <p:nvSpPr>
          <p:cNvPr id="3" name="Content Placeholder 2"/>
          <p:cNvSpPr>
            <a:spLocks noGrp="1"/>
          </p:cNvSpPr>
          <p:nvPr>
            <p:ph idx="1"/>
          </p:nvPr>
        </p:nvSpPr>
        <p:spPr/>
        <p:txBody>
          <a:bodyPr>
            <a:normAutofit fontScale="92500" lnSpcReduction="20000"/>
          </a:bodyPr>
          <a:lstStyle/>
          <a:p>
            <a:pPr algn="just"/>
            <a:r>
              <a:rPr lang="en-US" dirty="0"/>
              <a:t>Agriculture is becoming an increasingly important sector in the Zambian economy since the mineral sector, which was the backbone of the </a:t>
            </a:r>
            <a:r>
              <a:rPr lang="en-US" dirty="0" smtClean="0"/>
              <a:t>economy.</a:t>
            </a:r>
          </a:p>
          <a:p>
            <a:pPr algn="just"/>
            <a:r>
              <a:rPr lang="en-US" dirty="0" smtClean="0"/>
              <a:t>The </a:t>
            </a:r>
            <a:r>
              <a:rPr lang="en-US" dirty="0"/>
              <a:t>agriculture sector generates about 18% to 20% of the country’s GDP and provides a livelihood for more than 60% of the population. </a:t>
            </a:r>
            <a:endParaRPr lang="en-US" dirty="0" smtClean="0"/>
          </a:p>
          <a:p>
            <a:pPr algn="just"/>
            <a:r>
              <a:rPr lang="en-US" dirty="0" smtClean="0"/>
              <a:t>It </a:t>
            </a:r>
            <a:r>
              <a:rPr lang="en-US" dirty="0"/>
              <a:t>employs about two-thirds of the labor force. </a:t>
            </a:r>
            <a:endParaRPr lang="en-US" dirty="0" smtClean="0"/>
          </a:p>
          <a:p>
            <a:pPr algn="just"/>
            <a:r>
              <a:rPr lang="en-US" dirty="0" smtClean="0"/>
              <a:t>In </a:t>
            </a:r>
            <a:r>
              <a:rPr lang="en-US" dirty="0"/>
              <a:t>1991 there was a major shift in the country’s agricultural policy with the liberalization of the marketing of agricultural inputs and produce. </a:t>
            </a:r>
            <a:endParaRPr lang="en-US" dirty="0" smtClean="0"/>
          </a:p>
          <a:p>
            <a:pPr algn="just"/>
            <a:r>
              <a:rPr lang="en-US" dirty="0" smtClean="0"/>
              <a:t>This </a:t>
            </a:r>
            <a:r>
              <a:rPr lang="en-US" dirty="0"/>
              <a:t>new policy has resulted in low agricultural productivity as subsistence farmers, who make up about 75% of the entire farming community in Zambia, find difficulty in procuring farm necessities such as seeds and fertilizer in terms of accessibility and funds.</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BF4E3C-68E3-48AA-95A7-E89DB58B38DD}" type="datetime2">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February 18, 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0C8C63-4FCE-40ED-864D-C0FFDCB54A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485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Their difficulties are further compounded by the erratic seasonal rainfall patterns which have been experienced by the country in the last 20 years. </a:t>
            </a:r>
            <a:endParaRPr lang="en-US" dirty="0" smtClean="0"/>
          </a:p>
          <a:p>
            <a:pPr algn="just"/>
            <a:r>
              <a:rPr lang="en-US" dirty="0" smtClean="0"/>
              <a:t>Almost </a:t>
            </a:r>
            <a:r>
              <a:rPr lang="en-US" dirty="0"/>
              <a:t>all subsistence farming in Zambia relies on rainfall. </a:t>
            </a:r>
            <a:endParaRPr lang="en-US" dirty="0" smtClean="0"/>
          </a:p>
          <a:p>
            <a:pPr algn="just"/>
            <a:r>
              <a:rPr lang="en-US" dirty="0" smtClean="0"/>
              <a:t>Over </a:t>
            </a:r>
            <a:r>
              <a:rPr lang="en-US" dirty="0"/>
              <a:t>the last two decades, the frequency of extreme climate events such as high surface temperatures, floods and droughts has increased over the entire globe. </a:t>
            </a:r>
            <a:endParaRPr lang="en-US" dirty="0" smtClean="0"/>
          </a:p>
          <a:p>
            <a:pPr algn="just"/>
            <a:r>
              <a:rPr lang="en-US" dirty="0" smtClean="0"/>
              <a:t>Although </a:t>
            </a:r>
            <a:r>
              <a:rPr lang="en-US" dirty="0"/>
              <a:t>such extreme events are attributed to climate variability, they also signal that the earth is going through </a:t>
            </a:r>
            <a:r>
              <a:rPr lang="en-US" dirty="0" err="1"/>
              <a:t>longterm</a:t>
            </a:r>
            <a:r>
              <a:rPr lang="en-US" dirty="0"/>
              <a:t> climate changes in mean temperature and rainfall norms.</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BF4E3C-68E3-48AA-95A7-E89DB58B38DD}" type="datetime2">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February 18, 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0C8C63-4FCE-40ED-864D-C0FFDCB54A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81782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a:t>Zambia has experienced an increase in drought frequency and intensity in the last 20 years. </a:t>
            </a:r>
            <a:endParaRPr lang="en-US" dirty="0" smtClean="0"/>
          </a:p>
          <a:p>
            <a:pPr algn="just"/>
            <a:r>
              <a:rPr lang="en-US" dirty="0" smtClean="0"/>
              <a:t>The </a:t>
            </a:r>
            <a:r>
              <a:rPr lang="en-US" dirty="0"/>
              <a:t>droughts </a:t>
            </a:r>
            <a:r>
              <a:rPr lang="en-US" dirty="0" smtClean="0"/>
              <a:t>has </a:t>
            </a:r>
            <a:r>
              <a:rPr lang="en-US" dirty="0"/>
              <a:t>worsened the quality of life for vulnerable groups such as subsistence </a:t>
            </a:r>
            <a:r>
              <a:rPr lang="en-US" dirty="0" smtClean="0"/>
              <a:t>farmers.</a:t>
            </a:r>
          </a:p>
          <a:p>
            <a:pPr algn="just"/>
            <a:r>
              <a:rPr lang="en-US" dirty="0" smtClean="0"/>
              <a:t>The </a:t>
            </a:r>
            <a:r>
              <a:rPr lang="en-US" dirty="0"/>
              <a:t>economic impacts of long-term climate change such as the increase in mean surface temperature and the decrease in mean seasonal rainfall and mean annual runoff on farming activities in </a:t>
            </a:r>
            <a:r>
              <a:rPr lang="en-US" dirty="0" smtClean="0"/>
              <a:t>Zambia have been observed.</a:t>
            </a:r>
          </a:p>
          <a:p>
            <a:pPr algn="just"/>
            <a:r>
              <a:rPr lang="en-US" dirty="0" smtClean="0"/>
              <a:t>There has been need for </a:t>
            </a:r>
            <a:r>
              <a:rPr lang="en-US" dirty="0"/>
              <a:t>appropriate adaptation policies at national level so as to minimize the adverse impacts of climate change on agriculture.</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BF4E3C-68E3-48AA-95A7-E89DB58B38DD}" type="datetime2">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February 18, 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0C8C63-4FCE-40ED-864D-C0FFDCB54A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0549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Over View of Zambia</a:t>
            </a:r>
            <a:endParaRPr lang="en-US" b="1" dirty="0"/>
          </a:p>
        </p:txBody>
      </p:sp>
      <p:sp>
        <p:nvSpPr>
          <p:cNvPr id="3" name="Content Placeholder 2"/>
          <p:cNvSpPr>
            <a:spLocks noGrp="1"/>
          </p:cNvSpPr>
          <p:nvPr>
            <p:ph idx="1"/>
          </p:nvPr>
        </p:nvSpPr>
        <p:spPr/>
        <p:txBody>
          <a:bodyPr>
            <a:normAutofit/>
          </a:bodyPr>
          <a:lstStyle/>
          <a:p>
            <a:pPr algn="just"/>
            <a:r>
              <a:rPr lang="en-US" dirty="0" smtClean="0"/>
              <a:t>Physical </a:t>
            </a:r>
            <a:r>
              <a:rPr lang="en-US" dirty="0"/>
              <a:t>attributes Zambia covers a land area of 752,615km2 and lies between 22° to 34° east of Greenwich and 8° to 18° south of the equator. </a:t>
            </a:r>
            <a:endParaRPr lang="en-US" dirty="0" smtClean="0"/>
          </a:p>
          <a:p>
            <a:pPr algn="just"/>
            <a:r>
              <a:rPr lang="en-US" dirty="0" smtClean="0"/>
              <a:t>The </a:t>
            </a:r>
            <a:r>
              <a:rPr lang="en-US" dirty="0"/>
              <a:t>country consists mostly of plateau with an elevation between 950 meters to 1,500 meters above sea </a:t>
            </a:r>
            <a:r>
              <a:rPr lang="en-US" dirty="0" smtClean="0"/>
              <a:t>level.</a:t>
            </a:r>
          </a:p>
          <a:p>
            <a:pPr algn="just"/>
            <a:r>
              <a:rPr lang="en-US" dirty="0" smtClean="0"/>
              <a:t>The </a:t>
            </a:r>
            <a:r>
              <a:rPr lang="en-US" dirty="0"/>
              <a:t>country has a sub-tropical climate and </a:t>
            </a:r>
            <a:r>
              <a:rPr lang="en-US" dirty="0" smtClean="0"/>
              <a:t>vegetation.</a:t>
            </a:r>
          </a:p>
          <a:p>
            <a:pPr algn="just"/>
            <a:r>
              <a:rPr lang="en-US" dirty="0" smtClean="0"/>
              <a:t>There </a:t>
            </a:r>
            <a:r>
              <a:rPr lang="en-US" dirty="0"/>
              <a:t>are three distinct seasons: </a:t>
            </a:r>
            <a:endParaRPr lang="en-US" dirty="0" smtClean="0"/>
          </a:p>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BF4E3C-68E3-48AA-95A7-E89DB58B38DD}" type="datetime2">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February 18, 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0C8C63-4FCE-40ED-864D-C0FFDCB54A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34701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A warm wet season stretching from November through April during which 95% of the annual precipitation falls </a:t>
            </a:r>
          </a:p>
          <a:p>
            <a:pPr algn="just"/>
            <a:r>
              <a:rPr lang="en-US" dirty="0"/>
              <a:t>A cool dry winter season from May to July with the mean temperature varying between 15°C and 27°C</a:t>
            </a:r>
          </a:p>
          <a:p>
            <a:pPr algn="just"/>
            <a:r>
              <a:rPr lang="en-US" dirty="0"/>
              <a:t>A hot dry season prevailing from August to October with an average maximum temperature of 27°C to 32°C. </a:t>
            </a:r>
          </a:p>
          <a:p>
            <a:pPr algn="just"/>
            <a:r>
              <a:rPr lang="en-US" dirty="0"/>
              <a:t>The annual rainfall varies from over 1200mm in the north to about 700mm in the central part of the country and less than 700mm in the south.</a:t>
            </a:r>
          </a:p>
          <a:p>
            <a:endParaRPr lang="en-US" dirty="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4BF4E3C-68E3-48AA-95A7-E89DB58B38DD}" type="datetime2">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Sunday, February 18, 2024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0C8C63-4FCE-40ED-864D-C0FFDCB54A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24771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B888-F29D-9C07-A7D9-3BD33B689BF7}"/>
              </a:ext>
            </a:extLst>
          </p:cNvPr>
          <p:cNvSpPr>
            <a:spLocks noGrp="1"/>
          </p:cNvSpPr>
          <p:nvPr>
            <p:ph type="title"/>
          </p:nvPr>
        </p:nvSpPr>
        <p:spPr/>
        <p:txBody>
          <a:bodyPr/>
          <a:lstStyle/>
          <a:p>
            <a:pPr algn="ctr"/>
            <a:r>
              <a:rPr lang="en-ZM" b="1" dirty="0">
                <a:solidFill>
                  <a:srgbClr val="333333"/>
                </a:solidFill>
                <a:effectLst/>
                <a:latin typeface="Open Sans" panose="020B0606030504020204" pitchFamily="34" charset="0"/>
                <a:ea typeface="Times New Roman" panose="02020603050405020304" pitchFamily="18" charset="0"/>
              </a:rPr>
              <a:t>Agriculture in general</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04F5BAE0-93B2-D59A-E0F8-4137C2040C62}"/>
              </a:ext>
            </a:extLst>
          </p:cNvPr>
          <p:cNvSpPr>
            <a:spLocks noGrp="1"/>
          </p:cNvSpPr>
          <p:nvPr>
            <p:ph idx="1"/>
          </p:nvPr>
        </p:nvSpPr>
        <p:spPr/>
        <p:txBody>
          <a:bodyPr>
            <a:normAutofit/>
          </a:bodyPr>
          <a:lstStyle/>
          <a:p>
            <a:r>
              <a:rPr lang="en-ZM" sz="2400" dirty="0">
                <a:effectLst/>
                <a:latin typeface="Open Sans" panose="020B0606030504020204" pitchFamily="34" charset="0"/>
                <a:ea typeface="Calibri" panose="020F0502020204030204" pitchFamily="34" charset="0"/>
              </a:rPr>
              <a:t>The agricultural sector in Zambia supports livelihoods of 85% of the population. </a:t>
            </a:r>
            <a:endParaRPr lang="en-US" sz="2400" dirty="0">
              <a:effectLst/>
              <a:latin typeface="Open Sans" panose="020B0606030504020204" pitchFamily="34" charset="0"/>
              <a:ea typeface="Calibri" panose="020F0502020204030204" pitchFamily="34" charset="0"/>
            </a:endParaRPr>
          </a:p>
          <a:p>
            <a:r>
              <a:rPr lang="en-ZM" sz="2400" dirty="0">
                <a:effectLst/>
                <a:latin typeface="Open Sans" panose="020B0606030504020204" pitchFamily="34" charset="0"/>
                <a:ea typeface="Calibri" panose="020F0502020204030204" pitchFamily="34" charset="0"/>
              </a:rPr>
              <a:t>Maize is the principal </a:t>
            </a:r>
            <a:r>
              <a:rPr lang="en-ZM" sz="2400" u="sng" dirty="0">
                <a:effectLst/>
                <a:latin typeface="Open Sans" panose="020B0606030504020204" pitchFamily="34" charset="0"/>
                <a:ea typeface="Calibri" panose="020F0502020204030204" pitchFamily="34" charset="0"/>
                <a:hlinkClick r:id="rId2" tooltip="Cash crop">
                  <a:extLst>
                    <a:ext uri="{A12FA001-AC4F-418D-AE19-62706E023703}">
                      <ahyp:hlinkClr xmlns:ahyp="http://schemas.microsoft.com/office/drawing/2018/hyperlinkcolor" xmlns="" val="tx"/>
                    </a:ext>
                  </a:extLst>
                </a:hlinkClick>
              </a:rPr>
              <a:t>cash crop</a:t>
            </a:r>
            <a:r>
              <a:rPr lang="en-ZM" sz="2400" dirty="0">
                <a:effectLst/>
                <a:latin typeface="Open Sans" panose="020B0606030504020204" pitchFamily="34" charset="0"/>
                <a:ea typeface="Calibri" panose="020F0502020204030204" pitchFamily="34" charset="0"/>
              </a:rPr>
              <a:t>  (&gt;65% of cropped land) as well as the main staple crop. </a:t>
            </a:r>
            <a:endParaRPr lang="en-US" sz="2400" dirty="0">
              <a:effectLst/>
              <a:latin typeface="Open Sans" panose="020B0606030504020204" pitchFamily="34" charset="0"/>
              <a:ea typeface="Calibri" panose="020F0502020204030204" pitchFamily="34" charset="0"/>
            </a:endParaRPr>
          </a:p>
          <a:p>
            <a:r>
              <a:rPr lang="en-ZM" sz="2400" dirty="0">
                <a:effectLst/>
                <a:latin typeface="Open Sans" panose="020B0606030504020204" pitchFamily="34" charset="0"/>
                <a:ea typeface="Calibri" panose="020F0502020204030204" pitchFamily="34" charset="0"/>
              </a:rPr>
              <a:t>Per capita consumption of maize is estimated at 105 kilograms annually, most of which is ground into meal and consumed as stiff porridge, or fermented for beer, with by-products used as livestock feed. </a:t>
            </a:r>
            <a:endParaRPr lang="en-US" sz="2400" dirty="0">
              <a:effectLst/>
              <a:latin typeface="Open Sans" panose="020B0606030504020204" pitchFamily="34" charset="0"/>
              <a:ea typeface="Calibri" panose="020F0502020204030204" pitchFamily="34" charset="0"/>
            </a:endParaRPr>
          </a:p>
          <a:p>
            <a:r>
              <a:rPr lang="en-US" sz="2400" dirty="0">
                <a:latin typeface="Open Sans" panose="020B0606030504020204" pitchFamily="34" charset="0"/>
                <a:ea typeface="Calibri" panose="020F0502020204030204" pitchFamily="34" charset="0"/>
              </a:rPr>
              <a:t>Other</a:t>
            </a:r>
            <a:r>
              <a:rPr lang="en-ZM" sz="2400" dirty="0">
                <a:effectLst/>
                <a:latin typeface="Open Sans" panose="020B0606030504020204" pitchFamily="34" charset="0"/>
                <a:ea typeface="Calibri" panose="020F0502020204030204" pitchFamily="34" charset="0"/>
              </a:rPr>
              <a:t> important crops include </a:t>
            </a:r>
            <a:r>
              <a:rPr lang="en-ZM" sz="2400" u="sng" dirty="0">
                <a:effectLst/>
                <a:latin typeface="Open Sans" panose="020B0606030504020204" pitchFamily="34" charset="0"/>
                <a:ea typeface="Calibri" panose="020F0502020204030204" pitchFamily="34" charset="0"/>
                <a:hlinkClick r:id="rId3" tooltip="Soybean">
                  <a:extLst>
                    <a:ext uri="{A12FA001-AC4F-418D-AE19-62706E023703}">
                      <ahyp:hlinkClr xmlns:ahyp="http://schemas.microsoft.com/office/drawing/2018/hyperlinkcolor" xmlns="" val="tx"/>
                    </a:ext>
                  </a:extLst>
                </a:hlinkClick>
              </a:rPr>
              <a:t>soybean</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4" tooltip="Cotton">
                  <a:extLst>
                    <a:ext uri="{A12FA001-AC4F-418D-AE19-62706E023703}">
                      <ahyp:hlinkClr xmlns:ahyp="http://schemas.microsoft.com/office/drawing/2018/hyperlinkcolor" xmlns="" val="tx"/>
                    </a:ext>
                  </a:extLst>
                </a:hlinkClick>
              </a:rPr>
              <a:t>cotton</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5" tooltip="Sugar">
                  <a:extLst>
                    <a:ext uri="{A12FA001-AC4F-418D-AE19-62706E023703}">
                      <ahyp:hlinkClr xmlns:ahyp="http://schemas.microsoft.com/office/drawing/2018/hyperlinkcolor" xmlns="" val="tx"/>
                    </a:ext>
                  </a:extLst>
                </a:hlinkClick>
              </a:rPr>
              <a:t>sugar</a:t>
            </a:r>
            <a:r>
              <a:rPr lang="en-ZM" sz="2400" dirty="0">
                <a:effectLst/>
                <a:latin typeface="Open Sans" panose="020B0606030504020204" pitchFamily="34" charset="0"/>
                <a:ea typeface="Calibri" panose="020F0502020204030204" pitchFamily="34" charset="0"/>
              </a:rPr>
              <a:t>cane, </a:t>
            </a:r>
            <a:r>
              <a:rPr lang="en-ZM" sz="2400" u="sng" dirty="0">
                <a:effectLst/>
                <a:latin typeface="Open Sans" panose="020B0606030504020204" pitchFamily="34" charset="0"/>
                <a:ea typeface="Calibri" panose="020F0502020204030204" pitchFamily="34" charset="0"/>
                <a:hlinkClick r:id="rId6" tooltip="Sunflower">
                  <a:extLst>
                    <a:ext uri="{A12FA001-AC4F-418D-AE19-62706E023703}">
                      <ahyp:hlinkClr xmlns:ahyp="http://schemas.microsoft.com/office/drawing/2018/hyperlinkcolor" xmlns="" val="tx"/>
                    </a:ext>
                  </a:extLst>
                </a:hlinkClick>
              </a:rPr>
              <a:t>sunflower</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7" tooltip="Wheat">
                  <a:extLst>
                    <a:ext uri="{A12FA001-AC4F-418D-AE19-62706E023703}">
                      <ahyp:hlinkClr xmlns:ahyp="http://schemas.microsoft.com/office/drawing/2018/hyperlinkcolor" xmlns="" val="tx"/>
                    </a:ext>
                  </a:extLst>
                </a:hlinkClick>
              </a:rPr>
              <a:t>wheat</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8" tooltip="Sorghum">
                  <a:extLst>
                    <a:ext uri="{A12FA001-AC4F-418D-AE19-62706E023703}">
                      <ahyp:hlinkClr xmlns:ahyp="http://schemas.microsoft.com/office/drawing/2018/hyperlinkcolor" xmlns="" val="tx"/>
                    </a:ext>
                  </a:extLst>
                </a:hlinkClick>
              </a:rPr>
              <a:t>sorghum</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9" tooltip="Pearl millet">
                  <a:extLst>
                    <a:ext uri="{A12FA001-AC4F-418D-AE19-62706E023703}">
                      <ahyp:hlinkClr xmlns:ahyp="http://schemas.microsoft.com/office/drawing/2018/hyperlinkcolor" xmlns="" val="tx"/>
                    </a:ext>
                  </a:extLst>
                </a:hlinkClick>
              </a:rPr>
              <a:t>pearl millet</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10" tooltip="Cassava">
                  <a:extLst>
                    <a:ext uri="{A12FA001-AC4F-418D-AE19-62706E023703}">
                      <ahyp:hlinkClr xmlns:ahyp="http://schemas.microsoft.com/office/drawing/2018/hyperlinkcolor" xmlns="" val="tx"/>
                    </a:ext>
                  </a:extLst>
                </a:hlinkClick>
              </a:rPr>
              <a:t>cassava</a:t>
            </a:r>
            <a:r>
              <a:rPr lang="en-ZM" sz="2400" dirty="0">
                <a:effectLst/>
                <a:latin typeface="Open Sans" panose="020B0606030504020204" pitchFamily="34" charset="0"/>
                <a:ea typeface="Calibri" panose="020F0502020204030204" pitchFamily="34" charset="0"/>
              </a:rPr>
              <a:t>, </a:t>
            </a:r>
            <a:r>
              <a:rPr lang="en-ZM" sz="2400" u="sng" dirty="0">
                <a:effectLst/>
                <a:latin typeface="Open Sans" panose="020B0606030504020204" pitchFamily="34" charset="0"/>
                <a:ea typeface="Calibri" panose="020F0502020204030204" pitchFamily="34" charset="0"/>
                <a:hlinkClick r:id="rId11" tooltip="Tobacco">
                  <a:extLst>
                    <a:ext uri="{A12FA001-AC4F-418D-AE19-62706E023703}">
                      <ahyp:hlinkClr xmlns:ahyp="http://schemas.microsoft.com/office/drawing/2018/hyperlinkcolor" xmlns="" val="tx"/>
                    </a:ext>
                  </a:extLst>
                </a:hlinkClick>
              </a:rPr>
              <a:t>tobacco</a:t>
            </a:r>
            <a:r>
              <a:rPr lang="en-ZM" sz="2400" dirty="0">
                <a:effectLst/>
                <a:latin typeface="Open Sans" panose="020B0606030504020204" pitchFamily="34" charset="0"/>
                <a:ea typeface="Calibri" panose="020F0502020204030204" pitchFamily="34" charset="0"/>
              </a:rPr>
              <a:t> and various </a:t>
            </a:r>
            <a:r>
              <a:rPr lang="en-ZM" sz="2400" u="sng" dirty="0">
                <a:effectLst/>
                <a:latin typeface="Open Sans" panose="020B0606030504020204" pitchFamily="34" charset="0"/>
                <a:ea typeface="Calibri" panose="020F0502020204030204" pitchFamily="34" charset="0"/>
                <a:hlinkClick r:id="rId12" tooltip="Vegetable">
                  <a:extLst>
                    <a:ext uri="{A12FA001-AC4F-418D-AE19-62706E023703}">
                      <ahyp:hlinkClr xmlns:ahyp="http://schemas.microsoft.com/office/drawing/2018/hyperlinkcolor" xmlns="" val="tx"/>
                    </a:ext>
                  </a:extLst>
                </a:hlinkClick>
              </a:rPr>
              <a:t>vegetable</a:t>
            </a:r>
            <a:r>
              <a:rPr lang="en-ZM" sz="2400" dirty="0">
                <a:effectLst/>
                <a:latin typeface="Open Sans" panose="020B0606030504020204" pitchFamily="34" charset="0"/>
                <a:ea typeface="Calibri" panose="020F0502020204030204" pitchFamily="34" charset="0"/>
              </a:rPr>
              <a:t> and </a:t>
            </a:r>
            <a:r>
              <a:rPr lang="en-ZM" sz="2400" u="sng" dirty="0">
                <a:effectLst/>
                <a:latin typeface="Open Sans" panose="020B0606030504020204" pitchFamily="34" charset="0"/>
                <a:ea typeface="Calibri" panose="020F0502020204030204" pitchFamily="34" charset="0"/>
                <a:hlinkClick r:id="rId13" tooltip="Fruit">
                  <a:extLst>
                    <a:ext uri="{A12FA001-AC4F-418D-AE19-62706E023703}">
                      <ahyp:hlinkClr xmlns:ahyp="http://schemas.microsoft.com/office/drawing/2018/hyperlinkcolor" xmlns="" val="tx"/>
                    </a:ext>
                  </a:extLst>
                </a:hlinkClick>
              </a:rPr>
              <a:t>fruit</a:t>
            </a:r>
            <a:r>
              <a:rPr lang="en-ZM" sz="2400" dirty="0">
                <a:effectLst/>
                <a:latin typeface="Open Sans" panose="020B0606030504020204" pitchFamily="34" charset="0"/>
                <a:ea typeface="Calibri" panose="020F0502020204030204" pitchFamily="34" charset="0"/>
              </a:rPr>
              <a:t> crops.</a:t>
            </a:r>
            <a:endParaRPr lang="en-ZM" sz="2400" dirty="0"/>
          </a:p>
        </p:txBody>
      </p:sp>
    </p:spTree>
    <p:extLst>
      <p:ext uri="{BB962C8B-B14F-4D97-AF65-F5344CB8AC3E}">
        <p14:creationId xmlns:p14="http://schemas.microsoft.com/office/powerpoint/2010/main" val="4194088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7E187-46C5-1A73-5A62-CF2F02BF1395}"/>
              </a:ext>
            </a:extLst>
          </p:cNvPr>
          <p:cNvSpPr>
            <a:spLocks noGrp="1"/>
          </p:cNvSpPr>
          <p:nvPr>
            <p:ph type="title"/>
          </p:nvPr>
        </p:nvSpPr>
        <p:spPr/>
        <p:txBody>
          <a:bodyPr/>
          <a:lstStyle/>
          <a:p>
            <a:pPr algn="ctr"/>
            <a:r>
              <a:rPr lang="en-US" b="1" dirty="0"/>
              <a:t>Agriculture in general </a:t>
            </a:r>
            <a:r>
              <a:rPr lang="en-US" b="1" dirty="0" err="1"/>
              <a:t>contd</a:t>
            </a:r>
            <a:endParaRPr lang="en-ZM" b="1" dirty="0"/>
          </a:p>
        </p:txBody>
      </p:sp>
      <p:sp>
        <p:nvSpPr>
          <p:cNvPr id="3" name="Content Placeholder 2">
            <a:extLst>
              <a:ext uri="{FF2B5EF4-FFF2-40B4-BE49-F238E27FC236}">
                <a16:creationId xmlns:a16="http://schemas.microsoft.com/office/drawing/2014/main" id="{A784A99B-6D79-BDB0-9B72-96E30B071C9C}"/>
              </a:ext>
            </a:extLst>
          </p:cNvPr>
          <p:cNvSpPr>
            <a:spLocks noGrp="1"/>
          </p:cNvSpPr>
          <p:nvPr>
            <p:ph idx="1"/>
          </p:nvPr>
        </p:nvSpPr>
        <p:spPr/>
        <p:txBody>
          <a:bodyPr/>
          <a:lstStyle/>
          <a:p>
            <a:pPr algn="just"/>
            <a:r>
              <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griculture</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is relatively unimportant in Zambia's economy compared to mining (primarily copper).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It contributes less than 20% of Gross Domestic Product.</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But Zambia has potential for significant increases in agricultural output; currently, less than 30% of potentially </a:t>
            </a:r>
            <a:r>
              <a:rPr lang="en-ZM" sz="2400" u="sng" dirty="0">
                <a:solidFill>
                  <a:srgbClr val="0000B3"/>
                </a:solidFill>
                <a:effectLst/>
                <a:latin typeface="Arial" panose="020B0604020202020204" pitchFamily="34" charset="0"/>
                <a:ea typeface="Times New Roman" panose="02020603050405020304" pitchFamily="18" charset="0"/>
                <a:cs typeface="Arial" panose="020B0604020202020204" pitchFamily="34" charset="0"/>
                <a:hlinkClick r:id="rId2" tooltip="Arable land"/>
              </a:rPr>
              <a:t>arable land</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is cultivated.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In the past, the agriculture sector suffered from low product prices, difficulties in availability and distribution of credit and inputs, and shortage of foreign exchange.</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227289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D695-EA5B-6F91-833D-1B64320CAB00}"/>
              </a:ext>
            </a:extLst>
          </p:cNvPr>
          <p:cNvSpPr>
            <a:spLocks noGrp="1"/>
          </p:cNvSpPr>
          <p:nvPr>
            <p:ph type="title"/>
          </p:nvPr>
        </p:nvSpPr>
        <p:spPr/>
        <p:txBody>
          <a:bodyPr/>
          <a:lstStyle/>
          <a:p>
            <a:pPr algn="ctr"/>
            <a:r>
              <a:rPr lang="en-US" b="1" dirty="0"/>
              <a:t>Types of farmers in Zambia</a:t>
            </a:r>
            <a:endParaRPr lang="en-ZM" b="1" dirty="0"/>
          </a:p>
        </p:txBody>
      </p:sp>
      <p:sp>
        <p:nvSpPr>
          <p:cNvPr id="3" name="Content Placeholder 2">
            <a:extLst>
              <a:ext uri="{FF2B5EF4-FFF2-40B4-BE49-F238E27FC236}">
                <a16:creationId xmlns:a16="http://schemas.microsoft.com/office/drawing/2014/main" id="{B2965AE8-D4F2-4FA7-6E70-519486BD83A1}"/>
              </a:ext>
            </a:extLst>
          </p:cNvPr>
          <p:cNvSpPr>
            <a:spLocks noGrp="1"/>
          </p:cNvSpPr>
          <p:nvPr>
            <p:ph idx="1"/>
          </p:nvPr>
        </p:nvSpPr>
        <p:spPr/>
        <p:txBody>
          <a:bodyPr/>
          <a:lstStyle/>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There are three major categories of farmers in Zambia, defined in terms of the land area cultivated by each farmer.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Small-scale farmers</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who are the vast majority, cultivate less than five ha, use few external inputs, and consume most of their produce, occasionally entering the market to sell any surplus.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The hand hoe is the predominant means of cultivation.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Medium-scale farmers</a:t>
            </a:r>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cultivate between 5 to 20 ha.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They use improved seeds and fertilizers and sell most of their production.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farmers commonly use a combination of manual, animal draft power and tractors.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n-ZM" dirty="0"/>
          </a:p>
        </p:txBody>
      </p:sp>
    </p:spTree>
    <p:extLst>
      <p:ext uri="{BB962C8B-B14F-4D97-AF65-F5344CB8AC3E}">
        <p14:creationId xmlns:p14="http://schemas.microsoft.com/office/powerpoint/2010/main" val="173893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D695-EA5B-6F91-833D-1B64320CAB00}"/>
              </a:ext>
            </a:extLst>
          </p:cNvPr>
          <p:cNvSpPr>
            <a:spLocks noGrp="1"/>
          </p:cNvSpPr>
          <p:nvPr>
            <p:ph type="title"/>
          </p:nvPr>
        </p:nvSpPr>
        <p:spPr/>
        <p:txBody>
          <a:bodyPr/>
          <a:lstStyle/>
          <a:p>
            <a:pPr algn="ctr"/>
            <a:r>
              <a:rPr lang="en-US" b="1" dirty="0"/>
              <a:t>Types of farmers in Zambia</a:t>
            </a:r>
            <a:endParaRPr lang="en-ZM" b="1" dirty="0"/>
          </a:p>
        </p:txBody>
      </p:sp>
      <p:sp>
        <p:nvSpPr>
          <p:cNvPr id="3" name="Content Placeholder 2">
            <a:extLst>
              <a:ext uri="{FF2B5EF4-FFF2-40B4-BE49-F238E27FC236}">
                <a16:creationId xmlns:a16="http://schemas.microsoft.com/office/drawing/2014/main" id="{B2965AE8-D4F2-4FA7-6E70-519486BD83A1}"/>
              </a:ext>
            </a:extLst>
          </p:cNvPr>
          <p:cNvSpPr>
            <a:spLocks noGrp="1"/>
          </p:cNvSpPr>
          <p:nvPr>
            <p:ph idx="1"/>
          </p:nvPr>
        </p:nvSpPr>
        <p:spPr/>
        <p:txBody>
          <a:bodyPr/>
          <a:lstStyle/>
          <a:p>
            <a:pPr marL="0" indent="0">
              <a:buNone/>
            </a:pPr>
            <a:r>
              <a:rPr lang="en-ZM" sz="1800" dirty="0">
                <a:solidFill>
                  <a:srgbClr val="333333"/>
                </a:solidFill>
                <a:effectLst/>
                <a:latin typeface="Open Sans" panose="020B0606030504020204" pitchFamily="34" charset="0"/>
                <a:ea typeface="Times New Roman" panose="02020603050405020304" pitchFamily="18" charset="0"/>
              </a:rPr>
              <a:t>. </a:t>
            </a:r>
            <a:endParaRPr lang="en-US" sz="1800" dirty="0">
              <a:solidFill>
                <a:srgbClr val="333333"/>
              </a:solidFill>
              <a:effectLst/>
              <a:latin typeface="Open Sans" panose="020B0606030504020204" pitchFamily="34" charset="0"/>
              <a:ea typeface="Times New Roman" panose="02020603050405020304" pitchFamily="18" charset="0"/>
            </a:endParaRPr>
          </a:p>
          <a:p>
            <a:pPr algn="just"/>
            <a:r>
              <a:rPr lang="en-ZM" sz="2400" b="1" i="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Large-scale commercial farmers</a:t>
            </a:r>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plant over twenty ha annually.</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These farmers apply high levels of purchased inputs and use oxen or machinery for farm operations.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They produce almost exclusively for direct market sale or feed their grain to livestock kept on the farm.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Large-scale farmers make up only 4% of farm households, but cultivate 22 per cent of all cropped land.</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1018812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28A8-C97B-C6BD-C8B8-BE82A059C113}"/>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Production and yield</a:t>
            </a:r>
            <a:r>
              <a:rPr lang="en-ZM" sz="1800" b="1" i="1" dirty="0">
                <a:solidFill>
                  <a:srgbClr val="333333"/>
                </a:solidFill>
                <a:effectLst/>
                <a:latin typeface="Open Sans" panose="020B0606030504020204" pitchFamily="34" charset="0"/>
                <a:ea typeface="Times New Roman" panose="02020603050405020304" pitchFamily="18" charset="0"/>
              </a:rPr>
              <a:t> </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2384E8DE-6304-7D60-7834-B3CF878F6004}"/>
              </a:ext>
            </a:extLst>
          </p:cNvPr>
          <p:cNvSpPr>
            <a:spLocks noGrp="1"/>
          </p:cNvSpPr>
          <p:nvPr>
            <p:ph idx="1"/>
          </p:nvPr>
        </p:nvSpPr>
        <p:spPr/>
        <p:txBody>
          <a:bodyPr>
            <a:normAutofit/>
          </a:bodyPr>
          <a:lstStyle/>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Crop yields depend on the production circumstances, with higher yields on commercial farms and low yields on small-scale farms.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Annual maize production in Zambia was on average 1.1 Mt in the period 2000 to 2010, and average yields of about 1.5 t/ha that have not significantly changed over the past 20 years.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Cultivated maize area has been on average 700,000 ha between 1987 and 2007, with largest area of 900,000 ha in 2008.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n-ZM" dirty="0"/>
          </a:p>
        </p:txBody>
      </p:sp>
    </p:spTree>
    <p:extLst>
      <p:ext uri="{BB962C8B-B14F-4D97-AF65-F5344CB8AC3E}">
        <p14:creationId xmlns:p14="http://schemas.microsoft.com/office/powerpoint/2010/main" val="1900049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28A8-C97B-C6BD-C8B8-BE82A059C113}"/>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Production and yield</a:t>
            </a:r>
            <a:r>
              <a:rPr lang="en-ZM" sz="1800" b="1" i="1" dirty="0">
                <a:solidFill>
                  <a:srgbClr val="333333"/>
                </a:solidFill>
                <a:effectLst/>
                <a:latin typeface="Open Sans" panose="020B0606030504020204" pitchFamily="34" charset="0"/>
                <a:ea typeface="Times New Roman" panose="02020603050405020304" pitchFamily="18" charset="0"/>
              </a:rPr>
              <a:t> </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2384E8DE-6304-7D60-7834-B3CF878F6004}"/>
              </a:ext>
            </a:extLst>
          </p:cNvPr>
          <p:cNvSpPr>
            <a:spLocks noGrp="1"/>
          </p:cNvSpPr>
          <p:nvPr>
            <p:ph idx="1"/>
          </p:nvPr>
        </p:nvSpPr>
        <p:spPr/>
        <p:txBody>
          <a:bodyPr>
            <a:normAutofit/>
          </a:bodyPr>
          <a:lstStyle/>
          <a:p>
            <a:pPr marL="0" indent="0">
              <a:buNone/>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yield gap between actual yields and potential yields remains wide.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 produced an annual average of about 24,000 metric tons of sorghum and 42,000 metric tons of millet between 1987 and 2008.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Sorghum and millet national average yields are very low, about 0.55 and 0.65 t/ha, respectively.</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69086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36D7-EE62-83D0-1F16-1DAA84CB5E35}"/>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Agro-ecological zones and soils</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A30E5093-E585-A568-60AD-D5E1AA7DF4E6}"/>
              </a:ext>
            </a:extLst>
          </p:cNvPr>
          <p:cNvSpPr>
            <a:spLocks noGrp="1"/>
          </p:cNvSpPr>
          <p:nvPr>
            <p:ph idx="1"/>
          </p:nvPr>
        </p:nvSpPr>
        <p:spPr/>
        <p:txBody>
          <a:bodyPr>
            <a:normAutofit/>
          </a:bodyPr>
          <a:lstStyle/>
          <a:p>
            <a:pPr algn="just">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 is divided into three major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-ecological regions (Regions I , II and III), which are primarily based on rainfall amount but also incorporate soils and other climatic characteristics.</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b="1" dirty="0">
                <a:solidFill>
                  <a:srgbClr val="333333"/>
                </a:solidFill>
                <a:effectLst/>
                <a:latin typeface="Arial" panose="020B0604020202020204" pitchFamily="34" charset="0"/>
                <a:ea typeface="Calibri" panose="020F0502020204030204" pitchFamily="34" charset="0"/>
                <a:cs typeface="Arial" panose="020B0604020202020204" pitchFamily="34" charset="0"/>
              </a:rPr>
              <a:t>Semi-arid Region I</a:t>
            </a:r>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 includes areas of southern, eastern and western Zambia:  Zambia's valleys at 300-800 m altitude mostly lie in Region 1.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Mean annual rainfall in Region I ranges from 600 to 800 mm.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The growing season is relatively short (80-120 days) and risky for crop production, as poorly distributed rains result in crops enduring frequent dry spells. </a:t>
            </a:r>
            <a:endPar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endParaRPr>
          </a:p>
          <a:p>
            <a:pPr algn="just"/>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Region I contains a variety of soil types, ranging from slightly acidic loamy and clayey soils with loam topsoil, to </a:t>
            </a:r>
            <a:r>
              <a:rPr lang="en-US"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acidic sand soils</a:t>
            </a:r>
            <a:endParaRPr lang="en-ZM"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470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36D7-EE62-83D0-1F16-1DAA84CB5E35}"/>
              </a:ext>
            </a:extLst>
          </p:cNvPr>
          <p:cNvSpPr>
            <a:spLocks noGrp="1"/>
          </p:cNvSpPr>
          <p:nvPr>
            <p:ph type="title"/>
          </p:nvPr>
        </p:nvSpPr>
        <p:spPr/>
        <p:txBody>
          <a:bodyPr/>
          <a:lstStyle/>
          <a:p>
            <a:pPr algn="ctr"/>
            <a:r>
              <a:rPr lang="en-ZM"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Agro-ecological zones and soils</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A30E5093-E585-A568-60AD-D5E1AA7DF4E6}"/>
              </a:ext>
            </a:extLst>
          </p:cNvPr>
          <p:cNvSpPr>
            <a:spLocks noGrp="1"/>
          </p:cNvSpPr>
          <p:nvPr>
            <p:ph idx="1"/>
          </p:nvPr>
        </p:nvSpPr>
        <p:spPr/>
        <p:txBody>
          <a:bodyPr>
            <a:normAutofit/>
          </a:bodyPr>
          <a:lstStyle/>
          <a:p>
            <a:pPr algn="just">
              <a:spcAft>
                <a:spcPts val="750"/>
              </a:spcAft>
            </a:pPr>
            <a:r>
              <a:rPr lang="en-ZM" sz="2400" dirty="0">
                <a:solidFill>
                  <a:srgbClr val="333333"/>
                </a:solidFill>
                <a:effectLst/>
                <a:latin typeface="Arial" panose="020B0604020202020204" pitchFamily="34" charset="0"/>
                <a:ea typeface="Calibri" panose="020F0502020204030204" pitchFamily="34" charset="0"/>
                <a:cs typeface="Arial" panose="020B0604020202020204" pitchFamily="34" charset="0"/>
              </a:rPr>
              <a:t>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Characteristics of these soils which have significant constraints for crop production, include: erosion, limited soil depth in hilly and escarpment areas, poor physical properties that make it difficult to till especially on cracking clay soils, crusting, and low water holding capacities in sandy soils.</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750"/>
              </a:spcAft>
            </a:pPr>
            <a:endParaRPr lang="en-ZM"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981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71B7-24B3-F078-2107-B8CD5907CE99}"/>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551E562A-065E-AFBB-DDCE-9BC40EEC99DE}"/>
              </a:ext>
            </a:extLst>
          </p:cNvPr>
          <p:cNvSpPr>
            <a:spLocks noGrp="1"/>
          </p:cNvSpPr>
          <p:nvPr>
            <p:ph idx="1"/>
          </p:nvPr>
        </p:nvSpPr>
        <p:spPr/>
        <p:txBody>
          <a:bodyPr/>
          <a:lstStyle/>
          <a:p>
            <a:pPr algn="just"/>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includes much of central Zambia, with most of Central, Southern, Eastern and Lusaka provinces.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It contains the most fertile soils and most of the country's commercial farms. Annual rainfall in Region II averages 800-1000 mm, and the growing season is 100-140 days long.</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Distribution of rainfall is not as erratic as in Region I, but dry spells are common and reduce crop yields, especially on the sandier soils.</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Average mean daily temperatures range from 23- 26°C in the hottest month October to 16-20°C in the coldest months of June and July.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929663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671B7-24B3-F078-2107-B8CD5907CE99}"/>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551E562A-065E-AFBB-DDCE-9BC40EEC99DE}"/>
              </a:ext>
            </a:extLst>
          </p:cNvPr>
          <p:cNvSpPr>
            <a:spLocks noGrp="1"/>
          </p:cNvSpPr>
          <p:nvPr>
            <p:ph idx="1"/>
          </p:nvPr>
        </p:nvSpPr>
        <p:spPr/>
        <p:txBody>
          <a:bodyPr/>
          <a:lstStyle/>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most common soils in Region II are red to brown clayey to loamy soil types that are moderately to strongly leached.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Physical characteristics of the soils that affect crop production, include low water holding capacity, shallow rooting depth, and top soils prone to rapid deterioration and erosion.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These soils also have low nutrient reserves and retention capacity, are acid, have low organic matter and nitrogen content, and are phosphorus-deficient.</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2387504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1CC4-1914-A760-D8C4-F71456C87442}"/>
              </a:ext>
            </a:extLst>
          </p:cNvPr>
          <p:cNvSpPr>
            <a:spLocks noGrp="1"/>
          </p:cNvSpPr>
          <p:nvPr>
            <p:ph type="title"/>
          </p:nvPr>
        </p:nvSpPr>
        <p:spPr/>
        <p:txBody>
          <a:bodyPr/>
          <a:lstStyle/>
          <a:p>
            <a:endParaRPr lang="en-ZM"/>
          </a:p>
        </p:txBody>
      </p:sp>
      <p:sp>
        <p:nvSpPr>
          <p:cNvPr id="3" name="Content Placeholder 2">
            <a:extLst>
              <a:ext uri="{FF2B5EF4-FFF2-40B4-BE49-F238E27FC236}">
                <a16:creationId xmlns:a16="http://schemas.microsoft.com/office/drawing/2014/main" id="{22E10970-698A-E57A-2201-ADC802288731}"/>
              </a:ext>
            </a:extLst>
          </p:cNvPr>
          <p:cNvSpPr>
            <a:spLocks noGrp="1"/>
          </p:cNvSpPr>
          <p:nvPr>
            <p:ph idx="1"/>
          </p:nvPr>
        </p:nvSpPr>
        <p:spPr/>
        <p:txBody>
          <a:bodyPr/>
          <a:lstStyle/>
          <a:p>
            <a:pPr algn="just"/>
            <a:r>
              <a:rPr lang="en-ZM"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III, </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high-rainfall area, lies in a band across northern Zambia, including the Northern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Luapula</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Copperbelt, Northwestern provinces and some parts of the Central province.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This region receives over 1000 mm of precipitation each year, and the growing season ranges from 120-150 days.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Soils in Region III are highly weathered and leached, and characterized by extreme acidity.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Consequently, the soils have few nutrients available for plant growth, and are high in exchangeable </a:t>
            </a:r>
            <a:r>
              <a:rPr lang="en-ZM" sz="240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aluminum</a:t>
            </a: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and manganese, both of which are toxic to most crops unless soils are limed to increase pH</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33020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92500" lnSpcReduction="10000"/>
          </a:bodyPr>
          <a:lstStyle/>
          <a:p>
            <a:pPr algn="just">
              <a:lnSpc>
                <a:spcPct val="150000"/>
              </a:lnSpc>
              <a:spcAft>
                <a:spcPts val="750"/>
              </a:spcAft>
            </a:pPr>
            <a:r>
              <a:rPr lang="en-US" sz="2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 has predominantly small-scale farmers in the major valley systems. In the Luangwa Valley, sorghum, finger millet and maize are the major starchy food crops, while groundnuts, cowpeas and pumpkins are also grown.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Farmers use hand hoes for cultivation. Goats and chickens are commonly kept by farm households, and some farmers have a few cattle. </a:t>
            </a:r>
            <a:endParaRPr lang="en-US"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2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Other areas of the region mainly produce bulrush millet, sorghum, and cassava.</a:t>
            </a:r>
            <a:endParaRPr lang="en-ZM" sz="2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3781761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55000" lnSpcReduction="20000"/>
          </a:bodyPr>
          <a:lstStyle/>
          <a:p>
            <a:pPr algn="just">
              <a:lnSpc>
                <a:spcPct val="150000"/>
              </a:lnSpc>
              <a:spcAft>
                <a:spcPts val="750"/>
              </a:spcAft>
            </a:pPr>
            <a:r>
              <a:rPr lang="en-US" sz="4400" b="1"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Region II</a:t>
            </a:r>
            <a:endParaRPr lang="en-ZM" sz="4400"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Zambia's large commercial farmers are concentrated in Region II.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Their farming systems are mechanized and highly diverse, cultivating maize, soybeans, wheat, cotton, tobacco, coffee, vegetables, and flowers, and breeding livestock.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Besides these large-scale systems, there are also small- and medium-scale farmers in the region.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Maize is the main staple crop in these systems in Central and Eastern provinces.</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ZM" dirty="0"/>
          </a:p>
        </p:txBody>
      </p:sp>
    </p:spTree>
    <p:extLst>
      <p:ext uri="{BB962C8B-B14F-4D97-AF65-F5344CB8AC3E}">
        <p14:creationId xmlns:p14="http://schemas.microsoft.com/office/powerpoint/2010/main" val="308554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B9E1-2FD9-5AE8-530F-18E00BB18D8B}"/>
              </a:ext>
            </a:extLst>
          </p:cNvPr>
          <p:cNvSpPr>
            <a:spLocks noGrp="1"/>
          </p:cNvSpPr>
          <p:nvPr>
            <p:ph type="title"/>
          </p:nvPr>
        </p:nvSpPr>
        <p:spPr/>
        <p:txBody>
          <a:bodyPr/>
          <a:lstStyle/>
          <a:p>
            <a:pPr algn="ctr"/>
            <a:r>
              <a:rPr lang="en-ZM" b="1" i="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Major cropping systems</a:t>
            </a:r>
            <a:r>
              <a:rPr lang="en-ZM" sz="1800" dirty="0">
                <a:effectLst/>
                <a:latin typeface="Times New Roman" panose="02020603050405020304" pitchFamily="18" charset="0"/>
                <a:ea typeface="Times New Roman" panose="02020603050405020304" pitchFamily="18" charset="0"/>
              </a:rPr>
              <a:t/>
            </a:r>
            <a:br>
              <a:rPr lang="en-ZM" sz="1800" dirty="0">
                <a:effectLst/>
                <a:latin typeface="Times New Roman" panose="02020603050405020304" pitchFamily="18" charset="0"/>
                <a:ea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1D9C1697-A216-7126-168C-EB9E3ADF761A}"/>
              </a:ext>
            </a:extLst>
          </p:cNvPr>
          <p:cNvSpPr>
            <a:spLocks noGrp="1"/>
          </p:cNvSpPr>
          <p:nvPr>
            <p:ph idx="1"/>
          </p:nvPr>
        </p:nvSpPr>
        <p:spPr/>
        <p:txBody>
          <a:bodyPr>
            <a:normAutofit fontScale="55000" lnSpcReduction="20000"/>
          </a:bodyPr>
          <a:lstStyle/>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Beans, groundnuts, pumpkins, and cassava leaves are grown to diversify diets.</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Other crops include cotton, sorghum, soybeans and sunflower.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Cattle, chickens, goats, pigs and sheep are common.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Farmers also grow tobacco.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Cattle are important for traction, meat, milk and manure. </a:t>
            </a:r>
            <a:endParaRPr lang="en-US"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50000"/>
              </a:lnSpc>
              <a:spcAft>
                <a:spcPts val="750"/>
              </a:spcAft>
            </a:pPr>
            <a:r>
              <a:rPr lang="en-ZM" sz="340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The major constraints to increase crop production in Region II are the lack of low-cost biocides to control pests and diseases, soil degradation, and the depletion of soil fertility.</a:t>
            </a:r>
            <a:endParaRPr lang="en-ZM" sz="3400" dirty="0">
              <a:effectLst/>
              <a:latin typeface="Arial" panose="020B0604020202020204" pitchFamily="34" charset="0"/>
              <a:ea typeface="Times New Roman" panose="02020603050405020304" pitchFamily="18" charset="0"/>
              <a:cs typeface="Arial" panose="020B0604020202020204" pitchFamily="34" charset="0"/>
            </a:endParaRPr>
          </a:p>
          <a:p>
            <a:endParaRPr lang="en-ZM" dirty="0"/>
          </a:p>
        </p:txBody>
      </p:sp>
    </p:spTree>
    <p:extLst>
      <p:ext uri="{BB962C8B-B14F-4D97-AF65-F5344CB8AC3E}">
        <p14:creationId xmlns:p14="http://schemas.microsoft.com/office/powerpoint/2010/main" val="22144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D0D5-D995-E4A4-3A26-3E4B568FAAFE}"/>
              </a:ext>
            </a:extLst>
          </p:cNvPr>
          <p:cNvSpPr>
            <a:spLocks noGrp="1"/>
          </p:cNvSpPr>
          <p:nvPr>
            <p:ph type="title"/>
          </p:nvPr>
        </p:nvSpPr>
        <p:spPr/>
        <p:txBody>
          <a:bodyPr/>
          <a:lstStyle/>
          <a:p>
            <a:pPr algn="ctr"/>
            <a:r>
              <a:rPr lang="en-US" b="1" dirty="0"/>
              <a:t>Major Cropping systems</a:t>
            </a:r>
            <a:endParaRPr lang="en-ZM" b="1" dirty="0"/>
          </a:p>
        </p:txBody>
      </p:sp>
      <p:sp>
        <p:nvSpPr>
          <p:cNvPr id="3" name="Content Placeholder 2">
            <a:extLst>
              <a:ext uri="{FF2B5EF4-FFF2-40B4-BE49-F238E27FC236}">
                <a16:creationId xmlns:a16="http://schemas.microsoft.com/office/drawing/2014/main" id="{93B912AF-E854-9DC2-382C-B8B57BCED702}"/>
              </a:ext>
            </a:extLst>
          </p:cNvPr>
          <p:cNvSpPr>
            <a:spLocks noGrp="1"/>
          </p:cNvSpPr>
          <p:nvPr>
            <p:ph idx="1"/>
          </p:nvPr>
        </p:nvSpPr>
        <p:spPr>
          <a:xfrm>
            <a:off x="921026" y="1865382"/>
            <a:ext cx="10515600" cy="4351338"/>
          </a:xfrm>
        </p:spPr>
        <p:txBody>
          <a:bodyPr>
            <a:normAutofit fontScale="70000" lnSpcReduction="20000"/>
          </a:bodyPr>
          <a:lstStyle/>
          <a:p>
            <a:pPr algn="just">
              <a:lnSpc>
                <a:spcPct val="150000"/>
              </a:lnSpc>
              <a:spcAft>
                <a:spcPts val="750"/>
              </a:spcAft>
            </a:pPr>
            <a:r>
              <a:rPr lang="en-US" b="1" dirty="0">
                <a:solidFill>
                  <a:srgbClr val="333333"/>
                </a:solidFill>
                <a:effectLst/>
                <a:latin typeface="Times New Roman" panose="02020603050405020304" pitchFamily="18" charset="0"/>
                <a:ea typeface="Times New Roman" panose="02020603050405020304" pitchFamily="18" charset="0"/>
              </a:rPr>
              <a:t>Region III</a:t>
            </a:r>
            <a:endParaRPr lang="en-ZM"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Small-scale farming predominates in Region III. Rural areas of this region have the lowest population density in Zambia.</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Farmers use very low-input, shifting and semi-permanent cultivation techniques. </a:t>
            </a:r>
            <a:r>
              <a:rPr lang="en-ZM" dirty="0" err="1">
                <a:solidFill>
                  <a:srgbClr val="333333"/>
                </a:solidFill>
                <a:effectLst/>
                <a:latin typeface="Times New Roman" panose="02020603050405020304" pitchFamily="18" charset="0"/>
                <a:ea typeface="Times New Roman" panose="02020603050405020304" pitchFamily="18" charset="0"/>
              </a:rPr>
              <a:t>Chitemene</a:t>
            </a:r>
            <a:r>
              <a:rPr lang="en-ZM" dirty="0">
                <a:solidFill>
                  <a:srgbClr val="333333"/>
                </a:solidFill>
                <a:effectLst/>
                <a:latin typeface="Times New Roman" panose="02020603050405020304" pitchFamily="18" charset="0"/>
                <a:ea typeface="Times New Roman" panose="02020603050405020304" pitchFamily="18" charset="0"/>
              </a:rPr>
              <a:t> and </a:t>
            </a:r>
            <a:r>
              <a:rPr lang="en-ZM" dirty="0" err="1">
                <a:solidFill>
                  <a:srgbClr val="333333"/>
                </a:solidFill>
                <a:effectLst/>
                <a:latin typeface="Times New Roman" panose="02020603050405020304" pitchFamily="18" charset="0"/>
                <a:ea typeface="Times New Roman" panose="02020603050405020304" pitchFamily="18" charset="0"/>
              </a:rPr>
              <a:t>fundakila</a:t>
            </a:r>
            <a:r>
              <a:rPr lang="en-ZM" dirty="0">
                <a:solidFill>
                  <a:srgbClr val="333333"/>
                </a:solidFill>
                <a:effectLst/>
                <a:latin typeface="Times New Roman" panose="02020603050405020304" pitchFamily="18" charset="0"/>
                <a:ea typeface="Times New Roman" panose="02020603050405020304" pitchFamily="18" charset="0"/>
              </a:rPr>
              <a:t> are two widely used, traditional methods of cultivation.</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In </a:t>
            </a:r>
            <a:r>
              <a:rPr lang="en-ZM" dirty="0" err="1">
                <a:solidFill>
                  <a:srgbClr val="333333"/>
                </a:solidFill>
                <a:effectLst/>
                <a:latin typeface="Times New Roman" panose="02020603050405020304" pitchFamily="18" charset="0"/>
                <a:ea typeface="Times New Roman" panose="02020603050405020304" pitchFamily="18" charset="0"/>
              </a:rPr>
              <a:t>Chitemene</a:t>
            </a:r>
            <a:r>
              <a:rPr lang="en-ZM" dirty="0">
                <a:solidFill>
                  <a:srgbClr val="333333"/>
                </a:solidFill>
                <a:effectLst/>
                <a:latin typeface="Times New Roman" panose="02020603050405020304" pitchFamily="18" charset="0"/>
                <a:ea typeface="Times New Roman" panose="02020603050405020304" pitchFamily="18" charset="0"/>
              </a:rPr>
              <a:t>, trees are cut at 1 meter height, branches are heaped in piles and burned, and then crops are planted in the ash.</a:t>
            </a:r>
            <a:endParaRPr lang="en-US"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dirty="0">
                <a:solidFill>
                  <a:srgbClr val="333333"/>
                </a:solidFill>
                <a:effectLst/>
                <a:latin typeface="Times New Roman" panose="02020603050405020304" pitchFamily="18" charset="0"/>
                <a:ea typeface="Times New Roman" panose="02020603050405020304" pitchFamily="18" charset="0"/>
              </a:rPr>
              <a:t> </a:t>
            </a:r>
            <a:r>
              <a:rPr lang="en-ZM" dirty="0" err="1">
                <a:solidFill>
                  <a:srgbClr val="333333"/>
                </a:solidFill>
                <a:effectLst/>
                <a:latin typeface="Times New Roman" panose="02020603050405020304" pitchFamily="18" charset="0"/>
                <a:ea typeface="Times New Roman" panose="02020603050405020304" pitchFamily="18" charset="0"/>
              </a:rPr>
              <a:t>Fundakila</a:t>
            </a:r>
            <a:r>
              <a:rPr lang="en-ZM" dirty="0">
                <a:solidFill>
                  <a:srgbClr val="333333"/>
                </a:solidFill>
                <a:effectLst/>
                <a:latin typeface="Times New Roman" panose="02020603050405020304" pitchFamily="18" charset="0"/>
                <a:ea typeface="Times New Roman" panose="02020603050405020304" pitchFamily="18" charset="0"/>
              </a:rPr>
              <a:t> is used in cleared fields. </a:t>
            </a:r>
            <a:endParaRPr lang="en-US" dirty="0">
              <a:solidFill>
                <a:srgbClr val="333333"/>
              </a:solidFill>
              <a:effectLst/>
              <a:latin typeface="Times New Roman" panose="02020603050405020304" pitchFamily="18" charset="0"/>
              <a:ea typeface="Times New Roman" panose="02020603050405020304" pitchFamily="18" charset="0"/>
            </a:endParaRPr>
          </a:p>
          <a:p>
            <a:endParaRPr lang="en-ZM" dirty="0"/>
          </a:p>
        </p:txBody>
      </p:sp>
    </p:spTree>
    <p:extLst>
      <p:ext uri="{BB962C8B-B14F-4D97-AF65-F5344CB8AC3E}">
        <p14:creationId xmlns:p14="http://schemas.microsoft.com/office/powerpoint/2010/main" val="2963413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FD0D5-D995-E4A4-3A26-3E4B568FAAFE}"/>
              </a:ext>
            </a:extLst>
          </p:cNvPr>
          <p:cNvSpPr>
            <a:spLocks noGrp="1"/>
          </p:cNvSpPr>
          <p:nvPr>
            <p:ph type="title"/>
          </p:nvPr>
        </p:nvSpPr>
        <p:spPr/>
        <p:txBody>
          <a:bodyPr/>
          <a:lstStyle/>
          <a:p>
            <a:pPr algn="ctr"/>
            <a:r>
              <a:rPr lang="en-US" b="1" dirty="0"/>
              <a:t>Major Cropping systems</a:t>
            </a:r>
            <a:endParaRPr lang="en-ZM" b="1" dirty="0"/>
          </a:p>
        </p:txBody>
      </p:sp>
      <p:sp>
        <p:nvSpPr>
          <p:cNvPr id="3" name="Content Placeholder 2">
            <a:extLst>
              <a:ext uri="{FF2B5EF4-FFF2-40B4-BE49-F238E27FC236}">
                <a16:creationId xmlns:a16="http://schemas.microsoft.com/office/drawing/2014/main" id="{93B912AF-E854-9DC2-382C-B8B57BCED702}"/>
              </a:ext>
            </a:extLst>
          </p:cNvPr>
          <p:cNvSpPr>
            <a:spLocks noGrp="1"/>
          </p:cNvSpPr>
          <p:nvPr>
            <p:ph idx="1"/>
          </p:nvPr>
        </p:nvSpPr>
        <p:spPr/>
        <p:txBody>
          <a:bodyPr>
            <a:normAutofit fontScale="85000" lnSpcReduction="10000"/>
          </a:bodyPr>
          <a:lstStyle/>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 Grass is cut and buried at the end of the rainy season and allowed to decompose. The composted material is spread before the next planting season onto frequently mounded fields.</a:t>
            </a:r>
            <a:endParaRPr lang="en-US" sz="2400"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Grass is cut and buried at the end of the rainy season and allowed to decompose. The composted material is spread before the next planting season onto frequently mounded fields.</a:t>
            </a:r>
            <a:endParaRPr lang="en-ZM" sz="2400" dirty="0">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Principal crops in the hand hoe system of Northern, </a:t>
            </a:r>
            <a:r>
              <a:rPr lang="en-ZM" sz="2400" dirty="0" err="1">
                <a:solidFill>
                  <a:srgbClr val="333333"/>
                </a:solidFill>
                <a:effectLst/>
                <a:latin typeface="Times New Roman" panose="02020603050405020304" pitchFamily="18" charset="0"/>
                <a:ea typeface="Times New Roman" panose="02020603050405020304" pitchFamily="18" charset="0"/>
              </a:rPr>
              <a:t>Luapula</a:t>
            </a:r>
            <a:r>
              <a:rPr lang="en-ZM" sz="2400" dirty="0">
                <a:solidFill>
                  <a:srgbClr val="333333"/>
                </a:solidFill>
                <a:effectLst/>
                <a:latin typeface="Times New Roman" panose="02020603050405020304" pitchFamily="18" charset="0"/>
                <a:ea typeface="Times New Roman" panose="02020603050405020304" pitchFamily="18" charset="0"/>
              </a:rPr>
              <a:t> and Northwestern provinces are cassava, landrace maize varieties, sweet </a:t>
            </a:r>
            <a:r>
              <a:rPr lang="en-ZM" sz="2400" dirty="0" err="1">
                <a:solidFill>
                  <a:srgbClr val="333333"/>
                </a:solidFill>
                <a:effectLst/>
                <a:latin typeface="Times New Roman" panose="02020603050405020304" pitchFamily="18" charset="0"/>
                <a:ea typeface="Times New Roman" panose="02020603050405020304" pitchFamily="18" charset="0"/>
              </a:rPr>
              <a:t>potatoe</a:t>
            </a:r>
            <a:r>
              <a:rPr lang="en-US" sz="2400" dirty="0">
                <a:solidFill>
                  <a:srgbClr val="333333"/>
                </a:solidFill>
                <a:effectLst/>
                <a:latin typeface="Times New Roman" panose="02020603050405020304" pitchFamily="18" charset="0"/>
                <a:ea typeface="Times New Roman" panose="02020603050405020304" pitchFamily="18" charset="0"/>
              </a:rPr>
              <a:t>s</a:t>
            </a:r>
            <a:r>
              <a:rPr lang="en-ZM" sz="2400" dirty="0">
                <a:solidFill>
                  <a:srgbClr val="333333"/>
                </a:solidFill>
                <a:effectLst/>
                <a:latin typeface="Times New Roman" panose="02020603050405020304" pitchFamily="18" charset="0"/>
                <a:ea typeface="Times New Roman" panose="02020603050405020304" pitchFamily="18" charset="0"/>
              </a:rPr>
              <a:t>, pumpkin, finger millet and beans. </a:t>
            </a:r>
            <a:endParaRPr lang="en-US" sz="2400" dirty="0">
              <a:solidFill>
                <a:srgbClr val="333333"/>
              </a:solidFill>
              <a:effectLst/>
              <a:latin typeface="Times New Roman" panose="02020603050405020304" pitchFamily="18" charset="0"/>
              <a:ea typeface="Times New Roman" panose="02020603050405020304" pitchFamily="18" charset="0"/>
            </a:endParaRPr>
          </a:p>
          <a:p>
            <a:pPr algn="just">
              <a:lnSpc>
                <a:spcPct val="150000"/>
              </a:lnSpc>
              <a:spcAft>
                <a:spcPts val="750"/>
              </a:spcAft>
            </a:pPr>
            <a:r>
              <a:rPr lang="en-ZM" sz="2400" dirty="0">
                <a:solidFill>
                  <a:srgbClr val="333333"/>
                </a:solidFill>
                <a:effectLst/>
                <a:latin typeface="Times New Roman" panose="02020603050405020304" pitchFamily="18" charset="0"/>
                <a:ea typeface="Times New Roman" panose="02020603050405020304" pitchFamily="18" charset="0"/>
              </a:rPr>
              <a:t>Most farmers have chickens and a few goats, but other livestock is uncommon. The existence of tsetse fly in some areas limits opportunities for cattle production.</a:t>
            </a:r>
            <a:endParaRPr lang="en-ZM" sz="2400" dirty="0">
              <a:effectLst/>
              <a:latin typeface="Times New Roman" panose="02020603050405020304" pitchFamily="18" charset="0"/>
              <a:ea typeface="Times New Roman" panose="02020603050405020304" pitchFamily="18" charset="0"/>
            </a:endParaRPr>
          </a:p>
          <a:p>
            <a:endParaRPr lang="en-ZM" dirty="0"/>
          </a:p>
        </p:txBody>
      </p:sp>
    </p:spTree>
    <p:extLst>
      <p:ext uri="{BB962C8B-B14F-4D97-AF65-F5344CB8AC3E}">
        <p14:creationId xmlns:p14="http://schemas.microsoft.com/office/powerpoint/2010/main" val="2324571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Traditional Farming Systems</a:t>
            </a:r>
            <a:endParaRPr lang="en-US" b="1" dirty="0"/>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dirty="0"/>
              <a:t>Traditional farming systems are important to the people of Zambia because they provide a means of livelihood and contribute to the country's agricultural </a:t>
            </a:r>
            <a:r>
              <a:rPr lang="en-US" dirty="0" smtClean="0"/>
              <a:t>output.</a:t>
            </a:r>
          </a:p>
          <a:p>
            <a:pPr algn="just">
              <a:buFont typeface="Wingdings" panose="05000000000000000000" pitchFamily="2" charset="2"/>
              <a:buChar char="§"/>
            </a:pPr>
            <a:r>
              <a:rPr lang="en-US" dirty="0" smtClean="0"/>
              <a:t>These </a:t>
            </a:r>
            <a:r>
              <a:rPr lang="en-US" dirty="0"/>
              <a:t>systems, such as chitemene shifting cultivation, have been practiced </a:t>
            </a:r>
            <a:r>
              <a:rPr lang="en-US" dirty="0" smtClean="0"/>
              <a:t>in </a:t>
            </a:r>
            <a:r>
              <a:rPr lang="en-US" dirty="0"/>
              <a:t>Zambia for </a:t>
            </a:r>
            <a:r>
              <a:rPr lang="en-US" dirty="0" smtClean="0"/>
              <a:t>generations. </a:t>
            </a:r>
          </a:p>
          <a:p>
            <a:pPr algn="just">
              <a:buFont typeface="Wingdings" panose="05000000000000000000" pitchFamily="2" charset="2"/>
              <a:buChar char="§"/>
            </a:pPr>
            <a:r>
              <a:rPr lang="en-US" dirty="0" smtClean="0"/>
              <a:t>They </a:t>
            </a:r>
            <a:r>
              <a:rPr lang="en-US" dirty="0"/>
              <a:t>make use of natural resources and allow for the recycling of nutrients stored in </a:t>
            </a:r>
            <a:r>
              <a:rPr lang="en-US" dirty="0" smtClean="0"/>
              <a:t>vegetation.</a:t>
            </a:r>
          </a:p>
          <a:p>
            <a:pPr algn="just">
              <a:buFont typeface="Wingdings" panose="05000000000000000000" pitchFamily="2" charset="2"/>
              <a:buChar char="§"/>
            </a:pPr>
            <a:r>
              <a:rPr lang="en-US" dirty="0" smtClean="0"/>
              <a:t>Traditional </a:t>
            </a:r>
            <a:r>
              <a:rPr lang="en-US" dirty="0"/>
              <a:t>farming practices also involve multiple cropping systems, which help to diversify the types of crops grown and adapt to local </a:t>
            </a:r>
            <a:r>
              <a:rPr lang="en-US" dirty="0" smtClean="0"/>
              <a:t>conditions. </a:t>
            </a:r>
            <a:endParaRPr lang="en-US" sz="3200" dirty="0"/>
          </a:p>
          <a:p>
            <a:pPr marL="0" indent="0" algn="just">
              <a:buNone/>
            </a:pPr>
            <a:endParaRPr lang="en-US" dirty="0" smtClean="0"/>
          </a:p>
        </p:txBody>
      </p:sp>
      <p:sp>
        <p:nvSpPr>
          <p:cNvPr id="4" name="Date Placeholder 3"/>
          <p:cNvSpPr>
            <a:spLocks noGrp="1"/>
          </p:cNvSpPr>
          <p:nvPr>
            <p:ph type="dt" sz="half" idx="10"/>
          </p:nvPr>
        </p:nvSpPr>
        <p:spPr>
          <a:xfrm>
            <a:off x="1726843" y="5666157"/>
            <a:ext cx="2743200" cy="365125"/>
          </a:xfrm>
        </p:spPr>
        <p:txBody>
          <a:bodyPr/>
          <a:lstStyle/>
          <a:p>
            <a:fld id="{975981D5-DFF7-48B0-879F-D0FD3C2850BE}" type="datetime2">
              <a:rPr lang="en-US" smtClean="0"/>
              <a:t>Sunday, February 18,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23</a:t>
            </a:fld>
            <a:endParaRPr lang="en-US"/>
          </a:p>
        </p:txBody>
      </p:sp>
    </p:spTree>
    <p:extLst>
      <p:ext uri="{BB962C8B-B14F-4D97-AF65-F5344CB8AC3E}">
        <p14:creationId xmlns:p14="http://schemas.microsoft.com/office/powerpoint/2010/main" val="1652036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Additionally, traditional farming systems are influenced by agro-ecological factors and the availability of water, which can impact the types of crops </a:t>
            </a:r>
            <a:r>
              <a:rPr lang="en-US" dirty="0" smtClean="0"/>
              <a:t>grown.</a:t>
            </a:r>
          </a:p>
          <a:p>
            <a:pPr algn="just"/>
            <a:r>
              <a:rPr lang="en-US" dirty="0" smtClean="0"/>
              <a:t>The </a:t>
            </a:r>
            <a:r>
              <a:rPr lang="en-US" dirty="0"/>
              <a:t>awareness and attitude of Zambian farmers towards environmental degradation also play a role in the importance of traditional farming systems, as greater awareness leads to greater involvement in land management programs . </a:t>
            </a:r>
            <a:endParaRPr lang="en-US" dirty="0" smtClean="0"/>
          </a:p>
          <a:p>
            <a:pPr algn="just"/>
            <a:r>
              <a:rPr lang="en-US" dirty="0" smtClean="0"/>
              <a:t>Overall</a:t>
            </a:r>
            <a:r>
              <a:rPr lang="en-US" dirty="0"/>
              <a:t>, traditional farming systems in Zambia are a vital part of the rural livelihood system and contribute to sustainable agriculture and food security.</a:t>
            </a:r>
          </a:p>
        </p:txBody>
      </p:sp>
      <p:sp>
        <p:nvSpPr>
          <p:cNvPr id="4" name="Date Placeholder 3"/>
          <p:cNvSpPr>
            <a:spLocks noGrp="1"/>
          </p:cNvSpPr>
          <p:nvPr>
            <p:ph type="dt" sz="half" idx="10"/>
          </p:nvPr>
        </p:nvSpPr>
        <p:spPr/>
        <p:txBody>
          <a:bodyPr/>
          <a:lstStyle/>
          <a:p>
            <a:fld id="{54BF4E3C-68E3-48AA-95A7-E89DB58B38DD}" type="datetime2">
              <a:rPr lang="en-US" smtClean="0"/>
              <a:t>Sunday, February 18, 2024</a:t>
            </a:fld>
            <a:endParaRPr lang="en-US"/>
          </a:p>
        </p:txBody>
      </p:sp>
      <p:sp>
        <p:nvSpPr>
          <p:cNvPr id="5" name="Slide Number Placeholder 4"/>
          <p:cNvSpPr>
            <a:spLocks noGrp="1"/>
          </p:cNvSpPr>
          <p:nvPr>
            <p:ph type="sldNum" sz="quarter" idx="12"/>
          </p:nvPr>
        </p:nvSpPr>
        <p:spPr/>
        <p:txBody>
          <a:bodyPr/>
          <a:lstStyle/>
          <a:p>
            <a:fld id="{4B0C8C63-4FCE-40ED-864D-C0FFDCB54A71}" type="slidenum">
              <a:rPr lang="en-US" smtClean="0"/>
              <a:t>24</a:t>
            </a:fld>
            <a:endParaRPr lang="en-US"/>
          </a:p>
        </p:txBody>
      </p:sp>
    </p:spTree>
    <p:extLst>
      <p:ext uri="{BB962C8B-B14F-4D97-AF65-F5344CB8AC3E}">
        <p14:creationId xmlns:p14="http://schemas.microsoft.com/office/powerpoint/2010/main" val="41561989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2918513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9484-4404-2309-BC6D-672F9EBB3E7B}"/>
              </a:ext>
            </a:extLst>
          </p:cNvPr>
          <p:cNvSpPr>
            <a:spLocks noGrp="1"/>
          </p:cNvSpPr>
          <p:nvPr>
            <p:ph type="ctrTitle"/>
          </p:nvPr>
        </p:nvSpPr>
        <p:spPr>
          <a:xfrm>
            <a:off x="1775791" y="1041400"/>
            <a:ext cx="9144000" cy="2387600"/>
          </a:xfrm>
        </p:spPr>
        <p:txBody>
          <a:bodyPr/>
          <a:lstStyle/>
          <a:p>
            <a:r>
              <a:rPr lang="en-US" b="1" dirty="0"/>
              <a:t>Chitemene System</a:t>
            </a:r>
            <a:endParaRPr lang="en-ZM" b="1" dirty="0"/>
          </a:p>
        </p:txBody>
      </p:sp>
      <p:sp>
        <p:nvSpPr>
          <p:cNvPr id="3" name="Subtitle 2">
            <a:extLst>
              <a:ext uri="{FF2B5EF4-FFF2-40B4-BE49-F238E27FC236}">
                <a16:creationId xmlns:a16="http://schemas.microsoft.com/office/drawing/2014/main" id="{E62A1B9B-BA9E-DFC6-9CA4-9F45A72D8A39}"/>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2323201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705CB-4E42-4DCB-3FDA-0D260FA81A45}"/>
              </a:ext>
            </a:extLst>
          </p:cNvPr>
          <p:cNvSpPr>
            <a:spLocks noGrp="1"/>
          </p:cNvSpPr>
          <p:nvPr>
            <p:ph type="title"/>
          </p:nvPr>
        </p:nvSpPr>
        <p:spPr/>
        <p:txBody>
          <a:bodyPr/>
          <a:lstStyle/>
          <a:p>
            <a:pPr algn="ctr"/>
            <a:r>
              <a:rPr lang="en-US" b="1" dirty="0"/>
              <a:t>Introduction</a:t>
            </a:r>
            <a:endParaRPr lang="en-ZM" b="1" dirty="0"/>
          </a:p>
        </p:txBody>
      </p:sp>
      <p:sp>
        <p:nvSpPr>
          <p:cNvPr id="3" name="Content Placeholder 2">
            <a:extLst>
              <a:ext uri="{FF2B5EF4-FFF2-40B4-BE49-F238E27FC236}">
                <a16:creationId xmlns:a16="http://schemas.microsoft.com/office/drawing/2014/main" id="{33DD146D-146D-30FF-D770-CC25B2DCBC6B}"/>
              </a:ext>
            </a:extLst>
          </p:cNvPr>
          <p:cNvSpPr>
            <a:spLocks noGrp="1"/>
          </p:cNvSpPr>
          <p:nvPr>
            <p:ph idx="1"/>
          </p:nvPr>
        </p:nvSpPr>
        <p:spPr/>
        <p:txBody>
          <a:bodyPr/>
          <a:lstStyle/>
          <a:p>
            <a:pPr algn="just"/>
            <a:r>
              <a:rPr lang="en-US" b="1" i="0" dirty="0">
                <a:effectLst/>
                <a:latin typeface="Arial" panose="020B0604020202020204" pitchFamily="34" charset="0"/>
              </a:rPr>
              <a:t>Chitemene</a:t>
            </a:r>
            <a:r>
              <a:rPr lang="en-US" b="0" i="0" dirty="0">
                <a:effectLst/>
                <a:latin typeface="Arial" panose="020B0604020202020204" pitchFamily="34" charset="0"/>
              </a:rPr>
              <a:t>, from the </a:t>
            </a:r>
            <a:r>
              <a:rPr lang="en-US" b="0" i="0" strike="noStrike" dirty="0">
                <a:effectLst/>
                <a:latin typeface="Arial" panose="020B0604020202020204" pitchFamily="34" charset="0"/>
              </a:rPr>
              <a:t>Bemba</a:t>
            </a:r>
            <a:r>
              <a:rPr lang="en-US" b="0" i="0" dirty="0">
                <a:effectLst/>
                <a:latin typeface="Arial" panose="020B0604020202020204" pitchFamily="34" charset="0"/>
              </a:rPr>
              <a:t> word meaning “place where branches have been cut for a garden”, is a system of </a:t>
            </a:r>
            <a:r>
              <a:rPr lang="en-US" b="0" i="0" strike="noStrike" dirty="0">
                <a:effectLst/>
                <a:latin typeface="Arial" panose="020B0604020202020204" pitchFamily="34" charset="0"/>
              </a:rPr>
              <a:t>slash and burn agriculture</a:t>
            </a:r>
            <a:r>
              <a:rPr lang="en-US" b="0" i="0" dirty="0">
                <a:effectLst/>
                <a:latin typeface="Arial" panose="020B0604020202020204" pitchFamily="34" charset="0"/>
              </a:rPr>
              <a:t> practiced throughout northern </a:t>
            </a:r>
            <a:r>
              <a:rPr lang="en-US" b="0" i="0" strike="noStrike" dirty="0">
                <a:effectLst/>
                <a:latin typeface="Arial" panose="020B0604020202020204" pitchFamily="34" charset="0"/>
              </a:rPr>
              <a:t>Zambia</a:t>
            </a:r>
            <a:r>
              <a:rPr lang="en-US" b="0" i="0" dirty="0">
                <a:effectLst/>
                <a:latin typeface="Arial" panose="020B0604020202020204" pitchFamily="34" charset="0"/>
              </a:rPr>
              <a:t>. </a:t>
            </a:r>
          </a:p>
          <a:p>
            <a:pPr algn="just"/>
            <a:r>
              <a:rPr lang="en-US" b="0" i="0" dirty="0">
                <a:effectLst/>
                <a:latin typeface="Arial" panose="020B0604020202020204" pitchFamily="34" charset="0"/>
              </a:rPr>
              <a:t>It involves </a:t>
            </a:r>
            <a:r>
              <a:rPr lang="en-US" b="1" i="0" strike="noStrike" dirty="0">
                <a:effectLst/>
                <a:latin typeface="Arial" panose="020B0604020202020204" pitchFamily="34" charset="0"/>
              </a:rPr>
              <a:t>coppicing</a:t>
            </a:r>
            <a:r>
              <a:rPr lang="en-US" b="1" i="0" dirty="0">
                <a:effectLst/>
                <a:latin typeface="Arial" panose="020B0604020202020204" pitchFamily="34" charset="0"/>
              </a:rPr>
              <a:t> </a:t>
            </a:r>
            <a:r>
              <a:rPr lang="en-US" b="0" i="0" dirty="0">
                <a:effectLst/>
                <a:latin typeface="Arial" panose="020B0604020202020204" pitchFamily="34" charset="0"/>
              </a:rPr>
              <a:t>or </a:t>
            </a:r>
            <a:r>
              <a:rPr lang="en-US" b="1" i="0" strike="noStrike" dirty="0">
                <a:effectLst/>
                <a:latin typeface="Arial" panose="020B0604020202020204" pitchFamily="34" charset="0"/>
              </a:rPr>
              <a:t>pollarding</a:t>
            </a:r>
            <a:r>
              <a:rPr lang="en-US" b="0" i="0" dirty="0">
                <a:effectLst/>
                <a:latin typeface="Arial" panose="020B0604020202020204" pitchFamily="34" charset="0"/>
              </a:rPr>
              <a:t> of standing trees in a primary or secondary growth </a:t>
            </a:r>
            <a:r>
              <a:rPr lang="en-US" b="0" i="0" strike="noStrike" dirty="0">
                <a:effectLst/>
                <a:latin typeface="Arial" panose="020B0604020202020204" pitchFamily="34" charset="0"/>
              </a:rPr>
              <a:t>Miombo</a:t>
            </a:r>
            <a:r>
              <a:rPr lang="en-US" b="0" i="0" dirty="0">
                <a:effectLst/>
                <a:latin typeface="Arial" panose="020B0604020202020204" pitchFamily="34" charset="0"/>
              </a:rPr>
              <a:t> woodland, stacking of the cut </a:t>
            </a:r>
            <a:r>
              <a:rPr lang="en-US" b="0" i="0" strike="noStrike" dirty="0">
                <a:effectLst/>
                <a:latin typeface="Arial" panose="020B0604020202020204" pitchFamily="34" charset="0"/>
              </a:rPr>
              <a:t>biomass</a:t>
            </a:r>
            <a:r>
              <a:rPr lang="en-US" b="0" i="0" dirty="0">
                <a:effectLst/>
                <a:latin typeface="Arial" panose="020B0604020202020204" pitchFamily="34" charset="0"/>
              </a:rPr>
              <a:t>, and eventual burning of the cut biomass in order to create a </a:t>
            </a:r>
            <a:r>
              <a:rPr lang="en-US" b="1" i="0" dirty="0">
                <a:effectLst/>
                <a:latin typeface="Arial" panose="020B0604020202020204" pitchFamily="34" charset="0"/>
              </a:rPr>
              <a:t>thicker layer of ash </a:t>
            </a:r>
            <a:r>
              <a:rPr lang="en-US" b="0" i="0" dirty="0">
                <a:effectLst/>
                <a:latin typeface="Arial" panose="020B0604020202020204" pitchFamily="34" charset="0"/>
              </a:rPr>
              <a:t>than would be possible with in situ burning. </a:t>
            </a:r>
          </a:p>
          <a:p>
            <a:pPr algn="just"/>
            <a:r>
              <a:rPr lang="en-US" b="0" i="0" dirty="0">
                <a:effectLst/>
                <a:latin typeface="Arial" panose="020B0604020202020204" pitchFamily="34" charset="0"/>
              </a:rPr>
              <a:t>Crops such as </a:t>
            </a:r>
            <a:r>
              <a:rPr lang="en-US" b="1" i="0" strike="noStrike" dirty="0">
                <a:effectLst/>
                <a:latin typeface="Arial" panose="020B0604020202020204" pitchFamily="34" charset="0"/>
              </a:rPr>
              <a:t>maize</a:t>
            </a:r>
            <a:r>
              <a:rPr lang="en-US" b="1" i="0" dirty="0">
                <a:effectLst/>
                <a:latin typeface="Arial" panose="020B0604020202020204" pitchFamily="34" charset="0"/>
              </a:rPr>
              <a:t>,</a:t>
            </a:r>
            <a:r>
              <a:rPr lang="en-US" b="0" i="0" dirty="0">
                <a:effectLst/>
                <a:latin typeface="Arial" panose="020B0604020202020204" pitchFamily="34" charset="0"/>
              </a:rPr>
              <a:t> </a:t>
            </a:r>
            <a:r>
              <a:rPr lang="en-US" b="1" i="0" dirty="0">
                <a:effectLst/>
                <a:latin typeface="Arial" panose="020B0604020202020204" pitchFamily="34" charset="0"/>
              </a:rPr>
              <a:t>finger</a:t>
            </a:r>
            <a:r>
              <a:rPr lang="en-US" b="0" i="0" dirty="0">
                <a:effectLst/>
                <a:latin typeface="Arial" panose="020B0604020202020204" pitchFamily="34" charset="0"/>
              </a:rPr>
              <a:t> </a:t>
            </a:r>
            <a:r>
              <a:rPr lang="en-US" b="1" i="0" dirty="0">
                <a:effectLst/>
                <a:latin typeface="Arial" panose="020B0604020202020204" pitchFamily="34" charset="0"/>
              </a:rPr>
              <a:t>millet</a:t>
            </a:r>
            <a:r>
              <a:rPr lang="en-US" b="0" i="0" dirty="0">
                <a:effectLst/>
                <a:latin typeface="Arial" panose="020B0604020202020204" pitchFamily="34" charset="0"/>
              </a:rPr>
              <a:t>, </a:t>
            </a:r>
            <a:r>
              <a:rPr lang="en-US" b="1" i="0" strike="noStrike" dirty="0">
                <a:effectLst/>
                <a:latin typeface="Arial" panose="020B0604020202020204" pitchFamily="34" charset="0"/>
              </a:rPr>
              <a:t>sorghum</a:t>
            </a:r>
            <a:r>
              <a:rPr lang="en-US" b="0" i="0" dirty="0">
                <a:effectLst/>
                <a:latin typeface="Arial" panose="020B0604020202020204" pitchFamily="34" charset="0"/>
              </a:rPr>
              <a:t>, or </a:t>
            </a:r>
            <a:r>
              <a:rPr lang="en-US" b="1" i="0" strike="noStrike" dirty="0">
                <a:effectLst/>
                <a:latin typeface="Arial" panose="020B0604020202020204" pitchFamily="34" charset="0"/>
              </a:rPr>
              <a:t>cassava</a:t>
            </a:r>
            <a:r>
              <a:rPr lang="en-US" b="0" i="0" dirty="0">
                <a:effectLst/>
                <a:latin typeface="Arial" panose="020B0604020202020204" pitchFamily="34" charset="0"/>
              </a:rPr>
              <a:t> are then planted in the burned area.</a:t>
            </a:r>
            <a:endParaRPr lang="en-ZM" dirty="0"/>
          </a:p>
        </p:txBody>
      </p:sp>
    </p:spTree>
    <p:extLst>
      <p:ext uri="{BB962C8B-B14F-4D97-AF65-F5344CB8AC3E}">
        <p14:creationId xmlns:p14="http://schemas.microsoft.com/office/powerpoint/2010/main" val="28544429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FECC-1C73-4FC6-5E65-3240AEE0B89B}"/>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Introduction </a:t>
            </a:r>
            <a:r>
              <a:rPr lang="en-US" b="1" dirty="0" err="1">
                <a:latin typeface="Arial" panose="020B0604020202020204" pitchFamily="34" charset="0"/>
                <a:cs typeface="Arial" panose="020B0604020202020204" pitchFamily="34" charset="0"/>
              </a:rPr>
              <a:t>contd</a:t>
            </a:r>
            <a:endParaRPr lang="en-ZM"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A9BB3B9-BDD6-3AE1-79FD-B4AEE1941A9E}"/>
              </a:ext>
            </a:extLst>
          </p:cNvPr>
          <p:cNvSpPr>
            <a:spLocks noGrp="1"/>
          </p:cNvSpPr>
          <p:nvPr>
            <p:ph idx="1"/>
          </p:nvPr>
        </p:nvSpPr>
        <p:spPr/>
        <p:txBody>
          <a:bodyPr/>
          <a:lstStyle/>
          <a:p>
            <a:pPr algn="just"/>
            <a:r>
              <a:rPr lang="en-US" sz="3600" kern="100" dirty="0">
                <a:solidFill>
                  <a:srgbClr val="4D5156"/>
                </a:solidFill>
                <a:latin typeface="Arial" panose="020B0604020202020204" pitchFamily="34" charset="0"/>
                <a:ea typeface="Calibri" panose="020F0502020204030204" pitchFamily="34" charset="0"/>
                <a:cs typeface="Times New Roman" panose="02020603050405020304" pitchFamily="18" charset="0"/>
              </a:rPr>
              <a:t>Type </a:t>
            </a:r>
            <a:r>
              <a:rPr lang="en-ZM" sz="3600"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of a </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shifting </a:t>
            </a:r>
            <a:r>
              <a:rPr lang="en-US"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cultivation</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 </a:t>
            </a:r>
            <a:r>
              <a:rPr lang="en-ZM" sz="3600"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called chitemene, whereby </a:t>
            </a:r>
            <a:r>
              <a:rPr lang="en-ZM" sz="3600" kern="100" dirty="0">
                <a:solidFill>
                  <a:srgbClr val="040C28"/>
                </a:solidFill>
                <a:effectLst/>
                <a:latin typeface="Arial" panose="020B0604020202020204" pitchFamily="34" charset="0"/>
                <a:ea typeface="Calibri" panose="020F0502020204030204" pitchFamily="34" charset="0"/>
                <a:cs typeface="Times New Roman" panose="02020603050405020304" pitchFamily="18" charset="0"/>
              </a:rPr>
              <a:t>trees (or their branches) are cut and then piled in the centre of the clearing for burning, the crop being planted in the </a:t>
            </a:r>
            <a:r>
              <a:rPr lang="en-ZM" sz="3600" b="1" kern="100" dirty="0">
                <a:solidFill>
                  <a:srgbClr val="040C28"/>
                </a:solidFill>
                <a:effectLst/>
                <a:latin typeface="Arial" panose="020B0604020202020204" pitchFamily="34" charset="0"/>
                <a:ea typeface="Calibri" panose="020F0502020204030204" pitchFamily="34" charset="0"/>
                <a:cs typeface="Times New Roman" panose="02020603050405020304" pitchFamily="18" charset="0"/>
              </a:rPr>
              <a:t>ashes</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a:t>
            </a:r>
            <a:endParaRPr lang="en-ZM" sz="36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2347581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0516E-5FDA-78CE-ADE1-01F26278AB98}"/>
              </a:ext>
            </a:extLst>
          </p:cNvPr>
          <p:cNvSpPr>
            <a:spLocks noGrp="1"/>
          </p:cNvSpPr>
          <p:nvPr>
            <p:ph type="title"/>
          </p:nvPr>
        </p:nvSpPr>
        <p:spPr/>
        <p:txBody>
          <a:bodyPr/>
          <a:lstStyle/>
          <a:p>
            <a:pPr algn="ctr"/>
            <a:r>
              <a:rPr lang="en-US" b="1" dirty="0"/>
              <a:t>Crops are planted in the ash</a:t>
            </a:r>
            <a:endParaRPr lang="en-ZM" b="1" dirty="0"/>
          </a:p>
        </p:txBody>
      </p:sp>
      <p:pic>
        <p:nvPicPr>
          <p:cNvPr id="4" name="Content Placeholder 3" descr="Chitemene Traditional Farming system - UNICEF - UNICEF">
            <a:extLst>
              <a:ext uri="{FF2B5EF4-FFF2-40B4-BE49-F238E27FC236}">
                <a16:creationId xmlns:a16="http://schemas.microsoft.com/office/drawing/2014/main" id="{81E2B9C3-AB27-F14C-FF61-7B639A7E149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5948" y="1690688"/>
            <a:ext cx="10147852" cy="4523890"/>
          </a:xfrm>
          <a:prstGeom prst="rect">
            <a:avLst/>
          </a:prstGeom>
          <a:noFill/>
          <a:ln>
            <a:noFill/>
          </a:ln>
        </p:spPr>
      </p:pic>
    </p:spTree>
    <p:extLst>
      <p:ext uri="{BB962C8B-B14F-4D97-AF65-F5344CB8AC3E}">
        <p14:creationId xmlns:p14="http://schemas.microsoft.com/office/powerpoint/2010/main" val="8337697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7DA-B264-A3D2-2CFD-DC5E8A058B13}"/>
              </a:ext>
            </a:extLst>
          </p:cNvPr>
          <p:cNvSpPr>
            <a:spLocks noGrp="1"/>
          </p:cNvSpPr>
          <p:nvPr>
            <p:ph type="title"/>
          </p:nvPr>
        </p:nvSpPr>
        <p:spPr/>
        <p:txBody>
          <a:bodyPr>
            <a:normAutofit fontScale="90000"/>
          </a:bodyPr>
          <a:lstStyle/>
          <a:p>
            <a:pPr algn="ctr"/>
            <a: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
            </a: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
            </a: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
            </a: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r>
              <a:rPr lang="en-ZM" sz="4900" b="1"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Why is chitemene system commonly Practised in Zambia?</a:t>
            </a:r>
            <a:r>
              <a:rPr lang="en-ZM" sz="4900" b="1" kern="100" dirty="0">
                <a:effectLst/>
                <a:latin typeface="Calibri" panose="020F0502020204030204" pitchFamily="34" charset="0"/>
                <a:ea typeface="Calibri" panose="020F0502020204030204" pitchFamily="34" charset="0"/>
                <a:cs typeface="Times New Roman" panose="02020603050405020304" pitchFamily="18" charset="0"/>
              </a:rPr>
              <a:t/>
            </a:r>
            <a:br>
              <a:rPr lang="en-ZM" sz="49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ZM" sz="4900" b="1" dirty="0"/>
          </a:p>
        </p:txBody>
      </p:sp>
      <p:sp>
        <p:nvSpPr>
          <p:cNvPr id="3" name="Content Placeholder 2">
            <a:extLst>
              <a:ext uri="{FF2B5EF4-FFF2-40B4-BE49-F238E27FC236}">
                <a16:creationId xmlns:a16="http://schemas.microsoft.com/office/drawing/2014/main" id="{7C72267B-07EC-938B-A2D6-930C35D0D0F7}"/>
              </a:ext>
            </a:extLst>
          </p:cNvPr>
          <p:cNvSpPr>
            <a:spLocks noGrp="1"/>
          </p:cNvSpPr>
          <p:nvPr>
            <p:ph idx="1"/>
          </p:nvPr>
        </p:nvSpPr>
        <p:spPr/>
        <p:txBody>
          <a:bodyPr/>
          <a:lstStyle/>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This kind of traditional farming is what is well know as </a:t>
            </a:r>
            <a:r>
              <a:rPr lang="en" sz="3200" b="1"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cut and slash method</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 It is mostly practiced in the northern part of Zambia.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People use the system very much because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it is the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cheap way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method to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neutralise acidic soil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for growing crops such as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finger millet</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ZM"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2381230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27E5-A0BC-1054-1429-38ACF49FEDFA}"/>
              </a:ext>
            </a:extLst>
          </p:cNvPr>
          <p:cNvSpPr>
            <a:spLocks noGrp="1"/>
          </p:cNvSpPr>
          <p:nvPr>
            <p:ph type="title"/>
          </p:nvPr>
        </p:nvSpPr>
        <p:spPr/>
        <p:txBody>
          <a:bodyPr>
            <a:normAutofit fontScale="90000"/>
          </a:bodyPr>
          <a:lstStyle/>
          <a:p>
            <a:r>
              <a:rPr lang="en-US" sz="4000" b="1" kern="0" dirty="0">
                <a:solidFill>
                  <a:srgbClr val="202124"/>
                </a:solidFill>
                <a:latin typeface="Arial" panose="020B0604020202020204" pitchFamily="34" charset="0"/>
                <a:ea typeface="Times New Roman" panose="02020603050405020304" pitchFamily="18" charset="0"/>
                <a:cs typeface="Times New Roman" panose="02020603050405020304" pitchFamily="18" charset="0"/>
              </a:rPr>
              <a:t>T</a:t>
            </a:r>
            <a:r>
              <a:rPr lang="en-ZM" sz="4000" b="1"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he main features of the chitemene system</a:t>
            </a:r>
            <a:r>
              <a:rPr lang="en-ZM" sz="40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a:t>
            </a:r>
            <a:r>
              <a:rPr lang="en-ZM" sz="1800" kern="100" dirty="0">
                <a:effectLst/>
                <a:latin typeface="Calibri" panose="020F0502020204030204" pitchFamily="34" charset="0"/>
                <a:ea typeface="Calibri" panose="020F0502020204030204" pitchFamily="34" charset="0"/>
                <a:cs typeface="Times New Roman" panose="02020603050405020304" pitchFamily="18" charset="0"/>
              </a:rPr>
              <a:t/>
            </a:r>
            <a:br>
              <a:rPr lang="en-ZM"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53894D06-84C3-93F5-B7AB-EF5F181B9827}"/>
              </a:ext>
            </a:extLst>
          </p:cNvPr>
          <p:cNvSpPr>
            <a:spLocks noGrp="1"/>
          </p:cNvSpPr>
          <p:nvPr>
            <p:ph idx="1"/>
          </p:nvPr>
        </p:nvSpPr>
        <p:spPr/>
        <p:txBody>
          <a:bodyPr/>
          <a:lstStyle/>
          <a:p>
            <a:pPr algn="just"/>
            <a:r>
              <a:rPr lang="en" sz="3200" kern="0" dirty="0">
                <a:solidFill>
                  <a:srgbClr val="4D5156"/>
                </a:solidFill>
                <a:latin typeface="Arial" panose="020B0604020202020204" pitchFamily="34" charset="0"/>
                <a:ea typeface="Times New Roman" panose="02020603050405020304" pitchFamily="18" charset="0"/>
                <a:cs typeface="Times New Roman" panose="02020603050405020304" pitchFamily="18" charset="0"/>
              </a:rPr>
              <a:t>M</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ain features include: </a:t>
            </a:r>
          </a:p>
          <a:p>
            <a:pPr algn="just"/>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Coppicing of trees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stacking of trunks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branches into a series of long, rectangular-shaped mounds</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Unlike large-circle chitemene, the cleared area may contain more than one mound to be burned or cultivated.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Immediate cultivated land use is for </a:t>
            </a:r>
            <a:r>
              <a:rPr lang="en" sz="3200" b="1"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two to three years</a:t>
            </a:r>
            <a:endParaRPr lang="en-ZM" sz="32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3442859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06AC-B30B-CB16-C92E-B9B5A80ABB32}"/>
              </a:ext>
            </a:extLst>
          </p:cNvPr>
          <p:cNvSpPr>
            <a:spLocks noGrp="1"/>
          </p:cNvSpPr>
          <p:nvPr>
            <p:ph type="title"/>
          </p:nvPr>
        </p:nvSpPr>
        <p:spPr/>
        <p:txBody>
          <a:bodyPr/>
          <a:lstStyle/>
          <a:p>
            <a:pPr algn="ctr"/>
            <a:r>
              <a:rPr lang="en-US" b="1" dirty="0"/>
              <a:t>Description of Chitemene System</a:t>
            </a:r>
            <a:endParaRPr lang="en-ZM" b="1" dirty="0"/>
          </a:p>
        </p:txBody>
      </p:sp>
      <p:sp>
        <p:nvSpPr>
          <p:cNvPr id="3" name="Content Placeholder 2">
            <a:extLst>
              <a:ext uri="{FF2B5EF4-FFF2-40B4-BE49-F238E27FC236}">
                <a16:creationId xmlns:a16="http://schemas.microsoft.com/office/drawing/2014/main" id="{9FDE3F7F-BFF3-FD31-46CF-DF00B5E5D5E1}"/>
              </a:ext>
            </a:extLst>
          </p:cNvPr>
          <p:cNvSpPr>
            <a:spLocks noGrp="1"/>
          </p:cNvSpPr>
          <p:nvPr>
            <p:ph idx="1"/>
          </p:nvPr>
        </p:nvSpPr>
        <p:spPr/>
        <p:txBody>
          <a:bodyPr>
            <a:normAutofit fontScale="92500" lnSpcReduction="20000"/>
          </a:bodyPr>
          <a:lstStyle/>
          <a:p>
            <a:pPr algn="just"/>
            <a:r>
              <a:rPr lang="en-US" b="0" i="0" dirty="0">
                <a:effectLst/>
                <a:latin typeface="Arial" panose="020B0604020202020204" pitchFamily="34" charset="0"/>
              </a:rPr>
              <a:t>Chitemene systems are most widely used throughout the Central Zambezian Miombo woodlands that is the largest </a:t>
            </a:r>
            <a:r>
              <a:rPr lang="en-US" b="0" i="0" u="none" strike="noStrike" dirty="0">
                <a:effectLst/>
                <a:latin typeface="Arial" panose="020B0604020202020204" pitchFamily="34" charset="0"/>
              </a:rPr>
              <a:t>ecoregion</a:t>
            </a:r>
            <a:r>
              <a:rPr lang="en-US" b="0" i="0" dirty="0">
                <a:effectLst/>
                <a:latin typeface="Arial" panose="020B0604020202020204" pitchFamily="34" charset="0"/>
              </a:rPr>
              <a:t> in Zambia</a:t>
            </a:r>
          </a:p>
          <a:p>
            <a:pPr algn="just"/>
            <a:r>
              <a:rPr lang="en-US" b="0" i="0" dirty="0">
                <a:effectLst/>
                <a:latin typeface="Arial" panose="020B0604020202020204" pitchFamily="34" charset="0"/>
              </a:rPr>
              <a:t> </a:t>
            </a:r>
            <a:r>
              <a:rPr lang="en-US" dirty="0">
                <a:latin typeface="Arial" panose="020B0604020202020204" pitchFamily="34" charset="0"/>
              </a:rPr>
              <a:t>It includes </a:t>
            </a:r>
            <a:r>
              <a:rPr lang="en-US" b="0" i="0" u="none" strike="noStrike" dirty="0">
                <a:effectLst/>
                <a:latin typeface="Arial" panose="020B0604020202020204" pitchFamily="34" charset="0"/>
              </a:rPr>
              <a:t>Northwestern</a:t>
            </a:r>
            <a:r>
              <a:rPr lang="en-US" b="0" i="0" dirty="0">
                <a:effectLst/>
                <a:latin typeface="Arial" panose="020B0604020202020204" pitchFamily="34" charset="0"/>
              </a:rPr>
              <a:t>, </a:t>
            </a:r>
            <a:r>
              <a:rPr lang="en-US" b="0" i="0" u="none" strike="noStrike" dirty="0">
                <a:effectLst/>
                <a:latin typeface="Arial" panose="020B0604020202020204" pitchFamily="34" charset="0"/>
              </a:rPr>
              <a:t>Copperbelt</a:t>
            </a:r>
            <a:r>
              <a:rPr lang="en-US" b="0" i="0" dirty="0">
                <a:effectLst/>
                <a:latin typeface="Arial" panose="020B0604020202020204" pitchFamily="34" charset="0"/>
              </a:rPr>
              <a:t>, </a:t>
            </a:r>
            <a:r>
              <a:rPr lang="en-US" b="0" i="0" u="none" strike="noStrike" dirty="0">
                <a:effectLst/>
                <a:latin typeface="Arial" panose="020B0604020202020204" pitchFamily="34" charset="0"/>
              </a:rPr>
              <a:t>Central</a:t>
            </a:r>
            <a:r>
              <a:rPr lang="en-US" b="0" i="0" dirty="0">
                <a:effectLst/>
                <a:latin typeface="Arial" panose="020B0604020202020204" pitchFamily="34" charset="0"/>
              </a:rPr>
              <a:t>, </a:t>
            </a:r>
            <a:r>
              <a:rPr lang="en-US" b="0" i="0" u="none" strike="noStrike" dirty="0">
                <a:effectLst/>
                <a:latin typeface="Arial" panose="020B0604020202020204" pitchFamily="34" charset="0"/>
              </a:rPr>
              <a:t>Northern</a:t>
            </a:r>
            <a:r>
              <a:rPr lang="en-US" b="0" i="0" dirty="0">
                <a:effectLst/>
                <a:latin typeface="Arial" panose="020B0604020202020204" pitchFamily="34" charset="0"/>
              </a:rPr>
              <a:t>, and </a:t>
            </a:r>
            <a:r>
              <a:rPr lang="en-US" b="0" i="0" u="none" strike="noStrike" dirty="0">
                <a:effectLst/>
                <a:latin typeface="Arial" panose="020B0604020202020204" pitchFamily="34" charset="0"/>
              </a:rPr>
              <a:t>Luapula</a:t>
            </a:r>
            <a:r>
              <a:rPr lang="en-US" b="0" i="0" dirty="0">
                <a:effectLst/>
                <a:latin typeface="Arial" panose="020B0604020202020204" pitchFamily="34" charset="0"/>
              </a:rPr>
              <a:t> provinces.</a:t>
            </a:r>
            <a:endParaRPr lang="en-US" b="0" i="0" baseline="30000" dirty="0">
              <a:effectLst/>
              <a:latin typeface="Arial" panose="020B0604020202020204" pitchFamily="34" charset="0"/>
            </a:endParaRPr>
          </a:p>
          <a:p>
            <a:pPr algn="just"/>
            <a:r>
              <a:rPr lang="en-US" b="0" i="0" dirty="0">
                <a:effectLst/>
                <a:latin typeface="Arial" panose="020B0604020202020204" pitchFamily="34" charset="0"/>
              </a:rPr>
              <a:t>Typical soils in this biome are of the </a:t>
            </a:r>
            <a:r>
              <a:rPr lang="en-US" b="1" i="0" dirty="0">
                <a:effectLst/>
                <a:latin typeface="Arial" panose="020B0604020202020204" pitchFamily="34" charset="0"/>
              </a:rPr>
              <a:t>order </a:t>
            </a:r>
            <a:r>
              <a:rPr lang="en-US" b="1" i="0" u="none" strike="noStrike" dirty="0">
                <a:effectLst/>
                <a:latin typeface="Arial" panose="020B0604020202020204" pitchFamily="34" charset="0"/>
              </a:rPr>
              <a:t>oxisols</a:t>
            </a:r>
            <a:r>
              <a:rPr lang="en-US" b="1" i="0" dirty="0">
                <a:effectLst/>
                <a:latin typeface="Arial" panose="020B0604020202020204" pitchFamily="34" charset="0"/>
              </a:rPr>
              <a:t>, </a:t>
            </a:r>
            <a:r>
              <a:rPr lang="en-US" b="0" i="0" dirty="0">
                <a:effectLst/>
                <a:latin typeface="Arial" panose="020B0604020202020204" pitchFamily="34" charset="0"/>
              </a:rPr>
              <a:t>which are highly weathered, acidic, and easily leached soils. </a:t>
            </a:r>
          </a:p>
          <a:p>
            <a:pPr algn="just"/>
            <a:r>
              <a:rPr lang="en-US" b="0" i="0" dirty="0">
                <a:effectLst/>
                <a:latin typeface="Arial" panose="020B0604020202020204" pitchFamily="34" charset="0"/>
              </a:rPr>
              <a:t>The </a:t>
            </a:r>
            <a:r>
              <a:rPr lang="en-US" b="0" i="0" u="none" strike="noStrike" dirty="0">
                <a:effectLst/>
                <a:latin typeface="Arial" panose="020B0604020202020204" pitchFamily="34" charset="0"/>
              </a:rPr>
              <a:t>pH</a:t>
            </a:r>
            <a:r>
              <a:rPr lang="en-US" b="0" i="0" dirty="0">
                <a:effectLst/>
                <a:latin typeface="Arial" panose="020B0604020202020204" pitchFamily="34" charset="0"/>
              </a:rPr>
              <a:t> of these soils range </a:t>
            </a:r>
            <a:r>
              <a:rPr lang="en-US" b="1" i="0" dirty="0">
                <a:effectLst/>
                <a:latin typeface="Arial" panose="020B0604020202020204" pitchFamily="34" charset="0"/>
              </a:rPr>
              <a:t>from 4.0 to 4.5</a:t>
            </a:r>
            <a:r>
              <a:rPr lang="en-US" b="0" i="0" dirty="0">
                <a:effectLst/>
                <a:latin typeface="Arial" panose="020B0604020202020204" pitchFamily="34" charset="0"/>
              </a:rPr>
              <a:t>, values too acidic for the cultivation of most common </a:t>
            </a:r>
            <a:r>
              <a:rPr lang="en-US" b="1" i="0" dirty="0">
                <a:effectLst/>
                <a:latin typeface="Arial" panose="020B0604020202020204" pitchFamily="34" charset="0"/>
              </a:rPr>
              <a:t>cereal grains </a:t>
            </a:r>
            <a:r>
              <a:rPr lang="en-US" b="0" i="0" dirty="0">
                <a:effectLst/>
                <a:latin typeface="Arial" panose="020B0604020202020204" pitchFamily="34" charset="0"/>
              </a:rPr>
              <a:t>and </a:t>
            </a:r>
            <a:r>
              <a:rPr lang="en-US" b="1" i="0" dirty="0">
                <a:effectLst/>
                <a:latin typeface="Arial" panose="020B0604020202020204" pitchFamily="34" charset="0"/>
              </a:rPr>
              <a:t>root crops </a:t>
            </a:r>
            <a:r>
              <a:rPr lang="en-US" b="0" i="0" dirty="0">
                <a:effectLst/>
                <a:latin typeface="Arial" panose="020B0604020202020204" pitchFamily="34" charset="0"/>
              </a:rPr>
              <a:t>in Zambia (maize, finger millet, sorghum, and cassava). </a:t>
            </a:r>
          </a:p>
          <a:p>
            <a:pPr algn="just"/>
            <a:r>
              <a:rPr lang="en-US" b="0" i="0" dirty="0">
                <a:effectLst/>
                <a:latin typeface="Arial" panose="020B0604020202020204" pitchFamily="34" charset="0"/>
              </a:rPr>
              <a:t>The chitemene system, which creates a </a:t>
            </a:r>
            <a:r>
              <a:rPr lang="en-US" b="1" i="0" dirty="0">
                <a:effectLst/>
                <a:latin typeface="Arial" panose="020B0604020202020204" pitchFamily="34" charset="0"/>
              </a:rPr>
              <a:t>surplus of ash </a:t>
            </a:r>
            <a:r>
              <a:rPr lang="en-US" b="0" i="0" dirty="0">
                <a:effectLst/>
                <a:latin typeface="Arial" panose="020B0604020202020204" pitchFamily="34" charset="0"/>
              </a:rPr>
              <a:t>in concentrated spaces, </a:t>
            </a:r>
            <a:r>
              <a:rPr lang="en-US" b="1" i="0" dirty="0">
                <a:effectLst/>
                <a:latin typeface="Arial" panose="020B0604020202020204" pitchFamily="34" charset="0"/>
              </a:rPr>
              <a:t>raises the </a:t>
            </a:r>
            <a:r>
              <a:rPr lang="en-US" b="1" i="0" u="none" strike="noStrike" dirty="0">
                <a:effectLst/>
                <a:latin typeface="Arial" panose="020B0604020202020204" pitchFamily="34" charset="0"/>
              </a:rPr>
              <a:t>soil pH</a:t>
            </a:r>
            <a:r>
              <a:rPr lang="en-US" b="0" i="0" dirty="0">
                <a:effectLst/>
                <a:latin typeface="Arial" panose="020B0604020202020204" pitchFamily="34" charset="0"/>
              </a:rPr>
              <a:t>, enabling the cultivation of those crops.</a:t>
            </a:r>
          </a:p>
          <a:p>
            <a:endParaRPr lang="en-ZM" dirty="0"/>
          </a:p>
        </p:txBody>
      </p:sp>
    </p:spTree>
    <p:extLst>
      <p:ext uri="{BB962C8B-B14F-4D97-AF65-F5344CB8AC3E}">
        <p14:creationId xmlns:p14="http://schemas.microsoft.com/office/powerpoint/2010/main" val="3075209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06AC-B30B-CB16-C92E-B9B5A80ABB32}"/>
              </a:ext>
            </a:extLst>
          </p:cNvPr>
          <p:cNvSpPr>
            <a:spLocks noGrp="1"/>
          </p:cNvSpPr>
          <p:nvPr>
            <p:ph type="title"/>
          </p:nvPr>
        </p:nvSpPr>
        <p:spPr/>
        <p:txBody>
          <a:bodyPr/>
          <a:lstStyle/>
          <a:p>
            <a:pPr algn="ctr"/>
            <a:r>
              <a:rPr lang="en-US" b="1" dirty="0"/>
              <a:t>Description of Chitemene System</a:t>
            </a:r>
            <a:endParaRPr lang="en-ZM" b="1" dirty="0"/>
          </a:p>
        </p:txBody>
      </p:sp>
      <p:sp>
        <p:nvSpPr>
          <p:cNvPr id="3" name="Content Placeholder 2">
            <a:extLst>
              <a:ext uri="{FF2B5EF4-FFF2-40B4-BE49-F238E27FC236}">
                <a16:creationId xmlns:a16="http://schemas.microsoft.com/office/drawing/2014/main" id="{9FDE3F7F-BFF3-FD31-46CF-DF00B5E5D5E1}"/>
              </a:ext>
            </a:extLst>
          </p:cNvPr>
          <p:cNvSpPr>
            <a:spLocks noGrp="1"/>
          </p:cNvSpPr>
          <p:nvPr>
            <p:ph idx="1"/>
          </p:nvPr>
        </p:nvSpPr>
        <p:spPr/>
        <p:txBody>
          <a:bodyPr>
            <a:normAutofit fontScale="92500" lnSpcReduction="20000"/>
          </a:bodyPr>
          <a:lstStyle/>
          <a:p>
            <a:pPr algn="l"/>
            <a:endParaRPr lang="en-US" b="0" i="0" dirty="0">
              <a:solidFill>
                <a:srgbClr val="202122"/>
              </a:solidFill>
              <a:effectLst/>
              <a:latin typeface="Arial" panose="020B0604020202020204" pitchFamily="34" charset="0"/>
            </a:endParaRPr>
          </a:p>
          <a:p>
            <a:pPr algn="just"/>
            <a:r>
              <a:rPr lang="en-US" b="0" i="0" dirty="0">
                <a:effectLst/>
                <a:latin typeface="Arial" panose="020B0604020202020204" pitchFamily="34" charset="0"/>
              </a:rPr>
              <a:t>Furthermore, the </a:t>
            </a:r>
            <a:r>
              <a:rPr lang="en-US" b="1" i="0" dirty="0">
                <a:effectLst/>
                <a:latin typeface="Arial" panose="020B0604020202020204" pitchFamily="34" charset="0"/>
              </a:rPr>
              <a:t>heat generated by the burning </a:t>
            </a:r>
            <a:r>
              <a:rPr lang="en-US" b="0" i="0" dirty="0">
                <a:effectLst/>
                <a:latin typeface="Arial" panose="020B0604020202020204" pitchFamily="34" charset="0"/>
              </a:rPr>
              <a:t>of the biomass </a:t>
            </a:r>
            <a:r>
              <a:rPr lang="en-US" b="1" i="0" dirty="0">
                <a:effectLst/>
                <a:latin typeface="Arial" panose="020B0604020202020204" pitchFamily="34" charset="0"/>
              </a:rPr>
              <a:t>fumigates the soil</a:t>
            </a:r>
            <a:r>
              <a:rPr lang="en-US" b="0" i="0" dirty="0">
                <a:effectLst/>
                <a:latin typeface="Arial" panose="020B0604020202020204" pitchFamily="34" charset="0"/>
              </a:rPr>
              <a:t>, kills any existing </a:t>
            </a:r>
            <a:r>
              <a:rPr lang="en-US" b="1" i="0" dirty="0">
                <a:effectLst/>
                <a:latin typeface="Arial" panose="020B0604020202020204" pitchFamily="34" charset="0"/>
              </a:rPr>
              <a:t>weed seeds</a:t>
            </a:r>
            <a:r>
              <a:rPr lang="en-US" b="0" i="0" dirty="0">
                <a:effectLst/>
                <a:latin typeface="Arial" panose="020B0604020202020204" pitchFamily="34" charset="0"/>
              </a:rPr>
              <a:t>, and reduces the soil to a fine </a:t>
            </a:r>
            <a:r>
              <a:rPr lang="en-US" b="0" i="0" u="none" strike="noStrike" dirty="0">
                <a:effectLst/>
                <a:latin typeface="Arial" panose="020B0604020202020204" pitchFamily="34" charset="0"/>
              </a:rPr>
              <a:t>tilth</a:t>
            </a:r>
            <a:r>
              <a:rPr lang="en-US" b="0" i="0" dirty="0">
                <a:effectLst/>
                <a:latin typeface="Arial" panose="020B0604020202020204" pitchFamily="34" charset="0"/>
              </a:rPr>
              <a:t>, reducing labor requirements for cultivation of the soil.</a:t>
            </a:r>
          </a:p>
          <a:p>
            <a:pPr algn="just"/>
            <a:r>
              <a:rPr lang="en-US" b="0" i="0" dirty="0">
                <a:effectLst/>
                <a:latin typeface="Arial" panose="020B0604020202020204" pitchFamily="34" charset="0"/>
              </a:rPr>
              <a:t>The agricultural viability of a chitemene region is limited to a few years, until the soil pH declines. </a:t>
            </a:r>
          </a:p>
          <a:p>
            <a:pPr algn="just"/>
            <a:r>
              <a:rPr lang="en-US" b="0" i="0" dirty="0">
                <a:effectLst/>
                <a:latin typeface="Arial" panose="020B0604020202020204" pitchFamily="34" charset="0"/>
              </a:rPr>
              <a:t>After the </a:t>
            </a:r>
            <a:r>
              <a:rPr lang="en-US" b="1" i="0" dirty="0">
                <a:effectLst/>
                <a:latin typeface="Arial" panose="020B0604020202020204" pitchFamily="34" charset="0"/>
              </a:rPr>
              <a:t>yield declines</a:t>
            </a:r>
            <a:r>
              <a:rPr lang="en-US" b="0" i="0" dirty="0">
                <a:effectLst/>
                <a:latin typeface="Arial" panose="020B0604020202020204" pitchFamily="34" charset="0"/>
              </a:rPr>
              <a:t>, a new area is cleared for chitemene, and the initial site is </a:t>
            </a:r>
            <a:r>
              <a:rPr lang="en-US" b="1" i="0" dirty="0">
                <a:effectLst/>
                <a:latin typeface="Arial" panose="020B0604020202020204" pitchFamily="34" charset="0"/>
              </a:rPr>
              <a:t>left to lie fallow</a:t>
            </a:r>
            <a:r>
              <a:rPr lang="en-US" b="0" i="0" dirty="0">
                <a:effectLst/>
                <a:latin typeface="Arial" panose="020B0604020202020204" pitchFamily="34" charset="0"/>
              </a:rPr>
              <a:t>. </a:t>
            </a:r>
          </a:p>
          <a:p>
            <a:pPr algn="just"/>
            <a:r>
              <a:rPr lang="en-US" b="0" i="0" dirty="0">
                <a:effectLst/>
                <a:latin typeface="Arial" panose="020B0604020202020204" pitchFamily="34" charset="0"/>
              </a:rPr>
              <a:t>Typically, the </a:t>
            </a:r>
            <a:r>
              <a:rPr lang="en-US" b="1" i="0" dirty="0">
                <a:effectLst/>
                <a:latin typeface="Arial" panose="020B0604020202020204" pitchFamily="34" charset="0"/>
              </a:rPr>
              <a:t>regrowth of branches </a:t>
            </a:r>
            <a:r>
              <a:rPr lang="en-US" b="0" i="0" dirty="0">
                <a:effectLst/>
                <a:latin typeface="Arial" panose="020B0604020202020204" pitchFamily="34" charset="0"/>
              </a:rPr>
              <a:t>and natural leaf litter from the coppiced or pollarded stumps will restore </a:t>
            </a:r>
            <a:r>
              <a:rPr lang="en-US" b="0" i="0" u="none" strike="noStrike" dirty="0">
                <a:effectLst/>
                <a:latin typeface="Arial" panose="020B0604020202020204" pitchFamily="34" charset="0"/>
              </a:rPr>
              <a:t>soil fertility</a:t>
            </a:r>
            <a:r>
              <a:rPr lang="en-US" b="0" i="0" dirty="0">
                <a:effectLst/>
                <a:latin typeface="Arial" panose="020B0604020202020204" pitchFamily="34" charset="0"/>
              </a:rPr>
              <a:t> in </a:t>
            </a:r>
            <a:r>
              <a:rPr lang="en-US" b="1" i="0" dirty="0">
                <a:effectLst/>
                <a:latin typeface="Arial" panose="020B0604020202020204" pitchFamily="34" charset="0"/>
              </a:rPr>
              <a:t>20 to 25 </a:t>
            </a:r>
            <a:r>
              <a:rPr lang="en-US" b="0" i="0" dirty="0">
                <a:effectLst/>
                <a:latin typeface="Arial" panose="020B0604020202020204" pitchFamily="34" charset="0"/>
              </a:rPr>
              <a:t>years, at which point the chitemene process is repeated.</a:t>
            </a:r>
          </a:p>
          <a:p>
            <a:endParaRPr lang="en-ZM" dirty="0"/>
          </a:p>
        </p:txBody>
      </p:sp>
    </p:spTree>
    <p:extLst>
      <p:ext uri="{BB962C8B-B14F-4D97-AF65-F5344CB8AC3E}">
        <p14:creationId xmlns:p14="http://schemas.microsoft.com/office/powerpoint/2010/main" val="306497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D3E9-8DD6-0B30-CBD1-16727BC68989}"/>
              </a:ext>
            </a:extLst>
          </p:cNvPr>
          <p:cNvSpPr>
            <a:spLocks noGrp="1"/>
          </p:cNvSpPr>
          <p:nvPr>
            <p:ph type="title"/>
          </p:nvPr>
        </p:nvSpPr>
        <p:spPr/>
        <p:txBody>
          <a:bodyPr/>
          <a:lstStyle/>
          <a:p>
            <a:pPr algn="ctr"/>
            <a:r>
              <a:rPr lang="en-US" b="1" dirty="0"/>
              <a:t>Types of Chitemene Systems</a:t>
            </a:r>
            <a:endParaRPr lang="en-ZM" b="1" dirty="0"/>
          </a:p>
        </p:txBody>
      </p:sp>
      <p:sp>
        <p:nvSpPr>
          <p:cNvPr id="3" name="Content Placeholder 2">
            <a:extLst>
              <a:ext uri="{FF2B5EF4-FFF2-40B4-BE49-F238E27FC236}">
                <a16:creationId xmlns:a16="http://schemas.microsoft.com/office/drawing/2014/main" id="{150B3F77-CB60-F473-0F6F-5D977D3A8B5B}"/>
              </a:ext>
            </a:extLst>
          </p:cNvPr>
          <p:cNvSpPr>
            <a:spLocks noGrp="1"/>
          </p:cNvSpPr>
          <p:nvPr>
            <p:ph idx="1"/>
          </p:nvPr>
        </p:nvSpPr>
        <p:spPr/>
        <p:txBody>
          <a:bodyPr>
            <a:normAutofit lnSpcReduction="10000"/>
          </a:bodyPr>
          <a:lstStyle/>
          <a:p>
            <a:pPr algn="l"/>
            <a:r>
              <a:rPr lang="en-US" b="0" i="0" dirty="0">
                <a:solidFill>
                  <a:srgbClr val="202122"/>
                </a:solidFill>
                <a:effectLst/>
                <a:latin typeface="Arial" panose="020B0604020202020204" pitchFamily="34" charset="0"/>
              </a:rPr>
              <a:t>Though there are numerous variations on chitemene systems, three types of chitemene are practiced in distinct groupings in Northern Zambia, depending largely on the tribal traditions and soil characteristics of the specific area. </a:t>
            </a:r>
          </a:p>
          <a:p>
            <a:pPr algn="l"/>
            <a:r>
              <a:rPr lang="en-US" b="0" i="0" dirty="0">
                <a:solidFill>
                  <a:srgbClr val="202122"/>
                </a:solidFill>
                <a:effectLst/>
                <a:latin typeface="Arial" panose="020B0604020202020204" pitchFamily="34" charset="0"/>
              </a:rPr>
              <a:t>The systems are distinguished from each other by the:</a:t>
            </a:r>
          </a:p>
          <a:p>
            <a:pPr algn="l">
              <a:buFont typeface="Arial" panose="020B0604020202020204" pitchFamily="34" charset="0"/>
              <a:buChar char="•"/>
            </a:pPr>
            <a:r>
              <a:rPr lang="en-US" b="0" i="0" dirty="0">
                <a:solidFill>
                  <a:srgbClr val="202122"/>
                </a:solidFill>
                <a:effectLst/>
                <a:latin typeface="Arial" panose="020B0604020202020204" pitchFamily="34" charset="0"/>
              </a:rPr>
              <a:t>Ratio of cleared area to that of the cultivated portion</a:t>
            </a:r>
          </a:p>
          <a:p>
            <a:pPr algn="l">
              <a:buFont typeface="Arial" panose="020B0604020202020204" pitchFamily="34" charset="0"/>
              <a:buChar char="•"/>
            </a:pPr>
            <a:r>
              <a:rPr lang="en-US" b="0" i="0" dirty="0">
                <a:solidFill>
                  <a:srgbClr val="202122"/>
                </a:solidFill>
                <a:effectLst/>
                <a:latin typeface="Arial" panose="020B0604020202020204" pitchFamily="34" charset="0"/>
              </a:rPr>
              <a:t>Shape and size of the cleared area and cultivated portion</a:t>
            </a:r>
          </a:p>
          <a:p>
            <a:pPr algn="l">
              <a:buFont typeface="Arial" panose="020B0604020202020204" pitchFamily="34" charset="0"/>
              <a:buChar char="•"/>
            </a:pPr>
            <a:r>
              <a:rPr lang="en-US" b="0" i="0" dirty="0">
                <a:solidFill>
                  <a:srgbClr val="202122"/>
                </a:solidFill>
                <a:effectLst/>
                <a:latin typeface="Arial" panose="020B0604020202020204" pitchFamily="34" charset="0"/>
              </a:rPr>
              <a:t>Period of cultivation</a:t>
            </a:r>
          </a:p>
          <a:p>
            <a:pPr algn="l">
              <a:buFont typeface="Arial" panose="020B0604020202020204" pitchFamily="34" charset="0"/>
              <a:buChar char="•"/>
            </a:pPr>
            <a:r>
              <a:rPr lang="en-US" b="0" i="0" dirty="0">
                <a:solidFill>
                  <a:srgbClr val="202122"/>
                </a:solidFill>
                <a:effectLst/>
                <a:latin typeface="Arial" panose="020B0604020202020204" pitchFamily="34" charset="0"/>
              </a:rPr>
              <a:t>Rotation of crops</a:t>
            </a:r>
          </a:p>
          <a:p>
            <a:pPr algn="l">
              <a:buFont typeface="Arial" panose="020B0604020202020204" pitchFamily="34" charset="0"/>
              <a:buChar char="•"/>
            </a:pPr>
            <a:r>
              <a:rPr lang="en-US" b="0" i="0" dirty="0">
                <a:solidFill>
                  <a:srgbClr val="202122"/>
                </a:solidFill>
                <a:effectLst/>
                <a:latin typeface="Arial" panose="020B0604020202020204" pitchFamily="34" charset="0"/>
              </a:rPr>
              <a:t>Staple crops</a:t>
            </a:r>
          </a:p>
          <a:p>
            <a:endParaRPr lang="en-ZM" dirty="0"/>
          </a:p>
        </p:txBody>
      </p:sp>
    </p:spTree>
    <p:extLst>
      <p:ext uri="{BB962C8B-B14F-4D97-AF65-F5344CB8AC3E}">
        <p14:creationId xmlns:p14="http://schemas.microsoft.com/office/powerpoint/2010/main" val="3159178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3D4B-9F3A-139B-ADBB-34F520CC50D4}"/>
              </a:ext>
            </a:extLst>
          </p:cNvPr>
          <p:cNvSpPr>
            <a:spLocks noGrp="1"/>
          </p:cNvSpPr>
          <p:nvPr>
            <p:ph type="title"/>
          </p:nvPr>
        </p:nvSpPr>
        <p:spPr/>
        <p:txBody>
          <a:bodyPr/>
          <a:lstStyle/>
          <a:p>
            <a:pPr algn="ctr"/>
            <a:r>
              <a:rPr lang="en-US" b="1" dirty="0"/>
              <a:t>Large Circle Chitemene</a:t>
            </a:r>
            <a:endParaRPr lang="en-ZM" b="1" dirty="0"/>
          </a:p>
        </p:txBody>
      </p:sp>
      <p:sp>
        <p:nvSpPr>
          <p:cNvPr id="3" name="Content Placeholder 2">
            <a:extLst>
              <a:ext uri="{FF2B5EF4-FFF2-40B4-BE49-F238E27FC236}">
                <a16:creationId xmlns:a16="http://schemas.microsoft.com/office/drawing/2014/main" id="{B756D0F0-8E14-785D-2737-C335638C4691}"/>
              </a:ext>
            </a:extLst>
          </p:cNvPr>
          <p:cNvSpPr>
            <a:spLocks noGrp="1"/>
          </p:cNvSpPr>
          <p:nvPr>
            <p:ph idx="1"/>
          </p:nvPr>
        </p:nvSpPr>
        <p:spPr/>
        <p:txBody>
          <a:bodyPr>
            <a:normAutofit fontScale="92500" lnSpcReduction="20000"/>
          </a:bodyPr>
          <a:lstStyle/>
          <a:p>
            <a:pPr algn="just"/>
            <a:r>
              <a:rPr lang="en-US" b="0" i="0" dirty="0">
                <a:solidFill>
                  <a:srgbClr val="202122"/>
                </a:solidFill>
                <a:effectLst/>
                <a:latin typeface="Arial" panose="020B0604020202020204" pitchFamily="34" charset="0"/>
              </a:rPr>
              <a:t>Large circle chitemene is practiced in northeast Zambia over the extent of the Muchinga plateau within Luapula and Northern Provinces. </a:t>
            </a:r>
          </a:p>
          <a:p>
            <a:pPr algn="just"/>
            <a:r>
              <a:rPr lang="en-US" b="0" i="0" dirty="0">
                <a:solidFill>
                  <a:srgbClr val="202122"/>
                </a:solidFill>
                <a:effectLst/>
                <a:latin typeface="Arial" panose="020B0604020202020204" pitchFamily="34" charset="0"/>
              </a:rPr>
              <a:t>In Luapula province, it is practiced uniformly in all districts in the portions outside the lowland areas surrounding Lake Bangweulu as well as those adjoining the Luapula River valley.</a:t>
            </a:r>
          </a:p>
          <a:p>
            <a:pPr algn="just"/>
            <a:r>
              <a:rPr lang="en-US" b="0" i="0" dirty="0">
                <a:solidFill>
                  <a:srgbClr val="202122"/>
                </a:solidFill>
                <a:effectLst/>
                <a:latin typeface="Arial" panose="020B0604020202020204" pitchFamily="34" charset="0"/>
              </a:rPr>
              <a:t> In Northern province, it is practiced everywhere outside the aforementioned Bangweulu lowlands, the Chambeshi River flat, the areas west of Mpulungu and north of Lake Mweru Mwantipa, and near to the borders of Tanzania (where another rake-and-hoe system is practiced). </a:t>
            </a:r>
          </a:p>
          <a:p>
            <a:pPr algn="just"/>
            <a:r>
              <a:rPr lang="en-US" b="0" i="0" dirty="0">
                <a:solidFill>
                  <a:srgbClr val="202122"/>
                </a:solidFill>
                <a:effectLst/>
                <a:latin typeface="Arial" panose="020B0604020202020204" pitchFamily="34" charset="0"/>
              </a:rPr>
              <a:t>By and large, the farmers engaged in large-circle chitemene are Bemba speakers, though not necessarily Bembas by tribe. </a:t>
            </a:r>
            <a:endParaRPr lang="en-ZM" dirty="0"/>
          </a:p>
        </p:txBody>
      </p:sp>
    </p:spTree>
    <p:extLst>
      <p:ext uri="{BB962C8B-B14F-4D97-AF65-F5344CB8AC3E}">
        <p14:creationId xmlns:p14="http://schemas.microsoft.com/office/powerpoint/2010/main" val="853543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3D4B-9F3A-139B-ADBB-34F520CC50D4}"/>
              </a:ext>
            </a:extLst>
          </p:cNvPr>
          <p:cNvSpPr>
            <a:spLocks noGrp="1"/>
          </p:cNvSpPr>
          <p:nvPr>
            <p:ph type="title"/>
          </p:nvPr>
        </p:nvSpPr>
        <p:spPr/>
        <p:txBody>
          <a:bodyPr/>
          <a:lstStyle/>
          <a:p>
            <a:pPr algn="ctr"/>
            <a:r>
              <a:rPr lang="en-US" b="1" dirty="0"/>
              <a:t>Large Circle Chitemene</a:t>
            </a:r>
            <a:endParaRPr lang="en-ZM" b="1" dirty="0"/>
          </a:p>
        </p:txBody>
      </p:sp>
      <p:sp>
        <p:nvSpPr>
          <p:cNvPr id="3" name="Content Placeholder 2">
            <a:extLst>
              <a:ext uri="{FF2B5EF4-FFF2-40B4-BE49-F238E27FC236}">
                <a16:creationId xmlns:a16="http://schemas.microsoft.com/office/drawing/2014/main" id="{B756D0F0-8E14-785D-2737-C335638C4691}"/>
              </a:ext>
            </a:extLst>
          </p:cNvPr>
          <p:cNvSpPr>
            <a:spLocks noGrp="1"/>
          </p:cNvSpPr>
          <p:nvPr>
            <p:ph idx="1"/>
          </p:nvPr>
        </p:nvSpPr>
        <p:spPr/>
        <p:txBody>
          <a:bodyPr>
            <a:normAutofit lnSpcReduction="10000"/>
          </a:bodyPr>
          <a:lstStyle/>
          <a:p>
            <a:pPr algn="just"/>
            <a:r>
              <a:rPr lang="en-US" b="0" i="0" dirty="0">
                <a:solidFill>
                  <a:srgbClr val="202122"/>
                </a:solidFill>
                <a:effectLst/>
                <a:latin typeface="Arial" panose="020B0604020202020204" pitchFamily="34" charset="0"/>
              </a:rPr>
              <a:t> Large circle chitemene has the following distinguishing features:</a:t>
            </a:r>
          </a:p>
          <a:p>
            <a:pPr algn="just">
              <a:buFont typeface="+mj-lt"/>
              <a:buAutoNum type="arabicPeriod"/>
            </a:pPr>
            <a:r>
              <a:rPr lang="en-US" b="1" i="0" dirty="0">
                <a:solidFill>
                  <a:srgbClr val="202122"/>
                </a:solidFill>
                <a:effectLst/>
                <a:latin typeface="Arial" panose="020B0604020202020204" pitchFamily="34" charset="0"/>
              </a:rPr>
              <a:t>Pollarding of trees </a:t>
            </a:r>
            <a:r>
              <a:rPr lang="en-US" b="0" i="0" dirty="0">
                <a:solidFill>
                  <a:srgbClr val="202122"/>
                </a:solidFill>
                <a:effectLst/>
                <a:latin typeface="Arial" panose="020B0604020202020204" pitchFamily="34" charset="0"/>
              </a:rPr>
              <a:t>and </a:t>
            </a:r>
            <a:r>
              <a:rPr lang="en-US" b="1" i="0" dirty="0">
                <a:solidFill>
                  <a:srgbClr val="202122"/>
                </a:solidFill>
                <a:effectLst/>
                <a:latin typeface="Arial" panose="020B0604020202020204" pitchFamily="34" charset="0"/>
              </a:rPr>
              <a:t>stacking of branches </a:t>
            </a:r>
            <a:r>
              <a:rPr lang="en-US" b="0" i="0" dirty="0">
                <a:solidFill>
                  <a:srgbClr val="202122"/>
                </a:solidFill>
                <a:effectLst/>
                <a:latin typeface="Arial" panose="020B0604020202020204" pitchFamily="34" charset="0"/>
              </a:rPr>
              <a:t>into a circular or oval space comprising 1/6 to 1/10 of the area cleared.</a:t>
            </a:r>
          </a:p>
          <a:p>
            <a:pPr algn="just">
              <a:buFont typeface="+mj-lt"/>
              <a:buAutoNum type="arabicPeriod"/>
            </a:pPr>
            <a:r>
              <a:rPr lang="en-US" b="0" i="0" dirty="0">
                <a:solidFill>
                  <a:srgbClr val="202122"/>
                </a:solidFill>
                <a:effectLst/>
                <a:latin typeface="Arial" panose="020B0604020202020204" pitchFamily="34" charset="0"/>
              </a:rPr>
              <a:t>Land use is from </a:t>
            </a:r>
            <a:r>
              <a:rPr lang="en-US" b="1" i="0" dirty="0">
                <a:solidFill>
                  <a:srgbClr val="202122"/>
                </a:solidFill>
                <a:effectLst/>
                <a:latin typeface="Arial" panose="020B0604020202020204" pitchFamily="34" charset="0"/>
              </a:rPr>
              <a:t>four to six years</a:t>
            </a:r>
          </a:p>
          <a:p>
            <a:pPr algn="just">
              <a:buFont typeface="+mj-lt"/>
              <a:buAutoNum type="arabicPeriod"/>
            </a:pPr>
            <a:r>
              <a:rPr lang="en-US" b="0" i="0" dirty="0">
                <a:solidFill>
                  <a:srgbClr val="202122"/>
                </a:solidFill>
                <a:effectLst/>
                <a:latin typeface="Arial" panose="020B0604020202020204" pitchFamily="34" charset="0"/>
              </a:rPr>
              <a:t>Common crops include </a:t>
            </a:r>
            <a:r>
              <a:rPr lang="en-US" b="1" i="0" dirty="0">
                <a:solidFill>
                  <a:srgbClr val="202122"/>
                </a:solidFill>
                <a:effectLst/>
                <a:latin typeface="Arial" panose="020B0604020202020204" pitchFamily="34" charset="0"/>
              </a:rPr>
              <a:t>finger millet, cassava, groundnuts, beans, maize, and sorghum</a:t>
            </a:r>
            <a:r>
              <a:rPr lang="en-US" b="0" i="0" dirty="0">
                <a:solidFill>
                  <a:srgbClr val="202122"/>
                </a:solidFill>
                <a:effectLst/>
                <a:latin typeface="Arial" panose="020B0604020202020204" pitchFamily="34" charset="0"/>
              </a:rPr>
              <a:t>. </a:t>
            </a:r>
          </a:p>
          <a:p>
            <a:pPr algn="just">
              <a:buFont typeface="+mj-lt"/>
              <a:buAutoNum type="arabicPeriod"/>
            </a:pPr>
            <a:r>
              <a:rPr lang="en-US" b="0" i="0" dirty="0">
                <a:solidFill>
                  <a:srgbClr val="202122"/>
                </a:solidFill>
                <a:effectLst/>
                <a:latin typeface="Arial" panose="020B0604020202020204" pitchFamily="34" charset="0"/>
              </a:rPr>
              <a:t>The dominant crop in this area is </a:t>
            </a:r>
            <a:r>
              <a:rPr lang="en-US" b="1" i="0" dirty="0">
                <a:solidFill>
                  <a:srgbClr val="202122"/>
                </a:solidFill>
                <a:effectLst/>
                <a:latin typeface="Arial" panose="020B0604020202020204" pitchFamily="34" charset="0"/>
              </a:rPr>
              <a:t>cassava.</a:t>
            </a:r>
          </a:p>
          <a:p>
            <a:pPr algn="just">
              <a:buFont typeface="+mj-lt"/>
              <a:buAutoNum type="arabicPeriod"/>
            </a:pPr>
            <a:r>
              <a:rPr lang="en-US" b="0" i="0" dirty="0">
                <a:solidFill>
                  <a:srgbClr val="202122"/>
                </a:solidFill>
                <a:effectLst/>
                <a:latin typeface="Arial" panose="020B0604020202020204" pitchFamily="34" charset="0"/>
              </a:rPr>
              <a:t>Area of cropped land (i.e. land cleared) is between </a:t>
            </a:r>
            <a:r>
              <a:rPr lang="en-US" b="1" i="0" dirty="0">
                <a:solidFill>
                  <a:srgbClr val="202122"/>
                </a:solidFill>
                <a:effectLst/>
                <a:latin typeface="Arial" panose="020B0604020202020204" pitchFamily="34" charset="0"/>
              </a:rPr>
              <a:t>4 and 5.4 acres </a:t>
            </a:r>
            <a:r>
              <a:rPr lang="en-US" b="0" i="0" dirty="0">
                <a:solidFill>
                  <a:srgbClr val="202122"/>
                </a:solidFill>
                <a:effectLst/>
                <a:latin typeface="Arial" panose="020B0604020202020204" pitchFamily="34" charset="0"/>
              </a:rPr>
              <a:t>(22,000 m</a:t>
            </a:r>
            <a:r>
              <a:rPr lang="en-US" b="0" i="0" baseline="30000" dirty="0">
                <a:solidFill>
                  <a:srgbClr val="202122"/>
                </a:solidFill>
                <a:effectLst/>
                <a:latin typeface="Arial" panose="020B0604020202020204" pitchFamily="34" charset="0"/>
              </a:rPr>
              <a:t>2</a:t>
            </a:r>
            <a:r>
              <a:rPr lang="en-US" b="0" i="0" dirty="0">
                <a:solidFill>
                  <a:srgbClr val="202122"/>
                </a:solidFill>
                <a:effectLst/>
                <a:latin typeface="Arial" panose="020B0604020202020204" pitchFamily="34" charset="0"/>
              </a:rPr>
              <a:t>).</a:t>
            </a:r>
          </a:p>
          <a:p>
            <a:endParaRPr lang="en-ZM" dirty="0"/>
          </a:p>
        </p:txBody>
      </p:sp>
    </p:spTree>
    <p:extLst>
      <p:ext uri="{BB962C8B-B14F-4D97-AF65-F5344CB8AC3E}">
        <p14:creationId xmlns:p14="http://schemas.microsoft.com/office/powerpoint/2010/main" val="29755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F95E2-3D94-5892-8045-04C87F3F1DDA}"/>
              </a:ext>
            </a:extLst>
          </p:cNvPr>
          <p:cNvSpPr>
            <a:spLocks noGrp="1"/>
          </p:cNvSpPr>
          <p:nvPr>
            <p:ph type="title"/>
          </p:nvPr>
        </p:nvSpPr>
        <p:spPr/>
        <p:txBody>
          <a:bodyPr/>
          <a:lstStyle/>
          <a:p>
            <a:pPr algn="ctr"/>
            <a:r>
              <a:rPr lang="en-US" b="1" dirty="0"/>
              <a:t>Small Circle Chitemene</a:t>
            </a:r>
            <a:endParaRPr lang="en-ZM" b="1" dirty="0"/>
          </a:p>
        </p:txBody>
      </p:sp>
      <p:sp>
        <p:nvSpPr>
          <p:cNvPr id="3" name="Content Placeholder 2">
            <a:extLst>
              <a:ext uri="{FF2B5EF4-FFF2-40B4-BE49-F238E27FC236}">
                <a16:creationId xmlns:a16="http://schemas.microsoft.com/office/drawing/2014/main" id="{CD76F701-5CEF-FA29-DF57-4A5DFA080AF0}"/>
              </a:ext>
            </a:extLst>
          </p:cNvPr>
          <p:cNvSpPr>
            <a:spLocks noGrp="1"/>
          </p:cNvSpPr>
          <p:nvPr>
            <p:ph idx="1"/>
          </p:nvPr>
        </p:nvSpPr>
        <p:spPr/>
        <p:txBody>
          <a:bodyPr>
            <a:normAutofit fontScale="85000" lnSpcReduction="20000"/>
          </a:bodyPr>
          <a:lstStyle/>
          <a:p>
            <a:pPr algn="just"/>
            <a:r>
              <a:rPr lang="en-US" b="0" i="0" dirty="0">
                <a:effectLst/>
                <a:latin typeface="Arial" panose="020B0604020202020204" pitchFamily="34" charset="0"/>
              </a:rPr>
              <a:t>This system is practiced in an area extending from the southern portion of Mpika District (Muchinga Province) westwards throughout the Muchinga Escarpment uplands of Central Province to the vicinity of </a:t>
            </a:r>
            <a:r>
              <a:rPr lang="en-US" b="0" i="0" dirty="0" err="1">
                <a:effectLst/>
                <a:latin typeface="Arial" panose="020B0604020202020204" pitchFamily="34" charset="0"/>
              </a:rPr>
              <a:t>Kapiri</a:t>
            </a:r>
            <a:r>
              <a:rPr lang="en-US" b="0" i="0" dirty="0">
                <a:effectLst/>
                <a:latin typeface="Arial" panose="020B0604020202020204" pitchFamily="34" charset="0"/>
              </a:rPr>
              <a:t> </a:t>
            </a:r>
            <a:r>
              <a:rPr lang="en-US" b="0" i="0" dirty="0" err="1">
                <a:effectLst/>
                <a:latin typeface="Arial" panose="020B0604020202020204" pitchFamily="34" charset="0"/>
              </a:rPr>
              <a:t>Mposhi</a:t>
            </a:r>
            <a:r>
              <a:rPr lang="en-US" b="0" i="0" dirty="0">
                <a:effectLst/>
                <a:latin typeface="Arial" panose="020B0604020202020204" pitchFamily="34" charset="0"/>
              </a:rPr>
              <a:t>. </a:t>
            </a:r>
          </a:p>
          <a:p>
            <a:pPr algn="just"/>
            <a:r>
              <a:rPr lang="en-US" b="0" i="0" dirty="0">
                <a:effectLst/>
                <a:latin typeface="Arial" panose="020B0604020202020204" pitchFamily="34" charset="0"/>
              </a:rPr>
              <a:t>It is a common practice of the predominant tribes of the region, the </a:t>
            </a:r>
            <a:r>
              <a:rPr lang="en-US" b="0" i="0" dirty="0" err="1">
                <a:effectLst/>
                <a:latin typeface="Arial" panose="020B0604020202020204" pitchFamily="34" charset="0"/>
              </a:rPr>
              <a:t>Laala</a:t>
            </a:r>
            <a:r>
              <a:rPr lang="en-US" b="0" i="0" dirty="0">
                <a:effectLst/>
                <a:latin typeface="Arial" panose="020B0604020202020204" pitchFamily="34" charset="0"/>
              </a:rPr>
              <a:t> and </a:t>
            </a:r>
            <a:r>
              <a:rPr lang="en-US" b="0" i="0" dirty="0" err="1">
                <a:effectLst/>
                <a:latin typeface="Arial" panose="020B0604020202020204" pitchFamily="34" charset="0"/>
              </a:rPr>
              <a:t>Swaka</a:t>
            </a:r>
            <a:r>
              <a:rPr lang="en-US" b="0" i="0" dirty="0">
                <a:effectLst/>
                <a:latin typeface="Arial" panose="020B0604020202020204" pitchFamily="34" charset="0"/>
              </a:rPr>
              <a:t> peoples.</a:t>
            </a:r>
          </a:p>
          <a:p>
            <a:pPr algn="just"/>
            <a:r>
              <a:rPr lang="en-US" b="0" i="0" dirty="0">
                <a:effectLst/>
                <a:latin typeface="Arial" panose="020B0604020202020204" pitchFamily="34" charset="0"/>
              </a:rPr>
              <a:t> Its main features include:</a:t>
            </a:r>
          </a:p>
          <a:p>
            <a:pPr algn="just">
              <a:buFont typeface="+mj-lt"/>
              <a:buAutoNum type="arabicPeriod"/>
            </a:pPr>
            <a:r>
              <a:rPr lang="en-US" b="1" i="0" dirty="0">
                <a:effectLst/>
                <a:latin typeface="Arial" panose="020B0604020202020204" pitchFamily="34" charset="0"/>
              </a:rPr>
              <a:t>Coppicing</a:t>
            </a:r>
            <a:r>
              <a:rPr lang="en-US" b="0" i="0" dirty="0">
                <a:effectLst/>
                <a:latin typeface="Arial" panose="020B0604020202020204" pitchFamily="34" charset="0"/>
              </a:rPr>
              <a:t> of trees and </a:t>
            </a:r>
            <a:r>
              <a:rPr lang="en-US" b="1" i="0" dirty="0">
                <a:effectLst/>
                <a:latin typeface="Arial" panose="020B0604020202020204" pitchFamily="34" charset="0"/>
              </a:rPr>
              <a:t>stacking of trunks </a:t>
            </a:r>
            <a:r>
              <a:rPr lang="en-US" b="0" i="0" dirty="0">
                <a:effectLst/>
                <a:latin typeface="Arial" panose="020B0604020202020204" pitchFamily="34" charset="0"/>
              </a:rPr>
              <a:t>and branches into a series of long, rectangular-shaped mounds. </a:t>
            </a:r>
          </a:p>
          <a:p>
            <a:pPr algn="just">
              <a:buFont typeface="+mj-lt"/>
              <a:buAutoNum type="arabicPeriod"/>
            </a:pPr>
            <a:r>
              <a:rPr lang="en-US" b="0" i="0" dirty="0">
                <a:effectLst/>
                <a:latin typeface="Arial" panose="020B0604020202020204" pitchFamily="34" charset="0"/>
              </a:rPr>
              <a:t>Unlike large-circle chitemene, the cleared area may contain </a:t>
            </a:r>
            <a:r>
              <a:rPr lang="en-US" b="1" i="0" dirty="0">
                <a:effectLst/>
                <a:latin typeface="Arial" panose="020B0604020202020204" pitchFamily="34" charset="0"/>
              </a:rPr>
              <a:t>more than one mound to be burned </a:t>
            </a:r>
            <a:r>
              <a:rPr lang="en-US" b="0" i="0" dirty="0">
                <a:effectLst/>
                <a:latin typeface="Arial" panose="020B0604020202020204" pitchFamily="34" charset="0"/>
              </a:rPr>
              <a:t>or cultivated.</a:t>
            </a:r>
          </a:p>
          <a:p>
            <a:pPr algn="just">
              <a:buFont typeface="+mj-lt"/>
              <a:buAutoNum type="arabicPeriod"/>
            </a:pPr>
            <a:r>
              <a:rPr lang="en-US" b="0" i="0" dirty="0">
                <a:effectLst/>
                <a:latin typeface="Arial" panose="020B0604020202020204" pitchFamily="34" charset="0"/>
              </a:rPr>
              <a:t>Immediate cultivated land use is for </a:t>
            </a:r>
            <a:r>
              <a:rPr lang="en-US" b="1" i="0" dirty="0">
                <a:effectLst/>
                <a:latin typeface="Arial" panose="020B0604020202020204" pitchFamily="34" charset="0"/>
              </a:rPr>
              <a:t>two to three years</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Predominant crops are </a:t>
            </a:r>
            <a:r>
              <a:rPr lang="en-US" b="1" i="0" u="none" strike="noStrike" dirty="0">
                <a:effectLst/>
                <a:latin typeface="Arial" panose="020B0604020202020204" pitchFamily="34" charset="0"/>
              </a:rPr>
              <a:t>millet</a:t>
            </a:r>
            <a:r>
              <a:rPr lang="en-US" b="1" i="0" dirty="0">
                <a:effectLst/>
                <a:latin typeface="Arial" panose="020B0604020202020204" pitchFamily="34" charset="0"/>
              </a:rPr>
              <a:t>, </a:t>
            </a:r>
            <a:r>
              <a:rPr lang="en-US" b="1" i="0" u="none" strike="noStrike" dirty="0">
                <a:effectLst/>
                <a:latin typeface="Arial" panose="020B0604020202020204" pitchFamily="34" charset="0"/>
              </a:rPr>
              <a:t>maize</a:t>
            </a:r>
            <a:r>
              <a:rPr lang="en-US" b="1" i="0" dirty="0">
                <a:effectLst/>
                <a:latin typeface="Arial" panose="020B0604020202020204" pitchFamily="34" charset="0"/>
              </a:rPr>
              <a:t>, and </a:t>
            </a:r>
            <a:r>
              <a:rPr lang="en-US" b="1" i="0" u="none" strike="noStrike" dirty="0">
                <a:effectLst/>
                <a:latin typeface="Arial" panose="020B0604020202020204" pitchFamily="34" charset="0"/>
              </a:rPr>
              <a:t>sorghum</a:t>
            </a:r>
            <a:r>
              <a:rPr lang="en-US" b="1" i="0" dirty="0">
                <a:effectLst/>
                <a:latin typeface="Arial" panose="020B0604020202020204" pitchFamily="34" charset="0"/>
              </a:rPr>
              <a:t>.</a:t>
            </a:r>
          </a:p>
          <a:p>
            <a:endParaRPr lang="en-ZM" dirty="0"/>
          </a:p>
        </p:txBody>
      </p:sp>
    </p:spTree>
    <p:extLst>
      <p:ext uri="{BB962C8B-B14F-4D97-AF65-F5344CB8AC3E}">
        <p14:creationId xmlns:p14="http://schemas.microsoft.com/office/powerpoint/2010/main" val="2225609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25EE3F16-0332-9CB9-FAEC-A338EECCF1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4643" y="516835"/>
            <a:ext cx="10508974" cy="5791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B8CDCC8-F83E-ECDD-E5E6-A21D03B18A43}"/>
              </a:ext>
            </a:extLst>
          </p:cNvPr>
          <p:cNvSpPr txBox="1"/>
          <p:nvPr/>
        </p:nvSpPr>
        <p:spPr>
          <a:xfrm>
            <a:off x="6095999" y="3201264"/>
            <a:ext cx="4797287" cy="646331"/>
          </a:xfrm>
          <a:prstGeom prst="rect">
            <a:avLst/>
          </a:prstGeom>
          <a:noFill/>
        </p:spPr>
        <p:txBody>
          <a:bodyPr wrap="square">
            <a:spAutoFit/>
          </a:bodyPr>
          <a:lstStyle/>
          <a:p>
            <a:r>
              <a:rPr lang="it-IT" b="0" i="0" dirty="0">
                <a:solidFill>
                  <a:srgbClr val="FF0000"/>
                </a:solidFill>
                <a:effectLst/>
                <a:latin typeface="Arial" panose="020B0604020202020204" pitchFamily="34" charset="0"/>
              </a:rPr>
              <a:t>Small circle chitemene in Serenje, Central Zambia</a:t>
            </a:r>
            <a:endParaRPr lang="en-ZM" dirty="0">
              <a:solidFill>
                <a:srgbClr val="FF0000"/>
              </a:solidFill>
            </a:endParaRPr>
          </a:p>
        </p:txBody>
      </p:sp>
    </p:spTree>
    <p:extLst>
      <p:ext uri="{BB962C8B-B14F-4D97-AF65-F5344CB8AC3E}">
        <p14:creationId xmlns:p14="http://schemas.microsoft.com/office/powerpoint/2010/main" val="1635979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129F-BB7C-EAA8-9095-A416C25F841A}"/>
              </a:ext>
            </a:extLst>
          </p:cNvPr>
          <p:cNvSpPr>
            <a:spLocks noGrp="1"/>
          </p:cNvSpPr>
          <p:nvPr>
            <p:ph type="title"/>
          </p:nvPr>
        </p:nvSpPr>
        <p:spPr/>
        <p:txBody>
          <a:bodyPr/>
          <a:lstStyle/>
          <a:p>
            <a:pPr algn="ctr"/>
            <a:r>
              <a:rPr lang="en-US" b="1" dirty="0"/>
              <a:t>Block Chitemene System</a:t>
            </a:r>
            <a:endParaRPr lang="en-ZM" b="1" dirty="0"/>
          </a:p>
        </p:txBody>
      </p:sp>
      <p:sp>
        <p:nvSpPr>
          <p:cNvPr id="3" name="Content Placeholder 2">
            <a:extLst>
              <a:ext uri="{FF2B5EF4-FFF2-40B4-BE49-F238E27FC236}">
                <a16:creationId xmlns:a16="http://schemas.microsoft.com/office/drawing/2014/main" id="{13BC7E5E-8750-A239-EB15-6351C3C8D584}"/>
              </a:ext>
            </a:extLst>
          </p:cNvPr>
          <p:cNvSpPr>
            <a:spLocks noGrp="1"/>
          </p:cNvSpPr>
          <p:nvPr>
            <p:ph idx="1"/>
          </p:nvPr>
        </p:nvSpPr>
        <p:spPr/>
        <p:txBody>
          <a:bodyPr>
            <a:normAutofit fontScale="92500" lnSpcReduction="10000"/>
          </a:bodyPr>
          <a:lstStyle/>
          <a:p>
            <a:pPr algn="just"/>
            <a:r>
              <a:rPr lang="en-US" b="0" i="0" dirty="0">
                <a:effectLst/>
                <a:latin typeface="Arial" panose="020B0604020202020204" pitchFamily="34" charset="0"/>
              </a:rPr>
              <a:t>This system is predominant from </a:t>
            </a:r>
            <a:r>
              <a:rPr lang="en-US" b="0" i="0" dirty="0" err="1">
                <a:effectLst/>
                <a:latin typeface="Arial" panose="020B0604020202020204" pitchFamily="34" charset="0"/>
              </a:rPr>
              <a:t>Kapiri</a:t>
            </a:r>
            <a:r>
              <a:rPr lang="en-US" b="0" i="0" dirty="0">
                <a:effectLst/>
                <a:latin typeface="Arial" panose="020B0604020202020204" pitchFamily="34" charset="0"/>
              </a:rPr>
              <a:t> </a:t>
            </a:r>
            <a:r>
              <a:rPr lang="en-US" b="0" i="0" dirty="0" err="1">
                <a:effectLst/>
                <a:latin typeface="Arial" panose="020B0604020202020204" pitchFamily="34" charset="0"/>
              </a:rPr>
              <a:t>Mposhi</a:t>
            </a:r>
            <a:r>
              <a:rPr lang="en-US" b="0" i="0" dirty="0">
                <a:effectLst/>
                <a:latin typeface="Arial" panose="020B0604020202020204" pitchFamily="34" charset="0"/>
              </a:rPr>
              <a:t> in the east to </a:t>
            </a:r>
            <a:r>
              <a:rPr lang="en-US" b="0" i="0" dirty="0" err="1">
                <a:effectLst/>
                <a:latin typeface="Arial" panose="020B0604020202020204" pitchFamily="34" charset="0"/>
              </a:rPr>
              <a:t>Mufumbwe</a:t>
            </a:r>
            <a:r>
              <a:rPr lang="en-US" b="0" i="0" dirty="0">
                <a:effectLst/>
                <a:latin typeface="Arial" panose="020B0604020202020204" pitchFamily="34" charset="0"/>
              </a:rPr>
              <a:t> in the west, and is a practice of the </a:t>
            </a:r>
            <a:r>
              <a:rPr lang="en-US" b="0" i="0" dirty="0" err="1">
                <a:effectLst/>
                <a:latin typeface="Arial" panose="020B0604020202020204" pitchFamily="34" charset="0"/>
              </a:rPr>
              <a:t>baLamba</a:t>
            </a:r>
            <a:r>
              <a:rPr lang="en-US" b="0" i="0" dirty="0">
                <a:effectLst/>
                <a:latin typeface="Arial" panose="020B0604020202020204" pitchFamily="34" charset="0"/>
              </a:rPr>
              <a:t> and </a:t>
            </a:r>
            <a:r>
              <a:rPr lang="en-US" b="0" i="0" dirty="0" err="1">
                <a:effectLst/>
                <a:latin typeface="Arial" panose="020B0604020202020204" pitchFamily="34" charset="0"/>
              </a:rPr>
              <a:t>baKaonde</a:t>
            </a:r>
            <a:r>
              <a:rPr lang="en-US" b="0" i="0" dirty="0">
                <a:effectLst/>
                <a:latin typeface="Arial" panose="020B0604020202020204" pitchFamily="34" charset="0"/>
              </a:rPr>
              <a:t> tribes of Central, Copperbelt, and Northwestern Provinces.</a:t>
            </a:r>
          </a:p>
          <a:p>
            <a:pPr algn="just">
              <a:buFont typeface="+mj-lt"/>
              <a:buAutoNum type="arabicPeriod"/>
            </a:pPr>
            <a:r>
              <a:rPr lang="en-US" b="0" i="0" dirty="0">
                <a:effectLst/>
                <a:latin typeface="Arial" panose="020B0604020202020204" pitchFamily="34" charset="0"/>
              </a:rPr>
              <a:t>Due to the relative small number of people and abundance of land, </a:t>
            </a:r>
            <a:r>
              <a:rPr lang="en-US" b="1" i="0" dirty="0">
                <a:effectLst/>
                <a:latin typeface="Arial" panose="020B0604020202020204" pitchFamily="34" charset="0"/>
              </a:rPr>
              <a:t>large trees are base-cut, left to dry, and then burned before the rains. </a:t>
            </a:r>
          </a:p>
          <a:p>
            <a:pPr algn="just">
              <a:buFont typeface="+mj-lt"/>
              <a:buAutoNum type="arabicPeriod"/>
            </a:pPr>
            <a:r>
              <a:rPr lang="en-US" b="0" i="0" dirty="0">
                <a:effectLst/>
                <a:latin typeface="Arial" panose="020B0604020202020204" pitchFamily="34" charset="0"/>
              </a:rPr>
              <a:t>Crops are planted in both the </a:t>
            </a:r>
            <a:r>
              <a:rPr lang="en-US" b="1" i="0" dirty="0">
                <a:effectLst/>
                <a:latin typeface="Arial" panose="020B0604020202020204" pitchFamily="34" charset="0"/>
              </a:rPr>
              <a:t>cleared and burned areas </a:t>
            </a:r>
            <a:r>
              <a:rPr lang="en-US" b="0" i="0" dirty="0">
                <a:effectLst/>
                <a:latin typeface="Arial" panose="020B0604020202020204" pitchFamily="34" charset="0"/>
              </a:rPr>
              <a:t>to the extent that nearly all cleared land is </a:t>
            </a:r>
            <a:r>
              <a:rPr lang="en-US" b="1" i="0" dirty="0">
                <a:effectLst/>
                <a:latin typeface="Arial" panose="020B0604020202020204" pitchFamily="34" charset="0"/>
              </a:rPr>
              <a:t>planted</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Size of cleared land is approximately </a:t>
            </a:r>
            <a:r>
              <a:rPr lang="en-US" b="1" i="0" dirty="0">
                <a:effectLst/>
                <a:latin typeface="Arial" panose="020B0604020202020204" pitchFamily="34" charset="0"/>
              </a:rPr>
              <a:t>2.3 acres </a:t>
            </a:r>
            <a:r>
              <a:rPr lang="en-US" b="0" i="0" dirty="0">
                <a:effectLst/>
                <a:latin typeface="Arial" panose="020B0604020202020204" pitchFamily="34" charset="0"/>
              </a:rPr>
              <a:t>(9,300 m</a:t>
            </a:r>
            <a:r>
              <a:rPr lang="en-US" b="0" i="0" baseline="30000" dirty="0">
                <a:effectLst/>
                <a:latin typeface="Arial" panose="020B0604020202020204" pitchFamily="34" charset="0"/>
              </a:rPr>
              <a:t>2</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Predominant crops are</a:t>
            </a:r>
            <a:r>
              <a:rPr lang="en-US" b="1" i="0" dirty="0">
                <a:effectLst/>
                <a:latin typeface="Arial" panose="020B0604020202020204" pitchFamily="34" charset="0"/>
              </a:rPr>
              <a:t> </a:t>
            </a:r>
            <a:r>
              <a:rPr lang="en-US" b="1" i="0" u="none" strike="noStrike" dirty="0">
                <a:effectLst/>
                <a:latin typeface="Arial" panose="020B0604020202020204" pitchFamily="34" charset="0"/>
              </a:rPr>
              <a:t>maize</a:t>
            </a:r>
            <a:r>
              <a:rPr lang="en-US" b="1" i="0" dirty="0">
                <a:effectLst/>
                <a:latin typeface="Arial" panose="020B0604020202020204" pitchFamily="34" charset="0"/>
              </a:rPr>
              <a:t> and sorghum</a:t>
            </a:r>
          </a:p>
          <a:p>
            <a:endParaRPr lang="en-ZM" dirty="0"/>
          </a:p>
        </p:txBody>
      </p:sp>
    </p:spTree>
    <p:extLst>
      <p:ext uri="{BB962C8B-B14F-4D97-AF65-F5344CB8AC3E}">
        <p14:creationId xmlns:p14="http://schemas.microsoft.com/office/powerpoint/2010/main" val="1679815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C21C-DDD5-6E26-B674-7BAAF84E4CE0}"/>
              </a:ext>
            </a:extLst>
          </p:cNvPr>
          <p:cNvSpPr>
            <a:spLocks noGrp="1"/>
          </p:cNvSpPr>
          <p:nvPr>
            <p:ph type="title"/>
          </p:nvPr>
        </p:nvSpPr>
        <p:spPr/>
        <p:txBody>
          <a:bodyPr/>
          <a:lstStyle/>
          <a:p>
            <a:r>
              <a:rPr lang="en-US" b="0" i="0" dirty="0">
                <a:solidFill>
                  <a:srgbClr val="202122"/>
                </a:solidFill>
                <a:effectLst/>
                <a:latin typeface="Arial" panose="020B0604020202020204" pitchFamily="34" charset="0"/>
              </a:rPr>
              <a:t>Block Chitemene" in Kasempa District, Northwestern Zambia</a:t>
            </a:r>
            <a:endParaRPr lang="en-ZM" dirty="0"/>
          </a:p>
        </p:txBody>
      </p:sp>
      <p:pic>
        <p:nvPicPr>
          <p:cNvPr id="4" name="Content Placeholder 3">
            <a:extLst>
              <a:ext uri="{FF2B5EF4-FFF2-40B4-BE49-F238E27FC236}">
                <a16:creationId xmlns:a16="http://schemas.microsoft.com/office/drawing/2014/main" id="{023609C1-AE60-8820-8609-0A0D2310E416}"/>
              </a:ext>
            </a:extLst>
          </p:cNvPr>
          <p:cNvPicPr>
            <a:picLocks noGrp="1" noChangeAspect="1"/>
          </p:cNvPicPr>
          <p:nvPr>
            <p:ph idx="1"/>
          </p:nvPr>
        </p:nvPicPr>
        <p:blipFill>
          <a:blip r:embed="rId2"/>
          <a:stretch>
            <a:fillRect/>
          </a:stretch>
        </p:blipFill>
        <p:spPr>
          <a:xfrm>
            <a:off x="1509610" y="1825625"/>
            <a:ext cx="9172780" cy="4351338"/>
          </a:xfrm>
          <a:prstGeom prst="rect">
            <a:avLst/>
          </a:prstGeom>
        </p:spPr>
      </p:pic>
    </p:spTree>
    <p:extLst>
      <p:ext uri="{BB962C8B-B14F-4D97-AF65-F5344CB8AC3E}">
        <p14:creationId xmlns:p14="http://schemas.microsoft.com/office/powerpoint/2010/main" val="4124430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BE4C-EA3A-A2B4-DF1F-47894B911ECE}"/>
              </a:ext>
            </a:extLst>
          </p:cNvPr>
          <p:cNvSpPr>
            <a:spLocks noGrp="1"/>
          </p:cNvSpPr>
          <p:nvPr>
            <p:ph type="title"/>
          </p:nvPr>
        </p:nvSpPr>
        <p:spPr/>
        <p:txBody>
          <a:bodyPr/>
          <a:lstStyle/>
          <a:p>
            <a:pPr algn="ctr"/>
            <a:r>
              <a:rPr lang="en-US" b="1" dirty="0"/>
              <a:t>Ecological Issues</a:t>
            </a:r>
            <a:endParaRPr lang="en-ZM" b="1" dirty="0"/>
          </a:p>
        </p:txBody>
      </p:sp>
      <p:sp>
        <p:nvSpPr>
          <p:cNvPr id="3" name="Content Placeholder 2">
            <a:extLst>
              <a:ext uri="{FF2B5EF4-FFF2-40B4-BE49-F238E27FC236}">
                <a16:creationId xmlns:a16="http://schemas.microsoft.com/office/drawing/2014/main" id="{463BE535-425A-55D9-A111-B795D138D4D8}"/>
              </a:ext>
            </a:extLst>
          </p:cNvPr>
          <p:cNvSpPr>
            <a:spLocks noGrp="1"/>
          </p:cNvSpPr>
          <p:nvPr>
            <p:ph idx="1"/>
          </p:nvPr>
        </p:nvSpPr>
        <p:spPr/>
        <p:txBody>
          <a:bodyPr>
            <a:normAutofit fontScale="92500" lnSpcReduction="20000"/>
          </a:bodyPr>
          <a:lstStyle/>
          <a:p>
            <a:pPr algn="just"/>
            <a:r>
              <a:rPr lang="en-US" b="0" i="0" dirty="0">
                <a:solidFill>
                  <a:srgbClr val="202122"/>
                </a:solidFill>
                <a:effectLst/>
                <a:latin typeface="Arial" panose="020B0604020202020204" pitchFamily="34" charset="0"/>
              </a:rPr>
              <a:t>Chitemene is an ecologically sound system in a situation where land </a:t>
            </a:r>
            <a:r>
              <a:rPr lang="en-US" b="1" i="0" dirty="0">
                <a:solidFill>
                  <a:srgbClr val="202122"/>
                </a:solidFill>
                <a:effectLst/>
                <a:latin typeface="Arial" panose="020B0604020202020204" pitchFamily="34" charset="0"/>
              </a:rPr>
              <a:t>pressure from population demands are low </a:t>
            </a:r>
            <a:r>
              <a:rPr lang="en-US" b="0" i="0" dirty="0">
                <a:solidFill>
                  <a:srgbClr val="202122"/>
                </a:solidFill>
                <a:effectLst/>
                <a:latin typeface="Arial" panose="020B0604020202020204" pitchFamily="34" charset="0"/>
              </a:rPr>
              <a:t>and </a:t>
            </a:r>
            <a:r>
              <a:rPr lang="en-US" b="1" i="0" dirty="0">
                <a:solidFill>
                  <a:srgbClr val="202122"/>
                </a:solidFill>
                <a:effectLst/>
                <a:latin typeface="Arial" panose="020B0604020202020204" pitchFamily="34" charset="0"/>
              </a:rPr>
              <a:t>ample woodland </a:t>
            </a:r>
            <a:r>
              <a:rPr lang="en-US" b="0" i="0" dirty="0">
                <a:solidFill>
                  <a:srgbClr val="202122"/>
                </a:solidFill>
                <a:effectLst/>
                <a:latin typeface="Arial" panose="020B0604020202020204" pitchFamily="34" charset="0"/>
              </a:rPr>
              <a:t>is present. </a:t>
            </a:r>
          </a:p>
          <a:p>
            <a:pPr algn="just"/>
            <a:r>
              <a:rPr lang="en-US" b="0" i="0" dirty="0">
                <a:solidFill>
                  <a:srgbClr val="202122"/>
                </a:solidFill>
                <a:effectLst/>
                <a:latin typeface="Arial" panose="020B0604020202020204" pitchFamily="34" charset="0"/>
              </a:rPr>
              <a:t>In the past, when land and population were respectively plentiful and sparse, chitemene fields had ample time </a:t>
            </a:r>
            <a:r>
              <a:rPr lang="en-US" b="1" i="0" dirty="0">
                <a:solidFill>
                  <a:srgbClr val="202122"/>
                </a:solidFill>
                <a:effectLst/>
                <a:latin typeface="Arial" panose="020B0604020202020204" pitchFamily="34" charset="0"/>
              </a:rPr>
              <a:t>to lay fallow and recover </a:t>
            </a:r>
            <a:r>
              <a:rPr lang="en-US" b="0" i="0" dirty="0">
                <a:solidFill>
                  <a:srgbClr val="202122"/>
                </a:solidFill>
                <a:effectLst/>
                <a:latin typeface="Arial" panose="020B0604020202020204" pitchFamily="34" charset="0"/>
              </a:rPr>
              <a:t>before farmers returned to clear the field again. </a:t>
            </a:r>
          </a:p>
          <a:p>
            <a:pPr algn="just"/>
            <a:r>
              <a:rPr lang="en-US" b="0" i="0" dirty="0">
                <a:solidFill>
                  <a:srgbClr val="202122"/>
                </a:solidFill>
                <a:effectLst/>
                <a:latin typeface="Arial" panose="020B0604020202020204" pitchFamily="34" charset="0"/>
              </a:rPr>
              <a:t>However, in contemporary Zambia, farmers switching from traditional crop rotations to monoculture of maize continue to practice chitemene.</a:t>
            </a:r>
          </a:p>
          <a:p>
            <a:pPr algn="just"/>
            <a:r>
              <a:rPr lang="en-US" b="0" i="0" dirty="0">
                <a:solidFill>
                  <a:srgbClr val="202122"/>
                </a:solidFill>
                <a:effectLst/>
                <a:latin typeface="Arial" panose="020B0604020202020204" pitchFamily="34" charset="0"/>
              </a:rPr>
              <a:t>Unfortunately, the </a:t>
            </a:r>
            <a:r>
              <a:rPr lang="en-US" b="1" i="0" dirty="0">
                <a:solidFill>
                  <a:srgbClr val="202122"/>
                </a:solidFill>
                <a:effectLst/>
                <a:latin typeface="Arial" panose="020B0604020202020204" pitchFamily="34" charset="0"/>
              </a:rPr>
              <a:t>nutrient demands of maize tend to exhaust soils faster </a:t>
            </a:r>
            <a:r>
              <a:rPr lang="en-US" b="0" i="0" dirty="0">
                <a:solidFill>
                  <a:srgbClr val="202122"/>
                </a:solidFill>
                <a:effectLst/>
                <a:latin typeface="Arial" panose="020B0604020202020204" pitchFamily="34" charset="0"/>
              </a:rPr>
              <a:t>than traditional crops such as </a:t>
            </a:r>
            <a:r>
              <a:rPr lang="en-US" b="1" i="0" dirty="0">
                <a:solidFill>
                  <a:srgbClr val="202122"/>
                </a:solidFill>
                <a:effectLst/>
                <a:latin typeface="Arial" panose="020B0604020202020204" pitchFamily="34" charset="0"/>
              </a:rPr>
              <a:t>sorghum or millet</a:t>
            </a:r>
            <a:r>
              <a:rPr lang="en-US" b="0" i="0" dirty="0">
                <a:solidFill>
                  <a:srgbClr val="202122"/>
                </a:solidFill>
                <a:effectLst/>
                <a:latin typeface="Arial" panose="020B0604020202020204" pitchFamily="34" charset="0"/>
              </a:rPr>
              <a:t>, and the </a:t>
            </a:r>
            <a:r>
              <a:rPr lang="en-US" b="1" i="0" dirty="0">
                <a:solidFill>
                  <a:srgbClr val="202122"/>
                </a:solidFill>
                <a:effectLst/>
                <a:latin typeface="Arial" panose="020B0604020202020204" pitchFamily="34" charset="0"/>
              </a:rPr>
              <a:t>desire to sell maize </a:t>
            </a:r>
            <a:r>
              <a:rPr lang="en-US" b="0" i="0" dirty="0">
                <a:solidFill>
                  <a:srgbClr val="202122"/>
                </a:solidFill>
                <a:effectLst/>
                <a:latin typeface="Arial" panose="020B0604020202020204" pitchFamily="34" charset="0"/>
              </a:rPr>
              <a:t>as a commodity expedites the expansion of chitemene clearing.</a:t>
            </a:r>
            <a:endParaRPr lang="en-ZM" dirty="0"/>
          </a:p>
        </p:txBody>
      </p:sp>
    </p:spTree>
    <p:extLst>
      <p:ext uri="{BB962C8B-B14F-4D97-AF65-F5344CB8AC3E}">
        <p14:creationId xmlns:p14="http://schemas.microsoft.com/office/powerpoint/2010/main" val="3242229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807C9-04D3-3890-2F62-1424F8FE85B5}"/>
              </a:ext>
            </a:extLst>
          </p:cNvPr>
          <p:cNvSpPr>
            <a:spLocks noGrp="1"/>
          </p:cNvSpPr>
          <p:nvPr>
            <p:ph type="title"/>
          </p:nvPr>
        </p:nvSpPr>
        <p:spPr/>
        <p:txBody>
          <a:bodyPr>
            <a:normAutofit/>
          </a:bodyPr>
          <a:lstStyle/>
          <a:p>
            <a:pPr algn="ctr"/>
            <a:r>
              <a:rPr lang="en-ZM" sz="2800" b="1" kern="0" dirty="0">
                <a:solidFill>
                  <a:srgbClr val="202124"/>
                </a:solidFill>
                <a:effectLst/>
                <a:latin typeface="Arial" panose="020B0604020202020204" pitchFamily="34" charset="0"/>
                <a:ea typeface="Times New Roman" panose="02020603050405020304" pitchFamily="18" charset="0"/>
              </a:rPr>
              <a:t>What are the disadvantages of the chitemene system</a:t>
            </a:r>
            <a:r>
              <a:rPr lang="en-US" sz="2800" b="1" kern="0" dirty="0">
                <a:solidFill>
                  <a:srgbClr val="202124"/>
                </a:solidFill>
                <a:effectLst/>
                <a:latin typeface="Arial" panose="020B0604020202020204" pitchFamily="34" charset="0"/>
                <a:ea typeface="Times New Roman" panose="02020603050405020304" pitchFamily="18" charset="0"/>
              </a:rPr>
              <a:t>?</a:t>
            </a:r>
            <a:br>
              <a:rPr lang="en-US" sz="2800" b="1" kern="0" dirty="0">
                <a:solidFill>
                  <a:srgbClr val="202124"/>
                </a:solidFill>
                <a:effectLst/>
                <a:latin typeface="Arial" panose="020B0604020202020204" pitchFamily="34" charset="0"/>
                <a:ea typeface="Times New Roman" panose="02020603050405020304" pitchFamily="18" charset="0"/>
              </a:rPr>
            </a:br>
            <a:r>
              <a:rPr lang="en-US" sz="2800" b="1" kern="0" dirty="0">
                <a:solidFill>
                  <a:srgbClr val="202124"/>
                </a:solidFill>
                <a:effectLst/>
                <a:latin typeface="Arial" panose="020B0604020202020204" pitchFamily="34" charset="0"/>
                <a:ea typeface="Times New Roman" panose="02020603050405020304" pitchFamily="18" charset="0"/>
              </a:rPr>
              <a:t>(What makes Chitemene to be regarded as Unsustainable)</a:t>
            </a:r>
            <a:endParaRPr lang="en-ZM" sz="2800" b="1" dirty="0"/>
          </a:p>
        </p:txBody>
      </p:sp>
      <p:sp>
        <p:nvSpPr>
          <p:cNvPr id="3" name="Content Placeholder 2">
            <a:extLst>
              <a:ext uri="{FF2B5EF4-FFF2-40B4-BE49-F238E27FC236}">
                <a16:creationId xmlns:a16="http://schemas.microsoft.com/office/drawing/2014/main" id="{7B92A040-8C83-44EE-70E5-6D5EB25E8379}"/>
              </a:ext>
            </a:extLst>
          </p:cNvPr>
          <p:cNvSpPr>
            <a:spLocks noGrp="1"/>
          </p:cNvSpPr>
          <p:nvPr>
            <p:ph idx="1"/>
          </p:nvPr>
        </p:nvSpPr>
        <p:spPr/>
        <p:txBody>
          <a:bodyPr>
            <a:normAutofit fontScale="92500" lnSpcReduction="20000"/>
          </a:bodyPr>
          <a:lstStyle/>
          <a:p>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Chitemene system of farming poses many threats which include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food security,</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land degradation,</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pollution,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desertification,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depletion of soil fertility,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wildlife endangerment,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climate variability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soil erosion</a:t>
            </a:r>
            <a:endParaRPr lang="en-ZM"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606316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2453</Words>
  <Application>Microsoft Office PowerPoint</Application>
  <PresentationFormat>Widescreen</PresentationFormat>
  <Paragraphs>207</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Calibri Light</vt:lpstr>
      <vt:lpstr>Open Sans</vt:lpstr>
      <vt:lpstr>Times New Roman</vt:lpstr>
      <vt:lpstr>Wingdings</vt:lpstr>
      <vt:lpstr>Office Theme</vt:lpstr>
      <vt:lpstr>STATE OF AGRICULTURE IN Zambia</vt:lpstr>
      <vt:lpstr>Introduction</vt:lpstr>
      <vt:lpstr>PowerPoint Presentation</vt:lpstr>
      <vt:lpstr>PowerPoint Presentation</vt:lpstr>
      <vt:lpstr>Over View of Zambia</vt:lpstr>
      <vt:lpstr>PowerPoint Presentation</vt:lpstr>
      <vt:lpstr>Agriculture in general </vt:lpstr>
      <vt:lpstr>Agriculture in general contd</vt:lpstr>
      <vt:lpstr>Types of farmers in Zambia</vt:lpstr>
      <vt:lpstr>Types of farmers in Zambia</vt:lpstr>
      <vt:lpstr>Production and yield  </vt:lpstr>
      <vt:lpstr>Production and yield  </vt:lpstr>
      <vt:lpstr>Agro-ecological zones and soils </vt:lpstr>
      <vt:lpstr>Agro-ecological zones and soils </vt:lpstr>
      <vt:lpstr>PowerPoint Presentation</vt:lpstr>
      <vt:lpstr>PowerPoint Presentation</vt:lpstr>
      <vt:lpstr>PowerPoint Presentation</vt:lpstr>
      <vt:lpstr>Major cropping systems </vt:lpstr>
      <vt:lpstr>Major cropping systems </vt:lpstr>
      <vt:lpstr>Major cropping systems </vt:lpstr>
      <vt:lpstr>Major Cropping systems</vt:lpstr>
      <vt:lpstr>Major Cropping systems</vt:lpstr>
      <vt:lpstr>Traditional Farming Systems</vt:lpstr>
      <vt:lpstr>PowerPoint Presentation</vt:lpstr>
      <vt:lpstr>PowerPoint Presentation</vt:lpstr>
      <vt:lpstr>Chitemene System</vt:lpstr>
      <vt:lpstr>Introduction</vt:lpstr>
      <vt:lpstr>Introduction contd</vt:lpstr>
      <vt:lpstr>Crops are planted in the ash</vt:lpstr>
      <vt:lpstr>   Why is chitemene system commonly Practised in Zambia? </vt:lpstr>
      <vt:lpstr>The main features of the chitemene system? </vt:lpstr>
      <vt:lpstr>Description of Chitemene System</vt:lpstr>
      <vt:lpstr>Description of Chitemene System</vt:lpstr>
      <vt:lpstr>Types of Chitemene Systems</vt:lpstr>
      <vt:lpstr>Large Circle Chitemene</vt:lpstr>
      <vt:lpstr>Large Circle Chitemene</vt:lpstr>
      <vt:lpstr>Small Circle Chitemene</vt:lpstr>
      <vt:lpstr>PowerPoint Presentation</vt:lpstr>
      <vt:lpstr>Block Chitemene System</vt:lpstr>
      <vt:lpstr>Block Chitemene" in Kasempa District, Northwestern Zambia</vt:lpstr>
      <vt:lpstr>Ecological Issues</vt:lpstr>
      <vt:lpstr>What are the disadvantages of the chitemene system? (What makes Chitemene to be regarded as Unsustainable)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Cropping Systems, Climate, and Soils in Zambia</dc:title>
  <dc:creator>LENOVO</dc:creator>
  <cp:lastModifiedBy>LENOVO</cp:lastModifiedBy>
  <cp:revision>4</cp:revision>
  <dcterms:created xsi:type="dcterms:W3CDTF">2023-11-14T19:54:12Z</dcterms:created>
  <dcterms:modified xsi:type="dcterms:W3CDTF">2024-02-18T19:08:47Z</dcterms:modified>
</cp:coreProperties>
</file>