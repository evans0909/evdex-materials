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2" r:id="rId3"/>
    <p:sldId id="273" r:id="rId4"/>
    <p:sldId id="274" r:id="rId5"/>
    <p:sldId id="275" r:id="rId6"/>
    <p:sldId id="277" r:id="rId7"/>
    <p:sldId id="278" r:id="rId8"/>
    <p:sldId id="279" r:id="rId9"/>
    <p:sldId id="280" r:id="rId10"/>
    <p:sldId id="257" r:id="rId11"/>
    <p:sldId id="258" r:id="rId12"/>
    <p:sldId id="259" r:id="rId13"/>
    <p:sldId id="260" r:id="rId14"/>
    <p:sldId id="261" r:id="rId15"/>
    <p:sldId id="262" r:id="rId16"/>
    <p:sldId id="263" r:id="rId17"/>
    <p:sldId id="264" r:id="rId18"/>
    <p:sldId id="265" r:id="rId19"/>
    <p:sldId id="266" r:id="rId20"/>
    <p:sldId id="267" r:id="rId21"/>
    <p:sldId id="271" r:id="rId22"/>
    <p:sldId id="268" r:id="rId23"/>
    <p:sldId id="270" r:id="rId24"/>
    <p:sldId id="269"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Lst>
  <p:sldSz cx="12192000" cy="6858000"/>
  <p:notesSz cx="6858000" cy="9144000"/>
  <p:defaultTex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88DB683-2D44-AEFB-0D7A-E3B9353814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a:extLst>
              <a:ext uri="{FF2B5EF4-FFF2-40B4-BE49-F238E27FC236}">
                <a16:creationId xmlns="" xmlns:a16="http://schemas.microsoft.com/office/drawing/2014/main" id="{0A501620-46D5-8CC8-6FF9-9E554D6DBD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a:extLst>
              <a:ext uri="{FF2B5EF4-FFF2-40B4-BE49-F238E27FC236}">
                <a16:creationId xmlns="" xmlns:a16="http://schemas.microsoft.com/office/drawing/2014/main" id="{A70C3958-9F40-A2DA-8D7B-BB1F520DD45A}"/>
              </a:ext>
            </a:extLst>
          </p:cNvPr>
          <p:cNvSpPr>
            <a:spLocks noGrp="1"/>
          </p:cNvSpPr>
          <p:nvPr>
            <p:ph type="dt" sz="half" idx="10"/>
          </p:nvPr>
        </p:nvSpPr>
        <p:spPr/>
        <p:txBody>
          <a:bodyPr/>
          <a:lstStyle/>
          <a:p>
            <a:fld id="{E6A564E6-0F64-414D-82F2-DD88D738E59F}" type="datetimeFigureOut">
              <a:rPr lang="x-none" smtClean="0"/>
              <a:t>06/05/2024</a:t>
            </a:fld>
            <a:endParaRPr lang="x-none"/>
          </a:p>
        </p:txBody>
      </p:sp>
      <p:sp>
        <p:nvSpPr>
          <p:cNvPr id="5" name="Footer Placeholder 4">
            <a:extLst>
              <a:ext uri="{FF2B5EF4-FFF2-40B4-BE49-F238E27FC236}">
                <a16:creationId xmlns="" xmlns:a16="http://schemas.microsoft.com/office/drawing/2014/main" id="{4FA979B7-D379-4138-646E-F73EDAFD85F3}"/>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2CC34FC8-C49E-E2A1-1CA5-03CA6739E2C7}"/>
              </a:ext>
            </a:extLst>
          </p:cNvPr>
          <p:cNvSpPr>
            <a:spLocks noGrp="1"/>
          </p:cNvSpPr>
          <p:nvPr>
            <p:ph type="sldNum" sz="quarter" idx="12"/>
          </p:nvPr>
        </p:nvSpPr>
        <p:spPr/>
        <p:txBody>
          <a:bodyPr/>
          <a:lstStyle/>
          <a:p>
            <a:fld id="{47244EE4-0327-458B-B1A5-28E1D7560212}" type="slidenum">
              <a:rPr lang="x-none" smtClean="0"/>
              <a:t>‹#›</a:t>
            </a:fld>
            <a:endParaRPr lang="x-none"/>
          </a:p>
        </p:txBody>
      </p:sp>
    </p:spTree>
    <p:extLst>
      <p:ext uri="{BB962C8B-B14F-4D97-AF65-F5344CB8AC3E}">
        <p14:creationId xmlns:p14="http://schemas.microsoft.com/office/powerpoint/2010/main" val="26718275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7EC38EF-7BD2-487A-D108-C306282CB6C6}"/>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 xmlns:a16="http://schemas.microsoft.com/office/drawing/2014/main" id="{C5FBA53F-E136-287F-0ADA-547A64044DB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E6F74FF0-1FE1-D0CF-EBFB-B1731C488C3E}"/>
              </a:ext>
            </a:extLst>
          </p:cNvPr>
          <p:cNvSpPr>
            <a:spLocks noGrp="1"/>
          </p:cNvSpPr>
          <p:nvPr>
            <p:ph type="dt" sz="half" idx="10"/>
          </p:nvPr>
        </p:nvSpPr>
        <p:spPr/>
        <p:txBody>
          <a:bodyPr/>
          <a:lstStyle/>
          <a:p>
            <a:fld id="{E6A564E6-0F64-414D-82F2-DD88D738E59F}" type="datetimeFigureOut">
              <a:rPr lang="x-none" smtClean="0"/>
              <a:t>06/05/2024</a:t>
            </a:fld>
            <a:endParaRPr lang="x-none"/>
          </a:p>
        </p:txBody>
      </p:sp>
      <p:sp>
        <p:nvSpPr>
          <p:cNvPr id="5" name="Footer Placeholder 4">
            <a:extLst>
              <a:ext uri="{FF2B5EF4-FFF2-40B4-BE49-F238E27FC236}">
                <a16:creationId xmlns="" xmlns:a16="http://schemas.microsoft.com/office/drawing/2014/main" id="{C64E5300-9D57-57B3-6FC6-E4B816B41C0F}"/>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0CD56394-D52C-B471-58DC-0EECF0E26EB7}"/>
              </a:ext>
            </a:extLst>
          </p:cNvPr>
          <p:cNvSpPr>
            <a:spLocks noGrp="1"/>
          </p:cNvSpPr>
          <p:nvPr>
            <p:ph type="sldNum" sz="quarter" idx="12"/>
          </p:nvPr>
        </p:nvSpPr>
        <p:spPr/>
        <p:txBody>
          <a:bodyPr/>
          <a:lstStyle/>
          <a:p>
            <a:fld id="{47244EE4-0327-458B-B1A5-28E1D7560212}" type="slidenum">
              <a:rPr lang="x-none" smtClean="0"/>
              <a:t>‹#›</a:t>
            </a:fld>
            <a:endParaRPr lang="x-none"/>
          </a:p>
        </p:txBody>
      </p:sp>
    </p:spTree>
    <p:extLst>
      <p:ext uri="{BB962C8B-B14F-4D97-AF65-F5344CB8AC3E}">
        <p14:creationId xmlns:p14="http://schemas.microsoft.com/office/powerpoint/2010/main" val="31179687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D063D7A-14D8-C993-081B-0FC715370B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 xmlns:a16="http://schemas.microsoft.com/office/drawing/2014/main" id="{AFF1A7D1-9534-2942-4D38-D57B09A4D8F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DA735DA2-C5EE-EE80-4576-CB5E5B61B898}"/>
              </a:ext>
            </a:extLst>
          </p:cNvPr>
          <p:cNvSpPr>
            <a:spLocks noGrp="1"/>
          </p:cNvSpPr>
          <p:nvPr>
            <p:ph type="dt" sz="half" idx="10"/>
          </p:nvPr>
        </p:nvSpPr>
        <p:spPr/>
        <p:txBody>
          <a:bodyPr/>
          <a:lstStyle/>
          <a:p>
            <a:fld id="{E6A564E6-0F64-414D-82F2-DD88D738E59F}" type="datetimeFigureOut">
              <a:rPr lang="x-none" smtClean="0"/>
              <a:t>06/05/2024</a:t>
            </a:fld>
            <a:endParaRPr lang="x-none"/>
          </a:p>
        </p:txBody>
      </p:sp>
      <p:sp>
        <p:nvSpPr>
          <p:cNvPr id="5" name="Footer Placeholder 4">
            <a:extLst>
              <a:ext uri="{FF2B5EF4-FFF2-40B4-BE49-F238E27FC236}">
                <a16:creationId xmlns="" xmlns:a16="http://schemas.microsoft.com/office/drawing/2014/main" id="{27B60622-895A-1D9B-D7E0-CCBF4086E211}"/>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783B27D0-F6CD-6442-9531-22B6CB02C873}"/>
              </a:ext>
            </a:extLst>
          </p:cNvPr>
          <p:cNvSpPr>
            <a:spLocks noGrp="1"/>
          </p:cNvSpPr>
          <p:nvPr>
            <p:ph type="sldNum" sz="quarter" idx="12"/>
          </p:nvPr>
        </p:nvSpPr>
        <p:spPr/>
        <p:txBody>
          <a:bodyPr/>
          <a:lstStyle/>
          <a:p>
            <a:fld id="{47244EE4-0327-458B-B1A5-28E1D7560212}" type="slidenum">
              <a:rPr lang="x-none" smtClean="0"/>
              <a:t>‹#›</a:t>
            </a:fld>
            <a:endParaRPr lang="x-none"/>
          </a:p>
        </p:txBody>
      </p:sp>
    </p:spTree>
    <p:extLst>
      <p:ext uri="{BB962C8B-B14F-4D97-AF65-F5344CB8AC3E}">
        <p14:creationId xmlns:p14="http://schemas.microsoft.com/office/powerpoint/2010/main" val="2784038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3259747-2853-06E0-F602-72152F8AD5B9}"/>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 xmlns:a16="http://schemas.microsoft.com/office/drawing/2014/main" id="{CD458F47-98E7-961A-878A-83456BF440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 xmlns:a16="http://schemas.microsoft.com/office/drawing/2014/main" id="{FE20D928-4FA9-BA49-ACBB-578E7599C77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 xmlns:a16="http://schemas.microsoft.com/office/drawing/2014/main" id="{75834EDF-ECB5-5EB1-69B4-71166E1BC198}"/>
              </a:ext>
            </a:extLst>
          </p:cNvPr>
          <p:cNvSpPr>
            <a:spLocks noGrp="1"/>
          </p:cNvSpPr>
          <p:nvPr>
            <p:ph type="dt" sz="half" idx="10"/>
          </p:nvPr>
        </p:nvSpPr>
        <p:spPr/>
        <p:txBody>
          <a:bodyPr/>
          <a:lstStyle/>
          <a:p>
            <a:fld id="{E6A564E6-0F64-414D-82F2-DD88D738E59F}" type="datetimeFigureOut">
              <a:rPr lang="x-none" smtClean="0"/>
              <a:t>06/05/2024</a:t>
            </a:fld>
            <a:endParaRPr lang="x-none"/>
          </a:p>
        </p:txBody>
      </p:sp>
      <p:sp>
        <p:nvSpPr>
          <p:cNvPr id="6" name="Footer Placeholder 5">
            <a:extLst>
              <a:ext uri="{FF2B5EF4-FFF2-40B4-BE49-F238E27FC236}">
                <a16:creationId xmlns="" xmlns:a16="http://schemas.microsoft.com/office/drawing/2014/main" id="{C9BC6F7B-0CDC-589A-3263-C786211A4249}"/>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 xmlns:a16="http://schemas.microsoft.com/office/drawing/2014/main" id="{058E7247-6F0E-8A39-3CC8-AEB58ABC690A}"/>
              </a:ext>
            </a:extLst>
          </p:cNvPr>
          <p:cNvSpPr>
            <a:spLocks noGrp="1"/>
          </p:cNvSpPr>
          <p:nvPr>
            <p:ph type="sldNum" sz="quarter" idx="12"/>
          </p:nvPr>
        </p:nvSpPr>
        <p:spPr/>
        <p:txBody>
          <a:bodyPr/>
          <a:lstStyle/>
          <a:p>
            <a:fld id="{47244EE4-0327-458B-B1A5-28E1D7560212}" type="slidenum">
              <a:rPr lang="x-none" smtClean="0"/>
              <a:t>‹#›</a:t>
            </a:fld>
            <a:endParaRPr lang="x-none"/>
          </a:p>
        </p:txBody>
      </p:sp>
    </p:spTree>
    <p:extLst>
      <p:ext uri="{BB962C8B-B14F-4D97-AF65-F5344CB8AC3E}">
        <p14:creationId xmlns:p14="http://schemas.microsoft.com/office/powerpoint/2010/main" val="40068095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4C13EBA-A069-687C-D7FD-C2991AC00E65}"/>
              </a:ext>
            </a:extLst>
          </p:cNvPr>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a:extLst>
              <a:ext uri="{FF2B5EF4-FFF2-40B4-BE49-F238E27FC236}">
                <a16:creationId xmlns="" xmlns:a16="http://schemas.microsoft.com/office/drawing/2014/main" id="{5FAF86C6-4B02-7C57-7035-B3D42D589C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FE3A0C96-0595-A5A5-BA4D-537D86E19E9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 xmlns:a16="http://schemas.microsoft.com/office/drawing/2014/main" id="{29FCE840-BF21-D0AC-84F9-4DDDE57F15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109C16BC-7D56-6B29-FBAB-0D5EA30ACDB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 xmlns:a16="http://schemas.microsoft.com/office/drawing/2014/main" id="{7F8ED8CC-2583-6A60-541A-EDAB43EFE082}"/>
              </a:ext>
            </a:extLst>
          </p:cNvPr>
          <p:cNvSpPr>
            <a:spLocks noGrp="1"/>
          </p:cNvSpPr>
          <p:nvPr>
            <p:ph type="dt" sz="half" idx="10"/>
          </p:nvPr>
        </p:nvSpPr>
        <p:spPr/>
        <p:txBody>
          <a:bodyPr/>
          <a:lstStyle/>
          <a:p>
            <a:fld id="{E6A564E6-0F64-414D-82F2-DD88D738E59F}" type="datetimeFigureOut">
              <a:rPr lang="x-none" smtClean="0"/>
              <a:t>06/05/2024</a:t>
            </a:fld>
            <a:endParaRPr lang="x-none"/>
          </a:p>
        </p:txBody>
      </p:sp>
      <p:sp>
        <p:nvSpPr>
          <p:cNvPr id="8" name="Footer Placeholder 7">
            <a:extLst>
              <a:ext uri="{FF2B5EF4-FFF2-40B4-BE49-F238E27FC236}">
                <a16:creationId xmlns="" xmlns:a16="http://schemas.microsoft.com/office/drawing/2014/main" id="{81D9836D-F0AE-759A-F366-DCA1105C3C3F}"/>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 xmlns:a16="http://schemas.microsoft.com/office/drawing/2014/main" id="{FA086ED9-5647-2FA7-87D0-893216FD7593}"/>
              </a:ext>
            </a:extLst>
          </p:cNvPr>
          <p:cNvSpPr>
            <a:spLocks noGrp="1"/>
          </p:cNvSpPr>
          <p:nvPr>
            <p:ph type="sldNum" sz="quarter" idx="12"/>
          </p:nvPr>
        </p:nvSpPr>
        <p:spPr/>
        <p:txBody>
          <a:bodyPr/>
          <a:lstStyle/>
          <a:p>
            <a:fld id="{47244EE4-0327-458B-B1A5-28E1D7560212}" type="slidenum">
              <a:rPr lang="x-none" smtClean="0"/>
              <a:t>‹#›</a:t>
            </a:fld>
            <a:endParaRPr lang="x-none"/>
          </a:p>
        </p:txBody>
      </p:sp>
    </p:spTree>
    <p:extLst>
      <p:ext uri="{BB962C8B-B14F-4D97-AF65-F5344CB8AC3E}">
        <p14:creationId xmlns:p14="http://schemas.microsoft.com/office/powerpoint/2010/main" val="23249851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3C96B4C-A8DD-3ED4-AB53-1ED06AAE6071}"/>
              </a:ext>
            </a:extLst>
          </p:cNvPr>
          <p:cNvSpPr>
            <a:spLocks noGrp="1"/>
          </p:cNvSpPr>
          <p:nvPr>
            <p:ph type="title"/>
          </p:nvPr>
        </p:nvSpPr>
        <p:spPr/>
        <p:txBody>
          <a:bodyPr/>
          <a:lstStyle/>
          <a:p>
            <a:r>
              <a:rPr lang="en-US"/>
              <a:t>Click to edit Master title style</a:t>
            </a:r>
            <a:endParaRPr lang="x-none"/>
          </a:p>
        </p:txBody>
      </p:sp>
      <p:sp>
        <p:nvSpPr>
          <p:cNvPr id="3" name="Date Placeholder 2">
            <a:extLst>
              <a:ext uri="{FF2B5EF4-FFF2-40B4-BE49-F238E27FC236}">
                <a16:creationId xmlns="" xmlns:a16="http://schemas.microsoft.com/office/drawing/2014/main" id="{D0893295-BE7B-B367-78D7-865A46178682}"/>
              </a:ext>
            </a:extLst>
          </p:cNvPr>
          <p:cNvSpPr>
            <a:spLocks noGrp="1"/>
          </p:cNvSpPr>
          <p:nvPr>
            <p:ph type="dt" sz="half" idx="10"/>
          </p:nvPr>
        </p:nvSpPr>
        <p:spPr/>
        <p:txBody>
          <a:bodyPr/>
          <a:lstStyle/>
          <a:p>
            <a:fld id="{E6A564E6-0F64-414D-82F2-DD88D738E59F}" type="datetimeFigureOut">
              <a:rPr lang="x-none" smtClean="0"/>
              <a:t>06/05/2024</a:t>
            </a:fld>
            <a:endParaRPr lang="x-none"/>
          </a:p>
        </p:txBody>
      </p:sp>
      <p:sp>
        <p:nvSpPr>
          <p:cNvPr id="4" name="Footer Placeholder 3">
            <a:extLst>
              <a:ext uri="{FF2B5EF4-FFF2-40B4-BE49-F238E27FC236}">
                <a16:creationId xmlns="" xmlns:a16="http://schemas.microsoft.com/office/drawing/2014/main" id="{E0A04D05-3320-CA42-A975-69698308DE1E}"/>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 xmlns:a16="http://schemas.microsoft.com/office/drawing/2014/main" id="{DB57BE21-8BB7-C554-FD5A-A5E9B2B2CDEF}"/>
              </a:ext>
            </a:extLst>
          </p:cNvPr>
          <p:cNvSpPr>
            <a:spLocks noGrp="1"/>
          </p:cNvSpPr>
          <p:nvPr>
            <p:ph type="sldNum" sz="quarter" idx="12"/>
          </p:nvPr>
        </p:nvSpPr>
        <p:spPr/>
        <p:txBody>
          <a:bodyPr/>
          <a:lstStyle/>
          <a:p>
            <a:fld id="{47244EE4-0327-458B-B1A5-28E1D7560212}" type="slidenum">
              <a:rPr lang="x-none" smtClean="0"/>
              <a:t>‹#›</a:t>
            </a:fld>
            <a:endParaRPr lang="x-none"/>
          </a:p>
        </p:txBody>
      </p:sp>
    </p:spTree>
    <p:extLst>
      <p:ext uri="{BB962C8B-B14F-4D97-AF65-F5344CB8AC3E}">
        <p14:creationId xmlns:p14="http://schemas.microsoft.com/office/powerpoint/2010/main" val="17257407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C5B6B9ED-C6D7-A76E-0CE6-D546350BE956}"/>
              </a:ext>
            </a:extLst>
          </p:cNvPr>
          <p:cNvSpPr>
            <a:spLocks noGrp="1"/>
          </p:cNvSpPr>
          <p:nvPr>
            <p:ph type="dt" sz="half" idx="10"/>
          </p:nvPr>
        </p:nvSpPr>
        <p:spPr/>
        <p:txBody>
          <a:bodyPr/>
          <a:lstStyle/>
          <a:p>
            <a:fld id="{E6A564E6-0F64-414D-82F2-DD88D738E59F}" type="datetimeFigureOut">
              <a:rPr lang="x-none" smtClean="0"/>
              <a:t>06/05/2024</a:t>
            </a:fld>
            <a:endParaRPr lang="x-none"/>
          </a:p>
        </p:txBody>
      </p:sp>
      <p:sp>
        <p:nvSpPr>
          <p:cNvPr id="3" name="Footer Placeholder 2">
            <a:extLst>
              <a:ext uri="{FF2B5EF4-FFF2-40B4-BE49-F238E27FC236}">
                <a16:creationId xmlns="" xmlns:a16="http://schemas.microsoft.com/office/drawing/2014/main" id="{E4586486-22A3-44B8-C36A-7302CCB95F6F}"/>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 xmlns:a16="http://schemas.microsoft.com/office/drawing/2014/main" id="{3817C5AD-554A-EFAB-3FA0-940D18C53AF9}"/>
              </a:ext>
            </a:extLst>
          </p:cNvPr>
          <p:cNvSpPr>
            <a:spLocks noGrp="1"/>
          </p:cNvSpPr>
          <p:nvPr>
            <p:ph type="sldNum" sz="quarter" idx="12"/>
          </p:nvPr>
        </p:nvSpPr>
        <p:spPr/>
        <p:txBody>
          <a:bodyPr/>
          <a:lstStyle/>
          <a:p>
            <a:fld id="{47244EE4-0327-458B-B1A5-28E1D7560212}" type="slidenum">
              <a:rPr lang="x-none" smtClean="0"/>
              <a:t>‹#›</a:t>
            </a:fld>
            <a:endParaRPr lang="x-none"/>
          </a:p>
        </p:txBody>
      </p:sp>
    </p:spTree>
    <p:extLst>
      <p:ext uri="{BB962C8B-B14F-4D97-AF65-F5344CB8AC3E}">
        <p14:creationId xmlns:p14="http://schemas.microsoft.com/office/powerpoint/2010/main" val="2927961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3D93375-0CAD-F924-58D3-410DBEB031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 xmlns:a16="http://schemas.microsoft.com/office/drawing/2014/main" id="{D99A3F34-ED9C-2433-AE3A-CC6B019E51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 xmlns:a16="http://schemas.microsoft.com/office/drawing/2014/main" id="{A01BE96E-2E5E-5BF0-FED8-F7119A3171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1853FEB1-9DA7-B577-7CA6-38F77DB87FDC}"/>
              </a:ext>
            </a:extLst>
          </p:cNvPr>
          <p:cNvSpPr>
            <a:spLocks noGrp="1"/>
          </p:cNvSpPr>
          <p:nvPr>
            <p:ph type="dt" sz="half" idx="10"/>
          </p:nvPr>
        </p:nvSpPr>
        <p:spPr/>
        <p:txBody>
          <a:bodyPr/>
          <a:lstStyle/>
          <a:p>
            <a:fld id="{E6A564E6-0F64-414D-82F2-DD88D738E59F}" type="datetimeFigureOut">
              <a:rPr lang="x-none" smtClean="0"/>
              <a:t>06/05/2024</a:t>
            </a:fld>
            <a:endParaRPr lang="x-none"/>
          </a:p>
        </p:txBody>
      </p:sp>
      <p:sp>
        <p:nvSpPr>
          <p:cNvPr id="6" name="Footer Placeholder 5">
            <a:extLst>
              <a:ext uri="{FF2B5EF4-FFF2-40B4-BE49-F238E27FC236}">
                <a16:creationId xmlns="" xmlns:a16="http://schemas.microsoft.com/office/drawing/2014/main" id="{E2E7D6A8-166C-92C8-CB03-C1BE9B529EF3}"/>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 xmlns:a16="http://schemas.microsoft.com/office/drawing/2014/main" id="{DBB37952-F7E2-0709-FB28-28D2A257596E}"/>
              </a:ext>
            </a:extLst>
          </p:cNvPr>
          <p:cNvSpPr>
            <a:spLocks noGrp="1"/>
          </p:cNvSpPr>
          <p:nvPr>
            <p:ph type="sldNum" sz="quarter" idx="12"/>
          </p:nvPr>
        </p:nvSpPr>
        <p:spPr/>
        <p:txBody>
          <a:bodyPr/>
          <a:lstStyle/>
          <a:p>
            <a:fld id="{47244EE4-0327-458B-B1A5-28E1D7560212}" type="slidenum">
              <a:rPr lang="x-none" smtClean="0"/>
              <a:t>‹#›</a:t>
            </a:fld>
            <a:endParaRPr lang="x-none"/>
          </a:p>
        </p:txBody>
      </p:sp>
    </p:spTree>
    <p:extLst>
      <p:ext uri="{BB962C8B-B14F-4D97-AF65-F5344CB8AC3E}">
        <p14:creationId xmlns:p14="http://schemas.microsoft.com/office/powerpoint/2010/main" val="1682731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12AE370-C87F-FC4C-6465-BC04E3AC97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 xmlns:a16="http://schemas.microsoft.com/office/drawing/2014/main" id="{A99E88DF-7B4C-71CB-BC95-431F48CB16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a:extLst>
              <a:ext uri="{FF2B5EF4-FFF2-40B4-BE49-F238E27FC236}">
                <a16:creationId xmlns="" xmlns:a16="http://schemas.microsoft.com/office/drawing/2014/main" id="{E2EC7B20-ABE4-99B2-E30F-07FE2CC6D0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87499AA2-B0E6-3C97-C6B7-25752FBFFD5F}"/>
              </a:ext>
            </a:extLst>
          </p:cNvPr>
          <p:cNvSpPr>
            <a:spLocks noGrp="1"/>
          </p:cNvSpPr>
          <p:nvPr>
            <p:ph type="dt" sz="half" idx="10"/>
          </p:nvPr>
        </p:nvSpPr>
        <p:spPr/>
        <p:txBody>
          <a:bodyPr/>
          <a:lstStyle/>
          <a:p>
            <a:fld id="{E6A564E6-0F64-414D-82F2-DD88D738E59F}" type="datetimeFigureOut">
              <a:rPr lang="x-none" smtClean="0"/>
              <a:t>06/05/2024</a:t>
            </a:fld>
            <a:endParaRPr lang="x-none"/>
          </a:p>
        </p:txBody>
      </p:sp>
      <p:sp>
        <p:nvSpPr>
          <p:cNvPr id="6" name="Footer Placeholder 5">
            <a:extLst>
              <a:ext uri="{FF2B5EF4-FFF2-40B4-BE49-F238E27FC236}">
                <a16:creationId xmlns="" xmlns:a16="http://schemas.microsoft.com/office/drawing/2014/main" id="{3EAF72C5-43EF-60C8-D08D-5AC885B8E3DC}"/>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 xmlns:a16="http://schemas.microsoft.com/office/drawing/2014/main" id="{4D0D40BD-DEEB-D04A-2289-4D97B5CC2627}"/>
              </a:ext>
            </a:extLst>
          </p:cNvPr>
          <p:cNvSpPr>
            <a:spLocks noGrp="1"/>
          </p:cNvSpPr>
          <p:nvPr>
            <p:ph type="sldNum" sz="quarter" idx="12"/>
          </p:nvPr>
        </p:nvSpPr>
        <p:spPr/>
        <p:txBody>
          <a:bodyPr/>
          <a:lstStyle/>
          <a:p>
            <a:fld id="{47244EE4-0327-458B-B1A5-28E1D7560212}" type="slidenum">
              <a:rPr lang="x-none" smtClean="0"/>
              <a:t>‹#›</a:t>
            </a:fld>
            <a:endParaRPr lang="x-none"/>
          </a:p>
        </p:txBody>
      </p:sp>
    </p:spTree>
    <p:extLst>
      <p:ext uri="{BB962C8B-B14F-4D97-AF65-F5344CB8AC3E}">
        <p14:creationId xmlns:p14="http://schemas.microsoft.com/office/powerpoint/2010/main" val="38962272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B21EA6-87E8-7425-E283-7C655B59E379}"/>
              </a:ext>
            </a:extLst>
          </p:cNvPr>
          <p:cNvSpPr>
            <a:spLocks noGrp="1"/>
          </p:cNvSpPr>
          <p:nvPr>
            <p:ph type="title"/>
          </p:nvPr>
        </p:nvSpPr>
        <p:spPr/>
        <p:txBody>
          <a:bodyPr/>
          <a:lstStyle/>
          <a:p>
            <a:r>
              <a:rPr lang="en-US"/>
              <a:t>Click to edit Master title style</a:t>
            </a:r>
            <a:endParaRPr lang="x-none"/>
          </a:p>
        </p:txBody>
      </p:sp>
      <p:sp>
        <p:nvSpPr>
          <p:cNvPr id="3" name="Vertical Text Placeholder 2">
            <a:extLst>
              <a:ext uri="{FF2B5EF4-FFF2-40B4-BE49-F238E27FC236}">
                <a16:creationId xmlns="" xmlns:a16="http://schemas.microsoft.com/office/drawing/2014/main" id="{72014E40-A779-F3FB-86E4-32D945C7E06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EC6AB915-1F38-71D6-1617-ECA736D93A25}"/>
              </a:ext>
            </a:extLst>
          </p:cNvPr>
          <p:cNvSpPr>
            <a:spLocks noGrp="1"/>
          </p:cNvSpPr>
          <p:nvPr>
            <p:ph type="dt" sz="half" idx="10"/>
          </p:nvPr>
        </p:nvSpPr>
        <p:spPr/>
        <p:txBody>
          <a:bodyPr/>
          <a:lstStyle/>
          <a:p>
            <a:fld id="{E6A564E6-0F64-414D-82F2-DD88D738E59F}" type="datetimeFigureOut">
              <a:rPr lang="x-none" smtClean="0"/>
              <a:t>06/05/2024</a:t>
            </a:fld>
            <a:endParaRPr lang="x-none"/>
          </a:p>
        </p:txBody>
      </p:sp>
      <p:sp>
        <p:nvSpPr>
          <p:cNvPr id="5" name="Footer Placeholder 4">
            <a:extLst>
              <a:ext uri="{FF2B5EF4-FFF2-40B4-BE49-F238E27FC236}">
                <a16:creationId xmlns="" xmlns:a16="http://schemas.microsoft.com/office/drawing/2014/main" id="{9A86DAB8-2070-EC50-458F-BEFD76B4E972}"/>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AC025C77-7C25-41DB-1284-634D973AFC0F}"/>
              </a:ext>
            </a:extLst>
          </p:cNvPr>
          <p:cNvSpPr>
            <a:spLocks noGrp="1"/>
          </p:cNvSpPr>
          <p:nvPr>
            <p:ph type="sldNum" sz="quarter" idx="12"/>
          </p:nvPr>
        </p:nvSpPr>
        <p:spPr/>
        <p:txBody>
          <a:bodyPr/>
          <a:lstStyle/>
          <a:p>
            <a:fld id="{47244EE4-0327-458B-B1A5-28E1D7560212}" type="slidenum">
              <a:rPr lang="x-none" smtClean="0"/>
              <a:t>‹#›</a:t>
            </a:fld>
            <a:endParaRPr lang="x-none"/>
          </a:p>
        </p:txBody>
      </p:sp>
    </p:spTree>
    <p:extLst>
      <p:ext uri="{BB962C8B-B14F-4D97-AF65-F5344CB8AC3E}">
        <p14:creationId xmlns:p14="http://schemas.microsoft.com/office/powerpoint/2010/main" val="1654913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8EF37BBB-3BE6-D152-1A54-61D10FB08BB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x-none"/>
          </a:p>
        </p:txBody>
      </p:sp>
      <p:sp>
        <p:nvSpPr>
          <p:cNvPr id="3" name="Vertical Text Placeholder 2">
            <a:extLst>
              <a:ext uri="{FF2B5EF4-FFF2-40B4-BE49-F238E27FC236}">
                <a16:creationId xmlns="" xmlns:a16="http://schemas.microsoft.com/office/drawing/2014/main" id="{A4CD3E2F-DDA3-7E88-4B69-FB1A60295F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1C86A5D0-44EC-B8CF-26BC-F1EE01ADDD95}"/>
              </a:ext>
            </a:extLst>
          </p:cNvPr>
          <p:cNvSpPr>
            <a:spLocks noGrp="1"/>
          </p:cNvSpPr>
          <p:nvPr>
            <p:ph type="dt" sz="half" idx="10"/>
          </p:nvPr>
        </p:nvSpPr>
        <p:spPr/>
        <p:txBody>
          <a:bodyPr/>
          <a:lstStyle/>
          <a:p>
            <a:fld id="{E6A564E6-0F64-414D-82F2-DD88D738E59F}" type="datetimeFigureOut">
              <a:rPr lang="x-none" smtClean="0"/>
              <a:t>06/05/2024</a:t>
            </a:fld>
            <a:endParaRPr lang="x-none"/>
          </a:p>
        </p:txBody>
      </p:sp>
      <p:sp>
        <p:nvSpPr>
          <p:cNvPr id="5" name="Footer Placeholder 4">
            <a:extLst>
              <a:ext uri="{FF2B5EF4-FFF2-40B4-BE49-F238E27FC236}">
                <a16:creationId xmlns="" xmlns:a16="http://schemas.microsoft.com/office/drawing/2014/main" id="{06E46FF8-EC1D-7E58-DA8A-1EC57D1DEFF5}"/>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4F44A492-1F70-8A31-013A-BA311AC1B896}"/>
              </a:ext>
            </a:extLst>
          </p:cNvPr>
          <p:cNvSpPr>
            <a:spLocks noGrp="1"/>
          </p:cNvSpPr>
          <p:nvPr>
            <p:ph type="sldNum" sz="quarter" idx="12"/>
          </p:nvPr>
        </p:nvSpPr>
        <p:spPr/>
        <p:txBody>
          <a:bodyPr/>
          <a:lstStyle/>
          <a:p>
            <a:fld id="{47244EE4-0327-458B-B1A5-28E1D7560212}" type="slidenum">
              <a:rPr lang="x-none" smtClean="0"/>
              <a:t>‹#›</a:t>
            </a:fld>
            <a:endParaRPr lang="x-none"/>
          </a:p>
        </p:txBody>
      </p:sp>
    </p:spTree>
    <p:extLst>
      <p:ext uri="{BB962C8B-B14F-4D97-AF65-F5344CB8AC3E}">
        <p14:creationId xmlns:p14="http://schemas.microsoft.com/office/powerpoint/2010/main" val="413883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9D88AB43-847B-B462-33DF-AF6843DA16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x-none"/>
          </a:p>
        </p:txBody>
      </p:sp>
      <p:sp>
        <p:nvSpPr>
          <p:cNvPr id="3" name="Text Placeholder 2">
            <a:extLst>
              <a:ext uri="{FF2B5EF4-FFF2-40B4-BE49-F238E27FC236}">
                <a16:creationId xmlns="" xmlns:a16="http://schemas.microsoft.com/office/drawing/2014/main" id="{8EABF09F-A357-27BA-1A35-FC9133C47CE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70825741-4509-9B43-956A-83C80751CF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A564E6-0F64-414D-82F2-DD88D738E59F}" type="datetimeFigureOut">
              <a:rPr lang="x-none" smtClean="0"/>
              <a:t>06/05/2024</a:t>
            </a:fld>
            <a:endParaRPr lang="x-none"/>
          </a:p>
        </p:txBody>
      </p:sp>
      <p:sp>
        <p:nvSpPr>
          <p:cNvPr id="5" name="Footer Placeholder 4">
            <a:extLst>
              <a:ext uri="{FF2B5EF4-FFF2-40B4-BE49-F238E27FC236}">
                <a16:creationId xmlns="" xmlns:a16="http://schemas.microsoft.com/office/drawing/2014/main" id="{8FCD96C6-3020-0FA1-A4AF-E0449B53E1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 xmlns:a16="http://schemas.microsoft.com/office/drawing/2014/main" id="{C97F8D77-28BC-E99E-7457-51CA5559FB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244EE4-0327-458B-B1A5-28E1D7560212}" type="slidenum">
              <a:rPr lang="x-none" smtClean="0"/>
              <a:t>‹#›</a:t>
            </a:fld>
            <a:endParaRPr lang="x-none"/>
          </a:p>
        </p:txBody>
      </p:sp>
    </p:spTree>
    <p:extLst>
      <p:ext uri="{BB962C8B-B14F-4D97-AF65-F5344CB8AC3E}">
        <p14:creationId xmlns:p14="http://schemas.microsoft.com/office/powerpoint/2010/main" val="11023422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F5B7B66-C861-F31A-245E-9E175C4EC538}"/>
              </a:ext>
            </a:extLst>
          </p:cNvPr>
          <p:cNvSpPr>
            <a:spLocks noGrp="1"/>
          </p:cNvSpPr>
          <p:nvPr>
            <p:ph type="ctrTitle"/>
          </p:nvPr>
        </p:nvSpPr>
        <p:spPr/>
        <p:txBody>
          <a:bodyPr/>
          <a:lstStyle/>
          <a:p>
            <a:r>
              <a:rPr lang="en-US" b="1" dirty="0"/>
              <a:t>Conservation Agriculture</a:t>
            </a:r>
            <a:endParaRPr lang="x-none" b="1" dirty="0"/>
          </a:p>
        </p:txBody>
      </p:sp>
      <p:sp>
        <p:nvSpPr>
          <p:cNvPr id="3" name="Subtitle 2">
            <a:extLst>
              <a:ext uri="{FF2B5EF4-FFF2-40B4-BE49-F238E27FC236}">
                <a16:creationId xmlns="" xmlns:a16="http://schemas.microsoft.com/office/drawing/2014/main" id="{7D0216AD-BB00-F959-0810-6152E24111CD}"/>
              </a:ext>
            </a:extLst>
          </p:cNvPr>
          <p:cNvSpPr>
            <a:spLocks noGrp="1"/>
          </p:cNvSpPr>
          <p:nvPr>
            <p:ph type="subTitle" idx="1"/>
          </p:nvPr>
        </p:nvSpPr>
        <p:spPr/>
        <p:txBody>
          <a:bodyPr/>
          <a:lstStyle/>
          <a:p>
            <a:endParaRPr lang="x-none"/>
          </a:p>
        </p:txBody>
      </p:sp>
    </p:spTree>
    <p:extLst>
      <p:ext uri="{BB962C8B-B14F-4D97-AF65-F5344CB8AC3E}">
        <p14:creationId xmlns:p14="http://schemas.microsoft.com/office/powerpoint/2010/main" val="301518522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CB72FCC-40A9-EF28-5B03-74AC5ABD9E72}"/>
              </a:ext>
            </a:extLst>
          </p:cNvPr>
          <p:cNvSpPr>
            <a:spLocks noGrp="1"/>
          </p:cNvSpPr>
          <p:nvPr>
            <p:ph type="title"/>
          </p:nvPr>
        </p:nvSpPr>
        <p:spPr/>
        <p:txBody>
          <a:bodyPr/>
          <a:lstStyle/>
          <a:p>
            <a:pPr algn="ctr"/>
            <a:r>
              <a:rPr lang="en-US" b="1" dirty="0"/>
              <a:t>Introduction</a:t>
            </a:r>
            <a:endParaRPr lang="x-none" b="1" dirty="0"/>
          </a:p>
        </p:txBody>
      </p:sp>
      <p:sp>
        <p:nvSpPr>
          <p:cNvPr id="3" name="Content Placeholder 2">
            <a:extLst>
              <a:ext uri="{FF2B5EF4-FFF2-40B4-BE49-F238E27FC236}">
                <a16:creationId xmlns="" xmlns:a16="http://schemas.microsoft.com/office/drawing/2014/main" id="{83B9763E-833A-CC6E-0524-08AC32DCD764}"/>
              </a:ext>
            </a:extLst>
          </p:cNvPr>
          <p:cNvSpPr>
            <a:spLocks noGrp="1"/>
          </p:cNvSpPr>
          <p:nvPr>
            <p:ph idx="1"/>
          </p:nvPr>
        </p:nvSpPr>
        <p:spPr/>
        <p:txBody>
          <a:bodyPr>
            <a:normAutofit fontScale="92500" lnSpcReduction="20000"/>
          </a:bodyPr>
          <a:lstStyle/>
          <a:p>
            <a:r>
              <a:rPr lang="en-GB" b="1" dirty="0"/>
              <a:t>What is Conservation Tillage?</a:t>
            </a:r>
          </a:p>
          <a:p>
            <a:pPr algn="just"/>
            <a:r>
              <a:rPr lang="en-US" dirty="0"/>
              <a:t>Conservation Tillage refers to a number of practices that in combination</a:t>
            </a:r>
          </a:p>
          <a:p>
            <a:pPr algn="just"/>
            <a:r>
              <a:rPr lang="en-US" dirty="0"/>
              <a:t>conserve soil, moisture, fertiliser, seeds, energy, time and money. With</a:t>
            </a:r>
          </a:p>
          <a:p>
            <a:pPr algn="just"/>
            <a:r>
              <a:rPr lang="en-US" dirty="0"/>
              <a:t>Conservation Tillage (CT), Minimum Tillage is used to plant the crop but</a:t>
            </a:r>
          </a:p>
          <a:p>
            <a:pPr algn="just"/>
            <a:r>
              <a:rPr lang="en-US" dirty="0"/>
              <a:t>other simple techniques are also applied, which:</a:t>
            </a:r>
          </a:p>
          <a:p>
            <a:pPr algn="just"/>
            <a:r>
              <a:rPr lang="en-US" dirty="0" smtClean="0"/>
              <a:t> </a:t>
            </a:r>
            <a:r>
              <a:rPr lang="en-US" i="1" dirty="0"/>
              <a:t>Protect the soil from the damaging </a:t>
            </a:r>
            <a:r>
              <a:rPr lang="en-US" i="1" dirty="0" smtClean="0"/>
              <a:t>effects </a:t>
            </a:r>
            <a:r>
              <a:rPr lang="en-US" i="1" dirty="0"/>
              <a:t>of rain splash;</a:t>
            </a:r>
          </a:p>
          <a:p>
            <a:pPr algn="just"/>
            <a:r>
              <a:rPr lang="en-US" i="1" dirty="0" smtClean="0"/>
              <a:t> </a:t>
            </a:r>
            <a:r>
              <a:rPr lang="en-US" i="1" dirty="0"/>
              <a:t>Reduce run </a:t>
            </a:r>
            <a:r>
              <a:rPr lang="en-US" i="1" dirty="0" smtClean="0"/>
              <a:t>off </a:t>
            </a:r>
            <a:r>
              <a:rPr lang="en-US" i="1" dirty="0"/>
              <a:t>and keep more of the rain on the fields, this is </a:t>
            </a:r>
            <a:r>
              <a:rPr lang="en-US" i="1" dirty="0" smtClean="0"/>
              <a:t>called </a:t>
            </a:r>
            <a:r>
              <a:rPr lang="en-GB" b="1" i="1" dirty="0" smtClean="0"/>
              <a:t>rain </a:t>
            </a:r>
            <a:r>
              <a:rPr lang="en-GB" b="1" i="1" dirty="0"/>
              <a:t>harvesting</a:t>
            </a:r>
            <a:r>
              <a:rPr lang="en-GB" i="1" dirty="0"/>
              <a:t>;</a:t>
            </a:r>
          </a:p>
          <a:p>
            <a:pPr algn="just"/>
            <a:r>
              <a:rPr lang="en-US" i="1" dirty="0" smtClean="0"/>
              <a:t>Make </a:t>
            </a:r>
            <a:r>
              <a:rPr lang="en-US" i="1" dirty="0"/>
              <a:t>the best use of costly fertiliser and seeds; and</a:t>
            </a:r>
          </a:p>
          <a:p>
            <a:pPr algn="just"/>
            <a:r>
              <a:rPr lang="en-US" i="1" dirty="0" smtClean="0"/>
              <a:t>Allow </a:t>
            </a:r>
            <a:r>
              <a:rPr lang="en-US" i="1" dirty="0"/>
              <a:t>farmers to finish land preparation well before the rains </a:t>
            </a:r>
            <a:r>
              <a:rPr lang="en-US" i="1" dirty="0" smtClean="0"/>
              <a:t>come so </a:t>
            </a:r>
            <a:r>
              <a:rPr lang="en-US" i="1" dirty="0"/>
              <a:t>they are ready in good time.</a:t>
            </a:r>
            <a:endParaRPr lang="x-none" i="1" dirty="0"/>
          </a:p>
        </p:txBody>
      </p:sp>
    </p:spTree>
    <p:extLst>
      <p:ext uri="{BB962C8B-B14F-4D97-AF65-F5344CB8AC3E}">
        <p14:creationId xmlns:p14="http://schemas.microsoft.com/office/powerpoint/2010/main" val="319502771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r>
              <a:rPr lang="en-GB" b="1" dirty="0"/>
              <a:t>What is Conservation Farming?</a:t>
            </a:r>
          </a:p>
          <a:p>
            <a:r>
              <a:rPr lang="en-US" dirty="0"/>
              <a:t>Conservation farmers use Conservation Tillage methods to establish</a:t>
            </a:r>
          </a:p>
          <a:p>
            <a:pPr marL="0" indent="0">
              <a:buNone/>
            </a:pPr>
            <a:r>
              <a:rPr lang="en-US" dirty="0"/>
              <a:t>their crops but they also grow legumes in rotation with their other crops.</a:t>
            </a:r>
          </a:p>
          <a:p>
            <a:r>
              <a:rPr lang="en-US" dirty="0"/>
              <a:t>Legumes, depending on the varieties grown, fix Nitrogen, improve </a:t>
            </a:r>
            <a:r>
              <a:rPr lang="en-US" dirty="0" smtClean="0"/>
              <a:t>fertility, break </a:t>
            </a:r>
            <a:r>
              <a:rPr lang="en-US" dirty="0"/>
              <a:t>soil pans and are an excellent source of protein for the family.</a:t>
            </a:r>
          </a:p>
          <a:p>
            <a:r>
              <a:rPr lang="en-US" dirty="0"/>
              <a:t>Conservation farmers </a:t>
            </a:r>
            <a:r>
              <a:rPr lang="en-US" dirty="0" err="1"/>
              <a:t>recognise</a:t>
            </a:r>
            <a:r>
              <a:rPr lang="en-US" dirty="0"/>
              <a:t> the </a:t>
            </a:r>
            <a:r>
              <a:rPr lang="en-US" dirty="0" smtClean="0"/>
              <a:t>value </a:t>
            </a:r>
            <a:r>
              <a:rPr lang="en-US" dirty="0"/>
              <a:t>of trees and live in harmony</a:t>
            </a:r>
          </a:p>
          <a:p>
            <a:pPr marL="0" indent="0">
              <a:buNone/>
            </a:pPr>
            <a:r>
              <a:rPr lang="en-US" dirty="0"/>
              <a:t>with the land rather than destroying it.</a:t>
            </a:r>
            <a:endParaRPr lang="en-GB" dirty="0"/>
          </a:p>
        </p:txBody>
      </p:sp>
    </p:spTree>
    <p:extLst>
      <p:ext uri="{BB962C8B-B14F-4D97-AF65-F5344CB8AC3E}">
        <p14:creationId xmlns:p14="http://schemas.microsoft.com/office/powerpoint/2010/main" val="39348427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Adoption Definitions</a:t>
            </a:r>
            <a:endParaRPr lang="en-GB" b="1" dirty="0"/>
          </a:p>
        </p:txBody>
      </p:sp>
      <p:sp>
        <p:nvSpPr>
          <p:cNvPr id="3" name="Content Placeholder 2"/>
          <p:cNvSpPr>
            <a:spLocks noGrp="1"/>
          </p:cNvSpPr>
          <p:nvPr>
            <p:ph idx="1"/>
          </p:nvPr>
        </p:nvSpPr>
        <p:spPr/>
        <p:txBody>
          <a:bodyPr/>
          <a:lstStyle/>
          <a:p>
            <a:pPr marL="0" indent="0">
              <a:buNone/>
            </a:pPr>
            <a:endParaRPr lang="en-GB" b="1" dirty="0"/>
          </a:p>
          <a:p>
            <a:r>
              <a:rPr lang="en-US" dirty="0"/>
              <a:t>It is sometimes </a:t>
            </a:r>
            <a:r>
              <a:rPr lang="en-US" dirty="0" smtClean="0"/>
              <a:t>difficult </a:t>
            </a:r>
            <a:r>
              <a:rPr lang="en-US" dirty="0"/>
              <a:t>to decide whether a farmer is a true</a:t>
            </a:r>
          </a:p>
          <a:p>
            <a:r>
              <a:rPr lang="en-US" dirty="0"/>
              <a:t>adopter of CT or Conservation Farming (CF). </a:t>
            </a:r>
            <a:endParaRPr lang="en-US" dirty="0" smtClean="0"/>
          </a:p>
          <a:p>
            <a:r>
              <a:rPr lang="en-US" dirty="0" smtClean="0"/>
              <a:t>The definitions below </a:t>
            </a:r>
            <a:r>
              <a:rPr lang="en-US" dirty="0"/>
              <a:t>describe 3 levels of adoption, from partial </a:t>
            </a:r>
            <a:r>
              <a:rPr lang="en-US" dirty="0" smtClean="0"/>
              <a:t>adoption through </a:t>
            </a:r>
            <a:r>
              <a:rPr lang="en-US" dirty="0"/>
              <a:t>to full adoption of CF. </a:t>
            </a:r>
            <a:endParaRPr lang="en-US" dirty="0" smtClean="0"/>
          </a:p>
          <a:p>
            <a:r>
              <a:rPr lang="en-US" dirty="0" smtClean="0"/>
              <a:t>These </a:t>
            </a:r>
            <a:r>
              <a:rPr lang="en-US" dirty="0"/>
              <a:t>definitions are </a:t>
            </a:r>
            <a:r>
              <a:rPr lang="en-US" dirty="0" smtClean="0"/>
              <a:t>non negotiable</a:t>
            </a:r>
            <a:r>
              <a:rPr lang="en-US" dirty="0"/>
              <a:t> </a:t>
            </a:r>
            <a:r>
              <a:rPr lang="en-US" dirty="0" smtClean="0"/>
              <a:t>because </a:t>
            </a:r>
            <a:r>
              <a:rPr lang="en-US" dirty="0"/>
              <a:t>they describe practices that are the </a:t>
            </a:r>
            <a:r>
              <a:rPr lang="en-US" dirty="0" smtClean="0"/>
              <a:t>very </a:t>
            </a:r>
            <a:r>
              <a:rPr lang="en-GB" dirty="0" smtClean="0"/>
              <a:t>foundation </a:t>
            </a:r>
            <a:r>
              <a:rPr lang="en-GB" dirty="0"/>
              <a:t>of hoe CF</a:t>
            </a:r>
          </a:p>
        </p:txBody>
      </p:sp>
    </p:spTree>
    <p:extLst>
      <p:ext uri="{BB962C8B-B14F-4D97-AF65-F5344CB8AC3E}">
        <p14:creationId xmlns:p14="http://schemas.microsoft.com/office/powerpoint/2010/main" val="353928752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6" name="Content Placeholder 5"/>
          <p:cNvPicPr>
            <a:picLocks noGrp="1" noChangeAspect="1"/>
          </p:cNvPicPr>
          <p:nvPr>
            <p:ph idx="1"/>
          </p:nvPr>
        </p:nvPicPr>
        <p:blipFill>
          <a:blip r:embed="rId2"/>
          <a:stretch>
            <a:fillRect/>
          </a:stretch>
        </p:blipFill>
        <p:spPr>
          <a:xfrm>
            <a:off x="1416818" y="1690688"/>
            <a:ext cx="9936982" cy="4679967"/>
          </a:xfrm>
          <a:prstGeom prst="rect">
            <a:avLst/>
          </a:prstGeom>
        </p:spPr>
      </p:pic>
    </p:spTree>
    <p:extLst>
      <p:ext uri="{BB962C8B-B14F-4D97-AF65-F5344CB8AC3E}">
        <p14:creationId xmlns:p14="http://schemas.microsoft.com/office/powerpoint/2010/main" val="40679950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Main Benefits of Conservation Farming</a:t>
            </a:r>
            <a:endParaRPr lang="en-GB" b="1" dirty="0"/>
          </a:p>
        </p:txBody>
      </p:sp>
      <p:sp>
        <p:nvSpPr>
          <p:cNvPr id="3" name="Content Placeholder 2"/>
          <p:cNvSpPr>
            <a:spLocks noGrp="1"/>
          </p:cNvSpPr>
          <p:nvPr>
            <p:ph idx="1"/>
          </p:nvPr>
        </p:nvSpPr>
        <p:spPr/>
        <p:txBody>
          <a:bodyPr>
            <a:normAutofit fontScale="92500" lnSpcReduction="20000"/>
          </a:bodyPr>
          <a:lstStyle/>
          <a:p>
            <a:pPr marL="0" indent="0">
              <a:buNone/>
            </a:pPr>
            <a:endParaRPr lang="en-GB" b="1" dirty="0"/>
          </a:p>
          <a:p>
            <a:r>
              <a:rPr lang="en-US" dirty="0"/>
              <a:t>CF involves adopting a number of husbandry practices that together comprise a complete farming system. If these practices are followed</a:t>
            </a:r>
          </a:p>
          <a:p>
            <a:r>
              <a:rPr lang="en-US" dirty="0"/>
              <a:t>correctly, a number of important benefits arise:</a:t>
            </a:r>
          </a:p>
          <a:p>
            <a:r>
              <a:rPr lang="en-US" dirty="0" smtClean="0"/>
              <a:t>Farmers </a:t>
            </a:r>
            <a:r>
              <a:rPr lang="en-US" dirty="0"/>
              <a:t>can plant a larger area because they are not moving or turning over the soil before they plant. This saves money and time. For</a:t>
            </a:r>
          </a:p>
          <a:p>
            <a:r>
              <a:rPr lang="en-US" dirty="0"/>
              <a:t>example, conventional </a:t>
            </a:r>
            <a:r>
              <a:rPr lang="en-US" dirty="0" err="1"/>
              <a:t>ploughing</a:t>
            </a:r>
            <a:r>
              <a:rPr lang="en-US" dirty="0"/>
              <a:t> or ridging 1 hectare of land to 10cms depth involves turning over or moving 1,000 tons of soil.</a:t>
            </a:r>
          </a:p>
          <a:p>
            <a:r>
              <a:rPr lang="en-US" dirty="0" smtClean="0"/>
              <a:t>Farmers </a:t>
            </a:r>
            <a:r>
              <a:rPr lang="en-US" dirty="0"/>
              <a:t>can begin to prepare their land as soon as they have harvested. This allows for early planting at the onset of the rains, which is</a:t>
            </a:r>
          </a:p>
          <a:p>
            <a:r>
              <a:rPr lang="en-US" dirty="0"/>
              <a:t>critical for success. Early land preparation and rapid planting also permit early weeding.</a:t>
            </a:r>
          </a:p>
          <a:p>
            <a:endParaRPr lang="en-US" dirty="0"/>
          </a:p>
        </p:txBody>
      </p:sp>
    </p:spTree>
    <p:extLst>
      <p:ext uri="{BB962C8B-B14F-4D97-AF65-F5344CB8AC3E}">
        <p14:creationId xmlns:p14="http://schemas.microsoft.com/office/powerpoint/2010/main" val="20765956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Main Benefits of Conservation Farming</a:t>
            </a:r>
            <a:endParaRPr lang="en-GB" b="1" dirty="0"/>
          </a:p>
        </p:txBody>
      </p:sp>
      <p:sp>
        <p:nvSpPr>
          <p:cNvPr id="3" name="Content Placeholder 2"/>
          <p:cNvSpPr>
            <a:spLocks noGrp="1"/>
          </p:cNvSpPr>
          <p:nvPr>
            <p:ph idx="1"/>
          </p:nvPr>
        </p:nvSpPr>
        <p:spPr/>
        <p:txBody>
          <a:bodyPr>
            <a:normAutofit/>
          </a:bodyPr>
          <a:lstStyle/>
          <a:p>
            <a:pPr marL="0" indent="0">
              <a:buNone/>
            </a:pPr>
            <a:endParaRPr lang="en-GB" b="1" dirty="0"/>
          </a:p>
          <a:p>
            <a:endParaRPr lang="en-US" dirty="0"/>
          </a:p>
        </p:txBody>
      </p:sp>
      <p:sp>
        <p:nvSpPr>
          <p:cNvPr id="4" name="Rectangle 3"/>
          <p:cNvSpPr/>
          <p:nvPr/>
        </p:nvSpPr>
        <p:spPr>
          <a:xfrm>
            <a:off x="838200" y="1582341"/>
            <a:ext cx="9230248" cy="3785652"/>
          </a:xfrm>
          <a:prstGeom prst="rect">
            <a:avLst/>
          </a:prstGeom>
        </p:spPr>
        <p:txBody>
          <a:bodyPr wrap="square">
            <a:spAutoFit/>
          </a:bodyPr>
          <a:lstStyle/>
          <a:p>
            <a:pPr algn="just"/>
            <a:r>
              <a:rPr lang="en-US" dirty="0"/>
              <a:t>• </a:t>
            </a:r>
            <a:r>
              <a:rPr lang="en-US" sz="2400" dirty="0"/>
              <a:t>Labour requirement for land preparation is spread over several months rather than being done at once. It is therefore more suitable for</a:t>
            </a:r>
          </a:p>
          <a:p>
            <a:pPr algn="just"/>
            <a:r>
              <a:rPr lang="en-GB" sz="2400" dirty="0"/>
              <a:t>women.</a:t>
            </a:r>
          </a:p>
          <a:p>
            <a:pPr algn="just"/>
            <a:r>
              <a:rPr lang="en-US" sz="2400" dirty="0"/>
              <a:t>• Fertilisers and seeds are increasingly costly. Accurate placement of fertilisers and seed reduces wastage and allows optimal use by the</a:t>
            </a:r>
          </a:p>
          <a:p>
            <a:pPr algn="just"/>
            <a:r>
              <a:rPr lang="en-GB" sz="2400" dirty="0"/>
              <a:t>crop.</a:t>
            </a:r>
          </a:p>
          <a:p>
            <a:pPr algn="just"/>
            <a:r>
              <a:rPr lang="en-US" sz="2400" dirty="0"/>
              <a:t>• Retaining residues reduces soil and water loss, improves infiltration, reduces soil temperatures and, in time, improves soil fertility.</a:t>
            </a:r>
          </a:p>
          <a:p>
            <a:pPr algn="just"/>
            <a:r>
              <a:rPr lang="en-US" sz="2400" dirty="0"/>
              <a:t>Conservation Farming </a:t>
            </a:r>
            <a:r>
              <a:rPr lang="en-US" sz="2400" dirty="0" err="1"/>
              <a:t>minimises</a:t>
            </a:r>
            <a:r>
              <a:rPr lang="en-US" sz="2400" dirty="0"/>
              <a:t> crop loss in drought years and improves food security.</a:t>
            </a:r>
          </a:p>
        </p:txBody>
      </p:sp>
    </p:spTree>
    <p:extLst>
      <p:ext uri="{BB962C8B-B14F-4D97-AF65-F5344CB8AC3E}">
        <p14:creationId xmlns:p14="http://schemas.microsoft.com/office/powerpoint/2010/main" val="114346803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Main Benefits of Conservation Farming</a:t>
            </a:r>
            <a:endParaRPr lang="en-GB" b="1" dirty="0"/>
          </a:p>
        </p:txBody>
      </p:sp>
      <p:sp>
        <p:nvSpPr>
          <p:cNvPr id="3" name="Content Placeholder 2"/>
          <p:cNvSpPr>
            <a:spLocks noGrp="1"/>
          </p:cNvSpPr>
          <p:nvPr>
            <p:ph idx="1"/>
          </p:nvPr>
        </p:nvSpPr>
        <p:spPr/>
        <p:txBody>
          <a:bodyPr>
            <a:normAutofit/>
          </a:bodyPr>
          <a:lstStyle/>
          <a:p>
            <a:pPr marL="0" indent="0">
              <a:buNone/>
            </a:pPr>
            <a:endParaRPr lang="en-GB" b="1" dirty="0"/>
          </a:p>
          <a:p>
            <a:endParaRPr lang="en-US" dirty="0"/>
          </a:p>
        </p:txBody>
      </p:sp>
      <p:sp>
        <p:nvSpPr>
          <p:cNvPr id="4" name="Rectangle 3"/>
          <p:cNvSpPr/>
          <p:nvPr/>
        </p:nvSpPr>
        <p:spPr>
          <a:xfrm>
            <a:off x="838200" y="1582341"/>
            <a:ext cx="9230248" cy="369332"/>
          </a:xfrm>
          <a:prstGeom prst="rect">
            <a:avLst/>
          </a:prstGeom>
        </p:spPr>
        <p:txBody>
          <a:bodyPr wrap="square">
            <a:spAutoFit/>
          </a:bodyPr>
          <a:lstStyle/>
          <a:p>
            <a:pPr algn="just"/>
            <a:r>
              <a:rPr lang="en-US" dirty="0" smtClean="0"/>
              <a:t> </a:t>
            </a:r>
            <a:endParaRPr lang="en-US" sz="2400" dirty="0"/>
          </a:p>
        </p:txBody>
      </p:sp>
      <p:sp>
        <p:nvSpPr>
          <p:cNvPr id="5" name="Rectangle 4"/>
          <p:cNvSpPr/>
          <p:nvPr/>
        </p:nvSpPr>
        <p:spPr>
          <a:xfrm>
            <a:off x="1004835" y="1997839"/>
            <a:ext cx="9455499" cy="3046988"/>
          </a:xfrm>
          <a:prstGeom prst="rect">
            <a:avLst/>
          </a:prstGeom>
        </p:spPr>
        <p:txBody>
          <a:bodyPr wrap="square">
            <a:spAutoFit/>
          </a:bodyPr>
          <a:lstStyle/>
          <a:p>
            <a:pPr algn="just"/>
            <a:r>
              <a:rPr lang="en-US" dirty="0"/>
              <a:t>•</a:t>
            </a:r>
            <a:r>
              <a:rPr lang="en-US" sz="2400" dirty="0"/>
              <a:t> Planting holes or ‘basins’ concentrate early rainfall around the seeds, accelerating emergence and improving crop stands.</a:t>
            </a:r>
          </a:p>
          <a:p>
            <a:pPr algn="just"/>
            <a:r>
              <a:rPr lang="en-US" sz="2400" dirty="0"/>
              <a:t>• Because seeds are planted in the same place each year, residual fertiliser from cereal crops can be taken up </a:t>
            </a:r>
            <a:r>
              <a:rPr lang="en-US" sz="2400" dirty="0" smtClean="0"/>
              <a:t>efficiently </a:t>
            </a:r>
            <a:r>
              <a:rPr lang="en-US" sz="2400" dirty="0"/>
              <a:t>by subsequent</a:t>
            </a:r>
          </a:p>
          <a:p>
            <a:pPr algn="just"/>
            <a:r>
              <a:rPr lang="en-US" sz="2400" dirty="0"/>
              <a:t>crops. Deep rooting crops can be used in rotation to break pans by making root channels which weaker rooting crops can follow;</a:t>
            </a:r>
          </a:p>
          <a:p>
            <a:pPr algn="just"/>
            <a:r>
              <a:rPr lang="en-US" sz="2400" dirty="0"/>
              <a:t>• Because the inter-row is never ploughed, weed populations will decline over time as long as weeds are not allowed to seed.</a:t>
            </a:r>
          </a:p>
        </p:txBody>
      </p:sp>
    </p:spTree>
    <p:extLst>
      <p:ext uri="{BB962C8B-B14F-4D97-AF65-F5344CB8AC3E}">
        <p14:creationId xmlns:p14="http://schemas.microsoft.com/office/powerpoint/2010/main" val="274180713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Main Benefits of Conservation Farming</a:t>
            </a:r>
            <a:endParaRPr lang="en-GB" b="1" dirty="0"/>
          </a:p>
        </p:txBody>
      </p:sp>
      <p:sp>
        <p:nvSpPr>
          <p:cNvPr id="3" name="Content Placeholder 2"/>
          <p:cNvSpPr>
            <a:spLocks noGrp="1"/>
          </p:cNvSpPr>
          <p:nvPr>
            <p:ph idx="1"/>
          </p:nvPr>
        </p:nvSpPr>
        <p:spPr/>
        <p:txBody>
          <a:bodyPr>
            <a:normAutofit/>
          </a:bodyPr>
          <a:lstStyle/>
          <a:p>
            <a:pPr marL="0" indent="0">
              <a:buNone/>
            </a:pPr>
            <a:endParaRPr lang="en-GB" b="1" dirty="0"/>
          </a:p>
          <a:p>
            <a:endParaRPr lang="en-US" dirty="0"/>
          </a:p>
        </p:txBody>
      </p:sp>
      <p:sp>
        <p:nvSpPr>
          <p:cNvPr id="4" name="Rectangle 3"/>
          <p:cNvSpPr/>
          <p:nvPr/>
        </p:nvSpPr>
        <p:spPr>
          <a:xfrm>
            <a:off x="838200" y="1582341"/>
            <a:ext cx="9230248" cy="369332"/>
          </a:xfrm>
          <a:prstGeom prst="rect">
            <a:avLst/>
          </a:prstGeom>
        </p:spPr>
        <p:txBody>
          <a:bodyPr wrap="square">
            <a:spAutoFit/>
          </a:bodyPr>
          <a:lstStyle/>
          <a:p>
            <a:pPr algn="just"/>
            <a:r>
              <a:rPr lang="en-US" dirty="0" smtClean="0"/>
              <a:t> </a:t>
            </a:r>
            <a:endParaRPr lang="en-US" sz="2400" dirty="0"/>
          </a:p>
        </p:txBody>
      </p:sp>
      <p:sp>
        <p:nvSpPr>
          <p:cNvPr id="5" name="Rectangle 4"/>
          <p:cNvSpPr/>
          <p:nvPr/>
        </p:nvSpPr>
        <p:spPr>
          <a:xfrm>
            <a:off x="1004835" y="1997839"/>
            <a:ext cx="9455499" cy="4524315"/>
          </a:xfrm>
          <a:prstGeom prst="rect">
            <a:avLst/>
          </a:prstGeom>
        </p:spPr>
        <p:txBody>
          <a:bodyPr wrap="square">
            <a:spAutoFit/>
          </a:bodyPr>
          <a:lstStyle/>
          <a:p>
            <a:endParaRPr lang="en-US" sz="2400" dirty="0" smtClean="0"/>
          </a:p>
          <a:p>
            <a:pPr marL="342900" indent="-342900" algn="just">
              <a:buFont typeface="Arial" panose="020B0604020202020204" pitchFamily="34" charset="0"/>
              <a:buChar char="•"/>
            </a:pPr>
            <a:r>
              <a:rPr lang="en-US" sz="2400" dirty="0"/>
              <a:t>Rotations with legumes reduce the requirement for artificial fertilisers. Pigeon peas and other legumes also have strong roots that </a:t>
            </a:r>
            <a:r>
              <a:rPr lang="en-US" sz="2400" dirty="0" smtClean="0"/>
              <a:t>break plough </a:t>
            </a:r>
            <a:r>
              <a:rPr lang="en-US" sz="2400" dirty="0"/>
              <a:t>pans and aerate the soil. </a:t>
            </a:r>
            <a:endParaRPr lang="en-US" sz="2400" dirty="0" smtClean="0"/>
          </a:p>
          <a:p>
            <a:pPr marL="342900" indent="-342900" algn="just">
              <a:buFont typeface="Arial" panose="020B0604020202020204" pitchFamily="34" charset="0"/>
              <a:buChar char="•"/>
            </a:pPr>
            <a:r>
              <a:rPr lang="en-US" sz="2400" dirty="0" smtClean="0"/>
              <a:t>Pigeon </a:t>
            </a:r>
            <a:r>
              <a:rPr lang="en-US" sz="2400" dirty="0"/>
              <a:t>peas also recycle phosphorous from deeper layers and make it available to shallower </a:t>
            </a:r>
            <a:r>
              <a:rPr lang="en-US" sz="2400" dirty="0" smtClean="0"/>
              <a:t>rooted crops </a:t>
            </a:r>
            <a:r>
              <a:rPr lang="en-US" sz="2400" dirty="0"/>
              <a:t>that follow in rotation</a:t>
            </a:r>
            <a:r>
              <a:rPr lang="en-US" sz="2400" dirty="0" smtClean="0"/>
              <a:t>.</a:t>
            </a:r>
          </a:p>
          <a:p>
            <a:pPr marL="342900" indent="-342900" algn="just">
              <a:buFont typeface="Arial" panose="020B0604020202020204" pitchFamily="34" charset="0"/>
              <a:buChar char="•"/>
            </a:pPr>
            <a:r>
              <a:rPr lang="en-US" sz="2400" dirty="0" smtClean="0"/>
              <a:t> </a:t>
            </a:r>
            <a:r>
              <a:rPr lang="en-US" sz="2400" dirty="0"/>
              <a:t>Early maturing varieties of Cowpea and Gram provide a high protein source in February when food </a:t>
            </a:r>
            <a:r>
              <a:rPr lang="en-US" sz="2400" dirty="0" smtClean="0"/>
              <a:t>is </a:t>
            </a:r>
            <a:r>
              <a:rPr lang="en-GB" sz="2400" dirty="0" smtClean="0"/>
              <a:t>generally </a:t>
            </a:r>
            <a:r>
              <a:rPr lang="en-GB" sz="2400" dirty="0"/>
              <a:t>scarce.</a:t>
            </a:r>
          </a:p>
          <a:p>
            <a:pPr algn="just"/>
            <a:r>
              <a:rPr lang="en-US" sz="2400" dirty="0"/>
              <a:t>• </a:t>
            </a:r>
            <a:r>
              <a:rPr lang="en-US" sz="2400" dirty="0" err="1"/>
              <a:t>Handhoe</a:t>
            </a:r>
            <a:r>
              <a:rPr lang="en-US" sz="2400" dirty="0"/>
              <a:t> CF does not entail the need for purchasing any </a:t>
            </a:r>
            <a:r>
              <a:rPr lang="en-US" sz="2400" dirty="0" smtClean="0"/>
              <a:t>additional capital </a:t>
            </a:r>
            <a:r>
              <a:rPr lang="en-US" sz="2400" dirty="0"/>
              <a:t>equipment by the smallholder. It is also easy to understand</a:t>
            </a:r>
          </a:p>
          <a:p>
            <a:pPr algn="just"/>
            <a:r>
              <a:rPr lang="en-GB" sz="2400" dirty="0"/>
              <a:t>and apply.</a:t>
            </a:r>
          </a:p>
          <a:p>
            <a:endParaRPr lang="en-US" sz="2400" dirty="0"/>
          </a:p>
        </p:txBody>
      </p:sp>
    </p:spTree>
    <p:extLst>
      <p:ext uri="{BB962C8B-B14F-4D97-AF65-F5344CB8AC3E}">
        <p14:creationId xmlns:p14="http://schemas.microsoft.com/office/powerpoint/2010/main" val="15520805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CB72FCC-40A9-EF28-5B03-74AC5ABD9E72}"/>
              </a:ext>
            </a:extLst>
          </p:cNvPr>
          <p:cNvSpPr>
            <a:spLocks noGrp="1"/>
          </p:cNvSpPr>
          <p:nvPr>
            <p:ph type="title"/>
          </p:nvPr>
        </p:nvSpPr>
        <p:spPr/>
        <p:txBody>
          <a:bodyPr/>
          <a:lstStyle/>
          <a:p>
            <a:pPr algn="ctr"/>
            <a:r>
              <a:rPr lang="en-US" b="1" dirty="0"/>
              <a:t>Introduction</a:t>
            </a:r>
            <a:endParaRPr lang="x-none" b="1" dirty="0"/>
          </a:p>
        </p:txBody>
      </p:sp>
      <p:sp>
        <p:nvSpPr>
          <p:cNvPr id="3" name="Content Placeholder 2">
            <a:extLst>
              <a:ext uri="{FF2B5EF4-FFF2-40B4-BE49-F238E27FC236}">
                <a16:creationId xmlns="" xmlns:a16="http://schemas.microsoft.com/office/drawing/2014/main" id="{83B9763E-833A-CC6E-0524-08AC32DCD764}"/>
              </a:ext>
            </a:extLst>
          </p:cNvPr>
          <p:cNvSpPr>
            <a:spLocks noGrp="1"/>
          </p:cNvSpPr>
          <p:nvPr>
            <p:ph idx="1"/>
          </p:nvPr>
        </p:nvSpPr>
        <p:spPr/>
        <p:txBody>
          <a:bodyPr/>
          <a:lstStyle/>
          <a:p>
            <a:pPr algn="just"/>
            <a:r>
              <a:rPr lang="en-US" b="0" i="0" dirty="0">
                <a:solidFill>
                  <a:srgbClr val="202124"/>
                </a:solidFill>
                <a:effectLst/>
                <a:latin typeface="Google Sans"/>
              </a:rPr>
              <a:t>The conservation farming (CF) system they advocate involves: </a:t>
            </a:r>
          </a:p>
          <a:p>
            <a:pPr algn="just"/>
            <a:r>
              <a:rPr lang="en-US" b="0" i="0" dirty="0">
                <a:solidFill>
                  <a:srgbClr val="202124"/>
                </a:solidFill>
                <a:effectLst/>
                <a:latin typeface="Google Sans"/>
              </a:rPr>
              <a:t>dry-season land preparation using minimum tillage methods (either ox-drawn rip lines or hand-hoe basins laid out in a precise grid of 15,850 basins per hectare); </a:t>
            </a:r>
          </a:p>
          <a:p>
            <a:pPr algn="just"/>
            <a:r>
              <a:rPr lang="en-US" b="0" i="0" dirty="0">
                <a:solidFill>
                  <a:srgbClr val="202124"/>
                </a:solidFill>
                <a:effectLst/>
                <a:latin typeface="Google Sans"/>
              </a:rPr>
              <a:t>no burning but rather retention of crop residue from the prior harvest; </a:t>
            </a:r>
          </a:p>
          <a:p>
            <a:pPr algn="just"/>
            <a:r>
              <a:rPr lang="en-US" b="0" i="0" dirty="0">
                <a:solidFill>
                  <a:srgbClr val="202124"/>
                </a:solidFill>
                <a:effectLst/>
                <a:latin typeface="Google Sans"/>
              </a:rPr>
              <a:t>planting and input </a:t>
            </a:r>
            <a:r>
              <a:rPr lang="en-US" b="0" i="0" dirty="0">
                <a:solidFill>
                  <a:srgbClr val="54544B"/>
                </a:solidFill>
                <a:effectLst/>
                <a:latin typeface="myriad-pro"/>
              </a:rPr>
              <a:t>application in fixed planting stations; and nitrogen-fixing crop rotations.</a:t>
            </a:r>
            <a:endParaRPr lang="x-none" dirty="0"/>
          </a:p>
        </p:txBody>
      </p:sp>
    </p:spTree>
    <p:extLst>
      <p:ext uri="{BB962C8B-B14F-4D97-AF65-F5344CB8AC3E}">
        <p14:creationId xmlns:p14="http://schemas.microsoft.com/office/powerpoint/2010/main" val="404625000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B36E504-030F-9053-0CC6-ACA714111249}"/>
              </a:ext>
            </a:extLst>
          </p:cNvPr>
          <p:cNvSpPr>
            <a:spLocks noGrp="1"/>
          </p:cNvSpPr>
          <p:nvPr>
            <p:ph type="title"/>
          </p:nvPr>
        </p:nvSpPr>
        <p:spPr/>
        <p:txBody>
          <a:bodyPr/>
          <a:lstStyle/>
          <a:p>
            <a:endParaRPr lang="x-none"/>
          </a:p>
        </p:txBody>
      </p:sp>
      <p:sp>
        <p:nvSpPr>
          <p:cNvPr id="3" name="Content Placeholder 2">
            <a:extLst>
              <a:ext uri="{FF2B5EF4-FFF2-40B4-BE49-F238E27FC236}">
                <a16:creationId xmlns="" xmlns:a16="http://schemas.microsoft.com/office/drawing/2014/main" id="{30D8B7AD-7AD8-CA8F-C742-546B872CCE75}"/>
              </a:ext>
            </a:extLst>
          </p:cNvPr>
          <p:cNvSpPr>
            <a:spLocks noGrp="1"/>
          </p:cNvSpPr>
          <p:nvPr>
            <p:ph idx="1"/>
          </p:nvPr>
        </p:nvSpPr>
        <p:spPr/>
        <p:txBody>
          <a:bodyPr/>
          <a:lstStyle/>
          <a:p>
            <a:pPr algn="just"/>
            <a:r>
              <a:rPr lang="en-US" b="0" i="0" dirty="0">
                <a:solidFill>
                  <a:srgbClr val="54544B"/>
                </a:solidFill>
                <a:effectLst/>
                <a:latin typeface="myriad-pro"/>
              </a:rPr>
              <a:t>The CF system enables farmers to plant with the first rains when seeds will benefit from the initial nitrogen flush in the soil. </a:t>
            </a:r>
          </a:p>
          <a:p>
            <a:pPr algn="just"/>
            <a:r>
              <a:rPr lang="en-US" b="0" i="0" dirty="0">
                <a:solidFill>
                  <a:srgbClr val="54544B"/>
                </a:solidFill>
                <a:effectLst/>
                <a:latin typeface="myriad-pro"/>
              </a:rPr>
              <a:t>By breaking pre-existing plow-pan barriers, the CF basins and rip lines improve water infiltration, water retention and plant root development. </a:t>
            </a:r>
          </a:p>
          <a:p>
            <a:pPr algn="just"/>
            <a:r>
              <a:rPr lang="en-US" b="0" i="0" dirty="0">
                <a:solidFill>
                  <a:srgbClr val="54544B"/>
                </a:solidFill>
                <a:effectLst/>
                <a:latin typeface="myriad-pro"/>
              </a:rPr>
              <a:t>The precise layout of grids and planting lines enables farmers to locate fertilizer and organic material in close proximity to the plants, where they will provide greatest benefits. </a:t>
            </a:r>
            <a:endParaRPr lang="x-none" dirty="0"/>
          </a:p>
        </p:txBody>
      </p:sp>
    </p:spTree>
    <p:extLst>
      <p:ext uri="{BB962C8B-B14F-4D97-AF65-F5344CB8AC3E}">
        <p14:creationId xmlns:p14="http://schemas.microsoft.com/office/powerpoint/2010/main" val="146023022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2FC1194-2276-397D-D89E-FE2D93EA867C}"/>
              </a:ext>
            </a:extLst>
          </p:cNvPr>
          <p:cNvSpPr>
            <a:spLocks noGrp="1"/>
          </p:cNvSpPr>
          <p:nvPr>
            <p:ph type="title"/>
          </p:nvPr>
        </p:nvSpPr>
        <p:spPr/>
        <p:txBody>
          <a:bodyPr/>
          <a:lstStyle/>
          <a:p>
            <a:endParaRPr lang="x-none"/>
          </a:p>
        </p:txBody>
      </p:sp>
      <p:sp>
        <p:nvSpPr>
          <p:cNvPr id="3" name="Content Placeholder 2">
            <a:extLst>
              <a:ext uri="{FF2B5EF4-FFF2-40B4-BE49-F238E27FC236}">
                <a16:creationId xmlns="" xmlns:a16="http://schemas.microsoft.com/office/drawing/2014/main" id="{CAAEECE3-4F95-E197-9BC9-303F9447997C}"/>
              </a:ext>
            </a:extLst>
          </p:cNvPr>
          <p:cNvSpPr>
            <a:spLocks noGrp="1"/>
          </p:cNvSpPr>
          <p:nvPr>
            <p:ph idx="1"/>
          </p:nvPr>
        </p:nvSpPr>
        <p:spPr/>
        <p:txBody>
          <a:bodyPr/>
          <a:lstStyle/>
          <a:p>
            <a:pPr algn="just"/>
            <a:r>
              <a:rPr lang="en-US" b="0" i="0" dirty="0">
                <a:solidFill>
                  <a:srgbClr val="54544B"/>
                </a:solidFill>
                <a:effectLst/>
                <a:latin typeface="myriad-pro"/>
              </a:rPr>
              <a:t>Evidence from similar technologies in other parts of Africa suggests that the effectiveness of conservation farming will vary not only across regions but also across crops and over time, due to variations in weather and rainfall.</a:t>
            </a:r>
          </a:p>
          <a:p>
            <a:pPr algn="just"/>
            <a:r>
              <a:rPr lang="en-US" b="0" i="0" dirty="0">
                <a:solidFill>
                  <a:srgbClr val="54544B"/>
                </a:solidFill>
                <a:effectLst/>
                <a:latin typeface="myriad-pro"/>
              </a:rPr>
              <a:t> In addition, many of the benefits of CF -- including improved soil structure, gains from nitrogen-fixing crop rotations and reduced field preparation labor -- occur gradually and over time. </a:t>
            </a:r>
            <a:endParaRPr lang="x-none" dirty="0"/>
          </a:p>
        </p:txBody>
      </p:sp>
    </p:spTree>
    <p:extLst>
      <p:ext uri="{BB962C8B-B14F-4D97-AF65-F5344CB8AC3E}">
        <p14:creationId xmlns:p14="http://schemas.microsoft.com/office/powerpoint/2010/main" val="27641977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2FC1194-2276-397D-D89E-FE2D93EA867C}"/>
              </a:ext>
            </a:extLst>
          </p:cNvPr>
          <p:cNvSpPr>
            <a:spLocks noGrp="1"/>
          </p:cNvSpPr>
          <p:nvPr>
            <p:ph type="title"/>
          </p:nvPr>
        </p:nvSpPr>
        <p:spPr/>
        <p:txBody>
          <a:bodyPr/>
          <a:lstStyle/>
          <a:p>
            <a:endParaRPr lang="x-none"/>
          </a:p>
        </p:txBody>
      </p:sp>
      <p:sp>
        <p:nvSpPr>
          <p:cNvPr id="3" name="Content Placeholder 2">
            <a:extLst>
              <a:ext uri="{FF2B5EF4-FFF2-40B4-BE49-F238E27FC236}">
                <a16:creationId xmlns="" xmlns:a16="http://schemas.microsoft.com/office/drawing/2014/main" id="{CAAEECE3-4F95-E197-9BC9-303F9447997C}"/>
              </a:ext>
            </a:extLst>
          </p:cNvPr>
          <p:cNvSpPr>
            <a:spLocks noGrp="1"/>
          </p:cNvSpPr>
          <p:nvPr>
            <p:ph idx="1"/>
          </p:nvPr>
        </p:nvSpPr>
        <p:spPr/>
        <p:txBody>
          <a:bodyPr/>
          <a:lstStyle/>
          <a:p>
            <a:pPr algn="just"/>
            <a:r>
              <a:rPr lang="en-US" b="0" i="0" dirty="0">
                <a:solidFill>
                  <a:srgbClr val="54544B"/>
                </a:solidFill>
                <a:effectLst/>
                <a:latin typeface="myriad-pro"/>
              </a:rPr>
              <a:t>Therefore, it will be important to establish long-term monitoring efforts for conservation farming and control plots across a broad range of geographic settings, crops and seasons. </a:t>
            </a:r>
          </a:p>
          <a:p>
            <a:pPr algn="just"/>
            <a:r>
              <a:rPr lang="en-US" b="0" i="0" dirty="0">
                <a:solidFill>
                  <a:srgbClr val="54544B"/>
                </a:solidFill>
                <a:effectLst/>
                <a:latin typeface="myriad-pro"/>
              </a:rPr>
              <a:t>Results and their interpretation are from a survey of 125 farms in Central and Southern provinces during the 2001/2 cropping season.</a:t>
            </a:r>
            <a:endParaRPr lang="x-none" dirty="0"/>
          </a:p>
        </p:txBody>
      </p:sp>
    </p:spTree>
    <p:extLst>
      <p:ext uri="{BB962C8B-B14F-4D97-AF65-F5344CB8AC3E}">
        <p14:creationId xmlns:p14="http://schemas.microsoft.com/office/powerpoint/2010/main" val="36276645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FF2BACA-DE29-1532-D1F8-91452E009E88}"/>
              </a:ext>
            </a:extLst>
          </p:cNvPr>
          <p:cNvSpPr>
            <a:spLocks noGrp="1"/>
          </p:cNvSpPr>
          <p:nvPr>
            <p:ph type="title"/>
          </p:nvPr>
        </p:nvSpPr>
        <p:spPr/>
        <p:txBody>
          <a:bodyPr/>
          <a:lstStyle/>
          <a:p>
            <a:pPr algn="ctr"/>
            <a:r>
              <a:rPr lang="en-US" b="1" dirty="0"/>
              <a:t>Principles of Conservation Agriculture</a:t>
            </a:r>
            <a:endParaRPr lang="x-none" b="1" dirty="0"/>
          </a:p>
        </p:txBody>
      </p:sp>
      <p:sp>
        <p:nvSpPr>
          <p:cNvPr id="3" name="Content Placeholder 2">
            <a:extLst>
              <a:ext uri="{FF2B5EF4-FFF2-40B4-BE49-F238E27FC236}">
                <a16:creationId xmlns="" xmlns:a16="http://schemas.microsoft.com/office/drawing/2014/main" id="{E6D8875A-B63F-447F-14AA-2C11B414CA8D}"/>
              </a:ext>
            </a:extLst>
          </p:cNvPr>
          <p:cNvSpPr>
            <a:spLocks noGrp="1"/>
          </p:cNvSpPr>
          <p:nvPr>
            <p:ph idx="1"/>
          </p:nvPr>
        </p:nvSpPr>
        <p:spPr/>
        <p:txBody>
          <a:bodyPr/>
          <a:lstStyle/>
          <a:p>
            <a:pPr algn="just"/>
            <a:r>
              <a:rPr lang="en-US" b="0" i="0" dirty="0">
                <a:solidFill>
                  <a:srgbClr val="4D5156"/>
                </a:solidFill>
                <a:effectLst/>
                <a:latin typeface="Google Sans"/>
              </a:rPr>
              <a:t>The main principles of conservation agriculture;</a:t>
            </a:r>
          </a:p>
          <a:p>
            <a:pPr algn="just"/>
            <a:r>
              <a:rPr lang="en-US" b="0" i="0" dirty="0">
                <a:solidFill>
                  <a:srgbClr val="4D5156"/>
                </a:solidFill>
                <a:effectLst/>
                <a:latin typeface="Google Sans"/>
              </a:rPr>
              <a:t> </a:t>
            </a:r>
            <a:r>
              <a:rPr lang="en-US" dirty="0">
                <a:solidFill>
                  <a:srgbClr val="040C28"/>
                </a:solidFill>
                <a:latin typeface="Google Sans"/>
              </a:rPr>
              <a:t>M</a:t>
            </a:r>
            <a:r>
              <a:rPr lang="en-US" b="0" i="0" dirty="0">
                <a:solidFill>
                  <a:srgbClr val="040C28"/>
                </a:solidFill>
                <a:effectLst/>
                <a:latin typeface="Google Sans"/>
              </a:rPr>
              <a:t>inimum soil disturbance</a:t>
            </a:r>
          </a:p>
          <a:p>
            <a:pPr algn="just"/>
            <a:r>
              <a:rPr lang="en-US" b="0" i="0" dirty="0">
                <a:solidFill>
                  <a:srgbClr val="040C28"/>
                </a:solidFill>
                <a:effectLst/>
                <a:latin typeface="Google Sans"/>
              </a:rPr>
              <a:t> crop diversification</a:t>
            </a:r>
          </a:p>
          <a:p>
            <a:pPr algn="just"/>
            <a:r>
              <a:rPr lang="en-US" b="0" i="0" dirty="0">
                <a:solidFill>
                  <a:srgbClr val="040C28"/>
                </a:solidFill>
                <a:effectLst/>
                <a:latin typeface="Google Sans"/>
              </a:rPr>
              <a:t>permanent soil cover</a:t>
            </a:r>
            <a:r>
              <a:rPr lang="en-US" b="0" i="0" dirty="0">
                <a:solidFill>
                  <a:srgbClr val="4D5156"/>
                </a:solidFill>
                <a:effectLst/>
                <a:latin typeface="Google Sans"/>
              </a:rPr>
              <a:t>) help to protect the environment and to reduce both the impacts of climate change on agricultural systems (adaptation) and the contribution of the agricultural practices to greenhouse gases</a:t>
            </a:r>
          </a:p>
          <a:p>
            <a:pPr algn="just"/>
            <a:r>
              <a:rPr lang="en-US" dirty="0">
                <a:solidFill>
                  <a:srgbClr val="4D5156"/>
                </a:solidFill>
                <a:latin typeface="Google Sans"/>
              </a:rPr>
              <a:t>No burning of crop residues</a:t>
            </a:r>
          </a:p>
          <a:p>
            <a:pPr algn="just"/>
            <a:r>
              <a:rPr lang="en-US" dirty="0">
                <a:solidFill>
                  <a:srgbClr val="4D5156"/>
                </a:solidFill>
                <a:latin typeface="Google Sans"/>
              </a:rPr>
              <a:t>Crop rotation</a:t>
            </a:r>
            <a:endParaRPr lang="x-none" dirty="0"/>
          </a:p>
        </p:txBody>
      </p:sp>
    </p:spTree>
    <p:extLst>
      <p:ext uri="{BB962C8B-B14F-4D97-AF65-F5344CB8AC3E}">
        <p14:creationId xmlns:p14="http://schemas.microsoft.com/office/powerpoint/2010/main" val="36588346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109543B-3DF6-4EE9-44FB-439A1A3B01FD}"/>
              </a:ext>
            </a:extLst>
          </p:cNvPr>
          <p:cNvSpPr>
            <a:spLocks noGrp="1"/>
          </p:cNvSpPr>
          <p:nvPr>
            <p:ph type="title"/>
          </p:nvPr>
        </p:nvSpPr>
        <p:spPr/>
        <p:txBody>
          <a:bodyPr/>
          <a:lstStyle/>
          <a:p>
            <a:pPr algn="ctr"/>
            <a:r>
              <a:rPr lang="en-US" b="1" dirty="0"/>
              <a:t>Benefits of Conservation Farming</a:t>
            </a:r>
            <a:endParaRPr lang="x-none" b="1" dirty="0"/>
          </a:p>
        </p:txBody>
      </p:sp>
      <p:sp>
        <p:nvSpPr>
          <p:cNvPr id="3" name="Content Placeholder 2">
            <a:extLst>
              <a:ext uri="{FF2B5EF4-FFF2-40B4-BE49-F238E27FC236}">
                <a16:creationId xmlns="" xmlns:a16="http://schemas.microsoft.com/office/drawing/2014/main" id="{05BAFCBD-E3E3-9139-DCF6-83830DA5A312}"/>
              </a:ext>
            </a:extLst>
          </p:cNvPr>
          <p:cNvSpPr>
            <a:spLocks noGrp="1"/>
          </p:cNvSpPr>
          <p:nvPr>
            <p:ph idx="1"/>
          </p:nvPr>
        </p:nvSpPr>
        <p:spPr/>
        <p:txBody>
          <a:bodyPr/>
          <a:lstStyle/>
          <a:p>
            <a:r>
              <a:rPr lang="en-US" b="0" i="0" dirty="0">
                <a:solidFill>
                  <a:srgbClr val="4D5156"/>
                </a:solidFill>
                <a:effectLst/>
                <a:latin typeface="Google Sans"/>
              </a:rPr>
              <a:t>The major economic benefits can result from CA adoption:</a:t>
            </a:r>
          </a:p>
          <a:p>
            <a:r>
              <a:rPr lang="en-US" b="0" i="0" dirty="0">
                <a:solidFill>
                  <a:srgbClr val="040C28"/>
                </a:solidFill>
                <a:effectLst/>
                <a:latin typeface="Google Sans"/>
              </a:rPr>
              <a:t>Time saving and thus reduction in labour requirement</a:t>
            </a:r>
            <a:r>
              <a:rPr lang="en-US" b="0" i="0" dirty="0">
                <a:solidFill>
                  <a:srgbClr val="4D5156"/>
                </a:solidFill>
                <a:effectLst/>
                <a:latin typeface="Google Sans"/>
              </a:rPr>
              <a:t>. </a:t>
            </a:r>
          </a:p>
          <a:p>
            <a:r>
              <a:rPr lang="en-US" b="0" i="0" dirty="0">
                <a:solidFill>
                  <a:srgbClr val="4D5156"/>
                </a:solidFill>
                <a:effectLst/>
                <a:latin typeface="Google Sans"/>
              </a:rPr>
              <a:t>Reduction of costs, e.g. fuel, machinery operating costs and maintenance, as well as a reduced labour cost. </a:t>
            </a:r>
          </a:p>
          <a:p>
            <a:r>
              <a:rPr lang="en-US" b="0" i="0" dirty="0">
                <a:solidFill>
                  <a:srgbClr val="4D5156"/>
                </a:solidFill>
                <a:effectLst/>
                <a:latin typeface="Google Sans"/>
              </a:rPr>
              <a:t>Higher efficiency in the sense of more output for a lower input.</a:t>
            </a:r>
            <a:endParaRPr lang="x-none" dirty="0"/>
          </a:p>
        </p:txBody>
      </p:sp>
    </p:spTree>
    <p:extLst>
      <p:ext uri="{BB962C8B-B14F-4D97-AF65-F5344CB8AC3E}">
        <p14:creationId xmlns:p14="http://schemas.microsoft.com/office/powerpoint/2010/main" val="12527504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2A5298E-EC6F-56A1-236D-3A57A45FCBEE}"/>
              </a:ext>
            </a:extLst>
          </p:cNvPr>
          <p:cNvSpPr>
            <a:spLocks noGrp="1"/>
          </p:cNvSpPr>
          <p:nvPr>
            <p:ph type="title"/>
          </p:nvPr>
        </p:nvSpPr>
        <p:spPr/>
        <p:txBody>
          <a:bodyPr/>
          <a:lstStyle/>
          <a:p>
            <a:pPr algn="ctr"/>
            <a:r>
              <a:rPr lang="en-US" b="1" dirty="0"/>
              <a:t>How Farmers Practice Conservation Farming</a:t>
            </a:r>
            <a:endParaRPr lang="x-none" b="1" dirty="0"/>
          </a:p>
        </p:txBody>
      </p:sp>
      <p:sp>
        <p:nvSpPr>
          <p:cNvPr id="3" name="Content Placeholder 2">
            <a:extLst>
              <a:ext uri="{FF2B5EF4-FFF2-40B4-BE49-F238E27FC236}">
                <a16:creationId xmlns="" xmlns:a16="http://schemas.microsoft.com/office/drawing/2014/main" id="{9437EAE4-1C9B-1F5D-E764-36ED27F232E5}"/>
              </a:ext>
            </a:extLst>
          </p:cNvPr>
          <p:cNvSpPr>
            <a:spLocks noGrp="1"/>
          </p:cNvSpPr>
          <p:nvPr>
            <p:ph idx="1"/>
          </p:nvPr>
        </p:nvSpPr>
        <p:spPr/>
        <p:txBody>
          <a:bodyPr/>
          <a:lstStyle/>
          <a:p>
            <a:pPr algn="just"/>
            <a:r>
              <a:rPr lang="en-US" b="0" i="0" dirty="0">
                <a:solidFill>
                  <a:srgbClr val="4D5156"/>
                </a:solidFill>
                <a:effectLst/>
                <a:latin typeface="Google Sans"/>
              </a:rPr>
              <a:t>Conservation farmers use Conservation Tillage methods to establish their crops but they also grow legumes in rotation with their other crops. </a:t>
            </a:r>
          </a:p>
          <a:p>
            <a:pPr algn="just"/>
            <a:r>
              <a:rPr lang="en-US" b="0" i="0" dirty="0">
                <a:solidFill>
                  <a:srgbClr val="4D5156"/>
                </a:solidFill>
                <a:effectLst/>
                <a:latin typeface="Google Sans"/>
              </a:rPr>
              <a:t>Legumes, depending on the varieties grown, fix Nitrogen, improve fertility, break soil pans and are an excellent source of protein for the family</a:t>
            </a:r>
          </a:p>
          <a:p>
            <a:pPr algn="just"/>
            <a:endParaRPr lang="x-none" dirty="0"/>
          </a:p>
        </p:txBody>
      </p:sp>
    </p:spTree>
    <p:extLst>
      <p:ext uri="{BB962C8B-B14F-4D97-AF65-F5344CB8AC3E}">
        <p14:creationId xmlns:p14="http://schemas.microsoft.com/office/powerpoint/2010/main" val="401033249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2D0BED-C673-4BE2-E971-645FE0208892}"/>
              </a:ext>
            </a:extLst>
          </p:cNvPr>
          <p:cNvSpPr>
            <a:spLocks noGrp="1"/>
          </p:cNvSpPr>
          <p:nvPr>
            <p:ph type="title"/>
          </p:nvPr>
        </p:nvSpPr>
        <p:spPr/>
        <p:txBody>
          <a:bodyPr/>
          <a:lstStyle/>
          <a:p>
            <a:pPr algn="ctr"/>
            <a:r>
              <a:rPr lang="en-US" b="0" i="0" dirty="0">
                <a:solidFill>
                  <a:srgbClr val="202124"/>
                </a:solidFill>
                <a:effectLst/>
                <a:latin typeface="Google Sans"/>
              </a:rPr>
              <a:t>What are conservation techniques</a:t>
            </a:r>
            <a:endParaRPr lang="x-none" dirty="0"/>
          </a:p>
        </p:txBody>
      </p:sp>
      <p:sp>
        <p:nvSpPr>
          <p:cNvPr id="3" name="Content Placeholder 2">
            <a:extLst>
              <a:ext uri="{FF2B5EF4-FFF2-40B4-BE49-F238E27FC236}">
                <a16:creationId xmlns="" xmlns:a16="http://schemas.microsoft.com/office/drawing/2014/main" id="{7AEEC295-6998-6094-6A1D-38C2CC738ECF}"/>
              </a:ext>
            </a:extLst>
          </p:cNvPr>
          <p:cNvSpPr>
            <a:spLocks noGrp="1"/>
          </p:cNvSpPr>
          <p:nvPr>
            <p:ph idx="1"/>
          </p:nvPr>
        </p:nvSpPr>
        <p:spPr/>
        <p:txBody>
          <a:bodyPr/>
          <a:lstStyle/>
          <a:p>
            <a:r>
              <a:rPr lang="en-US" b="0" i="0" dirty="0">
                <a:solidFill>
                  <a:srgbClr val="4D5156"/>
                </a:solidFill>
                <a:effectLst/>
                <a:latin typeface="Google Sans"/>
              </a:rPr>
              <a:t>Conservation techniques like </a:t>
            </a:r>
            <a:r>
              <a:rPr lang="en-US" b="0" i="0" dirty="0">
                <a:solidFill>
                  <a:srgbClr val="040C28"/>
                </a:solidFill>
                <a:effectLst/>
                <a:latin typeface="Google Sans"/>
              </a:rPr>
              <a:t>terracing, contour farming, and planting windbreaks</a:t>
            </a:r>
            <a:r>
              <a:rPr lang="en-US" b="0" i="0" dirty="0">
                <a:solidFill>
                  <a:srgbClr val="4D5156"/>
                </a:solidFill>
                <a:effectLst/>
                <a:latin typeface="Google Sans"/>
              </a:rPr>
              <a:t> provide effective countermeasures that halt the soil from being washed or blown away. </a:t>
            </a:r>
          </a:p>
          <a:p>
            <a:r>
              <a:rPr lang="en-US" b="0" i="0" dirty="0">
                <a:solidFill>
                  <a:srgbClr val="4D5156"/>
                </a:solidFill>
                <a:effectLst/>
                <a:latin typeface="Google Sans"/>
              </a:rPr>
              <a:t>Beyond agriculture, soil conservation has a profound impact on biodiversity as well.</a:t>
            </a:r>
            <a:endParaRPr lang="x-none" dirty="0"/>
          </a:p>
        </p:txBody>
      </p:sp>
    </p:spTree>
    <p:extLst>
      <p:ext uri="{BB962C8B-B14F-4D97-AF65-F5344CB8AC3E}">
        <p14:creationId xmlns:p14="http://schemas.microsoft.com/office/powerpoint/2010/main" val="134288983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CB20CD4-2460-76F7-6EBA-5F5EBA0454F5}"/>
              </a:ext>
            </a:extLst>
          </p:cNvPr>
          <p:cNvSpPr>
            <a:spLocks noGrp="1"/>
          </p:cNvSpPr>
          <p:nvPr>
            <p:ph type="title"/>
          </p:nvPr>
        </p:nvSpPr>
        <p:spPr/>
        <p:txBody>
          <a:bodyPr>
            <a:normAutofit fontScale="90000"/>
          </a:bodyPr>
          <a:lstStyle/>
          <a:p>
            <a:r>
              <a:rPr lang="en-US" b="1" i="0" dirty="0">
                <a:solidFill>
                  <a:srgbClr val="333333"/>
                </a:solidFill>
                <a:effectLst/>
                <a:latin typeface="FSME"/>
              </a:rPr>
              <a:t>Some examples of the differences between conventional and conservation farming</a:t>
            </a:r>
            <a:br>
              <a:rPr lang="en-US" b="1" i="0" dirty="0">
                <a:solidFill>
                  <a:srgbClr val="333333"/>
                </a:solidFill>
                <a:effectLst/>
                <a:latin typeface="FSME"/>
              </a:rPr>
            </a:br>
            <a:endParaRPr lang="x-none" dirty="0"/>
          </a:p>
        </p:txBody>
      </p:sp>
      <p:sp>
        <p:nvSpPr>
          <p:cNvPr id="3" name="Content Placeholder 2">
            <a:extLst>
              <a:ext uri="{FF2B5EF4-FFF2-40B4-BE49-F238E27FC236}">
                <a16:creationId xmlns="" xmlns:a16="http://schemas.microsoft.com/office/drawing/2014/main" id="{8A5DF24E-3246-4E74-1348-6EAB024ECAA4}"/>
              </a:ext>
            </a:extLst>
          </p:cNvPr>
          <p:cNvSpPr>
            <a:spLocks noGrp="1"/>
          </p:cNvSpPr>
          <p:nvPr>
            <p:ph idx="1"/>
          </p:nvPr>
        </p:nvSpPr>
        <p:spPr/>
        <p:txBody>
          <a:bodyPr>
            <a:normAutofit fontScale="92500" lnSpcReduction="20000"/>
          </a:bodyPr>
          <a:lstStyle/>
          <a:p>
            <a:pPr algn="just"/>
            <a:r>
              <a:rPr lang="en-US" b="1" i="0" dirty="0">
                <a:solidFill>
                  <a:srgbClr val="333333"/>
                </a:solidFill>
                <a:effectLst/>
                <a:latin typeface="FSME"/>
              </a:rPr>
              <a:t>Conventional farming</a:t>
            </a:r>
            <a:endParaRPr lang="en-US" b="0" i="0" dirty="0">
              <a:solidFill>
                <a:srgbClr val="333333"/>
              </a:solidFill>
              <a:effectLst/>
              <a:latin typeface="FSME"/>
            </a:endParaRPr>
          </a:p>
          <a:p>
            <a:pPr algn="just"/>
            <a:r>
              <a:rPr lang="en-US" b="0" i="0" dirty="0">
                <a:solidFill>
                  <a:srgbClr val="333333"/>
                </a:solidFill>
                <a:effectLst/>
                <a:latin typeface="FSME"/>
              </a:rPr>
              <a:t>Some aspects of conventional farming negatively affect crop yields:</a:t>
            </a:r>
          </a:p>
          <a:p>
            <a:pPr algn="just" rtl="0">
              <a:buFont typeface="Arial" panose="020B0604020202020204" pitchFamily="34" charset="0"/>
              <a:buChar char="•"/>
            </a:pPr>
            <a:r>
              <a:rPr lang="en-US" b="1" i="0" dirty="0">
                <a:solidFill>
                  <a:srgbClr val="333333"/>
                </a:solidFill>
                <a:effectLst/>
                <a:latin typeface="FSME"/>
              </a:rPr>
              <a:t>Burning of residues (crop waste) before ploughing</a:t>
            </a:r>
            <a:r>
              <a:rPr lang="en-US" b="0" i="0" dirty="0">
                <a:solidFill>
                  <a:srgbClr val="333333"/>
                </a:solidFill>
                <a:effectLst/>
                <a:latin typeface="FSME"/>
              </a:rPr>
              <a:t> Residues are useful for:</a:t>
            </a:r>
          </a:p>
          <a:p>
            <a:pPr marL="742950" lvl="1" indent="-285750" algn="just" rtl="0">
              <a:buFont typeface="Arial" panose="020B0604020202020204" pitchFamily="34" charset="0"/>
              <a:buChar char="•"/>
            </a:pPr>
            <a:r>
              <a:rPr lang="en-US" b="0" i="0" dirty="0">
                <a:solidFill>
                  <a:srgbClr val="333333"/>
                </a:solidFill>
                <a:effectLst/>
                <a:latin typeface="FSME"/>
              </a:rPr>
              <a:t>protecting the soil from being washed away, improving water infiltration and reducing soil temperatures</a:t>
            </a:r>
          </a:p>
          <a:p>
            <a:pPr marL="1143000" lvl="2" indent="-228600" algn="just" rtl="0">
              <a:buFont typeface="Arial" panose="020B0604020202020204" pitchFamily="34" charset="0"/>
              <a:buChar char="•"/>
            </a:pPr>
            <a:r>
              <a:rPr lang="en-US" b="0" i="0" dirty="0">
                <a:solidFill>
                  <a:srgbClr val="333333"/>
                </a:solidFill>
                <a:effectLst/>
                <a:latin typeface="FSME"/>
              </a:rPr>
              <a:t>maintaining soil structure and fertility when termites and worms incorporate them into the soil.</a:t>
            </a:r>
          </a:p>
          <a:p>
            <a:pPr marL="742950" lvl="1" indent="-285750" algn="just" rtl="0">
              <a:buFont typeface="Arial" panose="020B0604020202020204" pitchFamily="34" charset="0"/>
              <a:buChar char="•"/>
            </a:pPr>
            <a:r>
              <a:rPr lang="en-US" b="1" i="0" dirty="0">
                <a:solidFill>
                  <a:srgbClr val="333333"/>
                </a:solidFill>
                <a:effectLst/>
                <a:latin typeface="FSME"/>
              </a:rPr>
              <a:t>Ploughing using oxen</a:t>
            </a:r>
            <a:r>
              <a:rPr lang="en-US" b="0" i="0" dirty="0">
                <a:solidFill>
                  <a:srgbClr val="333333"/>
                </a:solidFill>
                <a:effectLst/>
                <a:latin typeface="FSME"/>
              </a:rPr>
              <a:t> Ploughing the whole field wastes energy, reduces yields and destroys the soil:</a:t>
            </a:r>
          </a:p>
          <a:p>
            <a:pPr marL="1143000" lvl="2" indent="-228600" algn="just" rtl="0">
              <a:buFont typeface="Arial" panose="020B0604020202020204" pitchFamily="34" charset="0"/>
              <a:buChar char="•"/>
            </a:pPr>
            <a:r>
              <a:rPr lang="en-US" b="0" i="0" dirty="0">
                <a:solidFill>
                  <a:srgbClr val="333333"/>
                </a:solidFill>
                <a:effectLst/>
                <a:latin typeface="FSME"/>
              </a:rPr>
              <a:t>Farmers usually plough after the rains. This means that there is a delay in preparing the land. For each day of delay after the first planting rains, some of the potential yield is lost.</a:t>
            </a:r>
          </a:p>
          <a:p>
            <a:r>
              <a:rPr lang="en-US" b="0" i="0" dirty="0">
                <a:solidFill>
                  <a:srgbClr val="333333"/>
                </a:solidFill>
                <a:effectLst/>
                <a:latin typeface="FSME"/>
              </a:rPr>
              <a:t/>
            </a:r>
            <a:br>
              <a:rPr lang="en-US" b="0" i="0" dirty="0">
                <a:solidFill>
                  <a:srgbClr val="333333"/>
                </a:solidFill>
                <a:effectLst/>
                <a:latin typeface="FSME"/>
              </a:rPr>
            </a:br>
            <a:endParaRPr lang="en-US" b="0" i="0" dirty="0">
              <a:solidFill>
                <a:srgbClr val="333333"/>
              </a:solidFill>
              <a:effectLst/>
              <a:latin typeface="FSME"/>
            </a:endParaRPr>
          </a:p>
          <a:p>
            <a:pPr marL="0" indent="0">
              <a:buNone/>
            </a:pPr>
            <a:endParaRPr lang="x-none" dirty="0"/>
          </a:p>
        </p:txBody>
      </p:sp>
    </p:spTree>
    <p:extLst>
      <p:ext uri="{BB962C8B-B14F-4D97-AF65-F5344CB8AC3E}">
        <p14:creationId xmlns:p14="http://schemas.microsoft.com/office/powerpoint/2010/main" val="266060228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1C674D0-2531-CE63-FEA5-AF69D583D864}"/>
              </a:ext>
            </a:extLst>
          </p:cNvPr>
          <p:cNvSpPr>
            <a:spLocks noGrp="1"/>
          </p:cNvSpPr>
          <p:nvPr>
            <p:ph type="title"/>
          </p:nvPr>
        </p:nvSpPr>
        <p:spPr/>
        <p:txBody>
          <a:bodyPr/>
          <a:lstStyle/>
          <a:p>
            <a:endParaRPr lang="x-none"/>
          </a:p>
        </p:txBody>
      </p:sp>
      <p:sp>
        <p:nvSpPr>
          <p:cNvPr id="3" name="Content Placeholder 2">
            <a:extLst>
              <a:ext uri="{FF2B5EF4-FFF2-40B4-BE49-F238E27FC236}">
                <a16:creationId xmlns="" xmlns:a16="http://schemas.microsoft.com/office/drawing/2014/main" id="{9DD4F9CA-869F-5A0B-5399-098B08F0859D}"/>
              </a:ext>
            </a:extLst>
          </p:cNvPr>
          <p:cNvSpPr>
            <a:spLocks noGrp="1"/>
          </p:cNvSpPr>
          <p:nvPr>
            <p:ph idx="1"/>
          </p:nvPr>
        </p:nvSpPr>
        <p:spPr/>
        <p:txBody>
          <a:bodyPr>
            <a:normAutofit lnSpcReduction="10000"/>
          </a:bodyPr>
          <a:lstStyle/>
          <a:p>
            <a:pPr lvl="1"/>
            <a:r>
              <a:rPr lang="en-US" b="0" i="0" dirty="0">
                <a:solidFill>
                  <a:srgbClr val="333333"/>
                </a:solidFill>
                <a:effectLst/>
                <a:latin typeface="FSME"/>
              </a:rPr>
              <a:t>The ploughed soil is exposed to wind and rain which remove the surface soil.</a:t>
            </a:r>
          </a:p>
          <a:p>
            <a:pPr algn="l" rtl="0">
              <a:buFont typeface="Arial" panose="020B0604020202020204" pitchFamily="34" charset="0"/>
              <a:buChar char="•"/>
            </a:pPr>
            <a:r>
              <a:rPr lang="en-US" b="1" i="0" dirty="0">
                <a:solidFill>
                  <a:srgbClr val="333333"/>
                </a:solidFill>
                <a:effectLst/>
                <a:latin typeface="FSME"/>
              </a:rPr>
              <a:t>Ridging up with a hoe</a:t>
            </a:r>
            <a:r>
              <a:rPr lang="en-US" b="0" i="0" dirty="0">
                <a:solidFill>
                  <a:srgbClr val="333333"/>
                </a:solidFill>
                <a:effectLst/>
                <a:latin typeface="FSME"/>
              </a:rPr>
              <a:t> This is where ridges are made into the soil to leave furrows that act like a drain. The problem with this is that rain water starts to erode the ridges and gullies soon develop. </a:t>
            </a:r>
          </a:p>
          <a:p>
            <a:pPr algn="l" rtl="0">
              <a:buFont typeface="Arial" panose="020B0604020202020204" pitchFamily="34" charset="0"/>
              <a:buChar char="•"/>
            </a:pPr>
            <a:r>
              <a:rPr lang="en-US" b="1" i="0" dirty="0">
                <a:solidFill>
                  <a:srgbClr val="333333"/>
                </a:solidFill>
                <a:effectLst/>
                <a:latin typeface="FSME"/>
              </a:rPr>
              <a:t>Hoe minimum tillage</a:t>
            </a:r>
            <a:r>
              <a:rPr lang="en-US" b="0" i="0" dirty="0">
                <a:solidFill>
                  <a:srgbClr val="333333"/>
                </a:solidFill>
                <a:effectLst/>
                <a:latin typeface="FSME"/>
              </a:rPr>
              <a:t> This is where a hoe is used during the first good rains to make planting holes or to scratch planting lines. It is easier to do than ploughing and uses less labour. However, as the soil between the holes or planting lines remains hard, the rain runs off it and takes the fertilisers with it.</a:t>
            </a:r>
          </a:p>
          <a:p>
            <a:endParaRPr lang="x-none" dirty="0"/>
          </a:p>
        </p:txBody>
      </p:sp>
    </p:spTree>
    <p:extLst>
      <p:ext uri="{BB962C8B-B14F-4D97-AF65-F5344CB8AC3E}">
        <p14:creationId xmlns:p14="http://schemas.microsoft.com/office/powerpoint/2010/main" val="360237749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14645F7-A96D-E81D-9077-E23446018947}"/>
              </a:ext>
            </a:extLst>
          </p:cNvPr>
          <p:cNvSpPr>
            <a:spLocks noGrp="1"/>
          </p:cNvSpPr>
          <p:nvPr>
            <p:ph type="title"/>
          </p:nvPr>
        </p:nvSpPr>
        <p:spPr/>
        <p:txBody>
          <a:bodyPr/>
          <a:lstStyle/>
          <a:p>
            <a:r>
              <a:rPr lang="en-US" b="1" i="0" dirty="0">
                <a:solidFill>
                  <a:srgbClr val="333333"/>
                </a:solidFill>
                <a:effectLst/>
                <a:latin typeface="FSME"/>
              </a:rPr>
              <a:t>Conservation farming</a:t>
            </a:r>
            <a:r>
              <a:rPr lang="en-US" b="0" i="0" dirty="0">
                <a:solidFill>
                  <a:srgbClr val="333333"/>
                </a:solidFill>
                <a:effectLst/>
                <a:latin typeface="FSME"/>
              </a:rPr>
              <a:t/>
            </a:r>
            <a:br>
              <a:rPr lang="en-US" b="0" i="0" dirty="0">
                <a:solidFill>
                  <a:srgbClr val="333333"/>
                </a:solidFill>
                <a:effectLst/>
                <a:latin typeface="FSME"/>
              </a:rPr>
            </a:br>
            <a:endParaRPr lang="x-none" dirty="0"/>
          </a:p>
        </p:txBody>
      </p:sp>
      <p:sp>
        <p:nvSpPr>
          <p:cNvPr id="3" name="Content Placeholder 2">
            <a:extLst>
              <a:ext uri="{FF2B5EF4-FFF2-40B4-BE49-F238E27FC236}">
                <a16:creationId xmlns="" xmlns:a16="http://schemas.microsoft.com/office/drawing/2014/main" id="{1A709DAA-A214-5375-DF7E-E3318F833B24}"/>
              </a:ext>
            </a:extLst>
          </p:cNvPr>
          <p:cNvSpPr>
            <a:spLocks noGrp="1"/>
          </p:cNvSpPr>
          <p:nvPr>
            <p:ph idx="1"/>
          </p:nvPr>
        </p:nvSpPr>
        <p:spPr/>
        <p:txBody>
          <a:bodyPr/>
          <a:lstStyle/>
          <a:p>
            <a:pPr algn="l"/>
            <a:r>
              <a:rPr lang="en-US" b="0" i="0" dirty="0">
                <a:solidFill>
                  <a:srgbClr val="333333"/>
                </a:solidFill>
                <a:effectLst/>
                <a:latin typeface="FSME"/>
              </a:rPr>
              <a:t>This is a combination of methods which aim to conserve water, soil quality, moisture, fertility and seed production, as well as the farmer’s energy, time and money. </a:t>
            </a:r>
          </a:p>
          <a:p>
            <a:pPr algn="l"/>
            <a:r>
              <a:rPr lang="en-US" b="0" i="0" dirty="0">
                <a:solidFill>
                  <a:srgbClr val="333333"/>
                </a:solidFill>
                <a:effectLst/>
                <a:latin typeface="FSME"/>
              </a:rPr>
              <a:t>Some of the key aspects and benefits include:</a:t>
            </a:r>
          </a:p>
          <a:p>
            <a:pPr marL="0" indent="0" algn="l">
              <a:buNone/>
            </a:pPr>
            <a:r>
              <a:rPr lang="en-US" b="0" i="0" dirty="0">
                <a:solidFill>
                  <a:srgbClr val="333333"/>
                </a:solidFill>
                <a:effectLst/>
                <a:latin typeface="FSME"/>
              </a:rPr>
              <a:t> </a:t>
            </a:r>
          </a:p>
          <a:p>
            <a:endParaRPr lang="x-none" dirty="0"/>
          </a:p>
        </p:txBody>
      </p:sp>
    </p:spTree>
    <p:extLst>
      <p:ext uri="{BB962C8B-B14F-4D97-AF65-F5344CB8AC3E}">
        <p14:creationId xmlns:p14="http://schemas.microsoft.com/office/powerpoint/2010/main" val="399725548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14645F7-A96D-E81D-9077-E23446018947}"/>
              </a:ext>
            </a:extLst>
          </p:cNvPr>
          <p:cNvSpPr>
            <a:spLocks noGrp="1"/>
          </p:cNvSpPr>
          <p:nvPr>
            <p:ph type="title"/>
          </p:nvPr>
        </p:nvSpPr>
        <p:spPr/>
        <p:txBody>
          <a:bodyPr/>
          <a:lstStyle/>
          <a:p>
            <a:pPr algn="ctr"/>
            <a:r>
              <a:rPr lang="en-US" b="1" i="0" dirty="0">
                <a:solidFill>
                  <a:srgbClr val="333333"/>
                </a:solidFill>
                <a:effectLst/>
                <a:latin typeface="FSME"/>
              </a:rPr>
              <a:t>Conservation Farming</a:t>
            </a:r>
            <a:r>
              <a:rPr lang="en-US" b="0" i="0" dirty="0">
                <a:solidFill>
                  <a:srgbClr val="333333"/>
                </a:solidFill>
                <a:effectLst/>
                <a:latin typeface="FSME"/>
              </a:rPr>
              <a:t/>
            </a:r>
            <a:br>
              <a:rPr lang="en-US" b="0" i="0" dirty="0">
                <a:solidFill>
                  <a:srgbClr val="333333"/>
                </a:solidFill>
                <a:effectLst/>
                <a:latin typeface="FSME"/>
              </a:rPr>
            </a:br>
            <a:endParaRPr lang="x-none" dirty="0"/>
          </a:p>
        </p:txBody>
      </p:sp>
      <p:sp>
        <p:nvSpPr>
          <p:cNvPr id="3" name="Content Placeholder 2">
            <a:extLst>
              <a:ext uri="{FF2B5EF4-FFF2-40B4-BE49-F238E27FC236}">
                <a16:creationId xmlns="" xmlns:a16="http://schemas.microsoft.com/office/drawing/2014/main" id="{1A709DAA-A214-5375-DF7E-E3318F833B24}"/>
              </a:ext>
            </a:extLst>
          </p:cNvPr>
          <p:cNvSpPr>
            <a:spLocks noGrp="1"/>
          </p:cNvSpPr>
          <p:nvPr>
            <p:ph idx="1"/>
          </p:nvPr>
        </p:nvSpPr>
        <p:spPr/>
        <p:txBody>
          <a:bodyPr/>
          <a:lstStyle/>
          <a:p>
            <a:pPr marL="0" indent="0" algn="l">
              <a:buNone/>
            </a:pPr>
            <a:endParaRPr lang="en-US" b="0" i="0" dirty="0">
              <a:solidFill>
                <a:srgbClr val="333333"/>
              </a:solidFill>
              <a:effectLst/>
              <a:latin typeface="FSME"/>
            </a:endParaRPr>
          </a:p>
          <a:p>
            <a:pPr algn="l">
              <a:buFont typeface="Arial" panose="020B0604020202020204" pitchFamily="34" charset="0"/>
              <a:buChar char="•"/>
            </a:pPr>
            <a:r>
              <a:rPr lang="en-US" b="1" i="0" dirty="0">
                <a:solidFill>
                  <a:srgbClr val="333333"/>
                </a:solidFill>
                <a:effectLst/>
                <a:latin typeface="FSME"/>
              </a:rPr>
              <a:t>Planting in basins</a:t>
            </a:r>
            <a:r>
              <a:rPr lang="en-US" b="0" i="0" dirty="0">
                <a:solidFill>
                  <a:srgbClr val="333333"/>
                </a:solidFill>
                <a:effectLst/>
                <a:latin typeface="FSME"/>
              </a:rPr>
              <a:t> </a:t>
            </a:r>
          </a:p>
          <a:p>
            <a:pPr algn="l">
              <a:buFont typeface="Arial" panose="020B0604020202020204" pitchFamily="34" charset="0"/>
              <a:buChar char="•"/>
            </a:pPr>
            <a:r>
              <a:rPr lang="en-US" b="0" i="0" dirty="0">
                <a:solidFill>
                  <a:srgbClr val="333333"/>
                </a:solidFill>
                <a:effectLst/>
                <a:latin typeface="FSME"/>
              </a:rPr>
              <a:t>Farmers create basins in the soil in which seeds can be planted. </a:t>
            </a:r>
          </a:p>
          <a:p>
            <a:pPr algn="l">
              <a:buFont typeface="Arial" panose="020B0604020202020204" pitchFamily="34" charset="0"/>
              <a:buChar char="•"/>
            </a:pPr>
            <a:r>
              <a:rPr lang="en-US" b="0" i="0" dirty="0">
                <a:solidFill>
                  <a:srgbClr val="333333"/>
                </a:solidFill>
                <a:effectLst/>
                <a:latin typeface="FSME"/>
              </a:rPr>
              <a:t>When the rains come the water is trapped in the basins, allowing roots to develop and stopping the top soil and fertiliser being washed away. </a:t>
            </a:r>
          </a:p>
          <a:p>
            <a:endParaRPr lang="x-none" dirty="0"/>
          </a:p>
        </p:txBody>
      </p:sp>
    </p:spTree>
    <p:extLst>
      <p:ext uri="{BB962C8B-B14F-4D97-AF65-F5344CB8AC3E}">
        <p14:creationId xmlns:p14="http://schemas.microsoft.com/office/powerpoint/2010/main" val="75403951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B42EC4A-7D69-1719-A796-341094051F9D}"/>
              </a:ext>
            </a:extLst>
          </p:cNvPr>
          <p:cNvSpPr>
            <a:spLocks noGrp="1"/>
          </p:cNvSpPr>
          <p:nvPr>
            <p:ph type="title"/>
          </p:nvPr>
        </p:nvSpPr>
        <p:spPr/>
        <p:txBody>
          <a:bodyPr/>
          <a:lstStyle/>
          <a:p>
            <a:endParaRPr lang="x-none"/>
          </a:p>
        </p:txBody>
      </p:sp>
      <p:sp>
        <p:nvSpPr>
          <p:cNvPr id="3" name="Content Placeholder 2">
            <a:extLst>
              <a:ext uri="{FF2B5EF4-FFF2-40B4-BE49-F238E27FC236}">
                <a16:creationId xmlns="" xmlns:a16="http://schemas.microsoft.com/office/drawing/2014/main" id="{7C212154-E7B4-6639-70AF-03D0C94723C1}"/>
              </a:ext>
            </a:extLst>
          </p:cNvPr>
          <p:cNvSpPr>
            <a:spLocks noGrp="1"/>
          </p:cNvSpPr>
          <p:nvPr>
            <p:ph idx="1"/>
          </p:nvPr>
        </p:nvSpPr>
        <p:spPr/>
        <p:txBody>
          <a:bodyPr/>
          <a:lstStyle/>
          <a:p>
            <a:pPr algn="just">
              <a:buFont typeface="Arial" panose="020B0604020202020204" pitchFamily="34" charset="0"/>
              <a:buChar char="•"/>
            </a:pPr>
            <a:r>
              <a:rPr lang="en-US" b="1" i="0" dirty="0">
                <a:solidFill>
                  <a:srgbClr val="333333"/>
                </a:solidFill>
                <a:effectLst/>
                <a:latin typeface="FSME"/>
              </a:rPr>
              <a:t>Leaving crop residue for the next harvest</a:t>
            </a:r>
          </a:p>
          <a:p>
            <a:pPr algn="just">
              <a:buFont typeface="Arial" panose="020B0604020202020204" pitchFamily="34" charset="0"/>
              <a:buChar char="•"/>
            </a:pPr>
            <a:r>
              <a:rPr lang="en-US" b="0" i="0" dirty="0">
                <a:solidFill>
                  <a:srgbClr val="333333"/>
                </a:solidFill>
                <a:effectLst/>
                <a:latin typeface="FSME"/>
              </a:rPr>
              <a:t> Farmers are encouraged to leave the residues rather than burning them. </a:t>
            </a:r>
          </a:p>
          <a:p>
            <a:pPr algn="just">
              <a:buFont typeface="Arial" panose="020B0604020202020204" pitchFamily="34" charset="0"/>
              <a:buChar char="•"/>
            </a:pPr>
            <a:r>
              <a:rPr lang="en-US" b="0" i="0" dirty="0">
                <a:solidFill>
                  <a:srgbClr val="333333"/>
                </a:solidFill>
                <a:effectLst/>
                <a:latin typeface="FSME"/>
              </a:rPr>
              <a:t>This reduces soil and water loss, improves infiltration, reduces surface temperatures and in time improves soil fertility.</a:t>
            </a:r>
          </a:p>
          <a:p>
            <a:pPr algn="just">
              <a:buFont typeface="Arial" panose="020B0604020202020204" pitchFamily="34" charset="0"/>
              <a:buChar char="•"/>
            </a:pPr>
            <a:r>
              <a:rPr lang="en-US" b="0" i="0" dirty="0">
                <a:solidFill>
                  <a:srgbClr val="333333"/>
                </a:solidFill>
                <a:effectLst/>
                <a:latin typeface="FSME"/>
              </a:rPr>
              <a:t> Because seeds are planted in the same basin each year, the fertiliser left from the previous crop can be absorbed by the new crop. </a:t>
            </a:r>
          </a:p>
          <a:p>
            <a:endParaRPr lang="x-none" dirty="0"/>
          </a:p>
        </p:txBody>
      </p:sp>
    </p:spTree>
    <p:extLst>
      <p:ext uri="{BB962C8B-B14F-4D97-AF65-F5344CB8AC3E}">
        <p14:creationId xmlns:p14="http://schemas.microsoft.com/office/powerpoint/2010/main" val="51196997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B42EC4A-7D69-1719-A796-341094051F9D}"/>
              </a:ext>
            </a:extLst>
          </p:cNvPr>
          <p:cNvSpPr>
            <a:spLocks noGrp="1"/>
          </p:cNvSpPr>
          <p:nvPr>
            <p:ph type="title"/>
          </p:nvPr>
        </p:nvSpPr>
        <p:spPr/>
        <p:txBody>
          <a:bodyPr/>
          <a:lstStyle/>
          <a:p>
            <a:endParaRPr lang="x-none"/>
          </a:p>
        </p:txBody>
      </p:sp>
      <p:sp>
        <p:nvSpPr>
          <p:cNvPr id="3" name="Content Placeholder 2">
            <a:extLst>
              <a:ext uri="{FF2B5EF4-FFF2-40B4-BE49-F238E27FC236}">
                <a16:creationId xmlns="" xmlns:a16="http://schemas.microsoft.com/office/drawing/2014/main" id="{7C212154-E7B4-6639-70AF-03D0C94723C1}"/>
              </a:ext>
            </a:extLst>
          </p:cNvPr>
          <p:cNvSpPr>
            <a:spLocks noGrp="1"/>
          </p:cNvSpPr>
          <p:nvPr>
            <p:ph idx="1"/>
          </p:nvPr>
        </p:nvSpPr>
        <p:spPr/>
        <p:txBody>
          <a:bodyPr/>
          <a:lstStyle/>
          <a:p>
            <a:r>
              <a:rPr lang="en-US" b="1" i="0" dirty="0">
                <a:solidFill>
                  <a:srgbClr val="333333"/>
                </a:solidFill>
                <a:effectLst/>
                <a:latin typeface="FSME"/>
              </a:rPr>
              <a:t>Nitrogen-fixing crop rotations</a:t>
            </a:r>
          </a:p>
          <a:p>
            <a:pPr algn="just"/>
            <a:r>
              <a:rPr lang="en-US" b="0" i="0" dirty="0">
                <a:solidFill>
                  <a:srgbClr val="333333"/>
                </a:solidFill>
                <a:effectLst/>
                <a:latin typeface="FSME"/>
              </a:rPr>
              <a:t> Farmers are encouraged to grow legumes and other nitrogen-fixing crops in rotation to increase the natural soil nutrients. </a:t>
            </a:r>
          </a:p>
          <a:p>
            <a:pPr algn="just"/>
            <a:r>
              <a:rPr lang="en-US" b="0" i="0" dirty="0">
                <a:solidFill>
                  <a:srgbClr val="333333"/>
                </a:solidFill>
                <a:effectLst/>
                <a:latin typeface="FSME"/>
              </a:rPr>
              <a:t>This will reduce the need for artificial fertiliser and enable them to diversify from maize into less hardy crops. </a:t>
            </a:r>
          </a:p>
          <a:p>
            <a:endParaRPr lang="x-none" dirty="0"/>
          </a:p>
        </p:txBody>
      </p:sp>
    </p:spTree>
    <p:extLst>
      <p:ext uri="{BB962C8B-B14F-4D97-AF65-F5344CB8AC3E}">
        <p14:creationId xmlns:p14="http://schemas.microsoft.com/office/powerpoint/2010/main" val="206391323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A5F5288-F29E-CFB7-0351-3ACCAF97AD2E}"/>
              </a:ext>
            </a:extLst>
          </p:cNvPr>
          <p:cNvSpPr>
            <a:spLocks noGrp="1"/>
          </p:cNvSpPr>
          <p:nvPr>
            <p:ph type="title"/>
          </p:nvPr>
        </p:nvSpPr>
        <p:spPr/>
        <p:txBody>
          <a:bodyPr/>
          <a:lstStyle/>
          <a:p>
            <a:endParaRPr lang="x-none"/>
          </a:p>
        </p:txBody>
      </p:sp>
      <p:sp>
        <p:nvSpPr>
          <p:cNvPr id="3" name="Content Placeholder 2">
            <a:extLst>
              <a:ext uri="{FF2B5EF4-FFF2-40B4-BE49-F238E27FC236}">
                <a16:creationId xmlns="" xmlns:a16="http://schemas.microsoft.com/office/drawing/2014/main" id="{C3B0F014-960D-1301-F649-C0748DA7C5A5}"/>
              </a:ext>
            </a:extLst>
          </p:cNvPr>
          <p:cNvSpPr>
            <a:spLocks noGrp="1"/>
          </p:cNvSpPr>
          <p:nvPr>
            <p:ph idx="1"/>
          </p:nvPr>
        </p:nvSpPr>
        <p:spPr/>
        <p:txBody>
          <a:bodyPr/>
          <a:lstStyle/>
          <a:p>
            <a:pPr algn="l">
              <a:buFont typeface="Arial" panose="020B0604020202020204" pitchFamily="34" charset="0"/>
              <a:buChar char="•"/>
            </a:pPr>
            <a:r>
              <a:rPr lang="en-US" b="1" i="0" dirty="0">
                <a:solidFill>
                  <a:srgbClr val="333333"/>
                </a:solidFill>
                <a:effectLst/>
                <a:latin typeface="FSME"/>
              </a:rPr>
              <a:t>Early planting during the first rains</a:t>
            </a:r>
            <a:r>
              <a:rPr lang="en-US" b="0" i="0" dirty="0">
                <a:solidFill>
                  <a:srgbClr val="333333"/>
                </a:solidFill>
                <a:effectLst/>
                <a:latin typeface="FSME"/>
              </a:rPr>
              <a:t> </a:t>
            </a:r>
          </a:p>
          <a:p>
            <a:pPr algn="l">
              <a:buFont typeface="Arial" panose="020B0604020202020204" pitchFamily="34" charset="0"/>
              <a:buChar char="•"/>
            </a:pPr>
            <a:r>
              <a:rPr lang="en-US" b="0" i="0" dirty="0">
                <a:solidFill>
                  <a:srgbClr val="333333"/>
                </a:solidFill>
                <a:effectLst/>
                <a:latin typeface="FSME"/>
              </a:rPr>
              <a:t>This means that farmers need to prepare land as soon as they have harvested the previous crop. </a:t>
            </a:r>
          </a:p>
          <a:p>
            <a:pPr algn="l">
              <a:buFont typeface="Arial" panose="020B0604020202020204" pitchFamily="34" charset="0"/>
              <a:buChar char="•"/>
            </a:pPr>
            <a:r>
              <a:rPr lang="en-US" b="0" i="0" dirty="0">
                <a:solidFill>
                  <a:srgbClr val="333333"/>
                </a:solidFill>
                <a:effectLst/>
                <a:latin typeface="FSME"/>
              </a:rPr>
              <a:t>Planting during the first rains enables the seeds to benefit from the nitrogen that the rains flush through the soil.</a:t>
            </a:r>
          </a:p>
          <a:p>
            <a:r>
              <a:rPr lang="en-US" dirty="0">
                <a:effectLst/>
              </a:rPr>
              <a:t/>
            </a:r>
            <a:br>
              <a:rPr lang="en-US" dirty="0">
                <a:effectLst/>
              </a:rPr>
            </a:br>
            <a:endParaRPr lang="x-none" dirty="0"/>
          </a:p>
        </p:txBody>
      </p:sp>
    </p:spTree>
    <p:extLst>
      <p:ext uri="{BB962C8B-B14F-4D97-AF65-F5344CB8AC3E}">
        <p14:creationId xmlns:p14="http://schemas.microsoft.com/office/powerpoint/2010/main" val="60813059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Basic Conservation Farming Steps for Hoe Farmers</a:t>
            </a:r>
            <a:endParaRPr lang="en-GB" dirty="0"/>
          </a:p>
        </p:txBody>
      </p:sp>
      <p:sp>
        <p:nvSpPr>
          <p:cNvPr id="6" name="Content Placeholder 5"/>
          <p:cNvSpPr>
            <a:spLocks noGrp="1"/>
          </p:cNvSpPr>
          <p:nvPr>
            <p:ph idx="1"/>
          </p:nvPr>
        </p:nvSpPr>
        <p:spPr/>
        <p:txBody>
          <a:bodyPr/>
          <a:lstStyle/>
          <a:p>
            <a:pPr marL="0" indent="0">
              <a:buNone/>
            </a:pPr>
            <a:r>
              <a:rPr lang="en-GB" b="1" dirty="0" smtClean="0"/>
              <a:t>1. Keep residues in the field</a:t>
            </a:r>
          </a:p>
          <a:p>
            <a:pPr algn="just"/>
            <a:r>
              <a:rPr lang="en-US" dirty="0"/>
              <a:t>Do </a:t>
            </a:r>
            <a:r>
              <a:rPr lang="en-US" b="1" dirty="0"/>
              <a:t>not </a:t>
            </a:r>
            <a:r>
              <a:rPr lang="en-US" dirty="0"/>
              <a:t>burn crop residues from the last harvest. Leave them where they are. A minimum of 30% ground cover is recommended. </a:t>
            </a:r>
            <a:endParaRPr lang="en-US" dirty="0" smtClean="0"/>
          </a:p>
          <a:p>
            <a:pPr algn="just"/>
            <a:r>
              <a:rPr lang="en-US" dirty="0" smtClean="0"/>
              <a:t>The more residues </a:t>
            </a:r>
            <a:r>
              <a:rPr lang="en-US" dirty="0" smtClean="0"/>
              <a:t>left </a:t>
            </a:r>
            <a:r>
              <a:rPr lang="en-US" dirty="0"/>
              <a:t>on the land the better. </a:t>
            </a:r>
            <a:endParaRPr lang="en-US" dirty="0" smtClean="0"/>
          </a:p>
          <a:p>
            <a:pPr algn="just"/>
            <a:r>
              <a:rPr lang="en-US" dirty="0" smtClean="0"/>
              <a:t>Residues </a:t>
            </a:r>
            <a:r>
              <a:rPr lang="en-US" dirty="0"/>
              <a:t>reduce sheet erosion and capping, allow the rain to soak into the soil and, when they are </a:t>
            </a:r>
            <a:r>
              <a:rPr lang="en-US" dirty="0" smtClean="0"/>
              <a:t>harvested by </a:t>
            </a:r>
            <a:r>
              <a:rPr lang="en-US" dirty="0"/>
              <a:t>termites, add valuable organic matter to the soil.</a:t>
            </a:r>
            <a:endParaRPr lang="en-GB" dirty="0"/>
          </a:p>
        </p:txBody>
      </p:sp>
    </p:spTree>
    <p:extLst>
      <p:ext uri="{BB962C8B-B14F-4D97-AF65-F5344CB8AC3E}">
        <p14:creationId xmlns:p14="http://schemas.microsoft.com/office/powerpoint/2010/main" val="207665412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Step 2: Get Prepared Early</a:t>
            </a:r>
            <a:endParaRPr lang="en-GB" dirty="0"/>
          </a:p>
        </p:txBody>
      </p:sp>
      <p:sp>
        <p:nvSpPr>
          <p:cNvPr id="3" name="Content Placeholder 2"/>
          <p:cNvSpPr>
            <a:spLocks noGrp="1"/>
          </p:cNvSpPr>
          <p:nvPr>
            <p:ph idx="1"/>
          </p:nvPr>
        </p:nvSpPr>
        <p:spPr/>
        <p:txBody>
          <a:bodyPr>
            <a:normAutofit fontScale="92500" lnSpcReduction="10000"/>
          </a:bodyPr>
          <a:lstStyle/>
          <a:p>
            <a:pPr algn="just"/>
            <a:r>
              <a:rPr lang="en-US" dirty="0" smtClean="0"/>
              <a:t>To </a:t>
            </a:r>
            <a:r>
              <a:rPr lang="en-US" dirty="0"/>
              <a:t>prepare their land, hoe farmers will need the following: </a:t>
            </a:r>
            <a:endParaRPr lang="en-US" dirty="0" smtClean="0"/>
          </a:p>
          <a:p>
            <a:pPr algn="just"/>
            <a:r>
              <a:rPr lang="en-US" dirty="0" smtClean="0"/>
              <a:t>Teren </a:t>
            </a:r>
            <a:r>
              <a:rPr lang="en-US" dirty="0"/>
              <a:t>Rope; </a:t>
            </a:r>
            <a:r>
              <a:rPr lang="en-US" dirty="0" smtClean="0"/>
              <a:t>strong hoes</a:t>
            </a:r>
            <a:r>
              <a:rPr lang="en-US" dirty="0"/>
              <a:t>, 2 x 90cm row sticks; 2 pegs to hold the rope when it is </a:t>
            </a:r>
            <a:r>
              <a:rPr lang="en-US" dirty="0" smtClean="0"/>
              <a:t>stretched across </a:t>
            </a:r>
            <a:r>
              <a:rPr lang="en-US" dirty="0"/>
              <a:t>the field; </a:t>
            </a:r>
            <a:r>
              <a:rPr lang="en-US" dirty="0" smtClean="0"/>
              <a:t>fertilizer </a:t>
            </a:r>
            <a:r>
              <a:rPr lang="en-US" dirty="0"/>
              <a:t>cups and a Coca-Cola tin. </a:t>
            </a:r>
            <a:endParaRPr lang="en-US" dirty="0" smtClean="0"/>
          </a:p>
          <a:p>
            <a:pPr algn="just"/>
            <a:r>
              <a:rPr lang="en-US" dirty="0" smtClean="0"/>
              <a:t>If </a:t>
            </a:r>
            <a:r>
              <a:rPr lang="en-US" dirty="0"/>
              <a:t>the soil is hard, </a:t>
            </a:r>
            <a:r>
              <a:rPr lang="en-US" dirty="0" smtClean="0"/>
              <a:t>the Chaka </a:t>
            </a:r>
            <a:r>
              <a:rPr lang="en-US" dirty="0"/>
              <a:t>hoe is recommended as ordinary weeding hoes will break and </a:t>
            </a:r>
            <a:r>
              <a:rPr lang="en-US" dirty="0" smtClean="0"/>
              <a:t>are not </a:t>
            </a:r>
            <a:r>
              <a:rPr lang="en-US" dirty="0"/>
              <a:t>suited to digging. The Chaka hoe, with an extra strong and long </a:t>
            </a:r>
            <a:r>
              <a:rPr lang="en-US" dirty="0" smtClean="0"/>
              <a:t>blade is required.</a:t>
            </a:r>
            <a:endParaRPr lang="en-US" dirty="0"/>
          </a:p>
          <a:p>
            <a:pPr algn="just"/>
            <a:r>
              <a:rPr lang="en-US" dirty="0" smtClean="0"/>
              <a:t>The </a:t>
            </a:r>
            <a:r>
              <a:rPr lang="en-US" dirty="0"/>
              <a:t>Teren Rope is an essential tool for the Conservation Farmer </a:t>
            </a:r>
            <a:r>
              <a:rPr lang="en-US" dirty="0" smtClean="0"/>
              <a:t>because it </a:t>
            </a:r>
            <a:r>
              <a:rPr lang="en-US" dirty="0"/>
              <a:t>ensures accurate spacing of the basins. </a:t>
            </a:r>
            <a:r>
              <a:rPr lang="en-US" b="1" dirty="0"/>
              <a:t>CF is about precision. </a:t>
            </a:r>
            <a:endParaRPr lang="en-US" b="1" dirty="0" smtClean="0"/>
          </a:p>
          <a:p>
            <a:pPr algn="just"/>
            <a:r>
              <a:rPr lang="en-US" dirty="0" smtClean="0"/>
              <a:t>The</a:t>
            </a:r>
            <a:r>
              <a:rPr lang="en-US" dirty="0"/>
              <a:t> </a:t>
            </a:r>
            <a:r>
              <a:rPr lang="en-US" dirty="0" smtClean="0"/>
              <a:t>Teren </a:t>
            </a:r>
            <a:r>
              <a:rPr lang="en-US" dirty="0"/>
              <a:t>Rope consists of a rope or string with bottle tops squeezed onto </a:t>
            </a:r>
            <a:r>
              <a:rPr lang="en-US" dirty="0" smtClean="0"/>
              <a:t>it at </a:t>
            </a:r>
            <a:r>
              <a:rPr lang="en-US" dirty="0"/>
              <a:t>70cm </a:t>
            </a:r>
            <a:r>
              <a:rPr lang="en-US" dirty="0" smtClean="0"/>
              <a:t>Centre. </a:t>
            </a:r>
            <a:r>
              <a:rPr lang="en-US" dirty="0"/>
              <a:t>It is used to mark out where to dig the planting basins </a:t>
            </a:r>
            <a:r>
              <a:rPr lang="en-US" dirty="0" smtClean="0"/>
              <a:t>for </a:t>
            </a:r>
            <a:r>
              <a:rPr lang="en-GB" dirty="0" smtClean="0"/>
              <a:t>the </a:t>
            </a:r>
            <a:r>
              <a:rPr lang="en-GB" dirty="0"/>
              <a:t>correct spacing.</a:t>
            </a:r>
          </a:p>
        </p:txBody>
      </p:sp>
    </p:spTree>
    <p:extLst>
      <p:ext uri="{BB962C8B-B14F-4D97-AF65-F5344CB8AC3E}">
        <p14:creationId xmlns:p14="http://schemas.microsoft.com/office/powerpoint/2010/main" val="387624360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Marking Out the Permanent Planting Basins</a:t>
            </a:r>
            <a:endParaRPr lang="en-GB" dirty="0"/>
          </a:p>
        </p:txBody>
      </p:sp>
      <p:sp>
        <p:nvSpPr>
          <p:cNvPr id="3" name="Content Placeholder 2"/>
          <p:cNvSpPr>
            <a:spLocks noGrp="1"/>
          </p:cNvSpPr>
          <p:nvPr>
            <p:ph idx="1"/>
          </p:nvPr>
        </p:nvSpPr>
        <p:spPr/>
        <p:txBody>
          <a:bodyPr>
            <a:normAutofit lnSpcReduction="10000"/>
          </a:bodyPr>
          <a:lstStyle/>
          <a:p>
            <a:r>
              <a:rPr lang="en-US" dirty="0"/>
              <a:t>The Teren Rope is used to mark out where to dig the planting basins. These are spaced at 70cms along the row and the rows are 90cms apart.</a:t>
            </a:r>
          </a:p>
          <a:p>
            <a:r>
              <a:rPr lang="en-US" dirty="0"/>
              <a:t>There will be 15,850 basins per hectare. Stretch the rope </a:t>
            </a:r>
            <a:r>
              <a:rPr lang="en-US" b="1" dirty="0"/>
              <a:t>across </a:t>
            </a:r>
            <a:r>
              <a:rPr lang="en-US" dirty="0"/>
              <a:t>the prevailing slope using the 2 pegs to anchor it</a:t>
            </a:r>
            <a:r>
              <a:rPr lang="en-US" dirty="0" smtClean="0"/>
              <a:t>.</a:t>
            </a:r>
          </a:p>
          <a:p>
            <a:r>
              <a:rPr lang="en-US" dirty="0" smtClean="0"/>
              <a:t> </a:t>
            </a:r>
            <a:r>
              <a:rPr lang="en-US" dirty="0"/>
              <a:t>Keep it well clear of </a:t>
            </a:r>
            <a:r>
              <a:rPr lang="en-US" dirty="0" smtClean="0"/>
              <a:t>the ground </a:t>
            </a:r>
            <a:r>
              <a:rPr lang="en-US" dirty="0"/>
              <a:t>so it remains straight in spite of trash and clods brought up during the digging of the basins. The position of the bottle </a:t>
            </a:r>
            <a:r>
              <a:rPr lang="en-US" dirty="0" smtClean="0"/>
              <a:t>tops</a:t>
            </a:r>
            <a:r>
              <a:rPr lang="en-US" b="1" dirty="0" smtClean="0"/>
              <a:t> </a:t>
            </a:r>
            <a:r>
              <a:rPr lang="en-US" dirty="0"/>
              <a:t>marks the edge of the elongated basins. The basins are not round but rectangular in </a:t>
            </a:r>
            <a:r>
              <a:rPr lang="en-US" dirty="0" smtClean="0"/>
              <a:t>shape.</a:t>
            </a:r>
          </a:p>
          <a:p>
            <a:r>
              <a:rPr lang="en-US" dirty="0" smtClean="0"/>
              <a:t> </a:t>
            </a:r>
            <a:r>
              <a:rPr lang="en-US" dirty="0"/>
              <a:t>Use the </a:t>
            </a:r>
            <a:r>
              <a:rPr lang="en-US" dirty="0" smtClean="0"/>
              <a:t>90cm sticks </a:t>
            </a:r>
            <a:r>
              <a:rPr lang="en-US" dirty="0"/>
              <a:t>to get the correct spacing when you move the Teren Rope to the next row.</a:t>
            </a:r>
            <a:endParaRPr lang="en-GB" dirty="0"/>
          </a:p>
        </p:txBody>
      </p:sp>
    </p:spTree>
    <p:extLst>
      <p:ext uri="{BB962C8B-B14F-4D97-AF65-F5344CB8AC3E}">
        <p14:creationId xmlns:p14="http://schemas.microsoft.com/office/powerpoint/2010/main" val="147847859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Step 4: Digging the Basins</a:t>
            </a:r>
            <a:endParaRPr lang="en-GB" dirty="0"/>
          </a:p>
        </p:txBody>
      </p:sp>
      <p:sp>
        <p:nvSpPr>
          <p:cNvPr id="3" name="Content Placeholder 2"/>
          <p:cNvSpPr>
            <a:spLocks noGrp="1"/>
          </p:cNvSpPr>
          <p:nvPr>
            <p:ph idx="1"/>
          </p:nvPr>
        </p:nvSpPr>
        <p:spPr/>
        <p:txBody>
          <a:bodyPr>
            <a:normAutofit fontScale="92500" lnSpcReduction="20000"/>
          </a:bodyPr>
          <a:lstStyle/>
          <a:p>
            <a:pPr algn="just"/>
            <a:r>
              <a:rPr lang="en-US" dirty="0"/>
              <a:t>The basins should be dug well before the onset of the rains. </a:t>
            </a:r>
            <a:endParaRPr lang="en-US" dirty="0" smtClean="0"/>
          </a:p>
          <a:p>
            <a:pPr algn="just"/>
            <a:r>
              <a:rPr lang="en-US" dirty="0" smtClean="0"/>
              <a:t>CF </a:t>
            </a:r>
            <a:r>
              <a:rPr lang="en-US" dirty="0"/>
              <a:t>means </a:t>
            </a:r>
            <a:r>
              <a:rPr lang="en-US" dirty="0" smtClean="0"/>
              <a:t>doing work </a:t>
            </a:r>
            <a:r>
              <a:rPr lang="en-US" dirty="0"/>
              <a:t>in advance, so you are ready rather than being overwhelmed when </a:t>
            </a:r>
            <a:r>
              <a:rPr lang="en-US" dirty="0" smtClean="0"/>
              <a:t>the rains </a:t>
            </a:r>
            <a:r>
              <a:rPr lang="en-US" dirty="0"/>
              <a:t>come. </a:t>
            </a:r>
            <a:endParaRPr lang="en-US" dirty="0" smtClean="0"/>
          </a:p>
          <a:p>
            <a:pPr algn="just"/>
            <a:r>
              <a:rPr lang="en-US" dirty="0" smtClean="0"/>
              <a:t>Making </a:t>
            </a:r>
            <a:r>
              <a:rPr lang="en-US" dirty="0"/>
              <a:t>the basins when the rains have already started means </a:t>
            </a:r>
            <a:r>
              <a:rPr lang="en-US" dirty="0" smtClean="0"/>
              <a:t>you have </a:t>
            </a:r>
            <a:r>
              <a:rPr lang="en-US" dirty="0"/>
              <a:t>missed one of the main benefits of CF</a:t>
            </a:r>
            <a:r>
              <a:rPr lang="en-US" dirty="0" smtClean="0"/>
              <a:t>.</a:t>
            </a:r>
          </a:p>
          <a:p>
            <a:pPr algn="just"/>
            <a:r>
              <a:rPr lang="en-US" dirty="0"/>
              <a:t>When digging a basin, swing the Chaka hoe like an axe using the weight </a:t>
            </a:r>
            <a:r>
              <a:rPr lang="en-US" dirty="0" smtClean="0"/>
              <a:t>of the </a:t>
            </a:r>
            <a:r>
              <a:rPr lang="en-US" dirty="0"/>
              <a:t>hoe blade to penetrate the soil. </a:t>
            </a:r>
          </a:p>
          <a:p>
            <a:pPr algn="just"/>
            <a:r>
              <a:rPr lang="en-US" dirty="0" smtClean="0"/>
              <a:t>This </a:t>
            </a:r>
            <a:r>
              <a:rPr lang="en-US" dirty="0"/>
              <a:t>is why the Chaka hoe must have </a:t>
            </a:r>
            <a:r>
              <a:rPr lang="en-US" dirty="0" smtClean="0"/>
              <a:t>a long </a:t>
            </a:r>
            <a:r>
              <a:rPr lang="en-US" dirty="0"/>
              <a:t>handle. Cut out slices of soil </a:t>
            </a:r>
            <a:r>
              <a:rPr lang="en-US" b="1" dirty="0"/>
              <a:t>working forwards</a:t>
            </a:r>
            <a:r>
              <a:rPr lang="en-US" dirty="0"/>
              <a:t>. </a:t>
            </a:r>
            <a:endParaRPr lang="en-US" dirty="0" smtClean="0"/>
          </a:p>
          <a:p>
            <a:pPr algn="just"/>
            <a:r>
              <a:rPr lang="en-US" dirty="0" smtClean="0"/>
              <a:t>When </a:t>
            </a:r>
            <a:r>
              <a:rPr lang="en-US" dirty="0"/>
              <a:t>you have </a:t>
            </a:r>
            <a:r>
              <a:rPr lang="en-US" dirty="0" smtClean="0"/>
              <a:t>finished a </a:t>
            </a:r>
            <a:r>
              <a:rPr lang="en-US" dirty="0"/>
              <a:t>basin, </a:t>
            </a:r>
            <a:r>
              <a:rPr lang="en-US" b="1" dirty="0"/>
              <a:t>move backwards </a:t>
            </a:r>
            <a:r>
              <a:rPr lang="en-US" dirty="0"/>
              <a:t>to the next mark and start digging the next basin.</a:t>
            </a:r>
          </a:p>
          <a:p>
            <a:pPr algn="just"/>
            <a:r>
              <a:rPr lang="en-US" dirty="0"/>
              <a:t>Following this simple method will save you days of work.</a:t>
            </a:r>
            <a:endParaRPr lang="en-GB" dirty="0"/>
          </a:p>
        </p:txBody>
      </p:sp>
    </p:spTree>
    <p:extLst>
      <p:ext uri="{BB962C8B-B14F-4D97-AF65-F5344CB8AC3E}">
        <p14:creationId xmlns:p14="http://schemas.microsoft.com/office/powerpoint/2010/main" val="3536542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00022" y="365126"/>
            <a:ext cx="5859888" cy="6061432"/>
          </a:xfrm>
          <a:prstGeom prst="rect">
            <a:avLst/>
          </a:prstGeom>
          <a:noFill/>
          <a:ln>
            <a:noFill/>
          </a:ln>
        </p:spPr>
      </p:pic>
    </p:spTree>
    <p:extLst>
      <p:ext uri="{BB962C8B-B14F-4D97-AF65-F5344CB8AC3E}">
        <p14:creationId xmlns:p14="http://schemas.microsoft.com/office/powerpoint/2010/main" val="154739951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Step 5: Make Basins the Correct Size</a:t>
            </a:r>
            <a:endParaRPr lang="en-GB" dirty="0"/>
          </a:p>
        </p:txBody>
      </p:sp>
      <p:sp>
        <p:nvSpPr>
          <p:cNvPr id="3" name="Content Placeholder 2"/>
          <p:cNvSpPr>
            <a:spLocks noGrp="1"/>
          </p:cNvSpPr>
          <p:nvPr>
            <p:ph idx="1"/>
          </p:nvPr>
        </p:nvSpPr>
        <p:spPr/>
        <p:txBody>
          <a:bodyPr>
            <a:normAutofit/>
          </a:bodyPr>
          <a:lstStyle/>
          <a:p>
            <a:pPr algn="just"/>
            <a:r>
              <a:rPr lang="en-US" dirty="0"/>
              <a:t>The basin should be 20cms deep, 30cms long and the same width as</a:t>
            </a:r>
          </a:p>
          <a:p>
            <a:pPr algn="just"/>
            <a:r>
              <a:rPr lang="en-US" dirty="0"/>
              <a:t>the blade of the hoe. </a:t>
            </a:r>
            <a:endParaRPr lang="en-US" dirty="0" smtClean="0"/>
          </a:p>
          <a:p>
            <a:pPr algn="just"/>
            <a:r>
              <a:rPr lang="en-US" dirty="0" smtClean="0"/>
              <a:t>If </a:t>
            </a:r>
            <a:r>
              <a:rPr lang="en-US" dirty="0"/>
              <a:t>you place your outstretched hand down </a:t>
            </a:r>
            <a:r>
              <a:rPr lang="en-US" dirty="0" smtClean="0"/>
              <a:t>the hole</a:t>
            </a:r>
            <a:r>
              <a:rPr lang="en-US" dirty="0"/>
              <a:t>, the top of the basin should be level with the bone on your wrist.</a:t>
            </a:r>
          </a:p>
          <a:p>
            <a:pPr algn="just"/>
            <a:r>
              <a:rPr lang="en-US" dirty="0"/>
              <a:t>This depth will ensure that any </a:t>
            </a:r>
            <a:r>
              <a:rPr lang="en-US" b="1" dirty="0"/>
              <a:t>hoe or plough pans are broken</a:t>
            </a:r>
            <a:r>
              <a:rPr lang="en-US" dirty="0"/>
              <a:t>. </a:t>
            </a:r>
            <a:endParaRPr lang="en-US" dirty="0" smtClean="0"/>
          </a:p>
          <a:p>
            <a:pPr algn="just"/>
            <a:r>
              <a:rPr lang="en-US" dirty="0" smtClean="0"/>
              <a:t>The</a:t>
            </a:r>
            <a:r>
              <a:rPr lang="en-US" dirty="0"/>
              <a:t> </a:t>
            </a:r>
            <a:r>
              <a:rPr lang="en-US" dirty="0" smtClean="0"/>
              <a:t>basin </a:t>
            </a:r>
            <a:r>
              <a:rPr lang="en-US" dirty="0"/>
              <a:t>needs to be 30cms long so that the seeds of </a:t>
            </a:r>
            <a:r>
              <a:rPr lang="en-US" dirty="0" smtClean="0"/>
              <a:t>different </a:t>
            </a:r>
            <a:r>
              <a:rPr lang="en-US" dirty="0"/>
              <a:t>crops </a:t>
            </a:r>
            <a:r>
              <a:rPr lang="en-US" dirty="0" smtClean="0"/>
              <a:t>can be </a:t>
            </a:r>
            <a:r>
              <a:rPr lang="en-US" dirty="0"/>
              <a:t>spread along the </a:t>
            </a:r>
            <a:r>
              <a:rPr lang="en-US" dirty="0" smtClean="0"/>
              <a:t>basin.</a:t>
            </a:r>
          </a:p>
          <a:p>
            <a:pPr algn="just"/>
            <a:r>
              <a:rPr lang="en-US" dirty="0" smtClean="0"/>
              <a:t>When </a:t>
            </a:r>
            <a:r>
              <a:rPr lang="en-US" dirty="0"/>
              <a:t>the plants emerge they will not </a:t>
            </a:r>
            <a:r>
              <a:rPr lang="en-US" dirty="0" smtClean="0"/>
              <a:t>be </a:t>
            </a:r>
            <a:r>
              <a:rPr lang="en-GB" dirty="0" smtClean="0"/>
              <a:t>overcrowded</a:t>
            </a:r>
            <a:r>
              <a:rPr lang="en-GB" dirty="0"/>
              <a:t>.</a:t>
            </a:r>
          </a:p>
        </p:txBody>
      </p:sp>
    </p:spTree>
    <p:extLst>
      <p:ext uri="{BB962C8B-B14F-4D97-AF65-F5344CB8AC3E}">
        <p14:creationId xmlns:p14="http://schemas.microsoft.com/office/powerpoint/2010/main" val="251352318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algn="just"/>
            <a:r>
              <a:rPr lang="en-US" dirty="0"/>
              <a:t>Digging basins in compacted soils is a hard task. </a:t>
            </a:r>
            <a:endParaRPr lang="en-US" dirty="0" smtClean="0"/>
          </a:p>
          <a:p>
            <a:pPr algn="just"/>
            <a:r>
              <a:rPr lang="en-US" dirty="0" smtClean="0"/>
              <a:t>Farmers </a:t>
            </a:r>
            <a:r>
              <a:rPr lang="en-US" dirty="0"/>
              <a:t>who </a:t>
            </a:r>
            <a:r>
              <a:rPr lang="en-US" dirty="0" smtClean="0"/>
              <a:t>dig large </a:t>
            </a:r>
            <a:r>
              <a:rPr lang="en-US" dirty="0"/>
              <a:t>round basins </a:t>
            </a:r>
            <a:r>
              <a:rPr lang="en-US" dirty="0" smtClean="0"/>
              <a:t>usually </a:t>
            </a:r>
            <a:r>
              <a:rPr lang="en-US" dirty="0" smtClean="0"/>
              <a:t> waste </a:t>
            </a:r>
            <a:r>
              <a:rPr lang="en-US" dirty="0"/>
              <a:t>their time.</a:t>
            </a:r>
          </a:p>
          <a:p>
            <a:pPr algn="just"/>
            <a:r>
              <a:rPr lang="en-US" dirty="0"/>
              <a:t>Each of these basins </a:t>
            </a:r>
            <a:r>
              <a:rPr lang="en-US" dirty="0" smtClean="0"/>
              <a:t>takes 45 seconds to 1.5 </a:t>
            </a:r>
            <a:r>
              <a:rPr lang="en-US" dirty="0"/>
              <a:t>minutes </a:t>
            </a:r>
            <a:r>
              <a:rPr lang="en-US" dirty="0" smtClean="0"/>
              <a:t>to </a:t>
            </a:r>
            <a:r>
              <a:rPr lang="en-US" dirty="0" smtClean="0"/>
              <a:t>complete</a:t>
            </a:r>
            <a:endParaRPr lang="en-US" dirty="0" smtClean="0"/>
          </a:p>
          <a:p>
            <a:pPr algn="just"/>
            <a:r>
              <a:rPr lang="en-US" dirty="0" smtClean="0"/>
              <a:t>Over 15,850 basins </a:t>
            </a:r>
            <a:r>
              <a:rPr lang="en-US" dirty="0"/>
              <a:t>(one hectare), </a:t>
            </a:r>
            <a:r>
              <a:rPr lang="en-US" dirty="0" smtClean="0"/>
              <a:t>takes about </a:t>
            </a:r>
            <a:r>
              <a:rPr lang="en-US" b="1" dirty="0" smtClean="0"/>
              <a:t>197 </a:t>
            </a:r>
            <a:r>
              <a:rPr lang="en-US" b="1" dirty="0" smtClean="0"/>
              <a:t>hours (or </a:t>
            </a:r>
            <a:r>
              <a:rPr lang="en-US" b="1" dirty="0"/>
              <a:t>33 days) of extra work</a:t>
            </a:r>
            <a:r>
              <a:rPr lang="en-US" dirty="0"/>
              <a:t>.</a:t>
            </a:r>
            <a:endParaRPr lang="en-GB" dirty="0"/>
          </a:p>
        </p:txBody>
      </p:sp>
    </p:spTree>
    <p:extLst>
      <p:ext uri="{BB962C8B-B14F-4D97-AF65-F5344CB8AC3E}">
        <p14:creationId xmlns:p14="http://schemas.microsoft.com/office/powerpoint/2010/main" val="227981781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Step 6: Start Land Preparation Early and Work Steadily</a:t>
            </a:r>
            <a:endParaRPr lang="en-GB" dirty="0"/>
          </a:p>
        </p:txBody>
      </p:sp>
      <p:sp>
        <p:nvSpPr>
          <p:cNvPr id="3" name="Content Placeholder 2"/>
          <p:cNvSpPr>
            <a:spLocks noGrp="1"/>
          </p:cNvSpPr>
          <p:nvPr>
            <p:ph idx="1"/>
          </p:nvPr>
        </p:nvSpPr>
        <p:spPr/>
        <p:txBody>
          <a:bodyPr/>
          <a:lstStyle/>
          <a:p>
            <a:r>
              <a:rPr lang="en-US" dirty="0"/>
              <a:t>Farmers should be advised to start land preparation as soon as the harvest is over. </a:t>
            </a:r>
            <a:endParaRPr lang="en-US" dirty="0" smtClean="0"/>
          </a:p>
          <a:p>
            <a:r>
              <a:rPr lang="en-US" dirty="0" smtClean="0"/>
              <a:t>The </a:t>
            </a:r>
            <a:r>
              <a:rPr lang="en-US" dirty="0"/>
              <a:t>best way is for the adults in the family to work for </a:t>
            </a:r>
            <a:r>
              <a:rPr lang="en-US" b="1" dirty="0" smtClean="0"/>
              <a:t>about 3 </a:t>
            </a:r>
            <a:r>
              <a:rPr lang="en-US" b="1" dirty="0"/>
              <a:t>hours each morning</a:t>
            </a:r>
            <a:r>
              <a:rPr lang="en-US" dirty="0"/>
              <a:t>. </a:t>
            </a:r>
            <a:endParaRPr lang="en-US" dirty="0" smtClean="0"/>
          </a:p>
          <a:p>
            <a:r>
              <a:rPr lang="en-US" dirty="0" smtClean="0"/>
              <a:t>3 </a:t>
            </a:r>
            <a:r>
              <a:rPr lang="en-US" dirty="0"/>
              <a:t>adults can dig about 500 basins in 3 hours</a:t>
            </a:r>
            <a:r>
              <a:rPr lang="en-US" dirty="0" smtClean="0"/>
              <a:t>.</a:t>
            </a:r>
          </a:p>
          <a:p>
            <a:r>
              <a:rPr lang="en-US" dirty="0" smtClean="0"/>
              <a:t> </a:t>
            </a:r>
            <a:r>
              <a:rPr lang="en-US" dirty="0"/>
              <a:t>In this way, </a:t>
            </a:r>
            <a:r>
              <a:rPr lang="en-US" b="1" dirty="0"/>
              <a:t>1 hectare can be completed in 4 weeks</a:t>
            </a:r>
            <a:endParaRPr lang="en-GB" dirty="0"/>
          </a:p>
        </p:txBody>
      </p:sp>
    </p:spTree>
    <p:extLst>
      <p:ext uri="{BB962C8B-B14F-4D97-AF65-F5344CB8AC3E}">
        <p14:creationId xmlns:p14="http://schemas.microsoft.com/office/powerpoint/2010/main" val="289262761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Step 7: Applying Basal Fertilisers, Manure and Lime</a:t>
            </a:r>
            <a:endParaRPr lang="en-GB" dirty="0"/>
          </a:p>
        </p:txBody>
      </p:sp>
      <p:sp>
        <p:nvSpPr>
          <p:cNvPr id="3" name="Content Placeholder 2"/>
          <p:cNvSpPr>
            <a:spLocks noGrp="1"/>
          </p:cNvSpPr>
          <p:nvPr>
            <p:ph idx="1"/>
          </p:nvPr>
        </p:nvSpPr>
        <p:spPr/>
        <p:txBody>
          <a:bodyPr>
            <a:normAutofit fontScale="92500" lnSpcReduction="20000"/>
          </a:bodyPr>
          <a:lstStyle/>
          <a:p>
            <a:pPr algn="just"/>
            <a:r>
              <a:rPr lang="en-US" dirty="0"/>
              <a:t>Properly dug and precisely spaced basins allow farmers to be extremely accurate in the application of </a:t>
            </a:r>
            <a:r>
              <a:rPr lang="en-US" dirty="0" smtClean="0"/>
              <a:t>fertilizer </a:t>
            </a:r>
            <a:r>
              <a:rPr lang="en-US" dirty="0"/>
              <a:t>and seeds. </a:t>
            </a:r>
            <a:endParaRPr lang="en-US" dirty="0" smtClean="0"/>
          </a:p>
          <a:p>
            <a:pPr algn="just"/>
            <a:r>
              <a:rPr lang="en-US" dirty="0" smtClean="0"/>
              <a:t>Guesswork </a:t>
            </a:r>
            <a:r>
              <a:rPr lang="en-US" dirty="0"/>
              <a:t>is </a:t>
            </a:r>
            <a:r>
              <a:rPr lang="en-US" dirty="0" smtClean="0"/>
              <a:t>no longer </a:t>
            </a:r>
            <a:r>
              <a:rPr lang="en-US" dirty="0"/>
              <a:t>necessary and the inputs can be placed exactly where they are </a:t>
            </a:r>
            <a:r>
              <a:rPr lang="en-US" dirty="0" smtClean="0"/>
              <a:t>needed.</a:t>
            </a:r>
          </a:p>
          <a:p>
            <a:pPr algn="just"/>
            <a:r>
              <a:rPr lang="en-US" dirty="0" smtClean="0"/>
              <a:t>Wastage </a:t>
            </a:r>
            <a:r>
              <a:rPr lang="en-US" dirty="0"/>
              <a:t>is </a:t>
            </a:r>
            <a:r>
              <a:rPr lang="en-US" dirty="0" err="1"/>
              <a:t>minimised</a:t>
            </a:r>
            <a:r>
              <a:rPr lang="en-US" dirty="0" smtClean="0"/>
              <a:t>.</a:t>
            </a:r>
          </a:p>
          <a:p>
            <a:pPr algn="just"/>
            <a:r>
              <a:rPr lang="en-US" dirty="0"/>
              <a:t>Kraal manure is a valuable resource that farmers </a:t>
            </a:r>
            <a:r>
              <a:rPr lang="en-US" dirty="0" smtClean="0"/>
              <a:t>often </a:t>
            </a:r>
            <a:r>
              <a:rPr lang="en-US" dirty="0"/>
              <a:t>fail to take full advantage of. </a:t>
            </a:r>
            <a:endParaRPr lang="en-US" dirty="0" smtClean="0"/>
          </a:p>
          <a:p>
            <a:pPr algn="just"/>
            <a:r>
              <a:rPr lang="en-US" dirty="0" smtClean="0"/>
              <a:t>With </a:t>
            </a:r>
            <a:r>
              <a:rPr lang="en-US" dirty="0"/>
              <a:t>CF, manure is scattered across the bottom of the basin.</a:t>
            </a:r>
          </a:p>
          <a:p>
            <a:pPr algn="just"/>
            <a:r>
              <a:rPr lang="en-US" b="1" dirty="0"/>
              <a:t>2 full Coca-Cola tins, or 1 double handful, per basin </a:t>
            </a:r>
            <a:r>
              <a:rPr lang="en-US" dirty="0"/>
              <a:t>is recommended. This is the same as 4 tons (or 4 scotch carts) per hectare. </a:t>
            </a:r>
            <a:endParaRPr lang="en-US" dirty="0" smtClean="0"/>
          </a:p>
          <a:p>
            <a:pPr algn="just"/>
            <a:r>
              <a:rPr lang="en-US" dirty="0" smtClean="0"/>
              <a:t>Farmers</a:t>
            </a:r>
            <a:r>
              <a:rPr lang="en-US" dirty="0"/>
              <a:t> </a:t>
            </a:r>
            <a:r>
              <a:rPr lang="en-US" dirty="0" smtClean="0"/>
              <a:t>who </a:t>
            </a:r>
            <a:r>
              <a:rPr lang="en-US" dirty="0"/>
              <a:t>spread manure across the field and then plough it in, waste most of it.</a:t>
            </a:r>
            <a:endParaRPr lang="en-GB" dirty="0"/>
          </a:p>
        </p:txBody>
      </p:sp>
    </p:spTree>
    <p:extLst>
      <p:ext uri="{BB962C8B-B14F-4D97-AF65-F5344CB8AC3E}">
        <p14:creationId xmlns:p14="http://schemas.microsoft.com/office/powerpoint/2010/main" val="94081821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t>Applying Fertiliser &amp; Lime</a:t>
            </a:r>
            <a:endParaRPr lang="en-GB" dirty="0"/>
          </a:p>
        </p:txBody>
      </p:sp>
      <p:sp>
        <p:nvSpPr>
          <p:cNvPr id="3" name="Content Placeholder 2"/>
          <p:cNvSpPr>
            <a:spLocks noGrp="1"/>
          </p:cNvSpPr>
          <p:nvPr>
            <p:ph idx="1"/>
          </p:nvPr>
        </p:nvSpPr>
        <p:spPr/>
        <p:txBody>
          <a:bodyPr>
            <a:normAutofit/>
          </a:bodyPr>
          <a:lstStyle/>
          <a:p>
            <a:r>
              <a:rPr lang="en-US" dirty="0"/>
              <a:t>The Number 8 fertiliser cup is recommended for the application of fertiliser and </a:t>
            </a:r>
            <a:r>
              <a:rPr lang="en-US" dirty="0" smtClean="0"/>
              <a:t>lime</a:t>
            </a:r>
          </a:p>
          <a:p>
            <a:r>
              <a:rPr lang="en-US" dirty="0"/>
              <a:t>The fertiliser should be scattered in the bottom of the hole. One No.8 </a:t>
            </a:r>
            <a:r>
              <a:rPr lang="en-US" dirty="0" smtClean="0"/>
              <a:t>cup per </a:t>
            </a:r>
            <a:r>
              <a:rPr lang="en-US" dirty="0"/>
              <a:t>basin gives 125kgs per hectare of “D” Compound and 100kg of Urea</a:t>
            </a:r>
            <a:r>
              <a:rPr lang="en-US" dirty="0" smtClean="0"/>
              <a:t>.</a:t>
            </a:r>
          </a:p>
          <a:p>
            <a:r>
              <a:rPr lang="en-US" dirty="0"/>
              <a:t>Lime can be applied at the same time as basal </a:t>
            </a:r>
            <a:r>
              <a:rPr lang="en-US" dirty="0" smtClean="0"/>
              <a:t>dressing. 2 </a:t>
            </a:r>
            <a:r>
              <a:rPr lang="en-US" dirty="0"/>
              <a:t>cups of lime per basin gives 350kgs per </a:t>
            </a:r>
            <a:r>
              <a:rPr lang="en-US" dirty="0" smtClean="0"/>
              <a:t>hectare</a:t>
            </a:r>
          </a:p>
          <a:p>
            <a:r>
              <a:rPr lang="en-US" dirty="0"/>
              <a:t>Manure, basal fertiliser and lime can be applied as early as August and should </a:t>
            </a:r>
            <a:r>
              <a:rPr lang="en-US" dirty="0" smtClean="0"/>
              <a:t>always be </a:t>
            </a:r>
            <a:r>
              <a:rPr lang="en-US" dirty="0"/>
              <a:t>applied to the bottom of the basin and not used as a side dressing </a:t>
            </a:r>
            <a:r>
              <a:rPr lang="en-US" dirty="0" smtClean="0"/>
              <a:t>after </a:t>
            </a:r>
            <a:r>
              <a:rPr lang="en-US" dirty="0"/>
              <a:t>the crop </a:t>
            </a:r>
            <a:r>
              <a:rPr lang="en-US" dirty="0" smtClean="0"/>
              <a:t>has </a:t>
            </a:r>
            <a:r>
              <a:rPr lang="en-GB" dirty="0" smtClean="0"/>
              <a:t>emerged</a:t>
            </a:r>
            <a:endParaRPr lang="en-GB" dirty="0"/>
          </a:p>
        </p:txBody>
      </p:sp>
    </p:spTree>
    <p:extLst>
      <p:ext uri="{BB962C8B-B14F-4D97-AF65-F5344CB8AC3E}">
        <p14:creationId xmlns:p14="http://schemas.microsoft.com/office/powerpoint/2010/main" val="254745025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Applying Fertiliser Easily and Back-filling Basins</a:t>
            </a:r>
            <a:endParaRPr lang="en-GB" dirty="0"/>
          </a:p>
        </p:txBody>
      </p:sp>
      <p:sp>
        <p:nvSpPr>
          <p:cNvPr id="3" name="Content Placeholder 2"/>
          <p:cNvSpPr>
            <a:spLocks noGrp="1"/>
          </p:cNvSpPr>
          <p:nvPr>
            <p:ph idx="1"/>
          </p:nvPr>
        </p:nvSpPr>
        <p:spPr/>
        <p:txBody>
          <a:bodyPr/>
          <a:lstStyle/>
          <a:p>
            <a:r>
              <a:rPr lang="en-US" dirty="0"/>
              <a:t>To apply inputs easily, tie the ends of the same side of a </a:t>
            </a:r>
            <a:r>
              <a:rPr lang="en-US" dirty="0" smtClean="0"/>
              <a:t>fertiliser</a:t>
            </a:r>
            <a:r>
              <a:rPr lang="en-US" dirty="0"/>
              <a:t> </a:t>
            </a:r>
            <a:r>
              <a:rPr lang="en-US" dirty="0" smtClean="0"/>
              <a:t>sack </a:t>
            </a:r>
            <a:r>
              <a:rPr lang="en-US" dirty="0"/>
              <a:t>together and sling it over your shoulder. </a:t>
            </a:r>
            <a:endParaRPr lang="en-US" dirty="0" smtClean="0"/>
          </a:p>
          <a:p>
            <a:r>
              <a:rPr lang="en-US" dirty="0" smtClean="0"/>
              <a:t>Fill </a:t>
            </a:r>
            <a:r>
              <a:rPr lang="en-US" dirty="0"/>
              <a:t>it with 10 to 15kgs </a:t>
            </a:r>
            <a:r>
              <a:rPr lang="en-US" dirty="0" smtClean="0"/>
              <a:t>of fertiliser </a:t>
            </a:r>
            <a:r>
              <a:rPr lang="en-US" dirty="0"/>
              <a:t>or manure. Using the cup or Coca-Cola tin, toss the </a:t>
            </a:r>
            <a:r>
              <a:rPr lang="en-US" dirty="0" smtClean="0"/>
              <a:t>fertiliser</a:t>
            </a:r>
            <a:r>
              <a:rPr lang="en-US" dirty="0"/>
              <a:t> </a:t>
            </a:r>
            <a:r>
              <a:rPr lang="en-US" dirty="0" smtClean="0"/>
              <a:t>into </a:t>
            </a:r>
            <a:r>
              <a:rPr lang="en-US" dirty="0"/>
              <a:t>each basin from hip height so that it spreads out</a:t>
            </a:r>
            <a:r>
              <a:rPr lang="en-US" dirty="0" smtClean="0"/>
              <a:t>.</a:t>
            </a:r>
          </a:p>
          <a:p>
            <a:r>
              <a:rPr lang="en-US" dirty="0" smtClean="0"/>
              <a:t>After </a:t>
            </a:r>
            <a:r>
              <a:rPr lang="en-US" dirty="0"/>
              <a:t>the inputs have been applied in the basins, they should be </a:t>
            </a:r>
            <a:r>
              <a:rPr lang="en-US" dirty="0" smtClean="0"/>
              <a:t>covered with </a:t>
            </a:r>
            <a:r>
              <a:rPr lang="en-US" dirty="0"/>
              <a:t>soil using a hoe. This is called </a:t>
            </a:r>
            <a:r>
              <a:rPr lang="en-US" b="1" dirty="0"/>
              <a:t>back-filling</a:t>
            </a:r>
            <a:r>
              <a:rPr lang="en-US" dirty="0" smtClean="0"/>
              <a:t>.</a:t>
            </a:r>
          </a:p>
          <a:p>
            <a:r>
              <a:rPr lang="en-US" dirty="0" smtClean="0"/>
              <a:t> </a:t>
            </a:r>
            <a:r>
              <a:rPr lang="en-US" dirty="0"/>
              <a:t>A shallow </a:t>
            </a:r>
            <a:r>
              <a:rPr lang="en-US" dirty="0" smtClean="0"/>
              <a:t>depression, </a:t>
            </a:r>
            <a:r>
              <a:rPr lang="en-US" b="1" dirty="0" smtClean="0"/>
              <a:t>about </a:t>
            </a:r>
            <a:r>
              <a:rPr lang="en-US" b="1" dirty="0"/>
              <a:t>the depth of a matchbox</a:t>
            </a:r>
            <a:r>
              <a:rPr lang="en-US" dirty="0"/>
              <a:t>, should still remain </a:t>
            </a:r>
            <a:r>
              <a:rPr lang="en-US" dirty="0" smtClean="0"/>
              <a:t>after </a:t>
            </a:r>
            <a:r>
              <a:rPr lang="en-US" dirty="0"/>
              <a:t>this is done.</a:t>
            </a:r>
            <a:endParaRPr lang="en-GB" dirty="0"/>
          </a:p>
        </p:txBody>
      </p:sp>
    </p:spTree>
    <p:extLst>
      <p:ext uri="{BB962C8B-B14F-4D97-AF65-F5344CB8AC3E}">
        <p14:creationId xmlns:p14="http://schemas.microsoft.com/office/powerpoint/2010/main" val="226836011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Step 8: Deciding When to Plant</a:t>
            </a:r>
            <a:endParaRPr lang="en-GB" dirty="0"/>
          </a:p>
        </p:txBody>
      </p:sp>
      <p:sp>
        <p:nvSpPr>
          <p:cNvPr id="3" name="Content Placeholder 2"/>
          <p:cNvSpPr>
            <a:spLocks noGrp="1"/>
          </p:cNvSpPr>
          <p:nvPr>
            <p:ph idx="1"/>
          </p:nvPr>
        </p:nvSpPr>
        <p:spPr/>
        <p:txBody>
          <a:bodyPr>
            <a:normAutofit fontScale="92500" lnSpcReduction="20000"/>
          </a:bodyPr>
          <a:lstStyle/>
          <a:p>
            <a:pPr algn="just"/>
            <a:r>
              <a:rPr lang="en-US" dirty="0"/>
              <a:t>This depends on the season and is one of the </a:t>
            </a:r>
            <a:r>
              <a:rPr lang="en-US" dirty="0" smtClean="0"/>
              <a:t>most difficult </a:t>
            </a:r>
            <a:r>
              <a:rPr lang="en-US" dirty="0"/>
              <a:t>decisions farmers have to make. </a:t>
            </a:r>
            <a:endParaRPr lang="en-US" dirty="0" smtClean="0"/>
          </a:p>
          <a:p>
            <a:pPr algn="just"/>
            <a:r>
              <a:rPr lang="en-US" dirty="0" smtClean="0"/>
              <a:t>A </a:t>
            </a:r>
            <a:r>
              <a:rPr lang="en-US" dirty="0" smtClean="0"/>
              <a:t>major advantage </a:t>
            </a:r>
            <a:r>
              <a:rPr lang="en-US" dirty="0"/>
              <a:t>of CF is that when heavy rains fall, all </a:t>
            </a:r>
            <a:r>
              <a:rPr lang="en-US" dirty="0" smtClean="0"/>
              <a:t>the farmers </a:t>
            </a:r>
            <a:r>
              <a:rPr lang="en-US" dirty="0"/>
              <a:t>have to do is plant because they are ready.</a:t>
            </a:r>
          </a:p>
          <a:p>
            <a:pPr algn="just"/>
            <a:r>
              <a:rPr lang="en-US" dirty="0"/>
              <a:t>Most conventional farmers have to combine </a:t>
            </a:r>
            <a:r>
              <a:rPr lang="en-US" dirty="0" smtClean="0"/>
              <a:t>land preparation </a:t>
            </a:r>
            <a:r>
              <a:rPr lang="en-US" dirty="0"/>
              <a:t>and sowing. This complicates and </a:t>
            </a:r>
            <a:r>
              <a:rPr lang="en-US" dirty="0" smtClean="0"/>
              <a:t>delays </a:t>
            </a:r>
            <a:r>
              <a:rPr lang="en-GB" dirty="0" smtClean="0"/>
              <a:t>the </a:t>
            </a:r>
            <a:r>
              <a:rPr lang="en-GB" dirty="0"/>
              <a:t>job.</a:t>
            </a:r>
          </a:p>
          <a:p>
            <a:pPr algn="just"/>
            <a:r>
              <a:rPr lang="en-US" b="1" dirty="0"/>
              <a:t>The main objective is to achieve rapid, even </a:t>
            </a:r>
            <a:r>
              <a:rPr lang="en-US" b="1" dirty="0" smtClean="0"/>
              <a:t>and complete </a:t>
            </a:r>
            <a:r>
              <a:rPr lang="en-US" b="1" dirty="0"/>
              <a:t>emergence of the crop</a:t>
            </a:r>
            <a:r>
              <a:rPr lang="en-US" dirty="0"/>
              <a:t>. To achieve </a:t>
            </a:r>
            <a:r>
              <a:rPr lang="en-US" dirty="0" smtClean="0"/>
              <a:t>these </a:t>
            </a:r>
            <a:r>
              <a:rPr lang="en-GB" dirty="0" smtClean="0"/>
              <a:t>results</a:t>
            </a:r>
            <a:r>
              <a:rPr lang="en-GB" dirty="0"/>
              <a:t>, timing is critical.</a:t>
            </a:r>
          </a:p>
          <a:p>
            <a:pPr algn="just"/>
            <a:r>
              <a:rPr lang="en-US" dirty="0"/>
              <a:t>Always plant seed </a:t>
            </a:r>
            <a:r>
              <a:rPr lang="en-US" b="1" dirty="0"/>
              <a:t>immediately </a:t>
            </a:r>
            <a:r>
              <a:rPr lang="en-US" b="1" dirty="0" smtClean="0"/>
              <a:t>after </a:t>
            </a:r>
            <a:r>
              <a:rPr lang="en-US" b="1" dirty="0"/>
              <a:t>heavy </a:t>
            </a:r>
            <a:r>
              <a:rPr lang="en-US" b="1" dirty="0" smtClean="0"/>
              <a:t>rain. </a:t>
            </a:r>
            <a:r>
              <a:rPr lang="en-US" dirty="0" smtClean="0"/>
              <a:t>Never </a:t>
            </a:r>
            <a:r>
              <a:rPr lang="en-US" dirty="0"/>
              <a:t>plant several days </a:t>
            </a:r>
            <a:r>
              <a:rPr lang="en-US" dirty="0" smtClean="0"/>
              <a:t>after </a:t>
            </a:r>
            <a:r>
              <a:rPr lang="en-US" dirty="0"/>
              <a:t>rain when the soil </a:t>
            </a:r>
            <a:r>
              <a:rPr lang="en-US" dirty="0" smtClean="0"/>
              <a:t>is already </a:t>
            </a:r>
            <a:r>
              <a:rPr lang="en-US" dirty="0"/>
              <a:t>beginning to dry up.</a:t>
            </a:r>
          </a:p>
          <a:p>
            <a:pPr algn="just"/>
            <a:r>
              <a:rPr lang="en-US" dirty="0"/>
              <a:t>When the rain stops, continue planting for only </a:t>
            </a:r>
            <a:r>
              <a:rPr lang="en-US" dirty="0" smtClean="0"/>
              <a:t>48 hours</a:t>
            </a:r>
            <a:r>
              <a:rPr lang="en-US" dirty="0"/>
              <a:t>, then stop planting until the next good shower</a:t>
            </a:r>
            <a:r>
              <a:rPr lang="en-US" dirty="0" smtClean="0"/>
              <a:t>.</a:t>
            </a:r>
            <a:endParaRPr lang="en-US" dirty="0"/>
          </a:p>
        </p:txBody>
      </p:sp>
    </p:spTree>
    <p:extLst>
      <p:ext uri="{BB962C8B-B14F-4D97-AF65-F5344CB8AC3E}">
        <p14:creationId xmlns:p14="http://schemas.microsoft.com/office/powerpoint/2010/main" val="120394157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Step 8: Deciding When to Plant</a:t>
            </a:r>
            <a:endParaRPr lang="en-GB" dirty="0"/>
          </a:p>
        </p:txBody>
      </p:sp>
      <p:sp>
        <p:nvSpPr>
          <p:cNvPr id="3" name="Content Placeholder 2"/>
          <p:cNvSpPr>
            <a:spLocks noGrp="1"/>
          </p:cNvSpPr>
          <p:nvPr>
            <p:ph idx="1"/>
          </p:nvPr>
        </p:nvSpPr>
        <p:spPr/>
        <p:txBody>
          <a:bodyPr>
            <a:normAutofit/>
          </a:bodyPr>
          <a:lstStyle/>
          <a:p>
            <a:pPr algn="just"/>
            <a:r>
              <a:rPr lang="en-US" dirty="0" smtClean="0"/>
              <a:t>When you plant there must be enough moisture to germinate the seed </a:t>
            </a:r>
            <a:r>
              <a:rPr lang="en-US" b="1" dirty="0" smtClean="0"/>
              <a:t>so the whole crop emerges at the same time.</a:t>
            </a:r>
          </a:p>
          <a:p>
            <a:pPr algn="just"/>
            <a:r>
              <a:rPr lang="en-US" b="1" dirty="0" smtClean="0"/>
              <a:t> </a:t>
            </a:r>
            <a:r>
              <a:rPr lang="en-US" dirty="0" smtClean="0"/>
              <a:t>If you are relying on a further shower of rain to achieve emergence, you could fail.</a:t>
            </a:r>
          </a:p>
          <a:p>
            <a:pPr algn="just"/>
            <a:r>
              <a:rPr lang="en-US" dirty="0" smtClean="0"/>
              <a:t>Make sure your family knows how to plant different seeds so they can help you to finish the job quickly.</a:t>
            </a:r>
          </a:p>
          <a:p>
            <a:pPr algn="just"/>
            <a:r>
              <a:rPr lang="en-US" dirty="0" smtClean="0"/>
              <a:t>Planting should always be </a:t>
            </a:r>
            <a:r>
              <a:rPr lang="en-US" b="1" dirty="0" smtClean="0"/>
              <a:t>completed in 1 day </a:t>
            </a:r>
            <a:r>
              <a:rPr lang="en-US" dirty="0" smtClean="0"/>
              <a:t>if </a:t>
            </a:r>
            <a:r>
              <a:rPr lang="en-GB" dirty="0" smtClean="0"/>
              <a:t>possible.</a:t>
            </a:r>
            <a:endParaRPr lang="en-GB" dirty="0"/>
          </a:p>
        </p:txBody>
      </p:sp>
    </p:spTree>
    <p:extLst>
      <p:ext uri="{BB962C8B-B14F-4D97-AF65-F5344CB8AC3E}">
        <p14:creationId xmlns:p14="http://schemas.microsoft.com/office/powerpoint/2010/main" val="103711139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Step 9: Sowing Crop Seeds</a:t>
            </a:r>
            <a:endParaRPr lang="en-GB" dirty="0"/>
          </a:p>
        </p:txBody>
      </p:sp>
      <p:sp>
        <p:nvSpPr>
          <p:cNvPr id="3" name="Content Placeholder 2"/>
          <p:cNvSpPr>
            <a:spLocks noGrp="1"/>
          </p:cNvSpPr>
          <p:nvPr>
            <p:ph idx="1"/>
          </p:nvPr>
        </p:nvSpPr>
        <p:spPr/>
        <p:txBody>
          <a:bodyPr>
            <a:normAutofit fontScale="92500"/>
          </a:bodyPr>
          <a:lstStyle/>
          <a:p>
            <a:pPr algn="just"/>
            <a:r>
              <a:rPr lang="en-US" dirty="0"/>
              <a:t>It is very important to sow crop seeds correctly. If </a:t>
            </a:r>
            <a:r>
              <a:rPr lang="en-US" dirty="0" smtClean="0"/>
              <a:t>seeds are </a:t>
            </a:r>
            <a:r>
              <a:rPr lang="en-US" dirty="0"/>
              <a:t>not sown properly the </a:t>
            </a:r>
            <a:r>
              <a:rPr lang="en-US" dirty="0" smtClean="0"/>
              <a:t>effort </a:t>
            </a:r>
            <a:r>
              <a:rPr lang="en-US" dirty="0"/>
              <a:t>put into land </a:t>
            </a:r>
            <a:r>
              <a:rPr lang="en-US" dirty="0" smtClean="0"/>
              <a:t>preparation will </a:t>
            </a:r>
            <a:r>
              <a:rPr lang="en-US" dirty="0"/>
              <a:t>be wasted. </a:t>
            </a:r>
            <a:endParaRPr lang="en-US" dirty="0" smtClean="0"/>
          </a:p>
          <a:p>
            <a:pPr algn="just"/>
            <a:r>
              <a:rPr lang="en-US" dirty="0" smtClean="0"/>
              <a:t>Seeds must be planted at a </a:t>
            </a:r>
            <a:r>
              <a:rPr lang="en-US" dirty="0"/>
              <a:t>correct </a:t>
            </a:r>
            <a:r>
              <a:rPr lang="en-US" dirty="0" smtClean="0"/>
              <a:t>planting </a:t>
            </a:r>
            <a:r>
              <a:rPr lang="en-US" b="1" dirty="0" smtClean="0"/>
              <a:t>depth </a:t>
            </a:r>
            <a:r>
              <a:rPr lang="en-US" dirty="0"/>
              <a:t>for each type of seed. </a:t>
            </a:r>
            <a:endParaRPr lang="en-US" dirty="0" smtClean="0"/>
          </a:p>
          <a:p>
            <a:pPr algn="just"/>
            <a:r>
              <a:rPr lang="en-US" dirty="0" smtClean="0"/>
              <a:t>After </a:t>
            </a:r>
            <a:r>
              <a:rPr lang="en-US" dirty="0"/>
              <a:t>covering seeds, </a:t>
            </a:r>
            <a:r>
              <a:rPr lang="en-US" dirty="0" smtClean="0"/>
              <a:t>the soil </a:t>
            </a:r>
            <a:r>
              <a:rPr lang="en-US" dirty="0"/>
              <a:t>should be compacted lightly to ensure good </a:t>
            </a:r>
            <a:r>
              <a:rPr lang="en-US" dirty="0" smtClean="0"/>
              <a:t>contact between </a:t>
            </a:r>
            <a:r>
              <a:rPr lang="en-US" dirty="0"/>
              <a:t>seed and soil so that the seed can absorb </a:t>
            </a:r>
            <a:r>
              <a:rPr lang="en-US" dirty="0" smtClean="0"/>
              <a:t>water </a:t>
            </a:r>
            <a:r>
              <a:rPr lang="en-GB" dirty="0" smtClean="0"/>
              <a:t>quickly.</a:t>
            </a:r>
          </a:p>
          <a:p>
            <a:pPr algn="just"/>
            <a:r>
              <a:rPr lang="en-US" dirty="0"/>
              <a:t>Before sowing, check the level of soil in each basin. </a:t>
            </a:r>
            <a:r>
              <a:rPr lang="en-US" dirty="0" smtClean="0"/>
              <a:t>The hollow </a:t>
            </a:r>
            <a:r>
              <a:rPr lang="en-US" dirty="0"/>
              <a:t>in </a:t>
            </a:r>
            <a:r>
              <a:rPr lang="en-US" dirty="0" smtClean="0"/>
              <a:t>the </a:t>
            </a:r>
            <a:r>
              <a:rPr lang="en-US" dirty="0" err="1" smtClean="0"/>
              <a:t>centre</a:t>
            </a:r>
            <a:r>
              <a:rPr lang="en-US" dirty="0" smtClean="0"/>
              <a:t> </a:t>
            </a:r>
            <a:r>
              <a:rPr lang="en-US" dirty="0"/>
              <a:t>of each basin should be about </a:t>
            </a:r>
            <a:r>
              <a:rPr lang="en-US" dirty="0" smtClean="0"/>
              <a:t>5cms</a:t>
            </a:r>
            <a:r>
              <a:rPr lang="en-US" dirty="0"/>
              <a:t>. </a:t>
            </a:r>
            <a:endParaRPr lang="en-US" dirty="0" smtClean="0"/>
          </a:p>
          <a:p>
            <a:pPr algn="just"/>
            <a:r>
              <a:rPr lang="en-US" dirty="0" smtClean="0"/>
              <a:t>Rainfall </a:t>
            </a:r>
            <a:r>
              <a:rPr lang="en-US" dirty="0"/>
              <a:t>may have </a:t>
            </a:r>
            <a:r>
              <a:rPr lang="en-US" dirty="0" smtClean="0"/>
              <a:t>caused the </a:t>
            </a:r>
            <a:r>
              <a:rPr lang="en-US" dirty="0"/>
              <a:t>soil to slump down so more may need to be added.</a:t>
            </a:r>
            <a:endParaRPr lang="en-GB" dirty="0"/>
          </a:p>
          <a:p>
            <a:pPr marL="0" indent="0">
              <a:buNone/>
            </a:pPr>
            <a:endParaRPr lang="en-GB" dirty="0"/>
          </a:p>
        </p:txBody>
      </p:sp>
    </p:spTree>
    <p:extLst>
      <p:ext uri="{BB962C8B-B14F-4D97-AF65-F5344CB8AC3E}">
        <p14:creationId xmlns:p14="http://schemas.microsoft.com/office/powerpoint/2010/main" val="226824096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r>
              <a:rPr lang="en-GB" b="1" dirty="0"/>
              <a:t>4 seeds </a:t>
            </a:r>
            <a:r>
              <a:rPr lang="en-GB" b="1" dirty="0" smtClean="0"/>
              <a:t>of maize </a:t>
            </a:r>
            <a:r>
              <a:rPr lang="en-GB" dirty="0" smtClean="0"/>
              <a:t>are sown along </a:t>
            </a:r>
            <a:r>
              <a:rPr lang="en-GB" dirty="0"/>
              <a:t>the </a:t>
            </a:r>
            <a:r>
              <a:rPr lang="en-GB" dirty="0" smtClean="0"/>
              <a:t>basin and </a:t>
            </a:r>
            <a:r>
              <a:rPr lang="en-GB" dirty="0"/>
              <a:t>covered </a:t>
            </a:r>
            <a:r>
              <a:rPr lang="en-GB" dirty="0" smtClean="0"/>
              <a:t>with 5cms </a:t>
            </a:r>
            <a:r>
              <a:rPr lang="en-GB" dirty="0"/>
              <a:t>of soil. </a:t>
            </a:r>
          </a:p>
          <a:p>
            <a:r>
              <a:rPr lang="en-GB" dirty="0" smtClean="0"/>
              <a:t>Clods</a:t>
            </a:r>
            <a:r>
              <a:rPr lang="en-GB" dirty="0"/>
              <a:t> </a:t>
            </a:r>
            <a:r>
              <a:rPr lang="en-GB" dirty="0" smtClean="0"/>
              <a:t>should </a:t>
            </a:r>
            <a:r>
              <a:rPr lang="en-GB" dirty="0"/>
              <a:t>be </a:t>
            </a:r>
            <a:r>
              <a:rPr lang="en-GB" dirty="0" smtClean="0"/>
              <a:t>broken so </a:t>
            </a:r>
            <a:r>
              <a:rPr lang="en-GB" dirty="0"/>
              <a:t>the soil </a:t>
            </a:r>
            <a:r>
              <a:rPr lang="en-GB" dirty="0" smtClean="0"/>
              <a:t>makes good </a:t>
            </a:r>
            <a:r>
              <a:rPr lang="en-GB" dirty="0"/>
              <a:t>contact </a:t>
            </a:r>
            <a:r>
              <a:rPr lang="en-GB" dirty="0" smtClean="0"/>
              <a:t>with the </a:t>
            </a:r>
            <a:r>
              <a:rPr lang="en-GB" dirty="0"/>
              <a:t>seed. </a:t>
            </a:r>
            <a:endParaRPr lang="en-GB" dirty="0" smtClean="0"/>
          </a:p>
          <a:p>
            <a:r>
              <a:rPr lang="en-GB" dirty="0" smtClean="0"/>
              <a:t>The aim </a:t>
            </a:r>
            <a:r>
              <a:rPr lang="en-US" dirty="0" smtClean="0"/>
              <a:t>is </a:t>
            </a:r>
            <a:r>
              <a:rPr lang="en-US" dirty="0"/>
              <a:t>to have a </a:t>
            </a:r>
            <a:r>
              <a:rPr lang="en-US" dirty="0" smtClean="0"/>
              <a:t>stand </a:t>
            </a:r>
            <a:r>
              <a:rPr lang="en-GB" dirty="0" smtClean="0"/>
              <a:t>of </a:t>
            </a:r>
            <a:r>
              <a:rPr lang="en-GB" dirty="0"/>
              <a:t>57,000 </a:t>
            </a:r>
            <a:r>
              <a:rPr lang="en-GB" dirty="0" smtClean="0"/>
              <a:t>plants per </a:t>
            </a:r>
            <a:r>
              <a:rPr lang="en-GB" dirty="0"/>
              <a:t>hectare (</a:t>
            </a:r>
            <a:r>
              <a:rPr lang="en-GB" dirty="0" smtClean="0"/>
              <a:t>90% germination)</a:t>
            </a:r>
          </a:p>
          <a:p>
            <a:r>
              <a:rPr lang="en-GB" b="1" dirty="0" smtClean="0"/>
              <a:t>For sorghum,10-12 </a:t>
            </a:r>
            <a:r>
              <a:rPr lang="en-GB" b="1" dirty="0"/>
              <a:t>seeds </a:t>
            </a:r>
            <a:r>
              <a:rPr lang="en-GB" dirty="0" smtClean="0"/>
              <a:t>are sown </a:t>
            </a:r>
            <a:r>
              <a:rPr lang="en-GB" dirty="0"/>
              <a:t>along </a:t>
            </a:r>
            <a:r>
              <a:rPr lang="en-GB" dirty="0" smtClean="0"/>
              <a:t>the basin </a:t>
            </a:r>
            <a:r>
              <a:rPr lang="en-GB" dirty="0"/>
              <a:t>and </a:t>
            </a:r>
            <a:r>
              <a:rPr lang="en-GB" dirty="0" smtClean="0"/>
              <a:t>covered with 2.5cms</a:t>
            </a:r>
            <a:r>
              <a:rPr lang="en-GB" dirty="0"/>
              <a:t> </a:t>
            </a:r>
            <a:r>
              <a:rPr lang="en-GB" dirty="0" smtClean="0"/>
              <a:t>of </a:t>
            </a:r>
            <a:r>
              <a:rPr lang="en-GB" dirty="0"/>
              <a:t>soil</a:t>
            </a:r>
            <a:r>
              <a:rPr lang="en-GB" dirty="0" smtClean="0"/>
              <a:t>.</a:t>
            </a:r>
          </a:p>
          <a:p>
            <a:r>
              <a:rPr lang="en-GB" dirty="0" smtClean="0"/>
              <a:t> </a:t>
            </a:r>
            <a:r>
              <a:rPr lang="en-GB" dirty="0"/>
              <a:t>The </a:t>
            </a:r>
            <a:r>
              <a:rPr lang="en-GB" dirty="0" smtClean="0"/>
              <a:t>aim is </a:t>
            </a:r>
            <a:r>
              <a:rPr lang="en-GB" dirty="0"/>
              <a:t>a stand </a:t>
            </a:r>
            <a:r>
              <a:rPr lang="en-GB" dirty="0" smtClean="0"/>
              <a:t>of 100,000 plants per </a:t>
            </a:r>
            <a:r>
              <a:rPr lang="en-GB" dirty="0"/>
              <a:t>hectare.</a:t>
            </a:r>
          </a:p>
        </p:txBody>
      </p:sp>
    </p:spTree>
    <p:extLst>
      <p:ext uri="{BB962C8B-B14F-4D97-AF65-F5344CB8AC3E}">
        <p14:creationId xmlns:p14="http://schemas.microsoft.com/office/powerpoint/2010/main" val="197568112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US" b="1" dirty="0" smtClean="0"/>
              <a:t>For soya beans, Sow </a:t>
            </a:r>
            <a:r>
              <a:rPr lang="en-US" b="1" dirty="0"/>
              <a:t>10 to 12 seeds </a:t>
            </a:r>
            <a:r>
              <a:rPr lang="en-US" dirty="0"/>
              <a:t>along each basin and cover with 2cms of soil.</a:t>
            </a:r>
          </a:p>
          <a:p>
            <a:r>
              <a:rPr lang="en-US" dirty="0"/>
              <a:t>Do not plant too few seeds as this will reduce the </a:t>
            </a:r>
            <a:r>
              <a:rPr lang="en-US" dirty="0" smtClean="0"/>
              <a:t>yield.</a:t>
            </a:r>
          </a:p>
          <a:p>
            <a:r>
              <a:rPr lang="en-US" dirty="0" smtClean="0"/>
              <a:t>The </a:t>
            </a:r>
            <a:r>
              <a:rPr lang="en-US" dirty="0"/>
              <a:t>aim </a:t>
            </a:r>
            <a:r>
              <a:rPr lang="en-US" dirty="0" smtClean="0"/>
              <a:t>is to </a:t>
            </a:r>
            <a:r>
              <a:rPr lang="en-US" dirty="0"/>
              <a:t>have a vigorous stand of 125-150,000 plants per </a:t>
            </a:r>
            <a:r>
              <a:rPr lang="en-US" dirty="0" smtClean="0"/>
              <a:t>hectare</a:t>
            </a:r>
          </a:p>
          <a:p>
            <a:r>
              <a:rPr lang="en-US" b="1" dirty="0"/>
              <a:t>Remember that Soya Bean seed needs to be treated </a:t>
            </a:r>
            <a:r>
              <a:rPr lang="en-US" b="1" dirty="0" smtClean="0"/>
              <a:t>with </a:t>
            </a:r>
            <a:r>
              <a:rPr lang="en-US" b="1" dirty="0" err="1" smtClean="0"/>
              <a:t>innoculum</a:t>
            </a:r>
            <a:r>
              <a:rPr lang="en-US" b="1" dirty="0" smtClean="0"/>
              <a:t> </a:t>
            </a:r>
            <a:r>
              <a:rPr lang="en-US" b="1" dirty="0"/>
              <a:t>immediately before sowing. </a:t>
            </a:r>
            <a:endParaRPr lang="en-US" b="1" dirty="0" smtClean="0"/>
          </a:p>
          <a:p>
            <a:r>
              <a:rPr lang="en-US" b="1" dirty="0" smtClean="0"/>
              <a:t>Follow instructions </a:t>
            </a:r>
            <a:r>
              <a:rPr lang="en-GB" b="1" dirty="0" smtClean="0"/>
              <a:t>provided </a:t>
            </a:r>
            <a:r>
              <a:rPr lang="en-GB" b="1" dirty="0"/>
              <a:t>carefully</a:t>
            </a:r>
            <a:endParaRPr lang="en-GB" dirty="0"/>
          </a:p>
        </p:txBody>
      </p:sp>
    </p:spTree>
    <p:extLst>
      <p:ext uri="{BB962C8B-B14F-4D97-AF65-F5344CB8AC3E}">
        <p14:creationId xmlns:p14="http://schemas.microsoft.com/office/powerpoint/2010/main" val="99483198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algn="just"/>
            <a:r>
              <a:rPr lang="en-US" dirty="0"/>
              <a:t>Before sowing cotton seed, all the soil should be </a:t>
            </a:r>
            <a:r>
              <a:rPr lang="en-US" dirty="0" smtClean="0"/>
              <a:t>moved back </a:t>
            </a:r>
            <a:r>
              <a:rPr lang="en-US" dirty="0"/>
              <a:t>into the basin so it is </a:t>
            </a:r>
            <a:r>
              <a:rPr lang="en-US" b="1" dirty="0"/>
              <a:t>level with the </a:t>
            </a:r>
            <a:r>
              <a:rPr lang="en-US" b="1" dirty="0" smtClean="0"/>
              <a:t>ground</a:t>
            </a:r>
            <a:r>
              <a:rPr lang="en-US" dirty="0" smtClean="0"/>
              <a:t>.</a:t>
            </a:r>
          </a:p>
          <a:p>
            <a:pPr algn="just"/>
            <a:r>
              <a:rPr lang="en-US" dirty="0" smtClean="0"/>
              <a:t>Plant </a:t>
            </a:r>
            <a:r>
              <a:rPr lang="en-US" b="1" dirty="0" smtClean="0"/>
              <a:t>a pinch </a:t>
            </a:r>
            <a:r>
              <a:rPr lang="en-US" b="1" dirty="0"/>
              <a:t>of 6-8 fuzzy, or 2-3 </a:t>
            </a:r>
            <a:r>
              <a:rPr lang="en-US" b="1" dirty="0" err="1"/>
              <a:t>delinted</a:t>
            </a:r>
            <a:r>
              <a:rPr lang="en-US" b="1" dirty="0"/>
              <a:t> cotton seeds </a:t>
            </a:r>
            <a:r>
              <a:rPr lang="en-US" dirty="0"/>
              <a:t>at </a:t>
            </a:r>
            <a:r>
              <a:rPr lang="en-US" dirty="0" smtClean="0"/>
              <a:t>each end </a:t>
            </a:r>
            <a:r>
              <a:rPr lang="en-US" dirty="0"/>
              <a:t>of the filled hole. </a:t>
            </a:r>
            <a:endParaRPr lang="en-US" dirty="0" smtClean="0"/>
          </a:p>
          <a:p>
            <a:pPr algn="just"/>
            <a:r>
              <a:rPr lang="en-US" dirty="0" smtClean="0"/>
              <a:t>The </a:t>
            </a:r>
            <a:r>
              <a:rPr lang="en-US" dirty="0"/>
              <a:t>seed should be pushed into </a:t>
            </a:r>
            <a:r>
              <a:rPr lang="en-US" dirty="0" smtClean="0"/>
              <a:t>the soil </a:t>
            </a:r>
            <a:r>
              <a:rPr lang="en-US" dirty="0"/>
              <a:t>but should remain visible. </a:t>
            </a:r>
            <a:endParaRPr lang="en-US" dirty="0" smtClean="0"/>
          </a:p>
          <a:p>
            <a:pPr algn="just"/>
            <a:r>
              <a:rPr lang="en-US" dirty="0" smtClean="0"/>
              <a:t>After </a:t>
            </a:r>
            <a:r>
              <a:rPr lang="en-US" dirty="0"/>
              <a:t>thinning to 4 </a:t>
            </a:r>
            <a:r>
              <a:rPr lang="en-US" dirty="0" smtClean="0"/>
              <a:t>plants per </a:t>
            </a:r>
            <a:r>
              <a:rPr lang="en-US" dirty="0"/>
              <a:t>basin, the aim is to have a stand of 63,000 plants </a:t>
            </a:r>
            <a:r>
              <a:rPr lang="en-US" dirty="0" smtClean="0"/>
              <a:t>per </a:t>
            </a:r>
            <a:r>
              <a:rPr lang="en-GB" dirty="0" smtClean="0"/>
              <a:t>hectare</a:t>
            </a:r>
            <a:r>
              <a:rPr lang="en-GB" dirty="0"/>
              <a:t>.</a:t>
            </a:r>
          </a:p>
        </p:txBody>
      </p:sp>
    </p:spTree>
    <p:extLst>
      <p:ext uri="{BB962C8B-B14F-4D97-AF65-F5344CB8AC3E}">
        <p14:creationId xmlns:p14="http://schemas.microsoft.com/office/powerpoint/2010/main" val="179060338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t>Step 10: Thinning &amp; Supplying</a:t>
            </a:r>
            <a:endParaRPr lang="en-GB" dirty="0"/>
          </a:p>
        </p:txBody>
      </p:sp>
      <p:sp>
        <p:nvSpPr>
          <p:cNvPr id="3" name="Content Placeholder 2"/>
          <p:cNvSpPr>
            <a:spLocks noGrp="1"/>
          </p:cNvSpPr>
          <p:nvPr>
            <p:ph idx="1"/>
          </p:nvPr>
        </p:nvSpPr>
        <p:spPr/>
        <p:txBody>
          <a:bodyPr>
            <a:normAutofit/>
          </a:bodyPr>
          <a:lstStyle/>
          <a:p>
            <a:pPr algn="just"/>
            <a:r>
              <a:rPr lang="en-US" dirty="0"/>
              <a:t>Cotton is the only crop where </a:t>
            </a:r>
            <a:r>
              <a:rPr lang="en-US" b="1" dirty="0"/>
              <a:t>thinning </a:t>
            </a:r>
            <a:r>
              <a:rPr lang="en-US" dirty="0"/>
              <a:t>may be necessary. </a:t>
            </a:r>
            <a:endParaRPr lang="en-US" dirty="0" smtClean="0"/>
          </a:p>
          <a:p>
            <a:pPr algn="just"/>
            <a:r>
              <a:rPr lang="en-US" dirty="0" smtClean="0"/>
              <a:t>If the emergence </a:t>
            </a:r>
            <a:r>
              <a:rPr lang="en-US" dirty="0"/>
              <a:t>of the crop is poor, </a:t>
            </a:r>
            <a:r>
              <a:rPr lang="en-US" b="1" dirty="0"/>
              <a:t>supplying is also necessary</a:t>
            </a:r>
            <a:r>
              <a:rPr lang="en-US" dirty="0"/>
              <a:t>. </a:t>
            </a:r>
            <a:endParaRPr lang="en-US" dirty="0" smtClean="0"/>
          </a:p>
          <a:p>
            <a:pPr algn="just"/>
            <a:r>
              <a:rPr lang="en-US" dirty="0" smtClean="0"/>
              <a:t>Sowing</a:t>
            </a:r>
            <a:r>
              <a:rPr lang="en-US" dirty="0"/>
              <a:t> </a:t>
            </a:r>
            <a:r>
              <a:rPr lang="en-US" dirty="0" smtClean="0"/>
              <a:t>of </a:t>
            </a:r>
            <a:r>
              <a:rPr lang="en-US" dirty="0"/>
              <a:t>supply seeds should be done as soon as possible and before </a:t>
            </a:r>
            <a:r>
              <a:rPr lang="en-US" dirty="0" smtClean="0"/>
              <a:t>the existing </a:t>
            </a:r>
            <a:r>
              <a:rPr lang="en-US" dirty="0"/>
              <a:t>plants are matchbox height (5cms tall</a:t>
            </a:r>
            <a:r>
              <a:rPr lang="en-US" dirty="0" smtClean="0"/>
              <a:t>).</a:t>
            </a:r>
          </a:p>
          <a:p>
            <a:pPr algn="just"/>
            <a:r>
              <a:rPr lang="en-US" dirty="0" smtClean="0"/>
              <a:t> </a:t>
            </a:r>
            <a:r>
              <a:rPr lang="en-US" dirty="0"/>
              <a:t>Only sow into a </a:t>
            </a:r>
            <a:r>
              <a:rPr lang="en-US" dirty="0" smtClean="0"/>
              <a:t>very </a:t>
            </a:r>
            <a:r>
              <a:rPr lang="en-GB" dirty="0" smtClean="0"/>
              <a:t>moist seedbed</a:t>
            </a:r>
          </a:p>
          <a:p>
            <a:pPr algn="just"/>
            <a:r>
              <a:rPr lang="en-US" dirty="0"/>
              <a:t>Cotton seedlings should be </a:t>
            </a:r>
            <a:r>
              <a:rPr lang="en-US" b="1" dirty="0"/>
              <a:t>thinned </a:t>
            </a:r>
            <a:r>
              <a:rPr lang="en-US" dirty="0"/>
              <a:t>out before they are 5cms </a:t>
            </a:r>
            <a:r>
              <a:rPr lang="en-US" dirty="0" smtClean="0"/>
              <a:t>tall leaving </a:t>
            </a:r>
            <a:r>
              <a:rPr lang="en-US" dirty="0"/>
              <a:t>2 strong seedlings at each end of the basin. </a:t>
            </a:r>
            <a:endParaRPr lang="en-US" dirty="0" smtClean="0"/>
          </a:p>
          <a:p>
            <a:pPr algn="just"/>
            <a:r>
              <a:rPr lang="en-US" dirty="0" smtClean="0"/>
              <a:t>This </a:t>
            </a:r>
            <a:r>
              <a:rPr lang="en-US" dirty="0"/>
              <a:t>is 4 </a:t>
            </a:r>
            <a:r>
              <a:rPr lang="en-US" dirty="0" smtClean="0"/>
              <a:t>seedlings </a:t>
            </a:r>
            <a:r>
              <a:rPr lang="en-GB" dirty="0" smtClean="0"/>
              <a:t>per </a:t>
            </a:r>
            <a:r>
              <a:rPr lang="en-GB" dirty="0"/>
              <a:t>basin or 63,000 seedlings per hectare.</a:t>
            </a:r>
          </a:p>
        </p:txBody>
      </p:sp>
    </p:spTree>
    <p:extLst>
      <p:ext uri="{BB962C8B-B14F-4D97-AF65-F5344CB8AC3E}">
        <p14:creationId xmlns:p14="http://schemas.microsoft.com/office/powerpoint/2010/main" val="412455248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t>Step 11: Weeding</a:t>
            </a:r>
            <a:endParaRPr lang="en-GB" dirty="0"/>
          </a:p>
        </p:txBody>
      </p:sp>
      <p:sp>
        <p:nvSpPr>
          <p:cNvPr id="3" name="Content Placeholder 2"/>
          <p:cNvSpPr>
            <a:spLocks noGrp="1"/>
          </p:cNvSpPr>
          <p:nvPr>
            <p:ph idx="1"/>
          </p:nvPr>
        </p:nvSpPr>
        <p:spPr/>
        <p:txBody>
          <a:bodyPr/>
          <a:lstStyle/>
          <a:p>
            <a:pPr algn="just"/>
            <a:r>
              <a:rPr lang="en-US" dirty="0"/>
              <a:t>Early and continuous weeding is a critical element of CF. </a:t>
            </a:r>
            <a:endParaRPr lang="en-US" dirty="0" smtClean="0"/>
          </a:p>
          <a:p>
            <a:pPr algn="just"/>
            <a:r>
              <a:rPr lang="en-US" dirty="0" smtClean="0"/>
              <a:t>If </a:t>
            </a:r>
            <a:r>
              <a:rPr lang="en-US" dirty="0"/>
              <a:t>weeds are not allowed to seed, the population of weed seeds in the soil will </a:t>
            </a:r>
            <a:r>
              <a:rPr lang="en-US" dirty="0" smtClean="0"/>
              <a:t>gradually decline</a:t>
            </a:r>
            <a:r>
              <a:rPr lang="en-US" dirty="0"/>
              <a:t>. </a:t>
            </a:r>
            <a:endParaRPr lang="en-US" dirty="0" smtClean="0"/>
          </a:p>
          <a:p>
            <a:pPr algn="just"/>
            <a:r>
              <a:rPr lang="en-US" dirty="0" smtClean="0"/>
              <a:t>Farmers often </a:t>
            </a:r>
            <a:r>
              <a:rPr lang="en-US" dirty="0"/>
              <a:t>stop weeding </a:t>
            </a:r>
            <a:r>
              <a:rPr lang="en-US" dirty="0" smtClean="0"/>
              <a:t>after </a:t>
            </a:r>
            <a:r>
              <a:rPr lang="en-US" dirty="0"/>
              <a:t>the crop has matured believing the weeds can no longer do any harm. </a:t>
            </a:r>
            <a:endParaRPr lang="en-US" dirty="0" smtClean="0"/>
          </a:p>
          <a:p>
            <a:pPr algn="just"/>
            <a:r>
              <a:rPr lang="en-US" dirty="0" smtClean="0"/>
              <a:t>This </a:t>
            </a:r>
            <a:r>
              <a:rPr lang="en-US" dirty="0"/>
              <a:t>is a serious </a:t>
            </a:r>
            <a:r>
              <a:rPr lang="en-US" dirty="0" smtClean="0"/>
              <a:t>mistake because </a:t>
            </a:r>
            <a:r>
              <a:rPr lang="en-US" dirty="0"/>
              <a:t>each weed will shed thousands of seeds which will germinate the following year and for many years </a:t>
            </a:r>
            <a:r>
              <a:rPr lang="en-US" dirty="0" smtClean="0"/>
              <a:t>thereafter</a:t>
            </a:r>
            <a:r>
              <a:rPr lang="en-US" dirty="0"/>
              <a:t>.</a:t>
            </a:r>
            <a:endParaRPr lang="en-GB" dirty="0"/>
          </a:p>
        </p:txBody>
      </p:sp>
    </p:spTree>
    <p:extLst>
      <p:ext uri="{BB962C8B-B14F-4D97-AF65-F5344CB8AC3E}">
        <p14:creationId xmlns:p14="http://schemas.microsoft.com/office/powerpoint/2010/main" val="354006247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US" dirty="0"/>
              <a:t>Farmers seldom pay enough attention to weeding and are not </a:t>
            </a:r>
            <a:r>
              <a:rPr lang="en-US" dirty="0" smtClean="0"/>
              <a:t>aware of </a:t>
            </a:r>
            <a:r>
              <a:rPr lang="en-US" dirty="0"/>
              <a:t>the damage that weeds do to crops by competing for </a:t>
            </a:r>
            <a:r>
              <a:rPr lang="en-US" dirty="0" err="1" smtClean="0"/>
              <a:t>water,nutrients</a:t>
            </a:r>
            <a:r>
              <a:rPr lang="en-US" dirty="0" smtClean="0"/>
              <a:t> </a:t>
            </a:r>
            <a:r>
              <a:rPr lang="en-US" dirty="0"/>
              <a:t>and </a:t>
            </a:r>
            <a:r>
              <a:rPr lang="en-US" dirty="0" smtClean="0"/>
              <a:t>light.</a:t>
            </a:r>
          </a:p>
          <a:p>
            <a:r>
              <a:rPr lang="en-US" dirty="0" smtClean="0"/>
              <a:t>Weeds </a:t>
            </a:r>
            <a:r>
              <a:rPr lang="en-US" dirty="0"/>
              <a:t>should never be allowed to grow </a:t>
            </a:r>
            <a:r>
              <a:rPr lang="en-US" dirty="0" smtClean="0"/>
              <a:t>beyond </a:t>
            </a:r>
            <a:r>
              <a:rPr lang="en-US" b="1" dirty="0" smtClean="0"/>
              <a:t>5-6cms</a:t>
            </a:r>
            <a:r>
              <a:rPr lang="en-US" dirty="0"/>
              <a:t>. </a:t>
            </a:r>
            <a:endParaRPr lang="en-US" dirty="0" smtClean="0"/>
          </a:p>
          <a:p>
            <a:r>
              <a:rPr lang="en-US" dirty="0" smtClean="0"/>
              <a:t>One </a:t>
            </a:r>
            <a:r>
              <a:rPr lang="en-US" dirty="0"/>
              <a:t>person can weed 1 hectare of weeds this size in </a:t>
            </a:r>
            <a:r>
              <a:rPr lang="en-US" b="1" dirty="0" smtClean="0"/>
              <a:t>8-10 days</a:t>
            </a:r>
            <a:r>
              <a:rPr lang="en-US" dirty="0"/>
              <a:t>. </a:t>
            </a:r>
            <a:endParaRPr lang="en-US" dirty="0" smtClean="0"/>
          </a:p>
          <a:p>
            <a:r>
              <a:rPr lang="en-US" dirty="0" smtClean="0"/>
              <a:t>If </a:t>
            </a:r>
            <a:r>
              <a:rPr lang="en-US" dirty="0"/>
              <a:t>the weeds are 15cms high, </a:t>
            </a:r>
            <a:r>
              <a:rPr lang="en-US" dirty="0" smtClean="0"/>
              <a:t>the</a:t>
            </a:r>
            <a:r>
              <a:rPr lang="en-US" dirty="0"/>
              <a:t> </a:t>
            </a:r>
            <a:r>
              <a:rPr lang="en-US" dirty="0" smtClean="0"/>
              <a:t>same </a:t>
            </a:r>
            <a:r>
              <a:rPr lang="en-US" dirty="0"/>
              <a:t>job will take </a:t>
            </a:r>
            <a:r>
              <a:rPr lang="en-US" b="1" dirty="0"/>
              <a:t>20-25 days </a:t>
            </a:r>
            <a:r>
              <a:rPr lang="en-US" dirty="0"/>
              <a:t>and the crop will </a:t>
            </a:r>
            <a:r>
              <a:rPr lang="en-US" dirty="0" smtClean="0"/>
              <a:t>suffer </a:t>
            </a:r>
            <a:r>
              <a:rPr lang="en-US" dirty="0"/>
              <a:t>severely.</a:t>
            </a:r>
            <a:endParaRPr lang="en-GB" dirty="0"/>
          </a:p>
        </p:txBody>
      </p:sp>
    </p:spTree>
    <p:extLst>
      <p:ext uri="{BB962C8B-B14F-4D97-AF65-F5344CB8AC3E}">
        <p14:creationId xmlns:p14="http://schemas.microsoft.com/office/powerpoint/2010/main" val="18416132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Step 13: Top Dressing of Maize</a:t>
            </a:r>
            <a:endParaRPr lang="en-GB" dirty="0"/>
          </a:p>
        </p:txBody>
      </p:sp>
      <p:sp>
        <p:nvSpPr>
          <p:cNvPr id="3" name="Content Placeholder 2"/>
          <p:cNvSpPr>
            <a:spLocks noGrp="1"/>
          </p:cNvSpPr>
          <p:nvPr>
            <p:ph idx="1"/>
          </p:nvPr>
        </p:nvSpPr>
        <p:spPr/>
        <p:txBody>
          <a:bodyPr/>
          <a:lstStyle/>
          <a:p>
            <a:r>
              <a:rPr lang="en-US" dirty="0"/>
              <a:t>On medium to heavy soils, Maize should be top </a:t>
            </a:r>
            <a:r>
              <a:rPr lang="en-US" dirty="0" smtClean="0"/>
              <a:t>dressed once </a:t>
            </a:r>
            <a:r>
              <a:rPr lang="en-US" dirty="0"/>
              <a:t>when it is </a:t>
            </a:r>
            <a:r>
              <a:rPr lang="en-US" b="1" dirty="0"/>
              <a:t>knee high</a:t>
            </a:r>
            <a:r>
              <a:rPr lang="en-US" dirty="0"/>
              <a:t>. </a:t>
            </a:r>
            <a:endParaRPr lang="en-US" dirty="0" smtClean="0"/>
          </a:p>
          <a:p>
            <a:r>
              <a:rPr lang="en-US" dirty="0" smtClean="0"/>
              <a:t>It </a:t>
            </a:r>
            <a:r>
              <a:rPr lang="en-US" dirty="0"/>
              <a:t>is best to use 2 people </a:t>
            </a:r>
            <a:r>
              <a:rPr lang="en-US" dirty="0" smtClean="0"/>
              <a:t>to do </a:t>
            </a:r>
            <a:r>
              <a:rPr lang="en-US" dirty="0"/>
              <a:t>this job. The soil should be </a:t>
            </a:r>
            <a:r>
              <a:rPr lang="en-US" b="1" dirty="0"/>
              <a:t>moist</a:t>
            </a:r>
            <a:r>
              <a:rPr lang="en-US" dirty="0"/>
              <a:t>. </a:t>
            </a:r>
            <a:endParaRPr lang="en-US" dirty="0" smtClean="0"/>
          </a:p>
          <a:p>
            <a:r>
              <a:rPr lang="en-US" dirty="0" smtClean="0"/>
              <a:t>The </a:t>
            </a:r>
            <a:r>
              <a:rPr lang="en-US" dirty="0"/>
              <a:t>first </a:t>
            </a:r>
            <a:r>
              <a:rPr lang="en-US" dirty="0" smtClean="0"/>
              <a:t>person scratches </a:t>
            </a:r>
            <a:r>
              <a:rPr lang="en-US" dirty="0"/>
              <a:t>a small furrow beside each Maize </a:t>
            </a:r>
            <a:r>
              <a:rPr lang="en-US" dirty="0" smtClean="0"/>
              <a:t>stand (basin</a:t>
            </a:r>
            <a:r>
              <a:rPr lang="en-US" dirty="0"/>
              <a:t>), with a stick. </a:t>
            </a:r>
            <a:endParaRPr lang="en-US" dirty="0" smtClean="0"/>
          </a:p>
          <a:p>
            <a:r>
              <a:rPr lang="en-US" dirty="0" smtClean="0"/>
              <a:t>The </a:t>
            </a:r>
            <a:r>
              <a:rPr lang="en-US" dirty="0"/>
              <a:t>second person applies </a:t>
            </a:r>
            <a:r>
              <a:rPr lang="en-US" dirty="0" smtClean="0"/>
              <a:t>the fertiliser </a:t>
            </a:r>
            <a:r>
              <a:rPr lang="en-US" dirty="0"/>
              <a:t>in the furrow with a </a:t>
            </a:r>
            <a:r>
              <a:rPr lang="en-US" b="1" dirty="0"/>
              <a:t>No. 8 cup </a:t>
            </a:r>
            <a:r>
              <a:rPr lang="en-US" dirty="0"/>
              <a:t>and covers </a:t>
            </a:r>
            <a:r>
              <a:rPr lang="en-US" dirty="0" smtClean="0"/>
              <a:t>lightly </a:t>
            </a:r>
            <a:r>
              <a:rPr lang="en-GB" dirty="0" smtClean="0"/>
              <a:t>with </a:t>
            </a:r>
            <a:r>
              <a:rPr lang="en-GB" dirty="0"/>
              <a:t>soil.</a:t>
            </a:r>
          </a:p>
        </p:txBody>
      </p:sp>
    </p:spTree>
    <p:extLst>
      <p:ext uri="{BB962C8B-B14F-4D97-AF65-F5344CB8AC3E}">
        <p14:creationId xmlns:p14="http://schemas.microsoft.com/office/powerpoint/2010/main" val="96967160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US" dirty="0"/>
              <a:t>If the soil is </a:t>
            </a:r>
            <a:r>
              <a:rPr lang="en-US" b="1" dirty="0"/>
              <a:t>very sandy</a:t>
            </a:r>
            <a:r>
              <a:rPr lang="en-US" dirty="0"/>
              <a:t>, the top dressing </a:t>
            </a:r>
            <a:r>
              <a:rPr lang="en-US" dirty="0" smtClean="0"/>
              <a:t>should be </a:t>
            </a:r>
            <a:r>
              <a:rPr lang="en-US" b="1" dirty="0" smtClean="0"/>
              <a:t>split</a:t>
            </a:r>
            <a:r>
              <a:rPr lang="en-US" dirty="0" smtClean="0"/>
              <a:t>.</a:t>
            </a:r>
          </a:p>
          <a:p>
            <a:r>
              <a:rPr lang="en-US" dirty="0" smtClean="0"/>
              <a:t>The </a:t>
            </a:r>
            <a:r>
              <a:rPr lang="en-US" dirty="0"/>
              <a:t>first dressing is applied at </a:t>
            </a:r>
            <a:r>
              <a:rPr lang="en-US" b="1" dirty="0" smtClean="0"/>
              <a:t>knee height </a:t>
            </a:r>
            <a:r>
              <a:rPr lang="en-US" dirty="0"/>
              <a:t>(normally 6 weeks </a:t>
            </a:r>
            <a:r>
              <a:rPr lang="en-US" dirty="0" smtClean="0"/>
              <a:t>after planting)</a:t>
            </a:r>
          </a:p>
          <a:p>
            <a:r>
              <a:rPr lang="en-US" dirty="0" smtClean="0"/>
              <a:t>The </a:t>
            </a:r>
            <a:r>
              <a:rPr lang="en-US" dirty="0" smtClean="0"/>
              <a:t>second </a:t>
            </a:r>
            <a:r>
              <a:rPr lang="en-US" dirty="0"/>
              <a:t>dressing about 3 weeks later when </a:t>
            </a:r>
            <a:r>
              <a:rPr lang="en-US" dirty="0" smtClean="0"/>
              <a:t>the </a:t>
            </a:r>
            <a:r>
              <a:rPr lang="en-GB" dirty="0" smtClean="0"/>
              <a:t>Maize </a:t>
            </a:r>
            <a:r>
              <a:rPr lang="en-GB" dirty="0"/>
              <a:t>is </a:t>
            </a:r>
            <a:r>
              <a:rPr lang="en-GB" b="1" dirty="0"/>
              <a:t>waist height</a:t>
            </a:r>
            <a:endParaRPr lang="en-GB" dirty="0"/>
          </a:p>
        </p:txBody>
      </p:sp>
    </p:spTree>
    <p:extLst>
      <p:ext uri="{BB962C8B-B14F-4D97-AF65-F5344CB8AC3E}">
        <p14:creationId xmlns:p14="http://schemas.microsoft.com/office/powerpoint/2010/main" val="135947021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t>Rotations and CF</a:t>
            </a:r>
            <a:endParaRPr lang="en-GB" dirty="0"/>
          </a:p>
        </p:txBody>
      </p:sp>
      <p:sp>
        <p:nvSpPr>
          <p:cNvPr id="3" name="Content Placeholder 2"/>
          <p:cNvSpPr>
            <a:spLocks noGrp="1"/>
          </p:cNvSpPr>
          <p:nvPr>
            <p:ph idx="1"/>
          </p:nvPr>
        </p:nvSpPr>
        <p:spPr/>
        <p:txBody>
          <a:bodyPr>
            <a:normAutofit fontScale="92500" lnSpcReduction="20000"/>
          </a:bodyPr>
          <a:lstStyle/>
          <a:p>
            <a:pPr algn="just"/>
            <a:r>
              <a:rPr lang="en-US" dirty="0"/>
              <a:t>Rotations are an essential part of CF. </a:t>
            </a:r>
            <a:endParaRPr lang="en-US" dirty="0" smtClean="0"/>
          </a:p>
          <a:p>
            <a:pPr algn="just"/>
            <a:r>
              <a:rPr lang="en-US" dirty="0" smtClean="0"/>
              <a:t>Different legumes with different use can be used as rotational crops such as Cowpea</a:t>
            </a:r>
            <a:r>
              <a:rPr lang="en-US" dirty="0"/>
              <a:t>, Green Gram, Pigeon pea, </a:t>
            </a:r>
            <a:r>
              <a:rPr lang="en-US" dirty="0" smtClean="0"/>
              <a:t>Groundnuts </a:t>
            </a:r>
            <a:r>
              <a:rPr lang="en-US" dirty="0"/>
              <a:t>and Soya </a:t>
            </a:r>
            <a:r>
              <a:rPr lang="en-US" dirty="0" smtClean="0"/>
              <a:t>Beans</a:t>
            </a:r>
          </a:p>
          <a:p>
            <a:pPr algn="just"/>
            <a:r>
              <a:rPr lang="en-US" dirty="0" smtClean="0"/>
              <a:t>On most farms</a:t>
            </a:r>
            <a:r>
              <a:rPr lang="en-US" dirty="0" smtClean="0"/>
              <a:t>, Legumes </a:t>
            </a:r>
            <a:r>
              <a:rPr lang="en-US" dirty="0"/>
              <a:t>still occupy less than 10% of smallholder crops in any </a:t>
            </a:r>
            <a:r>
              <a:rPr lang="en-US" dirty="0" smtClean="0"/>
              <a:t>one season</a:t>
            </a:r>
            <a:r>
              <a:rPr lang="en-US" dirty="0"/>
              <a:t>. </a:t>
            </a:r>
            <a:endParaRPr lang="en-US" dirty="0" smtClean="0"/>
          </a:p>
          <a:p>
            <a:pPr algn="just"/>
            <a:r>
              <a:rPr lang="en-US" dirty="0" smtClean="0"/>
              <a:t>Either </a:t>
            </a:r>
            <a:r>
              <a:rPr lang="en-US" dirty="0"/>
              <a:t>seed is unavailable or there is no market. The regional and international demand for soya bean and groundnut is large but </a:t>
            </a:r>
            <a:r>
              <a:rPr lang="en-US" dirty="0" smtClean="0"/>
              <a:t>for other </a:t>
            </a:r>
            <a:r>
              <a:rPr lang="en-US" dirty="0"/>
              <a:t>legumes it is small. </a:t>
            </a:r>
            <a:endParaRPr lang="en-US" dirty="0" smtClean="0"/>
          </a:p>
          <a:p>
            <a:pPr algn="just"/>
            <a:r>
              <a:rPr lang="en-US" dirty="0" smtClean="0"/>
              <a:t>Local </a:t>
            </a:r>
            <a:r>
              <a:rPr lang="en-US" dirty="0"/>
              <a:t>demand, particularly in urban areas, must be developed. </a:t>
            </a:r>
            <a:endParaRPr lang="en-US" dirty="0" smtClean="0"/>
          </a:p>
          <a:p>
            <a:pPr algn="just"/>
            <a:r>
              <a:rPr lang="en-US" dirty="0" smtClean="0"/>
              <a:t>Legumes </a:t>
            </a:r>
            <a:r>
              <a:rPr lang="en-US" dirty="0"/>
              <a:t>provide an excellent source of protein </a:t>
            </a:r>
            <a:r>
              <a:rPr lang="en-US" dirty="0" smtClean="0"/>
              <a:t>and can </a:t>
            </a:r>
            <a:r>
              <a:rPr lang="en-US" dirty="0"/>
              <a:t>be prepared in many </a:t>
            </a:r>
            <a:r>
              <a:rPr lang="en-US" dirty="0" smtClean="0"/>
              <a:t>different </a:t>
            </a:r>
            <a:r>
              <a:rPr lang="en-US" dirty="0"/>
              <a:t>ways, including bean fritters which would provide a more nutritious alternative ‘fast food’ to green Maize</a:t>
            </a:r>
            <a:r>
              <a:rPr lang="en-US" dirty="0" smtClean="0"/>
              <a:t>.</a:t>
            </a:r>
            <a:endParaRPr lang="en-GB" dirty="0"/>
          </a:p>
        </p:txBody>
      </p:sp>
    </p:spTree>
    <p:extLst>
      <p:ext uri="{BB962C8B-B14F-4D97-AF65-F5344CB8AC3E}">
        <p14:creationId xmlns:p14="http://schemas.microsoft.com/office/powerpoint/2010/main" val="418258956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Planning Your Conservation Farming Rotation</a:t>
            </a:r>
            <a:endParaRPr lang="en-GB" dirty="0"/>
          </a:p>
        </p:txBody>
      </p:sp>
      <p:sp>
        <p:nvSpPr>
          <p:cNvPr id="3" name="Content Placeholder 2"/>
          <p:cNvSpPr>
            <a:spLocks noGrp="1"/>
          </p:cNvSpPr>
          <p:nvPr>
            <p:ph idx="1"/>
          </p:nvPr>
        </p:nvSpPr>
        <p:spPr/>
        <p:txBody>
          <a:bodyPr/>
          <a:lstStyle/>
          <a:p>
            <a:r>
              <a:rPr lang="en-US" dirty="0"/>
              <a:t>Give some thought to planning your rotation and if you are a beginner start small so you get it right first time. </a:t>
            </a:r>
            <a:endParaRPr lang="en-US" dirty="0" smtClean="0"/>
          </a:p>
          <a:p>
            <a:r>
              <a:rPr lang="en-US" dirty="0" smtClean="0"/>
              <a:t>Divide </a:t>
            </a:r>
            <a:r>
              <a:rPr lang="en-US" dirty="0"/>
              <a:t>your home field </a:t>
            </a:r>
            <a:r>
              <a:rPr lang="en-US" dirty="0" smtClean="0"/>
              <a:t>into </a:t>
            </a:r>
            <a:r>
              <a:rPr lang="en-GB" dirty="0" smtClean="0"/>
              <a:t>approximate 3 equal parts of your field</a:t>
            </a:r>
          </a:p>
          <a:p>
            <a:r>
              <a:rPr lang="en-US" b="1" dirty="0" smtClean="0"/>
              <a:t>Cereals</a:t>
            </a:r>
            <a:r>
              <a:rPr lang="en-US" dirty="0" smtClean="0"/>
              <a:t> – Maize, sorghum or millet</a:t>
            </a:r>
          </a:p>
          <a:p>
            <a:r>
              <a:rPr lang="en-US" b="1" dirty="0" smtClean="0"/>
              <a:t>Non legume cash crops </a:t>
            </a:r>
            <a:r>
              <a:rPr lang="en-US" dirty="0" smtClean="0"/>
              <a:t>– sunflower, cotton and Sesame</a:t>
            </a:r>
          </a:p>
          <a:p>
            <a:r>
              <a:rPr lang="en-US" b="1" dirty="0" smtClean="0"/>
              <a:t>Legumes – cash and food crops </a:t>
            </a:r>
            <a:r>
              <a:rPr lang="en-US" dirty="0" smtClean="0"/>
              <a:t>– Soya, </a:t>
            </a:r>
            <a:r>
              <a:rPr lang="en-US" dirty="0" err="1" smtClean="0"/>
              <a:t>cowpeas,Gram,groubdnuts</a:t>
            </a:r>
            <a:r>
              <a:rPr lang="en-US" dirty="0" smtClean="0"/>
              <a:t> and field beans</a:t>
            </a:r>
          </a:p>
          <a:p>
            <a:endParaRPr lang="en-GB" dirty="0"/>
          </a:p>
        </p:txBody>
      </p:sp>
    </p:spTree>
    <p:extLst>
      <p:ext uri="{BB962C8B-B14F-4D97-AF65-F5344CB8AC3E}">
        <p14:creationId xmlns:p14="http://schemas.microsoft.com/office/powerpoint/2010/main" val="186722841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Intercropping and CF (Often Called Cover-Cropping)</a:t>
            </a:r>
            <a:endParaRPr lang="en-GB" dirty="0"/>
          </a:p>
        </p:txBody>
      </p:sp>
      <p:sp>
        <p:nvSpPr>
          <p:cNvPr id="3" name="Content Placeholder 2"/>
          <p:cNvSpPr>
            <a:spLocks noGrp="1"/>
          </p:cNvSpPr>
          <p:nvPr>
            <p:ph idx="1"/>
          </p:nvPr>
        </p:nvSpPr>
        <p:spPr/>
        <p:txBody>
          <a:bodyPr/>
          <a:lstStyle/>
          <a:p>
            <a:pPr algn="just"/>
            <a:r>
              <a:rPr lang="en-US" dirty="0"/>
              <a:t>Cowpeas are sown immediately the Maize is sown or </a:t>
            </a:r>
            <a:r>
              <a:rPr lang="en-US" dirty="0" smtClean="0"/>
              <a:t>after the first </a:t>
            </a:r>
            <a:r>
              <a:rPr lang="en-US" b="1" dirty="0"/>
              <a:t>early </a:t>
            </a:r>
            <a:r>
              <a:rPr lang="en-US" dirty="0"/>
              <a:t>weeding about 10 -12 days </a:t>
            </a:r>
            <a:r>
              <a:rPr lang="en-US" dirty="0" smtClean="0"/>
              <a:t>after </a:t>
            </a:r>
            <a:r>
              <a:rPr lang="en-US" dirty="0"/>
              <a:t>the Maize is sown.</a:t>
            </a:r>
          </a:p>
          <a:p>
            <a:pPr algn="just"/>
            <a:r>
              <a:rPr lang="en-US" dirty="0"/>
              <a:t>The Cowpeas </a:t>
            </a:r>
            <a:r>
              <a:rPr lang="en-US" b="1" dirty="0"/>
              <a:t>smother weeds, reduce labour for weeding</a:t>
            </a:r>
            <a:r>
              <a:rPr lang="en-US" dirty="0"/>
              <a:t>, </a:t>
            </a:r>
            <a:r>
              <a:rPr lang="en-US" b="1" dirty="0" smtClean="0"/>
              <a:t>fix Nitrogen </a:t>
            </a:r>
            <a:r>
              <a:rPr lang="en-US" b="1" dirty="0"/>
              <a:t>and provide some early protein</a:t>
            </a:r>
            <a:r>
              <a:rPr lang="en-US" dirty="0"/>
              <a:t>. </a:t>
            </a:r>
            <a:endParaRPr lang="en-US" dirty="0" smtClean="0"/>
          </a:p>
          <a:p>
            <a:pPr algn="just"/>
            <a:r>
              <a:rPr lang="en-US" dirty="0" smtClean="0"/>
              <a:t>Cowpea </a:t>
            </a:r>
            <a:r>
              <a:rPr lang="en-US" dirty="0"/>
              <a:t>yields </a:t>
            </a:r>
            <a:r>
              <a:rPr lang="en-US" dirty="0" smtClean="0"/>
              <a:t>will, however</a:t>
            </a:r>
            <a:r>
              <a:rPr lang="en-US" dirty="0"/>
              <a:t>, be relatively low at 250-500kg/ha due to </a:t>
            </a:r>
            <a:r>
              <a:rPr lang="en-US" dirty="0" smtClean="0"/>
              <a:t>competition from </a:t>
            </a:r>
            <a:r>
              <a:rPr lang="en-US" dirty="0"/>
              <a:t>the </a:t>
            </a:r>
            <a:r>
              <a:rPr lang="en-US" dirty="0" smtClean="0"/>
              <a:t>Maize.</a:t>
            </a:r>
          </a:p>
          <a:p>
            <a:pPr algn="just"/>
            <a:r>
              <a:rPr lang="en-US" dirty="0" smtClean="0"/>
              <a:t>Maize </a:t>
            </a:r>
            <a:r>
              <a:rPr lang="en-US" dirty="0"/>
              <a:t>yield is not </a:t>
            </a:r>
            <a:r>
              <a:rPr lang="en-US" dirty="0" smtClean="0"/>
              <a:t>affected.</a:t>
            </a:r>
          </a:p>
          <a:p>
            <a:pPr algn="just"/>
            <a:r>
              <a:rPr lang="en-US" dirty="0" smtClean="0"/>
              <a:t>The </a:t>
            </a:r>
            <a:r>
              <a:rPr lang="en-US" dirty="0"/>
              <a:t>following year </a:t>
            </a:r>
            <a:r>
              <a:rPr lang="en-US" dirty="0" smtClean="0"/>
              <a:t>the </a:t>
            </a:r>
            <a:r>
              <a:rPr lang="en-GB" dirty="0" smtClean="0"/>
              <a:t>rows </a:t>
            </a:r>
            <a:r>
              <a:rPr lang="en-GB" dirty="0"/>
              <a:t>are switched</a:t>
            </a:r>
          </a:p>
        </p:txBody>
      </p:sp>
    </p:spTree>
    <p:extLst>
      <p:ext uri="{BB962C8B-B14F-4D97-AF65-F5344CB8AC3E}">
        <p14:creationId xmlns:p14="http://schemas.microsoft.com/office/powerpoint/2010/main" val="130577290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Fallow Cropping and CF (Low Fertiliser Input System</a:t>
            </a:r>
            <a:endParaRPr lang="en-GB" dirty="0"/>
          </a:p>
        </p:txBody>
      </p:sp>
      <p:sp>
        <p:nvSpPr>
          <p:cNvPr id="3" name="Content Placeholder 2"/>
          <p:cNvSpPr>
            <a:spLocks noGrp="1"/>
          </p:cNvSpPr>
          <p:nvPr>
            <p:ph idx="1"/>
          </p:nvPr>
        </p:nvSpPr>
        <p:spPr/>
        <p:txBody>
          <a:bodyPr/>
          <a:lstStyle/>
          <a:p>
            <a:pPr algn="just"/>
            <a:r>
              <a:rPr lang="en-US" dirty="0"/>
              <a:t>Where hoe farmers have spare land they are </a:t>
            </a:r>
            <a:r>
              <a:rPr lang="en-US" b="1" dirty="0"/>
              <a:t>not </a:t>
            </a:r>
            <a:r>
              <a:rPr lang="en-US" b="1" dirty="0" err="1"/>
              <a:t>utilising</a:t>
            </a:r>
            <a:r>
              <a:rPr lang="en-US" b="1" dirty="0"/>
              <a:t>, </a:t>
            </a:r>
            <a:r>
              <a:rPr lang="en-US" dirty="0"/>
              <a:t>Velvet </a:t>
            </a:r>
            <a:r>
              <a:rPr lang="en-US" dirty="0" smtClean="0"/>
              <a:t>Bean </a:t>
            </a:r>
            <a:r>
              <a:rPr lang="en-US" i="1" dirty="0" smtClean="0"/>
              <a:t>(</a:t>
            </a:r>
            <a:r>
              <a:rPr lang="en-US" i="1" dirty="0" err="1" smtClean="0"/>
              <a:t>Mucuna</a:t>
            </a:r>
            <a:r>
              <a:rPr lang="en-US" i="1" dirty="0" smtClean="0"/>
              <a:t> </a:t>
            </a:r>
            <a:r>
              <a:rPr lang="en-US" i="1" dirty="0" err="1"/>
              <a:t>pruriens</a:t>
            </a:r>
            <a:r>
              <a:rPr lang="en-US" i="1" dirty="0"/>
              <a:t>) </a:t>
            </a:r>
            <a:r>
              <a:rPr lang="en-US" dirty="0"/>
              <a:t>is the best fallow crop </a:t>
            </a:r>
            <a:r>
              <a:rPr lang="en-US" dirty="0" smtClean="0"/>
              <a:t>choice.</a:t>
            </a:r>
          </a:p>
          <a:p>
            <a:pPr algn="just"/>
            <a:r>
              <a:rPr lang="en-US" dirty="0" smtClean="0"/>
              <a:t>Velvet </a:t>
            </a:r>
            <a:r>
              <a:rPr lang="en-US" dirty="0"/>
              <a:t>beans are </a:t>
            </a:r>
            <a:r>
              <a:rPr lang="en-US" dirty="0" smtClean="0"/>
              <a:t>extremely vigorous </a:t>
            </a:r>
            <a:r>
              <a:rPr lang="en-US" dirty="0"/>
              <a:t>and smother weeds </a:t>
            </a:r>
            <a:r>
              <a:rPr lang="en-US" dirty="0" smtClean="0"/>
              <a:t>very effectively</a:t>
            </a:r>
            <a:r>
              <a:rPr lang="en-US" dirty="0"/>
              <a:t>. </a:t>
            </a:r>
            <a:endParaRPr lang="en-US" dirty="0" smtClean="0"/>
          </a:p>
          <a:p>
            <a:pPr algn="just"/>
            <a:r>
              <a:rPr lang="en-US" dirty="0" smtClean="0"/>
              <a:t>Velvet </a:t>
            </a:r>
            <a:r>
              <a:rPr lang="en-US" dirty="0"/>
              <a:t>beans also fix </a:t>
            </a:r>
            <a:r>
              <a:rPr lang="en-US" b="1" dirty="0" smtClean="0"/>
              <a:t>over 100kgs </a:t>
            </a:r>
            <a:r>
              <a:rPr lang="en-US" dirty="0"/>
              <a:t>of Nitrogen/ha for successive crops. </a:t>
            </a:r>
            <a:endParaRPr lang="en-US" dirty="0" smtClean="0"/>
          </a:p>
          <a:p>
            <a:pPr algn="just"/>
            <a:r>
              <a:rPr lang="en-US" dirty="0" smtClean="0"/>
              <a:t>This </a:t>
            </a:r>
            <a:r>
              <a:rPr lang="en-US" dirty="0"/>
              <a:t>is very valuable.</a:t>
            </a:r>
            <a:endParaRPr lang="en-GB" dirty="0"/>
          </a:p>
        </p:txBody>
      </p:sp>
    </p:spTree>
    <p:extLst>
      <p:ext uri="{BB962C8B-B14F-4D97-AF65-F5344CB8AC3E}">
        <p14:creationId xmlns:p14="http://schemas.microsoft.com/office/powerpoint/2010/main" val="185471604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Importance of Early Planting – The Nitrogen Flush</a:t>
            </a:r>
            <a:endParaRPr lang="en-GB" dirty="0"/>
          </a:p>
        </p:txBody>
      </p:sp>
      <p:sp>
        <p:nvSpPr>
          <p:cNvPr id="3" name="Content Placeholder 2"/>
          <p:cNvSpPr>
            <a:spLocks noGrp="1"/>
          </p:cNvSpPr>
          <p:nvPr>
            <p:ph idx="1"/>
          </p:nvPr>
        </p:nvSpPr>
        <p:spPr/>
        <p:txBody>
          <a:bodyPr>
            <a:normAutofit/>
          </a:bodyPr>
          <a:lstStyle/>
          <a:p>
            <a:pPr algn="just"/>
            <a:r>
              <a:rPr lang="en-US" dirty="0"/>
              <a:t>The importance of </a:t>
            </a:r>
            <a:r>
              <a:rPr lang="en-US" b="1" dirty="0"/>
              <a:t>early planting </a:t>
            </a:r>
            <a:r>
              <a:rPr lang="en-US" dirty="0"/>
              <a:t>of all crops cannot be over </a:t>
            </a:r>
            <a:r>
              <a:rPr lang="en-US" dirty="0" smtClean="0"/>
              <a:t>emphasized. </a:t>
            </a:r>
          </a:p>
          <a:p>
            <a:pPr algn="just"/>
            <a:r>
              <a:rPr lang="en-US" dirty="0" smtClean="0"/>
              <a:t>CF </a:t>
            </a:r>
            <a:r>
              <a:rPr lang="en-US" dirty="0"/>
              <a:t>farmers who have completed land preparation in the dry </a:t>
            </a:r>
            <a:r>
              <a:rPr lang="en-US" dirty="0" smtClean="0"/>
              <a:t>season but </a:t>
            </a:r>
            <a:r>
              <a:rPr lang="en-US" dirty="0"/>
              <a:t>fail to plant immediately </a:t>
            </a:r>
            <a:r>
              <a:rPr lang="en-US" dirty="0" smtClean="0"/>
              <a:t>after </a:t>
            </a:r>
            <a:r>
              <a:rPr lang="en-US" dirty="0"/>
              <a:t>the first planting rains have missed out on one of the most important benefits of CF</a:t>
            </a:r>
            <a:r>
              <a:rPr lang="en-US" dirty="0" smtClean="0"/>
              <a:t>.</a:t>
            </a:r>
          </a:p>
          <a:p>
            <a:pPr algn="just"/>
            <a:r>
              <a:rPr lang="en-US" dirty="0" smtClean="0"/>
              <a:t>Maize that is planted early usually do well bearing bigger cobs</a:t>
            </a:r>
          </a:p>
          <a:p>
            <a:pPr algn="just"/>
            <a:r>
              <a:rPr lang="en-US" dirty="0" smtClean="0"/>
              <a:t>This</a:t>
            </a:r>
            <a:r>
              <a:rPr lang="en-US" dirty="0"/>
              <a:t> </a:t>
            </a:r>
            <a:r>
              <a:rPr lang="en-US" dirty="0" smtClean="0"/>
              <a:t>is so because </a:t>
            </a:r>
            <a:r>
              <a:rPr lang="en-US" dirty="0"/>
              <a:t>the </a:t>
            </a:r>
            <a:r>
              <a:rPr lang="en-US" dirty="0" smtClean="0"/>
              <a:t>plants that emerges </a:t>
            </a:r>
            <a:r>
              <a:rPr lang="en-US" dirty="0"/>
              <a:t>with the first rains </a:t>
            </a:r>
            <a:r>
              <a:rPr lang="en-US" dirty="0" smtClean="0"/>
              <a:t>benefits </a:t>
            </a:r>
            <a:r>
              <a:rPr lang="en-US" dirty="0"/>
              <a:t>from Nitrogen released by soil microbes. </a:t>
            </a:r>
            <a:endParaRPr lang="en-US" dirty="0" smtClean="0"/>
          </a:p>
          <a:p>
            <a:pPr algn="just"/>
            <a:r>
              <a:rPr lang="en-US" b="1" dirty="0" smtClean="0"/>
              <a:t>This </a:t>
            </a:r>
            <a:r>
              <a:rPr lang="en-US" b="1" dirty="0"/>
              <a:t>is called the </a:t>
            </a:r>
            <a:r>
              <a:rPr lang="en-US" b="1" dirty="0" smtClean="0"/>
              <a:t>Nitrogen </a:t>
            </a:r>
            <a:r>
              <a:rPr lang="en-GB" b="1" dirty="0" smtClean="0"/>
              <a:t>Flush</a:t>
            </a:r>
            <a:r>
              <a:rPr lang="en-GB" b="1" dirty="0"/>
              <a:t>.</a:t>
            </a:r>
            <a:endParaRPr lang="en-GB" dirty="0"/>
          </a:p>
        </p:txBody>
      </p:sp>
    </p:spTree>
    <p:extLst>
      <p:ext uri="{BB962C8B-B14F-4D97-AF65-F5344CB8AC3E}">
        <p14:creationId xmlns:p14="http://schemas.microsoft.com/office/powerpoint/2010/main" val="185562195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Some Common Mistakes and</a:t>
            </a:r>
            <a:br>
              <a:rPr lang="en-GB" b="1" dirty="0"/>
            </a:br>
            <a:r>
              <a:rPr lang="en-GB" b="1" dirty="0"/>
              <a:t>Misunderstandings About CT/CF</a:t>
            </a:r>
            <a:endParaRPr lang="en-GB" dirty="0"/>
          </a:p>
        </p:txBody>
      </p:sp>
      <p:sp>
        <p:nvSpPr>
          <p:cNvPr id="3" name="Content Placeholder 2"/>
          <p:cNvSpPr>
            <a:spLocks noGrp="1"/>
          </p:cNvSpPr>
          <p:nvPr>
            <p:ph idx="1"/>
          </p:nvPr>
        </p:nvSpPr>
        <p:spPr/>
        <p:txBody>
          <a:bodyPr/>
          <a:lstStyle/>
          <a:p>
            <a:r>
              <a:rPr lang="en-US" dirty="0"/>
              <a:t>Back-filling the planting basins before sowing is </a:t>
            </a:r>
            <a:r>
              <a:rPr lang="en-US" b="1" dirty="0"/>
              <a:t>essentia</a:t>
            </a:r>
            <a:r>
              <a:rPr lang="en-US" dirty="0"/>
              <a:t>l, </a:t>
            </a:r>
            <a:r>
              <a:rPr lang="en-US" dirty="0" smtClean="0"/>
              <a:t>otherwise poor </a:t>
            </a:r>
            <a:r>
              <a:rPr lang="en-US" dirty="0"/>
              <a:t>emergence and water logging will occur when rainfall </a:t>
            </a:r>
            <a:r>
              <a:rPr lang="en-US" dirty="0" smtClean="0"/>
              <a:t>is continuous</a:t>
            </a:r>
            <a:r>
              <a:rPr lang="en-US" dirty="0"/>
              <a:t>. Cotton is particularly susceptible</a:t>
            </a:r>
            <a:r>
              <a:rPr lang="en-US" dirty="0" smtClean="0"/>
              <a:t>.</a:t>
            </a:r>
          </a:p>
          <a:p>
            <a:r>
              <a:rPr lang="en-US" dirty="0"/>
              <a:t>Pot-holes are not the same as planting basins or planting </a:t>
            </a:r>
            <a:r>
              <a:rPr lang="en-US" dirty="0" smtClean="0"/>
              <a:t>holes. Pot-holes </a:t>
            </a:r>
            <a:r>
              <a:rPr lang="en-US" dirty="0"/>
              <a:t>are dug in the inter-row </a:t>
            </a:r>
            <a:r>
              <a:rPr lang="en-US" dirty="0" smtClean="0"/>
              <a:t>after </a:t>
            </a:r>
            <a:r>
              <a:rPr lang="en-US" dirty="0"/>
              <a:t>the rains have started. </a:t>
            </a:r>
            <a:r>
              <a:rPr lang="en-US" dirty="0" smtClean="0"/>
              <a:t>Their purpose </a:t>
            </a:r>
            <a:r>
              <a:rPr lang="en-US" dirty="0"/>
              <a:t>is to capture extra rainfall</a:t>
            </a:r>
            <a:r>
              <a:rPr lang="en-US" dirty="0" smtClean="0"/>
              <a:t>.</a:t>
            </a:r>
          </a:p>
          <a:p>
            <a:r>
              <a:rPr lang="en-US" dirty="0" smtClean="0"/>
              <a:t>Basins should be of correct dimensions</a:t>
            </a:r>
          </a:p>
          <a:p>
            <a:endParaRPr lang="en-GB" dirty="0"/>
          </a:p>
        </p:txBody>
      </p:sp>
    </p:spTree>
    <p:extLst>
      <p:ext uri="{BB962C8B-B14F-4D97-AF65-F5344CB8AC3E}">
        <p14:creationId xmlns:p14="http://schemas.microsoft.com/office/powerpoint/2010/main" val="346713708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223</TotalTime>
  <Words>3708</Words>
  <Application>Microsoft Office PowerPoint</Application>
  <PresentationFormat>Widescreen</PresentationFormat>
  <Paragraphs>262</Paragraphs>
  <Slides>52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52</vt:i4>
      </vt:variant>
    </vt:vector>
  </HeadingPairs>
  <TitlesOfParts>
    <vt:vector size="59" baseType="lpstr">
      <vt:lpstr>Arial</vt:lpstr>
      <vt:lpstr>Calibri</vt:lpstr>
      <vt:lpstr>Calibri Light</vt:lpstr>
      <vt:lpstr>FSME</vt:lpstr>
      <vt:lpstr>Google Sans</vt:lpstr>
      <vt:lpstr>myriad-pro</vt:lpstr>
      <vt:lpstr>Office Theme</vt:lpstr>
      <vt:lpstr>Conservation Agriculture</vt:lpstr>
      <vt:lpstr>Introduction</vt:lpstr>
      <vt:lpstr>PowerPoint Presentation</vt:lpstr>
      <vt:lpstr>Adoption Definitions</vt:lpstr>
      <vt:lpstr>PowerPoint Presentation</vt:lpstr>
      <vt:lpstr>Main Benefits of Conservation Farming</vt:lpstr>
      <vt:lpstr>Main Benefits of Conservation Farming</vt:lpstr>
      <vt:lpstr>Main Benefits of Conservation Farming</vt:lpstr>
      <vt:lpstr>Main Benefits of Conservation Farming</vt:lpstr>
      <vt:lpstr>Introduction</vt:lpstr>
      <vt:lpstr>PowerPoint Presentation</vt:lpstr>
      <vt:lpstr>PowerPoint Presentation</vt:lpstr>
      <vt:lpstr>PowerPoint Presentation</vt:lpstr>
      <vt:lpstr>Principles of Conservation Agriculture</vt:lpstr>
      <vt:lpstr>Benefits of Conservation Farming</vt:lpstr>
      <vt:lpstr>How Farmers Practice Conservation Farming</vt:lpstr>
      <vt:lpstr>What are conservation techniques</vt:lpstr>
      <vt:lpstr>Some examples of the differences between conventional and conservation farming </vt:lpstr>
      <vt:lpstr>PowerPoint Presentation</vt:lpstr>
      <vt:lpstr>Conservation farming </vt:lpstr>
      <vt:lpstr>Conservation Farming </vt:lpstr>
      <vt:lpstr>PowerPoint Presentation</vt:lpstr>
      <vt:lpstr>PowerPoint Presentation</vt:lpstr>
      <vt:lpstr>PowerPoint Presentation</vt:lpstr>
      <vt:lpstr>Basic Conservation Farming Steps for Hoe Farmers</vt:lpstr>
      <vt:lpstr>Step 2: Get Prepared Early</vt:lpstr>
      <vt:lpstr>Marking Out the Permanent Planting Basins</vt:lpstr>
      <vt:lpstr>Step 4: Digging the Basins</vt:lpstr>
      <vt:lpstr>PowerPoint Presentation</vt:lpstr>
      <vt:lpstr>Step 5: Make Basins the Correct Size</vt:lpstr>
      <vt:lpstr>PowerPoint Presentation</vt:lpstr>
      <vt:lpstr>Step 6: Start Land Preparation Early and Work Steadily</vt:lpstr>
      <vt:lpstr>Step 7: Applying Basal Fertilisers, Manure and Lime</vt:lpstr>
      <vt:lpstr>Applying Fertiliser &amp; Lime</vt:lpstr>
      <vt:lpstr>Applying Fertiliser Easily and Back-filling Basins</vt:lpstr>
      <vt:lpstr>Step 8: Deciding When to Plant</vt:lpstr>
      <vt:lpstr>Step 8: Deciding When to Plant</vt:lpstr>
      <vt:lpstr>Step 9: Sowing Crop Seeds</vt:lpstr>
      <vt:lpstr>PowerPoint Presentation</vt:lpstr>
      <vt:lpstr>PowerPoint Presentation</vt:lpstr>
      <vt:lpstr>PowerPoint Presentation</vt:lpstr>
      <vt:lpstr>Step 10: Thinning &amp; Supplying</vt:lpstr>
      <vt:lpstr>Step 11: Weeding</vt:lpstr>
      <vt:lpstr>PowerPoint Presentation</vt:lpstr>
      <vt:lpstr>Step 13: Top Dressing of Maize</vt:lpstr>
      <vt:lpstr>PowerPoint Presentation</vt:lpstr>
      <vt:lpstr>Rotations and CF</vt:lpstr>
      <vt:lpstr>Planning Your Conservation Farming Rotation</vt:lpstr>
      <vt:lpstr>Intercropping and CF (Often Called Cover-Cropping)</vt:lpstr>
      <vt:lpstr>Fallow Cropping and CF (Low Fertiliser Input System</vt:lpstr>
      <vt:lpstr>The Importance of Early Planting – The Nitrogen Flush</vt:lpstr>
      <vt:lpstr>Some Common Mistakes and Misunderstandings About CT/CF</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Conservation Agriculture</dc:title>
  <dc:creator>LENOVO</dc:creator>
  <cp:lastModifiedBy>ZCA</cp:lastModifiedBy>
  <cp:revision>24</cp:revision>
  <dcterms:created xsi:type="dcterms:W3CDTF">2023-12-06T02:45:19Z</dcterms:created>
  <dcterms:modified xsi:type="dcterms:W3CDTF">2024-05-07T07:07:32Z</dcterms:modified>
</cp:coreProperties>
</file>