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58" r:id="rId5"/>
    <p:sldId id="259" r:id="rId6"/>
    <p:sldId id="264" r:id="rId7"/>
    <p:sldId id="265" r:id="rId8"/>
    <p:sldId id="260" r:id="rId9"/>
    <p:sldId id="266" r:id="rId10"/>
    <p:sldId id="261" r:id="rId11"/>
    <p:sldId id="267"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50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FA2645-E03D-447D-808D-6508281046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xmlns="" id="{B50C6AC2-CE5C-418A-BF6C-99198BF253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xmlns="" id="{ADEC1599-E218-4675-A43F-377123347670}"/>
              </a:ext>
            </a:extLst>
          </p:cNvPr>
          <p:cNvSpPr>
            <a:spLocks noGrp="1"/>
          </p:cNvSpPr>
          <p:nvPr>
            <p:ph type="dt" sz="half" idx="10"/>
          </p:nvPr>
        </p:nvSpPr>
        <p:spPr/>
        <p:txBody>
          <a:bodyPr/>
          <a:lstStyle/>
          <a:p>
            <a:fld id="{DDF5EE3D-EE70-4947-9AE6-E367CCCDDB4D}" type="datetimeFigureOut">
              <a:rPr lang="en-NZ" smtClean="0"/>
              <a:t>5/06/2024</a:t>
            </a:fld>
            <a:endParaRPr lang="en-NZ"/>
          </a:p>
        </p:txBody>
      </p:sp>
      <p:sp>
        <p:nvSpPr>
          <p:cNvPr id="5" name="Footer Placeholder 4">
            <a:extLst>
              <a:ext uri="{FF2B5EF4-FFF2-40B4-BE49-F238E27FC236}">
                <a16:creationId xmlns:a16="http://schemas.microsoft.com/office/drawing/2014/main" xmlns="" id="{F1C620B0-4704-4AB9-AF78-0AD2433F8EB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6DA4B96B-DC7D-427C-BDDD-81DCA2CD5BDF}"/>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1088419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4D98C6-E250-40D0-AD04-BAA3D6A7A7FF}"/>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xmlns="" id="{19D6EC27-DC9D-46FF-8E55-8E3938EACD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xmlns="" id="{3F3C87D9-B910-4ABE-AEE3-BF4CFEFF31B7}"/>
              </a:ext>
            </a:extLst>
          </p:cNvPr>
          <p:cNvSpPr>
            <a:spLocks noGrp="1"/>
          </p:cNvSpPr>
          <p:nvPr>
            <p:ph type="dt" sz="half" idx="10"/>
          </p:nvPr>
        </p:nvSpPr>
        <p:spPr/>
        <p:txBody>
          <a:bodyPr/>
          <a:lstStyle/>
          <a:p>
            <a:fld id="{DDF5EE3D-EE70-4947-9AE6-E367CCCDDB4D}" type="datetimeFigureOut">
              <a:rPr lang="en-NZ" smtClean="0"/>
              <a:t>5/06/2024</a:t>
            </a:fld>
            <a:endParaRPr lang="en-NZ"/>
          </a:p>
        </p:txBody>
      </p:sp>
      <p:sp>
        <p:nvSpPr>
          <p:cNvPr id="5" name="Footer Placeholder 4">
            <a:extLst>
              <a:ext uri="{FF2B5EF4-FFF2-40B4-BE49-F238E27FC236}">
                <a16:creationId xmlns:a16="http://schemas.microsoft.com/office/drawing/2014/main" xmlns="" id="{E9B50277-4C6B-4F0F-AFB9-8A1E6F118CD8}"/>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F955EB41-061C-455D-96D6-63274440408F}"/>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3434458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562A3F-8356-4DE7-A05A-7E0534C84E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xmlns="" id="{9389BF7A-964E-4FEF-8B7A-E1FEE68B0E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29D45354-009B-44A8-9BF7-0FFA1E38624F}"/>
              </a:ext>
            </a:extLst>
          </p:cNvPr>
          <p:cNvSpPr>
            <a:spLocks noGrp="1"/>
          </p:cNvSpPr>
          <p:nvPr>
            <p:ph type="dt" sz="half" idx="10"/>
          </p:nvPr>
        </p:nvSpPr>
        <p:spPr/>
        <p:txBody>
          <a:bodyPr/>
          <a:lstStyle/>
          <a:p>
            <a:fld id="{DDF5EE3D-EE70-4947-9AE6-E367CCCDDB4D}" type="datetimeFigureOut">
              <a:rPr lang="en-NZ" smtClean="0"/>
              <a:t>5/06/2024</a:t>
            </a:fld>
            <a:endParaRPr lang="en-NZ"/>
          </a:p>
        </p:txBody>
      </p:sp>
      <p:sp>
        <p:nvSpPr>
          <p:cNvPr id="5" name="Footer Placeholder 4">
            <a:extLst>
              <a:ext uri="{FF2B5EF4-FFF2-40B4-BE49-F238E27FC236}">
                <a16:creationId xmlns:a16="http://schemas.microsoft.com/office/drawing/2014/main" xmlns="" id="{4FCB408C-D7EC-4105-99DA-6F3B5BEB0A55}"/>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D22BA849-C6F8-45F9-9866-DA1E795C35BA}"/>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2656365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E6BF96-450D-45C6-8FC6-C0AA3E44C3FA}"/>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xmlns="" id="{36B42965-A007-4E96-877C-82F019D77E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xmlns="" id="{0E32EBE7-C0E8-46E5-9CB9-7F6DF18FFB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xmlns="" id="{48F1A0D9-94FC-4923-B9C5-05E37553C766}"/>
              </a:ext>
            </a:extLst>
          </p:cNvPr>
          <p:cNvSpPr>
            <a:spLocks noGrp="1"/>
          </p:cNvSpPr>
          <p:nvPr>
            <p:ph type="dt" sz="half" idx="10"/>
          </p:nvPr>
        </p:nvSpPr>
        <p:spPr/>
        <p:txBody>
          <a:bodyPr/>
          <a:lstStyle/>
          <a:p>
            <a:fld id="{DDF5EE3D-EE70-4947-9AE6-E367CCCDDB4D}" type="datetimeFigureOut">
              <a:rPr lang="en-NZ" smtClean="0"/>
              <a:t>5/06/2024</a:t>
            </a:fld>
            <a:endParaRPr lang="en-NZ"/>
          </a:p>
        </p:txBody>
      </p:sp>
      <p:sp>
        <p:nvSpPr>
          <p:cNvPr id="6" name="Footer Placeholder 5">
            <a:extLst>
              <a:ext uri="{FF2B5EF4-FFF2-40B4-BE49-F238E27FC236}">
                <a16:creationId xmlns:a16="http://schemas.microsoft.com/office/drawing/2014/main" xmlns="" id="{0A820D81-E1C5-43CA-9E7B-3EFF2C1BFB96}"/>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xmlns="" id="{56A6197F-0774-48DE-A5C5-15C14FE3C86B}"/>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1074142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F28258-7A30-43E7-8E39-6CF9B3DF2A78}"/>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xmlns="" id="{2ACD8CC6-0445-4325-A5F8-CB42852C6F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A9CD0ECA-5155-4653-A349-6FF6C31D2E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xmlns="" id="{60327D5B-4B77-46B4-B648-DEE87CE23D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A48FC714-DD1D-4BAA-A5B3-C8B48AFA3B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xmlns="" id="{888F557B-A1F1-4969-A4DC-1AE9FFFE7E03}"/>
              </a:ext>
            </a:extLst>
          </p:cNvPr>
          <p:cNvSpPr>
            <a:spLocks noGrp="1"/>
          </p:cNvSpPr>
          <p:nvPr>
            <p:ph type="dt" sz="half" idx="10"/>
          </p:nvPr>
        </p:nvSpPr>
        <p:spPr/>
        <p:txBody>
          <a:bodyPr/>
          <a:lstStyle/>
          <a:p>
            <a:fld id="{DDF5EE3D-EE70-4947-9AE6-E367CCCDDB4D}" type="datetimeFigureOut">
              <a:rPr lang="en-NZ" smtClean="0"/>
              <a:t>5/06/2024</a:t>
            </a:fld>
            <a:endParaRPr lang="en-NZ"/>
          </a:p>
        </p:txBody>
      </p:sp>
      <p:sp>
        <p:nvSpPr>
          <p:cNvPr id="8" name="Footer Placeholder 7">
            <a:extLst>
              <a:ext uri="{FF2B5EF4-FFF2-40B4-BE49-F238E27FC236}">
                <a16:creationId xmlns:a16="http://schemas.microsoft.com/office/drawing/2014/main" xmlns="" id="{7B8B7FE7-678B-4254-8937-39C1E2164BA7}"/>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xmlns="" id="{846F262E-9C1A-476B-8F8C-653C5A00EA70}"/>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3472177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F931D0-F4BB-4A4F-8115-20FC75D8F481}"/>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xmlns="" id="{DEDC3CE9-6338-45F8-8A5F-D8833B7E20F2}"/>
              </a:ext>
            </a:extLst>
          </p:cNvPr>
          <p:cNvSpPr>
            <a:spLocks noGrp="1"/>
          </p:cNvSpPr>
          <p:nvPr>
            <p:ph type="dt" sz="half" idx="10"/>
          </p:nvPr>
        </p:nvSpPr>
        <p:spPr/>
        <p:txBody>
          <a:bodyPr/>
          <a:lstStyle/>
          <a:p>
            <a:fld id="{DDF5EE3D-EE70-4947-9AE6-E367CCCDDB4D}" type="datetimeFigureOut">
              <a:rPr lang="en-NZ" smtClean="0"/>
              <a:t>5/06/2024</a:t>
            </a:fld>
            <a:endParaRPr lang="en-NZ"/>
          </a:p>
        </p:txBody>
      </p:sp>
      <p:sp>
        <p:nvSpPr>
          <p:cNvPr id="4" name="Footer Placeholder 3">
            <a:extLst>
              <a:ext uri="{FF2B5EF4-FFF2-40B4-BE49-F238E27FC236}">
                <a16:creationId xmlns:a16="http://schemas.microsoft.com/office/drawing/2014/main" xmlns="" id="{50D701AF-320D-4DBF-9314-749C68BF9B1F}"/>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xmlns="" id="{FCF80A04-8C3F-4125-9ECD-FB4A850868E7}"/>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3576379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38A05CA-B9F5-433F-ACD8-6588ED635C3E}"/>
              </a:ext>
            </a:extLst>
          </p:cNvPr>
          <p:cNvSpPr>
            <a:spLocks noGrp="1"/>
          </p:cNvSpPr>
          <p:nvPr>
            <p:ph type="dt" sz="half" idx="10"/>
          </p:nvPr>
        </p:nvSpPr>
        <p:spPr/>
        <p:txBody>
          <a:bodyPr/>
          <a:lstStyle/>
          <a:p>
            <a:fld id="{DDF5EE3D-EE70-4947-9AE6-E367CCCDDB4D}" type="datetimeFigureOut">
              <a:rPr lang="en-NZ" smtClean="0"/>
              <a:t>5/06/2024</a:t>
            </a:fld>
            <a:endParaRPr lang="en-NZ"/>
          </a:p>
        </p:txBody>
      </p:sp>
      <p:sp>
        <p:nvSpPr>
          <p:cNvPr id="3" name="Footer Placeholder 2">
            <a:extLst>
              <a:ext uri="{FF2B5EF4-FFF2-40B4-BE49-F238E27FC236}">
                <a16:creationId xmlns:a16="http://schemas.microsoft.com/office/drawing/2014/main" xmlns="" id="{EB457E11-2F35-41DB-9469-62A3D253410E}"/>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xmlns="" id="{286CEC29-6586-4D7A-B96F-6787D65A841C}"/>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2161198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5B493E-D5DC-46F1-941C-99576548F3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xmlns="" id="{7C06EBD2-5878-4F24-934B-2518EE5DAB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xmlns="" id="{A9ED0EF5-5667-4317-9A55-61B145828A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1914127-5572-4321-AF56-93AD4F758A81}"/>
              </a:ext>
            </a:extLst>
          </p:cNvPr>
          <p:cNvSpPr>
            <a:spLocks noGrp="1"/>
          </p:cNvSpPr>
          <p:nvPr>
            <p:ph type="dt" sz="half" idx="10"/>
          </p:nvPr>
        </p:nvSpPr>
        <p:spPr/>
        <p:txBody>
          <a:bodyPr/>
          <a:lstStyle/>
          <a:p>
            <a:fld id="{DDF5EE3D-EE70-4947-9AE6-E367CCCDDB4D}" type="datetimeFigureOut">
              <a:rPr lang="en-NZ" smtClean="0"/>
              <a:t>5/06/2024</a:t>
            </a:fld>
            <a:endParaRPr lang="en-NZ"/>
          </a:p>
        </p:txBody>
      </p:sp>
      <p:sp>
        <p:nvSpPr>
          <p:cNvPr id="6" name="Footer Placeholder 5">
            <a:extLst>
              <a:ext uri="{FF2B5EF4-FFF2-40B4-BE49-F238E27FC236}">
                <a16:creationId xmlns:a16="http://schemas.microsoft.com/office/drawing/2014/main" xmlns="" id="{01671FEE-E8FC-4A0B-A960-99B735A18CD6}"/>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xmlns="" id="{58C9C20B-1028-49EF-A7D5-A1F8D53783D1}"/>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4226945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6AD880-1B03-4CAD-BBDE-0BD75F17C0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xmlns="" id="{1BF11C45-C086-4550-A45A-95DE5DC628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xmlns="" id="{BDA54C1B-068F-4871-81AE-416C713264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0A5C6FA-52FD-4545-A7D2-3C52E918BB0A}"/>
              </a:ext>
            </a:extLst>
          </p:cNvPr>
          <p:cNvSpPr>
            <a:spLocks noGrp="1"/>
          </p:cNvSpPr>
          <p:nvPr>
            <p:ph type="dt" sz="half" idx="10"/>
          </p:nvPr>
        </p:nvSpPr>
        <p:spPr/>
        <p:txBody>
          <a:bodyPr/>
          <a:lstStyle/>
          <a:p>
            <a:fld id="{DDF5EE3D-EE70-4947-9AE6-E367CCCDDB4D}" type="datetimeFigureOut">
              <a:rPr lang="en-NZ" smtClean="0"/>
              <a:t>5/06/2024</a:t>
            </a:fld>
            <a:endParaRPr lang="en-NZ"/>
          </a:p>
        </p:txBody>
      </p:sp>
      <p:sp>
        <p:nvSpPr>
          <p:cNvPr id="6" name="Footer Placeholder 5">
            <a:extLst>
              <a:ext uri="{FF2B5EF4-FFF2-40B4-BE49-F238E27FC236}">
                <a16:creationId xmlns:a16="http://schemas.microsoft.com/office/drawing/2014/main" xmlns="" id="{56FD7FC4-6D11-4DC2-9B7D-B6884A2FAE80}"/>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xmlns="" id="{7DB65E9D-2C4A-4F9C-975D-3D9B429B3B00}"/>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3104369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04235E-E3BF-4349-9231-E288B688B830}"/>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xmlns="" id="{B8790CF5-1560-41E1-BFCC-3944D628A9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xmlns="" id="{A7BC4589-7397-44B0-BE29-A1F2BD2C42F4}"/>
              </a:ext>
            </a:extLst>
          </p:cNvPr>
          <p:cNvSpPr>
            <a:spLocks noGrp="1"/>
          </p:cNvSpPr>
          <p:nvPr>
            <p:ph type="dt" sz="half" idx="10"/>
          </p:nvPr>
        </p:nvSpPr>
        <p:spPr/>
        <p:txBody>
          <a:bodyPr/>
          <a:lstStyle/>
          <a:p>
            <a:fld id="{DDF5EE3D-EE70-4947-9AE6-E367CCCDDB4D}" type="datetimeFigureOut">
              <a:rPr lang="en-NZ" smtClean="0"/>
              <a:t>5/06/2024</a:t>
            </a:fld>
            <a:endParaRPr lang="en-NZ"/>
          </a:p>
        </p:txBody>
      </p:sp>
      <p:sp>
        <p:nvSpPr>
          <p:cNvPr id="5" name="Footer Placeholder 4">
            <a:extLst>
              <a:ext uri="{FF2B5EF4-FFF2-40B4-BE49-F238E27FC236}">
                <a16:creationId xmlns:a16="http://schemas.microsoft.com/office/drawing/2014/main" xmlns="" id="{3BEEA409-CADF-4E45-8390-A63F3531C84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3646C469-A3A5-4CA2-9DC3-4B363D618D72}"/>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3210453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CD8829C8-CE62-4B0A-9908-0FC42BFBA2E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xmlns="" id="{5D99BDAB-E68E-4DB6-B7C5-EE9750902B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xmlns="" id="{E040D1C4-7B33-4BA2-900E-184BB8ED9A51}"/>
              </a:ext>
            </a:extLst>
          </p:cNvPr>
          <p:cNvSpPr>
            <a:spLocks noGrp="1"/>
          </p:cNvSpPr>
          <p:nvPr>
            <p:ph type="dt" sz="half" idx="10"/>
          </p:nvPr>
        </p:nvSpPr>
        <p:spPr/>
        <p:txBody>
          <a:bodyPr/>
          <a:lstStyle/>
          <a:p>
            <a:fld id="{DDF5EE3D-EE70-4947-9AE6-E367CCCDDB4D}" type="datetimeFigureOut">
              <a:rPr lang="en-NZ" smtClean="0"/>
              <a:t>5/06/2024</a:t>
            </a:fld>
            <a:endParaRPr lang="en-NZ"/>
          </a:p>
        </p:txBody>
      </p:sp>
      <p:sp>
        <p:nvSpPr>
          <p:cNvPr id="5" name="Footer Placeholder 4">
            <a:extLst>
              <a:ext uri="{FF2B5EF4-FFF2-40B4-BE49-F238E27FC236}">
                <a16:creationId xmlns:a16="http://schemas.microsoft.com/office/drawing/2014/main" xmlns="" id="{D9B7AA41-EFC2-47F0-A353-4A6FB00ACBD6}"/>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43034271-6329-4405-865F-C84C12E59613}"/>
              </a:ext>
            </a:extLst>
          </p:cNvPr>
          <p:cNvSpPr>
            <a:spLocks noGrp="1"/>
          </p:cNvSpPr>
          <p:nvPr>
            <p:ph type="sldNum" sz="quarter" idx="12"/>
          </p:nvPr>
        </p:nvSpPr>
        <p:spPr/>
        <p:txBody>
          <a:bodyPr/>
          <a:lstStyle/>
          <a:p>
            <a:fld id="{0990E8AC-16D3-4011-90D3-242594DEF9F3}" type="slidenum">
              <a:rPr lang="en-NZ" smtClean="0"/>
              <a:t>‹#›</a:t>
            </a:fld>
            <a:endParaRPr lang="en-NZ"/>
          </a:p>
        </p:txBody>
      </p:sp>
    </p:spTree>
    <p:extLst>
      <p:ext uri="{BB962C8B-B14F-4D97-AF65-F5344CB8AC3E}">
        <p14:creationId xmlns:p14="http://schemas.microsoft.com/office/powerpoint/2010/main" val="1140775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059E24D-A6A4-42EF-86B2-891910E29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xmlns="" id="{E5A744D1-B22D-4842-983C-D0E483258A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xmlns="" id="{7AF83D67-1AFB-4C2B-9187-1F7DE3E85A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F5EE3D-EE70-4947-9AE6-E367CCCDDB4D}" type="datetimeFigureOut">
              <a:rPr lang="en-NZ" smtClean="0"/>
              <a:t>5/06/2024</a:t>
            </a:fld>
            <a:endParaRPr lang="en-NZ"/>
          </a:p>
        </p:txBody>
      </p:sp>
      <p:sp>
        <p:nvSpPr>
          <p:cNvPr id="5" name="Footer Placeholder 4">
            <a:extLst>
              <a:ext uri="{FF2B5EF4-FFF2-40B4-BE49-F238E27FC236}">
                <a16:creationId xmlns:a16="http://schemas.microsoft.com/office/drawing/2014/main" xmlns="" id="{209F75F9-9163-4645-B084-1A45D5533E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xmlns="" id="{1A91A2EE-1ABF-4B33-8275-C68A5F610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90E8AC-16D3-4011-90D3-242594DEF9F3}" type="slidenum">
              <a:rPr lang="en-NZ" smtClean="0"/>
              <a:t>‹#›</a:t>
            </a:fld>
            <a:endParaRPr lang="en-NZ"/>
          </a:p>
        </p:txBody>
      </p:sp>
    </p:spTree>
    <p:extLst>
      <p:ext uri="{BB962C8B-B14F-4D97-AF65-F5344CB8AC3E}">
        <p14:creationId xmlns:p14="http://schemas.microsoft.com/office/powerpoint/2010/main" val="2742906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9100193-4D7A-4C1A-B440-777C90A75C2F}"/>
              </a:ext>
            </a:extLst>
          </p:cNvPr>
          <p:cNvSpPr>
            <a:spLocks noGrp="1"/>
          </p:cNvSpPr>
          <p:nvPr>
            <p:ph type="ctrTitle"/>
          </p:nvPr>
        </p:nvSpPr>
        <p:spPr/>
        <p:txBody>
          <a:bodyPr>
            <a:normAutofit fontScale="90000"/>
          </a:bodyPr>
          <a:lstStyle/>
          <a:p>
            <a:r>
              <a:rPr lang="en-AU" dirty="0"/>
              <a:t>Horticulture  </a:t>
            </a:r>
            <a:br>
              <a:rPr lang="en-AU" dirty="0"/>
            </a:br>
            <a:r>
              <a:rPr lang="en-AU" dirty="0"/>
              <a:t>Lecture 1</a:t>
            </a:r>
            <a:r>
              <a:rPr lang="en-AU"/>
              <a:t/>
            </a:r>
            <a:br>
              <a:rPr lang="en-AU"/>
            </a:br>
            <a:r>
              <a:rPr lang="en-AU" smtClean="0"/>
              <a:t>2024</a:t>
            </a:r>
            <a:endParaRPr lang="en-NZ" dirty="0"/>
          </a:p>
        </p:txBody>
      </p:sp>
      <p:sp>
        <p:nvSpPr>
          <p:cNvPr id="3" name="Subtitle 2">
            <a:extLst>
              <a:ext uri="{FF2B5EF4-FFF2-40B4-BE49-F238E27FC236}">
                <a16:creationId xmlns:a16="http://schemas.microsoft.com/office/drawing/2014/main" xmlns="" id="{E7CA03E6-C94C-4364-BFFF-3D7E12CEE59A}"/>
              </a:ext>
            </a:extLst>
          </p:cNvPr>
          <p:cNvSpPr>
            <a:spLocks noGrp="1"/>
          </p:cNvSpPr>
          <p:nvPr>
            <p:ph type="subTitle" idx="1"/>
          </p:nvPr>
        </p:nvSpPr>
        <p:spPr/>
        <p:txBody>
          <a:bodyPr/>
          <a:lstStyle/>
          <a:p>
            <a:endParaRPr lang="en-NZ"/>
          </a:p>
        </p:txBody>
      </p:sp>
    </p:spTree>
    <p:extLst>
      <p:ext uri="{BB962C8B-B14F-4D97-AF65-F5344CB8AC3E}">
        <p14:creationId xmlns:p14="http://schemas.microsoft.com/office/powerpoint/2010/main" val="2624240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923E95-52D5-48A2-99AE-2A501A11C176}"/>
              </a:ext>
            </a:extLst>
          </p:cNvPr>
          <p:cNvSpPr>
            <a:spLocks noGrp="1"/>
          </p:cNvSpPr>
          <p:nvPr>
            <p:ph type="title"/>
          </p:nvPr>
        </p:nvSpPr>
        <p:spPr/>
        <p:txBody>
          <a:bodyPr/>
          <a:lstStyle/>
          <a:p>
            <a:r>
              <a:rPr lang="en-AU" dirty="0" smtClean="0"/>
              <a:t>Horticultural </a:t>
            </a:r>
            <a:r>
              <a:rPr lang="en-AU" dirty="0"/>
              <a:t>production </a:t>
            </a:r>
            <a:endParaRPr lang="en-NZ" dirty="0"/>
          </a:p>
        </p:txBody>
      </p:sp>
      <p:sp>
        <p:nvSpPr>
          <p:cNvPr id="3" name="Content Placeholder 2">
            <a:extLst>
              <a:ext uri="{FF2B5EF4-FFF2-40B4-BE49-F238E27FC236}">
                <a16:creationId xmlns:a16="http://schemas.microsoft.com/office/drawing/2014/main" xmlns="" id="{8F38282A-E69F-40E9-9A94-59437ED9CFD9}"/>
              </a:ext>
            </a:extLst>
          </p:cNvPr>
          <p:cNvSpPr>
            <a:spLocks noGrp="1"/>
          </p:cNvSpPr>
          <p:nvPr>
            <p:ph idx="1"/>
          </p:nvPr>
        </p:nvSpPr>
        <p:spPr/>
        <p:txBody>
          <a:bodyPr>
            <a:normAutofit lnSpcReduction="10000"/>
          </a:bodyPr>
          <a:lstStyle/>
          <a:p>
            <a:pPr marL="0" indent="0">
              <a:buNone/>
            </a:pPr>
            <a:r>
              <a:rPr lang="en-AU" dirty="0" smtClean="0"/>
              <a:t>Horticultural </a:t>
            </a:r>
            <a:r>
              <a:rPr lang="en-AU" dirty="0"/>
              <a:t>production a Science dealing with food and feed and processing</a:t>
            </a:r>
          </a:p>
          <a:p>
            <a:pPr marL="0" indent="0">
              <a:buNone/>
            </a:pPr>
            <a:r>
              <a:rPr lang="en-AU" dirty="0"/>
              <a:t>Technologies involved include:</a:t>
            </a:r>
          </a:p>
          <a:p>
            <a:r>
              <a:rPr lang="en-AU" dirty="0"/>
              <a:t>Soil cultivation </a:t>
            </a:r>
          </a:p>
          <a:p>
            <a:r>
              <a:rPr lang="en-AU" dirty="0"/>
              <a:t>Crop management </a:t>
            </a:r>
          </a:p>
          <a:p>
            <a:r>
              <a:rPr lang="en-AU" dirty="0"/>
              <a:t>Crop protection</a:t>
            </a:r>
          </a:p>
          <a:p>
            <a:r>
              <a:rPr lang="en-AU" dirty="0"/>
              <a:t>Post harvest handling </a:t>
            </a:r>
          </a:p>
          <a:p>
            <a:r>
              <a:rPr lang="en-AU" dirty="0"/>
              <a:t>Crop processing</a:t>
            </a:r>
          </a:p>
          <a:p>
            <a:pPr marL="0" indent="0">
              <a:buNone/>
            </a:pPr>
            <a:r>
              <a:rPr lang="en-AU" dirty="0"/>
              <a:t> </a:t>
            </a:r>
            <a:endParaRPr lang="en-NZ" dirty="0"/>
          </a:p>
        </p:txBody>
      </p:sp>
    </p:spTree>
    <p:extLst>
      <p:ext uri="{BB962C8B-B14F-4D97-AF65-F5344CB8AC3E}">
        <p14:creationId xmlns:p14="http://schemas.microsoft.com/office/powerpoint/2010/main" val="2503455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503724-8191-4A7F-8591-8ADBE60F55AA}"/>
              </a:ext>
            </a:extLst>
          </p:cNvPr>
          <p:cNvSpPr>
            <a:spLocks noGrp="1"/>
          </p:cNvSpPr>
          <p:nvPr>
            <p:ph type="title"/>
          </p:nvPr>
        </p:nvSpPr>
        <p:spPr/>
        <p:txBody>
          <a:bodyPr/>
          <a:lstStyle/>
          <a:p>
            <a:r>
              <a:rPr lang="en-AU" dirty="0" smtClean="0"/>
              <a:t>Horticultural </a:t>
            </a:r>
            <a:r>
              <a:rPr lang="en-AU" dirty="0"/>
              <a:t>production science </a:t>
            </a:r>
            <a:endParaRPr lang="en-NZ" dirty="0"/>
          </a:p>
        </p:txBody>
      </p:sp>
      <p:sp>
        <p:nvSpPr>
          <p:cNvPr id="3" name="Content Placeholder 2">
            <a:extLst>
              <a:ext uri="{FF2B5EF4-FFF2-40B4-BE49-F238E27FC236}">
                <a16:creationId xmlns:a16="http://schemas.microsoft.com/office/drawing/2014/main" xmlns="" id="{E4D40641-E64C-467C-BD2E-DED9B0BA56D1}"/>
              </a:ext>
            </a:extLst>
          </p:cNvPr>
          <p:cNvSpPr>
            <a:spLocks noGrp="1"/>
          </p:cNvSpPr>
          <p:nvPr>
            <p:ph idx="1"/>
          </p:nvPr>
        </p:nvSpPr>
        <p:spPr/>
        <p:txBody>
          <a:bodyPr/>
          <a:lstStyle/>
          <a:p>
            <a:pPr marL="0" indent="0">
              <a:buNone/>
            </a:pPr>
            <a:endParaRPr lang="en-AU" dirty="0"/>
          </a:p>
          <a:p>
            <a:pPr marL="0" indent="0">
              <a:buNone/>
            </a:pPr>
            <a:r>
              <a:rPr lang="en-AU" dirty="0"/>
              <a:t>Science contribution to crop production is the improvement in: </a:t>
            </a:r>
          </a:p>
          <a:p>
            <a:r>
              <a:rPr lang="en-AU" dirty="0"/>
              <a:t>Irrigation methods</a:t>
            </a:r>
          </a:p>
          <a:p>
            <a:r>
              <a:rPr lang="en-AU" dirty="0"/>
              <a:t>Soil management </a:t>
            </a:r>
          </a:p>
          <a:p>
            <a:r>
              <a:rPr lang="en-AU" dirty="0"/>
              <a:t>Pesticide (environmental friendly)</a:t>
            </a:r>
          </a:p>
          <a:p>
            <a:r>
              <a:rPr lang="en-AU" dirty="0"/>
              <a:t>Fertilizers (efficient)</a:t>
            </a:r>
          </a:p>
          <a:p>
            <a:r>
              <a:rPr lang="en-AU" dirty="0"/>
              <a:t>Improved seed </a:t>
            </a:r>
            <a:endParaRPr lang="en-NZ" dirty="0"/>
          </a:p>
        </p:txBody>
      </p:sp>
    </p:spTree>
    <p:extLst>
      <p:ext uri="{BB962C8B-B14F-4D97-AF65-F5344CB8AC3E}">
        <p14:creationId xmlns:p14="http://schemas.microsoft.com/office/powerpoint/2010/main" val="1648737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812313-D96B-4239-B193-C5C0FE3D8645}"/>
              </a:ext>
            </a:extLst>
          </p:cNvPr>
          <p:cNvSpPr>
            <a:spLocks noGrp="1"/>
          </p:cNvSpPr>
          <p:nvPr>
            <p:ph type="title"/>
          </p:nvPr>
        </p:nvSpPr>
        <p:spPr/>
        <p:txBody>
          <a:bodyPr/>
          <a:lstStyle/>
          <a:p>
            <a:r>
              <a:rPr lang="en-AU" dirty="0" smtClean="0"/>
              <a:t>Horticulture </a:t>
            </a:r>
            <a:r>
              <a:rPr lang="en-AU" dirty="0"/>
              <a:t>production </a:t>
            </a:r>
            <a:endParaRPr lang="en-NZ" dirty="0"/>
          </a:p>
        </p:txBody>
      </p:sp>
      <p:sp>
        <p:nvSpPr>
          <p:cNvPr id="3" name="Content Placeholder 2">
            <a:extLst>
              <a:ext uri="{FF2B5EF4-FFF2-40B4-BE49-F238E27FC236}">
                <a16:creationId xmlns:a16="http://schemas.microsoft.com/office/drawing/2014/main" xmlns="" id="{B9A1E947-6AD9-4505-B6C2-90B76ACC0A44}"/>
              </a:ext>
            </a:extLst>
          </p:cNvPr>
          <p:cNvSpPr>
            <a:spLocks noGrp="1"/>
          </p:cNvSpPr>
          <p:nvPr>
            <p:ph idx="1"/>
          </p:nvPr>
        </p:nvSpPr>
        <p:spPr/>
        <p:txBody>
          <a:bodyPr>
            <a:normAutofit lnSpcReduction="10000"/>
          </a:bodyPr>
          <a:lstStyle/>
          <a:p>
            <a:pPr marL="0" indent="0">
              <a:buNone/>
            </a:pPr>
            <a:r>
              <a:rPr lang="en-AU" dirty="0"/>
              <a:t>Importance:</a:t>
            </a:r>
          </a:p>
          <a:p>
            <a:r>
              <a:rPr lang="en-AU" dirty="0"/>
              <a:t>Food</a:t>
            </a:r>
          </a:p>
          <a:p>
            <a:r>
              <a:rPr lang="en-AU" dirty="0"/>
              <a:t>Nutrition </a:t>
            </a:r>
          </a:p>
          <a:p>
            <a:r>
              <a:rPr lang="en-AU" dirty="0"/>
              <a:t>Job creation</a:t>
            </a:r>
          </a:p>
          <a:p>
            <a:r>
              <a:rPr lang="en-AU" dirty="0"/>
              <a:t>Research </a:t>
            </a:r>
          </a:p>
          <a:p>
            <a:r>
              <a:rPr lang="en-AU" dirty="0"/>
              <a:t>Wealth creation</a:t>
            </a:r>
          </a:p>
          <a:p>
            <a:r>
              <a:rPr lang="en-AU" dirty="0"/>
              <a:t>Export earnings</a:t>
            </a:r>
          </a:p>
          <a:p>
            <a:pPr marL="0" indent="0">
              <a:buNone/>
            </a:pPr>
            <a:r>
              <a:rPr lang="en-AU" dirty="0"/>
              <a:t> </a:t>
            </a:r>
          </a:p>
          <a:p>
            <a:pPr marL="0" indent="0">
              <a:buNone/>
            </a:pPr>
            <a:r>
              <a:rPr lang="en-AU" dirty="0"/>
              <a:t>  </a:t>
            </a:r>
            <a:endParaRPr lang="en-NZ" dirty="0"/>
          </a:p>
        </p:txBody>
      </p:sp>
    </p:spTree>
    <p:extLst>
      <p:ext uri="{BB962C8B-B14F-4D97-AF65-F5344CB8AC3E}">
        <p14:creationId xmlns:p14="http://schemas.microsoft.com/office/powerpoint/2010/main" val="3412801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305E2C-B8AA-4856-8FF3-017C4EF9AC7A}"/>
              </a:ext>
            </a:extLst>
          </p:cNvPr>
          <p:cNvSpPr>
            <a:spLocks noGrp="1"/>
          </p:cNvSpPr>
          <p:nvPr>
            <p:ph type="title"/>
          </p:nvPr>
        </p:nvSpPr>
        <p:spPr/>
        <p:txBody>
          <a:bodyPr/>
          <a:lstStyle/>
          <a:p>
            <a:r>
              <a:rPr lang="en-AU" dirty="0"/>
              <a:t>Shoot system  </a:t>
            </a:r>
            <a:endParaRPr lang="en-NZ" dirty="0"/>
          </a:p>
        </p:txBody>
      </p:sp>
      <p:sp>
        <p:nvSpPr>
          <p:cNvPr id="3" name="Content Placeholder 2">
            <a:extLst>
              <a:ext uri="{FF2B5EF4-FFF2-40B4-BE49-F238E27FC236}">
                <a16:creationId xmlns:a16="http://schemas.microsoft.com/office/drawing/2014/main" xmlns="" id="{52F056C2-C922-4674-B27B-D87C84003579}"/>
              </a:ext>
            </a:extLst>
          </p:cNvPr>
          <p:cNvSpPr>
            <a:spLocks noGrp="1"/>
          </p:cNvSpPr>
          <p:nvPr>
            <p:ph idx="1"/>
          </p:nvPr>
        </p:nvSpPr>
        <p:spPr/>
        <p:txBody>
          <a:bodyPr/>
          <a:lstStyle/>
          <a:p>
            <a:pPr marL="0" indent="0">
              <a:buNone/>
            </a:pPr>
            <a:endParaRPr lang="en-US" dirty="0"/>
          </a:p>
          <a:p>
            <a:pPr marL="0" indent="0">
              <a:buNone/>
            </a:pPr>
            <a:r>
              <a:rPr lang="en-US" dirty="0"/>
              <a:t>The shoot is the main axis of the plant, generating at its apex the leaves</a:t>
            </a:r>
          </a:p>
          <a:p>
            <a:pPr marL="0" indent="0">
              <a:buNone/>
            </a:pPr>
            <a:r>
              <a:rPr lang="en-US" dirty="0"/>
              <a:t>Shoots hold aloft the leaves to collect the sun’s energy</a:t>
            </a:r>
          </a:p>
          <a:p>
            <a:pPr marL="0" indent="0">
              <a:buNone/>
            </a:pPr>
            <a:r>
              <a:rPr lang="en-US" dirty="0"/>
              <a:t>Provides at its base a vital link to the roots, and the water and mineral nutrients of the soil</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The cells in the centre of the stem are large, irregular and thin-walled, with large vacuoles, and form a tissue called the pith</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Some pith cells contain starch grains and are important for the storage of carbohydrate</a:t>
            </a:r>
            <a:endParaRPr lang="en-US" sz="2400" dirty="0"/>
          </a:p>
          <a:p>
            <a:pPr marL="0" indent="0">
              <a:buNone/>
            </a:pPr>
            <a:endParaRPr lang="en-NZ" dirty="0"/>
          </a:p>
        </p:txBody>
      </p:sp>
    </p:spTree>
    <p:extLst>
      <p:ext uri="{BB962C8B-B14F-4D97-AF65-F5344CB8AC3E}">
        <p14:creationId xmlns:p14="http://schemas.microsoft.com/office/powerpoint/2010/main" val="2493060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DB9133-990C-47CB-A133-2FD5E1C78427}"/>
              </a:ext>
            </a:extLst>
          </p:cNvPr>
          <p:cNvSpPr>
            <a:spLocks noGrp="1"/>
          </p:cNvSpPr>
          <p:nvPr>
            <p:ph type="title"/>
          </p:nvPr>
        </p:nvSpPr>
        <p:spPr/>
        <p:txBody>
          <a:bodyPr/>
          <a:lstStyle/>
          <a:p>
            <a:r>
              <a:rPr lang="en-AU" dirty="0"/>
              <a:t>Shoot  system</a:t>
            </a:r>
            <a:endParaRPr lang="en-NZ" dirty="0"/>
          </a:p>
        </p:txBody>
      </p:sp>
      <p:sp>
        <p:nvSpPr>
          <p:cNvPr id="3" name="Content Placeholder 2">
            <a:extLst>
              <a:ext uri="{FF2B5EF4-FFF2-40B4-BE49-F238E27FC236}">
                <a16:creationId xmlns:a16="http://schemas.microsoft.com/office/drawing/2014/main" xmlns="" id="{74ADD45D-79CE-4CD6-BC78-700C3E182ED0}"/>
              </a:ext>
            </a:extLst>
          </p:cNvPr>
          <p:cNvSpPr>
            <a:spLocks noGrp="1"/>
          </p:cNvSpPr>
          <p:nvPr>
            <p:ph idx="1"/>
          </p:nvPr>
        </p:nvSpPr>
        <p:spPr/>
        <p:txBody>
          <a:bodyPr>
            <a:normAutofit fontScale="92500"/>
          </a:bodyPr>
          <a:lstStyle/>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The vascular tissues of most monocots are arranged rather differently from those of dicots</a:t>
            </a:r>
          </a:p>
          <a:p>
            <a:pPr marL="0" indent="0">
              <a:buNone/>
            </a:pPr>
            <a:endParaRPr lang="en-NZ" sz="24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Each vascular bundle of the stem comprises an outward facing layer of phloem-fibre cells, their walls thickened with lignin</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These serve to strengthen the stem and to protect the phloem beneath</a:t>
            </a:r>
            <a:endParaRPr lang="en-NZ" sz="24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As the stem of a dicotyledonous plant ages, it may undergo a process called secondary thickening in which woody tissues are created to provide additional support, and an outer layer of bark is laid down to protect the phloem beneath</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Bark usually consists of disrupted phloem tissue, that provides a waterproof, protective covering for the woody stem</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Gases such as oxygen and carbon dioxide can pass in and out</a:t>
            </a:r>
          </a:p>
          <a:p>
            <a:pPr marL="0" indent="0">
              <a:buNone/>
            </a:pPr>
            <a:endParaRPr lang="en-NZ"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NZ"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NZ"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NZ" dirty="0"/>
          </a:p>
        </p:txBody>
      </p:sp>
    </p:spTree>
    <p:extLst>
      <p:ext uri="{BB962C8B-B14F-4D97-AF65-F5344CB8AC3E}">
        <p14:creationId xmlns:p14="http://schemas.microsoft.com/office/powerpoint/2010/main" val="2284657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ABCFD37-6CF2-4E0A-BEAD-1A18C34D1AD0}"/>
              </a:ext>
            </a:extLst>
          </p:cNvPr>
          <p:cNvSpPr>
            <a:spLocks noGrp="1"/>
          </p:cNvSpPr>
          <p:nvPr>
            <p:ph type="title"/>
          </p:nvPr>
        </p:nvSpPr>
        <p:spPr/>
        <p:txBody>
          <a:bodyPr/>
          <a:lstStyle/>
          <a:p>
            <a:r>
              <a:rPr lang="en-AU" dirty="0"/>
              <a:t>Shoot adaptation</a:t>
            </a:r>
            <a:endParaRPr lang="en-NZ" dirty="0"/>
          </a:p>
        </p:txBody>
      </p:sp>
      <p:sp>
        <p:nvSpPr>
          <p:cNvPr id="3" name="Content Placeholder 2">
            <a:extLst>
              <a:ext uri="{FF2B5EF4-FFF2-40B4-BE49-F238E27FC236}">
                <a16:creationId xmlns:a16="http://schemas.microsoft.com/office/drawing/2014/main" xmlns="" id="{378F3541-E11B-46D0-A37D-1EB00A32696C}"/>
              </a:ext>
            </a:extLst>
          </p:cNvPr>
          <p:cNvSpPr>
            <a:spLocks noGrp="1"/>
          </p:cNvSpPr>
          <p:nvPr>
            <p:ph idx="1"/>
          </p:nvPr>
        </p:nvSpPr>
        <p:spPr/>
        <p:txBody>
          <a:bodyPr/>
          <a:lstStyle/>
          <a:p>
            <a:pPr marL="0" indent="0">
              <a:buNone/>
            </a:pPr>
            <a:r>
              <a:rPr lang="en-AU" dirty="0"/>
              <a:t>Shoot modification include:</a:t>
            </a:r>
          </a:p>
          <a:p>
            <a:r>
              <a:rPr lang="en-NZ" sz="2400" dirty="0">
                <a:effectLst/>
                <a:latin typeface="Calibri" panose="020F0502020204030204" pitchFamily="34" charset="0"/>
                <a:ea typeface="Calibri" panose="020F0502020204030204" pitchFamily="34" charset="0"/>
                <a:cs typeface="Times New Roman" panose="02020603050405020304" pitchFamily="18" charset="0"/>
              </a:rPr>
              <a:t>Succulence (cacti)</a:t>
            </a:r>
          </a:p>
          <a:p>
            <a:r>
              <a:rPr lang="en-NZ" sz="2400" dirty="0">
                <a:effectLst/>
                <a:latin typeface="Calibri" panose="020F0502020204030204" pitchFamily="34" charset="0"/>
                <a:ea typeface="Calibri" panose="020F0502020204030204" pitchFamily="34" charset="0"/>
                <a:cs typeface="Times New Roman" panose="02020603050405020304" pitchFamily="18" charset="0"/>
              </a:rPr>
              <a:t>Conversion to thorns </a:t>
            </a:r>
          </a:p>
          <a:p>
            <a:r>
              <a:rPr lang="en-NZ" sz="2400" dirty="0">
                <a:effectLst/>
                <a:latin typeface="Calibri" panose="020F0502020204030204" pitchFamily="34" charset="0"/>
                <a:ea typeface="Calibri" panose="020F0502020204030204" pitchFamily="34" charset="0"/>
                <a:cs typeface="Times New Roman" panose="02020603050405020304" pitchFamily="18" charset="0"/>
              </a:rPr>
              <a:t>Development of photosynthetic wings </a:t>
            </a:r>
          </a:p>
          <a:p>
            <a:r>
              <a:rPr lang="en-NZ" sz="2400" dirty="0">
                <a:effectLst/>
                <a:latin typeface="Calibri" panose="020F0502020204030204" pitchFamily="34" charset="0"/>
                <a:ea typeface="Calibri" panose="020F0502020204030204" pitchFamily="34" charset="0"/>
                <a:cs typeface="Times New Roman" panose="02020603050405020304" pitchFamily="18" charset="0"/>
              </a:rPr>
              <a:t>Twining and  climbing habit </a:t>
            </a:r>
          </a:p>
          <a:p>
            <a:r>
              <a:rPr lang="en-NZ" sz="2400" dirty="0">
                <a:effectLst/>
                <a:latin typeface="Calibri" panose="020F0502020204030204" pitchFamily="34" charset="0"/>
                <a:ea typeface="Calibri" panose="020F0502020204030204" pitchFamily="34" charset="0"/>
                <a:cs typeface="Times New Roman" panose="02020603050405020304" pitchFamily="18" charset="0"/>
              </a:rPr>
              <a:t>Underground  organs of storage and perennation, such as rhizomes </a:t>
            </a:r>
          </a:p>
          <a:p>
            <a:r>
              <a:rPr lang="en-NZ" sz="2400" dirty="0">
                <a:effectLst/>
                <a:latin typeface="Calibri" panose="020F0502020204030204" pitchFamily="34" charset="0"/>
                <a:ea typeface="Calibri" panose="020F0502020204030204" pitchFamily="34" charset="0"/>
                <a:cs typeface="Times New Roman" panose="02020603050405020304" pitchFamily="18" charset="0"/>
              </a:rPr>
              <a:t>Tubers</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Water stress, competition for light and the need for organs of perennation have been the principal selective forces in these modifications</a:t>
            </a:r>
          </a:p>
          <a:p>
            <a:pPr marL="0" indent="0">
              <a:buNone/>
            </a:pPr>
            <a:endParaRPr lang="en-NZ" dirty="0"/>
          </a:p>
        </p:txBody>
      </p:sp>
    </p:spTree>
    <p:extLst>
      <p:ext uri="{BB962C8B-B14F-4D97-AF65-F5344CB8AC3E}">
        <p14:creationId xmlns:p14="http://schemas.microsoft.com/office/powerpoint/2010/main" val="2248787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340B78-8450-4D89-BA3A-F0957E36E9B1}"/>
              </a:ext>
            </a:extLst>
          </p:cNvPr>
          <p:cNvSpPr>
            <a:spLocks noGrp="1"/>
          </p:cNvSpPr>
          <p:nvPr>
            <p:ph type="title"/>
          </p:nvPr>
        </p:nvSpPr>
        <p:spPr/>
        <p:txBody>
          <a:bodyPr/>
          <a:lstStyle/>
          <a:p>
            <a:r>
              <a:rPr lang="en-AU" dirty="0"/>
              <a:t>Root system</a:t>
            </a:r>
            <a:endParaRPr lang="en-NZ" dirty="0"/>
          </a:p>
        </p:txBody>
      </p:sp>
      <p:sp>
        <p:nvSpPr>
          <p:cNvPr id="3" name="Content Placeholder 2">
            <a:extLst>
              <a:ext uri="{FF2B5EF4-FFF2-40B4-BE49-F238E27FC236}">
                <a16:creationId xmlns:a16="http://schemas.microsoft.com/office/drawing/2014/main" xmlns="" id="{51554FE6-8B8F-453A-AF65-42A60E6D6968}"/>
              </a:ext>
            </a:extLst>
          </p:cNvPr>
          <p:cNvSpPr>
            <a:spLocks noGrp="1"/>
          </p:cNvSpPr>
          <p:nvPr>
            <p:ph idx="1"/>
          </p:nvPr>
        </p:nvSpPr>
        <p:spPr/>
        <p:txBody>
          <a:bodyPr/>
          <a:lstStyle/>
          <a:p>
            <a:pPr marL="0" indent="0">
              <a:buNone/>
            </a:pPr>
            <a:r>
              <a:rPr lang="en-AU" dirty="0"/>
              <a:t>Purpose of the root system is to mine water and minerals</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The remarkable thing about roots is not their structure, but the fact that they grow and branch continually, forever exploring and exploiting new areas of soil for the minerals and water</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The efficiency of the root as an absorbing organ depends on its absorptive surface area relative to its volume </a:t>
            </a:r>
          </a:p>
          <a:p>
            <a:pPr marL="0" indent="0">
              <a:buNone/>
            </a:pPr>
            <a:r>
              <a:rPr lang="en-NZ" sz="2400" dirty="0">
                <a:latin typeface="Calibri" panose="020F0502020204030204" pitchFamily="34" charset="0"/>
                <a:ea typeface="Calibri" panose="020F0502020204030204" pitchFamily="34" charset="0"/>
                <a:cs typeface="Times New Roman" panose="02020603050405020304" pitchFamily="18" charset="0"/>
              </a:rPr>
              <a:t>This is </a:t>
            </a:r>
            <a:r>
              <a:rPr lang="en-NZ" sz="2400" dirty="0">
                <a:effectLst/>
                <a:latin typeface="Calibri" panose="020F0502020204030204" pitchFamily="34" charset="0"/>
                <a:ea typeface="Calibri" panose="020F0502020204030204" pitchFamily="34" charset="0"/>
                <a:cs typeface="Times New Roman" panose="02020603050405020304" pitchFamily="18" charset="0"/>
              </a:rPr>
              <a:t>created by root hairs and the complex system of branches, It has been estimated that a 4-month-old millet plant has a total area of over 600 square metres in contact with the soil</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The plant is firmly anchored by the extensive branch system of the root</a:t>
            </a:r>
          </a:p>
          <a:p>
            <a:pPr marL="0" indent="0">
              <a:buNone/>
            </a:pPr>
            <a:r>
              <a:rPr lang="en-NZ" sz="18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buNone/>
            </a:pPr>
            <a:endParaRPr lang="en-NZ"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NZ" dirty="0"/>
          </a:p>
        </p:txBody>
      </p:sp>
    </p:spTree>
    <p:extLst>
      <p:ext uri="{BB962C8B-B14F-4D97-AF65-F5344CB8AC3E}">
        <p14:creationId xmlns:p14="http://schemas.microsoft.com/office/powerpoint/2010/main" val="3938525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1557E0-FFE5-45FB-AA77-D72B6A595323}"/>
              </a:ext>
            </a:extLst>
          </p:cNvPr>
          <p:cNvSpPr>
            <a:spLocks noGrp="1"/>
          </p:cNvSpPr>
          <p:nvPr>
            <p:ph type="title"/>
          </p:nvPr>
        </p:nvSpPr>
        <p:spPr/>
        <p:txBody>
          <a:bodyPr/>
          <a:lstStyle/>
          <a:p>
            <a:r>
              <a:rPr lang="en-AU" dirty="0"/>
              <a:t>Roots adaptation </a:t>
            </a:r>
            <a:endParaRPr lang="en-NZ" dirty="0"/>
          </a:p>
        </p:txBody>
      </p:sp>
      <p:sp>
        <p:nvSpPr>
          <p:cNvPr id="3" name="Content Placeholder 2">
            <a:extLst>
              <a:ext uri="{FF2B5EF4-FFF2-40B4-BE49-F238E27FC236}">
                <a16:creationId xmlns:a16="http://schemas.microsoft.com/office/drawing/2014/main" xmlns="" id="{86C2148E-9480-4DD9-832D-BCC2F2AE768A}"/>
              </a:ext>
            </a:extLst>
          </p:cNvPr>
          <p:cNvSpPr>
            <a:spLocks noGrp="1"/>
          </p:cNvSpPr>
          <p:nvPr>
            <p:ph idx="1"/>
          </p:nvPr>
        </p:nvSpPr>
        <p:spPr/>
        <p:txBody>
          <a:bodyPr/>
          <a:lstStyle/>
          <a:p>
            <a:pPr marL="0" indent="0">
              <a:buNone/>
            </a:pPr>
            <a:r>
              <a:rPr lang="en-AU" dirty="0"/>
              <a:t>Roots modification: </a:t>
            </a:r>
          </a:p>
          <a:p>
            <a:pPr marL="0" indent="0">
              <a:buNone/>
            </a:pPr>
            <a:r>
              <a:rPr lang="en-AU" dirty="0"/>
              <a:t>Tuber </a:t>
            </a:r>
            <a:r>
              <a:rPr lang="en-US" dirty="0"/>
              <a:t>The adventitious roots of sweet potato show substantial thickening to form the variously coloured starchy root tubers </a:t>
            </a:r>
          </a:p>
          <a:p>
            <a:pPr marL="0" indent="0">
              <a:buNone/>
            </a:pPr>
            <a:r>
              <a:rPr lang="en-US" dirty="0"/>
              <a:t>Roots may have become modified in a variety of other ways too. For example, the roots of some plants that grow in trees, such as certain tropical orchids, have an epidermis that is several cell layers thick that absorbs water from saturated air</a:t>
            </a:r>
            <a:r>
              <a:rPr lang="en-AU" dirty="0"/>
              <a:t> </a:t>
            </a:r>
          </a:p>
          <a:p>
            <a:pPr marL="0" indent="0">
              <a:buNone/>
            </a:pPr>
            <a:endParaRPr lang="en-AU" dirty="0"/>
          </a:p>
          <a:p>
            <a:pPr marL="0" indent="0">
              <a:buNone/>
            </a:pPr>
            <a:endParaRPr lang="en-NZ" dirty="0"/>
          </a:p>
        </p:txBody>
      </p:sp>
    </p:spTree>
    <p:extLst>
      <p:ext uri="{BB962C8B-B14F-4D97-AF65-F5344CB8AC3E}">
        <p14:creationId xmlns:p14="http://schemas.microsoft.com/office/powerpoint/2010/main" val="2034844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266BD1-6F14-4436-BE9E-C75DD8E616FE}"/>
              </a:ext>
            </a:extLst>
          </p:cNvPr>
          <p:cNvSpPr>
            <a:spLocks noGrp="1"/>
          </p:cNvSpPr>
          <p:nvPr>
            <p:ph type="title"/>
          </p:nvPr>
        </p:nvSpPr>
        <p:spPr/>
        <p:txBody>
          <a:bodyPr/>
          <a:lstStyle/>
          <a:p>
            <a:r>
              <a:rPr lang="en-AU" dirty="0"/>
              <a:t>Crop growth requirements </a:t>
            </a:r>
            <a:endParaRPr lang="en-NZ" dirty="0"/>
          </a:p>
        </p:txBody>
      </p:sp>
      <p:sp>
        <p:nvSpPr>
          <p:cNvPr id="3" name="Content Placeholder 2">
            <a:extLst>
              <a:ext uri="{FF2B5EF4-FFF2-40B4-BE49-F238E27FC236}">
                <a16:creationId xmlns:a16="http://schemas.microsoft.com/office/drawing/2014/main" xmlns="" id="{A9D2E5D2-3C9C-466E-949A-6E15337182C5}"/>
              </a:ext>
            </a:extLst>
          </p:cNvPr>
          <p:cNvSpPr>
            <a:spLocks noGrp="1"/>
          </p:cNvSpPr>
          <p:nvPr>
            <p:ph idx="1"/>
          </p:nvPr>
        </p:nvSpPr>
        <p:spPr/>
        <p:txBody>
          <a:bodyPr/>
          <a:lstStyle/>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Soils supply several of the requirements needed for healthy plant growth such as </a:t>
            </a:r>
          </a:p>
          <a:p>
            <a:r>
              <a:rPr lang="en-NZ" sz="2400" dirty="0">
                <a:effectLst/>
                <a:latin typeface="Calibri" panose="020F0502020204030204" pitchFamily="34" charset="0"/>
                <a:ea typeface="Calibri" panose="020F0502020204030204" pitchFamily="34" charset="0"/>
                <a:cs typeface="Times New Roman" panose="02020603050405020304" pitchFamily="18" charset="0"/>
              </a:rPr>
              <a:t>Anchorage  for roots to stabilise the plant</a:t>
            </a:r>
          </a:p>
          <a:p>
            <a:r>
              <a:rPr lang="en-NZ" sz="2400" dirty="0">
                <a:effectLst/>
                <a:latin typeface="Calibri" panose="020F0502020204030204" pitchFamily="34" charset="0"/>
                <a:ea typeface="Calibri" panose="020F0502020204030204" pitchFamily="34" charset="0"/>
                <a:cs typeface="Times New Roman" panose="02020603050405020304" pitchFamily="18" charset="0"/>
              </a:rPr>
              <a:t>Water  and nutrients for growth</a:t>
            </a:r>
          </a:p>
          <a:p>
            <a:r>
              <a:rPr lang="en-NZ" sz="2400" dirty="0">
                <a:effectLst/>
                <a:latin typeface="Calibri" panose="020F0502020204030204" pitchFamily="34" charset="0"/>
                <a:ea typeface="Calibri" panose="020F0502020204030204" pitchFamily="34" charset="0"/>
                <a:cs typeface="Times New Roman" panose="02020603050405020304" pitchFamily="18" charset="0"/>
              </a:rPr>
              <a:t>Oxygen  to allow roots to respire </a:t>
            </a:r>
          </a:p>
          <a:p>
            <a:r>
              <a:rPr lang="en-NZ" sz="2400" dirty="0">
                <a:effectLst/>
                <a:latin typeface="Calibri" panose="020F0502020204030204" pitchFamily="34" charset="0"/>
                <a:ea typeface="Calibri" panose="020F0502020204030204" pitchFamily="34" charset="0"/>
                <a:cs typeface="Times New Roman" panose="02020603050405020304" pitchFamily="18" charset="0"/>
              </a:rPr>
              <a:t>Buffer  against changes of temperature and pH</a:t>
            </a:r>
          </a:p>
          <a:p>
            <a:pPr marL="0" indent="0">
              <a:buNone/>
            </a:pPr>
            <a:endParaRPr lang="en-NZ"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Soils also contain a vast number of living organisms that form a reserve of nutrients that biological activity can make available to plants</a:t>
            </a:r>
          </a:p>
          <a:p>
            <a:pPr marL="0" indent="0">
              <a:buNone/>
            </a:pPr>
            <a:endParaRPr lang="en-NZ" dirty="0"/>
          </a:p>
        </p:txBody>
      </p:sp>
    </p:spTree>
    <p:extLst>
      <p:ext uri="{BB962C8B-B14F-4D97-AF65-F5344CB8AC3E}">
        <p14:creationId xmlns:p14="http://schemas.microsoft.com/office/powerpoint/2010/main" val="1860524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2C2EB6-DA23-43E4-BE7F-696B15081BA8}"/>
              </a:ext>
            </a:extLst>
          </p:cNvPr>
          <p:cNvSpPr>
            <a:spLocks noGrp="1"/>
          </p:cNvSpPr>
          <p:nvPr>
            <p:ph type="title"/>
          </p:nvPr>
        </p:nvSpPr>
        <p:spPr/>
        <p:txBody>
          <a:bodyPr/>
          <a:lstStyle/>
          <a:p>
            <a:r>
              <a:rPr lang="en-AU" dirty="0"/>
              <a:t>Soil properties </a:t>
            </a:r>
            <a:endParaRPr lang="en-NZ" dirty="0"/>
          </a:p>
        </p:txBody>
      </p:sp>
      <p:sp>
        <p:nvSpPr>
          <p:cNvPr id="3" name="Content Placeholder 2">
            <a:extLst>
              <a:ext uri="{FF2B5EF4-FFF2-40B4-BE49-F238E27FC236}">
                <a16:creationId xmlns:a16="http://schemas.microsoft.com/office/drawing/2014/main" xmlns="" id="{90FA0F8C-1737-4AD8-8195-38A05DE51BBA}"/>
              </a:ext>
            </a:extLst>
          </p:cNvPr>
          <p:cNvSpPr>
            <a:spLocks noGrp="1"/>
          </p:cNvSpPr>
          <p:nvPr>
            <p:ph idx="1"/>
          </p:nvPr>
        </p:nvSpPr>
        <p:spPr/>
        <p:txBody>
          <a:bodyPr>
            <a:normAutofit lnSpcReduction="10000"/>
          </a:bodyPr>
          <a:lstStyle/>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A teaspoon of moist garden topsoil will contain several million micro organisms</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These living organisms are an essential part of the soil-forming process, and the carbon compounds produced by the photosynthesis of plants are broken down by them</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In general, most of the root length is located in the top 15 cm of soil, and the quantity decreases very rapidly with depth</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A deep root system is one mechanism that plants have to tolerate drought</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Among the many soil conditions that can impede root growth the most important that can be managed by gardeners include compaction</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 a shortage of oxygen due to waterlogging or poor drainage</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dryness, low nutrient supply, and a pH that is too low</a:t>
            </a:r>
          </a:p>
          <a:p>
            <a:pPr marL="0" indent="0">
              <a:buNone/>
            </a:pPr>
            <a:endParaRPr lang="en-NZ" dirty="0"/>
          </a:p>
        </p:txBody>
      </p:sp>
    </p:spTree>
    <p:extLst>
      <p:ext uri="{BB962C8B-B14F-4D97-AF65-F5344CB8AC3E}">
        <p14:creationId xmlns:p14="http://schemas.microsoft.com/office/powerpoint/2010/main" val="1068107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ED40B9-18F6-41E2-A992-2DDB55F0BC8D}"/>
              </a:ext>
            </a:extLst>
          </p:cNvPr>
          <p:cNvSpPr>
            <a:spLocks noGrp="1"/>
          </p:cNvSpPr>
          <p:nvPr>
            <p:ph type="title"/>
          </p:nvPr>
        </p:nvSpPr>
        <p:spPr/>
        <p:txBody>
          <a:bodyPr/>
          <a:lstStyle/>
          <a:p>
            <a:r>
              <a:rPr lang="en-AU" dirty="0"/>
              <a:t>Crop environmental factors </a:t>
            </a:r>
            <a:endParaRPr lang="en-NZ" dirty="0"/>
          </a:p>
        </p:txBody>
      </p:sp>
      <p:sp>
        <p:nvSpPr>
          <p:cNvPr id="3" name="Content Placeholder 2">
            <a:extLst>
              <a:ext uri="{FF2B5EF4-FFF2-40B4-BE49-F238E27FC236}">
                <a16:creationId xmlns:a16="http://schemas.microsoft.com/office/drawing/2014/main" xmlns="" id="{38FA72F6-9A62-41A6-80F3-B746873103C5}"/>
              </a:ext>
            </a:extLst>
          </p:cNvPr>
          <p:cNvSpPr>
            <a:spLocks noGrp="1"/>
          </p:cNvSpPr>
          <p:nvPr>
            <p:ph idx="1"/>
          </p:nvPr>
        </p:nvSpPr>
        <p:spPr/>
        <p:txBody>
          <a:bodyPr>
            <a:normAutofit fontScale="92500"/>
          </a:bodyPr>
          <a:lstStyle/>
          <a:p>
            <a:pPr marL="0" indent="0">
              <a:buNone/>
            </a:pPr>
            <a:r>
              <a:rPr lang="en-AU" dirty="0"/>
              <a:t>Temperature</a:t>
            </a:r>
            <a:r>
              <a:rPr lang="en-NZ" sz="1800" dirty="0">
                <a:effectLst/>
                <a:latin typeface="Calibri" panose="020F0502020204030204" pitchFamily="34" charset="0"/>
                <a:ea typeface="Calibri" panose="020F0502020204030204" pitchFamily="34" charset="0"/>
                <a:cs typeface="Times New Roman" panose="02020603050405020304" pitchFamily="18" charset="0"/>
              </a:rPr>
              <a:t> </a:t>
            </a:r>
            <a:r>
              <a:rPr lang="en-NZ" sz="2400" dirty="0">
                <a:effectLst/>
                <a:latin typeface="Calibri" panose="020F0502020204030204" pitchFamily="34" charset="0"/>
                <a:ea typeface="Calibri" panose="020F0502020204030204" pitchFamily="34" charset="0"/>
                <a:cs typeface="Times New Roman" panose="02020603050405020304" pitchFamily="18" charset="0"/>
              </a:rPr>
              <a:t>has a major effect on plants, because all plant processes are influenced by it. The growth rate is speeded up at higher temperatures, provided that other factors, such as the amount of light, are not limiting and that the temperature is not so high as to be damaging</a:t>
            </a:r>
          </a:p>
          <a:p>
            <a:pPr marL="0" indent="0">
              <a:buNone/>
            </a:pPr>
            <a:endParaRPr lang="en-NZ"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NZ" sz="2400" b="1" dirty="0">
                <a:effectLst/>
                <a:latin typeface="Calibri" panose="020F0502020204030204" pitchFamily="34" charset="0"/>
                <a:ea typeface="Calibri" panose="020F0502020204030204" pitchFamily="34" charset="0"/>
                <a:cs typeface="Times New Roman" panose="02020603050405020304" pitchFamily="18" charset="0"/>
              </a:rPr>
              <a:t>Light, temperature, water and wind are major factors in determining</a:t>
            </a:r>
            <a:r>
              <a:rPr lang="en-NZ" sz="2400" dirty="0">
                <a:effectLst/>
                <a:latin typeface="Calibri" panose="020F0502020204030204" pitchFamily="34" charset="0"/>
                <a:ea typeface="Calibri" panose="020F0502020204030204" pitchFamily="34" charset="0"/>
                <a:cs typeface="Times New Roman" panose="02020603050405020304" pitchFamily="18" charset="0"/>
              </a:rPr>
              <a:t> the survival of plants in a particular habitat, and plants have developed strategies that enable them to tolerate or avoid unfavourable conditions of water stress, excess water, wind and/or shade</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Some of these are immediately obvious: thick cuticles, grey reflective leaves, hairy leaves, succulence or small leaves usually indicate adaptation to water stress</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Low growing plants with small leaves are likely to be more tolerant of wind</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 Drooping leaves often suggest resistance to higher temperatures</a:t>
            </a:r>
          </a:p>
          <a:p>
            <a:pPr marL="0" indent="0">
              <a:buNone/>
            </a:pPr>
            <a:endParaRPr lang="en-NZ" dirty="0"/>
          </a:p>
        </p:txBody>
      </p:sp>
    </p:spTree>
    <p:extLst>
      <p:ext uri="{BB962C8B-B14F-4D97-AF65-F5344CB8AC3E}">
        <p14:creationId xmlns:p14="http://schemas.microsoft.com/office/powerpoint/2010/main" val="3019474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TotalTime>
  <Words>792</Words>
  <Application>Microsoft Office PowerPoint</Application>
  <PresentationFormat>Widescreen</PresentationFormat>
  <Paragraphs>88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Horticulture   Lecture 1 2024</vt:lpstr>
      <vt:lpstr>Horticultural production </vt:lpstr>
      <vt:lpstr>Horticultural production science </vt:lpstr>
      <vt:lpstr>Horticulture production </vt:lpstr>
      <vt:lpstr>Shoot system  </vt:lpstr>
      <vt:lpstr>Shoot  system</vt:lpstr>
      <vt:lpstr>Shoot adaptation</vt:lpstr>
      <vt:lpstr>Root system</vt:lpstr>
      <vt:lpstr>Roots adaptation </vt:lpstr>
      <vt:lpstr>Crop growth requirements </vt:lpstr>
      <vt:lpstr>Soil properties </vt:lpstr>
      <vt:lpstr>Crop environmental factors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 Science  Lecture 1 23rd August 2021</dc:title>
  <dc:creator>Sakala, Aaron</dc:creator>
  <cp:lastModifiedBy>Microsoft account</cp:lastModifiedBy>
  <cp:revision>13</cp:revision>
  <dcterms:created xsi:type="dcterms:W3CDTF">2021-08-13T11:47:52Z</dcterms:created>
  <dcterms:modified xsi:type="dcterms:W3CDTF">2024-06-05T15:09:51Z</dcterms:modified>
</cp:coreProperties>
</file>