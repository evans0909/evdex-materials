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06052-DB36-4286-E5F9-04402BEC09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936972-1810-E43B-4208-2ED19C304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66B90D-3F4E-D119-622B-423995972320}"/>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E8394958-9B6A-6E45-514D-86B8EF89C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24AB-299D-EF71-7C2D-141F4CEBA667}"/>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660225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92C2C-9472-F33F-FCE6-A20799FF08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59E8BB-47B7-F196-36B6-24C4F12DD9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B2C3A8-B612-BCC9-9EDC-C3304CCC15C5}"/>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694120B0-96FD-7AD6-44C2-354CD7558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B3257-31FF-473D-4AE7-E404EA0956C5}"/>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274734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99EC6-5854-4190-A2BD-BB4D764AAA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5C0867-2010-2BF9-3D48-876498C15A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BBC18-1D54-7FF4-5872-A13F84C1A8A5}"/>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422FECC5-D5F9-BE39-E6E0-13ECFA842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1E6E5-13F8-756D-48B0-40B208000A91}"/>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153588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520DB-952F-7376-178A-91F95BA06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52F984-4F49-8EE1-B33E-99A6E34660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D25BCC-DE4A-101E-46E4-C30C50908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7FF211-C647-8FFA-713F-809637D73F03}"/>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6" name="Footer Placeholder 5">
            <a:extLst>
              <a:ext uri="{FF2B5EF4-FFF2-40B4-BE49-F238E27FC236}">
                <a16:creationId xmlns:a16="http://schemas.microsoft.com/office/drawing/2014/main" id="{F6352984-E7BF-DADA-77B6-BD5CAF1084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9C3C3-D816-A1C9-8CCE-6F4C834E5C62}"/>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815488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84CFF-CDEF-592F-C7E3-666008F69E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8FC33C-70CE-7242-3080-5CED742A2D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FC1673-36B6-DBC2-1D50-08F2164CFC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2AC8CF-D961-4E70-A9A2-0F1E4F119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04D00A-9F10-5681-C60A-A3C57EF467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AF4D30-E592-23FA-429B-D07278B3CF67}"/>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8" name="Footer Placeholder 7">
            <a:extLst>
              <a:ext uri="{FF2B5EF4-FFF2-40B4-BE49-F238E27FC236}">
                <a16:creationId xmlns:a16="http://schemas.microsoft.com/office/drawing/2014/main" id="{9E692706-2918-6EB7-35C8-804E5CF005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F93F75-0FFB-290F-5F45-A5C9F8547492}"/>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99123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D452D-A9EE-9260-24FC-E9B776D0B9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43ED67-0EED-52DD-9558-668D076CC27B}"/>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4" name="Footer Placeholder 3">
            <a:extLst>
              <a:ext uri="{FF2B5EF4-FFF2-40B4-BE49-F238E27FC236}">
                <a16:creationId xmlns:a16="http://schemas.microsoft.com/office/drawing/2014/main" id="{CACA9440-B501-2BC1-2E0E-7618F65F7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1F6F50-9777-7AB8-7718-6D6A3F25B8E7}"/>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81091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A76B1-880A-BC8B-8C0F-E818BDC353FD}"/>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3" name="Footer Placeholder 2">
            <a:extLst>
              <a:ext uri="{FF2B5EF4-FFF2-40B4-BE49-F238E27FC236}">
                <a16:creationId xmlns:a16="http://schemas.microsoft.com/office/drawing/2014/main" id="{C8785767-1FB4-C6B2-6EFC-A1E8592BBF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14A6DF-E8A8-68BE-8A4B-2C92C474F602}"/>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64363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F7FC-E4C5-BF11-FF25-DA3F717DC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2E8556-1C86-B14D-9F39-B922950125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933CAF-86C7-F67D-A763-560FC8E8E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9EF69A-DAEA-56EB-1993-A821EEF23EA9}"/>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6" name="Footer Placeholder 5">
            <a:extLst>
              <a:ext uri="{FF2B5EF4-FFF2-40B4-BE49-F238E27FC236}">
                <a16:creationId xmlns:a16="http://schemas.microsoft.com/office/drawing/2014/main" id="{D797A22E-93D6-8F45-A0E9-EA3260DAB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37D98A-5953-BB39-B39E-0FF2C30DF476}"/>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1125443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C5709-29F8-56D2-9D24-E06B375EE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F79236-AAF7-F4E2-5761-82DC21CFCD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B9374-804C-22FB-4377-E69FC6B539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8222E7-57A3-68AF-8AFF-6FD59CB0F46F}"/>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6" name="Footer Placeholder 5">
            <a:extLst>
              <a:ext uri="{FF2B5EF4-FFF2-40B4-BE49-F238E27FC236}">
                <a16:creationId xmlns:a16="http://schemas.microsoft.com/office/drawing/2014/main" id="{D6B17F1A-E648-AA53-21FE-F73322BDF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AA369-0E7F-16C1-46D2-FE6C610B61C8}"/>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4103250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06E0-7E1E-6681-259B-2AB1C414AD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50DC87-5EB8-6655-319C-19F3E22838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C3BE1-6BE2-950F-E562-7FEDF45F3BD1}"/>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4D676261-5930-97D5-AB2A-E04DD626D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71FAE0-C8BD-2150-7A0F-4EBBEDD6EE98}"/>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3008074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0F12B1-86F0-0231-243B-DBDD9CD894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0FE0D-B6AE-120D-7803-AF0F0C9A92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A5485-AAC9-9DD0-DF40-6CA9B844848C}"/>
              </a:ext>
            </a:extLst>
          </p:cNvPr>
          <p:cNvSpPr>
            <a:spLocks noGrp="1"/>
          </p:cNvSpPr>
          <p:nvPr>
            <p:ph type="dt" sz="half" idx="10"/>
          </p:nvPr>
        </p:nvSpPr>
        <p:spPr/>
        <p:txBody>
          <a:body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F79F47CC-8C77-AF0D-05AC-F2916386B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25E21-EE86-DB93-55B4-D4B2E1242D82}"/>
              </a:ext>
            </a:extLst>
          </p:cNvPr>
          <p:cNvSpPr>
            <a:spLocks noGrp="1"/>
          </p:cNvSpPr>
          <p:nvPr>
            <p:ph type="sldNum" sz="quarter" idx="12"/>
          </p:nvPr>
        </p:nvSpPr>
        <p:spPr/>
        <p:txBody>
          <a:bodyPr/>
          <a:lstStyle/>
          <a:p>
            <a:fld id="{FBFAEF11-C972-459E-B71D-C8207F2BE5AF}" type="slidenum">
              <a:rPr lang="en-US" smtClean="0"/>
              <a:t>‹#›</a:t>
            </a:fld>
            <a:endParaRPr lang="en-US"/>
          </a:p>
        </p:txBody>
      </p:sp>
    </p:spTree>
    <p:extLst>
      <p:ext uri="{BB962C8B-B14F-4D97-AF65-F5344CB8AC3E}">
        <p14:creationId xmlns:p14="http://schemas.microsoft.com/office/powerpoint/2010/main" val="178281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6D6AF8-577F-291D-B5F2-AB11A572B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3869CF-B074-08CA-46CF-12C6E743DF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B1556-9092-A78A-FA03-09A5ADABDB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8F25E1-3FE0-47C3-972C-1CAEA402DC3C}" type="datetimeFigureOut">
              <a:rPr lang="en-US" smtClean="0"/>
              <a:t>4/3/2025</a:t>
            </a:fld>
            <a:endParaRPr lang="en-US"/>
          </a:p>
        </p:txBody>
      </p:sp>
      <p:sp>
        <p:nvSpPr>
          <p:cNvPr id="5" name="Footer Placeholder 4">
            <a:extLst>
              <a:ext uri="{FF2B5EF4-FFF2-40B4-BE49-F238E27FC236}">
                <a16:creationId xmlns:a16="http://schemas.microsoft.com/office/drawing/2014/main" id="{DC7AE944-9AAC-7A9E-9F03-507C7F306F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1A50BB-2B55-8DAE-F762-B925C0CE2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FAEF11-C972-459E-B71D-C8207F2BE5AF}" type="slidenum">
              <a:rPr lang="en-US" smtClean="0"/>
              <a:t>‹#›</a:t>
            </a:fld>
            <a:endParaRPr lang="en-US"/>
          </a:p>
        </p:txBody>
      </p:sp>
    </p:spTree>
    <p:extLst>
      <p:ext uri="{BB962C8B-B14F-4D97-AF65-F5344CB8AC3E}">
        <p14:creationId xmlns:p14="http://schemas.microsoft.com/office/powerpoint/2010/main" val="4246854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9EF6-266B-6299-B394-CFF57A730522}"/>
              </a:ext>
            </a:extLst>
          </p:cNvPr>
          <p:cNvSpPr>
            <a:spLocks noGrp="1"/>
          </p:cNvSpPr>
          <p:nvPr>
            <p:ph type="ctrTitle"/>
          </p:nvPr>
        </p:nvSpPr>
        <p:spPr>
          <a:xfrm>
            <a:off x="1524000" y="1122363"/>
            <a:ext cx="9144000" cy="1452025"/>
          </a:xfrm>
        </p:spPr>
        <p:txBody>
          <a:bodyPr/>
          <a:lstStyle/>
          <a:p>
            <a:r>
              <a:rPr lang="en-US" dirty="0"/>
              <a:t>SA 330: Animal Husbandry</a:t>
            </a:r>
          </a:p>
        </p:txBody>
      </p:sp>
      <p:sp>
        <p:nvSpPr>
          <p:cNvPr id="3" name="Subtitle 2">
            <a:extLst>
              <a:ext uri="{FF2B5EF4-FFF2-40B4-BE49-F238E27FC236}">
                <a16:creationId xmlns:a16="http://schemas.microsoft.com/office/drawing/2014/main" id="{76A85722-97D7-376E-2B59-554EEC7C9140}"/>
              </a:ext>
            </a:extLst>
          </p:cNvPr>
          <p:cNvSpPr>
            <a:spLocks noGrp="1"/>
          </p:cNvSpPr>
          <p:nvPr>
            <p:ph type="subTitle" idx="1"/>
          </p:nvPr>
        </p:nvSpPr>
        <p:spPr/>
        <p:txBody>
          <a:bodyPr/>
          <a:lstStyle/>
          <a:p>
            <a:r>
              <a:rPr lang="en-US" dirty="0"/>
              <a:t>Joseph Simbaya, Ph.D.</a:t>
            </a:r>
          </a:p>
          <a:p>
            <a:r>
              <a:rPr lang="en-US" dirty="0"/>
              <a:t>Lusaka – Zambia.</a:t>
            </a:r>
          </a:p>
        </p:txBody>
      </p:sp>
    </p:spTree>
    <p:extLst>
      <p:ext uri="{BB962C8B-B14F-4D97-AF65-F5344CB8AC3E}">
        <p14:creationId xmlns:p14="http://schemas.microsoft.com/office/powerpoint/2010/main" val="3947039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1D1B-C5A8-520A-8820-321F7E05DA6E}"/>
              </a:ext>
            </a:extLst>
          </p:cNvPr>
          <p:cNvSpPr>
            <a:spLocks noGrp="1"/>
          </p:cNvSpPr>
          <p:nvPr>
            <p:ph type="title"/>
          </p:nvPr>
        </p:nvSpPr>
        <p:spPr/>
        <p:txBody>
          <a:bodyPr/>
          <a:lstStyle/>
          <a:p>
            <a:r>
              <a:rPr lang="en-US" dirty="0"/>
              <a:t>Introduction to Animal Husbandry</a:t>
            </a:r>
          </a:p>
        </p:txBody>
      </p:sp>
      <p:sp>
        <p:nvSpPr>
          <p:cNvPr id="3" name="Content Placeholder 2">
            <a:extLst>
              <a:ext uri="{FF2B5EF4-FFF2-40B4-BE49-F238E27FC236}">
                <a16:creationId xmlns:a16="http://schemas.microsoft.com/office/drawing/2014/main" id="{27FC06F8-4560-55EC-DBED-AD16CF78E684}"/>
              </a:ext>
            </a:extLst>
          </p:cNvPr>
          <p:cNvSpPr>
            <a:spLocks noGrp="1"/>
          </p:cNvSpPr>
          <p:nvPr>
            <p:ph idx="1"/>
          </p:nvPr>
        </p:nvSpPr>
        <p:spPr/>
        <p:txBody>
          <a:bodyPr/>
          <a:lstStyle/>
          <a:p>
            <a:r>
              <a:rPr lang="en-US" dirty="0"/>
              <a:t>What is animal husbandry?</a:t>
            </a:r>
          </a:p>
          <a:p>
            <a:r>
              <a:rPr lang="en-US" dirty="0"/>
              <a:t>All the answers are partially or fully correct, the fact is that this is the science or art of keeping domestic animals for food,fibre or entatainment to meet human needs.</a:t>
            </a:r>
          </a:p>
          <a:p>
            <a:r>
              <a:rPr lang="en-US" dirty="0"/>
              <a:t>The food is mostly generated as a source of protein including meat, milk and eggs. The meat is mostly in terms of beef, mutton, pork from animals like cattle, goats, sheep, pigs and a variety of poultry species.</a:t>
            </a:r>
          </a:p>
          <a:p>
            <a:r>
              <a:rPr lang="en-US" dirty="0"/>
              <a:t>What type of animals do people keep in your area and what are the main products?</a:t>
            </a:r>
          </a:p>
        </p:txBody>
      </p:sp>
    </p:spTree>
    <p:extLst>
      <p:ext uri="{BB962C8B-B14F-4D97-AF65-F5344CB8AC3E}">
        <p14:creationId xmlns:p14="http://schemas.microsoft.com/office/powerpoint/2010/main" val="3646092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F9FD3-1B61-F8AB-A5FD-11890DF4E1E7}"/>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8147E8B3-B8BF-407E-CAFC-95139FB9F732}"/>
              </a:ext>
            </a:extLst>
          </p:cNvPr>
          <p:cNvSpPr>
            <a:spLocks noGrp="1"/>
          </p:cNvSpPr>
          <p:nvPr>
            <p:ph idx="1"/>
          </p:nvPr>
        </p:nvSpPr>
        <p:spPr/>
        <p:txBody>
          <a:bodyPr/>
          <a:lstStyle/>
          <a:p>
            <a:r>
              <a:rPr lang="en-US" dirty="0"/>
              <a:t>What are the key enterprises arising from keeping different types of domestic animals?</a:t>
            </a:r>
          </a:p>
          <a:p>
            <a:r>
              <a:rPr lang="en-US" dirty="0"/>
              <a:t>The different types of domestic animals may be divided into different categories including ruminants and non-ruminants</a:t>
            </a:r>
          </a:p>
          <a:p>
            <a:pPr lvl="1"/>
            <a:r>
              <a:rPr lang="en-US" dirty="0"/>
              <a:t>Cattle could be dairy or beef breeds</a:t>
            </a:r>
          </a:p>
          <a:p>
            <a:pPr lvl="1"/>
            <a:r>
              <a:rPr lang="en-US" dirty="0"/>
              <a:t>Pigs</a:t>
            </a:r>
          </a:p>
          <a:p>
            <a:pPr lvl="1"/>
            <a:r>
              <a:rPr lang="en-US" dirty="0"/>
              <a:t>Small ruminants comprises of goats and sheep</a:t>
            </a:r>
          </a:p>
          <a:p>
            <a:pPr lvl="1"/>
            <a:r>
              <a:rPr lang="en-US" dirty="0"/>
              <a:t>Poultry species include chickens, turkeys, ducks and others</a:t>
            </a:r>
          </a:p>
          <a:p>
            <a:pPr lvl="2"/>
            <a:r>
              <a:rPr lang="en-US" dirty="0"/>
              <a:t>Broilers</a:t>
            </a:r>
          </a:p>
          <a:p>
            <a:pPr lvl="2"/>
            <a:r>
              <a:rPr lang="en-US" dirty="0"/>
              <a:t>Layers</a:t>
            </a:r>
          </a:p>
          <a:p>
            <a:pPr lvl="2"/>
            <a:r>
              <a:rPr lang="en-US" dirty="0"/>
              <a:t>Tukeys, ducks, ostriches, quails, etc.</a:t>
            </a:r>
          </a:p>
        </p:txBody>
      </p:sp>
    </p:spTree>
    <p:extLst>
      <p:ext uri="{BB962C8B-B14F-4D97-AF65-F5344CB8AC3E}">
        <p14:creationId xmlns:p14="http://schemas.microsoft.com/office/powerpoint/2010/main" val="2654937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E6D3-2596-8ADC-6175-24DAD4FFA293}"/>
              </a:ext>
            </a:extLst>
          </p:cNvPr>
          <p:cNvSpPr>
            <a:spLocks noGrp="1"/>
          </p:cNvSpPr>
          <p:nvPr>
            <p:ph type="title"/>
          </p:nvPr>
        </p:nvSpPr>
        <p:spPr/>
        <p:txBody>
          <a:bodyPr/>
          <a:lstStyle/>
          <a:p>
            <a:r>
              <a:rPr lang="en-US" dirty="0"/>
              <a:t>What are the products from different enterprises?</a:t>
            </a:r>
          </a:p>
        </p:txBody>
      </p:sp>
      <p:sp>
        <p:nvSpPr>
          <p:cNvPr id="3" name="Content Placeholder 2">
            <a:extLst>
              <a:ext uri="{FF2B5EF4-FFF2-40B4-BE49-F238E27FC236}">
                <a16:creationId xmlns:a16="http://schemas.microsoft.com/office/drawing/2014/main" id="{14395504-12E7-E070-C02E-BAEEF1B73DB0}"/>
              </a:ext>
            </a:extLst>
          </p:cNvPr>
          <p:cNvSpPr>
            <a:spLocks noGrp="1"/>
          </p:cNvSpPr>
          <p:nvPr>
            <p:ph idx="1"/>
          </p:nvPr>
        </p:nvSpPr>
        <p:spPr/>
        <p:txBody>
          <a:bodyPr/>
          <a:lstStyle/>
          <a:p>
            <a:r>
              <a:rPr lang="en-US" dirty="0"/>
              <a:t>The most important and popular is food in form of meat. Domestic animals are slaughtered to generate different types of meat. What type of meat do you get from rabbits, pigs, goats, sheep, and …. What about donkeys and horses?</a:t>
            </a:r>
          </a:p>
          <a:p>
            <a:r>
              <a:rPr lang="en-US" dirty="0"/>
              <a:t>What other products do we get from animals?</a:t>
            </a:r>
          </a:p>
          <a:p>
            <a:r>
              <a:rPr lang="en-US" dirty="0"/>
              <a:t>What do you get from turkeys, Ostriches, crocodiles and game animals? Are these part of animal husbandry?</a:t>
            </a:r>
          </a:p>
          <a:p>
            <a:r>
              <a:rPr lang="en-US" dirty="0"/>
              <a:t>Why are we not including the production of horses, dogs and cats?</a:t>
            </a:r>
          </a:p>
          <a:p>
            <a:r>
              <a:rPr lang="en-US" dirty="0"/>
              <a:t>These rarely produce the products that we need in animal Science? </a:t>
            </a:r>
          </a:p>
        </p:txBody>
      </p:sp>
    </p:spTree>
    <p:extLst>
      <p:ext uri="{BB962C8B-B14F-4D97-AF65-F5344CB8AC3E}">
        <p14:creationId xmlns:p14="http://schemas.microsoft.com/office/powerpoint/2010/main" val="4196250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5FFB1-94B4-44AE-B9B9-B9649869B4BF}"/>
              </a:ext>
            </a:extLst>
          </p:cNvPr>
          <p:cNvSpPr>
            <a:spLocks noGrp="1"/>
          </p:cNvSpPr>
          <p:nvPr>
            <p:ph type="title"/>
          </p:nvPr>
        </p:nvSpPr>
        <p:spPr/>
        <p:txBody>
          <a:bodyPr/>
          <a:lstStyle/>
          <a:p>
            <a:r>
              <a:rPr lang="en-US" dirty="0"/>
              <a:t>Practices of rearing different domestic animals?</a:t>
            </a:r>
          </a:p>
        </p:txBody>
      </p:sp>
      <p:sp>
        <p:nvSpPr>
          <p:cNvPr id="3" name="Content Placeholder 2">
            <a:extLst>
              <a:ext uri="{FF2B5EF4-FFF2-40B4-BE49-F238E27FC236}">
                <a16:creationId xmlns:a16="http://schemas.microsoft.com/office/drawing/2014/main" id="{A3607D79-F301-7BA6-50B3-753AB87C62A4}"/>
              </a:ext>
            </a:extLst>
          </p:cNvPr>
          <p:cNvSpPr>
            <a:spLocks noGrp="1"/>
          </p:cNvSpPr>
          <p:nvPr>
            <p:ph idx="1"/>
          </p:nvPr>
        </p:nvSpPr>
        <p:spPr/>
        <p:txBody>
          <a:bodyPr>
            <a:normAutofit lnSpcReduction="10000"/>
          </a:bodyPr>
          <a:lstStyle/>
          <a:p>
            <a:r>
              <a:rPr lang="en-US" dirty="0"/>
              <a:t>Domestic animals are divided into ruminants and non-ruminants. </a:t>
            </a:r>
          </a:p>
          <a:p>
            <a:r>
              <a:rPr lang="en-US" dirty="0"/>
              <a:t>What are the advantages of either keeping ruminants versus that of non-ruminants?</a:t>
            </a:r>
          </a:p>
          <a:p>
            <a:r>
              <a:rPr lang="en-US" dirty="0"/>
              <a:t>Look at the ruminants!</a:t>
            </a:r>
          </a:p>
          <a:p>
            <a:r>
              <a:rPr lang="en-US" dirty="0"/>
              <a:t>This group starts with cattle! If you do not own cattle, chances are that you are a poor person  Try to go to  Kalomo and Kasama markets may be you will appreciate what I am talking about.</a:t>
            </a:r>
          </a:p>
          <a:p>
            <a:r>
              <a:rPr lang="en-US" dirty="0"/>
              <a:t>Check and count the number of canter trucks packed and try to explain the difference? Compare the number of animals in Mbala and Kalambo districts on either side of the border?</a:t>
            </a:r>
          </a:p>
        </p:txBody>
      </p:sp>
    </p:spTree>
    <p:extLst>
      <p:ext uri="{BB962C8B-B14F-4D97-AF65-F5344CB8AC3E}">
        <p14:creationId xmlns:p14="http://schemas.microsoft.com/office/powerpoint/2010/main" val="2917765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8B76-1962-4A19-0ADF-A17851914B16}"/>
              </a:ext>
            </a:extLst>
          </p:cNvPr>
          <p:cNvSpPr>
            <a:spLocks noGrp="1"/>
          </p:cNvSpPr>
          <p:nvPr>
            <p:ph type="title"/>
          </p:nvPr>
        </p:nvSpPr>
        <p:spPr/>
        <p:txBody>
          <a:bodyPr/>
          <a:lstStyle/>
          <a:p>
            <a:r>
              <a:rPr lang="en-US" dirty="0"/>
              <a:t>Cattle rearing</a:t>
            </a:r>
          </a:p>
        </p:txBody>
      </p:sp>
      <p:sp>
        <p:nvSpPr>
          <p:cNvPr id="3" name="Content Placeholder 2">
            <a:extLst>
              <a:ext uri="{FF2B5EF4-FFF2-40B4-BE49-F238E27FC236}">
                <a16:creationId xmlns:a16="http://schemas.microsoft.com/office/drawing/2014/main" id="{8F7B9107-F123-0847-6488-AB1025B4E9A1}"/>
              </a:ext>
            </a:extLst>
          </p:cNvPr>
          <p:cNvSpPr>
            <a:spLocks noGrp="1"/>
          </p:cNvSpPr>
          <p:nvPr>
            <p:ph idx="1"/>
          </p:nvPr>
        </p:nvSpPr>
        <p:spPr/>
        <p:txBody>
          <a:bodyPr/>
          <a:lstStyle/>
          <a:p>
            <a:r>
              <a:rPr lang="en-US" dirty="0"/>
              <a:t>The choice in keeping cattle is either you keep dairy or beef animals. Each sector has specific breeds that must be kept to achieve desired goals for the enterprise.</a:t>
            </a:r>
          </a:p>
          <a:p>
            <a:r>
              <a:rPr lang="en-US" dirty="0"/>
              <a:t>What are advantages of keeping ruminants versus that of non-ruminants?</a:t>
            </a:r>
          </a:p>
          <a:p>
            <a:pPr lvl="1">
              <a:buFontTx/>
              <a:buChar char="-"/>
            </a:pPr>
            <a:r>
              <a:rPr lang="en-US" dirty="0"/>
              <a:t>Utilize fibrous feeds unlike non-ruminants that compete with humans for food</a:t>
            </a:r>
          </a:p>
          <a:p>
            <a:pPr lvl="1">
              <a:buFontTx/>
              <a:buChar char="-"/>
            </a:pPr>
            <a:r>
              <a:rPr lang="en-US" dirty="0"/>
              <a:t>They play a multi-purpose role – form of savings, storage of wealth and  social status.</a:t>
            </a:r>
          </a:p>
          <a:p>
            <a:pPr lvl="1">
              <a:buFontTx/>
              <a:buChar char="-"/>
            </a:pPr>
            <a:r>
              <a:rPr lang="en-US" dirty="0"/>
              <a:t>Rarely kept for food, but can be converted into different products</a:t>
            </a:r>
          </a:p>
          <a:p>
            <a:pPr lvl="1">
              <a:buFontTx/>
              <a:buChar char="-"/>
            </a:pPr>
            <a:r>
              <a:rPr lang="en-US" dirty="0"/>
              <a:t>Source of draft power and fertilizer grade manure for crop cultivation</a:t>
            </a:r>
          </a:p>
          <a:p>
            <a:pPr marL="0" indent="0">
              <a:buNone/>
            </a:pPr>
            <a:endParaRPr lang="en-US" dirty="0"/>
          </a:p>
        </p:txBody>
      </p:sp>
    </p:spTree>
    <p:extLst>
      <p:ext uri="{BB962C8B-B14F-4D97-AF65-F5344CB8AC3E}">
        <p14:creationId xmlns:p14="http://schemas.microsoft.com/office/powerpoint/2010/main" val="1693965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9101C-77A6-AF02-55F9-BB0B2ED560B7}"/>
              </a:ext>
            </a:extLst>
          </p:cNvPr>
          <p:cNvSpPr>
            <a:spLocks noGrp="1"/>
          </p:cNvSpPr>
          <p:nvPr>
            <p:ph type="title"/>
          </p:nvPr>
        </p:nvSpPr>
        <p:spPr/>
        <p:txBody>
          <a:bodyPr/>
          <a:lstStyle/>
          <a:p>
            <a:r>
              <a:rPr lang="en-US" dirty="0"/>
              <a:t>Cattle rearing</a:t>
            </a:r>
          </a:p>
        </p:txBody>
      </p:sp>
      <p:sp>
        <p:nvSpPr>
          <p:cNvPr id="3" name="Content Placeholder 2">
            <a:extLst>
              <a:ext uri="{FF2B5EF4-FFF2-40B4-BE49-F238E27FC236}">
                <a16:creationId xmlns:a16="http://schemas.microsoft.com/office/drawing/2014/main" id="{72545DCE-68FA-9CA4-C2E3-BDA75CDAAAEA}"/>
              </a:ext>
            </a:extLst>
          </p:cNvPr>
          <p:cNvSpPr>
            <a:spLocks noGrp="1"/>
          </p:cNvSpPr>
          <p:nvPr>
            <p:ph idx="1"/>
          </p:nvPr>
        </p:nvSpPr>
        <p:spPr/>
        <p:txBody>
          <a:bodyPr/>
          <a:lstStyle/>
          <a:p>
            <a:r>
              <a:rPr lang="en-US" dirty="0"/>
              <a:t>Disadvantages of keeping cattle</a:t>
            </a:r>
          </a:p>
          <a:p>
            <a:pPr lvl="1">
              <a:buFontTx/>
              <a:buChar char="-"/>
            </a:pPr>
            <a:r>
              <a:rPr lang="en-US" dirty="0"/>
              <a:t>Needs a lot of capital for intensification</a:t>
            </a:r>
          </a:p>
          <a:p>
            <a:pPr lvl="1">
              <a:buFontTx/>
              <a:buChar char="-"/>
            </a:pPr>
            <a:r>
              <a:rPr lang="en-US" dirty="0"/>
              <a:t>Take long to mature before marketing</a:t>
            </a:r>
          </a:p>
          <a:p>
            <a:pPr lvl="1">
              <a:buFontTx/>
              <a:buChar char="-"/>
            </a:pPr>
            <a:r>
              <a:rPr lang="en-US" dirty="0"/>
              <a:t>Issues of disease outbreaks may discourage in-coming farmers</a:t>
            </a:r>
          </a:p>
          <a:p>
            <a:pPr lvl="1">
              <a:buFontTx/>
              <a:buChar char="-"/>
            </a:pPr>
            <a:r>
              <a:rPr lang="en-US" dirty="0"/>
              <a:t>By virtue of large size are rather difficult to market or slaughter for family consumption.</a:t>
            </a:r>
          </a:p>
          <a:p>
            <a:pPr lvl="1">
              <a:buFontTx/>
              <a:buChar char="-"/>
            </a:pPr>
            <a:r>
              <a:rPr lang="en-US" dirty="0"/>
              <a:t>Less efficient in the conversion of raw materials into products</a:t>
            </a:r>
          </a:p>
          <a:p>
            <a:pPr lvl="1">
              <a:buFontTx/>
              <a:buChar char="-"/>
            </a:pPr>
            <a:r>
              <a:rPr lang="en-US" dirty="0"/>
              <a:t>But once established, they are stable and can easily withstand environmental conditions including droughts or other climate change scenarios. </a:t>
            </a:r>
          </a:p>
        </p:txBody>
      </p:sp>
    </p:spTree>
    <p:extLst>
      <p:ext uri="{BB962C8B-B14F-4D97-AF65-F5344CB8AC3E}">
        <p14:creationId xmlns:p14="http://schemas.microsoft.com/office/powerpoint/2010/main" val="3870100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34914-AAC1-DAA4-40E8-C7CD0ACE4211}"/>
              </a:ext>
            </a:extLst>
          </p:cNvPr>
          <p:cNvSpPr>
            <a:spLocks noGrp="1"/>
          </p:cNvSpPr>
          <p:nvPr>
            <p:ph type="title"/>
          </p:nvPr>
        </p:nvSpPr>
        <p:spPr/>
        <p:txBody>
          <a:bodyPr/>
          <a:lstStyle/>
          <a:p>
            <a:r>
              <a:rPr lang="en-US" dirty="0"/>
              <a:t>Which ruminants are you supposed to keep?</a:t>
            </a:r>
          </a:p>
        </p:txBody>
      </p:sp>
      <p:sp>
        <p:nvSpPr>
          <p:cNvPr id="3" name="Content Placeholder 2">
            <a:extLst>
              <a:ext uri="{FF2B5EF4-FFF2-40B4-BE49-F238E27FC236}">
                <a16:creationId xmlns:a16="http://schemas.microsoft.com/office/drawing/2014/main" id="{7E55A9C5-712A-2984-4144-850BF8A3D286}"/>
              </a:ext>
            </a:extLst>
          </p:cNvPr>
          <p:cNvSpPr>
            <a:spLocks noGrp="1"/>
          </p:cNvSpPr>
          <p:nvPr>
            <p:ph idx="1"/>
          </p:nvPr>
        </p:nvSpPr>
        <p:spPr/>
        <p:txBody>
          <a:bodyPr>
            <a:normAutofit lnSpcReduction="10000"/>
          </a:bodyPr>
          <a:lstStyle/>
          <a:p>
            <a:r>
              <a:rPr lang="en-US" dirty="0"/>
              <a:t>Not a very simple answer – system dependent, where are found in terms of climate and feed availability. </a:t>
            </a:r>
          </a:p>
          <a:p>
            <a:r>
              <a:rPr lang="en-US" dirty="0"/>
              <a:t>The choice is between cattle and small ruminats – sheep vs goats or cattle versus buffalo.</a:t>
            </a:r>
          </a:p>
          <a:p>
            <a:r>
              <a:rPr lang="en-US" dirty="0"/>
              <a:t>Within species, you must decide to rear temperate or tropical species.</a:t>
            </a:r>
          </a:p>
          <a:p>
            <a:r>
              <a:rPr lang="en-US" dirty="0"/>
              <a:t>Always to decide keeping locally adapted indigenous species or high producing temperate breeds.</a:t>
            </a:r>
          </a:p>
          <a:p>
            <a:r>
              <a:rPr lang="en-US" dirty="0"/>
              <a:t>Which are more productive? What are your capabilities? Everyone wants a high producing “high producing holstein friesian milk animals, but how many of us can manage these animals?</a:t>
            </a:r>
          </a:p>
        </p:txBody>
      </p:sp>
    </p:spTree>
    <p:extLst>
      <p:ext uri="{BB962C8B-B14F-4D97-AF65-F5344CB8AC3E}">
        <p14:creationId xmlns:p14="http://schemas.microsoft.com/office/powerpoint/2010/main" val="3505668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13A6-E9C5-673E-93EB-E6477B41B086}"/>
              </a:ext>
            </a:extLst>
          </p:cNvPr>
          <p:cNvSpPr>
            <a:spLocks noGrp="1"/>
          </p:cNvSpPr>
          <p:nvPr>
            <p:ph type="title"/>
          </p:nvPr>
        </p:nvSpPr>
        <p:spPr/>
        <p:txBody>
          <a:bodyPr/>
          <a:lstStyle/>
          <a:p>
            <a:r>
              <a:rPr lang="en-US" dirty="0"/>
              <a:t>What about small ruminants?</a:t>
            </a:r>
          </a:p>
        </p:txBody>
      </p:sp>
      <p:sp>
        <p:nvSpPr>
          <p:cNvPr id="3" name="Content Placeholder 2">
            <a:extLst>
              <a:ext uri="{FF2B5EF4-FFF2-40B4-BE49-F238E27FC236}">
                <a16:creationId xmlns:a16="http://schemas.microsoft.com/office/drawing/2014/main" id="{2C9C5367-6CAB-6049-1E20-C2965816CD84}"/>
              </a:ext>
            </a:extLst>
          </p:cNvPr>
          <p:cNvSpPr>
            <a:spLocks noGrp="1"/>
          </p:cNvSpPr>
          <p:nvPr>
            <p:ph idx="1"/>
          </p:nvPr>
        </p:nvSpPr>
        <p:spPr/>
        <p:txBody>
          <a:bodyPr/>
          <a:lstStyle/>
          <a:p>
            <a:r>
              <a:rPr lang="en-US" dirty="0"/>
              <a:t>The choice is between goats and sheep with each type being selected for Mohair or wool or meat production. For Zambia, the choice seem to be more for meat rather than fibre due to limited markets. The same holds true for marketing of hides from cattle.</a:t>
            </a:r>
          </a:p>
          <a:p>
            <a:r>
              <a:rPr lang="en-US" dirty="0"/>
              <a:t>Of all the animals slaughtered in Zambia each year, what happens to the hides generated?</a:t>
            </a:r>
          </a:p>
          <a:p>
            <a:r>
              <a:rPr lang="en-US" dirty="0"/>
              <a:t>There are still un answered questions in Zambian and South Africa as to what is more profitable? Wool and skins or the meat?</a:t>
            </a:r>
          </a:p>
          <a:p>
            <a:r>
              <a:rPr lang="en-US" dirty="0"/>
              <a:t>Check with Kalimba farms or the other crocodile farms on lake Kariba? </a:t>
            </a:r>
          </a:p>
        </p:txBody>
      </p:sp>
    </p:spTree>
    <p:extLst>
      <p:ext uri="{BB962C8B-B14F-4D97-AF65-F5344CB8AC3E}">
        <p14:creationId xmlns:p14="http://schemas.microsoft.com/office/powerpoint/2010/main" val="347182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AB037-5CA0-23D8-BDB5-B0E7269401D1}"/>
              </a:ext>
            </a:extLst>
          </p:cNvPr>
          <p:cNvSpPr>
            <a:spLocks noGrp="1"/>
          </p:cNvSpPr>
          <p:nvPr>
            <p:ph type="title"/>
          </p:nvPr>
        </p:nvSpPr>
        <p:spPr/>
        <p:txBody>
          <a:bodyPr/>
          <a:lstStyle/>
          <a:p>
            <a:r>
              <a:rPr lang="en-US" dirty="0"/>
              <a:t>What about non-ruminants?</a:t>
            </a:r>
          </a:p>
        </p:txBody>
      </p:sp>
      <p:sp>
        <p:nvSpPr>
          <p:cNvPr id="3" name="Content Placeholder 2">
            <a:extLst>
              <a:ext uri="{FF2B5EF4-FFF2-40B4-BE49-F238E27FC236}">
                <a16:creationId xmlns:a16="http://schemas.microsoft.com/office/drawing/2014/main" id="{E52E8773-AEE1-780C-066D-129A1A2B8B79}"/>
              </a:ext>
            </a:extLst>
          </p:cNvPr>
          <p:cNvSpPr>
            <a:spLocks noGrp="1"/>
          </p:cNvSpPr>
          <p:nvPr>
            <p:ph idx="1"/>
          </p:nvPr>
        </p:nvSpPr>
        <p:spPr/>
        <p:txBody>
          <a:bodyPr/>
          <a:lstStyle/>
          <a:p>
            <a:r>
              <a:rPr lang="en-US" dirty="0"/>
              <a:t>The choice is between keeping poultry or pigs. Both depend of grain cereals and legumes and tend to compete with humans on feed. However, unlike ruminants, they have a shorter growing phase and can generate profits in a shorter period of time.</a:t>
            </a:r>
          </a:p>
          <a:p>
            <a:r>
              <a:rPr lang="en-US" dirty="0"/>
              <a:t>Compare cattle versus broilers, layers or pigs? Cattle may take up to 4 years to give one marketable animal. Broilers are ready for markeying within 6 weeks, layers between 18 to 21 weeks while pigs are marketed within 6 to 8 months and one sow can produce 16 to 24 pigs for sale in a year. Thus, poultry and pigs have a high turn over rate compared to cattle and small ruminants as a business venture.</a:t>
            </a:r>
          </a:p>
        </p:txBody>
      </p:sp>
    </p:spTree>
    <p:extLst>
      <p:ext uri="{BB962C8B-B14F-4D97-AF65-F5344CB8AC3E}">
        <p14:creationId xmlns:p14="http://schemas.microsoft.com/office/powerpoint/2010/main" val="1883985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F7BA-4419-F101-2029-2802672A0E20}"/>
              </a:ext>
            </a:extLst>
          </p:cNvPr>
          <p:cNvSpPr>
            <a:spLocks noGrp="1"/>
          </p:cNvSpPr>
          <p:nvPr>
            <p:ph type="title"/>
          </p:nvPr>
        </p:nvSpPr>
        <p:spPr/>
        <p:txBody>
          <a:bodyPr/>
          <a:lstStyle/>
          <a:p>
            <a:r>
              <a:rPr lang="en-US" dirty="0"/>
              <a:t>Pig rearing as a business venture</a:t>
            </a:r>
          </a:p>
        </p:txBody>
      </p:sp>
      <p:sp>
        <p:nvSpPr>
          <p:cNvPr id="3" name="Content Placeholder 2">
            <a:extLst>
              <a:ext uri="{FF2B5EF4-FFF2-40B4-BE49-F238E27FC236}">
                <a16:creationId xmlns:a16="http://schemas.microsoft.com/office/drawing/2014/main" id="{12344A16-1F9E-CC31-117A-B5B4570C6DE6}"/>
              </a:ext>
            </a:extLst>
          </p:cNvPr>
          <p:cNvSpPr>
            <a:spLocks noGrp="1"/>
          </p:cNvSpPr>
          <p:nvPr>
            <p:ph idx="1"/>
          </p:nvPr>
        </p:nvSpPr>
        <p:spPr/>
        <p:txBody>
          <a:bodyPr/>
          <a:lstStyle/>
          <a:p>
            <a:r>
              <a:rPr lang="en-US" dirty="0"/>
              <a:t>You can choose to raise pigs from farrowing to marketing of mature pigs or could decide to raise pigs from weaning to marketing </a:t>
            </a:r>
            <a:r>
              <a:rPr lang="en-US"/>
              <a:t>or simply raise weaners for sale for others to raise up to the market. </a:t>
            </a:r>
            <a:endParaRPr lang="en-US" dirty="0"/>
          </a:p>
        </p:txBody>
      </p:sp>
    </p:spTree>
    <p:extLst>
      <p:ext uri="{BB962C8B-B14F-4D97-AF65-F5344CB8AC3E}">
        <p14:creationId xmlns:p14="http://schemas.microsoft.com/office/powerpoint/2010/main" val="78588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F5F20-CBC0-73A7-9D12-3638AE15FBA8}"/>
              </a:ext>
            </a:extLst>
          </p:cNvPr>
          <p:cNvSpPr>
            <a:spLocks noGrp="1"/>
          </p:cNvSpPr>
          <p:nvPr>
            <p:ph type="title"/>
          </p:nvPr>
        </p:nvSpPr>
        <p:spPr/>
        <p:txBody>
          <a:bodyPr/>
          <a:lstStyle/>
          <a:p>
            <a:r>
              <a:rPr lang="en-US" dirty="0"/>
              <a:t>Beef cattle breeds in Zambia – The Brahman</a:t>
            </a:r>
          </a:p>
        </p:txBody>
      </p:sp>
      <p:pic>
        <p:nvPicPr>
          <p:cNvPr id="1026" name="Picture 2" descr="Kroon Vee Brahmans - If you can dream it, you can do it">
            <a:extLst>
              <a:ext uri="{FF2B5EF4-FFF2-40B4-BE49-F238E27FC236}">
                <a16:creationId xmlns:a16="http://schemas.microsoft.com/office/drawing/2014/main" id="{50DE354E-A8DD-8FE9-CED7-F9585398F77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25747" y="1477108"/>
            <a:ext cx="7858897" cy="523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157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C815B-884B-5EE3-3EC0-6151862D1BC4}"/>
              </a:ext>
            </a:extLst>
          </p:cNvPr>
          <p:cNvSpPr>
            <a:spLocks noGrp="1"/>
          </p:cNvSpPr>
          <p:nvPr>
            <p:ph type="title"/>
          </p:nvPr>
        </p:nvSpPr>
        <p:spPr/>
        <p:txBody>
          <a:bodyPr/>
          <a:lstStyle/>
          <a:p>
            <a:r>
              <a:rPr lang="en-US" dirty="0"/>
              <a:t>Beef Cattle Breeds in Zambia</a:t>
            </a:r>
          </a:p>
        </p:txBody>
      </p:sp>
      <p:pic>
        <p:nvPicPr>
          <p:cNvPr id="2052" name="Picture 4" descr="Image result for beef breeds found in zambia">
            <a:extLst>
              <a:ext uri="{FF2B5EF4-FFF2-40B4-BE49-F238E27FC236}">
                <a16:creationId xmlns:a16="http://schemas.microsoft.com/office/drawing/2014/main" id="{F1D9B430-8426-2054-14E6-7F4AC8A65B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96751" y="1708405"/>
            <a:ext cx="4670474" cy="4333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463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599B-C621-83FE-4164-B72E7EDDCFCA}"/>
              </a:ext>
            </a:extLst>
          </p:cNvPr>
          <p:cNvSpPr>
            <a:spLocks noGrp="1"/>
          </p:cNvSpPr>
          <p:nvPr>
            <p:ph type="title"/>
          </p:nvPr>
        </p:nvSpPr>
        <p:spPr/>
        <p:txBody>
          <a:bodyPr/>
          <a:lstStyle/>
          <a:p>
            <a:endParaRPr lang="en-US"/>
          </a:p>
        </p:txBody>
      </p:sp>
      <p:pic>
        <p:nvPicPr>
          <p:cNvPr id="3076" name="Picture 4" descr="See related image detail. A4 Laminated Posters. Breeds of Cattle Sheep or Pigs | Etsy">
            <a:extLst>
              <a:ext uri="{FF2B5EF4-FFF2-40B4-BE49-F238E27FC236}">
                <a16:creationId xmlns:a16="http://schemas.microsoft.com/office/drawing/2014/main" id="{2DED8B17-C7EF-3D12-4CF6-3B4DC0BC8E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8788" y="1690688"/>
            <a:ext cx="4642338" cy="6635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879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69A5-B770-2DB9-CC78-C113B1D1A7A5}"/>
              </a:ext>
            </a:extLst>
          </p:cNvPr>
          <p:cNvSpPr>
            <a:spLocks noGrp="1"/>
          </p:cNvSpPr>
          <p:nvPr>
            <p:ph type="title"/>
          </p:nvPr>
        </p:nvSpPr>
        <p:spPr/>
        <p:txBody>
          <a:bodyPr/>
          <a:lstStyle/>
          <a:p>
            <a:r>
              <a:rPr lang="en-US" dirty="0"/>
              <a:t>Stranger than Fiction</a:t>
            </a:r>
          </a:p>
        </p:txBody>
      </p:sp>
      <p:pic>
        <p:nvPicPr>
          <p:cNvPr id="4098" name="Picture 2" descr="Vaca GIFs | Tenor">
            <a:extLst>
              <a:ext uri="{FF2B5EF4-FFF2-40B4-BE49-F238E27FC236}">
                <a16:creationId xmlns:a16="http://schemas.microsoft.com/office/drawing/2014/main" id="{677AEA97-9862-371B-6C39-260AF3FD96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8118" y="1203891"/>
            <a:ext cx="5078436" cy="6532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987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D1CA-BA50-5E2F-8952-FF084CDC3CC3}"/>
              </a:ext>
            </a:extLst>
          </p:cNvPr>
          <p:cNvSpPr>
            <a:spLocks noGrp="1"/>
          </p:cNvSpPr>
          <p:nvPr>
            <p:ph type="title"/>
          </p:nvPr>
        </p:nvSpPr>
        <p:spPr/>
        <p:txBody>
          <a:bodyPr/>
          <a:lstStyle/>
          <a:p>
            <a:r>
              <a:rPr lang="en-US" dirty="0"/>
              <a:t>Dairy Cattle Breeds</a:t>
            </a:r>
          </a:p>
        </p:txBody>
      </p:sp>
      <p:sp>
        <p:nvSpPr>
          <p:cNvPr id="3" name="Content Placeholder 2">
            <a:extLst>
              <a:ext uri="{FF2B5EF4-FFF2-40B4-BE49-F238E27FC236}">
                <a16:creationId xmlns:a16="http://schemas.microsoft.com/office/drawing/2014/main" id="{62857D52-05FC-123E-9838-7ACB8B84244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69099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990</Words>
  <Application>Microsoft Office PowerPoint</Application>
  <PresentationFormat>Widescreen</PresentationFormat>
  <Paragraphs>65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SA 330: Animal Husbandry</vt:lpstr>
      <vt:lpstr>Introduction to Animal Husbandry</vt:lpstr>
      <vt:lpstr>Introduction ….</vt:lpstr>
      <vt:lpstr>What are the products from different enterprises?</vt:lpstr>
      <vt:lpstr>Practices of rearing different domestic animals?</vt:lpstr>
      <vt:lpstr>Cattle rearing</vt:lpstr>
      <vt:lpstr>Cattle rearing</vt:lpstr>
      <vt:lpstr>Which ruminants are you supposed to keep?</vt:lpstr>
      <vt:lpstr>What about small ruminants?</vt:lpstr>
      <vt:lpstr>What about non-ruminants?</vt:lpstr>
      <vt:lpstr>Pig rearing as a business venture</vt:lpstr>
      <vt:lpstr>Beef cattle breeds in Zambia – The Brahman</vt:lpstr>
      <vt:lpstr>Beef Cattle Breeds in Zambia</vt:lpstr>
      <vt:lpstr>PowerPoint Presentation</vt:lpstr>
      <vt:lpstr>Stranger than Fiction</vt:lpstr>
      <vt:lpstr>Dairy Cattle Breeds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cp:revision>
  <dcterms:created xsi:type="dcterms:W3CDTF">2025-03-19T15:25:42Z</dcterms:created>
  <dcterms:modified xsi:type="dcterms:W3CDTF">2025-04-03T10:50:05Z</dcterms:modified>
</cp:coreProperties>
</file>