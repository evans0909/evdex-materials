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0" r:id="rId5"/>
    <p:sldId id="261" r:id="rId6"/>
    <p:sldId id="262" r:id="rId7"/>
    <p:sldId id="263" r:id="rId8"/>
    <p:sldId id="278" r:id="rId9"/>
    <p:sldId id="279" r:id="rId10"/>
    <p:sldId id="284" r:id="rId11"/>
    <p:sldId id="275" r:id="rId12"/>
    <p:sldId id="276" r:id="rId13"/>
    <p:sldId id="277" r:id="rId14"/>
    <p:sldId id="264" r:id="rId15"/>
    <p:sldId id="266" r:id="rId16"/>
    <p:sldId id="267" r:id="rId17"/>
    <p:sldId id="268" r:id="rId18"/>
    <p:sldId id="269" r:id="rId19"/>
    <p:sldId id="270" r:id="rId20"/>
    <p:sldId id="280" r:id="rId21"/>
    <p:sldId id="281" r:id="rId22"/>
    <p:sldId id="282" r:id="rId23"/>
    <p:sldId id="28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5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AD8FFF-46AF-44AD-B19A-4EA5641695C8}" type="datetimeFigureOut">
              <a:rPr lang="en-US" smtClean="0"/>
              <a:pPr/>
              <a:t>8/28/2019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512E7A-EFEF-47E5-B6B1-856B91B9FC94}"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Slide Image Placeholder 1"/>
          <p:cNvSpPr>
            <a:spLocks noGrp="1" noRot="1" noChangeAspect="1" noTextEdit="1"/>
          </p:cNvSpPr>
          <p:nvPr>
            <p:ph type="sldImg"/>
          </p:nvPr>
        </p:nvSpPr>
        <p:spPr bwMode="auto">
          <a:noFill/>
          <a:ln>
            <a:solidFill>
              <a:srgbClr val="000000"/>
            </a:solidFill>
            <a:miter lim="800000"/>
            <a:headEnd/>
            <a:tailEnd/>
          </a:ln>
        </p:spPr>
      </p:sp>
      <p:sp>
        <p:nvSpPr>
          <p:cNvPr id="186370" name="Notes Placeholder 2"/>
          <p:cNvSpPr>
            <a:spLocks noGrp="1"/>
          </p:cNvSpPr>
          <p:nvPr>
            <p:ph type="body" idx="1"/>
          </p:nvPr>
        </p:nvSpPr>
        <p:spPr bwMode="auto">
          <a:noFill/>
        </p:spPr>
        <p:txBody>
          <a:bodyPr/>
          <a:lstStyle/>
          <a:p>
            <a:endParaRPr lang="en-US" altLang="es-MX"/>
          </a:p>
        </p:txBody>
      </p:sp>
      <p:sp>
        <p:nvSpPr>
          <p:cNvPr id="186371" name="Slide Number Placeholder 3"/>
          <p:cNvSpPr>
            <a:spLocks noGrp="1"/>
          </p:cNvSpPr>
          <p:nvPr>
            <p:ph type="sldNum" sz="quarter" idx="5"/>
          </p:nvPr>
        </p:nvSpPr>
        <p:spPr bwMode="auto">
          <a:noFill/>
          <a:ln>
            <a:miter lim="800000"/>
            <a:headEnd/>
            <a:tailEnd/>
          </a:ln>
        </p:spPr>
        <p:txBody>
          <a:bodyPr/>
          <a:lstStyle/>
          <a:p>
            <a:fld id="{C3AAF8F1-2CE1-4859-BC4B-73F32240BF0B}" type="slidenum">
              <a:rPr lang="en-US" altLang="es-MX"/>
              <a:pPr/>
              <a:t>11</a:t>
            </a:fld>
            <a:endParaRPr lang="en-US" alt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Slide Image Placeholder 1"/>
          <p:cNvSpPr>
            <a:spLocks noGrp="1" noRot="1" noChangeAspect="1" noTextEdit="1"/>
          </p:cNvSpPr>
          <p:nvPr>
            <p:ph type="sldImg"/>
          </p:nvPr>
        </p:nvSpPr>
        <p:spPr bwMode="auto">
          <a:noFill/>
          <a:ln>
            <a:solidFill>
              <a:srgbClr val="000000"/>
            </a:solidFill>
            <a:miter lim="800000"/>
            <a:headEnd/>
            <a:tailEnd/>
          </a:ln>
        </p:spPr>
      </p:sp>
      <p:sp>
        <p:nvSpPr>
          <p:cNvPr id="188418" name="Notes Placeholder 2"/>
          <p:cNvSpPr>
            <a:spLocks noGrp="1"/>
          </p:cNvSpPr>
          <p:nvPr>
            <p:ph type="body" idx="1"/>
          </p:nvPr>
        </p:nvSpPr>
        <p:spPr bwMode="auto">
          <a:noFill/>
        </p:spPr>
        <p:txBody>
          <a:bodyPr/>
          <a:lstStyle/>
          <a:p>
            <a:endParaRPr lang="en-US" altLang="es-MX"/>
          </a:p>
        </p:txBody>
      </p:sp>
      <p:sp>
        <p:nvSpPr>
          <p:cNvPr id="188419" name="Slide Number Placeholder 3"/>
          <p:cNvSpPr>
            <a:spLocks noGrp="1"/>
          </p:cNvSpPr>
          <p:nvPr>
            <p:ph type="sldNum" sz="quarter" idx="5"/>
          </p:nvPr>
        </p:nvSpPr>
        <p:spPr bwMode="auto">
          <a:noFill/>
          <a:ln>
            <a:miter lim="800000"/>
            <a:headEnd/>
            <a:tailEnd/>
          </a:ln>
        </p:spPr>
        <p:txBody>
          <a:bodyPr/>
          <a:lstStyle/>
          <a:p>
            <a:fld id="{3CF10172-4D7A-44BB-868F-BF45F6BC0C5B}" type="slidenum">
              <a:rPr lang="en-US" altLang="es-MX"/>
              <a:pPr/>
              <a:t>12</a:t>
            </a:fld>
            <a:endParaRPr lang="en-US" alt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Slide Image Placeholder 1"/>
          <p:cNvSpPr>
            <a:spLocks noGrp="1" noRot="1" noChangeAspect="1" noTextEdit="1"/>
          </p:cNvSpPr>
          <p:nvPr>
            <p:ph type="sldImg"/>
          </p:nvPr>
        </p:nvSpPr>
        <p:spPr bwMode="auto">
          <a:noFill/>
          <a:ln>
            <a:solidFill>
              <a:srgbClr val="000000"/>
            </a:solidFill>
            <a:miter lim="800000"/>
            <a:headEnd/>
            <a:tailEnd/>
          </a:ln>
        </p:spPr>
      </p:sp>
      <p:sp>
        <p:nvSpPr>
          <p:cNvPr id="190466" name="Notes Placeholder 2"/>
          <p:cNvSpPr>
            <a:spLocks noGrp="1"/>
          </p:cNvSpPr>
          <p:nvPr>
            <p:ph type="body" idx="1"/>
          </p:nvPr>
        </p:nvSpPr>
        <p:spPr bwMode="auto">
          <a:noFill/>
        </p:spPr>
        <p:txBody>
          <a:bodyPr/>
          <a:lstStyle/>
          <a:p>
            <a:endParaRPr lang="en-US" altLang="es-MX"/>
          </a:p>
        </p:txBody>
      </p:sp>
      <p:sp>
        <p:nvSpPr>
          <p:cNvPr id="190467" name="Slide Number Placeholder 3"/>
          <p:cNvSpPr>
            <a:spLocks noGrp="1"/>
          </p:cNvSpPr>
          <p:nvPr>
            <p:ph type="sldNum" sz="quarter" idx="5"/>
          </p:nvPr>
        </p:nvSpPr>
        <p:spPr bwMode="auto">
          <a:noFill/>
          <a:ln>
            <a:miter lim="800000"/>
            <a:headEnd/>
            <a:tailEnd/>
          </a:ln>
        </p:spPr>
        <p:txBody>
          <a:bodyPr/>
          <a:lstStyle/>
          <a:p>
            <a:fld id="{FF513330-9C32-49A3-94FC-42B83211669A}" type="slidenum">
              <a:rPr lang="en-US" altLang="es-MX"/>
              <a:pPr/>
              <a:t>13</a:t>
            </a:fld>
            <a:endParaRPr lang="en-US" altLang="es-MX"/>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B081CA3-BE95-446A-A1D0-8D583C4C887F}" type="datetimeFigureOut">
              <a:rPr lang="en-US" smtClean="0"/>
              <a:pPr/>
              <a:t>8/28/2019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B081CA3-BE95-446A-A1D0-8D583C4C887F}" type="datetimeFigureOut">
              <a:rPr lang="en-US" smtClean="0"/>
              <a:pPr/>
              <a:t>8/28/2019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081CA3-BE95-446A-A1D0-8D583C4C887F}" type="datetimeFigureOut">
              <a:rPr lang="en-US" smtClean="0"/>
              <a:pPr/>
              <a:t>8/28/2019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B081CA3-BE95-446A-A1D0-8D583C4C887F}" type="datetimeFigureOut">
              <a:rPr lang="en-US" smtClean="0"/>
              <a:pPr/>
              <a:t>8/28/2019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B081CA3-BE95-446A-A1D0-8D583C4C887F}" type="datetimeFigureOut">
              <a:rPr lang="en-US" smtClean="0"/>
              <a:pPr/>
              <a:t>8/28/2019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B081CA3-BE95-446A-A1D0-8D583C4C887F}" type="datetimeFigureOut">
              <a:rPr lang="en-US" smtClean="0"/>
              <a:pPr/>
              <a:t>8/28/2019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081CA3-BE95-446A-A1D0-8D583C4C887F}" type="datetimeFigureOut">
              <a:rPr lang="en-US" smtClean="0"/>
              <a:pPr/>
              <a:t>8/28/2019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081CA3-BE95-446A-A1D0-8D583C4C887F}" type="datetimeFigureOut">
              <a:rPr lang="en-US" smtClean="0"/>
              <a:pPr/>
              <a:t>8/28/2019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081CA3-BE95-446A-A1D0-8D583C4C887F}" type="datetimeFigureOut">
              <a:rPr lang="en-US" smtClean="0"/>
              <a:pPr/>
              <a:t>8/28/2019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B081CA3-BE95-446A-A1D0-8D583C4C887F}" type="datetimeFigureOut">
              <a:rPr lang="en-US" smtClean="0"/>
              <a:pPr/>
              <a:t>8/28/2019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B081CA3-BE95-446A-A1D0-8D583C4C887F}" type="datetimeFigureOut">
              <a:rPr lang="en-US" smtClean="0"/>
              <a:pPr/>
              <a:t>8/28/2019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27E58E7-9241-4931-BDE4-B480089D78FA}"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081CA3-BE95-446A-A1D0-8D583C4C887F}" type="datetimeFigureOut">
              <a:rPr lang="en-US" smtClean="0"/>
              <a:pPr/>
              <a:t>8/28/2019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7E58E7-9241-4931-BDE4-B480089D78FA}"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hyperlink" Target="Experiencias%20de%20exito/humicfulvicacids.pdf"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133600"/>
            <a:ext cx="8229600" cy="1371600"/>
          </a:xfrm>
        </p:spPr>
        <p:txBody>
          <a:bodyPr>
            <a:normAutofit fontScale="90000"/>
          </a:bodyPr>
          <a:lstStyle/>
          <a:p>
            <a:pPr algn="ctr"/>
            <a:r>
              <a:rPr lang="en-GB" sz="2400" b="1" dirty="0">
                <a:latin typeface="Times New Roman" pitchFamily="18" charset="0"/>
                <a:cs typeface="Times New Roman" pitchFamily="18" charset="0"/>
              </a:rPr>
              <a:t>THE COPPERBELT UNIVERSITY</a:t>
            </a:r>
            <a:br>
              <a:rPr lang="en-GB" sz="2400" b="1" dirty="0">
                <a:latin typeface="Times New Roman" pitchFamily="18" charset="0"/>
                <a:cs typeface="Times New Roman" pitchFamily="18" charset="0"/>
              </a:rPr>
            </a:br>
            <a:r>
              <a:rPr lang="en-GB" sz="2400" dirty="0">
                <a:latin typeface="Times New Roman" pitchFamily="18" charset="0"/>
                <a:cs typeface="Times New Roman" pitchFamily="18" charset="0"/>
              </a:rPr>
              <a:t>KAPASA MAKASSA CAMPUS</a:t>
            </a:r>
            <a:br>
              <a:rPr lang="en-GB" sz="2400" b="1" dirty="0">
                <a:latin typeface="Times New Roman" pitchFamily="18" charset="0"/>
                <a:cs typeface="Times New Roman" pitchFamily="18" charset="0"/>
              </a:rPr>
            </a:br>
            <a:r>
              <a:rPr lang="en-GB" sz="2400" b="1" dirty="0">
                <a:latin typeface="Times New Roman" pitchFamily="18" charset="0"/>
                <a:cs typeface="Times New Roman" pitchFamily="18" charset="0"/>
              </a:rPr>
              <a:t>SCHOOL OF NATURAL REOSURCES</a:t>
            </a:r>
            <a:br>
              <a:rPr lang="en-GB" sz="2400" b="1" i="1" dirty="0">
                <a:latin typeface="Times New Roman" pitchFamily="18" charset="0"/>
                <a:cs typeface="Times New Roman" pitchFamily="18" charset="0"/>
              </a:rPr>
            </a:br>
            <a:r>
              <a:rPr lang="en-GB" sz="2400" b="1" i="1" dirty="0">
                <a:latin typeface="Times New Roman" pitchFamily="18" charset="0"/>
                <a:cs typeface="Times New Roman" pitchFamily="18" charset="0"/>
              </a:rPr>
              <a:t>DEPARTMENT OF</a:t>
            </a:r>
            <a:br>
              <a:rPr lang="en-GB" sz="2400" b="1" i="1" dirty="0">
                <a:latin typeface="Times New Roman" pitchFamily="18" charset="0"/>
                <a:cs typeface="Times New Roman" pitchFamily="18" charset="0"/>
              </a:rPr>
            </a:br>
            <a:r>
              <a:rPr lang="en-GB" sz="2400" b="1" i="1" dirty="0">
                <a:latin typeface="Times New Roman" pitchFamily="18" charset="0"/>
                <a:cs typeface="Times New Roman" pitchFamily="18" charset="0"/>
              </a:rPr>
              <a:t>PLANT &amp; ENVIRONMENTAL SCIENCES</a:t>
            </a:r>
          </a:p>
        </p:txBody>
      </p:sp>
      <p:sp>
        <p:nvSpPr>
          <p:cNvPr id="3" name="Subtitle 2"/>
          <p:cNvSpPr>
            <a:spLocks noGrp="1"/>
          </p:cNvSpPr>
          <p:nvPr>
            <p:ph type="subTitle" idx="1"/>
          </p:nvPr>
        </p:nvSpPr>
        <p:spPr>
          <a:xfrm>
            <a:off x="1600200" y="3657600"/>
            <a:ext cx="5943600" cy="457200"/>
          </a:xfrm>
        </p:spPr>
        <p:txBody>
          <a:bodyPr>
            <a:noAutofit/>
          </a:bodyPr>
          <a:lstStyle/>
          <a:p>
            <a:pPr algn="ctr"/>
            <a:r>
              <a:rPr lang="en-GB" sz="2000" b="1" dirty="0">
                <a:solidFill>
                  <a:schemeClr val="tx1"/>
                </a:solidFill>
                <a:latin typeface="Times New Roman" pitchFamily="18" charset="0"/>
                <a:cs typeface="Times New Roman" pitchFamily="18" charset="0"/>
              </a:rPr>
              <a:t>SOIL SCIENCE</a:t>
            </a:r>
          </a:p>
          <a:p>
            <a:pPr algn="ctr"/>
            <a:r>
              <a:rPr lang="en-GB" sz="2000" b="1" dirty="0">
                <a:solidFill>
                  <a:schemeClr val="tx1"/>
                </a:solidFill>
                <a:latin typeface="Times New Roman" pitchFamily="18" charset="0"/>
                <a:cs typeface="Times New Roman" pitchFamily="18" charset="0"/>
              </a:rPr>
              <a:t>FO 240</a:t>
            </a:r>
          </a:p>
        </p:txBody>
      </p:sp>
      <p:pic>
        <p:nvPicPr>
          <p:cNvPr id="1026" name="Picture 2"/>
          <p:cNvPicPr>
            <a:picLocks noChangeAspect="1" noChangeArrowheads="1"/>
          </p:cNvPicPr>
          <p:nvPr/>
        </p:nvPicPr>
        <p:blipFill>
          <a:blip r:embed="rId2"/>
          <a:srcRect/>
          <a:stretch>
            <a:fillRect/>
          </a:stretch>
        </p:blipFill>
        <p:spPr bwMode="auto">
          <a:xfrm>
            <a:off x="3962400" y="304800"/>
            <a:ext cx="1219200" cy="1219200"/>
          </a:xfrm>
          <a:prstGeom prst="rect">
            <a:avLst/>
          </a:prstGeom>
          <a:noFill/>
          <a:ln w="9525">
            <a:noFill/>
            <a:miter lim="800000"/>
            <a:headEnd/>
            <a:tailEnd/>
          </a:ln>
          <a:effectLst/>
        </p:spPr>
      </p:pic>
      <p:sp>
        <p:nvSpPr>
          <p:cNvPr id="7" name="Subtitle 2"/>
          <p:cNvSpPr txBox="1">
            <a:spLocks/>
          </p:cNvSpPr>
          <p:nvPr/>
        </p:nvSpPr>
        <p:spPr>
          <a:xfrm>
            <a:off x="0" y="4572000"/>
            <a:ext cx="3124200" cy="457200"/>
          </a:xfrm>
          <a:prstGeom prst="rect">
            <a:avLst/>
          </a:prstGeom>
        </p:spPr>
        <p:txBody>
          <a:bodyPr vert="horz" lIns="45720" rIns="45720">
            <a:noAutofit/>
          </a:bodyPr>
          <a:lstStyle/>
          <a:p>
            <a:pPr marL="0" marR="64008" lvl="0" indent="0"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GB" sz="140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Mr Chindi Kapemwba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b="1" dirty="0">
                <a:latin typeface="Times New Roman" pitchFamily="18" charset="0"/>
                <a:cs typeface="Times New Roman" pitchFamily="18" charset="0"/>
              </a:rPr>
              <a:t>SOIL ORGANIC MATTER (SOM)</a:t>
            </a:r>
          </a:p>
        </p:txBody>
      </p:sp>
      <p:sp>
        <p:nvSpPr>
          <p:cNvPr id="3" name="Content Placeholder 2"/>
          <p:cNvSpPr>
            <a:spLocks noGrp="1"/>
          </p:cNvSpPr>
          <p:nvPr>
            <p:ph idx="1"/>
          </p:nvPr>
        </p:nvSpPr>
        <p:spPr>
          <a:xfrm>
            <a:off x="457200" y="1143000"/>
            <a:ext cx="8229600" cy="4983163"/>
          </a:xfrm>
        </p:spPr>
        <p:txBody>
          <a:bodyPr>
            <a:normAutofit fontScale="92500"/>
          </a:bodyPr>
          <a:lstStyle/>
          <a:p>
            <a:pPr algn="just"/>
            <a:r>
              <a:rPr lang="en-GB" sz="2400" dirty="0">
                <a:latin typeface="Times New Roman" pitchFamily="18" charset="0"/>
                <a:cs typeface="Times New Roman" pitchFamily="18" charset="0"/>
              </a:rPr>
              <a:t>Soil organic matter (SOM) includes plant and animal residues at various stages of decomposition, ranging from fresh undecomposed materials through partially decomposed and short-lived products of decomposition to well-decomposed humus.</a:t>
            </a: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With decomposition, the proportion of resistant compounds such as lignin gradually increases.</a:t>
            </a: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Resistant decomposition products and newly synthesized substances accumulate in soil and form complexes with its mineral components.</a:t>
            </a:r>
          </a:p>
          <a:p>
            <a:pPr algn="just"/>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Humus is formed in the latter stage as a result of such continued decomposition, resynthesis, and complexation.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3276600" cy="609600"/>
          </a:xfrm>
        </p:spPr>
        <p:txBody>
          <a:bodyPr>
            <a:normAutofit/>
          </a:bodyPr>
          <a:lstStyle/>
          <a:p>
            <a:r>
              <a:rPr lang="en-GB" sz="2800" b="1" dirty="0">
                <a:latin typeface="Times New Roman" pitchFamily="18" charset="0"/>
                <a:cs typeface="Times New Roman" pitchFamily="18" charset="0"/>
              </a:rPr>
              <a:t>SOM cont…</a:t>
            </a:r>
          </a:p>
        </p:txBody>
      </p:sp>
      <p:sp>
        <p:nvSpPr>
          <p:cNvPr id="3" name="Content Placeholder 2"/>
          <p:cNvSpPr>
            <a:spLocks noGrp="1"/>
          </p:cNvSpPr>
          <p:nvPr>
            <p:ph idx="1"/>
          </p:nvPr>
        </p:nvSpPr>
        <p:spPr>
          <a:xfrm>
            <a:off x="457200" y="914400"/>
            <a:ext cx="8229600" cy="5211763"/>
          </a:xfrm>
        </p:spPr>
        <p:txBody>
          <a:bodyPr>
            <a:normAutofit/>
          </a:bodyPr>
          <a:lstStyle/>
          <a:p>
            <a:r>
              <a:rPr lang="en-GB" sz="2400" dirty="0">
                <a:latin typeface="Times New Roman" pitchFamily="18" charset="0"/>
                <a:cs typeface="Times New Roman" pitchFamily="18" charset="0"/>
              </a:rPr>
              <a:t>Most mineral soils found in the Tropics contain &lt; 5%  of Soil organic matter by weight.</a:t>
            </a:r>
          </a:p>
          <a:p>
            <a:pPr>
              <a:buNone/>
            </a:pPr>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Soil organic matter (SOM) is highly variable because different organic compounds are found in different plant and animal residues and different organic compounds predominate at different stages of decomposition.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ítulo 1"/>
          <p:cNvSpPr>
            <a:spLocks noGrp="1"/>
          </p:cNvSpPr>
          <p:nvPr>
            <p:ph type="title"/>
          </p:nvPr>
        </p:nvSpPr>
        <p:spPr bwMode="auto">
          <a:xfrm>
            <a:off x="0" y="274638"/>
            <a:ext cx="8382000" cy="715962"/>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sz="5400" dirty="0">
                <a:solidFill>
                  <a:srgbClr val="008000"/>
                </a:solidFill>
                <a:latin typeface="Times New Roman" pitchFamily="18" charset="0"/>
                <a:cs typeface="Times New Roman" pitchFamily="18" charset="0"/>
              </a:rPr>
              <a:t>Organic material</a:t>
            </a:r>
            <a:endParaRPr lang="es-ES" altLang="es-MX" sz="5400" dirty="0">
              <a:latin typeface="Times New Roman" pitchFamily="18" charset="0"/>
              <a:cs typeface="Times New Roman" pitchFamily="18" charset="0"/>
            </a:endParaRPr>
          </a:p>
        </p:txBody>
      </p:sp>
      <p:sp>
        <p:nvSpPr>
          <p:cNvPr id="165890" name="4 Rectángulo"/>
          <p:cNvSpPr>
            <a:spLocks noChangeArrowheads="1"/>
          </p:cNvSpPr>
          <p:nvPr/>
        </p:nvSpPr>
        <p:spPr bwMode="auto">
          <a:xfrm>
            <a:off x="533400" y="2057400"/>
            <a:ext cx="7377112" cy="3293209"/>
          </a:xfrm>
          <a:prstGeom prst="rect">
            <a:avLst/>
          </a:prstGeom>
          <a:noFill/>
          <a:ln w="9525">
            <a:noFill/>
            <a:miter lim="800000"/>
            <a:headEnd/>
            <a:tailEnd/>
          </a:ln>
        </p:spPr>
        <p:txBody>
          <a:bodyPr>
            <a:spAutoFit/>
          </a:bodyPr>
          <a:lstStyle/>
          <a:p>
            <a:pPr algn="just" eaLnBrk="1" hangingPunct="1">
              <a:lnSpc>
                <a:spcPct val="130000"/>
              </a:lnSpc>
            </a:pPr>
            <a:r>
              <a:rPr lang="es-ES" altLang="es-MX" sz="3200" dirty="0">
                <a:latin typeface="Times New Roman" pitchFamily="18" charset="0"/>
                <a:cs typeface="Times New Roman" pitchFamily="18" charset="0"/>
              </a:rPr>
              <a:t>Organic compounds </a:t>
            </a:r>
            <a:r>
              <a:rPr lang="es-ES" altLang="es-MX" sz="3200" dirty="0" err="1">
                <a:latin typeface="Times New Roman" pitchFamily="18" charset="0"/>
                <a:cs typeface="Times New Roman" pitchFamily="18" charset="0"/>
              </a:rPr>
              <a:t>have</a:t>
            </a:r>
            <a:r>
              <a:rPr lang="es-ES" altLang="es-MX" sz="3200" dirty="0">
                <a:latin typeface="Times New Roman" pitchFamily="18" charset="0"/>
                <a:cs typeface="Times New Roman" pitchFamily="18" charset="0"/>
              </a:rPr>
              <a:t> carbon as their </a:t>
            </a:r>
            <a:r>
              <a:rPr lang="es-ES" altLang="es-MX" sz="3200" dirty="0" err="1">
                <a:latin typeface="Times New Roman" pitchFamily="18" charset="0"/>
                <a:cs typeface="Times New Roman" pitchFamily="18" charset="0"/>
              </a:rPr>
              <a:t>basic</a:t>
            </a:r>
            <a:r>
              <a:rPr lang="es-ES" altLang="es-MX" sz="3200" dirty="0">
                <a:latin typeface="Times New Roman" pitchFamily="18" charset="0"/>
                <a:cs typeface="Times New Roman" pitchFamily="18" charset="0"/>
              </a:rPr>
              <a:t> </a:t>
            </a:r>
            <a:r>
              <a:rPr lang="es-ES" altLang="es-MX" sz="3200" dirty="0" err="1">
                <a:latin typeface="Times New Roman" pitchFamily="18" charset="0"/>
                <a:cs typeface="Times New Roman" pitchFamily="18" charset="0"/>
              </a:rPr>
              <a:t>element</a:t>
            </a:r>
            <a:r>
              <a:rPr lang="es-ES" altLang="es-MX" sz="3200" dirty="0">
                <a:latin typeface="Times New Roman" pitchFamily="18" charset="0"/>
                <a:cs typeface="Times New Roman" pitchFamily="18" charset="0"/>
              </a:rPr>
              <a:t>. </a:t>
            </a:r>
            <a:r>
              <a:rPr lang="es-ES" altLang="es-MX" sz="3200" dirty="0" err="1">
                <a:latin typeface="Times New Roman" pitchFamily="18" charset="0"/>
                <a:cs typeface="Times New Roman" pitchFamily="18" charset="0"/>
              </a:rPr>
              <a:t>Organic</a:t>
            </a:r>
            <a:r>
              <a:rPr lang="es-ES" altLang="es-MX" sz="3200" dirty="0">
                <a:latin typeface="Times New Roman" pitchFamily="18" charset="0"/>
                <a:cs typeface="Times New Roman" pitchFamily="18" charset="0"/>
              </a:rPr>
              <a:t> compounds come </a:t>
            </a:r>
            <a:r>
              <a:rPr lang="es-ES" altLang="es-MX" sz="3200" dirty="0" err="1">
                <a:latin typeface="Times New Roman" pitchFamily="18" charset="0"/>
                <a:cs typeface="Times New Roman" pitchFamily="18" charset="0"/>
              </a:rPr>
              <a:t>from</a:t>
            </a:r>
            <a:r>
              <a:rPr lang="es-ES" altLang="es-MX" sz="3200" dirty="0">
                <a:latin typeface="Times New Roman" pitchFamily="18" charset="0"/>
                <a:cs typeface="Times New Roman" pitchFamily="18" charset="0"/>
              </a:rPr>
              <a:t> plant material, dead animals and their transformation products found in and on the ground.</a:t>
            </a:r>
            <a:endParaRPr lang="es-MX" altLang="es-MX" sz="3200" dirty="0">
              <a:latin typeface="Times New Roman" pitchFamily="18" charset="0"/>
              <a:cs typeface="Times New Roman" pitchFamily="18" charset="0"/>
            </a:endParaRPr>
          </a:p>
        </p:txBody>
      </p:sp>
      <p:pic>
        <p:nvPicPr>
          <p:cNvPr id="165891" name="Imagen 7" descr="3612481243_bde57f5ff4_o.jpg"/>
          <p:cNvPicPr>
            <a:picLocks noChangeAspect="1"/>
          </p:cNvPicPr>
          <p:nvPr/>
        </p:nvPicPr>
        <p:blipFill>
          <a:blip r:embed="rId2"/>
          <a:srcRect/>
          <a:stretch>
            <a:fillRect/>
          </a:stretch>
        </p:blipFill>
        <p:spPr bwMode="auto">
          <a:xfrm>
            <a:off x="8377238" y="3509963"/>
            <a:ext cx="784225" cy="2378075"/>
          </a:xfrm>
          <a:prstGeom prst="rect">
            <a:avLst/>
          </a:prstGeom>
          <a:noFill/>
          <a:ln w="9525">
            <a:noFill/>
            <a:miter lim="800000"/>
            <a:headEnd/>
            <a:tailEnd/>
          </a:ln>
        </p:spPr>
      </p:pic>
      <p:pic>
        <p:nvPicPr>
          <p:cNvPr id="165892" name="Imagen 1" descr="shutterstock_107764169.jpg"/>
          <p:cNvPicPr>
            <a:picLocks noChangeAspect="1"/>
          </p:cNvPicPr>
          <p:nvPr/>
        </p:nvPicPr>
        <p:blipFill>
          <a:blip r:embed="rId3"/>
          <a:srcRect/>
          <a:stretch>
            <a:fillRect/>
          </a:stretch>
        </p:blipFill>
        <p:spPr bwMode="auto">
          <a:xfrm>
            <a:off x="8370888" y="17463"/>
            <a:ext cx="773112" cy="2522537"/>
          </a:xfrm>
          <a:prstGeom prst="rect">
            <a:avLst/>
          </a:prstGeom>
          <a:noFill/>
          <a:ln w="9525">
            <a:noFill/>
            <a:miter lim="800000"/>
            <a:headEnd/>
            <a:tailEnd/>
          </a:ln>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4 Rectángulo"/>
          <p:cNvSpPr>
            <a:spLocks noChangeArrowheads="1"/>
          </p:cNvSpPr>
          <p:nvPr/>
        </p:nvSpPr>
        <p:spPr bwMode="auto">
          <a:xfrm>
            <a:off x="541338" y="1035050"/>
            <a:ext cx="7620000" cy="3760788"/>
          </a:xfrm>
          <a:prstGeom prst="rect">
            <a:avLst/>
          </a:prstGeom>
          <a:noFill/>
          <a:ln>
            <a:noFill/>
          </a:ln>
        </p:spPr>
        <p:txBody>
          <a:bodyPr>
            <a:spAutoFit/>
          </a:bodyPr>
          <a:lstStyle/>
          <a:p>
            <a:pPr algn="just" eaLnBrk="1" hangingPunct="1">
              <a:lnSpc>
                <a:spcPct val="120000"/>
              </a:lnSpc>
            </a:pPr>
            <a:r>
              <a:rPr lang="es-ES" sz="2000" dirty="0">
                <a:latin typeface="Times New Roman" pitchFamily="18" charset="0"/>
                <a:cs typeface="Times New Roman" pitchFamily="18" charset="0"/>
              </a:rPr>
              <a:t>Decomposition of organic matter:</a:t>
            </a:r>
          </a:p>
          <a:p>
            <a:pPr algn="just" eaLnBrk="1" hangingPunct="1">
              <a:lnSpc>
                <a:spcPct val="120000"/>
              </a:lnSpc>
              <a:buFont typeface="Calibri" pitchFamily="34" charset="0"/>
              <a:buAutoNum type="arabicPeriod"/>
            </a:pPr>
            <a:endParaRPr lang="es-MX" sz="2000" dirty="0">
              <a:latin typeface="Times New Roman" pitchFamily="18" charset="0"/>
              <a:cs typeface="Times New Roman" pitchFamily="18" charset="0"/>
            </a:endParaRPr>
          </a:p>
          <a:p>
            <a:pPr algn="just" eaLnBrk="1" hangingPunct="1">
              <a:lnSpc>
                <a:spcPct val="120000"/>
              </a:lnSpc>
              <a:buFont typeface="Calibri" pitchFamily="34" charset="0"/>
              <a:buAutoNum type="arabicPeriod"/>
            </a:pPr>
            <a:r>
              <a:rPr lang="es-MX" sz="2000" dirty="0">
                <a:solidFill>
                  <a:srgbClr val="008000"/>
                </a:solidFill>
                <a:latin typeface="Times New Roman" pitchFamily="18" charset="0"/>
                <a:cs typeface="Times New Roman" pitchFamily="18" charset="0"/>
              </a:rPr>
              <a:t>Mineralization: </a:t>
            </a:r>
            <a:r>
              <a:rPr lang="es-MX" sz="2000" dirty="0">
                <a:latin typeface="Times New Roman" pitchFamily="18" charset="0"/>
                <a:cs typeface="Times New Roman" pitchFamily="18" charset="0"/>
              </a:rPr>
              <a:t>Transformation of organic matter by the action of soil micro-organisms into soluble or gaseous inorganic compounds. The mineralized carbon is converted to CO</a:t>
            </a:r>
            <a:r>
              <a:rPr lang="es-MX" sz="2000" baseline="30000" dirty="0">
                <a:latin typeface="Times New Roman" pitchFamily="18" charset="0"/>
                <a:cs typeface="Times New Roman" pitchFamily="18" charset="0"/>
              </a:rPr>
              <a:t>2</a:t>
            </a:r>
            <a:r>
              <a:rPr lang="es-MX" sz="2000" dirty="0">
                <a:latin typeface="Times New Roman" pitchFamily="18" charset="0"/>
                <a:cs typeface="Times New Roman" pitchFamily="18" charset="0"/>
              </a:rPr>
              <a:t>.</a:t>
            </a:r>
          </a:p>
          <a:p>
            <a:pPr algn="just" eaLnBrk="1" hangingPunct="1">
              <a:lnSpc>
                <a:spcPct val="120000"/>
              </a:lnSpc>
              <a:buFont typeface="Calibri" pitchFamily="34" charset="0"/>
              <a:buAutoNum type="arabicPeriod"/>
            </a:pPr>
            <a:endParaRPr lang="es-MX" altLang="es-MX" sz="2000" dirty="0">
              <a:solidFill>
                <a:srgbClr val="008000"/>
              </a:solidFill>
              <a:latin typeface="Times New Roman" pitchFamily="18" charset="0"/>
              <a:cs typeface="Times New Roman" pitchFamily="18" charset="0"/>
            </a:endParaRPr>
          </a:p>
          <a:p>
            <a:pPr algn="just" eaLnBrk="1" hangingPunct="1">
              <a:lnSpc>
                <a:spcPct val="120000"/>
              </a:lnSpc>
              <a:buFont typeface="Calibri" pitchFamily="34" charset="0"/>
              <a:buAutoNum type="arabicPeriod"/>
            </a:pPr>
            <a:r>
              <a:rPr lang="es-MX" altLang="es-MX" sz="2000" dirty="0">
                <a:solidFill>
                  <a:srgbClr val="008000"/>
                </a:solidFill>
                <a:latin typeface="Times New Roman" pitchFamily="18" charset="0"/>
                <a:cs typeface="Times New Roman" pitchFamily="18" charset="0"/>
              </a:rPr>
              <a:t>Humification: </a:t>
            </a:r>
            <a:r>
              <a:rPr lang="es-MX" altLang="es-MX" sz="2000" dirty="0">
                <a:latin typeface="Times New Roman" pitchFamily="18" charset="0"/>
                <a:cs typeface="Times New Roman" pitchFamily="18" charset="0"/>
              </a:rPr>
              <a:t>Parts of the compounds originate in decomposition that are non-mineralized. Those parts start the formation of new complex molecules of colloidal nature and dark in colour, with a  high content of carbon in their structure that is humus.</a:t>
            </a:r>
            <a:endParaRPr lang="es-MX" altLang="es-MX" sz="2400" dirty="0">
              <a:latin typeface="Times New Roman" pitchFamily="18" charset="0"/>
              <a:cs typeface="Times New Roman" pitchFamily="18" charset="0"/>
            </a:endParaRPr>
          </a:p>
        </p:txBody>
      </p:sp>
      <p:sp>
        <p:nvSpPr>
          <p:cNvPr id="166914" name="Título 1"/>
          <p:cNvSpPr>
            <a:spLocks noGrp="1"/>
          </p:cNvSpPr>
          <p:nvPr>
            <p:ph type="title"/>
          </p:nvPr>
        </p:nvSpPr>
        <p:spPr bwMode="auto">
          <a:xfrm>
            <a:off x="0" y="15875"/>
            <a:ext cx="8382000" cy="69215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dirty="0">
                <a:solidFill>
                  <a:srgbClr val="008000"/>
                </a:solidFill>
                <a:latin typeface="Times New Roman" pitchFamily="18" charset="0"/>
                <a:cs typeface="Times New Roman" pitchFamily="18" charset="0"/>
              </a:rPr>
              <a:t>Organic material</a:t>
            </a:r>
            <a:endParaRPr lang="es-ES" altLang="es-MX" dirty="0">
              <a:latin typeface="Times New Roman" pitchFamily="18" charset="0"/>
              <a:cs typeface="Times New Roman" pitchFamily="18" charset="0"/>
            </a:endParaRPr>
          </a:p>
        </p:txBody>
      </p:sp>
      <p:pic>
        <p:nvPicPr>
          <p:cNvPr id="166915" name="Imagen 5" descr="shutterstock_3376597.jpg"/>
          <p:cNvPicPr>
            <a:picLocks noChangeAspect="1"/>
          </p:cNvPicPr>
          <p:nvPr/>
        </p:nvPicPr>
        <p:blipFill>
          <a:blip r:embed="rId2"/>
          <a:srcRect/>
          <a:stretch>
            <a:fillRect/>
          </a:stretch>
        </p:blipFill>
        <p:spPr bwMode="auto">
          <a:xfrm>
            <a:off x="8299450" y="228600"/>
            <a:ext cx="844550" cy="2573338"/>
          </a:xfrm>
          <a:prstGeom prst="rect">
            <a:avLst/>
          </a:prstGeom>
          <a:noFill/>
          <a:ln w="9525">
            <a:noFill/>
            <a:miter lim="800000"/>
            <a:headEnd/>
            <a:tailEnd/>
          </a:ln>
        </p:spPr>
      </p:pic>
      <p:pic>
        <p:nvPicPr>
          <p:cNvPr id="166916" name="Imagen 6" descr="Captura de pantalla 2014-02-19 a la(s) 11.36.12.png"/>
          <p:cNvPicPr>
            <a:picLocks noChangeAspect="1"/>
          </p:cNvPicPr>
          <p:nvPr/>
        </p:nvPicPr>
        <p:blipFill>
          <a:blip r:embed="rId3"/>
          <a:srcRect/>
          <a:stretch>
            <a:fillRect/>
          </a:stretch>
        </p:blipFill>
        <p:spPr bwMode="auto">
          <a:xfrm>
            <a:off x="8291513" y="3733800"/>
            <a:ext cx="852487" cy="2400300"/>
          </a:xfrm>
          <a:prstGeom prst="rect">
            <a:avLst/>
          </a:prstGeom>
          <a:noFill/>
          <a:ln w="9525">
            <a:noFill/>
            <a:miter lim="800000"/>
            <a:headEnd/>
            <a:tailEnd/>
          </a:ln>
        </p:spPr>
      </p:pic>
      <p:pic>
        <p:nvPicPr>
          <p:cNvPr id="166917" name="Picture 3" descr="SFM Fig 3-2 C"/>
          <p:cNvPicPr>
            <a:picLocks noChangeAspect="1" noChangeArrowheads="1"/>
          </p:cNvPicPr>
          <p:nvPr/>
        </p:nvPicPr>
        <p:blipFill>
          <a:blip r:embed="rId4"/>
          <a:srcRect/>
          <a:stretch>
            <a:fillRect/>
          </a:stretch>
        </p:blipFill>
        <p:spPr bwMode="auto">
          <a:xfrm>
            <a:off x="1574800" y="4797425"/>
            <a:ext cx="5553075" cy="1974850"/>
          </a:xfrm>
          <a:prstGeom prst="rect">
            <a:avLst/>
          </a:prstGeom>
          <a:noFill/>
          <a:ln w="9525">
            <a:noFill/>
            <a:miter lim="800000"/>
            <a:headEnd/>
            <a:tailEnd/>
          </a:ln>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ítulo 1"/>
          <p:cNvSpPr>
            <a:spLocks noGrp="1"/>
          </p:cNvSpPr>
          <p:nvPr>
            <p:ph type="title"/>
          </p:nvPr>
        </p:nvSpPr>
        <p:spPr bwMode="auto">
          <a:xfrm>
            <a:off x="1863725" y="0"/>
            <a:ext cx="4260850" cy="585788"/>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sz="3600" dirty="0">
                <a:solidFill>
                  <a:srgbClr val="008000"/>
                </a:solidFill>
                <a:latin typeface="Times New Roman" pitchFamily="18" charset="0"/>
                <a:cs typeface="Times New Roman" pitchFamily="18" charset="0"/>
              </a:rPr>
              <a:t>Organic material</a:t>
            </a:r>
            <a:endParaRPr lang="es-ES" altLang="es-MX" sz="3600" dirty="0">
              <a:latin typeface="Times New Roman" pitchFamily="18" charset="0"/>
              <a:cs typeface="Times New Roman" pitchFamily="18" charset="0"/>
            </a:endParaRPr>
          </a:p>
        </p:txBody>
      </p:sp>
      <p:pic>
        <p:nvPicPr>
          <p:cNvPr id="167938" name="Imagen 8" descr="Captura de pantalla 2014-02-19 a la(s) 17.20.45.png"/>
          <p:cNvPicPr>
            <a:picLocks noChangeAspect="1"/>
          </p:cNvPicPr>
          <p:nvPr/>
        </p:nvPicPr>
        <p:blipFill>
          <a:blip r:embed="rId2"/>
          <a:srcRect/>
          <a:stretch>
            <a:fillRect/>
          </a:stretch>
        </p:blipFill>
        <p:spPr bwMode="auto">
          <a:xfrm>
            <a:off x="8367713" y="3459163"/>
            <a:ext cx="825500" cy="2422525"/>
          </a:xfrm>
          <a:prstGeom prst="rect">
            <a:avLst/>
          </a:prstGeom>
          <a:noFill/>
          <a:ln w="9525">
            <a:noFill/>
            <a:miter lim="800000"/>
            <a:headEnd/>
            <a:tailEnd/>
          </a:ln>
        </p:spPr>
      </p:pic>
      <p:pic>
        <p:nvPicPr>
          <p:cNvPr id="167939" name="Imagen 9" descr="Captura de pantalla 2014-02-19 a la(s) 11.36.02.png"/>
          <p:cNvPicPr>
            <a:picLocks noChangeAspect="1"/>
          </p:cNvPicPr>
          <p:nvPr/>
        </p:nvPicPr>
        <p:blipFill>
          <a:blip r:embed="rId3"/>
          <a:srcRect/>
          <a:stretch>
            <a:fillRect/>
          </a:stretch>
        </p:blipFill>
        <p:spPr bwMode="auto">
          <a:xfrm>
            <a:off x="8382000" y="-17463"/>
            <a:ext cx="858838" cy="2490788"/>
          </a:xfrm>
          <a:prstGeom prst="rect">
            <a:avLst/>
          </a:prstGeom>
          <a:noFill/>
          <a:ln w="9525">
            <a:noFill/>
            <a:miter lim="800000"/>
            <a:headEnd/>
            <a:tailEnd/>
          </a:ln>
        </p:spPr>
      </p:pic>
      <p:pic>
        <p:nvPicPr>
          <p:cNvPr id="167940" name="Imagen 1" descr="Captura de pantalla 2014-04-01 a la(s) 09.26.15.png"/>
          <p:cNvPicPr>
            <a:picLocks noChangeAspect="1"/>
          </p:cNvPicPr>
          <p:nvPr/>
        </p:nvPicPr>
        <p:blipFill>
          <a:blip r:embed="rId4"/>
          <a:srcRect/>
          <a:stretch>
            <a:fillRect/>
          </a:stretch>
        </p:blipFill>
        <p:spPr bwMode="auto">
          <a:xfrm>
            <a:off x="1328738" y="720725"/>
            <a:ext cx="5357812" cy="3960813"/>
          </a:xfrm>
          <a:prstGeom prst="rect">
            <a:avLst/>
          </a:prstGeom>
          <a:noFill/>
          <a:ln w="9525">
            <a:noFill/>
            <a:miter lim="800000"/>
            <a:headEnd/>
            <a:tailEnd/>
          </a:ln>
        </p:spPr>
      </p:pic>
      <p:sp>
        <p:nvSpPr>
          <p:cNvPr id="167941" name="4 Rectángulo"/>
          <p:cNvSpPr>
            <a:spLocks noChangeArrowheads="1"/>
          </p:cNvSpPr>
          <p:nvPr/>
        </p:nvSpPr>
        <p:spPr bwMode="auto">
          <a:xfrm>
            <a:off x="541338" y="4692650"/>
            <a:ext cx="7512050" cy="1537409"/>
          </a:xfrm>
          <a:prstGeom prst="rect">
            <a:avLst/>
          </a:prstGeom>
          <a:noFill/>
          <a:ln w="9525">
            <a:noFill/>
            <a:miter lim="800000"/>
            <a:headEnd/>
            <a:tailEnd/>
          </a:ln>
        </p:spPr>
        <p:txBody>
          <a:bodyPr>
            <a:spAutoFit/>
          </a:bodyPr>
          <a:lstStyle/>
          <a:p>
            <a:pPr algn="just" eaLnBrk="1" hangingPunct="1">
              <a:lnSpc>
                <a:spcPct val="120000"/>
              </a:lnSpc>
            </a:pPr>
            <a:r>
              <a:rPr lang="es-MX" altLang="es-MX" sz="2000" dirty="0">
                <a:latin typeface="Times New Roman" pitchFamily="18" charset="0"/>
                <a:cs typeface="Times New Roman" pitchFamily="18" charset="0"/>
              </a:rPr>
              <a:t>Organic matter is material that is found in </a:t>
            </a:r>
            <a:r>
              <a:rPr lang="es-MX" altLang="es-MX" sz="2000" dirty="0" err="1">
                <a:latin typeface="Times New Roman" pitchFamily="18" charset="0"/>
                <a:cs typeface="Times New Roman" pitchFamily="18" charset="0"/>
              </a:rPr>
              <a:t>all</a:t>
            </a:r>
            <a:r>
              <a:rPr lang="es-MX" altLang="es-MX" sz="2000" dirty="0">
                <a:latin typeface="Times New Roman" pitchFamily="18" charset="0"/>
                <a:cs typeface="Times New Roman" pitchFamily="18" charset="0"/>
              </a:rPr>
              <a:t> </a:t>
            </a:r>
            <a:r>
              <a:rPr lang="es-MX" altLang="es-MX" sz="2000" dirty="0" err="1">
                <a:latin typeface="Times New Roman" pitchFamily="18" charset="0"/>
                <a:cs typeface="Times New Roman" pitchFamily="18" charset="0"/>
              </a:rPr>
              <a:t>possible</a:t>
            </a:r>
            <a:r>
              <a:rPr lang="es-MX" altLang="es-MX" sz="2000" dirty="0">
                <a:latin typeface="Times New Roman" pitchFamily="18" charset="0"/>
                <a:cs typeface="Times New Roman" pitchFamily="18" charset="0"/>
              </a:rPr>
              <a:t> </a:t>
            </a:r>
            <a:r>
              <a:rPr lang="es-MX" altLang="es-MX" sz="2000" dirty="0" err="1">
                <a:latin typeface="Times New Roman" pitchFamily="18" charset="0"/>
                <a:cs typeface="Times New Roman" pitchFamily="18" charset="0"/>
              </a:rPr>
              <a:t>phases</a:t>
            </a:r>
            <a:r>
              <a:rPr lang="es-MX" altLang="es-MX" sz="2000" dirty="0">
                <a:latin typeface="Times New Roman" pitchFamily="18" charset="0"/>
                <a:cs typeface="Times New Roman" pitchFamily="18" charset="0"/>
              </a:rPr>
              <a:t> of decomposition. From </a:t>
            </a:r>
            <a:r>
              <a:rPr lang="es-MX" altLang="es-MX" sz="2000" dirty="0" err="1">
                <a:latin typeface="Times New Roman" pitchFamily="18" charset="0"/>
                <a:cs typeface="Times New Roman" pitchFamily="18" charset="0"/>
              </a:rPr>
              <a:t>fresh</a:t>
            </a:r>
            <a:r>
              <a:rPr lang="es-MX" altLang="es-MX" sz="2000" dirty="0">
                <a:latin typeface="Times New Roman" pitchFamily="18" charset="0"/>
                <a:cs typeface="Times New Roman" pitchFamily="18" charset="0"/>
              </a:rPr>
              <a:t> </a:t>
            </a:r>
            <a:r>
              <a:rPr lang="es-MX" altLang="es-MX" sz="2000" dirty="0" err="1">
                <a:latin typeface="Times New Roman" pitchFamily="18" charset="0"/>
                <a:cs typeface="Times New Roman" pitchFamily="18" charset="0"/>
              </a:rPr>
              <a:t>waste</a:t>
            </a:r>
            <a:r>
              <a:rPr lang="es-MX" altLang="es-MX" sz="2000" dirty="0">
                <a:latin typeface="Times New Roman" pitchFamily="18" charset="0"/>
                <a:cs typeface="Times New Roman" pitchFamily="18" charset="0"/>
              </a:rPr>
              <a:t> </a:t>
            </a:r>
            <a:r>
              <a:rPr lang="es-MX" altLang="es-MX" sz="2000" dirty="0" err="1">
                <a:latin typeface="Times New Roman" pitchFamily="18" charset="0"/>
                <a:cs typeface="Times New Roman" pitchFamily="18" charset="0"/>
              </a:rPr>
              <a:t>to</a:t>
            </a:r>
            <a:r>
              <a:rPr lang="es-MX" altLang="es-MX" sz="2000" dirty="0">
                <a:latin typeface="Times New Roman" pitchFamily="18" charset="0"/>
                <a:cs typeface="Times New Roman" pitchFamily="18" charset="0"/>
              </a:rPr>
              <a:t> </a:t>
            </a:r>
            <a:r>
              <a:rPr lang="es-MX" altLang="es-MX" sz="2000" dirty="0" err="1">
                <a:latin typeface="Times New Roman" pitchFamily="18" charset="0"/>
                <a:cs typeface="Times New Roman" pitchFamily="18" charset="0"/>
              </a:rPr>
              <a:t>completely</a:t>
            </a:r>
            <a:r>
              <a:rPr lang="es-MX" altLang="es-MX" sz="2000" dirty="0">
                <a:latin typeface="Times New Roman" pitchFamily="18" charset="0"/>
                <a:cs typeface="Times New Roman" pitchFamily="18" charset="0"/>
              </a:rPr>
              <a:t> decomposed organic matter </a:t>
            </a:r>
            <a:r>
              <a:rPr lang="es-MX" altLang="es-MX" sz="2000" dirty="0" err="1">
                <a:latin typeface="Times New Roman" pitchFamily="18" charset="0"/>
                <a:cs typeface="Times New Roman" pitchFamily="18" charset="0"/>
              </a:rPr>
              <a:t>known</a:t>
            </a:r>
            <a:r>
              <a:rPr lang="es-MX" altLang="es-MX" sz="2000" dirty="0">
                <a:latin typeface="Times New Roman" pitchFamily="18" charset="0"/>
                <a:cs typeface="Times New Roman" pitchFamily="18" charset="0"/>
              </a:rPr>
              <a:t> as humus that </a:t>
            </a:r>
            <a:r>
              <a:rPr lang="es-MX" altLang="es-MX" sz="2000" dirty="0" err="1">
                <a:latin typeface="Times New Roman" pitchFamily="18" charset="0"/>
                <a:cs typeface="Times New Roman" pitchFamily="18" charset="0"/>
              </a:rPr>
              <a:t>consists</a:t>
            </a:r>
            <a:r>
              <a:rPr lang="es-MX" altLang="es-MX" sz="2000" dirty="0">
                <a:latin typeface="Times New Roman" pitchFamily="18" charset="0"/>
                <a:cs typeface="Times New Roman" pitchFamily="18" charset="0"/>
              </a:rPr>
              <a:t> of complex </a:t>
            </a:r>
            <a:r>
              <a:rPr lang="es-MX" altLang="es-MX" sz="2000" dirty="0" err="1">
                <a:latin typeface="Times New Roman" pitchFamily="18" charset="0"/>
                <a:cs typeface="Times New Roman" pitchFamily="18" charset="0"/>
              </a:rPr>
              <a:t>collodial</a:t>
            </a:r>
            <a:r>
              <a:rPr lang="es-MX" altLang="es-MX" sz="2000" dirty="0">
                <a:latin typeface="Times New Roman" pitchFamily="18" charset="0"/>
                <a:cs typeface="Times New Roman" pitchFamily="18" charset="0"/>
              </a:rPr>
              <a:t> substances (humic acids, fulvic acids and </a:t>
            </a:r>
            <a:r>
              <a:rPr lang="es-MX" altLang="es-MX" sz="2000" dirty="0" err="1">
                <a:latin typeface="Times New Roman" pitchFamily="18" charset="0"/>
                <a:cs typeface="Times New Roman" pitchFamily="18" charset="0"/>
              </a:rPr>
              <a:t>humin</a:t>
            </a:r>
            <a:r>
              <a:rPr lang="es-MX" altLang="es-MX" sz="2000" dirty="0">
                <a:latin typeface="Times New Roman" pitchFamily="18" charset="0"/>
                <a:cs typeface="Times New Roman" pitchFamily="18" charset="0"/>
              </a:rPr>
              <a:t>).</a:t>
            </a:r>
            <a:endParaRPr lang="es-MX" altLang="es-MX" sz="2400" dirty="0">
              <a:latin typeface="Times New Roman" pitchFamily="18" charset="0"/>
              <a:cs typeface="Times New Roman"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ítulo 1"/>
          <p:cNvSpPr>
            <a:spLocks noGrp="1"/>
          </p:cNvSpPr>
          <p:nvPr>
            <p:ph type="title"/>
          </p:nvPr>
        </p:nvSpPr>
        <p:spPr bwMode="auto">
          <a:xfrm>
            <a:off x="0" y="274638"/>
            <a:ext cx="8382000" cy="639762"/>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sz="5400" dirty="0">
                <a:solidFill>
                  <a:srgbClr val="008000"/>
                </a:solidFill>
                <a:latin typeface="Times New Roman" pitchFamily="18" charset="0"/>
                <a:cs typeface="Times New Roman" pitchFamily="18" charset="0"/>
              </a:rPr>
              <a:t>Soil organic matter</a:t>
            </a:r>
            <a:endParaRPr lang="es-ES" altLang="es-MX" sz="5400" dirty="0">
              <a:latin typeface="Times New Roman" pitchFamily="18" charset="0"/>
              <a:cs typeface="Times New Roman" pitchFamily="18" charset="0"/>
            </a:endParaRPr>
          </a:p>
        </p:txBody>
      </p:sp>
      <p:pic>
        <p:nvPicPr>
          <p:cNvPr id="168962" name="Imagen 4" descr="Captura de pantalla 2014-02-19 a la(s) 10.50.08.png"/>
          <p:cNvPicPr>
            <a:picLocks noChangeAspect="1"/>
          </p:cNvPicPr>
          <p:nvPr/>
        </p:nvPicPr>
        <p:blipFill>
          <a:blip r:embed="rId2"/>
          <a:srcRect/>
          <a:stretch>
            <a:fillRect/>
          </a:stretch>
        </p:blipFill>
        <p:spPr bwMode="auto">
          <a:xfrm>
            <a:off x="8245475" y="3733800"/>
            <a:ext cx="898525" cy="2355850"/>
          </a:xfrm>
          <a:prstGeom prst="rect">
            <a:avLst/>
          </a:prstGeom>
          <a:noFill/>
          <a:ln w="9525">
            <a:noFill/>
            <a:miter lim="800000"/>
            <a:headEnd/>
            <a:tailEnd/>
          </a:ln>
        </p:spPr>
      </p:pic>
      <p:pic>
        <p:nvPicPr>
          <p:cNvPr id="168963" name="Imagen 5" descr="Captura de pantalla 2014-02-19 a la(s) 10.15.18.png"/>
          <p:cNvPicPr>
            <a:picLocks noChangeAspect="1"/>
          </p:cNvPicPr>
          <p:nvPr/>
        </p:nvPicPr>
        <p:blipFill>
          <a:blip r:embed="rId3"/>
          <a:srcRect/>
          <a:stretch>
            <a:fillRect/>
          </a:stretch>
        </p:blipFill>
        <p:spPr bwMode="auto">
          <a:xfrm>
            <a:off x="8301038" y="304800"/>
            <a:ext cx="842962" cy="2549525"/>
          </a:xfrm>
          <a:prstGeom prst="rect">
            <a:avLst/>
          </a:prstGeom>
          <a:noFill/>
          <a:ln w="9525">
            <a:noFill/>
            <a:miter lim="800000"/>
            <a:headEnd/>
            <a:tailEnd/>
          </a:ln>
        </p:spPr>
      </p:pic>
      <p:pic>
        <p:nvPicPr>
          <p:cNvPr id="168964" name="Imagen 1" descr="Captura de pantalla 2015-01-30 a la(s) 16.17.52.png"/>
          <p:cNvPicPr>
            <a:picLocks noChangeAspect="1"/>
          </p:cNvPicPr>
          <p:nvPr/>
        </p:nvPicPr>
        <p:blipFill>
          <a:blip r:embed="rId4"/>
          <a:srcRect/>
          <a:stretch>
            <a:fillRect/>
          </a:stretch>
        </p:blipFill>
        <p:spPr bwMode="auto">
          <a:xfrm>
            <a:off x="0" y="1371600"/>
            <a:ext cx="7685088" cy="4589463"/>
          </a:xfrm>
          <a:prstGeom prst="rect">
            <a:avLst/>
          </a:prstGeom>
          <a:noFill/>
          <a:ln w="9525">
            <a:noFill/>
            <a:miter lim="800000"/>
            <a:headEnd/>
            <a:tailEnd/>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590800" cy="258762"/>
          </a:xfrm>
        </p:spPr>
        <p:txBody>
          <a:bodyPr>
            <a:noAutofit/>
          </a:bodyPr>
          <a:lstStyle/>
          <a:p>
            <a:r>
              <a:rPr lang="en-GB" sz="2800" b="1" dirty="0">
                <a:latin typeface="Times New Roman" pitchFamily="18" charset="0"/>
                <a:cs typeface="Times New Roman" pitchFamily="18" charset="0"/>
              </a:rPr>
              <a:t>Fulvic Acid</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algn="just"/>
            <a:r>
              <a:rPr lang="en-GB" dirty="0">
                <a:latin typeface="Times New Roman" pitchFamily="18" charset="0"/>
                <a:cs typeface="Times New Roman" pitchFamily="18" charset="0"/>
              </a:rPr>
              <a:t>Fulvic acid: Portion of the soluble compounds of organic matter in water or dilute acids. </a:t>
            </a:r>
          </a:p>
          <a:p>
            <a:pPr algn="just">
              <a:buNone/>
            </a:pPr>
            <a:endParaRPr lang="en-GB" dirty="0">
              <a:latin typeface="Times New Roman" pitchFamily="18" charset="0"/>
              <a:cs typeface="Times New Roman" pitchFamily="18" charset="0"/>
            </a:endParaRPr>
          </a:p>
          <a:p>
            <a:pPr marL="514350" indent="-514350" algn="just">
              <a:buNone/>
            </a:pPr>
            <a:r>
              <a:rPr lang="en-GB" dirty="0">
                <a:latin typeface="Times New Roman" pitchFamily="18" charset="0"/>
                <a:cs typeface="Times New Roman" pitchFamily="18" charset="0"/>
              </a:rPr>
              <a:t>a)		Molecular weight between 1000 and 5000 </a:t>
            </a:r>
          </a:p>
          <a:p>
            <a:pPr marL="514350" indent="-514350" algn="just">
              <a:buAutoNum type="alphaLcParenR"/>
            </a:pPr>
            <a:endParaRPr lang="en-GB" dirty="0">
              <a:latin typeface="Times New Roman" pitchFamily="18" charset="0"/>
              <a:cs typeface="Times New Roman" pitchFamily="18" charset="0"/>
            </a:endParaRPr>
          </a:p>
          <a:p>
            <a:pPr algn="just">
              <a:buNone/>
            </a:pPr>
            <a:r>
              <a:rPr lang="en-GB" dirty="0">
                <a:latin typeface="Times New Roman" pitchFamily="18" charset="0"/>
                <a:cs typeface="Times New Roman" pitchFamily="18" charset="0"/>
              </a:rPr>
              <a:t>b)	  	High content of carboxyl and phenolic groups </a:t>
            </a:r>
          </a:p>
          <a:p>
            <a:pPr algn="just">
              <a:buNone/>
            </a:pPr>
            <a:endParaRPr lang="en-GB" dirty="0">
              <a:latin typeface="Times New Roman" pitchFamily="18" charset="0"/>
              <a:cs typeface="Times New Roman" pitchFamily="18" charset="0"/>
            </a:endParaRPr>
          </a:p>
          <a:p>
            <a:pPr algn="just">
              <a:buNone/>
            </a:pPr>
            <a:r>
              <a:rPr lang="en-GB" dirty="0">
                <a:latin typeface="Times New Roman" pitchFamily="18" charset="0"/>
                <a:cs typeface="Times New Roman" pitchFamily="18" charset="0"/>
              </a:rPr>
              <a:t>c)		High interchangeability </a:t>
            </a:r>
          </a:p>
          <a:p>
            <a:pPr algn="just">
              <a:buNone/>
            </a:pPr>
            <a:endParaRPr lang="en-GB" dirty="0">
              <a:latin typeface="Times New Roman" pitchFamily="18" charset="0"/>
              <a:cs typeface="Times New Roman" pitchFamily="18" charset="0"/>
            </a:endParaRPr>
          </a:p>
          <a:p>
            <a:pPr algn="just">
              <a:buNone/>
            </a:pPr>
            <a:r>
              <a:rPr lang="en-GB" dirty="0">
                <a:latin typeface="Times New Roman" pitchFamily="18" charset="0"/>
                <a:cs typeface="Times New Roman" pitchFamily="18" charset="0"/>
              </a:rPr>
              <a:t>d)    	Lateral and flexible structures </a:t>
            </a:r>
          </a:p>
          <a:p>
            <a:pPr algn="just">
              <a:buNone/>
            </a:pPr>
            <a:endParaRPr lang="en-GB" dirty="0">
              <a:latin typeface="Times New Roman" pitchFamily="18" charset="0"/>
              <a:cs typeface="Times New Roman" pitchFamily="18" charset="0"/>
            </a:endParaRPr>
          </a:p>
          <a:p>
            <a:pPr algn="just">
              <a:buNone/>
            </a:pPr>
            <a:r>
              <a:rPr lang="en-GB" dirty="0">
                <a:latin typeface="Times New Roman" pitchFamily="18" charset="0"/>
                <a:cs typeface="Times New Roman" pitchFamily="18" charset="0"/>
              </a:rPr>
              <a:t>e)   	Ability to form stable compounds with polyvalent 	cations  such as Fe, Al, Cu etc. </a:t>
            </a:r>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581400" cy="411162"/>
          </a:xfrm>
        </p:spPr>
        <p:txBody>
          <a:bodyPr>
            <a:normAutofit fontScale="90000"/>
          </a:bodyPr>
          <a:lstStyle/>
          <a:p>
            <a:r>
              <a:rPr lang="en-GB" sz="2800" b="1" dirty="0">
                <a:latin typeface="Times New Roman" pitchFamily="18" charset="0"/>
                <a:cs typeface="Times New Roman" pitchFamily="18" charset="0"/>
              </a:rPr>
              <a:t>Humic Acid</a:t>
            </a:r>
          </a:p>
        </p:txBody>
      </p:sp>
      <p:sp>
        <p:nvSpPr>
          <p:cNvPr id="3" name="Content Placeholder 2"/>
          <p:cNvSpPr>
            <a:spLocks noGrp="1"/>
          </p:cNvSpPr>
          <p:nvPr>
            <p:ph idx="1"/>
          </p:nvPr>
        </p:nvSpPr>
        <p:spPr>
          <a:xfrm>
            <a:off x="457200" y="762000"/>
            <a:ext cx="8229600" cy="5486400"/>
          </a:xfrm>
        </p:spPr>
        <p:txBody>
          <a:bodyPr>
            <a:normAutofit fontScale="55000" lnSpcReduction="20000"/>
          </a:bodyPr>
          <a:lstStyle/>
          <a:p>
            <a:pPr algn="just"/>
            <a:endParaRPr lang="en-GB" sz="3500" dirty="0">
              <a:latin typeface="Times New Roman" pitchFamily="18" charset="0"/>
              <a:cs typeface="Times New Roman" pitchFamily="18" charset="0"/>
            </a:endParaRPr>
          </a:p>
          <a:p>
            <a:pPr algn="just"/>
            <a:r>
              <a:rPr lang="en-GB" sz="3500" dirty="0">
                <a:latin typeface="Times New Roman" pitchFamily="18" charset="0"/>
                <a:cs typeface="Times New Roman" pitchFamily="18" charset="0"/>
              </a:rPr>
              <a:t>Humic acid is the soluble humus fraction in bases. This is because under alkaline conditions the carboxyl groups are negatively charged by increasing the solubility of the molecules, and precipitated in acid solution. </a:t>
            </a:r>
          </a:p>
          <a:p>
            <a:pPr algn="just">
              <a:buNone/>
            </a:pPr>
            <a:r>
              <a:rPr lang="en-GB" sz="3500" dirty="0">
                <a:latin typeface="Times New Roman" pitchFamily="18" charset="0"/>
                <a:cs typeface="Times New Roman" pitchFamily="18" charset="0"/>
              </a:rPr>
              <a:t>`</a:t>
            </a:r>
          </a:p>
          <a:p>
            <a:pPr marL="514350" indent="-514350" algn="just">
              <a:buNone/>
            </a:pPr>
            <a:r>
              <a:rPr lang="en-GB" sz="3500" dirty="0">
                <a:latin typeface="Times New Roman" pitchFamily="18" charset="0"/>
                <a:cs typeface="Times New Roman" pitchFamily="18" charset="0"/>
              </a:rPr>
              <a:t>a)		High level of polymerization </a:t>
            </a:r>
          </a:p>
          <a:p>
            <a:pPr marL="514350" indent="-514350" algn="just">
              <a:buAutoNum type="alphaLcParenR"/>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b)		Molecular weight between 10,000 and 100,000 </a:t>
            </a:r>
          </a:p>
          <a:p>
            <a:pPr algn="just">
              <a:buNone/>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c) 		Low content of carboxyl groups (COO</a:t>
            </a:r>
            <a:r>
              <a:rPr lang="en-GB" sz="3500" dirty="0">
                <a:latin typeface="Calibri"/>
                <a:cs typeface="Calibri"/>
              </a:rPr>
              <a:t>⁻</a:t>
            </a:r>
            <a:r>
              <a:rPr lang="en-GB" sz="3500" dirty="0">
                <a:latin typeface="Times New Roman" pitchFamily="18" charset="0"/>
                <a:cs typeface="Times New Roman" pitchFamily="18" charset="0"/>
              </a:rPr>
              <a:t>), but higher content of aromatic 	groups (C</a:t>
            </a:r>
            <a:r>
              <a:rPr lang="en-GB" sz="3500" dirty="0">
                <a:latin typeface="Calibri"/>
                <a:cs typeface="Calibri"/>
              </a:rPr>
              <a:t>₆</a:t>
            </a:r>
            <a:r>
              <a:rPr lang="en-GB" sz="3500" dirty="0">
                <a:latin typeface="Times New Roman" pitchFamily="18" charset="0"/>
                <a:cs typeface="Times New Roman" pitchFamily="18" charset="0"/>
              </a:rPr>
              <a:t>H</a:t>
            </a:r>
            <a:r>
              <a:rPr lang="en-GB" sz="3500" dirty="0">
                <a:latin typeface="Calibri"/>
                <a:cs typeface="Calibri"/>
              </a:rPr>
              <a:t>₅</a:t>
            </a:r>
            <a:r>
              <a:rPr lang="en-GB" sz="3500" dirty="0">
                <a:latin typeface="Times New Roman" pitchFamily="18" charset="0"/>
                <a:cs typeface="Times New Roman" pitchFamily="18" charset="0"/>
              </a:rPr>
              <a:t>O</a:t>
            </a:r>
            <a:r>
              <a:rPr lang="en-GB" sz="3500" dirty="0">
                <a:latin typeface="Calibri"/>
                <a:cs typeface="Calibri"/>
              </a:rPr>
              <a:t>⁻</a:t>
            </a:r>
            <a:r>
              <a:rPr lang="en-GB" sz="3500" dirty="0">
                <a:latin typeface="Times New Roman" pitchFamily="18" charset="0"/>
                <a:cs typeface="Times New Roman" pitchFamily="18" charset="0"/>
              </a:rPr>
              <a:t>) . </a:t>
            </a:r>
          </a:p>
          <a:p>
            <a:pPr algn="just">
              <a:buNone/>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d) 		High water absorption capacity. </a:t>
            </a:r>
          </a:p>
          <a:p>
            <a:pPr algn="just">
              <a:buNone/>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e) 		Less CEC than fulvic acids </a:t>
            </a:r>
          </a:p>
          <a:p>
            <a:pPr algn="just">
              <a:buNone/>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f)		 Ability to form complexes </a:t>
            </a:r>
          </a:p>
          <a:p>
            <a:pPr algn="just">
              <a:buNone/>
            </a:pPr>
            <a:endParaRPr lang="en-GB" sz="3500" dirty="0">
              <a:latin typeface="Times New Roman" pitchFamily="18" charset="0"/>
              <a:cs typeface="Times New Roman" pitchFamily="18" charset="0"/>
            </a:endParaRPr>
          </a:p>
          <a:p>
            <a:pPr algn="just">
              <a:buNone/>
            </a:pPr>
            <a:r>
              <a:rPr lang="en-GB" sz="3500" dirty="0">
                <a:latin typeface="Times New Roman" pitchFamily="18" charset="0"/>
                <a:cs typeface="Times New Roman" pitchFamily="18" charset="0"/>
              </a:rPr>
              <a:t>g) 		Very stable clay-humus complexes due to its ability to bind to clays. </a:t>
            </a:r>
          </a:p>
          <a:p>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124200" cy="563562"/>
          </a:xfrm>
        </p:spPr>
        <p:txBody>
          <a:bodyPr>
            <a:normAutofit/>
          </a:bodyPr>
          <a:lstStyle/>
          <a:p>
            <a:r>
              <a:rPr lang="en-GB" sz="2400" b="1" dirty="0">
                <a:latin typeface="Times New Roman" pitchFamily="18" charset="0"/>
                <a:cs typeface="Times New Roman" pitchFamily="18" charset="0"/>
              </a:rPr>
              <a:t>Humins</a:t>
            </a:r>
          </a:p>
        </p:txBody>
      </p:sp>
      <p:sp>
        <p:nvSpPr>
          <p:cNvPr id="3" name="Content Placeholder 2"/>
          <p:cNvSpPr>
            <a:spLocks noGrp="1"/>
          </p:cNvSpPr>
          <p:nvPr>
            <p:ph idx="1"/>
          </p:nvPr>
        </p:nvSpPr>
        <p:spPr>
          <a:xfrm>
            <a:off x="457200" y="304800"/>
            <a:ext cx="8229600" cy="5821363"/>
          </a:xfrm>
        </p:spPr>
        <p:txBody>
          <a:bodyPr>
            <a:normAutofit fontScale="92500" lnSpcReduction="10000"/>
          </a:bodyPr>
          <a:lstStyle/>
          <a:p>
            <a:pPr>
              <a:buNone/>
            </a:pPr>
            <a:endParaRPr lang="en-GB" dirty="0"/>
          </a:p>
          <a:p>
            <a:pPr>
              <a:buNone/>
            </a:pPr>
            <a:endParaRPr lang="en-GB" dirty="0"/>
          </a:p>
          <a:p>
            <a:pPr algn="just"/>
            <a:r>
              <a:rPr lang="en-GB" sz="2400" dirty="0">
                <a:latin typeface="Times New Roman" pitchFamily="18" charset="0"/>
                <a:cs typeface="Times New Roman" pitchFamily="18" charset="0"/>
              </a:rPr>
              <a:t>Humins: These are complex substances that are considered evolved from humic acids. They bind so strongly with the clay and this causes them not dissolve in alkaline reagents. </a:t>
            </a:r>
          </a:p>
          <a:p>
            <a:pPr algn="just"/>
            <a:endParaRPr lang="en-GB" sz="2400" dirty="0">
              <a:latin typeface="Times New Roman" pitchFamily="18" charset="0"/>
              <a:cs typeface="Times New Roman" pitchFamily="18" charset="0"/>
            </a:endParaRPr>
          </a:p>
          <a:p>
            <a:pPr algn="just">
              <a:buNone/>
            </a:pPr>
            <a:r>
              <a:rPr lang="en-GB" sz="2400" dirty="0">
                <a:latin typeface="Times New Roman" pitchFamily="18" charset="0"/>
                <a:cs typeface="Times New Roman" pitchFamily="18" charset="0"/>
              </a:rPr>
              <a:t>a) 		High molecular weight </a:t>
            </a:r>
          </a:p>
          <a:p>
            <a:pPr algn="just"/>
            <a:endParaRPr lang="en-GB" sz="2400" dirty="0">
              <a:latin typeface="Times New Roman" pitchFamily="18" charset="0"/>
              <a:cs typeface="Times New Roman" pitchFamily="18" charset="0"/>
            </a:endParaRPr>
          </a:p>
          <a:p>
            <a:pPr algn="just">
              <a:buNone/>
            </a:pPr>
            <a:r>
              <a:rPr lang="en-GB" sz="2400" dirty="0">
                <a:latin typeface="Times New Roman" pitchFamily="18" charset="0"/>
                <a:cs typeface="Times New Roman" pitchFamily="18" charset="0"/>
              </a:rPr>
              <a:t>b) 		High content of oxygen relative to carbon </a:t>
            </a:r>
          </a:p>
          <a:p>
            <a:pPr algn="just"/>
            <a:endParaRPr lang="en-GB" sz="2400" dirty="0">
              <a:latin typeface="Times New Roman" pitchFamily="18" charset="0"/>
              <a:cs typeface="Times New Roman" pitchFamily="18" charset="0"/>
            </a:endParaRPr>
          </a:p>
          <a:p>
            <a:pPr algn="just">
              <a:buNone/>
            </a:pPr>
            <a:r>
              <a:rPr lang="en-GB" sz="2400" dirty="0">
                <a:latin typeface="Times New Roman" pitchFamily="18" charset="0"/>
                <a:cs typeface="Times New Roman" pitchFamily="18" charset="0"/>
              </a:rPr>
              <a:t>c) 		Low cation exchange capacity </a:t>
            </a:r>
          </a:p>
          <a:p>
            <a:pPr>
              <a:buNone/>
            </a:pPr>
            <a:endParaRPr lang="en-GB" sz="2400" dirty="0">
              <a:latin typeface="Times New Roman" pitchFamily="18" charset="0"/>
              <a:cs typeface="Times New Roman" pitchFamily="18" charset="0"/>
            </a:endParaRPr>
          </a:p>
          <a:p>
            <a:pPr>
              <a:buNone/>
            </a:pPr>
            <a:r>
              <a:rPr lang="en-GB" sz="2400" dirty="0">
                <a:latin typeface="Times New Roman" pitchFamily="18" charset="0"/>
                <a:cs typeface="Times New Roman" pitchFamily="18" charset="0"/>
              </a:rPr>
              <a:t>d)		 Aromatic condensed Groups </a:t>
            </a:r>
          </a:p>
          <a:p>
            <a:pPr>
              <a:buNone/>
            </a:pPr>
            <a:endParaRPr lang="en-GB" sz="2400" dirty="0">
              <a:latin typeface="Times New Roman" pitchFamily="18" charset="0"/>
              <a:cs typeface="Times New Roman" pitchFamily="18" charset="0"/>
            </a:endParaRPr>
          </a:p>
          <a:p>
            <a:pPr>
              <a:buNone/>
            </a:pPr>
            <a:r>
              <a:rPr lang="en-GB" sz="2400" dirty="0">
                <a:latin typeface="Times New Roman" pitchFamily="18" charset="0"/>
                <a:cs typeface="Times New Roman" pitchFamily="18" charset="0"/>
              </a:rPr>
              <a:t>e) 		Structures resembling lignins </a:t>
            </a:r>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029200" y="2438400"/>
            <a:ext cx="838200" cy="28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ea typeface="MS PGothic" pitchFamily="34" charset="-128"/>
            </a:endParaRPr>
          </a:p>
        </p:txBody>
      </p:sp>
      <p:sp>
        <p:nvSpPr>
          <p:cNvPr id="13" name="TextBox 12"/>
          <p:cNvSpPr txBox="1"/>
          <p:nvPr/>
        </p:nvSpPr>
        <p:spPr>
          <a:xfrm>
            <a:off x="1740162" y="205770"/>
            <a:ext cx="5562600" cy="630942"/>
          </a:xfrm>
          <a:prstGeom prst="rect">
            <a:avLst/>
          </a:prstGeom>
          <a:solidFill>
            <a:schemeClr val="bg1"/>
          </a:solidFill>
          <a:ln w="3175">
            <a:solidFill>
              <a:schemeClr val="tx1"/>
            </a:solidFill>
          </a:ln>
          <a:effectLst>
            <a:outerShdw blurRad="50800" dist="38100" dir="2700000" algn="tl" rotWithShape="0">
              <a:prstClr val="black">
                <a:alpha val="40000"/>
              </a:prstClr>
            </a:outerShdw>
          </a:effectLst>
        </p:spPr>
        <p:txBody>
          <a:bodyPr>
            <a:spAutoFit/>
          </a:bodyPr>
          <a:lstStyle/>
          <a:p>
            <a:pPr algn="ctr">
              <a:defRPr/>
            </a:pPr>
            <a:r>
              <a:rPr lang="en-US" sz="3500" b="1" dirty="0">
                <a:solidFill>
                  <a:srgbClr val="006600"/>
                </a:solidFill>
                <a:effectLst>
                  <a:innerShdw blurRad="63500" dist="50800">
                    <a:prstClr val="black">
                      <a:alpha val="50000"/>
                    </a:prstClr>
                  </a:innerShdw>
                </a:effectLst>
                <a:latin typeface="Times New Roman" pitchFamily="18" charset="0"/>
                <a:cs typeface="Times New Roman" pitchFamily="18" charset="0"/>
              </a:rPr>
              <a:t>Fulvic Acid</a:t>
            </a:r>
          </a:p>
        </p:txBody>
      </p:sp>
      <p:sp>
        <p:nvSpPr>
          <p:cNvPr id="15" name="Content Placeholder 3"/>
          <p:cNvSpPr txBox="1">
            <a:spLocks/>
          </p:cNvSpPr>
          <p:nvPr/>
        </p:nvSpPr>
        <p:spPr>
          <a:xfrm>
            <a:off x="5518150" y="1744663"/>
            <a:ext cx="2492375" cy="3216275"/>
          </a:xfrm>
          <a:prstGeom prst="rect">
            <a:avLst/>
          </a:prstGeom>
        </p:spPr>
        <p:txBody>
          <a:bodyPr>
            <a:normAutofit/>
          </a:bodyPr>
          <a:lstStyle/>
          <a:p>
            <a:pPr marL="342900" indent="-342900" algn="just" defTabSz="914400" eaLnBrk="1" hangingPunct="1">
              <a:lnSpc>
                <a:spcPct val="90000"/>
              </a:lnSpc>
              <a:spcBef>
                <a:spcPct val="20000"/>
              </a:spcBef>
              <a:buFont typeface="Arial" pitchFamily="34" charset="0"/>
              <a:buChar char="•"/>
            </a:pPr>
            <a:endParaRPr lang="en-US" sz="1400" dirty="0">
              <a:latin typeface="Times New Roman" pitchFamily="18" charset="0"/>
              <a:cs typeface="Times New Roman" pitchFamily="18" charset="0"/>
            </a:endParaRPr>
          </a:p>
          <a:p>
            <a:pPr marL="342900" indent="-342900" algn="just" defTabSz="914400" eaLnBrk="1" hangingPunct="1">
              <a:lnSpc>
                <a:spcPct val="90000"/>
              </a:lnSpc>
              <a:spcBef>
                <a:spcPct val="20000"/>
              </a:spcBef>
              <a:buFont typeface="Arial" pitchFamily="34" charset="0"/>
              <a:buChar char="•"/>
            </a:pPr>
            <a:r>
              <a:rPr lang="en-US" sz="2300" dirty="0">
                <a:latin typeface="Times New Roman" pitchFamily="18" charset="0"/>
                <a:cs typeface="Times New Roman" pitchFamily="18" charset="0"/>
              </a:rPr>
              <a:t>Fulvic Acid is soluble in water and acid</a:t>
            </a:r>
          </a:p>
        </p:txBody>
      </p:sp>
      <p:pic>
        <p:nvPicPr>
          <p:cNvPr id="16" name="Picture 2" descr="fulvicacid2.jpg"/>
          <p:cNvPicPr>
            <a:picLocks noChangeAspect="1"/>
          </p:cNvPicPr>
          <p:nvPr/>
        </p:nvPicPr>
        <p:blipFill>
          <a:blip r:embed="rId3"/>
          <a:srcRect/>
          <a:stretch>
            <a:fillRect/>
          </a:stretch>
        </p:blipFill>
        <p:spPr bwMode="auto">
          <a:xfrm>
            <a:off x="320675" y="1216025"/>
            <a:ext cx="5080000" cy="3810000"/>
          </a:xfrm>
          <a:prstGeom prst="rect">
            <a:avLst/>
          </a:prstGeom>
          <a:noFill/>
          <a:ln w="9525">
            <a:noFill/>
            <a:miter lim="800000"/>
            <a:headEnd/>
            <a:tailEnd/>
          </a:ln>
          <a:effectLst>
            <a:outerShdw algn="tl" rotWithShape="0">
              <a:srgbClr val="808080">
                <a:alpha val="70000"/>
              </a:srgbClr>
            </a:outerShdw>
          </a:effectLst>
        </p:spPr>
      </p:pic>
      <p:sp>
        <p:nvSpPr>
          <p:cNvPr id="185349" name="TextBox 9"/>
          <p:cNvSpPr txBox="1">
            <a:spLocks noChangeArrowheads="1"/>
          </p:cNvSpPr>
          <p:nvPr/>
        </p:nvSpPr>
        <p:spPr bwMode="auto">
          <a:xfrm>
            <a:off x="152400" y="6611938"/>
            <a:ext cx="533400" cy="246062"/>
          </a:xfrm>
          <a:prstGeom prst="rect">
            <a:avLst/>
          </a:prstGeom>
          <a:noFill/>
          <a:ln w="9525">
            <a:noFill/>
            <a:miter lim="800000"/>
            <a:headEnd/>
            <a:tailEnd/>
          </a:ln>
        </p:spPr>
        <p:txBody>
          <a:bodyPr>
            <a:spAutoFit/>
          </a:bodyPr>
          <a:lstStyle/>
          <a:p>
            <a:pPr algn="r"/>
            <a:r>
              <a:rPr lang="en-US" altLang="es-MX" sz="1000">
                <a:solidFill>
                  <a:schemeClr val="bg1"/>
                </a:solidFill>
                <a:latin typeface="Arial Black" pitchFamily="34" charset="0"/>
              </a:rPr>
              <a:t>255</a:t>
            </a:r>
          </a:p>
        </p:txBody>
      </p:sp>
      <p:sp>
        <p:nvSpPr>
          <p:cNvPr id="7" name="Content Placeholder 3"/>
          <p:cNvSpPr txBox="1">
            <a:spLocks/>
          </p:cNvSpPr>
          <p:nvPr/>
        </p:nvSpPr>
        <p:spPr>
          <a:xfrm>
            <a:off x="873125" y="5405438"/>
            <a:ext cx="6792913" cy="1181100"/>
          </a:xfrm>
          <a:prstGeom prst="rect">
            <a:avLst/>
          </a:prstGeom>
        </p:spPr>
        <p:txBody>
          <a:bodyPr>
            <a:normAutofit fontScale="92500"/>
          </a:bodyPr>
          <a:lstStyle/>
          <a:p>
            <a:pPr marL="342900" indent="-342900" algn="ctr" defTabSz="914400" eaLnBrk="1" fontAlgn="auto" hangingPunct="1">
              <a:spcBef>
                <a:spcPct val="20000"/>
              </a:spcBef>
              <a:spcAft>
                <a:spcPts val="0"/>
              </a:spcAft>
              <a:buFont typeface="Arial" pitchFamily="34" charset="0"/>
              <a:buChar char="•"/>
              <a:defRPr/>
            </a:pPr>
            <a:r>
              <a:rPr lang="en-US" dirty="0">
                <a:latin typeface="Arial" pitchFamily="34" charset="0"/>
                <a:cs typeface="Arial" pitchFamily="34" charset="0"/>
              </a:rPr>
              <a:t>Fulvic Acid can:</a:t>
            </a:r>
          </a:p>
          <a:p>
            <a:pPr marL="804863" lvl="1" indent="-347663" algn="just" defTabSz="914400" eaLnBrk="1" fontAlgn="auto" hangingPunct="1">
              <a:spcBef>
                <a:spcPct val="20000"/>
              </a:spcBef>
              <a:spcAft>
                <a:spcPts val="0"/>
              </a:spcAft>
              <a:buFont typeface="Wingdings" pitchFamily="2" charset="2"/>
              <a:buChar char="ü"/>
              <a:defRPr/>
            </a:pPr>
            <a:r>
              <a:rPr lang="en-US" dirty="0">
                <a:latin typeface="Arial" pitchFamily="34" charset="0"/>
                <a:cs typeface="Arial" pitchFamily="34" charset="0"/>
              </a:rPr>
              <a:t>Chelate Metal Ions                   - Complex Metal Ions</a:t>
            </a:r>
          </a:p>
          <a:p>
            <a:pPr marL="804863" lvl="1" indent="-347663" defTabSz="914400" eaLnBrk="1" fontAlgn="auto" hangingPunct="1">
              <a:spcBef>
                <a:spcPct val="20000"/>
              </a:spcBef>
              <a:spcAft>
                <a:spcPts val="0"/>
              </a:spcAft>
              <a:buFont typeface="Wingdings" pitchFamily="2" charset="2"/>
              <a:buChar char="ü"/>
              <a:defRPr/>
            </a:pPr>
            <a:r>
              <a:rPr lang="en-US" dirty="0">
                <a:latin typeface="Arial" pitchFamily="34" charset="0"/>
                <a:cs typeface="Arial" pitchFamily="34" charset="0"/>
              </a:rPr>
              <a:t>Enhance </a:t>
            </a:r>
            <a:r>
              <a:rPr lang="en-US" dirty="0">
                <a:latin typeface="Times New Roman" pitchFamily="18" charset="0"/>
                <a:cs typeface="Times New Roman" pitchFamily="18" charset="0"/>
              </a:rPr>
              <a:t>Plant</a:t>
            </a:r>
            <a:r>
              <a:rPr lang="en-US" dirty="0">
                <a:latin typeface="Arial" pitchFamily="34" charset="0"/>
                <a:cs typeface="Arial" pitchFamily="34" charset="0"/>
              </a:rPr>
              <a:t> Metabolism      - Enhance Microbial Activity</a:t>
            </a:r>
          </a:p>
        </p:txBody>
      </p:sp>
      <p:pic>
        <p:nvPicPr>
          <p:cNvPr id="185351" name="Imagen 4" descr="shutterstock_105292010.jpg"/>
          <p:cNvPicPr>
            <a:picLocks noChangeAspect="1"/>
          </p:cNvPicPr>
          <p:nvPr/>
        </p:nvPicPr>
        <p:blipFill>
          <a:blip r:embed="rId4"/>
          <a:srcRect/>
          <a:stretch>
            <a:fillRect/>
          </a:stretch>
        </p:blipFill>
        <p:spPr bwMode="auto">
          <a:xfrm>
            <a:off x="8370888" y="50800"/>
            <a:ext cx="773112" cy="2498725"/>
          </a:xfrm>
          <a:prstGeom prst="rect">
            <a:avLst/>
          </a:prstGeom>
          <a:noFill/>
          <a:ln w="9525">
            <a:noFill/>
            <a:miter lim="800000"/>
            <a:headEnd/>
            <a:tailEnd/>
          </a:ln>
        </p:spPr>
      </p:pic>
      <p:pic>
        <p:nvPicPr>
          <p:cNvPr id="185352" name="Imagen 5" descr="limones_head.psd"/>
          <p:cNvPicPr>
            <a:picLocks noChangeAspect="1"/>
          </p:cNvPicPr>
          <p:nvPr/>
        </p:nvPicPr>
        <p:blipFill>
          <a:blip r:embed="rId5"/>
          <a:srcRect/>
          <a:stretch>
            <a:fillRect/>
          </a:stretch>
        </p:blipFill>
        <p:spPr bwMode="auto">
          <a:xfrm>
            <a:off x="8370888" y="3509963"/>
            <a:ext cx="796925" cy="2379662"/>
          </a:xfrm>
          <a:prstGeom prst="rect">
            <a:avLst/>
          </a:prstGeom>
          <a:noFill/>
          <a:ln w="9525">
            <a:noFill/>
            <a:miter lim="800000"/>
            <a:headEnd/>
            <a:tailEnd/>
          </a:ln>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638300" y="278846"/>
            <a:ext cx="5562600" cy="630942"/>
          </a:xfrm>
          <a:prstGeom prst="rect">
            <a:avLst/>
          </a:prstGeom>
          <a:solidFill>
            <a:schemeClr val="bg1"/>
          </a:solidFill>
          <a:ln w="3175">
            <a:solidFill>
              <a:schemeClr val="tx1"/>
            </a:solidFill>
          </a:ln>
          <a:effectLst>
            <a:outerShdw blurRad="50800" dist="38100" dir="2700000" algn="tl" rotWithShape="0">
              <a:prstClr val="black">
                <a:alpha val="40000"/>
              </a:prstClr>
            </a:outerShdw>
          </a:effectLst>
        </p:spPr>
        <p:txBody>
          <a:bodyPr>
            <a:spAutoFit/>
          </a:bodyPr>
          <a:lstStyle/>
          <a:p>
            <a:pPr algn="ctr">
              <a:defRPr/>
            </a:pPr>
            <a:r>
              <a:rPr lang="en-US" sz="3500" b="1" dirty="0">
                <a:solidFill>
                  <a:srgbClr val="006600"/>
                </a:solidFill>
                <a:effectLst>
                  <a:innerShdw blurRad="63500" dist="50800">
                    <a:prstClr val="black">
                      <a:alpha val="50000"/>
                    </a:prstClr>
                  </a:innerShdw>
                </a:effectLst>
                <a:latin typeface="Times New Roman" pitchFamily="18" charset="0"/>
                <a:cs typeface="Times New Roman" pitchFamily="18" charset="0"/>
              </a:rPr>
              <a:t>Humic Acid</a:t>
            </a:r>
          </a:p>
        </p:txBody>
      </p:sp>
      <p:sp>
        <p:nvSpPr>
          <p:cNvPr id="13" name="Content Placeholder 3"/>
          <p:cNvSpPr txBox="1">
            <a:spLocks/>
          </p:cNvSpPr>
          <p:nvPr/>
        </p:nvSpPr>
        <p:spPr>
          <a:xfrm>
            <a:off x="5437188" y="1484313"/>
            <a:ext cx="2328862" cy="2819400"/>
          </a:xfrm>
          <a:prstGeom prst="rect">
            <a:avLst/>
          </a:prstGeom>
        </p:spPr>
        <p:txBody>
          <a:bodyPr>
            <a:normAutofit/>
          </a:bodyPr>
          <a:lstStyle/>
          <a:p>
            <a:pPr marL="342900" indent="-342900" algn="just" defTabSz="914400" eaLnBrk="1" hangingPunct="1">
              <a:lnSpc>
                <a:spcPct val="80000"/>
              </a:lnSpc>
              <a:spcBef>
                <a:spcPct val="20000"/>
              </a:spcBef>
              <a:buFont typeface="Arial" pitchFamily="34" charset="0"/>
              <a:buChar char="•"/>
            </a:pPr>
            <a:endParaRPr lang="en-US" sz="1400" dirty="0">
              <a:latin typeface="Times New Roman" pitchFamily="18" charset="0"/>
              <a:cs typeface="Times New Roman" pitchFamily="18" charset="0"/>
            </a:endParaRPr>
          </a:p>
          <a:p>
            <a:pPr marL="342900" indent="-342900" algn="just" defTabSz="914400" eaLnBrk="1" hangingPunct="1">
              <a:lnSpc>
                <a:spcPct val="80000"/>
              </a:lnSpc>
              <a:spcBef>
                <a:spcPct val="20000"/>
              </a:spcBef>
              <a:buFont typeface="Arial" pitchFamily="34" charset="0"/>
              <a:buChar char="•"/>
            </a:pPr>
            <a:r>
              <a:rPr lang="en-US" sz="2300" dirty="0">
                <a:latin typeface="Times New Roman" pitchFamily="18" charset="0"/>
                <a:cs typeface="Times New Roman" pitchFamily="18" charset="0"/>
              </a:rPr>
              <a:t>Humic Acid is soluble at pH above 7.0</a:t>
            </a:r>
          </a:p>
        </p:txBody>
      </p:sp>
      <p:pic>
        <p:nvPicPr>
          <p:cNvPr id="14" name="Picture 2" descr="humicacid2.jpg"/>
          <p:cNvPicPr>
            <a:picLocks noChangeAspect="1"/>
          </p:cNvPicPr>
          <p:nvPr/>
        </p:nvPicPr>
        <p:blipFill>
          <a:blip r:embed="rId3"/>
          <a:srcRect/>
          <a:stretch>
            <a:fillRect/>
          </a:stretch>
        </p:blipFill>
        <p:spPr bwMode="auto">
          <a:xfrm>
            <a:off x="228600" y="1484313"/>
            <a:ext cx="4953000" cy="3714750"/>
          </a:xfrm>
          <a:prstGeom prst="rect">
            <a:avLst/>
          </a:prstGeom>
          <a:noFill/>
          <a:ln w="38100" cap="sq">
            <a:solidFill>
              <a:srgbClr val="000000"/>
            </a:solidFill>
            <a:miter lim="800000"/>
            <a:headEnd/>
            <a:tailEnd/>
          </a:ln>
          <a:effectLst>
            <a:outerShdw dist="38100" dir="2700000" algn="tl" rotWithShape="0">
              <a:srgbClr val="808080">
                <a:alpha val="42998"/>
              </a:srgbClr>
            </a:outerShdw>
          </a:effectLst>
        </p:spPr>
      </p:pic>
      <p:sp>
        <p:nvSpPr>
          <p:cNvPr id="187396" name="TextBox 8"/>
          <p:cNvSpPr txBox="1">
            <a:spLocks noChangeArrowheads="1"/>
          </p:cNvSpPr>
          <p:nvPr/>
        </p:nvSpPr>
        <p:spPr bwMode="auto">
          <a:xfrm>
            <a:off x="152400" y="6611938"/>
            <a:ext cx="533400" cy="246062"/>
          </a:xfrm>
          <a:prstGeom prst="rect">
            <a:avLst/>
          </a:prstGeom>
          <a:noFill/>
          <a:ln w="9525">
            <a:noFill/>
            <a:miter lim="800000"/>
            <a:headEnd/>
            <a:tailEnd/>
          </a:ln>
        </p:spPr>
        <p:txBody>
          <a:bodyPr>
            <a:spAutoFit/>
          </a:bodyPr>
          <a:lstStyle/>
          <a:p>
            <a:pPr algn="r"/>
            <a:r>
              <a:rPr lang="en-US" altLang="es-MX" sz="1000">
                <a:solidFill>
                  <a:schemeClr val="bg1"/>
                </a:solidFill>
                <a:latin typeface="Arial Black" pitchFamily="34" charset="0"/>
              </a:rPr>
              <a:t>257</a:t>
            </a:r>
          </a:p>
        </p:txBody>
      </p:sp>
      <p:sp>
        <p:nvSpPr>
          <p:cNvPr id="187397" name="Content Placeholder 3"/>
          <p:cNvSpPr txBox="1">
            <a:spLocks/>
          </p:cNvSpPr>
          <p:nvPr/>
        </p:nvSpPr>
        <p:spPr bwMode="auto">
          <a:xfrm>
            <a:off x="228600" y="5427663"/>
            <a:ext cx="8915400" cy="1184275"/>
          </a:xfrm>
          <a:prstGeom prst="rect">
            <a:avLst/>
          </a:prstGeom>
          <a:noFill/>
          <a:ln w="9525">
            <a:noFill/>
            <a:miter lim="800000"/>
            <a:headEnd/>
            <a:tailEnd/>
          </a:ln>
        </p:spPr>
        <p:txBody>
          <a:bodyPr/>
          <a:lstStyle/>
          <a:p>
            <a:pPr marL="342900" indent="-342900" algn="ctr" defTabSz="914400" eaLnBrk="1" hangingPunct="1">
              <a:spcBef>
                <a:spcPct val="20000"/>
              </a:spcBef>
              <a:buFont typeface="Arial" pitchFamily="34" charset="0"/>
              <a:buChar char="•"/>
            </a:pPr>
            <a:r>
              <a:rPr lang="en-US" altLang="es-MX" sz="2400" dirty="0">
                <a:latin typeface="Times New Roman" pitchFamily="18" charset="0"/>
                <a:cs typeface="Times New Roman" pitchFamily="18" charset="0"/>
              </a:rPr>
              <a:t>Humic Acid can:</a:t>
            </a:r>
          </a:p>
          <a:p>
            <a:pPr marL="804863" lvl="1" indent="-347663" algn="just" defTabSz="914400" eaLnBrk="1" hangingPunct="1">
              <a:buFont typeface="Wingdings" pitchFamily="2" charset="2"/>
              <a:buChar char="ü"/>
            </a:pPr>
            <a:r>
              <a:rPr lang="en-US" altLang="es-MX" sz="2000" dirty="0">
                <a:latin typeface="Times New Roman" pitchFamily="18" charset="0"/>
                <a:cs typeface="Times New Roman" pitchFamily="18" charset="0"/>
              </a:rPr>
              <a:t>Chelate metal ions                      - Complex metal ions.</a:t>
            </a:r>
          </a:p>
          <a:p>
            <a:pPr marL="804863" lvl="1" indent="-347663" algn="just" defTabSz="914400" eaLnBrk="1" hangingPunct="1">
              <a:buFont typeface="Wingdings" pitchFamily="2" charset="2"/>
              <a:buChar char="ü"/>
            </a:pPr>
            <a:r>
              <a:rPr lang="en-US" altLang="es-MX" sz="2000" dirty="0">
                <a:latin typeface="Times New Roman" pitchFamily="18" charset="0"/>
                <a:cs typeface="Times New Roman" pitchFamily="18" charset="0"/>
              </a:rPr>
              <a:t>Enhance soil aggregation            - Enhance microbial activity.</a:t>
            </a:r>
          </a:p>
        </p:txBody>
      </p:sp>
      <p:pic>
        <p:nvPicPr>
          <p:cNvPr id="187398" name="Imagen 4" descr="shutterstock_105292010.jpg"/>
          <p:cNvPicPr>
            <a:picLocks noChangeAspect="1"/>
          </p:cNvPicPr>
          <p:nvPr/>
        </p:nvPicPr>
        <p:blipFill>
          <a:blip r:embed="rId4"/>
          <a:srcRect/>
          <a:stretch>
            <a:fillRect/>
          </a:stretch>
        </p:blipFill>
        <p:spPr bwMode="auto">
          <a:xfrm>
            <a:off x="8370888" y="50800"/>
            <a:ext cx="773112" cy="2498725"/>
          </a:xfrm>
          <a:prstGeom prst="rect">
            <a:avLst/>
          </a:prstGeom>
          <a:noFill/>
          <a:ln w="9525">
            <a:noFill/>
            <a:miter lim="800000"/>
            <a:headEnd/>
            <a:tailEnd/>
          </a:ln>
        </p:spPr>
      </p:pic>
      <p:pic>
        <p:nvPicPr>
          <p:cNvPr id="187399" name="Imagen 5" descr="limones_head.psd"/>
          <p:cNvPicPr>
            <a:picLocks noChangeAspect="1"/>
          </p:cNvPicPr>
          <p:nvPr/>
        </p:nvPicPr>
        <p:blipFill>
          <a:blip r:embed="rId5"/>
          <a:srcRect/>
          <a:stretch>
            <a:fillRect/>
          </a:stretch>
        </p:blipFill>
        <p:spPr bwMode="auto">
          <a:xfrm>
            <a:off x="8370888" y="3509963"/>
            <a:ext cx="796925" cy="2379662"/>
          </a:xfrm>
          <a:prstGeom prst="rect">
            <a:avLst/>
          </a:prstGeom>
          <a:noFill/>
          <a:ln w="9525">
            <a:noFill/>
            <a:miter lim="800000"/>
            <a:headEnd/>
            <a:tailEnd/>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933734" y="103351"/>
            <a:ext cx="5562600" cy="630942"/>
          </a:xfrm>
          <a:prstGeom prst="rect">
            <a:avLst/>
          </a:prstGeom>
          <a:solidFill>
            <a:schemeClr val="bg1"/>
          </a:solidFill>
          <a:ln w="3175">
            <a:solidFill>
              <a:schemeClr val="tx1"/>
            </a:solidFill>
          </a:ln>
          <a:effectLst>
            <a:outerShdw blurRad="50800" dist="38100" dir="2700000" algn="tl" rotWithShape="0">
              <a:prstClr val="black">
                <a:alpha val="40000"/>
              </a:prstClr>
            </a:outerShdw>
          </a:effectLst>
        </p:spPr>
        <p:txBody>
          <a:bodyPr>
            <a:spAutoFit/>
          </a:bodyPr>
          <a:lstStyle/>
          <a:p>
            <a:pPr algn="ctr">
              <a:defRPr/>
            </a:pPr>
            <a:r>
              <a:rPr lang="en-US" sz="3500" b="1" dirty="0">
                <a:solidFill>
                  <a:srgbClr val="006600"/>
                </a:solidFill>
                <a:effectLst>
                  <a:innerShdw blurRad="63500" dist="50800">
                    <a:prstClr val="black">
                      <a:alpha val="50000"/>
                    </a:prstClr>
                  </a:innerShdw>
                </a:effectLst>
                <a:latin typeface="Times New Roman" pitchFamily="18" charset="0"/>
                <a:cs typeface="Times New Roman" pitchFamily="18" charset="0"/>
              </a:rPr>
              <a:t>Soluble Carbon Complex</a:t>
            </a:r>
          </a:p>
        </p:txBody>
      </p:sp>
      <p:sp>
        <p:nvSpPr>
          <p:cNvPr id="11" name="Content Placeholder 3"/>
          <p:cNvSpPr txBox="1">
            <a:spLocks/>
          </p:cNvSpPr>
          <p:nvPr/>
        </p:nvSpPr>
        <p:spPr>
          <a:xfrm>
            <a:off x="5611813" y="1601788"/>
            <a:ext cx="2681287" cy="2816225"/>
          </a:xfrm>
          <a:prstGeom prst="rect">
            <a:avLst/>
          </a:prstGeom>
        </p:spPr>
        <p:txBody>
          <a:bodyPr>
            <a:normAutofit/>
          </a:bodyPr>
          <a:lstStyle/>
          <a:p>
            <a:pPr marL="342900" indent="-342900" algn="just" defTabSz="914400" eaLnBrk="1" hangingPunct="1">
              <a:lnSpc>
                <a:spcPct val="80000"/>
              </a:lnSpc>
              <a:spcBef>
                <a:spcPct val="20000"/>
              </a:spcBef>
              <a:buFont typeface="Arial" pitchFamily="34" charset="0"/>
              <a:buChar char="•"/>
            </a:pPr>
            <a:r>
              <a:rPr lang="en-US" sz="2100" dirty="0">
                <a:latin typeface="Times New Roman" pitchFamily="18" charset="0"/>
                <a:cs typeface="Times New Roman" pitchFamily="18" charset="0"/>
              </a:rPr>
              <a:t>Soluble</a:t>
            </a:r>
            <a:r>
              <a:rPr lang="en-US" sz="2100" dirty="0">
                <a:latin typeface="Arial" pitchFamily="34" charset="0"/>
                <a:cs typeface="Arial" pitchFamily="34" charset="0"/>
              </a:rPr>
              <a:t> Carbon Complex is a longer chain carbon molecule.</a:t>
            </a:r>
          </a:p>
          <a:p>
            <a:pPr marL="342900" indent="-342900" defTabSz="914400" eaLnBrk="1" hangingPunct="1">
              <a:lnSpc>
                <a:spcPct val="80000"/>
              </a:lnSpc>
              <a:spcBef>
                <a:spcPct val="20000"/>
              </a:spcBef>
              <a:buFont typeface="Arial" pitchFamily="34" charset="0"/>
              <a:buChar char="•"/>
            </a:pPr>
            <a:endParaRPr lang="en-US" sz="1300" dirty="0">
              <a:latin typeface="Arial" pitchFamily="34" charset="0"/>
              <a:cs typeface="Arial" pitchFamily="34" charset="0"/>
            </a:endParaRPr>
          </a:p>
          <a:p>
            <a:pPr marL="342900" indent="-342900" algn="just" defTabSz="914400" eaLnBrk="1" hangingPunct="1">
              <a:lnSpc>
                <a:spcPct val="80000"/>
              </a:lnSpc>
              <a:spcBef>
                <a:spcPct val="20000"/>
              </a:spcBef>
              <a:buFont typeface="Arial" pitchFamily="34" charset="0"/>
              <a:buChar char="•"/>
            </a:pPr>
            <a:r>
              <a:rPr lang="en-US" sz="2100" dirty="0">
                <a:latin typeface="Times New Roman" pitchFamily="18" charset="0"/>
                <a:cs typeface="Times New Roman" pitchFamily="18" charset="0"/>
              </a:rPr>
              <a:t>Soluble Carbon Complex is very stable in the soil environment due to its large size.</a:t>
            </a:r>
          </a:p>
          <a:p>
            <a:pPr marL="342900" indent="-342900" defTabSz="914400" eaLnBrk="1" hangingPunct="1">
              <a:lnSpc>
                <a:spcPct val="80000"/>
              </a:lnSpc>
              <a:spcBef>
                <a:spcPct val="20000"/>
              </a:spcBef>
              <a:buFont typeface="Arial" pitchFamily="34" charset="0"/>
              <a:buChar char="•"/>
            </a:pPr>
            <a:endParaRPr lang="en-US" sz="1300" dirty="0">
              <a:latin typeface="Arial" pitchFamily="34" charset="0"/>
              <a:cs typeface="Arial" pitchFamily="34" charset="0"/>
            </a:endParaRPr>
          </a:p>
        </p:txBody>
      </p:sp>
      <p:sp>
        <p:nvSpPr>
          <p:cNvPr id="189443" name="TextBox 8"/>
          <p:cNvSpPr txBox="1">
            <a:spLocks noChangeArrowheads="1"/>
          </p:cNvSpPr>
          <p:nvPr/>
        </p:nvSpPr>
        <p:spPr bwMode="auto">
          <a:xfrm>
            <a:off x="152400" y="6611938"/>
            <a:ext cx="533400" cy="246062"/>
          </a:xfrm>
          <a:prstGeom prst="rect">
            <a:avLst/>
          </a:prstGeom>
          <a:noFill/>
          <a:ln w="9525">
            <a:noFill/>
            <a:miter lim="800000"/>
            <a:headEnd/>
            <a:tailEnd/>
          </a:ln>
        </p:spPr>
        <p:txBody>
          <a:bodyPr>
            <a:spAutoFit/>
          </a:bodyPr>
          <a:lstStyle/>
          <a:p>
            <a:pPr algn="r"/>
            <a:r>
              <a:rPr lang="en-US" altLang="es-MX" sz="1000">
                <a:solidFill>
                  <a:schemeClr val="bg1"/>
                </a:solidFill>
                <a:latin typeface="Arial Black" pitchFamily="34" charset="0"/>
              </a:rPr>
              <a:t>259</a:t>
            </a:r>
          </a:p>
        </p:txBody>
      </p:sp>
      <p:pic>
        <p:nvPicPr>
          <p:cNvPr id="189444" name="Picture 1"/>
          <p:cNvPicPr>
            <a:picLocks noChangeAspect="1"/>
          </p:cNvPicPr>
          <p:nvPr/>
        </p:nvPicPr>
        <p:blipFill>
          <a:blip r:embed="rId3" cstate="print"/>
          <a:srcRect/>
          <a:stretch>
            <a:fillRect/>
          </a:stretch>
        </p:blipFill>
        <p:spPr bwMode="auto">
          <a:xfrm>
            <a:off x="147638" y="1423988"/>
            <a:ext cx="5364162" cy="4022725"/>
          </a:xfrm>
          <a:prstGeom prst="rect">
            <a:avLst/>
          </a:prstGeom>
          <a:noFill/>
          <a:ln w="9525">
            <a:noFill/>
            <a:miter lim="800000"/>
            <a:headEnd/>
            <a:tailEnd/>
          </a:ln>
        </p:spPr>
      </p:pic>
      <p:sp>
        <p:nvSpPr>
          <p:cNvPr id="10" name="Content Placeholder 3"/>
          <p:cNvSpPr txBox="1">
            <a:spLocks/>
          </p:cNvSpPr>
          <p:nvPr/>
        </p:nvSpPr>
        <p:spPr>
          <a:xfrm>
            <a:off x="147638" y="4522788"/>
            <a:ext cx="8245475" cy="2230437"/>
          </a:xfrm>
          <a:prstGeom prst="rect">
            <a:avLst/>
          </a:prstGeom>
        </p:spPr>
        <p:txBody>
          <a:bodyPr>
            <a:normAutofit/>
          </a:bodyPr>
          <a:lstStyle/>
          <a:p>
            <a:pPr marL="342900" indent="-342900" defTabSz="914400" eaLnBrk="1" hangingPunct="1">
              <a:spcBef>
                <a:spcPct val="20000"/>
              </a:spcBef>
              <a:buFont typeface="Arial" pitchFamily="34" charset="0"/>
              <a:buChar char="•"/>
            </a:pPr>
            <a:endParaRPr lang="en-US" sz="1400" dirty="0">
              <a:latin typeface="Arial" pitchFamily="34" charset="0"/>
              <a:cs typeface="Arial" pitchFamily="34" charset="0"/>
            </a:endParaRPr>
          </a:p>
          <a:p>
            <a:pPr marL="342900" indent="-342900" defTabSz="914400" eaLnBrk="1" hangingPunct="1">
              <a:spcBef>
                <a:spcPct val="20000"/>
              </a:spcBef>
              <a:buFont typeface="Arial" pitchFamily="34" charset="0"/>
              <a:buChar char="•"/>
            </a:pPr>
            <a:r>
              <a:rPr lang="en-US" sz="2300" dirty="0">
                <a:latin typeface="Times New Roman" pitchFamily="18" charset="0"/>
                <a:cs typeface="Times New Roman" pitchFamily="18" charset="0"/>
              </a:rPr>
              <a:t>Soluble Carbon Complex can:</a:t>
            </a:r>
          </a:p>
          <a:p>
            <a:pPr marL="4397375" lvl="1" indent="-342900" defTabSz="914400" eaLnBrk="1" hangingPunct="1">
              <a:spcBef>
                <a:spcPct val="20000"/>
              </a:spcBef>
              <a:buFont typeface="Wingdings" pitchFamily="2" charset="2"/>
              <a:buChar char="ü"/>
            </a:pPr>
            <a:r>
              <a:rPr lang="en-US" sz="2300" dirty="0">
                <a:latin typeface="Times New Roman" pitchFamily="18" charset="0"/>
                <a:cs typeface="Times New Roman" pitchFamily="18" charset="0"/>
              </a:rPr>
              <a:t>Enhance soil aggregation</a:t>
            </a:r>
          </a:p>
          <a:p>
            <a:pPr marL="4397375" lvl="1" indent="-342900" defTabSz="914400" eaLnBrk="1" hangingPunct="1">
              <a:spcBef>
                <a:spcPct val="20000"/>
              </a:spcBef>
              <a:buFont typeface="Wingdings" pitchFamily="2" charset="2"/>
              <a:buChar char="ü"/>
            </a:pPr>
            <a:r>
              <a:rPr lang="en-US" sz="2300" dirty="0">
                <a:latin typeface="Times New Roman" pitchFamily="18" charset="0"/>
                <a:cs typeface="Times New Roman" pitchFamily="18" charset="0"/>
              </a:rPr>
              <a:t>Enhance soil structure</a:t>
            </a:r>
          </a:p>
          <a:p>
            <a:pPr marL="4397375" lvl="1" indent="-342900" defTabSz="914400" eaLnBrk="1" hangingPunct="1">
              <a:spcBef>
                <a:spcPct val="20000"/>
              </a:spcBef>
              <a:buFont typeface="Wingdings" pitchFamily="2" charset="2"/>
              <a:buChar char="ü"/>
            </a:pPr>
            <a:r>
              <a:rPr lang="en-US" sz="2300" dirty="0">
                <a:latin typeface="Times New Roman" pitchFamily="18" charset="0"/>
                <a:cs typeface="Times New Roman" pitchFamily="18" charset="0"/>
              </a:rPr>
              <a:t>Enhance soil stability.</a:t>
            </a:r>
          </a:p>
        </p:txBody>
      </p:sp>
      <p:pic>
        <p:nvPicPr>
          <p:cNvPr id="189446" name="Imagen 4" descr="shutterstock_105292010.jpg"/>
          <p:cNvPicPr>
            <a:picLocks noChangeAspect="1"/>
          </p:cNvPicPr>
          <p:nvPr/>
        </p:nvPicPr>
        <p:blipFill>
          <a:blip r:embed="rId4"/>
          <a:srcRect/>
          <a:stretch>
            <a:fillRect/>
          </a:stretch>
        </p:blipFill>
        <p:spPr bwMode="auto">
          <a:xfrm>
            <a:off x="8370888" y="50800"/>
            <a:ext cx="773112" cy="2498725"/>
          </a:xfrm>
          <a:prstGeom prst="rect">
            <a:avLst/>
          </a:prstGeom>
          <a:noFill/>
          <a:ln w="9525">
            <a:noFill/>
            <a:miter lim="800000"/>
            <a:headEnd/>
            <a:tailEnd/>
          </a:ln>
        </p:spPr>
      </p:pic>
      <p:pic>
        <p:nvPicPr>
          <p:cNvPr id="189447" name="Imagen 5" descr="limones_head.psd"/>
          <p:cNvPicPr>
            <a:picLocks noChangeAspect="1"/>
          </p:cNvPicPr>
          <p:nvPr/>
        </p:nvPicPr>
        <p:blipFill>
          <a:blip r:embed="rId5"/>
          <a:srcRect/>
          <a:stretch>
            <a:fillRect/>
          </a:stretch>
        </p:blipFill>
        <p:spPr bwMode="auto">
          <a:xfrm>
            <a:off x="8370888" y="3509963"/>
            <a:ext cx="796925" cy="2379662"/>
          </a:xfrm>
          <a:prstGeom prst="rect">
            <a:avLst/>
          </a:prstGeom>
          <a:noFill/>
          <a:ln w="9525">
            <a:noFill/>
            <a:miter lim="800000"/>
            <a:headEnd/>
            <a:tailEnd/>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5" name="Imagen 1"/>
          <p:cNvPicPr>
            <a:picLocks noChangeAspect="1"/>
          </p:cNvPicPr>
          <p:nvPr/>
        </p:nvPicPr>
        <p:blipFill>
          <a:blip r:embed="rId2"/>
          <a:srcRect l="18637" t="42863" r="51888" b="19449"/>
          <a:stretch>
            <a:fillRect/>
          </a:stretch>
        </p:blipFill>
        <p:spPr bwMode="auto">
          <a:xfrm>
            <a:off x="908050" y="1638300"/>
            <a:ext cx="6565900" cy="4718050"/>
          </a:xfrm>
          <a:prstGeom prst="rect">
            <a:avLst/>
          </a:prstGeom>
          <a:noFill/>
          <a:ln w="9525">
            <a:noFill/>
            <a:miter lim="800000"/>
            <a:headEnd/>
            <a:tailEnd/>
          </a:ln>
        </p:spPr>
      </p:pic>
      <p:sp>
        <p:nvSpPr>
          <p:cNvPr id="169986" name="Título 1"/>
          <p:cNvSpPr txBox="1">
            <a:spLocks/>
          </p:cNvSpPr>
          <p:nvPr/>
        </p:nvSpPr>
        <p:spPr bwMode="auto">
          <a:xfrm>
            <a:off x="0" y="274638"/>
            <a:ext cx="8382000" cy="1143000"/>
          </a:xfrm>
          <a:prstGeom prst="rect">
            <a:avLst/>
          </a:prstGeom>
          <a:noFill/>
          <a:ln w="9525">
            <a:noFill/>
            <a:miter lim="800000"/>
            <a:headEnd/>
            <a:tailEnd/>
          </a:ln>
        </p:spPr>
        <p:txBody>
          <a:bodyPr/>
          <a:lstStyle/>
          <a:p>
            <a:pPr algn="ctr" eaLnBrk="1" hangingPunct="1"/>
            <a:r>
              <a:rPr lang="es-ES" altLang="es-MX" sz="5400" dirty="0">
                <a:solidFill>
                  <a:srgbClr val="008000"/>
                </a:solidFill>
                <a:latin typeface="Times New Roman" pitchFamily="18" charset="0"/>
                <a:cs typeface="Times New Roman" pitchFamily="18" charset="0"/>
              </a:rPr>
              <a:t>Soil organic matter</a:t>
            </a:r>
            <a:endParaRPr lang="es-ES" altLang="es-MX" sz="5400" dirty="0">
              <a:latin typeface="Times New Roman" pitchFamily="18" charset="0"/>
              <a:cs typeface="Times New Roman" pitchFamily="18" charset="0"/>
            </a:endParaRPr>
          </a:p>
        </p:txBody>
      </p:sp>
      <p:pic>
        <p:nvPicPr>
          <p:cNvPr id="169987" name="Imagen 4" descr="Captura de pantalla 2014-02-19 a la(s) 10.50.08.png"/>
          <p:cNvPicPr>
            <a:picLocks noChangeAspect="1"/>
          </p:cNvPicPr>
          <p:nvPr/>
        </p:nvPicPr>
        <p:blipFill>
          <a:blip r:embed="rId3"/>
          <a:srcRect/>
          <a:stretch>
            <a:fillRect/>
          </a:stretch>
        </p:blipFill>
        <p:spPr bwMode="auto">
          <a:xfrm>
            <a:off x="8245475" y="3505200"/>
            <a:ext cx="898525" cy="2355850"/>
          </a:xfrm>
          <a:prstGeom prst="rect">
            <a:avLst/>
          </a:prstGeom>
          <a:noFill/>
          <a:ln w="9525">
            <a:noFill/>
            <a:miter lim="800000"/>
            <a:headEnd/>
            <a:tailEnd/>
          </a:ln>
        </p:spPr>
      </p:pic>
      <p:pic>
        <p:nvPicPr>
          <p:cNvPr id="169988" name="Imagen 5" descr="Captura de pantalla 2014-02-19 a la(s) 10.15.18.png"/>
          <p:cNvPicPr>
            <a:picLocks noChangeAspect="1"/>
          </p:cNvPicPr>
          <p:nvPr/>
        </p:nvPicPr>
        <p:blipFill>
          <a:blip r:embed="rId4"/>
          <a:srcRect/>
          <a:stretch>
            <a:fillRect/>
          </a:stretch>
        </p:blipFill>
        <p:spPr bwMode="auto">
          <a:xfrm>
            <a:off x="8301038" y="228600"/>
            <a:ext cx="842962" cy="25495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3" name="Imagen 4" descr="Captura de pantalla 2014-02-19 a la(s) 10.15.30.png"/>
          <p:cNvPicPr>
            <a:picLocks noChangeAspect="1"/>
          </p:cNvPicPr>
          <p:nvPr/>
        </p:nvPicPr>
        <p:blipFill>
          <a:blip r:embed="rId2"/>
          <a:srcRect/>
          <a:stretch>
            <a:fillRect/>
          </a:stretch>
        </p:blipFill>
        <p:spPr bwMode="auto">
          <a:xfrm>
            <a:off x="8370888" y="3571875"/>
            <a:ext cx="842962" cy="2300288"/>
          </a:xfrm>
          <a:prstGeom prst="rect">
            <a:avLst/>
          </a:prstGeom>
          <a:noFill/>
          <a:ln w="9525">
            <a:noFill/>
            <a:miter lim="800000"/>
            <a:headEnd/>
            <a:tailEnd/>
          </a:ln>
        </p:spPr>
      </p:pic>
      <p:pic>
        <p:nvPicPr>
          <p:cNvPr id="172034" name="Imagen 1" descr="shutterstock_130736945.jpg"/>
          <p:cNvPicPr>
            <a:picLocks noChangeAspect="1"/>
          </p:cNvPicPr>
          <p:nvPr/>
        </p:nvPicPr>
        <p:blipFill>
          <a:blip r:embed="rId3"/>
          <a:srcRect/>
          <a:stretch>
            <a:fillRect/>
          </a:stretch>
        </p:blipFill>
        <p:spPr bwMode="auto">
          <a:xfrm>
            <a:off x="8370888" y="0"/>
            <a:ext cx="806450" cy="2551113"/>
          </a:xfrm>
          <a:prstGeom prst="rect">
            <a:avLst/>
          </a:prstGeom>
          <a:noFill/>
          <a:ln w="9525">
            <a:noFill/>
            <a:miter lim="800000"/>
            <a:headEnd/>
            <a:tailEnd/>
          </a:ln>
        </p:spPr>
      </p:pic>
      <p:pic>
        <p:nvPicPr>
          <p:cNvPr id="172035" name="Imagen 1"/>
          <p:cNvPicPr>
            <a:picLocks noChangeAspect="1"/>
          </p:cNvPicPr>
          <p:nvPr/>
        </p:nvPicPr>
        <p:blipFill>
          <a:blip r:embed="rId4"/>
          <a:srcRect/>
          <a:stretch>
            <a:fillRect/>
          </a:stretch>
        </p:blipFill>
        <p:spPr bwMode="auto">
          <a:xfrm>
            <a:off x="592138" y="1417638"/>
            <a:ext cx="7256462" cy="4454525"/>
          </a:xfrm>
          <a:prstGeom prst="rect">
            <a:avLst/>
          </a:prstGeom>
          <a:noFill/>
          <a:ln w="9525">
            <a:noFill/>
            <a:miter lim="800000"/>
            <a:headEnd/>
            <a:tailEnd/>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Título 1"/>
          <p:cNvSpPr>
            <a:spLocks noGrp="1"/>
          </p:cNvSpPr>
          <p:nvPr>
            <p:ph type="title"/>
          </p:nvPr>
        </p:nvSpPr>
        <p:spPr bwMode="auto">
          <a:xfrm>
            <a:off x="0" y="288925"/>
            <a:ext cx="8370888"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s-ES" altLang="es-MX" sz="6600" dirty="0">
                <a:solidFill>
                  <a:srgbClr val="008000"/>
                </a:solidFill>
                <a:latin typeface="Times New Roman" pitchFamily="18" charset="0"/>
                <a:cs typeface="Times New Roman" pitchFamily="18" charset="0"/>
              </a:rPr>
              <a:t>Humus</a:t>
            </a:r>
            <a:endParaRPr lang="es-ES" altLang="es-MX" sz="6600" dirty="0">
              <a:latin typeface="Times New Roman" pitchFamily="18" charset="0"/>
              <a:cs typeface="Times New Roman" pitchFamily="18" charset="0"/>
            </a:endParaRPr>
          </a:p>
        </p:txBody>
      </p:sp>
      <p:sp>
        <p:nvSpPr>
          <p:cNvPr id="173058" name="4 Rectángulo"/>
          <p:cNvSpPr>
            <a:spLocks noChangeArrowheads="1"/>
          </p:cNvSpPr>
          <p:nvPr/>
        </p:nvSpPr>
        <p:spPr bwMode="auto">
          <a:xfrm>
            <a:off x="504825" y="2071688"/>
            <a:ext cx="7361238" cy="2943225"/>
          </a:xfrm>
          <a:prstGeom prst="rect">
            <a:avLst/>
          </a:prstGeom>
          <a:noFill/>
          <a:ln w="9525">
            <a:noFill/>
            <a:miter lim="800000"/>
            <a:headEnd/>
            <a:tailEnd/>
          </a:ln>
        </p:spPr>
        <p:txBody>
          <a:bodyPr>
            <a:spAutoFit/>
          </a:bodyPr>
          <a:lstStyle/>
          <a:p>
            <a:pPr algn="just" eaLnBrk="1" hangingPunct="1">
              <a:lnSpc>
                <a:spcPct val="130000"/>
              </a:lnSpc>
            </a:pPr>
            <a:r>
              <a:rPr lang="es-MX" altLang="es-MX" sz="3600" dirty="0">
                <a:latin typeface="Times New Roman" pitchFamily="18" charset="0"/>
                <a:cs typeface="Times New Roman" pitchFamily="18" charset="0"/>
              </a:rPr>
              <a:t>Is the </a:t>
            </a:r>
            <a:r>
              <a:rPr lang="es-MX" altLang="es-MX" sz="3600" dirty="0" err="1">
                <a:latin typeface="Times New Roman" pitchFamily="18" charset="0"/>
                <a:cs typeface="Times New Roman" pitchFamily="18" charset="0"/>
              </a:rPr>
              <a:t>portion</a:t>
            </a:r>
            <a:r>
              <a:rPr lang="es-MX" altLang="es-MX" sz="3600" dirty="0">
                <a:latin typeface="Times New Roman" pitchFamily="18" charset="0"/>
                <a:cs typeface="Times New Roman" pitchFamily="18" charset="0"/>
              </a:rPr>
              <a:t> of the organic matter </a:t>
            </a:r>
            <a:r>
              <a:rPr lang="es-MX" altLang="es-MX" sz="3600" dirty="0" err="1">
                <a:latin typeface="Times New Roman" pitchFamily="18" charset="0"/>
                <a:cs typeface="Times New Roman" pitchFamily="18" charset="0"/>
              </a:rPr>
              <a:t>fully</a:t>
            </a:r>
            <a:r>
              <a:rPr lang="es-MX" altLang="es-MX" sz="3600" dirty="0">
                <a:latin typeface="Times New Roman" pitchFamily="18" charset="0"/>
                <a:cs typeface="Times New Roman" pitchFamily="18" charset="0"/>
              </a:rPr>
              <a:t> decomposed, from </a:t>
            </a:r>
            <a:r>
              <a:rPr lang="es-MX" altLang="es-MX" sz="3600" dirty="0" err="1">
                <a:latin typeface="Times New Roman" pitchFamily="18" charset="0"/>
                <a:cs typeface="Times New Roman" pitchFamily="18" charset="0"/>
              </a:rPr>
              <a:t>which</a:t>
            </a:r>
            <a:r>
              <a:rPr lang="es-MX" altLang="es-MX" sz="3600" dirty="0">
                <a:latin typeface="Times New Roman" pitchFamily="18" charset="0"/>
                <a:cs typeface="Times New Roman" pitchFamily="18" charset="0"/>
              </a:rPr>
              <a:t> no </a:t>
            </a:r>
            <a:r>
              <a:rPr lang="es-MX" altLang="es-MX" sz="3600" dirty="0" err="1">
                <a:latin typeface="Times New Roman" pitchFamily="18" charset="0"/>
                <a:cs typeface="Times New Roman" pitchFamily="18" charset="0"/>
              </a:rPr>
              <a:t>waste</a:t>
            </a:r>
            <a:r>
              <a:rPr lang="es-MX" altLang="es-MX" sz="3600" dirty="0">
                <a:latin typeface="Times New Roman" pitchFamily="18" charset="0"/>
                <a:cs typeface="Times New Roman" pitchFamily="18" charset="0"/>
              </a:rPr>
              <a:t> in particular can be </a:t>
            </a:r>
            <a:r>
              <a:rPr lang="es-MX" altLang="es-MX" sz="3600" dirty="0" err="1">
                <a:latin typeface="Times New Roman" pitchFamily="18" charset="0"/>
                <a:cs typeface="Times New Roman" pitchFamily="18" charset="0"/>
              </a:rPr>
              <a:t>identified</a:t>
            </a:r>
            <a:r>
              <a:rPr lang="es-MX" altLang="es-MX" sz="3600" dirty="0">
                <a:latin typeface="Times New Roman" pitchFamily="18" charset="0"/>
                <a:cs typeface="Times New Roman" pitchFamily="18" charset="0"/>
              </a:rPr>
              <a:t> or </a:t>
            </a:r>
            <a:r>
              <a:rPr lang="es-MX" altLang="es-MX" sz="3600" dirty="0" err="1">
                <a:latin typeface="Times New Roman" pitchFamily="18" charset="0"/>
                <a:cs typeface="Times New Roman" pitchFamily="18" charset="0"/>
              </a:rPr>
              <a:t>differentiated</a:t>
            </a:r>
            <a:r>
              <a:rPr lang="es-MX" altLang="es-MX" sz="3600" dirty="0">
                <a:latin typeface="Times New Roman" pitchFamily="18" charset="0"/>
                <a:cs typeface="Times New Roman" pitchFamily="18" charset="0"/>
              </a:rPr>
              <a:t>. </a:t>
            </a:r>
          </a:p>
        </p:txBody>
      </p:sp>
      <p:pic>
        <p:nvPicPr>
          <p:cNvPr id="173059" name="Imagen 1" descr="Captura de pantalla 2014-02-20 a la(s) 10.02.59.png"/>
          <p:cNvPicPr>
            <a:picLocks noChangeAspect="1"/>
          </p:cNvPicPr>
          <p:nvPr/>
        </p:nvPicPr>
        <p:blipFill>
          <a:blip r:embed="rId2"/>
          <a:srcRect/>
          <a:stretch>
            <a:fillRect/>
          </a:stretch>
        </p:blipFill>
        <p:spPr bwMode="auto">
          <a:xfrm>
            <a:off x="8370888" y="0"/>
            <a:ext cx="773112" cy="2536825"/>
          </a:xfrm>
          <a:prstGeom prst="rect">
            <a:avLst/>
          </a:prstGeom>
          <a:noFill/>
          <a:ln w="9525">
            <a:noFill/>
            <a:miter lim="800000"/>
            <a:headEnd/>
            <a:tailEnd/>
          </a:ln>
        </p:spPr>
      </p:pic>
      <p:pic>
        <p:nvPicPr>
          <p:cNvPr id="173060" name="Imagen 2" descr="Captura de pantalla 2014-02-20 a la(s) 10.02.48.png"/>
          <p:cNvPicPr>
            <a:picLocks noChangeAspect="1"/>
          </p:cNvPicPr>
          <p:nvPr/>
        </p:nvPicPr>
        <p:blipFill>
          <a:blip r:embed="rId3"/>
          <a:srcRect/>
          <a:stretch>
            <a:fillRect/>
          </a:stretch>
        </p:blipFill>
        <p:spPr bwMode="auto">
          <a:xfrm>
            <a:off x="8370888" y="3543300"/>
            <a:ext cx="819150" cy="2322513"/>
          </a:xfrm>
          <a:prstGeom prst="rect">
            <a:avLst/>
          </a:prstGeom>
          <a:noFill/>
          <a:ln w="9525">
            <a:noFill/>
            <a:miter lim="800000"/>
            <a:headEnd/>
            <a:tailEnd/>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81" name="4 Rectángulo"/>
          <p:cNvSpPr>
            <a:spLocks noChangeArrowheads="1"/>
          </p:cNvSpPr>
          <p:nvPr/>
        </p:nvSpPr>
        <p:spPr bwMode="auto">
          <a:xfrm>
            <a:off x="762000" y="990600"/>
            <a:ext cx="7386637" cy="5232202"/>
          </a:xfrm>
          <a:prstGeom prst="rect">
            <a:avLst/>
          </a:prstGeom>
          <a:noFill/>
          <a:ln w="9525">
            <a:noFill/>
            <a:miter lim="800000"/>
            <a:headEnd/>
            <a:tailEnd/>
          </a:ln>
        </p:spPr>
        <p:txBody>
          <a:bodyPr wrap="square">
            <a:spAutoFit/>
          </a:bodyPr>
          <a:lstStyle/>
          <a:p>
            <a:pPr eaLnBrk="1" hangingPunct="1"/>
            <a:r>
              <a:rPr lang="es-MX" altLang="es-MX" sz="2000" dirty="0">
                <a:latin typeface="Times New Roman" pitchFamily="18" charset="0"/>
                <a:cs typeface="Times New Roman" pitchFamily="18" charset="0"/>
              </a:rPr>
              <a:t>The compounds included under this concept are a heterogeneous group of the following characteristics:</a:t>
            </a:r>
          </a:p>
          <a:p>
            <a:pPr algn="just" eaLnBrk="1" hangingPunct="1">
              <a:lnSpc>
                <a:spcPct val="70000"/>
              </a:lnSpc>
            </a:pPr>
            <a:endParaRPr lang="es-MX" altLang="es-MX" sz="2000" dirty="0">
              <a:latin typeface="Times New Roman" pitchFamily="18" charset="0"/>
              <a:cs typeface="Times New Roman" pitchFamily="18" charset="0"/>
            </a:endParaRPr>
          </a:p>
          <a:p>
            <a:pPr eaLnBrk="1" hangingPunct="1">
              <a:lnSpc>
                <a:spcPct val="90000"/>
              </a:lnSpc>
              <a:buFontTx/>
              <a:buChar char="•"/>
            </a:pPr>
            <a:r>
              <a:rPr lang="es-MX" altLang="es-MX" sz="2000" dirty="0">
                <a:latin typeface="Times New Roman" pitchFamily="18" charset="0"/>
                <a:cs typeface="Times New Roman" pitchFamily="18" charset="0"/>
              </a:rPr>
              <a:t>Highly polymerized substances (from aromatic and aliphatic compounds).</a:t>
            </a:r>
          </a:p>
          <a:p>
            <a:pPr algn="just" eaLnBrk="1" hangingPunct="1">
              <a:lnSpc>
                <a:spcPct val="70000"/>
              </a:lnSpc>
              <a:buFontTx/>
              <a:buChar char="•"/>
            </a:pPr>
            <a:endParaRPr lang="es-MX" altLang="es-MX" sz="2000" dirty="0">
              <a:latin typeface="Times New Roman" pitchFamily="18" charset="0"/>
              <a:cs typeface="Times New Roman" pitchFamily="18" charset="0"/>
            </a:endParaRPr>
          </a:p>
          <a:p>
            <a:pPr algn="just" eaLnBrk="1" hangingPunct="1">
              <a:lnSpc>
                <a:spcPct val="70000"/>
              </a:lnSpc>
              <a:buFontTx/>
              <a:buChar char="•"/>
            </a:pPr>
            <a:r>
              <a:rPr lang="es-MX" altLang="es-MX" sz="2000" dirty="0">
                <a:latin typeface="Times New Roman" pitchFamily="18" charset="0"/>
                <a:cs typeface="Times New Roman" pitchFamily="18" charset="0"/>
              </a:rPr>
              <a:t>Relatively high molecular weight.</a:t>
            </a:r>
          </a:p>
          <a:p>
            <a:pPr algn="just" eaLnBrk="1" hangingPunct="1">
              <a:lnSpc>
                <a:spcPct val="70000"/>
              </a:lnSpc>
              <a:buFontTx/>
              <a:buChar char="•"/>
            </a:pPr>
            <a:endParaRPr lang="es-MX" altLang="es-MX" sz="2000" dirty="0">
              <a:latin typeface="Times New Roman" pitchFamily="18" charset="0"/>
              <a:cs typeface="Times New Roman" pitchFamily="18" charset="0"/>
            </a:endParaRPr>
          </a:p>
          <a:p>
            <a:pPr algn="just" eaLnBrk="1" hangingPunct="1">
              <a:lnSpc>
                <a:spcPct val="70000"/>
              </a:lnSpc>
              <a:buFontTx/>
              <a:buChar char="•"/>
            </a:pPr>
            <a:r>
              <a:rPr lang="es-MX" altLang="es-MX" sz="2000" dirty="0">
                <a:latin typeface="Times New Roman" pitchFamily="18" charset="0"/>
                <a:cs typeface="Times New Roman" pitchFamily="18" charset="0"/>
              </a:rPr>
              <a:t>Dark colour and hydrophilic colloidal properties.</a:t>
            </a:r>
          </a:p>
          <a:p>
            <a:pPr algn="just" eaLnBrk="1" hangingPunct="1">
              <a:lnSpc>
                <a:spcPct val="70000"/>
              </a:lnSpc>
            </a:pPr>
            <a:endParaRPr lang="es-MX" altLang="es-MX" sz="2000" dirty="0">
              <a:latin typeface="Times New Roman" pitchFamily="18" charset="0"/>
              <a:cs typeface="Times New Roman" pitchFamily="18" charset="0"/>
            </a:endParaRPr>
          </a:p>
          <a:p>
            <a:pPr algn="just" eaLnBrk="1" hangingPunct="1">
              <a:lnSpc>
                <a:spcPct val="70000"/>
              </a:lnSpc>
              <a:buFont typeface="Arial" pitchFamily="34" charset="0"/>
              <a:buChar char="•"/>
            </a:pPr>
            <a:r>
              <a:rPr lang="es-MX" altLang="es-MX" sz="2000" dirty="0">
                <a:latin typeface="Times New Roman" pitchFamily="18" charset="0"/>
                <a:cs typeface="Times New Roman" pitchFamily="18" charset="0"/>
              </a:rPr>
              <a:t>They are composed mostly of C,O, H, N, S and P.</a:t>
            </a:r>
          </a:p>
          <a:p>
            <a:pPr algn="just" eaLnBrk="1" hangingPunct="1"/>
            <a:endParaRPr lang="es-MX" altLang="es-MX" sz="2000" dirty="0">
              <a:latin typeface="Times New Roman" pitchFamily="18" charset="0"/>
              <a:cs typeface="Times New Roman" pitchFamily="18" charset="0"/>
            </a:endParaRPr>
          </a:p>
          <a:p>
            <a:pPr algn="just" eaLnBrk="1" hangingPunct="1"/>
            <a:r>
              <a:rPr lang="es-MX" altLang="es-MX" sz="2000" b="1" dirty="0">
                <a:latin typeface="Times New Roman" pitchFamily="18" charset="0"/>
                <a:cs typeface="Times New Roman" pitchFamily="18" charset="0"/>
              </a:rPr>
              <a:t>Humus is formed by two fractions:</a:t>
            </a:r>
          </a:p>
          <a:p>
            <a:pPr algn="just" eaLnBrk="1" hangingPunct="1"/>
            <a:endParaRPr lang="es-MX" altLang="es-MX" sz="2000" dirty="0">
              <a:latin typeface="Times New Roman" pitchFamily="18" charset="0"/>
              <a:cs typeface="Times New Roman" pitchFamily="18" charset="0"/>
            </a:endParaRPr>
          </a:p>
          <a:p>
            <a:pPr algn="just" eaLnBrk="1" hangingPunct="1">
              <a:buFontTx/>
              <a:buChar char="•"/>
            </a:pPr>
            <a:r>
              <a:rPr lang="es-MX" altLang="es-MX" sz="2000" dirty="0">
                <a:latin typeface="Times New Roman" pitchFamily="18" charset="0"/>
                <a:cs typeface="Times New Roman" pitchFamily="18" charset="0"/>
              </a:rPr>
              <a:t>Recognizable structure substances, animo acids, polysaccharides, fats and waxes (not humic substances). </a:t>
            </a:r>
          </a:p>
          <a:p>
            <a:pPr algn="just" eaLnBrk="1" hangingPunct="1"/>
            <a:endParaRPr lang="es-MX" altLang="es-MX" sz="2000" dirty="0">
              <a:latin typeface="Times New Roman" pitchFamily="18" charset="0"/>
              <a:cs typeface="Times New Roman" pitchFamily="18" charset="0"/>
            </a:endParaRPr>
          </a:p>
          <a:p>
            <a:pPr algn="just" eaLnBrk="1" hangingPunct="1">
              <a:buFontTx/>
              <a:buChar char="•"/>
            </a:pPr>
            <a:r>
              <a:rPr lang="es-MX" altLang="es-MX" sz="2000" dirty="0">
                <a:latin typeface="Times New Roman" pitchFamily="18" charset="0"/>
                <a:cs typeface="Times New Roman" pitchFamily="18" charset="0"/>
              </a:rPr>
              <a:t>Complex amorphous structure substances: fulvic acids, humic acids and humins humic substances. </a:t>
            </a:r>
          </a:p>
        </p:txBody>
      </p:sp>
      <p:sp>
        <p:nvSpPr>
          <p:cNvPr id="174082" name="Título 1"/>
          <p:cNvSpPr>
            <a:spLocks noGrp="1"/>
          </p:cNvSpPr>
          <p:nvPr>
            <p:ph type="title"/>
          </p:nvPr>
        </p:nvSpPr>
        <p:spPr bwMode="auto">
          <a:xfrm>
            <a:off x="0" y="0"/>
            <a:ext cx="8370888" cy="681037"/>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sz="6600" dirty="0">
                <a:solidFill>
                  <a:srgbClr val="008000"/>
                </a:solidFill>
                <a:latin typeface="Times New Roman" pitchFamily="18" charset="0"/>
                <a:cs typeface="Times New Roman" pitchFamily="18" charset="0"/>
              </a:rPr>
              <a:t>Humus</a:t>
            </a:r>
            <a:endParaRPr lang="es-ES" altLang="es-MX" sz="6600" dirty="0">
              <a:latin typeface="Times New Roman" pitchFamily="18" charset="0"/>
              <a:cs typeface="Times New Roman" pitchFamily="18" charset="0"/>
            </a:endParaRPr>
          </a:p>
        </p:txBody>
      </p:sp>
      <p:pic>
        <p:nvPicPr>
          <p:cNvPr id="174083" name="Imagen 4" descr="shutterstock_105292010.jpg"/>
          <p:cNvPicPr>
            <a:picLocks noChangeAspect="1"/>
          </p:cNvPicPr>
          <p:nvPr/>
        </p:nvPicPr>
        <p:blipFill>
          <a:blip r:embed="rId2"/>
          <a:srcRect/>
          <a:stretch>
            <a:fillRect/>
          </a:stretch>
        </p:blipFill>
        <p:spPr bwMode="auto">
          <a:xfrm>
            <a:off x="8370888" y="50800"/>
            <a:ext cx="773112" cy="2498725"/>
          </a:xfrm>
          <a:prstGeom prst="rect">
            <a:avLst/>
          </a:prstGeom>
          <a:noFill/>
          <a:ln w="9525">
            <a:noFill/>
            <a:miter lim="800000"/>
            <a:headEnd/>
            <a:tailEnd/>
          </a:ln>
        </p:spPr>
      </p:pic>
      <p:pic>
        <p:nvPicPr>
          <p:cNvPr id="174084" name="Imagen 5" descr="limones_head.psd"/>
          <p:cNvPicPr>
            <a:picLocks noChangeAspect="1"/>
          </p:cNvPicPr>
          <p:nvPr/>
        </p:nvPicPr>
        <p:blipFill>
          <a:blip r:embed="rId3"/>
          <a:srcRect/>
          <a:stretch>
            <a:fillRect/>
          </a:stretch>
        </p:blipFill>
        <p:spPr bwMode="auto">
          <a:xfrm>
            <a:off x="8370888" y="3509963"/>
            <a:ext cx="796925" cy="2379662"/>
          </a:xfrm>
          <a:prstGeom prst="rect">
            <a:avLst/>
          </a:prstGeom>
          <a:noFill/>
          <a:ln w="9525">
            <a:noFill/>
            <a:miter lim="800000"/>
            <a:headEnd/>
            <a:tailEnd/>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ChangeArrowheads="1"/>
          </p:cNvSpPr>
          <p:nvPr/>
        </p:nvSpPr>
        <p:spPr bwMode="auto">
          <a:xfrm>
            <a:off x="381000" y="1143000"/>
            <a:ext cx="2971800" cy="1676400"/>
          </a:xfrm>
          <a:prstGeom prst="rect">
            <a:avLst/>
          </a:prstGeom>
          <a:solidFill>
            <a:srgbClr val="008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MX" altLang="es-MX"/>
          </a:p>
        </p:txBody>
      </p:sp>
      <p:sp>
        <p:nvSpPr>
          <p:cNvPr id="8195" name="Text Box 3"/>
          <p:cNvSpPr txBox="1">
            <a:spLocks noChangeArrowheads="1"/>
          </p:cNvSpPr>
          <p:nvPr/>
        </p:nvSpPr>
        <p:spPr bwMode="auto">
          <a:xfrm>
            <a:off x="417513" y="1136650"/>
            <a:ext cx="2743200" cy="1630363"/>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s-ES_tradnl" altLang="es-MX" sz="4000" b="1" dirty="0">
                <a:effectLst>
                  <a:outerShdw blurRad="38100" dist="38100" dir="2700000" algn="tl">
                    <a:srgbClr val="C0C0C0"/>
                  </a:outerShdw>
                </a:effectLst>
                <a:latin typeface="Courier New" panose="02070309020205020404" pitchFamily="49" charset="0"/>
              </a:rPr>
              <a:t> ORGANIC</a:t>
            </a:r>
          </a:p>
          <a:p>
            <a:pPr algn="ctr">
              <a:spcBef>
                <a:spcPct val="50000"/>
              </a:spcBef>
              <a:defRPr/>
            </a:pPr>
            <a:r>
              <a:rPr lang="es-ES_tradnl" altLang="es-MX" sz="4000" b="1" dirty="0">
                <a:effectLst>
                  <a:outerShdw blurRad="38100" dist="38100" dir="2700000" algn="tl">
                    <a:srgbClr val="C0C0C0"/>
                  </a:outerShdw>
                </a:effectLst>
                <a:latin typeface="Courier New" panose="02070309020205020404" pitchFamily="49" charset="0"/>
              </a:rPr>
              <a:t>MATTER</a:t>
            </a:r>
          </a:p>
        </p:txBody>
      </p:sp>
      <p:sp>
        <p:nvSpPr>
          <p:cNvPr id="159748" name="Rectangle 4"/>
          <p:cNvSpPr>
            <a:spLocks noChangeArrowheads="1"/>
          </p:cNvSpPr>
          <p:nvPr/>
        </p:nvSpPr>
        <p:spPr bwMode="auto">
          <a:xfrm>
            <a:off x="5181600" y="1295400"/>
            <a:ext cx="2971800" cy="1676400"/>
          </a:xfrm>
          <a:prstGeom prst="rect">
            <a:avLst/>
          </a:prstGeom>
          <a:solidFill>
            <a:srgbClr val="FF0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MX" altLang="es-MX"/>
          </a:p>
        </p:txBody>
      </p:sp>
      <p:sp>
        <p:nvSpPr>
          <p:cNvPr id="8197" name="Text Box 5"/>
          <p:cNvSpPr txBox="1">
            <a:spLocks noChangeArrowheads="1"/>
          </p:cNvSpPr>
          <p:nvPr/>
        </p:nvSpPr>
        <p:spPr bwMode="auto">
          <a:xfrm>
            <a:off x="5294313" y="1349375"/>
            <a:ext cx="2743200" cy="1006475"/>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s-ES_tradnl" altLang="es-MX" sz="6000" b="1" dirty="0">
                <a:effectLst>
                  <a:outerShdw blurRad="38100" dist="38100" dir="2700000" algn="tl">
                    <a:srgbClr val="C0C0C0"/>
                  </a:outerShdw>
                </a:effectLst>
                <a:latin typeface="Courier New" panose="02070309020205020404" pitchFamily="49" charset="0"/>
              </a:rPr>
              <a:t>HUMUS</a:t>
            </a:r>
          </a:p>
        </p:txBody>
      </p:sp>
      <p:sp>
        <p:nvSpPr>
          <p:cNvPr id="159750" name="Text Box 7"/>
          <p:cNvSpPr txBox="1">
            <a:spLocks noChangeArrowheads="1"/>
          </p:cNvSpPr>
          <p:nvPr/>
        </p:nvSpPr>
        <p:spPr bwMode="auto">
          <a:xfrm>
            <a:off x="3495675" y="682625"/>
            <a:ext cx="2303463"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s-MX" altLang="es-MX" sz="15000" dirty="0">
                <a:solidFill>
                  <a:srgbClr val="FF3300"/>
                </a:solidFill>
              </a:rPr>
              <a:t>=</a:t>
            </a:r>
            <a:endParaRPr lang="es-ES" altLang="es-MX" sz="15000" dirty="0">
              <a:solidFill>
                <a:srgbClr val="FF3300"/>
              </a:solidFill>
            </a:endParaRPr>
          </a:p>
        </p:txBody>
      </p:sp>
      <p:sp>
        <p:nvSpPr>
          <p:cNvPr id="159751" name="Line 8"/>
          <p:cNvSpPr>
            <a:spLocks noChangeShapeType="1"/>
          </p:cNvSpPr>
          <p:nvPr/>
        </p:nvSpPr>
        <p:spPr bwMode="auto">
          <a:xfrm flipH="1">
            <a:off x="3854450" y="1258888"/>
            <a:ext cx="431800" cy="1368425"/>
          </a:xfrm>
          <a:prstGeom prst="line">
            <a:avLst/>
          </a:prstGeom>
          <a:noFill/>
          <a:ln w="136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alibri" charset="0"/>
              <a:ea typeface="MS PGothic" charset="-128"/>
            </a:endParaRPr>
          </a:p>
        </p:txBody>
      </p:sp>
      <p:sp>
        <p:nvSpPr>
          <p:cNvPr id="176139" name="Título 1"/>
          <p:cNvSpPr txBox="1">
            <a:spLocks/>
          </p:cNvSpPr>
          <p:nvPr/>
        </p:nvSpPr>
        <p:spPr bwMode="auto">
          <a:xfrm>
            <a:off x="0" y="69850"/>
            <a:ext cx="8370888" cy="1143000"/>
          </a:xfrm>
          <a:prstGeom prst="rect">
            <a:avLst/>
          </a:prstGeom>
          <a:noFill/>
          <a:ln w="9525">
            <a:noFill/>
            <a:miter lim="800000"/>
            <a:headEnd/>
            <a:tailEnd/>
          </a:ln>
        </p:spPr>
        <p:txBody>
          <a:bodyPr/>
          <a:lstStyle/>
          <a:p>
            <a:pPr algn="ctr" eaLnBrk="1" hangingPunct="1"/>
            <a:r>
              <a:rPr lang="es-ES" altLang="es-MX" sz="6600">
                <a:solidFill>
                  <a:srgbClr val="008000"/>
                </a:solidFill>
              </a:rPr>
              <a:t>Humus</a:t>
            </a:r>
            <a:endParaRPr lang="es-ES" altLang="es-MX" sz="6600"/>
          </a:p>
        </p:txBody>
      </p:sp>
      <p:pic>
        <p:nvPicPr>
          <p:cNvPr id="176140" name="Imagen 2" descr="Captura de pantalla 2014-02-20 a la(s) 10.02.40.png"/>
          <p:cNvPicPr>
            <a:picLocks noChangeAspect="1"/>
          </p:cNvPicPr>
          <p:nvPr/>
        </p:nvPicPr>
        <p:blipFill>
          <a:blip r:embed="rId2"/>
          <a:srcRect/>
          <a:stretch>
            <a:fillRect/>
          </a:stretch>
        </p:blipFill>
        <p:spPr bwMode="auto">
          <a:xfrm>
            <a:off x="8369300" y="3203575"/>
            <a:ext cx="876300" cy="2212975"/>
          </a:xfrm>
          <a:prstGeom prst="rect">
            <a:avLst/>
          </a:prstGeom>
          <a:noFill/>
          <a:ln w="9525">
            <a:noFill/>
            <a:miter lim="800000"/>
            <a:headEnd/>
            <a:tailEnd/>
          </a:ln>
        </p:spPr>
      </p:pic>
      <p:pic>
        <p:nvPicPr>
          <p:cNvPr id="176141" name="Imagen 3" descr="Captura de pantalla 2014-02-20 a la(s) 10.02.30.png"/>
          <p:cNvPicPr>
            <a:picLocks noChangeAspect="1"/>
          </p:cNvPicPr>
          <p:nvPr/>
        </p:nvPicPr>
        <p:blipFill>
          <a:blip r:embed="rId3"/>
          <a:srcRect/>
          <a:stretch>
            <a:fillRect/>
          </a:stretch>
        </p:blipFill>
        <p:spPr bwMode="auto">
          <a:xfrm>
            <a:off x="8370888" y="0"/>
            <a:ext cx="981075" cy="2540000"/>
          </a:xfrm>
          <a:prstGeom prst="rect">
            <a:avLst/>
          </a:prstGeom>
          <a:noFill/>
          <a:ln w="9525">
            <a:noFill/>
            <a:miter lim="800000"/>
            <a:headEnd/>
            <a:tailEnd/>
          </a:ln>
        </p:spPr>
      </p:pic>
      <p:sp>
        <p:nvSpPr>
          <p:cNvPr id="4" name="Rectángulo 3">
            <a:hlinkClick r:id="rId4" action="ppaction://hlinkfile"/>
          </p:cNvPr>
          <p:cNvSpPr>
            <a:spLocks noChangeArrowheads="1"/>
          </p:cNvSpPr>
          <p:nvPr/>
        </p:nvSpPr>
        <p:spPr bwMode="auto">
          <a:xfrm>
            <a:off x="1323975" y="5580063"/>
            <a:ext cx="5854700" cy="806450"/>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dist="23000" dir="5400000" rotWithShape="0">
              <a:srgbClr val="808080">
                <a:alpha val="34998"/>
              </a:srgbClr>
            </a:outerShdw>
          </a:effectLst>
        </p:spPr>
        <p:txBody>
          <a:bodyPr anchor="ctr"/>
          <a:lstStyle/>
          <a:p>
            <a:pPr algn="ctr">
              <a:defRPr/>
            </a:pPr>
            <a:r>
              <a:rPr lang="es-MX" sz="2000" b="1" dirty="0">
                <a:latin typeface="+mn-lt"/>
                <a:ea typeface="+mn-ea"/>
              </a:rPr>
              <a:t>1 kg concentrated powder Humus = 30 tons manure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Título 1"/>
          <p:cNvSpPr>
            <a:spLocks noGrp="1"/>
          </p:cNvSpPr>
          <p:nvPr>
            <p:ph type="title"/>
          </p:nvPr>
        </p:nvSpPr>
        <p:spPr bwMode="auto">
          <a:xfrm>
            <a:off x="0" y="228600"/>
            <a:ext cx="8370888" cy="11430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s-ES" altLang="es-MX" dirty="0">
                <a:solidFill>
                  <a:srgbClr val="008000"/>
                </a:solidFill>
                <a:latin typeface="Times New Roman" pitchFamily="18" charset="0"/>
                <a:cs typeface="Times New Roman" pitchFamily="18" charset="0"/>
              </a:rPr>
              <a:t>Organic matter</a:t>
            </a:r>
            <a:br>
              <a:rPr lang="es-ES" altLang="es-MX" dirty="0">
                <a:solidFill>
                  <a:srgbClr val="008000"/>
                </a:solidFill>
                <a:latin typeface="Times New Roman" pitchFamily="18" charset="0"/>
                <a:cs typeface="Times New Roman" pitchFamily="18" charset="0"/>
              </a:rPr>
            </a:br>
            <a:r>
              <a:rPr lang="es-ES" altLang="es-MX" sz="3600" dirty="0">
                <a:solidFill>
                  <a:srgbClr val="008000"/>
                </a:solidFill>
                <a:latin typeface="Times New Roman" pitchFamily="18" charset="0"/>
                <a:cs typeface="Times New Roman" pitchFamily="18" charset="0"/>
              </a:rPr>
              <a:t>micro-organisms - plant relation</a:t>
            </a:r>
            <a:endParaRPr lang="es-ES" altLang="es-MX" sz="3600" dirty="0">
              <a:latin typeface="Times New Roman" pitchFamily="18" charset="0"/>
              <a:cs typeface="Times New Roman" pitchFamily="18" charset="0"/>
            </a:endParaRPr>
          </a:p>
        </p:txBody>
      </p:sp>
      <p:sp>
        <p:nvSpPr>
          <p:cNvPr id="177154" name="4 Rectángulo"/>
          <p:cNvSpPr>
            <a:spLocks noChangeArrowheads="1"/>
          </p:cNvSpPr>
          <p:nvPr/>
        </p:nvSpPr>
        <p:spPr bwMode="auto">
          <a:xfrm>
            <a:off x="4343400" y="2081213"/>
            <a:ext cx="3505200" cy="4647426"/>
          </a:xfrm>
          <a:prstGeom prst="rect">
            <a:avLst/>
          </a:prstGeom>
          <a:noFill/>
          <a:ln w="9525">
            <a:noFill/>
            <a:miter lim="800000"/>
            <a:headEnd/>
            <a:tailEnd/>
          </a:ln>
        </p:spPr>
        <p:txBody>
          <a:bodyPr wrap="square">
            <a:spAutoFit/>
          </a:bodyPr>
          <a:lstStyle/>
          <a:p>
            <a:pPr algn="ctr" eaLnBrk="1" hangingPunct="1"/>
            <a:r>
              <a:rPr lang="es-MX" altLang="es-MX" sz="2000" dirty="0">
                <a:latin typeface="Times New Roman" pitchFamily="18" charset="0"/>
                <a:cs typeface="Times New Roman" pitchFamily="18" charset="0"/>
              </a:rPr>
              <a:t>BENEFITS</a:t>
            </a:r>
          </a:p>
          <a:p>
            <a:pPr algn="ctr" eaLnBrk="1" hangingPunct="1"/>
            <a:endParaRPr lang="es-MX" altLang="es-MX" sz="2000" dirty="0">
              <a:latin typeface="Times New Roman" pitchFamily="18" charset="0"/>
              <a:cs typeface="Times New Roman" pitchFamily="18" charset="0"/>
            </a:endParaRPr>
          </a:p>
          <a:p>
            <a:pPr eaLnBrk="1" hangingPunct="1"/>
            <a:r>
              <a:rPr lang="es-MX" altLang="es-MX" sz="2000" dirty="0">
                <a:latin typeface="Times New Roman" pitchFamily="18" charset="0"/>
                <a:cs typeface="Times New Roman" pitchFamily="18" charset="0"/>
              </a:rPr>
              <a:t>* Organic matter mineralization</a:t>
            </a:r>
          </a:p>
          <a:p>
            <a:pPr eaLnBrk="1" hangingPunct="1"/>
            <a:r>
              <a:rPr lang="es-MX" altLang="es-MX" sz="2000" dirty="0">
                <a:latin typeface="Times New Roman" pitchFamily="18" charset="0"/>
                <a:cs typeface="Times New Roman" pitchFamily="18" charset="0"/>
              </a:rPr>
              <a:t>* Root growth and morphology</a:t>
            </a:r>
          </a:p>
          <a:p>
            <a:pPr eaLnBrk="1" hangingPunct="1"/>
            <a:r>
              <a:rPr lang="es-MX" altLang="es-MX" sz="2000" dirty="0">
                <a:latin typeface="Times New Roman" pitchFamily="18" charset="0"/>
                <a:cs typeface="Times New Roman" pitchFamily="18" charset="0"/>
              </a:rPr>
              <a:t>* Enzyme, vitamin and cofactor production</a:t>
            </a:r>
          </a:p>
          <a:p>
            <a:pPr eaLnBrk="1" hangingPunct="1"/>
            <a:r>
              <a:rPr lang="es-MX" altLang="es-MX" sz="2000" dirty="0">
                <a:latin typeface="Times New Roman" pitchFamily="18" charset="0"/>
                <a:cs typeface="Times New Roman" pitchFamily="18" charset="0"/>
              </a:rPr>
              <a:t>* Soil stability and aggregation</a:t>
            </a:r>
          </a:p>
          <a:p>
            <a:pPr eaLnBrk="1" hangingPunct="1"/>
            <a:r>
              <a:rPr lang="es-MX" altLang="es-MX" sz="2000" dirty="0">
                <a:latin typeface="Times New Roman" pitchFamily="18" charset="0"/>
                <a:cs typeface="Times New Roman" pitchFamily="18" charset="0"/>
              </a:rPr>
              <a:t>* Growth promoting compounds production</a:t>
            </a:r>
          </a:p>
          <a:p>
            <a:pPr eaLnBrk="1" hangingPunct="1"/>
            <a:r>
              <a:rPr lang="es-MX" altLang="es-MX" sz="2000" dirty="0">
                <a:latin typeface="Times New Roman" pitchFamily="18" charset="0"/>
                <a:cs typeface="Times New Roman" pitchFamily="18" charset="0"/>
              </a:rPr>
              <a:t>* Nutrient absorption and translocation</a:t>
            </a:r>
          </a:p>
          <a:p>
            <a:pPr eaLnBrk="1" hangingPunct="1"/>
            <a:r>
              <a:rPr lang="es-MX" altLang="es-MX" sz="2000" dirty="0">
                <a:latin typeface="Times New Roman" pitchFamily="18" charset="0"/>
                <a:cs typeface="Times New Roman" pitchFamily="18" charset="0"/>
              </a:rPr>
              <a:t>* Chelation reaction</a:t>
            </a:r>
          </a:p>
          <a:p>
            <a:pPr eaLnBrk="1" hangingPunct="1"/>
            <a:r>
              <a:rPr lang="es-MX" altLang="es-MX" sz="2000" dirty="0">
                <a:latin typeface="Times New Roman" pitchFamily="18" charset="0"/>
                <a:cs typeface="Times New Roman" pitchFamily="18" charset="0"/>
              </a:rPr>
              <a:t>* Mineral solubility</a:t>
            </a:r>
          </a:p>
          <a:p>
            <a:pPr eaLnBrk="1" hangingPunct="1"/>
            <a:endParaRPr lang="es-MX" altLang="es-MX" sz="3600" dirty="0"/>
          </a:p>
        </p:txBody>
      </p:sp>
      <p:pic>
        <p:nvPicPr>
          <p:cNvPr id="177155" name="Imagen 2" descr="Captura de pantalla 2014-02-20 a la(s) 10.03.42.png"/>
          <p:cNvPicPr>
            <a:picLocks noChangeAspect="1"/>
          </p:cNvPicPr>
          <p:nvPr/>
        </p:nvPicPr>
        <p:blipFill>
          <a:blip r:embed="rId2"/>
          <a:srcRect/>
          <a:stretch>
            <a:fillRect/>
          </a:stretch>
        </p:blipFill>
        <p:spPr bwMode="auto">
          <a:xfrm>
            <a:off x="8274050" y="3581400"/>
            <a:ext cx="869950" cy="2252663"/>
          </a:xfrm>
          <a:prstGeom prst="rect">
            <a:avLst/>
          </a:prstGeom>
          <a:noFill/>
          <a:ln w="9525">
            <a:noFill/>
            <a:miter lim="800000"/>
            <a:headEnd/>
            <a:tailEnd/>
          </a:ln>
        </p:spPr>
      </p:pic>
      <p:pic>
        <p:nvPicPr>
          <p:cNvPr id="177156" name="Imagen 3" descr="Captura de pantalla 2014-02-20 a la(s) 10.03.31.png"/>
          <p:cNvPicPr>
            <a:picLocks noChangeAspect="1"/>
          </p:cNvPicPr>
          <p:nvPr/>
        </p:nvPicPr>
        <p:blipFill>
          <a:blip r:embed="rId3"/>
          <a:srcRect/>
          <a:stretch>
            <a:fillRect/>
          </a:stretch>
        </p:blipFill>
        <p:spPr bwMode="auto">
          <a:xfrm>
            <a:off x="8278812" y="457200"/>
            <a:ext cx="865188" cy="2457450"/>
          </a:xfrm>
          <a:prstGeom prst="rect">
            <a:avLst/>
          </a:prstGeom>
          <a:noFill/>
          <a:ln w="9525">
            <a:noFill/>
            <a:miter lim="800000"/>
            <a:headEnd/>
            <a:tailEnd/>
          </a:ln>
        </p:spPr>
      </p:pic>
      <p:pic>
        <p:nvPicPr>
          <p:cNvPr id="177157" name="Imagen 1" descr="Captura de pantalla 2014-03-05 a la(s) 15.21.53.png"/>
          <p:cNvPicPr>
            <a:picLocks noChangeAspect="1"/>
          </p:cNvPicPr>
          <p:nvPr/>
        </p:nvPicPr>
        <p:blipFill>
          <a:blip r:embed="rId4"/>
          <a:srcRect/>
          <a:stretch>
            <a:fillRect/>
          </a:stretch>
        </p:blipFill>
        <p:spPr bwMode="auto">
          <a:xfrm>
            <a:off x="33339" y="1781175"/>
            <a:ext cx="4157662" cy="4632325"/>
          </a:xfrm>
          <a:prstGeom prst="rect">
            <a:avLst/>
          </a:prstGeom>
          <a:noFill/>
          <a:ln w="9525">
            <a:noFill/>
            <a:miter lim="800000"/>
            <a:headEnd/>
            <a:tailEnd/>
          </a:ln>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038600" cy="639762"/>
          </a:xfrm>
        </p:spPr>
        <p:txBody>
          <a:bodyPr>
            <a:normAutofit fontScale="90000"/>
          </a:bodyPr>
          <a:lstStyle/>
          <a:p>
            <a:r>
              <a:rPr lang="en-GB" sz="2800" b="1" dirty="0">
                <a:latin typeface="Times New Roman" pitchFamily="18" charset="0"/>
                <a:cs typeface="Times New Roman" pitchFamily="18" charset="0"/>
              </a:rPr>
              <a:t>IMPORTANCE OF SOM</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algn="just"/>
            <a:r>
              <a:rPr lang="en-GB" dirty="0">
                <a:latin typeface="Times New Roman" pitchFamily="18" charset="0"/>
                <a:cs typeface="Times New Roman" pitchFamily="18" charset="0"/>
              </a:rPr>
              <a:t>Organic matter performs many physical, chemical, and biological functions in soil.</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Physical functions mainly include enhancement of aggregation, aeration, water movement, and reduction of evaporation and thermal conductivity</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Higher organic matter content gives a darker colour. Organic residues accumulated on surface soil may act as mulch.</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Organic matter improves soil structure and porosity. Therefore, SOM improves water infiltration, water holding capacity and drainage.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581400" cy="563562"/>
          </a:xfrm>
        </p:spPr>
        <p:txBody>
          <a:bodyPr>
            <a:normAutofit/>
          </a:bodyPr>
          <a:lstStyle/>
          <a:p>
            <a:r>
              <a:rPr lang="en-GB" sz="2800" b="1" dirty="0">
                <a:latin typeface="Times New Roman" pitchFamily="18" charset="0"/>
                <a:cs typeface="Times New Roman" pitchFamily="18" charset="0"/>
              </a:rPr>
              <a:t>SOM cont…</a:t>
            </a:r>
          </a:p>
        </p:txBody>
      </p:sp>
      <p:sp>
        <p:nvSpPr>
          <p:cNvPr id="3" name="Content Placeholder 2"/>
          <p:cNvSpPr>
            <a:spLocks noGrp="1"/>
          </p:cNvSpPr>
          <p:nvPr>
            <p:ph idx="1"/>
          </p:nvPr>
        </p:nvSpPr>
        <p:spPr>
          <a:xfrm>
            <a:off x="457200" y="990600"/>
            <a:ext cx="8229600" cy="5135563"/>
          </a:xfrm>
        </p:spPr>
        <p:txBody>
          <a:bodyPr>
            <a:normAutofit lnSpcReduction="10000"/>
          </a:bodyPr>
          <a:lstStyle/>
          <a:p>
            <a:pPr algn="just"/>
            <a:r>
              <a:rPr lang="en-GB" sz="2400" dirty="0">
                <a:latin typeface="Times New Roman" pitchFamily="18" charset="0"/>
                <a:cs typeface="Times New Roman" pitchFamily="18" charset="0"/>
              </a:rPr>
              <a:t>Humus can hold the equivalent of 80–90% of its weight in moisture and therefore increases the soil’s capacity to withstand drought conditions.</a:t>
            </a: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Chemical functions include enhancement of ion exchange, buffering, pedochemical weathering, chelation, and translocation of substances within the soil. (Assignment: Define these terms?)</a:t>
            </a: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Humus has the highest number of negative charges on its surface. Humus has, therefore, very high 	CEC. Humus colloids also contain some positive charges against which anions are adsorbed and exchanged</a:t>
            </a:r>
            <a:r>
              <a:rPr lang="en-GB" sz="2400" dirty="0"/>
              <a:t>.</a:t>
            </a:r>
            <a:endParaRPr lang="en-GB"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971800" cy="487362"/>
          </a:xfrm>
        </p:spPr>
        <p:txBody>
          <a:bodyPr>
            <a:normAutofit fontScale="90000"/>
          </a:bodyPr>
          <a:lstStyle/>
          <a:p>
            <a:r>
              <a:rPr lang="en-GB" sz="2800" b="1" dirty="0">
                <a:latin typeface="Times New Roman" pitchFamily="18" charset="0"/>
                <a:cs typeface="Times New Roman" pitchFamily="18" charset="0"/>
              </a:rPr>
              <a:t>SOM cont</a:t>
            </a:r>
            <a:r>
              <a:rPr lang="en-GB" dirty="0"/>
              <a:t>…</a:t>
            </a:r>
          </a:p>
        </p:txBody>
      </p:sp>
      <p:sp>
        <p:nvSpPr>
          <p:cNvPr id="3" name="Content Placeholder 2"/>
          <p:cNvSpPr>
            <a:spLocks noGrp="1"/>
          </p:cNvSpPr>
          <p:nvPr>
            <p:ph idx="1"/>
          </p:nvPr>
        </p:nvSpPr>
        <p:spPr>
          <a:xfrm>
            <a:off x="457200" y="1143000"/>
            <a:ext cx="8229600" cy="4983163"/>
          </a:xfrm>
        </p:spPr>
        <p:txBody>
          <a:bodyPr>
            <a:normAutofit/>
          </a:bodyPr>
          <a:lstStyle/>
          <a:p>
            <a:r>
              <a:rPr lang="en-GB" sz="2400" dirty="0">
                <a:latin typeface="Times New Roman" pitchFamily="18" charset="0"/>
                <a:cs typeface="Times New Roman" pitchFamily="18" charset="0"/>
              </a:rPr>
              <a:t>Biological functions include food for soil organisms and a storehouse of nutrients.</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Much of the plant nutrients are returned to the soil in the form of organic residues</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Upon decomposition, these nutrients are released again to the available nutrient pool of the soil.</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OM releases nutrients at a slow pace to the growing roots, and it holds nutrients on their surfaces so that loss of nutrients from a soil rich in organic matter is minimal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200400" cy="715962"/>
          </a:xfrm>
        </p:spPr>
        <p:txBody>
          <a:bodyPr>
            <a:normAutofit/>
          </a:bodyPr>
          <a:lstStyle/>
          <a:p>
            <a:r>
              <a:rPr lang="en-GB" sz="2800" b="1" dirty="0">
                <a:latin typeface="Times New Roman" pitchFamily="18" charset="0"/>
                <a:cs typeface="Times New Roman" pitchFamily="18" charset="0"/>
              </a:rPr>
              <a:t>Managing SOM</a:t>
            </a:r>
          </a:p>
        </p:txBody>
      </p:sp>
      <p:sp>
        <p:nvSpPr>
          <p:cNvPr id="3" name="Content Placeholder 2"/>
          <p:cNvSpPr>
            <a:spLocks noGrp="1"/>
          </p:cNvSpPr>
          <p:nvPr>
            <p:ph idx="1"/>
          </p:nvPr>
        </p:nvSpPr>
        <p:spPr>
          <a:xfrm>
            <a:off x="457200" y="1219200"/>
            <a:ext cx="8229600" cy="4906963"/>
          </a:xfrm>
        </p:spPr>
        <p:txBody>
          <a:bodyPr>
            <a:normAutofit lnSpcReduction="10000"/>
          </a:bodyPr>
          <a:lstStyle/>
          <a:p>
            <a:pPr algn="just"/>
            <a:r>
              <a:rPr lang="en-GB" sz="2400" dirty="0">
                <a:latin typeface="Times New Roman" pitchFamily="18" charset="0"/>
                <a:cs typeface="Times New Roman" pitchFamily="18" charset="0"/>
              </a:rPr>
              <a:t>Decline in soil organic matter causes degradation of soil structure, reduction in porosity, water-holding capacity, and aeration and makes the soil compact and erodible</a:t>
            </a:r>
            <a:r>
              <a:rPr lang="en-GB" sz="2400" dirty="0"/>
              <a:t>.</a:t>
            </a:r>
          </a:p>
          <a:p>
            <a:pPr algn="just"/>
            <a:endParaRPr lang="en-GB" dirty="0"/>
          </a:p>
          <a:p>
            <a:pPr algn="just"/>
            <a:r>
              <a:rPr lang="en-GB" sz="2400" dirty="0">
                <a:latin typeface="Times New Roman" pitchFamily="18" charset="0"/>
                <a:cs typeface="Times New Roman" pitchFamily="18" charset="0"/>
              </a:rPr>
              <a:t>So, soil organic matter content should be maintained at a level necessary for favourable tilth and fertility</a:t>
            </a: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Cultivation opens the soils and oxidizes organic matter. Continuous cropping for a long time seriously declines SOM.</a:t>
            </a:r>
          </a:p>
          <a:p>
            <a:pPr algn="just"/>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Therefore, addition of plenty of organic residues is needed for sustainable soil fertility.</a:t>
            </a:r>
          </a:p>
          <a:p>
            <a:endParaRPr lang="en-GB" sz="2400" dirty="0">
              <a:latin typeface="Times New Roman" pitchFamily="18" charset="0"/>
              <a:cs typeface="Times New Roman" pitchFamily="18" charset="0"/>
            </a:endParaRPr>
          </a:p>
          <a:p>
            <a:endParaRPr lang="en-GB"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TotalTime>
  <Words>1005</Words>
  <Application>Microsoft Office PowerPoint</Application>
  <PresentationFormat>On-screen Show (4:3)</PresentationFormat>
  <Paragraphs>163</Paragraphs>
  <Slides>23</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Black</vt:lpstr>
      <vt:lpstr>Calibri</vt:lpstr>
      <vt:lpstr>Courier New</vt:lpstr>
      <vt:lpstr>Times New Roman</vt:lpstr>
      <vt:lpstr>Wingdings</vt:lpstr>
      <vt:lpstr>Wingdings 3</vt:lpstr>
      <vt:lpstr>Office Theme</vt:lpstr>
      <vt:lpstr>THE COPPERBELT UNIVERSITY KAPASA MAKASSA CAMPUS SCHOOL OF NATURAL REOSURCES DEPARTMENT OF PLANT &amp; ENVIRONMENTAL SCIENCES</vt:lpstr>
      <vt:lpstr>SOIL ORGANIC MATTER (SOM)</vt:lpstr>
      <vt:lpstr>SOM cont…</vt:lpstr>
      <vt:lpstr>Organic material</vt:lpstr>
      <vt:lpstr>Organic material</vt:lpstr>
      <vt:lpstr>Organic material</vt:lpstr>
      <vt:lpstr>Soil organic matter</vt:lpstr>
      <vt:lpstr>Fulvic Acid</vt:lpstr>
      <vt:lpstr>Humic Acid</vt:lpstr>
      <vt:lpstr>Humins</vt:lpstr>
      <vt:lpstr>PowerPoint Presentation</vt:lpstr>
      <vt:lpstr>PowerPoint Presentation</vt:lpstr>
      <vt:lpstr>PowerPoint Presentation</vt:lpstr>
      <vt:lpstr>PowerPoint Presentation</vt:lpstr>
      <vt:lpstr>PowerPoint Presentation</vt:lpstr>
      <vt:lpstr>Humus</vt:lpstr>
      <vt:lpstr>Humus</vt:lpstr>
      <vt:lpstr>PowerPoint Presentation</vt:lpstr>
      <vt:lpstr>Organic matter micro-organisms - plant relation</vt:lpstr>
      <vt:lpstr>IMPORTANCE OF SOM</vt:lpstr>
      <vt:lpstr>SOM cont…</vt:lpstr>
      <vt:lpstr>SOM cont…</vt:lpstr>
      <vt:lpstr>Managing SOM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chindi</dc:creator>
  <cp:lastModifiedBy>Chindi Kapembwa</cp:lastModifiedBy>
  <cp:revision>28</cp:revision>
  <dcterms:created xsi:type="dcterms:W3CDTF">2018-08-21T08:59:14Z</dcterms:created>
  <dcterms:modified xsi:type="dcterms:W3CDTF">2019-08-28T07:50:39Z</dcterms:modified>
</cp:coreProperties>
</file>