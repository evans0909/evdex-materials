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4151602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852536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355408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22E7F2A-F8A5-4D6A-9981-91E312A0F38F}"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2625926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22E7F2A-F8A5-4D6A-9981-91E312A0F38F}" type="datetimeFigureOut">
              <a:rPr lang="en-US" smtClean="0"/>
              <a:t>9/4/2024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1213384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22E7F2A-F8A5-4D6A-9981-91E312A0F38F}" type="datetimeFigureOut">
              <a:rPr lang="en-US" smtClean="0"/>
              <a:t>9/4/2024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346127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2E7F2A-F8A5-4D6A-9981-91E312A0F38F}" type="datetimeFigureOut">
              <a:rPr lang="en-US" smtClean="0"/>
              <a:t>9/4/2024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171888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2E7F2A-F8A5-4D6A-9981-91E312A0F38F}"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583148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2E7F2A-F8A5-4D6A-9981-91E312A0F38F}"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2692402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1929581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5065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2165802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52263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2742207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507376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2E7F2A-F8A5-4D6A-9981-91E312A0F38F}"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F97EE-311C-41CE-9C67-B6FE275136D7}" type="slidenum">
              <a:rPr lang="en-US" smtClean="0"/>
              <a:t>‹#›</a:t>
            </a:fld>
            <a:endParaRPr lang="en-US"/>
          </a:p>
        </p:txBody>
      </p:sp>
    </p:spTree>
    <p:extLst>
      <p:ext uri="{BB962C8B-B14F-4D97-AF65-F5344CB8AC3E}">
        <p14:creationId xmlns:p14="http://schemas.microsoft.com/office/powerpoint/2010/main" val="159755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22E7F2A-F8A5-4D6A-9981-91E312A0F38F}" type="datetimeFigureOut">
              <a:rPr lang="en-US" smtClean="0"/>
              <a:t>9/4/2024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7F97EE-311C-41CE-9C67-B6FE275136D7}" type="slidenum">
              <a:rPr lang="en-US" smtClean="0"/>
              <a:t>‹#›</a:t>
            </a:fld>
            <a:endParaRPr lang="en-US"/>
          </a:p>
        </p:txBody>
      </p:sp>
    </p:spTree>
    <p:extLst>
      <p:ext uri="{BB962C8B-B14F-4D97-AF65-F5344CB8AC3E}">
        <p14:creationId xmlns:p14="http://schemas.microsoft.com/office/powerpoint/2010/main" val="1334624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CROP SCIENCE ASSIGNMENT ONE </a:t>
            </a:r>
            <a:endParaRPr lang="en-US" dirty="0"/>
          </a:p>
        </p:txBody>
      </p:sp>
      <p:sp>
        <p:nvSpPr>
          <p:cNvPr id="3" name="Subtitle 2"/>
          <p:cNvSpPr>
            <a:spLocks noGrp="1"/>
          </p:cNvSpPr>
          <p:nvPr>
            <p:ph type="subTitle" idx="1"/>
          </p:nvPr>
        </p:nvSpPr>
        <p:spPr>
          <a:xfrm>
            <a:off x="1524000" y="5173260"/>
            <a:ext cx="4838163" cy="841174"/>
          </a:xfrm>
        </p:spPr>
        <p:txBody>
          <a:bodyPr>
            <a:normAutofit/>
          </a:bodyPr>
          <a:lstStyle/>
          <a:p>
            <a:r>
              <a:rPr lang="en-US" sz="4400" dirty="0" smtClean="0"/>
              <a:t>Group Three</a:t>
            </a:r>
            <a:endParaRPr lang="en-US" sz="4400" dirty="0"/>
          </a:p>
        </p:txBody>
      </p:sp>
    </p:spTree>
    <p:extLst>
      <p:ext uri="{BB962C8B-B14F-4D97-AF65-F5344CB8AC3E}">
        <p14:creationId xmlns:p14="http://schemas.microsoft.com/office/powerpoint/2010/main" val="91770750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idx="1"/>
          </p:nvPr>
        </p:nvSpPr>
        <p:spPr/>
        <p:txBody>
          <a:bodyPr/>
          <a:lstStyle/>
          <a:p>
            <a:r>
              <a:rPr lang="en-US" dirty="0" smtClean="0"/>
              <a:t>On 9th April, 2024. We embarked on a practical tour to the </a:t>
            </a:r>
            <a:r>
              <a:rPr lang="en-US" dirty="0" err="1" smtClean="0"/>
              <a:t>Kapasa</a:t>
            </a:r>
            <a:r>
              <a:rPr lang="en-US" dirty="0" smtClean="0"/>
              <a:t> </a:t>
            </a:r>
            <a:r>
              <a:rPr lang="en-US" dirty="0" err="1" smtClean="0"/>
              <a:t>Makasa</a:t>
            </a:r>
            <a:r>
              <a:rPr lang="en-US" dirty="0" smtClean="0"/>
              <a:t> University maize field, eager to uncover the secrets of successful maize cultivation. Our mission was to observe and understand the type of cultivation used, plant spacing, parts of the maize plant, and its growth stage during the 2023/2024 farming season. This hands-on experience would bridge the gap between theoretical knowledge and real world application. </a:t>
            </a:r>
            <a:endParaRPr lang="en-US" dirty="0"/>
          </a:p>
        </p:txBody>
      </p:sp>
    </p:spTree>
    <p:extLst>
      <p:ext uri="{BB962C8B-B14F-4D97-AF65-F5344CB8AC3E}">
        <p14:creationId xmlns:p14="http://schemas.microsoft.com/office/powerpoint/2010/main" val="34186277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prstClr val="black"/>
                </a:solidFill>
                <a:latin typeface="Calibri" panose="020F0502020204030204"/>
              </a:rPr>
              <a:t>Objectives</a:t>
            </a:r>
            <a:endParaRPr lang="en-US" sz="5400" b="1" dirty="0"/>
          </a:p>
        </p:txBody>
      </p:sp>
      <p:sp>
        <p:nvSpPr>
          <p:cNvPr id="3" name="Content Placeholder 2"/>
          <p:cNvSpPr>
            <a:spLocks noGrp="1"/>
          </p:cNvSpPr>
          <p:nvPr>
            <p:ph idx="1"/>
          </p:nvPr>
        </p:nvSpPr>
        <p:spPr/>
        <p:txBody>
          <a:bodyPr/>
          <a:lstStyle/>
          <a:p>
            <a:r>
              <a:rPr lang="en-US" dirty="0" smtClean="0"/>
              <a:t>To identify the type of cultivation method used in the maize field.</a:t>
            </a:r>
          </a:p>
          <a:p>
            <a:r>
              <a:rPr lang="en-US" dirty="0" smtClean="0"/>
              <a:t>To measure and record the plant spacing.</a:t>
            </a:r>
          </a:p>
          <a:p>
            <a:r>
              <a:rPr lang="en-US" dirty="0" smtClean="0"/>
              <a:t>To observe and identify the different parts of the maize plant.</a:t>
            </a:r>
          </a:p>
          <a:p>
            <a:r>
              <a:rPr lang="en-US" dirty="0" smtClean="0"/>
              <a:t>To determine the growth stage of the maize.</a:t>
            </a:r>
            <a:endParaRPr lang="en-US" dirty="0"/>
          </a:p>
        </p:txBody>
      </p:sp>
    </p:spTree>
    <p:extLst>
      <p:ext uri="{BB962C8B-B14F-4D97-AF65-F5344CB8AC3E}">
        <p14:creationId xmlns:p14="http://schemas.microsoft.com/office/powerpoint/2010/main" val="376073908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MAIN BODY</a:t>
            </a:r>
            <a:endParaRPr lang="en-US" sz="6000" b="1" dirty="0"/>
          </a:p>
        </p:txBody>
      </p:sp>
      <p:sp>
        <p:nvSpPr>
          <p:cNvPr id="3" name="Content Placeholder 2"/>
          <p:cNvSpPr>
            <a:spLocks noGrp="1"/>
          </p:cNvSpPr>
          <p:nvPr>
            <p:ph idx="1"/>
          </p:nvPr>
        </p:nvSpPr>
        <p:spPr/>
        <p:txBody>
          <a:bodyPr>
            <a:normAutofit fontScale="70000" lnSpcReduction="20000"/>
          </a:bodyPr>
          <a:lstStyle/>
          <a:p>
            <a:r>
              <a:rPr lang="en-US" sz="4000" b="1" i="1" dirty="0" smtClean="0"/>
              <a:t>Cultivation Method</a:t>
            </a:r>
          </a:p>
          <a:p>
            <a:pPr marL="0" indent="0">
              <a:buNone/>
            </a:pPr>
            <a:endParaRPr lang="en-US" sz="4000" dirty="0"/>
          </a:p>
          <a:p>
            <a:pPr marL="0" indent="0">
              <a:buNone/>
            </a:pPr>
            <a:r>
              <a:rPr lang="en-US" sz="4000" dirty="0" smtClean="0"/>
              <a:t>The maize field employed conventional cultivation with mono-cropping and ridge planting, a tried-and</a:t>
            </a:r>
          </a:p>
          <a:p>
            <a:pPr marL="0" indent="0">
              <a:buNone/>
            </a:pPr>
            <a:r>
              <a:rPr lang="en-US" sz="4000" dirty="0" smtClean="0"/>
              <a:t>true approach that optimizes soil preparation, fertility, and weed control. This method involves plowing, </a:t>
            </a:r>
          </a:p>
          <a:p>
            <a:pPr marL="0" indent="0">
              <a:buNone/>
            </a:pPr>
            <a:r>
              <a:rPr lang="en-US" sz="4000" dirty="0" smtClean="0"/>
              <a:t>hoeing, and applying fertilizers to create a fertile ground for growth. </a:t>
            </a:r>
            <a:endParaRPr lang="en-US" sz="4000" dirty="0"/>
          </a:p>
        </p:txBody>
      </p:sp>
    </p:spTree>
    <p:extLst>
      <p:ext uri="{BB962C8B-B14F-4D97-AF65-F5344CB8AC3E}">
        <p14:creationId xmlns:p14="http://schemas.microsoft.com/office/powerpoint/2010/main" val="1457875086"/>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8" presetClass="emph" presetSubtype="0" fill="hold" grpId="0" nodeType="clickEffect">
                                  <p:stCondLst>
                                    <p:cond delay="0"/>
                                  </p:stCondLst>
                                  <p:childTnLst>
                                    <p:animRot by="21600000">
                                      <p:cBhvr>
                                        <p:cTn id="24" dur="2000" fill="hold"/>
                                        <p:tgtEl>
                                          <p:spTgt spid="3">
                                            <p:txEl>
                                              <p:pRg st="0" end="0"/>
                                            </p:txEl>
                                          </p:spTgt>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8" presetClass="emph" presetSubtype="0" fill="hold" grpId="0" nodeType="clickEffect">
                                  <p:stCondLst>
                                    <p:cond delay="0"/>
                                  </p:stCondLst>
                                  <p:childTnLst>
                                    <p:animRot by="21600000">
                                      <p:cBhvr>
                                        <p:cTn id="28" dur="2000" fill="hold"/>
                                        <p:tgtEl>
                                          <p:spTgt spid="3">
                                            <p:txEl>
                                              <p:pRg st="2" end="2"/>
                                            </p:txEl>
                                          </p:spTgt>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8" presetClass="emph" presetSubtype="0" fill="hold" grpId="0" nodeType="clickEffect">
                                  <p:stCondLst>
                                    <p:cond delay="0"/>
                                  </p:stCondLst>
                                  <p:childTnLst>
                                    <p:animRot by="21600000">
                                      <p:cBhvr>
                                        <p:cTn id="32" dur="2000" fill="hold"/>
                                        <p:tgtEl>
                                          <p:spTgt spid="3">
                                            <p:txEl>
                                              <p:pRg st="3" end="3"/>
                                            </p:txEl>
                                          </p:spTgt>
                                        </p:tgtEl>
                                        <p:attrNameLst>
                                          <p:attrName>r</p:attrName>
                                        </p:attrNameLst>
                                      </p:cBhvr>
                                    </p:animRot>
                                  </p:childTnLst>
                                </p:cTn>
                              </p:par>
                            </p:childTnLst>
                          </p:cTn>
                        </p:par>
                      </p:childTnLst>
                    </p:cTn>
                  </p:par>
                  <p:par>
                    <p:cTn id="33" fill="hold">
                      <p:stCondLst>
                        <p:cond delay="indefinite"/>
                      </p:stCondLst>
                      <p:childTnLst>
                        <p:par>
                          <p:cTn id="34" fill="hold">
                            <p:stCondLst>
                              <p:cond delay="0"/>
                            </p:stCondLst>
                            <p:childTnLst>
                              <p:par>
                                <p:cTn id="35" presetID="8" presetClass="emph" presetSubtype="0" fill="hold" grpId="0" nodeType="clickEffect">
                                  <p:stCondLst>
                                    <p:cond delay="0"/>
                                  </p:stCondLst>
                                  <p:childTnLst>
                                    <p:animRot by="21600000">
                                      <p:cBhvr>
                                        <p:cTn id="36" dur="2000" fill="hold"/>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Spacing </a:t>
            </a:r>
            <a:endParaRPr lang="en-US" b="1" i="1" dirty="0"/>
          </a:p>
        </p:txBody>
      </p:sp>
      <p:sp>
        <p:nvSpPr>
          <p:cNvPr id="3" name="Content Placeholder 2"/>
          <p:cNvSpPr>
            <a:spLocks noGrp="1"/>
          </p:cNvSpPr>
          <p:nvPr>
            <p:ph idx="1"/>
          </p:nvPr>
        </p:nvSpPr>
        <p:spPr>
          <a:xfrm>
            <a:off x="838200" y="1825624"/>
            <a:ext cx="10515600" cy="4549417"/>
          </a:xfrm>
        </p:spPr>
        <p:txBody>
          <a:bodyPr/>
          <a:lstStyle/>
          <a:p>
            <a:r>
              <a:rPr lang="en-US" dirty="0" smtClean="0"/>
              <a:t>The observed plant spacing was approximately 27-30cm between plants and 1m between ridges, allowing for adequate air circulation and sunlight penetration. Each ridge had two lines of plants, carefully arranged to maximize space.</a:t>
            </a:r>
          </a:p>
          <a:p>
            <a:pPr marL="0" indent="0">
              <a:buNone/>
            </a:pPr>
            <a:endParaRPr lang="en-US" dirty="0"/>
          </a:p>
        </p:txBody>
      </p:sp>
      <p:pic>
        <p:nvPicPr>
          <p:cNvPr id="4" name="Picture 3"/>
          <p:cNvPicPr>
            <a:picLocks noChangeAspect="1"/>
          </p:cNvPicPr>
          <p:nvPr/>
        </p:nvPicPr>
        <p:blipFill>
          <a:blip r:embed="rId2"/>
          <a:stretch>
            <a:fillRect/>
          </a:stretch>
        </p:blipFill>
        <p:spPr>
          <a:xfrm>
            <a:off x="3664787" y="3409775"/>
            <a:ext cx="4032509" cy="2862235"/>
          </a:xfrm>
          <a:prstGeom prst="rect">
            <a:avLst/>
          </a:prstGeom>
        </p:spPr>
      </p:pic>
    </p:spTree>
    <p:extLst>
      <p:ext uri="{BB962C8B-B14F-4D97-AF65-F5344CB8AC3E}">
        <p14:creationId xmlns:p14="http://schemas.microsoft.com/office/powerpoint/2010/main" val="38144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1" presetClass="exit" presetSubtype="1" fill="hold" grpId="0" nodeType="clickEffect">
                                  <p:stCondLst>
                                    <p:cond delay="0"/>
                                  </p:stCondLst>
                                  <p:childTnLst>
                                    <p:animEffect transition="out" filter="wheel(1)">
                                      <p:cBhvr>
                                        <p:cTn id="12" dur="2000"/>
                                        <p:tgtEl>
                                          <p:spTgt spid="3">
                                            <p:txEl>
                                              <p:pRg st="0" end="0"/>
                                            </p:txEl>
                                          </p:spTgt>
                                        </p:tgtEl>
                                      </p:cBhvr>
                                    </p:animEffect>
                                    <p:set>
                                      <p:cBhvr>
                                        <p:cTn id="13"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31" presetClass="exit" presetSubtype="0" fill="hold" nodeType="clickEffect">
                                  <p:stCondLst>
                                    <p:cond delay="0"/>
                                  </p:stCondLst>
                                  <p:childTnLst>
                                    <p:anim calcmode="lin" valueType="num">
                                      <p:cBhvr>
                                        <p:cTn id="17" dur="1000"/>
                                        <p:tgtEl>
                                          <p:spTgt spid="4"/>
                                        </p:tgtEl>
                                        <p:attrNameLst>
                                          <p:attrName>ppt_w</p:attrName>
                                        </p:attrNameLst>
                                      </p:cBhvr>
                                      <p:tavLst>
                                        <p:tav tm="0">
                                          <p:val>
                                            <p:strVal val="ppt_w"/>
                                          </p:val>
                                        </p:tav>
                                        <p:tav tm="100000">
                                          <p:val>
                                            <p:fltVal val="0"/>
                                          </p:val>
                                        </p:tav>
                                      </p:tavLst>
                                    </p:anim>
                                    <p:anim calcmode="lin" valueType="num">
                                      <p:cBhvr>
                                        <p:cTn id="18" dur="1000"/>
                                        <p:tgtEl>
                                          <p:spTgt spid="4"/>
                                        </p:tgtEl>
                                        <p:attrNameLst>
                                          <p:attrName>ppt_h</p:attrName>
                                        </p:attrNameLst>
                                      </p:cBhvr>
                                      <p:tavLst>
                                        <p:tav tm="0">
                                          <p:val>
                                            <p:strVal val="ppt_h"/>
                                          </p:val>
                                        </p:tav>
                                        <p:tav tm="100000">
                                          <p:val>
                                            <p:fltVal val="0"/>
                                          </p:val>
                                        </p:tav>
                                      </p:tavLst>
                                    </p:anim>
                                    <p:anim calcmode="lin" valueType="num">
                                      <p:cBhvr>
                                        <p:cTn id="19" dur="1000"/>
                                        <p:tgtEl>
                                          <p:spTgt spid="4"/>
                                        </p:tgtEl>
                                        <p:attrNameLst>
                                          <p:attrName>style.rotation</p:attrName>
                                        </p:attrNameLst>
                                      </p:cBhvr>
                                      <p:tavLst>
                                        <p:tav tm="0">
                                          <p:val>
                                            <p:fltVal val="0"/>
                                          </p:val>
                                        </p:tav>
                                        <p:tav tm="100000">
                                          <p:val>
                                            <p:fltVal val="90"/>
                                          </p:val>
                                        </p:tav>
                                      </p:tavLst>
                                    </p:anim>
                                    <p:animEffect transition="out" filter="fade">
                                      <p:cBhvr>
                                        <p:cTn id="20" dur="1000"/>
                                        <p:tgtEl>
                                          <p:spTgt spid="4"/>
                                        </p:tgtEl>
                                      </p:cBhvr>
                                    </p:animEffect>
                                    <p:set>
                                      <p:cBhvr>
                                        <p:cTn id="21"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Parts of the Plant </a:t>
            </a:r>
            <a:endParaRPr lang="en-US" b="1" i="1" dirty="0"/>
          </a:p>
        </p:txBody>
      </p:sp>
      <p:sp>
        <p:nvSpPr>
          <p:cNvPr id="3" name="Content Placeholder 2"/>
          <p:cNvSpPr>
            <a:spLocks noGrp="1"/>
          </p:cNvSpPr>
          <p:nvPr>
            <p:ph idx="1"/>
          </p:nvPr>
        </p:nvSpPr>
        <p:spPr>
          <a:xfrm>
            <a:off x="838200" y="1825624"/>
            <a:ext cx="10515600" cy="4433507"/>
          </a:xfrm>
        </p:spPr>
        <p:txBody>
          <a:bodyPr/>
          <a:lstStyle/>
          <a:p>
            <a:r>
              <a:rPr lang="en-US" i="1" dirty="0" smtClean="0"/>
              <a:t>Roots (fibrous roots): </a:t>
            </a:r>
            <a:r>
              <a:rPr lang="en-US" dirty="0" smtClean="0"/>
              <a:t>the underground network that absorbs water and nutrients.</a:t>
            </a:r>
          </a:p>
          <a:p>
            <a:r>
              <a:rPr lang="en-US" i="1" dirty="0" smtClean="0"/>
              <a:t>Stalk</a:t>
            </a:r>
            <a:r>
              <a:rPr lang="en-US" dirty="0" smtClean="0"/>
              <a:t>: the sturdy pillar that supports the plant's growth.</a:t>
            </a:r>
          </a:p>
          <a:p>
            <a:r>
              <a:rPr lang="en-US" i="1" dirty="0" smtClean="0"/>
              <a:t>Leaves</a:t>
            </a:r>
            <a:r>
              <a:rPr lang="en-US" dirty="0" smtClean="0"/>
              <a:t>: the solar panels that harness the sun's energy through photosynthesis.</a:t>
            </a:r>
          </a:p>
          <a:p>
            <a:r>
              <a:rPr lang="en-US" i="1" dirty="0" smtClean="0"/>
              <a:t>Tassels:</a:t>
            </a:r>
            <a:r>
              <a:rPr lang="en-US" dirty="0" smtClean="0"/>
              <a:t> the reproductive powerhouses that produce pollen for fertilization.</a:t>
            </a:r>
          </a:p>
          <a:p>
            <a:r>
              <a:rPr lang="en-US" i="1" dirty="0" smtClean="0"/>
              <a:t>Ear of the cob</a:t>
            </a:r>
            <a:r>
              <a:rPr lang="en-US" dirty="0" smtClean="0"/>
              <a:t>: contains the grains.</a:t>
            </a:r>
          </a:p>
          <a:p>
            <a:r>
              <a:rPr lang="en-US" i="1" dirty="0" smtClean="0"/>
              <a:t>Silks</a:t>
            </a:r>
            <a:r>
              <a:rPr lang="en-US" dirty="0" smtClean="0"/>
              <a:t>: the delicate threads that facilitate.</a:t>
            </a:r>
            <a:endParaRPr lang="en-US" dirty="0"/>
          </a:p>
        </p:txBody>
      </p:sp>
    </p:spTree>
    <p:extLst>
      <p:ext uri="{BB962C8B-B14F-4D97-AF65-F5344CB8AC3E}">
        <p14:creationId xmlns:p14="http://schemas.microsoft.com/office/powerpoint/2010/main" val="102231769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886925" y="769815"/>
            <a:ext cx="5690405" cy="5739248"/>
          </a:xfrm>
          <a:prstGeom prst="rect">
            <a:avLst/>
          </a:prstGeom>
        </p:spPr>
      </p:pic>
    </p:spTree>
    <p:extLst>
      <p:ext uri="{BB962C8B-B14F-4D97-AF65-F5344CB8AC3E}">
        <p14:creationId xmlns:p14="http://schemas.microsoft.com/office/powerpoint/2010/main" val="425622767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Stage of Growth</a:t>
            </a:r>
            <a:endParaRPr lang="en-US" b="1" dirty="0"/>
          </a:p>
        </p:txBody>
      </p:sp>
      <p:sp>
        <p:nvSpPr>
          <p:cNvPr id="3" name="Content Placeholder 2"/>
          <p:cNvSpPr>
            <a:spLocks noGrp="1"/>
          </p:cNvSpPr>
          <p:nvPr>
            <p:ph idx="1"/>
          </p:nvPr>
        </p:nvSpPr>
        <p:spPr/>
        <p:txBody>
          <a:bodyPr/>
          <a:lstStyle/>
          <a:p>
            <a:r>
              <a:rPr lang="en-US" dirty="0" smtClean="0"/>
              <a:t>The maize crop was in the grain-filling stage, a critical phase marked by rapid grain accumulation and the onset of grain dry matter accumulation. </a:t>
            </a:r>
          </a:p>
          <a:p>
            <a:pPr marL="0" indent="0">
              <a:buNone/>
            </a:pPr>
            <a:endParaRPr lang="en-US" dirty="0"/>
          </a:p>
        </p:txBody>
      </p:sp>
      <p:pic>
        <p:nvPicPr>
          <p:cNvPr id="4" name="Picture 3"/>
          <p:cNvPicPr>
            <a:picLocks noChangeAspect="1"/>
          </p:cNvPicPr>
          <p:nvPr/>
        </p:nvPicPr>
        <p:blipFill>
          <a:blip r:embed="rId2"/>
          <a:stretch>
            <a:fillRect/>
          </a:stretch>
        </p:blipFill>
        <p:spPr>
          <a:xfrm>
            <a:off x="3467722" y="2802552"/>
            <a:ext cx="4388391" cy="3227693"/>
          </a:xfrm>
          <a:prstGeom prst="rect">
            <a:avLst/>
          </a:prstGeom>
        </p:spPr>
      </p:pic>
    </p:spTree>
    <p:extLst>
      <p:ext uri="{BB962C8B-B14F-4D97-AF65-F5344CB8AC3E}">
        <p14:creationId xmlns:p14="http://schemas.microsoft.com/office/powerpoint/2010/main" val="38135483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mph" presetSubtype="2" fill="hold" grpId="0" nodeType="clickEffect">
                                  <p:stCondLst>
                                    <p:cond delay="0"/>
                                  </p:stCondLst>
                                  <p:childTnLst>
                                    <p:animClr clrSpc="rgb" dir="cw">
                                      <p:cBhvr override="childStyle">
                                        <p:cTn id="11" dur="2000" fill="hold"/>
                                        <p:tgtEl>
                                          <p:spTgt spid="3">
                                            <p:txEl>
                                              <p:pRg st="0" end="0"/>
                                            </p:txEl>
                                          </p:spTgt>
                                        </p:tgtEl>
                                        <p:attrNameLst>
                                          <p:attrName>style.color</p:attrName>
                                        </p:attrNameLst>
                                      </p:cBhvr>
                                      <p:to>
                                        <a:schemeClr val="accent2"/>
                                      </p:to>
                                    </p:animClr>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nodeType="clickEffect">
                                  <p:stCondLst>
                                    <p:cond delay="0"/>
                                  </p:stCondLst>
                                  <p:childTnLst>
                                    <p:animEffect transition="out" filter="wipe(down)">
                                      <p:cBhvr>
                                        <p:cTn id="15" dur="500"/>
                                        <p:tgtEl>
                                          <p:spTgt spid="4"/>
                                        </p:tgtEl>
                                      </p:cBhvr>
                                    </p:animEffect>
                                    <p:set>
                                      <p:cBhvr>
                                        <p:cTn id="16"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Soil Conditions </a:t>
            </a:r>
            <a:endParaRPr lang="en-US" b="1" dirty="0"/>
          </a:p>
        </p:txBody>
      </p:sp>
      <p:sp>
        <p:nvSpPr>
          <p:cNvPr id="3" name="Content Placeholder 2"/>
          <p:cNvSpPr>
            <a:spLocks noGrp="1"/>
          </p:cNvSpPr>
          <p:nvPr>
            <p:ph idx="1"/>
          </p:nvPr>
        </p:nvSpPr>
        <p:spPr>
          <a:xfrm>
            <a:off x="838200" y="1825625"/>
            <a:ext cx="10417935" cy="1188031"/>
          </a:xfrm>
        </p:spPr>
        <p:txBody>
          <a:bodyPr/>
          <a:lstStyle/>
          <a:p>
            <a:r>
              <a:rPr lang="en-US" dirty="0" smtClean="0"/>
              <a:t>Upon observation, the soil was found to be </a:t>
            </a:r>
            <a:r>
              <a:rPr lang="en-US" dirty="0" err="1" smtClean="0"/>
              <a:t>moistureless</a:t>
            </a:r>
            <a:r>
              <a:rPr lang="en-US" dirty="0" smtClean="0"/>
              <a:t>, indicating a need for adequate irrigation to support the crop's growth. </a:t>
            </a:r>
            <a:endParaRPr lang="en-US" dirty="0"/>
          </a:p>
        </p:txBody>
      </p:sp>
      <p:sp>
        <p:nvSpPr>
          <p:cNvPr id="5" name="TextBox 4"/>
          <p:cNvSpPr txBox="1"/>
          <p:nvPr/>
        </p:nvSpPr>
        <p:spPr>
          <a:xfrm>
            <a:off x="1018504" y="3148593"/>
            <a:ext cx="7018986" cy="646331"/>
          </a:xfrm>
          <a:prstGeom prst="rect">
            <a:avLst/>
          </a:prstGeom>
          <a:noFill/>
        </p:spPr>
        <p:txBody>
          <a:bodyPr wrap="square" rtlCol="0">
            <a:spAutoFit/>
          </a:bodyPr>
          <a:lstStyle/>
          <a:p>
            <a:r>
              <a:rPr lang="en-US" sz="3600" b="1" dirty="0" smtClean="0"/>
              <a:t>Drainage System</a:t>
            </a:r>
            <a:endParaRPr lang="en-US" sz="3600" b="1" dirty="0"/>
          </a:p>
        </p:txBody>
      </p:sp>
      <p:sp>
        <p:nvSpPr>
          <p:cNvPr id="6" name="TextBox 5"/>
          <p:cNvSpPr txBox="1"/>
          <p:nvPr/>
        </p:nvSpPr>
        <p:spPr>
          <a:xfrm>
            <a:off x="1018504" y="4409355"/>
            <a:ext cx="9773992" cy="1815882"/>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Although the field relied on natural rainfall, the drainage system was effective, with no signs of waterlogging. However, ridge planting does not only provide good drainage system, but also prevents soil erosion. </a:t>
            </a:r>
            <a:endParaRPr lang="en-US" sz="2800" dirty="0"/>
          </a:p>
        </p:txBody>
      </p:sp>
    </p:spTree>
    <p:extLst>
      <p:ext uri="{BB962C8B-B14F-4D97-AF65-F5344CB8AC3E}">
        <p14:creationId xmlns:p14="http://schemas.microsoft.com/office/powerpoint/2010/main" val="4274795730"/>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grpId="0" nodeType="clickEffect">
                                  <p:stCondLst>
                                    <p:cond delay="0"/>
                                  </p:stCondLst>
                                  <p:childTnLst>
                                    <p:animScale>
                                      <p:cBhvr>
                                        <p:cTn id="12" dur="2000" fill="hold"/>
                                        <p:tgtEl>
                                          <p:spTgt spid="3">
                                            <p:txEl>
                                              <p:pRg st="0" end="0"/>
                                            </p:txEl>
                                          </p:spTgt>
                                        </p:tgtEl>
                                      </p:cBhvr>
                                      <p:by x="150000" y="150000"/>
                                    </p:animScale>
                                  </p:childTnLst>
                                </p:cTn>
                              </p:par>
                            </p:childTnLst>
                          </p:cTn>
                        </p:par>
                      </p:childTnLst>
                    </p:cTn>
                  </p:par>
                  <p:par>
                    <p:cTn id="13" fill="hold">
                      <p:stCondLst>
                        <p:cond delay="indefinite"/>
                      </p:stCondLst>
                      <p:childTnLst>
                        <p:par>
                          <p:cTn id="14" fill="hold">
                            <p:stCondLst>
                              <p:cond delay="0"/>
                            </p:stCondLst>
                            <p:childTnLst>
                              <p:par>
                                <p:cTn id="15" presetID="42" presetClass="exit" presetSubtype="0" fill="hold" grpId="0" nodeType="clickEffect">
                                  <p:stCondLst>
                                    <p:cond delay="0"/>
                                  </p:stCondLst>
                                  <p:childTnLst>
                                    <p:animEffect transition="out" filter="fade">
                                      <p:cBhvr>
                                        <p:cTn id="16" dur="1000"/>
                                        <p:tgtEl>
                                          <p:spTgt spid="5"/>
                                        </p:tgtEl>
                                      </p:cBhvr>
                                    </p:animEffect>
                                    <p:anim calcmode="lin" valueType="num">
                                      <p:cBhvr>
                                        <p:cTn id="17" dur="1000"/>
                                        <p:tgtEl>
                                          <p:spTgt spid="5"/>
                                        </p:tgtEl>
                                        <p:attrNameLst>
                                          <p:attrName>ppt_x</p:attrName>
                                        </p:attrNameLst>
                                      </p:cBhvr>
                                      <p:tavLst>
                                        <p:tav tm="0">
                                          <p:val>
                                            <p:strVal val="ppt_x"/>
                                          </p:val>
                                        </p:tav>
                                        <p:tav tm="100000">
                                          <p:val>
                                            <p:strVal val="ppt_x"/>
                                          </p:val>
                                        </p:tav>
                                      </p:tavLst>
                                    </p:anim>
                                    <p:anim calcmode="lin" valueType="num">
                                      <p:cBhvr>
                                        <p:cTn id="18" dur="1000"/>
                                        <p:tgtEl>
                                          <p:spTgt spid="5"/>
                                        </p:tgtEl>
                                        <p:attrNameLst>
                                          <p:attrName>ppt_y</p:attrName>
                                        </p:attrNameLst>
                                      </p:cBhvr>
                                      <p:tavLst>
                                        <p:tav tm="0">
                                          <p:val>
                                            <p:strVal val="ppt_y"/>
                                          </p:val>
                                        </p:tav>
                                        <p:tav tm="100000">
                                          <p:val>
                                            <p:strVal val="ppt_y+.1"/>
                                          </p:val>
                                        </p:tav>
                                      </p:tavLst>
                                    </p:anim>
                                    <p:set>
                                      <p:cBhvr>
                                        <p:cTn id="19" dur="1" fill="hold">
                                          <p:stCondLst>
                                            <p:cond delay="999"/>
                                          </p:stCondLst>
                                        </p:cTn>
                                        <p:tgtEl>
                                          <p:spTgt spid="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32" presetClass="emph" presetSubtype="0" fill="hold" grpId="0" nodeType="clickEffect">
                                  <p:stCondLst>
                                    <p:cond delay="0"/>
                                  </p:stCondLst>
                                  <p:childTnLst>
                                    <p:animRot by="120000">
                                      <p:cBhvr>
                                        <p:cTn id="23" dur="100" fill="hold">
                                          <p:stCondLst>
                                            <p:cond delay="0"/>
                                          </p:stCondLst>
                                        </p:cTn>
                                        <p:tgtEl>
                                          <p:spTgt spid="6"/>
                                        </p:tgtEl>
                                        <p:attrNameLst>
                                          <p:attrName>r</p:attrName>
                                        </p:attrNameLst>
                                      </p:cBhvr>
                                    </p:animRot>
                                    <p:animRot by="-240000">
                                      <p:cBhvr>
                                        <p:cTn id="24" dur="200" fill="hold">
                                          <p:stCondLst>
                                            <p:cond delay="200"/>
                                          </p:stCondLst>
                                        </p:cTn>
                                        <p:tgtEl>
                                          <p:spTgt spid="6"/>
                                        </p:tgtEl>
                                        <p:attrNameLst>
                                          <p:attrName>r</p:attrName>
                                        </p:attrNameLst>
                                      </p:cBhvr>
                                    </p:animRot>
                                    <p:animRot by="240000">
                                      <p:cBhvr>
                                        <p:cTn id="25" dur="200" fill="hold">
                                          <p:stCondLst>
                                            <p:cond delay="400"/>
                                          </p:stCondLst>
                                        </p:cTn>
                                        <p:tgtEl>
                                          <p:spTgt spid="6"/>
                                        </p:tgtEl>
                                        <p:attrNameLst>
                                          <p:attrName>r</p:attrName>
                                        </p:attrNameLst>
                                      </p:cBhvr>
                                    </p:animRot>
                                    <p:animRot by="-240000">
                                      <p:cBhvr>
                                        <p:cTn id="26" dur="200" fill="hold">
                                          <p:stCondLst>
                                            <p:cond delay="600"/>
                                          </p:stCondLst>
                                        </p:cTn>
                                        <p:tgtEl>
                                          <p:spTgt spid="6"/>
                                        </p:tgtEl>
                                        <p:attrNameLst>
                                          <p:attrName>r</p:attrName>
                                        </p:attrNameLst>
                                      </p:cBhvr>
                                    </p:animRot>
                                    <p:animRot by="120000">
                                      <p:cBhvr>
                                        <p:cTn id="27"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Recommendations </a:t>
            </a:r>
            <a:endParaRPr lang="en-US" b="1" dirty="0"/>
          </a:p>
        </p:txBody>
      </p:sp>
      <p:sp>
        <p:nvSpPr>
          <p:cNvPr id="3" name="Content Placeholder 2"/>
          <p:cNvSpPr>
            <a:spLocks noGrp="1"/>
          </p:cNvSpPr>
          <p:nvPr>
            <p:ph idx="1"/>
          </p:nvPr>
        </p:nvSpPr>
        <p:spPr/>
        <p:txBody>
          <a:bodyPr/>
          <a:lstStyle/>
          <a:p>
            <a:r>
              <a:rPr lang="en-US" i="1" dirty="0" smtClean="0"/>
              <a:t>Plant Spacing</a:t>
            </a:r>
            <a:r>
              <a:rPr lang="en-US" dirty="0" smtClean="0"/>
              <a:t>: Maintain the observed spacing of 27-30cm between plants to ensure optimal growth and yield.</a:t>
            </a:r>
          </a:p>
          <a:p>
            <a:r>
              <a:rPr lang="en-US" i="1" dirty="0" smtClean="0"/>
              <a:t>Ridge Spacing</a:t>
            </a:r>
            <a:r>
              <a:rPr lang="en-US" dirty="0" smtClean="0"/>
              <a:t>: Keep the distance of 1m between successive ridges for convenient movement and farm operations.</a:t>
            </a:r>
          </a:p>
          <a:p>
            <a:r>
              <a:rPr lang="en-US" i="1" dirty="0" smtClean="0"/>
              <a:t>Regular Monitoring</a:t>
            </a:r>
            <a:r>
              <a:rPr lang="en-US" dirty="0" smtClean="0"/>
              <a:t>: Regularly monitor the maize field during the grain-filling stage to identify any signs of nutrient deficiencies, pests, or diseases.</a:t>
            </a:r>
            <a:endParaRPr lang="en-US" dirty="0"/>
          </a:p>
        </p:txBody>
      </p:sp>
    </p:spTree>
    <p:extLst>
      <p:ext uri="{BB962C8B-B14F-4D97-AF65-F5344CB8AC3E}">
        <p14:creationId xmlns:p14="http://schemas.microsoft.com/office/powerpoint/2010/main" val="1464315408"/>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anim calcmode="lin" valueType="num">
                                      <p:cBhvr>
                                        <p:cTn id="14"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5"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2000"/>
                                        <p:tgtEl>
                                          <p:spTgt spid="3">
                                            <p:txEl>
                                              <p:pRg st="1" end="1"/>
                                            </p:txEl>
                                          </p:spTgt>
                                        </p:tgtEl>
                                      </p:cBhvr>
                                    </p:animEffect>
                                    <p:anim calcmode="lin" valueType="num">
                                      <p:cBhvr>
                                        <p:cTn id="21"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2"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2000"/>
                                        <p:tgtEl>
                                          <p:spTgt spid="3">
                                            <p:txEl>
                                              <p:pRg st="2" end="2"/>
                                            </p:txEl>
                                          </p:spTgt>
                                        </p:tgtEl>
                                      </p:cBhvr>
                                    </p:animEffect>
                                    <p:anim calcmode="lin" valueType="num">
                                      <p:cBhvr>
                                        <p:cTn id="2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r>
              <a:rPr lang="en-US" dirty="0" smtClean="0"/>
              <a:t> </a:t>
            </a:r>
            <a:endParaRPr lang="en-US" dirty="0"/>
          </a:p>
        </p:txBody>
      </p:sp>
      <p:sp>
        <p:nvSpPr>
          <p:cNvPr id="3" name="Content Placeholder 2"/>
          <p:cNvSpPr>
            <a:spLocks noGrp="1"/>
          </p:cNvSpPr>
          <p:nvPr>
            <p:ph idx="1"/>
          </p:nvPr>
        </p:nvSpPr>
        <p:spPr/>
        <p:txBody>
          <a:bodyPr/>
          <a:lstStyle/>
          <a:p>
            <a:r>
              <a:rPr lang="en-US" dirty="0" smtClean="0"/>
              <a:t>Our tour of the maize field was a resounding success, offering a wealth of knowledge and practical insights into maize cultivation. By embracing these recommendations, we can unlock the full potential of the maize crop and reap a bountiful harvest. </a:t>
            </a:r>
            <a:endParaRPr lang="en-US" dirty="0"/>
          </a:p>
        </p:txBody>
      </p:sp>
    </p:spTree>
    <p:extLst>
      <p:ext uri="{BB962C8B-B14F-4D97-AF65-F5344CB8AC3E}">
        <p14:creationId xmlns:p14="http://schemas.microsoft.com/office/powerpoint/2010/main" val="509930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fill="hold" grpId="0" nodeType="clickEffect">
                                  <p:stCondLst>
                                    <p:cond delay="0"/>
                                  </p:stCondLst>
                                  <p:childTnLst>
                                    <p:animClr clrSpc="hsl" dir="cw">
                                      <p:cBhvr override="childStyle">
                                        <p:cTn id="6" dur="500" fill="hold"/>
                                        <p:tgtEl>
                                          <p:spTgt spid="2"/>
                                        </p:tgtEl>
                                        <p:attrNameLst>
                                          <p:attrName>style.color</p:attrName>
                                        </p:attrNameLst>
                                      </p:cBhvr>
                                      <p:by>
                                        <p:hsl h="0" s="-70588" l="0"/>
                                      </p:by>
                                    </p:animClr>
                                    <p:animClr clrSpc="hsl" dir="cw">
                                      <p:cBhvr>
                                        <p:cTn id="7" dur="500" fill="hold"/>
                                        <p:tgtEl>
                                          <p:spTgt spid="2"/>
                                        </p:tgtEl>
                                        <p:attrNameLst>
                                          <p:attrName>fillcolor</p:attrName>
                                        </p:attrNameLst>
                                      </p:cBhvr>
                                      <p:by>
                                        <p:hsl h="0" s="-70588" l="0"/>
                                      </p:by>
                                    </p:animClr>
                                    <p:animClr clrSpc="hsl" dir="cw">
                                      <p:cBhvr>
                                        <p:cTn id="8" dur="500" fill="hold"/>
                                        <p:tgtEl>
                                          <p:spTgt spid="2"/>
                                        </p:tgtEl>
                                        <p:attrNameLst>
                                          <p:attrName>stroke.color</p:attrName>
                                        </p:attrNameLst>
                                      </p:cBhvr>
                                      <p:by>
                                        <p:hsl h="0" s="-70588" l="0"/>
                                      </p:by>
                                    </p:animClr>
                                    <p:set>
                                      <p:cBhvr>
                                        <p:cTn id="9" dur="500" fill="hold"/>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6" presetClass="exit" presetSubtype="0" fill="hold" grpId="0" nodeType="clickEffect">
                                  <p:stCondLst>
                                    <p:cond delay="0"/>
                                  </p:stCondLst>
                                  <p:childTnLst>
                                    <p:animEffect transition="out" filter="wipe(down)">
                                      <p:cBhvr>
                                        <p:cTn id="13" dur="180" accel="50000">
                                          <p:stCondLst>
                                            <p:cond delay="1820"/>
                                          </p:stCondLst>
                                        </p:cTn>
                                        <p:tgtEl>
                                          <p:spTgt spid="3">
                                            <p:txEl>
                                              <p:pRg st="0" end="0"/>
                                            </p:txEl>
                                          </p:spTgt>
                                        </p:tgtEl>
                                      </p:cBhvr>
                                    </p:animEffect>
                                    <p:anim calcmode="lin" valueType="num">
                                      <p:cBhvr>
                                        <p:cTn id="14" dur="1822" tmFilter="0,0; 0.14,0.31; 0.43,0.73; 0.71,0.91; 1.0,1.0">
                                          <p:stCondLst>
                                            <p:cond delay="0"/>
                                          </p:stCondLst>
                                        </p:cTn>
                                        <p:tgtEl>
                                          <p:spTgt spid="3">
                                            <p:txEl>
                                              <p:pRg st="0" end="0"/>
                                            </p:txEl>
                                          </p:spTgt>
                                        </p:tgtEl>
                                        <p:attrNameLst>
                                          <p:attrName>ppt_x</p:attrName>
                                        </p:attrNameLst>
                                      </p:cBhvr>
                                      <p:tavLst>
                                        <p:tav tm="0">
                                          <p:val>
                                            <p:strVal val="ppt_x"/>
                                          </p:val>
                                        </p:tav>
                                        <p:tav tm="100000">
                                          <p:val>
                                            <p:strVal val="#ppt_x+0.25"/>
                                          </p:val>
                                        </p:tav>
                                      </p:tavLst>
                                    </p:anim>
                                    <p:anim calcmode="lin" valueType="num">
                                      <p:cBhvr>
                                        <p:cTn id="15" dur="178">
                                          <p:stCondLst>
                                            <p:cond delay="1822"/>
                                          </p:stCondLst>
                                        </p:cTn>
                                        <p:tgtEl>
                                          <p:spTgt spid="3">
                                            <p:txEl>
                                              <p:pRg st="0" end="0"/>
                                            </p:txEl>
                                          </p:spTgt>
                                        </p:tgtEl>
                                        <p:attrNameLst>
                                          <p:attrName>ppt_x</p:attrName>
                                        </p:attrNameLst>
                                      </p:cBhvr>
                                      <p:tavLst>
                                        <p:tav tm="0">
                                          <p:val>
                                            <p:strVal val="ppt_x"/>
                                          </p:val>
                                        </p:tav>
                                        <p:tav tm="100000">
                                          <p:val>
                                            <p:strVal val="ppt_x"/>
                                          </p:val>
                                        </p:tav>
                                      </p:tavLst>
                                    </p:anim>
                                    <p:anim calcmode="lin" valueType="num">
                                      <p:cBhvr>
                                        <p:cTn id="16" dur="664" tmFilter="0.0,0.0;0.25,0.07;0.50,0.2;0.75,0.467;1.0,1.0">
                                          <p:stCondLst>
                                            <p:cond delay="0"/>
                                          </p:stCondLst>
                                        </p:cTn>
                                        <p:tgtEl>
                                          <p:spTgt spid="3">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0" dur="180" accel="50000">
                                          <p:stCondLst>
                                            <p:cond delay="1820"/>
                                          </p:stCondLst>
                                        </p:cTn>
                                        <p:tgtEl>
                                          <p:spTgt spid="3">
                                            <p:txEl>
                                              <p:pRg st="0" end="0"/>
                                            </p:txEl>
                                          </p:spTgt>
                                        </p:tgtEl>
                                        <p:attrNameLst>
                                          <p:attrName>ppt_y</p:attrName>
                                        </p:attrNameLst>
                                      </p:cBhvr>
                                      <p:tavLst>
                                        <p:tav tm="0">
                                          <p:val>
                                            <p:strVal val="ppt_y"/>
                                          </p:val>
                                        </p:tav>
                                        <p:tav tm="100000">
                                          <p:val>
                                            <p:strVal val="ppt_y+ppt_h"/>
                                          </p:val>
                                        </p:tav>
                                      </p:tavLst>
                                    </p:anim>
                                    <p:animScale>
                                      <p:cBhvr>
                                        <p:cTn id="21" dur="26">
                                          <p:stCondLst>
                                            <p:cond delay="620"/>
                                          </p:stCondLst>
                                        </p:cTn>
                                        <p:tgtEl>
                                          <p:spTgt spid="3">
                                            <p:txEl>
                                              <p:pRg st="0" end="0"/>
                                            </p:txEl>
                                          </p:spTgt>
                                        </p:tgtEl>
                                      </p:cBhvr>
                                      <p:to x="100000" y="60000"/>
                                    </p:animScale>
                                    <p:animScale>
                                      <p:cBhvr>
                                        <p:cTn id="22" dur="166" decel="50000">
                                          <p:stCondLst>
                                            <p:cond delay="646"/>
                                          </p:stCondLst>
                                        </p:cTn>
                                        <p:tgtEl>
                                          <p:spTgt spid="3">
                                            <p:txEl>
                                              <p:pRg st="0" end="0"/>
                                            </p:txEl>
                                          </p:spTgt>
                                        </p:tgtEl>
                                      </p:cBhvr>
                                      <p:to x="100000" y="100000"/>
                                    </p:animScale>
                                    <p:animScale>
                                      <p:cBhvr>
                                        <p:cTn id="23" dur="26">
                                          <p:stCondLst>
                                            <p:cond delay="1312"/>
                                          </p:stCondLst>
                                        </p:cTn>
                                        <p:tgtEl>
                                          <p:spTgt spid="3">
                                            <p:txEl>
                                              <p:pRg st="0" end="0"/>
                                            </p:txEl>
                                          </p:spTgt>
                                        </p:tgtEl>
                                      </p:cBhvr>
                                      <p:to x="100000" y="80000"/>
                                    </p:animScale>
                                    <p:animScale>
                                      <p:cBhvr>
                                        <p:cTn id="24" dur="166" decel="50000">
                                          <p:stCondLst>
                                            <p:cond delay="1338"/>
                                          </p:stCondLst>
                                        </p:cTn>
                                        <p:tgtEl>
                                          <p:spTgt spid="3">
                                            <p:txEl>
                                              <p:pRg st="0" end="0"/>
                                            </p:txEl>
                                          </p:spTgt>
                                        </p:tgtEl>
                                      </p:cBhvr>
                                      <p:to x="100000" y="100000"/>
                                    </p:animScale>
                                    <p:animScale>
                                      <p:cBhvr>
                                        <p:cTn id="25" dur="26">
                                          <p:stCondLst>
                                            <p:cond delay="1642"/>
                                          </p:stCondLst>
                                        </p:cTn>
                                        <p:tgtEl>
                                          <p:spTgt spid="3">
                                            <p:txEl>
                                              <p:pRg st="0" end="0"/>
                                            </p:txEl>
                                          </p:spTgt>
                                        </p:tgtEl>
                                      </p:cBhvr>
                                      <p:to x="100000" y="90000"/>
                                    </p:animScale>
                                    <p:animScale>
                                      <p:cBhvr>
                                        <p:cTn id="26" dur="166" decel="50000">
                                          <p:stCondLst>
                                            <p:cond delay="1668"/>
                                          </p:stCondLst>
                                        </p:cTn>
                                        <p:tgtEl>
                                          <p:spTgt spid="3">
                                            <p:txEl>
                                              <p:pRg st="0" end="0"/>
                                            </p:txEl>
                                          </p:spTgt>
                                        </p:tgtEl>
                                      </p:cBhvr>
                                      <p:to x="100000" y="100000"/>
                                    </p:animScale>
                                    <p:animScale>
                                      <p:cBhvr>
                                        <p:cTn id="27" dur="26">
                                          <p:stCondLst>
                                            <p:cond delay="1808"/>
                                          </p:stCondLst>
                                        </p:cTn>
                                        <p:tgtEl>
                                          <p:spTgt spid="3">
                                            <p:txEl>
                                              <p:pRg st="0" end="0"/>
                                            </p:txEl>
                                          </p:spTgt>
                                        </p:tgtEl>
                                      </p:cBhvr>
                                      <p:to x="100000" y="95000"/>
                                    </p:animScale>
                                    <p:animScale>
                                      <p:cBhvr>
                                        <p:cTn id="28" dur="166" decel="50000">
                                          <p:stCondLst>
                                            <p:cond delay="1834"/>
                                          </p:stCondLst>
                                        </p:cTn>
                                        <p:tgtEl>
                                          <p:spTgt spid="3">
                                            <p:txEl>
                                              <p:pRg st="0" end="0"/>
                                            </p:txEl>
                                          </p:spTgt>
                                        </p:tgtEl>
                                      </p:cBhvr>
                                      <p:to x="100000" y="100000"/>
                                    </p:animScale>
                                    <p:set>
                                      <p:cBhvr>
                                        <p:cTn id="29"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121</TotalTime>
  <Words>485</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CROP SCIENCE ASSIGNMENT ONE </vt:lpstr>
      <vt:lpstr>Introduction</vt:lpstr>
      <vt:lpstr>Objectives</vt:lpstr>
      <vt:lpstr>MAIN BODY</vt:lpstr>
      <vt:lpstr>Spacing </vt:lpstr>
      <vt:lpstr>Parts of the Plant </vt:lpstr>
      <vt:lpstr>PowerPoint Presentation</vt:lpstr>
      <vt:lpstr>Stage of Growth</vt:lpstr>
      <vt:lpstr>Soil Conditions </vt:lpstr>
      <vt:lpstr>Recommendations </vt:lpstr>
      <vt:lpstr>Conclusion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ASSIGNMENT ONE</dc:title>
  <dc:creator>khondwani kaonga</dc:creator>
  <cp:lastModifiedBy>khondwani kaonga</cp:lastModifiedBy>
  <cp:revision>7</cp:revision>
  <dcterms:created xsi:type="dcterms:W3CDTF">2024-09-04T18:07:29Z</dcterms:created>
  <dcterms:modified xsi:type="dcterms:W3CDTF">2024-09-04T20:11:57Z</dcterms:modified>
</cp:coreProperties>
</file>