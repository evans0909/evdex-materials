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58" r:id="rId5"/>
    <p:sldId id="264" r:id="rId6"/>
    <p:sldId id="259" r:id="rId7"/>
    <p:sldId id="260" r:id="rId8"/>
    <p:sldId id="261" r:id="rId9"/>
    <p:sldId id="262" r:id="rId10"/>
    <p:sldId id="265" r:id="rId11"/>
    <p:sldId id="266" r:id="rId12"/>
    <p:sldId id="267" r:id="rId13"/>
    <p:sldId id="268" r:id="rId14"/>
    <p:sldId id="271" r:id="rId15"/>
    <p:sldId id="269" r:id="rId16"/>
    <p:sldId id="270"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00" autoAdjust="0"/>
    <p:restoredTop sz="94660"/>
  </p:normalViewPr>
  <p:slideViewPr>
    <p:cSldViewPr snapToGrid="0">
      <p:cViewPr varScale="1">
        <p:scale>
          <a:sx n="52" d="100"/>
          <a:sy n="52" d="100"/>
        </p:scale>
        <p:origin x="-288" y="-84"/>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FA2645-E03D-447D-808D-6508281046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xmlns="" id="{B50C6AC2-CE5C-418A-BF6C-99198BF253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xmlns="" id="{ADEC1599-E218-4675-A43F-377123347670}"/>
              </a:ext>
            </a:extLst>
          </p:cNvPr>
          <p:cNvSpPr>
            <a:spLocks noGrp="1"/>
          </p:cNvSpPr>
          <p:nvPr>
            <p:ph type="dt" sz="half" idx="10"/>
          </p:nvPr>
        </p:nvSpPr>
        <p:spPr/>
        <p:txBody>
          <a:bodyPr/>
          <a:lstStyle/>
          <a:p>
            <a:fld id="{DDF5EE3D-EE70-4947-9AE6-E367CCCDDB4D}" type="datetimeFigureOut">
              <a:rPr lang="en-NZ" smtClean="0"/>
              <a:pPr/>
              <a:t>8/09/2022</a:t>
            </a:fld>
            <a:endParaRPr lang="en-NZ"/>
          </a:p>
        </p:txBody>
      </p:sp>
      <p:sp>
        <p:nvSpPr>
          <p:cNvPr id="5" name="Footer Placeholder 4">
            <a:extLst>
              <a:ext uri="{FF2B5EF4-FFF2-40B4-BE49-F238E27FC236}">
                <a16:creationId xmlns:a16="http://schemas.microsoft.com/office/drawing/2014/main" xmlns="" id="{F1C620B0-4704-4AB9-AF78-0AD2433F8EB1}"/>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xmlns="" id="{6DA4B96B-DC7D-427C-BDDD-81DCA2CD5BDF}"/>
              </a:ext>
            </a:extLst>
          </p:cNvPr>
          <p:cNvSpPr>
            <a:spLocks noGrp="1"/>
          </p:cNvSpPr>
          <p:nvPr>
            <p:ph type="sldNum" sz="quarter" idx="12"/>
          </p:nvPr>
        </p:nvSpPr>
        <p:spPr/>
        <p:txBody>
          <a:bodyPr/>
          <a:lstStyle/>
          <a:p>
            <a:fld id="{0990E8AC-16D3-4011-90D3-242594DEF9F3}" type="slidenum">
              <a:rPr lang="en-NZ" smtClean="0"/>
              <a:pPr/>
              <a:t>‹#›</a:t>
            </a:fld>
            <a:endParaRPr lang="en-NZ"/>
          </a:p>
        </p:txBody>
      </p:sp>
    </p:spTree>
    <p:extLst>
      <p:ext uri="{BB962C8B-B14F-4D97-AF65-F5344CB8AC3E}">
        <p14:creationId xmlns:p14="http://schemas.microsoft.com/office/powerpoint/2010/main" xmlns="" val="1088419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4D98C6-E250-40D0-AD04-BAA3D6A7A7FF}"/>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xmlns="" id="{19D6EC27-DC9D-46FF-8E55-8E3938EACD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xmlns="" id="{3F3C87D9-B910-4ABE-AEE3-BF4CFEFF31B7}"/>
              </a:ext>
            </a:extLst>
          </p:cNvPr>
          <p:cNvSpPr>
            <a:spLocks noGrp="1"/>
          </p:cNvSpPr>
          <p:nvPr>
            <p:ph type="dt" sz="half" idx="10"/>
          </p:nvPr>
        </p:nvSpPr>
        <p:spPr/>
        <p:txBody>
          <a:bodyPr/>
          <a:lstStyle/>
          <a:p>
            <a:fld id="{DDF5EE3D-EE70-4947-9AE6-E367CCCDDB4D}" type="datetimeFigureOut">
              <a:rPr lang="en-NZ" smtClean="0"/>
              <a:pPr/>
              <a:t>8/09/2022</a:t>
            </a:fld>
            <a:endParaRPr lang="en-NZ"/>
          </a:p>
        </p:txBody>
      </p:sp>
      <p:sp>
        <p:nvSpPr>
          <p:cNvPr id="5" name="Footer Placeholder 4">
            <a:extLst>
              <a:ext uri="{FF2B5EF4-FFF2-40B4-BE49-F238E27FC236}">
                <a16:creationId xmlns:a16="http://schemas.microsoft.com/office/drawing/2014/main" xmlns="" id="{E9B50277-4C6B-4F0F-AFB9-8A1E6F118CD8}"/>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xmlns="" id="{F955EB41-061C-455D-96D6-63274440408F}"/>
              </a:ext>
            </a:extLst>
          </p:cNvPr>
          <p:cNvSpPr>
            <a:spLocks noGrp="1"/>
          </p:cNvSpPr>
          <p:nvPr>
            <p:ph type="sldNum" sz="quarter" idx="12"/>
          </p:nvPr>
        </p:nvSpPr>
        <p:spPr/>
        <p:txBody>
          <a:bodyPr/>
          <a:lstStyle/>
          <a:p>
            <a:fld id="{0990E8AC-16D3-4011-90D3-242594DEF9F3}" type="slidenum">
              <a:rPr lang="en-NZ" smtClean="0"/>
              <a:pPr/>
              <a:t>‹#›</a:t>
            </a:fld>
            <a:endParaRPr lang="en-NZ"/>
          </a:p>
        </p:txBody>
      </p:sp>
    </p:spTree>
    <p:extLst>
      <p:ext uri="{BB962C8B-B14F-4D97-AF65-F5344CB8AC3E}">
        <p14:creationId xmlns:p14="http://schemas.microsoft.com/office/powerpoint/2010/main" xmlns="" val="3434458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562A3F-8356-4DE7-A05A-7E0534C84E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xmlns="" id="{9389BF7A-964E-4FEF-8B7A-E1FEE68B0E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29D45354-009B-44A8-9BF7-0FFA1E38624F}"/>
              </a:ext>
            </a:extLst>
          </p:cNvPr>
          <p:cNvSpPr>
            <a:spLocks noGrp="1"/>
          </p:cNvSpPr>
          <p:nvPr>
            <p:ph type="dt" sz="half" idx="10"/>
          </p:nvPr>
        </p:nvSpPr>
        <p:spPr/>
        <p:txBody>
          <a:bodyPr/>
          <a:lstStyle/>
          <a:p>
            <a:fld id="{DDF5EE3D-EE70-4947-9AE6-E367CCCDDB4D}" type="datetimeFigureOut">
              <a:rPr lang="en-NZ" smtClean="0"/>
              <a:pPr/>
              <a:t>8/09/2022</a:t>
            </a:fld>
            <a:endParaRPr lang="en-NZ"/>
          </a:p>
        </p:txBody>
      </p:sp>
      <p:sp>
        <p:nvSpPr>
          <p:cNvPr id="5" name="Footer Placeholder 4">
            <a:extLst>
              <a:ext uri="{FF2B5EF4-FFF2-40B4-BE49-F238E27FC236}">
                <a16:creationId xmlns:a16="http://schemas.microsoft.com/office/drawing/2014/main" xmlns="" id="{4FCB408C-D7EC-4105-99DA-6F3B5BEB0A55}"/>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xmlns="" id="{D22BA849-C6F8-45F9-9866-DA1E795C35BA}"/>
              </a:ext>
            </a:extLst>
          </p:cNvPr>
          <p:cNvSpPr>
            <a:spLocks noGrp="1"/>
          </p:cNvSpPr>
          <p:nvPr>
            <p:ph type="sldNum" sz="quarter" idx="12"/>
          </p:nvPr>
        </p:nvSpPr>
        <p:spPr/>
        <p:txBody>
          <a:bodyPr/>
          <a:lstStyle/>
          <a:p>
            <a:fld id="{0990E8AC-16D3-4011-90D3-242594DEF9F3}" type="slidenum">
              <a:rPr lang="en-NZ" smtClean="0"/>
              <a:pPr/>
              <a:t>‹#›</a:t>
            </a:fld>
            <a:endParaRPr lang="en-NZ"/>
          </a:p>
        </p:txBody>
      </p:sp>
    </p:spTree>
    <p:extLst>
      <p:ext uri="{BB962C8B-B14F-4D97-AF65-F5344CB8AC3E}">
        <p14:creationId xmlns:p14="http://schemas.microsoft.com/office/powerpoint/2010/main" xmlns="" val="2656365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E6BF96-450D-45C6-8FC6-C0AA3E44C3FA}"/>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xmlns="" id="{36B42965-A007-4E96-877C-82F019D77E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xmlns="" id="{0E32EBE7-C0E8-46E5-9CB9-7F6DF18FFB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xmlns="" id="{48F1A0D9-94FC-4923-B9C5-05E37553C766}"/>
              </a:ext>
            </a:extLst>
          </p:cNvPr>
          <p:cNvSpPr>
            <a:spLocks noGrp="1"/>
          </p:cNvSpPr>
          <p:nvPr>
            <p:ph type="dt" sz="half" idx="10"/>
          </p:nvPr>
        </p:nvSpPr>
        <p:spPr/>
        <p:txBody>
          <a:bodyPr/>
          <a:lstStyle/>
          <a:p>
            <a:fld id="{DDF5EE3D-EE70-4947-9AE6-E367CCCDDB4D}" type="datetimeFigureOut">
              <a:rPr lang="en-NZ" smtClean="0"/>
              <a:pPr/>
              <a:t>8/09/2022</a:t>
            </a:fld>
            <a:endParaRPr lang="en-NZ"/>
          </a:p>
        </p:txBody>
      </p:sp>
      <p:sp>
        <p:nvSpPr>
          <p:cNvPr id="6" name="Footer Placeholder 5">
            <a:extLst>
              <a:ext uri="{FF2B5EF4-FFF2-40B4-BE49-F238E27FC236}">
                <a16:creationId xmlns:a16="http://schemas.microsoft.com/office/drawing/2014/main" xmlns="" id="{0A820D81-E1C5-43CA-9E7B-3EFF2C1BFB96}"/>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xmlns="" id="{56A6197F-0774-48DE-A5C5-15C14FE3C86B}"/>
              </a:ext>
            </a:extLst>
          </p:cNvPr>
          <p:cNvSpPr>
            <a:spLocks noGrp="1"/>
          </p:cNvSpPr>
          <p:nvPr>
            <p:ph type="sldNum" sz="quarter" idx="12"/>
          </p:nvPr>
        </p:nvSpPr>
        <p:spPr/>
        <p:txBody>
          <a:bodyPr/>
          <a:lstStyle/>
          <a:p>
            <a:fld id="{0990E8AC-16D3-4011-90D3-242594DEF9F3}" type="slidenum">
              <a:rPr lang="en-NZ" smtClean="0"/>
              <a:pPr/>
              <a:t>‹#›</a:t>
            </a:fld>
            <a:endParaRPr lang="en-NZ"/>
          </a:p>
        </p:txBody>
      </p:sp>
    </p:spTree>
    <p:extLst>
      <p:ext uri="{BB962C8B-B14F-4D97-AF65-F5344CB8AC3E}">
        <p14:creationId xmlns:p14="http://schemas.microsoft.com/office/powerpoint/2010/main" xmlns="" val="1074142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F28258-7A30-43E7-8E39-6CF9B3DF2A78}"/>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xmlns="" id="{2ACD8CC6-0445-4325-A5F8-CB42852C6F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A9CD0ECA-5155-4653-A349-6FF6C31D2E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xmlns="" id="{60327D5B-4B77-46B4-B648-DEE87CE23D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A48FC714-DD1D-4BAA-A5B3-C8B48AFA3B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xmlns="" id="{888F557B-A1F1-4969-A4DC-1AE9FFFE7E03}"/>
              </a:ext>
            </a:extLst>
          </p:cNvPr>
          <p:cNvSpPr>
            <a:spLocks noGrp="1"/>
          </p:cNvSpPr>
          <p:nvPr>
            <p:ph type="dt" sz="half" idx="10"/>
          </p:nvPr>
        </p:nvSpPr>
        <p:spPr/>
        <p:txBody>
          <a:bodyPr/>
          <a:lstStyle/>
          <a:p>
            <a:fld id="{DDF5EE3D-EE70-4947-9AE6-E367CCCDDB4D}" type="datetimeFigureOut">
              <a:rPr lang="en-NZ" smtClean="0"/>
              <a:pPr/>
              <a:t>8/09/2022</a:t>
            </a:fld>
            <a:endParaRPr lang="en-NZ"/>
          </a:p>
        </p:txBody>
      </p:sp>
      <p:sp>
        <p:nvSpPr>
          <p:cNvPr id="8" name="Footer Placeholder 7">
            <a:extLst>
              <a:ext uri="{FF2B5EF4-FFF2-40B4-BE49-F238E27FC236}">
                <a16:creationId xmlns:a16="http://schemas.microsoft.com/office/drawing/2014/main" xmlns="" id="{7B8B7FE7-678B-4254-8937-39C1E2164BA7}"/>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xmlns="" id="{846F262E-9C1A-476B-8F8C-653C5A00EA70}"/>
              </a:ext>
            </a:extLst>
          </p:cNvPr>
          <p:cNvSpPr>
            <a:spLocks noGrp="1"/>
          </p:cNvSpPr>
          <p:nvPr>
            <p:ph type="sldNum" sz="quarter" idx="12"/>
          </p:nvPr>
        </p:nvSpPr>
        <p:spPr/>
        <p:txBody>
          <a:bodyPr/>
          <a:lstStyle/>
          <a:p>
            <a:fld id="{0990E8AC-16D3-4011-90D3-242594DEF9F3}" type="slidenum">
              <a:rPr lang="en-NZ" smtClean="0"/>
              <a:pPr/>
              <a:t>‹#›</a:t>
            </a:fld>
            <a:endParaRPr lang="en-NZ"/>
          </a:p>
        </p:txBody>
      </p:sp>
    </p:spTree>
    <p:extLst>
      <p:ext uri="{BB962C8B-B14F-4D97-AF65-F5344CB8AC3E}">
        <p14:creationId xmlns:p14="http://schemas.microsoft.com/office/powerpoint/2010/main" xmlns="" val="3472177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F931D0-F4BB-4A4F-8115-20FC75D8F481}"/>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xmlns="" id="{DEDC3CE9-6338-45F8-8A5F-D8833B7E20F2}"/>
              </a:ext>
            </a:extLst>
          </p:cNvPr>
          <p:cNvSpPr>
            <a:spLocks noGrp="1"/>
          </p:cNvSpPr>
          <p:nvPr>
            <p:ph type="dt" sz="half" idx="10"/>
          </p:nvPr>
        </p:nvSpPr>
        <p:spPr/>
        <p:txBody>
          <a:bodyPr/>
          <a:lstStyle/>
          <a:p>
            <a:fld id="{DDF5EE3D-EE70-4947-9AE6-E367CCCDDB4D}" type="datetimeFigureOut">
              <a:rPr lang="en-NZ" smtClean="0"/>
              <a:pPr/>
              <a:t>8/09/2022</a:t>
            </a:fld>
            <a:endParaRPr lang="en-NZ"/>
          </a:p>
        </p:txBody>
      </p:sp>
      <p:sp>
        <p:nvSpPr>
          <p:cNvPr id="4" name="Footer Placeholder 3">
            <a:extLst>
              <a:ext uri="{FF2B5EF4-FFF2-40B4-BE49-F238E27FC236}">
                <a16:creationId xmlns:a16="http://schemas.microsoft.com/office/drawing/2014/main" xmlns="" id="{50D701AF-320D-4DBF-9314-749C68BF9B1F}"/>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xmlns="" id="{FCF80A04-8C3F-4125-9ECD-FB4A850868E7}"/>
              </a:ext>
            </a:extLst>
          </p:cNvPr>
          <p:cNvSpPr>
            <a:spLocks noGrp="1"/>
          </p:cNvSpPr>
          <p:nvPr>
            <p:ph type="sldNum" sz="quarter" idx="12"/>
          </p:nvPr>
        </p:nvSpPr>
        <p:spPr/>
        <p:txBody>
          <a:bodyPr/>
          <a:lstStyle/>
          <a:p>
            <a:fld id="{0990E8AC-16D3-4011-90D3-242594DEF9F3}" type="slidenum">
              <a:rPr lang="en-NZ" smtClean="0"/>
              <a:pPr/>
              <a:t>‹#›</a:t>
            </a:fld>
            <a:endParaRPr lang="en-NZ"/>
          </a:p>
        </p:txBody>
      </p:sp>
    </p:spTree>
    <p:extLst>
      <p:ext uri="{BB962C8B-B14F-4D97-AF65-F5344CB8AC3E}">
        <p14:creationId xmlns:p14="http://schemas.microsoft.com/office/powerpoint/2010/main" xmlns="" val="35763799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A38A05CA-B9F5-433F-ACD8-6588ED635C3E}"/>
              </a:ext>
            </a:extLst>
          </p:cNvPr>
          <p:cNvSpPr>
            <a:spLocks noGrp="1"/>
          </p:cNvSpPr>
          <p:nvPr>
            <p:ph type="dt" sz="half" idx="10"/>
          </p:nvPr>
        </p:nvSpPr>
        <p:spPr/>
        <p:txBody>
          <a:bodyPr/>
          <a:lstStyle/>
          <a:p>
            <a:fld id="{DDF5EE3D-EE70-4947-9AE6-E367CCCDDB4D}" type="datetimeFigureOut">
              <a:rPr lang="en-NZ" smtClean="0"/>
              <a:pPr/>
              <a:t>8/09/2022</a:t>
            </a:fld>
            <a:endParaRPr lang="en-NZ"/>
          </a:p>
        </p:txBody>
      </p:sp>
      <p:sp>
        <p:nvSpPr>
          <p:cNvPr id="3" name="Footer Placeholder 2">
            <a:extLst>
              <a:ext uri="{FF2B5EF4-FFF2-40B4-BE49-F238E27FC236}">
                <a16:creationId xmlns:a16="http://schemas.microsoft.com/office/drawing/2014/main" xmlns="" id="{EB457E11-2F35-41DB-9469-62A3D253410E}"/>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xmlns="" id="{286CEC29-6586-4D7A-B96F-6787D65A841C}"/>
              </a:ext>
            </a:extLst>
          </p:cNvPr>
          <p:cNvSpPr>
            <a:spLocks noGrp="1"/>
          </p:cNvSpPr>
          <p:nvPr>
            <p:ph type="sldNum" sz="quarter" idx="12"/>
          </p:nvPr>
        </p:nvSpPr>
        <p:spPr/>
        <p:txBody>
          <a:bodyPr/>
          <a:lstStyle/>
          <a:p>
            <a:fld id="{0990E8AC-16D3-4011-90D3-242594DEF9F3}" type="slidenum">
              <a:rPr lang="en-NZ" smtClean="0"/>
              <a:pPr/>
              <a:t>‹#›</a:t>
            </a:fld>
            <a:endParaRPr lang="en-NZ"/>
          </a:p>
        </p:txBody>
      </p:sp>
    </p:spTree>
    <p:extLst>
      <p:ext uri="{BB962C8B-B14F-4D97-AF65-F5344CB8AC3E}">
        <p14:creationId xmlns:p14="http://schemas.microsoft.com/office/powerpoint/2010/main" xmlns="" val="2161198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5B493E-D5DC-46F1-941C-99576548F3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xmlns="" id="{7C06EBD2-5878-4F24-934B-2518EE5DAB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xmlns="" id="{A9ED0EF5-5667-4317-9A55-61B145828A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21914127-5572-4321-AF56-93AD4F758A81}"/>
              </a:ext>
            </a:extLst>
          </p:cNvPr>
          <p:cNvSpPr>
            <a:spLocks noGrp="1"/>
          </p:cNvSpPr>
          <p:nvPr>
            <p:ph type="dt" sz="half" idx="10"/>
          </p:nvPr>
        </p:nvSpPr>
        <p:spPr/>
        <p:txBody>
          <a:bodyPr/>
          <a:lstStyle/>
          <a:p>
            <a:fld id="{DDF5EE3D-EE70-4947-9AE6-E367CCCDDB4D}" type="datetimeFigureOut">
              <a:rPr lang="en-NZ" smtClean="0"/>
              <a:pPr/>
              <a:t>8/09/2022</a:t>
            </a:fld>
            <a:endParaRPr lang="en-NZ"/>
          </a:p>
        </p:txBody>
      </p:sp>
      <p:sp>
        <p:nvSpPr>
          <p:cNvPr id="6" name="Footer Placeholder 5">
            <a:extLst>
              <a:ext uri="{FF2B5EF4-FFF2-40B4-BE49-F238E27FC236}">
                <a16:creationId xmlns:a16="http://schemas.microsoft.com/office/drawing/2014/main" xmlns="" id="{01671FEE-E8FC-4A0B-A960-99B735A18CD6}"/>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xmlns="" id="{58C9C20B-1028-49EF-A7D5-A1F8D53783D1}"/>
              </a:ext>
            </a:extLst>
          </p:cNvPr>
          <p:cNvSpPr>
            <a:spLocks noGrp="1"/>
          </p:cNvSpPr>
          <p:nvPr>
            <p:ph type="sldNum" sz="quarter" idx="12"/>
          </p:nvPr>
        </p:nvSpPr>
        <p:spPr/>
        <p:txBody>
          <a:bodyPr/>
          <a:lstStyle/>
          <a:p>
            <a:fld id="{0990E8AC-16D3-4011-90D3-242594DEF9F3}" type="slidenum">
              <a:rPr lang="en-NZ" smtClean="0"/>
              <a:pPr/>
              <a:t>‹#›</a:t>
            </a:fld>
            <a:endParaRPr lang="en-NZ"/>
          </a:p>
        </p:txBody>
      </p:sp>
    </p:spTree>
    <p:extLst>
      <p:ext uri="{BB962C8B-B14F-4D97-AF65-F5344CB8AC3E}">
        <p14:creationId xmlns:p14="http://schemas.microsoft.com/office/powerpoint/2010/main" xmlns="" val="4226945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6AD880-1B03-4CAD-BBDE-0BD75F17C0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xmlns="" id="{1BF11C45-C086-4550-A45A-95DE5DC628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xmlns="" id="{BDA54C1B-068F-4871-81AE-416C713264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B0A5C6FA-52FD-4545-A7D2-3C52E918BB0A}"/>
              </a:ext>
            </a:extLst>
          </p:cNvPr>
          <p:cNvSpPr>
            <a:spLocks noGrp="1"/>
          </p:cNvSpPr>
          <p:nvPr>
            <p:ph type="dt" sz="half" idx="10"/>
          </p:nvPr>
        </p:nvSpPr>
        <p:spPr/>
        <p:txBody>
          <a:bodyPr/>
          <a:lstStyle/>
          <a:p>
            <a:fld id="{DDF5EE3D-EE70-4947-9AE6-E367CCCDDB4D}" type="datetimeFigureOut">
              <a:rPr lang="en-NZ" smtClean="0"/>
              <a:pPr/>
              <a:t>8/09/2022</a:t>
            </a:fld>
            <a:endParaRPr lang="en-NZ"/>
          </a:p>
        </p:txBody>
      </p:sp>
      <p:sp>
        <p:nvSpPr>
          <p:cNvPr id="6" name="Footer Placeholder 5">
            <a:extLst>
              <a:ext uri="{FF2B5EF4-FFF2-40B4-BE49-F238E27FC236}">
                <a16:creationId xmlns:a16="http://schemas.microsoft.com/office/drawing/2014/main" xmlns="" id="{56FD7FC4-6D11-4DC2-9B7D-B6884A2FAE80}"/>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xmlns="" id="{7DB65E9D-2C4A-4F9C-975D-3D9B429B3B00}"/>
              </a:ext>
            </a:extLst>
          </p:cNvPr>
          <p:cNvSpPr>
            <a:spLocks noGrp="1"/>
          </p:cNvSpPr>
          <p:nvPr>
            <p:ph type="sldNum" sz="quarter" idx="12"/>
          </p:nvPr>
        </p:nvSpPr>
        <p:spPr/>
        <p:txBody>
          <a:bodyPr/>
          <a:lstStyle/>
          <a:p>
            <a:fld id="{0990E8AC-16D3-4011-90D3-242594DEF9F3}" type="slidenum">
              <a:rPr lang="en-NZ" smtClean="0"/>
              <a:pPr/>
              <a:t>‹#›</a:t>
            </a:fld>
            <a:endParaRPr lang="en-NZ"/>
          </a:p>
        </p:txBody>
      </p:sp>
    </p:spTree>
    <p:extLst>
      <p:ext uri="{BB962C8B-B14F-4D97-AF65-F5344CB8AC3E}">
        <p14:creationId xmlns:p14="http://schemas.microsoft.com/office/powerpoint/2010/main" xmlns="" val="3104369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04235E-E3BF-4349-9231-E288B688B830}"/>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xmlns="" id="{B8790CF5-1560-41E1-BFCC-3944D628A9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xmlns="" id="{A7BC4589-7397-44B0-BE29-A1F2BD2C42F4}"/>
              </a:ext>
            </a:extLst>
          </p:cNvPr>
          <p:cNvSpPr>
            <a:spLocks noGrp="1"/>
          </p:cNvSpPr>
          <p:nvPr>
            <p:ph type="dt" sz="half" idx="10"/>
          </p:nvPr>
        </p:nvSpPr>
        <p:spPr/>
        <p:txBody>
          <a:bodyPr/>
          <a:lstStyle/>
          <a:p>
            <a:fld id="{DDF5EE3D-EE70-4947-9AE6-E367CCCDDB4D}" type="datetimeFigureOut">
              <a:rPr lang="en-NZ" smtClean="0"/>
              <a:pPr/>
              <a:t>8/09/2022</a:t>
            </a:fld>
            <a:endParaRPr lang="en-NZ"/>
          </a:p>
        </p:txBody>
      </p:sp>
      <p:sp>
        <p:nvSpPr>
          <p:cNvPr id="5" name="Footer Placeholder 4">
            <a:extLst>
              <a:ext uri="{FF2B5EF4-FFF2-40B4-BE49-F238E27FC236}">
                <a16:creationId xmlns:a16="http://schemas.microsoft.com/office/drawing/2014/main" xmlns="" id="{3BEEA409-CADF-4E45-8390-A63F3531C842}"/>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xmlns="" id="{3646C469-A3A5-4CA2-9DC3-4B363D618D72}"/>
              </a:ext>
            </a:extLst>
          </p:cNvPr>
          <p:cNvSpPr>
            <a:spLocks noGrp="1"/>
          </p:cNvSpPr>
          <p:nvPr>
            <p:ph type="sldNum" sz="quarter" idx="12"/>
          </p:nvPr>
        </p:nvSpPr>
        <p:spPr/>
        <p:txBody>
          <a:bodyPr/>
          <a:lstStyle/>
          <a:p>
            <a:fld id="{0990E8AC-16D3-4011-90D3-242594DEF9F3}" type="slidenum">
              <a:rPr lang="en-NZ" smtClean="0"/>
              <a:pPr/>
              <a:t>‹#›</a:t>
            </a:fld>
            <a:endParaRPr lang="en-NZ"/>
          </a:p>
        </p:txBody>
      </p:sp>
    </p:spTree>
    <p:extLst>
      <p:ext uri="{BB962C8B-B14F-4D97-AF65-F5344CB8AC3E}">
        <p14:creationId xmlns:p14="http://schemas.microsoft.com/office/powerpoint/2010/main" xmlns="" val="3210453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CD8829C8-CE62-4B0A-9908-0FC42BFBA2E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xmlns="" id="{5D99BDAB-E68E-4DB6-B7C5-EE9750902B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xmlns="" id="{E040D1C4-7B33-4BA2-900E-184BB8ED9A51}"/>
              </a:ext>
            </a:extLst>
          </p:cNvPr>
          <p:cNvSpPr>
            <a:spLocks noGrp="1"/>
          </p:cNvSpPr>
          <p:nvPr>
            <p:ph type="dt" sz="half" idx="10"/>
          </p:nvPr>
        </p:nvSpPr>
        <p:spPr/>
        <p:txBody>
          <a:bodyPr/>
          <a:lstStyle/>
          <a:p>
            <a:fld id="{DDF5EE3D-EE70-4947-9AE6-E367CCCDDB4D}" type="datetimeFigureOut">
              <a:rPr lang="en-NZ" smtClean="0"/>
              <a:pPr/>
              <a:t>8/09/2022</a:t>
            </a:fld>
            <a:endParaRPr lang="en-NZ"/>
          </a:p>
        </p:txBody>
      </p:sp>
      <p:sp>
        <p:nvSpPr>
          <p:cNvPr id="5" name="Footer Placeholder 4">
            <a:extLst>
              <a:ext uri="{FF2B5EF4-FFF2-40B4-BE49-F238E27FC236}">
                <a16:creationId xmlns:a16="http://schemas.microsoft.com/office/drawing/2014/main" xmlns="" id="{D9B7AA41-EFC2-47F0-A353-4A6FB00ACBD6}"/>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xmlns="" id="{43034271-6329-4405-865F-C84C12E59613}"/>
              </a:ext>
            </a:extLst>
          </p:cNvPr>
          <p:cNvSpPr>
            <a:spLocks noGrp="1"/>
          </p:cNvSpPr>
          <p:nvPr>
            <p:ph type="sldNum" sz="quarter" idx="12"/>
          </p:nvPr>
        </p:nvSpPr>
        <p:spPr/>
        <p:txBody>
          <a:bodyPr/>
          <a:lstStyle/>
          <a:p>
            <a:fld id="{0990E8AC-16D3-4011-90D3-242594DEF9F3}" type="slidenum">
              <a:rPr lang="en-NZ" smtClean="0"/>
              <a:pPr/>
              <a:t>‹#›</a:t>
            </a:fld>
            <a:endParaRPr lang="en-NZ"/>
          </a:p>
        </p:txBody>
      </p:sp>
    </p:spTree>
    <p:extLst>
      <p:ext uri="{BB962C8B-B14F-4D97-AF65-F5344CB8AC3E}">
        <p14:creationId xmlns:p14="http://schemas.microsoft.com/office/powerpoint/2010/main" xmlns="" val="1140775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3059E24D-A6A4-42EF-86B2-891910E29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xmlns="" id="{E5A744D1-B22D-4842-983C-D0E483258A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xmlns="" id="{7AF83D67-1AFB-4C2B-9187-1F7DE3E85A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F5EE3D-EE70-4947-9AE6-E367CCCDDB4D}" type="datetimeFigureOut">
              <a:rPr lang="en-NZ" smtClean="0"/>
              <a:pPr/>
              <a:t>8/09/2022</a:t>
            </a:fld>
            <a:endParaRPr lang="en-NZ"/>
          </a:p>
        </p:txBody>
      </p:sp>
      <p:sp>
        <p:nvSpPr>
          <p:cNvPr id="5" name="Footer Placeholder 4">
            <a:extLst>
              <a:ext uri="{FF2B5EF4-FFF2-40B4-BE49-F238E27FC236}">
                <a16:creationId xmlns:a16="http://schemas.microsoft.com/office/drawing/2014/main" xmlns="" id="{209F75F9-9163-4645-B084-1A45D5533E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Z"/>
          </a:p>
        </p:txBody>
      </p:sp>
      <p:sp>
        <p:nvSpPr>
          <p:cNvPr id="6" name="Slide Number Placeholder 5">
            <a:extLst>
              <a:ext uri="{FF2B5EF4-FFF2-40B4-BE49-F238E27FC236}">
                <a16:creationId xmlns:a16="http://schemas.microsoft.com/office/drawing/2014/main" xmlns="" id="{1A91A2EE-1ABF-4B33-8275-C68A5F610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90E8AC-16D3-4011-90D3-242594DEF9F3}" type="slidenum">
              <a:rPr lang="en-NZ" smtClean="0"/>
              <a:pPr/>
              <a:t>‹#›</a:t>
            </a:fld>
            <a:endParaRPr lang="en-NZ"/>
          </a:p>
        </p:txBody>
      </p:sp>
    </p:spTree>
    <p:extLst>
      <p:ext uri="{BB962C8B-B14F-4D97-AF65-F5344CB8AC3E}">
        <p14:creationId xmlns:p14="http://schemas.microsoft.com/office/powerpoint/2010/main" xmlns="" val="2742906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9100193-4D7A-4C1A-B440-777C90A75C2F}"/>
              </a:ext>
            </a:extLst>
          </p:cNvPr>
          <p:cNvSpPr>
            <a:spLocks noGrp="1"/>
          </p:cNvSpPr>
          <p:nvPr>
            <p:ph type="ctrTitle"/>
          </p:nvPr>
        </p:nvSpPr>
        <p:spPr/>
        <p:txBody>
          <a:bodyPr>
            <a:normAutofit fontScale="90000"/>
          </a:bodyPr>
          <a:lstStyle/>
          <a:p>
            <a:r>
              <a:rPr lang="en-AU" dirty="0"/>
              <a:t>Crop Science </a:t>
            </a:r>
            <a:br>
              <a:rPr lang="en-AU" dirty="0"/>
            </a:br>
            <a:r>
              <a:rPr lang="en-AU" dirty="0"/>
              <a:t>Lecture 4</a:t>
            </a:r>
            <a:br>
              <a:rPr lang="en-AU" dirty="0"/>
            </a:br>
            <a:r>
              <a:rPr lang="en-AU" dirty="0"/>
              <a:t> </a:t>
            </a:r>
            <a:r>
              <a:rPr lang="en-US" dirty="0"/>
              <a:t>August</a:t>
            </a:r>
            <a:r>
              <a:rPr lang="en-AU" dirty="0"/>
              <a:t> </a:t>
            </a:r>
            <a:r>
              <a:rPr lang="en-US" dirty="0"/>
              <a:t>2022</a:t>
            </a:r>
            <a:endParaRPr lang="en-NZ" dirty="0"/>
          </a:p>
        </p:txBody>
      </p:sp>
      <p:sp>
        <p:nvSpPr>
          <p:cNvPr id="3" name="Subtitle 2">
            <a:extLst>
              <a:ext uri="{FF2B5EF4-FFF2-40B4-BE49-F238E27FC236}">
                <a16:creationId xmlns:a16="http://schemas.microsoft.com/office/drawing/2014/main" xmlns="" id="{E7CA03E6-C94C-4364-BFFF-3D7E12CEE59A}"/>
              </a:ext>
            </a:extLst>
          </p:cNvPr>
          <p:cNvSpPr>
            <a:spLocks noGrp="1"/>
          </p:cNvSpPr>
          <p:nvPr>
            <p:ph type="subTitle" idx="1"/>
          </p:nvPr>
        </p:nvSpPr>
        <p:spPr/>
        <p:txBody>
          <a:bodyPr/>
          <a:lstStyle/>
          <a:p>
            <a:r>
              <a:rPr lang="en-NZ" dirty="0" smtClean="0"/>
              <a:t>PLANT GROWTH AND DEVELOPMENT</a:t>
            </a:r>
            <a:endParaRPr lang="en-NZ" dirty="0"/>
          </a:p>
        </p:txBody>
      </p:sp>
    </p:spTree>
    <p:extLst>
      <p:ext uri="{BB962C8B-B14F-4D97-AF65-F5344CB8AC3E}">
        <p14:creationId xmlns:p14="http://schemas.microsoft.com/office/powerpoint/2010/main" xmlns="" val="26242401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923E95-52D5-48A2-99AE-2A501A11C176}"/>
              </a:ext>
            </a:extLst>
          </p:cNvPr>
          <p:cNvSpPr>
            <a:spLocks noGrp="1"/>
          </p:cNvSpPr>
          <p:nvPr>
            <p:ph type="title"/>
          </p:nvPr>
        </p:nvSpPr>
        <p:spPr/>
        <p:txBody>
          <a:bodyPr/>
          <a:lstStyle/>
          <a:p>
            <a:r>
              <a:rPr lang="en-AU" dirty="0"/>
              <a:t>Plant growth and development</a:t>
            </a:r>
            <a:endParaRPr lang="en-NZ" dirty="0"/>
          </a:p>
        </p:txBody>
      </p:sp>
      <p:sp>
        <p:nvSpPr>
          <p:cNvPr id="3" name="Content Placeholder 2">
            <a:extLst>
              <a:ext uri="{FF2B5EF4-FFF2-40B4-BE49-F238E27FC236}">
                <a16:creationId xmlns:a16="http://schemas.microsoft.com/office/drawing/2014/main" xmlns="" id="{8F38282A-E69F-40E9-9A94-59437ED9CFD9}"/>
              </a:ext>
            </a:extLst>
          </p:cNvPr>
          <p:cNvSpPr>
            <a:spLocks noGrp="1"/>
          </p:cNvSpPr>
          <p:nvPr>
            <p:ph idx="1"/>
          </p:nvPr>
        </p:nvSpPr>
        <p:spPr/>
        <p:txBody>
          <a:bodyPr>
            <a:normAutofit/>
          </a:bodyPr>
          <a:lstStyle/>
          <a:p>
            <a:pPr marL="0" indent="0">
              <a:buNone/>
            </a:pPr>
            <a:r>
              <a:rPr lang="en-US" dirty="0"/>
              <a:t>Meristems are populations of small cells with embryonic characteristics</a:t>
            </a:r>
          </a:p>
          <a:p>
            <a:pPr marL="0" indent="0">
              <a:buNone/>
            </a:pPr>
            <a:r>
              <a:rPr lang="en-US" dirty="0"/>
              <a:t>Vegetative meristems are self-perpetuating that do not only produce the tissues that will form the body of the root or stem, but they also continuously regenerate themselves</a:t>
            </a:r>
          </a:p>
          <a:p>
            <a:pPr marL="0" indent="0">
              <a:buNone/>
            </a:pPr>
            <a:r>
              <a:rPr lang="en-US" dirty="0"/>
              <a:t>A meristem can retain its embryonic character indefinitely</a:t>
            </a:r>
          </a:p>
          <a:p>
            <a:pPr marL="0" indent="0">
              <a:buNone/>
            </a:pPr>
            <a:r>
              <a:rPr lang="en-US" dirty="0"/>
              <a:t>Meristematic cells do not differentiate and  retain the capacity for cell division, as long as the meristem remains vegetative</a:t>
            </a:r>
          </a:p>
        </p:txBody>
      </p:sp>
    </p:spTree>
    <p:extLst>
      <p:ext uri="{BB962C8B-B14F-4D97-AF65-F5344CB8AC3E}">
        <p14:creationId xmlns:p14="http://schemas.microsoft.com/office/powerpoint/2010/main" xmlns="" val="2503455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CFF9A24-F1B8-4800-B144-946825301790}"/>
              </a:ext>
            </a:extLst>
          </p:cNvPr>
          <p:cNvSpPr>
            <a:spLocks noGrp="1"/>
          </p:cNvSpPr>
          <p:nvPr>
            <p:ph type="title"/>
          </p:nvPr>
        </p:nvSpPr>
        <p:spPr/>
        <p:txBody>
          <a:bodyPr/>
          <a:lstStyle/>
          <a:p>
            <a:r>
              <a:rPr lang="en-AU" dirty="0"/>
              <a:t>Cell division</a:t>
            </a:r>
            <a:endParaRPr lang="en-NZ" dirty="0"/>
          </a:p>
        </p:txBody>
      </p:sp>
      <p:sp>
        <p:nvSpPr>
          <p:cNvPr id="3" name="Content Placeholder 2">
            <a:extLst>
              <a:ext uri="{FF2B5EF4-FFF2-40B4-BE49-F238E27FC236}">
                <a16:creationId xmlns:a16="http://schemas.microsoft.com/office/drawing/2014/main" xmlns="" id="{6554C801-41A6-44AE-B92C-859AC3EAFE20}"/>
              </a:ext>
            </a:extLst>
          </p:cNvPr>
          <p:cNvSpPr>
            <a:spLocks noGrp="1"/>
          </p:cNvSpPr>
          <p:nvPr>
            <p:ph sz="half" idx="1"/>
          </p:nvPr>
        </p:nvSpPr>
        <p:spPr/>
        <p:txBody>
          <a:bodyPr/>
          <a:lstStyle/>
          <a:p>
            <a:pPr marL="0" indent="0">
              <a:buNone/>
            </a:pPr>
            <a:r>
              <a:rPr lang="en-US" dirty="0"/>
              <a:t>Undifferentiated cells that retain the capacity for cell division indefinitely are called stem cells</a:t>
            </a:r>
            <a:endParaRPr lang="en-NZ" dirty="0"/>
          </a:p>
          <a:p>
            <a:pPr marL="0" indent="0">
              <a:buNone/>
            </a:pPr>
            <a:endParaRPr lang="en-NZ" dirty="0"/>
          </a:p>
          <a:p>
            <a:pPr marL="0" indent="0">
              <a:buNone/>
            </a:pPr>
            <a:r>
              <a:rPr lang="en-US" dirty="0"/>
              <a:t>When stem cells divide, one daughter cell retains the identity of the stem cell, while others commit to a particular developmental pathway </a:t>
            </a:r>
            <a:endParaRPr lang="en-NZ" dirty="0"/>
          </a:p>
        </p:txBody>
      </p:sp>
      <p:pic>
        <p:nvPicPr>
          <p:cNvPr id="6" name="Content Placeholder 5">
            <a:extLst>
              <a:ext uri="{FF2B5EF4-FFF2-40B4-BE49-F238E27FC236}">
                <a16:creationId xmlns:a16="http://schemas.microsoft.com/office/drawing/2014/main" xmlns="" id="{44F7D9B0-D746-48B8-A7C7-6B2F96447826}"/>
              </a:ext>
            </a:extLst>
          </p:cNvPr>
          <p:cNvPicPr>
            <a:picLocks noGrp="1" noChangeAspect="1"/>
          </p:cNvPicPr>
          <p:nvPr>
            <p:ph sz="half" idx="2"/>
          </p:nvPr>
        </p:nvPicPr>
        <p:blipFill>
          <a:blip r:embed="rId2">
            <a:extLst>
              <a:ext uri="{28A0092B-C50C-407E-A947-70E740481C1C}">
                <a14:useLocalDpi xmlns:a14="http://schemas.microsoft.com/office/drawing/2010/main" xmlns="" val="0"/>
              </a:ext>
            </a:extLst>
          </a:blip>
          <a:stretch>
            <a:fillRect/>
          </a:stretch>
        </p:blipFill>
        <p:spPr>
          <a:xfrm>
            <a:off x="6172203" y="1060174"/>
            <a:ext cx="4752702" cy="4598503"/>
          </a:xfrm>
        </p:spPr>
      </p:pic>
    </p:spTree>
    <p:extLst>
      <p:ext uri="{BB962C8B-B14F-4D97-AF65-F5344CB8AC3E}">
        <p14:creationId xmlns:p14="http://schemas.microsoft.com/office/powerpoint/2010/main" xmlns="" val="29924245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812313-D96B-4239-B193-C5C0FE3D8645}"/>
              </a:ext>
            </a:extLst>
          </p:cNvPr>
          <p:cNvSpPr>
            <a:spLocks noGrp="1"/>
          </p:cNvSpPr>
          <p:nvPr>
            <p:ph type="title"/>
          </p:nvPr>
        </p:nvSpPr>
        <p:spPr/>
        <p:txBody>
          <a:bodyPr/>
          <a:lstStyle/>
          <a:p>
            <a:r>
              <a:rPr lang="en-AU" dirty="0"/>
              <a:t>Cell division</a:t>
            </a:r>
            <a:endParaRPr lang="en-NZ" dirty="0"/>
          </a:p>
        </p:txBody>
      </p:sp>
      <p:sp>
        <p:nvSpPr>
          <p:cNvPr id="3" name="Content Placeholder 2">
            <a:extLst>
              <a:ext uri="{FF2B5EF4-FFF2-40B4-BE49-F238E27FC236}">
                <a16:creationId xmlns:a16="http://schemas.microsoft.com/office/drawing/2014/main" xmlns="" id="{B9A1E947-6AD9-4505-B6C2-90B76ACC0A44}"/>
              </a:ext>
            </a:extLst>
          </p:cNvPr>
          <p:cNvSpPr>
            <a:spLocks noGrp="1"/>
          </p:cNvSpPr>
          <p:nvPr>
            <p:ph idx="1"/>
          </p:nvPr>
        </p:nvSpPr>
        <p:spPr/>
        <p:txBody>
          <a:bodyPr>
            <a:normAutofit lnSpcReduction="10000"/>
          </a:bodyPr>
          <a:lstStyle/>
          <a:p>
            <a:pPr marL="0" indent="0">
              <a:buNone/>
            </a:pPr>
            <a:r>
              <a:rPr lang="en-US" dirty="0"/>
              <a:t>Plants also develop secondary meristems during development </a:t>
            </a:r>
          </a:p>
          <a:p>
            <a:pPr marL="0" indent="0">
              <a:buNone/>
            </a:pPr>
            <a:r>
              <a:rPr lang="en-US" dirty="0"/>
              <a:t>Secondary meristems can have a structure similar to that of primary meristems, but some secondary meristems have a quite different structure</a:t>
            </a:r>
          </a:p>
          <a:p>
            <a:pPr marL="0" indent="0">
              <a:buNone/>
            </a:pPr>
            <a:r>
              <a:rPr lang="en-NZ" dirty="0"/>
              <a:t>These include:</a:t>
            </a:r>
          </a:p>
          <a:p>
            <a:pPr marL="0" indent="0">
              <a:buNone/>
            </a:pPr>
            <a:r>
              <a:rPr lang="en-US" dirty="0"/>
              <a:t>• Axillary meristems growth and development produces branches from the main axis of the plant</a:t>
            </a:r>
          </a:p>
          <a:p>
            <a:pPr marL="0" indent="0">
              <a:buNone/>
            </a:pPr>
            <a:r>
              <a:rPr lang="en-US" dirty="0"/>
              <a:t> • Intercalary meristems of grass leaves and stems enables them to continue to grow despite mowing or grazing by cows</a:t>
            </a:r>
          </a:p>
          <a:p>
            <a:pPr marL="0" indent="0">
              <a:buNone/>
            </a:pPr>
            <a:r>
              <a:rPr lang="en-US" dirty="0"/>
              <a:t> • Branch root meristems, promote root growth</a:t>
            </a:r>
            <a:endParaRPr lang="en-NZ" dirty="0"/>
          </a:p>
        </p:txBody>
      </p:sp>
    </p:spTree>
    <p:extLst>
      <p:ext uri="{BB962C8B-B14F-4D97-AF65-F5344CB8AC3E}">
        <p14:creationId xmlns:p14="http://schemas.microsoft.com/office/powerpoint/2010/main" xmlns="" val="3412801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4D586B5-BD32-4326-9E79-E759F875D0D7}"/>
              </a:ext>
            </a:extLst>
          </p:cNvPr>
          <p:cNvSpPr>
            <a:spLocks noGrp="1"/>
          </p:cNvSpPr>
          <p:nvPr>
            <p:ph type="title"/>
          </p:nvPr>
        </p:nvSpPr>
        <p:spPr/>
        <p:txBody>
          <a:bodyPr/>
          <a:lstStyle/>
          <a:p>
            <a:r>
              <a:rPr lang="en-AU" dirty="0"/>
              <a:t>Light contribution to plant growth</a:t>
            </a:r>
            <a:endParaRPr lang="en-NZ" dirty="0"/>
          </a:p>
        </p:txBody>
      </p:sp>
      <p:pic>
        <p:nvPicPr>
          <p:cNvPr id="5" name="Content Placeholder 4">
            <a:extLst>
              <a:ext uri="{FF2B5EF4-FFF2-40B4-BE49-F238E27FC236}">
                <a16:creationId xmlns:a16="http://schemas.microsoft.com/office/drawing/2014/main" xmlns="" id="{8F3A0772-FC8B-4994-AECE-F88CA99E6DBD}"/>
              </a:ext>
            </a:extLst>
          </p:cNvPr>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838200" y="1431235"/>
            <a:ext cx="8597348" cy="4745728"/>
          </a:xfrm>
        </p:spPr>
      </p:pic>
    </p:spTree>
    <p:extLst>
      <p:ext uri="{BB962C8B-B14F-4D97-AF65-F5344CB8AC3E}">
        <p14:creationId xmlns:p14="http://schemas.microsoft.com/office/powerpoint/2010/main" xmlns="" val="2175020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305E2C-B8AA-4856-8FF3-017C4EF9AC7A}"/>
              </a:ext>
            </a:extLst>
          </p:cNvPr>
          <p:cNvSpPr>
            <a:spLocks noGrp="1"/>
          </p:cNvSpPr>
          <p:nvPr>
            <p:ph type="title"/>
          </p:nvPr>
        </p:nvSpPr>
        <p:spPr/>
        <p:txBody>
          <a:bodyPr/>
          <a:lstStyle/>
          <a:p>
            <a:r>
              <a:rPr lang="en-AU" dirty="0"/>
              <a:t>Control of plant development</a:t>
            </a:r>
            <a:endParaRPr lang="en-NZ" dirty="0"/>
          </a:p>
        </p:txBody>
      </p:sp>
      <p:sp>
        <p:nvSpPr>
          <p:cNvPr id="3" name="Content Placeholder 2">
            <a:extLst>
              <a:ext uri="{FF2B5EF4-FFF2-40B4-BE49-F238E27FC236}">
                <a16:creationId xmlns:a16="http://schemas.microsoft.com/office/drawing/2014/main" xmlns="" id="{52F056C2-C922-4674-B27B-D87C84003579}"/>
              </a:ext>
            </a:extLst>
          </p:cNvPr>
          <p:cNvSpPr>
            <a:spLocks noGrp="1"/>
          </p:cNvSpPr>
          <p:nvPr>
            <p:ph idx="1"/>
          </p:nvPr>
        </p:nvSpPr>
        <p:spPr/>
        <p:txBody>
          <a:bodyPr>
            <a:normAutofit/>
          </a:bodyPr>
          <a:lstStyle/>
          <a:p>
            <a:pPr marL="0" indent="0">
              <a:buNone/>
            </a:pPr>
            <a:endParaRPr lang="en-US" dirty="0"/>
          </a:p>
          <a:p>
            <a:pPr marL="0" indent="0">
              <a:buNone/>
            </a:pPr>
            <a:r>
              <a:rPr lang="en-US" dirty="0"/>
              <a:t>Given the key role of photosynthesis in plant metabolism, might be  tempting to attribute much of this contrast to differences in the availability of light-derived metabolic energy</a:t>
            </a:r>
          </a:p>
          <a:p>
            <a:pPr marL="0" indent="0">
              <a:buNone/>
            </a:pPr>
            <a:r>
              <a:rPr lang="en-US" dirty="0"/>
              <a:t>It takes very little light or time to initiate the transformation from the etiolated to the green state</a:t>
            </a:r>
          </a:p>
          <a:p>
            <a:pPr marL="0" indent="0">
              <a:buNone/>
            </a:pPr>
            <a:r>
              <a:rPr lang="en-US" dirty="0"/>
              <a:t>In the change from dark to light growth, light acts as a developmental trigger rather than a direct energy source</a:t>
            </a:r>
          </a:p>
        </p:txBody>
      </p:sp>
    </p:spTree>
    <p:extLst>
      <p:ext uri="{BB962C8B-B14F-4D97-AF65-F5344CB8AC3E}">
        <p14:creationId xmlns:p14="http://schemas.microsoft.com/office/powerpoint/2010/main" xmlns="" val="2493060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340B78-8450-4D89-BA3A-F0957E36E9B1}"/>
              </a:ext>
            </a:extLst>
          </p:cNvPr>
          <p:cNvSpPr>
            <a:spLocks noGrp="1"/>
          </p:cNvSpPr>
          <p:nvPr>
            <p:ph type="title"/>
          </p:nvPr>
        </p:nvSpPr>
        <p:spPr/>
        <p:txBody>
          <a:bodyPr/>
          <a:lstStyle/>
          <a:p>
            <a:r>
              <a:rPr lang="en-AU" dirty="0"/>
              <a:t>Plant development</a:t>
            </a:r>
            <a:endParaRPr lang="en-NZ" dirty="0"/>
          </a:p>
        </p:txBody>
      </p:sp>
      <p:sp>
        <p:nvSpPr>
          <p:cNvPr id="3" name="Content Placeholder 2">
            <a:extLst>
              <a:ext uri="{FF2B5EF4-FFF2-40B4-BE49-F238E27FC236}">
                <a16:creationId xmlns:a16="http://schemas.microsoft.com/office/drawing/2014/main" xmlns="" id="{51554FE6-8B8F-453A-AF65-42A60E6D6968}"/>
              </a:ext>
            </a:extLst>
          </p:cNvPr>
          <p:cNvSpPr>
            <a:spLocks noGrp="1"/>
          </p:cNvSpPr>
          <p:nvPr>
            <p:ph idx="1"/>
          </p:nvPr>
        </p:nvSpPr>
        <p:spPr/>
        <p:txBody>
          <a:bodyPr/>
          <a:lstStyle/>
          <a:p>
            <a:pPr marL="0" indent="0">
              <a:buNone/>
            </a:pPr>
            <a:endParaRPr lang="en-US" dirty="0"/>
          </a:p>
          <a:p>
            <a:pPr marL="0" indent="0">
              <a:buNone/>
            </a:pPr>
            <a:r>
              <a:rPr lang="en-US" dirty="0"/>
              <a:t>Light acts as a signal to induce change in the form of the seedling,</a:t>
            </a:r>
          </a:p>
          <a:p>
            <a:pPr marL="0" indent="0">
              <a:buNone/>
            </a:pPr>
            <a:r>
              <a:rPr lang="en-US" dirty="0"/>
              <a:t>seedling uses primarily stored seed reserves for etiolated growth</a:t>
            </a:r>
          </a:p>
          <a:p>
            <a:pPr marL="0" indent="0">
              <a:buNone/>
            </a:pPr>
            <a:r>
              <a:rPr lang="en-US" dirty="0"/>
              <a:t>Seed plants don’t store enough energy to sustain growth indefinitely</a:t>
            </a:r>
          </a:p>
          <a:p>
            <a:pPr marL="0" indent="0">
              <a:buNone/>
            </a:pPr>
            <a:r>
              <a:rPr lang="en-US" dirty="0"/>
              <a:t>Seedlings require light energy not only to fuel photosynthesis, but to initiate the developmental switch from dark to light growth </a:t>
            </a:r>
            <a:endParaRPr lang="en-NZ" dirty="0"/>
          </a:p>
          <a:p>
            <a:pPr marL="0" indent="0">
              <a:buNone/>
            </a:pPr>
            <a:endParaRPr lang="en-NZ" dirty="0"/>
          </a:p>
        </p:txBody>
      </p:sp>
    </p:spTree>
    <p:extLst>
      <p:ext uri="{BB962C8B-B14F-4D97-AF65-F5344CB8AC3E}">
        <p14:creationId xmlns:p14="http://schemas.microsoft.com/office/powerpoint/2010/main" xmlns="" val="3938525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E266BD1-6F14-4436-BE9E-C75DD8E616FE}"/>
              </a:ext>
            </a:extLst>
          </p:cNvPr>
          <p:cNvSpPr>
            <a:spLocks noGrp="1"/>
          </p:cNvSpPr>
          <p:nvPr>
            <p:ph type="title"/>
          </p:nvPr>
        </p:nvSpPr>
        <p:spPr/>
        <p:txBody>
          <a:bodyPr/>
          <a:lstStyle/>
          <a:p>
            <a:r>
              <a:rPr lang="en-US" dirty="0"/>
              <a:t>Photochemical and biochemical properties of phytochrome</a:t>
            </a:r>
            <a:endParaRPr lang="en-NZ" dirty="0"/>
          </a:p>
        </p:txBody>
      </p:sp>
      <p:sp>
        <p:nvSpPr>
          <p:cNvPr id="3" name="Content Placeholder 2">
            <a:extLst>
              <a:ext uri="{FF2B5EF4-FFF2-40B4-BE49-F238E27FC236}">
                <a16:creationId xmlns:a16="http://schemas.microsoft.com/office/drawing/2014/main" xmlns="" id="{A9D2E5D2-3C9C-466E-949A-6E15337182C5}"/>
              </a:ext>
            </a:extLst>
          </p:cNvPr>
          <p:cNvSpPr>
            <a:spLocks noGrp="1"/>
          </p:cNvSpPr>
          <p:nvPr>
            <p:ph idx="1"/>
          </p:nvPr>
        </p:nvSpPr>
        <p:spPr/>
        <p:txBody>
          <a:bodyPr/>
          <a:lstStyle/>
          <a:p>
            <a:pPr marL="0" indent="0">
              <a:buNone/>
            </a:pPr>
            <a:r>
              <a:rPr lang="en-US" dirty="0"/>
              <a:t>Phytochrome is a  blue protein pigment</a:t>
            </a:r>
          </a:p>
          <a:p>
            <a:pPr marL="0" indent="0">
              <a:buNone/>
            </a:pPr>
            <a:r>
              <a:rPr lang="en-US" dirty="0"/>
              <a:t>Phytochrome is most abundant in etiolated seedlings</a:t>
            </a:r>
          </a:p>
          <a:p>
            <a:pPr marL="0" indent="0">
              <a:buNone/>
            </a:pPr>
            <a:r>
              <a:rPr lang="en-US" dirty="0"/>
              <a:t>Very little phytochrome is extractable from green tissues, and a portion of the phytochrome that can be extracted differs from the abundant form of phytochrome found in etiolated plants</a:t>
            </a:r>
          </a:p>
          <a:p>
            <a:pPr marL="0" indent="0">
              <a:buNone/>
            </a:pPr>
            <a:r>
              <a:rPr lang="en-US" dirty="0"/>
              <a:t>In etiolated seedlings the highest phytochrome levels are usually found in meristematic regions or in regions that were recently meristematic, such as the bud and first node</a:t>
            </a:r>
            <a:endParaRPr lang="en-NZ" dirty="0"/>
          </a:p>
        </p:txBody>
      </p:sp>
    </p:spTree>
    <p:extLst>
      <p:ext uri="{BB962C8B-B14F-4D97-AF65-F5344CB8AC3E}">
        <p14:creationId xmlns:p14="http://schemas.microsoft.com/office/powerpoint/2010/main" xmlns="" val="1860524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6ED40B9-18F6-41E2-A992-2DDB55F0BC8D}"/>
              </a:ext>
            </a:extLst>
          </p:cNvPr>
          <p:cNvSpPr>
            <a:spLocks noGrp="1"/>
          </p:cNvSpPr>
          <p:nvPr>
            <p:ph type="title"/>
          </p:nvPr>
        </p:nvSpPr>
        <p:spPr/>
        <p:txBody>
          <a:bodyPr/>
          <a:lstStyle/>
          <a:p>
            <a:r>
              <a:rPr lang="en-AU" dirty="0"/>
              <a:t>Change in light condition </a:t>
            </a:r>
            <a:endParaRPr lang="en-NZ" dirty="0"/>
          </a:p>
        </p:txBody>
      </p:sp>
      <p:sp>
        <p:nvSpPr>
          <p:cNvPr id="3" name="Content Placeholder 2">
            <a:extLst>
              <a:ext uri="{FF2B5EF4-FFF2-40B4-BE49-F238E27FC236}">
                <a16:creationId xmlns:a16="http://schemas.microsoft.com/office/drawing/2014/main" xmlns="" id="{38FA72F6-9A62-41A6-80F3-B746873103C5}"/>
              </a:ext>
            </a:extLst>
          </p:cNvPr>
          <p:cNvSpPr>
            <a:spLocks noGrp="1"/>
          </p:cNvSpPr>
          <p:nvPr>
            <p:ph idx="1"/>
          </p:nvPr>
        </p:nvSpPr>
        <p:spPr/>
        <p:txBody>
          <a:bodyPr/>
          <a:lstStyle/>
          <a:p>
            <a:pPr marL="0" indent="0">
              <a:buNone/>
            </a:pPr>
            <a:endParaRPr lang="en-US" dirty="0"/>
          </a:p>
          <a:p>
            <a:pPr marL="0" indent="0">
              <a:buNone/>
            </a:pPr>
            <a:r>
              <a:rPr lang="en-US" dirty="0"/>
              <a:t>Wavelengths of light provide information that helps plants adjust to their environment</a:t>
            </a:r>
          </a:p>
          <a:p>
            <a:pPr marL="0" indent="0">
              <a:buNone/>
            </a:pPr>
            <a:endParaRPr lang="en-US" dirty="0"/>
          </a:p>
          <a:p>
            <a:pPr marL="0" indent="0">
              <a:buNone/>
            </a:pPr>
            <a:r>
              <a:rPr lang="en-US" dirty="0"/>
              <a:t>An important function of phytochrome is that it enables plants to sense shading by other plants</a:t>
            </a:r>
          </a:p>
          <a:p>
            <a:pPr marL="0" indent="0">
              <a:buNone/>
            </a:pPr>
            <a:endParaRPr lang="en-US" dirty="0"/>
          </a:p>
          <a:p>
            <a:pPr marL="0" indent="0">
              <a:buNone/>
            </a:pPr>
            <a:r>
              <a:rPr lang="en-US" dirty="0"/>
              <a:t>Plants  increase stem extension in response to shading </a:t>
            </a:r>
            <a:endParaRPr lang="en-NZ" dirty="0"/>
          </a:p>
        </p:txBody>
      </p:sp>
    </p:spTree>
    <p:extLst>
      <p:ext uri="{BB962C8B-B14F-4D97-AF65-F5344CB8AC3E}">
        <p14:creationId xmlns:p14="http://schemas.microsoft.com/office/powerpoint/2010/main" xmlns="" val="3019474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D18EE02-9808-43BF-BFC2-25EBBEDD7CAE}"/>
              </a:ext>
            </a:extLst>
          </p:cNvPr>
          <p:cNvSpPr>
            <a:spLocks noGrp="1"/>
          </p:cNvSpPr>
          <p:nvPr>
            <p:ph type="title"/>
          </p:nvPr>
        </p:nvSpPr>
        <p:spPr/>
        <p:txBody>
          <a:bodyPr/>
          <a:lstStyle/>
          <a:p>
            <a:r>
              <a:rPr lang="en-US" dirty="0"/>
              <a:t>Photo physiology of blue-light responses</a:t>
            </a:r>
            <a:endParaRPr lang="en-NZ" dirty="0"/>
          </a:p>
        </p:txBody>
      </p:sp>
      <p:sp>
        <p:nvSpPr>
          <p:cNvPr id="3" name="Content Placeholder 2">
            <a:extLst>
              <a:ext uri="{FF2B5EF4-FFF2-40B4-BE49-F238E27FC236}">
                <a16:creationId xmlns:a16="http://schemas.microsoft.com/office/drawing/2014/main" xmlns="" id="{A0530E63-F761-40C8-B7BB-07BB1F78C525}"/>
              </a:ext>
            </a:extLst>
          </p:cNvPr>
          <p:cNvSpPr>
            <a:spLocks noGrp="1"/>
          </p:cNvSpPr>
          <p:nvPr>
            <p:ph idx="1"/>
          </p:nvPr>
        </p:nvSpPr>
        <p:spPr/>
        <p:txBody>
          <a:bodyPr/>
          <a:lstStyle/>
          <a:p>
            <a:pPr marL="0" indent="0">
              <a:buNone/>
            </a:pPr>
            <a:r>
              <a:rPr lang="en-US" dirty="0"/>
              <a:t>Blue-light signals are utilized by the plant in many responses, allowing the plant to sense the presence of light and its direction</a:t>
            </a:r>
          </a:p>
          <a:p>
            <a:pPr marL="0" indent="0">
              <a:buNone/>
            </a:pPr>
            <a:r>
              <a:rPr lang="en-US" dirty="0"/>
              <a:t>Directional growth toward (or in special circumstances away from) the light, is called phototropism</a:t>
            </a:r>
          </a:p>
          <a:p>
            <a:pPr marL="0" indent="0">
              <a:buNone/>
            </a:pPr>
            <a:r>
              <a:rPr lang="en-US" dirty="0"/>
              <a:t>Phototropism is a photo morphogenetic response that is particularly dramatic in dark-grown seedlings of both monocots and dicots</a:t>
            </a:r>
          </a:p>
          <a:p>
            <a:pPr marL="0" indent="0">
              <a:buNone/>
            </a:pPr>
            <a:endParaRPr lang="en-NZ" dirty="0"/>
          </a:p>
        </p:txBody>
      </p:sp>
    </p:spTree>
    <p:extLst>
      <p:ext uri="{BB962C8B-B14F-4D97-AF65-F5344CB8AC3E}">
        <p14:creationId xmlns:p14="http://schemas.microsoft.com/office/powerpoint/2010/main" xmlns="" val="42101123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02CC536-2661-4C35-A6B2-49EDC5A059E6}"/>
              </a:ext>
            </a:extLst>
          </p:cNvPr>
          <p:cNvSpPr>
            <a:spLocks noGrp="1"/>
          </p:cNvSpPr>
          <p:nvPr>
            <p:ph type="title"/>
          </p:nvPr>
        </p:nvSpPr>
        <p:spPr/>
        <p:txBody>
          <a:bodyPr/>
          <a:lstStyle/>
          <a:p>
            <a:r>
              <a:rPr lang="en-AU" dirty="0"/>
              <a:t>Blue light signals</a:t>
            </a:r>
            <a:endParaRPr lang="en-NZ" dirty="0"/>
          </a:p>
        </p:txBody>
      </p:sp>
      <p:sp>
        <p:nvSpPr>
          <p:cNvPr id="3" name="Content Placeholder 2">
            <a:extLst>
              <a:ext uri="{FF2B5EF4-FFF2-40B4-BE49-F238E27FC236}">
                <a16:creationId xmlns:a16="http://schemas.microsoft.com/office/drawing/2014/main" xmlns="" id="{C70BCE8B-9CF3-42E0-8B6C-C9D5A28DDDAB}"/>
              </a:ext>
            </a:extLst>
          </p:cNvPr>
          <p:cNvSpPr>
            <a:spLocks noGrp="1"/>
          </p:cNvSpPr>
          <p:nvPr>
            <p:ph idx="1"/>
          </p:nvPr>
        </p:nvSpPr>
        <p:spPr/>
        <p:txBody>
          <a:bodyPr/>
          <a:lstStyle/>
          <a:p>
            <a:pPr marL="0" indent="0">
              <a:buNone/>
            </a:pPr>
            <a:r>
              <a:rPr lang="en-US" dirty="0"/>
              <a:t>Plants utilize light as a source of energy and as a signal that provides information about their environment</a:t>
            </a:r>
          </a:p>
          <a:p>
            <a:pPr marL="0" indent="0">
              <a:buNone/>
            </a:pPr>
            <a:r>
              <a:rPr lang="en-US" dirty="0"/>
              <a:t>A large family of blue-light responses is used to sense light quantity and direction</a:t>
            </a:r>
          </a:p>
          <a:p>
            <a:pPr marL="0" indent="0">
              <a:buNone/>
            </a:pPr>
            <a:r>
              <a:rPr lang="en-US" dirty="0"/>
              <a:t>These blue-light signals are transduced into electrical, metabolic, and genetic processes that allow plants to alter growth, development, and function in order to acclimate to changing environmental conditions</a:t>
            </a:r>
          </a:p>
          <a:p>
            <a:pPr marL="0" indent="0">
              <a:buNone/>
            </a:pPr>
            <a:r>
              <a:rPr lang="en-US" dirty="0"/>
              <a:t>Blue light responses include phototropism, inhibition of stem elongation, tracking of the sun by leaves</a:t>
            </a:r>
          </a:p>
          <a:p>
            <a:pPr marL="0" indent="0">
              <a:buNone/>
            </a:pPr>
            <a:endParaRPr lang="en-NZ" dirty="0"/>
          </a:p>
        </p:txBody>
      </p:sp>
    </p:spTree>
    <p:extLst>
      <p:ext uri="{BB962C8B-B14F-4D97-AF65-F5344CB8AC3E}">
        <p14:creationId xmlns:p14="http://schemas.microsoft.com/office/powerpoint/2010/main" xmlns="" val="2019450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0E73CAD-FE5B-4A3B-A495-4926CA71842E}"/>
              </a:ext>
            </a:extLst>
          </p:cNvPr>
          <p:cNvSpPr>
            <a:spLocks noGrp="1"/>
          </p:cNvSpPr>
          <p:nvPr>
            <p:ph type="title"/>
          </p:nvPr>
        </p:nvSpPr>
        <p:spPr/>
        <p:txBody>
          <a:bodyPr/>
          <a:lstStyle/>
          <a:p>
            <a:r>
              <a:rPr lang="en-AU" dirty="0"/>
              <a:t>Growth hormones </a:t>
            </a:r>
            <a:endParaRPr lang="en-NZ" dirty="0"/>
          </a:p>
        </p:txBody>
      </p:sp>
      <p:sp>
        <p:nvSpPr>
          <p:cNvPr id="3" name="Content Placeholder 2">
            <a:extLst>
              <a:ext uri="{FF2B5EF4-FFF2-40B4-BE49-F238E27FC236}">
                <a16:creationId xmlns:a16="http://schemas.microsoft.com/office/drawing/2014/main" xmlns="" id="{26883FA9-DD2B-41FF-8977-548D16971FF1}"/>
              </a:ext>
            </a:extLst>
          </p:cNvPr>
          <p:cNvSpPr>
            <a:spLocks noGrp="1"/>
          </p:cNvSpPr>
          <p:nvPr>
            <p:ph idx="1"/>
          </p:nvPr>
        </p:nvSpPr>
        <p:spPr/>
        <p:txBody>
          <a:bodyPr>
            <a:normAutofit lnSpcReduction="10000"/>
          </a:bodyPr>
          <a:lstStyle/>
          <a:p>
            <a:pPr marL="0" indent="0">
              <a:buNone/>
            </a:pPr>
            <a:r>
              <a:rPr lang="en-US" dirty="0"/>
              <a:t> Auxin was the first growth hormone to be discovered in plants, and much of the early physiological work on the mechanism of plant cell expansion was carried out in relation to auxin action</a:t>
            </a:r>
          </a:p>
          <a:p>
            <a:pPr marL="0" indent="0">
              <a:buNone/>
            </a:pPr>
            <a:endParaRPr lang="en-US" dirty="0"/>
          </a:p>
          <a:p>
            <a:pPr marL="0" indent="0">
              <a:buNone/>
            </a:pPr>
            <a:r>
              <a:rPr lang="en-US" dirty="0"/>
              <a:t>Differential growth occurs due to the increase in auxin on one side stimulated cell elongation, and the decrease in auxin on the other side caused a decrease in the growth rate</a:t>
            </a:r>
          </a:p>
          <a:p>
            <a:pPr marL="0" indent="0">
              <a:buNone/>
            </a:pPr>
            <a:endParaRPr lang="en-US" dirty="0"/>
          </a:p>
          <a:p>
            <a:pPr marL="0" indent="0">
              <a:buNone/>
            </a:pPr>
            <a:r>
              <a:rPr lang="en-US" dirty="0"/>
              <a:t>In most higher plants, the growing apical bud inhibits the growth of lateral buds—a phenomenon called </a:t>
            </a:r>
            <a:r>
              <a:rPr lang="en-NZ" dirty="0"/>
              <a:t>apical dominance</a:t>
            </a:r>
          </a:p>
        </p:txBody>
      </p:sp>
    </p:spTree>
    <p:extLst>
      <p:ext uri="{BB962C8B-B14F-4D97-AF65-F5344CB8AC3E}">
        <p14:creationId xmlns:p14="http://schemas.microsoft.com/office/powerpoint/2010/main" xmlns="" val="1444177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790D38A-4E5A-40AA-8279-A3F218E02356}"/>
              </a:ext>
            </a:extLst>
          </p:cNvPr>
          <p:cNvSpPr>
            <a:spLocks noGrp="1"/>
          </p:cNvSpPr>
          <p:nvPr>
            <p:ph type="title"/>
          </p:nvPr>
        </p:nvSpPr>
        <p:spPr/>
        <p:txBody>
          <a:bodyPr/>
          <a:lstStyle/>
          <a:p>
            <a:r>
              <a:rPr lang="en-AU" dirty="0"/>
              <a:t>Function of Auxins</a:t>
            </a:r>
            <a:endParaRPr lang="en-NZ" dirty="0"/>
          </a:p>
        </p:txBody>
      </p:sp>
      <p:sp>
        <p:nvSpPr>
          <p:cNvPr id="3" name="Content Placeholder 2">
            <a:extLst>
              <a:ext uri="{FF2B5EF4-FFF2-40B4-BE49-F238E27FC236}">
                <a16:creationId xmlns:a16="http://schemas.microsoft.com/office/drawing/2014/main" xmlns="" id="{58554967-6FBD-49D4-B8A6-75CF4E832801}"/>
              </a:ext>
            </a:extLst>
          </p:cNvPr>
          <p:cNvSpPr>
            <a:spLocks noGrp="1"/>
          </p:cNvSpPr>
          <p:nvPr>
            <p:ph idx="1"/>
          </p:nvPr>
        </p:nvSpPr>
        <p:spPr/>
        <p:txBody>
          <a:bodyPr/>
          <a:lstStyle/>
          <a:p>
            <a:pPr marL="0" indent="0">
              <a:buNone/>
            </a:pPr>
            <a:r>
              <a:rPr lang="en-US" dirty="0"/>
              <a:t>Auxin Delays the Onset of Leaf Abscission, the shedding of leaves, flowers, and fruits from the living plant is known as abscission </a:t>
            </a:r>
          </a:p>
          <a:p>
            <a:pPr marL="0" indent="0">
              <a:buNone/>
            </a:pPr>
            <a:r>
              <a:rPr lang="en-US" dirty="0"/>
              <a:t>Auxin levels are high in young leaves, progressively decrease in maturing leaves, and are relatively low in senescing leaves when the abscission process begins</a:t>
            </a:r>
          </a:p>
          <a:p>
            <a:pPr marL="0" indent="0">
              <a:buNone/>
            </a:pPr>
            <a:r>
              <a:rPr lang="en-US" dirty="0"/>
              <a:t>Auxin transported from the blade normally prevents abscission </a:t>
            </a:r>
          </a:p>
          <a:p>
            <a:pPr marL="0" indent="0">
              <a:buNone/>
            </a:pPr>
            <a:r>
              <a:rPr lang="en-US" dirty="0"/>
              <a:t>Abscission is triggered during leaf senescence, when auxin is no longer being produced</a:t>
            </a:r>
            <a:endParaRPr lang="en-NZ" dirty="0"/>
          </a:p>
        </p:txBody>
      </p:sp>
    </p:spTree>
    <p:extLst>
      <p:ext uri="{BB962C8B-B14F-4D97-AF65-F5344CB8AC3E}">
        <p14:creationId xmlns:p14="http://schemas.microsoft.com/office/powerpoint/2010/main" xmlns="" val="39289368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CBDFDA3-6640-4065-9BA8-808FC41BB3C1}"/>
              </a:ext>
            </a:extLst>
          </p:cNvPr>
          <p:cNvSpPr>
            <a:spLocks noGrp="1"/>
          </p:cNvSpPr>
          <p:nvPr>
            <p:ph type="title"/>
          </p:nvPr>
        </p:nvSpPr>
        <p:spPr/>
        <p:txBody>
          <a:bodyPr/>
          <a:lstStyle/>
          <a:p>
            <a:endParaRPr lang="en-NZ" dirty="0"/>
          </a:p>
        </p:txBody>
      </p:sp>
      <p:pic>
        <p:nvPicPr>
          <p:cNvPr id="5" name="Content Placeholder 4" descr="Diagram&#10;&#10;Description automatically generated">
            <a:extLst>
              <a:ext uri="{FF2B5EF4-FFF2-40B4-BE49-F238E27FC236}">
                <a16:creationId xmlns:a16="http://schemas.microsoft.com/office/drawing/2014/main" xmlns="" id="{7B3566E8-8FC3-4B8D-AAF9-C2C5A6F344C4}"/>
              </a:ext>
            </a:extLst>
          </p:cNvPr>
          <p:cNvPicPr>
            <a:picLocks noGrp="1" noChangeAspect="1"/>
          </p:cNvPicPr>
          <p:nvPr>
            <p:ph idx="1"/>
          </p:nvPr>
        </p:nvPicPr>
        <p:blipFill>
          <a:blip r:embed="rId2">
            <a:extLst>
              <a:ext uri="{28A0092B-C50C-407E-A947-70E740481C1C}">
                <a14:useLocalDpi xmlns:a14="http://schemas.microsoft.com/office/drawing/2010/main" xmlns="" val="0"/>
              </a:ext>
            </a:extLst>
          </a:blip>
          <a:stretch>
            <a:fillRect/>
          </a:stretch>
        </p:blipFill>
        <p:spPr>
          <a:xfrm>
            <a:off x="622851" y="365125"/>
            <a:ext cx="10515599" cy="5850146"/>
          </a:xfrm>
        </p:spPr>
      </p:pic>
    </p:spTree>
    <p:extLst>
      <p:ext uri="{BB962C8B-B14F-4D97-AF65-F5344CB8AC3E}">
        <p14:creationId xmlns:p14="http://schemas.microsoft.com/office/powerpoint/2010/main" xmlns="" val="42755840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6E32B61-AAB7-49F6-AB00-2CF6C358AB26}"/>
              </a:ext>
            </a:extLst>
          </p:cNvPr>
          <p:cNvSpPr>
            <a:spLocks noGrp="1"/>
          </p:cNvSpPr>
          <p:nvPr>
            <p:ph type="title"/>
          </p:nvPr>
        </p:nvSpPr>
        <p:spPr/>
        <p:txBody>
          <a:bodyPr/>
          <a:lstStyle/>
          <a:p>
            <a:r>
              <a:rPr lang="en-AU" dirty="0"/>
              <a:t>Application of auxin</a:t>
            </a:r>
            <a:endParaRPr lang="en-NZ" dirty="0"/>
          </a:p>
        </p:txBody>
      </p:sp>
      <p:sp>
        <p:nvSpPr>
          <p:cNvPr id="3" name="Content Placeholder 2">
            <a:extLst>
              <a:ext uri="{FF2B5EF4-FFF2-40B4-BE49-F238E27FC236}">
                <a16:creationId xmlns:a16="http://schemas.microsoft.com/office/drawing/2014/main" xmlns="" id="{2D909757-74D6-4552-A6DE-37A097AA0E5D}"/>
              </a:ext>
            </a:extLst>
          </p:cNvPr>
          <p:cNvSpPr>
            <a:spLocks noGrp="1"/>
          </p:cNvSpPr>
          <p:nvPr>
            <p:ph idx="1"/>
          </p:nvPr>
        </p:nvSpPr>
        <p:spPr/>
        <p:txBody>
          <a:bodyPr>
            <a:normAutofit fontScale="92500" lnSpcReduction="20000"/>
          </a:bodyPr>
          <a:lstStyle/>
          <a:p>
            <a:pPr marL="0" indent="0">
              <a:buNone/>
            </a:pPr>
            <a:r>
              <a:rPr lang="en-US" dirty="0"/>
              <a:t>Auxin is involved in the regulation of fruit development and is produced in pollen, in endosperm, developing seeds</a:t>
            </a:r>
          </a:p>
          <a:p>
            <a:pPr marL="0" indent="0">
              <a:buNone/>
            </a:pPr>
            <a:r>
              <a:rPr lang="en-US" dirty="0"/>
              <a:t>Auxins have been used commercially in agriculture many years</a:t>
            </a:r>
          </a:p>
          <a:p>
            <a:pPr marL="0" indent="0">
              <a:buNone/>
            </a:pPr>
            <a:r>
              <a:rPr lang="en-US" dirty="0"/>
              <a:t>The early commercial uses included: </a:t>
            </a:r>
          </a:p>
          <a:p>
            <a:pPr marL="0" indent="0">
              <a:buNone/>
            </a:pPr>
            <a:r>
              <a:rPr lang="en-US" dirty="0"/>
              <a:t>prevention of fruit and leaf drop</a:t>
            </a:r>
          </a:p>
          <a:p>
            <a:pPr marL="0" indent="0">
              <a:buNone/>
            </a:pPr>
            <a:r>
              <a:rPr lang="en-US" dirty="0"/>
              <a:t>promotion of flowering in pineapple</a:t>
            </a:r>
          </a:p>
          <a:p>
            <a:pPr marL="0" indent="0">
              <a:buNone/>
            </a:pPr>
            <a:r>
              <a:rPr lang="en-US" dirty="0"/>
              <a:t>thinning of fruit </a:t>
            </a:r>
          </a:p>
          <a:p>
            <a:pPr marL="0" indent="0">
              <a:buNone/>
            </a:pPr>
            <a:r>
              <a:rPr lang="en-US" dirty="0"/>
              <a:t>Rooting of cuttings for plant propagation, rooting is enhanced if the excised leaf or stem cutting is dipped in an auxin solution</a:t>
            </a:r>
          </a:p>
          <a:p>
            <a:pPr marL="0" indent="0">
              <a:buNone/>
            </a:pPr>
            <a:r>
              <a:rPr lang="en-US" dirty="0"/>
              <a:t>Seedless fruits may be may be induced by treatment of the unpollinated flowers with auxin </a:t>
            </a:r>
            <a:endParaRPr lang="en-NZ" dirty="0"/>
          </a:p>
        </p:txBody>
      </p:sp>
    </p:spTree>
    <p:extLst>
      <p:ext uri="{BB962C8B-B14F-4D97-AF65-F5344CB8AC3E}">
        <p14:creationId xmlns:p14="http://schemas.microsoft.com/office/powerpoint/2010/main" xmlns="" val="1554533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A58E570-E576-4564-B8C4-3302D415C537}"/>
              </a:ext>
            </a:extLst>
          </p:cNvPr>
          <p:cNvSpPr>
            <a:spLocks noGrp="1"/>
          </p:cNvSpPr>
          <p:nvPr>
            <p:ph type="title"/>
          </p:nvPr>
        </p:nvSpPr>
        <p:spPr/>
        <p:txBody>
          <a:bodyPr/>
          <a:lstStyle/>
          <a:p>
            <a:r>
              <a:rPr lang="en-AU" dirty="0"/>
              <a:t>Auxin application </a:t>
            </a:r>
            <a:endParaRPr lang="en-NZ" dirty="0"/>
          </a:p>
        </p:txBody>
      </p:sp>
      <p:sp>
        <p:nvSpPr>
          <p:cNvPr id="3" name="Content Placeholder 2">
            <a:extLst>
              <a:ext uri="{FF2B5EF4-FFF2-40B4-BE49-F238E27FC236}">
                <a16:creationId xmlns:a16="http://schemas.microsoft.com/office/drawing/2014/main" xmlns="" id="{EF96C466-2C22-4CCD-8AD8-0D84451D3D58}"/>
              </a:ext>
            </a:extLst>
          </p:cNvPr>
          <p:cNvSpPr>
            <a:spLocks noGrp="1"/>
          </p:cNvSpPr>
          <p:nvPr>
            <p:ph idx="1"/>
          </p:nvPr>
        </p:nvSpPr>
        <p:spPr/>
        <p:txBody>
          <a:bodyPr/>
          <a:lstStyle/>
          <a:p>
            <a:pPr marL="0" indent="0">
              <a:buNone/>
            </a:pPr>
            <a:endParaRPr lang="en-US" dirty="0"/>
          </a:p>
          <a:p>
            <a:pPr marL="0" indent="0">
              <a:buNone/>
            </a:pPr>
            <a:r>
              <a:rPr lang="en-US" dirty="0"/>
              <a:t>Today auxins are widely used as herbicides</a:t>
            </a:r>
          </a:p>
          <a:p>
            <a:pPr marL="0" indent="0">
              <a:buNone/>
            </a:pPr>
            <a:endParaRPr lang="en-US" dirty="0"/>
          </a:p>
          <a:p>
            <a:pPr marL="0" indent="0">
              <a:buNone/>
            </a:pPr>
            <a:r>
              <a:rPr lang="en-US" dirty="0"/>
              <a:t>Maize and other monocotyledons can rapidly inactivate synthetic auxins </a:t>
            </a:r>
          </a:p>
          <a:p>
            <a:pPr marL="0" indent="0">
              <a:buNone/>
            </a:pPr>
            <a:endParaRPr lang="en-NZ" dirty="0"/>
          </a:p>
        </p:txBody>
      </p:sp>
    </p:spTree>
    <p:extLst>
      <p:ext uri="{BB962C8B-B14F-4D97-AF65-F5344CB8AC3E}">
        <p14:creationId xmlns:p14="http://schemas.microsoft.com/office/powerpoint/2010/main" xmlns="" val="34072906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807D280-8CF8-4028-BCDB-C25D52DD2EE4}"/>
              </a:ext>
            </a:extLst>
          </p:cNvPr>
          <p:cNvSpPr>
            <a:spLocks noGrp="1"/>
          </p:cNvSpPr>
          <p:nvPr>
            <p:ph type="title"/>
          </p:nvPr>
        </p:nvSpPr>
        <p:spPr/>
        <p:txBody>
          <a:bodyPr/>
          <a:lstStyle/>
          <a:p>
            <a:r>
              <a:rPr lang="en-US" dirty="0"/>
              <a:t>Gibberellin </a:t>
            </a:r>
            <a:endParaRPr lang="en-NZ" dirty="0"/>
          </a:p>
        </p:txBody>
      </p:sp>
      <p:sp>
        <p:nvSpPr>
          <p:cNvPr id="3" name="Content Placeholder 2">
            <a:extLst>
              <a:ext uri="{FF2B5EF4-FFF2-40B4-BE49-F238E27FC236}">
                <a16:creationId xmlns:a16="http://schemas.microsoft.com/office/drawing/2014/main" xmlns="" id="{E7983AD4-EBCA-486C-9585-3ACD791D774E}"/>
              </a:ext>
            </a:extLst>
          </p:cNvPr>
          <p:cNvSpPr>
            <a:spLocks noGrp="1"/>
          </p:cNvSpPr>
          <p:nvPr>
            <p:ph idx="1"/>
          </p:nvPr>
        </p:nvSpPr>
        <p:spPr/>
        <p:txBody>
          <a:bodyPr>
            <a:normAutofit/>
          </a:bodyPr>
          <a:lstStyle/>
          <a:p>
            <a:pPr marL="0" indent="0">
              <a:buNone/>
            </a:pPr>
            <a:r>
              <a:rPr lang="en-US" dirty="0"/>
              <a:t>Originally discovered as the cause of a disease of rice that stimulated internode elongation</a:t>
            </a:r>
          </a:p>
          <a:p>
            <a:pPr marL="0" indent="0">
              <a:buNone/>
            </a:pPr>
            <a:r>
              <a:rPr lang="en-US" dirty="0"/>
              <a:t>In addition to stem elongation gibberellins: </a:t>
            </a:r>
          </a:p>
          <a:p>
            <a:r>
              <a:rPr lang="en-US" dirty="0"/>
              <a:t>control various aspects of seed germination, including the loss of dormancy and the mobilization of endosperm reserves</a:t>
            </a:r>
          </a:p>
          <a:p>
            <a:r>
              <a:rPr lang="en-US" dirty="0"/>
              <a:t>In reproductive development, gibberellin can affect the transition from the juvenile to the mature stage, </a:t>
            </a:r>
          </a:p>
          <a:p>
            <a:r>
              <a:rPr lang="en-US" dirty="0"/>
              <a:t>Floral initiation </a:t>
            </a:r>
          </a:p>
          <a:p>
            <a:r>
              <a:rPr lang="en-US" dirty="0"/>
              <a:t>Fruit set</a:t>
            </a:r>
          </a:p>
        </p:txBody>
      </p:sp>
    </p:spTree>
    <p:extLst>
      <p:ext uri="{BB962C8B-B14F-4D97-AF65-F5344CB8AC3E}">
        <p14:creationId xmlns:p14="http://schemas.microsoft.com/office/powerpoint/2010/main" xmlns="" val="27002695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C1EF88F-4E99-45C9-87DE-00327050CC62}"/>
              </a:ext>
            </a:extLst>
          </p:cNvPr>
          <p:cNvSpPr>
            <a:spLocks noGrp="1"/>
          </p:cNvSpPr>
          <p:nvPr>
            <p:ph type="title"/>
          </p:nvPr>
        </p:nvSpPr>
        <p:spPr/>
        <p:txBody>
          <a:bodyPr/>
          <a:lstStyle/>
          <a:p>
            <a:r>
              <a:rPr lang="en-AU" dirty="0"/>
              <a:t>Gibberellins activity</a:t>
            </a:r>
            <a:endParaRPr lang="en-NZ" dirty="0"/>
          </a:p>
        </p:txBody>
      </p:sp>
      <p:sp>
        <p:nvSpPr>
          <p:cNvPr id="3" name="Content Placeholder 2">
            <a:extLst>
              <a:ext uri="{FF2B5EF4-FFF2-40B4-BE49-F238E27FC236}">
                <a16:creationId xmlns:a16="http://schemas.microsoft.com/office/drawing/2014/main" xmlns="" id="{AC9361B6-32D6-4B5C-BF57-AE5DAA02B31E}"/>
              </a:ext>
            </a:extLst>
          </p:cNvPr>
          <p:cNvSpPr>
            <a:spLocks noGrp="1"/>
          </p:cNvSpPr>
          <p:nvPr>
            <p:ph idx="1"/>
          </p:nvPr>
        </p:nvSpPr>
        <p:spPr/>
        <p:txBody>
          <a:bodyPr>
            <a:normAutofit fontScale="92500"/>
          </a:bodyPr>
          <a:lstStyle/>
          <a:p>
            <a:pPr marL="0" indent="0">
              <a:buNone/>
            </a:pPr>
            <a:r>
              <a:rPr lang="en-US" dirty="0"/>
              <a:t>Gibberellins Regulate the Transition from Juvenile to Adult Phases  </a:t>
            </a:r>
          </a:p>
          <a:p>
            <a:pPr marL="0" indent="0">
              <a:buNone/>
            </a:pPr>
            <a:r>
              <a:rPr lang="en-US" dirty="0"/>
              <a:t>Gibberellin is thus a component of the flowering stimulus in some plants</a:t>
            </a:r>
          </a:p>
          <a:p>
            <a:pPr marL="0" indent="0">
              <a:buNone/>
            </a:pPr>
            <a:r>
              <a:rPr lang="en-US" dirty="0"/>
              <a:t>Gibberellins Are Biosynthesized in Apical Tissues and are found in immature seeds and developing fruits</a:t>
            </a:r>
          </a:p>
          <a:p>
            <a:pPr marL="0" indent="0">
              <a:buNone/>
            </a:pPr>
            <a:r>
              <a:rPr lang="en-US" dirty="0"/>
              <a:t>Gibberellin level normally decreases to zero in mature seeds, there is no evidence that seedlings obtain any active gibberellins from their seeds</a:t>
            </a:r>
          </a:p>
          <a:p>
            <a:pPr marL="0" indent="0">
              <a:buNone/>
            </a:pPr>
            <a:r>
              <a:rPr lang="en-US" dirty="0"/>
              <a:t>Gibberellins also have been identified in root exudates and root extracts, suggesting that roots can also synthesize gibberellins and transport them to the shoot through the xylem</a:t>
            </a:r>
            <a:endParaRPr lang="en-NZ" dirty="0"/>
          </a:p>
        </p:txBody>
      </p:sp>
    </p:spTree>
    <p:extLst>
      <p:ext uri="{BB962C8B-B14F-4D97-AF65-F5344CB8AC3E}">
        <p14:creationId xmlns:p14="http://schemas.microsoft.com/office/powerpoint/2010/main" xmlns="" val="22699873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191EB3D-71BC-4A18-A879-B0C07E62D26B}"/>
              </a:ext>
            </a:extLst>
          </p:cNvPr>
          <p:cNvSpPr>
            <a:spLocks noGrp="1"/>
          </p:cNvSpPr>
          <p:nvPr>
            <p:ph type="title"/>
          </p:nvPr>
        </p:nvSpPr>
        <p:spPr/>
        <p:txBody>
          <a:bodyPr/>
          <a:lstStyle/>
          <a:p>
            <a:r>
              <a:rPr lang="en-US" dirty="0"/>
              <a:t>Physiological mechanisms of gibberellin-induced growth</a:t>
            </a:r>
            <a:endParaRPr lang="en-NZ" dirty="0"/>
          </a:p>
        </p:txBody>
      </p:sp>
      <p:sp>
        <p:nvSpPr>
          <p:cNvPr id="3" name="Content Placeholder 2">
            <a:extLst>
              <a:ext uri="{FF2B5EF4-FFF2-40B4-BE49-F238E27FC236}">
                <a16:creationId xmlns:a16="http://schemas.microsoft.com/office/drawing/2014/main" xmlns="" id="{62862897-D5E1-4955-8A77-035C224F35FA}"/>
              </a:ext>
            </a:extLst>
          </p:cNvPr>
          <p:cNvSpPr>
            <a:spLocks noGrp="1"/>
          </p:cNvSpPr>
          <p:nvPr>
            <p:ph idx="1"/>
          </p:nvPr>
        </p:nvSpPr>
        <p:spPr/>
        <p:txBody>
          <a:bodyPr/>
          <a:lstStyle/>
          <a:p>
            <a:pPr marL="0" indent="0">
              <a:buNone/>
            </a:pPr>
            <a:r>
              <a:rPr lang="en-US" dirty="0"/>
              <a:t>When dwarf plants are treated with gibberellin, they resemble the tallest varieties of the same species </a:t>
            </a:r>
          </a:p>
          <a:p>
            <a:pPr marL="0" indent="0">
              <a:buNone/>
            </a:pPr>
            <a:r>
              <a:rPr lang="en-US" dirty="0"/>
              <a:t>Gibberellin action include the elongation of shoots and of grass internodes</a:t>
            </a:r>
          </a:p>
          <a:p>
            <a:pPr marL="0" indent="0">
              <a:buNone/>
            </a:pPr>
            <a:r>
              <a:rPr lang="en-US" dirty="0"/>
              <a:t>Gibberellin increases both cell elongation and cell division, this can be seen by increases in cell length and cell number in response to applications of gibberellin</a:t>
            </a:r>
            <a:endParaRPr lang="en-NZ" dirty="0"/>
          </a:p>
        </p:txBody>
      </p:sp>
    </p:spTree>
    <p:extLst>
      <p:ext uri="{BB962C8B-B14F-4D97-AF65-F5344CB8AC3E}">
        <p14:creationId xmlns:p14="http://schemas.microsoft.com/office/powerpoint/2010/main" xmlns="" val="8438335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2823D12-4128-44E8-9305-A9F13044ADC1}"/>
              </a:ext>
            </a:extLst>
          </p:cNvPr>
          <p:cNvSpPr>
            <a:spLocks noGrp="1"/>
          </p:cNvSpPr>
          <p:nvPr>
            <p:ph type="title"/>
          </p:nvPr>
        </p:nvSpPr>
        <p:spPr/>
        <p:txBody>
          <a:bodyPr/>
          <a:lstStyle/>
          <a:p>
            <a:r>
              <a:rPr lang="en-US" dirty="0"/>
              <a:t> Biosynthesis of ethylene</a:t>
            </a:r>
            <a:endParaRPr lang="en-NZ" dirty="0"/>
          </a:p>
        </p:txBody>
      </p:sp>
      <p:sp>
        <p:nvSpPr>
          <p:cNvPr id="3" name="Content Placeholder 2">
            <a:extLst>
              <a:ext uri="{FF2B5EF4-FFF2-40B4-BE49-F238E27FC236}">
                <a16:creationId xmlns:a16="http://schemas.microsoft.com/office/drawing/2014/main" xmlns="" id="{BEA6EBA1-BE8D-4A27-9C12-73C0D3EE71C9}"/>
              </a:ext>
            </a:extLst>
          </p:cNvPr>
          <p:cNvSpPr>
            <a:spLocks noGrp="1"/>
          </p:cNvSpPr>
          <p:nvPr>
            <p:ph idx="1"/>
          </p:nvPr>
        </p:nvSpPr>
        <p:spPr/>
        <p:txBody>
          <a:bodyPr/>
          <a:lstStyle/>
          <a:p>
            <a:pPr marL="0" indent="0">
              <a:buNone/>
            </a:pPr>
            <a:r>
              <a:rPr lang="en-US" dirty="0"/>
              <a:t>Ethylene can be produced by almost all parts of higher plants only the rate of production depends on the type of tissue and the stage of development</a:t>
            </a:r>
          </a:p>
          <a:p>
            <a:pPr marL="0" indent="0">
              <a:buNone/>
            </a:pPr>
            <a:r>
              <a:rPr lang="en-US" dirty="0"/>
              <a:t>Meristematic regions and nodal regions are the most active in ethylene biosynthesis</a:t>
            </a:r>
          </a:p>
          <a:p>
            <a:pPr marL="0" indent="0">
              <a:buNone/>
            </a:pPr>
            <a:r>
              <a:rPr lang="en-US" dirty="0"/>
              <a:t>Ethylene production increases during leaf abscission and flower senescence, as well as during fruit ripening</a:t>
            </a:r>
          </a:p>
          <a:p>
            <a:pPr marL="0" indent="0">
              <a:buNone/>
            </a:pPr>
            <a:r>
              <a:rPr lang="en-US" dirty="0"/>
              <a:t> </a:t>
            </a:r>
            <a:endParaRPr lang="en-NZ" dirty="0"/>
          </a:p>
        </p:txBody>
      </p:sp>
    </p:spTree>
    <p:extLst>
      <p:ext uri="{BB962C8B-B14F-4D97-AF65-F5344CB8AC3E}">
        <p14:creationId xmlns:p14="http://schemas.microsoft.com/office/powerpoint/2010/main" xmlns="" val="18077235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26ADD1C-A501-4FA2-82A1-307B94A82571}"/>
              </a:ext>
            </a:extLst>
          </p:cNvPr>
          <p:cNvSpPr>
            <a:spLocks noGrp="1"/>
          </p:cNvSpPr>
          <p:nvPr>
            <p:ph type="title"/>
          </p:nvPr>
        </p:nvSpPr>
        <p:spPr/>
        <p:txBody>
          <a:bodyPr/>
          <a:lstStyle/>
          <a:p>
            <a:r>
              <a:rPr lang="en-NZ" dirty="0"/>
              <a:t>Environmental Stresses for Ethylene Biosynthesis</a:t>
            </a:r>
          </a:p>
        </p:txBody>
      </p:sp>
      <p:sp>
        <p:nvSpPr>
          <p:cNvPr id="3" name="Content Placeholder 2">
            <a:extLst>
              <a:ext uri="{FF2B5EF4-FFF2-40B4-BE49-F238E27FC236}">
                <a16:creationId xmlns:a16="http://schemas.microsoft.com/office/drawing/2014/main" xmlns="" id="{0199A44C-B1E1-4212-97CC-741D0F589601}"/>
              </a:ext>
            </a:extLst>
          </p:cNvPr>
          <p:cNvSpPr>
            <a:spLocks noGrp="1"/>
          </p:cNvSpPr>
          <p:nvPr>
            <p:ph idx="1"/>
          </p:nvPr>
        </p:nvSpPr>
        <p:spPr/>
        <p:txBody>
          <a:bodyPr/>
          <a:lstStyle/>
          <a:p>
            <a:pPr marL="0" indent="0">
              <a:buNone/>
            </a:pPr>
            <a:r>
              <a:rPr lang="en-US" dirty="0"/>
              <a:t>Ethylene biosynthesis is stimulated by several factors including: </a:t>
            </a:r>
          </a:p>
          <a:p>
            <a:pPr marL="0" indent="0">
              <a:buNone/>
            </a:pPr>
            <a:r>
              <a:rPr lang="en-US" dirty="0"/>
              <a:t>Fruit ripening As fruits mature, the rate of ethylene biosynthesis increases</a:t>
            </a:r>
          </a:p>
          <a:p>
            <a:pPr marL="0" indent="0">
              <a:buNone/>
            </a:pPr>
            <a:r>
              <a:rPr lang="en-US" dirty="0"/>
              <a:t>Stress-induced ethylene production biosynthesis is increased by stress conditions such as drought, flooding, chilling, exposure to ozone, or mechanical wounding </a:t>
            </a:r>
          </a:p>
          <a:p>
            <a:pPr marL="0" indent="0">
              <a:buNone/>
            </a:pPr>
            <a:endParaRPr lang="en-US" dirty="0"/>
          </a:p>
          <a:p>
            <a:pPr marL="0" indent="0">
              <a:buNone/>
            </a:pPr>
            <a:r>
              <a:rPr lang="en-US" dirty="0"/>
              <a:t>Other plant hormones</a:t>
            </a:r>
          </a:p>
          <a:p>
            <a:pPr marL="0" indent="0">
              <a:buNone/>
            </a:pPr>
            <a:endParaRPr lang="en-US" dirty="0"/>
          </a:p>
          <a:p>
            <a:pPr marL="0" indent="0">
              <a:buNone/>
            </a:pPr>
            <a:endParaRPr lang="en-NZ" dirty="0"/>
          </a:p>
        </p:txBody>
      </p:sp>
    </p:spTree>
    <p:extLst>
      <p:ext uri="{BB962C8B-B14F-4D97-AF65-F5344CB8AC3E}">
        <p14:creationId xmlns:p14="http://schemas.microsoft.com/office/powerpoint/2010/main" xmlns="" val="37466190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D4CB2DD-475B-4144-A190-04599CBE8EA0}"/>
              </a:ext>
            </a:extLst>
          </p:cNvPr>
          <p:cNvSpPr>
            <a:spLocks noGrp="1"/>
          </p:cNvSpPr>
          <p:nvPr>
            <p:ph type="title"/>
          </p:nvPr>
        </p:nvSpPr>
        <p:spPr/>
        <p:txBody>
          <a:bodyPr/>
          <a:lstStyle/>
          <a:p>
            <a:r>
              <a:rPr lang="en-US" dirty="0"/>
              <a:t>Developmental and physiological effects of ethylene</a:t>
            </a:r>
            <a:endParaRPr lang="en-NZ" dirty="0"/>
          </a:p>
        </p:txBody>
      </p:sp>
      <p:sp>
        <p:nvSpPr>
          <p:cNvPr id="3" name="Content Placeholder 2">
            <a:extLst>
              <a:ext uri="{FF2B5EF4-FFF2-40B4-BE49-F238E27FC236}">
                <a16:creationId xmlns:a16="http://schemas.microsoft.com/office/drawing/2014/main" xmlns="" id="{3F7EE9E4-471B-49E2-8FA0-9721EE07809E}"/>
              </a:ext>
            </a:extLst>
          </p:cNvPr>
          <p:cNvSpPr>
            <a:spLocks noGrp="1"/>
          </p:cNvSpPr>
          <p:nvPr>
            <p:ph idx="1"/>
          </p:nvPr>
        </p:nvSpPr>
        <p:spPr/>
        <p:txBody>
          <a:bodyPr/>
          <a:lstStyle/>
          <a:p>
            <a:pPr marL="0" indent="0">
              <a:buNone/>
            </a:pPr>
            <a:r>
              <a:rPr lang="en-US" dirty="0"/>
              <a:t>Ethylene Promotes the Ripening of Some Fruits In everyday usage, the term fruit ripening refers to the changes in fruit that make it ready to eat</a:t>
            </a:r>
          </a:p>
          <a:p>
            <a:pPr marL="0" indent="0">
              <a:buNone/>
            </a:pPr>
            <a:r>
              <a:rPr lang="en-NZ" dirty="0"/>
              <a:t>Ethylene Induces Lateral Cell Expansion</a:t>
            </a:r>
          </a:p>
          <a:p>
            <a:pPr marL="0" indent="0">
              <a:buNone/>
            </a:pPr>
            <a:r>
              <a:rPr lang="en-US" dirty="0"/>
              <a:t>Ethylene Breaks Seed and Bud Dormancy in Some Species</a:t>
            </a:r>
          </a:p>
          <a:p>
            <a:pPr marL="0" indent="0">
              <a:buNone/>
            </a:pPr>
            <a:r>
              <a:rPr lang="en-US" dirty="0"/>
              <a:t>Ethylene Promotes the Elongation Growth of Submerged plants</a:t>
            </a:r>
          </a:p>
          <a:p>
            <a:pPr marL="0" indent="0">
              <a:buNone/>
            </a:pPr>
            <a:r>
              <a:rPr lang="en-US" dirty="0"/>
              <a:t>Ethylene Induces Flowering in the Pineapple Family</a:t>
            </a:r>
          </a:p>
          <a:p>
            <a:pPr marL="0" indent="0">
              <a:buNone/>
            </a:pPr>
            <a:r>
              <a:rPr lang="en-US" dirty="0"/>
              <a:t>Ethylene Enhances the Rate of Leaf Senescence</a:t>
            </a:r>
            <a:endParaRPr lang="en-NZ" dirty="0"/>
          </a:p>
        </p:txBody>
      </p:sp>
    </p:spTree>
    <p:extLst>
      <p:ext uri="{BB962C8B-B14F-4D97-AF65-F5344CB8AC3E}">
        <p14:creationId xmlns:p14="http://schemas.microsoft.com/office/powerpoint/2010/main" xmlns="" val="20350271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276C012-5687-4C8D-9461-8A8CF102526D}"/>
              </a:ext>
            </a:extLst>
          </p:cNvPr>
          <p:cNvSpPr>
            <a:spLocks noGrp="1"/>
          </p:cNvSpPr>
          <p:nvPr>
            <p:ph type="title"/>
          </p:nvPr>
        </p:nvSpPr>
        <p:spPr/>
        <p:txBody>
          <a:bodyPr/>
          <a:lstStyle/>
          <a:p>
            <a:r>
              <a:rPr lang="en-AU" dirty="0"/>
              <a:t>Application of Ethylene</a:t>
            </a:r>
            <a:endParaRPr lang="en-NZ" dirty="0"/>
          </a:p>
        </p:txBody>
      </p:sp>
      <p:sp>
        <p:nvSpPr>
          <p:cNvPr id="3" name="Content Placeholder 2">
            <a:extLst>
              <a:ext uri="{FF2B5EF4-FFF2-40B4-BE49-F238E27FC236}">
                <a16:creationId xmlns:a16="http://schemas.microsoft.com/office/drawing/2014/main" xmlns="" id="{1C2824AB-CF13-41F0-BEDB-FE54C2E9F88B}"/>
              </a:ext>
            </a:extLst>
          </p:cNvPr>
          <p:cNvSpPr>
            <a:spLocks noGrp="1"/>
          </p:cNvSpPr>
          <p:nvPr>
            <p:ph idx="1"/>
          </p:nvPr>
        </p:nvSpPr>
        <p:spPr/>
        <p:txBody>
          <a:bodyPr/>
          <a:lstStyle/>
          <a:p>
            <a:pPr marL="0" indent="0">
              <a:buNone/>
            </a:pPr>
            <a:r>
              <a:rPr lang="en-US" dirty="0"/>
              <a:t>ethylene regulates so many physiological processes in plant development, it is one of the most widely used plant hormones in agriculture</a:t>
            </a:r>
          </a:p>
          <a:p>
            <a:pPr marL="0" indent="0">
              <a:buNone/>
            </a:pPr>
            <a:endParaRPr lang="en-US" dirty="0"/>
          </a:p>
          <a:p>
            <a:pPr marL="0" indent="0">
              <a:buNone/>
            </a:pPr>
            <a:r>
              <a:rPr lang="en-US" dirty="0"/>
              <a:t>Used in the fruit industry to increase the ripening process </a:t>
            </a:r>
            <a:endParaRPr lang="en-NZ" dirty="0"/>
          </a:p>
        </p:txBody>
      </p:sp>
    </p:spTree>
    <p:extLst>
      <p:ext uri="{BB962C8B-B14F-4D97-AF65-F5344CB8AC3E}">
        <p14:creationId xmlns:p14="http://schemas.microsoft.com/office/powerpoint/2010/main" xmlns="" val="13380805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3B3A714-AC29-465B-9752-98C4C133FE71}"/>
              </a:ext>
            </a:extLst>
          </p:cNvPr>
          <p:cNvSpPr>
            <a:spLocks noGrp="1"/>
          </p:cNvSpPr>
          <p:nvPr>
            <p:ph type="title"/>
          </p:nvPr>
        </p:nvSpPr>
        <p:spPr/>
        <p:txBody>
          <a:bodyPr/>
          <a:lstStyle/>
          <a:p>
            <a:r>
              <a:rPr lang="en-NZ" dirty="0"/>
              <a:t>Abscisic Acid</a:t>
            </a:r>
          </a:p>
        </p:txBody>
      </p:sp>
      <p:sp>
        <p:nvSpPr>
          <p:cNvPr id="3" name="Content Placeholder 2">
            <a:extLst>
              <a:ext uri="{FF2B5EF4-FFF2-40B4-BE49-F238E27FC236}">
                <a16:creationId xmlns:a16="http://schemas.microsoft.com/office/drawing/2014/main" xmlns="" id="{5A4CE97F-7898-498C-9CF3-136535854D93}"/>
              </a:ext>
            </a:extLst>
          </p:cNvPr>
          <p:cNvSpPr>
            <a:spLocks noGrp="1"/>
          </p:cNvSpPr>
          <p:nvPr>
            <p:ph idx="1"/>
          </p:nvPr>
        </p:nvSpPr>
        <p:spPr/>
        <p:txBody>
          <a:bodyPr>
            <a:normAutofit lnSpcReduction="10000"/>
          </a:bodyPr>
          <a:lstStyle/>
          <a:p>
            <a:pPr marL="0" indent="0">
              <a:buNone/>
            </a:pPr>
            <a:r>
              <a:rPr lang="en-US" dirty="0"/>
              <a:t>Abscisic acid plays major roles in seed and bud dormancy, as well as responses to water stress </a:t>
            </a:r>
          </a:p>
          <a:p>
            <a:pPr marL="0" indent="0">
              <a:buNone/>
            </a:pPr>
            <a:r>
              <a:rPr lang="en-US" dirty="0"/>
              <a:t>ABA is synthesized in almost all cells that contain plastids and is transported via both the xylem and the phloem</a:t>
            </a:r>
          </a:p>
          <a:p>
            <a:pPr marL="0" indent="0">
              <a:buNone/>
            </a:pPr>
            <a:r>
              <a:rPr lang="en-US" dirty="0"/>
              <a:t>The level of ABA fluctuates dramatically in response to developmental and environmental changes </a:t>
            </a:r>
          </a:p>
          <a:p>
            <a:pPr marL="0" indent="0">
              <a:buNone/>
            </a:pPr>
            <a:r>
              <a:rPr lang="en-US" dirty="0"/>
              <a:t>ABA is required for the synthesis of storage proteins, and the acquisition of dormancy</a:t>
            </a:r>
          </a:p>
          <a:p>
            <a:pPr marL="0" indent="0">
              <a:buNone/>
            </a:pPr>
            <a:r>
              <a:rPr lang="en-US" dirty="0"/>
              <a:t>During water stress, the ABA level of the leaf  increases</a:t>
            </a:r>
          </a:p>
          <a:p>
            <a:pPr marL="0" indent="0">
              <a:buNone/>
            </a:pPr>
            <a:r>
              <a:rPr lang="en-US" dirty="0"/>
              <a:t>ABA increases the hydraulic conductivity of the root </a:t>
            </a:r>
            <a:endParaRPr lang="en-NZ" dirty="0"/>
          </a:p>
        </p:txBody>
      </p:sp>
    </p:spTree>
    <p:extLst>
      <p:ext uri="{BB962C8B-B14F-4D97-AF65-F5344CB8AC3E}">
        <p14:creationId xmlns:p14="http://schemas.microsoft.com/office/powerpoint/2010/main" xmlns="" val="1101841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497</TotalTime>
  <Words>1377</Words>
  <Application>Microsoft Office PowerPoint</Application>
  <PresentationFormat>Custom</PresentationFormat>
  <Paragraphs>122</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Crop Science  Lecture 4  August 2022</vt:lpstr>
      <vt:lpstr>Plant growth and development</vt:lpstr>
      <vt:lpstr>Cell division</vt:lpstr>
      <vt:lpstr>Cell division</vt:lpstr>
      <vt:lpstr>Light contribution to plant growth</vt:lpstr>
      <vt:lpstr>Control of plant development</vt:lpstr>
      <vt:lpstr>Plant development</vt:lpstr>
      <vt:lpstr>Photochemical and biochemical properties of phytochrome</vt:lpstr>
      <vt:lpstr>Change in light condition </vt:lpstr>
      <vt:lpstr>Photo physiology of blue-light responses</vt:lpstr>
      <vt:lpstr>Blue light signals</vt:lpstr>
      <vt:lpstr>Growth hormones </vt:lpstr>
      <vt:lpstr>Function of Auxins</vt:lpstr>
      <vt:lpstr>Slide 14</vt:lpstr>
      <vt:lpstr>Application of auxin</vt:lpstr>
      <vt:lpstr>Auxin application </vt:lpstr>
      <vt:lpstr>Gibberellin </vt:lpstr>
      <vt:lpstr>Gibberellins activity</vt:lpstr>
      <vt:lpstr>Physiological mechanisms of gibberellin-induced growth</vt:lpstr>
      <vt:lpstr> Biosynthesis of ethylene</vt:lpstr>
      <vt:lpstr>Environmental Stresses for Ethylene Biosynthesis</vt:lpstr>
      <vt:lpstr>Developmental and physiological effects of ethylene</vt:lpstr>
      <vt:lpstr>Application of Ethylene</vt:lpstr>
      <vt:lpstr>Abscisic Acid</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Crop Science  Lecture 1 23rd August 2021</dc:title>
  <dc:creator>Sakala, Aaron</dc:creator>
  <cp:lastModifiedBy>Akim</cp:lastModifiedBy>
  <cp:revision>9</cp:revision>
  <dcterms:created xsi:type="dcterms:W3CDTF">2021-08-13T11:47:52Z</dcterms:created>
  <dcterms:modified xsi:type="dcterms:W3CDTF">2022-09-08T05:29:31Z</dcterms:modified>
</cp:coreProperties>
</file>