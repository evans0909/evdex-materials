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6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4" d="100"/>
          <a:sy n="84" d="100"/>
        </p:scale>
        <p:origin x="2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A2645-E03D-447D-808D-6508281046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C6AC2-CE5C-418A-BF6C-99198BF25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EC1599-E218-4675-A43F-37712334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620B0-4704-4AB9-AF78-0AD2433F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4B96B-DC7D-427C-BDDD-81DCA2CD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88419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D98C6-E250-40D0-AD04-BAA3D6A7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6EC27-DC9D-46FF-8E55-8E3938EAC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C87D9-B910-4ABE-AEE3-BF4CFEFF3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B50277-4C6B-4F0F-AFB9-8A1E6F11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5EB41-061C-455D-96D6-632744404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344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62A3F-8356-4DE7-A05A-7E0534C8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9BF7A-964E-4FEF-8B7A-E1FEE68B0E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D45354-009B-44A8-9BF7-0FFA1E386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CB408C-D7EC-4105-99DA-6F3B5BEB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BA849-C6F8-45F9-9866-DA1E795C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5636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6BF96-450D-45C6-8FC6-C0AA3E44C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42965-A007-4E96-877C-82F019D77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2EBE7-C0E8-46E5-9CB9-7F6DF18FF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1A0D9-94FC-4923-B9C5-05E37553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20D81-E1C5-43CA-9E7B-3EFF2C1BF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6197F-0774-48DE-A5C5-15C14FE3C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74142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28258-7A30-43E7-8E39-6CF9B3DF2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CD8CC6-0445-4325-A5F8-CB42852C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CD0ECA-5155-4653-A349-6FF6C31D2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27D5B-4B77-46B4-B648-DEE87CE23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8FC714-DD1D-4BAA-A5B3-C8B48AFA3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8F557B-A1F1-4969-A4DC-1AE9FFFE7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B7FE7-678B-4254-8937-39C1E216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F262E-9C1A-476B-8F8C-653C5A00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72177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31D0-F4BB-4A4F-8115-20FC75D8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DC3CE9-6338-45F8-8A5F-D8833B7E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D701AF-320D-4DBF-9314-749C68BF9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80A04-8C3F-4125-9ECD-FB4A85086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7637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8A05CA-B9F5-433F-ACD8-6588ED63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457E11-2F35-41DB-9469-62A3D253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CEC29-6586-4D7A-B96F-6787D65A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16119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B493E-D5DC-46F1-941C-99576548F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6EBD2-5878-4F24-934B-2518EE5DA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D0EF5-5667-4317-9A55-61B14582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914127-5572-4321-AF56-93AD4F758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71FEE-E8FC-4A0B-A960-99B735A18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9C20B-1028-49EF-A7D5-A1F8D5378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26945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D880-1B03-4CAD-BBDE-0BD75F17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F11C45-C086-4550-A45A-95DE5DC628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A54C1B-068F-4871-81AE-416C713264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5C6FA-52FD-4545-A7D2-3C52E91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FD7FC4-6D11-4DC2-9B7D-B6884A2FA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B65E9D-2C4A-4F9C-975D-3D9B429B3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04369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4235E-E3BF-4349-9231-E288B688B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790CF5-1560-41E1-BFCC-3944D628A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C4589-7397-44B0-BE29-A1F2BD2C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EA409-CADF-4E45-8390-A63F3531C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46C469-A3A5-4CA2-9DC3-4B363D618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10453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8829C8-CE62-4B0A-9908-0FC42BFBA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9BDAB-E68E-4DB6-B7C5-EE9750902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0D1C4-7B33-4BA2-900E-184BB8ED9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7AA41-EFC2-47F0-A353-4A6FB00AC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34271-6329-4405-865F-C84C12E59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40775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59E24D-A6A4-42EF-86B2-891910E2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A744D1-B22D-4842-983C-D0E483258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83D67-1AFB-4C2B-9187-1F7DE3E85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5EE3D-EE70-4947-9AE6-E367CCCDDB4D}" type="datetimeFigureOut">
              <a:rPr lang="en-NZ" smtClean="0"/>
              <a:t>19/04/2024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F75F9-9163-4645-B084-1A45D5533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A2EE-1ABF-4B33-8275-C68A5F610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0E8AC-16D3-4011-90D3-242594DEF9F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42906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00193-4D7A-4C1A-B440-777C90A75C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Crop Science </a:t>
            </a:r>
            <a:br>
              <a:rPr lang="en-AU" dirty="0"/>
            </a:br>
            <a:r>
              <a:rPr lang="en-AU" dirty="0"/>
              <a:t>Lecture 5</a:t>
            </a:r>
            <a:br>
              <a:rPr lang="en-AU" dirty="0"/>
            </a:br>
            <a:r>
              <a:rPr lang="en-AU" dirty="0"/>
              <a:t>30</a:t>
            </a:r>
            <a:r>
              <a:rPr lang="en-AU" baseline="30000" dirty="0"/>
              <a:t>th</a:t>
            </a:r>
            <a:r>
              <a:rPr lang="en-AU" dirty="0"/>
              <a:t> August </a:t>
            </a:r>
            <a:r>
              <a:rPr lang="en-AU" dirty="0" smtClean="0"/>
              <a:t>202</a:t>
            </a:r>
            <a:endParaRPr lang="en-N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A03E6-C94C-4364-BFFF-3D7E12CEE5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624240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00921-F23D-4C1F-A5C6-6AB74040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Crop productivity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7D20A-D0BD-45C6-B508-0F5D3568F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Canopy architecture can be viewed as a visible but momentary expression of plant form</a:t>
            </a:r>
          </a:p>
          <a:p>
            <a:pPr marL="0" indent="0">
              <a:buNone/>
            </a:pPr>
            <a:r>
              <a:rPr lang="en-US" dirty="0"/>
              <a:t>architecture refers to the spatial configuration of the aboveground plant organs </a:t>
            </a:r>
          </a:p>
          <a:p>
            <a:pPr marL="0" indent="0">
              <a:buNone/>
            </a:pPr>
            <a:r>
              <a:rPr lang="en-US" dirty="0"/>
              <a:t>plant canopy architecture is, in many ways, an abstraction that relates plant form to an orderly, genetically determined “growth plan</a:t>
            </a:r>
          </a:p>
          <a:p>
            <a:pPr marL="0" indent="0">
              <a:buNone/>
            </a:pPr>
            <a:r>
              <a:rPr lang="en-US" dirty="0"/>
              <a:t>Unlike buildings, plant canopies are dynamic and constantly changing with time and space in response to their environment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470177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DC07-8F2C-4740-8DF8-9AA1BA0C4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Plant canopy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9ED62-CCBB-4427-84FB-139B4C4F4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A primary function of plant canopies is to intercept radiation to drive photosynthesis and other metabolic processes</a:t>
            </a:r>
          </a:p>
          <a:p>
            <a:pPr marL="0" indent="0">
              <a:buNone/>
            </a:pPr>
            <a:r>
              <a:rPr lang="en-US" dirty="0"/>
              <a:t>This interception occurs with varying degrees of efficiency, determined chiefly by leaf area, configuration relative to the sun, and to a lesser extent the spatial arrangement of leaves</a:t>
            </a:r>
          </a:p>
          <a:p>
            <a:pPr marL="0" indent="0">
              <a:buNone/>
            </a:pPr>
            <a:r>
              <a:rPr lang="en-US" dirty="0"/>
              <a:t>Other important morphological canopy characteristics include plant height, branching patterns, and sizes and shapes of individual leaves</a:t>
            </a:r>
          </a:p>
          <a:p>
            <a:pPr marL="0" indent="0">
              <a:buNone/>
            </a:pPr>
            <a:r>
              <a:rPr lang="en-US" dirty="0"/>
              <a:t>At least 90% of the biomass of higher plants is derived from CO2 assimilated through photosynthesis </a:t>
            </a:r>
          </a:p>
          <a:p>
            <a:pPr marL="0" indent="0">
              <a:buNone/>
            </a:pPr>
            <a:r>
              <a:rPr lang="en-US" dirty="0"/>
              <a:t>canopy  that lead to greater interception of sunlight increase photosynthesis, and grain or dry matter yield. Conversely, those that lead to poor light interception result in lower growth and yield</a:t>
            </a:r>
          </a:p>
        </p:txBody>
      </p:sp>
    </p:spTree>
    <p:extLst>
      <p:ext uri="{BB962C8B-B14F-4D97-AF65-F5344CB8AC3E}">
        <p14:creationId xmlns:p14="http://schemas.microsoft.com/office/powerpoint/2010/main" val="2627346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1AC8C-59C2-4F68-BB3E-36EB7BA7C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6A017-00F3-4A97-B94A-AF99A72CA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When speaking of plant canopies or other plant features, it is useful to have a mental picture of an ideal form</a:t>
            </a:r>
          </a:p>
          <a:p>
            <a:pPr marL="0" indent="0">
              <a:buNone/>
            </a:pPr>
            <a:r>
              <a:rPr lang="en-US" dirty="0"/>
              <a:t>This process continues today with modern plant breeders, who often have a mental concept of an ideal plant, or ideotype, that guides their breeding programs</a:t>
            </a:r>
          </a:p>
          <a:p>
            <a:pPr marL="0" indent="0">
              <a:buNone/>
            </a:pPr>
            <a:r>
              <a:rPr lang="en-US" dirty="0"/>
              <a:t>Ideotype is a biological model that is expected to perform or behave in a predictable manner within a defined environment</a:t>
            </a:r>
          </a:p>
          <a:p>
            <a:pPr marL="0" indent="0">
              <a:buNone/>
            </a:pPr>
            <a:r>
              <a:rPr lang="en-US" dirty="0"/>
              <a:t>crop ideotype” is a plant model that is expected to yield a greater quantity and/or quality of grain</a:t>
            </a:r>
          </a:p>
          <a:p>
            <a:pPr marL="0" indent="0">
              <a:buNone/>
            </a:pPr>
            <a:r>
              <a:rPr lang="en-US" dirty="0"/>
              <a:t>It should be apparent that what is ideal for one environment would not be ideal for another. For example, a plant for hot and dry environments may not be ideal for cold and wet environments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66643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22D4B-76EB-4C36-9880-A479BA2F3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Plant height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C6B9C-16D0-4C57-BA7D-41530B317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Plant height is the distance from ground level to the tip of the tallest leaf for seedlings or juvenile plants</a:t>
            </a:r>
          </a:p>
          <a:p>
            <a:pPr marL="0" indent="0">
              <a:buNone/>
            </a:pPr>
            <a:r>
              <a:rPr lang="en-US" dirty="0"/>
              <a:t>Mature plants, it is the distance from ground level to the tip of the tallest panicle, ear, or head in cereals and branch in legumes</a:t>
            </a:r>
          </a:p>
          <a:p>
            <a:pPr marL="0" indent="0">
              <a:buNone/>
            </a:pPr>
            <a:r>
              <a:rPr lang="en-US" dirty="0"/>
              <a:t>Short and sturdy shoot, more than any other character, favor lodging resistance</a:t>
            </a:r>
          </a:p>
          <a:p>
            <a:pPr marL="0" indent="0">
              <a:buNone/>
            </a:pPr>
            <a:r>
              <a:rPr lang="en-US" dirty="0"/>
              <a:t>Lodging is the permanent displacement of the stems from their upright position</a:t>
            </a:r>
          </a:p>
          <a:p>
            <a:pPr marL="0" indent="0">
              <a:buNone/>
            </a:pPr>
            <a:r>
              <a:rPr lang="en-US" dirty="0"/>
              <a:t>There are three types of lodging: breaking of the stem, bending of the stem, and rolling,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83209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18E47-4527-4C97-8E06-A8D9DC4AE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Plant lodging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DD8ED-8264-4BF0-9A5D-4BECC10E1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Further, strong winds and rains during reproductive and grain tilling stages of growth can cause lodging in annual crops. Lodging during the grain filling growth stage can reduce grain quality</a:t>
            </a:r>
          </a:p>
          <a:p>
            <a:pPr marL="0" indent="0">
              <a:buNone/>
            </a:pPr>
            <a:r>
              <a:rPr lang="en-US" dirty="0"/>
              <a:t>A short and sturdy shoots also promotes favorable grain-to-straw ratios, adequate N responses, and high yield capacities</a:t>
            </a:r>
          </a:p>
          <a:p>
            <a:pPr marL="0" indent="0">
              <a:buNone/>
            </a:pPr>
            <a:r>
              <a:rPr lang="en-US" dirty="0"/>
              <a:t>The creation of semi-dwarf cultivars spectacularly increased the yielding ability of many crops, such as rice and wheat</a:t>
            </a:r>
          </a:p>
          <a:p>
            <a:pPr marL="0" indent="0">
              <a:buNone/>
            </a:pPr>
            <a:r>
              <a:rPr lang="en-US" dirty="0"/>
              <a:t>Lodging resistance is related to short stature, but also dependent on other characters like shoot diameter, shoot wall thickness, and the degree to which leaf sheaths wrap internodes</a:t>
            </a:r>
          </a:p>
          <a:p>
            <a:pPr marL="0" indent="0">
              <a:buNone/>
            </a:pPr>
            <a:r>
              <a:rPr lang="en-US" dirty="0"/>
              <a:t>Therefore, an optimum plant height is important, which may vary with plant species and environment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776774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1A8A6-4F09-4835-8880-9C3512FAB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Plant branches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5B65D-2990-4BF2-B18B-480A5992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Branches develop from the main shoot or from other shoots during vegetative growth</a:t>
            </a:r>
          </a:p>
          <a:p>
            <a:pPr marL="0" indent="0">
              <a:buNone/>
            </a:pPr>
            <a:r>
              <a:rPr lang="en-US" dirty="0"/>
              <a:t>The development of  buds after differentiation is greatly affected by environmental conditions, as well as by genotypic characteristics</a:t>
            </a:r>
          </a:p>
          <a:p>
            <a:pPr marL="0" indent="0">
              <a:buNone/>
            </a:pPr>
            <a:r>
              <a:rPr lang="en-US" dirty="0"/>
              <a:t>It is essential that sufficient supplies of water, photosynthate, nutrients, and plant hormones are present, and that stress is minimal</a:t>
            </a:r>
          </a:p>
          <a:p>
            <a:pPr marL="0" indent="0">
              <a:buNone/>
            </a:pPr>
            <a:r>
              <a:rPr lang="en-US" dirty="0"/>
              <a:t>Once leaves develop from the branch, they can perform photosynthesis and produce carbohydrates</a:t>
            </a:r>
          </a:p>
          <a:p>
            <a:pPr marL="0" indent="0">
              <a:buNone/>
            </a:pPr>
            <a:r>
              <a:rPr lang="en-US" dirty="0"/>
              <a:t>For many plant species, tillering is a mechanism for assuring that the amount of biomass produced is in balance with the amount of plant resources available 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901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0F153-9480-41D7-BD17-8CACE452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Leaf Characteristics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4F187-9165-4F3F-B172-D1F6429C1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characters such as erectness, length, width, thickness, toughness, color, and senescence are often associated with yielding ability of plant species or cultivars</a:t>
            </a:r>
          </a:p>
          <a:p>
            <a:pPr marL="0" indent="0">
              <a:buNone/>
            </a:pPr>
            <a:r>
              <a:rPr lang="en-US" dirty="0"/>
              <a:t>Among these characters, erect orientation of leaves is associated with high yielding capacity</a:t>
            </a:r>
          </a:p>
          <a:p>
            <a:pPr marL="0" indent="0">
              <a:buNone/>
            </a:pPr>
            <a:r>
              <a:rPr lang="en-US" dirty="0"/>
              <a:t>Erect leaves permit greater penetration and more even distribution of light into the crop, and thus higher photosynthetic activity</a:t>
            </a:r>
          </a:p>
          <a:p>
            <a:pPr marL="0" indent="0">
              <a:buNone/>
            </a:pPr>
            <a:r>
              <a:rPr lang="en-US" dirty="0"/>
              <a:t>Plants with upright leaves may require less physical space than plants with horizontal leaves and may be adapted to narrow row widths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96358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AA5FF-29BF-40DC-A90F-446A8267E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Thickness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9BA9E-7D9A-4301-A2E4-02DFB6F0E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thickness is also a desirable leaf trait</a:t>
            </a:r>
          </a:p>
          <a:p>
            <a:pPr marL="0" indent="0">
              <a:buNone/>
            </a:pPr>
            <a:r>
              <a:rPr lang="en-US" dirty="0"/>
              <a:t>Thicker leaves have higher density of chlorophyll per unit leaf area, and have greater photosynthetic capacities than thinner leaves </a:t>
            </a:r>
          </a:p>
          <a:p>
            <a:pPr marL="0" indent="0">
              <a:buNone/>
            </a:pPr>
            <a:r>
              <a:rPr lang="en-US" dirty="0"/>
              <a:t>Vigorous leaf growth in crop plants has generally been associated with long-term gains in photosynthetic potential </a:t>
            </a:r>
          </a:p>
          <a:p>
            <a:pPr marL="0" indent="0">
              <a:buNone/>
            </a:pPr>
            <a:r>
              <a:rPr lang="en-US" dirty="0"/>
              <a:t>Plant size may provide substantial yield benefits. For example, rice leaf growth rate is lower compared with maize 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073875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16C37-2401-46BC-94DA-C9257BFF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3FA5F-0BE1-4896-873A-986B016D6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size is directly associated with leaf angle, with short leaves tending to be more erect than longer ones</a:t>
            </a:r>
          </a:p>
          <a:p>
            <a:pPr marL="0" indent="0">
              <a:buNone/>
            </a:pPr>
            <a:r>
              <a:rPr lang="en-US" dirty="0"/>
              <a:t>As leaves become longer, they become more difficult for the midrib to support, and therefore tend to droop. Usually, dwarf  cultivars have short leaves and tall cultivars have long leaves</a:t>
            </a:r>
          </a:p>
          <a:p>
            <a:pPr marL="0" indent="0">
              <a:buNone/>
            </a:pPr>
            <a:r>
              <a:rPr lang="en-US" dirty="0"/>
              <a:t>These strong associations indicate that leaf length in both dwarf and tall cultivars is an effect of genes for plant height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1577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D0F7F-D48F-4677-8ECC-5BC178E5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E63C0-2042-4775-96FC-26D06064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Examples of higher yield being associated with more erect leaf angle distribution</a:t>
            </a:r>
          </a:p>
          <a:p>
            <a:pPr marL="0" indent="0">
              <a:buNone/>
            </a:pPr>
            <a:r>
              <a:rPr lang="en-US" dirty="0"/>
              <a:t>Similarly, maize yield has been greater for cultivars with erect canopies than for cultivars with more horizontal orientation </a:t>
            </a:r>
          </a:p>
          <a:p>
            <a:pPr marL="0" indent="0">
              <a:buNone/>
            </a:pPr>
            <a:r>
              <a:rPr lang="en-US" dirty="0"/>
              <a:t>Light entering a canopy of erect leaves is spread over larger photosynthetic areas than in prostrate cultivars, resulting in greater photosynthetic efficiency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236108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339FA-E9E1-4CB3-A22F-A5021715F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098C1-1AD4-4628-AC33-E1192A4DE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Leaf width is less variable than length</a:t>
            </a:r>
          </a:p>
          <a:p>
            <a:pPr marL="0" indent="0">
              <a:buNone/>
            </a:pPr>
            <a:r>
              <a:rPr lang="en-US" dirty="0"/>
              <a:t>Narrow leaves are more desirable than the wider ones due to more even distribution in the plant canopy</a:t>
            </a:r>
          </a:p>
          <a:p>
            <a:pPr marL="0" indent="0">
              <a:buNone/>
            </a:pPr>
            <a:r>
              <a:rPr lang="en-US" dirty="0"/>
              <a:t>Thick leaves are associated with high yielding capacities of crop cultivars</a:t>
            </a:r>
          </a:p>
          <a:p>
            <a:pPr marL="0" indent="0">
              <a:buNone/>
            </a:pPr>
            <a:r>
              <a:rPr lang="en-US" dirty="0"/>
              <a:t>Leaf thickness can be measured microscopically, but it is conveniently expressed as specific leaf area (area per mass) or specific leaf weight (mass per area)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142013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1FBAA-F120-4B8B-9146-4C1B999A1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0740D-A856-4D1D-B4B2-787D0451A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Other leaf characters that have been associated with yield include leaf toughness, color, and senescence.</a:t>
            </a:r>
          </a:p>
          <a:p>
            <a:pPr marL="0" indent="0">
              <a:buNone/>
            </a:pPr>
            <a:r>
              <a:rPr lang="en-US" dirty="0"/>
              <a:t>Leaf toughness, which is important in preventing breaking during heavy wind and rain, is related to thickness and lignification of leaf tissues</a:t>
            </a:r>
          </a:p>
          <a:p>
            <a:pPr marL="0" indent="0">
              <a:buNone/>
            </a:pPr>
            <a:r>
              <a:rPr lang="en-US" dirty="0"/>
              <a:t>Senescence refers to degenerative changes normally associated with the declining phase of leaf, whole plant physiological activities, or both</a:t>
            </a:r>
          </a:p>
          <a:p>
            <a:pPr marL="0" indent="0">
              <a:buNone/>
            </a:pPr>
            <a:r>
              <a:rPr lang="en-US" dirty="0"/>
              <a:t>Senescence is of economic interest because it affects crop productivity by reducing the active photosynthetic area</a:t>
            </a:r>
          </a:p>
        </p:txBody>
      </p:sp>
    </p:spTree>
    <p:extLst>
      <p:ext uri="{BB962C8B-B14F-4D97-AF65-F5344CB8AC3E}">
        <p14:creationId xmlns:p14="http://schemas.microsoft.com/office/powerpoint/2010/main" val="477839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C7FCE-631B-45CF-8510-D64A2E1DF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Summary 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93B18-93F3-469D-BAD1-1F1A2FCF5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Aboveground plant architecture and its components, including plant height, tillering or branching, leaf size, shape and arrangement, are important plant morphological characters related to yield</a:t>
            </a:r>
          </a:p>
          <a:p>
            <a:pPr marL="0" indent="0">
              <a:buNone/>
            </a:pPr>
            <a:r>
              <a:rPr lang="en-US" dirty="0"/>
              <a:t>The main physiological function of the canopy is interception of light and subsequently plant photosynthetic activity</a:t>
            </a:r>
          </a:p>
          <a:p>
            <a:pPr marL="0" indent="0">
              <a:buNone/>
            </a:pPr>
            <a:r>
              <a:rPr lang="en-US" dirty="0"/>
              <a:t>Distribution of leaf area within a plant canopy is a major factor determining total light interception, which affects photosynthesis, transpiration, and dry matter accumulation</a:t>
            </a:r>
          </a:p>
          <a:p>
            <a:pPr marL="0" indent="0">
              <a:buNone/>
            </a:pPr>
            <a:r>
              <a:rPr lang="en-US" dirty="0"/>
              <a:t>Vertical distribution of leaf area is determined by leaf size, leaf angle, and internodes length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883017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309A-04B7-4F42-8CE1-2D55FFA28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CF43F1-7A29-4972-853D-26FA1E4FC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Plant height is also related to plant lodging resistance, a character that determines plant yield capacity and grain quality</a:t>
            </a:r>
          </a:p>
          <a:p>
            <a:pPr marL="0" indent="0">
              <a:buNone/>
            </a:pPr>
            <a:r>
              <a:rPr lang="en-US" dirty="0"/>
              <a:t>Some desirable plant architecture characters related to high yield are semi-dwarf plant height, thick, short, small and erect leaves, short and </a:t>
            </a:r>
            <a:r>
              <a:rPr lang="en-US"/>
              <a:t>stiff shoots, </a:t>
            </a:r>
            <a:r>
              <a:rPr lang="en-US" dirty="0"/>
              <a:t>upright (compacted</a:t>
            </a:r>
            <a:r>
              <a:rPr lang="en-US"/>
              <a:t>) leaves, high N response, and high grain-to-straw ratio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88743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</TotalTime>
  <Words>1218</Words>
  <Application>Microsoft Office PowerPoint</Application>
  <PresentationFormat>Widescreen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Crop Science  Lecture 5 30th August 202</vt:lpstr>
      <vt:lpstr>Crop productivity</vt:lpstr>
      <vt:lpstr>Plant canopy </vt:lpstr>
      <vt:lpstr>PowerPoint Presentation</vt:lpstr>
      <vt:lpstr>Plant height </vt:lpstr>
      <vt:lpstr>Plant lodging </vt:lpstr>
      <vt:lpstr>Plant branches</vt:lpstr>
      <vt:lpstr>Leaf Characteristics</vt:lpstr>
      <vt:lpstr>Thickness</vt:lpstr>
      <vt:lpstr>PowerPoint Presentation</vt:lpstr>
      <vt:lpstr>PowerPoint Presentation</vt:lpstr>
      <vt:lpstr>PowerPoint Presentation</vt:lpstr>
      <vt:lpstr>PowerPoint Presentation</vt:lpstr>
      <vt:lpstr>Summary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Science  Lecture 1 23rd August 2021</dc:title>
  <dc:creator>Sakala, Aaron</dc:creator>
  <cp:lastModifiedBy>ok</cp:lastModifiedBy>
  <cp:revision>27</cp:revision>
  <dcterms:created xsi:type="dcterms:W3CDTF">2021-08-13T11:47:52Z</dcterms:created>
  <dcterms:modified xsi:type="dcterms:W3CDTF">2024-04-19T17:41:48Z</dcterms:modified>
</cp:coreProperties>
</file>