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4" r:id="rId7"/>
    <p:sldId id="267" r:id="rId8"/>
    <p:sldId id="268" r:id="rId9"/>
    <p:sldId id="260" r:id="rId10"/>
    <p:sldId id="269" r:id="rId11"/>
    <p:sldId id="261" r:id="rId12"/>
    <p:sldId id="270" r:id="rId13"/>
    <p:sldId id="271" r:id="rId14"/>
    <p:sldId id="262" r:id="rId15"/>
    <p:sldId id="272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t>5/03/2024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1</a:t>
            </a:r>
            <a:br>
              <a:rPr lang="en-AU" dirty="0"/>
            </a:br>
            <a:r>
              <a:rPr lang="en-AU" dirty="0" smtClean="0"/>
              <a:t>04</a:t>
            </a:r>
            <a:r>
              <a:rPr lang="en-AU" baseline="30000" dirty="0" smtClean="0"/>
              <a:t>th</a:t>
            </a:r>
            <a:r>
              <a:rPr lang="en-AU" dirty="0" smtClean="0"/>
              <a:t> March 2024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23E95-52D5-48A2-99AE-2A501A11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Plant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38282A-E69F-40E9-9A94-59437ED9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5563"/>
            <a:ext cx="10515600" cy="2651399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1028" name="Picture 4" descr="Parts of a Plant and Their Functions (With Diagram) | Trees.com">
            <a:extLst>
              <a:ext uri="{FF2B5EF4-FFF2-40B4-BE49-F238E27FC236}">
                <a16:creationId xmlns:a16="http://schemas.microsoft.com/office/drawing/2014/main" xmlns="" id="{5841EAEC-96B6-457E-9287-49190DD87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311964"/>
            <a:ext cx="7237413" cy="554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45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812313-D96B-4239-B193-C5C0FE3D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cells</a:t>
            </a:r>
            <a:endParaRPr lang="en-NZ" dirty="0"/>
          </a:p>
        </p:txBody>
      </p:sp>
      <p:pic>
        <p:nvPicPr>
          <p:cNvPr id="1026" name="Picture 2" descr="Plant cell- definition, labeled diagram, structure, parts, organelles">
            <a:extLst>
              <a:ext uri="{FF2B5EF4-FFF2-40B4-BE49-F238E27FC236}">
                <a16:creationId xmlns:a16="http://schemas.microsoft.com/office/drawing/2014/main" xmlns="" id="{7196615A-E87B-4609-8CFF-F676A84C9F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189758"/>
            <a:ext cx="5181600" cy="362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BABA74B-33A0-44BD-8360-53052A4462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Store room/chamber – basic building blocks of plant structure</a:t>
            </a:r>
          </a:p>
          <a:p>
            <a:pPr marL="0" indent="0">
              <a:buNone/>
            </a:pPr>
            <a:r>
              <a:rPr lang="en-AU" dirty="0"/>
              <a:t>Cell wall- primary and secondary </a:t>
            </a:r>
          </a:p>
          <a:p>
            <a:pPr marL="0" indent="0">
              <a:buNone/>
            </a:pPr>
            <a:r>
              <a:rPr lang="en-AU" dirty="0"/>
              <a:t>Nucleus – genetic material of cell</a:t>
            </a:r>
          </a:p>
          <a:p>
            <a:pPr marL="0" indent="0">
              <a:buNone/>
            </a:pPr>
            <a:r>
              <a:rPr lang="en-AU" dirty="0"/>
              <a:t>Endoplasmic reticulum- network of internal  membranes</a:t>
            </a:r>
          </a:p>
          <a:p>
            <a:pPr marL="0" indent="0">
              <a:buNone/>
            </a:pPr>
            <a:r>
              <a:rPr lang="en-AU" dirty="0"/>
              <a:t>Golgi bodies- synthesis and secretion</a:t>
            </a:r>
          </a:p>
          <a:p>
            <a:pPr marL="0" indent="0">
              <a:buNone/>
            </a:pPr>
            <a:r>
              <a:rPr lang="en-AU" dirty="0"/>
              <a:t>Central vacuole- water/solutes site</a:t>
            </a:r>
          </a:p>
          <a:p>
            <a:pPr marL="0" indent="0">
              <a:buNone/>
            </a:pPr>
            <a:r>
              <a:rPr lang="en-AU" dirty="0"/>
              <a:t>Mitochondria/Chloroplast- energy conversion site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1280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38A361-92B8-4EF7-A24F-2CB7B02E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</a:t>
            </a:r>
            <a:r>
              <a:rPr lang="en-AU" dirty="0" err="1"/>
              <a:t>tissuess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E732F9-5B58-49C3-A8AA-6F36B04F23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Dermal </a:t>
            </a:r>
          </a:p>
          <a:p>
            <a:pPr marL="0" indent="0">
              <a:buNone/>
            </a:pPr>
            <a:r>
              <a:rPr lang="en-US" dirty="0"/>
              <a:t>Ground</a:t>
            </a:r>
          </a:p>
          <a:p>
            <a:pPr marL="0" indent="0">
              <a:buNone/>
            </a:pPr>
            <a:r>
              <a:rPr lang="en-US" dirty="0"/>
              <a:t>Vascular </a:t>
            </a:r>
          </a:p>
          <a:p>
            <a:pPr marL="0" indent="0">
              <a:buNone/>
            </a:pPr>
            <a:r>
              <a:rPr lang="en-US" dirty="0"/>
              <a:t>Tissues contains a variety of cell types specialized for different functions</a:t>
            </a: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4487CA6-6ED1-4F0D-86E0-182D9FE15A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xmlns="" id="{A7C8DC7F-AB6A-492A-BBB9-E378D19E3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87" y="2681380"/>
            <a:ext cx="4267200" cy="248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9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2D2A6E-BD87-4DE1-B902-E4975BF0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Energy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4F58F9-D4C1-44A3-BFB3-E1A34886CB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Energy is the capacity to do work</a:t>
            </a:r>
          </a:p>
          <a:p>
            <a:pPr marL="0" indent="0">
              <a:buNone/>
            </a:pPr>
            <a:r>
              <a:rPr lang="en-US" dirty="0"/>
              <a:t>Total energy absorbed by leaf = energy emitted from leaf + energy stored by leaf</a:t>
            </a:r>
          </a:p>
          <a:p>
            <a:pPr marL="0" indent="0">
              <a:buNone/>
            </a:pPr>
            <a:r>
              <a:rPr lang="en-US" dirty="0"/>
              <a:t>Movement of charged solute (from compartment 1 to compartment 2) must do work to overcome both the electrochemical-potential gradient and the concentration gradient. </a:t>
            </a:r>
          </a:p>
          <a:p>
            <a:pPr marL="0" indent="0">
              <a:buNone/>
            </a:pPr>
            <a:r>
              <a:rPr lang="en-US" dirty="0"/>
              <a:t>Cations in compartment 2 have been raised to a higher electrochemical potential  </a:t>
            </a:r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E3615CB-1AFF-4B72-9EDF-6BB75C64C8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Circle&#10;&#10;Description automatically generated">
            <a:extLst>
              <a:ext uri="{FF2B5EF4-FFF2-40B4-BE49-F238E27FC236}">
                <a16:creationId xmlns:a16="http://schemas.microsoft.com/office/drawing/2014/main" xmlns="" id="{D9576873-11F5-4DC9-8DD3-47DC47609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25626"/>
            <a:ext cx="4320210" cy="354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3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B8936-40C9-4996-9CF5-DCDA4D11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Enzymes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2F6999-A779-41CE-AE08-F01B72FDE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Enzymes : catalysts of life, in control of almost all life processes</a:t>
            </a:r>
          </a:p>
          <a:p>
            <a:pPr marL="0" indent="0">
              <a:buNone/>
            </a:pPr>
            <a:r>
              <a:rPr lang="en-US" dirty="0"/>
              <a:t>Proteins in metabolism serve as enzymes</a:t>
            </a:r>
          </a:p>
          <a:p>
            <a:pPr marL="0" indent="0">
              <a:buNone/>
            </a:pPr>
            <a:r>
              <a:rPr lang="en-US" dirty="0"/>
              <a:t>Catalysts to increase rate of biochemical reactions</a:t>
            </a:r>
          </a:p>
          <a:p>
            <a:pPr marL="0" indent="0">
              <a:buNone/>
            </a:pPr>
            <a:r>
              <a:rPr lang="en-US" dirty="0"/>
              <a:t>Control all life processes</a:t>
            </a:r>
          </a:p>
          <a:p>
            <a:pPr marL="0" indent="0">
              <a:buNone/>
            </a:pPr>
            <a:r>
              <a:rPr lang="en-US" dirty="0"/>
              <a:t>Thousands of enzymes in a cell</a:t>
            </a:r>
          </a:p>
          <a:p>
            <a:pPr marL="0" indent="0">
              <a:buNone/>
            </a:pPr>
            <a:r>
              <a:rPr lang="en-US" dirty="0"/>
              <a:t>Work on specific substrates, ambient temperature and pressure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3655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0075B3-F242-40C8-9C97-E03F8894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Enzymes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FE41CA-14D1-40A9-A519-84EF8EC068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Enzymes Lower free energy barrier of substrate and product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xmlns="" id="{5A7EBBC8-9B31-43D9-9470-D304296EDD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952" y="1927275"/>
            <a:ext cx="4039863" cy="3354972"/>
          </a:xfrm>
        </p:spPr>
      </p:pic>
    </p:spTree>
    <p:extLst>
      <p:ext uri="{BB962C8B-B14F-4D97-AF65-F5344CB8AC3E}">
        <p14:creationId xmlns:p14="http://schemas.microsoft.com/office/powerpoint/2010/main" val="378514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3FBBFB-606F-4A2E-8CC6-B50A0DEF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Enzyme inhibitors and activators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0A6D15-4C23-4E27-9CCA-D4DC5DB2B2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Inhibitor – agent reducing the velocity of an enzyme catalysed reaction.</a:t>
            </a:r>
          </a:p>
          <a:p>
            <a:pPr marL="0" indent="0">
              <a:buNone/>
            </a:pPr>
            <a:r>
              <a:rPr lang="en-NZ" dirty="0"/>
              <a:t>Activator – agent increasing velocity of an enzyme catalysed reaction.</a:t>
            </a:r>
          </a:p>
          <a:p>
            <a:pPr marL="0" indent="0">
              <a:buNone/>
            </a:pPr>
            <a:r>
              <a:rPr lang="en-NZ" dirty="0"/>
              <a:t>Used to regulate enzyme activities in cells </a:t>
            </a:r>
          </a:p>
          <a:p>
            <a:pPr marL="0" indent="0">
              <a:buNone/>
            </a:pPr>
            <a:r>
              <a:rPr lang="en-NZ" dirty="0"/>
              <a:t>Fructose bisphosphate regulate carbon metabolism in plants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5D74351-5D65-42F9-8F38-747E33C533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xmlns="" id="{F1DA4368-8C3C-4B5C-9E48-57F48453A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950" y="2448047"/>
            <a:ext cx="3587261" cy="289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1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40B78-8450-4D89-BA3A-F0957E3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Water qualities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554FE6-8B8F-453A-AF65-42A60E6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Water makes up 80-95% of plant cells mass</a:t>
            </a:r>
          </a:p>
          <a:p>
            <a:pPr marL="0" indent="0">
              <a:buNone/>
            </a:pPr>
            <a:r>
              <a:rPr lang="en-NZ" dirty="0"/>
              <a:t>Important solvent due to small size and polar nature</a:t>
            </a:r>
          </a:p>
          <a:p>
            <a:pPr marL="0" indent="0">
              <a:buNone/>
            </a:pPr>
            <a:r>
              <a:rPr lang="en-NZ" dirty="0"/>
              <a:t>Cohesion – attraction between water molecules</a:t>
            </a:r>
          </a:p>
          <a:p>
            <a:pPr marL="0" indent="0">
              <a:buNone/>
            </a:pPr>
            <a:r>
              <a:rPr lang="en-NZ" dirty="0"/>
              <a:t>Adhesion – attraction to cell walls or glass surface </a:t>
            </a:r>
          </a:p>
        </p:txBody>
      </p:sp>
    </p:spTree>
    <p:extLst>
      <p:ext uri="{BB962C8B-B14F-4D97-AF65-F5344CB8AC3E}">
        <p14:creationId xmlns:p14="http://schemas.microsoft.com/office/powerpoint/2010/main" val="393852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D5A769-6BCA-40DF-878D-7CDE8258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Plants water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2B6572-AD9F-428F-A177-B5EFF3A1E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Atmosphere is the source of </a:t>
            </a: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en-AU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sz="2400" dirty="0"/>
              <a:t> but relatively dry and needs water from the plant</a:t>
            </a:r>
          </a:p>
          <a:p>
            <a:pPr marL="0" indent="0">
              <a:buNone/>
            </a:pPr>
            <a:r>
              <a:rPr lang="en-NZ" sz="2400" dirty="0"/>
              <a:t>Contact of root surface and soil basis for water absorption </a:t>
            </a:r>
          </a:p>
          <a:p>
            <a:pPr marL="0" indent="0">
              <a:buNone/>
            </a:pPr>
            <a:r>
              <a:rPr lang="en-NZ" sz="2400" dirty="0"/>
              <a:t>Xylem tissue – tube that moves water from the roots to leaves</a:t>
            </a:r>
          </a:p>
          <a:p>
            <a:pPr marL="0" indent="0">
              <a:buNone/>
            </a:pPr>
            <a:r>
              <a:rPr lang="en-NZ" sz="2400" dirty="0"/>
              <a:t>Cavitation is appearance of bubbles that disrupt the continuum of water flow</a:t>
            </a:r>
          </a:p>
          <a:p>
            <a:pPr marL="0" indent="0">
              <a:buNone/>
            </a:pPr>
            <a:r>
              <a:rPr lang="en-NZ" sz="2400" dirty="0"/>
              <a:t>Water movement from leaf to atmosphere through stomata pores </a:t>
            </a:r>
          </a:p>
          <a:p>
            <a:pPr marL="0" indent="0">
              <a:buNone/>
            </a:pPr>
            <a:r>
              <a:rPr lang="en-NZ" sz="2400" dirty="0"/>
              <a:t>Driving force is the difference in water vapour concentration of leaf/atmosphere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3006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66BD1-6F14-4436-BE9E-C75DD8E6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Mineral Nutrients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D2E5D2-3C9C-466E-949A-6E153371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Mineral nutrition – study of how plants obtain and use mineral nutrients</a:t>
            </a:r>
          </a:p>
          <a:p>
            <a:pPr marL="0" indent="0">
              <a:buNone/>
            </a:pPr>
            <a:r>
              <a:rPr lang="en-NZ" dirty="0"/>
              <a:t>Essential elements – absence prevents a plant to complete life cycle</a:t>
            </a:r>
          </a:p>
          <a:p>
            <a:pPr marL="0" indent="0">
              <a:buNone/>
            </a:pPr>
            <a:r>
              <a:rPr lang="en-NZ" dirty="0"/>
              <a:t>Relative concentration in plants define micro/macro nutrients</a:t>
            </a:r>
          </a:p>
          <a:p>
            <a:pPr marL="0" indent="0">
              <a:buNone/>
            </a:pPr>
            <a:r>
              <a:rPr lang="en-NZ" dirty="0"/>
              <a:t>Fertilizer additions improve crop yields </a:t>
            </a:r>
          </a:p>
          <a:p>
            <a:pPr marL="0" indent="0">
              <a:buNone/>
            </a:pPr>
            <a:r>
              <a:rPr lang="en-NZ" dirty="0"/>
              <a:t>Straight fertilizers contain a single nutrient </a:t>
            </a:r>
            <a:r>
              <a:rPr lang="en-NZ" dirty="0" err="1"/>
              <a:t>e.g</a:t>
            </a:r>
            <a:r>
              <a:rPr lang="en-NZ" dirty="0"/>
              <a:t> super phosphate, ammonium nitrate and potash</a:t>
            </a:r>
          </a:p>
          <a:p>
            <a:pPr marL="0" indent="0">
              <a:buNone/>
            </a:pPr>
            <a:r>
              <a:rPr lang="en-NZ" dirty="0"/>
              <a:t>Compound fertilizers contain more than one nutrient </a:t>
            </a:r>
          </a:p>
        </p:txBody>
      </p:sp>
    </p:spTree>
    <p:extLst>
      <p:ext uri="{BB962C8B-B14F-4D97-AF65-F5344CB8AC3E}">
        <p14:creationId xmlns:p14="http://schemas.microsoft.com/office/powerpoint/2010/main" val="186052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B8B139-438F-413F-8C5B-5BA8CE66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Fertilizer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4C8359-0129-4ED5-91D7-D257C6941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Foliar application is fertilizer application to a plant through leaves</a:t>
            </a:r>
          </a:p>
          <a:p>
            <a:pPr marL="0" indent="0">
              <a:buNone/>
            </a:pPr>
            <a:r>
              <a:rPr lang="en-NZ" dirty="0"/>
              <a:t>Advantages</a:t>
            </a:r>
          </a:p>
          <a:p>
            <a:r>
              <a:rPr lang="en-NZ" dirty="0"/>
              <a:t>Reduce lag time of application and uptake</a:t>
            </a:r>
          </a:p>
          <a:p>
            <a:r>
              <a:rPr lang="en-NZ" dirty="0"/>
              <a:t>Avoid leaching of nutrients in the soil</a:t>
            </a:r>
          </a:p>
          <a:p>
            <a:pPr marL="0" indent="0">
              <a:buNone/>
            </a:pPr>
            <a:r>
              <a:rPr lang="en-NZ" dirty="0"/>
              <a:t>Disadvantages</a:t>
            </a:r>
          </a:p>
          <a:p>
            <a:r>
              <a:rPr lang="en-NZ" dirty="0"/>
              <a:t>Leaf scorching </a:t>
            </a:r>
          </a:p>
          <a:p>
            <a:r>
              <a:rPr lang="en-NZ" dirty="0"/>
              <a:t>Addition of additive required for efficiency  </a:t>
            </a:r>
          </a:p>
        </p:txBody>
      </p:sp>
    </p:spTree>
    <p:extLst>
      <p:ext uri="{BB962C8B-B14F-4D97-AF65-F5344CB8AC3E}">
        <p14:creationId xmlns:p14="http://schemas.microsoft.com/office/powerpoint/2010/main" val="190718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7BBC28-1368-4A9B-91FB-614DEDC6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Nutrient availability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3199B3-6852-4A5B-A508-B45D009CC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Decomposition of minerals by weathering, followed by leaching of cations, such as K, Ca, and Mg by rain</a:t>
            </a:r>
            <a:endParaRPr lang="en-NZ" dirty="0"/>
          </a:p>
          <a:p>
            <a:pPr marL="0" indent="0">
              <a:buNone/>
            </a:pPr>
            <a:r>
              <a:rPr lang="en-US" dirty="0"/>
              <a:t>Plant-induced production of acidity, when an excess of cations over anions is taken up </a:t>
            </a:r>
            <a:r>
              <a:rPr lang="en-US" dirty="0" err="1"/>
              <a:t>eg</a:t>
            </a:r>
            <a:r>
              <a:rPr lang="en-US" dirty="0"/>
              <a:t> N2 or NH4 , rather than NO3 — , is used as N source for plant growth </a:t>
            </a:r>
            <a:endParaRPr lang="en-NZ" dirty="0"/>
          </a:p>
          <a:p>
            <a:pPr marL="0" indent="0">
              <a:buNone/>
            </a:pPr>
            <a:r>
              <a:rPr lang="en-US" dirty="0"/>
              <a:t>Soils may also acidify due to human activities such as input of nitric and sulfuric acids or the addition of acidic fertilizer, such as ammonium sulfate or urea</a:t>
            </a:r>
            <a:endParaRPr lang="en-NZ" dirty="0"/>
          </a:p>
          <a:p>
            <a:pPr marL="0" indent="0">
              <a:buNone/>
            </a:pPr>
            <a:r>
              <a:rPr lang="en-NZ" dirty="0"/>
              <a:t>pH affects the availability of nutrients to the plant</a:t>
            </a:r>
          </a:p>
          <a:p>
            <a:pPr marL="0" indent="0">
              <a:buNone/>
            </a:pPr>
            <a:r>
              <a:rPr lang="en-NZ" dirty="0"/>
              <a:t>Favourable pH for nutrient availability 5.5- 6.5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Mycorrhizal fungi improve the surface area of roots for nutrient absorption 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15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ED40B9-18F6-41E2-A992-2DDB55F0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Solute transport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FA72F6-9A62-41A6-80F3-B7468731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Transport is the movement of molecules and ions from one location to another</a:t>
            </a:r>
          </a:p>
          <a:p>
            <a:pPr marL="0" indent="0">
              <a:buNone/>
            </a:pPr>
            <a:r>
              <a:rPr lang="en-NZ" dirty="0"/>
              <a:t>Plants exchange solutes with the environment and within tissues and organs</a:t>
            </a:r>
          </a:p>
          <a:p>
            <a:pPr marL="0" indent="0">
              <a:buNone/>
            </a:pPr>
            <a:r>
              <a:rPr lang="en-NZ" dirty="0"/>
              <a:t>Transport of solutes down a chemical gradient is passive transport</a:t>
            </a:r>
          </a:p>
        </p:txBody>
      </p:sp>
    </p:spTree>
    <p:extLst>
      <p:ext uri="{BB962C8B-B14F-4D97-AF65-F5344CB8AC3E}">
        <p14:creationId xmlns:p14="http://schemas.microsoft.com/office/powerpoint/2010/main" val="301947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6BB309-3462-4771-B265-6A036A52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Active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D33EA7-B953-4940-81AD-4C8BBD3873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NZ" dirty="0"/>
              <a:t>Movement of solutes against a chemical potential gradient is active transport and require </a:t>
            </a:r>
            <a:r>
              <a:rPr lang="en-NZ"/>
              <a:t>energy input</a:t>
            </a:r>
            <a:endParaRPr lang="en-NZ" dirty="0"/>
          </a:p>
          <a:p>
            <a:pPr marL="0" indent="0">
              <a:buNone/>
            </a:pPr>
            <a:r>
              <a:rPr lang="en-US" dirty="0"/>
              <a:t>symport, the energy dissipated by a proton moving back into the cell is coupled to the uptake of one molecule of a substrate</a:t>
            </a:r>
          </a:p>
          <a:p>
            <a:pPr marL="0" indent="0">
              <a:buNone/>
            </a:pPr>
            <a:r>
              <a:rPr lang="en-US" dirty="0"/>
              <a:t>Antiport, the energy dissipated by a proton moving back into the cell is coupled to the active transport of a substrate </a:t>
            </a:r>
          </a:p>
          <a:p>
            <a:pPr marL="0" indent="0">
              <a:buNone/>
            </a:pPr>
            <a:r>
              <a:rPr lang="en-US" dirty="0"/>
              <a:t>The substrate moving against its gradient of electrochemical potential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xmlns="" id="{0D5B5829-B75C-47AD-AF43-863AD88FC2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748" y="1690688"/>
            <a:ext cx="4193823" cy="3858225"/>
          </a:xfrm>
        </p:spPr>
      </p:pic>
    </p:spTree>
    <p:extLst>
      <p:ext uri="{BB962C8B-B14F-4D97-AF65-F5344CB8AC3E}">
        <p14:creationId xmlns:p14="http://schemas.microsoft.com/office/powerpoint/2010/main" val="315934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3BE76A-48FD-49FE-9CC4-F908D28E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Fertilizer Application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83E465-6FFE-437B-8E7C-3AFB1B33F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Maize </a:t>
            </a:r>
          </a:p>
          <a:p>
            <a:pPr marL="0" indent="0">
              <a:buNone/>
            </a:pPr>
            <a:r>
              <a:rPr lang="en-AU" dirty="0"/>
              <a:t>Top dressing 150kg per hectare</a:t>
            </a:r>
          </a:p>
          <a:p>
            <a:pPr marL="0" indent="0">
              <a:buNone/>
            </a:pPr>
            <a:r>
              <a:rPr lang="en-AU" dirty="0"/>
              <a:t>0.3m X 0.75m = 0.225m2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150kg – 10000m2</a:t>
            </a:r>
          </a:p>
          <a:p>
            <a:pPr marL="0" indent="0">
              <a:buNone/>
            </a:pPr>
            <a:r>
              <a:rPr lang="en-AU" dirty="0"/>
              <a:t>X – 0.225m2</a:t>
            </a:r>
          </a:p>
          <a:p>
            <a:pPr marL="0" indent="0">
              <a:buNone/>
            </a:pPr>
            <a:r>
              <a:rPr lang="en-AU" dirty="0"/>
              <a:t>0.003375kg</a:t>
            </a:r>
          </a:p>
          <a:p>
            <a:pPr marL="0" indent="0">
              <a:buNone/>
            </a:pPr>
            <a:r>
              <a:rPr lang="en-AU" dirty="0"/>
              <a:t>3.375g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82294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A7187D-F6C7-4186-86D0-DE32E6A2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497A33-99B8-4793-8D2D-4419C85B3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Maize basal dressing  200kg per hectare</a:t>
            </a:r>
          </a:p>
          <a:p>
            <a:pPr marL="0" indent="0">
              <a:buNone/>
            </a:pPr>
            <a:r>
              <a:rPr lang="en-AU" dirty="0"/>
              <a:t>0.3m X 0.75m = 0.225m2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200kg – 10000m2</a:t>
            </a:r>
          </a:p>
          <a:p>
            <a:pPr marL="0" indent="0">
              <a:buNone/>
            </a:pPr>
            <a:r>
              <a:rPr lang="en-AU" dirty="0"/>
              <a:t>X – 0.225m2</a:t>
            </a:r>
          </a:p>
          <a:p>
            <a:pPr marL="0" indent="0">
              <a:buNone/>
            </a:pPr>
            <a:r>
              <a:rPr lang="en-AU" dirty="0"/>
              <a:t>0.0045kg</a:t>
            </a:r>
          </a:p>
          <a:p>
            <a:pPr marL="0" indent="0">
              <a:buNone/>
            </a:pPr>
            <a:r>
              <a:rPr lang="en-AU"/>
              <a:t>4.5g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011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681</Words>
  <Application>Microsoft Office PowerPoint</Application>
  <PresentationFormat>Widescreen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Crop Science  Lecture 1 04th March 2024</vt:lpstr>
      <vt:lpstr>The Plant</vt:lpstr>
      <vt:lpstr>Plant cells</vt:lpstr>
      <vt:lpstr>Plant tissuess</vt:lpstr>
      <vt:lpstr>Energy </vt:lpstr>
      <vt:lpstr>Enzymes</vt:lpstr>
      <vt:lpstr>Enzymes</vt:lpstr>
      <vt:lpstr>Enzyme inhibitors and activators</vt:lpstr>
      <vt:lpstr>Water qualities </vt:lpstr>
      <vt:lpstr>Plants water balance</vt:lpstr>
      <vt:lpstr>Mineral Nutrients</vt:lpstr>
      <vt:lpstr>Fertilizer application</vt:lpstr>
      <vt:lpstr>Nutrient availability </vt:lpstr>
      <vt:lpstr>Solute transport</vt:lpstr>
      <vt:lpstr>Active transport</vt:lpstr>
      <vt:lpstr>Fertilizer Application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Microsoft account</cp:lastModifiedBy>
  <cp:revision>11</cp:revision>
  <dcterms:created xsi:type="dcterms:W3CDTF">2021-08-13T11:47:52Z</dcterms:created>
  <dcterms:modified xsi:type="dcterms:W3CDTF">2024-03-05T19:40:32Z</dcterms:modified>
</cp:coreProperties>
</file>