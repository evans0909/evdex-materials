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66" r:id="rId6"/>
    <p:sldId id="264" r:id="rId7"/>
    <p:sldId id="267" r:id="rId8"/>
    <p:sldId id="268" r:id="rId9"/>
    <p:sldId id="260" r:id="rId10"/>
    <p:sldId id="269" r:id="rId11"/>
    <p:sldId id="261" r:id="rId12"/>
    <p:sldId id="270" r:id="rId13"/>
    <p:sldId id="271" r:id="rId14"/>
    <p:sldId id="262" r:id="rId15"/>
    <p:sldId id="272" r:id="rId16"/>
    <p:sldId id="274" r:id="rId17"/>
    <p:sldId id="27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2FA2645-E03D-447D-808D-650828104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B50C6AC2-CE5C-418A-BF6C-99198BF253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DEC1599-E218-4675-A43F-37712334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29/05/2023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1C620B0-4704-4AB9-AF78-0AD2433F8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DA4B96B-DC7D-427C-BDDD-81DCA2CD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88419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4D98C6-E250-40D0-AD04-BAA3D6A7A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9D6EC27-DC9D-46FF-8E55-8E3938EAC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F3C87D9-B910-4ABE-AEE3-BF4CFEFF3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29/05/2023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9B50277-4C6B-4F0F-AFB9-8A1E6F118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955EB41-061C-455D-96D6-632744404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34458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562A3F-8356-4DE7-A05A-7E0534C84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389BF7A-964E-4FEF-8B7A-E1FEE68B0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9D45354-009B-44A8-9BF7-0FFA1E386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29/05/2023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FCB408C-D7EC-4105-99DA-6F3B5BEB0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22BA849-C6F8-45F9-9866-DA1E795C3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56365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EE6BF96-450D-45C6-8FC6-C0AA3E44C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6B42965-A007-4E96-877C-82F019D77E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0E32EBE7-C0E8-46E5-9CB9-7F6DF18FFB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48F1A0D9-94FC-4923-B9C5-05E37553C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29/05/2023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A820D81-E1C5-43CA-9E7B-3EFF2C1BF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6A6197F-0774-48DE-A5C5-15C14FE3C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74142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4F28258-7A30-43E7-8E39-6CF9B3DF2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ACD8CC6-0445-4325-A5F8-CB42852C6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A9CD0ECA-5155-4653-A349-6FF6C31D2E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60327D5B-4B77-46B4-B648-DEE87CE23D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A48FC714-DD1D-4BAA-A5B3-C8B48AFA3B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888F557B-A1F1-4969-A4DC-1AE9FFFE7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29/05/2023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7B8B7FE7-678B-4254-8937-39C1E2164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846F262E-9C1A-476B-8F8C-653C5A00E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72177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3F931D0-F4BB-4A4F-8115-20FC75D8F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EDC3CE9-6338-45F8-8A5F-D8833B7E2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29/05/2023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0D701AF-320D-4DBF-9314-749C68BF9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FCF80A04-8C3F-4125-9ECD-FB4A85086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76379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A38A05CA-B9F5-433F-ACD8-6588ED635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29/05/2023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EB457E11-2F35-41DB-9469-62A3D2534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86CEC29-6586-4D7A-B96F-6787D65A8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161198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95B493E-D5DC-46F1-941C-99576548F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C06EBD2-5878-4F24-934B-2518EE5DA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A9ED0EF5-5667-4317-9A55-61B145828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1914127-5572-4321-AF56-93AD4F758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29/05/2023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1671FEE-E8FC-4A0B-A960-99B735A18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8C9C20B-1028-49EF-A7D5-A1F8D5378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26945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76AD880-1B03-4CAD-BBDE-0BD75F17C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1BF11C45-C086-4550-A45A-95DE5DC628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BDA54C1B-068F-4871-81AE-416C713264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B0A5C6FA-52FD-4545-A7D2-3C52E918B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29/05/2023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56FD7FC4-6D11-4DC2-9B7D-B6884A2FA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7DB65E9D-2C4A-4F9C-975D-3D9B429B3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04369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104235E-E3BF-4349-9231-E288B688B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B8790CF5-1560-41E1-BFCC-3944D628A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7BC4589-7397-44B0-BE29-A1F2BD2C4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29/05/2023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BEEA409-CADF-4E45-8390-A63F3531C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646C469-A3A5-4CA2-9DC3-4B363D618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210453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CD8829C8-CE62-4B0A-9908-0FC42BFBA2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5D99BDAB-E68E-4DB6-B7C5-EE9750902B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040D1C4-7B33-4BA2-900E-184BB8ED9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29/05/2023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9B7AA41-EFC2-47F0-A353-4A6FB00AC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3034271-6329-4405-865F-C84C12E59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140775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3059E24D-A6A4-42EF-86B2-891910E29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5A744D1-B22D-4842-983C-D0E483258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AF83D67-1AFB-4C2B-9187-1F7DE3E85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F5EE3D-EE70-4947-9AE6-E367CCCDDB4D}" type="datetimeFigureOut">
              <a:rPr lang="en-NZ" smtClean="0"/>
              <a:t>29/05/2023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09F75F9-9163-4645-B084-1A45D5533E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A91A2EE-1ABF-4B33-8275-C68A5F610F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742906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9100193-4D7A-4C1A-B440-777C90A75C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Crop Science </a:t>
            </a:r>
            <a:br>
              <a:rPr lang="en-AU" dirty="0"/>
            </a:br>
            <a:r>
              <a:rPr lang="en-AU" dirty="0"/>
              <a:t>Lecture 1</a:t>
            </a:r>
            <a:br>
              <a:rPr lang="en-AU" dirty="0"/>
            </a:br>
            <a:r>
              <a:rPr lang="en-AU" dirty="0" smtClean="0"/>
              <a:t>28</a:t>
            </a:r>
            <a:r>
              <a:rPr lang="en-AU" baseline="30000" dirty="0" smtClean="0"/>
              <a:t>th</a:t>
            </a:r>
            <a:r>
              <a:rPr lang="en-AU" dirty="0" smtClean="0"/>
              <a:t> May 2023</a:t>
            </a:r>
            <a:endParaRPr lang="en-NZ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E7CA03E6-C94C-4364-BFFF-3D7E12CEE5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624240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E923E95-52D5-48A2-99AE-2A501A11C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Plant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F38282A-E69F-40E9-9A94-59437ED9C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25563"/>
            <a:ext cx="10515600" cy="2651399"/>
          </a:xfrm>
        </p:spPr>
        <p:txBody>
          <a:bodyPr/>
          <a:lstStyle/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NZ" dirty="0"/>
          </a:p>
        </p:txBody>
      </p:sp>
      <p:pic>
        <p:nvPicPr>
          <p:cNvPr id="1028" name="Picture 4" descr="Parts of a Plant and Their Functions (With Diagram) | Trees.com">
            <a:extLst>
              <a:ext uri="{FF2B5EF4-FFF2-40B4-BE49-F238E27FC236}">
                <a16:creationId xmlns="" xmlns:a16="http://schemas.microsoft.com/office/drawing/2014/main" id="{5841EAEC-96B6-457E-9287-49190DD87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0" y="1311964"/>
            <a:ext cx="7237413" cy="5546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3455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8812313-D96B-4239-B193-C5C0FE3D8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Plant cells</a:t>
            </a:r>
            <a:endParaRPr lang="en-NZ" dirty="0"/>
          </a:p>
        </p:txBody>
      </p:sp>
      <p:pic>
        <p:nvPicPr>
          <p:cNvPr id="1026" name="Picture 2" descr="Plant cell- definition, labeled diagram, structure, parts, organelles">
            <a:extLst>
              <a:ext uri="{FF2B5EF4-FFF2-40B4-BE49-F238E27FC236}">
                <a16:creationId xmlns="" xmlns:a16="http://schemas.microsoft.com/office/drawing/2014/main" id="{7196615A-E87B-4609-8CFF-F676A84C9F4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200" y="2189758"/>
            <a:ext cx="5181600" cy="3623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5BABA74B-33A0-44BD-8360-53052A4462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dirty="0"/>
              <a:t>Store room/chamber – basic building blocks of plant structure</a:t>
            </a:r>
          </a:p>
          <a:p>
            <a:pPr marL="0" indent="0">
              <a:buNone/>
            </a:pPr>
            <a:r>
              <a:rPr lang="en-AU" dirty="0"/>
              <a:t>Cell wall- primary and secondary </a:t>
            </a:r>
          </a:p>
          <a:p>
            <a:pPr marL="0" indent="0">
              <a:buNone/>
            </a:pPr>
            <a:r>
              <a:rPr lang="en-AU" dirty="0"/>
              <a:t>Nucleus – genetic material of cell</a:t>
            </a:r>
          </a:p>
          <a:p>
            <a:pPr marL="0" indent="0">
              <a:buNone/>
            </a:pPr>
            <a:r>
              <a:rPr lang="en-AU" dirty="0"/>
              <a:t>Endoplasmic reticulum- network of internal  membranes</a:t>
            </a:r>
          </a:p>
          <a:p>
            <a:pPr marL="0" indent="0">
              <a:buNone/>
            </a:pPr>
            <a:r>
              <a:rPr lang="en-AU" dirty="0"/>
              <a:t>Golgi bodies- synthesis and secretion</a:t>
            </a:r>
          </a:p>
          <a:p>
            <a:pPr marL="0" indent="0">
              <a:buNone/>
            </a:pPr>
            <a:r>
              <a:rPr lang="en-AU" dirty="0"/>
              <a:t>Central vacuole- water/solutes site</a:t>
            </a:r>
          </a:p>
          <a:p>
            <a:pPr marL="0" indent="0">
              <a:buNone/>
            </a:pPr>
            <a:r>
              <a:rPr lang="en-AU" dirty="0"/>
              <a:t>Mitochondria/Chloroplast- energy conversion site</a:t>
            </a:r>
            <a:endParaRPr lang="en-NZ" dirty="0"/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412801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238A361-92B8-4EF7-A24F-2CB7B02EC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Plant </a:t>
            </a:r>
            <a:r>
              <a:rPr lang="en-AU" dirty="0" err="1"/>
              <a:t>tissuess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4E732F9-5B58-49C3-A8AA-6F36B04F23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US" dirty="0"/>
              <a:t>Dermal </a:t>
            </a:r>
          </a:p>
          <a:p>
            <a:pPr marL="0" indent="0">
              <a:buNone/>
            </a:pPr>
            <a:r>
              <a:rPr lang="en-US" dirty="0"/>
              <a:t>Ground</a:t>
            </a:r>
          </a:p>
          <a:p>
            <a:pPr marL="0" indent="0">
              <a:buNone/>
            </a:pPr>
            <a:r>
              <a:rPr lang="en-US" dirty="0"/>
              <a:t>Vascular </a:t>
            </a:r>
          </a:p>
          <a:p>
            <a:pPr marL="0" indent="0">
              <a:buNone/>
            </a:pPr>
            <a:r>
              <a:rPr lang="en-US" dirty="0"/>
              <a:t>Tissues contains a variety of cell types specialized for different functions</a:t>
            </a:r>
            <a:endParaRPr lang="en-AU" dirty="0"/>
          </a:p>
          <a:p>
            <a:pPr marL="0" indent="0">
              <a:buNone/>
            </a:pPr>
            <a:endParaRPr lang="en-NZ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64487CA6-6ED1-4F0D-86E0-182D9FE15AB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NZ" dirty="0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="" xmlns:a16="http://schemas.microsoft.com/office/drawing/2014/main" id="{A7C8DC7F-AB6A-492A-BBB9-E378D19E39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1687" y="2681380"/>
            <a:ext cx="4267200" cy="248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191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02D2A6E-BD87-4DE1-B902-E4975BF08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Energy 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F4F58F9-D4C1-44A3-BFB3-E1A34886CB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Energy is the capacity to do work</a:t>
            </a:r>
          </a:p>
          <a:p>
            <a:pPr marL="0" indent="0">
              <a:buNone/>
            </a:pPr>
            <a:r>
              <a:rPr lang="en-US" dirty="0"/>
              <a:t>Total energy absorbed by leaf = energy emitted from leaf + energy stored by leaf</a:t>
            </a:r>
          </a:p>
          <a:p>
            <a:pPr marL="0" indent="0">
              <a:buNone/>
            </a:pPr>
            <a:r>
              <a:rPr lang="en-US" dirty="0"/>
              <a:t>Movement of charged solute (from compartment 1 to compartment 2) must do work to overcome both the electrochemical-potential gradient and the concentration gradient. </a:t>
            </a:r>
          </a:p>
          <a:p>
            <a:pPr marL="0" indent="0">
              <a:buNone/>
            </a:pPr>
            <a:r>
              <a:rPr lang="en-US" dirty="0"/>
              <a:t>Cations in compartment 2 have been raised to a higher electrochemical potential  </a:t>
            </a:r>
          </a:p>
          <a:p>
            <a:pPr marL="0" indent="0">
              <a:buNone/>
            </a:pPr>
            <a:endParaRPr lang="en-NZ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CE3615CB-1AFF-4B72-9EDF-6BB75C64C8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NZ" dirty="0"/>
          </a:p>
        </p:txBody>
      </p:sp>
      <p:pic>
        <p:nvPicPr>
          <p:cNvPr id="6" name="Picture 5" descr="Circle&#10;&#10;Description automatically generated">
            <a:extLst>
              <a:ext uri="{FF2B5EF4-FFF2-40B4-BE49-F238E27FC236}">
                <a16:creationId xmlns="" xmlns:a16="http://schemas.microsoft.com/office/drawing/2014/main" id="{D9576873-11F5-4DC9-8DD3-47DC476098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825626"/>
            <a:ext cx="4320210" cy="3542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133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B8936-40C9-4996-9CF5-DCDA4D112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Enzymes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92F6999-A779-41CE-AE08-F01B72FDE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US" dirty="0"/>
              <a:t>Enzymes : catalysts of life, in control of almost all life processes</a:t>
            </a:r>
          </a:p>
          <a:p>
            <a:pPr marL="0" indent="0">
              <a:buNone/>
            </a:pPr>
            <a:r>
              <a:rPr lang="en-US" dirty="0"/>
              <a:t>Proteins in metabolism serve as enzymes</a:t>
            </a:r>
          </a:p>
          <a:p>
            <a:pPr marL="0" indent="0">
              <a:buNone/>
            </a:pPr>
            <a:r>
              <a:rPr lang="en-US" dirty="0"/>
              <a:t>Catalysts to increase rate of biochemical reactions</a:t>
            </a:r>
          </a:p>
          <a:p>
            <a:pPr marL="0" indent="0">
              <a:buNone/>
            </a:pPr>
            <a:r>
              <a:rPr lang="en-US" dirty="0"/>
              <a:t>Control all life processes</a:t>
            </a:r>
          </a:p>
          <a:p>
            <a:pPr marL="0" indent="0">
              <a:buNone/>
            </a:pPr>
            <a:r>
              <a:rPr lang="en-US" dirty="0"/>
              <a:t>Thousands of enzymes in a cell</a:t>
            </a:r>
          </a:p>
          <a:p>
            <a:pPr marL="0" indent="0">
              <a:buNone/>
            </a:pPr>
            <a:r>
              <a:rPr lang="en-US" dirty="0"/>
              <a:t>Work on specific substrates, ambient temperature and pressure</a:t>
            </a:r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636556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10075B3-F242-40C8-9C97-E03F88949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Enzymes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AFE41CA-14D1-40A9-A519-84EF8EC0687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Enzymes Lower free energy barrier of substrate and product</a:t>
            </a:r>
          </a:p>
          <a:p>
            <a:pPr marL="0" indent="0">
              <a:buNone/>
            </a:pPr>
            <a:endParaRPr lang="en-NZ" dirty="0"/>
          </a:p>
        </p:txBody>
      </p:sp>
      <p:pic>
        <p:nvPicPr>
          <p:cNvPr id="6" name="Content Placeholder 5" descr="Diagram&#10;&#10;Description automatically generated">
            <a:extLst>
              <a:ext uri="{FF2B5EF4-FFF2-40B4-BE49-F238E27FC236}">
                <a16:creationId xmlns="" xmlns:a16="http://schemas.microsoft.com/office/drawing/2014/main" id="{5A7EBBC8-9B31-43D9-9470-D304296EDDF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952" y="1927275"/>
            <a:ext cx="4039863" cy="3354972"/>
          </a:xfrm>
        </p:spPr>
      </p:pic>
    </p:spTree>
    <p:extLst>
      <p:ext uri="{BB962C8B-B14F-4D97-AF65-F5344CB8AC3E}">
        <p14:creationId xmlns:p14="http://schemas.microsoft.com/office/powerpoint/2010/main" val="3785149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73FBBFB-606F-4A2E-8CC6-B50A0DEF7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Enzyme inhibitors and activators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20A6D15-4C23-4E27-9CCA-D4DC5DB2B2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Z" dirty="0"/>
              <a:t>Inhibitor – agent reducing the velocity of an enzyme catalysed reaction.</a:t>
            </a:r>
          </a:p>
          <a:p>
            <a:pPr marL="0" indent="0">
              <a:buNone/>
            </a:pPr>
            <a:r>
              <a:rPr lang="en-NZ" dirty="0"/>
              <a:t>Activator – agent increasing velocity of an enzyme catalysed reaction.</a:t>
            </a:r>
          </a:p>
          <a:p>
            <a:pPr marL="0" indent="0">
              <a:buNone/>
            </a:pPr>
            <a:r>
              <a:rPr lang="en-NZ" dirty="0"/>
              <a:t>Used to regulate enzyme activities in cells </a:t>
            </a:r>
          </a:p>
          <a:p>
            <a:pPr marL="0" indent="0">
              <a:buNone/>
            </a:pPr>
            <a:r>
              <a:rPr lang="en-NZ" dirty="0"/>
              <a:t>Fructose bisphosphate regulate carbon metabolism in plants 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65D74351-5D65-42F9-8F38-747E33C5335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NZ" dirty="0"/>
          </a:p>
          <a:p>
            <a:pPr marL="0" indent="0">
              <a:buNone/>
            </a:pPr>
            <a:endParaRPr lang="en-NZ" dirty="0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="" xmlns:a16="http://schemas.microsoft.com/office/drawing/2014/main" id="{F1DA4368-8C3C-4B5C-9E48-57F48453A7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9950" y="2448047"/>
            <a:ext cx="3587261" cy="2897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016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9340B78-8450-4D89-BA3A-F0957E36E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Water qualities 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1554FE6-8B8F-453A-AF65-42A60E6D6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NZ" dirty="0"/>
          </a:p>
          <a:p>
            <a:pPr marL="0" indent="0">
              <a:buNone/>
            </a:pPr>
            <a:r>
              <a:rPr lang="en-NZ" dirty="0"/>
              <a:t>Water makes up 80-95% of plant cells mass</a:t>
            </a:r>
          </a:p>
          <a:p>
            <a:pPr marL="0" indent="0">
              <a:buNone/>
            </a:pPr>
            <a:r>
              <a:rPr lang="en-NZ" dirty="0"/>
              <a:t>Important solvent due to small size and polar nature</a:t>
            </a:r>
          </a:p>
          <a:p>
            <a:pPr marL="0" indent="0">
              <a:buNone/>
            </a:pPr>
            <a:r>
              <a:rPr lang="en-NZ" dirty="0"/>
              <a:t>Cohesion – attraction between water molecules</a:t>
            </a:r>
          </a:p>
          <a:p>
            <a:pPr marL="0" indent="0">
              <a:buNone/>
            </a:pPr>
            <a:r>
              <a:rPr lang="en-NZ" dirty="0"/>
              <a:t>Adhesion – attraction to cell walls or glass surface </a:t>
            </a:r>
          </a:p>
        </p:txBody>
      </p:sp>
    </p:spTree>
    <p:extLst>
      <p:ext uri="{BB962C8B-B14F-4D97-AF65-F5344CB8AC3E}">
        <p14:creationId xmlns:p14="http://schemas.microsoft.com/office/powerpoint/2010/main" val="3938525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4D5A769-6BCA-40DF-878D-7CDE8258E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Plants water balance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42B6572-AD9F-428F-A177-B5EFF3A1E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NZ" dirty="0"/>
          </a:p>
          <a:p>
            <a:pPr marL="0" indent="0">
              <a:buNone/>
            </a:pPr>
            <a:r>
              <a:rPr lang="en-NZ" dirty="0"/>
              <a:t>Atmosphere is the source of </a:t>
            </a:r>
            <a:r>
              <a:rPr lang="en-AU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</a:t>
            </a:r>
            <a:r>
              <a:rPr lang="en-AU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NZ" sz="2400" dirty="0"/>
              <a:t> but relatively dry and needs water from the plant</a:t>
            </a:r>
          </a:p>
          <a:p>
            <a:pPr marL="0" indent="0">
              <a:buNone/>
            </a:pPr>
            <a:r>
              <a:rPr lang="en-NZ" sz="2400" dirty="0"/>
              <a:t>Contact of root surface and soil basis for water absorption </a:t>
            </a:r>
          </a:p>
          <a:p>
            <a:pPr marL="0" indent="0">
              <a:buNone/>
            </a:pPr>
            <a:r>
              <a:rPr lang="en-NZ" sz="2400" dirty="0"/>
              <a:t>Xylem tissue – tube that moves water from the roots to leaves</a:t>
            </a:r>
          </a:p>
          <a:p>
            <a:pPr marL="0" indent="0">
              <a:buNone/>
            </a:pPr>
            <a:r>
              <a:rPr lang="en-NZ" sz="2400" dirty="0"/>
              <a:t>Cavitation is appearance of bubbles that disrupt the continuum of water flow</a:t>
            </a:r>
          </a:p>
          <a:p>
            <a:pPr marL="0" indent="0">
              <a:buNone/>
            </a:pPr>
            <a:r>
              <a:rPr lang="en-NZ" sz="2400" dirty="0"/>
              <a:t>Water movement from leaf to atmosphere through stomata pores </a:t>
            </a:r>
          </a:p>
          <a:p>
            <a:pPr marL="0" indent="0">
              <a:buNone/>
            </a:pPr>
            <a:r>
              <a:rPr lang="en-NZ" sz="2400" dirty="0"/>
              <a:t>Driving force is the difference in water vapour concentration of leaf/atmosphere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830069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E266BD1-6F14-4436-BE9E-C75DD8E61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Mineral Nutrients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9D2E5D2-3C9C-466E-949A-6E1533718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Z" dirty="0"/>
              <a:t>Mineral nutrition – study of how plants obtain and use mineral nutrients</a:t>
            </a:r>
          </a:p>
          <a:p>
            <a:pPr marL="0" indent="0">
              <a:buNone/>
            </a:pPr>
            <a:r>
              <a:rPr lang="en-NZ" dirty="0"/>
              <a:t>Essential elements – absence prevents a plant to complete life cycle</a:t>
            </a:r>
          </a:p>
          <a:p>
            <a:pPr marL="0" indent="0">
              <a:buNone/>
            </a:pPr>
            <a:r>
              <a:rPr lang="en-NZ" dirty="0"/>
              <a:t>Relative concentration in plants define micro/macro nutrients</a:t>
            </a:r>
          </a:p>
          <a:p>
            <a:pPr marL="0" indent="0">
              <a:buNone/>
            </a:pPr>
            <a:r>
              <a:rPr lang="en-NZ" dirty="0"/>
              <a:t>Fertilizer additions improve crop yields </a:t>
            </a:r>
          </a:p>
          <a:p>
            <a:pPr marL="0" indent="0">
              <a:buNone/>
            </a:pPr>
            <a:r>
              <a:rPr lang="en-NZ" dirty="0"/>
              <a:t>Straight fertilizers contain a single nutrient </a:t>
            </a:r>
            <a:r>
              <a:rPr lang="en-NZ" dirty="0" err="1"/>
              <a:t>e.g</a:t>
            </a:r>
            <a:r>
              <a:rPr lang="en-NZ" dirty="0"/>
              <a:t> super phosphate, ammonium nitrate and potash</a:t>
            </a:r>
          </a:p>
          <a:p>
            <a:pPr marL="0" indent="0">
              <a:buNone/>
            </a:pPr>
            <a:r>
              <a:rPr lang="en-NZ" dirty="0"/>
              <a:t>Compound fertilizers contain more than one nutrient </a:t>
            </a:r>
          </a:p>
        </p:txBody>
      </p:sp>
    </p:spTree>
    <p:extLst>
      <p:ext uri="{BB962C8B-B14F-4D97-AF65-F5344CB8AC3E}">
        <p14:creationId xmlns:p14="http://schemas.microsoft.com/office/powerpoint/2010/main" val="1860524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AB8B139-438F-413F-8C5B-5BA8CE66E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Fertilizer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54C8359-0129-4ED5-91D7-D257C6941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Z" dirty="0"/>
              <a:t>Foliar application is fertilizer application to a plant through leaves</a:t>
            </a:r>
          </a:p>
          <a:p>
            <a:pPr marL="0" indent="0">
              <a:buNone/>
            </a:pPr>
            <a:r>
              <a:rPr lang="en-NZ" dirty="0"/>
              <a:t>Advantages</a:t>
            </a:r>
          </a:p>
          <a:p>
            <a:r>
              <a:rPr lang="en-NZ" dirty="0"/>
              <a:t>Reduce lag time of application and uptake</a:t>
            </a:r>
          </a:p>
          <a:p>
            <a:r>
              <a:rPr lang="en-NZ" dirty="0"/>
              <a:t>Avoid leaching of nutrients in the soil</a:t>
            </a:r>
          </a:p>
          <a:p>
            <a:pPr marL="0" indent="0">
              <a:buNone/>
            </a:pPr>
            <a:r>
              <a:rPr lang="en-NZ" dirty="0"/>
              <a:t>Disadvantages</a:t>
            </a:r>
          </a:p>
          <a:p>
            <a:r>
              <a:rPr lang="en-NZ" dirty="0"/>
              <a:t>Leaf scorching </a:t>
            </a:r>
          </a:p>
          <a:p>
            <a:r>
              <a:rPr lang="en-NZ" dirty="0"/>
              <a:t>Addition of additive required for efficiency  </a:t>
            </a:r>
          </a:p>
        </p:txBody>
      </p:sp>
    </p:spTree>
    <p:extLst>
      <p:ext uri="{BB962C8B-B14F-4D97-AF65-F5344CB8AC3E}">
        <p14:creationId xmlns:p14="http://schemas.microsoft.com/office/powerpoint/2010/main" val="1907183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67BBC28-1368-4A9B-91FB-614DEDC64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Nutrient availability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63199B3-6852-4A5B-A508-B45D009CC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Decomposition of minerals by weathering, followed by leaching of cations, such as K, Ca, and Mg by rain</a:t>
            </a:r>
            <a:endParaRPr lang="en-NZ" dirty="0"/>
          </a:p>
          <a:p>
            <a:pPr marL="0" indent="0">
              <a:buNone/>
            </a:pPr>
            <a:r>
              <a:rPr lang="en-US" dirty="0"/>
              <a:t>Plant-induced production of acidity, when an excess of cations over anions is taken up </a:t>
            </a:r>
            <a:r>
              <a:rPr lang="en-US" dirty="0" err="1"/>
              <a:t>eg</a:t>
            </a:r>
            <a:r>
              <a:rPr lang="en-US" dirty="0"/>
              <a:t> N2 or NH4 , rather than NO3 — , is used as N source for plant growth </a:t>
            </a:r>
            <a:endParaRPr lang="en-NZ" dirty="0"/>
          </a:p>
          <a:p>
            <a:pPr marL="0" indent="0">
              <a:buNone/>
            </a:pPr>
            <a:r>
              <a:rPr lang="en-US" dirty="0"/>
              <a:t>Soils may also acidify due to human activities such as input of nitric and sulfuric acids or the addition of acidic fertilizer, such as ammonium sulfate or urea</a:t>
            </a:r>
            <a:endParaRPr lang="en-NZ" dirty="0"/>
          </a:p>
          <a:p>
            <a:pPr marL="0" indent="0">
              <a:buNone/>
            </a:pPr>
            <a:r>
              <a:rPr lang="en-NZ" dirty="0"/>
              <a:t>pH affects the availability of nutrients to the plant</a:t>
            </a:r>
          </a:p>
          <a:p>
            <a:pPr marL="0" indent="0">
              <a:buNone/>
            </a:pPr>
            <a:r>
              <a:rPr lang="en-NZ" dirty="0"/>
              <a:t>Favourable pH for nutrient availability 5.5- 6.5</a:t>
            </a:r>
          </a:p>
          <a:p>
            <a:pPr marL="0" indent="0">
              <a:buNone/>
            </a:pPr>
            <a:endParaRPr lang="en-NZ" dirty="0"/>
          </a:p>
          <a:p>
            <a:pPr marL="0" indent="0">
              <a:buNone/>
            </a:pPr>
            <a:r>
              <a:rPr lang="en-NZ" dirty="0"/>
              <a:t>Mycorrhizal fungi improve the surface area of roots for nutrient absorption  </a:t>
            </a:r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00156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6ED40B9-18F6-41E2-A992-2DDB55F0B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Solute transport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8FA72F6-9A62-41A6-80F3-B74687310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Z" dirty="0"/>
              <a:t>Transport is the movement of molecules and ions from one location to another</a:t>
            </a:r>
          </a:p>
          <a:p>
            <a:pPr marL="0" indent="0">
              <a:buNone/>
            </a:pPr>
            <a:r>
              <a:rPr lang="en-NZ" dirty="0"/>
              <a:t>Plants exchange solutes with the environment and within tissues and organs</a:t>
            </a:r>
          </a:p>
          <a:p>
            <a:pPr marL="0" indent="0">
              <a:buNone/>
            </a:pPr>
            <a:r>
              <a:rPr lang="en-NZ" dirty="0"/>
              <a:t>Transport of solutes down a chemical gradient is passive transport</a:t>
            </a:r>
          </a:p>
        </p:txBody>
      </p:sp>
    </p:spTree>
    <p:extLst>
      <p:ext uri="{BB962C8B-B14F-4D97-AF65-F5344CB8AC3E}">
        <p14:creationId xmlns:p14="http://schemas.microsoft.com/office/powerpoint/2010/main" val="301947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B6BB309-3462-4771-B265-6A036A52D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Active transport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8D33EA7-B953-4940-81AD-4C8BBD3873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NZ" dirty="0"/>
              <a:t>Movement of solutes against a chemical potential gradient is active transport and require </a:t>
            </a:r>
            <a:r>
              <a:rPr lang="en-NZ"/>
              <a:t>energy input</a:t>
            </a:r>
            <a:endParaRPr lang="en-NZ" dirty="0"/>
          </a:p>
          <a:p>
            <a:pPr marL="0" indent="0">
              <a:buNone/>
            </a:pPr>
            <a:r>
              <a:rPr lang="en-US" dirty="0"/>
              <a:t>symport, the energy dissipated by a proton moving back into the cell is coupled to the uptake of one molecule of a substrate</a:t>
            </a:r>
          </a:p>
          <a:p>
            <a:pPr marL="0" indent="0">
              <a:buNone/>
            </a:pPr>
            <a:r>
              <a:rPr lang="en-US" dirty="0"/>
              <a:t>Antiport, the energy dissipated by a proton moving back into the cell is coupled to the active transport of a substrate </a:t>
            </a:r>
          </a:p>
          <a:p>
            <a:pPr marL="0" indent="0">
              <a:buNone/>
            </a:pPr>
            <a:r>
              <a:rPr lang="en-US" dirty="0"/>
              <a:t>The substrate moving against its gradient of electrochemical potential</a:t>
            </a:r>
            <a:endParaRPr lang="en-NZ" dirty="0"/>
          </a:p>
          <a:p>
            <a:pPr marL="0" indent="0">
              <a:buNone/>
            </a:pPr>
            <a:endParaRPr lang="en-NZ" dirty="0"/>
          </a:p>
        </p:txBody>
      </p:sp>
      <p:pic>
        <p:nvPicPr>
          <p:cNvPr id="6" name="Content Placeholder 5" descr="Diagram&#10;&#10;Description automatically generated">
            <a:extLst>
              <a:ext uri="{FF2B5EF4-FFF2-40B4-BE49-F238E27FC236}">
                <a16:creationId xmlns="" xmlns:a16="http://schemas.microsoft.com/office/drawing/2014/main" id="{0D5B5829-B75C-47AD-AF43-863AD88FC2D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748" y="1690688"/>
            <a:ext cx="4193823" cy="3858225"/>
          </a:xfrm>
        </p:spPr>
      </p:pic>
    </p:spTree>
    <p:extLst>
      <p:ext uri="{BB962C8B-B14F-4D97-AF65-F5344CB8AC3E}">
        <p14:creationId xmlns:p14="http://schemas.microsoft.com/office/powerpoint/2010/main" val="3159345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83BE76A-48FD-49FE-9CC4-F908D28EB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Fertilizer Application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C83E465-6FFE-437B-8E7C-3AFB1B33F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Maize </a:t>
            </a:r>
          </a:p>
          <a:p>
            <a:pPr marL="0" indent="0">
              <a:buNone/>
            </a:pPr>
            <a:r>
              <a:rPr lang="en-AU" dirty="0"/>
              <a:t>Top dressing 150kg per hectare</a:t>
            </a:r>
          </a:p>
          <a:p>
            <a:pPr marL="0" indent="0">
              <a:buNone/>
            </a:pPr>
            <a:r>
              <a:rPr lang="en-AU" dirty="0"/>
              <a:t>0.3m X 0.75m = 0.225m2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150kg – 10000m2</a:t>
            </a:r>
          </a:p>
          <a:p>
            <a:pPr marL="0" indent="0">
              <a:buNone/>
            </a:pPr>
            <a:r>
              <a:rPr lang="en-AU" dirty="0"/>
              <a:t>X – 0.225m2</a:t>
            </a:r>
          </a:p>
          <a:p>
            <a:pPr marL="0" indent="0">
              <a:buNone/>
            </a:pPr>
            <a:r>
              <a:rPr lang="en-AU" dirty="0"/>
              <a:t>0.003375kg</a:t>
            </a:r>
          </a:p>
          <a:p>
            <a:pPr marL="0" indent="0">
              <a:buNone/>
            </a:pPr>
            <a:r>
              <a:rPr lang="en-AU" dirty="0"/>
              <a:t>3.375g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0822940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5A7187D-F6C7-4186-86D0-DE32E6A22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497A33-99B8-4793-8D2D-4419C85B3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Maize basal dressing  200kg per hectare</a:t>
            </a:r>
          </a:p>
          <a:p>
            <a:pPr marL="0" indent="0">
              <a:buNone/>
            </a:pPr>
            <a:r>
              <a:rPr lang="en-AU" dirty="0"/>
              <a:t>0.3m X 0.75m = 0.225m2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200kg – 10000m2</a:t>
            </a:r>
          </a:p>
          <a:p>
            <a:pPr marL="0" indent="0">
              <a:buNone/>
            </a:pPr>
            <a:r>
              <a:rPr lang="en-AU" dirty="0"/>
              <a:t>X – 0.225m2</a:t>
            </a:r>
          </a:p>
          <a:p>
            <a:pPr marL="0" indent="0">
              <a:buNone/>
            </a:pPr>
            <a:r>
              <a:rPr lang="en-AU" dirty="0"/>
              <a:t>0.0045kg</a:t>
            </a:r>
          </a:p>
          <a:p>
            <a:pPr marL="0" indent="0">
              <a:buNone/>
            </a:pPr>
            <a:r>
              <a:rPr lang="en-AU"/>
              <a:t>4.5g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000118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802</TotalTime>
  <Words>681</Words>
  <Application>Microsoft Office PowerPoint</Application>
  <PresentationFormat>Widescreen</PresentationFormat>
  <Paragraphs>98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Office Theme</vt:lpstr>
      <vt:lpstr>Crop Science  Lecture 1 28th May 2023</vt:lpstr>
      <vt:lpstr>The Plant</vt:lpstr>
      <vt:lpstr>Plant cells</vt:lpstr>
      <vt:lpstr>Plant tissuess</vt:lpstr>
      <vt:lpstr>Energy </vt:lpstr>
      <vt:lpstr>Enzymes</vt:lpstr>
      <vt:lpstr>Enzymes</vt:lpstr>
      <vt:lpstr>Enzyme inhibitors and activators</vt:lpstr>
      <vt:lpstr>Water qualities </vt:lpstr>
      <vt:lpstr>Plants water balance</vt:lpstr>
      <vt:lpstr>Mineral Nutrients</vt:lpstr>
      <vt:lpstr>Fertilizer application</vt:lpstr>
      <vt:lpstr>Nutrient availability </vt:lpstr>
      <vt:lpstr>Solute transport</vt:lpstr>
      <vt:lpstr>Active transport</vt:lpstr>
      <vt:lpstr>Fertilizer Application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Crop Science  Lecture 1 23rd August 2021</dc:title>
  <dc:creator>Sakala, Aaron</dc:creator>
  <cp:lastModifiedBy>SAKALA</cp:lastModifiedBy>
  <cp:revision>10</cp:revision>
  <dcterms:created xsi:type="dcterms:W3CDTF">2021-08-13T11:47:52Z</dcterms:created>
  <dcterms:modified xsi:type="dcterms:W3CDTF">2023-05-29T16:22:51Z</dcterms:modified>
</cp:coreProperties>
</file>