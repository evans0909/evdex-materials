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1" r:id="rId2"/>
    <p:sldId id="397" r:id="rId3"/>
    <p:sldId id="398" r:id="rId4"/>
    <p:sldId id="392" r:id="rId5"/>
    <p:sldId id="399" r:id="rId6"/>
    <p:sldId id="403" r:id="rId7"/>
    <p:sldId id="400" r:id="rId8"/>
    <p:sldId id="401" r:id="rId9"/>
    <p:sldId id="402" r:id="rId10"/>
    <p:sldId id="404" r:id="rId11"/>
    <p:sldId id="405" r:id="rId12"/>
    <p:sldId id="406" r:id="rId13"/>
    <p:sldId id="407" r:id="rId14"/>
    <p:sldId id="412" r:id="rId15"/>
    <p:sldId id="413" r:id="rId16"/>
    <p:sldId id="408" r:id="rId17"/>
    <p:sldId id="40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3"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7301BF-4D7C-421A-9FE8-97BDD4F19D2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62D6B4AF-CF3F-4573-A2E4-8B7005B42C62}">
      <dgm:prSet/>
      <dgm:spPr/>
      <dgm:t>
        <a:bodyPr/>
        <a:lstStyle/>
        <a:p>
          <a:r>
            <a:rPr lang="en-GB" baseline="0" dirty="0"/>
            <a:t>Vegetables are highly sensitive to climate because most of them have soft tissues, shallow root systems, and short growing periods. </a:t>
          </a:r>
        </a:p>
        <a:p>
          <a:r>
            <a:rPr lang="en-GB" baseline="0" dirty="0"/>
            <a:t>Good climate conditions improve germination, vegetative growth, flowering, fruit set, yield, quality, shelf life, and resistance to pests and diseases. </a:t>
          </a:r>
        </a:p>
        <a:p>
          <a:r>
            <a:rPr lang="en-GB" baseline="0" dirty="0"/>
            <a:t>Poor climate conditions can reduce crop establishment, delay maturity, cause flower abortion, encourage diseases, and lower market quality.</a:t>
          </a:r>
          <a:endParaRPr lang="en-GB" dirty="0"/>
        </a:p>
      </dgm:t>
    </dgm:pt>
    <dgm:pt modelId="{A59E4EFF-039E-4718-A061-E6233F5BCB7C}" type="parTrans" cxnId="{526879A6-4135-464F-B4FD-792B146D1EA8}">
      <dgm:prSet/>
      <dgm:spPr/>
      <dgm:t>
        <a:bodyPr/>
        <a:lstStyle/>
        <a:p>
          <a:endParaRPr lang="en-GB"/>
        </a:p>
      </dgm:t>
    </dgm:pt>
    <dgm:pt modelId="{24DEBFAC-DA6D-4687-BD28-BD65F7250DFF}" type="sibTrans" cxnId="{526879A6-4135-464F-B4FD-792B146D1EA8}">
      <dgm:prSet/>
      <dgm:spPr/>
      <dgm:t>
        <a:bodyPr/>
        <a:lstStyle/>
        <a:p>
          <a:endParaRPr lang="en-GB"/>
        </a:p>
      </dgm:t>
    </dgm:pt>
    <dgm:pt modelId="{839AF003-6021-490C-855C-13E8BED21E45}" type="pres">
      <dgm:prSet presAssocID="{507301BF-4D7C-421A-9FE8-97BDD4F19D28}" presName="linear" presStyleCnt="0">
        <dgm:presLayoutVars>
          <dgm:animLvl val="lvl"/>
          <dgm:resizeHandles val="exact"/>
        </dgm:presLayoutVars>
      </dgm:prSet>
      <dgm:spPr/>
    </dgm:pt>
    <dgm:pt modelId="{F8B24CDB-BB83-439D-B341-9153FB062E6F}" type="pres">
      <dgm:prSet presAssocID="{62D6B4AF-CF3F-4573-A2E4-8B7005B42C62}" presName="parentText" presStyleLbl="node1" presStyleIdx="0" presStyleCnt="1">
        <dgm:presLayoutVars>
          <dgm:chMax val="0"/>
          <dgm:bulletEnabled val="1"/>
        </dgm:presLayoutVars>
      </dgm:prSet>
      <dgm:spPr/>
    </dgm:pt>
  </dgm:ptLst>
  <dgm:cxnLst>
    <dgm:cxn modelId="{B737CA33-55C0-416E-8F55-CF36071E63C0}" type="presOf" srcId="{507301BF-4D7C-421A-9FE8-97BDD4F19D28}" destId="{839AF003-6021-490C-855C-13E8BED21E45}" srcOrd="0" destOrd="0" presId="urn:microsoft.com/office/officeart/2005/8/layout/vList2"/>
    <dgm:cxn modelId="{B159FF73-F174-45C7-9CBE-C17746148E54}" type="presOf" srcId="{62D6B4AF-CF3F-4573-A2E4-8B7005B42C62}" destId="{F8B24CDB-BB83-439D-B341-9153FB062E6F}" srcOrd="0" destOrd="0" presId="urn:microsoft.com/office/officeart/2005/8/layout/vList2"/>
    <dgm:cxn modelId="{526879A6-4135-464F-B4FD-792B146D1EA8}" srcId="{507301BF-4D7C-421A-9FE8-97BDD4F19D28}" destId="{62D6B4AF-CF3F-4573-A2E4-8B7005B42C62}" srcOrd="0" destOrd="0" parTransId="{A59E4EFF-039E-4718-A061-E6233F5BCB7C}" sibTransId="{24DEBFAC-DA6D-4687-BD28-BD65F7250DFF}"/>
    <dgm:cxn modelId="{52BFE4FD-9D68-44E6-976B-4AD6981B032F}" type="presParOf" srcId="{839AF003-6021-490C-855C-13E8BED21E45}" destId="{F8B24CDB-BB83-439D-B341-9153FB062E6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289EA0-153D-469E-B859-22B282EACD1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2FA7251A-E95E-4B23-BC19-079DB54560F3}">
      <dgm:prSet/>
      <dgm:spPr/>
      <dgm:t>
        <a:bodyPr/>
        <a:lstStyle/>
        <a:p>
          <a:r>
            <a:rPr lang="en-US" baseline="0" dirty="0"/>
            <a:t>Climatic requirements refer to the weather and environmental conditions needed by a crop to grow, develop, and produce good yield. For vegetable crops, the most important climatic factors are temperature, rainfall, soil moisture, relative humidity, light, wind, altitude, and seasonal conditions.</a:t>
          </a:r>
          <a:endParaRPr lang="en-GB" dirty="0"/>
        </a:p>
      </dgm:t>
    </dgm:pt>
    <dgm:pt modelId="{3354087F-80FA-420A-8A9C-8ADA0F753C84}" type="parTrans" cxnId="{CC6353FE-331A-4DCF-A22F-1EE699284158}">
      <dgm:prSet/>
      <dgm:spPr/>
      <dgm:t>
        <a:bodyPr/>
        <a:lstStyle/>
        <a:p>
          <a:endParaRPr lang="en-GB"/>
        </a:p>
      </dgm:t>
    </dgm:pt>
    <dgm:pt modelId="{C6A47700-F4AD-480E-A581-C5732EBA39B8}" type="sibTrans" cxnId="{CC6353FE-331A-4DCF-A22F-1EE699284158}">
      <dgm:prSet/>
      <dgm:spPr/>
      <dgm:t>
        <a:bodyPr/>
        <a:lstStyle/>
        <a:p>
          <a:endParaRPr lang="en-GB"/>
        </a:p>
      </dgm:t>
    </dgm:pt>
    <dgm:pt modelId="{208D5192-0630-4C54-A1A6-FFDDAA069AFA}" type="pres">
      <dgm:prSet presAssocID="{49289EA0-153D-469E-B859-22B282EACD18}" presName="linear" presStyleCnt="0">
        <dgm:presLayoutVars>
          <dgm:animLvl val="lvl"/>
          <dgm:resizeHandles val="exact"/>
        </dgm:presLayoutVars>
      </dgm:prSet>
      <dgm:spPr/>
    </dgm:pt>
    <dgm:pt modelId="{63B23297-1E24-4881-AF7A-94186C8A5D86}" type="pres">
      <dgm:prSet presAssocID="{2FA7251A-E95E-4B23-BC19-079DB54560F3}" presName="parentText" presStyleLbl="node1" presStyleIdx="0" presStyleCnt="1">
        <dgm:presLayoutVars>
          <dgm:chMax val="0"/>
          <dgm:bulletEnabled val="1"/>
        </dgm:presLayoutVars>
      </dgm:prSet>
      <dgm:spPr/>
    </dgm:pt>
  </dgm:ptLst>
  <dgm:cxnLst>
    <dgm:cxn modelId="{C8CAD51E-6041-4C33-8E4D-E9899885D05A}" type="presOf" srcId="{2FA7251A-E95E-4B23-BC19-079DB54560F3}" destId="{63B23297-1E24-4881-AF7A-94186C8A5D86}" srcOrd="0" destOrd="0" presId="urn:microsoft.com/office/officeart/2005/8/layout/vList2"/>
    <dgm:cxn modelId="{D92E0A76-9846-4DFB-A915-F475A60CD925}" type="presOf" srcId="{49289EA0-153D-469E-B859-22B282EACD18}" destId="{208D5192-0630-4C54-A1A6-FFDDAA069AFA}" srcOrd="0" destOrd="0" presId="urn:microsoft.com/office/officeart/2005/8/layout/vList2"/>
    <dgm:cxn modelId="{CC6353FE-331A-4DCF-A22F-1EE699284158}" srcId="{49289EA0-153D-469E-B859-22B282EACD18}" destId="{2FA7251A-E95E-4B23-BC19-079DB54560F3}" srcOrd="0" destOrd="0" parTransId="{3354087F-80FA-420A-8A9C-8ADA0F753C84}" sibTransId="{C6A47700-F4AD-480E-A581-C5732EBA39B8}"/>
    <dgm:cxn modelId="{1009E8E6-3B0A-425D-925E-F2EBF864DF20}" type="presParOf" srcId="{208D5192-0630-4C54-A1A6-FFDDAA069AFA}" destId="{63B23297-1E24-4881-AF7A-94186C8A5D8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8659E7-E791-4A0C-8604-3BC9CE6AA08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C92E0189-1BD7-4BDB-B16B-BD336E563E26}">
      <dgm:prSet/>
      <dgm:spPr/>
      <dgm:t>
        <a:bodyPr/>
        <a:lstStyle/>
        <a:p>
          <a:r>
            <a:rPr lang="en-GB" baseline="0"/>
            <a:t>Temperature is one of the most important climatic factors in vegetable production. Each vegetable has a minimum, optimum, and maximum temperature for growth. Below the minimum temperature, growth is very slow or stops. At the optimum temperature, growth is best. Above the maximum temperature, plants become stressed and may die.</a:t>
          </a:r>
          <a:endParaRPr lang="en-GB"/>
        </a:p>
      </dgm:t>
    </dgm:pt>
    <dgm:pt modelId="{C434DB4C-C5BD-48D9-8210-99534C0CD6C3}" type="parTrans" cxnId="{D43CCD68-F7E6-4E0C-81E2-EE0150A0275F}">
      <dgm:prSet/>
      <dgm:spPr/>
      <dgm:t>
        <a:bodyPr/>
        <a:lstStyle/>
        <a:p>
          <a:endParaRPr lang="en-GB"/>
        </a:p>
      </dgm:t>
    </dgm:pt>
    <dgm:pt modelId="{07B073C3-2B86-4200-BEB6-AC23EE9304A7}" type="sibTrans" cxnId="{D43CCD68-F7E6-4E0C-81E2-EE0150A0275F}">
      <dgm:prSet/>
      <dgm:spPr/>
      <dgm:t>
        <a:bodyPr/>
        <a:lstStyle/>
        <a:p>
          <a:endParaRPr lang="en-GB"/>
        </a:p>
      </dgm:t>
    </dgm:pt>
    <dgm:pt modelId="{C8B3365C-F71C-4CF0-8BC7-44A922AAC4AF}">
      <dgm:prSet/>
      <dgm:spPr/>
      <dgm:t>
        <a:bodyPr/>
        <a:lstStyle/>
        <a:p>
          <a:r>
            <a:rPr lang="en-GB" b="1" baseline="0"/>
            <a:t>Optimum Temperature: </a:t>
          </a:r>
          <a:r>
            <a:rPr lang="en-GB" baseline="0"/>
            <a:t>Each vegetable crop has a range of temperatures that are optimal for growth. For instance, cool-season vegetables like broccoli, cabbage, and spinach thrive in temperatures below 70°F (21°C), while warm-season crops such as tomatoes, peppers, and cucumbers prefer temperatures above 70°F. </a:t>
          </a:r>
          <a:endParaRPr lang="en-GB"/>
        </a:p>
      </dgm:t>
    </dgm:pt>
    <dgm:pt modelId="{FAA6C423-9447-4E3F-A12B-9190DEBAA934}" type="parTrans" cxnId="{5FBF7828-865B-40D1-945B-6C6BF6EE5856}">
      <dgm:prSet/>
      <dgm:spPr/>
      <dgm:t>
        <a:bodyPr/>
        <a:lstStyle/>
        <a:p>
          <a:endParaRPr lang="en-GB"/>
        </a:p>
      </dgm:t>
    </dgm:pt>
    <dgm:pt modelId="{BB5EBB1B-9164-4D07-87DA-117983365C61}" type="sibTrans" cxnId="{5FBF7828-865B-40D1-945B-6C6BF6EE5856}">
      <dgm:prSet/>
      <dgm:spPr/>
      <dgm:t>
        <a:bodyPr/>
        <a:lstStyle/>
        <a:p>
          <a:endParaRPr lang="en-GB"/>
        </a:p>
      </dgm:t>
    </dgm:pt>
    <dgm:pt modelId="{FCD9ED6D-0E90-4DB8-A47F-577C153F76E4}">
      <dgm:prSet/>
      <dgm:spPr/>
      <dgm:t>
        <a:bodyPr/>
        <a:lstStyle/>
        <a:p>
          <a:r>
            <a:rPr lang="en-GB" b="1" baseline="0"/>
            <a:t>Frost Sensitivity: </a:t>
          </a:r>
          <a:r>
            <a:rPr lang="en-GB" baseline="0"/>
            <a:t>Some crops are more tolerant of cold temperatures (e.g., cabbage can withstand light frosts), while others are very sensitive and should be planted only after the last frost.</a:t>
          </a:r>
          <a:endParaRPr lang="en-GB"/>
        </a:p>
      </dgm:t>
    </dgm:pt>
    <dgm:pt modelId="{AE1A7D31-6479-4C5D-B58C-D2F339543886}" type="parTrans" cxnId="{2374D041-AA39-4723-8F12-3244055B340C}">
      <dgm:prSet/>
      <dgm:spPr/>
      <dgm:t>
        <a:bodyPr/>
        <a:lstStyle/>
        <a:p>
          <a:endParaRPr lang="en-GB"/>
        </a:p>
      </dgm:t>
    </dgm:pt>
    <dgm:pt modelId="{1173C7FB-F58E-46B9-8D9D-C41D009D4899}" type="sibTrans" cxnId="{2374D041-AA39-4723-8F12-3244055B340C}">
      <dgm:prSet/>
      <dgm:spPr/>
      <dgm:t>
        <a:bodyPr/>
        <a:lstStyle/>
        <a:p>
          <a:endParaRPr lang="en-GB"/>
        </a:p>
      </dgm:t>
    </dgm:pt>
    <dgm:pt modelId="{0E8DCA6F-508E-44AA-B07D-5DF576342225}" type="pres">
      <dgm:prSet presAssocID="{B28659E7-E791-4A0C-8604-3BC9CE6AA088}" presName="linear" presStyleCnt="0">
        <dgm:presLayoutVars>
          <dgm:animLvl val="lvl"/>
          <dgm:resizeHandles val="exact"/>
        </dgm:presLayoutVars>
      </dgm:prSet>
      <dgm:spPr/>
    </dgm:pt>
    <dgm:pt modelId="{09741ACD-A044-4361-9F47-6BE6C4B94395}" type="pres">
      <dgm:prSet presAssocID="{C92E0189-1BD7-4BDB-B16B-BD336E563E26}" presName="parentText" presStyleLbl="node1" presStyleIdx="0" presStyleCnt="3">
        <dgm:presLayoutVars>
          <dgm:chMax val="0"/>
          <dgm:bulletEnabled val="1"/>
        </dgm:presLayoutVars>
      </dgm:prSet>
      <dgm:spPr/>
    </dgm:pt>
    <dgm:pt modelId="{D5A07CEE-60B3-48D7-8547-D19FB8AA9900}" type="pres">
      <dgm:prSet presAssocID="{07B073C3-2B86-4200-BEB6-AC23EE9304A7}" presName="spacer" presStyleCnt="0"/>
      <dgm:spPr/>
    </dgm:pt>
    <dgm:pt modelId="{C0A4B98A-3663-4454-96E7-7AE9A8F87572}" type="pres">
      <dgm:prSet presAssocID="{C8B3365C-F71C-4CF0-8BC7-44A922AAC4AF}" presName="parentText" presStyleLbl="node1" presStyleIdx="1" presStyleCnt="3">
        <dgm:presLayoutVars>
          <dgm:chMax val="0"/>
          <dgm:bulletEnabled val="1"/>
        </dgm:presLayoutVars>
      </dgm:prSet>
      <dgm:spPr/>
    </dgm:pt>
    <dgm:pt modelId="{31D94206-C67B-4B77-A8AE-BED69F3C9D2F}" type="pres">
      <dgm:prSet presAssocID="{BB5EBB1B-9164-4D07-87DA-117983365C61}" presName="spacer" presStyleCnt="0"/>
      <dgm:spPr/>
    </dgm:pt>
    <dgm:pt modelId="{E45F1001-773D-44AE-B40F-DFEFA60E97F8}" type="pres">
      <dgm:prSet presAssocID="{FCD9ED6D-0E90-4DB8-A47F-577C153F76E4}" presName="parentText" presStyleLbl="node1" presStyleIdx="2" presStyleCnt="3">
        <dgm:presLayoutVars>
          <dgm:chMax val="0"/>
          <dgm:bulletEnabled val="1"/>
        </dgm:presLayoutVars>
      </dgm:prSet>
      <dgm:spPr/>
    </dgm:pt>
  </dgm:ptLst>
  <dgm:cxnLst>
    <dgm:cxn modelId="{AF6DF515-7817-43AC-9424-4ABC9B56BCA1}" type="presOf" srcId="{C92E0189-1BD7-4BDB-B16B-BD336E563E26}" destId="{09741ACD-A044-4361-9F47-6BE6C4B94395}" srcOrd="0" destOrd="0" presId="urn:microsoft.com/office/officeart/2005/8/layout/vList2"/>
    <dgm:cxn modelId="{619F111E-DD1A-4DC9-99C8-7F3F1CD0E28A}" type="presOf" srcId="{C8B3365C-F71C-4CF0-8BC7-44A922AAC4AF}" destId="{C0A4B98A-3663-4454-96E7-7AE9A8F87572}" srcOrd="0" destOrd="0" presId="urn:microsoft.com/office/officeart/2005/8/layout/vList2"/>
    <dgm:cxn modelId="{5FBF7828-865B-40D1-945B-6C6BF6EE5856}" srcId="{B28659E7-E791-4A0C-8604-3BC9CE6AA088}" destId="{C8B3365C-F71C-4CF0-8BC7-44A922AAC4AF}" srcOrd="1" destOrd="0" parTransId="{FAA6C423-9447-4E3F-A12B-9190DEBAA934}" sibTransId="{BB5EBB1B-9164-4D07-87DA-117983365C61}"/>
    <dgm:cxn modelId="{2374D041-AA39-4723-8F12-3244055B340C}" srcId="{B28659E7-E791-4A0C-8604-3BC9CE6AA088}" destId="{FCD9ED6D-0E90-4DB8-A47F-577C153F76E4}" srcOrd="2" destOrd="0" parTransId="{AE1A7D31-6479-4C5D-B58C-D2F339543886}" sibTransId="{1173C7FB-F58E-46B9-8D9D-C41D009D4899}"/>
    <dgm:cxn modelId="{D43CCD68-F7E6-4E0C-81E2-EE0150A0275F}" srcId="{B28659E7-E791-4A0C-8604-3BC9CE6AA088}" destId="{C92E0189-1BD7-4BDB-B16B-BD336E563E26}" srcOrd="0" destOrd="0" parTransId="{C434DB4C-C5BD-48D9-8210-99534C0CD6C3}" sibTransId="{07B073C3-2B86-4200-BEB6-AC23EE9304A7}"/>
    <dgm:cxn modelId="{E5DD1783-91AF-4F2D-B7B6-1957F3674C2E}" type="presOf" srcId="{FCD9ED6D-0E90-4DB8-A47F-577C153F76E4}" destId="{E45F1001-773D-44AE-B40F-DFEFA60E97F8}" srcOrd="0" destOrd="0" presId="urn:microsoft.com/office/officeart/2005/8/layout/vList2"/>
    <dgm:cxn modelId="{7431B2B4-EA0B-47F0-BE4F-7213BE63238D}" type="presOf" srcId="{B28659E7-E791-4A0C-8604-3BC9CE6AA088}" destId="{0E8DCA6F-508E-44AA-B07D-5DF576342225}" srcOrd="0" destOrd="0" presId="urn:microsoft.com/office/officeart/2005/8/layout/vList2"/>
    <dgm:cxn modelId="{F27FCA82-5383-4E83-A9EE-0C7CE83D45E9}" type="presParOf" srcId="{0E8DCA6F-508E-44AA-B07D-5DF576342225}" destId="{09741ACD-A044-4361-9F47-6BE6C4B94395}" srcOrd="0" destOrd="0" presId="urn:microsoft.com/office/officeart/2005/8/layout/vList2"/>
    <dgm:cxn modelId="{FC1A8F50-D37B-428E-9571-7CED1ED8FE0A}" type="presParOf" srcId="{0E8DCA6F-508E-44AA-B07D-5DF576342225}" destId="{D5A07CEE-60B3-48D7-8547-D19FB8AA9900}" srcOrd="1" destOrd="0" presId="urn:microsoft.com/office/officeart/2005/8/layout/vList2"/>
    <dgm:cxn modelId="{F1DCE31F-D1B4-4544-B58F-742BB4ECFE1D}" type="presParOf" srcId="{0E8DCA6F-508E-44AA-B07D-5DF576342225}" destId="{C0A4B98A-3663-4454-96E7-7AE9A8F87572}" srcOrd="2" destOrd="0" presId="urn:microsoft.com/office/officeart/2005/8/layout/vList2"/>
    <dgm:cxn modelId="{153586CB-5582-4803-B278-501C0387FC8E}" type="presParOf" srcId="{0E8DCA6F-508E-44AA-B07D-5DF576342225}" destId="{31D94206-C67B-4B77-A8AE-BED69F3C9D2F}" srcOrd="3" destOrd="0" presId="urn:microsoft.com/office/officeart/2005/8/layout/vList2"/>
    <dgm:cxn modelId="{FD9011E2-56F3-4BAB-B16A-B325FE6C8535}" type="presParOf" srcId="{0E8DCA6F-508E-44AA-B07D-5DF576342225}" destId="{E45F1001-773D-44AE-B40F-DFEFA60E97F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118D18-E840-476A-B3C4-569CFF401AF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79DB917E-A152-4060-ACE1-4AED8D232884}">
      <dgm:prSet/>
      <dgm:spPr/>
      <dgm:t>
        <a:bodyPr/>
        <a:lstStyle/>
        <a:p>
          <a:r>
            <a:rPr lang="en-US" baseline="0"/>
            <a:t>Poor or slow seed germination, especially in warm-season crops such as tomato, pepper, cucumber, okra, and beans.</a:t>
          </a:r>
          <a:endParaRPr lang="en-GB"/>
        </a:p>
      </dgm:t>
    </dgm:pt>
    <dgm:pt modelId="{3EFE886F-0D5F-428E-AB63-2D8D3BBF0E4F}" type="parTrans" cxnId="{2CEED793-1EF8-467E-8759-51E01E7EEEF1}">
      <dgm:prSet/>
      <dgm:spPr/>
      <dgm:t>
        <a:bodyPr/>
        <a:lstStyle/>
        <a:p>
          <a:endParaRPr lang="en-GB"/>
        </a:p>
      </dgm:t>
    </dgm:pt>
    <dgm:pt modelId="{314F0FA7-A7B3-4E9F-8352-8EE42D87822C}" type="sibTrans" cxnId="{2CEED793-1EF8-467E-8759-51E01E7EEEF1}">
      <dgm:prSet/>
      <dgm:spPr/>
      <dgm:t>
        <a:bodyPr/>
        <a:lstStyle/>
        <a:p>
          <a:endParaRPr lang="en-GB"/>
        </a:p>
      </dgm:t>
    </dgm:pt>
    <dgm:pt modelId="{F5638053-F7E3-4B2A-A517-4F842C2BEFF5}">
      <dgm:prSet/>
      <dgm:spPr/>
      <dgm:t>
        <a:bodyPr/>
        <a:lstStyle/>
        <a:p>
          <a:r>
            <a:rPr lang="en-US" baseline="0"/>
            <a:t>Frost injury, which causes water in plant tissues to freeze and damage cells.</a:t>
          </a:r>
          <a:endParaRPr lang="en-GB"/>
        </a:p>
      </dgm:t>
    </dgm:pt>
    <dgm:pt modelId="{95A5C1AD-84EE-4A35-BF6F-2560FE4C7772}" type="parTrans" cxnId="{872A3423-5883-4EE9-B7B3-A922F6D40DE9}">
      <dgm:prSet/>
      <dgm:spPr/>
      <dgm:t>
        <a:bodyPr/>
        <a:lstStyle/>
        <a:p>
          <a:endParaRPr lang="en-GB"/>
        </a:p>
      </dgm:t>
    </dgm:pt>
    <dgm:pt modelId="{A6AD6DE3-DB93-4205-8FD1-2002F929D999}" type="sibTrans" cxnId="{872A3423-5883-4EE9-B7B3-A922F6D40DE9}">
      <dgm:prSet/>
      <dgm:spPr/>
      <dgm:t>
        <a:bodyPr/>
        <a:lstStyle/>
        <a:p>
          <a:endParaRPr lang="en-GB"/>
        </a:p>
      </dgm:t>
    </dgm:pt>
    <dgm:pt modelId="{EF672F9B-303E-40A1-BE8E-BB414E4088D9}">
      <dgm:prSet/>
      <dgm:spPr/>
      <dgm:t>
        <a:bodyPr/>
        <a:lstStyle/>
        <a:p>
          <a:r>
            <a:rPr lang="en-US" baseline="0"/>
            <a:t>Purple colouration or stunted growth in some crops due to poor nutrient uptake.</a:t>
          </a:r>
          <a:endParaRPr lang="en-GB"/>
        </a:p>
      </dgm:t>
    </dgm:pt>
    <dgm:pt modelId="{48693D88-67D5-45E9-A816-7E7AB0835C3A}" type="parTrans" cxnId="{3F07D80C-356B-45F6-998E-511D4ABFC05C}">
      <dgm:prSet/>
      <dgm:spPr/>
      <dgm:t>
        <a:bodyPr/>
        <a:lstStyle/>
        <a:p>
          <a:endParaRPr lang="en-GB"/>
        </a:p>
      </dgm:t>
    </dgm:pt>
    <dgm:pt modelId="{03FFCEF6-0D56-41F4-86D4-6AA60A934AE7}" type="sibTrans" cxnId="{3F07D80C-356B-45F6-998E-511D4ABFC05C}">
      <dgm:prSet/>
      <dgm:spPr/>
      <dgm:t>
        <a:bodyPr/>
        <a:lstStyle/>
        <a:p>
          <a:endParaRPr lang="en-GB"/>
        </a:p>
      </dgm:t>
    </dgm:pt>
    <dgm:pt modelId="{0D7D9CED-DAEF-4088-9BA2-3679813F0940}">
      <dgm:prSet/>
      <dgm:spPr/>
      <dgm:t>
        <a:bodyPr/>
        <a:lstStyle/>
        <a:p>
          <a:r>
            <a:rPr lang="en-US" baseline="0"/>
            <a:t>Delayed maturity and poor market timing.</a:t>
          </a:r>
          <a:endParaRPr lang="en-GB"/>
        </a:p>
      </dgm:t>
    </dgm:pt>
    <dgm:pt modelId="{F567A7D4-1D5F-488B-8E81-5556C887EEE5}" type="parTrans" cxnId="{F7DA3162-DCCA-459A-8E8B-29B153065DDE}">
      <dgm:prSet/>
      <dgm:spPr/>
      <dgm:t>
        <a:bodyPr/>
        <a:lstStyle/>
        <a:p>
          <a:endParaRPr lang="en-GB"/>
        </a:p>
      </dgm:t>
    </dgm:pt>
    <dgm:pt modelId="{E93FADCD-7E57-4548-9AA2-FEA56A116D3B}" type="sibTrans" cxnId="{F7DA3162-DCCA-459A-8E8B-29B153065DDE}">
      <dgm:prSet/>
      <dgm:spPr/>
      <dgm:t>
        <a:bodyPr/>
        <a:lstStyle/>
        <a:p>
          <a:endParaRPr lang="en-GB"/>
        </a:p>
      </dgm:t>
    </dgm:pt>
    <dgm:pt modelId="{C9F409F0-C243-4E93-A755-9F68C266A01D}">
      <dgm:prSet/>
      <dgm:spPr/>
      <dgm:t>
        <a:bodyPr/>
        <a:lstStyle/>
        <a:p>
          <a:r>
            <a:rPr lang="en-US" baseline="0"/>
            <a:t>Flower and fruit damage in sensitive crops.</a:t>
          </a:r>
          <a:endParaRPr lang="en-GB"/>
        </a:p>
      </dgm:t>
    </dgm:pt>
    <dgm:pt modelId="{E9473D6E-BDC8-4EA7-9BA7-54D6949A9F29}" type="parTrans" cxnId="{2AE1E603-91DE-454E-98EC-EE41DFD15E43}">
      <dgm:prSet/>
      <dgm:spPr/>
      <dgm:t>
        <a:bodyPr/>
        <a:lstStyle/>
        <a:p>
          <a:endParaRPr lang="en-GB"/>
        </a:p>
      </dgm:t>
    </dgm:pt>
    <dgm:pt modelId="{F23E792A-A65D-4F46-AD61-A07A4C537776}" type="sibTrans" cxnId="{2AE1E603-91DE-454E-98EC-EE41DFD15E43}">
      <dgm:prSet/>
      <dgm:spPr/>
      <dgm:t>
        <a:bodyPr/>
        <a:lstStyle/>
        <a:p>
          <a:endParaRPr lang="en-GB"/>
        </a:p>
      </dgm:t>
    </dgm:pt>
    <dgm:pt modelId="{F1027FE7-151F-4A3D-A3A7-A4A8A431586D}" type="pres">
      <dgm:prSet presAssocID="{49118D18-E840-476A-B3C4-569CFF401AFC}" presName="linear" presStyleCnt="0">
        <dgm:presLayoutVars>
          <dgm:animLvl val="lvl"/>
          <dgm:resizeHandles val="exact"/>
        </dgm:presLayoutVars>
      </dgm:prSet>
      <dgm:spPr/>
    </dgm:pt>
    <dgm:pt modelId="{C4B79B11-1E74-4403-A782-AA8ABB23A342}" type="pres">
      <dgm:prSet presAssocID="{79DB917E-A152-4060-ACE1-4AED8D232884}" presName="parentText" presStyleLbl="node1" presStyleIdx="0" presStyleCnt="5">
        <dgm:presLayoutVars>
          <dgm:chMax val="0"/>
          <dgm:bulletEnabled val="1"/>
        </dgm:presLayoutVars>
      </dgm:prSet>
      <dgm:spPr/>
    </dgm:pt>
    <dgm:pt modelId="{4972FAEA-202B-40B2-A69F-D8BBFEAE808B}" type="pres">
      <dgm:prSet presAssocID="{314F0FA7-A7B3-4E9F-8352-8EE42D87822C}" presName="spacer" presStyleCnt="0"/>
      <dgm:spPr/>
    </dgm:pt>
    <dgm:pt modelId="{498C97AC-4CF8-45B2-AB04-6B4798C11D6F}" type="pres">
      <dgm:prSet presAssocID="{F5638053-F7E3-4B2A-A517-4F842C2BEFF5}" presName="parentText" presStyleLbl="node1" presStyleIdx="1" presStyleCnt="5">
        <dgm:presLayoutVars>
          <dgm:chMax val="0"/>
          <dgm:bulletEnabled val="1"/>
        </dgm:presLayoutVars>
      </dgm:prSet>
      <dgm:spPr/>
    </dgm:pt>
    <dgm:pt modelId="{F974E885-660A-444E-B54D-CA40B5C41FD9}" type="pres">
      <dgm:prSet presAssocID="{A6AD6DE3-DB93-4205-8FD1-2002F929D999}" presName="spacer" presStyleCnt="0"/>
      <dgm:spPr/>
    </dgm:pt>
    <dgm:pt modelId="{66DBDEB0-FA5E-4044-B858-70F6B6FCF15D}" type="pres">
      <dgm:prSet presAssocID="{EF672F9B-303E-40A1-BE8E-BB414E4088D9}" presName="parentText" presStyleLbl="node1" presStyleIdx="2" presStyleCnt="5">
        <dgm:presLayoutVars>
          <dgm:chMax val="0"/>
          <dgm:bulletEnabled val="1"/>
        </dgm:presLayoutVars>
      </dgm:prSet>
      <dgm:spPr/>
    </dgm:pt>
    <dgm:pt modelId="{733CD6B5-1610-4CD8-A057-5F49DFE4270C}" type="pres">
      <dgm:prSet presAssocID="{03FFCEF6-0D56-41F4-86D4-6AA60A934AE7}" presName="spacer" presStyleCnt="0"/>
      <dgm:spPr/>
    </dgm:pt>
    <dgm:pt modelId="{78D6BC44-08ED-45A2-BE6A-D637D8E7471F}" type="pres">
      <dgm:prSet presAssocID="{0D7D9CED-DAEF-4088-9BA2-3679813F0940}" presName="parentText" presStyleLbl="node1" presStyleIdx="3" presStyleCnt="5">
        <dgm:presLayoutVars>
          <dgm:chMax val="0"/>
          <dgm:bulletEnabled val="1"/>
        </dgm:presLayoutVars>
      </dgm:prSet>
      <dgm:spPr/>
    </dgm:pt>
    <dgm:pt modelId="{B19A60B6-525D-4917-B7E5-16E4200C4DF6}" type="pres">
      <dgm:prSet presAssocID="{E93FADCD-7E57-4548-9AA2-FEA56A116D3B}" presName="spacer" presStyleCnt="0"/>
      <dgm:spPr/>
    </dgm:pt>
    <dgm:pt modelId="{B578E760-728E-4019-B82E-4F1795D8709E}" type="pres">
      <dgm:prSet presAssocID="{C9F409F0-C243-4E93-A755-9F68C266A01D}" presName="parentText" presStyleLbl="node1" presStyleIdx="4" presStyleCnt="5">
        <dgm:presLayoutVars>
          <dgm:chMax val="0"/>
          <dgm:bulletEnabled val="1"/>
        </dgm:presLayoutVars>
      </dgm:prSet>
      <dgm:spPr/>
    </dgm:pt>
  </dgm:ptLst>
  <dgm:cxnLst>
    <dgm:cxn modelId="{2AE1E603-91DE-454E-98EC-EE41DFD15E43}" srcId="{49118D18-E840-476A-B3C4-569CFF401AFC}" destId="{C9F409F0-C243-4E93-A755-9F68C266A01D}" srcOrd="4" destOrd="0" parTransId="{E9473D6E-BDC8-4EA7-9BA7-54D6949A9F29}" sibTransId="{F23E792A-A65D-4F46-AD61-A07A4C537776}"/>
    <dgm:cxn modelId="{3F07D80C-356B-45F6-998E-511D4ABFC05C}" srcId="{49118D18-E840-476A-B3C4-569CFF401AFC}" destId="{EF672F9B-303E-40A1-BE8E-BB414E4088D9}" srcOrd="2" destOrd="0" parTransId="{48693D88-67D5-45E9-A816-7E7AB0835C3A}" sibTransId="{03FFCEF6-0D56-41F4-86D4-6AA60A934AE7}"/>
    <dgm:cxn modelId="{BA7B340F-D0E5-40F6-AF49-FB319ECC4D13}" type="presOf" srcId="{C9F409F0-C243-4E93-A755-9F68C266A01D}" destId="{B578E760-728E-4019-B82E-4F1795D8709E}" srcOrd="0" destOrd="0" presId="urn:microsoft.com/office/officeart/2005/8/layout/vList2"/>
    <dgm:cxn modelId="{872A3423-5883-4EE9-B7B3-A922F6D40DE9}" srcId="{49118D18-E840-476A-B3C4-569CFF401AFC}" destId="{F5638053-F7E3-4B2A-A517-4F842C2BEFF5}" srcOrd="1" destOrd="0" parTransId="{95A5C1AD-84EE-4A35-BF6F-2560FE4C7772}" sibTransId="{A6AD6DE3-DB93-4205-8FD1-2002F929D999}"/>
    <dgm:cxn modelId="{34F05840-2A42-43CF-9010-579B60312DA9}" type="presOf" srcId="{EF672F9B-303E-40A1-BE8E-BB414E4088D9}" destId="{66DBDEB0-FA5E-4044-B858-70F6B6FCF15D}" srcOrd="0" destOrd="0" presId="urn:microsoft.com/office/officeart/2005/8/layout/vList2"/>
    <dgm:cxn modelId="{F7DA3162-DCCA-459A-8E8B-29B153065DDE}" srcId="{49118D18-E840-476A-B3C4-569CFF401AFC}" destId="{0D7D9CED-DAEF-4088-9BA2-3679813F0940}" srcOrd="3" destOrd="0" parTransId="{F567A7D4-1D5F-488B-8E81-5556C887EEE5}" sibTransId="{E93FADCD-7E57-4548-9AA2-FEA56A116D3B}"/>
    <dgm:cxn modelId="{B9318576-6DD8-42CE-BDE1-628A3BEBBEC5}" type="presOf" srcId="{79DB917E-A152-4060-ACE1-4AED8D232884}" destId="{C4B79B11-1E74-4403-A782-AA8ABB23A342}" srcOrd="0" destOrd="0" presId="urn:microsoft.com/office/officeart/2005/8/layout/vList2"/>
    <dgm:cxn modelId="{8DD19C56-BAA9-4C19-A69D-5AACDB07EE3C}" type="presOf" srcId="{F5638053-F7E3-4B2A-A517-4F842C2BEFF5}" destId="{498C97AC-4CF8-45B2-AB04-6B4798C11D6F}" srcOrd="0" destOrd="0" presId="urn:microsoft.com/office/officeart/2005/8/layout/vList2"/>
    <dgm:cxn modelId="{2CEED793-1EF8-467E-8759-51E01E7EEEF1}" srcId="{49118D18-E840-476A-B3C4-569CFF401AFC}" destId="{79DB917E-A152-4060-ACE1-4AED8D232884}" srcOrd="0" destOrd="0" parTransId="{3EFE886F-0D5F-428E-AB63-2D8D3BBF0E4F}" sibTransId="{314F0FA7-A7B3-4E9F-8352-8EE42D87822C}"/>
    <dgm:cxn modelId="{248265D8-4278-440E-B073-95FABCA7B09E}" type="presOf" srcId="{49118D18-E840-476A-B3C4-569CFF401AFC}" destId="{F1027FE7-151F-4A3D-A3A7-A4A8A431586D}" srcOrd="0" destOrd="0" presId="urn:microsoft.com/office/officeart/2005/8/layout/vList2"/>
    <dgm:cxn modelId="{B68C88F4-7006-4E03-8619-4BEAA0C8DE28}" type="presOf" srcId="{0D7D9CED-DAEF-4088-9BA2-3679813F0940}" destId="{78D6BC44-08ED-45A2-BE6A-D637D8E7471F}" srcOrd="0" destOrd="0" presId="urn:microsoft.com/office/officeart/2005/8/layout/vList2"/>
    <dgm:cxn modelId="{4336B9A4-F5A6-4EBC-ADE0-6B2615EB84C7}" type="presParOf" srcId="{F1027FE7-151F-4A3D-A3A7-A4A8A431586D}" destId="{C4B79B11-1E74-4403-A782-AA8ABB23A342}" srcOrd="0" destOrd="0" presId="urn:microsoft.com/office/officeart/2005/8/layout/vList2"/>
    <dgm:cxn modelId="{94874348-56D8-4E00-96B3-3DC62C82773F}" type="presParOf" srcId="{F1027FE7-151F-4A3D-A3A7-A4A8A431586D}" destId="{4972FAEA-202B-40B2-A69F-D8BBFEAE808B}" srcOrd="1" destOrd="0" presId="urn:microsoft.com/office/officeart/2005/8/layout/vList2"/>
    <dgm:cxn modelId="{50F5EF5C-D264-44BB-913C-04434D01060A}" type="presParOf" srcId="{F1027FE7-151F-4A3D-A3A7-A4A8A431586D}" destId="{498C97AC-4CF8-45B2-AB04-6B4798C11D6F}" srcOrd="2" destOrd="0" presId="urn:microsoft.com/office/officeart/2005/8/layout/vList2"/>
    <dgm:cxn modelId="{345B83F1-7AD2-42F0-9EEF-05B22E394B3B}" type="presParOf" srcId="{F1027FE7-151F-4A3D-A3A7-A4A8A431586D}" destId="{F974E885-660A-444E-B54D-CA40B5C41FD9}" srcOrd="3" destOrd="0" presId="urn:microsoft.com/office/officeart/2005/8/layout/vList2"/>
    <dgm:cxn modelId="{45EB6A78-E4F2-49B2-8022-437514F02F14}" type="presParOf" srcId="{F1027FE7-151F-4A3D-A3A7-A4A8A431586D}" destId="{66DBDEB0-FA5E-4044-B858-70F6B6FCF15D}" srcOrd="4" destOrd="0" presId="urn:microsoft.com/office/officeart/2005/8/layout/vList2"/>
    <dgm:cxn modelId="{D9450AF2-7EE6-4A6F-8F11-3F9133C3BC8F}" type="presParOf" srcId="{F1027FE7-151F-4A3D-A3A7-A4A8A431586D}" destId="{733CD6B5-1610-4CD8-A057-5F49DFE4270C}" srcOrd="5" destOrd="0" presId="urn:microsoft.com/office/officeart/2005/8/layout/vList2"/>
    <dgm:cxn modelId="{D2B984C3-E754-4FE8-B0FF-1BC5AF35623B}" type="presParOf" srcId="{F1027FE7-151F-4A3D-A3A7-A4A8A431586D}" destId="{78D6BC44-08ED-45A2-BE6A-D637D8E7471F}" srcOrd="6" destOrd="0" presId="urn:microsoft.com/office/officeart/2005/8/layout/vList2"/>
    <dgm:cxn modelId="{92F1FA56-F39A-449E-B80A-0ACB651ED1C1}" type="presParOf" srcId="{F1027FE7-151F-4A3D-A3A7-A4A8A431586D}" destId="{B19A60B6-525D-4917-B7E5-16E4200C4DF6}" srcOrd="7" destOrd="0" presId="urn:microsoft.com/office/officeart/2005/8/layout/vList2"/>
    <dgm:cxn modelId="{133AC72A-01BF-4678-A9B0-B0AC935F0A30}" type="presParOf" srcId="{F1027FE7-151F-4A3D-A3A7-A4A8A431586D}" destId="{B578E760-728E-4019-B82E-4F1795D8709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F81340-F2FF-433D-911D-43F9FA495E9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CD65B601-01F1-49C8-9AC8-5C9659E7984B}">
      <dgm:prSet/>
      <dgm:spPr/>
      <dgm:t>
        <a:bodyPr/>
        <a:lstStyle/>
        <a:p>
          <a:r>
            <a:rPr lang="en-US" baseline="0"/>
            <a:t>Excessive transpiration and wilting, especially when soil moisture is low.</a:t>
          </a:r>
          <a:endParaRPr lang="en-GB"/>
        </a:p>
      </dgm:t>
    </dgm:pt>
    <dgm:pt modelId="{094A3E3E-0F7D-4F04-8609-96C1139CCAE9}" type="parTrans" cxnId="{7FE6EA7E-E658-4DA0-B73B-F7786307CB53}">
      <dgm:prSet/>
      <dgm:spPr/>
      <dgm:t>
        <a:bodyPr/>
        <a:lstStyle/>
        <a:p>
          <a:endParaRPr lang="en-GB"/>
        </a:p>
      </dgm:t>
    </dgm:pt>
    <dgm:pt modelId="{70881528-73C7-448E-9C9A-EB2A8FC162BF}" type="sibTrans" cxnId="{7FE6EA7E-E658-4DA0-B73B-F7786307CB53}">
      <dgm:prSet/>
      <dgm:spPr/>
      <dgm:t>
        <a:bodyPr/>
        <a:lstStyle/>
        <a:p>
          <a:endParaRPr lang="en-GB"/>
        </a:p>
      </dgm:t>
    </dgm:pt>
    <dgm:pt modelId="{D8F34460-211E-42A3-AEC1-AE9A87D3696E}">
      <dgm:prSet/>
      <dgm:spPr/>
      <dgm:t>
        <a:bodyPr/>
        <a:lstStyle/>
        <a:p>
          <a:r>
            <a:rPr lang="en-US" baseline="0" dirty="0"/>
            <a:t>Poor pollination and flower drop in tomatoes, peppers, beans, and cucurbits.</a:t>
          </a:r>
          <a:endParaRPr lang="en-GB" dirty="0"/>
        </a:p>
      </dgm:t>
    </dgm:pt>
    <dgm:pt modelId="{92F0D848-DCD7-427D-B170-59D95DB85473}" type="parTrans" cxnId="{3F863E36-7DF5-46EC-8C84-60C9D050A9D9}">
      <dgm:prSet/>
      <dgm:spPr/>
      <dgm:t>
        <a:bodyPr/>
        <a:lstStyle/>
        <a:p>
          <a:endParaRPr lang="en-GB"/>
        </a:p>
      </dgm:t>
    </dgm:pt>
    <dgm:pt modelId="{C9090ABF-18B4-4C66-A9E0-73C28CC2C083}" type="sibTrans" cxnId="{3F863E36-7DF5-46EC-8C84-60C9D050A9D9}">
      <dgm:prSet/>
      <dgm:spPr/>
      <dgm:t>
        <a:bodyPr/>
        <a:lstStyle/>
        <a:p>
          <a:endParaRPr lang="en-GB"/>
        </a:p>
      </dgm:t>
    </dgm:pt>
    <dgm:pt modelId="{1CC669FA-F4A1-4D56-A819-AC8AB49C5C73}">
      <dgm:prSet/>
      <dgm:spPr/>
      <dgm:t>
        <a:bodyPr/>
        <a:lstStyle/>
        <a:p>
          <a:r>
            <a:rPr lang="en-US" baseline="0" dirty="0"/>
            <a:t>Sunscald on fruits such as tomatoes and peppers.</a:t>
          </a:r>
          <a:endParaRPr lang="en-GB" dirty="0"/>
        </a:p>
      </dgm:t>
    </dgm:pt>
    <dgm:pt modelId="{C6E50F90-BE5F-429C-9916-B7E21DD34C6E}" type="parTrans" cxnId="{60B8078C-1E4F-4B42-BF5B-1F841E5B06EF}">
      <dgm:prSet/>
      <dgm:spPr/>
      <dgm:t>
        <a:bodyPr/>
        <a:lstStyle/>
        <a:p>
          <a:endParaRPr lang="en-GB"/>
        </a:p>
      </dgm:t>
    </dgm:pt>
    <dgm:pt modelId="{AC9F25A6-DF11-4307-9727-9C90946F91DF}" type="sibTrans" cxnId="{60B8078C-1E4F-4B42-BF5B-1F841E5B06EF}">
      <dgm:prSet/>
      <dgm:spPr/>
      <dgm:t>
        <a:bodyPr/>
        <a:lstStyle/>
        <a:p>
          <a:endParaRPr lang="en-GB"/>
        </a:p>
      </dgm:t>
    </dgm:pt>
    <dgm:pt modelId="{0AB67B09-C0A7-4B39-B927-40C8CDFA085A}">
      <dgm:prSet/>
      <dgm:spPr/>
      <dgm:t>
        <a:bodyPr/>
        <a:lstStyle/>
        <a:p>
          <a:r>
            <a:rPr lang="en-US" baseline="0" dirty="0"/>
            <a:t>Bitter taste and early bolting in lettuce and other leafy vegetables.</a:t>
          </a:r>
          <a:endParaRPr lang="en-GB" dirty="0"/>
        </a:p>
      </dgm:t>
    </dgm:pt>
    <dgm:pt modelId="{D6B6CB07-A19F-49DE-BB8D-805E162B864D}" type="parTrans" cxnId="{437423FE-2B12-439D-8F94-83F63E0FB637}">
      <dgm:prSet/>
      <dgm:spPr/>
      <dgm:t>
        <a:bodyPr/>
        <a:lstStyle/>
        <a:p>
          <a:endParaRPr lang="en-GB"/>
        </a:p>
      </dgm:t>
    </dgm:pt>
    <dgm:pt modelId="{65C1EE7C-6473-4AEB-9C79-39498AD035EC}" type="sibTrans" cxnId="{437423FE-2B12-439D-8F94-83F63E0FB637}">
      <dgm:prSet/>
      <dgm:spPr/>
      <dgm:t>
        <a:bodyPr/>
        <a:lstStyle/>
        <a:p>
          <a:endParaRPr lang="en-GB"/>
        </a:p>
      </dgm:t>
    </dgm:pt>
    <dgm:pt modelId="{775A451D-40E6-48CB-A612-B439835CFDE4}">
      <dgm:prSet/>
      <dgm:spPr/>
      <dgm:t>
        <a:bodyPr/>
        <a:lstStyle/>
        <a:p>
          <a:r>
            <a:rPr lang="en-US" baseline="0" dirty="0"/>
            <a:t>Poor curd or head formation in cauliflower, cabbage, and broccoli.</a:t>
          </a:r>
          <a:endParaRPr lang="en-GB" dirty="0"/>
        </a:p>
      </dgm:t>
    </dgm:pt>
    <dgm:pt modelId="{E73E4122-5C5D-4FE4-AAA6-0A55B0978C76}" type="parTrans" cxnId="{7EE99637-DC9C-4F49-820D-2FA8E3BDDF9D}">
      <dgm:prSet/>
      <dgm:spPr/>
      <dgm:t>
        <a:bodyPr/>
        <a:lstStyle/>
        <a:p>
          <a:endParaRPr lang="en-GB"/>
        </a:p>
      </dgm:t>
    </dgm:pt>
    <dgm:pt modelId="{BDD5996D-E4E9-4506-A88E-6162162549B9}" type="sibTrans" cxnId="{7EE99637-DC9C-4F49-820D-2FA8E3BDDF9D}">
      <dgm:prSet/>
      <dgm:spPr/>
      <dgm:t>
        <a:bodyPr/>
        <a:lstStyle/>
        <a:p>
          <a:endParaRPr lang="en-GB"/>
        </a:p>
      </dgm:t>
    </dgm:pt>
    <dgm:pt modelId="{72868046-EFF6-4CA7-99BF-E1D80B6C14DC}">
      <dgm:prSet/>
      <dgm:spPr/>
      <dgm:t>
        <a:bodyPr/>
        <a:lstStyle/>
        <a:p>
          <a:r>
            <a:rPr lang="en-US" baseline="0"/>
            <a:t>Fast maturity but reduced size and poor quality.</a:t>
          </a:r>
          <a:endParaRPr lang="en-GB"/>
        </a:p>
      </dgm:t>
    </dgm:pt>
    <dgm:pt modelId="{57C754BB-8CB9-4DB8-9D1D-34BB06A37C04}" type="parTrans" cxnId="{D5D851E2-37C2-4E75-ACB7-D8A617C51DFB}">
      <dgm:prSet/>
      <dgm:spPr/>
      <dgm:t>
        <a:bodyPr/>
        <a:lstStyle/>
        <a:p>
          <a:endParaRPr lang="en-GB"/>
        </a:p>
      </dgm:t>
    </dgm:pt>
    <dgm:pt modelId="{E28B011A-E65C-479C-B976-59C273C145C2}" type="sibTrans" cxnId="{D5D851E2-37C2-4E75-ACB7-D8A617C51DFB}">
      <dgm:prSet/>
      <dgm:spPr/>
      <dgm:t>
        <a:bodyPr/>
        <a:lstStyle/>
        <a:p>
          <a:endParaRPr lang="en-GB"/>
        </a:p>
      </dgm:t>
    </dgm:pt>
    <dgm:pt modelId="{06ECF2F1-EF7A-49C6-B149-3CA4D67DF476}" type="pres">
      <dgm:prSet presAssocID="{51F81340-F2FF-433D-911D-43F9FA495E97}" presName="linear" presStyleCnt="0">
        <dgm:presLayoutVars>
          <dgm:animLvl val="lvl"/>
          <dgm:resizeHandles val="exact"/>
        </dgm:presLayoutVars>
      </dgm:prSet>
      <dgm:spPr/>
    </dgm:pt>
    <dgm:pt modelId="{67F643D2-78DB-43AC-82E8-6E02BDCAB5AE}" type="pres">
      <dgm:prSet presAssocID="{CD65B601-01F1-49C8-9AC8-5C9659E7984B}" presName="parentText" presStyleLbl="node1" presStyleIdx="0" presStyleCnt="6" custScaleY="166888">
        <dgm:presLayoutVars>
          <dgm:chMax val="0"/>
          <dgm:bulletEnabled val="1"/>
        </dgm:presLayoutVars>
      </dgm:prSet>
      <dgm:spPr/>
    </dgm:pt>
    <dgm:pt modelId="{26BBC9C5-22E9-44FE-AC94-7B444AD93196}" type="pres">
      <dgm:prSet presAssocID="{70881528-73C7-448E-9C9A-EB2A8FC162BF}" presName="spacer" presStyleCnt="0"/>
      <dgm:spPr/>
    </dgm:pt>
    <dgm:pt modelId="{354BD729-EBB6-4591-BC6E-A640C0FFBB85}" type="pres">
      <dgm:prSet presAssocID="{D8F34460-211E-42A3-AEC1-AE9A87D3696E}" presName="parentText" presStyleLbl="node1" presStyleIdx="1" presStyleCnt="6" custScaleY="129287">
        <dgm:presLayoutVars>
          <dgm:chMax val="0"/>
          <dgm:bulletEnabled val="1"/>
        </dgm:presLayoutVars>
      </dgm:prSet>
      <dgm:spPr/>
    </dgm:pt>
    <dgm:pt modelId="{A16B7E9D-71A4-418C-B600-532C8681D606}" type="pres">
      <dgm:prSet presAssocID="{C9090ABF-18B4-4C66-A9E0-73C28CC2C083}" presName="spacer" presStyleCnt="0"/>
      <dgm:spPr/>
    </dgm:pt>
    <dgm:pt modelId="{202D3B3E-E133-440A-B7A2-0148F75A8DC6}" type="pres">
      <dgm:prSet presAssocID="{1CC669FA-F4A1-4D56-A819-AC8AB49C5C73}" presName="parentText" presStyleLbl="node1" presStyleIdx="2" presStyleCnt="6" custScaleY="149177">
        <dgm:presLayoutVars>
          <dgm:chMax val="0"/>
          <dgm:bulletEnabled val="1"/>
        </dgm:presLayoutVars>
      </dgm:prSet>
      <dgm:spPr/>
    </dgm:pt>
    <dgm:pt modelId="{2EDBCE84-DE26-4D5B-8E0E-1DBD328A0D53}" type="pres">
      <dgm:prSet presAssocID="{AC9F25A6-DF11-4307-9727-9C90946F91DF}" presName="spacer" presStyleCnt="0"/>
      <dgm:spPr/>
    </dgm:pt>
    <dgm:pt modelId="{1B1CFE2B-B7EC-4240-8E4B-E0EE8EC4B1F6}" type="pres">
      <dgm:prSet presAssocID="{0AB67B09-C0A7-4B39-B927-40C8CDFA085A}" presName="parentText" presStyleLbl="node1" presStyleIdx="3" presStyleCnt="6" custScaleY="152514">
        <dgm:presLayoutVars>
          <dgm:chMax val="0"/>
          <dgm:bulletEnabled val="1"/>
        </dgm:presLayoutVars>
      </dgm:prSet>
      <dgm:spPr/>
    </dgm:pt>
    <dgm:pt modelId="{93DF6992-746A-477F-B82A-476C64049FB5}" type="pres">
      <dgm:prSet presAssocID="{65C1EE7C-6473-4AEB-9C79-39498AD035EC}" presName="spacer" presStyleCnt="0"/>
      <dgm:spPr/>
    </dgm:pt>
    <dgm:pt modelId="{9FD8AD60-8983-4FF6-9837-DDEB2B67B1D9}" type="pres">
      <dgm:prSet presAssocID="{775A451D-40E6-48CB-A612-B439835CFDE4}" presName="parentText" presStyleLbl="node1" presStyleIdx="4" presStyleCnt="6" custScaleY="141305">
        <dgm:presLayoutVars>
          <dgm:chMax val="0"/>
          <dgm:bulletEnabled val="1"/>
        </dgm:presLayoutVars>
      </dgm:prSet>
      <dgm:spPr/>
    </dgm:pt>
    <dgm:pt modelId="{9E7C6771-E5DF-4671-A9B9-C0C22986769D}" type="pres">
      <dgm:prSet presAssocID="{BDD5996D-E4E9-4506-A88E-6162162549B9}" presName="spacer" presStyleCnt="0"/>
      <dgm:spPr/>
    </dgm:pt>
    <dgm:pt modelId="{7ADEE2E9-4B65-4E14-8018-4A3CC7FFF522}" type="pres">
      <dgm:prSet presAssocID="{72868046-EFF6-4CA7-99BF-E1D80B6C14DC}" presName="parentText" presStyleLbl="node1" presStyleIdx="5" presStyleCnt="6" custScaleY="164568">
        <dgm:presLayoutVars>
          <dgm:chMax val="0"/>
          <dgm:bulletEnabled val="1"/>
        </dgm:presLayoutVars>
      </dgm:prSet>
      <dgm:spPr/>
    </dgm:pt>
  </dgm:ptLst>
  <dgm:cxnLst>
    <dgm:cxn modelId="{3F863E36-7DF5-46EC-8C84-60C9D050A9D9}" srcId="{51F81340-F2FF-433D-911D-43F9FA495E97}" destId="{D8F34460-211E-42A3-AEC1-AE9A87D3696E}" srcOrd="1" destOrd="0" parTransId="{92F0D848-DCD7-427D-B170-59D95DB85473}" sibTransId="{C9090ABF-18B4-4C66-A9E0-73C28CC2C083}"/>
    <dgm:cxn modelId="{7EE99637-DC9C-4F49-820D-2FA8E3BDDF9D}" srcId="{51F81340-F2FF-433D-911D-43F9FA495E97}" destId="{775A451D-40E6-48CB-A612-B439835CFDE4}" srcOrd="4" destOrd="0" parTransId="{E73E4122-5C5D-4FE4-AAA6-0A55B0978C76}" sibTransId="{BDD5996D-E4E9-4506-A88E-6162162549B9}"/>
    <dgm:cxn modelId="{1F993E44-CDDF-48D1-8A41-F36B7E73A768}" type="presOf" srcId="{CD65B601-01F1-49C8-9AC8-5C9659E7984B}" destId="{67F643D2-78DB-43AC-82E8-6E02BDCAB5AE}" srcOrd="0" destOrd="0" presId="urn:microsoft.com/office/officeart/2005/8/layout/vList2"/>
    <dgm:cxn modelId="{D5EBEC65-04ED-45A2-A3BE-5950BFBB2766}" type="presOf" srcId="{775A451D-40E6-48CB-A612-B439835CFDE4}" destId="{9FD8AD60-8983-4FF6-9837-DDEB2B67B1D9}" srcOrd="0" destOrd="0" presId="urn:microsoft.com/office/officeart/2005/8/layout/vList2"/>
    <dgm:cxn modelId="{FF36497C-3A82-4311-9D49-A6BC3513DAAF}" type="presOf" srcId="{0AB67B09-C0A7-4B39-B927-40C8CDFA085A}" destId="{1B1CFE2B-B7EC-4240-8E4B-E0EE8EC4B1F6}" srcOrd="0" destOrd="0" presId="urn:microsoft.com/office/officeart/2005/8/layout/vList2"/>
    <dgm:cxn modelId="{7FE6EA7E-E658-4DA0-B73B-F7786307CB53}" srcId="{51F81340-F2FF-433D-911D-43F9FA495E97}" destId="{CD65B601-01F1-49C8-9AC8-5C9659E7984B}" srcOrd="0" destOrd="0" parTransId="{094A3E3E-0F7D-4F04-8609-96C1139CCAE9}" sibTransId="{70881528-73C7-448E-9C9A-EB2A8FC162BF}"/>
    <dgm:cxn modelId="{7464AD89-B874-4CD6-8F36-06990BCAD3B5}" type="presOf" srcId="{D8F34460-211E-42A3-AEC1-AE9A87D3696E}" destId="{354BD729-EBB6-4591-BC6E-A640C0FFBB85}" srcOrd="0" destOrd="0" presId="urn:microsoft.com/office/officeart/2005/8/layout/vList2"/>
    <dgm:cxn modelId="{60B8078C-1E4F-4B42-BF5B-1F841E5B06EF}" srcId="{51F81340-F2FF-433D-911D-43F9FA495E97}" destId="{1CC669FA-F4A1-4D56-A819-AC8AB49C5C73}" srcOrd="2" destOrd="0" parTransId="{C6E50F90-BE5F-429C-9916-B7E21DD34C6E}" sibTransId="{AC9F25A6-DF11-4307-9727-9C90946F91DF}"/>
    <dgm:cxn modelId="{3CD564CF-2A2B-408A-9A6B-3CAE504FB94D}" type="presOf" srcId="{72868046-EFF6-4CA7-99BF-E1D80B6C14DC}" destId="{7ADEE2E9-4B65-4E14-8018-4A3CC7FFF522}" srcOrd="0" destOrd="0" presId="urn:microsoft.com/office/officeart/2005/8/layout/vList2"/>
    <dgm:cxn modelId="{341A8CD3-8BDF-4CB7-A1E0-03A270207FFF}" type="presOf" srcId="{1CC669FA-F4A1-4D56-A819-AC8AB49C5C73}" destId="{202D3B3E-E133-440A-B7A2-0148F75A8DC6}" srcOrd="0" destOrd="0" presId="urn:microsoft.com/office/officeart/2005/8/layout/vList2"/>
    <dgm:cxn modelId="{D5D851E2-37C2-4E75-ACB7-D8A617C51DFB}" srcId="{51F81340-F2FF-433D-911D-43F9FA495E97}" destId="{72868046-EFF6-4CA7-99BF-E1D80B6C14DC}" srcOrd="5" destOrd="0" parTransId="{57C754BB-8CB9-4DB8-9D1D-34BB06A37C04}" sibTransId="{E28B011A-E65C-479C-B976-59C273C145C2}"/>
    <dgm:cxn modelId="{5A3FDCF3-0988-4C6E-AF8D-C33AC604680C}" type="presOf" srcId="{51F81340-F2FF-433D-911D-43F9FA495E97}" destId="{06ECF2F1-EF7A-49C6-B149-3CA4D67DF476}" srcOrd="0" destOrd="0" presId="urn:microsoft.com/office/officeart/2005/8/layout/vList2"/>
    <dgm:cxn modelId="{437423FE-2B12-439D-8F94-83F63E0FB637}" srcId="{51F81340-F2FF-433D-911D-43F9FA495E97}" destId="{0AB67B09-C0A7-4B39-B927-40C8CDFA085A}" srcOrd="3" destOrd="0" parTransId="{D6B6CB07-A19F-49DE-BB8D-805E162B864D}" sibTransId="{65C1EE7C-6473-4AEB-9C79-39498AD035EC}"/>
    <dgm:cxn modelId="{58D53EDD-0462-423E-AD24-12981EFFBA15}" type="presParOf" srcId="{06ECF2F1-EF7A-49C6-B149-3CA4D67DF476}" destId="{67F643D2-78DB-43AC-82E8-6E02BDCAB5AE}" srcOrd="0" destOrd="0" presId="urn:microsoft.com/office/officeart/2005/8/layout/vList2"/>
    <dgm:cxn modelId="{25D68375-2313-4B65-9486-0753E2E4F0D9}" type="presParOf" srcId="{06ECF2F1-EF7A-49C6-B149-3CA4D67DF476}" destId="{26BBC9C5-22E9-44FE-AC94-7B444AD93196}" srcOrd="1" destOrd="0" presId="urn:microsoft.com/office/officeart/2005/8/layout/vList2"/>
    <dgm:cxn modelId="{980A24F2-78F7-4758-AFDE-460324305C19}" type="presParOf" srcId="{06ECF2F1-EF7A-49C6-B149-3CA4D67DF476}" destId="{354BD729-EBB6-4591-BC6E-A640C0FFBB85}" srcOrd="2" destOrd="0" presId="urn:microsoft.com/office/officeart/2005/8/layout/vList2"/>
    <dgm:cxn modelId="{2FB52756-1514-422F-988B-69A1AF9498E8}" type="presParOf" srcId="{06ECF2F1-EF7A-49C6-B149-3CA4D67DF476}" destId="{A16B7E9D-71A4-418C-B600-532C8681D606}" srcOrd="3" destOrd="0" presId="urn:microsoft.com/office/officeart/2005/8/layout/vList2"/>
    <dgm:cxn modelId="{C63C57E7-2E95-4A0D-96D6-851CAB18ACC8}" type="presParOf" srcId="{06ECF2F1-EF7A-49C6-B149-3CA4D67DF476}" destId="{202D3B3E-E133-440A-B7A2-0148F75A8DC6}" srcOrd="4" destOrd="0" presId="urn:microsoft.com/office/officeart/2005/8/layout/vList2"/>
    <dgm:cxn modelId="{7EB3D316-5E56-4A5B-89DA-7C0AC8E3D105}" type="presParOf" srcId="{06ECF2F1-EF7A-49C6-B149-3CA4D67DF476}" destId="{2EDBCE84-DE26-4D5B-8E0E-1DBD328A0D53}" srcOrd="5" destOrd="0" presId="urn:microsoft.com/office/officeart/2005/8/layout/vList2"/>
    <dgm:cxn modelId="{61AE7D1C-C3C9-4D1B-84EA-E0B64C54FE4B}" type="presParOf" srcId="{06ECF2F1-EF7A-49C6-B149-3CA4D67DF476}" destId="{1B1CFE2B-B7EC-4240-8E4B-E0EE8EC4B1F6}" srcOrd="6" destOrd="0" presId="urn:microsoft.com/office/officeart/2005/8/layout/vList2"/>
    <dgm:cxn modelId="{B3E683BC-73A1-4E2E-AA56-1E72622D17BF}" type="presParOf" srcId="{06ECF2F1-EF7A-49C6-B149-3CA4D67DF476}" destId="{93DF6992-746A-477F-B82A-476C64049FB5}" srcOrd="7" destOrd="0" presId="urn:microsoft.com/office/officeart/2005/8/layout/vList2"/>
    <dgm:cxn modelId="{38DAED85-E241-4560-A46F-F363CA6CEA2E}" type="presParOf" srcId="{06ECF2F1-EF7A-49C6-B149-3CA4D67DF476}" destId="{9FD8AD60-8983-4FF6-9837-DDEB2B67B1D9}" srcOrd="8" destOrd="0" presId="urn:microsoft.com/office/officeart/2005/8/layout/vList2"/>
    <dgm:cxn modelId="{C00BBD9D-E426-422A-AA15-A78EADCE7C12}" type="presParOf" srcId="{06ECF2F1-EF7A-49C6-B149-3CA4D67DF476}" destId="{9E7C6771-E5DF-4671-A9B9-C0C22986769D}" srcOrd="9" destOrd="0" presId="urn:microsoft.com/office/officeart/2005/8/layout/vList2"/>
    <dgm:cxn modelId="{62CFB1B1-A7BE-49CA-85D4-F9C1BB3F90C5}" type="presParOf" srcId="{06ECF2F1-EF7A-49C6-B149-3CA4D67DF476}" destId="{7ADEE2E9-4B65-4E14-8018-4A3CC7FFF52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EE3F6D-7F18-4635-AD2E-0543E7ADE66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F57D4127-09A6-4C2C-907A-69084ED53866}">
      <dgm:prSet/>
      <dgm:spPr/>
      <dgm:t>
        <a:bodyPr/>
        <a:lstStyle/>
        <a:p>
          <a:r>
            <a:rPr lang="en-GB" baseline="0"/>
            <a:t>Reference evapotranspiration (ETo) is the amount of water lost from a reference grass surface through evaporation and transpiration. It represents the evaporative demand of the atmosphere.</a:t>
          </a:r>
          <a:endParaRPr lang="en-GB"/>
        </a:p>
      </dgm:t>
    </dgm:pt>
    <dgm:pt modelId="{8C4D9263-0402-45F7-AD7B-069B1D3CADA7}" type="parTrans" cxnId="{A0682E7B-8811-4F23-99A1-A34428DF621F}">
      <dgm:prSet/>
      <dgm:spPr/>
      <dgm:t>
        <a:bodyPr/>
        <a:lstStyle/>
        <a:p>
          <a:endParaRPr lang="en-GB"/>
        </a:p>
      </dgm:t>
    </dgm:pt>
    <dgm:pt modelId="{7074A7B8-40D1-4FC3-80B8-D97C63D9E832}" type="sibTrans" cxnId="{A0682E7B-8811-4F23-99A1-A34428DF621F}">
      <dgm:prSet/>
      <dgm:spPr/>
      <dgm:t>
        <a:bodyPr/>
        <a:lstStyle/>
        <a:p>
          <a:endParaRPr lang="en-GB"/>
        </a:p>
      </dgm:t>
    </dgm:pt>
    <dgm:pt modelId="{27F7FC6E-2F7F-459F-8425-3A83F5E6B5C6}">
      <dgm:prSet/>
      <dgm:spPr/>
      <dgm:t>
        <a:bodyPr/>
        <a:lstStyle/>
        <a:p>
          <a:r>
            <a:rPr lang="en-GB" baseline="0"/>
            <a:t>Air temperature</a:t>
          </a:r>
          <a:endParaRPr lang="en-GB"/>
        </a:p>
      </dgm:t>
    </dgm:pt>
    <dgm:pt modelId="{9ED5105B-6A7C-47C2-8C6D-A17EE4775E90}" type="parTrans" cxnId="{E77D2C3B-3FFF-4F4C-84AF-09C7CE64D4E6}">
      <dgm:prSet/>
      <dgm:spPr/>
      <dgm:t>
        <a:bodyPr/>
        <a:lstStyle/>
        <a:p>
          <a:endParaRPr lang="en-GB"/>
        </a:p>
      </dgm:t>
    </dgm:pt>
    <dgm:pt modelId="{667487E6-1510-490C-85E7-CCAE3143F3B5}" type="sibTrans" cxnId="{E77D2C3B-3FFF-4F4C-84AF-09C7CE64D4E6}">
      <dgm:prSet/>
      <dgm:spPr/>
      <dgm:t>
        <a:bodyPr/>
        <a:lstStyle/>
        <a:p>
          <a:endParaRPr lang="en-GB"/>
        </a:p>
      </dgm:t>
    </dgm:pt>
    <dgm:pt modelId="{9A59E669-91AD-47C3-9AD7-4B00F057FA6C}">
      <dgm:prSet/>
      <dgm:spPr/>
      <dgm:t>
        <a:bodyPr/>
        <a:lstStyle/>
        <a:p>
          <a:r>
            <a:rPr lang="en-GB" baseline="0"/>
            <a:t>Solar radiation or sunshine hours</a:t>
          </a:r>
          <a:endParaRPr lang="en-GB"/>
        </a:p>
      </dgm:t>
    </dgm:pt>
    <dgm:pt modelId="{37335F7F-7E5A-4D76-BFE4-5E607436903B}" type="parTrans" cxnId="{7E072EE8-FEA3-41ED-B286-1CF31662BD0F}">
      <dgm:prSet/>
      <dgm:spPr/>
      <dgm:t>
        <a:bodyPr/>
        <a:lstStyle/>
        <a:p>
          <a:endParaRPr lang="en-GB"/>
        </a:p>
      </dgm:t>
    </dgm:pt>
    <dgm:pt modelId="{2B300B1E-DDC7-48FC-ADDB-3F0C0F5E6F93}" type="sibTrans" cxnId="{7E072EE8-FEA3-41ED-B286-1CF31662BD0F}">
      <dgm:prSet/>
      <dgm:spPr/>
      <dgm:t>
        <a:bodyPr/>
        <a:lstStyle/>
        <a:p>
          <a:endParaRPr lang="en-GB"/>
        </a:p>
      </dgm:t>
    </dgm:pt>
    <dgm:pt modelId="{A4EE4D7B-1ABB-4597-94D5-7F94CBB3E436}">
      <dgm:prSet/>
      <dgm:spPr/>
      <dgm:t>
        <a:bodyPr/>
        <a:lstStyle/>
        <a:p>
          <a:r>
            <a:rPr lang="en-GB" baseline="0"/>
            <a:t>Wind speed</a:t>
          </a:r>
          <a:endParaRPr lang="en-GB"/>
        </a:p>
      </dgm:t>
    </dgm:pt>
    <dgm:pt modelId="{584C11F9-7655-43A7-97B2-72D3418DF323}" type="parTrans" cxnId="{8F601EE9-B0B5-4592-A854-391730E7756A}">
      <dgm:prSet/>
      <dgm:spPr/>
      <dgm:t>
        <a:bodyPr/>
        <a:lstStyle/>
        <a:p>
          <a:endParaRPr lang="en-GB"/>
        </a:p>
      </dgm:t>
    </dgm:pt>
    <dgm:pt modelId="{10469F28-9B89-4A7C-8E84-0F4F5341FC76}" type="sibTrans" cxnId="{8F601EE9-B0B5-4592-A854-391730E7756A}">
      <dgm:prSet/>
      <dgm:spPr/>
      <dgm:t>
        <a:bodyPr/>
        <a:lstStyle/>
        <a:p>
          <a:endParaRPr lang="en-GB"/>
        </a:p>
      </dgm:t>
    </dgm:pt>
    <dgm:pt modelId="{42840531-3333-4555-8EC1-DE8A13604EE2}">
      <dgm:prSet/>
      <dgm:spPr/>
      <dgm:t>
        <a:bodyPr/>
        <a:lstStyle/>
        <a:p>
          <a:r>
            <a:rPr lang="en-GB" baseline="0"/>
            <a:t>Relative humidity</a:t>
          </a:r>
          <a:endParaRPr lang="en-GB"/>
        </a:p>
      </dgm:t>
    </dgm:pt>
    <dgm:pt modelId="{E96D0B74-D4FC-4BF5-B435-BF9C1365F5B3}" type="parTrans" cxnId="{94D42EA7-150A-4FA2-A10F-CEDDF8A55781}">
      <dgm:prSet/>
      <dgm:spPr/>
      <dgm:t>
        <a:bodyPr/>
        <a:lstStyle/>
        <a:p>
          <a:endParaRPr lang="en-GB"/>
        </a:p>
      </dgm:t>
    </dgm:pt>
    <dgm:pt modelId="{3CAF1D98-A594-49C5-9BCC-0DE9B7CEAE73}" type="sibTrans" cxnId="{94D42EA7-150A-4FA2-A10F-CEDDF8A55781}">
      <dgm:prSet/>
      <dgm:spPr/>
      <dgm:t>
        <a:bodyPr/>
        <a:lstStyle/>
        <a:p>
          <a:endParaRPr lang="en-GB"/>
        </a:p>
      </dgm:t>
    </dgm:pt>
    <dgm:pt modelId="{0A786DD4-8F53-459B-AC5A-462DE260D9F6}">
      <dgm:prSet/>
      <dgm:spPr/>
      <dgm:t>
        <a:bodyPr/>
        <a:lstStyle/>
        <a:p>
          <a:r>
            <a:rPr lang="en-GB" baseline="0"/>
            <a:t>Season and location</a:t>
          </a:r>
          <a:endParaRPr lang="en-GB"/>
        </a:p>
      </dgm:t>
    </dgm:pt>
    <dgm:pt modelId="{92B2572B-201D-4C2F-9998-B81B4F9A71BA}" type="parTrans" cxnId="{99D0C69E-9BE4-4106-B22B-546E1C4D9BA5}">
      <dgm:prSet/>
      <dgm:spPr/>
      <dgm:t>
        <a:bodyPr/>
        <a:lstStyle/>
        <a:p>
          <a:endParaRPr lang="en-GB"/>
        </a:p>
      </dgm:t>
    </dgm:pt>
    <dgm:pt modelId="{3C9314FC-4D8B-4EAF-95BA-650802A0BF44}" type="sibTrans" cxnId="{99D0C69E-9BE4-4106-B22B-546E1C4D9BA5}">
      <dgm:prSet/>
      <dgm:spPr/>
      <dgm:t>
        <a:bodyPr/>
        <a:lstStyle/>
        <a:p>
          <a:endParaRPr lang="en-GB"/>
        </a:p>
      </dgm:t>
    </dgm:pt>
    <dgm:pt modelId="{48FCA70A-C0C0-4905-BE30-0BB7DEFA93B6}">
      <dgm:prSet/>
      <dgm:spPr/>
      <dgm:t>
        <a:bodyPr/>
        <a:lstStyle/>
        <a:p>
          <a:r>
            <a:rPr lang="en-GB" baseline="0"/>
            <a:t>Example: If ETo = 5.0 mm/day, the atmosphere can remove about 5 mm of water per day from a reference crop surface.</a:t>
          </a:r>
          <a:endParaRPr lang="en-GB"/>
        </a:p>
      </dgm:t>
    </dgm:pt>
    <dgm:pt modelId="{CE0F7CA8-E200-42B3-87F4-9E1AEB995196}" type="parTrans" cxnId="{EAB9811A-ABF3-4943-8C0E-3950FAF63BAF}">
      <dgm:prSet/>
      <dgm:spPr/>
      <dgm:t>
        <a:bodyPr/>
        <a:lstStyle/>
        <a:p>
          <a:endParaRPr lang="en-GB"/>
        </a:p>
      </dgm:t>
    </dgm:pt>
    <dgm:pt modelId="{B8024B2C-5005-4EB2-AE98-965832554A31}" type="sibTrans" cxnId="{EAB9811A-ABF3-4943-8C0E-3950FAF63BAF}">
      <dgm:prSet/>
      <dgm:spPr/>
      <dgm:t>
        <a:bodyPr/>
        <a:lstStyle/>
        <a:p>
          <a:endParaRPr lang="en-GB"/>
        </a:p>
      </dgm:t>
    </dgm:pt>
    <dgm:pt modelId="{E9D760BB-7703-4C13-AAD8-D87DB390E45E}" type="pres">
      <dgm:prSet presAssocID="{7CEE3F6D-7F18-4635-AD2E-0543E7ADE667}" presName="linear" presStyleCnt="0">
        <dgm:presLayoutVars>
          <dgm:animLvl val="lvl"/>
          <dgm:resizeHandles val="exact"/>
        </dgm:presLayoutVars>
      </dgm:prSet>
      <dgm:spPr/>
    </dgm:pt>
    <dgm:pt modelId="{9C903191-79CE-4C14-8620-FC06825EC4C6}" type="pres">
      <dgm:prSet presAssocID="{F57D4127-09A6-4C2C-907A-69084ED53866}" presName="parentText" presStyleLbl="node1" presStyleIdx="0" presStyleCnt="2">
        <dgm:presLayoutVars>
          <dgm:chMax val="0"/>
          <dgm:bulletEnabled val="1"/>
        </dgm:presLayoutVars>
      </dgm:prSet>
      <dgm:spPr/>
    </dgm:pt>
    <dgm:pt modelId="{45B05809-E1DE-4CC6-9410-DCE5187F321C}" type="pres">
      <dgm:prSet presAssocID="{F57D4127-09A6-4C2C-907A-69084ED53866}" presName="childText" presStyleLbl="revTx" presStyleIdx="0" presStyleCnt="1">
        <dgm:presLayoutVars>
          <dgm:bulletEnabled val="1"/>
        </dgm:presLayoutVars>
      </dgm:prSet>
      <dgm:spPr/>
    </dgm:pt>
    <dgm:pt modelId="{3AD52851-9158-4EFC-BD8E-7A193398EFCB}" type="pres">
      <dgm:prSet presAssocID="{48FCA70A-C0C0-4905-BE30-0BB7DEFA93B6}" presName="parentText" presStyleLbl="node1" presStyleIdx="1" presStyleCnt="2">
        <dgm:presLayoutVars>
          <dgm:chMax val="0"/>
          <dgm:bulletEnabled val="1"/>
        </dgm:presLayoutVars>
      </dgm:prSet>
      <dgm:spPr/>
    </dgm:pt>
  </dgm:ptLst>
  <dgm:cxnLst>
    <dgm:cxn modelId="{EAB9811A-ABF3-4943-8C0E-3950FAF63BAF}" srcId="{7CEE3F6D-7F18-4635-AD2E-0543E7ADE667}" destId="{48FCA70A-C0C0-4905-BE30-0BB7DEFA93B6}" srcOrd="1" destOrd="0" parTransId="{CE0F7CA8-E200-42B3-87F4-9E1AEB995196}" sibTransId="{B8024B2C-5005-4EB2-AE98-965832554A31}"/>
    <dgm:cxn modelId="{A560C41D-7743-40AC-88C4-331C2ACABE72}" type="presOf" srcId="{F57D4127-09A6-4C2C-907A-69084ED53866}" destId="{9C903191-79CE-4C14-8620-FC06825EC4C6}" srcOrd="0" destOrd="0" presId="urn:microsoft.com/office/officeart/2005/8/layout/vList2"/>
    <dgm:cxn modelId="{E77D2C3B-3FFF-4F4C-84AF-09C7CE64D4E6}" srcId="{F57D4127-09A6-4C2C-907A-69084ED53866}" destId="{27F7FC6E-2F7F-459F-8425-3A83F5E6B5C6}" srcOrd="0" destOrd="0" parTransId="{9ED5105B-6A7C-47C2-8C6D-A17EE4775E90}" sibTransId="{667487E6-1510-490C-85E7-CCAE3143F3B5}"/>
    <dgm:cxn modelId="{F71EDD63-E48A-4990-BEA2-27410755695F}" type="presOf" srcId="{7CEE3F6D-7F18-4635-AD2E-0543E7ADE667}" destId="{E9D760BB-7703-4C13-AAD8-D87DB390E45E}" srcOrd="0" destOrd="0" presId="urn:microsoft.com/office/officeart/2005/8/layout/vList2"/>
    <dgm:cxn modelId="{1402D748-D66D-4A5B-B367-5DBD9780706C}" type="presOf" srcId="{27F7FC6E-2F7F-459F-8425-3A83F5E6B5C6}" destId="{45B05809-E1DE-4CC6-9410-DCE5187F321C}" srcOrd="0" destOrd="0" presId="urn:microsoft.com/office/officeart/2005/8/layout/vList2"/>
    <dgm:cxn modelId="{5071104B-F367-4CBB-85F4-3946582024F3}" type="presOf" srcId="{42840531-3333-4555-8EC1-DE8A13604EE2}" destId="{45B05809-E1DE-4CC6-9410-DCE5187F321C}" srcOrd="0" destOrd="3" presId="urn:microsoft.com/office/officeart/2005/8/layout/vList2"/>
    <dgm:cxn modelId="{A0682E7B-8811-4F23-99A1-A34428DF621F}" srcId="{7CEE3F6D-7F18-4635-AD2E-0543E7ADE667}" destId="{F57D4127-09A6-4C2C-907A-69084ED53866}" srcOrd="0" destOrd="0" parTransId="{8C4D9263-0402-45F7-AD7B-069B1D3CADA7}" sibTransId="{7074A7B8-40D1-4FC3-80B8-D97C63D9E832}"/>
    <dgm:cxn modelId="{2D351A7D-8547-4AF2-96D2-5E34138DFB9B}" type="presOf" srcId="{A4EE4D7B-1ABB-4597-94D5-7F94CBB3E436}" destId="{45B05809-E1DE-4CC6-9410-DCE5187F321C}" srcOrd="0" destOrd="2" presId="urn:microsoft.com/office/officeart/2005/8/layout/vList2"/>
    <dgm:cxn modelId="{99D0C69E-9BE4-4106-B22B-546E1C4D9BA5}" srcId="{F57D4127-09A6-4C2C-907A-69084ED53866}" destId="{0A786DD4-8F53-459B-AC5A-462DE260D9F6}" srcOrd="4" destOrd="0" parTransId="{92B2572B-201D-4C2F-9998-B81B4F9A71BA}" sibTransId="{3C9314FC-4D8B-4EAF-95BA-650802A0BF44}"/>
    <dgm:cxn modelId="{8CE723A1-1DCF-43F5-8EA7-418EBC0E4D3A}" type="presOf" srcId="{0A786DD4-8F53-459B-AC5A-462DE260D9F6}" destId="{45B05809-E1DE-4CC6-9410-DCE5187F321C}" srcOrd="0" destOrd="4" presId="urn:microsoft.com/office/officeart/2005/8/layout/vList2"/>
    <dgm:cxn modelId="{94D42EA7-150A-4FA2-A10F-CEDDF8A55781}" srcId="{F57D4127-09A6-4C2C-907A-69084ED53866}" destId="{42840531-3333-4555-8EC1-DE8A13604EE2}" srcOrd="3" destOrd="0" parTransId="{E96D0B74-D4FC-4BF5-B435-BF9C1365F5B3}" sibTransId="{3CAF1D98-A594-49C5-9BCC-0DE9B7CEAE73}"/>
    <dgm:cxn modelId="{3AEE73D1-EAD0-4EE2-963D-3663190C6F8A}" type="presOf" srcId="{9A59E669-91AD-47C3-9AD7-4B00F057FA6C}" destId="{45B05809-E1DE-4CC6-9410-DCE5187F321C}" srcOrd="0" destOrd="1" presId="urn:microsoft.com/office/officeart/2005/8/layout/vList2"/>
    <dgm:cxn modelId="{18B197E3-84CA-4B90-958A-2C0F9553E588}" type="presOf" srcId="{48FCA70A-C0C0-4905-BE30-0BB7DEFA93B6}" destId="{3AD52851-9158-4EFC-BD8E-7A193398EFCB}" srcOrd="0" destOrd="0" presId="urn:microsoft.com/office/officeart/2005/8/layout/vList2"/>
    <dgm:cxn modelId="{7E072EE8-FEA3-41ED-B286-1CF31662BD0F}" srcId="{F57D4127-09A6-4C2C-907A-69084ED53866}" destId="{9A59E669-91AD-47C3-9AD7-4B00F057FA6C}" srcOrd="1" destOrd="0" parTransId="{37335F7F-7E5A-4D76-BFE4-5E607436903B}" sibTransId="{2B300B1E-DDC7-48FC-ADDB-3F0C0F5E6F93}"/>
    <dgm:cxn modelId="{8F601EE9-B0B5-4592-A854-391730E7756A}" srcId="{F57D4127-09A6-4C2C-907A-69084ED53866}" destId="{A4EE4D7B-1ABB-4597-94D5-7F94CBB3E436}" srcOrd="2" destOrd="0" parTransId="{584C11F9-7655-43A7-97B2-72D3418DF323}" sibTransId="{10469F28-9B89-4A7C-8E84-0F4F5341FC76}"/>
    <dgm:cxn modelId="{524AC4D9-4327-4E4D-A37F-9D74F0691A4E}" type="presParOf" srcId="{E9D760BB-7703-4C13-AAD8-D87DB390E45E}" destId="{9C903191-79CE-4C14-8620-FC06825EC4C6}" srcOrd="0" destOrd="0" presId="urn:microsoft.com/office/officeart/2005/8/layout/vList2"/>
    <dgm:cxn modelId="{F6477159-C150-4E22-A693-A71567253EA7}" type="presParOf" srcId="{E9D760BB-7703-4C13-AAD8-D87DB390E45E}" destId="{45B05809-E1DE-4CC6-9410-DCE5187F321C}" srcOrd="1" destOrd="0" presId="urn:microsoft.com/office/officeart/2005/8/layout/vList2"/>
    <dgm:cxn modelId="{7C943A54-D4A8-4C37-9F41-D6390C044B8C}" type="presParOf" srcId="{E9D760BB-7703-4C13-AAD8-D87DB390E45E}" destId="{3AD52851-9158-4EFC-BD8E-7A193398EFC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402EFF8-5FF5-4756-8C04-9B50076138E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D822BF10-49D0-47D9-878F-B8800D4D7E7F}">
      <dgm:prSet/>
      <dgm:spPr/>
      <dgm:t>
        <a:bodyPr/>
        <a:lstStyle/>
        <a:p>
          <a:r>
            <a:rPr lang="en-US" b="1" baseline="0"/>
            <a:t>Problem: </a:t>
          </a:r>
          <a:r>
            <a:rPr lang="en-US" baseline="0"/>
            <a:t>A cabbage crop has a reference evapotranspiration (ETo) of 4.8 mm/day. The crop coefficient (Kc) at mid-season is 1.05. Calculate: (a) daily ETc, (b) weekly ETc, and (c) the weekly water volume for a 0.25 ha field.</a:t>
          </a:r>
          <a:endParaRPr lang="en-GB"/>
        </a:p>
      </dgm:t>
    </dgm:pt>
    <dgm:pt modelId="{3DFDC2CD-92AC-46AB-AB5D-9FCA7F51616F}" type="parTrans" cxnId="{9228BA05-B19E-45A0-8BB5-1EE4E44536B6}">
      <dgm:prSet/>
      <dgm:spPr/>
      <dgm:t>
        <a:bodyPr/>
        <a:lstStyle/>
        <a:p>
          <a:endParaRPr lang="en-GB"/>
        </a:p>
      </dgm:t>
    </dgm:pt>
    <dgm:pt modelId="{D6FB1947-08A7-4B61-A991-FE6D2AD18A20}" type="sibTrans" cxnId="{9228BA05-B19E-45A0-8BB5-1EE4E44536B6}">
      <dgm:prSet/>
      <dgm:spPr/>
      <dgm:t>
        <a:bodyPr/>
        <a:lstStyle/>
        <a:p>
          <a:endParaRPr lang="en-GB"/>
        </a:p>
      </dgm:t>
    </dgm:pt>
    <dgm:pt modelId="{9E614B32-98AA-4D2F-87AF-49F70C4FB0CB}" type="pres">
      <dgm:prSet presAssocID="{1402EFF8-5FF5-4756-8C04-9B50076138E1}" presName="linear" presStyleCnt="0">
        <dgm:presLayoutVars>
          <dgm:animLvl val="lvl"/>
          <dgm:resizeHandles val="exact"/>
        </dgm:presLayoutVars>
      </dgm:prSet>
      <dgm:spPr/>
    </dgm:pt>
    <dgm:pt modelId="{411B1EFA-E960-4F83-A086-861351320649}" type="pres">
      <dgm:prSet presAssocID="{D822BF10-49D0-47D9-878F-B8800D4D7E7F}" presName="parentText" presStyleLbl="node1" presStyleIdx="0" presStyleCnt="1">
        <dgm:presLayoutVars>
          <dgm:chMax val="0"/>
          <dgm:bulletEnabled val="1"/>
        </dgm:presLayoutVars>
      </dgm:prSet>
      <dgm:spPr/>
    </dgm:pt>
  </dgm:ptLst>
  <dgm:cxnLst>
    <dgm:cxn modelId="{9228BA05-B19E-45A0-8BB5-1EE4E44536B6}" srcId="{1402EFF8-5FF5-4756-8C04-9B50076138E1}" destId="{D822BF10-49D0-47D9-878F-B8800D4D7E7F}" srcOrd="0" destOrd="0" parTransId="{3DFDC2CD-92AC-46AB-AB5D-9FCA7F51616F}" sibTransId="{D6FB1947-08A7-4B61-A991-FE6D2AD18A20}"/>
    <dgm:cxn modelId="{8FCED24F-3C58-4F8D-B0E3-7414B43AA091}" type="presOf" srcId="{1402EFF8-5FF5-4756-8C04-9B50076138E1}" destId="{9E614B32-98AA-4D2F-87AF-49F70C4FB0CB}" srcOrd="0" destOrd="0" presId="urn:microsoft.com/office/officeart/2005/8/layout/vList2"/>
    <dgm:cxn modelId="{4F852AE9-8FE9-4EE0-9EF0-E171884F2573}" type="presOf" srcId="{D822BF10-49D0-47D9-878F-B8800D4D7E7F}" destId="{411B1EFA-E960-4F83-A086-861351320649}" srcOrd="0" destOrd="0" presId="urn:microsoft.com/office/officeart/2005/8/layout/vList2"/>
    <dgm:cxn modelId="{4FF98A8B-1DDF-4BFE-8885-5ADF1A60487A}" type="presParOf" srcId="{9E614B32-98AA-4D2F-87AF-49F70C4FB0CB}" destId="{411B1EFA-E960-4F83-A086-86135132064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B24CDB-BB83-439D-B341-9153FB062E6F}">
      <dsp:nvSpPr>
        <dsp:cNvPr id="0" name=""/>
        <dsp:cNvSpPr/>
      </dsp:nvSpPr>
      <dsp:spPr>
        <a:xfrm>
          <a:off x="0" y="46268"/>
          <a:ext cx="9403018" cy="4258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baseline="0" dirty="0"/>
            <a:t>Vegetables are highly sensitive to climate because most of them have soft tissues, shallow root systems, and short growing periods. </a:t>
          </a:r>
        </a:p>
        <a:p>
          <a:pPr marL="0" lvl="0" indent="0" algn="l" defTabSz="1155700">
            <a:lnSpc>
              <a:spcPct val="90000"/>
            </a:lnSpc>
            <a:spcBef>
              <a:spcPct val="0"/>
            </a:spcBef>
            <a:spcAft>
              <a:spcPct val="35000"/>
            </a:spcAft>
            <a:buNone/>
          </a:pPr>
          <a:r>
            <a:rPr lang="en-GB" sz="2600" kern="1200" baseline="0" dirty="0"/>
            <a:t>Good climate conditions improve germination, vegetative growth, flowering, fruit set, yield, quality, shelf life, and resistance to pests and diseases. </a:t>
          </a:r>
        </a:p>
        <a:p>
          <a:pPr marL="0" lvl="0" indent="0" algn="l" defTabSz="1155700">
            <a:lnSpc>
              <a:spcPct val="90000"/>
            </a:lnSpc>
            <a:spcBef>
              <a:spcPct val="0"/>
            </a:spcBef>
            <a:spcAft>
              <a:spcPct val="35000"/>
            </a:spcAft>
            <a:buNone/>
          </a:pPr>
          <a:r>
            <a:rPr lang="en-GB" sz="2600" kern="1200" baseline="0" dirty="0"/>
            <a:t>Poor climate conditions can reduce crop establishment, delay maturity, cause flower abortion, encourage diseases, and lower market quality.</a:t>
          </a:r>
          <a:endParaRPr lang="en-GB" sz="2600" kern="1200" dirty="0"/>
        </a:p>
      </dsp:txBody>
      <dsp:txXfrm>
        <a:off x="207897" y="254165"/>
        <a:ext cx="8987224" cy="38430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B23297-1E24-4881-AF7A-94186C8A5D86}">
      <dsp:nvSpPr>
        <dsp:cNvPr id="0" name=""/>
        <dsp:cNvSpPr/>
      </dsp:nvSpPr>
      <dsp:spPr>
        <a:xfrm>
          <a:off x="0" y="46268"/>
          <a:ext cx="5206480" cy="4258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baseline="0" dirty="0"/>
            <a:t>Climatic requirements refer to the weather and environmental conditions needed by a crop to grow, develop, and produce good yield. For vegetable crops, the most important climatic factors are temperature, rainfall, soil moisture, relative humidity, light, wind, altitude, and seasonal conditions.</a:t>
          </a:r>
          <a:endParaRPr lang="en-GB" sz="2600" kern="1200" dirty="0"/>
        </a:p>
      </dsp:txBody>
      <dsp:txXfrm>
        <a:off x="207897" y="254165"/>
        <a:ext cx="4790686" cy="38430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741ACD-A044-4361-9F47-6BE6C4B94395}">
      <dsp:nvSpPr>
        <dsp:cNvPr id="0" name=""/>
        <dsp:cNvSpPr/>
      </dsp:nvSpPr>
      <dsp:spPr>
        <a:xfrm>
          <a:off x="0" y="86903"/>
          <a:ext cx="9617622" cy="13560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baseline="0"/>
            <a:t>Temperature is one of the most important climatic factors in vegetable production. Each vegetable has a minimum, optimum, and maximum temperature for growth. Below the minimum temperature, growth is very slow or stops. At the optimum temperature, growth is best. Above the maximum temperature, plants become stressed and may die.</a:t>
          </a:r>
          <a:endParaRPr lang="en-GB" sz="1900" kern="1200"/>
        </a:p>
      </dsp:txBody>
      <dsp:txXfrm>
        <a:off x="66196" y="153099"/>
        <a:ext cx="9485230" cy="1223637"/>
      </dsp:txXfrm>
    </dsp:sp>
    <dsp:sp modelId="{C0A4B98A-3663-4454-96E7-7AE9A8F87572}">
      <dsp:nvSpPr>
        <dsp:cNvPr id="0" name=""/>
        <dsp:cNvSpPr/>
      </dsp:nvSpPr>
      <dsp:spPr>
        <a:xfrm>
          <a:off x="0" y="1497653"/>
          <a:ext cx="9617622" cy="13560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1" kern="1200" baseline="0"/>
            <a:t>Optimum Temperature: </a:t>
          </a:r>
          <a:r>
            <a:rPr lang="en-GB" sz="1900" kern="1200" baseline="0"/>
            <a:t>Each vegetable crop has a range of temperatures that are optimal for growth. For instance, cool-season vegetables like broccoli, cabbage, and spinach thrive in temperatures below 70°F (21°C), while warm-season crops such as tomatoes, peppers, and cucumbers prefer temperatures above 70°F. </a:t>
          </a:r>
          <a:endParaRPr lang="en-GB" sz="1900" kern="1200"/>
        </a:p>
      </dsp:txBody>
      <dsp:txXfrm>
        <a:off x="66196" y="1563849"/>
        <a:ext cx="9485230" cy="1223637"/>
      </dsp:txXfrm>
    </dsp:sp>
    <dsp:sp modelId="{E45F1001-773D-44AE-B40F-DFEFA60E97F8}">
      <dsp:nvSpPr>
        <dsp:cNvPr id="0" name=""/>
        <dsp:cNvSpPr/>
      </dsp:nvSpPr>
      <dsp:spPr>
        <a:xfrm>
          <a:off x="0" y="2908403"/>
          <a:ext cx="9617622" cy="13560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1" kern="1200" baseline="0"/>
            <a:t>Frost Sensitivity: </a:t>
          </a:r>
          <a:r>
            <a:rPr lang="en-GB" sz="1900" kern="1200" baseline="0"/>
            <a:t>Some crops are more tolerant of cold temperatures (e.g., cabbage can withstand light frosts), while others are very sensitive and should be planted only after the last frost.</a:t>
          </a:r>
          <a:endParaRPr lang="en-GB" sz="1900" kern="1200"/>
        </a:p>
      </dsp:txBody>
      <dsp:txXfrm>
        <a:off x="66196" y="2974599"/>
        <a:ext cx="9485230" cy="12236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79B11-1E74-4403-A782-AA8ABB23A342}">
      <dsp:nvSpPr>
        <dsp:cNvPr id="0" name=""/>
        <dsp:cNvSpPr/>
      </dsp:nvSpPr>
      <dsp:spPr>
        <a:xfrm>
          <a:off x="0" y="71468"/>
          <a:ext cx="859536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baseline="0"/>
            <a:t>Poor or slow seed germination, especially in warm-season crops such as tomato, pepper, cucumber, okra, and beans.</a:t>
          </a:r>
          <a:endParaRPr lang="en-GB" sz="2000" kern="1200"/>
        </a:p>
      </dsp:txBody>
      <dsp:txXfrm>
        <a:off x="38838" y="110306"/>
        <a:ext cx="8517684" cy="717924"/>
      </dsp:txXfrm>
    </dsp:sp>
    <dsp:sp modelId="{498C97AC-4CF8-45B2-AB04-6B4798C11D6F}">
      <dsp:nvSpPr>
        <dsp:cNvPr id="0" name=""/>
        <dsp:cNvSpPr/>
      </dsp:nvSpPr>
      <dsp:spPr>
        <a:xfrm>
          <a:off x="0" y="924668"/>
          <a:ext cx="859536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baseline="0"/>
            <a:t>Frost injury, which causes water in plant tissues to freeze and damage cells.</a:t>
          </a:r>
          <a:endParaRPr lang="en-GB" sz="2000" kern="1200"/>
        </a:p>
      </dsp:txBody>
      <dsp:txXfrm>
        <a:off x="38838" y="963506"/>
        <a:ext cx="8517684" cy="717924"/>
      </dsp:txXfrm>
    </dsp:sp>
    <dsp:sp modelId="{66DBDEB0-FA5E-4044-B858-70F6B6FCF15D}">
      <dsp:nvSpPr>
        <dsp:cNvPr id="0" name=""/>
        <dsp:cNvSpPr/>
      </dsp:nvSpPr>
      <dsp:spPr>
        <a:xfrm>
          <a:off x="0" y="1777868"/>
          <a:ext cx="859536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baseline="0"/>
            <a:t>Purple colouration or stunted growth in some crops due to poor nutrient uptake.</a:t>
          </a:r>
          <a:endParaRPr lang="en-GB" sz="2000" kern="1200"/>
        </a:p>
      </dsp:txBody>
      <dsp:txXfrm>
        <a:off x="38838" y="1816706"/>
        <a:ext cx="8517684" cy="717924"/>
      </dsp:txXfrm>
    </dsp:sp>
    <dsp:sp modelId="{78D6BC44-08ED-45A2-BE6A-D637D8E7471F}">
      <dsp:nvSpPr>
        <dsp:cNvPr id="0" name=""/>
        <dsp:cNvSpPr/>
      </dsp:nvSpPr>
      <dsp:spPr>
        <a:xfrm>
          <a:off x="0" y="2631068"/>
          <a:ext cx="859536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baseline="0"/>
            <a:t>Delayed maturity and poor market timing.</a:t>
          </a:r>
          <a:endParaRPr lang="en-GB" sz="2000" kern="1200"/>
        </a:p>
      </dsp:txBody>
      <dsp:txXfrm>
        <a:off x="38838" y="2669906"/>
        <a:ext cx="8517684" cy="717924"/>
      </dsp:txXfrm>
    </dsp:sp>
    <dsp:sp modelId="{B578E760-728E-4019-B82E-4F1795D8709E}">
      <dsp:nvSpPr>
        <dsp:cNvPr id="0" name=""/>
        <dsp:cNvSpPr/>
      </dsp:nvSpPr>
      <dsp:spPr>
        <a:xfrm>
          <a:off x="0" y="3484268"/>
          <a:ext cx="859536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baseline="0"/>
            <a:t>Flower and fruit damage in sensitive crops.</a:t>
          </a:r>
          <a:endParaRPr lang="en-GB" sz="2000" kern="1200"/>
        </a:p>
      </dsp:txBody>
      <dsp:txXfrm>
        <a:off x="38838" y="3523106"/>
        <a:ext cx="8517684" cy="7179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643D2-78DB-43AC-82E8-6E02BDCAB5AE}">
      <dsp:nvSpPr>
        <dsp:cNvPr id="0" name=""/>
        <dsp:cNvSpPr/>
      </dsp:nvSpPr>
      <dsp:spPr>
        <a:xfrm>
          <a:off x="0" y="47630"/>
          <a:ext cx="8595360" cy="73807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a:t>Excessive transpiration and wilting, especially when soil moisture is low.</a:t>
          </a:r>
          <a:endParaRPr lang="en-GB" sz="1800" kern="1200"/>
        </a:p>
      </dsp:txBody>
      <dsp:txXfrm>
        <a:off x="36030" y="83660"/>
        <a:ext cx="8523300" cy="666018"/>
      </dsp:txXfrm>
    </dsp:sp>
    <dsp:sp modelId="{354BD729-EBB6-4591-BC6E-A640C0FFBB85}">
      <dsp:nvSpPr>
        <dsp:cNvPr id="0" name=""/>
        <dsp:cNvSpPr/>
      </dsp:nvSpPr>
      <dsp:spPr>
        <a:xfrm>
          <a:off x="0" y="837549"/>
          <a:ext cx="8595360" cy="5717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Poor pollination and flower drop in tomatoes, peppers, beans, and cucurbits.</a:t>
          </a:r>
          <a:endParaRPr lang="en-GB" sz="1800" kern="1200" dirty="0"/>
        </a:p>
      </dsp:txBody>
      <dsp:txXfrm>
        <a:off x="27912" y="865461"/>
        <a:ext cx="8539536" cy="515960"/>
      </dsp:txXfrm>
    </dsp:sp>
    <dsp:sp modelId="{202D3B3E-E133-440A-B7A2-0148F75A8DC6}">
      <dsp:nvSpPr>
        <dsp:cNvPr id="0" name=""/>
        <dsp:cNvSpPr/>
      </dsp:nvSpPr>
      <dsp:spPr>
        <a:xfrm>
          <a:off x="0" y="1461174"/>
          <a:ext cx="8595360" cy="659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Sunscald on fruits such as tomatoes and peppers.</a:t>
          </a:r>
          <a:endParaRPr lang="en-GB" sz="1800" kern="1200" dirty="0"/>
        </a:p>
      </dsp:txBody>
      <dsp:txXfrm>
        <a:off x="32206" y="1493380"/>
        <a:ext cx="8530948" cy="595338"/>
      </dsp:txXfrm>
    </dsp:sp>
    <dsp:sp modelId="{1B1CFE2B-B7EC-4240-8E4B-E0EE8EC4B1F6}">
      <dsp:nvSpPr>
        <dsp:cNvPr id="0" name=""/>
        <dsp:cNvSpPr/>
      </dsp:nvSpPr>
      <dsp:spPr>
        <a:xfrm>
          <a:off x="0" y="2172764"/>
          <a:ext cx="8595360" cy="6745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Bitter taste and early bolting in lettuce and other leafy vegetables.</a:t>
          </a:r>
          <a:endParaRPr lang="en-GB" sz="1800" kern="1200" dirty="0"/>
        </a:p>
      </dsp:txBody>
      <dsp:txXfrm>
        <a:off x="32927" y="2205691"/>
        <a:ext cx="8529506" cy="608654"/>
      </dsp:txXfrm>
    </dsp:sp>
    <dsp:sp modelId="{9FD8AD60-8983-4FF6-9837-DDEB2B67B1D9}">
      <dsp:nvSpPr>
        <dsp:cNvPr id="0" name=""/>
        <dsp:cNvSpPr/>
      </dsp:nvSpPr>
      <dsp:spPr>
        <a:xfrm>
          <a:off x="0" y="2899112"/>
          <a:ext cx="8595360" cy="6249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Poor curd or head formation in cauliflower, cabbage, and broccoli.</a:t>
          </a:r>
          <a:endParaRPr lang="en-GB" sz="1800" kern="1200" dirty="0"/>
        </a:p>
      </dsp:txBody>
      <dsp:txXfrm>
        <a:off x="30507" y="2929619"/>
        <a:ext cx="8534346" cy="563921"/>
      </dsp:txXfrm>
    </dsp:sp>
    <dsp:sp modelId="{7ADEE2E9-4B65-4E14-8018-4A3CC7FFF522}">
      <dsp:nvSpPr>
        <dsp:cNvPr id="0" name=""/>
        <dsp:cNvSpPr/>
      </dsp:nvSpPr>
      <dsp:spPr>
        <a:xfrm>
          <a:off x="0" y="3575888"/>
          <a:ext cx="8595360" cy="72781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a:t>Fast maturity but reduced size and poor quality.</a:t>
          </a:r>
          <a:endParaRPr lang="en-GB" sz="1800" kern="1200"/>
        </a:p>
      </dsp:txBody>
      <dsp:txXfrm>
        <a:off x="35529" y="3611417"/>
        <a:ext cx="8524302" cy="6567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03191-79CE-4C14-8620-FC06825EC4C6}">
      <dsp:nvSpPr>
        <dsp:cNvPr id="0" name=""/>
        <dsp:cNvSpPr/>
      </dsp:nvSpPr>
      <dsp:spPr>
        <a:xfrm>
          <a:off x="0" y="238409"/>
          <a:ext cx="9554547"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baseline="0"/>
            <a:t>Reference evapotranspiration (ETo) is the amount of water lost from a reference grass surface through evaporation and transpiration. It represents the evaporative demand of the atmosphere.</a:t>
          </a:r>
          <a:endParaRPr lang="en-GB" sz="2500" kern="1200"/>
        </a:p>
      </dsp:txBody>
      <dsp:txXfrm>
        <a:off x="67110" y="305519"/>
        <a:ext cx="9420327" cy="1240530"/>
      </dsp:txXfrm>
    </dsp:sp>
    <dsp:sp modelId="{45B05809-E1DE-4CC6-9410-DCE5187F321C}">
      <dsp:nvSpPr>
        <dsp:cNvPr id="0" name=""/>
        <dsp:cNvSpPr/>
      </dsp:nvSpPr>
      <dsp:spPr>
        <a:xfrm>
          <a:off x="0" y="1613159"/>
          <a:ext cx="9554547" cy="175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335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GB" sz="2000" kern="1200" baseline="0"/>
            <a:t>Air temperature</a:t>
          </a:r>
          <a:endParaRPr lang="en-GB" sz="2000" kern="1200"/>
        </a:p>
        <a:p>
          <a:pPr marL="228600" lvl="1" indent="-228600" algn="l" defTabSz="889000">
            <a:lnSpc>
              <a:spcPct val="90000"/>
            </a:lnSpc>
            <a:spcBef>
              <a:spcPct val="0"/>
            </a:spcBef>
            <a:spcAft>
              <a:spcPct val="20000"/>
            </a:spcAft>
            <a:buChar char="•"/>
          </a:pPr>
          <a:r>
            <a:rPr lang="en-GB" sz="2000" kern="1200" baseline="0"/>
            <a:t>Solar radiation or sunshine hours</a:t>
          </a:r>
          <a:endParaRPr lang="en-GB" sz="2000" kern="1200"/>
        </a:p>
        <a:p>
          <a:pPr marL="228600" lvl="1" indent="-228600" algn="l" defTabSz="889000">
            <a:lnSpc>
              <a:spcPct val="90000"/>
            </a:lnSpc>
            <a:spcBef>
              <a:spcPct val="0"/>
            </a:spcBef>
            <a:spcAft>
              <a:spcPct val="20000"/>
            </a:spcAft>
            <a:buChar char="•"/>
          </a:pPr>
          <a:r>
            <a:rPr lang="en-GB" sz="2000" kern="1200" baseline="0"/>
            <a:t>Wind speed</a:t>
          </a:r>
          <a:endParaRPr lang="en-GB" sz="2000" kern="1200"/>
        </a:p>
        <a:p>
          <a:pPr marL="228600" lvl="1" indent="-228600" algn="l" defTabSz="889000">
            <a:lnSpc>
              <a:spcPct val="90000"/>
            </a:lnSpc>
            <a:spcBef>
              <a:spcPct val="0"/>
            </a:spcBef>
            <a:spcAft>
              <a:spcPct val="20000"/>
            </a:spcAft>
            <a:buChar char="•"/>
          </a:pPr>
          <a:r>
            <a:rPr lang="en-GB" sz="2000" kern="1200" baseline="0"/>
            <a:t>Relative humidity</a:t>
          </a:r>
          <a:endParaRPr lang="en-GB" sz="2000" kern="1200"/>
        </a:p>
        <a:p>
          <a:pPr marL="228600" lvl="1" indent="-228600" algn="l" defTabSz="889000">
            <a:lnSpc>
              <a:spcPct val="90000"/>
            </a:lnSpc>
            <a:spcBef>
              <a:spcPct val="0"/>
            </a:spcBef>
            <a:spcAft>
              <a:spcPct val="20000"/>
            </a:spcAft>
            <a:buChar char="•"/>
          </a:pPr>
          <a:r>
            <a:rPr lang="en-GB" sz="2000" kern="1200" baseline="0"/>
            <a:t>Season and location</a:t>
          </a:r>
          <a:endParaRPr lang="en-GB" sz="2000" kern="1200"/>
        </a:p>
      </dsp:txBody>
      <dsp:txXfrm>
        <a:off x="0" y="1613159"/>
        <a:ext cx="9554547" cy="1759500"/>
      </dsp:txXfrm>
    </dsp:sp>
    <dsp:sp modelId="{3AD52851-9158-4EFC-BD8E-7A193398EFCB}">
      <dsp:nvSpPr>
        <dsp:cNvPr id="0" name=""/>
        <dsp:cNvSpPr/>
      </dsp:nvSpPr>
      <dsp:spPr>
        <a:xfrm>
          <a:off x="0" y="3372659"/>
          <a:ext cx="9554547"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baseline="0"/>
            <a:t>Example: If ETo = 5.0 mm/day, the atmosphere can remove about 5 mm of water per day from a reference crop surface.</a:t>
          </a:r>
          <a:endParaRPr lang="en-GB" sz="2500" kern="1200"/>
        </a:p>
      </dsp:txBody>
      <dsp:txXfrm>
        <a:off x="67110" y="3439769"/>
        <a:ext cx="9420327" cy="12405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B1EFA-E960-4F83-A086-861351320649}">
      <dsp:nvSpPr>
        <dsp:cNvPr id="0" name=""/>
        <dsp:cNvSpPr/>
      </dsp:nvSpPr>
      <dsp:spPr>
        <a:xfrm>
          <a:off x="0" y="64988"/>
          <a:ext cx="9692640" cy="422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b="1" kern="1200" baseline="0"/>
            <a:t>Problem: </a:t>
          </a:r>
          <a:r>
            <a:rPr lang="en-US" sz="4100" kern="1200" baseline="0"/>
            <a:t>A cabbage crop has a reference evapotranspiration (ETo) of 4.8 mm/day. The crop coefficient (Kc) at mid-season is 1.05. Calculate: (a) daily ETc, (b) weekly ETc, and (c) the weekly water volume for a 0.25 ha field.</a:t>
          </a:r>
          <a:endParaRPr lang="en-GB" sz="4100" kern="1200"/>
        </a:p>
      </dsp:txBody>
      <dsp:txXfrm>
        <a:off x="206070" y="271058"/>
        <a:ext cx="9280500" cy="38092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EF316-9730-98BC-C9B9-5395D82881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F7AFFA0-0D2A-1FF9-FCE8-80E989B2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CDA4C47-AFD4-F1D1-3E47-F71A0759F68F}"/>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F18547DD-A4F6-802D-65DF-BCE47AA982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98FD5A-ACE9-1A40-D7A5-C6A964F13A1C}"/>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313256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39735-9ED3-5F51-9FE7-3799FB2485B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329450C-F585-B5B5-8779-737E3E7B5A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CF971E-E55A-46B8-965F-DB9622242E04}"/>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1BE39730-5DF4-A364-1312-953964F5C70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D4FB04-3B01-B927-9692-3B82636407D8}"/>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1354707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97E13-1442-668C-0D76-4C9CB5651E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400961A-20D7-D2D0-1604-FA50BA788C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83C414-2A25-6C8C-6695-7D38801375D2}"/>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57592402-C0AE-EC23-EAA7-556A04E901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A01EC7-529D-9CED-234D-25716EC6D06E}"/>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390942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5DB54-85DB-862B-5499-55FB5368DF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8C1D3E-4200-E25A-AA1F-143DB0AEF7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3A3324B-1CA5-A084-1FBA-6F01407516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98E944B-652F-71ED-BC98-25F282679322}"/>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6" name="Footer Placeholder 5">
            <a:extLst>
              <a:ext uri="{FF2B5EF4-FFF2-40B4-BE49-F238E27FC236}">
                <a16:creationId xmlns:a16="http://schemas.microsoft.com/office/drawing/2014/main" id="{10A6B396-4BFB-B7D1-31C7-B22EBD9CE6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565766-BE99-A4A7-B498-A669D0CECF7F}"/>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1513105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6E0F-1971-2BE7-E843-78CA7AF65A4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0226D6-78E8-76C5-280D-A3E203DD1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637152-C402-98D0-858E-5D3136B1C5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FEF6ECB-EDFF-FF17-A5A3-A233A39D2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19E1F8-F549-203C-8056-D18DD955B6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C48BCDA-8B9E-F1ED-0430-FA1959C079F8}"/>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8" name="Footer Placeholder 7">
            <a:extLst>
              <a:ext uri="{FF2B5EF4-FFF2-40B4-BE49-F238E27FC236}">
                <a16:creationId xmlns:a16="http://schemas.microsoft.com/office/drawing/2014/main" id="{6323CF40-AB07-0E1A-EF43-1D231C3B709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CA42F2-2B5E-162B-7978-F542923F172B}"/>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3266972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D411-0B2C-7E7B-1D85-44FF871BDCE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36E7976-3535-8521-8DD2-14FA8A2826B6}"/>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4" name="Footer Placeholder 3">
            <a:extLst>
              <a:ext uri="{FF2B5EF4-FFF2-40B4-BE49-F238E27FC236}">
                <a16:creationId xmlns:a16="http://schemas.microsoft.com/office/drawing/2014/main" id="{59513098-8FDA-30B8-19FB-74DCFDB9373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B43B100-30D0-A4B8-190B-9D05EC5AAA65}"/>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232290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F77D33-D3C3-646F-3440-467D65D915B5}"/>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3" name="Footer Placeholder 2">
            <a:extLst>
              <a:ext uri="{FF2B5EF4-FFF2-40B4-BE49-F238E27FC236}">
                <a16:creationId xmlns:a16="http://schemas.microsoft.com/office/drawing/2014/main" id="{56E2894A-5EB0-A29F-175F-20197343E3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7582E7A-35B0-7C26-936C-D3CE7BF23382}"/>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208156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CFD0-8D98-CBAF-3321-8CEC53671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4F7549-A8D7-A929-C93D-301532E68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C35086B-5192-7EF1-77F1-47238BF94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B1F92F-B894-8DC2-2C38-BEBE6FEB23F7}"/>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6" name="Footer Placeholder 5">
            <a:extLst>
              <a:ext uri="{FF2B5EF4-FFF2-40B4-BE49-F238E27FC236}">
                <a16:creationId xmlns:a16="http://schemas.microsoft.com/office/drawing/2014/main" id="{4D1C6819-F753-B5A0-18A4-0FF728C323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B03118-33E5-ED7E-E559-68B40886A1C8}"/>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1907618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6EBA-5E35-14AC-CDE7-689B4B0C1B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ADE0289-F54D-8FD4-44E5-F37F16E70F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D17E534-D330-F05F-6E9A-AD1C3161F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EA7AB1-1306-66EF-F734-1EF8FD28CEF7}"/>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6" name="Footer Placeholder 5">
            <a:extLst>
              <a:ext uri="{FF2B5EF4-FFF2-40B4-BE49-F238E27FC236}">
                <a16:creationId xmlns:a16="http://schemas.microsoft.com/office/drawing/2014/main" id="{8ECB4519-D2CA-E0A2-70FD-590B4AE4A3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2C3BF6-B128-2D5A-8873-F4D8C7727308}"/>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230014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06D0E-A09A-E321-503C-C9D2BD631B5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47E559-71AF-B28C-E37F-31D6E63CA6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C78DB1-AF7F-2B0C-05B6-AF4D5955D55C}"/>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74847146-F44E-9B3F-6CAA-E9E5EF74B7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9A22022-63C5-976F-D677-4B9D9B8FAE88}"/>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60140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0D34DF-6BD2-D413-4ABB-FB9F6E1D62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25CC34-16AD-BA7C-22D2-E9134BEF44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12B76BE-9439-4387-C703-6F01FCFA40BE}"/>
              </a:ext>
            </a:extLst>
          </p:cNvPr>
          <p:cNvSpPr>
            <a:spLocks noGrp="1"/>
          </p:cNvSpPr>
          <p:nvPr>
            <p:ph type="dt" sz="half" idx="10"/>
          </p:nvPr>
        </p:nvSpPr>
        <p:spPr/>
        <p:txBody>
          <a:body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641EA42B-A5B1-5767-0832-668F01F534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400198-FA1B-4D8C-D009-ADA16B7E3860}"/>
              </a:ext>
            </a:extLst>
          </p:cNvPr>
          <p:cNvSpPr>
            <a:spLocks noGrp="1"/>
          </p:cNvSpPr>
          <p:nvPr>
            <p:ph type="sldNum" sz="quarter" idx="12"/>
          </p:nvPr>
        </p:nvSpPr>
        <p:spPr/>
        <p:txBody>
          <a:bodyPr/>
          <a:lstStyle/>
          <a:p>
            <a:fld id="{4C381DFB-1B06-4828-8648-A82B96C68C8C}" type="slidenum">
              <a:rPr lang="en-GB" smtClean="0"/>
              <a:t>‹#›</a:t>
            </a:fld>
            <a:endParaRPr lang="en-GB"/>
          </a:p>
        </p:txBody>
      </p:sp>
    </p:spTree>
    <p:extLst>
      <p:ext uri="{BB962C8B-B14F-4D97-AF65-F5344CB8AC3E}">
        <p14:creationId xmlns:p14="http://schemas.microsoft.com/office/powerpoint/2010/main" val="2890755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660998-7C75-35A2-9923-FCEA5EFBD7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FD7DF2A-138A-BDA9-D295-A6B6D983FB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8B94F6-E8E7-3210-0FFD-1FB39827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03CE91-C27C-4061-909A-975564987F68}" type="datetimeFigureOut">
              <a:rPr lang="en-GB" smtClean="0"/>
              <a:t>10/06/2026</a:t>
            </a:fld>
            <a:endParaRPr lang="en-GB"/>
          </a:p>
        </p:txBody>
      </p:sp>
      <p:sp>
        <p:nvSpPr>
          <p:cNvPr id="5" name="Footer Placeholder 4">
            <a:extLst>
              <a:ext uri="{FF2B5EF4-FFF2-40B4-BE49-F238E27FC236}">
                <a16:creationId xmlns:a16="http://schemas.microsoft.com/office/drawing/2014/main" id="{8FEB3E4A-F347-19D8-CC04-CE66F2958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18CE1D-DEBB-3A99-C008-7C4043CDE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381DFB-1B06-4828-8648-A82B96C68C8C}" type="slidenum">
              <a:rPr lang="en-GB" smtClean="0"/>
              <a:t>‹#›</a:t>
            </a:fld>
            <a:endParaRPr lang="en-GB"/>
          </a:p>
        </p:txBody>
      </p:sp>
    </p:spTree>
    <p:extLst>
      <p:ext uri="{BB962C8B-B14F-4D97-AF65-F5344CB8AC3E}">
        <p14:creationId xmlns:p14="http://schemas.microsoft.com/office/powerpoint/2010/main" val="2832041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42A57-A30E-20AF-98FE-B9123128EFC5}"/>
              </a:ext>
            </a:extLst>
          </p:cNvPr>
          <p:cNvSpPr>
            <a:spLocks noGrp="1"/>
          </p:cNvSpPr>
          <p:nvPr>
            <p:ph type="title"/>
          </p:nvPr>
        </p:nvSpPr>
        <p:spPr>
          <a:xfrm>
            <a:off x="1261872" y="294198"/>
            <a:ext cx="9692640" cy="1282675"/>
          </a:xfrm>
        </p:spPr>
        <p:txBody>
          <a:bodyPr>
            <a:normAutofit fontScale="90000"/>
          </a:bodyPr>
          <a:lstStyle/>
          <a:p>
            <a:pPr algn="ctr"/>
            <a:r>
              <a:rPr lang="en-GB" dirty="0">
                <a:latin typeface="Times New Roman" panose="02020603050405020304" pitchFamily="18" charset="0"/>
                <a:cs typeface="Times New Roman" panose="02020603050405020304" pitchFamily="18" charset="0"/>
              </a:rPr>
              <a:t>Climatic requirements for vegetable crops.</a:t>
            </a:r>
            <a:endParaRPr lang="en-GB" dirty="0"/>
          </a:p>
        </p:txBody>
      </p:sp>
      <p:graphicFrame>
        <p:nvGraphicFramePr>
          <p:cNvPr id="4" name="Content Placeholder 3">
            <a:extLst>
              <a:ext uri="{FF2B5EF4-FFF2-40B4-BE49-F238E27FC236}">
                <a16:creationId xmlns:a16="http://schemas.microsoft.com/office/drawing/2014/main" id="{544E3BA2-B2EA-1992-CA4A-55CFB223DE51}"/>
              </a:ext>
            </a:extLst>
          </p:cNvPr>
          <p:cNvGraphicFramePr>
            <a:graphicFrameLocks noGrp="1"/>
          </p:cNvGraphicFramePr>
          <p:nvPr>
            <p:ph idx="1"/>
          </p:nvPr>
        </p:nvGraphicFramePr>
        <p:xfrm>
          <a:off x="1261872" y="1828800"/>
          <a:ext cx="9403018"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143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E83E4-F414-B00C-E8D2-518C22509974}"/>
              </a:ext>
            </a:extLst>
          </p:cNvPr>
          <p:cNvSpPr>
            <a:spLocks noGrp="1"/>
          </p:cNvSpPr>
          <p:nvPr>
            <p:ph type="title"/>
          </p:nvPr>
        </p:nvSpPr>
        <p:spPr/>
        <p:txBody>
          <a:bodyPr/>
          <a:lstStyle/>
          <a:p>
            <a:pPr algn="ctr"/>
            <a:r>
              <a:rPr lang="en-US" dirty="0"/>
              <a:t>Meaning of Climatic Requirements</a:t>
            </a:r>
            <a:endParaRPr lang="en-GB" dirty="0"/>
          </a:p>
        </p:txBody>
      </p:sp>
      <p:graphicFrame>
        <p:nvGraphicFramePr>
          <p:cNvPr id="4" name="Content Placeholder 3">
            <a:extLst>
              <a:ext uri="{FF2B5EF4-FFF2-40B4-BE49-F238E27FC236}">
                <a16:creationId xmlns:a16="http://schemas.microsoft.com/office/drawing/2014/main" id="{E1A2F7D1-F0BD-26EF-96E5-90D9F917E22B}"/>
              </a:ext>
            </a:extLst>
          </p:cNvPr>
          <p:cNvGraphicFramePr>
            <a:graphicFrameLocks noGrp="1"/>
          </p:cNvGraphicFramePr>
          <p:nvPr>
            <p:ph idx="1"/>
          </p:nvPr>
        </p:nvGraphicFramePr>
        <p:xfrm>
          <a:off x="438539" y="1828800"/>
          <a:ext cx="5206481"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C2C2AFE5-DEED-956D-B88F-153D119C323E}"/>
              </a:ext>
            </a:extLst>
          </p:cNvPr>
          <p:cNvPicPr>
            <a:picLocks noChangeAspect="1"/>
          </p:cNvPicPr>
          <p:nvPr/>
        </p:nvPicPr>
        <p:blipFill>
          <a:blip r:embed="rId7"/>
          <a:stretch>
            <a:fillRect/>
          </a:stretch>
        </p:blipFill>
        <p:spPr>
          <a:xfrm>
            <a:off x="5728996" y="2120822"/>
            <a:ext cx="5542384" cy="3598843"/>
          </a:xfrm>
          <a:prstGeom prst="rect">
            <a:avLst/>
          </a:prstGeom>
        </p:spPr>
      </p:pic>
    </p:spTree>
    <p:extLst>
      <p:ext uri="{BB962C8B-B14F-4D97-AF65-F5344CB8AC3E}">
        <p14:creationId xmlns:p14="http://schemas.microsoft.com/office/powerpoint/2010/main" val="246740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3F5A2CC-9CB6-ED94-046C-46C90E1E3DB1}"/>
              </a:ext>
            </a:extLst>
          </p:cNvPr>
          <p:cNvGraphicFramePr>
            <a:graphicFrameLocks noGrp="1"/>
          </p:cNvGraphicFramePr>
          <p:nvPr>
            <p:ph idx="1"/>
          </p:nvPr>
        </p:nvGraphicFramePr>
        <p:xfrm>
          <a:off x="531845" y="625151"/>
          <a:ext cx="10692882" cy="6051042"/>
        </p:xfrm>
        <a:graphic>
          <a:graphicData uri="http://schemas.openxmlformats.org/drawingml/2006/table">
            <a:tbl>
              <a:tblPr firstRow="1" firstCol="1" bandRow="1">
                <a:tableStyleId>{5C22544A-7EE6-4342-B048-85BDC9FD1C3A}</a:tableStyleId>
              </a:tblPr>
              <a:tblGrid>
                <a:gridCol w="5346441">
                  <a:extLst>
                    <a:ext uri="{9D8B030D-6E8A-4147-A177-3AD203B41FA5}">
                      <a16:colId xmlns:a16="http://schemas.microsoft.com/office/drawing/2014/main" val="1680849580"/>
                    </a:ext>
                  </a:extLst>
                </a:gridCol>
                <a:gridCol w="5346441">
                  <a:extLst>
                    <a:ext uri="{9D8B030D-6E8A-4147-A177-3AD203B41FA5}">
                      <a16:colId xmlns:a16="http://schemas.microsoft.com/office/drawing/2014/main" val="3899620794"/>
                    </a:ext>
                  </a:extLst>
                </a:gridCol>
              </a:tblGrid>
              <a:tr h="340227">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Climatic factor</a:t>
                      </a:r>
                      <a:endParaRPr lang="en-GB"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Why it is important in vegetables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4658504"/>
                  </a:ext>
                </a:extLst>
              </a:tr>
              <a:tr h="710141">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Temperature</a:t>
                      </a:r>
                      <a:endParaRPr lang="en-GB"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Controls seed germination, growth rate, flowering, fruiting, maturity, and crop quality.</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5305970"/>
                  </a:ext>
                </a:extLst>
              </a:tr>
              <a:tr h="710141">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Rainfall and irrigation</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Supplies water for growth, nutrient movement, photosynthesis, and cooling of plant tissues.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7189747"/>
                  </a:ext>
                </a:extLst>
              </a:tr>
              <a:tr h="710141">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Relative humidity</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Affects transpiration, pollination, disease development, and freshness of leafy vegetables.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2661794"/>
                  </a:ext>
                </a:extLst>
              </a:tr>
              <a:tr h="1080055">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Light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Needed for photosynthesis and influences flowering, leaf size, colour, and dry matter accumulation.</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8504335"/>
                  </a:ext>
                </a:extLst>
              </a:tr>
              <a:tr h="1080055">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Wind</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Affects water loss, lodging, pollination, physical damage, and spread of pests and diseases.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6902982"/>
                  </a:ext>
                </a:extLst>
              </a:tr>
              <a:tr h="710141">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Altitude</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Influences temperature and season length; high altitude areas are generally cooler.</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0601299"/>
                  </a:ext>
                </a:extLst>
              </a:tr>
              <a:tr h="710141">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Season</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Determines whether cool-season or warm-season vegetables can be grown successfully.</a:t>
                      </a:r>
                      <a:endParaRPr lang="en-GB"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0059785"/>
                  </a:ext>
                </a:extLst>
              </a:tr>
            </a:tbl>
          </a:graphicData>
        </a:graphic>
      </p:graphicFrame>
    </p:spTree>
    <p:extLst>
      <p:ext uri="{BB962C8B-B14F-4D97-AF65-F5344CB8AC3E}">
        <p14:creationId xmlns:p14="http://schemas.microsoft.com/office/powerpoint/2010/main" val="2631232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8D38A-9861-C5E6-6E99-0C251591475B}"/>
              </a:ext>
            </a:extLst>
          </p:cNvPr>
          <p:cNvSpPr>
            <a:spLocks noGrp="1"/>
          </p:cNvSpPr>
          <p:nvPr>
            <p:ph type="title"/>
          </p:nvPr>
        </p:nvSpPr>
        <p:spPr>
          <a:xfrm>
            <a:off x="1261872" y="294197"/>
            <a:ext cx="9692640" cy="956105"/>
          </a:xfrm>
        </p:spPr>
        <p:txBody>
          <a:bodyPr/>
          <a:lstStyle/>
          <a:p>
            <a:pPr algn="ctr"/>
            <a:r>
              <a:rPr lang="en-US" dirty="0"/>
              <a:t>Temperature Requirements</a:t>
            </a:r>
            <a:endParaRPr lang="en-GB" dirty="0"/>
          </a:p>
        </p:txBody>
      </p:sp>
      <p:graphicFrame>
        <p:nvGraphicFramePr>
          <p:cNvPr id="4" name="Content Placeholder 3">
            <a:extLst>
              <a:ext uri="{FF2B5EF4-FFF2-40B4-BE49-F238E27FC236}">
                <a16:creationId xmlns:a16="http://schemas.microsoft.com/office/drawing/2014/main" id="{499BC1E7-27C1-5F5C-C0E2-72454A6CE7E8}"/>
              </a:ext>
            </a:extLst>
          </p:cNvPr>
          <p:cNvGraphicFramePr>
            <a:graphicFrameLocks noGrp="1"/>
          </p:cNvGraphicFramePr>
          <p:nvPr>
            <p:ph idx="1"/>
          </p:nvPr>
        </p:nvGraphicFramePr>
        <p:xfrm>
          <a:off x="1261872" y="1828800"/>
          <a:ext cx="9617622"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9169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E569A-F257-E1F3-9078-5842B773FFB6}"/>
              </a:ext>
            </a:extLst>
          </p:cNvPr>
          <p:cNvSpPr>
            <a:spLocks noGrp="1"/>
          </p:cNvSpPr>
          <p:nvPr>
            <p:ph type="title"/>
          </p:nvPr>
        </p:nvSpPr>
        <p:spPr>
          <a:xfrm>
            <a:off x="1261872" y="294198"/>
            <a:ext cx="9692640" cy="1189369"/>
          </a:xfrm>
        </p:spPr>
        <p:txBody>
          <a:bodyPr>
            <a:normAutofit/>
          </a:bodyPr>
          <a:lstStyle/>
          <a:p>
            <a:pPr algn="ctr"/>
            <a:r>
              <a:rPr lang="en-US" dirty="0"/>
              <a:t>Temperature groups of vegetable crops</a:t>
            </a:r>
            <a:endParaRPr lang="en-GB" dirty="0"/>
          </a:p>
        </p:txBody>
      </p:sp>
      <p:graphicFrame>
        <p:nvGraphicFramePr>
          <p:cNvPr id="4" name="Content Placeholder 3">
            <a:extLst>
              <a:ext uri="{FF2B5EF4-FFF2-40B4-BE49-F238E27FC236}">
                <a16:creationId xmlns:a16="http://schemas.microsoft.com/office/drawing/2014/main" id="{934D510F-F389-549F-ADFB-6E71A0DF4891}"/>
              </a:ext>
            </a:extLst>
          </p:cNvPr>
          <p:cNvGraphicFramePr>
            <a:graphicFrameLocks noGrp="1"/>
          </p:cNvGraphicFramePr>
          <p:nvPr>
            <p:ph idx="1"/>
          </p:nvPr>
        </p:nvGraphicFramePr>
        <p:xfrm>
          <a:off x="597159" y="1483566"/>
          <a:ext cx="10636900" cy="5040789"/>
        </p:xfrm>
        <a:graphic>
          <a:graphicData uri="http://schemas.openxmlformats.org/drawingml/2006/table">
            <a:tbl>
              <a:tblPr firstRow="1" firstCol="1" bandRow="1">
                <a:tableStyleId>{5C22544A-7EE6-4342-B048-85BDC9FD1C3A}</a:tableStyleId>
              </a:tblPr>
              <a:tblGrid>
                <a:gridCol w="2659225">
                  <a:extLst>
                    <a:ext uri="{9D8B030D-6E8A-4147-A177-3AD203B41FA5}">
                      <a16:colId xmlns:a16="http://schemas.microsoft.com/office/drawing/2014/main" val="1712195519"/>
                    </a:ext>
                  </a:extLst>
                </a:gridCol>
                <a:gridCol w="2659225">
                  <a:extLst>
                    <a:ext uri="{9D8B030D-6E8A-4147-A177-3AD203B41FA5}">
                      <a16:colId xmlns:a16="http://schemas.microsoft.com/office/drawing/2014/main" val="2926529388"/>
                    </a:ext>
                  </a:extLst>
                </a:gridCol>
                <a:gridCol w="2659225">
                  <a:extLst>
                    <a:ext uri="{9D8B030D-6E8A-4147-A177-3AD203B41FA5}">
                      <a16:colId xmlns:a16="http://schemas.microsoft.com/office/drawing/2014/main" val="634609194"/>
                    </a:ext>
                  </a:extLst>
                </a:gridCol>
                <a:gridCol w="2659225">
                  <a:extLst>
                    <a:ext uri="{9D8B030D-6E8A-4147-A177-3AD203B41FA5}">
                      <a16:colId xmlns:a16="http://schemas.microsoft.com/office/drawing/2014/main" val="4075100231"/>
                    </a:ext>
                  </a:extLst>
                </a:gridCol>
              </a:tblGrid>
              <a:tr h="496667">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Group</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Preferred temperature range</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Examples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Main notes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42242116"/>
                  </a:ext>
                </a:extLst>
              </a:tr>
              <a:tr h="1534570">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Cool-season vegetables</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About 10-24°C</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Cabbage, rape, lettuce, onion, carrot, beetroot, broccoli, cauliflower, peas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Grow best in cool conditions. High temperature may cause poor head formation, bolting, bitterness, and low quality.</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6715247"/>
                  </a:ext>
                </a:extLst>
              </a:tr>
              <a:tr h="1534570">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Warm-season vegetables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About 18-30°C</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Tomato, eggplant, pepper, cucumber, pumpkin, squash, okra, beans, sweet corn</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Require warm conditions and are damaged by frost. Very high temperature can reduce flowering and fruit set.</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1827937"/>
                  </a:ext>
                </a:extLst>
              </a:tr>
              <a:tr h="1015524">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Hot-season/tropical vegetables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About 25-35°C</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Okra, amaranthus, pumpkin leaves, cowpea leaves, sweet potato leaves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Tolerate heat better than temperate vegetables, but still need enough moisture.</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9270555"/>
                  </a:ext>
                </a:extLst>
              </a:tr>
            </a:tbl>
          </a:graphicData>
        </a:graphic>
      </p:graphicFrame>
    </p:spTree>
    <p:extLst>
      <p:ext uri="{BB962C8B-B14F-4D97-AF65-F5344CB8AC3E}">
        <p14:creationId xmlns:p14="http://schemas.microsoft.com/office/powerpoint/2010/main" val="3964552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12B37C-4CF0-C243-6C27-32F2336D43F6}"/>
              </a:ext>
            </a:extLst>
          </p:cNvPr>
          <p:cNvPicPr>
            <a:picLocks noGrp="1" noChangeAspect="1"/>
          </p:cNvPicPr>
          <p:nvPr>
            <p:ph idx="1"/>
          </p:nvPr>
        </p:nvPicPr>
        <p:blipFill>
          <a:blip r:embed="rId2"/>
          <a:stretch>
            <a:fillRect/>
          </a:stretch>
        </p:blipFill>
        <p:spPr>
          <a:xfrm>
            <a:off x="802432" y="707553"/>
            <a:ext cx="10198359" cy="5599941"/>
          </a:xfrm>
          <a:prstGeom prst="rect">
            <a:avLst/>
          </a:prstGeom>
        </p:spPr>
      </p:pic>
    </p:spTree>
    <p:extLst>
      <p:ext uri="{BB962C8B-B14F-4D97-AF65-F5344CB8AC3E}">
        <p14:creationId xmlns:p14="http://schemas.microsoft.com/office/powerpoint/2010/main" val="14295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C070-ADD7-1760-9766-78920276A911}"/>
              </a:ext>
            </a:extLst>
          </p:cNvPr>
          <p:cNvSpPr>
            <a:spLocks noGrp="1"/>
          </p:cNvSpPr>
          <p:nvPr>
            <p:ph type="title"/>
          </p:nvPr>
        </p:nvSpPr>
        <p:spPr>
          <a:xfrm>
            <a:off x="1261872" y="294198"/>
            <a:ext cx="9692640" cy="741500"/>
          </a:xfrm>
        </p:spPr>
        <p:txBody>
          <a:bodyPr/>
          <a:lstStyle/>
          <a:p>
            <a:r>
              <a:rPr lang="en-US" dirty="0"/>
              <a:t>Effects of very low temperature</a:t>
            </a:r>
            <a:endParaRPr lang="en-GB" dirty="0"/>
          </a:p>
        </p:txBody>
      </p:sp>
      <p:graphicFrame>
        <p:nvGraphicFramePr>
          <p:cNvPr id="4" name="Content Placeholder 3">
            <a:extLst>
              <a:ext uri="{FF2B5EF4-FFF2-40B4-BE49-F238E27FC236}">
                <a16:creationId xmlns:a16="http://schemas.microsoft.com/office/drawing/2014/main" id="{A3F9D60D-2CD1-3FF2-0D47-70FA00F54E72}"/>
              </a:ext>
            </a:extLst>
          </p:cNvPr>
          <p:cNvGraphicFramePr>
            <a:graphicFrameLocks noGrp="1"/>
          </p:cNvGraphicFramePr>
          <p:nvPr>
            <p:ph idx="1"/>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4489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6F43-1CFA-CBE5-3F76-E065D4A39700}"/>
              </a:ext>
            </a:extLst>
          </p:cNvPr>
          <p:cNvSpPr>
            <a:spLocks noGrp="1"/>
          </p:cNvSpPr>
          <p:nvPr>
            <p:ph type="title"/>
          </p:nvPr>
        </p:nvSpPr>
        <p:spPr>
          <a:xfrm>
            <a:off x="1261872" y="294198"/>
            <a:ext cx="9692640" cy="769492"/>
          </a:xfrm>
        </p:spPr>
        <p:txBody>
          <a:bodyPr/>
          <a:lstStyle/>
          <a:p>
            <a:r>
              <a:rPr lang="en-US" dirty="0"/>
              <a:t>Effects of very high temperature</a:t>
            </a:r>
            <a:endParaRPr lang="en-GB" dirty="0"/>
          </a:p>
        </p:txBody>
      </p:sp>
      <p:graphicFrame>
        <p:nvGraphicFramePr>
          <p:cNvPr id="4" name="Content Placeholder 3">
            <a:extLst>
              <a:ext uri="{FF2B5EF4-FFF2-40B4-BE49-F238E27FC236}">
                <a16:creationId xmlns:a16="http://schemas.microsoft.com/office/drawing/2014/main" id="{B228AB92-69DB-5573-963E-FB37B62CEC1D}"/>
              </a:ext>
            </a:extLst>
          </p:cNvPr>
          <p:cNvGraphicFramePr>
            <a:graphicFrameLocks noGrp="1"/>
          </p:cNvGraphicFramePr>
          <p:nvPr>
            <p:ph idx="1"/>
          </p:nvPr>
        </p:nvGraphicFramePr>
        <p:xfrm>
          <a:off x="1261872" y="1828800"/>
          <a:ext cx="859536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0256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A33F-F7B8-91C8-28E9-1219C5242450}"/>
              </a:ext>
            </a:extLst>
          </p:cNvPr>
          <p:cNvSpPr>
            <a:spLocks noGrp="1"/>
          </p:cNvSpPr>
          <p:nvPr>
            <p:ph type="title"/>
          </p:nvPr>
        </p:nvSpPr>
        <p:spPr>
          <a:xfrm>
            <a:off x="1261872" y="294198"/>
            <a:ext cx="9692640" cy="900120"/>
          </a:xfrm>
        </p:spPr>
        <p:txBody>
          <a:bodyPr>
            <a:normAutofit/>
          </a:bodyPr>
          <a:lstStyle/>
          <a:p>
            <a:pPr algn="ctr"/>
            <a:r>
              <a:rPr lang="en-US" sz="4000" dirty="0"/>
              <a:t>Rainfall and Water Requirements</a:t>
            </a:r>
            <a:endParaRPr lang="en-GB" sz="4000" dirty="0"/>
          </a:p>
        </p:txBody>
      </p:sp>
      <p:graphicFrame>
        <p:nvGraphicFramePr>
          <p:cNvPr id="4" name="Content Placeholder 3">
            <a:extLst>
              <a:ext uri="{FF2B5EF4-FFF2-40B4-BE49-F238E27FC236}">
                <a16:creationId xmlns:a16="http://schemas.microsoft.com/office/drawing/2014/main" id="{BFD71611-D069-A35C-DC2E-31D4C7A4DF34}"/>
              </a:ext>
            </a:extLst>
          </p:cNvPr>
          <p:cNvGraphicFramePr>
            <a:graphicFrameLocks noGrp="1"/>
          </p:cNvGraphicFramePr>
          <p:nvPr>
            <p:ph idx="1"/>
          </p:nvPr>
        </p:nvGraphicFramePr>
        <p:xfrm>
          <a:off x="830425" y="1614196"/>
          <a:ext cx="10310328" cy="4927432"/>
        </p:xfrm>
        <a:graphic>
          <a:graphicData uri="http://schemas.openxmlformats.org/drawingml/2006/table">
            <a:tbl>
              <a:tblPr firstRow="1" firstCol="1" bandRow="1">
                <a:tableStyleId>{5C22544A-7EE6-4342-B048-85BDC9FD1C3A}</a:tableStyleId>
              </a:tblPr>
              <a:tblGrid>
                <a:gridCol w="3436776">
                  <a:extLst>
                    <a:ext uri="{9D8B030D-6E8A-4147-A177-3AD203B41FA5}">
                      <a16:colId xmlns:a16="http://schemas.microsoft.com/office/drawing/2014/main" val="4010556421"/>
                    </a:ext>
                  </a:extLst>
                </a:gridCol>
                <a:gridCol w="3436776">
                  <a:extLst>
                    <a:ext uri="{9D8B030D-6E8A-4147-A177-3AD203B41FA5}">
                      <a16:colId xmlns:a16="http://schemas.microsoft.com/office/drawing/2014/main" val="32772987"/>
                    </a:ext>
                  </a:extLst>
                </a:gridCol>
                <a:gridCol w="3436776">
                  <a:extLst>
                    <a:ext uri="{9D8B030D-6E8A-4147-A177-3AD203B41FA5}">
                      <a16:colId xmlns:a16="http://schemas.microsoft.com/office/drawing/2014/main" val="758099128"/>
                    </a:ext>
                  </a:extLst>
                </a:gridCol>
              </a:tblGrid>
              <a:tr h="976278">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Crop type</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Water requirement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Important stages when water is critical</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69583376"/>
                  </a:ext>
                </a:extLst>
              </a:tr>
              <a:tr h="975908">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Leafy vegetables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High and frequent moisture requirement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Germination, leaf expansion, and harvesting period.</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0770346"/>
                  </a:ext>
                </a:extLst>
              </a:tr>
              <a:tr h="975908">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Fruit vegetables</a:t>
                      </a:r>
                      <a:endParaRPr lang="en-GB"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Moderate to high water requirement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Flowering, fruit set, and fruit enlargement.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4360138"/>
                  </a:ext>
                </a:extLst>
              </a:tr>
              <a:tr h="975908">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Root vegetables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Moderate and uniform moisture requirement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Root initiation and root enlargement.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6825955"/>
                  </a:ext>
                </a:extLst>
              </a:tr>
              <a:tr h="975908">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Bulb vegetables</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Moderate moisture requirement</a:t>
                      </a:r>
                      <a:endParaRPr lang="en-GB"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Bulb formation; excess water near maturity should be avoided.</a:t>
                      </a:r>
                      <a:endParaRPr lang="en-GB"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2422575"/>
                  </a:ext>
                </a:extLst>
              </a:tr>
            </a:tbl>
          </a:graphicData>
        </a:graphic>
      </p:graphicFrame>
    </p:spTree>
    <p:extLst>
      <p:ext uri="{BB962C8B-B14F-4D97-AF65-F5344CB8AC3E}">
        <p14:creationId xmlns:p14="http://schemas.microsoft.com/office/powerpoint/2010/main" val="105877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6DD5BC-5B29-43D4-4B54-48BE9DC5D9D3}"/>
              </a:ext>
            </a:extLst>
          </p:cNvPr>
          <p:cNvPicPr>
            <a:picLocks noGrp="1" noChangeAspect="1"/>
          </p:cNvPicPr>
          <p:nvPr>
            <p:ph idx="1"/>
          </p:nvPr>
        </p:nvPicPr>
        <p:blipFill>
          <a:blip r:embed="rId2"/>
          <a:stretch>
            <a:fillRect/>
          </a:stretch>
        </p:blipFill>
        <p:spPr>
          <a:xfrm>
            <a:off x="444602" y="1222310"/>
            <a:ext cx="10836108" cy="4957828"/>
          </a:xfrm>
          <a:prstGeom prst="rect">
            <a:avLst/>
          </a:prstGeom>
        </p:spPr>
      </p:pic>
    </p:spTree>
    <p:extLst>
      <p:ext uri="{BB962C8B-B14F-4D97-AF65-F5344CB8AC3E}">
        <p14:creationId xmlns:p14="http://schemas.microsoft.com/office/powerpoint/2010/main" val="664882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AB48-CE6A-2AF8-67A1-6494ECD570F1}"/>
              </a:ext>
            </a:extLst>
          </p:cNvPr>
          <p:cNvSpPr>
            <a:spLocks noGrp="1"/>
          </p:cNvSpPr>
          <p:nvPr>
            <p:ph type="title"/>
          </p:nvPr>
        </p:nvSpPr>
        <p:spPr/>
        <p:txBody>
          <a:bodyPr>
            <a:normAutofit/>
          </a:bodyPr>
          <a:lstStyle/>
          <a:p>
            <a:pPr algn="ctr"/>
            <a:r>
              <a:rPr lang="en-US" dirty="0"/>
              <a:t>Crop Water Requirement Calculations</a:t>
            </a:r>
            <a:endParaRPr lang="en-GB" dirty="0"/>
          </a:p>
        </p:txBody>
      </p:sp>
      <p:sp>
        <p:nvSpPr>
          <p:cNvPr id="3" name="Content Placeholder 2">
            <a:extLst>
              <a:ext uri="{FF2B5EF4-FFF2-40B4-BE49-F238E27FC236}">
                <a16:creationId xmlns:a16="http://schemas.microsoft.com/office/drawing/2014/main" id="{F79769A8-E822-E48F-A432-15B673426822}"/>
              </a:ext>
            </a:extLst>
          </p:cNvPr>
          <p:cNvSpPr>
            <a:spLocks noGrp="1"/>
          </p:cNvSpPr>
          <p:nvPr>
            <p:ph idx="1"/>
          </p:nvPr>
        </p:nvSpPr>
        <p:spPr/>
        <p:txBody>
          <a:bodyPr/>
          <a:lstStyle/>
          <a:p>
            <a:r>
              <a:rPr lang="en-US" sz="2400" b="1" dirty="0">
                <a:latin typeface="Times New Roman" panose="02020603050405020304" pitchFamily="18" charset="0"/>
                <a:cs typeface="Times New Roman" panose="02020603050405020304" pitchFamily="18" charset="0"/>
              </a:rPr>
              <a:t>Crop water requirement </a:t>
            </a:r>
            <a:r>
              <a:rPr lang="en-US" sz="2400" dirty="0">
                <a:latin typeface="Times New Roman" panose="02020603050405020304" pitchFamily="18" charset="0"/>
                <a:cs typeface="Times New Roman" panose="02020603050405020304" pitchFamily="18" charset="0"/>
              </a:rPr>
              <a:t>is the amount of water needed by a crop for normal growth, development, and yield. It is mainly influenced by climate, crop type, crop growth stage, soil conditions, and irrigation efficiency.</a:t>
            </a:r>
            <a:endParaRPr lang="en-GB" sz="2400" dirty="0">
              <a:latin typeface="Times New Roman" panose="02020603050405020304" pitchFamily="18" charset="0"/>
              <a:cs typeface="Times New Roman" panose="02020603050405020304" pitchFamily="18" charset="0"/>
            </a:endParaRPr>
          </a:p>
          <a:p>
            <a:pPr marL="0" indent="0" algn="ctr">
              <a:buNone/>
            </a:pPr>
            <a:r>
              <a:rPr lang="en-GB" b="1" dirty="0" err="1">
                <a:solidFill>
                  <a:srgbClr val="FF0000"/>
                </a:solidFill>
              </a:rPr>
              <a:t>ETc</a:t>
            </a:r>
            <a:r>
              <a:rPr lang="en-GB" b="1" dirty="0">
                <a:solidFill>
                  <a:srgbClr val="FF0000"/>
                </a:solidFill>
              </a:rPr>
              <a:t> = </a:t>
            </a:r>
            <a:r>
              <a:rPr lang="en-GB" b="1" dirty="0" err="1">
                <a:solidFill>
                  <a:srgbClr val="FF0000"/>
                </a:solidFill>
              </a:rPr>
              <a:t>ETo</a:t>
            </a:r>
            <a:r>
              <a:rPr lang="en-GB" b="1" dirty="0">
                <a:solidFill>
                  <a:srgbClr val="FF0000"/>
                </a:solidFill>
              </a:rPr>
              <a:t> × Kc</a:t>
            </a:r>
          </a:p>
          <a:p>
            <a:pPr marL="0" indent="0">
              <a:buNone/>
            </a:pPr>
            <a:endParaRPr lang="en-GB" b="1" dirty="0">
              <a:solidFill>
                <a:srgbClr val="FF0000"/>
              </a:solidFill>
            </a:endParaRPr>
          </a:p>
        </p:txBody>
      </p:sp>
      <p:graphicFrame>
        <p:nvGraphicFramePr>
          <p:cNvPr id="4" name="Table 3">
            <a:extLst>
              <a:ext uri="{FF2B5EF4-FFF2-40B4-BE49-F238E27FC236}">
                <a16:creationId xmlns:a16="http://schemas.microsoft.com/office/drawing/2014/main" id="{A015AEF7-43A2-1B04-F885-A3B970109452}"/>
              </a:ext>
            </a:extLst>
          </p:cNvPr>
          <p:cNvGraphicFramePr>
            <a:graphicFrameLocks noGrp="1"/>
          </p:cNvGraphicFramePr>
          <p:nvPr/>
        </p:nvGraphicFramePr>
        <p:xfrm>
          <a:off x="1261871" y="4222143"/>
          <a:ext cx="9785573" cy="1805432"/>
        </p:xfrm>
        <a:graphic>
          <a:graphicData uri="http://schemas.openxmlformats.org/drawingml/2006/table">
            <a:tbl>
              <a:tblPr firstRow="1" firstCol="1" bandRow="1">
                <a:tableStyleId>{5C22544A-7EE6-4342-B048-85BDC9FD1C3A}</a:tableStyleId>
              </a:tblPr>
              <a:tblGrid>
                <a:gridCol w="1752639">
                  <a:extLst>
                    <a:ext uri="{9D8B030D-6E8A-4147-A177-3AD203B41FA5}">
                      <a16:colId xmlns:a16="http://schemas.microsoft.com/office/drawing/2014/main" val="3718021426"/>
                    </a:ext>
                  </a:extLst>
                </a:gridCol>
                <a:gridCol w="8032934">
                  <a:extLst>
                    <a:ext uri="{9D8B030D-6E8A-4147-A177-3AD203B41FA5}">
                      <a16:colId xmlns:a16="http://schemas.microsoft.com/office/drawing/2014/main" val="3581790063"/>
                    </a:ext>
                  </a:extLst>
                </a:gridCol>
              </a:tblGrid>
              <a:tr h="349281">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Symbol</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800" dirty="0">
                          <a:effectLst/>
                          <a:latin typeface="Times New Roman" panose="02020603050405020304" pitchFamily="18" charset="0"/>
                          <a:cs typeface="Times New Roman" panose="02020603050405020304" pitchFamily="18" charset="0"/>
                        </a:rPr>
                        <a:t>Meaning</a:t>
                      </a:r>
                      <a:endParaRPr lang="en-GB"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41124086"/>
                  </a:ext>
                </a:extLst>
              </a:tr>
              <a:tr h="349281">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ETc</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Crop evapotranspiration or crop water requirement</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57618579"/>
                  </a:ext>
                </a:extLst>
              </a:tr>
              <a:tr h="349281">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ETo</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Reference evapotranspiration</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731569"/>
                  </a:ext>
                </a:extLst>
              </a:tr>
              <a:tr h="349281">
                <a:tc>
                  <a:txBody>
                    <a:bodyPr/>
                    <a:lstStyle/>
                    <a:p>
                      <a:pPr>
                        <a:lnSpc>
                          <a:spcPct val="115000"/>
                        </a:lnSpc>
                        <a:spcAft>
                          <a:spcPts val="1000"/>
                        </a:spcAft>
                        <a:buNone/>
                      </a:pPr>
                      <a:r>
                        <a:rPr lang="en-US" sz="2800">
                          <a:effectLst/>
                          <a:latin typeface="Times New Roman" panose="02020603050405020304" pitchFamily="18" charset="0"/>
                          <a:cs typeface="Times New Roman" panose="02020603050405020304" pitchFamily="18" charset="0"/>
                        </a:rPr>
                        <a:t>Kc</a:t>
                      </a:r>
                      <a:endParaRPr lang="en-GB" sz="2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2800" dirty="0">
                          <a:effectLst/>
                          <a:latin typeface="Times New Roman" panose="02020603050405020304" pitchFamily="18" charset="0"/>
                          <a:cs typeface="Times New Roman" panose="02020603050405020304" pitchFamily="18" charset="0"/>
                        </a:rPr>
                        <a:t>Crop coefficient</a:t>
                      </a:r>
                      <a:endParaRPr lang="en-GB" sz="2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22451180"/>
                  </a:ext>
                </a:extLst>
              </a:tr>
            </a:tbl>
          </a:graphicData>
        </a:graphic>
      </p:graphicFrame>
    </p:spTree>
    <p:extLst>
      <p:ext uri="{BB962C8B-B14F-4D97-AF65-F5344CB8AC3E}">
        <p14:creationId xmlns:p14="http://schemas.microsoft.com/office/powerpoint/2010/main" val="1966298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729B-98B8-8F7D-217B-7D264FA8AEC4}"/>
              </a:ext>
            </a:extLst>
          </p:cNvPr>
          <p:cNvSpPr>
            <a:spLocks noGrp="1"/>
          </p:cNvSpPr>
          <p:nvPr>
            <p:ph type="title"/>
          </p:nvPr>
        </p:nvSpPr>
        <p:spPr>
          <a:xfrm>
            <a:off x="1261872" y="294199"/>
            <a:ext cx="9692640" cy="778822"/>
          </a:xfrm>
        </p:spPr>
        <p:txBody>
          <a:bodyPr>
            <a:normAutofit/>
          </a:bodyPr>
          <a:lstStyle/>
          <a:p>
            <a:pPr algn="ctr"/>
            <a:r>
              <a:rPr lang="en-US" dirty="0"/>
              <a:t>Reference Evapotranspiration (</a:t>
            </a:r>
            <a:r>
              <a:rPr lang="en-US" dirty="0" err="1"/>
              <a:t>ETo</a:t>
            </a:r>
            <a:r>
              <a:rPr lang="en-US" dirty="0"/>
              <a:t>)</a:t>
            </a:r>
            <a:endParaRPr lang="en-GB" dirty="0"/>
          </a:p>
        </p:txBody>
      </p:sp>
      <p:graphicFrame>
        <p:nvGraphicFramePr>
          <p:cNvPr id="5" name="Content Placeholder 4">
            <a:extLst>
              <a:ext uri="{FF2B5EF4-FFF2-40B4-BE49-F238E27FC236}">
                <a16:creationId xmlns:a16="http://schemas.microsoft.com/office/drawing/2014/main" id="{87815F0F-607C-3A2E-AE73-DC12E1F82005}"/>
              </a:ext>
            </a:extLst>
          </p:cNvPr>
          <p:cNvGraphicFramePr>
            <a:graphicFrameLocks noGrp="1"/>
          </p:cNvGraphicFramePr>
          <p:nvPr>
            <p:ph idx="1"/>
          </p:nvPr>
        </p:nvGraphicFramePr>
        <p:xfrm>
          <a:off x="979713" y="1194318"/>
          <a:ext cx="9554547" cy="49858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7766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F2C66-618C-3F99-D6B0-2849F70F9602}"/>
              </a:ext>
            </a:extLst>
          </p:cNvPr>
          <p:cNvSpPr>
            <a:spLocks noGrp="1"/>
          </p:cNvSpPr>
          <p:nvPr>
            <p:ph type="title"/>
          </p:nvPr>
        </p:nvSpPr>
        <p:spPr>
          <a:xfrm>
            <a:off x="1261872" y="294198"/>
            <a:ext cx="9692640" cy="853467"/>
          </a:xfrm>
        </p:spPr>
        <p:txBody>
          <a:bodyPr/>
          <a:lstStyle/>
          <a:p>
            <a:pPr algn="ctr"/>
            <a:r>
              <a:rPr lang="en-US" dirty="0"/>
              <a:t>Crop Coefficient (Kc)</a:t>
            </a:r>
            <a:endParaRPr lang="en-GB" dirty="0"/>
          </a:p>
        </p:txBody>
      </p:sp>
      <p:sp>
        <p:nvSpPr>
          <p:cNvPr id="3" name="Content Placeholder 2">
            <a:extLst>
              <a:ext uri="{FF2B5EF4-FFF2-40B4-BE49-F238E27FC236}">
                <a16:creationId xmlns:a16="http://schemas.microsoft.com/office/drawing/2014/main" id="{ED694070-BAD0-3CC7-3A23-C6FA9051077B}"/>
              </a:ext>
            </a:extLst>
          </p:cNvPr>
          <p:cNvSpPr>
            <a:spLocks noGrp="1"/>
          </p:cNvSpPr>
          <p:nvPr>
            <p:ph idx="1"/>
          </p:nvPr>
        </p:nvSpPr>
        <p:spPr>
          <a:xfrm>
            <a:off x="531845" y="1147665"/>
            <a:ext cx="10702211" cy="5032473"/>
          </a:xfrm>
        </p:spPr>
        <p:txBody>
          <a:bodyPr/>
          <a:lstStyle/>
          <a:p>
            <a:pPr marL="0" indent="0">
              <a:buNone/>
            </a:pPr>
            <a:r>
              <a:rPr lang="en-US" sz="2400" b="1" dirty="0">
                <a:latin typeface="Times New Roman" panose="02020603050405020304" pitchFamily="18" charset="0"/>
                <a:cs typeface="Times New Roman" panose="02020603050405020304" pitchFamily="18" charset="0"/>
              </a:rPr>
              <a:t>The crop coefficient (Kc) </a:t>
            </a:r>
            <a:r>
              <a:rPr lang="en-US" sz="2400" dirty="0">
                <a:latin typeface="Times New Roman" panose="02020603050405020304" pitchFamily="18" charset="0"/>
                <a:cs typeface="Times New Roman" panose="02020603050405020304" pitchFamily="18" charset="0"/>
              </a:rPr>
              <a:t>adjusts </a:t>
            </a:r>
            <a:r>
              <a:rPr lang="en-US" sz="2400" dirty="0" err="1">
                <a:latin typeface="Times New Roman" panose="02020603050405020304" pitchFamily="18" charset="0"/>
                <a:cs typeface="Times New Roman" panose="02020603050405020304" pitchFamily="18" charset="0"/>
              </a:rPr>
              <a:t>ETo</a:t>
            </a:r>
            <a:r>
              <a:rPr lang="en-US" sz="2400" dirty="0">
                <a:latin typeface="Times New Roman" panose="02020603050405020304" pitchFamily="18" charset="0"/>
                <a:cs typeface="Times New Roman" panose="02020603050405020304" pitchFamily="18" charset="0"/>
              </a:rPr>
              <a:t> according to crop type and growth stage. Young crops have low Kc values, while crops at full canopy normally have higher Kc values.</a:t>
            </a:r>
            <a:endParaRPr lang="en-GB" sz="2400" dirty="0">
              <a:latin typeface="Times New Roman" panose="02020603050405020304" pitchFamily="18" charset="0"/>
              <a:cs typeface="Times New Roman" panose="02020603050405020304" pitchFamily="18" charset="0"/>
            </a:endParaRPr>
          </a:p>
          <a:p>
            <a:pPr marL="0" indent="0" algn="ctr">
              <a:buNone/>
            </a:pPr>
            <a:r>
              <a:rPr lang="en-US" sz="2400" b="1" dirty="0" err="1">
                <a:latin typeface="Times New Roman" panose="02020603050405020304" pitchFamily="18" charset="0"/>
                <a:cs typeface="Times New Roman" panose="02020603050405020304" pitchFamily="18" charset="0"/>
              </a:rPr>
              <a:t>ETc</a:t>
            </a:r>
            <a:r>
              <a:rPr lang="en-US" sz="2400" b="1" dirty="0">
                <a:latin typeface="Times New Roman" panose="02020603050405020304" pitchFamily="18" charset="0"/>
                <a:cs typeface="Times New Roman" panose="02020603050405020304" pitchFamily="18" charset="0"/>
              </a:rPr>
              <a:t> = </a:t>
            </a:r>
            <a:r>
              <a:rPr lang="en-US" sz="2400" b="1" dirty="0" err="1">
                <a:latin typeface="Times New Roman" panose="02020603050405020304" pitchFamily="18" charset="0"/>
                <a:cs typeface="Times New Roman" panose="02020603050405020304" pitchFamily="18" charset="0"/>
              </a:rPr>
              <a:t>ETo</a:t>
            </a:r>
            <a:r>
              <a:rPr lang="en-US" sz="2400" b="1" dirty="0">
                <a:latin typeface="Times New Roman" panose="02020603050405020304" pitchFamily="18" charset="0"/>
                <a:cs typeface="Times New Roman" panose="02020603050405020304" pitchFamily="18" charset="0"/>
              </a:rPr>
              <a:t> × Kc</a:t>
            </a:r>
            <a:endParaRPr lang="en-GB" sz="2400" dirty="0">
              <a:latin typeface="Times New Roman" panose="02020603050405020304" pitchFamily="18" charset="0"/>
              <a:cs typeface="Times New Roman" panose="02020603050405020304" pitchFamily="18" charset="0"/>
            </a:endParaRPr>
          </a:p>
          <a:p>
            <a:endParaRPr lang="en-GB" dirty="0"/>
          </a:p>
        </p:txBody>
      </p:sp>
      <p:graphicFrame>
        <p:nvGraphicFramePr>
          <p:cNvPr id="4" name="Table 3">
            <a:extLst>
              <a:ext uri="{FF2B5EF4-FFF2-40B4-BE49-F238E27FC236}">
                <a16:creationId xmlns:a16="http://schemas.microsoft.com/office/drawing/2014/main" id="{4535C4EF-0BCD-FB54-14B3-15F96C557607}"/>
              </a:ext>
            </a:extLst>
          </p:cNvPr>
          <p:cNvGraphicFramePr>
            <a:graphicFrameLocks noGrp="1"/>
          </p:cNvGraphicFramePr>
          <p:nvPr/>
        </p:nvGraphicFramePr>
        <p:xfrm>
          <a:off x="531845" y="2920483"/>
          <a:ext cx="10702211" cy="3778899"/>
        </p:xfrm>
        <a:graphic>
          <a:graphicData uri="http://schemas.openxmlformats.org/drawingml/2006/table">
            <a:tbl>
              <a:tblPr firstRow="1" firstCol="1" bandRow="1">
                <a:tableStyleId>{5C22544A-7EE6-4342-B048-85BDC9FD1C3A}</a:tableStyleId>
              </a:tblPr>
              <a:tblGrid>
                <a:gridCol w="2972836">
                  <a:extLst>
                    <a:ext uri="{9D8B030D-6E8A-4147-A177-3AD203B41FA5}">
                      <a16:colId xmlns:a16="http://schemas.microsoft.com/office/drawing/2014/main" val="1945577707"/>
                    </a:ext>
                  </a:extLst>
                </a:gridCol>
                <a:gridCol w="2229628">
                  <a:extLst>
                    <a:ext uri="{9D8B030D-6E8A-4147-A177-3AD203B41FA5}">
                      <a16:colId xmlns:a16="http://schemas.microsoft.com/office/drawing/2014/main" val="108694834"/>
                    </a:ext>
                  </a:extLst>
                </a:gridCol>
                <a:gridCol w="2526911">
                  <a:extLst>
                    <a:ext uri="{9D8B030D-6E8A-4147-A177-3AD203B41FA5}">
                      <a16:colId xmlns:a16="http://schemas.microsoft.com/office/drawing/2014/main" val="92179431"/>
                    </a:ext>
                  </a:extLst>
                </a:gridCol>
                <a:gridCol w="2972836">
                  <a:extLst>
                    <a:ext uri="{9D8B030D-6E8A-4147-A177-3AD203B41FA5}">
                      <a16:colId xmlns:a16="http://schemas.microsoft.com/office/drawing/2014/main" val="2227571468"/>
                    </a:ext>
                  </a:extLst>
                </a:gridCol>
              </a:tblGrid>
              <a:tr h="317814">
                <a:tc>
                  <a:txBody>
                    <a:bodyPr/>
                    <a:lstStyle/>
                    <a:p>
                      <a:pPr>
                        <a:lnSpc>
                          <a:spcPct val="115000"/>
                        </a:lnSpc>
                        <a:spcAft>
                          <a:spcPts val="1000"/>
                        </a:spcAft>
                        <a:buNone/>
                      </a:pPr>
                      <a:r>
                        <a:rPr lang="en-US" sz="1800">
                          <a:effectLst/>
                        </a:rPr>
                        <a:t>Growth stage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gridSpan="2">
                  <a:txBody>
                    <a:bodyPr/>
                    <a:lstStyle/>
                    <a:p>
                      <a:pPr>
                        <a:lnSpc>
                          <a:spcPct val="115000"/>
                        </a:lnSpc>
                        <a:spcAft>
                          <a:spcPts val="1000"/>
                        </a:spcAft>
                        <a:buNone/>
                      </a:pPr>
                      <a:r>
                        <a:rPr lang="en-US" sz="1800" dirty="0">
                          <a:effectLst/>
                        </a:rPr>
                        <a:t>Description</a:t>
                      </a:r>
                      <a:endParaRPr lang="en-GB"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hMerge="1">
                  <a:txBody>
                    <a:bodyPr/>
                    <a:lstStyle/>
                    <a:p>
                      <a:endParaRPr lang="en-GB"/>
                    </a:p>
                  </a:txBody>
                  <a:tcPr/>
                </a:tc>
                <a:tc>
                  <a:txBody>
                    <a:bodyPr/>
                    <a:lstStyle/>
                    <a:p>
                      <a:pPr>
                        <a:lnSpc>
                          <a:spcPct val="115000"/>
                        </a:lnSpc>
                        <a:spcAft>
                          <a:spcPts val="1000"/>
                        </a:spcAft>
                        <a:buNone/>
                      </a:pPr>
                      <a:r>
                        <a:rPr lang="en-US" sz="1800">
                          <a:effectLst/>
                        </a:rPr>
                        <a:t>Typical Kc behaviour</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74762191"/>
                  </a:ext>
                </a:extLst>
              </a:tr>
              <a:tr h="317814">
                <a:tc>
                  <a:txBody>
                    <a:bodyPr/>
                    <a:lstStyle/>
                    <a:p>
                      <a:pPr>
                        <a:lnSpc>
                          <a:spcPct val="115000"/>
                        </a:lnSpc>
                        <a:spcAft>
                          <a:spcPts val="1000"/>
                        </a:spcAft>
                        <a:buNone/>
                      </a:pPr>
                      <a:r>
                        <a:rPr lang="en-US" sz="1800">
                          <a:effectLst/>
                        </a:rPr>
                        <a:t>Initial stage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gridSpan="2">
                  <a:txBody>
                    <a:bodyPr/>
                    <a:lstStyle/>
                    <a:p>
                      <a:pPr>
                        <a:lnSpc>
                          <a:spcPct val="115000"/>
                        </a:lnSpc>
                        <a:spcAft>
                          <a:spcPts val="1000"/>
                        </a:spcAft>
                        <a:buNone/>
                      </a:pPr>
                      <a:r>
                        <a:rPr lang="en-US" sz="1800">
                          <a:effectLst/>
                        </a:rPr>
                        <a:t>Germination and early growth</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hMerge="1">
                  <a:txBody>
                    <a:bodyPr/>
                    <a:lstStyle/>
                    <a:p>
                      <a:endParaRPr lang="en-GB"/>
                    </a:p>
                  </a:txBody>
                  <a:tcPr/>
                </a:tc>
                <a:tc>
                  <a:txBody>
                    <a:bodyPr/>
                    <a:lstStyle/>
                    <a:p>
                      <a:pPr>
                        <a:lnSpc>
                          <a:spcPct val="115000"/>
                        </a:lnSpc>
                        <a:spcAft>
                          <a:spcPts val="1000"/>
                        </a:spcAft>
                        <a:buNone/>
                      </a:pPr>
                      <a:r>
                        <a:rPr lang="en-US" sz="1800">
                          <a:effectLst/>
                        </a:rPr>
                        <a:t>Low</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93564400"/>
                  </a:ext>
                </a:extLst>
              </a:tr>
              <a:tr h="600759">
                <a:tc>
                  <a:txBody>
                    <a:bodyPr/>
                    <a:lstStyle/>
                    <a:p>
                      <a:pPr>
                        <a:lnSpc>
                          <a:spcPct val="115000"/>
                        </a:lnSpc>
                        <a:spcAft>
                          <a:spcPts val="1000"/>
                        </a:spcAft>
                        <a:buNone/>
                      </a:pPr>
                      <a:r>
                        <a:rPr lang="en-US" sz="1800">
                          <a:effectLst/>
                        </a:rPr>
                        <a:t>Crop development stage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gridSpan="2">
                  <a:txBody>
                    <a:bodyPr/>
                    <a:lstStyle/>
                    <a:p>
                      <a:pPr>
                        <a:lnSpc>
                          <a:spcPct val="115000"/>
                        </a:lnSpc>
                        <a:spcAft>
                          <a:spcPts val="1000"/>
                        </a:spcAft>
                        <a:buNone/>
                      </a:pPr>
                      <a:r>
                        <a:rPr lang="en-US" sz="1800">
                          <a:effectLst/>
                        </a:rPr>
                        <a:t>Rapid vegetative growth</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hMerge="1">
                  <a:txBody>
                    <a:bodyPr/>
                    <a:lstStyle/>
                    <a:p>
                      <a:endParaRPr lang="en-GB"/>
                    </a:p>
                  </a:txBody>
                  <a:tcPr/>
                </a:tc>
                <a:tc>
                  <a:txBody>
                    <a:bodyPr/>
                    <a:lstStyle/>
                    <a:p>
                      <a:pPr>
                        <a:lnSpc>
                          <a:spcPct val="115000"/>
                        </a:lnSpc>
                        <a:spcAft>
                          <a:spcPts val="1000"/>
                        </a:spcAft>
                        <a:buNone/>
                      </a:pPr>
                      <a:r>
                        <a:rPr lang="en-US" sz="1800">
                          <a:effectLst/>
                        </a:rPr>
                        <a:t>Increasing</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2627600"/>
                  </a:ext>
                </a:extLst>
              </a:tr>
              <a:tr h="317814">
                <a:tc>
                  <a:txBody>
                    <a:bodyPr/>
                    <a:lstStyle/>
                    <a:p>
                      <a:pPr>
                        <a:lnSpc>
                          <a:spcPct val="115000"/>
                        </a:lnSpc>
                        <a:spcAft>
                          <a:spcPts val="1000"/>
                        </a:spcAft>
                        <a:buNone/>
                      </a:pPr>
                      <a:r>
                        <a:rPr lang="en-US" sz="1800">
                          <a:effectLst/>
                        </a:rPr>
                        <a:t>Mid-season stage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gridSpan="2">
                  <a:txBody>
                    <a:bodyPr/>
                    <a:lstStyle/>
                    <a:p>
                      <a:pPr>
                        <a:lnSpc>
                          <a:spcPct val="115000"/>
                        </a:lnSpc>
                        <a:spcAft>
                          <a:spcPts val="1000"/>
                        </a:spcAft>
                        <a:buNone/>
                      </a:pPr>
                      <a:r>
                        <a:rPr lang="en-US" sz="1800" dirty="0">
                          <a:effectLst/>
                        </a:rPr>
                        <a:t>Full canopy, flowering, and fruiting</a:t>
                      </a:r>
                      <a:endParaRPr lang="en-GB"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hMerge="1">
                  <a:txBody>
                    <a:bodyPr/>
                    <a:lstStyle/>
                    <a:p>
                      <a:endParaRPr lang="en-GB"/>
                    </a:p>
                  </a:txBody>
                  <a:tcPr/>
                </a:tc>
                <a:tc>
                  <a:txBody>
                    <a:bodyPr/>
                    <a:lstStyle/>
                    <a:p>
                      <a:pPr>
                        <a:lnSpc>
                          <a:spcPct val="115000"/>
                        </a:lnSpc>
                        <a:spcAft>
                          <a:spcPts val="1000"/>
                        </a:spcAft>
                        <a:buNone/>
                      </a:pPr>
                      <a:r>
                        <a:rPr lang="en-US" sz="1800">
                          <a:effectLst/>
                        </a:rPr>
                        <a:t>Highest</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283622"/>
                  </a:ext>
                </a:extLst>
              </a:tr>
              <a:tr h="317814">
                <a:tc>
                  <a:txBody>
                    <a:bodyPr/>
                    <a:lstStyle/>
                    <a:p>
                      <a:pPr>
                        <a:lnSpc>
                          <a:spcPct val="115000"/>
                        </a:lnSpc>
                        <a:spcAft>
                          <a:spcPts val="1000"/>
                        </a:spcAft>
                        <a:buNone/>
                      </a:pPr>
                      <a:r>
                        <a:rPr lang="en-US" sz="1800">
                          <a:effectLst/>
                        </a:rPr>
                        <a:t>Late season stage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gridSpan="2">
                  <a:txBody>
                    <a:bodyPr/>
                    <a:lstStyle/>
                    <a:p>
                      <a:pPr>
                        <a:lnSpc>
                          <a:spcPct val="115000"/>
                        </a:lnSpc>
                        <a:spcAft>
                          <a:spcPts val="1000"/>
                        </a:spcAft>
                        <a:buNone/>
                      </a:pPr>
                      <a:r>
                        <a:rPr lang="en-US" sz="1800">
                          <a:effectLst/>
                        </a:rPr>
                        <a:t>Maturity and harvesting</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hMerge="1">
                  <a:txBody>
                    <a:bodyPr/>
                    <a:lstStyle/>
                    <a:p>
                      <a:endParaRPr lang="en-GB"/>
                    </a:p>
                  </a:txBody>
                  <a:tcPr/>
                </a:tc>
                <a:tc>
                  <a:txBody>
                    <a:bodyPr/>
                    <a:lstStyle/>
                    <a:p>
                      <a:pPr>
                        <a:lnSpc>
                          <a:spcPct val="115000"/>
                        </a:lnSpc>
                        <a:spcAft>
                          <a:spcPts val="1000"/>
                        </a:spcAft>
                        <a:buNone/>
                      </a:pPr>
                      <a:r>
                        <a:rPr lang="en-US" sz="1800">
                          <a:effectLst/>
                        </a:rPr>
                        <a:t>Declining</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74348431"/>
                  </a:ext>
                </a:extLst>
              </a:tr>
              <a:tr h="317814">
                <a:tc>
                  <a:txBody>
                    <a:bodyPr/>
                    <a:lstStyle/>
                    <a:p>
                      <a:pPr>
                        <a:lnSpc>
                          <a:spcPct val="115000"/>
                        </a:lnSpc>
                        <a:spcAft>
                          <a:spcPts val="1000"/>
                        </a:spcAft>
                        <a:buNone/>
                      </a:pPr>
                      <a:r>
                        <a:rPr lang="en-US" sz="1800">
                          <a:effectLst/>
                        </a:rPr>
                        <a:t>Crop</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Initial Kc</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Mid-season Kc</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Late-season Kc</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68536947"/>
                  </a:ext>
                </a:extLst>
              </a:tr>
              <a:tr h="317814">
                <a:tc>
                  <a:txBody>
                    <a:bodyPr/>
                    <a:lstStyle/>
                    <a:p>
                      <a:pPr>
                        <a:lnSpc>
                          <a:spcPct val="115000"/>
                        </a:lnSpc>
                        <a:spcAft>
                          <a:spcPts val="1000"/>
                        </a:spcAft>
                        <a:buNone/>
                      </a:pPr>
                      <a:r>
                        <a:rPr lang="en-US" sz="1800">
                          <a:effectLst/>
                        </a:rPr>
                        <a:t>Tomato</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0.60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1.15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0.80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05297181"/>
                  </a:ext>
                </a:extLst>
              </a:tr>
              <a:tr h="317814">
                <a:tc>
                  <a:txBody>
                    <a:bodyPr/>
                    <a:lstStyle/>
                    <a:p>
                      <a:pPr>
                        <a:lnSpc>
                          <a:spcPct val="115000"/>
                        </a:lnSpc>
                        <a:spcAft>
                          <a:spcPts val="1000"/>
                        </a:spcAft>
                        <a:buNone/>
                      </a:pPr>
                      <a:r>
                        <a:rPr lang="en-US" sz="1800">
                          <a:effectLst/>
                        </a:rPr>
                        <a:t>Cabbage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0.70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1.05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0.95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62483083"/>
                  </a:ext>
                </a:extLst>
              </a:tr>
              <a:tr h="317814">
                <a:tc>
                  <a:txBody>
                    <a:bodyPr/>
                    <a:lstStyle/>
                    <a:p>
                      <a:pPr>
                        <a:lnSpc>
                          <a:spcPct val="115000"/>
                        </a:lnSpc>
                        <a:spcAft>
                          <a:spcPts val="1000"/>
                        </a:spcAft>
                        <a:buNone/>
                      </a:pPr>
                      <a:r>
                        <a:rPr lang="en-US" sz="1800">
                          <a:effectLst/>
                        </a:rPr>
                        <a:t>Onion</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0.70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1.05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0.75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7814450"/>
                  </a:ext>
                </a:extLst>
              </a:tr>
              <a:tr h="317814">
                <a:tc>
                  <a:txBody>
                    <a:bodyPr/>
                    <a:lstStyle/>
                    <a:p>
                      <a:pPr>
                        <a:lnSpc>
                          <a:spcPct val="115000"/>
                        </a:lnSpc>
                        <a:spcAft>
                          <a:spcPts val="1000"/>
                        </a:spcAft>
                        <a:buNone/>
                      </a:pPr>
                      <a:r>
                        <a:rPr lang="en-US" sz="1800">
                          <a:effectLst/>
                        </a:rPr>
                        <a:t>Maize</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0.30–0.40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1.15–1.20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0.60</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57653134"/>
                  </a:ext>
                </a:extLst>
              </a:tr>
              <a:tr h="317814">
                <a:tc>
                  <a:txBody>
                    <a:bodyPr/>
                    <a:lstStyle/>
                    <a:p>
                      <a:pPr>
                        <a:lnSpc>
                          <a:spcPct val="115000"/>
                        </a:lnSpc>
                        <a:spcAft>
                          <a:spcPts val="1000"/>
                        </a:spcAft>
                        <a:buNone/>
                      </a:pPr>
                      <a:r>
                        <a:rPr lang="en-US" sz="1800">
                          <a:effectLst/>
                        </a:rPr>
                        <a:t>Beans</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dirty="0">
                          <a:effectLst/>
                        </a:rPr>
                        <a:t>0.35–0.50</a:t>
                      </a:r>
                      <a:endParaRPr lang="en-GB"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rPr>
                        <a:t>1.05–1.15</a:t>
                      </a:r>
                      <a:endParaRPr lang="en-GB" sz="18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dirty="0">
                          <a:effectLst/>
                        </a:rPr>
                        <a:t>0.70–0.90</a:t>
                      </a:r>
                      <a:endParaRPr lang="en-GB" sz="18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40713231"/>
                  </a:ext>
                </a:extLst>
              </a:tr>
            </a:tbl>
          </a:graphicData>
        </a:graphic>
      </p:graphicFrame>
    </p:spTree>
    <p:extLst>
      <p:ext uri="{BB962C8B-B14F-4D97-AF65-F5344CB8AC3E}">
        <p14:creationId xmlns:p14="http://schemas.microsoft.com/office/powerpoint/2010/main" val="2348591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9FA1226-0986-EAF7-B1E6-01B8E0F6465F}"/>
              </a:ext>
            </a:extLst>
          </p:cNvPr>
          <p:cNvGraphicFramePr>
            <a:graphicFrameLocks noGrp="1"/>
          </p:cNvGraphicFramePr>
          <p:nvPr>
            <p:ph idx="1"/>
          </p:nvPr>
        </p:nvGraphicFramePr>
        <p:xfrm>
          <a:off x="1261872" y="1828800"/>
          <a:ext cx="969264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9552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DB932F2-9C23-8CFF-A80F-755CDC2AE9A3}"/>
                  </a:ext>
                </a:extLst>
              </p:cNvPr>
              <p:cNvSpPr>
                <a:spLocks noGrp="1"/>
              </p:cNvSpPr>
              <p:nvPr>
                <p:ph idx="1"/>
              </p:nvPr>
            </p:nvSpPr>
            <p:spPr>
              <a:xfrm>
                <a:off x="3051109" y="223936"/>
                <a:ext cx="4516017" cy="5956202"/>
              </a:xfrm>
            </p:spPr>
            <p:txBody>
              <a:bodyPr>
                <a:normAutofit fontScale="85000" lnSpcReduction="10000"/>
              </a:bodyPr>
              <a:lstStyle/>
              <a:p>
                <a:pPr marL="0" indent="0">
                  <a:buNone/>
                </a:pPr>
                <a:r>
                  <a:rPr lang="en-GB" sz="2900" b="1" dirty="0">
                    <a:latin typeface="Times New Roman" panose="02020603050405020304" pitchFamily="18" charset="0"/>
                    <a:cs typeface="Times New Roman" panose="02020603050405020304" pitchFamily="18" charset="0"/>
                  </a:rPr>
                  <a:t>Step 1: Convert 1 mm to metres</a:t>
                </a:r>
              </a:p>
              <a:p>
                <a:pPr>
                  <a:buFont typeface="Wingdings" panose="05000000000000000000" pitchFamily="2" charset="2"/>
                  <a:buChar char="Ø"/>
                </a:pPr>
                <a14:m>
                  <m:oMath xmlns:m="http://schemas.openxmlformats.org/officeDocument/2006/math">
                    <m:r>
                      <a:rPr lang="en-GB" sz="2900">
                        <a:latin typeface="Cambria Math" panose="02040503050406030204" pitchFamily="18" charset="0"/>
                      </a:rPr>
                      <m:t>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m:t>
                    </m:r>
                    <m:r>
                      <a:rPr lang="en-GB" sz="2900">
                        <a:latin typeface="Cambria Math" panose="02040503050406030204" pitchFamily="18" charset="0"/>
                      </a:rPr>
                      <m:t>=0.001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oMath>
                </a14:m>
                <a:endParaRPr lang="en-GB" sz="2900" b="0" dirty="0">
                  <a:latin typeface="Times New Roman" panose="02020603050405020304" pitchFamily="18" charset="0"/>
                  <a:cs typeface="Times New Roman" panose="02020603050405020304" pitchFamily="18" charset="0"/>
                </a:endParaRPr>
              </a:p>
              <a:p>
                <a:pPr marL="0" indent="0">
                  <a:buNone/>
                </a:pPr>
                <a:r>
                  <a:rPr lang="en-GB" sz="2900" b="1" dirty="0">
                    <a:latin typeface="Times New Roman" panose="02020603050405020304" pitchFamily="18" charset="0"/>
                    <a:cs typeface="Times New Roman" panose="02020603050405020304" pitchFamily="18" charset="0"/>
                  </a:rPr>
                  <a:t>Step 2: Area is 1 m²</a:t>
                </a:r>
              </a:p>
              <a:p>
                <a:pPr>
                  <a:buFont typeface="Wingdings" panose="05000000000000000000" pitchFamily="2" charset="2"/>
                  <a:buChar char="Ø"/>
                </a:pPr>
                <a14:m>
                  <m:oMath xmlns:m="http://schemas.openxmlformats.org/officeDocument/2006/math">
                    <m:r>
                      <a:rPr lang="en-GB" sz="2900">
                        <a:latin typeface="Cambria Math" panose="02040503050406030204" pitchFamily="18" charset="0"/>
                      </a:rPr>
                      <m:t>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2</m:t>
                        </m:r>
                      </m:sup>
                    </m:sSup>
                    <m:r>
                      <a:rPr lang="en-GB" sz="2900">
                        <a:latin typeface="Cambria Math" panose="02040503050406030204" pitchFamily="18" charset="0"/>
                      </a:rPr>
                      <m:t>=1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r>
                      <a:rPr lang="en-GB" sz="2900">
                        <a:latin typeface="Cambria Math" panose="02040503050406030204" pitchFamily="18" charset="0"/>
                      </a:rPr>
                      <m:t>×1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oMath>
                </a14:m>
                <a:endParaRPr lang="en-GB" sz="2900" b="0" dirty="0">
                  <a:latin typeface="Times New Roman" panose="02020603050405020304" pitchFamily="18" charset="0"/>
                  <a:cs typeface="Times New Roman" panose="02020603050405020304" pitchFamily="18" charset="0"/>
                </a:endParaRPr>
              </a:p>
              <a:p>
                <a:pPr marL="0" indent="0">
                  <a:buNone/>
                </a:pPr>
                <a:r>
                  <a:rPr lang="en-GB" sz="2900" b="1" dirty="0">
                    <a:latin typeface="Times New Roman" panose="02020603050405020304" pitchFamily="18" charset="0"/>
                    <a:cs typeface="Times New Roman" panose="02020603050405020304" pitchFamily="18" charset="0"/>
                  </a:rPr>
                  <a:t>Step 3: Volume = Area × Depth</a:t>
                </a:r>
              </a:p>
              <a:p>
                <a:pPr>
                  <a:buFont typeface="Wingdings" panose="05000000000000000000" pitchFamily="2" charset="2"/>
                  <a:buChar char="Ø"/>
                </a:pPr>
                <a14:m>
                  <m:oMath xmlns:m="http://schemas.openxmlformats.org/officeDocument/2006/math">
                    <m:r>
                      <m:rPr>
                        <m:nor/>
                      </m:rPr>
                      <a:rPr lang="en-GB" sz="2900" b="0">
                        <a:latin typeface="Times New Roman" panose="02020603050405020304" pitchFamily="18" charset="0"/>
                        <a:cs typeface="Times New Roman" panose="02020603050405020304" pitchFamily="18" charset="0"/>
                      </a:rPr>
                      <m:t>Volume</m:t>
                    </m:r>
                    <m:r>
                      <a:rPr lang="en-GB" sz="2900">
                        <a:latin typeface="Cambria Math" panose="02040503050406030204" pitchFamily="18" charset="0"/>
                      </a:rPr>
                      <m:t>=1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2</m:t>
                        </m:r>
                      </m:sup>
                    </m:sSup>
                    <m:r>
                      <a:rPr lang="en-GB" sz="2900">
                        <a:latin typeface="Cambria Math" panose="02040503050406030204" pitchFamily="18" charset="0"/>
                      </a:rPr>
                      <m:t>×0.001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oMath>
                </a14:m>
                <a:endParaRPr lang="en-GB" sz="2900" b="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14:m>
                  <m:oMath xmlns:m="http://schemas.openxmlformats.org/officeDocument/2006/math">
                    <m:r>
                      <a:rPr lang="en-GB" sz="2900">
                        <a:latin typeface="Cambria Math" panose="02040503050406030204" pitchFamily="18" charset="0"/>
                      </a:rPr>
                      <m:t>=0.001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3</m:t>
                        </m:r>
                      </m:sup>
                    </m:sSup>
                  </m:oMath>
                </a14:m>
                <a:endParaRPr lang="en-GB" sz="2900" b="0" dirty="0">
                  <a:latin typeface="Times New Roman" panose="02020603050405020304" pitchFamily="18" charset="0"/>
                  <a:cs typeface="Times New Roman" panose="02020603050405020304" pitchFamily="18" charset="0"/>
                </a:endParaRPr>
              </a:p>
              <a:p>
                <a:pPr marL="0" indent="0">
                  <a:buNone/>
                </a:pPr>
                <a:r>
                  <a:rPr lang="en-GB" sz="2900" b="1" dirty="0">
                    <a:latin typeface="Times New Roman" panose="02020603050405020304" pitchFamily="18" charset="0"/>
                    <a:cs typeface="Times New Roman" panose="02020603050405020304" pitchFamily="18" charset="0"/>
                  </a:rPr>
                  <a:t>Step 4: Convert cubic metres to litres</a:t>
                </a:r>
              </a:p>
              <a:p>
                <a:pPr>
                  <a:buFont typeface="Wingdings" panose="05000000000000000000" pitchFamily="2" charset="2"/>
                  <a:buChar char="Ø"/>
                </a:pPr>
                <a14:m>
                  <m:oMath xmlns:m="http://schemas.openxmlformats.org/officeDocument/2006/math">
                    <m:r>
                      <a:rPr lang="en-GB" sz="2900">
                        <a:latin typeface="Cambria Math" panose="02040503050406030204" pitchFamily="18" charset="0"/>
                      </a:rPr>
                      <m:t>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3</m:t>
                        </m:r>
                      </m:sup>
                    </m:sSup>
                    <m:r>
                      <a:rPr lang="en-GB" sz="2900">
                        <a:latin typeface="Cambria Math" panose="02040503050406030204" pitchFamily="18" charset="0"/>
                      </a:rPr>
                      <m:t>=1000</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litres</m:t>
                    </m:r>
                  </m:oMath>
                </a14:m>
                <a:endParaRPr lang="en-GB" sz="2900" b="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900" dirty="0">
                    <a:latin typeface="Times New Roman" panose="02020603050405020304" pitchFamily="18" charset="0"/>
                    <a:cs typeface="Times New Roman" panose="02020603050405020304" pitchFamily="18" charset="0"/>
                  </a:rPr>
                  <a:t>So: </a:t>
                </a:r>
                <a14:m>
                  <m:oMath xmlns:m="http://schemas.openxmlformats.org/officeDocument/2006/math">
                    <m:r>
                      <a:rPr lang="en-GB" sz="2900">
                        <a:latin typeface="Cambria Math" panose="02040503050406030204" pitchFamily="18" charset="0"/>
                      </a:rPr>
                      <m:t>0.001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3</m:t>
                        </m:r>
                      </m:sup>
                    </m:sSup>
                    <m:r>
                      <a:rPr lang="en-GB" sz="2900">
                        <a:latin typeface="Cambria Math" panose="02040503050406030204" pitchFamily="18" charset="0"/>
                      </a:rPr>
                      <m:t>×1000=1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litre</m:t>
                    </m:r>
                  </m:oMath>
                </a14:m>
                <a:endParaRPr lang="en-GB" sz="2900" b="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900" dirty="0">
                    <a:latin typeface="Times New Roman" panose="02020603050405020304" pitchFamily="18" charset="0"/>
                    <a:cs typeface="Times New Roman" panose="02020603050405020304" pitchFamily="18" charset="0"/>
                  </a:rPr>
                  <a:t>Therefore:</a:t>
                </a:r>
              </a:p>
              <a:p>
                <a:pPr>
                  <a:buFont typeface="Wingdings" panose="05000000000000000000" pitchFamily="2" charset="2"/>
                  <a:buChar char="Ø"/>
                </a:pPr>
                <a14:m>
                  <m:oMath xmlns:m="http://schemas.openxmlformats.org/officeDocument/2006/math">
                    <m:borderBox>
                      <m:borderBoxPr>
                        <m:ctrlPr>
                          <a:rPr lang="en-GB" sz="2900" i="1">
                            <a:latin typeface="Cambria Math" panose="02040503050406030204" pitchFamily="18" charset="0"/>
                          </a:rPr>
                        </m:ctrlPr>
                      </m:borderBoxPr>
                      <m:e>
                        <m:r>
                          <a:rPr lang="en-GB" sz="2900">
                            <a:latin typeface="Cambria Math" panose="02040503050406030204" pitchFamily="18" charset="0"/>
                          </a:rPr>
                          <m:t>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over</m:t>
                        </m:r>
                        <m:r>
                          <m:rPr>
                            <m:nor/>
                          </m:rPr>
                          <a:rPr lang="en-GB" sz="2900" i="1">
                            <a:latin typeface="Times New Roman" panose="02020603050405020304" pitchFamily="18" charset="0"/>
                            <a:cs typeface="Times New Roman" panose="02020603050405020304" pitchFamily="18" charset="0"/>
                          </a:rPr>
                          <m:t> </m:t>
                        </m:r>
                        <m:r>
                          <a:rPr lang="en-GB" sz="2900">
                            <a:latin typeface="Cambria Math" panose="02040503050406030204" pitchFamily="18" charset="0"/>
                          </a:rPr>
                          <m:t>1</m:t>
                        </m:r>
                        <m:sSup>
                          <m:sSupPr>
                            <m:ctrlPr>
                              <a:rPr lang="en-GB" sz="2900" i="1">
                                <a:latin typeface="Cambria Math" panose="02040503050406030204" pitchFamily="18" charset="0"/>
                              </a:rPr>
                            </m:ctrlPr>
                          </m:sSupPr>
                          <m:e>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m</m:t>
                            </m:r>
                          </m:e>
                          <m:sup>
                            <m:r>
                              <a:rPr lang="en-GB" sz="2900">
                                <a:latin typeface="Cambria Math" panose="02040503050406030204" pitchFamily="18" charset="0"/>
                              </a:rPr>
                              <m:t>2</m:t>
                            </m:r>
                          </m:sup>
                        </m:sSup>
                        <m:r>
                          <a:rPr lang="en-GB" sz="2900">
                            <a:latin typeface="Cambria Math" panose="02040503050406030204" pitchFamily="18" charset="0"/>
                          </a:rPr>
                          <m:t>=1</m:t>
                        </m:r>
                        <m:r>
                          <m:rPr>
                            <m:nor/>
                          </m:rPr>
                          <a:rPr lang="en-GB" sz="2900" i="1">
                            <a:latin typeface="Times New Roman" panose="02020603050405020304" pitchFamily="18" charset="0"/>
                            <a:cs typeface="Times New Roman" panose="02020603050405020304" pitchFamily="18" charset="0"/>
                          </a:rPr>
                          <m:t> </m:t>
                        </m:r>
                        <m:r>
                          <m:rPr>
                            <m:nor/>
                          </m:rPr>
                          <a:rPr lang="en-GB" sz="2900" i="1">
                            <a:latin typeface="Times New Roman" panose="02020603050405020304" pitchFamily="18" charset="0"/>
                            <a:cs typeface="Times New Roman" panose="02020603050405020304" pitchFamily="18" charset="0"/>
                          </a:rPr>
                          <m:t>litre</m:t>
                        </m:r>
                      </m:e>
                    </m:borderBox>
                  </m:oMath>
                </a14:m>
                <a:endParaRPr lang="en-GB" sz="2900" b="0" dirty="0">
                  <a:latin typeface="Times New Roman" panose="02020603050405020304" pitchFamily="18" charset="0"/>
                  <a:cs typeface="Times New Roman" panose="02020603050405020304" pitchFamily="18" charset="0"/>
                </a:endParaRPr>
              </a:p>
              <a:p>
                <a:endParaRPr lang="en-GB" dirty="0"/>
              </a:p>
            </p:txBody>
          </p:sp>
        </mc:Choice>
        <mc:Fallback>
          <p:sp>
            <p:nvSpPr>
              <p:cNvPr id="3" name="Content Placeholder 2">
                <a:extLst>
                  <a:ext uri="{FF2B5EF4-FFF2-40B4-BE49-F238E27FC236}">
                    <a16:creationId xmlns:a16="http://schemas.microsoft.com/office/drawing/2014/main" id="{ADB932F2-9C23-8CFF-A80F-755CDC2AE9A3}"/>
                  </a:ext>
                </a:extLst>
              </p:cNvPr>
              <p:cNvSpPr>
                <a:spLocks noGrp="1" noRot="1" noChangeAspect="1" noMove="1" noResize="1" noEditPoints="1" noAdjustHandles="1" noChangeArrowheads="1" noChangeShapeType="1" noTextEdit="1"/>
              </p:cNvSpPr>
              <p:nvPr>
                <p:ph idx="1"/>
              </p:nvPr>
            </p:nvSpPr>
            <p:spPr>
              <a:xfrm>
                <a:off x="3051109" y="223936"/>
                <a:ext cx="4516017" cy="5956202"/>
              </a:xfrm>
              <a:blipFill>
                <a:blip r:embed="rId2"/>
                <a:stretch>
                  <a:fillRect l="-2297" t="-2149" r="-2703"/>
                </a:stretch>
              </a:blipFill>
            </p:spPr>
            <p:txBody>
              <a:bodyPr/>
              <a:lstStyle/>
              <a:p>
                <a:r>
                  <a:rPr lang="en-GB">
                    <a:noFill/>
                  </a:rPr>
                  <a:t> </a:t>
                </a:r>
              </a:p>
            </p:txBody>
          </p:sp>
        </mc:Fallback>
      </mc:AlternateContent>
    </p:spTree>
    <p:extLst>
      <p:ext uri="{BB962C8B-B14F-4D97-AF65-F5344CB8AC3E}">
        <p14:creationId xmlns:p14="http://schemas.microsoft.com/office/powerpoint/2010/main" val="1505651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A364-9733-1615-57F3-BF36CDA09476}"/>
              </a:ext>
            </a:extLst>
          </p:cNvPr>
          <p:cNvSpPr>
            <a:spLocks noGrp="1"/>
          </p:cNvSpPr>
          <p:nvPr>
            <p:ph type="title"/>
          </p:nvPr>
        </p:nvSpPr>
        <p:spPr>
          <a:xfrm>
            <a:off x="1261872" y="294198"/>
            <a:ext cx="9692640" cy="797484"/>
          </a:xfrm>
        </p:spPr>
        <p:txBody>
          <a:bodyPr/>
          <a:lstStyle/>
          <a:p>
            <a:pPr algn="ctr"/>
            <a:r>
              <a:rPr lang="en-US" dirty="0"/>
              <a:t>Relative Humidity Requirements</a:t>
            </a:r>
            <a:endParaRPr lang="en-GB" dirty="0"/>
          </a:p>
        </p:txBody>
      </p:sp>
      <p:sp>
        <p:nvSpPr>
          <p:cNvPr id="3" name="Content Placeholder 2">
            <a:extLst>
              <a:ext uri="{FF2B5EF4-FFF2-40B4-BE49-F238E27FC236}">
                <a16:creationId xmlns:a16="http://schemas.microsoft.com/office/drawing/2014/main" id="{B60BE9BA-C5E0-08A4-042C-166324E6F7DA}"/>
              </a:ext>
            </a:extLst>
          </p:cNvPr>
          <p:cNvSpPr>
            <a:spLocks noGrp="1"/>
          </p:cNvSpPr>
          <p:nvPr>
            <p:ph idx="1"/>
          </p:nvPr>
        </p:nvSpPr>
        <p:spPr>
          <a:xfrm>
            <a:off x="811763" y="1492898"/>
            <a:ext cx="10310327" cy="4687239"/>
          </a:xfrm>
        </p:spPr>
        <p:txBody>
          <a:bodyPr/>
          <a:lstStyle/>
          <a:p>
            <a:pPr marL="0" indent="0">
              <a:buNone/>
            </a:pPr>
            <a:r>
              <a:rPr lang="en-US" sz="2400" dirty="0">
                <a:latin typeface="Times New Roman" panose="02020603050405020304" pitchFamily="18" charset="0"/>
                <a:cs typeface="Times New Roman" panose="02020603050405020304" pitchFamily="18" charset="0"/>
              </a:rPr>
              <a:t>Relative humidity is the amount of water </a:t>
            </a:r>
            <a:r>
              <a:rPr lang="en-US" sz="2400" dirty="0" err="1">
                <a:latin typeface="Times New Roman" panose="02020603050405020304" pitchFamily="18" charset="0"/>
                <a:cs typeface="Times New Roman" panose="02020603050405020304" pitchFamily="18" charset="0"/>
              </a:rPr>
              <a:t>vapour</a:t>
            </a:r>
            <a:r>
              <a:rPr lang="en-US" sz="2400" dirty="0">
                <a:latin typeface="Times New Roman" panose="02020603050405020304" pitchFamily="18" charset="0"/>
                <a:cs typeface="Times New Roman" panose="02020603050405020304" pitchFamily="18" charset="0"/>
              </a:rPr>
              <a:t> in the air. It influences transpiration, disease development, pollination, and the freshness of harvested vegetables. Most vegetables grow well under moderate relative humidity.</a:t>
            </a:r>
            <a:endParaRPr lang="en-GB" sz="2400" dirty="0">
              <a:latin typeface="Times New Roman" panose="02020603050405020304" pitchFamily="18" charset="0"/>
              <a:cs typeface="Times New Roman" panose="02020603050405020304" pitchFamily="18" charset="0"/>
            </a:endParaRPr>
          </a:p>
          <a:p>
            <a:endParaRPr lang="en-GB" dirty="0"/>
          </a:p>
        </p:txBody>
      </p:sp>
      <p:graphicFrame>
        <p:nvGraphicFramePr>
          <p:cNvPr id="4" name="Table 3">
            <a:extLst>
              <a:ext uri="{FF2B5EF4-FFF2-40B4-BE49-F238E27FC236}">
                <a16:creationId xmlns:a16="http://schemas.microsoft.com/office/drawing/2014/main" id="{8AB6038C-0EB9-16C7-3742-66B54FE9828D}"/>
              </a:ext>
            </a:extLst>
          </p:cNvPr>
          <p:cNvGraphicFramePr>
            <a:graphicFrameLocks noGrp="1"/>
          </p:cNvGraphicFramePr>
          <p:nvPr/>
        </p:nvGraphicFramePr>
        <p:xfrm>
          <a:off x="811762" y="3429000"/>
          <a:ext cx="10142750" cy="3106679"/>
        </p:xfrm>
        <a:graphic>
          <a:graphicData uri="http://schemas.openxmlformats.org/drawingml/2006/table">
            <a:tbl>
              <a:tblPr firstRow="1" firstCol="1" bandRow="1">
                <a:tableStyleId>{5C22544A-7EE6-4342-B048-85BDC9FD1C3A}</a:tableStyleId>
              </a:tblPr>
              <a:tblGrid>
                <a:gridCol w="5071375">
                  <a:extLst>
                    <a:ext uri="{9D8B030D-6E8A-4147-A177-3AD203B41FA5}">
                      <a16:colId xmlns:a16="http://schemas.microsoft.com/office/drawing/2014/main" val="311807318"/>
                    </a:ext>
                  </a:extLst>
                </a:gridCol>
                <a:gridCol w="5071375">
                  <a:extLst>
                    <a:ext uri="{9D8B030D-6E8A-4147-A177-3AD203B41FA5}">
                      <a16:colId xmlns:a16="http://schemas.microsoft.com/office/drawing/2014/main" val="7713309"/>
                    </a:ext>
                  </a:extLst>
                </a:gridCol>
              </a:tblGrid>
              <a:tr h="329256">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Humidity condition</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Effect on vegetable crops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86515332"/>
                  </a:ext>
                </a:extLst>
              </a:tr>
              <a:tr h="1045118">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Low humidity</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Increases transpiration and may cause wilting, flower drop, and poor fruit set. Leafy vegetables lose freshness quickly.</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6499725"/>
                  </a:ext>
                </a:extLst>
              </a:tr>
              <a:tr h="687187">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Moderate humidity</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Generally </a:t>
                      </a:r>
                      <a:r>
                        <a:rPr lang="en-US" sz="1800" dirty="0" err="1">
                          <a:effectLst/>
                          <a:latin typeface="Times New Roman" panose="02020603050405020304" pitchFamily="18" charset="0"/>
                          <a:cs typeface="Times New Roman" panose="02020603050405020304" pitchFamily="18" charset="0"/>
                        </a:rPr>
                        <a:t>favourable</a:t>
                      </a:r>
                      <a:r>
                        <a:rPr lang="en-US" sz="1800" dirty="0">
                          <a:effectLst/>
                          <a:latin typeface="Times New Roman" panose="02020603050405020304" pitchFamily="18" charset="0"/>
                          <a:cs typeface="Times New Roman" panose="02020603050405020304" pitchFamily="18" charset="0"/>
                        </a:rPr>
                        <a:t> for growth, pollination, and normal transpiration.</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5315127"/>
                  </a:ext>
                </a:extLst>
              </a:tr>
              <a:tr h="1045118">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Very high humidity</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Encourages fungal and bacterial diseases such as blights, mildews, rots, and leaf spots. It can also reduce pollination in some crops.</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2759952"/>
                  </a:ext>
                </a:extLst>
              </a:tr>
            </a:tbl>
          </a:graphicData>
        </a:graphic>
      </p:graphicFrame>
    </p:spTree>
    <p:extLst>
      <p:ext uri="{BB962C8B-B14F-4D97-AF65-F5344CB8AC3E}">
        <p14:creationId xmlns:p14="http://schemas.microsoft.com/office/powerpoint/2010/main" val="2703287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1579-0FE7-45F5-AE10-D4D1B2372740}"/>
              </a:ext>
            </a:extLst>
          </p:cNvPr>
          <p:cNvSpPr>
            <a:spLocks noGrp="1"/>
          </p:cNvSpPr>
          <p:nvPr>
            <p:ph type="title"/>
          </p:nvPr>
        </p:nvSpPr>
        <p:spPr>
          <a:xfrm>
            <a:off x="1261872" y="294198"/>
            <a:ext cx="9692640" cy="750831"/>
          </a:xfrm>
        </p:spPr>
        <p:txBody>
          <a:bodyPr>
            <a:normAutofit/>
          </a:bodyPr>
          <a:lstStyle/>
          <a:p>
            <a:pPr algn="ctr"/>
            <a:r>
              <a:rPr lang="en-US" dirty="0"/>
              <a:t>Altitude and Season</a:t>
            </a:r>
            <a:endParaRPr lang="en-GB" dirty="0"/>
          </a:p>
        </p:txBody>
      </p:sp>
      <p:sp>
        <p:nvSpPr>
          <p:cNvPr id="3" name="Content Placeholder 2">
            <a:extLst>
              <a:ext uri="{FF2B5EF4-FFF2-40B4-BE49-F238E27FC236}">
                <a16:creationId xmlns:a16="http://schemas.microsoft.com/office/drawing/2014/main" id="{0713CEFD-EEF3-5FF9-CB56-93B75067DCDE}"/>
              </a:ext>
            </a:extLst>
          </p:cNvPr>
          <p:cNvSpPr>
            <a:spLocks noGrp="1"/>
          </p:cNvSpPr>
          <p:nvPr>
            <p:ph idx="1"/>
          </p:nvPr>
        </p:nvSpPr>
        <p:spPr>
          <a:xfrm>
            <a:off x="699796" y="1539552"/>
            <a:ext cx="10254716" cy="1315616"/>
          </a:xfrm>
        </p:spPr>
        <p:txBody>
          <a:bodyPr>
            <a:normAutofit fontScale="92500" lnSpcReduction="20000"/>
          </a:bodyPr>
          <a:lstStyle/>
          <a:p>
            <a:pPr marL="0" indent="0">
              <a:buNone/>
            </a:pPr>
            <a:r>
              <a:rPr lang="en-US" dirty="0"/>
              <a:t>Altitude affects vegetable production mainly through its effect on temperature. High-altitude areas are generally cooler and may be suitable for cool-season vegetables. Low-altitude areas are usually warmer and are better for warm-season and tropical vegetables.</a:t>
            </a:r>
            <a:endParaRPr lang="en-GB" dirty="0"/>
          </a:p>
        </p:txBody>
      </p:sp>
      <p:graphicFrame>
        <p:nvGraphicFramePr>
          <p:cNvPr id="4" name="Table 3">
            <a:extLst>
              <a:ext uri="{FF2B5EF4-FFF2-40B4-BE49-F238E27FC236}">
                <a16:creationId xmlns:a16="http://schemas.microsoft.com/office/drawing/2014/main" id="{2048FC17-D43B-5828-8D36-8705BD2E6C4E}"/>
              </a:ext>
            </a:extLst>
          </p:cNvPr>
          <p:cNvGraphicFramePr>
            <a:graphicFrameLocks noGrp="1"/>
          </p:cNvGraphicFramePr>
          <p:nvPr/>
        </p:nvGraphicFramePr>
        <p:xfrm>
          <a:off x="699796" y="2929811"/>
          <a:ext cx="10254716" cy="3671841"/>
        </p:xfrm>
        <a:graphic>
          <a:graphicData uri="http://schemas.openxmlformats.org/drawingml/2006/table">
            <a:tbl>
              <a:tblPr firstRow="1" firstCol="1" bandRow="1">
                <a:tableStyleId>{5C22544A-7EE6-4342-B048-85BDC9FD1C3A}</a:tableStyleId>
              </a:tblPr>
              <a:tblGrid>
                <a:gridCol w="5127358">
                  <a:extLst>
                    <a:ext uri="{9D8B030D-6E8A-4147-A177-3AD203B41FA5}">
                      <a16:colId xmlns:a16="http://schemas.microsoft.com/office/drawing/2014/main" val="49990564"/>
                    </a:ext>
                  </a:extLst>
                </a:gridCol>
                <a:gridCol w="5127358">
                  <a:extLst>
                    <a:ext uri="{9D8B030D-6E8A-4147-A177-3AD203B41FA5}">
                      <a16:colId xmlns:a16="http://schemas.microsoft.com/office/drawing/2014/main" val="2175236587"/>
                    </a:ext>
                  </a:extLst>
                </a:gridCol>
              </a:tblGrid>
              <a:tr h="413531">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Area/season condition</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Suitable vegetable examples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08433405"/>
                  </a:ext>
                </a:extLst>
              </a:tr>
              <a:tr h="865758">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Cool highland areas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Cabbage, lettuce, broccoli, cauliflower, peas, carrots, beetroot, onion.</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3204658"/>
                  </a:ext>
                </a:extLst>
              </a:tr>
              <a:tr h="413531">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Warm lowland areas</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Tomato, pepper, eggplant, okra, cucurbits, beans, sweet corn.</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8290962"/>
                  </a:ext>
                </a:extLst>
              </a:tr>
              <a:tr h="865758">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Rainy season</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Leafy vegetables and many warm-season crops, but disease and waterlogging management are important.</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4281803"/>
                  </a:ext>
                </a:extLst>
              </a:tr>
              <a:tr h="865758">
                <a:tc>
                  <a:txBody>
                    <a:bodyPr/>
                    <a:lstStyle/>
                    <a:p>
                      <a:pPr>
                        <a:lnSpc>
                          <a:spcPct val="115000"/>
                        </a:lnSpc>
                        <a:spcAft>
                          <a:spcPts val="1000"/>
                        </a:spcAft>
                        <a:buNone/>
                      </a:pPr>
                      <a:r>
                        <a:rPr lang="en-US" sz="1800">
                          <a:effectLst/>
                          <a:latin typeface="Times New Roman" panose="02020603050405020304" pitchFamily="18" charset="0"/>
                          <a:cs typeface="Times New Roman" panose="02020603050405020304" pitchFamily="18" charset="0"/>
                        </a:rPr>
                        <a:t>Dry season with irrigation</a:t>
                      </a:r>
                      <a:endParaRPr lang="en-GB" sz="18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latin typeface="Times New Roman" panose="02020603050405020304" pitchFamily="18" charset="0"/>
                          <a:cs typeface="Times New Roman" panose="02020603050405020304" pitchFamily="18" charset="0"/>
                        </a:rPr>
                        <a:t>Often best for high-quality vegetable production because disease pressure may be lower and water can be controlled.</a:t>
                      </a:r>
                      <a:endParaRPr lang="en-GB" sz="18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0222353"/>
                  </a:ext>
                </a:extLst>
              </a:tr>
            </a:tbl>
          </a:graphicData>
        </a:graphic>
      </p:graphicFrame>
    </p:spTree>
    <p:extLst>
      <p:ext uri="{BB962C8B-B14F-4D97-AF65-F5344CB8AC3E}">
        <p14:creationId xmlns:p14="http://schemas.microsoft.com/office/powerpoint/2010/main" val="2597167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1386</Words>
  <Application>Microsoft Office PowerPoint</Application>
  <PresentationFormat>Widescreen</PresentationFormat>
  <Paragraphs>168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Cambria Math</vt:lpstr>
      <vt:lpstr>Times New Roman</vt:lpstr>
      <vt:lpstr>Wingdings</vt:lpstr>
      <vt:lpstr>Office Theme</vt:lpstr>
      <vt:lpstr>Climatic requirements for vegetable crops.</vt:lpstr>
      <vt:lpstr>Meaning of Climatic Requirements</vt:lpstr>
      <vt:lpstr>PowerPoint Presentation</vt:lpstr>
      <vt:lpstr>Temperature Requirements</vt:lpstr>
      <vt:lpstr>Temperature groups of vegetable crops</vt:lpstr>
      <vt:lpstr>PowerPoint Presentation</vt:lpstr>
      <vt:lpstr>Effects of very low temperature</vt:lpstr>
      <vt:lpstr>Effects of very high temperature</vt:lpstr>
      <vt:lpstr>Rainfall and Water Requirements</vt:lpstr>
      <vt:lpstr>PowerPoint Presentation</vt:lpstr>
      <vt:lpstr>Crop Water Requirement Calculations</vt:lpstr>
      <vt:lpstr>Reference Evapotranspiration (ETo)</vt:lpstr>
      <vt:lpstr>Crop Coefficient (Kc)</vt:lpstr>
      <vt:lpstr>PowerPoint Presentation</vt:lpstr>
      <vt:lpstr>PowerPoint Presentation</vt:lpstr>
      <vt:lpstr>Relative Humidity Requirements</vt:lpstr>
      <vt:lpstr>Altitude and Season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Demian Mubika</dc:creator>
  <cp:lastModifiedBy>Demian Mubika</cp:lastModifiedBy>
  <cp:revision>1</cp:revision>
  <dcterms:created xsi:type="dcterms:W3CDTF">2026-06-10T12:49:14Z</dcterms:created>
  <dcterms:modified xsi:type="dcterms:W3CDTF">2026-06-10T12:50:02Z</dcterms:modified>
</cp:coreProperties>
</file>