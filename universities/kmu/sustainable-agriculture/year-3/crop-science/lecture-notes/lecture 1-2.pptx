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8750B-E71B-4012-A68F-D67170A17A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047EF4-FCD0-4D78-BCD2-8A02E300F2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79AD9-AC76-45D4-86CD-CCC97656E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A9159-884B-489B-BB34-F1EE869724CC}" type="datetimeFigureOut">
              <a:rPr lang="en-NZ" smtClean="0"/>
              <a:t>8/03/2022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6E93C-958D-45C0-9064-4D5D74F41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96D74-3584-4C01-95B9-1B152083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7155-0726-462C-8503-F0F04A7AEA2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71177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1CCEB-53CF-410A-BB42-27DBBB19D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48466-7F84-4239-91E4-FCD0C397A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E0979-9FA7-4F4C-9E7D-EF50DB6E3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A9159-884B-489B-BB34-F1EE869724CC}" type="datetimeFigureOut">
              <a:rPr lang="en-NZ" smtClean="0"/>
              <a:t>8/03/2022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AAB96-77D6-4B05-A074-F9219A7F3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1E06F-4D9E-4B37-91B0-132ABC6B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7155-0726-462C-8503-F0F04A7AEA2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52915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B46B1-3A5E-4EDE-9A55-39B29799A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3E84A-2F84-4102-99BB-1C91A6451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84B64-F12E-4777-B73B-29DA8FC54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A9159-884B-489B-BB34-F1EE869724CC}" type="datetimeFigureOut">
              <a:rPr lang="en-NZ" smtClean="0"/>
              <a:t>8/03/2022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47229-5BAC-4B6F-A4FA-17BB6D337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B76F1-088C-4CE3-887D-4EF4D528C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7155-0726-462C-8503-F0F04A7AEA2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98171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4AE24-7803-4B10-ADAA-F57BFB6DE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78F44-DB59-47E7-BE89-92DB1FEF44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C5B48-238D-4040-8BCF-0A33688F4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F362BD-EBFA-4DD1-8726-A4052B433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A9159-884B-489B-BB34-F1EE869724CC}" type="datetimeFigureOut">
              <a:rPr lang="en-NZ" smtClean="0"/>
              <a:t>8/03/2022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3236E8-3605-44E6-ABFD-852C9EBF9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5C6F49-1211-49DA-96DA-8B41CF9CC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7155-0726-462C-8503-F0F04A7AEA2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5336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3803B-CE5B-4F00-A789-7DDEE78A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ED522-EEFA-48CB-93DA-01932EC0C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90D695-5F10-41EC-B69B-B8032716F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CBB06B-EB53-4A66-9829-1B5FF076F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C2B1BA-18A4-4B87-B81A-1BD18A9BE7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7775B-E227-4008-A837-6F50909FF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A9159-884B-489B-BB34-F1EE869724CC}" type="datetimeFigureOut">
              <a:rPr lang="en-NZ" smtClean="0"/>
              <a:t>8/03/2022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191E2D-3248-40AA-AC12-65C07F6B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924DA2-4F18-41FA-A7ED-095F5EFC5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7155-0726-462C-8503-F0F04A7AEA2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6160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D102A-D8DF-40A3-AFA6-E133C80F5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5693EB-A3DD-45B8-8E3D-089E7A666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A9159-884B-489B-BB34-F1EE869724CC}" type="datetimeFigureOut">
              <a:rPr lang="en-NZ" smtClean="0"/>
              <a:t>8/03/2022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5D6FC6-95D8-41FF-9438-79688167A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27FED8-E8CF-409D-BD04-2D83E5F1C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7155-0726-462C-8503-F0F04A7AEA2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65591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02C428-4916-440F-BC12-D176D0B34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A9159-884B-489B-BB34-F1EE869724CC}" type="datetimeFigureOut">
              <a:rPr lang="en-NZ" smtClean="0"/>
              <a:t>8/03/2022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D91AF0-04D6-4610-B943-DE625BDDC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3EF9A-7937-473B-AF97-F59A6942A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7155-0726-462C-8503-F0F04A7AEA2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94104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0441D-6933-429C-BC00-A4998081C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36039-58B0-4252-BB7B-5ADF943DA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EC59C-A3C5-44A5-8128-ACA4ACFA9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1300F-343C-4D74-804B-6F2CFB029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A9159-884B-489B-BB34-F1EE869724CC}" type="datetimeFigureOut">
              <a:rPr lang="en-NZ" smtClean="0"/>
              <a:t>8/03/2022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D9AD8-C644-4506-99BC-2CC0FB52F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369BA0-CE3A-4D0B-B4E2-6F32C547B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7155-0726-462C-8503-F0F04A7AEA2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02106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A6621-A9D9-4665-A77D-CA960D608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484BFF-3B73-4835-A783-651A20E0B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7C41EA-1250-4811-B360-8CEB5E7CD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949C0-8375-4A91-BD7F-3EEB942A4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A9159-884B-489B-BB34-F1EE869724CC}" type="datetimeFigureOut">
              <a:rPr lang="en-NZ" smtClean="0"/>
              <a:t>8/03/2022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96F2F-6FDD-4FB1-AF4C-66F32F7E7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C56F2-60C0-4100-AD24-62DED34F9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7155-0726-462C-8503-F0F04A7AEA2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51131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207F8-4926-4298-9C2A-E83746F3C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3FFF1F-3AE4-4CFE-A201-DBAAF87BD4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BA4DF-8688-4B73-B301-0CB767050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A9159-884B-489B-BB34-F1EE869724CC}" type="datetimeFigureOut">
              <a:rPr lang="en-NZ" smtClean="0"/>
              <a:t>8/03/2022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85AF5-5240-4F1B-B9F4-194B70084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9092F-826E-49F5-8975-15160C0CC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7155-0726-462C-8503-F0F04A7AEA2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71443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9A16D2-840A-4D0F-9B03-E8E638CBC4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1D5291-51FC-47EF-BD06-BC438FF64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51294-9B43-4BA2-AAEA-1F96EA3A2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A9159-884B-489B-BB34-F1EE869724CC}" type="datetimeFigureOut">
              <a:rPr lang="en-NZ" smtClean="0"/>
              <a:t>8/03/2022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35BBF-BEB0-4758-8520-F0EEF68A1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62408-BFB2-4902-98BD-1C960B24A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7155-0726-462C-8503-F0F04A7AEA2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87212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7BF2FA-3068-416F-87D8-60A138629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3EA79-7001-478C-B3CC-B19873647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AE63A-EFE7-4BFB-A1AB-B633C42DBF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A9159-884B-489B-BB34-F1EE869724CC}" type="datetimeFigureOut">
              <a:rPr lang="en-NZ" smtClean="0"/>
              <a:t>8/03/2022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EA8F9-2B81-4A4F-B82F-49011E72B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F038B-69C6-4282-9F87-7DEC41C77A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67155-0726-462C-8503-F0F04A7AEA2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3507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CF20F-191F-417E-BF22-7846198E5F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Lecture 1 </a:t>
            </a:r>
            <a:endParaRPr lang="en-N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AB37D8-1924-4A4C-86BB-CEFBF4F24C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Crop science </a:t>
            </a:r>
          </a:p>
          <a:p>
            <a:r>
              <a:rPr lang="en-GB" dirty="0"/>
              <a:t>10</a:t>
            </a:r>
            <a:r>
              <a:rPr lang="en-GB" baseline="30000" dirty="0"/>
              <a:t>th</a:t>
            </a:r>
            <a:r>
              <a:rPr lang="en-GB" dirty="0"/>
              <a:t> March 2022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4702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A4007-A3F7-471D-BC27-889F4A02B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Food supply system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E6C7B-DA96-4731-ACB5-3E411EBC1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373A3C"/>
                </a:solidFill>
                <a:effectLst/>
                <a:latin typeface="Open Sans" panose="020B0606030504020204" pitchFamily="34" charset="0"/>
              </a:rPr>
              <a:t>The current world population of around seven billion is projected to reach nine billion in forty years or less. The UN projects agricultural output will need to increase by 70% just to maintain current dietary standards – which includes more than one billion malnourished people</a:t>
            </a:r>
            <a:endParaRPr lang="en-NZ" dirty="0"/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76444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01081-5FCE-44C7-A8C3-212F82AB9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FF2FE-ED2F-4048-B1B7-63C38B846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373A3C"/>
                </a:solidFill>
                <a:effectLst/>
                <a:latin typeface="Open Sans" panose="020B0606030504020204" pitchFamily="34" charset="0"/>
              </a:rPr>
              <a:t>As agriculture intensified, the human population grew as it transformed from a world of hunter-gatherers to one in which towns, cities, and countries competed with one another for food supplies and arable land.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373A3C"/>
                </a:solidFill>
                <a:effectLst/>
                <a:latin typeface="Open Sans" panose="020B0606030504020204" pitchFamily="34" charset="0"/>
              </a:rPr>
              <a:t>Plants, once domesticated, have been continually improved by selecting those most productive for sowing. 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373A3C"/>
                </a:solidFill>
                <a:effectLst/>
                <a:latin typeface="Open Sans" panose="020B0606030504020204" pitchFamily="34" charset="0"/>
              </a:rPr>
              <a:t>The dramatic increase in world food production, which supplies feed for animal production and food for human consumption, has mainly come from improved crop cultivars, technological advances, and management practices. </a:t>
            </a:r>
            <a:endParaRPr lang="en-NZ" dirty="0"/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785009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C450F-DDD4-434F-83D2-CA8FD4D1B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E2E24-AEB4-4596-B6E2-743446563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373A3C"/>
                </a:solidFill>
                <a:effectLst/>
                <a:latin typeface="Open Sans" panose="020B0606030504020204" pitchFamily="34" charset="0"/>
              </a:rPr>
              <a:t>The main objectives in feeding the world’s population include, first, the task of increasing world food production and improving dietary standards of the chronically undernourished and the expanding population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373A3C"/>
                </a:solidFill>
                <a:effectLst/>
                <a:latin typeface="Open Sans" panose="020B0606030504020204" pitchFamily="34" charset="0"/>
              </a:rPr>
              <a:t>Second, have to deal with the overwhelming task of equitably distributing food to all regions of the world to offset the current consequences of population growth and increasing world hunger. without a strong balance between food production and distribution – in other words – social justice 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373A3C"/>
                </a:solidFill>
                <a:effectLst/>
                <a:latin typeface="Open Sans" panose="020B0606030504020204" pitchFamily="34" charset="0"/>
              </a:rPr>
              <a:t>Third, agriculture needs to accomplish these objectives with a minimum impact on the world’s biodiversity and our fragile environment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373A3C"/>
                </a:solidFill>
                <a:effectLst/>
                <a:latin typeface="Open Sans" panose="020B0606030504020204" pitchFamily="34" charset="0"/>
              </a:rPr>
              <a:t>Fourth, the increased food production needs to be accomplished without significantly expanding existing levels of land under cultivation</a:t>
            </a:r>
            <a:endParaRPr lang="en-NZ" dirty="0"/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444590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4CA24-B187-45B3-93EA-87E8E397B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Food supply diagram </a:t>
            </a:r>
            <a:endParaRPr lang="en-NZ" dirty="0"/>
          </a:p>
        </p:txBody>
      </p:sp>
      <p:pic>
        <p:nvPicPr>
          <p:cNvPr id="4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516DC885-691B-482A-9C23-16225E52FB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28" y="1825625"/>
            <a:ext cx="10515600" cy="4411402"/>
          </a:xfrm>
        </p:spPr>
      </p:pic>
    </p:spTree>
    <p:extLst>
      <p:ext uri="{BB962C8B-B14F-4D97-AF65-F5344CB8AC3E}">
        <p14:creationId xmlns:p14="http://schemas.microsoft.com/office/powerpoint/2010/main" val="2699557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F9085-FD05-415C-8960-AAA21BDA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Crop science benefits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DA6D7-CF97-4E3A-B28C-761FCE0BC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Crop science provides many benefits to our society and our environment </a:t>
            </a:r>
          </a:p>
          <a:p>
            <a:pPr marL="0" indent="0">
              <a:buNone/>
            </a:pPr>
            <a:r>
              <a:rPr lang="en-US" dirty="0"/>
              <a:t>Produces food we eat and fiber for our clothing</a:t>
            </a:r>
          </a:p>
          <a:p>
            <a:pPr marL="0" indent="0">
              <a:buNone/>
            </a:pPr>
            <a:r>
              <a:rPr lang="en-US" dirty="0"/>
              <a:t>Providing energy to power vehicles and heat our homes</a:t>
            </a:r>
          </a:p>
          <a:p>
            <a:pPr marL="0" indent="0">
              <a:buNone/>
            </a:pPr>
            <a:r>
              <a:rPr lang="en-US" dirty="0"/>
              <a:t>Significant part of our national economy and provides many jobs directly for farmers and for others in the food and service industries </a:t>
            </a:r>
          </a:p>
          <a:p>
            <a:pPr marL="0" indent="0">
              <a:buNone/>
            </a:pPr>
            <a:r>
              <a:rPr lang="en-US" dirty="0"/>
              <a:t>The food and fiber production system begins at the farm and proceeds through processors to the consumers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97842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E2303-FB2A-43AC-AB9E-63141116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Benefits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2855D-9236-47BE-ACDE-475E52524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Other related jobs are in various areas </a:t>
            </a:r>
            <a:r>
              <a:rPr lang="en-US"/>
              <a:t>of production </a:t>
            </a:r>
            <a:r>
              <a:rPr lang="en-US" dirty="0"/>
              <a:t>such as chemical fertilizer and pesticide production, crop consultants, seed and equipment dealers, food processing, and food wholesaling</a:t>
            </a:r>
          </a:p>
          <a:p>
            <a:pPr marL="0" indent="0">
              <a:buNone/>
            </a:pPr>
            <a:r>
              <a:rPr lang="en-US" dirty="0"/>
              <a:t>The food and fiber sector is often called agribusiness and includes all firms engaged in producing, processing, transporting, marketing, and distributing products</a:t>
            </a:r>
          </a:p>
          <a:p>
            <a:pPr marL="0" indent="0">
              <a:buNone/>
            </a:pPr>
            <a:r>
              <a:rPr lang="en-US" dirty="0"/>
              <a:t>Farmers or ranchers produce the raw materials that are ultimately transformed into fuel, food, and fibers</a:t>
            </a:r>
          </a:p>
          <a:p>
            <a:pPr marL="0" indent="0">
              <a:buNone/>
            </a:pPr>
            <a:r>
              <a:rPr lang="en-US" dirty="0"/>
              <a:t>Farm input/service suppliers provide seed, fertilizers, pesticides, and equipment necessary to grow a crop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549428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10E04-9197-48BC-ACB5-EBE4E7C77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958B1-A678-4767-B8FC-1BFD3F6B0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Food and fiber processors convert raw materials or commodities such as grains and livestock produced on the farm into products that can be sold to consumer</a:t>
            </a:r>
          </a:p>
          <a:p>
            <a:pPr marL="0" indent="0">
              <a:buNone/>
            </a:pPr>
            <a:r>
              <a:rPr lang="en-US" dirty="0"/>
              <a:t>Marketers link the food processor to the consumer. This involves wholesale and retail sales 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216386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7E066-0068-410A-8C6D-700C10505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support system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D00B4-A52E-49C6-83B6-4A6A3CC92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Ministry of agriculture</a:t>
            </a:r>
          </a:p>
          <a:p>
            <a:pPr marL="0" indent="0">
              <a:buNone/>
            </a:pPr>
            <a:r>
              <a:rPr lang="en-GB" dirty="0"/>
              <a:t>Research centres </a:t>
            </a:r>
          </a:p>
          <a:p>
            <a:pPr marL="0" indent="0">
              <a:buNone/>
            </a:pPr>
            <a:r>
              <a:rPr lang="en-GB" dirty="0"/>
              <a:t>Universities 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076438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12C0C-B501-4C90-9F88-479A1A811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Application of science in crop production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A5063-DDB5-416F-9547-52A591F6D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Plant breeding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Fertilizers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Irrigation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Improved  crop management </a:t>
            </a:r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868451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89CCE-E395-4A4C-AAE6-8ED6A9554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Crop classification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449DD-AEEE-4491-B86F-E722BB924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Cereal crops are grasses that produce edible grain</a:t>
            </a:r>
          </a:p>
          <a:p>
            <a:pPr marL="0" indent="0">
              <a:buNone/>
            </a:pPr>
            <a:r>
              <a:rPr lang="en-US" dirty="0"/>
              <a:t>Wheat, rice, corn, millet and sorghum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Legumes grown for their edible</a:t>
            </a:r>
          </a:p>
          <a:p>
            <a:pPr marL="0" indent="0">
              <a:buNone/>
            </a:pPr>
            <a:r>
              <a:rPr lang="en-US" dirty="0"/>
              <a:t>Soybeans, beans, peas, groundnuts, and cow peas</a:t>
            </a:r>
          </a:p>
          <a:p>
            <a:pPr marL="0" indent="0">
              <a:buNone/>
            </a:pPr>
            <a:r>
              <a:rPr lang="en-US" dirty="0"/>
              <a:t>Forages are crops whose vegetative parts like stems, leaves, and sometimes attached seed or grain used for livestock feed</a:t>
            </a:r>
          </a:p>
          <a:p>
            <a:pPr marL="0" indent="0">
              <a:buNone/>
            </a:pPr>
            <a:r>
              <a:rPr lang="en-US" dirty="0"/>
              <a:t>We use fiber from plants for clothing, rope, paper, and baskets</a:t>
            </a:r>
          </a:p>
          <a:p>
            <a:pPr marL="0" indent="0">
              <a:buNone/>
            </a:pPr>
            <a:r>
              <a:rPr lang="en-US" dirty="0"/>
              <a:t>Sisal, cotton, </a:t>
            </a:r>
          </a:p>
          <a:p>
            <a:pPr marL="0" indent="0">
              <a:buNone/>
            </a:pPr>
            <a:r>
              <a:rPr lang="en-US" dirty="0"/>
              <a:t>Root and tubers crops  harvested for their underground storage organs that are rich in starch </a:t>
            </a:r>
          </a:p>
          <a:p>
            <a:pPr marL="0" indent="0">
              <a:buNone/>
            </a:pPr>
            <a:r>
              <a:rPr lang="en-US" dirty="0"/>
              <a:t>potatoes, sweet potatoes, and cassava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22711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347B6-B118-44AF-87CD-EB2D025E8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Crop classification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EE599-B982-4561-97B8-F991D5975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Cover crops to prevent soil erosion due to water or wind during periods when the soil is not protected by growing plant cover </a:t>
            </a:r>
          </a:p>
          <a:p>
            <a:pPr marL="0" indent="0">
              <a:buNone/>
            </a:pPr>
            <a:r>
              <a:rPr lang="en-US" dirty="0"/>
              <a:t>Rye grass and clover</a:t>
            </a:r>
          </a:p>
          <a:p>
            <a:pPr marL="0" indent="0">
              <a:buNone/>
            </a:pPr>
            <a:r>
              <a:rPr lang="en-US" dirty="0"/>
              <a:t>Green manure crops are legumes or grasses that are incorporated into the soil while vegetative with the purpose of adding nutrients to the soil or enhancing soil quality</a:t>
            </a:r>
          </a:p>
          <a:p>
            <a:pPr marL="0" indent="0">
              <a:buNone/>
            </a:pPr>
            <a:r>
              <a:rPr lang="en-US" dirty="0" err="1"/>
              <a:t>Sunhemp</a:t>
            </a:r>
            <a:r>
              <a:rPr lang="en-US" dirty="0"/>
              <a:t> 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257679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A917E-B630-4DD9-8973-51EE3934E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classifications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1297C-4768-46EF-8915-5E551B872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Bioenergy crop is a general term that describes production of energy from biological systems </a:t>
            </a:r>
          </a:p>
          <a:p>
            <a:pPr marL="0" indent="0">
              <a:buNone/>
            </a:pPr>
            <a:r>
              <a:rPr lang="en-US" dirty="0"/>
              <a:t>Corn, grain sorghum, and soybean are examples of biofuel crops</a:t>
            </a:r>
          </a:p>
          <a:p>
            <a:pPr marL="0" indent="0">
              <a:buNone/>
            </a:pPr>
            <a:r>
              <a:rPr lang="en-US" dirty="0"/>
              <a:t>Sugarcane the crop from which sugar is obtained</a:t>
            </a:r>
          </a:p>
          <a:p>
            <a:pPr marL="0" indent="0">
              <a:buNone/>
            </a:pPr>
            <a:r>
              <a:rPr lang="en-US" dirty="0"/>
              <a:t>Oil crops produce oils that contain fatty acids that vary in saturation include soybean, sunflowers, groundnuts and cotton</a:t>
            </a:r>
          </a:p>
          <a:p>
            <a:pPr marL="0" indent="0">
              <a:buNone/>
            </a:pPr>
            <a:r>
              <a:rPr lang="en-US" dirty="0"/>
              <a:t>Medicinal crops grown for their unique compounds such as alkaloids and glycosides that have properties for pain relief, disease treatment, or other uses</a:t>
            </a:r>
          </a:p>
          <a:p>
            <a:pPr marL="0" indent="0">
              <a:buNone/>
            </a:pPr>
            <a:r>
              <a:rPr lang="en-US" dirty="0"/>
              <a:t>Ginger, </a:t>
            </a:r>
            <a:r>
              <a:rPr lang="en-US" dirty="0" err="1"/>
              <a:t>chilie</a:t>
            </a:r>
            <a:r>
              <a:rPr lang="en-US" dirty="0"/>
              <a:t>, neem </a:t>
            </a:r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888419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736</Words>
  <Application>Microsoft Office PowerPoint</Application>
  <PresentationFormat>Widescreen</PresentationFormat>
  <Paragraphs>61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Open Sans</vt:lpstr>
      <vt:lpstr>Office Theme</vt:lpstr>
      <vt:lpstr>Lecture 1 </vt:lpstr>
      <vt:lpstr>Food supply system</vt:lpstr>
      <vt:lpstr>PowerPoint Presentation</vt:lpstr>
      <vt:lpstr>PowerPoint Presentation</vt:lpstr>
      <vt:lpstr>Food supply diagram </vt:lpstr>
      <vt:lpstr>Crop science benefits </vt:lpstr>
      <vt:lpstr>Benefits </vt:lpstr>
      <vt:lpstr>PowerPoint Presentation</vt:lpstr>
      <vt:lpstr>Other support system</vt:lpstr>
      <vt:lpstr>Application of science in crop production</vt:lpstr>
      <vt:lpstr>Crop classification </vt:lpstr>
      <vt:lpstr>Crop classification</vt:lpstr>
      <vt:lpstr>Other classifications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 </dc:title>
  <dc:creator>Hopeday Lupumpaula</dc:creator>
  <cp:lastModifiedBy>Hopeday Lupumpaula</cp:lastModifiedBy>
  <cp:revision>5</cp:revision>
  <cp:lastPrinted>2022-03-08T10:29:12Z</cp:lastPrinted>
  <dcterms:created xsi:type="dcterms:W3CDTF">2022-03-01T08:04:14Z</dcterms:created>
  <dcterms:modified xsi:type="dcterms:W3CDTF">2022-03-08T10:30:14Z</dcterms:modified>
</cp:coreProperties>
</file>