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9" r:id="rId9"/>
    <p:sldId id="276" r:id="rId10"/>
    <p:sldId id="270" r:id="rId11"/>
    <p:sldId id="262" r:id="rId12"/>
    <p:sldId id="264" r:id="rId13"/>
    <p:sldId id="266" r:id="rId14"/>
    <p:sldId id="267" r:id="rId15"/>
    <p:sldId id="271" r:id="rId16"/>
    <p:sldId id="273" r:id="rId17"/>
    <p:sldId id="274" r:id="rId18"/>
    <p:sldId id="275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-438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DACB-7EF2-4362-822D-7E82220C4B6B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B3EF45-A939-4432-A734-B2CC143CE03D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430655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For example, the wilting of leaves in response to water deficit reduces both water loss from the leaf and exposure to incident light, thereby reducing heat stress on leaves</a:t>
            </a:r>
            <a:endParaRPr lang="en-NZ" dirty="0"/>
          </a:p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EF45-A939-4432-A734-B2CC143CE03D}" type="slidenum">
              <a:rPr lang="en-NZ" smtClean="0"/>
              <a:pPr/>
              <a:t>3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1917255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FIGURE 7.5. Modifications in plant shoot and root morphology to survive drought, a = deciduous bottle trees with water storing trunks (</a:t>
            </a:r>
            <a:r>
              <a:rPr lang="en-NZ" dirty="0" err="1"/>
              <a:t>Adansonial</a:t>
            </a:r>
            <a:r>
              <a:rPr lang="en-NZ" dirty="0"/>
              <a:t> </a:t>
            </a:r>
            <a:r>
              <a:rPr lang="en-NZ" dirty="0" err="1"/>
              <a:t>Chorisia</a:t>
            </a:r>
            <a:r>
              <a:rPr lang="en-NZ" dirty="0"/>
              <a:t> type); b = succulents storing water in the stem (Cacti/Euphorbia type); c = succulents with water storing leaves (Agave/Crassulaceae type); d = evergreen trees and shrubs with deep root systems (Sclerophyll type); e = deciduous often thorny shrubs (Capparis type); f = </a:t>
            </a:r>
            <a:r>
              <a:rPr lang="en-NZ" dirty="0" err="1"/>
              <a:t>chlorophyllous</a:t>
            </a:r>
            <a:r>
              <a:rPr lang="en-NZ" dirty="0"/>
              <a:t>-stemmed shrub (Retama type); g = tussock grasses with renewal buds protected by leaf sheaths, and with wide-ranging root systems (Aristida type); h = cushion plants (Anabasis type); </a:t>
            </a:r>
            <a:r>
              <a:rPr lang="en-NZ" dirty="0" err="1"/>
              <a:t>i</a:t>
            </a:r>
            <a:r>
              <a:rPr lang="en-NZ" dirty="0"/>
              <a:t> = geophytes with storage roots (Citrullus type); j = bulb and tuber geophytes; k = </a:t>
            </a:r>
            <a:r>
              <a:rPr lang="en-NZ" dirty="0" err="1"/>
              <a:t>pluviotherophytes</a:t>
            </a:r>
            <a:r>
              <a:rPr lang="en-NZ" dirty="0"/>
              <a:t> (annual plants); and I = </a:t>
            </a:r>
            <a:r>
              <a:rPr lang="en-NZ" dirty="0" err="1"/>
              <a:t>desiccationtolerant</a:t>
            </a:r>
            <a:r>
              <a:rPr lang="en-NZ" dirty="0"/>
              <a:t> plants (</a:t>
            </a:r>
            <a:r>
              <a:rPr lang="en-NZ" dirty="0" err="1"/>
              <a:t>poikilohydric</a:t>
            </a:r>
            <a:r>
              <a:rPr lang="en-NZ" dirty="0"/>
              <a:t> type). Compiled from </a:t>
            </a:r>
            <a:r>
              <a:rPr lang="en-NZ" dirty="0" err="1"/>
              <a:t>Larcher</a:t>
            </a:r>
            <a:r>
              <a:rPr lang="en-NZ" dirty="0"/>
              <a:t>, 1995. </a:t>
            </a:r>
            <a:r>
              <a:rPr lang="en-NZ"/>
              <a:t>Reproduced with permission from Verlag Eugen Ulmer, Stuttgart, Germany.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EF45-A939-4432-A734-B2CC143CE03D}" type="slidenum">
              <a:rPr lang="en-NZ" smtClean="0"/>
              <a:pPr/>
              <a:t>10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2938774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FA2645-E03D-447D-808D-650828104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50C6AC2-CE5C-418A-BF6C-99198BF25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DEC1599-E218-4675-A43F-37712334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1C620B0-4704-4AB9-AF78-0AD2433F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DA4B96B-DC7D-427C-BDDD-81DCA2CD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108841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4D98C6-E250-40D0-AD04-BAA3D6A7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D6EC27-DC9D-46FF-8E55-8E3938EAC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F3C87D9-B910-4ABE-AEE3-BF4CFEFF3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B50277-4C6B-4F0F-AFB9-8A1E6F118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955EB41-061C-455D-96D6-632744404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434458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562A3F-8356-4DE7-A05A-7E0534C84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389BF7A-964E-4FEF-8B7A-E1FEE68B0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9D45354-009B-44A8-9BF7-0FFA1E386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CB408C-D7EC-4105-99DA-6F3B5BEB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22BA849-C6F8-45F9-9866-DA1E795C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265636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E6BF96-450D-45C6-8FC6-C0AA3E44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B42965-A007-4E96-877C-82F019D77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E32EBE7-C0E8-46E5-9CB9-7F6DF18FF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8F1A0D9-94FC-4923-B9C5-05E37553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820D81-E1C5-43CA-9E7B-3EFF2C1BF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6A6197F-0774-48DE-A5C5-15C14FE3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1074142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F28258-7A30-43E7-8E39-6CF9B3DF2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ACD8CC6-0445-4325-A5F8-CB42852C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9CD0ECA-5155-4653-A349-6FF6C31D2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0327D5B-4B77-46B4-B648-DEE87CE23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48FC714-DD1D-4BAA-A5B3-C8B48AFA3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88F557B-A1F1-4969-A4DC-1AE9FFFE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B8B7FE7-678B-4254-8937-39C1E216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46F262E-9C1A-476B-8F8C-653C5A00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472177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F931D0-F4BB-4A4F-8115-20FC75D8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EDC3CE9-6338-45F8-8A5F-D8833B7E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0D701AF-320D-4DBF-9314-749C68BF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CF80A04-8C3F-4125-9ECD-FB4A8508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57637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38A05CA-B9F5-433F-ACD8-6588ED63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EB457E11-2F35-41DB-9469-62A3D2534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86CEC29-6586-4D7A-B96F-6787D65A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216119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5B493E-D5DC-46F1-941C-99576548F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06EBD2-5878-4F24-934B-2518EE5DA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9ED0EF5-5667-4317-9A55-61B145828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914127-5572-4321-AF56-93AD4F75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1671FEE-E8FC-4A0B-A960-99B735A18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8C9C20B-1028-49EF-A7D5-A1F8D5378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422694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6AD880-1B03-4CAD-BBDE-0BD75F17C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BF11C45-C086-4550-A45A-95DE5DC628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DA54C1B-068F-4871-81AE-416C71326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0A5C6FA-52FD-4545-A7D2-3C52E918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6FD7FC4-6D11-4DC2-9B7D-B6884A2F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DB65E9D-2C4A-4F9C-975D-3D9B429B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10436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04235E-E3BF-4349-9231-E288B688B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8790CF5-1560-41E1-BFCC-3944D628A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BC4589-7397-44B0-BE29-A1F2BD2C4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EEA409-CADF-4E45-8390-A63F3531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646C469-A3A5-4CA2-9DC3-4B363D618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321045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D8829C8-CE62-4B0A-9908-0FC42BFBA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D99BDAB-E68E-4DB6-B7C5-EE9750902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040D1C4-7B33-4BA2-900E-184BB8ED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B7AA41-EFC2-47F0-A353-4A6FB00A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034271-6329-4405-865F-C84C12E5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114077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059E24D-A6A4-42EF-86B2-891910E29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5A744D1-B22D-4842-983C-D0E483258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AF83D67-1AFB-4C2B-9187-1F7DE3E85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5EE3D-EE70-4947-9AE6-E367CCCDDB4D}" type="datetimeFigureOut">
              <a:rPr lang="en-NZ" smtClean="0"/>
              <a:pPr/>
              <a:t>8/01/2080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9F75F9-9163-4645-B084-1A45D5533E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A91A2EE-1ABF-4B33-8275-C68A5F610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0E8AC-16D3-4011-90D3-242594DEF9F3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xmlns="" val="2742906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100193-4D7A-4C1A-B440-777C90A75C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Crop Science </a:t>
            </a:r>
            <a:br>
              <a:rPr lang="en-AU" dirty="0"/>
            </a:br>
            <a:r>
              <a:rPr lang="en-AU" dirty="0"/>
              <a:t>Lecture 6</a:t>
            </a:r>
            <a:br>
              <a:rPr lang="en-AU" dirty="0"/>
            </a:br>
            <a:r>
              <a:rPr lang="en-AU" dirty="0"/>
              <a:t>09</a:t>
            </a:r>
            <a:r>
              <a:rPr lang="en-AU" baseline="30000" dirty="0"/>
              <a:t>th </a:t>
            </a:r>
            <a:r>
              <a:rPr lang="en-AU" dirty="0"/>
              <a:t>September 2021</a:t>
            </a:r>
            <a:endParaRPr lang="en-N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7CA03E6-C94C-4364-BFFF-3D7E12CEE5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Z" dirty="0" smtClean="0"/>
              <a:t>STRESS PHYSIOLOGY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624240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923E95-52D5-48A2-99AE-2A501A11C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Stress Physiology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38282A-E69F-40E9-9A94-59437ED9C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Plants are frequently exposed to environmental stresses</a:t>
            </a:r>
          </a:p>
          <a:p>
            <a:pPr marL="0" indent="0">
              <a:buNone/>
            </a:pPr>
            <a:r>
              <a:rPr lang="en-US" dirty="0"/>
              <a:t>Some environmental factors, such as air temperature, can become stressful in just a few minutes; </a:t>
            </a:r>
          </a:p>
          <a:p>
            <a:pPr marL="0" indent="0">
              <a:buNone/>
            </a:pPr>
            <a:r>
              <a:rPr lang="en-US" dirty="0"/>
              <a:t>Soil water content, may take days to weeks</a:t>
            </a:r>
          </a:p>
          <a:p>
            <a:pPr marL="0" indent="0">
              <a:buNone/>
            </a:pPr>
            <a:r>
              <a:rPr lang="en-US" dirty="0"/>
              <a:t>Soil mineral deficiencies can take months to become stressful  </a:t>
            </a:r>
          </a:p>
          <a:p>
            <a:pPr marL="0" indent="0">
              <a:buNone/>
            </a:pPr>
            <a:r>
              <a:rPr lang="en-US" dirty="0"/>
              <a:t>Stress resulting from climatic and soil conditions (abiotic factors) result in reduced yield of field grown crops</a:t>
            </a:r>
          </a:p>
          <a:p>
            <a:pPr marL="0" indent="0">
              <a:buNone/>
            </a:pPr>
            <a:r>
              <a:rPr lang="en-US" dirty="0"/>
              <a:t>Stress plays a major role in determining how soil and climate limit the distribution of plant species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503455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D82898-1FFC-481A-BFDF-12E95B2DE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Stress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48BC378-6353-4850-A9AE-AB985659E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Stress is defined as an external factor that exerts a disadvantageous influence on the plant</a:t>
            </a:r>
          </a:p>
          <a:p>
            <a:r>
              <a:rPr lang="en-US" dirty="0"/>
              <a:t>Stress is measured in relation to plant survival </a:t>
            </a:r>
          </a:p>
          <a:p>
            <a:r>
              <a:rPr lang="en-US" dirty="0"/>
              <a:t>Crop yield</a:t>
            </a:r>
          </a:p>
          <a:p>
            <a:r>
              <a:rPr lang="en-US" dirty="0"/>
              <a:t>Growth </a:t>
            </a:r>
          </a:p>
          <a:p>
            <a:pPr marL="0" indent="0">
              <a:buNone/>
            </a:pPr>
            <a:r>
              <a:rPr lang="en-US" dirty="0"/>
              <a:t>The concept of stress is intimately associated with that of stress tolerance, which is the plant’s fitness to cope with an unfavorable environment</a:t>
            </a:r>
          </a:p>
          <a:p>
            <a:pPr marL="0" indent="0">
              <a:buNone/>
            </a:pPr>
            <a:r>
              <a:rPr lang="en-US" dirty="0"/>
              <a:t>Adaptation to environmental stresses result from integrated events occurring at all levels of organization, from the anatomical and morphological level to the cellular, biochemical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8760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812313-D96B-4239-B193-C5C0FE3D8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Water stress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9A1E947-6AD9-4505-B6C2-90B76ACC0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Water deficit can be defined as any water content of a tissue or cell that is below the highest water content exhibited at the most hydrated state</a:t>
            </a:r>
          </a:p>
          <a:p>
            <a:pPr marL="0" indent="0">
              <a:buNone/>
            </a:pPr>
            <a:r>
              <a:rPr lang="en-US" dirty="0"/>
              <a:t>Typically, as the water content of the plant decreases, its cells shrink and the cell walls relax</a:t>
            </a:r>
          </a:p>
          <a:p>
            <a:pPr marL="0" indent="0">
              <a:buNone/>
            </a:pPr>
            <a:r>
              <a:rPr lang="en-US" dirty="0"/>
              <a:t>Because turgor reduction is the earliest significant biophysical effect of water stress, turgor-dependent activities such as leaf expansion and root elongation are the most sensitive to water deficits</a:t>
            </a: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412801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305E2C-B8AA-4856-8FF3-017C4EF9A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Response to water stress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F056C2-C922-4674-B27B-D87C84003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When plants become water stressed after a substantial leaf area has developed, leaves will senesce and eventually fall off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Such a leaf area adjustment is an important long-term change that improves the plant’s fitness in a water-limited environment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Abscission during water stress results largely from enhanced synthesis of and responsiveness to the endogenous plant hormone ethylene </a:t>
            </a: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493060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340B78-8450-4D89-BA3A-F0957E36E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 deficit enhances root extension into deeper moist soil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554FE6-8B8F-453A-AF65-42A60E6D6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Mild water deficits also affect the development of the root system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Root-to-shoot biomass ratio appears to be governed by a functional balance between water uptake by the root and photosynthesis by the shoot 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938525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266BD1-6F14-4436-BE9E-C75DD8E6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Partial water stress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D2E5D2-3C9C-466E-949A-6E1533718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Mild water stress affects both leaf photosynthesis and stomatal conductance</a:t>
            </a:r>
          </a:p>
          <a:p>
            <a:pPr marL="0" indent="0">
              <a:buNone/>
            </a:pPr>
            <a:r>
              <a:rPr lang="en-US" dirty="0"/>
              <a:t>Water Deficit Increases Wax Deposition on the Leaf Surface </a:t>
            </a:r>
          </a:p>
          <a:p>
            <a:pPr marL="0" indent="0">
              <a:buNone/>
            </a:pPr>
            <a:r>
              <a:rPr lang="en-US" dirty="0"/>
              <a:t>A developmental response to water stress is the production of a thicker cuticle that reduces water loss from the epidermis </a:t>
            </a:r>
          </a:p>
          <a:p>
            <a:pPr marL="0" indent="0">
              <a:buNone/>
            </a:pPr>
            <a:r>
              <a:rPr lang="en-US" dirty="0"/>
              <a:t>Changes in leaf size and leaf orientation are very effective in conserving water than Maintaining a leaf temperature that is much lower than the air temperature that requires evaporation of vast quantities of water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1860524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FBA357-94E3-4D1D-897B-DF64086FD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Water stress adaptation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0294A1E-4BD6-4AE6-8B7A-FAEE2FBF7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Water stress adaptation may be achieved by improved plant uptake of water from soil</a:t>
            </a:r>
          </a:p>
          <a:p>
            <a:pPr marL="0" indent="0">
              <a:buNone/>
            </a:pPr>
            <a:r>
              <a:rPr lang="en-US" dirty="0"/>
              <a:t>Reduced loss of water by plants</a:t>
            </a:r>
          </a:p>
          <a:p>
            <a:pPr marL="0" indent="0">
              <a:buNone/>
            </a:pPr>
            <a:r>
              <a:rPr lang="en-US" dirty="0"/>
              <a:t>High plant water-conducting capacity</a:t>
            </a:r>
          </a:p>
          <a:p>
            <a:pPr marL="0" indent="0">
              <a:buNone/>
            </a:pPr>
            <a:r>
              <a:rPr lang="en-US" dirty="0"/>
              <a:t>High plant storage of water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90296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15CF00-783A-45A7-8A51-A904660EE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Stress adaptation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FC97A38-852C-4D73-B015-F958EABCD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Reduction in water transpiration could help conserve available water inside plants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Moderated water use through reduced leaf area and shorter growth duration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Ability of roots to exploit deep soil moisture to provide for evapotranspiration demands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594895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32F38E-C1D2-41EF-89A7-18837B544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2BE163AB-F26F-43FC-9A2C-F51F6811BF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9113" y="365125"/>
            <a:ext cx="10515600" cy="5744127"/>
          </a:xfrm>
        </p:spPr>
      </p:pic>
    </p:spTree>
    <p:extLst>
      <p:ext uri="{BB962C8B-B14F-4D97-AF65-F5344CB8AC3E}">
        <p14:creationId xmlns:p14="http://schemas.microsoft.com/office/powerpoint/2010/main" xmlns="" val="423769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ED40B9-18F6-41E2-A992-2DDB55F0B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Salinity 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FA72F6-9A62-41A6-80F3-B74687310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Evaporation and transpiration remove pure water from the soil and this water loss concentrates solutes in the soil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Salts can quickly reach levels that are injurious to salt-sensitive species</a:t>
            </a:r>
          </a:p>
          <a:p>
            <a:pPr marL="0" indent="0">
              <a:buNone/>
            </a:pPr>
            <a:r>
              <a:rPr lang="en-US" dirty="0"/>
              <a:t>through:</a:t>
            </a:r>
          </a:p>
          <a:p>
            <a:r>
              <a:rPr lang="en-US" dirty="0"/>
              <a:t>Irrigation water contains a high concentration of solutes</a:t>
            </a:r>
          </a:p>
          <a:p>
            <a:r>
              <a:rPr lang="en-US" dirty="0"/>
              <a:t>Limited opportunity to flush out accumulated salts to a drainage system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01947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10517B-CF29-4AE8-89E4-EEF28D2CE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Salinity effect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20C87C-5CA1-4922-95D4-DED10D0FF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Salinity Depresses Growth and Photosynthesis in Sensitive Species </a:t>
            </a:r>
          </a:p>
          <a:p>
            <a:pPr marL="0" indent="0">
              <a:buNone/>
            </a:pPr>
            <a:r>
              <a:rPr lang="en-US" dirty="0"/>
              <a:t>Plants can be divided into two broad groups on the basis of their response to high concentrations of salts:</a:t>
            </a:r>
          </a:p>
          <a:p>
            <a:pPr marL="0" indent="0">
              <a:buNone/>
            </a:pPr>
            <a:r>
              <a:rPr lang="en-US" dirty="0"/>
              <a:t>Halophytes are native to saline soils and complete their life cycles in that environment. </a:t>
            </a:r>
          </a:p>
          <a:p>
            <a:pPr marL="0" indent="0">
              <a:buNone/>
            </a:pPr>
            <a:r>
              <a:rPr lang="en-US" dirty="0" err="1"/>
              <a:t>Glycophytes</a:t>
            </a:r>
            <a:r>
              <a:rPr lang="en-US" dirty="0"/>
              <a:t> or </a:t>
            </a:r>
            <a:r>
              <a:rPr lang="en-US" dirty="0" err="1"/>
              <a:t>nonhalophytes</a:t>
            </a:r>
            <a:r>
              <a:rPr lang="en-US" dirty="0"/>
              <a:t>, are not able to resist salts to the same degree as halophytes</a:t>
            </a:r>
          </a:p>
          <a:p>
            <a:pPr marL="0" indent="0">
              <a:buNone/>
            </a:pPr>
            <a:r>
              <a:rPr lang="en-US" dirty="0"/>
              <a:t>Among crops, maize, onion, citrus, pecan, lettuce, and bean are highly sensitive to salt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199182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5F3335-2761-42D9-8A32-8E2B68F17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Oxygen deficiency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083B231-65F7-410F-A59F-B7A596A68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Roots usually obtain sufficient oxygen (O2) for aerobic respiration directly from the gaseous space in the soil</a:t>
            </a:r>
          </a:p>
          <a:p>
            <a:pPr marL="0" indent="0">
              <a:buNone/>
            </a:pPr>
            <a:r>
              <a:rPr lang="en-US" dirty="0"/>
              <a:t>Gas-filled pores in well-drained, well-structured soil readily permit the diffusion of gaseous O2</a:t>
            </a:r>
          </a:p>
          <a:p>
            <a:pPr marL="0" indent="0">
              <a:buNone/>
            </a:pPr>
            <a:r>
              <a:rPr lang="en-US" dirty="0"/>
              <a:t>Soil can become flooded or waterlogged when it is poorly drained or when rain or irrigation is excessive </a:t>
            </a:r>
          </a:p>
          <a:p>
            <a:pPr marL="0" indent="0">
              <a:buNone/>
            </a:pPr>
            <a:r>
              <a:rPr lang="en-US" dirty="0"/>
              <a:t>Water then fills the pores and blocks the diffusion of O2 in the gaseous phase.</a:t>
            </a:r>
          </a:p>
          <a:p>
            <a:pPr marL="0" indent="0">
              <a:buNone/>
            </a:pPr>
            <a:r>
              <a:rPr lang="en-US" dirty="0"/>
              <a:t>When temperatures are low and plants are dormant, oxygen depletion is very slow and the consequences are relatively harmless</a:t>
            </a:r>
          </a:p>
          <a:p>
            <a:pPr marL="0" indent="0">
              <a:buNone/>
            </a:pPr>
            <a:r>
              <a:rPr lang="en-US" dirty="0"/>
              <a:t>when temperatures are higher oxygen consumption by plant roots and microorganisms can deplete the oxygen from the bulk of the soil water in as little as 24 hours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50057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7E8344-571A-47AB-B59F-4A933268C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597973-24A2-4F5F-ADE0-06CC2E60A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Flooding-sensitive plants are severely damaged by 24 hours of no oxygen</a:t>
            </a:r>
          </a:p>
          <a:p>
            <a:pPr marL="0" indent="0">
              <a:buNone/>
            </a:pPr>
            <a:r>
              <a:rPr lang="en-US" dirty="0"/>
              <a:t>Flooding-tolerant plants can withstand lack of oxygen temporarily, but not for prolonged periods of more than a few days.</a:t>
            </a:r>
          </a:p>
          <a:p>
            <a:pPr marL="0" indent="0">
              <a:buNone/>
            </a:pPr>
            <a:r>
              <a:rPr lang="en-US" dirty="0"/>
              <a:t>Roots are damaged in no oxygen environments </a:t>
            </a:r>
          </a:p>
          <a:p>
            <a:pPr marL="0" indent="0">
              <a:buNone/>
            </a:pPr>
            <a:r>
              <a:rPr lang="en-US" dirty="0"/>
              <a:t>Damaged Oxygen deficient roots injure shoots</a:t>
            </a:r>
          </a:p>
          <a:p>
            <a:pPr marL="0" indent="0">
              <a:buNone/>
            </a:pPr>
            <a:r>
              <a:rPr lang="en-US" dirty="0"/>
              <a:t>No oxygen roots lack sufficient energy to support physiological processes on which the shoots depend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166463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D92AB9-CA8E-45EF-974C-4D9AC2624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Disease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0DFE1AD-F5F2-4173-8074-968EE41A0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Most Bacteria and fungi do not contain chlorophyll, and have to obtain their nourishment from other organisms is known as a parasite</a:t>
            </a:r>
          </a:p>
          <a:p>
            <a:pPr marL="0" indent="0">
              <a:buNone/>
            </a:pPr>
            <a:r>
              <a:rPr lang="en-US" dirty="0"/>
              <a:t>They are a major cause of disease, infecting plants</a:t>
            </a:r>
          </a:p>
          <a:p>
            <a:pPr marL="0" indent="0">
              <a:buNone/>
            </a:pPr>
            <a:r>
              <a:rPr lang="en-US" dirty="0"/>
              <a:t>Parasites derive their nutrition from living materials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3511070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2AFE8F-4F7D-4379-93B4-AF3A0DEA3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Types of disease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DE9480C-B59A-4EAF-A09C-B0A670E3F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NZ" dirty="0"/>
              <a:t>Downy mildew </a:t>
            </a:r>
          </a:p>
          <a:p>
            <a:pPr marL="0" indent="0">
              <a:buNone/>
            </a:pPr>
            <a:r>
              <a:rPr lang="en-NZ" dirty="0"/>
              <a:t>Potato blight </a:t>
            </a:r>
          </a:p>
          <a:p>
            <a:pPr marL="0" indent="0">
              <a:buNone/>
            </a:pPr>
            <a:r>
              <a:rPr lang="en-US" dirty="0"/>
              <a:t>Powdery mildew </a:t>
            </a:r>
          </a:p>
          <a:p>
            <a:pPr marL="0" indent="0">
              <a:buNone/>
            </a:pPr>
            <a:r>
              <a:rPr lang="en-US" dirty="0"/>
              <a:t>Leaf spots</a:t>
            </a:r>
          </a:p>
          <a:p>
            <a:pPr marL="0" indent="0">
              <a:buNone/>
            </a:pPr>
            <a:r>
              <a:rPr lang="en-NZ" dirty="0"/>
              <a:t>Rusts</a:t>
            </a:r>
          </a:p>
          <a:p>
            <a:pPr marL="0" indent="0">
              <a:buNone/>
            </a:pPr>
            <a:r>
              <a:rPr lang="en-US" dirty="0"/>
              <a:t>A fungicide is a chemical control to kill fungi</a:t>
            </a:r>
          </a:p>
          <a:p>
            <a:pPr marL="0" indent="0">
              <a:buNone/>
            </a:pPr>
            <a:r>
              <a:rPr lang="en-US" dirty="0"/>
              <a:t>The thermal death point is the temperature required to kill an organism  Most fungi have at 50°C for ten minutes and a few at 80°C for ten minutes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1213389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2A4C10-077A-4B4A-AFC7-FE622827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86E83E-D005-4051-870E-4DA0D58F2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Insects and mites can be pests of plants by feeding on the plant as a source of nutrition, </a:t>
            </a:r>
          </a:p>
          <a:p>
            <a:pPr marL="0" indent="0">
              <a:buNone/>
            </a:pPr>
            <a:r>
              <a:rPr lang="en-US" dirty="0"/>
              <a:t>Army worm</a:t>
            </a:r>
          </a:p>
          <a:p>
            <a:pPr marL="0" indent="0">
              <a:buNone/>
            </a:pPr>
            <a:r>
              <a:rPr lang="en-US" dirty="0"/>
              <a:t>Fruit fly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597FE7A-A39E-4353-8B62-B0D54A4B6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672862" y="2644726"/>
            <a:ext cx="7582485" cy="353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13777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326A29-9FED-4371-9BAF-127C4A1FB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Insects of economic importance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5BF71E-0607-4C3F-AA8B-441946B0D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Common insects of crops: </a:t>
            </a:r>
          </a:p>
          <a:p>
            <a:pPr marL="0" indent="0">
              <a:buNone/>
            </a:pPr>
            <a:r>
              <a:rPr lang="en-AU" dirty="0"/>
              <a:t>Aphids</a:t>
            </a:r>
          </a:p>
          <a:p>
            <a:pPr marL="0" indent="0">
              <a:buNone/>
            </a:pPr>
            <a:r>
              <a:rPr lang="en-AU" dirty="0"/>
              <a:t>Thrips </a:t>
            </a:r>
          </a:p>
          <a:p>
            <a:pPr marL="0" indent="0">
              <a:buNone/>
            </a:pPr>
            <a:r>
              <a:rPr lang="en-AU" dirty="0"/>
              <a:t>Spider mites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2700698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9613AB-1978-4210-93A1-B8AEBE5BF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Beneficial fungi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EDA6E91-4FA4-42D2-8C50-D0CA0C95D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Saprophytes : These recycle nutrients able to break down complex organic material and release valuable elements including nitrogen, carbon and </a:t>
            </a:r>
            <a:r>
              <a:rPr lang="en-US" dirty="0" err="1"/>
              <a:t>sulphur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Fungi are very important in the carbon cycle </a:t>
            </a:r>
          </a:p>
          <a:p>
            <a:pPr marL="0" indent="0">
              <a:buNone/>
            </a:pPr>
            <a:r>
              <a:rPr lang="en-US" dirty="0"/>
              <a:t>Biotechnology : brewing and baking</a:t>
            </a:r>
          </a:p>
          <a:p>
            <a:pPr marL="0" indent="0">
              <a:buNone/>
            </a:pPr>
            <a:r>
              <a:rPr lang="en-US" dirty="0"/>
              <a:t>Weed control : Some fungi attack weeds including wild oats and cleavers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xmlns="" val="617524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</TotalTime>
  <Words>1168</Words>
  <Application>Microsoft Office PowerPoint</Application>
  <PresentationFormat>Custom</PresentationFormat>
  <Paragraphs>102</Paragraphs>
  <Slides>19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Crop Science  Lecture 6 09th September 2021</vt:lpstr>
      <vt:lpstr>Stress Physiology</vt:lpstr>
      <vt:lpstr>Stress </vt:lpstr>
      <vt:lpstr>Water stress</vt:lpstr>
      <vt:lpstr>Response to water stress</vt:lpstr>
      <vt:lpstr>Water deficit enhances root extension into deeper moist soil</vt:lpstr>
      <vt:lpstr>Partial water stress</vt:lpstr>
      <vt:lpstr>Water stress adaptation</vt:lpstr>
      <vt:lpstr>Stress adaptation</vt:lpstr>
      <vt:lpstr>Slide 10</vt:lpstr>
      <vt:lpstr>Salinity stress</vt:lpstr>
      <vt:lpstr>Salinity effect</vt:lpstr>
      <vt:lpstr>Oxygen deficiency</vt:lpstr>
      <vt:lpstr>Slide 14</vt:lpstr>
      <vt:lpstr>Disease </vt:lpstr>
      <vt:lpstr>Types of disease</vt:lpstr>
      <vt:lpstr>Slide 17</vt:lpstr>
      <vt:lpstr>Insects of economic importance</vt:lpstr>
      <vt:lpstr>Beneficial fungi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Science  Lecture 1 23rd August 2021</dc:title>
  <dc:creator>Sakala, Aaron</dc:creator>
  <cp:lastModifiedBy>Akim</cp:lastModifiedBy>
  <cp:revision>9</cp:revision>
  <dcterms:created xsi:type="dcterms:W3CDTF">2021-08-13T11:47:52Z</dcterms:created>
  <dcterms:modified xsi:type="dcterms:W3CDTF">2080-01-08T14:25:12Z</dcterms:modified>
</cp:coreProperties>
</file>