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63" r:id="rId4"/>
    <p:sldId id="264" r:id="rId5"/>
    <p:sldId id="258" r:id="rId6"/>
    <p:sldId id="265" r:id="rId7"/>
    <p:sldId id="266" r:id="rId8"/>
    <p:sldId id="267" r:id="rId9"/>
    <p:sldId id="259" r:id="rId10"/>
    <p:sldId id="268" r:id="rId11"/>
    <p:sldId id="260" r:id="rId12"/>
    <p:sldId id="269" r:id="rId13"/>
    <p:sldId id="261" r:id="rId14"/>
    <p:sldId id="270" r:id="rId15"/>
    <p:sldId id="271"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32767"/>
    </p:ext>
    <p:ext uri="{FD5EFAAD-0ECE-453E-9831-46B23BE46B34}">
      <p15:chartTrackingRefBased xmlns:p15="http://schemas.microsoft.com/office/powerpoint/2012/main" xmlns=""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snapVertSplitter="1" vertBarState="minimized" horzBarState="maximized">
    <p:restoredLeft sz="15000" autoAdjust="0"/>
    <p:restoredTop sz="94660"/>
  </p:normalViewPr>
  <p:slideViewPr>
    <p:cSldViewPr snapToGrid="0">
      <p:cViewPr varScale="1">
        <p:scale>
          <a:sx n="78" d="100"/>
          <a:sy n="78" d="100"/>
        </p:scale>
        <p:origin x="-774" y="-84"/>
      </p:cViewPr>
      <p:guideLst>
        <p:guide orient="horz" pos="2160"/>
        <p:guide pos="3840"/>
      </p:guideLst>
    </p:cSldViewPr>
  </p:slid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02FA2645-E03D-447D-808D-65082810463E}"/>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NZ"/>
          </a:p>
        </p:txBody>
      </p:sp>
      <p:sp>
        <p:nvSpPr>
          <p:cNvPr id="3" name="Subtitle 2">
            <a:extLst>
              <a:ext uri="{FF2B5EF4-FFF2-40B4-BE49-F238E27FC236}">
                <a16:creationId xmlns:a16="http://schemas.microsoft.com/office/drawing/2014/main" xmlns="" id="{B50C6AC2-CE5C-418A-BF6C-99198BF253B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NZ"/>
          </a:p>
        </p:txBody>
      </p:sp>
      <p:sp>
        <p:nvSpPr>
          <p:cNvPr id="4" name="Date Placeholder 3">
            <a:extLst>
              <a:ext uri="{FF2B5EF4-FFF2-40B4-BE49-F238E27FC236}">
                <a16:creationId xmlns:a16="http://schemas.microsoft.com/office/drawing/2014/main" xmlns="" id="{ADEC1599-E218-4675-A43F-377123347670}"/>
              </a:ext>
            </a:extLst>
          </p:cNvPr>
          <p:cNvSpPr>
            <a:spLocks noGrp="1"/>
          </p:cNvSpPr>
          <p:nvPr>
            <p:ph type="dt" sz="half" idx="10"/>
          </p:nvPr>
        </p:nvSpPr>
        <p:spPr/>
        <p:txBody>
          <a:bodyPr/>
          <a:lstStyle/>
          <a:p>
            <a:fld id="{DDF5EE3D-EE70-4947-9AE6-E367CCCDDB4D}" type="datetimeFigureOut">
              <a:rPr lang="en-NZ" smtClean="0"/>
              <a:pPr/>
              <a:t>8/01/2080</a:t>
            </a:fld>
            <a:endParaRPr lang="en-NZ"/>
          </a:p>
        </p:txBody>
      </p:sp>
      <p:sp>
        <p:nvSpPr>
          <p:cNvPr id="5" name="Footer Placeholder 4">
            <a:extLst>
              <a:ext uri="{FF2B5EF4-FFF2-40B4-BE49-F238E27FC236}">
                <a16:creationId xmlns:a16="http://schemas.microsoft.com/office/drawing/2014/main" xmlns="" id="{F1C620B0-4704-4AB9-AF78-0AD2433F8EB1}"/>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6DA4B96B-DC7D-427C-BDDD-81DCA2CD5BDF}"/>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108841964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14D98C6-E250-40D0-AD04-BAA3D6A7A7FF}"/>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19D6EC27-DC9D-46FF-8E55-8E3938EACDB0}"/>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3F3C87D9-B910-4ABE-AEE3-BF4CFEFF31B7}"/>
              </a:ext>
            </a:extLst>
          </p:cNvPr>
          <p:cNvSpPr>
            <a:spLocks noGrp="1"/>
          </p:cNvSpPr>
          <p:nvPr>
            <p:ph type="dt" sz="half" idx="10"/>
          </p:nvPr>
        </p:nvSpPr>
        <p:spPr/>
        <p:txBody>
          <a:bodyPr/>
          <a:lstStyle/>
          <a:p>
            <a:fld id="{DDF5EE3D-EE70-4947-9AE6-E367CCCDDB4D}" type="datetimeFigureOut">
              <a:rPr lang="en-NZ" smtClean="0"/>
              <a:pPr/>
              <a:t>8/01/2080</a:t>
            </a:fld>
            <a:endParaRPr lang="en-NZ"/>
          </a:p>
        </p:txBody>
      </p:sp>
      <p:sp>
        <p:nvSpPr>
          <p:cNvPr id="5" name="Footer Placeholder 4">
            <a:extLst>
              <a:ext uri="{FF2B5EF4-FFF2-40B4-BE49-F238E27FC236}">
                <a16:creationId xmlns:a16="http://schemas.microsoft.com/office/drawing/2014/main" xmlns="" id="{E9B50277-4C6B-4F0F-AFB9-8A1E6F118CD8}"/>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F955EB41-061C-455D-96D6-63274440408F}"/>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34344581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28562A3F-8356-4DE7-A05A-7E0534C84EC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NZ"/>
          </a:p>
        </p:txBody>
      </p:sp>
      <p:sp>
        <p:nvSpPr>
          <p:cNvPr id="3" name="Text Placeholder 2">
            <a:extLst>
              <a:ext uri="{FF2B5EF4-FFF2-40B4-BE49-F238E27FC236}">
                <a16:creationId xmlns:a16="http://schemas.microsoft.com/office/drawing/2014/main" xmlns="" id="{9389BF7A-964E-4FEF-8B7A-E1FEE68B0EA2}"/>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xmlns="" id="{29D45354-009B-44A8-9BF7-0FFA1E38624F}"/>
              </a:ext>
            </a:extLst>
          </p:cNvPr>
          <p:cNvSpPr>
            <a:spLocks noGrp="1"/>
          </p:cNvSpPr>
          <p:nvPr>
            <p:ph type="dt" sz="half" idx="10"/>
          </p:nvPr>
        </p:nvSpPr>
        <p:spPr/>
        <p:txBody>
          <a:bodyPr/>
          <a:lstStyle/>
          <a:p>
            <a:fld id="{DDF5EE3D-EE70-4947-9AE6-E367CCCDDB4D}" type="datetimeFigureOut">
              <a:rPr lang="en-NZ" smtClean="0"/>
              <a:pPr/>
              <a:t>8/01/2080</a:t>
            </a:fld>
            <a:endParaRPr lang="en-NZ"/>
          </a:p>
        </p:txBody>
      </p:sp>
      <p:sp>
        <p:nvSpPr>
          <p:cNvPr id="5" name="Footer Placeholder 4">
            <a:extLst>
              <a:ext uri="{FF2B5EF4-FFF2-40B4-BE49-F238E27FC236}">
                <a16:creationId xmlns:a16="http://schemas.microsoft.com/office/drawing/2014/main" xmlns="" id="{4FCB408C-D7EC-4105-99DA-6F3B5BEB0A55}"/>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D22BA849-C6F8-45F9-9866-DA1E795C35BA}"/>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265636552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AEE6BF96-450D-45C6-8FC6-C0AA3E44C3FA}"/>
              </a:ext>
            </a:extLst>
          </p:cNvPr>
          <p:cNvSpPr>
            <a:spLocks noGrp="1"/>
          </p:cNvSpPr>
          <p:nvPr>
            <p:ph type="title"/>
          </p:nvPr>
        </p:nvSpPr>
        <p:spPr/>
        <p:txBody>
          <a:body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36B42965-A007-4E96-877C-82F019D77E6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Content Placeholder 3">
            <a:extLst>
              <a:ext uri="{FF2B5EF4-FFF2-40B4-BE49-F238E27FC236}">
                <a16:creationId xmlns:a16="http://schemas.microsoft.com/office/drawing/2014/main" xmlns="" id="{0E32EBE7-C0E8-46E5-9CB9-7F6DF18FFBE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Date Placeholder 4">
            <a:extLst>
              <a:ext uri="{FF2B5EF4-FFF2-40B4-BE49-F238E27FC236}">
                <a16:creationId xmlns:a16="http://schemas.microsoft.com/office/drawing/2014/main" xmlns="" id="{48F1A0D9-94FC-4923-B9C5-05E37553C766}"/>
              </a:ext>
            </a:extLst>
          </p:cNvPr>
          <p:cNvSpPr>
            <a:spLocks noGrp="1"/>
          </p:cNvSpPr>
          <p:nvPr>
            <p:ph type="dt" sz="half" idx="10"/>
          </p:nvPr>
        </p:nvSpPr>
        <p:spPr/>
        <p:txBody>
          <a:bodyPr/>
          <a:lstStyle/>
          <a:p>
            <a:fld id="{DDF5EE3D-EE70-4947-9AE6-E367CCCDDB4D}" type="datetimeFigureOut">
              <a:rPr lang="en-NZ" smtClean="0"/>
              <a:pPr/>
              <a:t>8/01/2080</a:t>
            </a:fld>
            <a:endParaRPr lang="en-NZ"/>
          </a:p>
        </p:txBody>
      </p:sp>
      <p:sp>
        <p:nvSpPr>
          <p:cNvPr id="6" name="Footer Placeholder 5">
            <a:extLst>
              <a:ext uri="{FF2B5EF4-FFF2-40B4-BE49-F238E27FC236}">
                <a16:creationId xmlns:a16="http://schemas.microsoft.com/office/drawing/2014/main" xmlns="" id="{0A820D81-E1C5-43CA-9E7B-3EFF2C1BFB9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56A6197F-0774-48DE-A5C5-15C14FE3C86B}"/>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10741425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4F28258-7A30-43E7-8E39-6CF9B3DF2A78}"/>
              </a:ext>
            </a:extLst>
          </p:cNvPr>
          <p:cNvSpPr>
            <a:spLocks noGrp="1"/>
          </p:cNvSpPr>
          <p:nvPr>
            <p:ph type="title"/>
          </p:nvPr>
        </p:nvSpPr>
        <p:spPr>
          <a:xfrm>
            <a:off x="839788" y="365125"/>
            <a:ext cx="10515600" cy="1325563"/>
          </a:xfrm>
        </p:spPr>
        <p:txBody>
          <a:bodyPr/>
          <a:lstStyle/>
          <a:p>
            <a:r>
              <a:rPr lang="en-US"/>
              <a:t>Click to edit Master title style</a:t>
            </a:r>
            <a:endParaRPr lang="en-NZ"/>
          </a:p>
        </p:txBody>
      </p:sp>
      <p:sp>
        <p:nvSpPr>
          <p:cNvPr id="3" name="Text Placeholder 2">
            <a:extLst>
              <a:ext uri="{FF2B5EF4-FFF2-40B4-BE49-F238E27FC236}">
                <a16:creationId xmlns:a16="http://schemas.microsoft.com/office/drawing/2014/main" xmlns="" id="{2ACD8CC6-0445-4325-A5F8-CB42852C6F9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xmlns="" id="{A9CD0ECA-5155-4653-A349-6FF6C31D2E0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5" name="Text Placeholder 4">
            <a:extLst>
              <a:ext uri="{FF2B5EF4-FFF2-40B4-BE49-F238E27FC236}">
                <a16:creationId xmlns:a16="http://schemas.microsoft.com/office/drawing/2014/main" xmlns="" id="{60327D5B-4B77-46B4-B648-DEE87CE23DB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xmlns="" id="{A48FC714-DD1D-4BAA-A5B3-C8B48AFA3BA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7" name="Date Placeholder 6">
            <a:extLst>
              <a:ext uri="{FF2B5EF4-FFF2-40B4-BE49-F238E27FC236}">
                <a16:creationId xmlns:a16="http://schemas.microsoft.com/office/drawing/2014/main" xmlns="" id="{888F557B-A1F1-4969-A4DC-1AE9FFFE7E03}"/>
              </a:ext>
            </a:extLst>
          </p:cNvPr>
          <p:cNvSpPr>
            <a:spLocks noGrp="1"/>
          </p:cNvSpPr>
          <p:nvPr>
            <p:ph type="dt" sz="half" idx="10"/>
          </p:nvPr>
        </p:nvSpPr>
        <p:spPr/>
        <p:txBody>
          <a:bodyPr/>
          <a:lstStyle/>
          <a:p>
            <a:fld id="{DDF5EE3D-EE70-4947-9AE6-E367CCCDDB4D}" type="datetimeFigureOut">
              <a:rPr lang="en-NZ" smtClean="0"/>
              <a:pPr/>
              <a:t>8/01/2080</a:t>
            </a:fld>
            <a:endParaRPr lang="en-NZ"/>
          </a:p>
        </p:txBody>
      </p:sp>
      <p:sp>
        <p:nvSpPr>
          <p:cNvPr id="8" name="Footer Placeholder 7">
            <a:extLst>
              <a:ext uri="{FF2B5EF4-FFF2-40B4-BE49-F238E27FC236}">
                <a16:creationId xmlns:a16="http://schemas.microsoft.com/office/drawing/2014/main" xmlns="" id="{7B8B7FE7-678B-4254-8937-39C1E2164BA7}"/>
              </a:ext>
            </a:extLst>
          </p:cNvPr>
          <p:cNvSpPr>
            <a:spLocks noGrp="1"/>
          </p:cNvSpPr>
          <p:nvPr>
            <p:ph type="ftr" sz="quarter" idx="11"/>
          </p:nvPr>
        </p:nvSpPr>
        <p:spPr/>
        <p:txBody>
          <a:bodyPr/>
          <a:lstStyle/>
          <a:p>
            <a:endParaRPr lang="en-NZ"/>
          </a:p>
        </p:txBody>
      </p:sp>
      <p:sp>
        <p:nvSpPr>
          <p:cNvPr id="9" name="Slide Number Placeholder 8">
            <a:extLst>
              <a:ext uri="{FF2B5EF4-FFF2-40B4-BE49-F238E27FC236}">
                <a16:creationId xmlns:a16="http://schemas.microsoft.com/office/drawing/2014/main" xmlns="" id="{846F262E-9C1A-476B-8F8C-653C5A00EA70}"/>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347217762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3F931D0-F4BB-4A4F-8115-20FC75D8F481}"/>
              </a:ext>
            </a:extLst>
          </p:cNvPr>
          <p:cNvSpPr>
            <a:spLocks noGrp="1"/>
          </p:cNvSpPr>
          <p:nvPr>
            <p:ph type="title"/>
          </p:nvPr>
        </p:nvSpPr>
        <p:spPr/>
        <p:txBody>
          <a:bodyPr/>
          <a:lstStyle/>
          <a:p>
            <a:r>
              <a:rPr lang="en-US"/>
              <a:t>Click to edit Master title style</a:t>
            </a:r>
            <a:endParaRPr lang="en-NZ"/>
          </a:p>
        </p:txBody>
      </p:sp>
      <p:sp>
        <p:nvSpPr>
          <p:cNvPr id="3" name="Date Placeholder 2">
            <a:extLst>
              <a:ext uri="{FF2B5EF4-FFF2-40B4-BE49-F238E27FC236}">
                <a16:creationId xmlns:a16="http://schemas.microsoft.com/office/drawing/2014/main" xmlns="" id="{DEDC3CE9-6338-45F8-8A5F-D8833B7E20F2}"/>
              </a:ext>
            </a:extLst>
          </p:cNvPr>
          <p:cNvSpPr>
            <a:spLocks noGrp="1"/>
          </p:cNvSpPr>
          <p:nvPr>
            <p:ph type="dt" sz="half" idx="10"/>
          </p:nvPr>
        </p:nvSpPr>
        <p:spPr/>
        <p:txBody>
          <a:bodyPr/>
          <a:lstStyle/>
          <a:p>
            <a:fld id="{DDF5EE3D-EE70-4947-9AE6-E367CCCDDB4D}" type="datetimeFigureOut">
              <a:rPr lang="en-NZ" smtClean="0"/>
              <a:pPr/>
              <a:t>8/01/2080</a:t>
            </a:fld>
            <a:endParaRPr lang="en-NZ"/>
          </a:p>
        </p:txBody>
      </p:sp>
      <p:sp>
        <p:nvSpPr>
          <p:cNvPr id="4" name="Footer Placeholder 3">
            <a:extLst>
              <a:ext uri="{FF2B5EF4-FFF2-40B4-BE49-F238E27FC236}">
                <a16:creationId xmlns:a16="http://schemas.microsoft.com/office/drawing/2014/main" xmlns="" id="{50D701AF-320D-4DBF-9314-749C68BF9B1F}"/>
              </a:ext>
            </a:extLst>
          </p:cNvPr>
          <p:cNvSpPr>
            <a:spLocks noGrp="1"/>
          </p:cNvSpPr>
          <p:nvPr>
            <p:ph type="ftr" sz="quarter" idx="11"/>
          </p:nvPr>
        </p:nvSpPr>
        <p:spPr/>
        <p:txBody>
          <a:bodyPr/>
          <a:lstStyle/>
          <a:p>
            <a:endParaRPr lang="en-NZ"/>
          </a:p>
        </p:txBody>
      </p:sp>
      <p:sp>
        <p:nvSpPr>
          <p:cNvPr id="5" name="Slide Number Placeholder 4">
            <a:extLst>
              <a:ext uri="{FF2B5EF4-FFF2-40B4-BE49-F238E27FC236}">
                <a16:creationId xmlns:a16="http://schemas.microsoft.com/office/drawing/2014/main" xmlns="" id="{FCF80A04-8C3F-4125-9ECD-FB4A850868E7}"/>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35763799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xmlns="" id="{A38A05CA-B9F5-433F-ACD8-6588ED635C3E}"/>
              </a:ext>
            </a:extLst>
          </p:cNvPr>
          <p:cNvSpPr>
            <a:spLocks noGrp="1"/>
          </p:cNvSpPr>
          <p:nvPr>
            <p:ph type="dt" sz="half" idx="10"/>
          </p:nvPr>
        </p:nvSpPr>
        <p:spPr/>
        <p:txBody>
          <a:bodyPr/>
          <a:lstStyle/>
          <a:p>
            <a:fld id="{DDF5EE3D-EE70-4947-9AE6-E367CCCDDB4D}" type="datetimeFigureOut">
              <a:rPr lang="en-NZ" smtClean="0"/>
              <a:pPr/>
              <a:t>8/01/2080</a:t>
            </a:fld>
            <a:endParaRPr lang="en-NZ"/>
          </a:p>
        </p:txBody>
      </p:sp>
      <p:sp>
        <p:nvSpPr>
          <p:cNvPr id="3" name="Footer Placeholder 2">
            <a:extLst>
              <a:ext uri="{FF2B5EF4-FFF2-40B4-BE49-F238E27FC236}">
                <a16:creationId xmlns:a16="http://schemas.microsoft.com/office/drawing/2014/main" xmlns="" id="{EB457E11-2F35-41DB-9469-62A3D253410E}"/>
              </a:ext>
            </a:extLst>
          </p:cNvPr>
          <p:cNvSpPr>
            <a:spLocks noGrp="1"/>
          </p:cNvSpPr>
          <p:nvPr>
            <p:ph type="ftr" sz="quarter" idx="11"/>
          </p:nvPr>
        </p:nvSpPr>
        <p:spPr/>
        <p:txBody>
          <a:bodyPr/>
          <a:lstStyle/>
          <a:p>
            <a:endParaRPr lang="en-NZ"/>
          </a:p>
        </p:txBody>
      </p:sp>
      <p:sp>
        <p:nvSpPr>
          <p:cNvPr id="4" name="Slide Number Placeholder 3">
            <a:extLst>
              <a:ext uri="{FF2B5EF4-FFF2-40B4-BE49-F238E27FC236}">
                <a16:creationId xmlns:a16="http://schemas.microsoft.com/office/drawing/2014/main" xmlns="" id="{286CEC29-6586-4D7A-B96F-6787D65A841C}"/>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216119820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95B493E-D5DC-46F1-941C-99576548F3F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Content Placeholder 2">
            <a:extLst>
              <a:ext uri="{FF2B5EF4-FFF2-40B4-BE49-F238E27FC236}">
                <a16:creationId xmlns:a16="http://schemas.microsoft.com/office/drawing/2014/main" xmlns="" id="{7C06EBD2-5878-4F24-934B-2518EE5DABE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Text Placeholder 3">
            <a:extLst>
              <a:ext uri="{FF2B5EF4-FFF2-40B4-BE49-F238E27FC236}">
                <a16:creationId xmlns:a16="http://schemas.microsoft.com/office/drawing/2014/main" xmlns="" id="{A9ED0EF5-5667-4317-9A55-61B145828AB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21914127-5572-4321-AF56-93AD4F758A81}"/>
              </a:ext>
            </a:extLst>
          </p:cNvPr>
          <p:cNvSpPr>
            <a:spLocks noGrp="1"/>
          </p:cNvSpPr>
          <p:nvPr>
            <p:ph type="dt" sz="half" idx="10"/>
          </p:nvPr>
        </p:nvSpPr>
        <p:spPr/>
        <p:txBody>
          <a:bodyPr/>
          <a:lstStyle/>
          <a:p>
            <a:fld id="{DDF5EE3D-EE70-4947-9AE6-E367CCCDDB4D}" type="datetimeFigureOut">
              <a:rPr lang="en-NZ" smtClean="0"/>
              <a:pPr/>
              <a:t>8/01/2080</a:t>
            </a:fld>
            <a:endParaRPr lang="en-NZ"/>
          </a:p>
        </p:txBody>
      </p:sp>
      <p:sp>
        <p:nvSpPr>
          <p:cNvPr id="6" name="Footer Placeholder 5">
            <a:extLst>
              <a:ext uri="{FF2B5EF4-FFF2-40B4-BE49-F238E27FC236}">
                <a16:creationId xmlns:a16="http://schemas.microsoft.com/office/drawing/2014/main" xmlns="" id="{01671FEE-E8FC-4A0B-A960-99B735A18CD6}"/>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58C9C20B-1028-49EF-A7D5-A1F8D53783D1}"/>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42269458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76AD880-1B03-4CAD-BBDE-0BD75F17C07A}"/>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NZ"/>
          </a:p>
        </p:txBody>
      </p:sp>
      <p:sp>
        <p:nvSpPr>
          <p:cNvPr id="3" name="Picture Placeholder 2">
            <a:extLst>
              <a:ext uri="{FF2B5EF4-FFF2-40B4-BE49-F238E27FC236}">
                <a16:creationId xmlns:a16="http://schemas.microsoft.com/office/drawing/2014/main" xmlns="" id="{1BF11C45-C086-4550-A45A-95DE5DC6287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NZ"/>
          </a:p>
        </p:txBody>
      </p:sp>
      <p:sp>
        <p:nvSpPr>
          <p:cNvPr id="4" name="Text Placeholder 3">
            <a:extLst>
              <a:ext uri="{FF2B5EF4-FFF2-40B4-BE49-F238E27FC236}">
                <a16:creationId xmlns:a16="http://schemas.microsoft.com/office/drawing/2014/main" xmlns="" id="{BDA54C1B-068F-4871-81AE-416C7132645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xmlns="" id="{B0A5C6FA-52FD-4545-A7D2-3C52E918BB0A}"/>
              </a:ext>
            </a:extLst>
          </p:cNvPr>
          <p:cNvSpPr>
            <a:spLocks noGrp="1"/>
          </p:cNvSpPr>
          <p:nvPr>
            <p:ph type="dt" sz="half" idx="10"/>
          </p:nvPr>
        </p:nvSpPr>
        <p:spPr/>
        <p:txBody>
          <a:bodyPr/>
          <a:lstStyle/>
          <a:p>
            <a:fld id="{DDF5EE3D-EE70-4947-9AE6-E367CCCDDB4D}" type="datetimeFigureOut">
              <a:rPr lang="en-NZ" smtClean="0"/>
              <a:pPr/>
              <a:t>8/01/2080</a:t>
            </a:fld>
            <a:endParaRPr lang="en-NZ"/>
          </a:p>
        </p:txBody>
      </p:sp>
      <p:sp>
        <p:nvSpPr>
          <p:cNvPr id="6" name="Footer Placeholder 5">
            <a:extLst>
              <a:ext uri="{FF2B5EF4-FFF2-40B4-BE49-F238E27FC236}">
                <a16:creationId xmlns:a16="http://schemas.microsoft.com/office/drawing/2014/main" xmlns="" id="{56FD7FC4-6D11-4DC2-9B7D-B6884A2FAE80}"/>
              </a:ext>
            </a:extLst>
          </p:cNvPr>
          <p:cNvSpPr>
            <a:spLocks noGrp="1"/>
          </p:cNvSpPr>
          <p:nvPr>
            <p:ph type="ftr" sz="quarter" idx="11"/>
          </p:nvPr>
        </p:nvSpPr>
        <p:spPr/>
        <p:txBody>
          <a:bodyPr/>
          <a:lstStyle/>
          <a:p>
            <a:endParaRPr lang="en-NZ"/>
          </a:p>
        </p:txBody>
      </p:sp>
      <p:sp>
        <p:nvSpPr>
          <p:cNvPr id="7" name="Slide Number Placeholder 6">
            <a:extLst>
              <a:ext uri="{FF2B5EF4-FFF2-40B4-BE49-F238E27FC236}">
                <a16:creationId xmlns:a16="http://schemas.microsoft.com/office/drawing/2014/main" xmlns="" id="{7DB65E9D-2C4A-4F9C-975D-3D9B429B3B00}"/>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31043696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104235E-E3BF-4349-9231-E288B688B830}"/>
              </a:ext>
            </a:extLst>
          </p:cNvPr>
          <p:cNvSpPr>
            <a:spLocks noGrp="1"/>
          </p:cNvSpPr>
          <p:nvPr>
            <p:ph type="title"/>
          </p:nvPr>
        </p:nvSpPr>
        <p:spPr/>
        <p:txBody>
          <a:bodyPr/>
          <a:lstStyle/>
          <a:p>
            <a:r>
              <a:rPr lang="en-US"/>
              <a:t>Click to edit Master title style</a:t>
            </a:r>
            <a:endParaRPr lang="en-NZ"/>
          </a:p>
        </p:txBody>
      </p:sp>
      <p:sp>
        <p:nvSpPr>
          <p:cNvPr id="3" name="Vertical Text Placeholder 2">
            <a:extLst>
              <a:ext uri="{FF2B5EF4-FFF2-40B4-BE49-F238E27FC236}">
                <a16:creationId xmlns:a16="http://schemas.microsoft.com/office/drawing/2014/main" xmlns="" id="{B8790CF5-1560-41E1-BFCC-3944D628A9B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A7BC4589-7397-44B0-BE29-A1F2BD2C42F4}"/>
              </a:ext>
            </a:extLst>
          </p:cNvPr>
          <p:cNvSpPr>
            <a:spLocks noGrp="1"/>
          </p:cNvSpPr>
          <p:nvPr>
            <p:ph type="dt" sz="half" idx="10"/>
          </p:nvPr>
        </p:nvSpPr>
        <p:spPr/>
        <p:txBody>
          <a:bodyPr/>
          <a:lstStyle/>
          <a:p>
            <a:fld id="{DDF5EE3D-EE70-4947-9AE6-E367CCCDDB4D}" type="datetimeFigureOut">
              <a:rPr lang="en-NZ" smtClean="0"/>
              <a:pPr/>
              <a:t>8/01/2080</a:t>
            </a:fld>
            <a:endParaRPr lang="en-NZ"/>
          </a:p>
        </p:txBody>
      </p:sp>
      <p:sp>
        <p:nvSpPr>
          <p:cNvPr id="5" name="Footer Placeholder 4">
            <a:extLst>
              <a:ext uri="{FF2B5EF4-FFF2-40B4-BE49-F238E27FC236}">
                <a16:creationId xmlns:a16="http://schemas.microsoft.com/office/drawing/2014/main" xmlns="" id="{3BEEA409-CADF-4E45-8390-A63F3531C842}"/>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3646C469-A3A5-4CA2-9DC3-4B363D618D72}"/>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321045393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xmlns="" id="{CD8829C8-CE62-4B0A-9908-0FC42BFBA2E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NZ"/>
          </a:p>
        </p:txBody>
      </p:sp>
      <p:sp>
        <p:nvSpPr>
          <p:cNvPr id="3" name="Vertical Text Placeholder 2">
            <a:extLst>
              <a:ext uri="{FF2B5EF4-FFF2-40B4-BE49-F238E27FC236}">
                <a16:creationId xmlns:a16="http://schemas.microsoft.com/office/drawing/2014/main" xmlns="" id="{5D99BDAB-E68E-4DB6-B7C5-EE9750902B88}"/>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E040D1C4-7B33-4BA2-900E-184BB8ED9A51}"/>
              </a:ext>
            </a:extLst>
          </p:cNvPr>
          <p:cNvSpPr>
            <a:spLocks noGrp="1"/>
          </p:cNvSpPr>
          <p:nvPr>
            <p:ph type="dt" sz="half" idx="10"/>
          </p:nvPr>
        </p:nvSpPr>
        <p:spPr/>
        <p:txBody>
          <a:bodyPr/>
          <a:lstStyle/>
          <a:p>
            <a:fld id="{DDF5EE3D-EE70-4947-9AE6-E367CCCDDB4D}" type="datetimeFigureOut">
              <a:rPr lang="en-NZ" smtClean="0"/>
              <a:pPr/>
              <a:t>8/01/2080</a:t>
            </a:fld>
            <a:endParaRPr lang="en-NZ"/>
          </a:p>
        </p:txBody>
      </p:sp>
      <p:sp>
        <p:nvSpPr>
          <p:cNvPr id="5" name="Footer Placeholder 4">
            <a:extLst>
              <a:ext uri="{FF2B5EF4-FFF2-40B4-BE49-F238E27FC236}">
                <a16:creationId xmlns:a16="http://schemas.microsoft.com/office/drawing/2014/main" xmlns="" id="{D9B7AA41-EFC2-47F0-A353-4A6FB00ACBD6}"/>
              </a:ext>
            </a:extLst>
          </p:cNvPr>
          <p:cNvSpPr>
            <a:spLocks noGrp="1"/>
          </p:cNvSpPr>
          <p:nvPr>
            <p:ph type="ftr" sz="quarter" idx="11"/>
          </p:nvPr>
        </p:nvSpPr>
        <p:spPr/>
        <p:txBody>
          <a:bodyPr/>
          <a:lstStyle/>
          <a:p>
            <a:endParaRPr lang="en-NZ"/>
          </a:p>
        </p:txBody>
      </p:sp>
      <p:sp>
        <p:nvSpPr>
          <p:cNvPr id="6" name="Slide Number Placeholder 5">
            <a:extLst>
              <a:ext uri="{FF2B5EF4-FFF2-40B4-BE49-F238E27FC236}">
                <a16:creationId xmlns:a16="http://schemas.microsoft.com/office/drawing/2014/main" xmlns="" id="{43034271-6329-4405-865F-C84C12E59613}"/>
              </a:ext>
            </a:extLst>
          </p:cNvPr>
          <p:cNvSpPr>
            <a:spLocks noGrp="1"/>
          </p:cNvSpPr>
          <p:nvPr>
            <p:ph type="sldNum" sz="quarter" idx="12"/>
          </p:nvPr>
        </p:nvSpPr>
        <p:spPr/>
        <p:txBody>
          <a:body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11407750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xmlns="" id="{3059E24D-A6A4-42EF-86B2-891910E29D2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NZ"/>
          </a:p>
        </p:txBody>
      </p:sp>
      <p:sp>
        <p:nvSpPr>
          <p:cNvPr id="3" name="Text Placeholder 2">
            <a:extLst>
              <a:ext uri="{FF2B5EF4-FFF2-40B4-BE49-F238E27FC236}">
                <a16:creationId xmlns:a16="http://schemas.microsoft.com/office/drawing/2014/main" xmlns="" id="{E5A744D1-B22D-4842-983C-D0E483258A1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NZ"/>
          </a:p>
        </p:txBody>
      </p:sp>
      <p:sp>
        <p:nvSpPr>
          <p:cNvPr id="4" name="Date Placeholder 3">
            <a:extLst>
              <a:ext uri="{FF2B5EF4-FFF2-40B4-BE49-F238E27FC236}">
                <a16:creationId xmlns:a16="http://schemas.microsoft.com/office/drawing/2014/main" xmlns="" id="{7AF83D67-1AFB-4C2B-9187-1F7DE3E85A2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DF5EE3D-EE70-4947-9AE6-E367CCCDDB4D}" type="datetimeFigureOut">
              <a:rPr lang="en-NZ" smtClean="0"/>
              <a:pPr/>
              <a:t>8/01/2080</a:t>
            </a:fld>
            <a:endParaRPr lang="en-NZ"/>
          </a:p>
        </p:txBody>
      </p:sp>
      <p:sp>
        <p:nvSpPr>
          <p:cNvPr id="5" name="Footer Placeholder 4">
            <a:extLst>
              <a:ext uri="{FF2B5EF4-FFF2-40B4-BE49-F238E27FC236}">
                <a16:creationId xmlns:a16="http://schemas.microsoft.com/office/drawing/2014/main" xmlns="" id="{209F75F9-9163-4645-B084-1A45D5533E7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NZ"/>
          </a:p>
        </p:txBody>
      </p:sp>
      <p:sp>
        <p:nvSpPr>
          <p:cNvPr id="6" name="Slide Number Placeholder 5">
            <a:extLst>
              <a:ext uri="{FF2B5EF4-FFF2-40B4-BE49-F238E27FC236}">
                <a16:creationId xmlns:a16="http://schemas.microsoft.com/office/drawing/2014/main" xmlns="" id="{1A91A2EE-1ABF-4B33-8275-C68A5F610FD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990E8AC-16D3-4011-90D3-242594DEF9F3}" type="slidenum">
              <a:rPr lang="en-NZ" smtClean="0"/>
              <a:pPr/>
              <a:t>‹#›</a:t>
            </a:fld>
            <a:endParaRPr lang="en-NZ"/>
          </a:p>
        </p:txBody>
      </p:sp>
    </p:spTree>
    <p:extLst>
      <p:ext uri="{BB962C8B-B14F-4D97-AF65-F5344CB8AC3E}">
        <p14:creationId xmlns:p14="http://schemas.microsoft.com/office/powerpoint/2010/main" xmlns="" val="274290647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9100193-4D7A-4C1A-B440-777C90A75C2F}"/>
              </a:ext>
            </a:extLst>
          </p:cNvPr>
          <p:cNvSpPr>
            <a:spLocks noGrp="1"/>
          </p:cNvSpPr>
          <p:nvPr>
            <p:ph type="ctrTitle"/>
          </p:nvPr>
        </p:nvSpPr>
        <p:spPr/>
        <p:txBody>
          <a:bodyPr>
            <a:normAutofit fontScale="90000"/>
          </a:bodyPr>
          <a:lstStyle/>
          <a:p>
            <a:r>
              <a:rPr lang="en-AU" dirty="0"/>
              <a:t>Crop Science </a:t>
            </a:r>
            <a:br>
              <a:rPr lang="en-AU" dirty="0"/>
            </a:br>
            <a:r>
              <a:rPr lang="en-AU" dirty="0"/>
              <a:t>Lecture 3</a:t>
            </a:r>
            <a:br>
              <a:rPr lang="en-AU" dirty="0"/>
            </a:br>
            <a:r>
              <a:rPr lang="en-AU" dirty="0"/>
              <a:t>01</a:t>
            </a:r>
            <a:r>
              <a:rPr lang="en-AU" baseline="30000" dirty="0"/>
              <a:t>st</a:t>
            </a:r>
            <a:r>
              <a:rPr lang="en-AU" dirty="0"/>
              <a:t> September 2021</a:t>
            </a:r>
            <a:endParaRPr lang="en-NZ" dirty="0"/>
          </a:p>
        </p:txBody>
      </p:sp>
      <p:sp>
        <p:nvSpPr>
          <p:cNvPr id="3" name="Subtitle 2">
            <a:extLst>
              <a:ext uri="{FF2B5EF4-FFF2-40B4-BE49-F238E27FC236}">
                <a16:creationId xmlns:a16="http://schemas.microsoft.com/office/drawing/2014/main" xmlns="" id="{E7CA03E6-C94C-4364-BFFF-3D7E12CEE59A}"/>
              </a:ext>
            </a:extLst>
          </p:cNvPr>
          <p:cNvSpPr>
            <a:spLocks noGrp="1"/>
          </p:cNvSpPr>
          <p:nvPr>
            <p:ph type="subTitle" idx="1"/>
          </p:nvPr>
        </p:nvSpPr>
        <p:spPr/>
        <p:txBody>
          <a:bodyPr/>
          <a:lstStyle/>
          <a:p>
            <a:r>
              <a:rPr lang="en-NZ" dirty="0" smtClean="0"/>
              <a:t>TLANSLOCATION</a:t>
            </a:r>
          </a:p>
          <a:p>
            <a:endParaRPr lang="en-NZ" dirty="0" smtClean="0"/>
          </a:p>
        </p:txBody>
      </p:sp>
    </p:spTree>
    <p:extLst>
      <p:ext uri="{BB962C8B-B14F-4D97-AF65-F5344CB8AC3E}">
        <p14:creationId xmlns:p14="http://schemas.microsoft.com/office/powerpoint/2010/main" xmlns="" val="2624240159"/>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8E923E95-52D5-48A2-99AE-2A501A11C176}"/>
              </a:ext>
            </a:extLst>
          </p:cNvPr>
          <p:cNvSpPr>
            <a:spLocks noGrp="1"/>
          </p:cNvSpPr>
          <p:nvPr>
            <p:ph type="title"/>
          </p:nvPr>
        </p:nvSpPr>
        <p:spPr/>
        <p:txBody>
          <a:bodyPr/>
          <a:lstStyle/>
          <a:p>
            <a:r>
              <a:rPr lang="en-AU" dirty="0"/>
              <a:t>Translocation</a:t>
            </a:r>
            <a:endParaRPr lang="en-NZ" dirty="0"/>
          </a:p>
        </p:txBody>
      </p:sp>
      <p:sp>
        <p:nvSpPr>
          <p:cNvPr id="3" name="Content Placeholder 2">
            <a:extLst>
              <a:ext uri="{FF2B5EF4-FFF2-40B4-BE49-F238E27FC236}">
                <a16:creationId xmlns:a16="http://schemas.microsoft.com/office/drawing/2014/main" xmlns="" id="{8F38282A-E69F-40E9-9A94-59437ED9CFD9}"/>
              </a:ext>
            </a:extLst>
          </p:cNvPr>
          <p:cNvSpPr>
            <a:spLocks noGrp="1"/>
          </p:cNvSpPr>
          <p:nvPr>
            <p:ph idx="1"/>
          </p:nvPr>
        </p:nvSpPr>
        <p:spPr/>
        <p:txBody>
          <a:bodyPr>
            <a:normAutofit fontScale="92500" lnSpcReduction="10000"/>
          </a:bodyPr>
          <a:lstStyle/>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Sap in the phloem is not translocated exclusively in either an upward or a downward direction</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translocated from areas of supply, called sources, to areas of metabolism or storage, called sinks</a:t>
            </a:r>
          </a:p>
          <a:p>
            <a:pPr marL="0" indent="0">
              <a:buNone/>
            </a:pPr>
            <a:r>
              <a:rPr lang="en-NZ" sz="2400" dirty="0">
                <a:latin typeface="Calibri" panose="020F0502020204030204" pitchFamily="34" charset="0"/>
                <a:ea typeface="Calibri" panose="020F0502020204030204" pitchFamily="34" charset="0"/>
                <a:cs typeface="Times New Roman" panose="02020603050405020304" pitchFamily="18" charset="0"/>
              </a:rPr>
              <a:t>Sap </a:t>
            </a:r>
            <a:r>
              <a:rPr lang="en-NZ" sz="2400" dirty="0">
                <a:effectLst/>
                <a:latin typeface="Calibri" panose="020F0502020204030204" pitchFamily="34" charset="0"/>
                <a:ea typeface="Calibri" panose="020F0502020204030204" pitchFamily="34" charset="0"/>
                <a:cs typeface="Times New Roman" panose="02020603050405020304" pitchFamily="18" charset="0"/>
              </a:rPr>
              <a:t>Sources include:</a:t>
            </a:r>
          </a:p>
          <a:p>
            <a:pPr marL="0" indent="0">
              <a:buNone/>
            </a:pPr>
            <a:r>
              <a:rPr lang="en-NZ" sz="2400" dirty="0">
                <a:latin typeface="Calibri" panose="020F0502020204030204" pitchFamily="34" charset="0"/>
                <a:ea typeface="Calibri" panose="020F0502020204030204" pitchFamily="34" charset="0"/>
                <a:cs typeface="Times New Roman" panose="02020603050405020304" pitchFamily="18" charset="0"/>
              </a:rPr>
              <a:t>Supply </a:t>
            </a:r>
            <a:r>
              <a:rPr lang="en-NZ" sz="2400" dirty="0">
                <a:effectLst/>
                <a:latin typeface="Calibri" panose="020F0502020204030204" pitchFamily="34" charset="0"/>
                <a:ea typeface="Calibri" panose="020F0502020204030204" pitchFamily="34" charset="0"/>
                <a:cs typeface="Times New Roman" panose="02020603050405020304" pitchFamily="18" charset="0"/>
              </a:rPr>
              <a:t>organs, mature leaves,  storage organ</a:t>
            </a:r>
          </a:p>
          <a:p>
            <a:pPr marL="0" indent="0">
              <a:buNone/>
            </a:pPr>
            <a:endParaRPr lang="en-NZ"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Sinks include: </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any non photosynthetic organs of the plant, organs not produce enough photosynthetic products, tubers, developing fruits, and immature leaves, which must import carbohydrate for normal development, </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endParaRPr lang="en-NZ" sz="1800" dirty="0">
              <a:latin typeface="Calibri" panose="020F0502020204030204" pitchFamily="34" charset="0"/>
              <a:cs typeface="Times New Roman" panose="02020603050405020304" pitchFamily="18" charset="0"/>
            </a:endParaRPr>
          </a:p>
          <a:p>
            <a:pPr marL="0" indent="0">
              <a:buNone/>
            </a:pPr>
            <a:endParaRPr lang="en-NZ" dirty="0"/>
          </a:p>
        </p:txBody>
      </p:sp>
    </p:spTree>
    <p:extLst>
      <p:ext uri="{BB962C8B-B14F-4D97-AF65-F5344CB8AC3E}">
        <p14:creationId xmlns:p14="http://schemas.microsoft.com/office/powerpoint/2010/main" xmlns="" val="250345502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6CE8165-909C-49FD-91FD-CC4D80FC1E18}"/>
              </a:ext>
            </a:extLst>
          </p:cNvPr>
          <p:cNvSpPr>
            <a:spLocks noGrp="1"/>
          </p:cNvSpPr>
          <p:nvPr>
            <p:ph type="title"/>
          </p:nvPr>
        </p:nvSpPr>
        <p:spPr/>
        <p:txBody>
          <a:bodyPr/>
          <a:lstStyle/>
          <a:p>
            <a:r>
              <a:rPr lang="en-AU" dirty="0"/>
              <a:t>Sap distribution</a:t>
            </a:r>
            <a:endParaRPr lang="en-NZ" dirty="0"/>
          </a:p>
        </p:txBody>
      </p:sp>
      <p:sp>
        <p:nvSpPr>
          <p:cNvPr id="3" name="Content Placeholder 2">
            <a:extLst>
              <a:ext uri="{FF2B5EF4-FFF2-40B4-BE49-F238E27FC236}">
                <a16:creationId xmlns:a16="http://schemas.microsoft.com/office/drawing/2014/main" xmlns="" id="{F1E3E3C5-F883-4BC2-9EB4-6B181C0B71C7}"/>
              </a:ext>
            </a:extLst>
          </p:cNvPr>
          <p:cNvSpPr>
            <a:spLocks noGrp="1"/>
          </p:cNvSpPr>
          <p:nvPr>
            <p:ph idx="1"/>
          </p:nvPr>
        </p:nvSpPr>
        <p:spPr/>
        <p:txBody>
          <a:bodyPr>
            <a:normAutofit fontScale="92500" lnSpcReduction="20000"/>
          </a:bodyPr>
          <a:lstStyle/>
          <a:p>
            <a:pPr marL="0" indent="0">
              <a:buNone/>
            </a:pPr>
            <a:r>
              <a:rPr lang="en-AU" dirty="0"/>
              <a:t>Factors affecting distribution</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Proximity:</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The upper mature leaves on a plant usually provide photosynthates to the growing shoot tip and young, immature leaves; the lower leaves supply predominantly the root system. Intermediate leaves export in both directions, bypassing the intervening mature leaves.</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Development</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Whereas the root and shoot apices are usually the major sinks during vegetative growth, fruits generally become the dominant sinks during reproductive development, particularly for adjacent and other nearby leaves</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Vascular connections</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Source leaves supply sinks with which they have direct vascular connections. In the shoot system a leaf is connected via the vascular system to other leaves directly above or below it on the stem</a:t>
            </a:r>
          </a:p>
          <a:p>
            <a:pPr marL="0" indent="0">
              <a:buNone/>
            </a:pPr>
            <a:endParaRPr lang="en-NZ" dirty="0"/>
          </a:p>
        </p:txBody>
      </p:sp>
    </p:spTree>
    <p:extLst>
      <p:ext uri="{BB962C8B-B14F-4D97-AF65-F5344CB8AC3E}">
        <p14:creationId xmlns:p14="http://schemas.microsoft.com/office/powerpoint/2010/main" xmlns="" val="405873235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2025476-7A00-41B7-AB4E-B5A119362793}"/>
              </a:ext>
            </a:extLst>
          </p:cNvPr>
          <p:cNvSpPr>
            <a:spLocks noGrp="1"/>
          </p:cNvSpPr>
          <p:nvPr>
            <p:ph type="title"/>
          </p:nvPr>
        </p:nvSpPr>
        <p:spPr/>
        <p:txBody>
          <a:bodyPr/>
          <a:lstStyle/>
          <a:p>
            <a:r>
              <a:rPr lang="en-NZ" sz="4400" dirty="0">
                <a:effectLst/>
                <a:latin typeface="Calibri" panose="020F0502020204030204" pitchFamily="34" charset="0"/>
                <a:ea typeface="Calibri" panose="020F0502020204030204" pitchFamily="34" charset="0"/>
                <a:cs typeface="Times New Roman" panose="02020603050405020304" pitchFamily="18" charset="0"/>
              </a:rPr>
              <a:t>Materials translocation</a:t>
            </a:r>
            <a:endParaRPr lang="en-NZ" dirty="0"/>
          </a:p>
        </p:txBody>
      </p:sp>
      <p:sp>
        <p:nvSpPr>
          <p:cNvPr id="3" name="Content Placeholder 2">
            <a:extLst>
              <a:ext uri="{FF2B5EF4-FFF2-40B4-BE49-F238E27FC236}">
                <a16:creationId xmlns:a16="http://schemas.microsoft.com/office/drawing/2014/main" xmlns="" id="{E2B3FE30-D2C1-4220-9161-310EC3F51468}"/>
              </a:ext>
            </a:extLst>
          </p:cNvPr>
          <p:cNvSpPr>
            <a:spLocks noGrp="1"/>
          </p:cNvSpPr>
          <p:nvPr>
            <p:ph idx="1"/>
          </p:nvPr>
        </p:nvSpPr>
        <p:spPr/>
        <p:txBody>
          <a:bodyPr>
            <a:normAutofit lnSpcReduction="10000"/>
          </a:bodyPr>
          <a:lstStyle/>
          <a:p>
            <a:pPr marL="0" indent="0">
              <a:buNone/>
            </a:pPr>
            <a:endParaRPr lang="en-NZ"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dirty="0">
                <a:latin typeface="Calibri" panose="020F0502020204030204" pitchFamily="34" charset="0"/>
                <a:ea typeface="Calibri" panose="020F0502020204030204" pitchFamily="34" charset="0"/>
                <a:cs typeface="Times New Roman" panose="02020603050405020304" pitchFamily="18" charset="0"/>
              </a:rPr>
              <a:t>M</a:t>
            </a:r>
            <a:r>
              <a:rPr lang="en-NZ" sz="2400" dirty="0">
                <a:effectLst/>
                <a:latin typeface="Calibri" panose="020F0502020204030204" pitchFamily="34" charset="0"/>
                <a:ea typeface="Calibri" panose="020F0502020204030204" pitchFamily="34" charset="0"/>
                <a:cs typeface="Times New Roman" panose="02020603050405020304" pitchFamily="18" charset="0"/>
              </a:rPr>
              <a:t>aterials translocated in the phloem include:</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sucrose, amino acids, hormones, and some inorganic ions</a:t>
            </a:r>
          </a:p>
          <a:p>
            <a:pPr marL="0" indent="0">
              <a:buNone/>
            </a:pPr>
            <a:endParaRPr lang="en-NZ"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Water is the most abundant substance transported in the phloem</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Dissolved solutes are translocated through water such as carbohydrates and Sucrose  </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Phloem and Xylem Interact to Transport Nitrogenous Compounds</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Nitrogen is transported throughout the plant in either inorganic or organic form,  in the phloem almost entirely in organic form, in the xylem it can be transported either as nitrate or as part of an organic molecule</a:t>
            </a:r>
            <a:endParaRPr lang="en-NZ" sz="2400" dirty="0"/>
          </a:p>
        </p:txBody>
      </p:sp>
    </p:spTree>
    <p:extLst>
      <p:ext uri="{BB962C8B-B14F-4D97-AF65-F5344CB8AC3E}">
        <p14:creationId xmlns:p14="http://schemas.microsoft.com/office/powerpoint/2010/main" xmlns="" val="296835211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B8812313-D96B-4239-B193-C5C0FE3D8645}"/>
              </a:ext>
            </a:extLst>
          </p:cNvPr>
          <p:cNvSpPr>
            <a:spLocks noGrp="1"/>
          </p:cNvSpPr>
          <p:nvPr>
            <p:ph type="title"/>
          </p:nvPr>
        </p:nvSpPr>
        <p:spPr/>
        <p:txBody>
          <a:bodyPr/>
          <a:lstStyle/>
          <a:p>
            <a:r>
              <a:rPr lang="en-NZ" dirty="0"/>
              <a:t>Respiration</a:t>
            </a:r>
          </a:p>
        </p:txBody>
      </p:sp>
      <p:sp>
        <p:nvSpPr>
          <p:cNvPr id="3" name="Content Placeholder 2">
            <a:extLst>
              <a:ext uri="{FF2B5EF4-FFF2-40B4-BE49-F238E27FC236}">
                <a16:creationId xmlns:a16="http://schemas.microsoft.com/office/drawing/2014/main" xmlns="" id="{B9A1E947-6AD9-4505-B6C2-90B76ACC0A44}"/>
              </a:ext>
            </a:extLst>
          </p:cNvPr>
          <p:cNvSpPr>
            <a:spLocks noGrp="1"/>
          </p:cNvSpPr>
          <p:nvPr>
            <p:ph idx="1"/>
          </p:nvPr>
        </p:nvSpPr>
        <p:spPr/>
        <p:txBody>
          <a:bodyPr/>
          <a:lstStyle/>
          <a:p>
            <a:pPr marL="0" indent="0">
              <a:buNone/>
            </a:pPr>
            <a:endParaRPr lang="en-NZ"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dirty="0">
                <a:effectLst/>
                <a:latin typeface="Calibri" panose="020F0502020204030204" pitchFamily="34" charset="0"/>
                <a:ea typeface="Calibri" panose="020F0502020204030204" pitchFamily="34" charset="0"/>
                <a:cs typeface="Times New Roman" panose="02020603050405020304" pitchFamily="18" charset="0"/>
              </a:rPr>
              <a:t>Aerobic respiration is the biological process by which reduced organic compounds are mobilized and subsequently oxidized</a:t>
            </a:r>
          </a:p>
          <a:p>
            <a:pPr marL="0" indent="0">
              <a:buNone/>
            </a:pPr>
            <a:r>
              <a:rPr lang="en-NZ" dirty="0">
                <a:effectLst/>
                <a:latin typeface="Calibri" panose="020F0502020204030204" pitchFamily="34" charset="0"/>
                <a:ea typeface="Calibri" panose="020F0502020204030204" pitchFamily="34" charset="0"/>
                <a:cs typeface="Times New Roman" panose="02020603050405020304" pitchFamily="18" charset="0"/>
              </a:rPr>
              <a:t>During respiration, free energy is released and stored in a compound, ATP, which can be readily utilized for the maintenance and development of the plant</a:t>
            </a:r>
          </a:p>
          <a:p>
            <a:pPr marL="0" indent="0">
              <a:buNone/>
            </a:pPr>
            <a:r>
              <a:rPr lang="en-NZ" dirty="0">
                <a:effectLst/>
                <a:latin typeface="Calibri" panose="020F0502020204030204" pitchFamily="34" charset="0"/>
                <a:ea typeface="Calibri" panose="020F0502020204030204" pitchFamily="34" charset="0"/>
                <a:cs typeface="Times New Roman" panose="02020603050405020304" pitchFamily="18" charset="0"/>
              </a:rPr>
              <a:t>From a chemical standpoint, plant respiration can be expressed as:</a:t>
            </a:r>
          </a:p>
          <a:p>
            <a:pPr marL="0" indent="0">
              <a:buNone/>
            </a:pPr>
            <a:endParaRPr lang="en-NZ"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dirty="0">
                <a:effectLst/>
                <a:latin typeface="Calibri" panose="020F0502020204030204" pitchFamily="34" charset="0"/>
                <a:ea typeface="Calibri" panose="020F0502020204030204" pitchFamily="34" charset="0"/>
                <a:cs typeface="Times New Roman" panose="02020603050405020304" pitchFamily="18" charset="0"/>
              </a:rPr>
              <a:t>C</a:t>
            </a:r>
            <a:r>
              <a:rPr lang="en-NZ" baseline="-25000" dirty="0">
                <a:effectLst/>
                <a:latin typeface="Calibri" panose="020F0502020204030204" pitchFamily="34" charset="0"/>
                <a:ea typeface="Calibri" panose="020F0502020204030204" pitchFamily="34" charset="0"/>
                <a:cs typeface="Times New Roman" panose="02020603050405020304" pitchFamily="18" charset="0"/>
              </a:rPr>
              <a:t>12</a:t>
            </a:r>
            <a:r>
              <a:rPr lang="en-NZ" dirty="0">
                <a:effectLst/>
                <a:latin typeface="Calibri" panose="020F0502020204030204" pitchFamily="34" charset="0"/>
                <a:ea typeface="Calibri" panose="020F0502020204030204" pitchFamily="34" charset="0"/>
                <a:cs typeface="Times New Roman" panose="02020603050405020304" pitchFamily="18" charset="0"/>
              </a:rPr>
              <a:t>H</a:t>
            </a:r>
            <a:r>
              <a:rPr lang="en-NZ" baseline="-25000" dirty="0">
                <a:effectLst/>
                <a:latin typeface="Calibri" panose="020F0502020204030204" pitchFamily="34" charset="0"/>
                <a:ea typeface="Calibri" panose="020F0502020204030204" pitchFamily="34" charset="0"/>
                <a:cs typeface="Times New Roman" panose="02020603050405020304" pitchFamily="18" charset="0"/>
              </a:rPr>
              <a:t>22</a:t>
            </a:r>
            <a:r>
              <a:rPr lang="en-NZ" dirty="0">
                <a:effectLst/>
                <a:latin typeface="Calibri" panose="020F0502020204030204" pitchFamily="34" charset="0"/>
                <a:ea typeface="Calibri" panose="020F0502020204030204" pitchFamily="34" charset="0"/>
                <a:cs typeface="Times New Roman" panose="02020603050405020304" pitchFamily="18" charset="0"/>
              </a:rPr>
              <a:t>O</a:t>
            </a:r>
            <a:r>
              <a:rPr lang="en-NZ" baseline="-25000" dirty="0">
                <a:effectLst/>
                <a:latin typeface="Calibri" panose="020F0502020204030204" pitchFamily="34" charset="0"/>
                <a:ea typeface="Calibri" panose="020F0502020204030204" pitchFamily="34" charset="0"/>
                <a:cs typeface="Times New Roman" panose="02020603050405020304" pitchFamily="18" charset="0"/>
              </a:rPr>
              <a:t>11</a:t>
            </a:r>
            <a:r>
              <a:rPr lang="en-NZ" dirty="0">
                <a:effectLst/>
                <a:latin typeface="Calibri" panose="020F0502020204030204" pitchFamily="34" charset="0"/>
                <a:ea typeface="Calibri" panose="020F0502020204030204" pitchFamily="34" charset="0"/>
                <a:cs typeface="Times New Roman" panose="02020603050405020304" pitchFamily="18" charset="0"/>
              </a:rPr>
              <a:t> + 12 O</a:t>
            </a:r>
            <a:r>
              <a:rPr lang="en-NZ"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NZ" dirty="0">
                <a:effectLst/>
                <a:latin typeface="Calibri" panose="020F0502020204030204" pitchFamily="34" charset="0"/>
                <a:ea typeface="Calibri" panose="020F0502020204030204" pitchFamily="34" charset="0"/>
                <a:cs typeface="Times New Roman" panose="02020603050405020304" pitchFamily="18" charset="0"/>
              </a:rPr>
              <a:t> → 12 CO</a:t>
            </a:r>
            <a:r>
              <a:rPr lang="en-NZ"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NZ" dirty="0">
                <a:effectLst/>
                <a:latin typeface="Calibri" panose="020F0502020204030204" pitchFamily="34" charset="0"/>
                <a:ea typeface="Calibri" panose="020F0502020204030204" pitchFamily="34" charset="0"/>
                <a:cs typeface="Times New Roman" panose="02020603050405020304" pitchFamily="18" charset="0"/>
              </a:rPr>
              <a:t> + 11 H</a:t>
            </a:r>
            <a:r>
              <a:rPr lang="en-NZ" baseline="-25000" dirty="0">
                <a:effectLst/>
                <a:latin typeface="Calibri" panose="020F0502020204030204" pitchFamily="34" charset="0"/>
                <a:ea typeface="Calibri" panose="020F0502020204030204" pitchFamily="34" charset="0"/>
                <a:cs typeface="Times New Roman" panose="02020603050405020304" pitchFamily="18" charset="0"/>
              </a:rPr>
              <a:t>2</a:t>
            </a:r>
            <a:r>
              <a:rPr lang="en-NZ" dirty="0">
                <a:effectLst/>
                <a:latin typeface="Calibri" panose="020F0502020204030204" pitchFamily="34" charset="0"/>
                <a:ea typeface="Calibri" panose="020F0502020204030204" pitchFamily="34" charset="0"/>
                <a:cs typeface="Times New Roman" panose="02020603050405020304" pitchFamily="18" charset="0"/>
              </a:rPr>
              <a:t>O</a:t>
            </a:r>
          </a:p>
          <a:p>
            <a:pPr marL="0" indent="0">
              <a:buNone/>
            </a:pPr>
            <a:endParaRPr lang="en-NZ"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NZ" dirty="0"/>
          </a:p>
        </p:txBody>
      </p:sp>
    </p:spTree>
    <p:extLst>
      <p:ext uri="{BB962C8B-B14F-4D97-AF65-F5344CB8AC3E}">
        <p14:creationId xmlns:p14="http://schemas.microsoft.com/office/powerpoint/2010/main" xmlns="" val="3412801002"/>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7B1C0727-3BDB-4838-BC09-FDE0BB990044}"/>
              </a:ext>
            </a:extLst>
          </p:cNvPr>
          <p:cNvSpPr>
            <a:spLocks noGrp="1"/>
          </p:cNvSpPr>
          <p:nvPr>
            <p:ph type="title"/>
          </p:nvPr>
        </p:nvSpPr>
        <p:spPr/>
        <p:txBody>
          <a:bodyPr/>
          <a:lstStyle/>
          <a:p>
            <a:r>
              <a:rPr lang="en-AU" dirty="0"/>
              <a:t>Respiration overview</a:t>
            </a:r>
            <a:endParaRPr lang="en-NZ" dirty="0"/>
          </a:p>
        </p:txBody>
      </p:sp>
      <p:sp>
        <p:nvSpPr>
          <p:cNvPr id="3" name="Content Placeholder 2">
            <a:extLst>
              <a:ext uri="{FF2B5EF4-FFF2-40B4-BE49-F238E27FC236}">
                <a16:creationId xmlns:a16="http://schemas.microsoft.com/office/drawing/2014/main" xmlns="" id="{D4C0D0D1-F844-47DE-B76B-A2AA781FF707}"/>
              </a:ext>
            </a:extLst>
          </p:cNvPr>
          <p:cNvSpPr>
            <a:spLocks noGrp="1"/>
          </p:cNvSpPr>
          <p:nvPr>
            <p:ph idx="1"/>
          </p:nvPr>
        </p:nvSpPr>
        <p:spPr/>
        <p:txBody>
          <a:bodyPr/>
          <a:lstStyle/>
          <a:p>
            <a:pPr marL="0" indent="0">
              <a:buNone/>
            </a:pPr>
            <a:endParaRPr lang="en-AU" dirty="0"/>
          </a:p>
          <a:p>
            <a:pPr marL="0" indent="0">
              <a:buNone/>
            </a:pPr>
            <a:endParaRPr lang="en-NZ" dirty="0"/>
          </a:p>
        </p:txBody>
      </p:sp>
      <p:pic>
        <p:nvPicPr>
          <p:cNvPr id="4" name="Picture 3">
            <a:extLst>
              <a:ext uri="{FF2B5EF4-FFF2-40B4-BE49-F238E27FC236}">
                <a16:creationId xmlns:a16="http://schemas.microsoft.com/office/drawing/2014/main" xmlns="" id="{F5B85EC7-17D1-4E30-99B2-9A4FE1DDF954}"/>
              </a:ext>
            </a:extLst>
          </p:cNvPr>
          <p:cNvPicPr/>
          <p:nvPr/>
        </p:nvPicPr>
        <p:blipFill>
          <a:blip r:embed="rId2">
            <a:extLst>
              <a:ext uri="{28A0092B-C50C-407E-A947-70E740481C1C}">
                <a14:useLocalDpi xmlns:a14="http://schemas.microsoft.com/office/drawing/2010/main" xmlns="" val="0"/>
              </a:ext>
            </a:extLst>
          </a:blip>
          <a:srcRect/>
          <a:stretch>
            <a:fillRect/>
          </a:stretch>
        </p:blipFill>
        <p:spPr bwMode="auto">
          <a:xfrm>
            <a:off x="2014330" y="1825625"/>
            <a:ext cx="7460975" cy="4230618"/>
          </a:xfrm>
          <a:prstGeom prst="rect">
            <a:avLst/>
          </a:prstGeom>
          <a:noFill/>
          <a:ln>
            <a:noFill/>
          </a:ln>
        </p:spPr>
      </p:pic>
    </p:spTree>
    <p:extLst>
      <p:ext uri="{BB962C8B-B14F-4D97-AF65-F5344CB8AC3E}">
        <p14:creationId xmlns:p14="http://schemas.microsoft.com/office/powerpoint/2010/main" xmlns="" val="276619842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ECD02288-078F-4D99-8109-DB4F44C7D23C}"/>
              </a:ext>
            </a:extLst>
          </p:cNvPr>
          <p:cNvSpPr>
            <a:spLocks noGrp="1"/>
          </p:cNvSpPr>
          <p:nvPr>
            <p:ph type="title"/>
          </p:nvPr>
        </p:nvSpPr>
        <p:spPr/>
        <p:txBody>
          <a:bodyPr/>
          <a:lstStyle/>
          <a:p>
            <a:r>
              <a:rPr lang="en-AU" dirty="0"/>
              <a:t>Respiration overview</a:t>
            </a:r>
            <a:endParaRPr lang="en-NZ" dirty="0"/>
          </a:p>
        </p:txBody>
      </p:sp>
      <p:sp>
        <p:nvSpPr>
          <p:cNvPr id="3" name="Content Placeholder 2">
            <a:extLst>
              <a:ext uri="{FF2B5EF4-FFF2-40B4-BE49-F238E27FC236}">
                <a16:creationId xmlns:a16="http://schemas.microsoft.com/office/drawing/2014/main" xmlns="" id="{ADFD248C-3083-4484-B96C-02770439851C}"/>
              </a:ext>
            </a:extLst>
          </p:cNvPr>
          <p:cNvSpPr>
            <a:spLocks noGrp="1"/>
          </p:cNvSpPr>
          <p:nvPr>
            <p:ph idx="1"/>
          </p:nvPr>
        </p:nvSpPr>
        <p:spPr/>
        <p:txBody>
          <a:bodyPr/>
          <a:lstStyle/>
          <a:p>
            <a:pPr marL="0" indent="0">
              <a:buNone/>
            </a:pPr>
            <a:endParaRPr lang="en-NZ"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Glycolysis Converts Carbohydrates into Pyruvate, Producing NADH and ATP Glycolysis occurs in all living organisms</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Pentose phosphate pathway, also located both in the cytosol and the plastid, the six-carbon glucose6-phosphate is initially oxidized to the five-carbon ribulose-5-phosphate</a:t>
            </a:r>
            <a:endParaRPr lang="en-NZ"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The carbon is lost as CO2, and reducing power is conserved in the form of two molecules of another reduced pyridine nucleotide, NADPH</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Citric acid cycle, pyruvate is oxidized completely to CO</a:t>
            </a:r>
            <a:r>
              <a:rPr lang="en-NZ" sz="2400" baseline="-25000" dirty="0">
                <a:effectLst/>
                <a:latin typeface="Calibri" panose="020F0502020204030204" pitchFamily="34" charset="0"/>
                <a:ea typeface="Calibri" panose="020F0502020204030204" pitchFamily="34" charset="0"/>
                <a:cs typeface="Times New Roman" panose="02020603050405020304" pitchFamily="18" charset="0"/>
              </a:rPr>
              <a:t>2 </a:t>
            </a:r>
            <a:r>
              <a:rPr lang="en-NZ" sz="2400" dirty="0">
                <a:effectLst/>
                <a:latin typeface="Calibri" panose="020F0502020204030204" pitchFamily="34" charset="0"/>
                <a:ea typeface="Calibri" panose="020F0502020204030204" pitchFamily="34" charset="0"/>
                <a:cs typeface="Times New Roman" panose="02020603050405020304" pitchFamily="18" charset="0"/>
              </a:rPr>
              <a:t> and a considerable amount of reducing power is generated in the process</a:t>
            </a:r>
            <a:endParaRPr lang="en-NZ" sz="2400" dirty="0">
              <a:latin typeface="Calibri" panose="020F0502020204030204" pitchFamily="34" charset="0"/>
              <a:cs typeface="Times New Roman" panose="02020603050405020304" pitchFamily="18" charset="0"/>
            </a:endParaRPr>
          </a:p>
          <a:p>
            <a:pPr marL="0" indent="0">
              <a:buNone/>
            </a:pPr>
            <a:endParaRPr lang="en-NZ" dirty="0"/>
          </a:p>
        </p:txBody>
      </p:sp>
    </p:spTree>
    <p:extLst>
      <p:ext uri="{BB962C8B-B14F-4D97-AF65-F5344CB8AC3E}">
        <p14:creationId xmlns:p14="http://schemas.microsoft.com/office/powerpoint/2010/main" xmlns="" val="380832656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E6F65F3-EBD9-412D-A9F2-C46C8A427843}"/>
              </a:ext>
            </a:extLst>
          </p:cNvPr>
          <p:cNvSpPr>
            <a:spLocks noGrp="1"/>
          </p:cNvSpPr>
          <p:nvPr>
            <p:ph type="title"/>
          </p:nvPr>
        </p:nvSpPr>
        <p:spPr/>
        <p:txBody>
          <a:bodyPr/>
          <a:lstStyle/>
          <a:p>
            <a:r>
              <a:rPr lang="en-AU" dirty="0"/>
              <a:t>Environmental factors affecting respiration</a:t>
            </a:r>
            <a:endParaRPr lang="en-NZ" dirty="0"/>
          </a:p>
        </p:txBody>
      </p:sp>
      <p:sp>
        <p:nvSpPr>
          <p:cNvPr id="3" name="Content Placeholder 2">
            <a:extLst>
              <a:ext uri="{FF2B5EF4-FFF2-40B4-BE49-F238E27FC236}">
                <a16:creationId xmlns:a16="http://schemas.microsoft.com/office/drawing/2014/main" xmlns="" id="{81AD2FEE-5A4A-484E-915A-E9228760EE31}"/>
              </a:ext>
            </a:extLst>
          </p:cNvPr>
          <p:cNvSpPr>
            <a:spLocks noGrp="1"/>
          </p:cNvSpPr>
          <p:nvPr>
            <p:ph idx="1"/>
          </p:nvPr>
        </p:nvSpPr>
        <p:spPr>
          <a:xfrm>
            <a:off x="692426" y="2141537"/>
            <a:ext cx="10515600" cy="4351338"/>
          </a:xfrm>
        </p:spPr>
        <p:txBody>
          <a:bodyPr/>
          <a:lstStyle/>
          <a:p>
            <a:pPr marL="0" indent="0">
              <a:buNone/>
            </a:pPr>
            <a:endParaRPr lang="en-NZ"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dirty="0">
                <a:effectLst/>
                <a:latin typeface="Calibri" panose="020F0502020204030204" pitchFamily="34" charset="0"/>
                <a:ea typeface="Calibri" panose="020F0502020204030204" pitchFamily="34" charset="0"/>
                <a:cs typeface="Times New Roman" panose="02020603050405020304" pitchFamily="18" charset="0"/>
              </a:rPr>
              <a:t>Factors controlling respiration:</a:t>
            </a:r>
          </a:p>
          <a:p>
            <a:r>
              <a:rPr lang="en-NZ" dirty="0">
                <a:effectLst/>
                <a:latin typeface="Calibri" panose="020F0502020204030204" pitchFamily="34" charset="0"/>
                <a:ea typeface="Calibri" panose="020F0502020204030204" pitchFamily="34" charset="0"/>
                <a:cs typeface="Times New Roman" panose="02020603050405020304" pitchFamily="18" charset="0"/>
              </a:rPr>
              <a:t>environmental oxygen </a:t>
            </a:r>
          </a:p>
          <a:p>
            <a:pPr marL="0" indent="0">
              <a:buNone/>
            </a:pPr>
            <a:endParaRPr lang="en-NZ" dirty="0">
              <a:effectLst/>
              <a:latin typeface="Calibri" panose="020F0502020204030204" pitchFamily="34" charset="0"/>
              <a:ea typeface="Calibri" panose="020F0502020204030204" pitchFamily="34" charset="0"/>
              <a:cs typeface="Times New Roman" panose="02020603050405020304" pitchFamily="18" charset="0"/>
            </a:endParaRPr>
          </a:p>
          <a:p>
            <a:r>
              <a:rPr lang="en-NZ" dirty="0">
                <a:effectLst/>
                <a:latin typeface="Calibri" panose="020F0502020204030204" pitchFamily="34" charset="0"/>
                <a:ea typeface="Calibri" panose="020F0502020204030204" pitchFamily="34" charset="0"/>
                <a:cs typeface="Times New Roman" panose="02020603050405020304" pitchFamily="18" charset="0"/>
              </a:rPr>
              <a:t> temperature, </a:t>
            </a:r>
          </a:p>
          <a:p>
            <a:endParaRPr lang="en-NZ" dirty="0">
              <a:effectLst/>
              <a:latin typeface="Calibri" panose="020F0502020204030204" pitchFamily="34" charset="0"/>
              <a:ea typeface="Calibri" panose="020F0502020204030204" pitchFamily="34" charset="0"/>
              <a:cs typeface="Times New Roman" panose="02020603050405020304" pitchFamily="18" charset="0"/>
            </a:endParaRPr>
          </a:p>
          <a:p>
            <a:r>
              <a:rPr lang="en-NZ" dirty="0">
                <a:effectLst/>
                <a:latin typeface="Calibri" panose="020F0502020204030204" pitchFamily="34" charset="0"/>
                <a:ea typeface="Calibri" panose="020F0502020204030204" pitchFamily="34" charset="0"/>
                <a:cs typeface="Times New Roman" panose="02020603050405020304" pitchFamily="18" charset="0"/>
              </a:rPr>
              <a:t>carbon dioxide</a:t>
            </a:r>
            <a:endParaRPr lang="en-NZ" dirty="0"/>
          </a:p>
        </p:txBody>
      </p:sp>
    </p:spTree>
    <p:extLst>
      <p:ext uri="{BB962C8B-B14F-4D97-AF65-F5344CB8AC3E}">
        <p14:creationId xmlns:p14="http://schemas.microsoft.com/office/powerpoint/2010/main" xmlns="" val="276788598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A305E2C-B8AA-4856-8FF3-017C4EF9AC7A}"/>
              </a:ext>
            </a:extLst>
          </p:cNvPr>
          <p:cNvSpPr>
            <a:spLocks noGrp="1"/>
          </p:cNvSpPr>
          <p:nvPr>
            <p:ph type="title"/>
          </p:nvPr>
        </p:nvSpPr>
        <p:spPr/>
        <p:txBody>
          <a:bodyPr/>
          <a:lstStyle/>
          <a:p>
            <a:r>
              <a:rPr lang="en-AU" dirty="0"/>
              <a:t>Lipid metabolism</a:t>
            </a:r>
            <a:endParaRPr lang="en-NZ" dirty="0"/>
          </a:p>
        </p:txBody>
      </p:sp>
      <p:sp>
        <p:nvSpPr>
          <p:cNvPr id="3" name="Content Placeholder 2">
            <a:extLst>
              <a:ext uri="{FF2B5EF4-FFF2-40B4-BE49-F238E27FC236}">
                <a16:creationId xmlns:a16="http://schemas.microsoft.com/office/drawing/2014/main" xmlns="" id="{52F056C2-C922-4674-B27B-D87C84003579}"/>
              </a:ext>
            </a:extLst>
          </p:cNvPr>
          <p:cNvSpPr>
            <a:spLocks noGrp="1"/>
          </p:cNvSpPr>
          <p:nvPr>
            <p:ph idx="1"/>
          </p:nvPr>
        </p:nvSpPr>
        <p:spPr/>
        <p:txBody>
          <a:bodyPr/>
          <a:lstStyle/>
          <a:p>
            <a:pPr marL="0" indent="0">
              <a:buNone/>
            </a:pPr>
            <a:endParaRPr lang="en-NZ"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dirty="0">
                <a:latin typeface="Calibri" panose="020F0502020204030204" pitchFamily="34" charset="0"/>
                <a:ea typeface="Calibri" panose="020F0502020204030204" pitchFamily="34" charset="0"/>
                <a:cs typeface="Times New Roman" panose="02020603050405020304" pitchFamily="18" charset="0"/>
              </a:rPr>
              <a:t>A</a:t>
            </a:r>
            <a:r>
              <a:rPr lang="en-NZ" sz="2400" dirty="0">
                <a:effectLst/>
                <a:latin typeface="Calibri" panose="020F0502020204030204" pitchFamily="34" charset="0"/>
                <a:ea typeface="Calibri" panose="020F0502020204030204" pitchFamily="34" charset="0"/>
                <a:cs typeface="Times New Roman" panose="02020603050405020304" pitchFamily="18" charset="0"/>
              </a:rPr>
              <a:t>nimals use fats for energy storage, plants use them mainly for carbon storage</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Fats and oils are important storage forms of reduced carbon in many seeds, including those of agriculturally important species such as soybean, sunflower, peanut, and cotton</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Oils often serve a major storage function in non domesticated plants that produce small seeds and  Some fruits, such as olives and avocados, also store fats and oils</a:t>
            </a:r>
          </a:p>
          <a:p>
            <a:pPr marL="0" indent="0">
              <a:buNone/>
            </a:pPr>
            <a:endParaRPr lang="en-NZ" dirty="0"/>
          </a:p>
        </p:txBody>
      </p:sp>
    </p:spTree>
    <p:extLst>
      <p:ext uri="{BB962C8B-B14F-4D97-AF65-F5344CB8AC3E}">
        <p14:creationId xmlns:p14="http://schemas.microsoft.com/office/powerpoint/2010/main" xmlns="" val="249306002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4B723684-FD77-4BEE-9AD9-78CCFBA4FF4D}"/>
              </a:ext>
            </a:extLst>
          </p:cNvPr>
          <p:cNvSpPr>
            <a:spLocks noGrp="1"/>
          </p:cNvSpPr>
          <p:nvPr>
            <p:ph type="title"/>
          </p:nvPr>
        </p:nvSpPr>
        <p:spPr/>
        <p:txBody>
          <a:bodyPr/>
          <a:lstStyle/>
          <a:p>
            <a:r>
              <a:rPr lang="en-AU" dirty="0"/>
              <a:t>Storage lipids </a:t>
            </a:r>
            <a:endParaRPr lang="en-NZ" dirty="0"/>
          </a:p>
        </p:txBody>
      </p:sp>
      <p:sp>
        <p:nvSpPr>
          <p:cNvPr id="3" name="Content Placeholder 2">
            <a:extLst>
              <a:ext uri="{FF2B5EF4-FFF2-40B4-BE49-F238E27FC236}">
                <a16:creationId xmlns:a16="http://schemas.microsoft.com/office/drawing/2014/main" xmlns="" id="{A4710157-8B44-4E5F-8193-7C7F6433DAD3}"/>
              </a:ext>
            </a:extLst>
          </p:cNvPr>
          <p:cNvSpPr>
            <a:spLocks noGrp="1"/>
          </p:cNvSpPr>
          <p:nvPr>
            <p:ph idx="1"/>
          </p:nvPr>
        </p:nvSpPr>
        <p:spPr/>
        <p:txBody>
          <a:bodyPr>
            <a:normAutofit/>
          </a:bodyPr>
          <a:lstStyle/>
          <a:p>
            <a:pPr marL="0" indent="0">
              <a:buNone/>
            </a:pPr>
            <a:r>
              <a:rPr lang="en-NZ" sz="2400" dirty="0">
                <a:latin typeface="Calibri" panose="020F0502020204030204" pitchFamily="34" charset="0"/>
                <a:ea typeface="Calibri" panose="020F0502020204030204" pitchFamily="34" charset="0"/>
                <a:cs typeface="Times New Roman" panose="02020603050405020304" pitchFamily="18" charset="0"/>
              </a:rPr>
              <a:t>Lipids a</a:t>
            </a:r>
            <a:r>
              <a:rPr lang="en-NZ" sz="2400" dirty="0">
                <a:effectLst/>
                <a:latin typeface="Calibri" panose="020F0502020204030204" pitchFamily="34" charset="0"/>
                <a:ea typeface="Calibri" panose="020F0502020204030204" pitchFamily="34" charset="0"/>
                <a:cs typeface="Times New Roman" panose="02020603050405020304" pitchFamily="18" charset="0"/>
              </a:rPr>
              <a:t>re Converted into Carbohydrates in Germinating Seeds After germinating, oil-containing seeds metabolize stored triacylglycerols by converting lipids to sucrose</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Plants are not able to transport fats from the endosperm to the root and shoot tissues of the germinating seedling, so they convert stored lipids to mobile form of carbon, such as sucrose</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The conversion of lipids to sucrose in oilseeds is triggered by germination and begins with the hydrolysis of fats stored in the oil bodies to free fatty acids,</a:t>
            </a:r>
            <a:endParaRPr lang="en-NZ" sz="2400" dirty="0">
              <a:latin typeface="Calibri" panose="020F0502020204030204" pitchFamily="34" charset="0"/>
              <a:cs typeface="Times New Roman" panose="02020603050405020304" pitchFamily="18" charset="0"/>
            </a:endParaRP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The initial step in the conversion of lipids to carbohydrate is the breakdown of fats stored in the oil bodies by the enzyme lipase</a:t>
            </a:r>
            <a:endParaRPr lang="en-NZ" sz="2400" dirty="0"/>
          </a:p>
        </p:txBody>
      </p:sp>
    </p:spTree>
    <p:extLst>
      <p:ext uri="{BB962C8B-B14F-4D97-AF65-F5344CB8AC3E}">
        <p14:creationId xmlns:p14="http://schemas.microsoft.com/office/powerpoint/2010/main" xmlns="" val="18927788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99340B78-8450-4D89-BA3A-F0957E36E9B1}"/>
              </a:ext>
            </a:extLst>
          </p:cNvPr>
          <p:cNvSpPr>
            <a:spLocks noGrp="1"/>
          </p:cNvSpPr>
          <p:nvPr>
            <p:ph type="title"/>
          </p:nvPr>
        </p:nvSpPr>
        <p:spPr/>
        <p:txBody>
          <a:bodyPr/>
          <a:lstStyle/>
          <a:p>
            <a:r>
              <a:rPr lang="en-NZ" dirty="0"/>
              <a:t>Nutrient assimilation </a:t>
            </a:r>
          </a:p>
        </p:txBody>
      </p:sp>
      <p:sp>
        <p:nvSpPr>
          <p:cNvPr id="3" name="Content Placeholder 2">
            <a:extLst>
              <a:ext uri="{FF2B5EF4-FFF2-40B4-BE49-F238E27FC236}">
                <a16:creationId xmlns:a16="http://schemas.microsoft.com/office/drawing/2014/main" xmlns="" id="{51554FE6-8B8F-453A-AF65-42A60E6D6968}"/>
              </a:ext>
            </a:extLst>
          </p:cNvPr>
          <p:cNvSpPr>
            <a:spLocks noGrp="1"/>
          </p:cNvSpPr>
          <p:nvPr>
            <p:ph idx="1"/>
          </p:nvPr>
        </p:nvSpPr>
        <p:spPr/>
        <p:txBody>
          <a:bodyPr/>
          <a:lstStyle/>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Higher plants are autotrophic organisms that can synthesize their organic molecular components out of inorganic nutrients obtained from their surroundings</a:t>
            </a:r>
          </a:p>
          <a:p>
            <a:pPr marL="0" indent="0">
              <a:buNone/>
            </a:pPr>
            <a:endParaRPr lang="en-NZ" sz="24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Assimilation of some nutrients, particularly nitrogen, requires a complex series of biochemical reactions that are among the most energy-requiring reactions in living organisms such as:</a:t>
            </a:r>
          </a:p>
          <a:p>
            <a:pPr marL="0" indent="0">
              <a:buNone/>
            </a:pPr>
            <a:r>
              <a:rPr lang="en-NZ" sz="2400" dirty="0">
                <a:latin typeface="Calibri" panose="020F0502020204030204" pitchFamily="34" charset="0"/>
                <a:ea typeface="Calibri" panose="020F0502020204030204" pitchFamily="34" charset="0"/>
                <a:cs typeface="Times New Roman" panose="02020603050405020304" pitchFamily="18" charset="0"/>
              </a:rPr>
              <a:t>N</a:t>
            </a:r>
            <a:r>
              <a:rPr lang="en-NZ" sz="2400" dirty="0">
                <a:effectLst/>
                <a:latin typeface="Calibri" panose="020F0502020204030204" pitchFamily="34" charset="0"/>
                <a:ea typeface="Calibri" panose="020F0502020204030204" pitchFamily="34" charset="0"/>
                <a:cs typeface="Times New Roman" panose="02020603050405020304" pitchFamily="18" charset="0"/>
              </a:rPr>
              <a:t>itrate (NO3 –) assimilation, the nitrogen in NO3 – is converted to a higher-energy form in nitrite (NO2 –), then to a yet higher-energy form in ammonium (NH4 +)</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Plants such as legumes form symbiotic relationships with nitrogen-fixing bacteria to convert molecular nitrogen (N2) into ammonia (NH3</a:t>
            </a:r>
          </a:p>
          <a:p>
            <a:pPr marL="0" indent="0">
              <a:buNone/>
            </a:pPr>
            <a:endParaRPr lang="en-NZ"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NZ"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NZ" dirty="0"/>
          </a:p>
        </p:txBody>
      </p:sp>
    </p:spTree>
    <p:extLst>
      <p:ext uri="{BB962C8B-B14F-4D97-AF65-F5344CB8AC3E}">
        <p14:creationId xmlns:p14="http://schemas.microsoft.com/office/powerpoint/2010/main" xmlns="" val="393852583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F176D35C-3A62-4F12-8EA8-F559A879DC6A}"/>
              </a:ext>
            </a:extLst>
          </p:cNvPr>
          <p:cNvSpPr>
            <a:spLocks noGrp="1"/>
          </p:cNvSpPr>
          <p:nvPr>
            <p:ph type="title"/>
          </p:nvPr>
        </p:nvSpPr>
        <p:spPr/>
        <p:txBody>
          <a:bodyPr/>
          <a:lstStyle/>
          <a:p>
            <a:r>
              <a:rPr lang="en-AU" dirty="0"/>
              <a:t>Nitrogen cycle</a:t>
            </a:r>
            <a:endParaRPr lang="en-NZ" dirty="0"/>
          </a:p>
        </p:txBody>
      </p:sp>
      <p:sp>
        <p:nvSpPr>
          <p:cNvPr id="3" name="Content Placeholder 2">
            <a:extLst>
              <a:ext uri="{FF2B5EF4-FFF2-40B4-BE49-F238E27FC236}">
                <a16:creationId xmlns:a16="http://schemas.microsoft.com/office/drawing/2014/main" xmlns="" id="{D1454479-9F4D-49D1-AECC-3D0AB33B6764}"/>
              </a:ext>
            </a:extLst>
          </p:cNvPr>
          <p:cNvSpPr>
            <a:spLocks noGrp="1"/>
          </p:cNvSpPr>
          <p:nvPr>
            <p:ph idx="1"/>
          </p:nvPr>
        </p:nvSpPr>
        <p:spPr/>
        <p:txBody>
          <a:bodyPr/>
          <a:lstStyle/>
          <a:p>
            <a:pPr marL="0" indent="0">
              <a:buNone/>
            </a:pPr>
            <a:endParaRPr lang="en-AU" dirty="0"/>
          </a:p>
          <a:p>
            <a:pPr marL="0" indent="0">
              <a:buNone/>
            </a:pPr>
            <a:endParaRPr lang="en-NZ" dirty="0"/>
          </a:p>
        </p:txBody>
      </p:sp>
      <p:pic>
        <p:nvPicPr>
          <p:cNvPr id="4" name="Picture 3">
            <a:extLst>
              <a:ext uri="{FF2B5EF4-FFF2-40B4-BE49-F238E27FC236}">
                <a16:creationId xmlns:a16="http://schemas.microsoft.com/office/drawing/2014/main" xmlns="" id="{8CB75B4D-EB26-459B-997F-E1C81A32D085}"/>
              </a:ext>
            </a:extLst>
          </p:cNvPr>
          <p:cNvPicPr/>
          <p:nvPr/>
        </p:nvPicPr>
        <p:blipFill>
          <a:blip r:embed="rId2">
            <a:extLst>
              <a:ext uri="{28A0092B-C50C-407E-A947-70E740481C1C}">
                <a14:useLocalDpi xmlns:a14="http://schemas.microsoft.com/office/drawing/2010/main" xmlns="" val="0"/>
              </a:ext>
            </a:extLst>
          </a:blip>
          <a:srcRect/>
          <a:stretch>
            <a:fillRect/>
          </a:stretch>
        </p:blipFill>
        <p:spPr bwMode="auto">
          <a:xfrm>
            <a:off x="1431235" y="1651898"/>
            <a:ext cx="8666922" cy="4351338"/>
          </a:xfrm>
          <a:prstGeom prst="rect">
            <a:avLst/>
          </a:prstGeom>
          <a:noFill/>
          <a:ln>
            <a:noFill/>
          </a:ln>
        </p:spPr>
      </p:pic>
    </p:spTree>
    <p:extLst>
      <p:ext uri="{BB962C8B-B14F-4D97-AF65-F5344CB8AC3E}">
        <p14:creationId xmlns:p14="http://schemas.microsoft.com/office/powerpoint/2010/main" xmlns="" val="2490004546"/>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1E266BD1-6F14-4436-BE9E-C75DD8E616FE}"/>
              </a:ext>
            </a:extLst>
          </p:cNvPr>
          <p:cNvSpPr>
            <a:spLocks noGrp="1"/>
          </p:cNvSpPr>
          <p:nvPr>
            <p:ph type="title"/>
          </p:nvPr>
        </p:nvSpPr>
        <p:spPr/>
        <p:txBody>
          <a:bodyPr/>
          <a:lstStyle/>
          <a:p>
            <a:r>
              <a:rPr lang="en-AU" dirty="0"/>
              <a:t>Metabolites </a:t>
            </a:r>
            <a:endParaRPr lang="en-NZ" dirty="0"/>
          </a:p>
        </p:txBody>
      </p:sp>
      <p:sp>
        <p:nvSpPr>
          <p:cNvPr id="3" name="Content Placeholder 2">
            <a:extLst>
              <a:ext uri="{FF2B5EF4-FFF2-40B4-BE49-F238E27FC236}">
                <a16:creationId xmlns:a16="http://schemas.microsoft.com/office/drawing/2014/main" xmlns="" id="{A9D2E5D2-3C9C-466E-949A-6E15337182C5}"/>
              </a:ext>
            </a:extLst>
          </p:cNvPr>
          <p:cNvSpPr>
            <a:spLocks noGrp="1"/>
          </p:cNvSpPr>
          <p:nvPr>
            <p:ph idx="1"/>
          </p:nvPr>
        </p:nvSpPr>
        <p:spPr/>
        <p:txBody>
          <a:bodyPr>
            <a:normAutofit fontScale="85000" lnSpcReduction="20000"/>
          </a:bodyPr>
          <a:lstStyle/>
          <a:p>
            <a:pPr marL="0" indent="0">
              <a:buNone/>
            </a:pPr>
            <a:endParaRPr lang="en-NZ"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600" dirty="0">
                <a:effectLst/>
                <a:latin typeface="Calibri" panose="020F0502020204030204" pitchFamily="34" charset="0"/>
                <a:ea typeface="Calibri" panose="020F0502020204030204" pitchFamily="34" charset="0"/>
                <a:cs typeface="Times New Roman" panose="02020603050405020304" pitchFamily="18" charset="0"/>
              </a:rPr>
              <a:t>In nature, plants are surrounded </a:t>
            </a:r>
            <a:r>
              <a:rPr lang="en-NZ" sz="2600" dirty="0">
                <a:latin typeface="Calibri" panose="020F0502020204030204" pitchFamily="34" charset="0"/>
                <a:ea typeface="Calibri" panose="020F0502020204030204" pitchFamily="34" charset="0"/>
                <a:cs typeface="Times New Roman" panose="02020603050405020304" pitchFamily="18" charset="0"/>
              </a:rPr>
              <a:t>by </a:t>
            </a:r>
            <a:r>
              <a:rPr lang="en-NZ" sz="2600" dirty="0">
                <a:effectLst/>
                <a:latin typeface="Calibri" panose="020F0502020204030204" pitchFamily="34" charset="0"/>
                <a:ea typeface="Calibri" panose="020F0502020204030204" pitchFamily="34" charset="0"/>
                <a:cs typeface="Times New Roman" panose="02020603050405020304" pitchFamily="18" charset="0"/>
              </a:rPr>
              <a:t>potential enemies such as  bacteria, viruses, fungi, nematodes, mites, insects, mammals, and other herbivorous animals</a:t>
            </a:r>
          </a:p>
          <a:p>
            <a:pPr marL="0" indent="0">
              <a:buNone/>
            </a:pPr>
            <a:r>
              <a:rPr lang="en-NZ" sz="2600" dirty="0">
                <a:effectLst/>
                <a:latin typeface="Calibri" panose="020F0502020204030204" pitchFamily="34" charset="0"/>
                <a:ea typeface="Calibri" panose="020F0502020204030204" pitchFamily="34" charset="0"/>
                <a:cs typeface="Times New Roman" panose="02020603050405020304" pitchFamily="18" charset="0"/>
              </a:rPr>
              <a:t>Plants produce organic compounds that appear to have no direct function in growth and development. These substances are known as secondary metabolites</a:t>
            </a:r>
          </a:p>
          <a:p>
            <a:pPr marL="0" indent="0">
              <a:lnSpc>
                <a:spcPct val="107000"/>
              </a:lnSpc>
              <a:spcAft>
                <a:spcPts val="800"/>
              </a:spcAft>
              <a:buNone/>
            </a:pPr>
            <a:r>
              <a:rPr lang="en-NZ" sz="2600" dirty="0">
                <a:effectLst/>
                <a:latin typeface="Calibri" panose="020F0502020204030204" pitchFamily="34" charset="0"/>
                <a:ea typeface="Calibri" panose="020F0502020204030204" pitchFamily="34" charset="0"/>
                <a:cs typeface="Times New Roman" panose="02020603050405020304" pitchFamily="18" charset="0"/>
              </a:rPr>
              <a:t>They protect plants against being eaten by herbivores (herbivory) and against being infected by microbial pathogens.</a:t>
            </a:r>
          </a:p>
          <a:p>
            <a:pPr marL="0" indent="0">
              <a:lnSpc>
                <a:spcPct val="107000"/>
              </a:lnSpc>
              <a:spcAft>
                <a:spcPts val="800"/>
              </a:spcAft>
              <a:buNone/>
            </a:pPr>
            <a:r>
              <a:rPr lang="en-NZ" sz="2600" dirty="0">
                <a:effectLst/>
                <a:latin typeface="Calibri" panose="020F0502020204030204" pitchFamily="34" charset="0"/>
                <a:ea typeface="Calibri" panose="020F0502020204030204" pitchFamily="34" charset="0"/>
                <a:cs typeface="Times New Roman" panose="02020603050405020304" pitchFamily="18" charset="0"/>
              </a:rPr>
              <a:t>They serve as attractants for pollinators and seed dispersing animals and as agents of plant–plant competition</a:t>
            </a:r>
          </a:p>
          <a:p>
            <a:pPr marL="0" indent="0">
              <a:lnSpc>
                <a:spcPct val="107000"/>
              </a:lnSpc>
              <a:spcAft>
                <a:spcPts val="800"/>
              </a:spcAft>
              <a:buNone/>
            </a:pPr>
            <a:r>
              <a:rPr lang="en-NZ" sz="2600" dirty="0">
                <a:effectLst/>
                <a:latin typeface="Calibri" panose="020F0502020204030204" pitchFamily="34" charset="0"/>
                <a:ea typeface="Calibri" panose="020F0502020204030204" pitchFamily="34" charset="0"/>
                <a:cs typeface="Times New Roman" panose="02020603050405020304" pitchFamily="18" charset="0"/>
              </a:rPr>
              <a:t>Plant secondary metabolites can be divided into three chemically distinct groups:</a:t>
            </a:r>
          </a:p>
          <a:p>
            <a:pPr marL="0" indent="0">
              <a:lnSpc>
                <a:spcPct val="107000"/>
              </a:lnSpc>
              <a:spcAft>
                <a:spcPts val="800"/>
              </a:spcAft>
              <a:buNone/>
            </a:pPr>
            <a:r>
              <a:rPr lang="en-NZ" sz="2600" dirty="0">
                <a:effectLst/>
                <a:latin typeface="Calibri" panose="020F0502020204030204" pitchFamily="34" charset="0"/>
                <a:ea typeface="Calibri" panose="020F0502020204030204" pitchFamily="34" charset="0"/>
                <a:cs typeface="Times New Roman" panose="02020603050405020304" pitchFamily="18" charset="0"/>
              </a:rPr>
              <a:t> terpenes, phenolics, and nitrogen-containing compounds. </a:t>
            </a:r>
          </a:p>
          <a:p>
            <a:pPr marL="0" indent="0">
              <a:lnSpc>
                <a:spcPct val="107000"/>
              </a:lnSpc>
              <a:spcAft>
                <a:spcPts val="800"/>
              </a:spcAft>
              <a:buNone/>
            </a:pPr>
            <a:endParaRPr lang="en-NZ" sz="1800" dirty="0">
              <a:effectLst/>
              <a:latin typeface="Calibri" panose="020F0502020204030204" pitchFamily="34" charset="0"/>
              <a:ea typeface="Calibri" panose="020F0502020204030204" pitchFamily="34" charset="0"/>
              <a:cs typeface="Times New Roman" panose="02020603050405020304" pitchFamily="18" charset="0"/>
            </a:endParaRPr>
          </a:p>
          <a:p>
            <a:pPr marL="0" indent="0">
              <a:buNone/>
            </a:pPr>
            <a:endParaRPr lang="en-AU" dirty="0"/>
          </a:p>
          <a:p>
            <a:pPr marL="0" indent="0">
              <a:buNone/>
            </a:pPr>
            <a:endParaRPr lang="en-NZ" dirty="0"/>
          </a:p>
        </p:txBody>
      </p:sp>
    </p:spTree>
    <p:extLst>
      <p:ext uri="{BB962C8B-B14F-4D97-AF65-F5344CB8AC3E}">
        <p14:creationId xmlns:p14="http://schemas.microsoft.com/office/powerpoint/2010/main" xmlns="" val="186052416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3BBC8765-265D-4C19-984D-A757E589C121}"/>
              </a:ext>
            </a:extLst>
          </p:cNvPr>
          <p:cNvSpPr>
            <a:spLocks noGrp="1"/>
          </p:cNvSpPr>
          <p:nvPr>
            <p:ph type="title"/>
          </p:nvPr>
        </p:nvSpPr>
        <p:spPr/>
        <p:txBody>
          <a:bodyPr/>
          <a:lstStyle/>
          <a:p>
            <a:r>
              <a:rPr lang="en-AU" dirty="0"/>
              <a:t>Secondary metabolites</a:t>
            </a:r>
            <a:endParaRPr lang="en-NZ" dirty="0"/>
          </a:p>
        </p:txBody>
      </p:sp>
      <p:sp>
        <p:nvSpPr>
          <p:cNvPr id="3" name="Content Placeholder 2">
            <a:extLst>
              <a:ext uri="{FF2B5EF4-FFF2-40B4-BE49-F238E27FC236}">
                <a16:creationId xmlns:a16="http://schemas.microsoft.com/office/drawing/2014/main" xmlns="" id="{EC579C82-1F58-4B8E-88E2-2A5DB1E1DCF8}"/>
              </a:ext>
            </a:extLst>
          </p:cNvPr>
          <p:cNvSpPr>
            <a:spLocks noGrp="1"/>
          </p:cNvSpPr>
          <p:nvPr>
            <p:ph idx="1"/>
          </p:nvPr>
        </p:nvSpPr>
        <p:spPr/>
        <p:txBody>
          <a:bodyPr>
            <a:normAutofit lnSpcReduction="10000"/>
          </a:bodyPr>
          <a:lstStyle/>
          <a:p>
            <a:pPr marL="0" indent="0">
              <a:buNone/>
            </a:pPr>
            <a:endParaRPr lang="en-NZ" sz="1800" dirty="0">
              <a:latin typeface="Calibri" panose="020F0502020204030204" pitchFamily="34" charset="0"/>
              <a:ea typeface="Calibri" panose="020F0502020204030204" pitchFamily="34" charset="0"/>
              <a:cs typeface="Times New Roman" panose="02020603050405020304" pitchFamily="18" charset="0"/>
            </a:endParaRPr>
          </a:p>
          <a:p>
            <a:pPr marL="0" indent="0">
              <a:buNone/>
            </a:pPr>
            <a:r>
              <a:rPr lang="en-NZ" sz="2400" dirty="0">
                <a:latin typeface="Calibri" panose="020F0502020204030204" pitchFamily="34" charset="0"/>
                <a:ea typeface="Calibri" panose="020F0502020204030204" pitchFamily="34" charset="0"/>
                <a:cs typeface="Times New Roman" panose="02020603050405020304" pitchFamily="18" charset="0"/>
              </a:rPr>
              <a:t>In </a:t>
            </a:r>
            <a:r>
              <a:rPr lang="en-NZ" sz="2400" dirty="0">
                <a:effectLst/>
                <a:latin typeface="Calibri" panose="020F0502020204030204" pitchFamily="34" charset="0"/>
                <a:ea typeface="Calibri" panose="020F0502020204030204" pitchFamily="34" charset="0"/>
                <a:cs typeface="Times New Roman" panose="02020603050405020304" pitchFamily="18" charset="0"/>
              </a:rPr>
              <a:t>Plants </a:t>
            </a:r>
            <a:r>
              <a:rPr lang="en-NZ" sz="2400" b="1" dirty="0">
                <a:effectLst/>
                <a:latin typeface="Calibri" panose="020F0502020204030204" pitchFamily="34" charset="0"/>
                <a:ea typeface="Calibri" panose="020F0502020204030204" pitchFamily="34" charset="0"/>
                <a:cs typeface="Times New Roman" panose="02020603050405020304" pitchFamily="18" charset="0"/>
              </a:rPr>
              <a:t>Terpenes</a:t>
            </a:r>
            <a:r>
              <a:rPr lang="en-NZ" sz="2400" dirty="0">
                <a:effectLst/>
                <a:latin typeface="Calibri" panose="020F0502020204030204" pitchFamily="34" charset="0"/>
                <a:ea typeface="Calibri" panose="020F0502020204030204" pitchFamily="34" charset="0"/>
                <a:cs typeface="Times New Roman" panose="02020603050405020304" pitchFamily="18" charset="0"/>
              </a:rPr>
              <a:t> are toxins and feeding deterrents to many plant feeding insects and mammals playing important defensive roles in the plants</a:t>
            </a:r>
          </a:p>
          <a:p>
            <a:pPr marL="0" indent="0">
              <a:buNone/>
            </a:pPr>
            <a:r>
              <a:rPr lang="en-NZ" sz="2400" b="1" dirty="0">
                <a:effectLst/>
                <a:latin typeface="Calibri" panose="020F0502020204030204" pitchFamily="34" charset="0"/>
                <a:ea typeface="Calibri" panose="020F0502020204030204" pitchFamily="34" charset="0"/>
                <a:cs typeface="Times New Roman" panose="02020603050405020304" pitchFamily="18" charset="0"/>
              </a:rPr>
              <a:t>Phenolics </a:t>
            </a:r>
            <a:r>
              <a:rPr lang="en-NZ" sz="2400" dirty="0">
                <a:effectLst/>
                <a:latin typeface="Calibri" panose="020F0502020204030204" pitchFamily="34" charset="0"/>
                <a:ea typeface="Calibri" panose="020F0502020204030204" pitchFamily="34" charset="0"/>
                <a:cs typeface="Times New Roman" panose="02020603050405020304" pitchFamily="18" charset="0"/>
              </a:rPr>
              <a:t>limit the growth of other plants From leaves, and roots</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Investigation of the effects of these compounds on neighbouring plants is the study of allelopathy</a:t>
            </a:r>
          </a:p>
          <a:p>
            <a:pPr marL="0" indent="0">
              <a:buNone/>
            </a:pPr>
            <a:r>
              <a:rPr lang="en-NZ" sz="2400" dirty="0">
                <a:effectLst/>
                <a:latin typeface="Calibri" panose="020F0502020204030204" pitchFamily="34" charset="0"/>
                <a:ea typeface="Calibri" panose="020F0502020204030204" pitchFamily="34" charset="0"/>
                <a:cs typeface="Times New Roman" panose="02020603050405020304" pitchFamily="18" charset="0"/>
              </a:rPr>
              <a:t>Tannins are general toxins that significantly reduce the growth and survivorship of many herbivores</a:t>
            </a:r>
          </a:p>
          <a:p>
            <a:pPr marL="0" indent="0">
              <a:buNone/>
            </a:pPr>
            <a:r>
              <a:rPr lang="en-NZ" sz="2400" b="1" dirty="0">
                <a:effectLst/>
                <a:latin typeface="Calibri" panose="020F0502020204030204" pitchFamily="34" charset="0"/>
                <a:ea typeface="Calibri" panose="020F0502020204030204" pitchFamily="34" charset="0"/>
                <a:cs typeface="Times New Roman" panose="02020603050405020304" pitchFamily="18" charset="0"/>
              </a:rPr>
              <a:t>nitrogen-containing compounds </a:t>
            </a:r>
            <a:r>
              <a:rPr lang="en-NZ" sz="2400" dirty="0">
                <a:effectLst/>
                <a:latin typeface="Calibri" panose="020F0502020204030204" pitchFamily="34" charset="0"/>
                <a:ea typeface="Calibri" panose="020F0502020204030204" pitchFamily="34" charset="0"/>
                <a:cs typeface="Times New Roman" panose="02020603050405020304" pitchFamily="18" charset="0"/>
              </a:rPr>
              <a:t> </a:t>
            </a:r>
          </a:p>
          <a:p>
            <a:pPr marL="0" indent="0">
              <a:buNone/>
            </a:pPr>
            <a:r>
              <a:rPr lang="en-NZ" sz="2400" b="1" dirty="0">
                <a:effectLst/>
                <a:latin typeface="Calibri" panose="020F0502020204030204" pitchFamily="34" charset="0"/>
                <a:ea typeface="Calibri" panose="020F0502020204030204" pitchFamily="34" charset="0"/>
                <a:cs typeface="Times New Roman" panose="02020603050405020304" pitchFamily="18" charset="0"/>
              </a:rPr>
              <a:t>alkaloids</a:t>
            </a:r>
            <a:r>
              <a:rPr lang="en-NZ" sz="2400" dirty="0">
                <a:effectLst/>
                <a:latin typeface="Calibri" panose="020F0502020204030204" pitchFamily="34" charset="0"/>
                <a:ea typeface="Calibri" panose="020F0502020204030204" pitchFamily="34" charset="0"/>
                <a:cs typeface="Times New Roman" panose="02020603050405020304" pitchFamily="18" charset="0"/>
              </a:rPr>
              <a:t> function as defence against predators, especially mammals, because of their general toxicity and deterrence capability.</a:t>
            </a:r>
          </a:p>
          <a:p>
            <a:pPr marL="0" indent="0">
              <a:buNone/>
            </a:pPr>
            <a:endParaRPr lang="en-NZ" dirty="0"/>
          </a:p>
        </p:txBody>
      </p:sp>
    </p:spTree>
    <p:extLst>
      <p:ext uri="{BB962C8B-B14F-4D97-AF65-F5344CB8AC3E}">
        <p14:creationId xmlns:p14="http://schemas.microsoft.com/office/powerpoint/2010/main" xmlns="" val="836863988"/>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xmlns="" id="{6AFDA1D8-D75A-430A-A7BE-09248B17C33F}"/>
              </a:ext>
            </a:extLst>
          </p:cNvPr>
          <p:cNvSpPr>
            <a:spLocks noGrp="1"/>
          </p:cNvSpPr>
          <p:nvPr>
            <p:ph type="title"/>
          </p:nvPr>
        </p:nvSpPr>
        <p:spPr/>
        <p:txBody>
          <a:bodyPr/>
          <a:lstStyle/>
          <a:p>
            <a:r>
              <a:rPr lang="en-AU" dirty="0"/>
              <a:t>Plant defence </a:t>
            </a:r>
            <a:endParaRPr lang="en-NZ" dirty="0"/>
          </a:p>
        </p:txBody>
      </p:sp>
      <p:sp>
        <p:nvSpPr>
          <p:cNvPr id="3" name="Content Placeholder 2">
            <a:extLst>
              <a:ext uri="{FF2B5EF4-FFF2-40B4-BE49-F238E27FC236}">
                <a16:creationId xmlns:a16="http://schemas.microsoft.com/office/drawing/2014/main" xmlns="" id="{4CBC9EA8-C2A8-4049-B21D-7B9B31B71C7A}"/>
              </a:ext>
            </a:extLst>
          </p:cNvPr>
          <p:cNvSpPr>
            <a:spLocks noGrp="1"/>
          </p:cNvSpPr>
          <p:nvPr>
            <p:ph sz="half" idx="1"/>
          </p:nvPr>
        </p:nvSpPr>
        <p:spPr/>
        <p:txBody>
          <a:bodyPr/>
          <a:lstStyle/>
          <a:p>
            <a:pPr marL="0" indent="0">
              <a:buNone/>
            </a:pPr>
            <a:r>
              <a:rPr lang="en-NZ" sz="2800" dirty="0">
                <a:effectLst/>
                <a:latin typeface="Calibri" panose="020F0502020204030204" pitchFamily="34" charset="0"/>
                <a:ea typeface="Calibri" panose="020F0502020204030204" pitchFamily="34" charset="0"/>
                <a:cs typeface="Times New Roman" panose="02020603050405020304" pitchFamily="18" charset="0"/>
              </a:rPr>
              <a:t>Antimicrobial Compounds Are Synthesized before Pathogen Attack</a:t>
            </a:r>
          </a:p>
          <a:p>
            <a:pPr marL="0" indent="0">
              <a:buNone/>
            </a:pPr>
            <a:r>
              <a:rPr lang="en-NZ" sz="2800" dirty="0">
                <a:latin typeface="Calibri" panose="020F0502020204030204" pitchFamily="34" charset="0"/>
                <a:ea typeface="Calibri" panose="020F0502020204030204" pitchFamily="34" charset="0"/>
                <a:cs typeface="Times New Roman" panose="02020603050405020304" pitchFamily="18" charset="0"/>
              </a:rPr>
              <a:t>Plant</a:t>
            </a:r>
            <a:r>
              <a:rPr lang="en-NZ" sz="2800" dirty="0">
                <a:effectLst/>
                <a:latin typeface="Calibri" panose="020F0502020204030204" pitchFamily="34" charset="0"/>
                <a:ea typeface="Calibri" panose="020F0502020204030204" pitchFamily="34" charset="0"/>
                <a:cs typeface="Times New Roman" panose="02020603050405020304" pitchFamily="18" charset="0"/>
              </a:rPr>
              <a:t> defence are induced by herbivore attack or microbial infection</a:t>
            </a:r>
          </a:p>
          <a:p>
            <a:pPr marL="0" indent="0">
              <a:buNone/>
            </a:pPr>
            <a:r>
              <a:rPr lang="en-NZ" sz="2800" dirty="0">
                <a:effectLst/>
                <a:latin typeface="Calibri" panose="020F0502020204030204" pitchFamily="34" charset="0"/>
                <a:ea typeface="Calibri" panose="020F0502020204030204" pitchFamily="34" charset="0"/>
                <a:cs typeface="Times New Roman" panose="02020603050405020304" pitchFamily="18" charset="0"/>
              </a:rPr>
              <a:t>When a plant survives the infection of a pathogen at one site, it often develops increased resistance to subsequent attacks</a:t>
            </a:r>
            <a:endParaRPr lang="en-NZ" dirty="0"/>
          </a:p>
          <a:p>
            <a:pPr marL="0" indent="0">
              <a:buNone/>
            </a:pPr>
            <a:endParaRPr lang="en-NZ" dirty="0"/>
          </a:p>
        </p:txBody>
      </p:sp>
      <p:pic>
        <p:nvPicPr>
          <p:cNvPr id="5" name="Content Placeholder 4" descr="Diagram&#10;&#10;Description automatically generated">
            <a:extLst>
              <a:ext uri="{FF2B5EF4-FFF2-40B4-BE49-F238E27FC236}">
                <a16:creationId xmlns:a16="http://schemas.microsoft.com/office/drawing/2014/main" xmlns="" id="{05A6077E-06B2-4595-B16F-EACCA95489C2}"/>
              </a:ext>
            </a:extLst>
          </p:cNvPr>
          <p:cNvPicPr>
            <a:picLocks noGrp="1"/>
          </p:cNvPicPr>
          <p:nvPr>
            <p:ph sz="half" idx="2"/>
          </p:nvPr>
        </p:nvPicPr>
        <p:blipFill>
          <a:blip r:embed="rId2">
            <a:extLst>
              <a:ext uri="{28A0092B-C50C-407E-A947-70E740481C1C}">
                <a14:useLocalDpi xmlns:a14="http://schemas.microsoft.com/office/drawing/2010/main" xmlns="" val="0"/>
              </a:ext>
            </a:extLst>
          </a:blip>
          <a:srcRect/>
          <a:stretch>
            <a:fillRect/>
          </a:stretch>
        </p:blipFill>
        <p:spPr bwMode="auto">
          <a:xfrm>
            <a:off x="7220143" y="2491770"/>
            <a:ext cx="3085714" cy="3019048"/>
          </a:xfrm>
          <a:prstGeom prst="rect">
            <a:avLst/>
          </a:prstGeom>
          <a:noFill/>
          <a:ln>
            <a:noFill/>
          </a:ln>
        </p:spPr>
      </p:pic>
    </p:spTree>
    <p:extLst>
      <p:ext uri="{BB962C8B-B14F-4D97-AF65-F5344CB8AC3E}">
        <p14:creationId xmlns:p14="http://schemas.microsoft.com/office/powerpoint/2010/main" xmlns="" val="1618912067"/>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xmlns=""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805</TotalTime>
  <Words>995</Words>
  <Application>Microsoft Office PowerPoint</Application>
  <PresentationFormat>Custom</PresentationFormat>
  <Paragraphs>89</Paragraphs>
  <Slides>15</Slides>
  <Notes>0</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Crop Science  Lecture 3 01st September 2021</vt:lpstr>
      <vt:lpstr>Translocation</vt:lpstr>
      <vt:lpstr>Sap distribution</vt:lpstr>
      <vt:lpstr>Materials translocation</vt:lpstr>
      <vt:lpstr>Respiration</vt:lpstr>
      <vt:lpstr>Respiration overview</vt:lpstr>
      <vt:lpstr>Respiration overview</vt:lpstr>
      <vt:lpstr>Environmental factors affecting respiration</vt:lpstr>
      <vt:lpstr>Lipid metabolism</vt:lpstr>
      <vt:lpstr>Storage lipids </vt:lpstr>
      <vt:lpstr>Nutrient assimilation </vt:lpstr>
      <vt:lpstr>Nitrogen cycle</vt:lpstr>
      <vt:lpstr>Metabolites </vt:lpstr>
      <vt:lpstr>Secondary metabolites</vt:lpstr>
      <vt:lpstr>Plant defence </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Crop Science  Lecture 1 23rd August 2021</dc:title>
  <dc:creator>Sakala, Aaron</dc:creator>
  <cp:lastModifiedBy>Akim</cp:lastModifiedBy>
  <cp:revision>9</cp:revision>
  <dcterms:created xsi:type="dcterms:W3CDTF">2021-08-13T11:47:52Z</dcterms:created>
  <dcterms:modified xsi:type="dcterms:W3CDTF">2080-01-08T14:25:18Z</dcterms:modified>
</cp:coreProperties>
</file>