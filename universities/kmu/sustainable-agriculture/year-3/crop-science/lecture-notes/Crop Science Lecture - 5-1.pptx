
<file path=[Content_Types].xml><?xml version="1.0" encoding="utf-8"?>
<Types xmlns="http://schemas.openxmlformats.org/package/2006/content-types">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0" r:id="rId2"/>
    <p:sldId id="267" r:id="rId3"/>
    <p:sldId id="272" r:id="rId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83" d="100"/>
          <a:sy n="83" d="100"/>
        </p:scale>
        <p:origin x="-1426" y="-77"/>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AD3E2D4E-CD08-48F2-937A-B32D2883ADC3}" type="datetimeFigureOut">
              <a:rPr lang="en-US" smtClean="0"/>
              <a:pPr/>
              <a:t>02-Feb-21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22E4002-AF18-49E2-93C4-8F25E1066B25}"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D3E2D4E-CD08-48F2-937A-B32D2883ADC3}" type="datetimeFigureOut">
              <a:rPr lang="en-US" smtClean="0"/>
              <a:pPr/>
              <a:t>02-Feb-21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22E4002-AF18-49E2-93C4-8F25E1066B25}"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D3E2D4E-CD08-48F2-937A-B32D2883ADC3}" type="datetimeFigureOut">
              <a:rPr lang="en-US" smtClean="0"/>
              <a:pPr/>
              <a:t>02-Feb-21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22E4002-AF18-49E2-93C4-8F25E1066B25}"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AD3E2D4E-CD08-48F2-937A-B32D2883ADC3}" type="datetimeFigureOut">
              <a:rPr lang="en-US" smtClean="0"/>
              <a:pPr/>
              <a:t>02-Feb-21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F22E4002-AF18-49E2-93C4-8F25E1066B25}"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AD3E2D4E-CD08-48F2-937A-B32D2883ADC3}" type="datetimeFigureOut">
              <a:rPr lang="en-US" smtClean="0"/>
              <a:pPr/>
              <a:t>02-Feb-21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F22E4002-AF18-49E2-93C4-8F25E1066B25}"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AD3E2D4E-CD08-48F2-937A-B32D2883ADC3}" type="datetimeFigureOut">
              <a:rPr lang="en-US" smtClean="0"/>
              <a:pPr/>
              <a:t>02-Feb-21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F22E4002-AF18-49E2-93C4-8F25E1066B25}"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D3E2D4E-CD08-48F2-937A-B32D2883ADC3}" type="datetimeFigureOut">
              <a:rPr lang="en-US" smtClean="0"/>
              <a:pPr/>
              <a:t>02-Feb-21</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F22E4002-AF18-49E2-93C4-8F25E1066B25}"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D3E2D4E-CD08-48F2-937A-B32D2883ADC3}" type="datetimeFigureOut">
              <a:rPr lang="en-US" smtClean="0"/>
              <a:pPr/>
              <a:t>02-Feb-21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F22E4002-AF18-49E2-93C4-8F25E1066B25}"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D3E2D4E-CD08-48F2-937A-B32D2883ADC3}" type="datetimeFigureOut">
              <a:rPr lang="en-US" smtClean="0"/>
              <a:pPr/>
              <a:t>02-Feb-21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F22E4002-AF18-49E2-93C4-8F25E1066B25}"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D3E2D4E-CD08-48F2-937A-B32D2883ADC3}" type="datetimeFigureOut">
              <a:rPr lang="en-US" smtClean="0"/>
              <a:pPr/>
              <a:t>02-Feb-21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22E4002-AF18-49E2-93C4-8F25E1066B25}"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D3E2D4E-CD08-48F2-937A-B32D2883ADC3}" type="datetimeFigureOut">
              <a:rPr lang="en-US" smtClean="0"/>
              <a:pPr/>
              <a:t>02-Feb-21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22E4002-AF18-49E2-93C4-8F25E1066B25}"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D3E2D4E-CD08-48F2-937A-B32D2883ADC3}" type="datetimeFigureOut">
              <a:rPr lang="en-US" smtClean="0"/>
              <a:pPr/>
              <a:t>02-Feb-21</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22E4002-AF18-49E2-93C4-8F25E1066B25}"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4495800"/>
          </a:xfrm>
        </p:spPr>
        <p:style>
          <a:lnRef idx="2">
            <a:schemeClr val="accent3">
              <a:shade val="50000"/>
            </a:schemeClr>
          </a:lnRef>
          <a:fillRef idx="1">
            <a:schemeClr val="accent3"/>
          </a:fillRef>
          <a:effectRef idx="0">
            <a:schemeClr val="accent3"/>
          </a:effectRef>
          <a:fontRef idx="minor">
            <a:schemeClr val="lt1"/>
          </a:fontRef>
        </p:style>
        <p:txBody>
          <a:bodyPr>
            <a:normAutofit/>
          </a:bodyPr>
          <a:lstStyle/>
          <a:p>
            <a:r>
              <a:rPr lang="en-US" sz="7200" dirty="0" smtClean="0">
                <a:latin typeface="Times New Roman" pitchFamily="18" charset="0"/>
                <a:cs typeface="Times New Roman" pitchFamily="18" charset="0"/>
              </a:rPr>
              <a:t>CROP SCIENCE</a:t>
            </a:r>
            <a:r>
              <a:rPr lang="en-US" dirty="0" smtClean="0">
                <a:latin typeface="Times New Roman" pitchFamily="18" charset="0"/>
                <a:cs typeface="Times New Roman" pitchFamily="18" charset="0"/>
              </a:rPr>
              <a:t/>
            </a:r>
            <a:br>
              <a:rPr lang="en-US" dirty="0" smtClean="0">
                <a:latin typeface="Times New Roman" pitchFamily="18" charset="0"/>
                <a:cs typeface="Times New Roman" pitchFamily="18" charset="0"/>
              </a:rPr>
            </a:br>
            <a:r>
              <a:rPr lang="en-US" sz="4000" dirty="0" smtClean="0">
                <a:latin typeface="Times New Roman" pitchFamily="18" charset="0"/>
                <a:cs typeface="Times New Roman" pitchFamily="18" charset="0"/>
              </a:rPr>
              <a:t>LECTURE 5</a:t>
            </a:r>
            <a:br>
              <a:rPr lang="en-US" sz="4000" dirty="0" smtClean="0">
                <a:latin typeface="Times New Roman" pitchFamily="18" charset="0"/>
                <a:cs typeface="Times New Roman" pitchFamily="18" charset="0"/>
              </a:rPr>
            </a:br>
            <a:r>
              <a:rPr lang="en-US" dirty="0" smtClean="0">
                <a:latin typeface="Times New Roman" pitchFamily="18" charset="0"/>
                <a:cs typeface="Times New Roman" pitchFamily="18" charset="0"/>
              </a:rPr>
              <a:t/>
            </a:r>
            <a:br>
              <a:rPr lang="en-US" dirty="0" smtClean="0">
                <a:latin typeface="Times New Roman" pitchFamily="18" charset="0"/>
                <a:cs typeface="Times New Roman" pitchFamily="18" charset="0"/>
              </a:rPr>
            </a:br>
            <a:r>
              <a:rPr lang="en-US" sz="1800" dirty="0" smtClean="0">
                <a:latin typeface="Times New Roman" pitchFamily="18" charset="0"/>
                <a:cs typeface="Times New Roman" pitchFamily="18" charset="0"/>
              </a:rPr>
              <a:t>1</a:t>
            </a:r>
            <a:r>
              <a:rPr lang="en-US" sz="1800" baseline="30000" dirty="0" smtClean="0">
                <a:latin typeface="Times New Roman" pitchFamily="18" charset="0"/>
                <a:cs typeface="Times New Roman" pitchFamily="18" charset="0"/>
              </a:rPr>
              <a:t>st</a:t>
            </a:r>
            <a:r>
              <a:rPr lang="en-US" sz="1800" dirty="0" smtClean="0">
                <a:latin typeface="Times New Roman" pitchFamily="18" charset="0"/>
                <a:cs typeface="Times New Roman" pitchFamily="18" charset="0"/>
              </a:rPr>
              <a:t> February, 2021</a:t>
            </a:r>
            <a:r>
              <a:rPr lang="en-US" dirty="0" smtClean="0"/>
              <a:t/>
            </a:r>
            <a:br>
              <a:rPr lang="en-US" dirty="0" smtClean="0"/>
            </a:b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2">
            <a:schemeClr val="accent3">
              <a:shade val="50000"/>
            </a:schemeClr>
          </a:lnRef>
          <a:fillRef idx="1">
            <a:schemeClr val="accent3"/>
          </a:fillRef>
          <a:effectRef idx="0">
            <a:schemeClr val="accent3"/>
          </a:effectRef>
          <a:fontRef idx="minor">
            <a:schemeClr val="lt1"/>
          </a:fontRef>
        </p:style>
        <p:txBody>
          <a:bodyPr>
            <a:normAutofit/>
          </a:bodyPr>
          <a:lstStyle/>
          <a:p>
            <a:r>
              <a:rPr lang="en-US" sz="3600" b="1" dirty="0" smtClean="0">
                <a:latin typeface="Times New Roman" pitchFamily="18" charset="0"/>
                <a:cs typeface="Times New Roman" pitchFamily="18" charset="0"/>
              </a:rPr>
              <a:t>PLANT NUTRIENTS</a:t>
            </a:r>
            <a:endParaRPr lang="en-US" sz="3600" b="1" dirty="0">
              <a:latin typeface="Times New Roman" pitchFamily="18" charset="0"/>
              <a:cs typeface="Times New Roman" pitchFamily="18" charset="0"/>
            </a:endParaRPr>
          </a:p>
        </p:txBody>
      </p:sp>
      <p:sp>
        <p:nvSpPr>
          <p:cNvPr id="3" name="Content Placeholder 2"/>
          <p:cNvSpPr>
            <a:spLocks noGrp="1"/>
          </p:cNvSpPr>
          <p:nvPr>
            <p:ph idx="1"/>
          </p:nvPr>
        </p:nvSpPr>
        <p:spPr/>
        <p:style>
          <a:lnRef idx="1">
            <a:schemeClr val="accent3"/>
          </a:lnRef>
          <a:fillRef idx="2">
            <a:schemeClr val="accent3"/>
          </a:fillRef>
          <a:effectRef idx="1">
            <a:schemeClr val="accent3"/>
          </a:effectRef>
          <a:fontRef idx="minor">
            <a:schemeClr val="dk1"/>
          </a:fontRef>
        </p:style>
        <p:txBody>
          <a:bodyPr>
            <a:normAutofit/>
          </a:bodyPr>
          <a:lstStyle/>
          <a:p>
            <a:r>
              <a:rPr lang="en-US" sz="2800" dirty="0" smtClean="0">
                <a:latin typeface="Times New Roman" pitchFamily="18" charset="0"/>
                <a:cs typeface="Times New Roman" pitchFamily="18" charset="0"/>
              </a:rPr>
              <a:t>Concept of plant nutrients?</a:t>
            </a:r>
          </a:p>
          <a:p>
            <a:r>
              <a:rPr lang="en-US" sz="2800" dirty="0" smtClean="0">
                <a:latin typeface="Times New Roman" pitchFamily="18" charset="0"/>
                <a:cs typeface="Times New Roman" pitchFamily="18" charset="0"/>
              </a:rPr>
              <a:t>Classification of plant nutrients?</a:t>
            </a:r>
          </a:p>
          <a:p>
            <a:r>
              <a:rPr lang="en-US" sz="2800" dirty="0" smtClean="0">
                <a:latin typeface="Times New Roman" pitchFamily="18" charset="0"/>
                <a:cs typeface="Times New Roman" pitchFamily="18" charset="0"/>
              </a:rPr>
              <a:t>Uptake of plant nutrients?</a:t>
            </a:r>
          </a:p>
          <a:p>
            <a:r>
              <a:rPr lang="en-US" sz="2800" dirty="0" smtClean="0">
                <a:latin typeface="Times New Roman" pitchFamily="18" charset="0"/>
                <a:cs typeface="Times New Roman" pitchFamily="18" charset="0"/>
              </a:rPr>
              <a:t>Mobile and non-mobile plant nutrients?</a:t>
            </a:r>
          </a:p>
          <a:p>
            <a:r>
              <a:rPr lang="en-US" sz="2800" dirty="0" smtClean="0">
                <a:latin typeface="Times New Roman" pitchFamily="18" charset="0"/>
                <a:cs typeface="Times New Roman" pitchFamily="18" charset="0"/>
              </a:rPr>
              <a:t>What is the role of plant nutrients in crops?</a:t>
            </a:r>
          </a:p>
          <a:p>
            <a:r>
              <a:rPr lang="en-US" sz="2800" dirty="0" smtClean="0">
                <a:latin typeface="Times New Roman" pitchFamily="18" charset="0"/>
                <a:cs typeface="Times New Roman" pitchFamily="18" charset="0"/>
              </a:rPr>
              <a:t>Deficiency symptoms of plant nutrients?</a:t>
            </a:r>
            <a:endParaRPr lang="en-US" sz="2800" dirty="0">
              <a:latin typeface="Times New Roman" pitchFamily="18" charset="0"/>
              <a:cs typeface="Times New Roman"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2">
            <a:schemeClr val="accent3">
              <a:shade val="50000"/>
            </a:schemeClr>
          </a:lnRef>
          <a:fillRef idx="1">
            <a:schemeClr val="accent3"/>
          </a:fillRef>
          <a:effectRef idx="0">
            <a:schemeClr val="accent3"/>
          </a:effectRef>
          <a:fontRef idx="minor">
            <a:schemeClr val="lt1"/>
          </a:fontRef>
        </p:style>
        <p:txBody>
          <a:bodyPr>
            <a:normAutofit/>
          </a:bodyPr>
          <a:lstStyle/>
          <a:p>
            <a:r>
              <a:rPr lang="en-US" sz="3600" dirty="0" smtClean="0">
                <a:latin typeface="Times New Roman" pitchFamily="18" charset="0"/>
                <a:cs typeface="Times New Roman" pitchFamily="18" charset="0"/>
              </a:rPr>
              <a:t>ANSWERS</a:t>
            </a:r>
            <a:endParaRPr lang="en-US" sz="36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1600200"/>
            <a:ext cx="8229600" cy="5257800"/>
          </a:xfrm>
        </p:spPr>
        <p:style>
          <a:lnRef idx="1">
            <a:schemeClr val="accent3"/>
          </a:lnRef>
          <a:fillRef idx="2">
            <a:schemeClr val="accent3"/>
          </a:fillRef>
          <a:effectRef idx="1">
            <a:schemeClr val="accent3"/>
          </a:effectRef>
          <a:fontRef idx="minor">
            <a:schemeClr val="dk1"/>
          </a:fontRef>
        </p:style>
        <p:txBody>
          <a:bodyPr>
            <a:normAutofit fontScale="92500" lnSpcReduction="20000"/>
          </a:bodyPr>
          <a:lstStyle/>
          <a:p>
            <a:r>
              <a:rPr lang="en-US" sz="1700" dirty="0" smtClean="0">
                <a:latin typeface="Times New Roman" pitchFamily="18" charset="0"/>
                <a:cs typeface="Times New Roman" pitchFamily="18" charset="0"/>
              </a:rPr>
              <a:t>This is the movement of plant nutrients from the soil to the shoot system regions where they are required.</a:t>
            </a:r>
          </a:p>
          <a:p>
            <a:r>
              <a:rPr lang="en-US" sz="1700" dirty="0" smtClean="0">
                <a:latin typeface="Times New Roman" pitchFamily="18" charset="0"/>
                <a:cs typeface="Times New Roman" pitchFamily="18" charset="0"/>
              </a:rPr>
              <a:t>Plant nutrients are classified into two main groups: a) Macronutrients and Micronutrients. Macronutrients are plant nutrients required by the plant in large quantities for its growth and development. Macronutrients are subdivided into Structural, Primary and Secondary plant nutrients. Structural plant nutrients include Carbon, Hydrogen and Oxygen found in all plant structures. Primary plant nutrients are plant nutrients required by the plant in large quantities and these are Nitrogen (N), Phosphorus (P) and Potassium (K), Secondary plant nutrients and plant nutrients required by the plant in medium quantities and these are Calcium, Magnesium and Sulfur.</a:t>
            </a:r>
          </a:p>
          <a:p>
            <a:r>
              <a:rPr lang="en-US" sz="1700" dirty="0" smtClean="0">
                <a:latin typeface="Times New Roman" pitchFamily="18" charset="0"/>
                <a:cs typeface="Times New Roman" pitchFamily="18" charset="0"/>
              </a:rPr>
              <a:t>The absorption and movement of nutrients from the soil through the xylem vessel to the shoot system parts of the plant.</a:t>
            </a:r>
          </a:p>
          <a:p>
            <a:r>
              <a:rPr lang="en-US" sz="1700" dirty="0" smtClean="0">
                <a:latin typeface="Times New Roman" pitchFamily="18" charset="0"/>
                <a:cs typeface="Times New Roman" pitchFamily="18" charset="0"/>
              </a:rPr>
              <a:t>Mobile nutrients are able to move (</a:t>
            </a:r>
            <a:r>
              <a:rPr lang="en-US" sz="1700" dirty="0" err="1" smtClean="0">
                <a:latin typeface="Times New Roman" pitchFamily="18" charset="0"/>
                <a:cs typeface="Times New Roman" pitchFamily="18" charset="0"/>
              </a:rPr>
              <a:t>translocate</a:t>
            </a:r>
            <a:r>
              <a:rPr lang="en-US" sz="1700" dirty="0" smtClean="0">
                <a:latin typeface="Times New Roman" pitchFamily="18" charset="0"/>
                <a:cs typeface="Times New Roman" pitchFamily="18" charset="0"/>
              </a:rPr>
              <a:t>) from one part of the plant to another as needed. Mobile nutrients  include nitrogen (N), phosphorus (P), potassium (K), and magnesium (Mg). Immobile nutrients either stay at their destination or move very little once transported and assimilated by the plant. Immobile nutrients include calcium (Ca), boron (B), chlorine (</a:t>
            </a:r>
            <a:r>
              <a:rPr lang="en-US" sz="1700" dirty="0" err="1" smtClean="0">
                <a:latin typeface="Times New Roman" pitchFamily="18" charset="0"/>
                <a:cs typeface="Times New Roman" pitchFamily="18" charset="0"/>
              </a:rPr>
              <a:t>Cl</a:t>
            </a:r>
            <a:r>
              <a:rPr lang="en-US" sz="1700" dirty="0" smtClean="0">
                <a:latin typeface="Times New Roman" pitchFamily="18" charset="0"/>
                <a:cs typeface="Times New Roman" pitchFamily="18" charset="0"/>
              </a:rPr>
              <a:t>), cobalt (Co), copper Cu), iron (Fe), manganese (</a:t>
            </a:r>
            <a:r>
              <a:rPr lang="en-US" sz="1700" dirty="0" err="1" smtClean="0">
                <a:latin typeface="Times New Roman" pitchFamily="18" charset="0"/>
                <a:cs typeface="Times New Roman" pitchFamily="18" charset="0"/>
              </a:rPr>
              <a:t>Mn</a:t>
            </a:r>
            <a:r>
              <a:rPr lang="en-US" sz="1700" dirty="0" smtClean="0">
                <a:latin typeface="Times New Roman" pitchFamily="18" charset="0"/>
                <a:cs typeface="Times New Roman" pitchFamily="18" charset="0"/>
              </a:rPr>
              <a:t>), molybdenum (Mo), silicon (Si), sulfur (S) and zinc (Zn). Deficiencies of immobile nutrients show symptoms first in younger leaves. These nutrients do not move or </a:t>
            </a:r>
            <a:r>
              <a:rPr lang="en-US" sz="1700" dirty="0" err="1" smtClean="0">
                <a:latin typeface="Times New Roman" pitchFamily="18" charset="0"/>
                <a:cs typeface="Times New Roman" pitchFamily="18" charset="0"/>
              </a:rPr>
              <a:t>translocate</a:t>
            </a:r>
            <a:r>
              <a:rPr lang="en-US" sz="1700" dirty="0" smtClean="0">
                <a:latin typeface="Times New Roman" pitchFamily="18" charset="0"/>
                <a:cs typeface="Times New Roman" pitchFamily="18" charset="0"/>
              </a:rPr>
              <a:t> to new growing areas as needed. They remain deposited in their original place in older leaves</a:t>
            </a:r>
            <a:r>
              <a:rPr lang="en-US" sz="1700" dirty="0" smtClean="0">
                <a:latin typeface="Times New Roman" pitchFamily="18" charset="0"/>
                <a:cs typeface="Times New Roman" pitchFamily="18" charset="0"/>
              </a:rPr>
              <a:t>.</a:t>
            </a:r>
          </a:p>
          <a:p>
            <a:r>
              <a:rPr lang="en-US" sz="1700" dirty="0" smtClean="0">
                <a:latin typeface="Times New Roman" pitchFamily="18" charset="0"/>
                <a:cs typeface="Times New Roman" pitchFamily="18" charset="0"/>
              </a:rPr>
              <a:t>Plant nutrients sustainably increase crop productivity in crop production.</a:t>
            </a:r>
          </a:p>
          <a:p>
            <a:r>
              <a:rPr lang="en-US" sz="1700" dirty="0" smtClean="0">
                <a:latin typeface="Times New Roman" pitchFamily="18" charset="0"/>
                <a:cs typeface="Times New Roman" pitchFamily="18" charset="0"/>
              </a:rPr>
              <a:t>Deficiency symptoms of plant nutrients are the different symptoms observed in a plant when one or two nutrients are lacking in that particular plant. </a:t>
            </a:r>
          </a:p>
          <a:p>
            <a:endParaRPr lang="en-US" sz="1400" dirty="0" smtClean="0">
              <a:latin typeface="Times New Roman" pitchFamily="18" charset="0"/>
              <a:cs typeface="Times New Roman" pitchFamily="18" charset="0"/>
            </a:endParaRPr>
          </a:p>
          <a:p>
            <a:pPr>
              <a:buNone/>
            </a:pPr>
            <a:endParaRPr lang="en-US" sz="1600" dirty="0" smtClean="0">
              <a:latin typeface="Times New Roman" pitchFamily="18" charset="0"/>
              <a:cs typeface="Times New Roman" pitchFamily="18" charset="0"/>
            </a:endParaRPr>
          </a:p>
          <a:p>
            <a:endParaRPr lang="en-US" sz="1600" dirty="0">
              <a:latin typeface="Times New Roman" pitchFamily="18" charset="0"/>
              <a:cs typeface="Times New Roman"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1296</TotalTime>
  <Words>371</Words>
  <Application>Microsoft Office PowerPoint</Application>
  <PresentationFormat>On-screen Show (4:3)</PresentationFormat>
  <Paragraphs>16</Paragraphs>
  <Slides>3</Slides>
  <Notes>0</Notes>
  <HiddenSlides>0</HiddenSlides>
  <MMClips>0</MMClips>
  <ScaleCrop>false</ScaleCrop>
  <HeadingPairs>
    <vt:vector size="4" baseType="variant">
      <vt:variant>
        <vt:lpstr>Theme</vt:lpstr>
      </vt:variant>
      <vt:variant>
        <vt:i4>1</vt:i4>
      </vt:variant>
      <vt:variant>
        <vt:lpstr>Slide Titles</vt:lpstr>
      </vt:variant>
      <vt:variant>
        <vt:i4>3</vt:i4>
      </vt:variant>
    </vt:vector>
  </HeadingPairs>
  <TitlesOfParts>
    <vt:vector size="4" baseType="lpstr">
      <vt:lpstr>Office Theme</vt:lpstr>
      <vt:lpstr>CROP SCIENCE LECTURE 5  1st February, 2021 </vt:lpstr>
      <vt:lpstr>PLANT NUTRIENTS</vt:lpstr>
      <vt:lpstr>ANSWERS</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ENVIRONMENTAL STRESS AND YIELD</dc:title>
  <dc:creator>Elijah Misengo</dc:creator>
  <cp:lastModifiedBy>Elijah Misengo</cp:lastModifiedBy>
  <cp:revision>87</cp:revision>
  <dcterms:created xsi:type="dcterms:W3CDTF">2021-01-26T19:19:44Z</dcterms:created>
  <dcterms:modified xsi:type="dcterms:W3CDTF">2021-02-02T19:17:31Z</dcterms:modified>
</cp:coreProperties>
</file>