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85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Plant Disease Management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49808" y="1325880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Chemical Methods in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 Disease Control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804672" y="3035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slides generated from the provided textbook screenshots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F6B3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🌿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89888" y="39684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 health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46B2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224528" y="39684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tools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294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E6C8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96328" y="39684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protection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7365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fungicides, bactericides, antibiotics, modes of action, IPM, risks and safe use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417319"/>
            <a:ext cx="3429000" cy="1773749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1. Explain why chemicals are used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Describe rapid disease suppression, broad-spectrum activity, yield protection and use in commercial agriculture.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0" y="1417320"/>
            <a:ext cx="3429000" cy="1773748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2. Classify chemical tools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Differentiate fungicides, bactericides, antibiotics, contact, systemic, protectant and eradicant products.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92440" y="1417320"/>
            <a:ext cx="3429000" cy="1773748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3. Describe modes of action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Connect chemical classes to fungal and bacterial targets such as membranes, sterols, respiration and protein synthesis</a:t>
            </a:r>
            <a:r>
              <a:rPr lang="en-US" sz="1350" dirty="0">
                <a:solidFill>
                  <a:srgbClr val="1F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3429000" cy="154608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4. Evaluate risks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Recognise resistance, residues, toxicity, ecosystem disruption and non-target effects.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0" y="3520440"/>
            <a:ext cx="3429000" cy="154608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5. Apply IPM thinking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Combine chemical, biological and cultural controls to reduce risk and maintain long-term control.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92440" y="3520440"/>
            <a:ext cx="3429000" cy="154608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6. Use safe practices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Interpret the need for registration, PPE, label rates, pre-harvest intervals and maximum residue limits.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point: </a:t>
            </a:r>
            <a:r>
              <a:rPr lang="en-US" sz="1400" dirty="0">
                <a:solidFill>
                  <a:srgbClr val="1F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control is powerful, but it must be integrated, targeted and safely managed.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6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B3D"/>
          </a:solidFill>
          <a:ln w="12700">
            <a:solidFill>
              <a:srgbClr val="2F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02996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A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Chemical control in agriculture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0815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8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Importance, history and why chemical methods remain widely used.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" y="4160520"/>
            <a:ext cx="5669280" cy="0"/>
          </a:xfrm>
          <a:prstGeom prst="line">
            <a:avLst/>
          </a:prstGeom>
          <a:noFill/>
          <a:ln w="63500">
            <a:solidFill>
              <a:srgbClr val="C46B2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CHEMICAL CONTROL IN AGRICULTURE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chemical methods are important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325879"/>
            <a:ext cx="2743200" cy="1645919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Rapid suppression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Quickly suppresses pathogens and reduces disease outbreaks, especially in high-value crops.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0" y="1325880"/>
            <a:ext cx="27432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Wide applicability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Can be applied across row crops, orchards, greenhouses, climates and farming systems.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0" y="1325880"/>
            <a:ext cx="2743200" cy="1609344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Broad-spectrum control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Some fungicides and bactericides control several pathogens simultaneously.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509760" y="1325879"/>
            <a:ext cx="1965960" cy="1609339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Yield protection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Helps prevent serious crop losses and supports reliable production.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5120640" cy="2075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Chemical methods are often the first line of protection during disease outbreaks.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They are practical where large crop areas need uniform management.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They remain useful even when combined with other strategies.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46520" y="3505510"/>
            <a:ext cx="4754880" cy="1794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Their effectiveness depends on correct diagnosis, timing and coverage.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Misuse can lead to resistance, residues and environmental damage.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They should complement—not replace—IPM.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point: </a:t>
            </a:r>
            <a:r>
              <a:rPr lang="en-US" sz="1400" dirty="0">
                <a:solidFill>
                  <a:srgbClr val="1F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Chemicals are most valuable when they prevent small outbreaks from becoming economically damaging epidemics.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CHEMICAL CONTROL IN AGRICULTURE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Historical evolution of chemical control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2423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1800s
Inorganic compounds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Sulfur and copper compounds, including Bordeaux mixture, were used against fungal diseases.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52327" y="1600200"/>
            <a:ext cx="2643673" cy="205740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Mid-20th century
Synthetic chemicals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Synthetic products such as DDT (dichlorodiphenyltrichloroethane). and captan expanded disease and pest control.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0" y="1600200"/>
            <a:ext cx="2423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1960s–1970s
Systemic fungicides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Benzimidazoles and triazoles moved within plants and protected infected tissues.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235440" y="1600200"/>
            <a:ext cx="2423160" cy="205740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Modern era
Resistance &amp; regulation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Safety, resistance, residues and environmental impact shifted attention to IPM.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96112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Early protection → synthetic intensification → systemic activity → safer integrated 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point: </a:t>
            </a:r>
            <a:r>
              <a:rPr lang="en-US" sz="1400" dirty="0">
                <a:solidFill>
                  <a:srgbClr val="1F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control evolved from surface protection to targeted systemic products and stricter regulation.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B3D"/>
          </a:solidFill>
          <a:ln w="12700">
            <a:solidFill>
              <a:srgbClr val="2F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02996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B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Chemical methods in integrated disease management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0815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8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Combining chemical, biological and cultural measures for sustainable control.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" y="4160520"/>
            <a:ext cx="5669280" cy="0"/>
          </a:xfrm>
          <a:prstGeom prst="line">
            <a:avLst/>
          </a:prstGeom>
          <a:noFill/>
          <a:ln w="63500">
            <a:solidFill>
              <a:srgbClr val="C46B2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INTEGRATED MANAGEMENT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in integrated disease management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disease management combines several tools so that no single method carries the whole burden.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3108960" cy="141732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Chemical control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Fast suppression when disease pressure is high; useful for targeted applications.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26280" y="1874520"/>
            <a:ext cx="3108960" cy="141732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Biological control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Beneficial microbes such as Trichoderma and Bacillus can suppress pathogens and strengthen roots.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75320" y="1874520"/>
            <a:ext cx="3108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Cultural control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Rotation, sanitation, spacing and irrigation management reduce disease pressure.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40416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Timing and targeting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1560" y="4526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Apply chemicals when disease risk is high, then support longer-term control with biological and cultural practices.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goal is effective control with reduced chemical frequency and delayed resistance development.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INTEGRATED MANAGEMENT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 of integration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2588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Before disease pressure rises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 crop rotation, sanitation, resistant varieties, balanced spacing and irrigation management to reduce initial inoculum.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1325880"/>
            <a:ext cx="3474720" cy="164592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At early disease risk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Apply a protectant chemical or targeted fungicide before rapid spread occurs.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56448" y="1325880"/>
            <a:ext cx="3474720" cy="164592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After suppression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Introduce or support biological controls to maintain long-term suppression and root health.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3429000"/>
            <a:ext cx="103784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Trichoderma and Bacillus subtilis can reduce disease pressure while promoting healthy soil microbiota.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Reduced humidity through spacing and irrigation timing can improve chemical treatment efficacy.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Chemical applications should be timed so they complement biological and cultural methods.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Integration protects yield while lowering overreliance on single products or repeated sprays.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INTEGRATED MANAGEMENT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risks of chemical control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258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Environmental impact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Broad-spectrum chemicals may affect non-target organisms, soil microbes and aquatic life.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39312" y="13258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Resistance development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Frequent use can select resistant Fusarium, Phytophthora or Botrytis populations.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65392" y="13258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Human health concerns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Poor handling can increase exposure risks through inhalation, skin contact or residues.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491472" y="132588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Ecosystem disruption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Overuse can reduce beneficial organisms and biodiversity.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Common risk pathway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Repeated use  →  selection pressure  →  resistant pathogen population  →  reduced control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Resistance management requires rotation of modes of action and combination with non-chemical methods.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INTEGRATED MANAGEMENT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 and safe use practices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25880"/>
            <a:ext cx="3474720" cy="141732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Regulatory frameworks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Products must be registered before sale or use; authorities assess efficacy, toxicity and environmental impact.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13258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Maximum Residue Limits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MRLs define safe chemical residue limits on harvested crops.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56448" y="13258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Safe handling &amp; application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 PPE, correct calibration, recommended rates and proper disposal of chemicals.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218688"/>
            <a:ext cx="103327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Follow product labels, pre-harvest intervals and local registration rules.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Apply chemicals only when necessary and avoid unnecessary broad-spectrum sprays.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IPM guidelines encourage non-chemical measures first, with chemicals as a targeted tool.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Safe use is not optional; it protects consumers, applicators, workers and the environment.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6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B3D"/>
          </a:solidFill>
          <a:ln w="12700">
            <a:solidFill>
              <a:srgbClr val="2F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🧫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02996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C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of chemical control agents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0815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8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Fungicides, bactericides and antibiotics used in plant disease management.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" y="4160520"/>
            <a:ext cx="5669280" cy="0"/>
          </a:xfrm>
          <a:prstGeom prst="line">
            <a:avLst/>
          </a:prstGeom>
          <a:noFill/>
          <a:ln w="63500">
            <a:solidFill>
              <a:srgbClr val="C46B2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CLASSIFICATION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overview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246120" cy="187452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Fungicides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Chemicals used to control fungal pathogens. They may be contact, systemic, protectant or eradicant.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80560" y="1371600"/>
            <a:ext cx="3246120" cy="187452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Bactericides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Chemicals used against bacterial plant pathogens. Copper-based products are common examples.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83880" y="1371600"/>
            <a:ext cx="3246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Antibiotics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Special bactericides used against serious bacterial diseases; often tightly regulated due to resistance concerns.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9136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Classification can also be based on where the chemical acts and whether it moves inside the plant.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Always identify the pathogen first: fungal, bacterial and viral diseases require different management strategies.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FUNGICIDES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 fungicides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3657600" cy="182880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What they do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Remain on treated plant surfaces and form a protective barrier. They do not penetrate or move within the plant.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17720" y="1325880"/>
            <a:ext cx="3291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 of action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Prevent spore germination or damage fungal structures on the plant surface.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38160" y="1325880"/>
            <a:ext cx="3291840" cy="182880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Chlorothalonil and mancozeb are widely used contact fungicides.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3566160"/>
            <a:ext cx="102412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Best used before infection occurs.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Require good spray coverage and regular reapplication.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Rainfall, irrigation and new growth can reduce protection.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Contact fungicides protect only the tissues they cover; untreated new growth remains vulnerable.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FUNGICIDES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Systemic fungicides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" y="1353312"/>
            <a:ext cx="3429000" cy="164592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Absorbed by plant tissue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Systemic fungicides are taken up by plants and can move through vascular tissues.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07408" y="1353312"/>
            <a:ext cx="3429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Protect internal tissues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They can protect treated and sometimes untreated parts of the plant.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65008" y="1353312"/>
            <a:ext cx="3429000" cy="164592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Azoxystrobin inhibits mitochondrial respiration. Propiconazole inhibits sterol biosynthesis.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401568"/>
            <a:ext cx="103784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Useful where pathogens have already penetrated tissues.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Longer-lasting than many contact products and less affected by rainfall after absorption.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Overuse increases resistance risk, so rotation is essential.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Systemic activity improves protection, but it does not remove the need for resistance management.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FUNGICIDES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Protectant versus eradicant fungicides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4983480" cy="246888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Protectant fungicides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Applied before infection. They create a protective surface that prevents spores from germinating or penetrating plant tissue.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Examples: copper-based fungicides, mancozeb, chlorothalonil.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0" y="1417320"/>
            <a:ext cx="4983480" cy="246888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Eradicant fungicides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Applied after infection has occurred. They suppress pathogen development within plant tissues and are often systemic.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Examples: triazoles, strobilurins, benzimidazoles.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Preventive strategy  ≠  Curative strategy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Protectants work best before disease appears; eradicants are used when disease has already begun.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BACTERICIDES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Bactericides: classification and types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" y="1325880"/>
            <a:ext cx="3429000" cy="178308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Copper-based bactericides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 hydroxide and copper sulfate disrupt bacterial cell walls, proteins and enzymes.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07408" y="132588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Antibiotic bactericides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Streptomycin and oxytetracycline inhibit essential bacterial processes such as protein synthesis.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65008" y="1325880"/>
            <a:ext cx="3429000" cy="178308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Quaternary ammonium compounds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Used mainly as disinfectants for tools, surfaces, equipment and post-harvest operations.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10378440" cy="134174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Bacterial pathogens can develop resistance rapidly.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Many bactericides are less effective than fungicides because bacteria multiply quickly and may live internally.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Safe use and regulatory compliance are especially important.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Bactericides are useful but must be used carefully to avoid resistance and residue problems.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BACTERICIDES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Copper-based bactericides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3291840" cy="182880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 of action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 ions disrupt bacterial metabolic processes and damage bacterial cells on contact.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43984" y="1325880"/>
            <a:ext cx="3291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 hydroxide is used for bacterial blight in beans, fire blight in apples and bacterial spot in tomatoes. Copper sulfate is also widely used.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10728" y="1325880"/>
            <a:ext cx="3291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Limitations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Repeated use can lead to copper accumulation in soil and copper-tolerant bacterial strains.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10241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 products often act as broad-spectrum bactericides and fungicides.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They are mainly protective and require good surface coverage.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 is common and useful, but long-term accumulation and resistance must be managed.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ANTIBIOTICS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Antibiotics used in plant disease control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Definition and role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Antibiotics inhibit the growth of or kill bacteria. In crops, they are used mainly for serious bacterial diseases in high-value systems.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80560" y="1325880"/>
            <a:ext cx="3520440" cy="201168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Streptomycin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Used against fire blight in apples and pears and bacterial spot in tomatoes; inhibits bacterial protein synthesis.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0" y="1325880"/>
            <a:ext cx="3246120" cy="201168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Tetracycline / oxytetracycline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Used against some fruit-tree bacterial diseases; may be injected into trunks or applied as foliar spray where registered.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10287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Antibiotic use is tightly regulated due to resistance concerns and possible human-health implications.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Farmers may be required to use antibiotics only as a last resort.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Antibiotics are not routine sprays; they are specialised tools for specific bacterial disease situations.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BACTERICIDES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Chemical bactericides: quaternary ammonium compounds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337560" cy="173736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Where used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Mostly used as disinfectants in greenhouses, nurseries and post-harvest facilities.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1371600"/>
            <a:ext cx="3337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 of action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Interact with bacterial cell membranes, causing loss of integrity and cell death.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92440" y="1371600"/>
            <a:ext cx="3337560" cy="173736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Benzalkonium chloride and didecyldimethylammonium chloride (DDAC).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Important limitation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These chemicals are often phytotoxic at high concentrations and are mainly used for surface disinfection rather than direct plant treatment.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Sanitation chemicals help prevent spread through tools, surfaces and nursery equipment.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F6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B3D"/>
          </a:solidFill>
          <a:ln w="12700">
            <a:solidFill>
              <a:srgbClr val="2F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02996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D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Modes of action and specificity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0815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8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chemical protectants affect pathogens and why selectivity matters.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" y="4160520"/>
            <a:ext cx="5669280" cy="0"/>
          </a:xfrm>
          <a:prstGeom prst="line">
            <a:avLst/>
          </a:prstGeom>
          <a:noFill/>
          <a:ln w="63500">
            <a:solidFill>
              <a:srgbClr val="C46B2C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MODES OF ACTION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 of action of fungicides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3337560" cy="182880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Cell wall synthesis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Some fungicides disrupt fungal cell wall components such as beta-glucans, weakening the cell.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1325880"/>
            <a:ext cx="3337560" cy="182880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Sterol biosynthesis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Triazoles and imidazoles inhibit ergosterol formation, compromising fungal cell membranes.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92440" y="132588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Mitochondrial respiration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Strobilurins inhibit electron transport, reducing ATP production and fungal survival.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10241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Fungicides target biological processes that fungi need for growth, reproduction or infection.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Different modes of action should be rotated to delay resistance.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 of action tells us what the chemical disrupts inside the pathogen.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MODES OF ACTION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inhibition of fungal cell wall synthesis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54864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Fungal cell walls contain chitin and beta-glucans.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Certain fungicides inhibit enzymes involved in producing cell-wall polysaccharides.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 weakened cell wall may rupture under environmental stress.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0" y="1325880"/>
            <a:ext cx="4572000" cy="210312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Teaching example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Echinocandins inhibit beta-1,3-D-glucan synthase. They are better known in human medicine, but the principle helps explain how cell-wall targeting works.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Weak wall  →  loss of shape  →  cell lysis  →  pathogen death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fungal cell wall is a target because plant and animal cells do not have the same wall structure.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MODES OF ACTION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inhibition of sterol biosynthesis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Why sterols matter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Ergosterol is essential for fungal membrane fluidity, stability and function.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26280" y="1325880"/>
            <a:ext cx="3566160" cy="192024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Chemical groups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Triazoles and imidazoles inhibit enzymes involved in ergosterol synthesis.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75320" y="1325880"/>
            <a:ext cx="3108960" cy="192024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Propiconazole and tebuconazole control rusts, powdery mildew, leaf spots and other fungal diseases.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Blocked ergosterol synthesis  →  compromised membrane  →  leakage and death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Sterol biosynthesis inhibitors are often systemic and can be useful for internal fungal infections.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MODES OF ACTION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inhibition of mitochondrial respiration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3657600" cy="182880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Target process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Mitochondria produce ATP, the energy currency required for fungal growth and reproduction.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17720" y="1325880"/>
            <a:ext cx="3291840" cy="182880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Strobilurins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Azoxystrobin and pyraclostrobin inhibit cytochrome bc1 complex in the electron transport chain.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92440" y="1325880"/>
            <a:ext cx="3291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Target pathogens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Often effective against rusts, powdery mildew, downy mildew and anthracnose.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Respiration blocked  →  ATP production reduced  →  fungal growth stops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Respiration inhibitors are powerful but can select for resistance if overused.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MODES OF ACTION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 of action of bactericides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3383280" cy="196596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Membrane disruption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 and quaternary ammonium compounds can disrupt bacterial cell membranes, causing leakage and cell death.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1325880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Protein synthesis inhibition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Streptomycin binds bacterial ribosomes and prevents essential protein production.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92440" y="1325880"/>
            <a:ext cx="3383280" cy="196596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DNA replication effects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Some bactericides interfere with replication or growth processes, limiting bacterial multiplication.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102412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Bactericides may be broad-spectrum or narrow-spectrum.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Specificity varies with the chemical, target pathogen and application site.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Bacterial disease control depends strongly on timing because bacteria multiply quickly.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SPECIFICITY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Spectrum and specificity of chemical protectants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4983480" cy="205740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Broad-spectrum chemicals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Effective against a wide range of pathogens, including fungi and bacteria. Useful when several diseases are present or pathogen identity is uncertain.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Examples: copper products, sulfur, mancozeb.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0" y="1325880"/>
            <a:ext cx="4983480" cy="205740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Narrow-spectrum chemicals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Target specific pathogens or groups of pathogens. Useful for targeted disease control and reducing non-target effects.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Examples: propiconazole for rusts and powdery mildew; streptomycin for specific bacteria.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Trade-off: broad coverage versus selective protection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 correct diagnosis allows more selective and responsible chemical use.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SPECIFICITY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Systemic versus localized protection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4937760" cy="214884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Systemic chemicals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Absorbed and moved through plant tissues. They can protect parts not directly treated, including new growth in some cases.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Examples: propiconazole, azoxystrobin.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46520" y="1325880"/>
            <a:ext cx="4937760" cy="214884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Localized/contact chemicals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Remain on treated surfaces and provide immediate protection where applied.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Examples: chlorothalonil, copper hydroxide.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10241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Systemic products are valuable for diseases that spread internally.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Localized products are valuable for preventive surface protection but need regular reapplication.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Movement inside the plant changes how often and where the product must be applied.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SPECIFICITY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of non-target effects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Beneficial microbes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Broad-spectrum chemicals may reduce beneficial soil fungi and bacteria that support plant health.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132588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Insects and other organisms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Non-target insects, aquatic life and endophytic organisms may be affected.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92440" y="132588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Ecosystem services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Loss of beneficial organisms can reduce biodiversity, soil fertility and natural disease suppression.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102412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Minimize non-target effects by choosing selective chemicals, applying only when needed and using correct rates.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IPM reduces unintended effects by combining chemical, biological and cultural methods.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Effective disease control should protect the crop without unnecessary damage to the agroecosystem.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F6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B3D"/>
          </a:solidFill>
          <a:ln w="12700">
            <a:solidFill>
              <a:srgbClr val="2F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02996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Pathogen immobilization and chemotherapy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0815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8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Preventing infection with barriers versus curing existing infections with systemic products.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" y="4160520"/>
            <a:ext cx="5669280" cy="0"/>
          </a:xfrm>
          <a:prstGeom prst="line">
            <a:avLst/>
          </a:prstGeom>
          <a:noFill/>
          <a:ln w="63500">
            <a:solidFill>
              <a:srgbClr val="C46B2C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 IMMOBILIZATION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Pathogen immobilization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Pathogen immobilization is a preventive approach: chemicals create a barrier that prevents pathogens from reaching, entering or infecting plant tissues.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3291840" cy="164592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Physical/chemical barrier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Coats the plant surface and blocks pathogen contact or entry.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34840" y="2148840"/>
            <a:ext cx="3291840" cy="164592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Residual film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 thin protective layer remains active for a period after application.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92440" y="2148840"/>
            <a:ext cx="3291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Preventive timing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Most useful before infection, especially for foliar diseases and surface-infecting pathogens.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No contact with host  →  no infection  →  reduced disease development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Immobilization works by keeping the pathogen outside the plant, not by curing infected tissue.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 IMMOBILIZATION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Chemical barriers and residual films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3337560" cy="201168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Sulfur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Acts as a barrier against fungal pathogens and can repel or prevent fungi from attaching to plant tissues.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132588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 compounds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 hydroxide and copper sulfate create residual films that inhibit germination and bacterial growth.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92440" y="1325880"/>
            <a:ext cx="3337560" cy="201168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Fixed copper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 hydroxide and copper oxychloride are commonly used as foliar sprays in high-value crops.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10241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Residual action is useful during high disease pressure or when frequent reapplication is not feasible.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Barrier chemicals still require good coverage and correct timing.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Protective films must cover the infection sites to be effective.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 IMMOBILIZATION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 used for pathogen immobilization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33375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Chlorothalonil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 broad-spectrum fungicide that forms a protective barrier on plant surfaces and prevents fungal spore germination.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1280160"/>
            <a:ext cx="3337560" cy="205740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Mancozeb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Creates a protective film on tissues and inhibits fungal growth and penetration; used against blights, downy mildew and leaf spots.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92440" y="1280160"/>
            <a:ext cx="3337560" cy="205740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 compounds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Immobilize fungal and bacterial pathogens on high-value crops such as grapes, tomatoes and apples.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These products are primarily preventive; they protect surfaces before pathogens penetrate.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If the disease is already inside the plant, a surface barrier alone may not be enough.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 CHEMOTHERAPY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Chemotherapy in plant disease management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Chemotherapy refers to the use of chemicals to treat existing infections, not only to prevent new ones.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3337560" cy="169164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Systemic action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Chemicals are absorbed and moved to parts of the plant where the pathogen is active.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34840" y="1965960"/>
            <a:ext cx="3337560" cy="169164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Curative approach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Used after symptoms appear, making it a reactive rather than purely preventive strategy.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92440" y="1965960"/>
            <a:ext cx="3337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Internal pathogens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Especially useful for diseases that develop inside plant tissues, such as vascular wilts and rusts.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Infection established  →  systemic chemical reaches target  →  pathogen growth suppressed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Chemotherapy is corrective, but early diagnosis and correct product choice remain critical.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 CHEMOTHERAPY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Chemotherapy: selected examples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3657600" cy="539496"/>
          </a:xfrm>
          <a:prstGeom prst="rect">
            <a:avLst/>
          </a:prstGeom>
          <a:solidFill>
            <a:srgbClr val="EFEAD8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Treatment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0" y="1325880"/>
            <a:ext cx="2377440" cy="539496"/>
          </a:xfrm>
          <a:prstGeom prst="rect">
            <a:avLst/>
          </a:prstGeom>
          <a:solidFill>
            <a:srgbClr val="EFEAD8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Type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66560" y="1325880"/>
            <a:ext cx="4709160" cy="539496"/>
          </a:xfrm>
          <a:prstGeom prst="rect">
            <a:avLst/>
          </a:prstGeom>
          <a:solidFill>
            <a:srgbClr val="EFEAD8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Target / 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892808"/>
            <a:ext cx="365760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Systemic fungicides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(carbendazim, thiophanate-methyl)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0" y="1892808"/>
            <a:ext cx="2377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Fungicide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0" y="1892808"/>
            <a:ext cx="470916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Powdery mildew, Fusarium wilt, rusts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459736"/>
            <a:ext cx="365760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Triazole fungicides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9120" y="2459736"/>
            <a:ext cx="2377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Fungicide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66560" y="2459736"/>
            <a:ext cx="470916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Leaf spot, rust, smut diseases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026664"/>
            <a:ext cx="365760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Antibiotics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(streptomycin, tetracycline)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89120" y="3026664"/>
            <a:ext cx="2377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Bactericide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66560" y="3026664"/>
            <a:ext cx="470916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Fire blight, bacterial spot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3593592"/>
            <a:ext cx="365760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Phosphite-based fungicides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89120" y="3593592"/>
            <a:ext cx="2377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Systemic fungicide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6560" y="3593592"/>
            <a:ext cx="470916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Phytophthora, downy mildew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365760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Bordeaux mixture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89120" y="4160520"/>
            <a:ext cx="2377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Copper sulfate + lime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66560" y="4160520"/>
            <a:ext cx="470916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CFC7B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Blight and anthracnose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68680" y="544068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5E6A6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Note: examples must always be checked against local registration, crop label and disease diagnosis.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Treatment choice depends on pathogen type, infection stage, crop and regulatory approval.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decision framework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207007"/>
            <a:ext cx="1965960" cy="1536189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1. Diagnose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Identify the pathogen: fungal, bacterial, viral or abiotic.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88920" y="1207008"/>
            <a:ext cx="1965960" cy="15361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2. Assess risk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Check disease severity, weather, crop stage and economic value.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92040" y="1207008"/>
            <a:ext cx="1965960" cy="1536188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3. Select tool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Choose contact, systemic, bactericide or non-chemical control.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95160" y="1207008"/>
            <a:ext cx="1965960" cy="15361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4. Apply safely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Follow label rate, PPE, calibration and pre-harvest interval.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98280" y="1207008"/>
            <a:ext cx="2331720" cy="1536188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5. Rotate &amp; monitor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Rotate modes of action and check control performance.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3620278"/>
            <a:ext cx="10241280" cy="13723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Use chemical control as part of an integrated strategy, not as a stand-alone habit.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Prefer preventive and targeted applications before disease pressure becomes severe.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Monitor fields after treatment and adjust management based on disease response.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Good disease management is a sequence of decisions, not just a spray event.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summary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337560" cy="164592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Chemicals are valuable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They provide rapid, scalable disease suppression and protect crop yield.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1234440"/>
            <a:ext cx="3337560" cy="164592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Classification matters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Fungicides, bactericides and antibiotics differ in targets, movement and timing.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92440" y="1234440"/>
            <a:ext cx="3337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Modes of action matter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Correct rotation reduces resistance and supports long-term efficacy.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Safety matters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Regulations, MRLs, PPE and label instructions protect people and the environment.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34840" y="3337560"/>
            <a:ext cx="3337560" cy="141732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IPM matters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Combine chemical, biological and cultural strategies for sustainable control.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92440" y="3337560"/>
            <a:ext cx="3337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Diagnosis matters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right chemical depends on pathogen type and infection stage.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Effective chemical disease control is targeted, integrated, safe and resistance-conscious.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6B2C"/>
          </a:solidFill>
          <a:ln w="12700">
            <a:solidFill>
              <a:srgbClr val="C4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activity: quick review questions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Methods in Plant Disease Control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Q1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Why are contact fungicides usually applied before infection occurs?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5120640" cy="1106424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Q2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Give two examples of chemical disease-control products and state whether they are contact or systemic.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739896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63D4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Q3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Explain one way repeated chemical use can lead to pathogen resistance.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09360" y="1234440"/>
            <a:ext cx="5120640" cy="960120"/>
          </a:xfrm>
          <a:prstGeom prst="rect">
            <a:avLst/>
          </a:prstGeom>
          <a:solidFill>
            <a:srgbClr val="E6F0E7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F6B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Q4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How can biological and cultural methods reduce reliance on chemical control?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09360" y="2487168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E6C8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Q5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Differentiate pathogen immobilization from chemotherapy in plant disease management.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09360" y="3739896"/>
            <a:ext cx="5120640" cy="960120"/>
          </a:xfrm>
          <a:prstGeom prst="rect">
            <a:avLst/>
          </a:prstGeom>
          <a:solidFill>
            <a:srgbClr val="F3E4D5"/>
          </a:solidFill>
          <a:ln w="12700">
            <a:solidFill>
              <a:srgbClr val="DED6C3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Q6
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What safe-use practices should be followed before applying a plant-protection chemical?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5961888"/>
            <a:ext cx="10652760" cy="384048"/>
          </a:xfrm>
          <a:prstGeom prst="rect">
            <a:avLst/>
          </a:prstGeom>
          <a:solidFill>
            <a:srgbClr val="EFEAD8"/>
          </a:solidFill>
          <a:ln w="10160">
            <a:solidFill>
              <a:srgbClr val="DDD6C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46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Key point: </a:t>
            </a:r>
            <a:r>
              <a:rPr lang="en-US" dirty="0">
                <a:solidFill>
                  <a:srgbClr val="1F2A2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 these as oral questions, group discussion prompts or short written quiz items.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4275</TotalTime>
  <Words>3761</Words>
  <Application>Microsoft Office PowerPoint</Application>
  <PresentationFormat>Widescreen</PresentationFormat>
  <Paragraphs>411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Arial</vt:lpstr>
      <vt:lpstr>Segoe UI Emoji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Chemical Methods in Plant Disease Control</dc:title>
  <dc:subject>Lecture slides generated from screenshots on chemical methods in plant disease control</dc:subject>
  <dc:creator>OpenAI</dc:creator>
  <cp:lastModifiedBy>Demian Mubika</cp:lastModifiedBy>
  <cp:revision>3</cp:revision>
  <dcterms:created xsi:type="dcterms:W3CDTF">2026-07-13T18:10:39Z</dcterms:created>
  <dcterms:modified xsi:type="dcterms:W3CDTF">2026-07-27T18:47:34Z</dcterms:modified>
</cp:coreProperties>
</file>