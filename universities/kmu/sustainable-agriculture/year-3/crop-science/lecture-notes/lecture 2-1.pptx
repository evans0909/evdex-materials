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1" r:id="rId3"/>
    <p:sldId id="272" r:id="rId4"/>
    <p:sldId id="273" r:id="rId5"/>
    <p:sldId id="274" r:id="rId6"/>
    <p:sldId id="275" r:id="rId7"/>
    <p:sldId id="276" r:id="rId8"/>
    <p:sldId id="277" r:id="rId9"/>
    <p:sldId id="278" r:id="rId10"/>
    <p:sldId id="279" r:id="rId11"/>
    <p:sldId id="292" r:id="rId12"/>
    <p:sldId id="280" r:id="rId13"/>
    <p:sldId id="281" r:id="rId14"/>
    <p:sldId id="282" r:id="rId15"/>
    <p:sldId id="283" r:id="rId16"/>
    <p:sldId id="284" r:id="rId17"/>
    <p:sldId id="285" r:id="rId18"/>
    <p:sldId id="286" r:id="rId19"/>
    <p:sldId id="287" r:id="rId20"/>
    <p:sldId id="288" r:id="rId21"/>
    <p:sldId id="289" r:id="rId22"/>
    <p:sldId id="290"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0" d="100"/>
          <a:sy n="70" d="100"/>
        </p:scale>
        <p:origin x="73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A2645-E03D-447D-808D-6508281046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Z"/>
          </a:p>
        </p:txBody>
      </p:sp>
      <p:sp>
        <p:nvSpPr>
          <p:cNvPr id="3" name="Subtitle 2">
            <a:extLst>
              <a:ext uri="{FF2B5EF4-FFF2-40B4-BE49-F238E27FC236}">
                <a16:creationId xmlns:a16="http://schemas.microsoft.com/office/drawing/2014/main" id="{B50C6AC2-CE5C-418A-BF6C-99198BF253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Z"/>
          </a:p>
        </p:txBody>
      </p:sp>
      <p:sp>
        <p:nvSpPr>
          <p:cNvPr id="4" name="Date Placeholder 3">
            <a:extLst>
              <a:ext uri="{FF2B5EF4-FFF2-40B4-BE49-F238E27FC236}">
                <a16:creationId xmlns:a16="http://schemas.microsoft.com/office/drawing/2014/main" id="{ADEC1599-E218-4675-A43F-377123347670}"/>
              </a:ext>
            </a:extLst>
          </p:cNvPr>
          <p:cNvSpPr>
            <a:spLocks noGrp="1"/>
          </p:cNvSpPr>
          <p:nvPr>
            <p:ph type="dt" sz="half" idx="10"/>
          </p:nvPr>
        </p:nvSpPr>
        <p:spPr/>
        <p:txBody>
          <a:bodyPr/>
          <a:lstStyle/>
          <a:p>
            <a:fld id="{DDF5EE3D-EE70-4947-9AE6-E367CCCDDB4D}" type="datetimeFigureOut">
              <a:rPr lang="en-NZ" smtClean="0"/>
              <a:t>21/03/2022</a:t>
            </a:fld>
            <a:endParaRPr lang="en-NZ"/>
          </a:p>
        </p:txBody>
      </p:sp>
      <p:sp>
        <p:nvSpPr>
          <p:cNvPr id="5" name="Footer Placeholder 4">
            <a:extLst>
              <a:ext uri="{FF2B5EF4-FFF2-40B4-BE49-F238E27FC236}">
                <a16:creationId xmlns:a16="http://schemas.microsoft.com/office/drawing/2014/main" id="{F1C620B0-4704-4AB9-AF78-0AD2433F8EB1}"/>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6DA4B96B-DC7D-427C-BDDD-81DCA2CD5BDF}"/>
              </a:ext>
            </a:extLst>
          </p:cNvPr>
          <p:cNvSpPr>
            <a:spLocks noGrp="1"/>
          </p:cNvSpPr>
          <p:nvPr>
            <p:ph type="sldNum" sz="quarter" idx="12"/>
          </p:nvPr>
        </p:nvSpPr>
        <p:spPr/>
        <p:txBody>
          <a:bodyPr/>
          <a:lstStyle/>
          <a:p>
            <a:fld id="{0990E8AC-16D3-4011-90D3-242594DEF9F3}" type="slidenum">
              <a:rPr lang="en-NZ" smtClean="0"/>
              <a:t>‹#›</a:t>
            </a:fld>
            <a:endParaRPr lang="en-NZ"/>
          </a:p>
        </p:txBody>
      </p:sp>
    </p:spTree>
    <p:extLst>
      <p:ext uri="{BB962C8B-B14F-4D97-AF65-F5344CB8AC3E}">
        <p14:creationId xmlns:p14="http://schemas.microsoft.com/office/powerpoint/2010/main" val="10884196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D98C6-E250-40D0-AD04-BAA3D6A7A7FF}"/>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19D6EC27-DC9D-46FF-8E55-8E3938EACDB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3F3C87D9-B910-4ABE-AEE3-BF4CFEFF31B7}"/>
              </a:ext>
            </a:extLst>
          </p:cNvPr>
          <p:cNvSpPr>
            <a:spLocks noGrp="1"/>
          </p:cNvSpPr>
          <p:nvPr>
            <p:ph type="dt" sz="half" idx="10"/>
          </p:nvPr>
        </p:nvSpPr>
        <p:spPr/>
        <p:txBody>
          <a:bodyPr/>
          <a:lstStyle/>
          <a:p>
            <a:fld id="{DDF5EE3D-EE70-4947-9AE6-E367CCCDDB4D}" type="datetimeFigureOut">
              <a:rPr lang="en-NZ" smtClean="0"/>
              <a:t>21/03/2022</a:t>
            </a:fld>
            <a:endParaRPr lang="en-NZ"/>
          </a:p>
        </p:txBody>
      </p:sp>
      <p:sp>
        <p:nvSpPr>
          <p:cNvPr id="5" name="Footer Placeholder 4">
            <a:extLst>
              <a:ext uri="{FF2B5EF4-FFF2-40B4-BE49-F238E27FC236}">
                <a16:creationId xmlns:a16="http://schemas.microsoft.com/office/drawing/2014/main" id="{E9B50277-4C6B-4F0F-AFB9-8A1E6F118CD8}"/>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F955EB41-061C-455D-96D6-63274440408F}"/>
              </a:ext>
            </a:extLst>
          </p:cNvPr>
          <p:cNvSpPr>
            <a:spLocks noGrp="1"/>
          </p:cNvSpPr>
          <p:nvPr>
            <p:ph type="sldNum" sz="quarter" idx="12"/>
          </p:nvPr>
        </p:nvSpPr>
        <p:spPr/>
        <p:txBody>
          <a:bodyPr/>
          <a:lstStyle/>
          <a:p>
            <a:fld id="{0990E8AC-16D3-4011-90D3-242594DEF9F3}" type="slidenum">
              <a:rPr lang="en-NZ" smtClean="0"/>
              <a:t>‹#›</a:t>
            </a:fld>
            <a:endParaRPr lang="en-NZ"/>
          </a:p>
        </p:txBody>
      </p:sp>
    </p:spTree>
    <p:extLst>
      <p:ext uri="{BB962C8B-B14F-4D97-AF65-F5344CB8AC3E}">
        <p14:creationId xmlns:p14="http://schemas.microsoft.com/office/powerpoint/2010/main" val="34344581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62A3F-8356-4DE7-A05A-7E0534C84E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Z"/>
          </a:p>
        </p:txBody>
      </p:sp>
      <p:sp>
        <p:nvSpPr>
          <p:cNvPr id="3" name="Text Placeholder 2">
            <a:extLst>
              <a:ext uri="{FF2B5EF4-FFF2-40B4-BE49-F238E27FC236}">
                <a16:creationId xmlns:a16="http://schemas.microsoft.com/office/drawing/2014/main" id="{9389BF7A-964E-4FEF-8B7A-E1FEE68B0E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9D45354-009B-44A8-9BF7-0FFA1E38624F}"/>
              </a:ext>
            </a:extLst>
          </p:cNvPr>
          <p:cNvSpPr>
            <a:spLocks noGrp="1"/>
          </p:cNvSpPr>
          <p:nvPr>
            <p:ph type="dt" sz="half" idx="10"/>
          </p:nvPr>
        </p:nvSpPr>
        <p:spPr/>
        <p:txBody>
          <a:bodyPr/>
          <a:lstStyle/>
          <a:p>
            <a:fld id="{DDF5EE3D-EE70-4947-9AE6-E367CCCDDB4D}" type="datetimeFigureOut">
              <a:rPr lang="en-NZ" smtClean="0"/>
              <a:t>21/03/2022</a:t>
            </a:fld>
            <a:endParaRPr lang="en-NZ"/>
          </a:p>
        </p:txBody>
      </p:sp>
      <p:sp>
        <p:nvSpPr>
          <p:cNvPr id="5" name="Footer Placeholder 4">
            <a:extLst>
              <a:ext uri="{FF2B5EF4-FFF2-40B4-BE49-F238E27FC236}">
                <a16:creationId xmlns:a16="http://schemas.microsoft.com/office/drawing/2014/main" id="{4FCB408C-D7EC-4105-99DA-6F3B5BEB0A55}"/>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D22BA849-C6F8-45F9-9866-DA1E795C35BA}"/>
              </a:ext>
            </a:extLst>
          </p:cNvPr>
          <p:cNvSpPr>
            <a:spLocks noGrp="1"/>
          </p:cNvSpPr>
          <p:nvPr>
            <p:ph type="sldNum" sz="quarter" idx="12"/>
          </p:nvPr>
        </p:nvSpPr>
        <p:spPr/>
        <p:txBody>
          <a:bodyPr/>
          <a:lstStyle/>
          <a:p>
            <a:fld id="{0990E8AC-16D3-4011-90D3-242594DEF9F3}" type="slidenum">
              <a:rPr lang="en-NZ" smtClean="0"/>
              <a:t>‹#›</a:t>
            </a:fld>
            <a:endParaRPr lang="en-NZ"/>
          </a:p>
        </p:txBody>
      </p:sp>
    </p:spTree>
    <p:extLst>
      <p:ext uri="{BB962C8B-B14F-4D97-AF65-F5344CB8AC3E}">
        <p14:creationId xmlns:p14="http://schemas.microsoft.com/office/powerpoint/2010/main" val="26563655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6BF96-450D-45C6-8FC6-C0AA3E44C3FA}"/>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36B42965-A007-4E96-877C-82F019D77E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a:extLst>
              <a:ext uri="{FF2B5EF4-FFF2-40B4-BE49-F238E27FC236}">
                <a16:creationId xmlns:a16="http://schemas.microsoft.com/office/drawing/2014/main" id="{0E32EBE7-C0E8-46E5-9CB9-7F6DF18FFBE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a:extLst>
              <a:ext uri="{FF2B5EF4-FFF2-40B4-BE49-F238E27FC236}">
                <a16:creationId xmlns:a16="http://schemas.microsoft.com/office/drawing/2014/main" id="{48F1A0D9-94FC-4923-B9C5-05E37553C766}"/>
              </a:ext>
            </a:extLst>
          </p:cNvPr>
          <p:cNvSpPr>
            <a:spLocks noGrp="1"/>
          </p:cNvSpPr>
          <p:nvPr>
            <p:ph type="dt" sz="half" idx="10"/>
          </p:nvPr>
        </p:nvSpPr>
        <p:spPr/>
        <p:txBody>
          <a:bodyPr/>
          <a:lstStyle/>
          <a:p>
            <a:fld id="{DDF5EE3D-EE70-4947-9AE6-E367CCCDDB4D}" type="datetimeFigureOut">
              <a:rPr lang="en-NZ" smtClean="0"/>
              <a:t>21/03/2022</a:t>
            </a:fld>
            <a:endParaRPr lang="en-NZ"/>
          </a:p>
        </p:txBody>
      </p:sp>
      <p:sp>
        <p:nvSpPr>
          <p:cNvPr id="6" name="Footer Placeholder 5">
            <a:extLst>
              <a:ext uri="{FF2B5EF4-FFF2-40B4-BE49-F238E27FC236}">
                <a16:creationId xmlns:a16="http://schemas.microsoft.com/office/drawing/2014/main" id="{0A820D81-E1C5-43CA-9E7B-3EFF2C1BFB96}"/>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56A6197F-0774-48DE-A5C5-15C14FE3C86B}"/>
              </a:ext>
            </a:extLst>
          </p:cNvPr>
          <p:cNvSpPr>
            <a:spLocks noGrp="1"/>
          </p:cNvSpPr>
          <p:nvPr>
            <p:ph type="sldNum" sz="quarter" idx="12"/>
          </p:nvPr>
        </p:nvSpPr>
        <p:spPr/>
        <p:txBody>
          <a:bodyPr/>
          <a:lstStyle/>
          <a:p>
            <a:fld id="{0990E8AC-16D3-4011-90D3-242594DEF9F3}" type="slidenum">
              <a:rPr lang="en-NZ" smtClean="0"/>
              <a:t>‹#›</a:t>
            </a:fld>
            <a:endParaRPr lang="en-NZ"/>
          </a:p>
        </p:txBody>
      </p:sp>
    </p:spTree>
    <p:extLst>
      <p:ext uri="{BB962C8B-B14F-4D97-AF65-F5344CB8AC3E}">
        <p14:creationId xmlns:p14="http://schemas.microsoft.com/office/powerpoint/2010/main" val="10741425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28258-7A30-43E7-8E39-6CF9B3DF2A78}"/>
              </a:ext>
            </a:extLst>
          </p:cNvPr>
          <p:cNvSpPr>
            <a:spLocks noGrp="1"/>
          </p:cNvSpPr>
          <p:nvPr>
            <p:ph type="title"/>
          </p:nvPr>
        </p:nvSpPr>
        <p:spPr>
          <a:xfrm>
            <a:off x="839788" y="365125"/>
            <a:ext cx="10515600" cy="1325563"/>
          </a:xfrm>
        </p:spPr>
        <p:txBody>
          <a:bodyPr/>
          <a:lstStyle/>
          <a:p>
            <a:r>
              <a:rPr lang="en-US"/>
              <a:t>Click to edit Master title style</a:t>
            </a:r>
            <a:endParaRPr lang="en-NZ"/>
          </a:p>
        </p:txBody>
      </p:sp>
      <p:sp>
        <p:nvSpPr>
          <p:cNvPr id="3" name="Text Placeholder 2">
            <a:extLst>
              <a:ext uri="{FF2B5EF4-FFF2-40B4-BE49-F238E27FC236}">
                <a16:creationId xmlns:a16="http://schemas.microsoft.com/office/drawing/2014/main" id="{2ACD8CC6-0445-4325-A5F8-CB42852C6F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9CD0ECA-5155-4653-A349-6FF6C31D2E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Text Placeholder 4">
            <a:extLst>
              <a:ext uri="{FF2B5EF4-FFF2-40B4-BE49-F238E27FC236}">
                <a16:creationId xmlns:a16="http://schemas.microsoft.com/office/drawing/2014/main" id="{60327D5B-4B77-46B4-B648-DEE87CE23DB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48FC714-DD1D-4BAA-A5B3-C8B48AFA3BA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7" name="Date Placeholder 6">
            <a:extLst>
              <a:ext uri="{FF2B5EF4-FFF2-40B4-BE49-F238E27FC236}">
                <a16:creationId xmlns:a16="http://schemas.microsoft.com/office/drawing/2014/main" id="{888F557B-A1F1-4969-A4DC-1AE9FFFE7E03}"/>
              </a:ext>
            </a:extLst>
          </p:cNvPr>
          <p:cNvSpPr>
            <a:spLocks noGrp="1"/>
          </p:cNvSpPr>
          <p:nvPr>
            <p:ph type="dt" sz="half" idx="10"/>
          </p:nvPr>
        </p:nvSpPr>
        <p:spPr/>
        <p:txBody>
          <a:bodyPr/>
          <a:lstStyle/>
          <a:p>
            <a:fld id="{DDF5EE3D-EE70-4947-9AE6-E367CCCDDB4D}" type="datetimeFigureOut">
              <a:rPr lang="en-NZ" smtClean="0"/>
              <a:t>21/03/2022</a:t>
            </a:fld>
            <a:endParaRPr lang="en-NZ"/>
          </a:p>
        </p:txBody>
      </p:sp>
      <p:sp>
        <p:nvSpPr>
          <p:cNvPr id="8" name="Footer Placeholder 7">
            <a:extLst>
              <a:ext uri="{FF2B5EF4-FFF2-40B4-BE49-F238E27FC236}">
                <a16:creationId xmlns:a16="http://schemas.microsoft.com/office/drawing/2014/main" id="{7B8B7FE7-678B-4254-8937-39C1E2164BA7}"/>
              </a:ext>
            </a:extLst>
          </p:cNvPr>
          <p:cNvSpPr>
            <a:spLocks noGrp="1"/>
          </p:cNvSpPr>
          <p:nvPr>
            <p:ph type="ftr" sz="quarter" idx="11"/>
          </p:nvPr>
        </p:nvSpPr>
        <p:spPr/>
        <p:txBody>
          <a:bodyPr/>
          <a:lstStyle/>
          <a:p>
            <a:endParaRPr lang="en-NZ"/>
          </a:p>
        </p:txBody>
      </p:sp>
      <p:sp>
        <p:nvSpPr>
          <p:cNvPr id="9" name="Slide Number Placeholder 8">
            <a:extLst>
              <a:ext uri="{FF2B5EF4-FFF2-40B4-BE49-F238E27FC236}">
                <a16:creationId xmlns:a16="http://schemas.microsoft.com/office/drawing/2014/main" id="{846F262E-9C1A-476B-8F8C-653C5A00EA70}"/>
              </a:ext>
            </a:extLst>
          </p:cNvPr>
          <p:cNvSpPr>
            <a:spLocks noGrp="1"/>
          </p:cNvSpPr>
          <p:nvPr>
            <p:ph type="sldNum" sz="quarter" idx="12"/>
          </p:nvPr>
        </p:nvSpPr>
        <p:spPr/>
        <p:txBody>
          <a:bodyPr/>
          <a:lstStyle/>
          <a:p>
            <a:fld id="{0990E8AC-16D3-4011-90D3-242594DEF9F3}" type="slidenum">
              <a:rPr lang="en-NZ" smtClean="0"/>
              <a:t>‹#›</a:t>
            </a:fld>
            <a:endParaRPr lang="en-NZ"/>
          </a:p>
        </p:txBody>
      </p:sp>
    </p:spTree>
    <p:extLst>
      <p:ext uri="{BB962C8B-B14F-4D97-AF65-F5344CB8AC3E}">
        <p14:creationId xmlns:p14="http://schemas.microsoft.com/office/powerpoint/2010/main" val="3472177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931D0-F4BB-4A4F-8115-20FC75D8F481}"/>
              </a:ext>
            </a:extLst>
          </p:cNvPr>
          <p:cNvSpPr>
            <a:spLocks noGrp="1"/>
          </p:cNvSpPr>
          <p:nvPr>
            <p:ph type="title"/>
          </p:nvPr>
        </p:nvSpPr>
        <p:spPr/>
        <p:txBody>
          <a:bodyPr/>
          <a:lstStyle/>
          <a:p>
            <a:r>
              <a:rPr lang="en-US"/>
              <a:t>Click to edit Master title style</a:t>
            </a:r>
            <a:endParaRPr lang="en-NZ"/>
          </a:p>
        </p:txBody>
      </p:sp>
      <p:sp>
        <p:nvSpPr>
          <p:cNvPr id="3" name="Date Placeholder 2">
            <a:extLst>
              <a:ext uri="{FF2B5EF4-FFF2-40B4-BE49-F238E27FC236}">
                <a16:creationId xmlns:a16="http://schemas.microsoft.com/office/drawing/2014/main" id="{DEDC3CE9-6338-45F8-8A5F-D8833B7E20F2}"/>
              </a:ext>
            </a:extLst>
          </p:cNvPr>
          <p:cNvSpPr>
            <a:spLocks noGrp="1"/>
          </p:cNvSpPr>
          <p:nvPr>
            <p:ph type="dt" sz="half" idx="10"/>
          </p:nvPr>
        </p:nvSpPr>
        <p:spPr/>
        <p:txBody>
          <a:bodyPr/>
          <a:lstStyle/>
          <a:p>
            <a:fld id="{DDF5EE3D-EE70-4947-9AE6-E367CCCDDB4D}" type="datetimeFigureOut">
              <a:rPr lang="en-NZ" smtClean="0"/>
              <a:t>21/03/2022</a:t>
            </a:fld>
            <a:endParaRPr lang="en-NZ"/>
          </a:p>
        </p:txBody>
      </p:sp>
      <p:sp>
        <p:nvSpPr>
          <p:cNvPr id="4" name="Footer Placeholder 3">
            <a:extLst>
              <a:ext uri="{FF2B5EF4-FFF2-40B4-BE49-F238E27FC236}">
                <a16:creationId xmlns:a16="http://schemas.microsoft.com/office/drawing/2014/main" id="{50D701AF-320D-4DBF-9314-749C68BF9B1F}"/>
              </a:ext>
            </a:extLst>
          </p:cNvPr>
          <p:cNvSpPr>
            <a:spLocks noGrp="1"/>
          </p:cNvSpPr>
          <p:nvPr>
            <p:ph type="ftr" sz="quarter" idx="11"/>
          </p:nvPr>
        </p:nvSpPr>
        <p:spPr/>
        <p:txBody>
          <a:bodyPr/>
          <a:lstStyle/>
          <a:p>
            <a:endParaRPr lang="en-NZ"/>
          </a:p>
        </p:txBody>
      </p:sp>
      <p:sp>
        <p:nvSpPr>
          <p:cNvPr id="5" name="Slide Number Placeholder 4">
            <a:extLst>
              <a:ext uri="{FF2B5EF4-FFF2-40B4-BE49-F238E27FC236}">
                <a16:creationId xmlns:a16="http://schemas.microsoft.com/office/drawing/2014/main" id="{FCF80A04-8C3F-4125-9ECD-FB4A850868E7}"/>
              </a:ext>
            </a:extLst>
          </p:cNvPr>
          <p:cNvSpPr>
            <a:spLocks noGrp="1"/>
          </p:cNvSpPr>
          <p:nvPr>
            <p:ph type="sldNum" sz="quarter" idx="12"/>
          </p:nvPr>
        </p:nvSpPr>
        <p:spPr/>
        <p:txBody>
          <a:bodyPr/>
          <a:lstStyle/>
          <a:p>
            <a:fld id="{0990E8AC-16D3-4011-90D3-242594DEF9F3}" type="slidenum">
              <a:rPr lang="en-NZ" smtClean="0"/>
              <a:t>‹#›</a:t>
            </a:fld>
            <a:endParaRPr lang="en-NZ"/>
          </a:p>
        </p:txBody>
      </p:sp>
    </p:spTree>
    <p:extLst>
      <p:ext uri="{BB962C8B-B14F-4D97-AF65-F5344CB8AC3E}">
        <p14:creationId xmlns:p14="http://schemas.microsoft.com/office/powerpoint/2010/main" val="35763799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8A05CA-B9F5-433F-ACD8-6588ED635C3E}"/>
              </a:ext>
            </a:extLst>
          </p:cNvPr>
          <p:cNvSpPr>
            <a:spLocks noGrp="1"/>
          </p:cNvSpPr>
          <p:nvPr>
            <p:ph type="dt" sz="half" idx="10"/>
          </p:nvPr>
        </p:nvSpPr>
        <p:spPr/>
        <p:txBody>
          <a:bodyPr/>
          <a:lstStyle/>
          <a:p>
            <a:fld id="{DDF5EE3D-EE70-4947-9AE6-E367CCCDDB4D}" type="datetimeFigureOut">
              <a:rPr lang="en-NZ" smtClean="0"/>
              <a:t>21/03/2022</a:t>
            </a:fld>
            <a:endParaRPr lang="en-NZ"/>
          </a:p>
        </p:txBody>
      </p:sp>
      <p:sp>
        <p:nvSpPr>
          <p:cNvPr id="3" name="Footer Placeholder 2">
            <a:extLst>
              <a:ext uri="{FF2B5EF4-FFF2-40B4-BE49-F238E27FC236}">
                <a16:creationId xmlns:a16="http://schemas.microsoft.com/office/drawing/2014/main" id="{EB457E11-2F35-41DB-9469-62A3D253410E}"/>
              </a:ext>
            </a:extLst>
          </p:cNvPr>
          <p:cNvSpPr>
            <a:spLocks noGrp="1"/>
          </p:cNvSpPr>
          <p:nvPr>
            <p:ph type="ftr" sz="quarter" idx="11"/>
          </p:nvPr>
        </p:nvSpPr>
        <p:spPr/>
        <p:txBody>
          <a:bodyPr/>
          <a:lstStyle/>
          <a:p>
            <a:endParaRPr lang="en-NZ"/>
          </a:p>
        </p:txBody>
      </p:sp>
      <p:sp>
        <p:nvSpPr>
          <p:cNvPr id="4" name="Slide Number Placeholder 3">
            <a:extLst>
              <a:ext uri="{FF2B5EF4-FFF2-40B4-BE49-F238E27FC236}">
                <a16:creationId xmlns:a16="http://schemas.microsoft.com/office/drawing/2014/main" id="{286CEC29-6586-4D7A-B96F-6787D65A841C}"/>
              </a:ext>
            </a:extLst>
          </p:cNvPr>
          <p:cNvSpPr>
            <a:spLocks noGrp="1"/>
          </p:cNvSpPr>
          <p:nvPr>
            <p:ph type="sldNum" sz="quarter" idx="12"/>
          </p:nvPr>
        </p:nvSpPr>
        <p:spPr/>
        <p:txBody>
          <a:bodyPr/>
          <a:lstStyle/>
          <a:p>
            <a:fld id="{0990E8AC-16D3-4011-90D3-242594DEF9F3}" type="slidenum">
              <a:rPr lang="en-NZ" smtClean="0"/>
              <a:t>‹#›</a:t>
            </a:fld>
            <a:endParaRPr lang="en-NZ"/>
          </a:p>
        </p:txBody>
      </p:sp>
    </p:spTree>
    <p:extLst>
      <p:ext uri="{BB962C8B-B14F-4D97-AF65-F5344CB8AC3E}">
        <p14:creationId xmlns:p14="http://schemas.microsoft.com/office/powerpoint/2010/main" val="2161198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B493E-D5DC-46F1-941C-99576548F3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Content Placeholder 2">
            <a:extLst>
              <a:ext uri="{FF2B5EF4-FFF2-40B4-BE49-F238E27FC236}">
                <a16:creationId xmlns:a16="http://schemas.microsoft.com/office/drawing/2014/main" id="{7C06EBD2-5878-4F24-934B-2518EE5DAB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Text Placeholder 3">
            <a:extLst>
              <a:ext uri="{FF2B5EF4-FFF2-40B4-BE49-F238E27FC236}">
                <a16:creationId xmlns:a16="http://schemas.microsoft.com/office/drawing/2014/main" id="{A9ED0EF5-5667-4317-9A55-61B145828A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914127-5572-4321-AF56-93AD4F758A81}"/>
              </a:ext>
            </a:extLst>
          </p:cNvPr>
          <p:cNvSpPr>
            <a:spLocks noGrp="1"/>
          </p:cNvSpPr>
          <p:nvPr>
            <p:ph type="dt" sz="half" idx="10"/>
          </p:nvPr>
        </p:nvSpPr>
        <p:spPr/>
        <p:txBody>
          <a:bodyPr/>
          <a:lstStyle/>
          <a:p>
            <a:fld id="{DDF5EE3D-EE70-4947-9AE6-E367CCCDDB4D}" type="datetimeFigureOut">
              <a:rPr lang="en-NZ" smtClean="0"/>
              <a:t>21/03/2022</a:t>
            </a:fld>
            <a:endParaRPr lang="en-NZ"/>
          </a:p>
        </p:txBody>
      </p:sp>
      <p:sp>
        <p:nvSpPr>
          <p:cNvPr id="6" name="Footer Placeholder 5">
            <a:extLst>
              <a:ext uri="{FF2B5EF4-FFF2-40B4-BE49-F238E27FC236}">
                <a16:creationId xmlns:a16="http://schemas.microsoft.com/office/drawing/2014/main" id="{01671FEE-E8FC-4A0B-A960-99B735A18CD6}"/>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58C9C20B-1028-49EF-A7D5-A1F8D53783D1}"/>
              </a:ext>
            </a:extLst>
          </p:cNvPr>
          <p:cNvSpPr>
            <a:spLocks noGrp="1"/>
          </p:cNvSpPr>
          <p:nvPr>
            <p:ph type="sldNum" sz="quarter" idx="12"/>
          </p:nvPr>
        </p:nvSpPr>
        <p:spPr/>
        <p:txBody>
          <a:bodyPr/>
          <a:lstStyle/>
          <a:p>
            <a:fld id="{0990E8AC-16D3-4011-90D3-242594DEF9F3}" type="slidenum">
              <a:rPr lang="en-NZ" smtClean="0"/>
              <a:t>‹#›</a:t>
            </a:fld>
            <a:endParaRPr lang="en-NZ"/>
          </a:p>
        </p:txBody>
      </p:sp>
    </p:spTree>
    <p:extLst>
      <p:ext uri="{BB962C8B-B14F-4D97-AF65-F5344CB8AC3E}">
        <p14:creationId xmlns:p14="http://schemas.microsoft.com/office/powerpoint/2010/main" val="42269458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AD880-1B03-4CAD-BBDE-0BD75F17C0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Picture Placeholder 2">
            <a:extLst>
              <a:ext uri="{FF2B5EF4-FFF2-40B4-BE49-F238E27FC236}">
                <a16:creationId xmlns:a16="http://schemas.microsoft.com/office/drawing/2014/main" id="{1BF11C45-C086-4550-A45A-95DE5DC628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id="{BDA54C1B-068F-4871-81AE-416C713264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A5C6FA-52FD-4545-A7D2-3C52E918BB0A}"/>
              </a:ext>
            </a:extLst>
          </p:cNvPr>
          <p:cNvSpPr>
            <a:spLocks noGrp="1"/>
          </p:cNvSpPr>
          <p:nvPr>
            <p:ph type="dt" sz="half" idx="10"/>
          </p:nvPr>
        </p:nvSpPr>
        <p:spPr/>
        <p:txBody>
          <a:bodyPr/>
          <a:lstStyle/>
          <a:p>
            <a:fld id="{DDF5EE3D-EE70-4947-9AE6-E367CCCDDB4D}" type="datetimeFigureOut">
              <a:rPr lang="en-NZ" smtClean="0"/>
              <a:t>21/03/2022</a:t>
            </a:fld>
            <a:endParaRPr lang="en-NZ"/>
          </a:p>
        </p:txBody>
      </p:sp>
      <p:sp>
        <p:nvSpPr>
          <p:cNvPr id="6" name="Footer Placeholder 5">
            <a:extLst>
              <a:ext uri="{FF2B5EF4-FFF2-40B4-BE49-F238E27FC236}">
                <a16:creationId xmlns:a16="http://schemas.microsoft.com/office/drawing/2014/main" id="{56FD7FC4-6D11-4DC2-9B7D-B6884A2FAE80}"/>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7DB65E9D-2C4A-4F9C-975D-3D9B429B3B00}"/>
              </a:ext>
            </a:extLst>
          </p:cNvPr>
          <p:cNvSpPr>
            <a:spLocks noGrp="1"/>
          </p:cNvSpPr>
          <p:nvPr>
            <p:ph type="sldNum" sz="quarter" idx="12"/>
          </p:nvPr>
        </p:nvSpPr>
        <p:spPr/>
        <p:txBody>
          <a:bodyPr/>
          <a:lstStyle/>
          <a:p>
            <a:fld id="{0990E8AC-16D3-4011-90D3-242594DEF9F3}" type="slidenum">
              <a:rPr lang="en-NZ" smtClean="0"/>
              <a:t>‹#›</a:t>
            </a:fld>
            <a:endParaRPr lang="en-NZ"/>
          </a:p>
        </p:txBody>
      </p:sp>
    </p:spTree>
    <p:extLst>
      <p:ext uri="{BB962C8B-B14F-4D97-AF65-F5344CB8AC3E}">
        <p14:creationId xmlns:p14="http://schemas.microsoft.com/office/powerpoint/2010/main" val="31043696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4235E-E3BF-4349-9231-E288B688B830}"/>
              </a:ext>
            </a:extLst>
          </p:cNvPr>
          <p:cNvSpPr>
            <a:spLocks noGrp="1"/>
          </p:cNvSpPr>
          <p:nvPr>
            <p:ph type="title"/>
          </p:nvPr>
        </p:nvSpPr>
        <p:spPr/>
        <p:txBody>
          <a:bodyPr/>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B8790CF5-1560-41E1-BFCC-3944D628A9B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A7BC4589-7397-44B0-BE29-A1F2BD2C42F4}"/>
              </a:ext>
            </a:extLst>
          </p:cNvPr>
          <p:cNvSpPr>
            <a:spLocks noGrp="1"/>
          </p:cNvSpPr>
          <p:nvPr>
            <p:ph type="dt" sz="half" idx="10"/>
          </p:nvPr>
        </p:nvSpPr>
        <p:spPr/>
        <p:txBody>
          <a:bodyPr/>
          <a:lstStyle/>
          <a:p>
            <a:fld id="{DDF5EE3D-EE70-4947-9AE6-E367CCCDDB4D}" type="datetimeFigureOut">
              <a:rPr lang="en-NZ" smtClean="0"/>
              <a:t>21/03/2022</a:t>
            </a:fld>
            <a:endParaRPr lang="en-NZ"/>
          </a:p>
        </p:txBody>
      </p:sp>
      <p:sp>
        <p:nvSpPr>
          <p:cNvPr id="5" name="Footer Placeholder 4">
            <a:extLst>
              <a:ext uri="{FF2B5EF4-FFF2-40B4-BE49-F238E27FC236}">
                <a16:creationId xmlns:a16="http://schemas.microsoft.com/office/drawing/2014/main" id="{3BEEA409-CADF-4E45-8390-A63F3531C842}"/>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3646C469-A3A5-4CA2-9DC3-4B363D618D72}"/>
              </a:ext>
            </a:extLst>
          </p:cNvPr>
          <p:cNvSpPr>
            <a:spLocks noGrp="1"/>
          </p:cNvSpPr>
          <p:nvPr>
            <p:ph type="sldNum" sz="quarter" idx="12"/>
          </p:nvPr>
        </p:nvSpPr>
        <p:spPr/>
        <p:txBody>
          <a:bodyPr/>
          <a:lstStyle/>
          <a:p>
            <a:fld id="{0990E8AC-16D3-4011-90D3-242594DEF9F3}" type="slidenum">
              <a:rPr lang="en-NZ" smtClean="0"/>
              <a:t>‹#›</a:t>
            </a:fld>
            <a:endParaRPr lang="en-NZ"/>
          </a:p>
        </p:txBody>
      </p:sp>
    </p:spTree>
    <p:extLst>
      <p:ext uri="{BB962C8B-B14F-4D97-AF65-F5344CB8AC3E}">
        <p14:creationId xmlns:p14="http://schemas.microsoft.com/office/powerpoint/2010/main" val="3210453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D8829C8-CE62-4B0A-9908-0FC42BFBA2E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5D99BDAB-E68E-4DB6-B7C5-EE9750902B8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E040D1C4-7B33-4BA2-900E-184BB8ED9A51}"/>
              </a:ext>
            </a:extLst>
          </p:cNvPr>
          <p:cNvSpPr>
            <a:spLocks noGrp="1"/>
          </p:cNvSpPr>
          <p:nvPr>
            <p:ph type="dt" sz="half" idx="10"/>
          </p:nvPr>
        </p:nvSpPr>
        <p:spPr/>
        <p:txBody>
          <a:bodyPr/>
          <a:lstStyle/>
          <a:p>
            <a:fld id="{DDF5EE3D-EE70-4947-9AE6-E367CCCDDB4D}" type="datetimeFigureOut">
              <a:rPr lang="en-NZ" smtClean="0"/>
              <a:t>21/03/2022</a:t>
            </a:fld>
            <a:endParaRPr lang="en-NZ"/>
          </a:p>
        </p:txBody>
      </p:sp>
      <p:sp>
        <p:nvSpPr>
          <p:cNvPr id="5" name="Footer Placeholder 4">
            <a:extLst>
              <a:ext uri="{FF2B5EF4-FFF2-40B4-BE49-F238E27FC236}">
                <a16:creationId xmlns:a16="http://schemas.microsoft.com/office/drawing/2014/main" id="{D9B7AA41-EFC2-47F0-A353-4A6FB00ACBD6}"/>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43034271-6329-4405-865F-C84C12E59613}"/>
              </a:ext>
            </a:extLst>
          </p:cNvPr>
          <p:cNvSpPr>
            <a:spLocks noGrp="1"/>
          </p:cNvSpPr>
          <p:nvPr>
            <p:ph type="sldNum" sz="quarter" idx="12"/>
          </p:nvPr>
        </p:nvSpPr>
        <p:spPr/>
        <p:txBody>
          <a:bodyPr/>
          <a:lstStyle/>
          <a:p>
            <a:fld id="{0990E8AC-16D3-4011-90D3-242594DEF9F3}" type="slidenum">
              <a:rPr lang="en-NZ" smtClean="0"/>
              <a:t>‹#›</a:t>
            </a:fld>
            <a:endParaRPr lang="en-NZ"/>
          </a:p>
        </p:txBody>
      </p:sp>
    </p:spTree>
    <p:extLst>
      <p:ext uri="{BB962C8B-B14F-4D97-AF65-F5344CB8AC3E}">
        <p14:creationId xmlns:p14="http://schemas.microsoft.com/office/powerpoint/2010/main" val="1140775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59E24D-A6A4-42EF-86B2-891910E29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Z"/>
          </a:p>
        </p:txBody>
      </p:sp>
      <p:sp>
        <p:nvSpPr>
          <p:cNvPr id="3" name="Text Placeholder 2">
            <a:extLst>
              <a:ext uri="{FF2B5EF4-FFF2-40B4-BE49-F238E27FC236}">
                <a16:creationId xmlns:a16="http://schemas.microsoft.com/office/drawing/2014/main" id="{E5A744D1-B22D-4842-983C-D0E483258A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7AF83D67-1AFB-4C2B-9187-1F7DE3E85A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F5EE3D-EE70-4947-9AE6-E367CCCDDB4D}" type="datetimeFigureOut">
              <a:rPr lang="en-NZ" smtClean="0"/>
              <a:t>21/03/2022</a:t>
            </a:fld>
            <a:endParaRPr lang="en-NZ"/>
          </a:p>
        </p:txBody>
      </p:sp>
      <p:sp>
        <p:nvSpPr>
          <p:cNvPr id="5" name="Footer Placeholder 4">
            <a:extLst>
              <a:ext uri="{FF2B5EF4-FFF2-40B4-BE49-F238E27FC236}">
                <a16:creationId xmlns:a16="http://schemas.microsoft.com/office/drawing/2014/main" id="{209F75F9-9163-4645-B084-1A45D5533E7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Z"/>
          </a:p>
        </p:txBody>
      </p:sp>
      <p:sp>
        <p:nvSpPr>
          <p:cNvPr id="6" name="Slide Number Placeholder 5">
            <a:extLst>
              <a:ext uri="{FF2B5EF4-FFF2-40B4-BE49-F238E27FC236}">
                <a16:creationId xmlns:a16="http://schemas.microsoft.com/office/drawing/2014/main" id="{1A91A2EE-1ABF-4B33-8275-C68A5F610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90E8AC-16D3-4011-90D3-242594DEF9F3}" type="slidenum">
              <a:rPr lang="en-NZ" smtClean="0"/>
              <a:t>‹#›</a:t>
            </a:fld>
            <a:endParaRPr lang="en-NZ"/>
          </a:p>
        </p:txBody>
      </p:sp>
    </p:spTree>
    <p:extLst>
      <p:ext uri="{BB962C8B-B14F-4D97-AF65-F5344CB8AC3E}">
        <p14:creationId xmlns:p14="http://schemas.microsoft.com/office/powerpoint/2010/main" val="27429064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00193-4D7A-4C1A-B440-777C90A75C2F}"/>
              </a:ext>
            </a:extLst>
          </p:cNvPr>
          <p:cNvSpPr>
            <a:spLocks noGrp="1"/>
          </p:cNvSpPr>
          <p:nvPr>
            <p:ph type="ctrTitle"/>
          </p:nvPr>
        </p:nvSpPr>
        <p:spPr/>
        <p:txBody>
          <a:bodyPr>
            <a:normAutofit fontScale="90000"/>
          </a:bodyPr>
          <a:lstStyle/>
          <a:p>
            <a:r>
              <a:rPr lang="en-AU" dirty="0"/>
              <a:t>Crop Science </a:t>
            </a:r>
            <a:br>
              <a:rPr lang="en-AU" dirty="0"/>
            </a:br>
            <a:r>
              <a:rPr lang="en-AU" dirty="0"/>
              <a:t>Lecture 2</a:t>
            </a:r>
            <a:br>
              <a:rPr lang="en-AU" dirty="0"/>
            </a:br>
            <a:r>
              <a:rPr lang="en-AU" dirty="0"/>
              <a:t>24</a:t>
            </a:r>
            <a:r>
              <a:rPr lang="en-AU" baseline="30000" dirty="0"/>
              <a:t>th</a:t>
            </a:r>
            <a:r>
              <a:rPr lang="en-AU" dirty="0"/>
              <a:t> August 2021</a:t>
            </a:r>
            <a:endParaRPr lang="en-NZ" dirty="0"/>
          </a:p>
        </p:txBody>
      </p:sp>
      <p:sp>
        <p:nvSpPr>
          <p:cNvPr id="3" name="Subtitle 2">
            <a:extLst>
              <a:ext uri="{FF2B5EF4-FFF2-40B4-BE49-F238E27FC236}">
                <a16:creationId xmlns:a16="http://schemas.microsoft.com/office/drawing/2014/main" id="{E7CA03E6-C94C-4364-BFFF-3D7E12CEE59A}"/>
              </a:ext>
            </a:extLst>
          </p:cNvPr>
          <p:cNvSpPr>
            <a:spLocks noGrp="1"/>
          </p:cNvSpPr>
          <p:nvPr>
            <p:ph type="subTitle" idx="1"/>
          </p:nvPr>
        </p:nvSpPr>
        <p:spPr/>
        <p:txBody>
          <a:bodyPr/>
          <a:lstStyle/>
          <a:p>
            <a:endParaRPr lang="en-NZ"/>
          </a:p>
        </p:txBody>
      </p:sp>
    </p:spTree>
    <p:extLst>
      <p:ext uri="{BB962C8B-B14F-4D97-AF65-F5344CB8AC3E}">
        <p14:creationId xmlns:p14="http://schemas.microsoft.com/office/powerpoint/2010/main" val="2624240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B4C24-A7A3-404C-BEFC-B2B6036AE430}"/>
              </a:ext>
            </a:extLst>
          </p:cNvPr>
          <p:cNvSpPr>
            <a:spLocks noGrp="1"/>
          </p:cNvSpPr>
          <p:nvPr>
            <p:ph type="title"/>
          </p:nvPr>
        </p:nvSpPr>
        <p:spPr/>
        <p:txBody>
          <a:bodyPr/>
          <a:lstStyle/>
          <a:p>
            <a:r>
              <a:rPr lang="en-AU" dirty="0"/>
              <a:t>Crop yield potential</a:t>
            </a:r>
            <a:endParaRPr lang="en-NZ" dirty="0"/>
          </a:p>
        </p:txBody>
      </p:sp>
      <p:sp>
        <p:nvSpPr>
          <p:cNvPr id="3" name="Content Placeholder 2">
            <a:extLst>
              <a:ext uri="{FF2B5EF4-FFF2-40B4-BE49-F238E27FC236}">
                <a16:creationId xmlns:a16="http://schemas.microsoft.com/office/drawing/2014/main" id="{12CB0A46-DE44-4405-A415-B7312D6F6689}"/>
              </a:ext>
            </a:extLst>
          </p:cNvPr>
          <p:cNvSpPr>
            <a:spLocks noGrp="1"/>
          </p:cNvSpPr>
          <p:nvPr>
            <p:ph idx="1"/>
          </p:nvPr>
        </p:nvSpPr>
        <p:spPr/>
        <p:txBody>
          <a:bodyPr/>
          <a:lstStyle/>
          <a:p>
            <a:pPr marL="0" indent="0">
              <a:buNone/>
            </a:pPr>
            <a:r>
              <a:rPr lang="en-AU" dirty="0"/>
              <a:t>Factors affecting yield</a:t>
            </a:r>
          </a:p>
          <a:p>
            <a:pPr marL="0" indent="0">
              <a:buNone/>
            </a:pPr>
            <a:r>
              <a:rPr lang="en-US" dirty="0"/>
              <a:t>The  total quantity of incident solar radiation received (area and location) </a:t>
            </a:r>
            <a:r>
              <a:rPr lang="en-US" dirty="0" err="1"/>
              <a:t>eg</a:t>
            </a:r>
            <a:r>
              <a:rPr lang="en-US" dirty="0"/>
              <a:t> distance from equator, altitude, water bodies, </a:t>
            </a:r>
          </a:p>
          <a:p>
            <a:pPr marL="0" indent="0">
              <a:buNone/>
            </a:pPr>
            <a:r>
              <a:rPr lang="en-US" dirty="0"/>
              <a:t>Fraction of radiation intercepted by the canopy</a:t>
            </a:r>
          </a:p>
          <a:p>
            <a:pPr marL="0" indent="0">
              <a:buNone/>
            </a:pPr>
            <a:r>
              <a:rPr lang="en-US" dirty="0"/>
              <a:t>Radiation use efficiency of the canopy</a:t>
            </a:r>
          </a:p>
          <a:p>
            <a:pPr marL="0" indent="0">
              <a:buNone/>
            </a:pPr>
            <a:r>
              <a:rPr lang="en-US" dirty="0"/>
              <a:t>Biomass of the stand  below-ground parts or the above-ground parts</a:t>
            </a:r>
          </a:p>
          <a:p>
            <a:pPr marL="0" indent="0">
              <a:buNone/>
            </a:pPr>
            <a:endParaRPr lang="en-NZ" dirty="0"/>
          </a:p>
        </p:txBody>
      </p:sp>
    </p:spTree>
    <p:extLst>
      <p:ext uri="{BB962C8B-B14F-4D97-AF65-F5344CB8AC3E}">
        <p14:creationId xmlns:p14="http://schemas.microsoft.com/office/powerpoint/2010/main" val="1806601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30AD3-5FB7-4694-A56B-7442749F3607}"/>
              </a:ext>
            </a:extLst>
          </p:cNvPr>
          <p:cNvSpPr>
            <a:spLocks noGrp="1"/>
          </p:cNvSpPr>
          <p:nvPr>
            <p:ph type="title"/>
          </p:nvPr>
        </p:nvSpPr>
        <p:spPr/>
        <p:txBody>
          <a:bodyPr/>
          <a:lstStyle/>
          <a:p>
            <a:r>
              <a:rPr lang="en-AU" dirty="0"/>
              <a:t>Yield </a:t>
            </a:r>
            <a:endParaRPr lang="en-NZ" dirty="0"/>
          </a:p>
        </p:txBody>
      </p:sp>
      <p:sp>
        <p:nvSpPr>
          <p:cNvPr id="3" name="Content Placeholder 2">
            <a:extLst>
              <a:ext uri="{FF2B5EF4-FFF2-40B4-BE49-F238E27FC236}">
                <a16:creationId xmlns:a16="http://schemas.microsoft.com/office/drawing/2014/main" id="{778C5C71-8831-47DE-BC95-3CAC987D6EE6}"/>
              </a:ext>
            </a:extLst>
          </p:cNvPr>
          <p:cNvSpPr>
            <a:spLocks noGrp="1"/>
          </p:cNvSpPr>
          <p:nvPr>
            <p:ph idx="1"/>
          </p:nvPr>
        </p:nvSpPr>
        <p:spPr/>
        <p:txBody>
          <a:bodyPr/>
          <a:lstStyle/>
          <a:p>
            <a:pPr marL="0" indent="0">
              <a:buNone/>
            </a:pPr>
            <a:r>
              <a:rPr lang="en-AU" dirty="0"/>
              <a:t>Genetic factors </a:t>
            </a:r>
          </a:p>
          <a:p>
            <a:pPr marL="0" indent="0">
              <a:buNone/>
            </a:pPr>
            <a:r>
              <a:rPr lang="en-AU" dirty="0"/>
              <a:t>Plant type</a:t>
            </a:r>
          </a:p>
          <a:p>
            <a:pPr marL="0" indent="0">
              <a:buNone/>
            </a:pPr>
            <a:r>
              <a:rPr lang="en-AU" dirty="0"/>
              <a:t>Plant size</a:t>
            </a:r>
          </a:p>
          <a:p>
            <a:pPr marL="0" indent="0">
              <a:buNone/>
            </a:pPr>
            <a:endParaRPr lang="en-AU" dirty="0"/>
          </a:p>
          <a:p>
            <a:pPr marL="0" indent="0">
              <a:buNone/>
            </a:pPr>
            <a:r>
              <a:rPr lang="en-AU" dirty="0"/>
              <a:t>Environmental factors</a:t>
            </a:r>
          </a:p>
          <a:p>
            <a:pPr marL="0" indent="0">
              <a:buNone/>
            </a:pPr>
            <a:r>
              <a:rPr lang="en-AU" dirty="0"/>
              <a:t>Moisture, temperature, soil, co2, </a:t>
            </a:r>
            <a:endParaRPr lang="en-NZ" dirty="0"/>
          </a:p>
        </p:txBody>
      </p:sp>
    </p:spTree>
    <p:extLst>
      <p:ext uri="{BB962C8B-B14F-4D97-AF65-F5344CB8AC3E}">
        <p14:creationId xmlns:p14="http://schemas.microsoft.com/office/powerpoint/2010/main" val="2953079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5ED75-2B90-4969-AD44-86C42EFC25C6}"/>
              </a:ext>
            </a:extLst>
          </p:cNvPr>
          <p:cNvSpPr>
            <a:spLocks noGrp="1"/>
          </p:cNvSpPr>
          <p:nvPr>
            <p:ph type="title"/>
          </p:nvPr>
        </p:nvSpPr>
        <p:spPr/>
        <p:txBody>
          <a:bodyPr/>
          <a:lstStyle/>
          <a:p>
            <a:r>
              <a:rPr lang="en-AU" dirty="0"/>
              <a:t> Plant yield </a:t>
            </a:r>
            <a:endParaRPr lang="en-NZ" dirty="0"/>
          </a:p>
        </p:txBody>
      </p:sp>
      <p:sp>
        <p:nvSpPr>
          <p:cNvPr id="3" name="Content Placeholder 2">
            <a:extLst>
              <a:ext uri="{FF2B5EF4-FFF2-40B4-BE49-F238E27FC236}">
                <a16:creationId xmlns:a16="http://schemas.microsoft.com/office/drawing/2014/main" id="{74533254-B087-43EA-BD78-4215A76AB92F}"/>
              </a:ext>
            </a:extLst>
          </p:cNvPr>
          <p:cNvSpPr>
            <a:spLocks noGrp="1"/>
          </p:cNvSpPr>
          <p:nvPr>
            <p:ph idx="1"/>
          </p:nvPr>
        </p:nvSpPr>
        <p:spPr/>
        <p:txBody>
          <a:bodyPr/>
          <a:lstStyle/>
          <a:p>
            <a:pPr marL="0" indent="0">
              <a:buNone/>
            </a:pPr>
            <a:r>
              <a:rPr lang="en-AU" dirty="0"/>
              <a:t>Plant population </a:t>
            </a:r>
          </a:p>
          <a:p>
            <a:pPr marL="0" indent="0">
              <a:buNone/>
            </a:pPr>
            <a:r>
              <a:rPr lang="en-AU" dirty="0"/>
              <a:t>Number of plants</a:t>
            </a:r>
          </a:p>
          <a:p>
            <a:pPr marL="0" indent="0">
              <a:buNone/>
            </a:pPr>
            <a:r>
              <a:rPr lang="en-AU" dirty="0"/>
              <a:t>Weight of plants</a:t>
            </a:r>
          </a:p>
          <a:p>
            <a:pPr marL="0" indent="0">
              <a:buNone/>
            </a:pPr>
            <a:endParaRPr lang="en-AU" dirty="0"/>
          </a:p>
          <a:p>
            <a:pPr marL="0" indent="0">
              <a:buNone/>
            </a:pPr>
            <a:r>
              <a:rPr lang="en-AU" dirty="0"/>
              <a:t>Grains </a:t>
            </a:r>
          </a:p>
          <a:p>
            <a:pPr marL="0" indent="0">
              <a:buNone/>
            </a:pPr>
            <a:r>
              <a:rPr lang="en-AU" dirty="0"/>
              <a:t>Grain population density</a:t>
            </a:r>
          </a:p>
          <a:p>
            <a:pPr marL="0" indent="0">
              <a:buNone/>
            </a:pPr>
            <a:r>
              <a:rPr lang="en-AU" dirty="0"/>
              <a:t>Number of grains per plant</a:t>
            </a:r>
          </a:p>
          <a:p>
            <a:pPr marL="0" indent="0">
              <a:buNone/>
            </a:pPr>
            <a:r>
              <a:rPr lang="en-AU" dirty="0"/>
              <a:t>Weight of grains</a:t>
            </a:r>
          </a:p>
          <a:p>
            <a:pPr marL="0" indent="0">
              <a:buNone/>
            </a:pPr>
            <a:endParaRPr lang="en-NZ" dirty="0"/>
          </a:p>
        </p:txBody>
      </p:sp>
    </p:spTree>
    <p:extLst>
      <p:ext uri="{BB962C8B-B14F-4D97-AF65-F5344CB8AC3E}">
        <p14:creationId xmlns:p14="http://schemas.microsoft.com/office/powerpoint/2010/main" val="991302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0821D-A351-416A-B52D-92BB862487FA}"/>
              </a:ext>
            </a:extLst>
          </p:cNvPr>
          <p:cNvSpPr>
            <a:spLocks noGrp="1"/>
          </p:cNvSpPr>
          <p:nvPr>
            <p:ph type="title"/>
          </p:nvPr>
        </p:nvSpPr>
        <p:spPr/>
        <p:txBody>
          <a:bodyPr/>
          <a:lstStyle/>
          <a:p>
            <a:r>
              <a:rPr lang="en-AU" dirty="0"/>
              <a:t>Cereal crop development</a:t>
            </a:r>
            <a:endParaRPr lang="en-NZ" dirty="0"/>
          </a:p>
        </p:txBody>
      </p:sp>
      <p:sp>
        <p:nvSpPr>
          <p:cNvPr id="3" name="Content Placeholder 2">
            <a:extLst>
              <a:ext uri="{FF2B5EF4-FFF2-40B4-BE49-F238E27FC236}">
                <a16:creationId xmlns:a16="http://schemas.microsoft.com/office/drawing/2014/main" id="{04327C3C-8739-42C2-9BFA-7326CB39D537}"/>
              </a:ext>
            </a:extLst>
          </p:cNvPr>
          <p:cNvSpPr>
            <a:spLocks noGrp="1"/>
          </p:cNvSpPr>
          <p:nvPr>
            <p:ph idx="1"/>
          </p:nvPr>
        </p:nvSpPr>
        <p:spPr/>
        <p:txBody>
          <a:bodyPr>
            <a:normAutofit/>
          </a:bodyPr>
          <a:lstStyle/>
          <a:p>
            <a:pPr marL="0" indent="0">
              <a:buNone/>
            </a:pPr>
            <a:r>
              <a:rPr lang="en-AU" dirty="0"/>
              <a:t>Wheat, rice, maize </a:t>
            </a:r>
          </a:p>
          <a:p>
            <a:pPr marL="0" indent="0">
              <a:buNone/>
            </a:pPr>
            <a:r>
              <a:rPr lang="en-AU" dirty="0"/>
              <a:t>Importance of root system</a:t>
            </a:r>
          </a:p>
          <a:p>
            <a:pPr marL="0" indent="0">
              <a:buNone/>
            </a:pPr>
            <a:r>
              <a:rPr lang="en-AU" dirty="0"/>
              <a:t>Provide support </a:t>
            </a:r>
          </a:p>
          <a:p>
            <a:pPr marL="0" indent="0">
              <a:buNone/>
            </a:pPr>
            <a:r>
              <a:rPr lang="en-AU" dirty="0"/>
              <a:t>Nutrient absorption</a:t>
            </a:r>
          </a:p>
          <a:p>
            <a:pPr marL="0" indent="0">
              <a:buNone/>
            </a:pPr>
            <a:r>
              <a:rPr lang="en-AU" dirty="0"/>
              <a:t>Moisture uptake</a:t>
            </a:r>
          </a:p>
          <a:p>
            <a:pPr marL="0" indent="0">
              <a:buNone/>
            </a:pPr>
            <a:endParaRPr lang="en-AU" dirty="0"/>
          </a:p>
        </p:txBody>
      </p:sp>
    </p:spTree>
    <p:extLst>
      <p:ext uri="{BB962C8B-B14F-4D97-AF65-F5344CB8AC3E}">
        <p14:creationId xmlns:p14="http://schemas.microsoft.com/office/powerpoint/2010/main" val="12643247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E8AFD-8F4A-4766-B726-690579A9DF62}"/>
              </a:ext>
            </a:extLst>
          </p:cNvPr>
          <p:cNvSpPr>
            <a:spLocks noGrp="1"/>
          </p:cNvSpPr>
          <p:nvPr>
            <p:ph type="title"/>
          </p:nvPr>
        </p:nvSpPr>
        <p:spPr/>
        <p:txBody>
          <a:bodyPr/>
          <a:lstStyle/>
          <a:p>
            <a:r>
              <a:rPr lang="en-GB" dirty="0"/>
              <a:t>Wheat development</a:t>
            </a:r>
            <a:endParaRPr lang="en-NZ" dirty="0"/>
          </a:p>
        </p:txBody>
      </p:sp>
      <p:sp>
        <p:nvSpPr>
          <p:cNvPr id="3" name="Content Placeholder 2">
            <a:extLst>
              <a:ext uri="{FF2B5EF4-FFF2-40B4-BE49-F238E27FC236}">
                <a16:creationId xmlns:a16="http://schemas.microsoft.com/office/drawing/2014/main" id="{AB90DAB8-195D-4168-ACC8-67D0C06A3E28}"/>
              </a:ext>
            </a:extLst>
          </p:cNvPr>
          <p:cNvSpPr>
            <a:spLocks noGrp="1"/>
          </p:cNvSpPr>
          <p:nvPr>
            <p:ph idx="1"/>
          </p:nvPr>
        </p:nvSpPr>
        <p:spPr/>
        <p:txBody>
          <a:bodyPr>
            <a:normAutofit fontScale="92500" lnSpcReduction="10000"/>
          </a:bodyPr>
          <a:lstStyle/>
          <a:p>
            <a:pPr marL="0" indent="0">
              <a:buNone/>
            </a:pPr>
            <a:endParaRPr lang="en-AU" dirty="0"/>
          </a:p>
          <a:p>
            <a:pPr marL="0" indent="0">
              <a:buNone/>
            </a:pPr>
            <a:r>
              <a:rPr lang="en-AU" dirty="0"/>
              <a:t>Above ground </a:t>
            </a:r>
          </a:p>
          <a:p>
            <a:pPr marL="0" indent="0">
              <a:buNone/>
            </a:pPr>
            <a:r>
              <a:rPr lang="en-US" dirty="0"/>
              <a:t>The development of the plants of a wheat crop involves two processes leaves and branches for photosynthesis</a:t>
            </a:r>
            <a:endParaRPr lang="en-NZ" dirty="0"/>
          </a:p>
          <a:p>
            <a:pPr marL="0" indent="0">
              <a:buNone/>
            </a:pPr>
            <a:r>
              <a:rPr lang="en-US" dirty="0"/>
              <a:t>Both types of organ are initiated at the apex of each fertile stem</a:t>
            </a:r>
          </a:p>
          <a:p>
            <a:pPr marL="0" indent="0">
              <a:buNone/>
            </a:pPr>
            <a:r>
              <a:rPr lang="en-US" dirty="0"/>
              <a:t>The number of branches initiated, and the partitioning of these branches between vegetative and reproductive organs, depend on genetic and environmental factors, principally temperature and photoperiod </a:t>
            </a:r>
          </a:p>
          <a:p>
            <a:pPr marL="0" indent="0">
              <a:buNone/>
            </a:pPr>
            <a:r>
              <a:rPr lang="en-US" dirty="0"/>
              <a:t>Once initiated survival of branches/florets depend on plant and environmental factors such as nitrogen status, carbohydrate supply, water relations and temperature </a:t>
            </a:r>
            <a:endParaRPr lang="en-NZ" dirty="0"/>
          </a:p>
        </p:txBody>
      </p:sp>
    </p:spTree>
    <p:extLst>
      <p:ext uri="{BB962C8B-B14F-4D97-AF65-F5344CB8AC3E}">
        <p14:creationId xmlns:p14="http://schemas.microsoft.com/office/powerpoint/2010/main" val="17911438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8C470-4875-438F-B066-E3242503B1BC}"/>
              </a:ext>
            </a:extLst>
          </p:cNvPr>
          <p:cNvSpPr>
            <a:spLocks noGrp="1"/>
          </p:cNvSpPr>
          <p:nvPr>
            <p:ph type="title"/>
          </p:nvPr>
        </p:nvSpPr>
        <p:spPr/>
        <p:txBody>
          <a:bodyPr/>
          <a:lstStyle/>
          <a:p>
            <a:r>
              <a:rPr lang="en-NZ" dirty="0"/>
              <a:t>Leaf, branches and Floret Initiation</a:t>
            </a:r>
          </a:p>
        </p:txBody>
      </p:sp>
      <p:sp>
        <p:nvSpPr>
          <p:cNvPr id="3" name="Content Placeholder 2">
            <a:extLst>
              <a:ext uri="{FF2B5EF4-FFF2-40B4-BE49-F238E27FC236}">
                <a16:creationId xmlns:a16="http://schemas.microsoft.com/office/drawing/2014/main" id="{C3E58626-13B4-4CAE-A729-BCD02CDF8D8B}"/>
              </a:ext>
            </a:extLst>
          </p:cNvPr>
          <p:cNvSpPr>
            <a:spLocks noGrp="1"/>
          </p:cNvSpPr>
          <p:nvPr>
            <p:ph idx="1"/>
          </p:nvPr>
        </p:nvSpPr>
        <p:spPr/>
        <p:txBody>
          <a:bodyPr>
            <a:normAutofit/>
          </a:bodyPr>
          <a:lstStyle/>
          <a:p>
            <a:pPr marL="0" indent="0">
              <a:buNone/>
            </a:pPr>
            <a:r>
              <a:rPr lang="en-US" dirty="0"/>
              <a:t>Mature wheat grains carry the branches of three or four leaves, and a further two or three have been initiated by the time of crop emergence</a:t>
            </a:r>
          </a:p>
          <a:p>
            <a:pPr marL="0" indent="0">
              <a:buNone/>
            </a:pPr>
            <a:r>
              <a:rPr lang="en-US" dirty="0"/>
              <a:t>The mainstem apex, located just below the soil surface, continues to generate leaf branches regularly at intervals</a:t>
            </a:r>
          </a:p>
          <a:p>
            <a:pPr marL="0" indent="0">
              <a:buNone/>
            </a:pPr>
            <a:r>
              <a:rPr lang="en-US" dirty="0"/>
              <a:t>The timing of this transition from vegetative to reproductive development depends upon photoperiod</a:t>
            </a:r>
          </a:p>
        </p:txBody>
      </p:sp>
    </p:spTree>
    <p:extLst>
      <p:ext uri="{BB962C8B-B14F-4D97-AF65-F5344CB8AC3E}">
        <p14:creationId xmlns:p14="http://schemas.microsoft.com/office/powerpoint/2010/main" val="17469398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ABB74-BE45-436F-B060-070DC4DC91A3}"/>
              </a:ext>
            </a:extLst>
          </p:cNvPr>
          <p:cNvSpPr>
            <a:spLocks noGrp="1"/>
          </p:cNvSpPr>
          <p:nvPr>
            <p:ph type="title"/>
          </p:nvPr>
        </p:nvSpPr>
        <p:spPr/>
        <p:txBody>
          <a:bodyPr/>
          <a:lstStyle/>
          <a:p>
            <a:endParaRPr lang="en-NZ"/>
          </a:p>
        </p:txBody>
      </p:sp>
      <p:sp>
        <p:nvSpPr>
          <p:cNvPr id="3" name="Content Placeholder 2">
            <a:extLst>
              <a:ext uri="{FF2B5EF4-FFF2-40B4-BE49-F238E27FC236}">
                <a16:creationId xmlns:a16="http://schemas.microsoft.com/office/drawing/2014/main" id="{73BFE843-3832-437B-875F-A844BF358101}"/>
              </a:ext>
            </a:extLst>
          </p:cNvPr>
          <p:cNvSpPr>
            <a:spLocks noGrp="1"/>
          </p:cNvSpPr>
          <p:nvPr>
            <p:ph idx="1"/>
          </p:nvPr>
        </p:nvSpPr>
        <p:spPr/>
        <p:txBody>
          <a:bodyPr>
            <a:normAutofit/>
          </a:bodyPr>
          <a:lstStyle/>
          <a:p>
            <a:pPr marL="0" indent="0">
              <a:buNone/>
            </a:pPr>
            <a:endParaRPr lang="en-AU" dirty="0"/>
          </a:p>
          <a:p>
            <a:pPr marL="0" indent="0">
              <a:buNone/>
            </a:pPr>
            <a:r>
              <a:rPr lang="en-US" dirty="0"/>
              <a:t>The initiation of florets (each a potential grain site) within branches begins around the mid-point of the embryonic ear, progressing towards both the tip and the base in such a way that all of the tillers are at the same stage by the time that the terminal tiller is initiated</a:t>
            </a:r>
            <a:endParaRPr lang="en-NZ" dirty="0"/>
          </a:p>
          <a:p>
            <a:pPr marL="0" indent="0">
              <a:buNone/>
            </a:pPr>
            <a:endParaRPr lang="en-NZ" dirty="0"/>
          </a:p>
          <a:p>
            <a:pPr marL="0" indent="0">
              <a:buNone/>
            </a:pPr>
            <a:r>
              <a:rPr lang="en-US" dirty="0"/>
              <a:t>Floret initiation (up to 12 per branch) continues through the terminal branch stage up to around the time of main leaf appearance when a high proportion die, leaving two to six potential grains per branch at fertilization.</a:t>
            </a:r>
            <a:endParaRPr lang="en-NZ" dirty="0"/>
          </a:p>
        </p:txBody>
      </p:sp>
    </p:spTree>
    <p:extLst>
      <p:ext uri="{BB962C8B-B14F-4D97-AF65-F5344CB8AC3E}">
        <p14:creationId xmlns:p14="http://schemas.microsoft.com/office/powerpoint/2010/main" val="2219322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5B28C-8DBB-4808-9A2E-8C67A07A944A}"/>
              </a:ext>
            </a:extLst>
          </p:cNvPr>
          <p:cNvSpPr>
            <a:spLocks noGrp="1"/>
          </p:cNvSpPr>
          <p:nvPr>
            <p:ph type="title"/>
          </p:nvPr>
        </p:nvSpPr>
        <p:spPr/>
        <p:txBody>
          <a:bodyPr/>
          <a:lstStyle/>
          <a:p>
            <a:r>
              <a:rPr lang="en-NZ" dirty="0"/>
              <a:t>Tiller Development</a:t>
            </a:r>
          </a:p>
        </p:txBody>
      </p:sp>
      <p:sp>
        <p:nvSpPr>
          <p:cNvPr id="3" name="Content Placeholder 2">
            <a:extLst>
              <a:ext uri="{FF2B5EF4-FFF2-40B4-BE49-F238E27FC236}">
                <a16:creationId xmlns:a16="http://schemas.microsoft.com/office/drawing/2014/main" id="{BE398EB2-4073-497F-B4EF-F25CBA1C5138}"/>
              </a:ext>
            </a:extLst>
          </p:cNvPr>
          <p:cNvSpPr>
            <a:spLocks noGrp="1"/>
          </p:cNvSpPr>
          <p:nvPr>
            <p:ph idx="1"/>
          </p:nvPr>
        </p:nvSpPr>
        <p:spPr/>
        <p:txBody>
          <a:bodyPr>
            <a:normAutofit/>
          </a:bodyPr>
          <a:lstStyle/>
          <a:p>
            <a:pPr marL="0" indent="0">
              <a:buNone/>
            </a:pPr>
            <a:r>
              <a:rPr lang="en-US" dirty="0"/>
              <a:t>By the time that the tip of the first true leaf appears (emerges) through the coleoptile, five to seven leaf have been initiated by the mainstem apex</a:t>
            </a:r>
          </a:p>
          <a:p>
            <a:pPr marL="0" indent="0">
              <a:buNone/>
            </a:pPr>
            <a:r>
              <a:rPr lang="en-US" dirty="0"/>
              <a:t>During the vegetative and early reproductive stages of a wheat crop, each mainstem carries three to five visible green leaves: one in the early stages of expansion, one fully expanded and one to three undergoing senescence </a:t>
            </a:r>
            <a:endParaRPr lang="en-NZ" dirty="0"/>
          </a:p>
        </p:txBody>
      </p:sp>
    </p:spTree>
    <p:extLst>
      <p:ext uri="{BB962C8B-B14F-4D97-AF65-F5344CB8AC3E}">
        <p14:creationId xmlns:p14="http://schemas.microsoft.com/office/powerpoint/2010/main" val="23971854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EC1E6-F681-4AD6-A537-4C6BE8C5943E}"/>
              </a:ext>
            </a:extLst>
          </p:cNvPr>
          <p:cNvSpPr>
            <a:spLocks noGrp="1"/>
          </p:cNvSpPr>
          <p:nvPr>
            <p:ph type="title"/>
          </p:nvPr>
        </p:nvSpPr>
        <p:spPr/>
        <p:txBody>
          <a:bodyPr/>
          <a:lstStyle/>
          <a:p>
            <a:endParaRPr lang="en-NZ"/>
          </a:p>
        </p:txBody>
      </p:sp>
      <p:sp>
        <p:nvSpPr>
          <p:cNvPr id="3" name="Content Placeholder 2">
            <a:extLst>
              <a:ext uri="{FF2B5EF4-FFF2-40B4-BE49-F238E27FC236}">
                <a16:creationId xmlns:a16="http://schemas.microsoft.com/office/drawing/2014/main" id="{266CAF5A-D1B2-4B23-AAF0-361FD0BBFCAC}"/>
              </a:ext>
            </a:extLst>
          </p:cNvPr>
          <p:cNvSpPr>
            <a:spLocks noGrp="1"/>
          </p:cNvSpPr>
          <p:nvPr>
            <p:ph idx="1"/>
          </p:nvPr>
        </p:nvSpPr>
        <p:spPr/>
        <p:txBody>
          <a:bodyPr/>
          <a:lstStyle/>
          <a:p>
            <a:pPr marL="0" indent="0">
              <a:buNone/>
            </a:pPr>
            <a:r>
              <a:rPr lang="en-US" dirty="0"/>
              <a:t>A primary tiller arises out of a bud in the axil of each lower leaf on the mainstem, and the emergence of the tiller from the first leaf axil is synchronous with the appearance of the tip of mainstem</a:t>
            </a:r>
          </a:p>
          <a:p>
            <a:pPr marL="0" indent="0">
              <a:buNone/>
            </a:pPr>
            <a:endParaRPr lang="en-US" dirty="0"/>
          </a:p>
          <a:p>
            <a:pPr marL="0" indent="0">
              <a:buNone/>
            </a:pPr>
            <a:r>
              <a:rPr lang="en-US" dirty="0"/>
              <a:t>Although most wheat plants generate more than three visible tillers</a:t>
            </a:r>
          </a:p>
          <a:p>
            <a:pPr marL="0" indent="0">
              <a:buNone/>
            </a:pPr>
            <a:endParaRPr lang="en-US" dirty="0"/>
          </a:p>
          <a:p>
            <a:pPr marL="0" indent="0">
              <a:buNone/>
            </a:pPr>
            <a:r>
              <a:rPr lang="en-US" dirty="0"/>
              <a:t>Tillers begin to die in the reverse order of their initiation, leaving up to three to complete the course of development to bear mature ears</a:t>
            </a:r>
          </a:p>
          <a:p>
            <a:pPr marL="0" indent="0">
              <a:buNone/>
            </a:pPr>
            <a:endParaRPr lang="en-NZ" dirty="0"/>
          </a:p>
        </p:txBody>
      </p:sp>
    </p:spTree>
    <p:extLst>
      <p:ext uri="{BB962C8B-B14F-4D97-AF65-F5344CB8AC3E}">
        <p14:creationId xmlns:p14="http://schemas.microsoft.com/office/powerpoint/2010/main" val="3126485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591EE-6DE8-4350-B3F2-E83A4571A410}"/>
              </a:ext>
            </a:extLst>
          </p:cNvPr>
          <p:cNvSpPr>
            <a:spLocks noGrp="1"/>
          </p:cNvSpPr>
          <p:nvPr>
            <p:ph type="title"/>
          </p:nvPr>
        </p:nvSpPr>
        <p:spPr/>
        <p:txBody>
          <a:bodyPr/>
          <a:lstStyle/>
          <a:p>
            <a:endParaRPr lang="en-NZ"/>
          </a:p>
        </p:txBody>
      </p:sp>
      <p:pic>
        <p:nvPicPr>
          <p:cNvPr id="5" name="Content Placeholder 4">
            <a:extLst>
              <a:ext uri="{FF2B5EF4-FFF2-40B4-BE49-F238E27FC236}">
                <a16:creationId xmlns:a16="http://schemas.microsoft.com/office/drawing/2014/main" id="{CC360A8C-846D-4767-8B38-36A61495FC7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57600" y="2115579"/>
            <a:ext cx="4421875" cy="3771429"/>
          </a:xfrm>
        </p:spPr>
      </p:pic>
    </p:spTree>
    <p:extLst>
      <p:ext uri="{BB962C8B-B14F-4D97-AF65-F5344CB8AC3E}">
        <p14:creationId xmlns:p14="http://schemas.microsoft.com/office/powerpoint/2010/main" val="2705367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8A9F4-557A-4A79-95E6-46D0D5C19063}"/>
              </a:ext>
            </a:extLst>
          </p:cNvPr>
          <p:cNvSpPr>
            <a:spLocks noGrp="1"/>
          </p:cNvSpPr>
          <p:nvPr>
            <p:ph type="title"/>
          </p:nvPr>
        </p:nvSpPr>
        <p:spPr/>
        <p:txBody>
          <a:bodyPr/>
          <a:lstStyle/>
          <a:p>
            <a:r>
              <a:rPr lang="en-AU" dirty="0"/>
              <a:t>Rice </a:t>
            </a:r>
            <a:endParaRPr lang="en-NZ" dirty="0"/>
          </a:p>
        </p:txBody>
      </p:sp>
      <p:sp>
        <p:nvSpPr>
          <p:cNvPr id="3" name="Content Placeholder 2">
            <a:extLst>
              <a:ext uri="{FF2B5EF4-FFF2-40B4-BE49-F238E27FC236}">
                <a16:creationId xmlns:a16="http://schemas.microsoft.com/office/drawing/2014/main" id="{00148116-BCDF-48C4-96C5-0BA8CFA7F4C5}"/>
              </a:ext>
            </a:extLst>
          </p:cNvPr>
          <p:cNvSpPr>
            <a:spLocks noGrp="1"/>
          </p:cNvSpPr>
          <p:nvPr>
            <p:ph idx="1"/>
          </p:nvPr>
        </p:nvSpPr>
        <p:spPr/>
        <p:txBody>
          <a:bodyPr>
            <a:normAutofit fontScale="92500" lnSpcReduction="10000"/>
          </a:bodyPr>
          <a:lstStyle/>
          <a:p>
            <a:pPr marL="0" indent="0">
              <a:buNone/>
            </a:pPr>
            <a:r>
              <a:rPr lang="en-US" dirty="0"/>
              <a:t>Rice is the second most important cereal in the world</a:t>
            </a:r>
          </a:p>
          <a:p>
            <a:pPr marL="0" indent="0">
              <a:buNone/>
            </a:pPr>
            <a:r>
              <a:rPr lang="en-US" dirty="0"/>
              <a:t>The cultivation of rice extends over a wide range of climatic, soil and hydrological conditions - from wet tropical to semi-arid and warm temperate regions, from heavy clay to poor sandy soils and from dryland to swampland in fresh or brackish water</a:t>
            </a:r>
          </a:p>
          <a:p>
            <a:pPr marL="0" indent="0">
              <a:buNone/>
            </a:pPr>
            <a:r>
              <a:rPr lang="en-US" dirty="0"/>
              <a:t>Topographical conditions vary from uplands (drylands) in hilly or plateau regions, with problems of deficit soil moisture, to medium lands with efficient water management and lowlands with excess water up to a depth of 5m</a:t>
            </a:r>
          </a:p>
          <a:p>
            <a:pPr marL="0" indent="0">
              <a:buNone/>
            </a:pPr>
            <a:r>
              <a:rPr lang="en-US" dirty="0"/>
              <a:t>Rice-growing ecosystems are broadly classified into three major categories: irrigated, rain-fed uplands and rain-fed lowlands - including deep-water and tidal wetlands,</a:t>
            </a:r>
            <a:endParaRPr lang="en-NZ" dirty="0"/>
          </a:p>
        </p:txBody>
      </p:sp>
    </p:spTree>
    <p:extLst>
      <p:ext uri="{BB962C8B-B14F-4D97-AF65-F5344CB8AC3E}">
        <p14:creationId xmlns:p14="http://schemas.microsoft.com/office/powerpoint/2010/main" val="673818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4872A-341F-49FC-BF68-2A162B798320}"/>
              </a:ext>
            </a:extLst>
          </p:cNvPr>
          <p:cNvSpPr>
            <a:spLocks noGrp="1"/>
          </p:cNvSpPr>
          <p:nvPr>
            <p:ph type="title"/>
          </p:nvPr>
        </p:nvSpPr>
        <p:spPr/>
        <p:txBody>
          <a:bodyPr/>
          <a:lstStyle/>
          <a:p>
            <a:r>
              <a:rPr lang="en-NZ" dirty="0"/>
              <a:t>Growth and Development </a:t>
            </a:r>
          </a:p>
        </p:txBody>
      </p:sp>
      <p:sp>
        <p:nvSpPr>
          <p:cNvPr id="3" name="Content Placeholder 2">
            <a:extLst>
              <a:ext uri="{FF2B5EF4-FFF2-40B4-BE49-F238E27FC236}">
                <a16:creationId xmlns:a16="http://schemas.microsoft.com/office/drawing/2014/main" id="{1B4DDC38-E6BA-42C1-A01E-56D413098791}"/>
              </a:ext>
            </a:extLst>
          </p:cNvPr>
          <p:cNvSpPr>
            <a:spLocks noGrp="1"/>
          </p:cNvSpPr>
          <p:nvPr>
            <p:ph idx="1"/>
          </p:nvPr>
        </p:nvSpPr>
        <p:spPr/>
        <p:txBody>
          <a:bodyPr/>
          <a:lstStyle/>
          <a:p>
            <a:pPr marL="0" indent="0">
              <a:buNone/>
            </a:pPr>
            <a:r>
              <a:rPr lang="en-US" dirty="0"/>
              <a:t>Rice plant, like any other cereal, consists of roots, stem, leaves and panicle bearing branches</a:t>
            </a:r>
          </a:p>
          <a:p>
            <a:pPr marL="0" indent="0">
              <a:buNone/>
            </a:pPr>
            <a:r>
              <a:rPr lang="en-US" dirty="0"/>
              <a:t>The growth duration of rice varies from 2-8 months, depending on the variety and environmental conditions</a:t>
            </a:r>
          </a:p>
          <a:p>
            <a:pPr marL="0" indent="0">
              <a:buNone/>
            </a:pPr>
            <a:r>
              <a:rPr lang="en-US" dirty="0"/>
              <a:t>Its life cycle has two distinct phases - vegetative and reproductive (including ripening)</a:t>
            </a:r>
          </a:p>
          <a:p>
            <a:pPr marL="0" indent="0">
              <a:buNone/>
            </a:pPr>
            <a:endParaRPr lang="en-US" dirty="0"/>
          </a:p>
        </p:txBody>
      </p:sp>
    </p:spTree>
    <p:extLst>
      <p:ext uri="{BB962C8B-B14F-4D97-AF65-F5344CB8AC3E}">
        <p14:creationId xmlns:p14="http://schemas.microsoft.com/office/powerpoint/2010/main" val="31676332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8660D-B5E2-43E2-9750-B8E86E9C1180}"/>
              </a:ext>
            </a:extLst>
          </p:cNvPr>
          <p:cNvSpPr>
            <a:spLocks noGrp="1"/>
          </p:cNvSpPr>
          <p:nvPr>
            <p:ph type="title"/>
          </p:nvPr>
        </p:nvSpPr>
        <p:spPr/>
        <p:txBody>
          <a:bodyPr/>
          <a:lstStyle/>
          <a:p>
            <a:r>
              <a:rPr lang="en-AU" dirty="0"/>
              <a:t>Developmental stages</a:t>
            </a:r>
            <a:endParaRPr lang="en-NZ" dirty="0"/>
          </a:p>
        </p:txBody>
      </p:sp>
      <p:sp>
        <p:nvSpPr>
          <p:cNvPr id="3" name="Content Placeholder 2">
            <a:extLst>
              <a:ext uri="{FF2B5EF4-FFF2-40B4-BE49-F238E27FC236}">
                <a16:creationId xmlns:a16="http://schemas.microsoft.com/office/drawing/2014/main" id="{72B5257E-54A8-4A3B-8FAA-B1EDF458E4F7}"/>
              </a:ext>
            </a:extLst>
          </p:cNvPr>
          <p:cNvSpPr>
            <a:spLocks noGrp="1"/>
          </p:cNvSpPr>
          <p:nvPr>
            <p:ph idx="1"/>
          </p:nvPr>
        </p:nvSpPr>
        <p:spPr/>
        <p:txBody>
          <a:bodyPr/>
          <a:lstStyle/>
          <a:p>
            <a:pPr marL="0" indent="0">
              <a:buNone/>
            </a:pPr>
            <a:r>
              <a:rPr lang="en-US" dirty="0"/>
              <a:t>Initiation of the root, leaf, tiller, growth of different vegetative organs; and flowering and filling of </a:t>
            </a:r>
            <a:r>
              <a:rPr lang="en-US" dirty="0" err="1"/>
              <a:t>spikelets</a:t>
            </a:r>
            <a:endParaRPr lang="en-US" dirty="0"/>
          </a:p>
          <a:p>
            <a:pPr marL="0" indent="0">
              <a:buNone/>
            </a:pPr>
            <a:r>
              <a:rPr lang="en-US" dirty="0"/>
              <a:t>For example 120-day variety, spends about 60 days in the vegetative phase and 30 days in the reproductive and 30 days ripening phases</a:t>
            </a:r>
            <a:endParaRPr lang="en-NZ" dirty="0"/>
          </a:p>
        </p:txBody>
      </p:sp>
    </p:spTree>
    <p:extLst>
      <p:ext uri="{BB962C8B-B14F-4D97-AF65-F5344CB8AC3E}">
        <p14:creationId xmlns:p14="http://schemas.microsoft.com/office/powerpoint/2010/main" val="42699356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85AA7-4DDF-4335-BF5C-B7C0E49B3830}"/>
              </a:ext>
            </a:extLst>
          </p:cNvPr>
          <p:cNvSpPr>
            <a:spLocks noGrp="1"/>
          </p:cNvSpPr>
          <p:nvPr>
            <p:ph type="title"/>
          </p:nvPr>
        </p:nvSpPr>
        <p:spPr/>
        <p:txBody>
          <a:bodyPr/>
          <a:lstStyle/>
          <a:p>
            <a:r>
              <a:rPr lang="en-NZ" dirty="0"/>
              <a:t>Vegetative Growth</a:t>
            </a:r>
          </a:p>
        </p:txBody>
      </p:sp>
      <p:sp>
        <p:nvSpPr>
          <p:cNvPr id="3" name="Content Placeholder 2">
            <a:extLst>
              <a:ext uri="{FF2B5EF4-FFF2-40B4-BE49-F238E27FC236}">
                <a16:creationId xmlns:a16="http://schemas.microsoft.com/office/drawing/2014/main" id="{B81AAAA3-60B8-456D-8291-594227027FC4}"/>
              </a:ext>
            </a:extLst>
          </p:cNvPr>
          <p:cNvSpPr>
            <a:spLocks noGrp="1"/>
          </p:cNvSpPr>
          <p:nvPr>
            <p:ph idx="1"/>
          </p:nvPr>
        </p:nvSpPr>
        <p:spPr/>
        <p:txBody>
          <a:bodyPr>
            <a:normAutofit lnSpcReduction="10000"/>
          </a:bodyPr>
          <a:lstStyle/>
          <a:p>
            <a:pPr marL="0" indent="0">
              <a:buNone/>
            </a:pPr>
            <a:r>
              <a:rPr lang="en-US" dirty="0"/>
              <a:t>The vegetative phase is characterized by growth of roots, shoots and leaves</a:t>
            </a:r>
          </a:p>
          <a:p>
            <a:pPr marL="0" indent="0">
              <a:buNone/>
            </a:pPr>
            <a:r>
              <a:rPr lang="en-US" dirty="0"/>
              <a:t>Divided into  the active-vegetative and vegetative-lag phase.</a:t>
            </a:r>
          </a:p>
          <a:p>
            <a:pPr marL="0" indent="0">
              <a:buNone/>
            </a:pPr>
            <a:r>
              <a:rPr lang="en-US" dirty="0"/>
              <a:t>The active-vegetative phase lasts to maximum tillering and is accompanied by a rapid increase in plant height, tiller number </a:t>
            </a:r>
          </a:p>
          <a:p>
            <a:pPr marL="0" indent="0">
              <a:buNone/>
            </a:pPr>
            <a:r>
              <a:rPr lang="en-US" dirty="0"/>
              <a:t>The vegetative-lag phase continues up to panicle initiation. Plant height and dry matter increase less rapidly during this phase and tiller number decreases</a:t>
            </a:r>
          </a:p>
          <a:p>
            <a:pPr marL="0" indent="0">
              <a:buNone/>
            </a:pPr>
            <a:r>
              <a:rPr lang="en-US" dirty="0"/>
              <a:t>During the vegetative-lag phase, maximum tillering, internode elongation and panicle initiation occur almost simultaneously </a:t>
            </a:r>
            <a:endParaRPr lang="en-NZ" dirty="0"/>
          </a:p>
        </p:txBody>
      </p:sp>
    </p:spTree>
    <p:extLst>
      <p:ext uri="{BB962C8B-B14F-4D97-AF65-F5344CB8AC3E}">
        <p14:creationId xmlns:p14="http://schemas.microsoft.com/office/powerpoint/2010/main" val="2292585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27550-54C4-4CAF-A03A-CE3ACE832B41}"/>
              </a:ext>
            </a:extLst>
          </p:cNvPr>
          <p:cNvSpPr>
            <a:spLocks noGrp="1"/>
          </p:cNvSpPr>
          <p:nvPr>
            <p:ph type="title"/>
          </p:nvPr>
        </p:nvSpPr>
        <p:spPr/>
        <p:txBody>
          <a:bodyPr/>
          <a:lstStyle/>
          <a:p>
            <a:r>
              <a:rPr lang="en-NZ" dirty="0"/>
              <a:t>Reproductive Growth</a:t>
            </a:r>
          </a:p>
        </p:txBody>
      </p:sp>
      <p:sp>
        <p:nvSpPr>
          <p:cNvPr id="3" name="Content Placeholder 2">
            <a:extLst>
              <a:ext uri="{FF2B5EF4-FFF2-40B4-BE49-F238E27FC236}">
                <a16:creationId xmlns:a16="http://schemas.microsoft.com/office/drawing/2014/main" id="{F0DEEC4D-184E-4E30-8950-174164B42822}"/>
              </a:ext>
            </a:extLst>
          </p:cNvPr>
          <p:cNvSpPr>
            <a:spLocks noGrp="1"/>
          </p:cNvSpPr>
          <p:nvPr>
            <p:ph idx="1"/>
          </p:nvPr>
        </p:nvSpPr>
        <p:spPr/>
        <p:txBody>
          <a:bodyPr>
            <a:normAutofit fontScale="85000" lnSpcReduction="20000"/>
          </a:bodyPr>
          <a:lstStyle/>
          <a:p>
            <a:pPr marL="0" indent="0">
              <a:buNone/>
            </a:pPr>
            <a:r>
              <a:rPr lang="en-US" dirty="0"/>
              <a:t>Reproductive growth begins just before or after the maximum tillering stage</a:t>
            </a:r>
          </a:p>
          <a:p>
            <a:pPr marL="0" indent="0">
              <a:buNone/>
            </a:pPr>
            <a:r>
              <a:rPr lang="en-US" dirty="0"/>
              <a:t>This phase is characterized by the branch elongation, emergence of the flag leaf, booting, heading and filling of the </a:t>
            </a:r>
            <a:r>
              <a:rPr lang="en-US" dirty="0" err="1"/>
              <a:t>spikelets</a:t>
            </a:r>
            <a:r>
              <a:rPr lang="en-US" dirty="0"/>
              <a:t>. The ripening phase lasts until maturity </a:t>
            </a:r>
          </a:p>
          <a:p>
            <a:pPr marL="0" indent="0">
              <a:buNone/>
            </a:pPr>
            <a:r>
              <a:rPr lang="en-US" dirty="0"/>
              <a:t>Panicle initiation starts with formation of the first bract, which later develops into the neck node of the panicle</a:t>
            </a:r>
          </a:p>
          <a:p>
            <a:pPr marL="0" indent="0">
              <a:buNone/>
            </a:pPr>
            <a:r>
              <a:rPr lang="en-US" dirty="0"/>
              <a:t>Booting, swelling of the flag leaf sheath, occurs in the later part of panicle development . It is followed by emergence of the panicle out of the flag leaf sheath (heading) and protrusion of the first dehiscing anthers in the terminal branch (fertilization). </a:t>
            </a:r>
          </a:p>
          <a:p>
            <a:pPr marL="0" indent="0">
              <a:buNone/>
            </a:pPr>
            <a:r>
              <a:rPr lang="en-US" dirty="0"/>
              <a:t>The development of the rice grain after fertilization is a continuous process, during which the grain undergoes several distinct changes in texture and </a:t>
            </a:r>
            <a:r>
              <a:rPr lang="en-US" dirty="0" err="1"/>
              <a:t>colour</a:t>
            </a:r>
            <a:r>
              <a:rPr lang="en-US" dirty="0"/>
              <a:t> before it finally matures.</a:t>
            </a:r>
          </a:p>
          <a:p>
            <a:pPr marL="0" indent="0">
              <a:buNone/>
            </a:pPr>
            <a:r>
              <a:rPr lang="en-US" dirty="0"/>
              <a:t>Grain ripening takes about 25-30 days</a:t>
            </a:r>
            <a:endParaRPr lang="en-NZ" dirty="0"/>
          </a:p>
        </p:txBody>
      </p:sp>
    </p:spTree>
    <p:extLst>
      <p:ext uri="{BB962C8B-B14F-4D97-AF65-F5344CB8AC3E}">
        <p14:creationId xmlns:p14="http://schemas.microsoft.com/office/powerpoint/2010/main" val="37562538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96264-A76A-423A-87F3-D994FE130D92}"/>
              </a:ext>
            </a:extLst>
          </p:cNvPr>
          <p:cNvSpPr>
            <a:spLocks noGrp="1"/>
          </p:cNvSpPr>
          <p:nvPr>
            <p:ph type="title"/>
          </p:nvPr>
        </p:nvSpPr>
        <p:spPr/>
        <p:txBody>
          <a:bodyPr/>
          <a:lstStyle/>
          <a:p>
            <a:r>
              <a:rPr lang="en-AU" dirty="0"/>
              <a:t>Maize</a:t>
            </a:r>
            <a:endParaRPr lang="en-NZ" dirty="0"/>
          </a:p>
        </p:txBody>
      </p:sp>
      <p:sp>
        <p:nvSpPr>
          <p:cNvPr id="3" name="Content Placeholder 2">
            <a:extLst>
              <a:ext uri="{FF2B5EF4-FFF2-40B4-BE49-F238E27FC236}">
                <a16:creationId xmlns:a16="http://schemas.microsoft.com/office/drawing/2014/main" id="{CB44165A-E1ED-4F40-B8E3-C3C7F66D304B}"/>
              </a:ext>
            </a:extLst>
          </p:cNvPr>
          <p:cNvSpPr>
            <a:spLocks noGrp="1"/>
          </p:cNvSpPr>
          <p:nvPr>
            <p:ph idx="1"/>
          </p:nvPr>
        </p:nvSpPr>
        <p:spPr/>
        <p:txBody>
          <a:bodyPr>
            <a:normAutofit/>
          </a:bodyPr>
          <a:lstStyle/>
          <a:p>
            <a:pPr marL="0" indent="0">
              <a:buNone/>
            </a:pPr>
            <a:r>
              <a:rPr lang="en-US" dirty="0"/>
              <a:t>Maize (</a:t>
            </a:r>
            <a:r>
              <a:rPr lang="en-US" dirty="0" err="1"/>
              <a:t>Zea</a:t>
            </a:r>
            <a:r>
              <a:rPr lang="en-US" dirty="0"/>
              <a:t> mays ) or corn, is one of the three major cereal crops in the world</a:t>
            </a:r>
          </a:p>
          <a:p>
            <a:pPr marL="0" indent="0">
              <a:buNone/>
            </a:pPr>
            <a:r>
              <a:rPr lang="en-US" dirty="0"/>
              <a:t>Maize has been traditionally used for direct human consumption, but other use is as an animal feed, as a source of industrial products, fructose corn syrup and fuel ethanol and the remaining used in consumer products such as snack foods, breakfast cereals, and biodegradable plastics</a:t>
            </a:r>
            <a:endParaRPr lang="en-NZ" dirty="0"/>
          </a:p>
        </p:txBody>
      </p:sp>
    </p:spTree>
    <p:extLst>
      <p:ext uri="{BB962C8B-B14F-4D97-AF65-F5344CB8AC3E}">
        <p14:creationId xmlns:p14="http://schemas.microsoft.com/office/powerpoint/2010/main" val="41768732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F2488-6C78-464C-9AC4-95DF1B16089E}"/>
              </a:ext>
            </a:extLst>
          </p:cNvPr>
          <p:cNvSpPr>
            <a:spLocks noGrp="1"/>
          </p:cNvSpPr>
          <p:nvPr>
            <p:ph type="title"/>
          </p:nvPr>
        </p:nvSpPr>
        <p:spPr/>
        <p:txBody>
          <a:bodyPr/>
          <a:lstStyle/>
          <a:p>
            <a:r>
              <a:rPr lang="en-AU" dirty="0"/>
              <a:t>Varieties </a:t>
            </a:r>
            <a:endParaRPr lang="en-NZ" dirty="0"/>
          </a:p>
        </p:txBody>
      </p:sp>
      <p:sp>
        <p:nvSpPr>
          <p:cNvPr id="3" name="Content Placeholder 2">
            <a:extLst>
              <a:ext uri="{FF2B5EF4-FFF2-40B4-BE49-F238E27FC236}">
                <a16:creationId xmlns:a16="http://schemas.microsoft.com/office/drawing/2014/main" id="{06770C63-5E4C-4C9C-921B-B36E9C8B9BA0}"/>
              </a:ext>
            </a:extLst>
          </p:cNvPr>
          <p:cNvSpPr>
            <a:spLocks noGrp="1"/>
          </p:cNvSpPr>
          <p:nvPr>
            <p:ph idx="1"/>
          </p:nvPr>
        </p:nvSpPr>
        <p:spPr/>
        <p:txBody>
          <a:bodyPr/>
          <a:lstStyle/>
          <a:p>
            <a:pPr marL="0" indent="0">
              <a:buNone/>
            </a:pPr>
            <a:r>
              <a:rPr lang="en-AU" dirty="0"/>
              <a:t>Local </a:t>
            </a:r>
          </a:p>
          <a:p>
            <a:pPr marL="0" indent="0">
              <a:buNone/>
            </a:pPr>
            <a:r>
              <a:rPr lang="en-AU" dirty="0"/>
              <a:t>Hybrid </a:t>
            </a:r>
          </a:p>
          <a:p>
            <a:pPr marL="0" indent="0">
              <a:buNone/>
            </a:pPr>
            <a:r>
              <a:rPr lang="en-AU" dirty="0" err="1"/>
              <a:t>Opv</a:t>
            </a:r>
            <a:r>
              <a:rPr lang="en-AU" dirty="0"/>
              <a:t> </a:t>
            </a:r>
          </a:p>
          <a:p>
            <a:pPr marL="0" indent="0">
              <a:buNone/>
            </a:pPr>
            <a:r>
              <a:rPr lang="en-US" dirty="0"/>
              <a:t>Generally, maize is a tall plant with a fibrous root system</a:t>
            </a:r>
          </a:p>
          <a:p>
            <a:pPr marL="0" indent="0">
              <a:buNone/>
            </a:pPr>
            <a:endParaRPr lang="en-US" dirty="0"/>
          </a:p>
          <a:p>
            <a:pPr marL="0" indent="0">
              <a:buNone/>
            </a:pPr>
            <a:r>
              <a:rPr lang="en-US" dirty="0"/>
              <a:t>Categorized according to maturity </a:t>
            </a:r>
            <a:endParaRPr lang="en-NZ" dirty="0"/>
          </a:p>
        </p:txBody>
      </p:sp>
    </p:spTree>
    <p:extLst>
      <p:ext uri="{BB962C8B-B14F-4D97-AF65-F5344CB8AC3E}">
        <p14:creationId xmlns:p14="http://schemas.microsoft.com/office/powerpoint/2010/main" val="11621480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11AEA-05D6-4AD3-882F-D05C4D6316EB}"/>
              </a:ext>
            </a:extLst>
          </p:cNvPr>
          <p:cNvSpPr>
            <a:spLocks noGrp="1"/>
          </p:cNvSpPr>
          <p:nvPr>
            <p:ph type="title"/>
          </p:nvPr>
        </p:nvSpPr>
        <p:spPr/>
        <p:txBody>
          <a:bodyPr/>
          <a:lstStyle/>
          <a:p>
            <a:r>
              <a:rPr lang="en-AU" dirty="0"/>
              <a:t>Growth and development</a:t>
            </a:r>
            <a:endParaRPr lang="en-NZ" dirty="0"/>
          </a:p>
        </p:txBody>
      </p:sp>
      <p:sp>
        <p:nvSpPr>
          <p:cNvPr id="3" name="Content Placeholder 2">
            <a:extLst>
              <a:ext uri="{FF2B5EF4-FFF2-40B4-BE49-F238E27FC236}">
                <a16:creationId xmlns:a16="http://schemas.microsoft.com/office/drawing/2014/main" id="{1960BC36-48B2-4FFF-BFB7-48ED3A605654}"/>
              </a:ext>
            </a:extLst>
          </p:cNvPr>
          <p:cNvSpPr>
            <a:spLocks noGrp="1"/>
          </p:cNvSpPr>
          <p:nvPr>
            <p:ph idx="1"/>
          </p:nvPr>
        </p:nvSpPr>
        <p:spPr/>
        <p:txBody>
          <a:bodyPr>
            <a:normAutofit/>
          </a:bodyPr>
          <a:lstStyle/>
          <a:p>
            <a:pPr marL="0" indent="0">
              <a:buNone/>
            </a:pPr>
            <a:r>
              <a:rPr lang="en-US" dirty="0"/>
              <a:t>The life cycle of maize can be divided into four distinct phases</a:t>
            </a:r>
          </a:p>
          <a:p>
            <a:pPr marL="0" indent="0">
              <a:buNone/>
            </a:pPr>
            <a:r>
              <a:rPr lang="en-US" dirty="0"/>
              <a:t>1.The leaf-growth phase </a:t>
            </a:r>
          </a:p>
          <a:p>
            <a:pPr marL="0" indent="0">
              <a:buNone/>
            </a:pPr>
            <a:r>
              <a:rPr lang="en-US" dirty="0"/>
              <a:t>Plant emergence </a:t>
            </a:r>
          </a:p>
          <a:p>
            <a:pPr marL="0" indent="0">
              <a:buNone/>
            </a:pPr>
            <a:r>
              <a:rPr lang="en-US" dirty="0"/>
              <a:t>Transition from heterotrophic to predominantly autotrophic growth </a:t>
            </a:r>
          </a:p>
          <a:p>
            <a:pPr marL="0" indent="0">
              <a:buNone/>
            </a:pPr>
            <a:r>
              <a:rPr lang="en-US" dirty="0"/>
              <a:t>End of Juvenile phase </a:t>
            </a:r>
          </a:p>
          <a:p>
            <a:pPr marL="0" indent="0">
              <a:buNone/>
            </a:pPr>
            <a:r>
              <a:rPr lang="en-US" dirty="0"/>
              <a:t>Tassel initiation </a:t>
            </a:r>
          </a:p>
          <a:p>
            <a:pPr marL="0" indent="0">
              <a:buNone/>
            </a:pPr>
            <a:r>
              <a:rPr lang="en-US" dirty="0"/>
              <a:t>Initiation of topmost ear </a:t>
            </a:r>
          </a:p>
          <a:p>
            <a:pPr marL="0" indent="0">
              <a:buNone/>
            </a:pPr>
            <a:r>
              <a:rPr lang="en-US" dirty="0"/>
              <a:t>Emergence of topmost leaf </a:t>
            </a:r>
          </a:p>
        </p:txBody>
      </p:sp>
    </p:spTree>
    <p:extLst>
      <p:ext uri="{BB962C8B-B14F-4D97-AF65-F5344CB8AC3E}">
        <p14:creationId xmlns:p14="http://schemas.microsoft.com/office/powerpoint/2010/main" val="19917220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4D758-3A30-4165-8D80-88CD79D4F504}"/>
              </a:ext>
            </a:extLst>
          </p:cNvPr>
          <p:cNvSpPr>
            <a:spLocks noGrp="1"/>
          </p:cNvSpPr>
          <p:nvPr>
            <p:ph type="title"/>
          </p:nvPr>
        </p:nvSpPr>
        <p:spPr/>
        <p:txBody>
          <a:bodyPr/>
          <a:lstStyle/>
          <a:p>
            <a:endParaRPr lang="en-NZ" dirty="0"/>
          </a:p>
        </p:txBody>
      </p:sp>
      <p:sp>
        <p:nvSpPr>
          <p:cNvPr id="3" name="Content Placeholder 2">
            <a:extLst>
              <a:ext uri="{FF2B5EF4-FFF2-40B4-BE49-F238E27FC236}">
                <a16:creationId xmlns:a16="http://schemas.microsoft.com/office/drawing/2014/main" id="{DDA0D733-4314-4CC4-BFEC-56C0ACFE6AB0}"/>
              </a:ext>
            </a:extLst>
          </p:cNvPr>
          <p:cNvSpPr>
            <a:spLocks noGrp="1"/>
          </p:cNvSpPr>
          <p:nvPr>
            <p:ph idx="1"/>
          </p:nvPr>
        </p:nvSpPr>
        <p:spPr/>
        <p:txBody>
          <a:bodyPr/>
          <a:lstStyle/>
          <a:p>
            <a:pPr marL="0" indent="0">
              <a:buNone/>
            </a:pPr>
            <a:r>
              <a:rPr lang="en-US" dirty="0"/>
              <a:t>2. The flowering period</a:t>
            </a:r>
          </a:p>
          <a:p>
            <a:pPr marL="0" indent="0">
              <a:buNone/>
            </a:pPr>
            <a:r>
              <a:rPr lang="en-US" dirty="0"/>
              <a:t>Tassel emergence </a:t>
            </a:r>
          </a:p>
          <a:p>
            <a:pPr marL="0" indent="0">
              <a:buNone/>
            </a:pPr>
            <a:r>
              <a:rPr lang="en-US" dirty="0"/>
              <a:t>Anthesis </a:t>
            </a:r>
          </a:p>
          <a:p>
            <a:pPr marL="0" indent="0">
              <a:buNone/>
            </a:pPr>
            <a:r>
              <a:rPr lang="en-US" dirty="0"/>
              <a:t>Silking </a:t>
            </a:r>
          </a:p>
          <a:p>
            <a:pPr marL="0" indent="0">
              <a:buNone/>
            </a:pPr>
            <a:r>
              <a:rPr lang="en-US" dirty="0"/>
              <a:t>Fertilization of the florets </a:t>
            </a:r>
            <a:endParaRPr lang="en-NZ" dirty="0"/>
          </a:p>
        </p:txBody>
      </p:sp>
    </p:spTree>
    <p:extLst>
      <p:ext uri="{BB962C8B-B14F-4D97-AF65-F5344CB8AC3E}">
        <p14:creationId xmlns:p14="http://schemas.microsoft.com/office/powerpoint/2010/main" val="35465835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9C22B-3280-4E08-9355-90C00E56A488}"/>
              </a:ext>
            </a:extLst>
          </p:cNvPr>
          <p:cNvSpPr>
            <a:spLocks noGrp="1"/>
          </p:cNvSpPr>
          <p:nvPr>
            <p:ph type="title"/>
          </p:nvPr>
        </p:nvSpPr>
        <p:spPr/>
        <p:txBody>
          <a:bodyPr/>
          <a:lstStyle/>
          <a:p>
            <a:endParaRPr lang="en-NZ"/>
          </a:p>
        </p:txBody>
      </p:sp>
      <p:sp>
        <p:nvSpPr>
          <p:cNvPr id="3" name="Content Placeholder 2">
            <a:extLst>
              <a:ext uri="{FF2B5EF4-FFF2-40B4-BE49-F238E27FC236}">
                <a16:creationId xmlns:a16="http://schemas.microsoft.com/office/drawing/2014/main" id="{03499044-ACA1-429F-A1FC-CC3D4BC0DFDD}"/>
              </a:ext>
            </a:extLst>
          </p:cNvPr>
          <p:cNvSpPr>
            <a:spLocks noGrp="1"/>
          </p:cNvSpPr>
          <p:nvPr>
            <p:ph idx="1"/>
          </p:nvPr>
        </p:nvSpPr>
        <p:spPr/>
        <p:txBody>
          <a:bodyPr/>
          <a:lstStyle/>
          <a:p>
            <a:pPr marL="0" indent="0">
              <a:buNone/>
            </a:pPr>
            <a:r>
              <a:rPr lang="en-US" dirty="0"/>
              <a:t>3. The grain-filling period </a:t>
            </a:r>
          </a:p>
          <a:p>
            <a:pPr marL="0" indent="0">
              <a:buNone/>
            </a:pPr>
            <a:r>
              <a:rPr lang="en-US" dirty="0"/>
              <a:t>Onset of lag phase of grain dry matter accumulation </a:t>
            </a:r>
          </a:p>
          <a:p>
            <a:pPr marL="0" indent="0">
              <a:buNone/>
            </a:pPr>
            <a:r>
              <a:rPr lang="en-US" dirty="0"/>
              <a:t>Onset of rapid grain dry matter accumulation </a:t>
            </a:r>
          </a:p>
          <a:p>
            <a:pPr marL="0" indent="0">
              <a:buNone/>
            </a:pPr>
            <a:r>
              <a:rPr lang="en-US" dirty="0"/>
              <a:t>End of rapid grain dry matter accumulation</a:t>
            </a:r>
          </a:p>
          <a:p>
            <a:pPr marL="0" indent="0">
              <a:buNone/>
            </a:pPr>
            <a:r>
              <a:rPr lang="en-US" dirty="0"/>
              <a:t>Half milk line </a:t>
            </a:r>
            <a:endParaRPr lang="en-NZ" dirty="0"/>
          </a:p>
        </p:txBody>
      </p:sp>
    </p:spTree>
    <p:extLst>
      <p:ext uri="{BB962C8B-B14F-4D97-AF65-F5344CB8AC3E}">
        <p14:creationId xmlns:p14="http://schemas.microsoft.com/office/powerpoint/2010/main" val="14739906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0B64B-F3BD-48B1-BE2C-26DF142C442E}"/>
              </a:ext>
            </a:extLst>
          </p:cNvPr>
          <p:cNvSpPr>
            <a:spLocks noGrp="1"/>
          </p:cNvSpPr>
          <p:nvPr>
            <p:ph type="title"/>
          </p:nvPr>
        </p:nvSpPr>
        <p:spPr/>
        <p:txBody>
          <a:bodyPr/>
          <a:lstStyle/>
          <a:p>
            <a:endParaRPr lang="en-NZ"/>
          </a:p>
        </p:txBody>
      </p:sp>
      <p:sp>
        <p:nvSpPr>
          <p:cNvPr id="3" name="Content Placeholder 2">
            <a:extLst>
              <a:ext uri="{FF2B5EF4-FFF2-40B4-BE49-F238E27FC236}">
                <a16:creationId xmlns:a16="http://schemas.microsoft.com/office/drawing/2014/main" id="{FBB5CBF1-02FB-42EC-8032-F3E890CE0C9E}"/>
              </a:ext>
            </a:extLst>
          </p:cNvPr>
          <p:cNvSpPr>
            <a:spLocks noGrp="1"/>
          </p:cNvSpPr>
          <p:nvPr>
            <p:ph idx="1"/>
          </p:nvPr>
        </p:nvSpPr>
        <p:spPr/>
        <p:txBody>
          <a:bodyPr/>
          <a:lstStyle/>
          <a:p>
            <a:pPr marL="0" indent="0">
              <a:buNone/>
            </a:pPr>
            <a:r>
              <a:rPr lang="en-US" dirty="0"/>
              <a:t>4. The period of grain dry down </a:t>
            </a:r>
          </a:p>
          <a:p>
            <a:pPr marL="0" indent="0">
              <a:buNone/>
            </a:pPr>
            <a:r>
              <a:rPr lang="en-US" dirty="0"/>
              <a:t>Black layer formation </a:t>
            </a:r>
          </a:p>
          <a:p>
            <a:pPr marL="0" indent="0">
              <a:buNone/>
            </a:pPr>
            <a:r>
              <a:rPr lang="en-US" dirty="0"/>
              <a:t>Maturity grain moisture </a:t>
            </a:r>
            <a:endParaRPr lang="en-NZ" dirty="0"/>
          </a:p>
        </p:txBody>
      </p:sp>
    </p:spTree>
    <p:extLst>
      <p:ext uri="{BB962C8B-B14F-4D97-AF65-F5344CB8AC3E}">
        <p14:creationId xmlns:p14="http://schemas.microsoft.com/office/powerpoint/2010/main" val="30525793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800</TotalTime>
  <Words>1154</Words>
  <Application>Microsoft Office PowerPoint</Application>
  <PresentationFormat>Widescreen</PresentationFormat>
  <Paragraphs>109</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Calibri Light</vt:lpstr>
      <vt:lpstr>Office Theme</vt:lpstr>
      <vt:lpstr>Crop Science  Lecture 2 24th August 2021</vt:lpstr>
      <vt:lpstr>Crop yield potential</vt:lpstr>
      <vt:lpstr>Yield </vt:lpstr>
      <vt:lpstr> Plant yield </vt:lpstr>
      <vt:lpstr>Cereal crop development</vt:lpstr>
      <vt:lpstr>Wheat development</vt:lpstr>
      <vt:lpstr>Leaf, branches and Floret Initiation</vt:lpstr>
      <vt:lpstr>PowerPoint Presentation</vt:lpstr>
      <vt:lpstr>Tiller Development</vt:lpstr>
      <vt:lpstr>PowerPoint Presentation</vt:lpstr>
      <vt:lpstr>PowerPoint Presentation</vt:lpstr>
      <vt:lpstr>Rice </vt:lpstr>
      <vt:lpstr>Growth and Development </vt:lpstr>
      <vt:lpstr>Developmental stages</vt:lpstr>
      <vt:lpstr>Vegetative Growth</vt:lpstr>
      <vt:lpstr>Reproductive Growth</vt:lpstr>
      <vt:lpstr>Maize</vt:lpstr>
      <vt:lpstr>Varieties </vt:lpstr>
      <vt:lpstr>Growth and development</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Crop Science  Lecture 1 23rd August 2021</dc:title>
  <dc:creator>Sakala, Aaron</dc:creator>
  <cp:lastModifiedBy>Hopeday Lupumpaula</cp:lastModifiedBy>
  <cp:revision>22</cp:revision>
  <dcterms:created xsi:type="dcterms:W3CDTF">2021-08-13T11:47:52Z</dcterms:created>
  <dcterms:modified xsi:type="dcterms:W3CDTF">2022-03-21T11:41:14Z</dcterms:modified>
</cp:coreProperties>
</file>