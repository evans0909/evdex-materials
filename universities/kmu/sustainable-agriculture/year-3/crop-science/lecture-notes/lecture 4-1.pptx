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B3432-33F6-407A-99DA-4733816E43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35DD3A98-CD89-4652-A65D-313A3958ED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ADEFCB1B-6259-480A-8B88-FECFBCA3229C}"/>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5" name="Footer Placeholder 4">
            <a:extLst>
              <a:ext uri="{FF2B5EF4-FFF2-40B4-BE49-F238E27FC236}">
                <a16:creationId xmlns:a16="http://schemas.microsoft.com/office/drawing/2014/main" id="{472A5951-A965-43C8-8865-437D38884D1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F87F975-E7C8-4FE1-B5B4-AD7CF93C41CA}"/>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4012032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7C3F2-09CE-429D-BB7B-AF64B3381601}"/>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63B60CCD-1E37-4EA1-9A7C-6A146E9017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9DA2EDD3-EC1E-41C9-A8C0-4B9532923D24}"/>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5" name="Footer Placeholder 4">
            <a:extLst>
              <a:ext uri="{FF2B5EF4-FFF2-40B4-BE49-F238E27FC236}">
                <a16:creationId xmlns:a16="http://schemas.microsoft.com/office/drawing/2014/main" id="{2FE33B9B-2C1B-46E4-B89D-33570214E9D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BE8F5C8-6D72-45C3-8751-75299C9D5DC0}"/>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3814348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8F1BE-8C59-4032-9FCB-93C0B2372A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C27A1157-53D9-496D-AB22-DD8428A5B0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11375B-50FF-4646-8AA4-F1675F331DE5}"/>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5" name="Footer Placeholder 4">
            <a:extLst>
              <a:ext uri="{FF2B5EF4-FFF2-40B4-BE49-F238E27FC236}">
                <a16:creationId xmlns:a16="http://schemas.microsoft.com/office/drawing/2014/main" id="{3A6A0007-AD5E-48F5-B342-56362920E10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75D0893-46B7-4627-A249-961B04465D22}"/>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3012427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537C8-834B-42B8-85CA-25550582088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7130CE80-2AC4-4D7A-BC3C-8649CF0681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60DF1F19-37F7-418C-BDB2-100DEEE0ED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FF5B11BB-6A62-4B89-8FA8-FFC915B74788}"/>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6" name="Footer Placeholder 5">
            <a:extLst>
              <a:ext uri="{FF2B5EF4-FFF2-40B4-BE49-F238E27FC236}">
                <a16:creationId xmlns:a16="http://schemas.microsoft.com/office/drawing/2014/main" id="{8F113FFA-6F2A-4925-A139-3D94E8A6603F}"/>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F3AF34FC-F7C8-4568-A559-0ED4290E3366}"/>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1171375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C5D5D-0B20-49C4-943D-DAAB29CB5A88}"/>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B819F854-BF8F-4F70-9EB6-8A2492028B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972050-1FFC-4A8F-8FDF-31DE6BB720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495C997-A28C-4EBC-A3E8-5CC206AC7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231C02-9CF6-40E4-8656-2516249131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BEF5C4A8-69B3-4085-B3BD-A31417764772}"/>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8" name="Footer Placeholder 7">
            <a:extLst>
              <a:ext uri="{FF2B5EF4-FFF2-40B4-BE49-F238E27FC236}">
                <a16:creationId xmlns:a16="http://schemas.microsoft.com/office/drawing/2014/main" id="{10EDD3DC-7FCF-4A59-9174-132E5D1CDEE5}"/>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156BAD4B-4187-4ECC-9051-40C8421E8071}"/>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4103653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DDA8F-AC56-469F-83AD-05411EC879CA}"/>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C8388CA0-50E8-48B0-A1F2-FBABF542DA21}"/>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4" name="Footer Placeholder 3">
            <a:extLst>
              <a:ext uri="{FF2B5EF4-FFF2-40B4-BE49-F238E27FC236}">
                <a16:creationId xmlns:a16="http://schemas.microsoft.com/office/drawing/2014/main" id="{7539E32D-35EA-4DE1-8AFE-0F7223F5C6D8}"/>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7122ED48-F3F7-4298-9EBA-B2B0CE880642}"/>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2773474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3E7595-6A98-446E-81AA-5FF99356F166}"/>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3" name="Footer Placeholder 2">
            <a:extLst>
              <a:ext uri="{FF2B5EF4-FFF2-40B4-BE49-F238E27FC236}">
                <a16:creationId xmlns:a16="http://schemas.microsoft.com/office/drawing/2014/main" id="{7714ED7A-8CDF-4F06-816F-0FFCE246C2F6}"/>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11D281E0-FE06-4FEB-ADEF-BD1DAE071805}"/>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212194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A8023-A817-4524-B967-31D7612DF1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E1256561-5A12-48FF-A7B4-541B09A8F3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B173C3CA-6C6E-4CE1-B50D-1744CF2BEC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F03953-F9A9-4289-9A21-33D1FBB95C18}"/>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6" name="Footer Placeholder 5">
            <a:extLst>
              <a:ext uri="{FF2B5EF4-FFF2-40B4-BE49-F238E27FC236}">
                <a16:creationId xmlns:a16="http://schemas.microsoft.com/office/drawing/2014/main" id="{2783586A-94D2-42D8-B98B-5565B92D124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C322130D-79F2-477C-BDC9-D0EEEA929889}"/>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17268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0EC9-3E51-44DF-A1E5-7ED0EB09D3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31180446-63A4-4044-8341-F1D2686791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87A1D0B9-F57B-48BC-BCA1-E534CED531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E8CB53-C0F3-4C03-9469-A5D06F35AB6C}"/>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6" name="Footer Placeholder 5">
            <a:extLst>
              <a:ext uri="{FF2B5EF4-FFF2-40B4-BE49-F238E27FC236}">
                <a16:creationId xmlns:a16="http://schemas.microsoft.com/office/drawing/2014/main" id="{65B84A99-0937-4FF1-8765-9E53FC1272E4}"/>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545862A2-0C81-4DE6-9751-28FC4D5CF499}"/>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4098041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92107-0A43-449D-93AB-7F1FFC8846F7}"/>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4B1EA3E5-535D-47B8-87B9-3D8F3289CF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C70B4245-5E0A-4514-BEDB-1A80E56FFA16}"/>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5" name="Footer Placeholder 4">
            <a:extLst>
              <a:ext uri="{FF2B5EF4-FFF2-40B4-BE49-F238E27FC236}">
                <a16:creationId xmlns:a16="http://schemas.microsoft.com/office/drawing/2014/main" id="{79FB82A2-C90A-4197-8D7B-79CE62772F0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93D1B47-AB0A-4DBB-8C40-4B16ADC7FD7B}"/>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2617912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779600-81CD-4611-A413-553F267461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6E7D4448-8541-4126-85E5-B718552935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942F6F2-4C39-42F9-8867-E2C057A34AFF}"/>
              </a:ext>
            </a:extLst>
          </p:cNvPr>
          <p:cNvSpPr>
            <a:spLocks noGrp="1"/>
          </p:cNvSpPr>
          <p:nvPr>
            <p:ph type="dt" sz="half" idx="10"/>
          </p:nvPr>
        </p:nvSpPr>
        <p:spPr/>
        <p:txBody>
          <a:bodyPr/>
          <a:lstStyle/>
          <a:p>
            <a:fld id="{FD2DE32E-5F08-4203-9B1B-7BC8F85932C3}" type="datetimeFigureOut">
              <a:rPr lang="en-NZ" smtClean="0"/>
              <a:t>11/03/2022</a:t>
            </a:fld>
            <a:endParaRPr lang="en-NZ"/>
          </a:p>
        </p:txBody>
      </p:sp>
      <p:sp>
        <p:nvSpPr>
          <p:cNvPr id="5" name="Footer Placeholder 4">
            <a:extLst>
              <a:ext uri="{FF2B5EF4-FFF2-40B4-BE49-F238E27FC236}">
                <a16:creationId xmlns:a16="http://schemas.microsoft.com/office/drawing/2014/main" id="{BCD0F259-7F31-470A-8EF7-4AB1E422D6D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09CB5FCA-D99A-414F-BD1E-D85B27D23006}"/>
              </a:ext>
            </a:extLst>
          </p:cNvPr>
          <p:cNvSpPr>
            <a:spLocks noGrp="1"/>
          </p:cNvSpPr>
          <p:nvPr>
            <p:ph type="sldNum" sz="quarter" idx="12"/>
          </p:nvPr>
        </p:nvSpPr>
        <p:spPr/>
        <p:txBody>
          <a:bodyPr/>
          <a:lstStyle/>
          <a:p>
            <a:fld id="{CAE39ECA-2B40-4B81-B39A-08808B0C2750}" type="slidenum">
              <a:rPr lang="en-NZ" smtClean="0"/>
              <a:t>‹#›</a:t>
            </a:fld>
            <a:endParaRPr lang="en-NZ"/>
          </a:p>
        </p:txBody>
      </p:sp>
    </p:spTree>
    <p:extLst>
      <p:ext uri="{BB962C8B-B14F-4D97-AF65-F5344CB8AC3E}">
        <p14:creationId xmlns:p14="http://schemas.microsoft.com/office/powerpoint/2010/main" val="2308557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E090ED-31D8-4B7F-B730-8152B2F5D2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34D15FBA-0C8C-4DC7-B0E7-F0B72F0D2B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A02F7AB-0A2D-4041-B9CC-AB82FFAFBD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2DE32E-5F08-4203-9B1B-7BC8F85932C3}" type="datetimeFigureOut">
              <a:rPr lang="en-NZ" smtClean="0"/>
              <a:t>11/03/2022</a:t>
            </a:fld>
            <a:endParaRPr lang="en-NZ"/>
          </a:p>
        </p:txBody>
      </p:sp>
      <p:sp>
        <p:nvSpPr>
          <p:cNvPr id="5" name="Footer Placeholder 4">
            <a:extLst>
              <a:ext uri="{FF2B5EF4-FFF2-40B4-BE49-F238E27FC236}">
                <a16:creationId xmlns:a16="http://schemas.microsoft.com/office/drawing/2014/main" id="{CF2048E1-FF25-4E9B-B441-53DAB4FDC8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B5DDBF87-B05D-4C3C-BCAA-36A2FBD4A0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E39ECA-2B40-4B81-B39A-08808B0C2750}" type="slidenum">
              <a:rPr lang="en-NZ" smtClean="0"/>
              <a:t>‹#›</a:t>
            </a:fld>
            <a:endParaRPr lang="en-NZ"/>
          </a:p>
        </p:txBody>
      </p:sp>
    </p:spTree>
    <p:extLst>
      <p:ext uri="{BB962C8B-B14F-4D97-AF65-F5344CB8AC3E}">
        <p14:creationId xmlns:p14="http://schemas.microsoft.com/office/powerpoint/2010/main" val="2671291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22415-7A17-4890-96E9-DA4C4E7C21D6}"/>
              </a:ext>
            </a:extLst>
          </p:cNvPr>
          <p:cNvSpPr>
            <a:spLocks noGrp="1"/>
          </p:cNvSpPr>
          <p:nvPr>
            <p:ph type="ctrTitle"/>
          </p:nvPr>
        </p:nvSpPr>
        <p:spPr/>
        <p:txBody>
          <a:bodyPr/>
          <a:lstStyle/>
          <a:p>
            <a:r>
              <a:rPr lang="en-GB" dirty="0"/>
              <a:t>Lecture 4</a:t>
            </a:r>
            <a:endParaRPr lang="en-NZ" dirty="0"/>
          </a:p>
        </p:txBody>
      </p:sp>
      <p:sp>
        <p:nvSpPr>
          <p:cNvPr id="3" name="Subtitle 2">
            <a:extLst>
              <a:ext uri="{FF2B5EF4-FFF2-40B4-BE49-F238E27FC236}">
                <a16:creationId xmlns:a16="http://schemas.microsoft.com/office/drawing/2014/main" id="{186BA24A-306F-40B9-865F-498FC6412DA6}"/>
              </a:ext>
            </a:extLst>
          </p:cNvPr>
          <p:cNvSpPr>
            <a:spLocks noGrp="1"/>
          </p:cNvSpPr>
          <p:nvPr>
            <p:ph type="subTitle" idx="1"/>
          </p:nvPr>
        </p:nvSpPr>
        <p:spPr/>
        <p:txBody>
          <a:bodyPr/>
          <a:lstStyle/>
          <a:p>
            <a:r>
              <a:rPr lang="en-GB" dirty="0"/>
              <a:t>Crop science</a:t>
            </a:r>
          </a:p>
          <a:p>
            <a:r>
              <a:rPr lang="en-GB" dirty="0"/>
              <a:t>Yield components </a:t>
            </a:r>
            <a:endParaRPr lang="en-NZ" dirty="0"/>
          </a:p>
        </p:txBody>
      </p:sp>
    </p:spTree>
    <p:extLst>
      <p:ext uri="{BB962C8B-B14F-4D97-AF65-F5344CB8AC3E}">
        <p14:creationId xmlns:p14="http://schemas.microsoft.com/office/powerpoint/2010/main" val="3235511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96D30-1539-461D-9536-60F35631028F}"/>
              </a:ext>
            </a:extLst>
          </p:cNvPr>
          <p:cNvSpPr>
            <a:spLocks noGrp="1"/>
          </p:cNvSpPr>
          <p:nvPr>
            <p:ph type="title"/>
          </p:nvPr>
        </p:nvSpPr>
        <p:spPr/>
        <p:txBody>
          <a:bodyPr/>
          <a:lstStyle/>
          <a:p>
            <a:r>
              <a:rPr lang="en-GB" dirty="0"/>
              <a:t>Yield </a:t>
            </a:r>
            <a:endParaRPr lang="en-NZ" dirty="0"/>
          </a:p>
        </p:txBody>
      </p:sp>
      <p:sp>
        <p:nvSpPr>
          <p:cNvPr id="3" name="Content Placeholder 2">
            <a:extLst>
              <a:ext uri="{FF2B5EF4-FFF2-40B4-BE49-F238E27FC236}">
                <a16:creationId xmlns:a16="http://schemas.microsoft.com/office/drawing/2014/main" id="{8012CB60-AB1F-4693-8141-42C08EDB7EA9}"/>
              </a:ext>
            </a:extLst>
          </p:cNvPr>
          <p:cNvSpPr>
            <a:spLocks noGrp="1"/>
          </p:cNvSpPr>
          <p:nvPr>
            <p:ph idx="1"/>
          </p:nvPr>
        </p:nvSpPr>
        <p:spPr/>
        <p:txBody>
          <a:bodyPr/>
          <a:lstStyle/>
          <a:p>
            <a:pPr marL="0" indent="0">
              <a:buNone/>
            </a:pPr>
            <a:r>
              <a:rPr lang="en-US" dirty="0"/>
              <a:t>Crop yield is determined by plant growth and partitioning of biomass to marketable parts of plants</a:t>
            </a:r>
          </a:p>
          <a:p>
            <a:pPr marL="0" indent="0">
              <a:buNone/>
            </a:pPr>
            <a:r>
              <a:rPr lang="en-US" dirty="0"/>
              <a:t>Growth and partitioning are affected by developmental stages of crops</a:t>
            </a:r>
          </a:p>
          <a:p>
            <a:pPr marL="0" indent="0">
              <a:buNone/>
            </a:pPr>
            <a:r>
              <a:rPr lang="en-US" dirty="0"/>
              <a:t>Knowledge of physiological processes of growth, development, and partitioning into yield components is necessary for a basic understanding of maximizing crop yield</a:t>
            </a:r>
          </a:p>
          <a:p>
            <a:pPr marL="0" indent="0">
              <a:buNone/>
            </a:pPr>
            <a:r>
              <a:rPr lang="en-US" dirty="0"/>
              <a:t>Yield parameters include leaf area, shoot, root, and total weights, or plant height</a:t>
            </a:r>
          </a:p>
          <a:p>
            <a:pPr marL="0" indent="0">
              <a:buNone/>
            </a:pPr>
            <a:endParaRPr lang="en-NZ" dirty="0"/>
          </a:p>
        </p:txBody>
      </p:sp>
    </p:spTree>
    <p:extLst>
      <p:ext uri="{BB962C8B-B14F-4D97-AF65-F5344CB8AC3E}">
        <p14:creationId xmlns:p14="http://schemas.microsoft.com/office/powerpoint/2010/main" val="4216713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B2AA1-43D8-4EC2-88A5-80937122B523}"/>
              </a:ext>
            </a:extLst>
          </p:cNvPr>
          <p:cNvSpPr>
            <a:spLocks noGrp="1"/>
          </p:cNvSpPr>
          <p:nvPr>
            <p:ph type="title"/>
          </p:nvPr>
        </p:nvSpPr>
        <p:spPr/>
        <p:txBody>
          <a:bodyPr/>
          <a:lstStyle/>
          <a:p>
            <a:r>
              <a:rPr lang="en-GB" dirty="0"/>
              <a:t>Yield components </a:t>
            </a:r>
            <a:endParaRPr lang="en-NZ" dirty="0"/>
          </a:p>
        </p:txBody>
      </p:sp>
      <p:sp>
        <p:nvSpPr>
          <p:cNvPr id="3" name="Content Placeholder 2">
            <a:extLst>
              <a:ext uri="{FF2B5EF4-FFF2-40B4-BE49-F238E27FC236}">
                <a16:creationId xmlns:a16="http://schemas.microsoft.com/office/drawing/2014/main" id="{1E4C8ADA-4C69-4503-A0F0-4289FEE7BA8D}"/>
              </a:ext>
            </a:extLst>
          </p:cNvPr>
          <p:cNvSpPr>
            <a:spLocks noGrp="1"/>
          </p:cNvSpPr>
          <p:nvPr>
            <p:ph idx="1"/>
          </p:nvPr>
        </p:nvSpPr>
        <p:spPr/>
        <p:txBody>
          <a:bodyPr>
            <a:normAutofit fontScale="92500"/>
          </a:bodyPr>
          <a:lstStyle/>
          <a:p>
            <a:pPr marL="0" indent="0">
              <a:buNone/>
            </a:pPr>
            <a:r>
              <a:rPr lang="en-US" dirty="0"/>
              <a:t>Yield components can be divided into plant developmental stages of growth</a:t>
            </a:r>
          </a:p>
          <a:p>
            <a:pPr marL="0" indent="0">
              <a:buNone/>
            </a:pPr>
            <a:r>
              <a:rPr lang="en-US" dirty="0"/>
              <a:t>Yield components are important in many crop research programs</a:t>
            </a:r>
          </a:p>
          <a:p>
            <a:pPr marL="0" indent="0">
              <a:buNone/>
            </a:pPr>
            <a:r>
              <a:rPr lang="en-US" dirty="0"/>
              <a:t>Plant breeders improve yield by selecting components of yield such as seeds per plant or thousand grain weight</a:t>
            </a:r>
          </a:p>
          <a:p>
            <a:pPr marL="0" indent="0">
              <a:buNone/>
            </a:pPr>
            <a:r>
              <a:rPr lang="en-US" dirty="0"/>
              <a:t>Components for grain yield of cereal crops, numbers of branches appear to be important in developing high-yielding cultivars </a:t>
            </a:r>
          </a:p>
          <a:p>
            <a:pPr marL="0" indent="0">
              <a:buNone/>
            </a:pPr>
            <a:r>
              <a:rPr lang="en-US" dirty="0"/>
              <a:t>Grain yield in field crops is determined by components like ear per unit area, or ear weights</a:t>
            </a:r>
          </a:p>
          <a:p>
            <a:pPr marL="0" indent="0">
              <a:buNone/>
            </a:pPr>
            <a:r>
              <a:rPr lang="en-US" dirty="0"/>
              <a:t>legumes are determined by numbers of pods per unit area, grains per pod, and dry weights of grain </a:t>
            </a:r>
            <a:endParaRPr lang="en-NZ" dirty="0"/>
          </a:p>
        </p:txBody>
      </p:sp>
    </p:spTree>
    <p:extLst>
      <p:ext uri="{BB962C8B-B14F-4D97-AF65-F5344CB8AC3E}">
        <p14:creationId xmlns:p14="http://schemas.microsoft.com/office/powerpoint/2010/main" val="3107720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A2CDF-B0D2-4DA4-969B-C8CEC5844211}"/>
              </a:ext>
            </a:extLst>
          </p:cNvPr>
          <p:cNvSpPr>
            <a:spLocks noGrp="1"/>
          </p:cNvSpPr>
          <p:nvPr>
            <p:ph type="title"/>
          </p:nvPr>
        </p:nvSpPr>
        <p:spPr/>
        <p:txBody>
          <a:bodyPr/>
          <a:lstStyle/>
          <a:p>
            <a:r>
              <a:rPr lang="en-GB" dirty="0"/>
              <a:t>Yield calculation </a:t>
            </a:r>
            <a:endParaRPr lang="en-NZ" dirty="0"/>
          </a:p>
        </p:txBody>
      </p:sp>
      <p:sp>
        <p:nvSpPr>
          <p:cNvPr id="3" name="Content Placeholder 2">
            <a:extLst>
              <a:ext uri="{FF2B5EF4-FFF2-40B4-BE49-F238E27FC236}">
                <a16:creationId xmlns:a16="http://schemas.microsoft.com/office/drawing/2014/main" id="{0D80270D-3C47-4BB6-ADD8-A3A5139A2AD0}"/>
              </a:ext>
            </a:extLst>
          </p:cNvPr>
          <p:cNvSpPr>
            <a:spLocks noGrp="1"/>
          </p:cNvSpPr>
          <p:nvPr>
            <p:ph idx="1"/>
          </p:nvPr>
        </p:nvSpPr>
        <p:spPr/>
        <p:txBody>
          <a:bodyPr/>
          <a:lstStyle/>
          <a:p>
            <a:pPr marL="0" indent="0">
              <a:buNone/>
            </a:pPr>
            <a:r>
              <a:rPr lang="en-GB" dirty="0"/>
              <a:t>Yield = grain weight X number of grains per area</a:t>
            </a:r>
          </a:p>
          <a:p>
            <a:pPr marL="0" indent="0">
              <a:buNone/>
            </a:pPr>
            <a:r>
              <a:rPr lang="en-GB" dirty="0" err="1"/>
              <a:t>Eg</a:t>
            </a:r>
            <a:r>
              <a:rPr lang="en-GB" dirty="0"/>
              <a:t> yield of the maize plant with 100 grains per cob weighing 2 grams</a:t>
            </a:r>
          </a:p>
          <a:p>
            <a:pPr marL="0" indent="0">
              <a:buNone/>
            </a:pPr>
            <a:r>
              <a:rPr lang="en-GB" dirty="0"/>
              <a:t>100 grains X 2 grams = 200g X 11,111 = 2,222kg  lima</a:t>
            </a:r>
          </a:p>
          <a:p>
            <a:pPr marL="0" indent="0">
              <a:buNone/>
            </a:pPr>
            <a:endParaRPr lang="en-GB" dirty="0"/>
          </a:p>
          <a:p>
            <a:pPr marL="0" indent="0">
              <a:buNone/>
            </a:pPr>
            <a:r>
              <a:rPr lang="en-GB" dirty="0"/>
              <a:t>200g X 44,444 plants = 88,888kg  hectare</a:t>
            </a:r>
          </a:p>
          <a:p>
            <a:pPr marL="0" indent="0">
              <a:buNone/>
            </a:pPr>
            <a:endParaRPr lang="en-GB" dirty="0"/>
          </a:p>
          <a:p>
            <a:pPr marL="0" indent="0">
              <a:buNone/>
            </a:pPr>
            <a:endParaRPr lang="en-GB" dirty="0"/>
          </a:p>
          <a:p>
            <a:pPr marL="0" indent="0">
              <a:buNone/>
            </a:pPr>
            <a:endParaRPr lang="en-NZ" dirty="0"/>
          </a:p>
        </p:txBody>
      </p:sp>
    </p:spTree>
    <p:extLst>
      <p:ext uri="{BB962C8B-B14F-4D97-AF65-F5344CB8AC3E}">
        <p14:creationId xmlns:p14="http://schemas.microsoft.com/office/powerpoint/2010/main" val="953541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F754-D159-4B48-9ABF-7D9F7BADA10C}"/>
              </a:ext>
            </a:extLst>
          </p:cNvPr>
          <p:cNvSpPr>
            <a:spLocks noGrp="1"/>
          </p:cNvSpPr>
          <p:nvPr>
            <p:ph type="title"/>
          </p:nvPr>
        </p:nvSpPr>
        <p:spPr/>
        <p:txBody>
          <a:bodyPr/>
          <a:lstStyle/>
          <a:p>
            <a:r>
              <a:rPr lang="en-GB" dirty="0"/>
              <a:t>Dry matter production </a:t>
            </a:r>
            <a:endParaRPr lang="en-NZ" dirty="0"/>
          </a:p>
        </p:txBody>
      </p:sp>
      <p:sp>
        <p:nvSpPr>
          <p:cNvPr id="3" name="Content Placeholder 2">
            <a:extLst>
              <a:ext uri="{FF2B5EF4-FFF2-40B4-BE49-F238E27FC236}">
                <a16:creationId xmlns:a16="http://schemas.microsoft.com/office/drawing/2014/main" id="{1AE559BB-678B-483D-A4BD-4DA0FB8AE7DC}"/>
              </a:ext>
            </a:extLst>
          </p:cNvPr>
          <p:cNvSpPr>
            <a:spLocks noGrp="1"/>
          </p:cNvSpPr>
          <p:nvPr>
            <p:ph idx="1"/>
          </p:nvPr>
        </p:nvSpPr>
        <p:spPr/>
        <p:txBody>
          <a:bodyPr>
            <a:normAutofit/>
          </a:bodyPr>
          <a:lstStyle/>
          <a:p>
            <a:pPr marL="0" indent="0">
              <a:buNone/>
            </a:pPr>
            <a:r>
              <a:rPr lang="en-US" dirty="0"/>
              <a:t>Dry matter refers to the entire organic dry matter that is produced from essential activities of photosynthesis and protein metabolism</a:t>
            </a:r>
          </a:p>
          <a:p>
            <a:pPr marL="0" indent="0">
              <a:buNone/>
            </a:pPr>
            <a:r>
              <a:rPr lang="en-US" dirty="0"/>
              <a:t>Organic dry matter includes glucose, starch, cellulose, amino acids, protein, and other organic components</a:t>
            </a:r>
          </a:p>
          <a:p>
            <a:pPr marL="0" indent="0">
              <a:buNone/>
            </a:pPr>
            <a:r>
              <a:rPr lang="en-US" dirty="0"/>
              <a:t>Dry matter of plants refers to total biological yield which includes leaves, stalks, straw, roots, and other plant parts as well as economically useful parts such as grains, tubers, and fruit</a:t>
            </a:r>
          </a:p>
          <a:p>
            <a:pPr marL="0" indent="0">
              <a:buNone/>
            </a:pPr>
            <a:r>
              <a:rPr lang="en-US" dirty="0"/>
              <a:t>For agricultural purposes, dry matter yields of many crops refer to aboveground (soil) grown plant parts but may contain belowground plant parts for some crops such as potatoes, cassava</a:t>
            </a:r>
            <a:endParaRPr lang="en-NZ" dirty="0"/>
          </a:p>
        </p:txBody>
      </p:sp>
    </p:spTree>
    <p:extLst>
      <p:ext uri="{BB962C8B-B14F-4D97-AF65-F5344CB8AC3E}">
        <p14:creationId xmlns:p14="http://schemas.microsoft.com/office/powerpoint/2010/main" val="524111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E3BA9-3216-43DC-873E-CE123F0C05AF}"/>
              </a:ext>
            </a:extLst>
          </p:cNvPr>
          <p:cNvSpPr>
            <a:spLocks noGrp="1"/>
          </p:cNvSpPr>
          <p:nvPr>
            <p:ph type="title"/>
          </p:nvPr>
        </p:nvSpPr>
        <p:spPr/>
        <p:txBody>
          <a:bodyPr/>
          <a:lstStyle/>
          <a:p>
            <a:endParaRPr lang="en-NZ" dirty="0"/>
          </a:p>
        </p:txBody>
      </p:sp>
      <p:sp>
        <p:nvSpPr>
          <p:cNvPr id="3" name="Content Placeholder 2">
            <a:extLst>
              <a:ext uri="{FF2B5EF4-FFF2-40B4-BE49-F238E27FC236}">
                <a16:creationId xmlns:a16="http://schemas.microsoft.com/office/drawing/2014/main" id="{F15E1C08-2C02-4C02-B1A9-8CB8DFD002E2}"/>
              </a:ext>
            </a:extLst>
          </p:cNvPr>
          <p:cNvSpPr>
            <a:spLocks noGrp="1"/>
          </p:cNvSpPr>
          <p:nvPr>
            <p:ph idx="1"/>
          </p:nvPr>
        </p:nvSpPr>
        <p:spPr/>
        <p:txBody>
          <a:bodyPr>
            <a:normAutofit lnSpcReduction="10000"/>
          </a:bodyPr>
          <a:lstStyle/>
          <a:p>
            <a:pPr marL="0" indent="0">
              <a:buNone/>
            </a:pPr>
            <a:r>
              <a:rPr lang="en-US" dirty="0"/>
              <a:t>Whole-plant aboveground biomass is the economically useful part of forage plants</a:t>
            </a:r>
          </a:p>
          <a:p>
            <a:pPr marL="0" indent="0">
              <a:buNone/>
            </a:pPr>
            <a:r>
              <a:rPr lang="en-US" dirty="0"/>
              <a:t>Grain is the main useful part of cereals and legumes</a:t>
            </a:r>
          </a:p>
          <a:p>
            <a:pPr marL="0" indent="0">
              <a:buNone/>
            </a:pPr>
            <a:r>
              <a:rPr lang="en-US" dirty="0"/>
              <a:t>Crop  production can be measured as total biomass or economically useful plant parts</a:t>
            </a:r>
          </a:p>
          <a:p>
            <a:pPr marL="0" indent="0">
              <a:buNone/>
            </a:pPr>
            <a:r>
              <a:rPr lang="en-US" dirty="0"/>
              <a:t>Total yield of plant material is known as biological yield</a:t>
            </a:r>
          </a:p>
          <a:p>
            <a:pPr marL="0" indent="0">
              <a:buNone/>
            </a:pPr>
            <a:r>
              <a:rPr lang="en-US" dirty="0"/>
              <a:t>Harvest index is ratio of grain yield to biological yield</a:t>
            </a:r>
          </a:p>
          <a:p>
            <a:pPr marL="0" indent="0">
              <a:buNone/>
            </a:pPr>
            <a:r>
              <a:rPr lang="en-US" dirty="0" err="1"/>
              <a:t>Eg</a:t>
            </a:r>
            <a:r>
              <a:rPr lang="en-US" dirty="0"/>
              <a:t> 200g:1000g  = 2:5 or 40%</a:t>
            </a:r>
          </a:p>
          <a:p>
            <a:pPr marL="0" indent="0">
              <a:buNone/>
            </a:pPr>
            <a:r>
              <a:rPr lang="en-US" dirty="0"/>
              <a:t>Differences in translocation of photosynthate to grain may account for differences in harvest indexes</a:t>
            </a:r>
            <a:endParaRPr lang="en-NZ" dirty="0"/>
          </a:p>
        </p:txBody>
      </p:sp>
    </p:spTree>
    <p:extLst>
      <p:ext uri="{BB962C8B-B14F-4D97-AF65-F5344CB8AC3E}">
        <p14:creationId xmlns:p14="http://schemas.microsoft.com/office/powerpoint/2010/main" val="3160079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702B-1EE9-43A0-8A52-247157F31FF2}"/>
              </a:ext>
            </a:extLst>
          </p:cNvPr>
          <p:cNvSpPr>
            <a:spLocks noGrp="1"/>
          </p:cNvSpPr>
          <p:nvPr>
            <p:ph type="title"/>
          </p:nvPr>
        </p:nvSpPr>
        <p:spPr/>
        <p:txBody>
          <a:bodyPr/>
          <a:lstStyle/>
          <a:p>
            <a:r>
              <a:rPr lang="en-GB" dirty="0"/>
              <a:t>Harvest index</a:t>
            </a:r>
            <a:endParaRPr lang="en-NZ" dirty="0"/>
          </a:p>
        </p:txBody>
      </p:sp>
      <p:sp>
        <p:nvSpPr>
          <p:cNvPr id="3" name="Content Placeholder 2">
            <a:extLst>
              <a:ext uri="{FF2B5EF4-FFF2-40B4-BE49-F238E27FC236}">
                <a16:creationId xmlns:a16="http://schemas.microsoft.com/office/drawing/2014/main" id="{EC50F877-4A27-40F4-83A9-D3D2E5C9D8AF}"/>
              </a:ext>
            </a:extLst>
          </p:cNvPr>
          <p:cNvSpPr>
            <a:spLocks noGrp="1"/>
          </p:cNvSpPr>
          <p:nvPr>
            <p:ph sz="half" idx="1"/>
          </p:nvPr>
        </p:nvSpPr>
        <p:spPr/>
        <p:txBody>
          <a:bodyPr/>
          <a:lstStyle/>
          <a:p>
            <a:pPr marL="0" indent="0">
              <a:buNone/>
            </a:pPr>
            <a:r>
              <a:rPr lang="en-US" dirty="0"/>
              <a:t>Efficiency of grain production in crop plants has also been frequently related to harvest index</a:t>
            </a:r>
          </a:p>
          <a:p>
            <a:pPr marL="0" indent="0">
              <a:buNone/>
            </a:pPr>
            <a:r>
              <a:rPr lang="en-US" dirty="0"/>
              <a:t>Harvest index reflects partitioning of photosynthate between grain and vegetative plant parts</a:t>
            </a:r>
          </a:p>
          <a:p>
            <a:pPr marL="0" indent="0">
              <a:buNone/>
            </a:pPr>
            <a:r>
              <a:rPr lang="en-US" dirty="0"/>
              <a:t>harvest index for a semidwarf wheat was 47 percent, compared to 40 percent for standard</a:t>
            </a:r>
          </a:p>
          <a:p>
            <a:pPr marL="0" indent="0">
              <a:buNone/>
            </a:pPr>
            <a:endParaRPr lang="en-NZ" dirty="0"/>
          </a:p>
        </p:txBody>
      </p:sp>
      <p:pic>
        <p:nvPicPr>
          <p:cNvPr id="5" name="Content Placeholder 4">
            <a:extLst>
              <a:ext uri="{FF2B5EF4-FFF2-40B4-BE49-F238E27FC236}">
                <a16:creationId xmlns:a16="http://schemas.microsoft.com/office/drawing/2014/main" id="{A9AC36C4-2971-4B68-A6EC-166EF0ED795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183642"/>
            <a:ext cx="5181600" cy="3562065"/>
          </a:xfrm>
          <a:prstGeom prst="rect">
            <a:avLst/>
          </a:prstGeom>
        </p:spPr>
      </p:pic>
    </p:spTree>
    <p:extLst>
      <p:ext uri="{BB962C8B-B14F-4D97-AF65-F5344CB8AC3E}">
        <p14:creationId xmlns:p14="http://schemas.microsoft.com/office/powerpoint/2010/main" val="3444316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C1690-7AB3-4CFF-A3FC-DDC6A64F7CD3}"/>
              </a:ext>
            </a:extLst>
          </p:cNvPr>
          <p:cNvSpPr>
            <a:spLocks noGrp="1"/>
          </p:cNvSpPr>
          <p:nvPr>
            <p:ph type="title"/>
          </p:nvPr>
        </p:nvSpPr>
        <p:spPr/>
        <p:txBody>
          <a:bodyPr/>
          <a:lstStyle/>
          <a:p>
            <a:r>
              <a:rPr lang="en-GB" dirty="0"/>
              <a:t>Factors affecting productivity</a:t>
            </a:r>
            <a:endParaRPr lang="en-NZ" dirty="0"/>
          </a:p>
        </p:txBody>
      </p:sp>
      <p:sp>
        <p:nvSpPr>
          <p:cNvPr id="3" name="Content Placeholder 2">
            <a:extLst>
              <a:ext uri="{FF2B5EF4-FFF2-40B4-BE49-F238E27FC236}">
                <a16:creationId xmlns:a16="http://schemas.microsoft.com/office/drawing/2014/main" id="{AEC0BE5C-2F6B-4430-B651-E80CB1B8EA47}"/>
              </a:ext>
            </a:extLst>
          </p:cNvPr>
          <p:cNvSpPr>
            <a:spLocks noGrp="1"/>
          </p:cNvSpPr>
          <p:nvPr>
            <p:ph idx="1"/>
          </p:nvPr>
        </p:nvSpPr>
        <p:spPr/>
        <p:txBody>
          <a:bodyPr/>
          <a:lstStyle/>
          <a:p>
            <a:pPr marL="0" indent="0">
              <a:buNone/>
            </a:pPr>
            <a:r>
              <a:rPr lang="en-US" dirty="0"/>
              <a:t>Environment, management, and genotypes interact to determine overall yields of crops</a:t>
            </a:r>
          </a:p>
          <a:p>
            <a:pPr marL="0" indent="0">
              <a:buNone/>
            </a:pPr>
            <a:r>
              <a:rPr lang="en-US" dirty="0"/>
              <a:t>Environmental factors, adequate moisture supply and optimum temperature and solar radiation are important </a:t>
            </a:r>
            <a:r>
              <a:rPr lang="en-US"/>
              <a:t>in determining yield</a:t>
            </a:r>
          </a:p>
          <a:p>
            <a:pPr marL="0" indent="0">
              <a:buNone/>
            </a:pPr>
            <a:endParaRPr lang="en-NZ" dirty="0"/>
          </a:p>
        </p:txBody>
      </p:sp>
    </p:spTree>
    <p:extLst>
      <p:ext uri="{BB962C8B-B14F-4D97-AF65-F5344CB8AC3E}">
        <p14:creationId xmlns:p14="http://schemas.microsoft.com/office/powerpoint/2010/main" val="4099737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483</Words>
  <Application>Microsoft Office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Lecture 4</vt:lpstr>
      <vt:lpstr>Yield </vt:lpstr>
      <vt:lpstr>Yield components </vt:lpstr>
      <vt:lpstr>Yield calculation </vt:lpstr>
      <vt:lpstr>Dry matter production </vt:lpstr>
      <vt:lpstr>PowerPoint Presentation</vt:lpstr>
      <vt:lpstr>Harvest index</vt:lpstr>
      <vt:lpstr>Factors affecting productivity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dc:title>
  <dc:creator>Hopeday Lupumpaula</dc:creator>
  <cp:lastModifiedBy>Hopeday Lupumpaula</cp:lastModifiedBy>
  <cp:revision>5</cp:revision>
  <dcterms:created xsi:type="dcterms:W3CDTF">2022-03-04T09:09:51Z</dcterms:created>
  <dcterms:modified xsi:type="dcterms:W3CDTF">2022-03-11T13:53:19Z</dcterms:modified>
</cp:coreProperties>
</file>