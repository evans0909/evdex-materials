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3" r:id="rId4"/>
    <p:sldId id="271" r:id="rId5"/>
    <p:sldId id="273" r:id="rId6"/>
    <p:sldId id="272" r:id="rId7"/>
    <p:sldId id="264" r:id="rId8"/>
    <p:sldId id="275" r:id="rId9"/>
    <p:sldId id="276" r:id="rId10"/>
    <p:sldId id="274" r:id="rId11"/>
    <p:sldId id="265" r:id="rId12"/>
    <p:sldId id="277" r:id="rId13"/>
    <p:sldId id="278" r:id="rId14"/>
    <p:sldId id="266" r:id="rId15"/>
    <p:sldId id="267" r:id="rId16"/>
    <p:sldId id="268" r:id="rId17"/>
    <p:sldId id="269" r:id="rId18"/>
    <p:sldId id="270" r:id="rId19"/>
    <p:sldId id="258" r:id="rId20"/>
    <p:sldId id="280" r:id="rId21"/>
    <p:sldId id="259" r:id="rId22"/>
    <p:sldId id="2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-43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FCE21-50D4-4819-919C-8D5306087916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88C5A-3821-456A-806C-A1833C77893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895419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mango (Mangifera indica), for example, juvenile seedlings can be induced to flower when grafted to a mature tree. In many other woody species, however, grafting to an adult flowering plant does not induce flowering. 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8C5A-3821-456A-806C-A1833C778933}" type="slidenum">
              <a:rPr lang="en-NZ" smtClean="0"/>
              <a:pPr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75576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5</a:t>
            </a:r>
            <a:br>
              <a:rPr lang="en-AU" dirty="0"/>
            </a:br>
            <a:r>
              <a:rPr lang="en-AU" dirty="0"/>
              <a:t>07</a:t>
            </a:r>
            <a:r>
              <a:rPr lang="en-AU" baseline="30000" dirty="0"/>
              <a:t>th</a:t>
            </a:r>
            <a:r>
              <a:rPr lang="en-AU" dirty="0"/>
              <a:t> September 2021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Z" dirty="0" smtClean="0"/>
              <a:t>STAGES OF PLANT DEVELOPMENT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62424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shoot apex and phase changes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Higher plants pass through developmental stages, </a:t>
            </a:r>
          </a:p>
          <a:p>
            <a:r>
              <a:rPr lang="en-US" dirty="0"/>
              <a:t>in animals  changes take place throughout the entire organism, </a:t>
            </a:r>
          </a:p>
          <a:p>
            <a:r>
              <a:rPr lang="en-US" dirty="0"/>
              <a:t>in higher plants they occur in a single, dynamic region, the shoot apical meristem</a:t>
            </a:r>
          </a:p>
          <a:p>
            <a:pPr marL="0" indent="0">
              <a:buNone/>
            </a:pPr>
            <a:r>
              <a:rPr lang="en-US" dirty="0"/>
              <a:t>Shoot apical meristem passes through three more or less well-defined developmental stages in sequence: </a:t>
            </a:r>
          </a:p>
          <a:p>
            <a:pPr marL="0" indent="0">
              <a:buNone/>
            </a:pPr>
            <a:r>
              <a:rPr lang="en-US" dirty="0"/>
              <a:t>1. The juvenile phase </a:t>
            </a:r>
          </a:p>
          <a:p>
            <a:pPr marL="0" indent="0">
              <a:buNone/>
            </a:pPr>
            <a:r>
              <a:rPr lang="en-US" dirty="0"/>
              <a:t>2. The adult vegetative phase </a:t>
            </a:r>
          </a:p>
          <a:p>
            <a:pPr marL="0" indent="0">
              <a:buNone/>
            </a:pPr>
            <a:r>
              <a:rPr lang="en-US" dirty="0"/>
              <a:t>3. The adult reproductive phase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50345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F35DB3-B182-42C5-852A-795EDB88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Developmental stages of plants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8F9929-7DE1-41B3-B249-9293E734F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distinction between the juvenile and the adult vegetative phases is that the adult has the ability to form reproductive structures</a:t>
            </a:r>
          </a:p>
          <a:p>
            <a:pPr marL="0" indent="0">
              <a:buNone/>
            </a:pPr>
            <a:r>
              <a:rPr lang="en-US" dirty="0"/>
              <a:t> flowers in angiosperms, cones in gymnosperms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Once the adult phase has been attained, it is relatively stable, and it is maintained during vegetative propagation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some species, the juvenile meristem appears to be capable of flowering but does not receive sufficient floral stimulus until the plant becomes large enough.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03657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815E3D-6D87-490F-B3D7-027318F3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Flower development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A06BDA-DBF1-4CA0-AAA6-F3D329FC0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Floral meristems  can be distinguished from vegetative meristems by their larger size</a:t>
            </a:r>
          </a:p>
          <a:p>
            <a:pPr marL="0" indent="0">
              <a:buNone/>
            </a:pPr>
            <a:r>
              <a:rPr lang="en-US" dirty="0"/>
              <a:t>The transition from vegetative to reproductive development is marked by an increase in the frequency of cell divisions within the central zone of the shoot apical meristem</a:t>
            </a:r>
          </a:p>
          <a:p>
            <a:pPr marL="0" indent="0">
              <a:buNone/>
            </a:pPr>
            <a:r>
              <a:rPr lang="en-US" dirty="0"/>
              <a:t>In the vegetative meristem, the cells of the central zone complete their division cycles slowly</a:t>
            </a:r>
          </a:p>
          <a:p>
            <a:pPr marL="0" indent="0">
              <a:buNone/>
            </a:pPr>
            <a:r>
              <a:rPr lang="en-US" dirty="0"/>
              <a:t>As reproductive development commences, the increase in the size of the meristem is largely a result of the increased division rate of these central cells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7153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081D68-67AD-4959-A258-AD8F8F08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Flower development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B7A511-6AB1-4D20-8FF3-15DA69B878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 plants initiate reproductive development, vegetative meristem  transform into floral meristems </a:t>
            </a:r>
          </a:p>
          <a:p>
            <a:pPr marL="0" indent="0">
              <a:buNone/>
            </a:pPr>
            <a:r>
              <a:rPr lang="en-US" dirty="0"/>
              <a:t>Floral meristems initiate four different types of floral organs:</a:t>
            </a:r>
          </a:p>
          <a:p>
            <a:r>
              <a:rPr lang="en-US" dirty="0"/>
              <a:t>sepals </a:t>
            </a:r>
          </a:p>
          <a:p>
            <a:r>
              <a:rPr lang="en-US" dirty="0"/>
              <a:t>Petals</a:t>
            </a:r>
          </a:p>
          <a:p>
            <a:r>
              <a:rPr lang="en-US" dirty="0"/>
              <a:t>Stamens</a:t>
            </a:r>
          </a:p>
          <a:p>
            <a:r>
              <a:rPr lang="en-US" dirty="0"/>
              <a:t>Carpels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95CD2734-3AE3-41F0-A1FC-E7FFA2A15B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39951" y="1547446"/>
            <a:ext cx="4713849" cy="4351338"/>
          </a:xfrm>
        </p:spPr>
      </p:pic>
    </p:spTree>
    <p:extLst>
      <p:ext uri="{BB962C8B-B14F-4D97-AF65-F5344CB8AC3E}">
        <p14:creationId xmlns:p14="http://schemas.microsoft.com/office/powerpoint/2010/main" xmlns="" val="264080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E31A08-F312-4563-9EA5-758D59A8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classification 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4E2B04-2A41-4C20-9CEA-B0B72878F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Plant flowering according to:</a:t>
            </a:r>
          </a:p>
          <a:p>
            <a:pPr marL="0" indent="0">
              <a:buNone/>
            </a:pPr>
            <a:r>
              <a:rPr lang="en-AU" dirty="0"/>
              <a:t>Temperature</a:t>
            </a:r>
          </a:p>
          <a:p>
            <a:pPr marL="0" indent="0">
              <a:buNone/>
            </a:pPr>
            <a:r>
              <a:rPr lang="en-AU" dirty="0"/>
              <a:t>Moisture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9885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C36F6-AF57-469D-AA8D-E2692B62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Plants Can Be Classified by Their Photoperiodic Responses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A5FA05-432D-45D1-A452-68DB73068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Plant species flower during the long days of summer as a consequence of the accumulation of photosynthetic products synthesized during long days</a:t>
            </a:r>
          </a:p>
          <a:p>
            <a:pPr marL="0" indent="0">
              <a:buNone/>
            </a:pPr>
            <a:r>
              <a:rPr lang="en-US" dirty="0"/>
              <a:t>Short day plants flower only in short days  or their flowering is accelerated by short days </a:t>
            </a:r>
          </a:p>
          <a:p>
            <a:pPr marL="0" indent="0">
              <a:buNone/>
            </a:pPr>
            <a:r>
              <a:rPr lang="en-US" dirty="0"/>
              <a:t>Long day plants flower only in long days or their flowering is accelerated by long days</a:t>
            </a:r>
          </a:p>
        </p:txBody>
      </p:sp>
    </p:spTree>
    <p:extLst>
      <p:ext uri="{BB962C8B-B14F-4D97-AF65-F5344CB8AC3E}">
        <p14:creationId xmlns:p14="http://schemas.microsoft.com/office/powerpoint/2010/main" xmlns="" val="425790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500513-E82A-45D5-A618-6E511DEC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Day sensitive plants </a:t>
            </a:r>
            <a:endParaRPr lang="en-N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02C85C16-C8C6-4DB5-B319-A7FFBFDC5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199" y="1575582"/>
            <a:ext cx="9009185" cy="4712676"/>
          </a:xfrm>
        </p:spPr>
      </p:pic>
    </p:spTree>
    <p:extLst>
      <p:ext uri="{BB962C8B-B14F-4D97-AF65-F5344CB8AC3E}">
        <p14:creationId xmlns:p14="http://schemas.microsoft.com/office/powerpoint/2010/main" xmlns="" val="25503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09C173-39D5-48DE-B2B1-D2D35EE4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9DEE981F-EB71-43EE-964F-11F7C2AE0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2363" y="1690688"/>
            <a:ext cx="7680960" cy="4802187"/>
          </a:xfrm>
        </p:spPr>
      </p:pic>
    </p:spTree>
    <p:extLst>
      <p:ext uri="{BB962C8B-B14F-4D97-AF65-F5344CB8AC3E}">
        <p14:creationId xmlns:p14="http://schemas.microsoft.com/office/powerpoint/2010/main" xmlns="" val="10742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D8DB6-FCD2-4FC0-828A-9157A078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Photoperiodic Responses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E4993B-226F-4E05-8729-323BF88EF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Species that flower under any photoperiodic condition are referred to as day neutral plants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Day neutral plants are insensitive to day length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Flowering in day neutral plants is typically under autonomous regulation—that is, internal developmental control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05211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A2629A-BFFD-4971-813C-AD96ECBF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Vernalization promoting flowering with cold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681630-5CED-40FD-902C-2E8A06BEC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Vernalization is the process whereby flowering is promoted by a cold treatment given to a fully hydrated seed or to a growing plant </a:t>
            </a:r>
            <a:endParaRPr lang="en-N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Without the cold treatment, plants that require vernalization show delayed flowering or remain vegetative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678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3B3E1C-4AFC-4A43-9E88-D5C66978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2EFF529-215E-4FCA-AC7F-F32C11D6A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200" y="225083"/>
            <a:ext cx="10515600" cy="6133514"/>
          </a:xfrm>
        </p:spPr>
      </p:pic>
    </p:spTree>
    <p:extLst>
      <p:ext uri="{BB962C8B-B14F-4D97-AF65-F5344CB8AC3E}">
        <p14:creationId xmlns:p14="http://schemas.microsoft.com/office/powerpoint/2010/main" xmlns="" val="190396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531BA5-08B0-4399-84E8-4759D22F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82A7F7E-D340-49DD-85D5-2BEDA3065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6127750"/>
          </a:xfrm>
        </p:spPr>
      </p:pic>
    </p:spTree>
    <p:extLst>
      <p:ext uri="{BB962C8B-B14F-4D97-AF65-F5344CB8AC3E}">
        <p14:creationId xmlns:p14="http://schemas.microsoft.com/office/powerpoint/2010/main" xmlns="" val="62166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D256B-A082-420D-A0D6-05E9FB28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Flowering developmental pathway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E5477C-3307-44CD-889C-79CB78505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Transition to Flowering Involves Multiple Factors and Pathways</a:t>
            </a:r>
          </a:p>
          <a:p>
            <a:pPr marL="0" indent="0">
              <a:buNone/>
            </a:pPr>
            <a:r>
              <a:rPr lang="en-US" dirty="0"/>
              <a:t>There are four genetically distinct developmental pathways that control flowering in plants</a:t>
            </a:r>
          </a:p>
          <a:p>
            <a:pPr marL="0" indent="0">
              <a:buNone/>
            </a:pPr>
            <a:r>
              <a:rPr lang="en-US" dirty="0"/>
              <a:t>The photoperiodic pathway involves phytochromes and cryptochromes</a:t>
            </a:r>
          </a:p>
          <a:p>
            <a:pPr marL="0" indent="0">
              <a:buNone/>
            </a:pPr>
            <a:r>
              <a:rPr lang="en-US" dirty="0"/>
              <a:t>In the dual autonomous/vernalization pathway, flowering occurs either in response to internal signals—the production of a fixed number of leaves—or to low temperatures.</a:t>
            </a:r>
          </a:p>
          <a:p>
            <a:pPr marL="0" indent="0">
              <a:buNone/>
            </a:pPr>
            <a:r>
              <a:rPr lang="en-US" dirty="0"/>
              <a:t>The carbohydrate, or sucrose, pathway reflects the metabolic state of the plant, Sucrose stimulates flowering</a:t>
            </a:r>
          </a:p>
          <a:p>
            <a:pPr marL="0" indent="0">
              <a:buNone/>
            </a:pPr>
            <a:r>
              <a:rPr lang="en-US" dirty="0"/>
              <a:t>The gibberellin pathway is required for early flowering and for flowering under noninductive short days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75478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B27D0C-F1A2-4DC4-8A14-44010D96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6752507-2BDA-4FDF-8FBB-75BAA4FBD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201" y="365126"/>
            <a:ext cx="10515600" cy="5876648"/>
          </a:xfrm>
        </p:spPr>
      </p:pic>
    </p:spTree>
    <p:extLst>
      <p:ext uri="{BB962C8B-B14F-4D97-AF65-F5344CB8AC3E}">
        <p14:creationId xmlns:p14="http://schemas.microsoft.com/office/powerpoint/2010/main" xmlns="" val="185948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199241-5244-4820-9124-1E2EAB5A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78F0943-0BDA-43F0-87E1-28DFE6D1D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0285" y="2353675"/>
            <a:ext cx="3571429" cy="3295238"/>
          </a:xfrm>
        </p:spPr>
      </p:pic>
    </p:spTree>
    <p:extLst>
      <p:ext uri="{BB962C8B-B14F-4D97-AF65-F5344CB8AC3E}">
        <p14:creationId xmlns:p14="http://schemas.microsoft.com/office/powerpoint/2010/main" xmlns="" val="99211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62CF5D-6D59-46E1-8F85-0552468E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C8683A3-C929-4689-B5C7-0C2419630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10285" y="2458437"/>
            <a:ext cx="2571429" cy="3085714"/>
          </a:xfrm>
        </p:spPr>
      </p:pic>
    </p:spTree>
    <p:extLst>
      <p:ext uri="{BB962C8B-B14F-4D97-AF65-F5344CB8AC3E}">
        <p14:creationId xmlns:p14="http://schemas.microsoft.com/office/powerpoint/2010/main" xmlns="" val="337762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07951D-28A7-474B-A9E1-C62459DE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B14D029-9C17-4A6B-BD39-3E2CC44D7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53143" y="2463199"/>
            <a:ext cx="1685714" cy="3076190"/>
          </a:xfrm>
        </p:spPr>
      </p:pic>
    </p:spTree>
    <p:extLst>
      <p:ext uri="{BB962C8B-B14F-4D97-AF65-F5344CB8AC3E}">
        <p14:creationId xmlns:p14="http://schemas.microsoft.com/office/powerpoint/2010/main" xmlns="" val="250134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ED7BE0C-8CFB-43C8-B8A6-269D7800D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86476" y="2353675"/>
            <a:ext cx="2019048" cy="3295238"/>
          </a:xfrm>
        </p:spPr>
      </p:pic>
    </p:spTree>
    <p:extLst>
      <p:ext uri="{BB962C8B-B14F-4D97-AF65-F5344CB8AC3E}">
        <p14:creationId xmlns:p14="http://schemas.microsoft.com/office/powerpoint/2010/main" xmlns="" val="341280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1184D-9D24-4C43-B8EB-9AD06FB6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Senescence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360E09-7499-4445-BD65-5612C7982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Senescence in plants is a carefully programmed, hormonally controlled developmental process called programmed cell death</a:t>
            </a:r>
          </a:p>
          <a:p>
            <a:pPr marL="0" indent="0">
              <a:buNone/>
            </a:pPr>
            <a:r>
              <a:rPr lang="en-US" dirty="0"/>
              <a:t>An early visible symptom of leaf senescence is leaf yellowing, due to loss of chlorophyll</a:t>
            </a:r>
          </a:p>
          <a:p>
            <a:pPr marL="0" indent="0">
              <a:buNone/>
            </a:pPr>
            <a:r>
              <a:rPr lang="en-US" dirty="0"/>
              <a:t>Nitrogenous compounds are remobilized, as are most other compounds that can move in the phloem</a:t>
            </a:r>
          </a:p>
          <a:p>
            <a:pPr marL="0" indent="0">
              <a:buNone/>
            </a:pPr>
            <a:r>
              <a:rPr lang="en-US" dirty="0"/>
              <a:t>After flowering, phloem-mobile nutrients are exported from the senescing leaves and roots to the developing fruits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8697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305E2C-B8AA-4856-8FF3-017C4EF9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F056C2-C922-4674-B27B-D87C8400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r>
              <a:rPr lang="en-AU" dirty="0"/>
              <a:t>1 hectare - 100m X 100m = 10,000m2</a:t>
            </a:r>
          </a:p>
          <a:p>
            <a:pPr marL="0" indent="0">
              <a:buNone/>
            </a:pPr>
            <a:r>
              <a:rPr lang="en-AU" dirty="0"/>
              <a:t>10,000m2/0.225m2 = 44,444.44 plants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 lima – 50m X 50m = 2,500m2</a:t>
            </a:r>
          </a:p>
          <a:p>
            <a:pPr marL="0" indent="0">
              <a:buNone/>
            </a:pPr>
            <a:r>
              <a:rPr lang="en-AU" dirty="0"/>
              <a:t>2,500m2/0.225m2 = 11,111.11 plants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49306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Cabbage </a:t>
            </a:r>
          </a:p>
          <a:p>
            <a:pPr marL="0" indent="0">
              <a:buNone/>
            </a:pPr>
            <a:r>
              <a:rPr lang="en-AU" dirty="0"/>
              <a:t>0.45m X 0.9m = 0.45m2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 hectare – 10,000m2</a:t>
            </a:r>
          </a:p>
          <a:p>
            <a:pPr marL="0" indent="0">
              <a:buNone/>
            </a:pPr>
            <a:r>
              <a:rPr lang="en-AU" dirty="0"/>
              <a:t>10,000m2/ 0.45m2 = 22,222. 22 plants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 lima – 2,500m2</a:t>
            </a:r>
          </a:p>
          <a:p>
            <a:pPr marL="0" indent="0">
              <a:buNone/>
            </a:pPr>
            <a:r>
              <a:rPr lang="en-AU" dirty="0"/>
              <a:t>2,500m2/ 0.45m2 = 5,555.55 plants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93852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684</Words>
  <Application>Microsoft Office PowerPoint</Application>
  <PresentationFormat>Custom</PresentationFormat>
  <Paragraphs>83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Crop Science  Lecture 5 07th September 2021</vt:lpstr>
      <vt:lpstr>The shoot apex and phase changes</vt:lpstr>
      <vt:lpstr>Developmental stages of plants</vt:lpstr>
      <vt:lpstr>Flower development</vt:lpstr>
      <vt:lpstr>Flower development</vt:lpstr>
      <vt:lpstr>Plant classification  </vt:lpstr>
      <vt:lpstr>Plants Can Be Classified by Their Photoperiodic Responses</vt:lpstr>
      <vt:lpstr>Day sensitive plants </vt:lpstr>
      <vt:lpstr>Slide 9</vt:lpstr>
      <vt:lpstr>Photoperiodic Responses</vt:lpstr>
      <vt:lpstr>Vernalization promoting flowering with cold</vt:lpstr>
      <vt:lpstr>Slide 12</vt:lpstr>
      <vt:lpstr>Slide 13</vt:lpstr>
      <vt:lpstr>Flowering developmental pathway</vt:lpstr>
      <vt:lpstr>Slide 15</vt:lpstr>
      <vt:lpstr>Slide 16</vt:lpstr>
      <vt:lpstr>Slide 17</vt:lpstr>
      <vt:lpstr>Slide 18</vt:lpstr>
      <vt:lpstr>Slide 19</vt:lpstr>
      <vt:lpstr>Senescence</vt:lpstr>
      <vt:lpstr>Plant population</vt:lpstr>
      <vt:lpstr>Plant population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Akim</cp:lastModifiedBy>
  <cp:revision>8</cp:revision>
  <dcterms:created xsi:type="dcterms:W3CDTF">2021-08-13T11:47:52Z</dcterms:created>
  <dcterms:modified xsi:type="dcterms:W3CDTF">2080-01-08T14:25:06Z</dcterms:modified>
</cp:coreProperties>
</file>