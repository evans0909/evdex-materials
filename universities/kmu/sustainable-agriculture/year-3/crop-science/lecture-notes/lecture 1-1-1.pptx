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3" r:id="rId5"/>
    <p:sldId id="259" r:id="rId6"/>
    <p:sldId id="260" r:id="rId7"/>
    <p:sldId id="264" r:id="rId8"/>
    <p:sldId id="266" r:id="rId9"/>
    <p:sldId id="268" r:id="rId10"/>
    <p:sldId id="267" r:id="rId11"/>
    <p:sldId id="269" r:id="rId12"/>
    <p:sldId id="270" r:id="rId13"/>
    <p:sldId id="261" r:id="rId14"/>
    <p:sldId id="26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A2645-E03D-447D-808D-6508281046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0C6AC2-CE5C-418A-BF6C-99198BF253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EC1599-E218-4675-A43F-377123347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t>13/06/2022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620B0-4704-4AB9-AF78-0AD2433F8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A4B96B-DC7D-427C-BDDD-81DCA2CD5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088419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D98C6-E250-40D0-AD04-BAA3D6A7A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6EC27-DC9D-46FF-8E55-8E3938EACD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3C87D9-B910-4ABE-AEE3-BF4CFEFF3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t>13/06/2022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B50277-4C6B-4F0F-AFB9-8A1E6F118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55EB41-061C-455D-96D6-632744404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4344581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62A3F-8356-4DE7-A05A-7E0534C84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89BF7A-964E-4FEF-8B7A-E1FEE68B0E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D45354-009B-44A8-9BF7-0FFA1E386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t>13/06/2022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CB408C-D7EC-4105-99DA-6F3B5BEB0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2BA849-C6F8-45F9-9866-DA1E795C3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656365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6BF96-450D-45C6-8FC6-C0AA3E44C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42965-A007-4E96-877C-82F019D77E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32EBE7-C0E8-46E5-9CB9-7F6DF18FFB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F1A0D9-94FC-4923-B9C5-05E37553C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t>13/06/2022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820D81-E1C5-43CA-9E7B-3EFF2C1BF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A6197F-0774-48DE-A5C5-15C14FE3C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074142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28258-7A30-43E7-8E39-6CF9B3DF2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CD8CC6-0445-4325-A5F8-CB42852C6F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CD0ECA-5155-4653-A349-6FF6C31D2E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327D5B-4B77-46B4-B648-DEE87CE23D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8FC714-DD1D-4BAA-A5B3-C8B48AFA3B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8F557B-A1F1-4969-A4DC-1AE9FFFE7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t>13/06/2022</a:t>
            </a:fld>
            <a:endParaRPr lang="en-N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B7FE7-678B-4254-8937-39C1E2164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6F262E-9C1A-476B-8F8C-653C5A00E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472177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931D0-F4BB-4A4F-8115-20FC75D8F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DC3CE9-6338-45F8-8A5F-D8833B7E2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t>13/06/2022</a:t>
            </a:fld>
            <a:endParaRPr lang="en-N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D701AF-320D-4DBF-9314-749C68BF9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F80A04-8C3F-4125-9ECD-FB4A85086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576379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8A05CA-B9F5-433F-ACD8-6588ED635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t>13/06/2022</a:t>
            </a:fld>
            <a:endParaRPr lang="en-N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457E11-2F35-41DB-9469-62A3D2534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6CEC29-6586-4D7A-B96F-6787D65A8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161198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B493E-D5DC-46F1-941C-99576548F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06EBD2-5878-4F24-934B-2518EE5DAB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ED0EF5-5667-4317-9A55-61B145828A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914127-5572-4321-AF56-93AD4F758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t>13/06/2022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671FEE-E8FC-4A0B-A960-99B735A18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C9C20B-1028-49EF-A7D5-A1F8D5378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226945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D880-1B03-4CAD-BBDE-0BD75F17C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F11C45-C086-4550-A45A-95DE5DC628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A54C1B-068F-4871-81AE-416C713264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A5C6FA-52FD-4545-A7D2-3C52E918B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t>13/06/2022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FD7FC4-6D11-4DC2-9B7D-B6884A2FA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B65E9D-2C4A-4F9C-975D-3D9B429B3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1043696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4235E-E3BF-4349-9231-E288B688B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790CF5-1560-41E1-BFCC-3944D628A9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BC4589-7397-44B0-BE29-A1F2BD2C4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t>13/06/2022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EEA409-CADF-4E45-8390-A63F3531C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46C469-A3A5-4CA2-9DC3-4B363D618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210453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8829C8-CE62-4B0A-9908-0FC42BFBA2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99BDAB-E68E-4DB6-B7C5-EE9750902B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40D1C4-7B33-4BA2-900E-184BB8ED9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t>13/06/2022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B7AA41-EFC2-47F0-A353-4A6FB00AC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034271-6329-4405-865F-C84C12E59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140775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59E24D-A6A4-42EF-86B2-891910E29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A744D1-B22D-4842-983C-D0E483258A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F83D67-1AFB-4C2B-9187-1F7DE3E85A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F5EE3D-EE70-4947-9AE6-E367CCCDDB4D}" type="datetimeFigureOut">
              <a:rPr lang="en-NZ" smtClean="0"/>
              <a:t>13/06/2022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F75F9-9163-4645-B084-1A45D5533E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1A2EE-1ABF-4B33-8275-C68A5F610F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90E8AC-16D3-4011-90D3-242594DEF9F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742906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00193-4D7A-4C1A-B440-777C90A75C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Crop Science </a:t>
            </a:r>
            <a:br>
              <a:rPr lang="en-AU" dirty="0"/>
            </a:br>
            <a:r>
              <a:rPr lang="en-AU" dirty="0"/>
              <a:t>Lecture 1</a:t>
            </a:r>
            <a:br>
              <a:rPr lang="en-AU" dirty="0"/>
            </a:br>
            <a:endParaRPr lang="en-NZ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CA03E6-C94C-4364-BFFF-3D7E12CEE5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624240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23E95-52D5-48A2-99AE-2A501A11C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Photosynthesis   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8282A-E69F-40E9-9A94-59437ED9CF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NZ" dirty="0"/>
              <a:t>Life on earth depend on the energy derived from the sun</a:t>
            </a:r>
          </a:p>
          <a:p>
            <a:pPr marL="0" indent="0">
              <a:buNone/>
            </a:pPr>
            <a:r>
              <a:rPr lang="en-US" dirty="0"/>
              <a:t>Photosynthesis is the only process of biological importance that can harvest energy from the sun</a:t>
            </a:r>
          </a:p>
          <a:p>
            <a:pPr marL="0" indent="0">
              <a:buNone/>
            </a:pPr>
            <a:r>
              <a:rPr lang="en-US" dirty="0"/>
              <a:t>Photosynthesis is the use of solar energy to synthesize carbon compounds</a:t>
            </a:r>
          </a:p>
          <a:p>
            <a:pPr marL="0" indent="0">
              <a:buNone/>
            </a:pPr>
            <a:r>
              <a:rPr lang="en-NZ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 CO</a:t>
            </a:r>
            <a:r>
              <a:rPr lang="en-NZ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 </a:t>
            </a:r>
            <a:r>
              <a:rPr lang="en-NZ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+ 6 H</a:t>
            </a:r>
            <a:r>
              <a:rPr lang="en-NZ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NZ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→ C</a:t>
            </a:r>
            <a:r>
              <a:rPr lang="en-NZ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lang="en-NZ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en-NZ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12</a:t>
            </a:r>
            <a:r>
              <a:rPr lang="en-NZ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n-NZ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lang="en-NZ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+ 6 O</a:t>
            </a:r>
            <a:r>
              <a:rPr lang="en-NZ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NZ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NZ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Energy stored as carbohydrates can be used to power cellular processes in plants and serve as energy source for all forms of life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NZ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3455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12313-D96B-4239-B193-C5C0FE3D8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Light reaction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1E947-6AD9-4505-B6C2-90B76ACC0A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active photosynthetic tissue in higher plants is the mesophyll of leaves</a:t>
            </a:r>
          </a:p>
          <a:p>
            <a:pPr marL="0" indent="0">
              <a:buNone/>
            </a:pPr>
            <a:r>
              <a:rPr lang="en-US" dirty="0"/>
              <a:t>Mesophyll cells contain chloroplasts, the specialized light-absorbing green pigments called chlorophylls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Chloroplast have internal specialized membranes the thylakoids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4128010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5BA52-857B-4C13-B579-B856D5733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Radiation types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4DAE4-BBC5-4181-91B2-34C3DABFF84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Human eye is sensitive to a narrow range wavelengths of radiation, the visible region, between  400 nm and 700 nm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Short-wavelength light has a high energy content and long wavelength light has a low energy content</a:t>
            </a:r>
            <a:endParaRPr lang="en-NZ" dirty="0"/>
          </a:p>
        </p:txBody>
      </p:sp>
      <p:pic>
        <p:nvPicPr>
          <p:cNvPr id="6" name="Content Placeholder 5" descr="Diagram, timeline&#10;&#10;Description automatically generated">
            <a:extLst>
              <a:ext uri="{FF2B5EF4-FFF2-40B4-BE49-F238E27FC236}">
                <a16:creationId xmlns:a16="http://schemas.microsoft.com/office/drawing/2014/main" id="{5487C964-377B-4501-B705-574CB3484A6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9190" y="1577010"/>
            <a:ext cx="3647619" cy="3143332"/>
          </a:xfrm>
        </p:spPr>
      </p:pic>
    </p:spTree>
    <p:extLst>
      <p:ext uri="{BB962C8B-B14F-4D97-AF65-F5344CB8AC3E}">
        <p14:creationId xmlns:p14="http://schemas.microsoft.com/office/powerpoint/2010/main" val="23794291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05E2C-B8AA-4856-8FF3-017C4EF9A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Radiation types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056C2-C922-4674-B27B-D87C840035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NZ" dirty="0"/>
          </a:p>
          <a:p>
            <a:pPr marL="0" indent="0">
              <a:buNone/>
            </a:pPr>
            <a:endParaRPr lang="en-NZ" dirty="0"/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6032227F-DF2F-4C9F-BAFF-9C33037B0F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9139" y="1927273"/>
            <a:ext cx="5877814" cy="4249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060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40B78-8450-4D89-BA3A-F0957E36E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Photosystems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554FE6-8B8F-453A-AF65-42A60E6D69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NZ" dirty="0"/>
          </a:p>
          <a:p>
            <a:pPr marL="0" indent="0">
              <a:buNone/>
            </a:pPr>
            <a:endParaRPr lang="en-NZ" dirty="0"/>
          </a:p>
        </p:txBody>
      </p:sp>
      <p:pic>
        <p:nvPicPr>
          <p:cNvPr id="5" name="Picture 4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9FDF9861-CAE2-4EDF-A617-564666DD38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3889" y="1825624"/>
            <a:ext cx="9481625" cy="4351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5258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4B347-4033-4C39-BDD9-9FB570DB9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Carbon reactions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8920C7-F86D-4D4A-811F-5F55549582D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US" dirty="0"/>
              <a:t>Light is required for the generation of ATP and NADPH.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ATP and NADPH are consumed by the carbon reactions, which reduce CO2 to carbohydrate</a:t>
            </a:r>
            <a:endParaRPr lang="en-NZ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2D90B71-D39E-45E0-A491-55C72AEF305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6333" y="2107096"/>
            <a:ext cx="3651180" cy="3047999"/>
          </a:xfrm>
        </p:spPr>
      </p:pic>
    </p:spTree>
    <p:extLst>
      <p:ext uri="{BB962C8B-B14F-4D97-AF65-F5344CB8AC3E}">
        <p14:creationId xmlns:p14="http://schemas.microsoft.com/office/powerpoint/2010/main" val="24122882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4C8B3-438C-4448-BB02-EA47027C0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THE CALVIN CYCLE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E1781F-AE06-4A04-8665-098129C56E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Plants reduce CO2 to carbohydrate via the photosynthetic carbon reduction cycle called the Calvin cycle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Carbon dioxide and water from the environment are enzymatically combined to form a large chain of carbon molecules</a:t>
            </a:r>
          </a:p>
          <a:p>
            <a:pPr marL="0" indent="0">
              <a:buNone/>
            </a:pPr>
            <a:r>
              <a:rPr lang="en-US" dirty="0"/>
              <a:t>Basic process for Carbon three plant (C3)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2237124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8C559-1ADA-43DB-8027-42D48B053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Calvin cycle</a:t>
            </a:r>
            <a:endParaRPr lang="en-NZ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3D19C09-27E4-4445-980C-8CB7FC8E07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9861" y="2277484"/>
            <a:ext cx="5577092" cy="4004046"/>
          </a:xfrm>
        </p:spPr>
      </p:pic>
    </p:spTree>
    <p:extLst>
      <p:ext uri="{BB962C8B-B14F-4D97-AF65-F5344CB8AC3E}">
        <p14:creationId xmlns:p14="http://schemas.microsoft.com/office/powerpoint/2010/main" val="39158877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5B8CC-BDDC-4478-BD8B-D0BBBE33F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Calvin cycle application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74B3D9-F714-4142-83D1-01CE338A7F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C4 plants efficiently recycle the carbon back to the cycle</a:t>
            </a:r>
          </a:p>
          <a:p>
            <a:pPr marL="0" indent="0">
              <a:buNone/>
            </a:pPr>
            <a:r>
              <a:rPr lang="en-AU" dirty="0"/>
              <a:t>Usually associated with hot environments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Crassulacean plants close stomata during the day and open at night</a:t>
            </a:r>
          </a:p>
          <a:p>
            <a:pPr marL="0" indent="0">
              <a:buNone/>
            </a:pPr>
            <a:r>
              <a:rPr lang="en-AU" dirty="0"/>
              <a:t>Associated with desert environment  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3419247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631B6-035C-4BFB-9066-C0C5474E5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Physiological and economical considerations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EF7D3-A9D6-48BF-A50D-F19C9C855F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Environmental factors that guide photosynthesis</a:t>
            </a:r>
          </a:p>
          <a:p>
            <a:r>
              <a:rPr lang="en-AU" dirty="0"/>
              <a:t>Light</a:t>
            </a:r>
          </a:p>
          <a:p>
            <a:r>
              <a:rPr lang="en-AU" dirty="0"/>
              <a:t>carbon dioxide concentration</a:t>
            </a:r>
          </a:p>
          <a:p>
            <a:r>
              <a:rPr lang="en-AU" dirty="0"/>
              <a:t>temperature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Leaf structure in response to light or shade environments </a:t>
            </a:r>
          </a:p>
          <a:p>
            <a:r>
              <a:rPr lang="en-AU" dirty="0"/>
              <a:t>Thin leaf layer in shade</a:t>
            </a:r>
          </a:p>
          <a:p>
            <a:r>
              <a:rPr lang="en-AU" dirty="0"/>
              <a:t>Shorter palisade cells in shade</a:t>
            </a:r>
          </a:p>
          <a:p>
            <a:pPr marL="0" indent="0">
              <a:buNone/>
            </a:pPr>
            <a:r>
              <a:rPr lang="en-AU" dirty="0"/>
              <a:t> 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15112373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7B65A-ADF2-4F1A-8D5F-7427842CA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Leaf orientation 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4D6E1F-8296-47CB-B8D8-166722C836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AU" dirty="0"/>
              <a:t>Solar tracking is the leaf orientation toward sun rays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Exposure to sunlight for a long time increases heat and leaf respond by reflecting heat back through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Sensible heat loss – air circulation around the leaf removes heat from surface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Evaporative heat loss – evaporation on the leaf reduce heat energy on leaf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 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9449001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66BD1-6F14-4436-BE9E-C75DD8E61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Carbon dioxide emission </a:t>
            </a:r>
            <a:endParaRPr lang="en-NZ" dirty="0"/>
          </a:p>
        </p:txBody>
      </p:sp>
      <p:pic>
        <p:nvPicPr>
          <p:cNvPr id="5" name="Content Placeholder 4" descr="Chart, line chart&#10;&#10;Description automatically generated">
            <a:extLst>
              <a:ext uri="{FF2B5EF4-FFF2-40B4-BE49-F238E27FC236}">
                <a16:creationId xmlns:a16="http://schemas.microsoft.com/office/drawing/2014/main" id="{72608CBE-103C-4975-BC24-A3E77EF3F6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0549" y="1825625"/>
            <a:ext cx="5690902" cy="4351338"/>
          </a:xfrm>
        </p:spPr>
      </p:pic>
    </p:spTree>
    <p:extLst>
      <p:ext uri="{BB962C8B-B14F-4D97-AF65-F5344CB8AC3E}">
        <p14:creationId xmlns:p14="http://schemas.microsoft.com/office/powerpoint/2010/main" val="18605241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D40B9-18F6-41E2-A992-2DDB55F0B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Carbon emission 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A72F6-9A62-41A6-80F3-B746873103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Burning of fossil fuels contributes to increase in carbon dioxide in the atmosphere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Carbon dioxide saturation point of C3 plants is high than in C4 plants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019474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359</TotalTime>
  <Words>382</Words>
  <Application>Microsoft Office PowerPoint</Application>
  <PresentationFormat>Widescreen</PresentationFormat>
  <Paragraphs>63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Crop Science  Lecture 1 </vt:lpstr>
      <vt:lpstr>Photosynthesis   </vt:lpstr>
      <vt:lpstr>Light reaction</vt:lpstr>
      <vt:lpstr>Radiation types  </vt:lpstr>
      <vt:lpstr>Radiation types</vt:lpstr>
      <vt:lpstr>Photosystems</vt:lpstr>
      <vt:lpstr>Carbon reactions</vt:lpstr>
      <vt:lpstr>THE CALVIN CYCLE</vt:lpstr>
      <vt:lpstr>Calvin cycle</vt:lpstr>
      <vt:lpstr>Calvin cycle application</vt:lpstr>
      <vt:lpstr>Physiological and economical considerations</vt:lpstr>
      <vt:lpstr>Leaf orientation </vt:lpstr>
      <vt:lpstr>Carbon dioxide emission </vt:lpstr>
      <vt:lpstr>Carbon emission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Crop Science  Lecture 1 23rd August 2021</dc:title>
  <dc:creator>Sakala, Aaron</dc:creator>
  <cp:lastModifiedBy>Hopeday Lupumpaula</cp:lastModifiedBy>
  <cp:revision>8</cp:revision>
  <dcterms:created xsi:type="dcterms:W3CDTF">2021-08-13T11:47:52Z</dcterms:created>
  <dcterms:modified xsi:type="dcterms:W3CDTF">2022-06-13T11:02:59Z</dcterms:modified>
</cp:coreProperties>
</file>