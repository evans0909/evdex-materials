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3" r:id="rId6"/>
    <p:sldId id="264" r:id="rId7"/>
    <p:sldId id="265" r:id="rId8"/>
    <p:sldId id="266" r:id="rId9"/>
    <p:sldId id="267" r:id="rId10"/>
    <p:sldId id="259" r:id="rId11"/>
    <p:sldId id="260" r:id="rId12"/>
    <p:sldId id="26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4" d="100"/>
          <a:sy n="44" d="100"/>
        </p:scale>
        <p:origin x="7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97A6603-C8B5-4A74-82E9-94ECA4B01018}"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17468727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7A6603-C8B5-4A74-82E9-94ECA4B01018}"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675491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97A6603-C8B5-4A74-82E9-94ECA4B01018}"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17649777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97A6603-C8B5-4A74-82E9-94ECA4B01018}"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18137295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97A6603-C8B5-4A74-82E9-94ECA4B01018}" type="datetimeFigureOut">
              <a:rPr lang="en-US" smtClean="0"/>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1878132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97A6603-C8B5-4A74-82E9-94ECA4B01018}" type="datetimeFigureOut">
              <a:rPr lang="en-US" smtClean="0"/>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36992946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7A6603-C8B5-4A74-82E9-94ECA4B01018}" type="datetimeFigureOut">
              <a:rPr lang="en-US" smtClean="0"/>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25903252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97A6603-C8B5-4A74-82E9-94ECA4B01018}"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35632155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97A6603-C8B5-4A74-82E9-94ECA4B01018}"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7269948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7A6603-C8B5-4A74-82E9-94ECA4B01018}"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6940781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7A6603-C8B5-4A74-82E9-94ECA4B01018}"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9F304-54C3-4441-95E9-EEDAAA5003C4}" type="slidenum">
              <a:rPr lang="en-US" smtClean="0"/>
              <a:t>‹#›</a:t>
            </a:fld>
            <a:endParaRPr lang="en-US"/>
          </a:p>
        </p:txBody>
      </p:sp>
    </p:spTree>
    <p:extLst>
      <p:ext uri="{BB962C8B-B14F-4D97-AF65-F5344CB8AC3E}">
        <p14:creationId xmlns:p14="http://schemas.microsoft.com/office/powerpoint/2010/main" val="32072806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7A6603-C8B5-4A74-82E9-94ECA4B01018}" type="datetimeFigureOut">
              <a:rPr lang="en-US" smtClean="0"/>
              <a:t>3/17/2025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79F304-54C3-4441-95E9-EEDAAA5003C4}" type="slidenum">
              <a:rPr lang="en-US" smtClean="0"/>
              <a:t>‹#›</a:t>
            </a:fld>
            <a:endParaRPr lang="en-US"/>
          </a:p>
        </p:txBody>
      </p:sp>
    </p:spTree>
    <p:extLst>
      <p:ext uri="{BB962C8B-B14F-4D97-AF65-F5344CB8AC3E}">
        <p14:creationId xmlns:p14="http://schemas.microsoft.com/office/powerpoint/2010/main" val="3746754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effectLst>
                  <a:outerShdw blurRad="38100" dist="38100" dir="2700000" algn="tl">
                    <a:srgbClr val="000000">
                      <a:alpha val="43137"/>
                    </a:srgbClr>
                  </a:outerShdw>
                </a:effectLst>
                <a:latin typeface="Bookman Old Style" panose="02050604050505020204" pitchFamily="18" charset="0"/>
              </a:rPr>
              <a:t>BEEKEEPING</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Subtitle 2"/>
          <p:cNvSpPr>
            <a:spLocks noGrp="1"/>
          </p:cNvSpPr>
          <p:nvPr>
            <p:ph type="subTitle" idx="1"/>
          </p:nvPr>
        </p:nvSpPr>
        <p:spPr/>
        <p:txBody>
          <a:bodyPr>
            <a:normAutofit fontScale="77500" lnSpcReduction="20000"/>
          </a:bodyPr>
          <a:lstStyle/>
          <a:p>
            <a:r>
              <a:rPr lang="en-US" dirty="0" smtClean="0">
                <a:effectLst>
                  <a:outerShdw blurRad="38100" dist="38100" dir="2700000" algn="tl">
                    <a:srgbClr val="000000">
                      <a:alpha val="43137"/>
                    </a:srgbClr>
                  </a:outerShdw>
                </a:effectLst>
                <a:latin typeface="Bookman Old Style" panose="02050604050505020204" pitchFamily="18" charset="0"/>
              </a:rPr>
              <a:t>EDGAR BOWA</a:t>
            </a:r>
          </a:p>
          <a:p>
            <a:r>
              <a:rPr lang="en-US" dirty="0" smtClean="0">
                <a:effectLst>
                  <a:outerShdw blurRad="38100" dist="38100" dir="2700000" algn="tl">
                    <a:srgbClr val="000000">
                      <a:alpha val="43137"/>
                    </a:srgbClr>
                  </a:outerShdw>
                </a:effectLst>
                <a:latin typeface="Bookman Old Style" panose="02050604050505020204" pitchFamily="18" charset="0"/>
              </a:rPr>
              <a:t>MS.</a:t>
            </a:r>
          </a:p>
          <a:p>
            <a:r>
              <a:rPr lang="en-US" dirty="0" smtClean="0">
                <a:effectLst>
                  <a:outerShdw blurRad="38100" dist="38100" dir="2700000" algn="tl">
                    <a:srgbClr val="000000">
                      <a:alpha val="43137"/>
                    </a:srgbClr>
                  </a:outerShdw>
                </a:effectLst>
                <a:latin typeface="Bookman Old Style" panose="02050604050505020204" pitchFamily="18" charset="0"/>
              </a:rPr>
              <a:t>EMAIL:</a:t>
            </a:r>
          </a:p>
          <a:p>
            <a:r>
              <a:rPr lang="en-US" dirty="0" smtClean="0">
                <a:effectLst>
                  <a:outerShdw blurRad="38100" dist="38100" dir="2700000" algn="tl">
                    <a:srgbClr val="000000">
                      <a:alpha val="43137"/>
                    </a:srgbClr>
                  </a:outerShdw>
                </a:effectLst>
                <a:latin typeface="Bookman Old Style" panose="02050604050505020204" pitchFamily="18" charset="0"/>
              </a:rPr>
              <a:t>+260 </a:t>
            </a:r>
            <a:r>
              <a:rPr lang="en-US" dirty="0" smtClean="0">
                <a:effectLst>
                  <a:outerShdw blurRad="38100" dist="38100" dir="2700000" algn="tl">
                    <a:srgbClr val="000000">
                      <a:alpha val="43137"/>
                    </a:srgbClr>
                  </a:outerShdw>
                </a:effectLst>
                <a:latin typeface="Bookman Old Style" panose="02050604050505020204" pitchFamily="18" charset="0"/>
              </a:rPr>
              <a:t>964834475</a:t>
            </a:r>
          </a:p>
          <a:p>
            <a:r>
              <a:rPr lang="en-GB" dirty="0" smtClean="0">
                <a:effectLst>
                  <a:outerShdw blurRad="38100" dist="38100" dir="2700000" algn="tl">
                    <a:srgbClr val="000000">
                      <a:alpha val="43137"/>
                    </a:srgbClr>
                  </a:outerShdw>
                </a:effectLst>
                <a:latin typeface="Bookman Old Style" panose="02050604050505020204" pitchFamily="18" charset="0"/>
              </a:rPr>
              <a:t>MSc. Sustainable Land and </a:t>
            </a:r>
            <a:r>
              <a:rPr lang="en-GB" smtClean="0">
                <a:effectLst>
                  <a:outerShdw blurRad="38100" dist="38100" dir="2700000" algn="tl">
                    <a:srgbClr val="000000">
                      <a:alpha val="43137"/>
                    </a:srgbClr>
                  </a:outerShdw>
                </a:effectLst>
                <a:latin typeface="Bookman Old Style" panose="02050604050505020204" pitchFamily="18" charset="0"/>
              </a:rPr>
              <a:t>Environmental Management-UNZA</a:t>
            </a:r>
            <a:endParaRPr lang="en-US"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25145429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latin typeface="Bookman Old Style" panose="02050604050505020204" pitchFamily="18" charset="0"/>
              </a:rPr>
              <a:t>CONTENT</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lstStyle/>
          <a:p>
            <a:r>
              <a:rPr lang="en-US" dirty="0" smtClean="0">
                <a:latin typeface="Bookman Old Style" panose="02050604050505020204" pitchFamily="18" charset="0"/>
              </a:rPr>
              <a:t>Site selection</a:t>
            </a:r>
          </a:p>
          <a:p>
            <a:r>
              <a:rPr lang="en-US" dirty="0" smtClean="0">
                <a:latin typeface="Bookman Old Style" panose="02050604050505020204" pitchFamily="18" charset="0"/>
              </a:rPr>
              <a:t>Apiary Establishment</a:t>
            </a:r>
          </a:p>
          <a:p>
            <a:r>
              <a:rPr lang="en-US" dirty="0" smtClean="0">
                <a:latin typeface="Bookman Old Style" panose="02050604050505020204" pitchFamily="18" charset="0"/>
              </a:rPr>
              <a:t>Apiary Management</a:t>
            </a:r>
          </a:p>
          <a:p>
            <a:pPr marL="0" indent="0">
              <a:buNone/>
            </a:pPr>
            <a:endParaRPr lang="en-US" dirty="0"/>
          </a:p>
        </p:txBody>
      </p:sp>
    </p:spTree>
    <p:extLst>
      <p:ext uri="{BB962C8B-B14F-4D97-AF65-F5344CB8AC3E}">
        <p14:creationId xmlns:p14="http://schemas.microsoft.com/office/powerpoint/2010/main" val="35698310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SITE SELECTION</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normAutofit fontScale="92500" lnSpcReduction="10000"/>
          </a:bodyPr>
          <a:lstStyle/>
          <a:p>
            <a:r>
              <a:rPr lang="en-GB" dirty="0">
                <a:latin typeface="Bookman Old Style" panose="02050604050505020204" pitchFamily="18" charset="0"/>
              </a:rPr>
              <a:t>An ideal place for beekeeping must be carefully chosen before sitting an apiary. The following factors or guidelines must be considered when selecting a good apiary site;</a:t>
            </a:r>
            <a:endParaRPr lang="en-US" dirty="0">
              <a:latin typeface="Bookman Old Style" panose="02050604050505020204" pitchFamily="18" charset="0"/>
            </a:endParaRPr>
          </a:p>
          <a:p>
            <a:r>
              <a:rPr lang="en-US" dirty="0" smtClean="0">
                <a:latin typeface="Bookman Old Style" panose="02050604050505020204" pitchFamily="18" charset="0"/>
              </a:rPr>
              <a:t>Food source</a:t>
            </a:r>
          </a:p>
          <a:p>
            <a:r>
              <a:rPr lang="en-US" dirty="0" smtClean="0">
                <a:latin typeface="Bookman Old Style" panose="02050604050505020204" pitchFamily="18" charset="0"/>
              </a:rPr>
              <a:t>Water source</a:t>
            </a:r>
          </a:p>
          <a:p>
            <a:r>
              <a:rPr lang="en-US" dirty="0" smtClean="0">
                <a:latin typeface="Bookman Old Style" panose="02050604050505020204" pitchFamily="18" charset="0"/>
              </a:rPr>
              <a:t>Residential area</a:t>
            </a:r>
          </a:p>
          <a:p>
            <a:r>
              <a:rPr lang="en-US" dirty="0" smtClean="0">
                <a:latin typeface="Bookman Old Style" panose="02050604050505020204" pitchFamily="18" charset="0"/>
              </a:rPr>
              <a:t>Protection/security</a:t>
            </a:r>
          </a:p>
          <a:p>
            <a:r>
              <a:rPr lang="en-US" dirty="0" smtClean="0">
                <a:latin typeface="Bookman Old Style" panose="02050604050505020204" pitchFamily="18" charset="0"/>
              </a:rPr>
              <a:t>Climate</a:t>
            </a:r>
          </a:p>
          <a:p>
            <a:r>
              <a:rPr lang="en-US" dirty="0" smtClean="0">
                <a:latin typeface="Bookman Old Style" panose="02050604050505020204" pitchFamily="18" charset="0"/>
              </a:rPr>
              <a:t>Accessibility</a:t>
            </a:r>
          </a:p>
          <a:p>
            <a:r>
              <a:rPr lang="en-US" dirty="0" smtClean="0">
                <a:latin typeface="Bookman Old Style" panose="02050604050505020204" pitchFamily="18" charset="0"/>
              </a:rPr>
              <a:t>Floods</a:t>
            </a:r>
            <a:endParaRPr lang="en-US" dirty="0">
              <a:latin typeface="Bookman Old Style" panose="02050604050505020204" pitchFamily="18" charset="0"/>
            </a:endParaRPr>
          </a:p>
        </p:txBody>
      </p:sp>
    </p:spTree>
    <p:extLst>
      <p:ext uri="{BB962C8B-B14F-4D97-AF65-F5344CB8AC3E}">
        <p14:creationId xmlns:p14="http://schemas.microsoft.com/office/powerpoint/2010/main" val="20223202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fade">
                                      <p:cBhvr>
                                        <p:cTn id="62" dur="1000"/>
                                        <p:tgtEl>
                                          <p:spTgt spid="3">
                                            <p:txEl>
                                              <p:pRg st="7" end="7"/>
                                            </p:txEl>
                                          </p:spTgt>
                                        </p:tgtEl>
                                      </p:cBhvr>
                                    </p:animEffect>
                                    <p:anim calcmode="lin" valueType="num">
                                      <p:cBhvr>
                                        <p:cTn id="6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SITE SELECTION CONT’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latin typeface="Bookman Old Style" panose="02050604050505020204" pitchFamily="18" charset="0"/>
              </a:rPr>
              <a:t>Food source</a:t>
            </a:r>
          </a:p>
          <a:p>
            <a:r>
              <a:rPr lang="en-GB" dirty="0">
                <a:latin typeface="Bookman Old Style" panose="02050604050505020204" pitchFamily="18" charset="0"/>
              </a:rPr>
              <a:t>Select an area which should have enough bees build up trees and enough honey producing trees or a place with plenty of trees, crops and herbs or any plants that provide nectar and pollen</a:t>
            </a:r>
            <a:r>
              <a:rPr lang="en-GB" dirty="0" smtClean="0">
                <a:latin typeface="Bookman Old Style" panose="02050604050505020204" pitchFamily="18" charset="0"/>
              </a:rPr>
              <a:t>.</a:t>
            </a:r>
          </a:p>
          <a:p>
            <a:r>
              <a:rPr lang="en-GB" dirty="0">
                <a:latin typeface="Bookman Old Style" panose="02050604050505020204" pitchFamily="18" charset="0"/>
              </a:rPr>
              <a:t>Food sources should be within a radius of 2 km from the hive.</a:t>
            </a:r>
            <a:endParaRPr lang="en-GB" dirty="0" smtClean="0">
              <a:latin typeface="Bookman Old Style" panose="02050604050505020204" pitchFamily="18" charset="0"/>
            </a:endParaRPr>
          </a:p>
          <a:p>
            <a:r>
              <a:rPr lang="en-GB" dirty="0">
                <a:latin typeface="Bookman Old Style" panose="02050604050505020204" pitchFamily="18" charset="0"/>
              </a:rPr>
              <a:t>Therefore ensure the availability of the followings;</a:t>
            </a:r>
            <a:endParaRPr lang="en-US" dirty="0">
              <a:latin typeface="Bookman Old Style" panose="02050604050505020204" pitchFamily="18" charset="0"/>
            </a:endParaRPr>
          </a:p>
          <a:p>
            <a:pPr lvl="1"/>
            <a:r>
              <a:rPr lang="en-GB" dirty="0">
                <a:latin typeface="Bookman Old Style" panose="02050604050505020204" pitchFamily="18" charset="0"/>
              </a:rPr>
              <a:t>Valuable agricultural crops </a:t>
            </a:r>
            <a:endParaRPr lang="en-GB" dirty="0" smtClean="0">
              <a:latin typeface="Bookman Old Style" panose="02050604050505020204" pitchFamily="18" charset="0"/>
            </a:endParaRPr>
          </a:p>
          <a:p>
            <a:pPr lvl="1"/>
            <a:r>
              <a:rPr lang="en-GB" dirty="0" smtClean="0">
                <a:latin typeface="Bookman Old Style" panose="02050604050505020204" pitchFamily="18" charset="0"/>
              </a:rPr>
              <a:t>Excellent </a:t>
            </a:r>
            <a:r>
              <a:rPr lang="en-GB" dirty="0">
                <a:latin typeface="Bookman Old Style" panose="02050604050505020204" pitchFamily="18" charset="0"/>
              </a:rPr>
              <a:t>fruit trees are both indigenous and exotic </a:t>
            </a:r>
            <a:r>
              <a:rPr lang="en-GB" dirty="0" smtClean="0">
                <a:latin typeface="Bookman Old Style" panose="02050604050505020204" pitchFamily="18" charset="0"/>
              </a:rPr>
              <a:t>trees</a:t>
            </a:r>
          </a:p>
          <a:p>
            <a:pPr lvl="1"/>
            <a:r>
              <a:rPr lang="en-GB" dirty="0" smtClean="0">
                <a:latin typeface="Bookman Old Style" panose="02050604050505020204" pitchFamily="18" charset="0"/>
              </a:rPr>
              <a:t>Planting </a:t>
            </a:r>
            <a:r>
              <a:rPr lang="en-GB" dirty="0">
                <a:latin typeface="Bookman Old Style" panose="02050604050505020204" pitchFamily="18" charset="0"/>
              </a:rPr>
              <a:t>ornamental </a:t>
            </a:r>
            <a:r>
              <a:rPr lang="en-GB" dirty="0" smtClean="0">
                <a:latin typeface="Bookman Old Style" panose="02050604050505020204" pitchFamily="18" charset="0"/>
              </a:rPr>
              <a:t>flowers</a:t>
            </a:r>
            <a:endParaRPr lang="en-US" dirty="0">
              <a:latin typeface="Bookman Old Style" panose="02050604050505020204" pitchFamily="18" charset="0"/>
            </a:endParaRPr>
          </a:p>
        </p:txBody>
      </p:sp>
    </p:spTree>
    <p:extLst>
      <p:ext uri="{BB962C8B-B14F-4D97-AF65-F5344CB8AC3E}">
        <p14:creationId xmlns:p14="http://schemas.microsoft.com/office/powerpoint/2010/main" val="3641962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1000"/>
                                        <p:tgtEl>
                                          <p:spTgt spid="3">
                                            <p:txEl>
                                              <p:pRg st="4" end="4"/>
                                            </p:txEl>
                                          </p:spTgt>
                                        </p:tgtEl>
                                      </p:cBhvr>
                                    </p:animEffect>
                                    <p:anim calcmode="lin" valueType="num">
                                      <p:cBhvr>
                                        <p:cTn id="4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1000"/>
                                        <p:tgtEl>
                                          <p:spTgt spid="3">
                                            <p:txEl>
                                              <p:pRg st="5" end="5"/>
                                            </p:txEl>
                                          </p:spTgt>
                                        </p:tgtEl>
                                      </p:cBhvr>
                                    </p:animEffect>
                                    <p:anim calcmode="lin" valueType="num">
                                      <p:cBhvr>
                                        <p:cTn id="4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SITE SELECTION CONT’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latin typeface="Bookman Old Style" panose="02050604050505020204" pitchFamily="18" charset="0"/>
              </a:rPr>
              <a:t>Water source</a:t>
            </a:r>
          </a:p>
          <a:p>
            <a:r>
              <a:rPr lang="en-GB" dirty="0">
                <a:latin typeface="Bookman Old Style" panose="02050604050505020204" pitchFamily="18" charset="0"/>
              </a:rPr>
              <a:t>There should be perennial water supply e.g. rivers, dams, streams or lake. Ensure that water sources in the vicinity should be at least within a radius of 500 m</a:t>
            </a:r>
            <a:r>
              <a:rPr lang="en-GB" dirty="0" smtClean="0">
                <a:latin typeface="Bookman Old Style" panose="02050604050505020204" pitchFamily="18" charset="0"/>
              </a:rPr>
              <a:t>.</a:t>
            </a:r>
          </a:p>
          <a:p>
            <a:r>
              <a:rPr lang="en-GB" dirty="0">
                <a:latin typeface="Bookman Old Style" panose="02050604050505020204" pitchFamily="18" charset="0"/>
              </a:rPr>
              <a:t>The role of water in a colony;</a:t>
            </a:r>
            <a:endParaRPr lang="en-US" dirty="0">
              <a:latin typeface="Bookman Old Style" panose="02050604050505020204" pitchFamily="18" charset="0"/>
            </a:endParaRPr>
          </a:p>
          <a:p>
            <a:pPr lvl="0"/>
            <a:r>
              <a:rPr lang="en-GB" dirty="0">
                <a:latin typeface="Bookman Old Style" panose="02050604050505020204" pitchFamily="18" charset="0"/>
              </a:rPr>
              <a:t>Diluting brood food for feeding larvae</a:t>
            </a:r>
            <a:endParaRPr lang="en-US" dirty="0">
              <a:latin typeface="Bookman Old Style" panose="02050604050505020204" pitchFamily="18" charset="0"/>
            </a:endParaRPr>
          </a:p>
          <a:p>
            <a:pPr lvl="0"/>
            <a:r>
              <a:rPr lang="en-GB" dirty="0">
                <a:latin typeface="Bookman Old Style" panose="02050604050505020204" pitchFamily="18" charset="0"/>
              </a:rPr>
              <a:t>Cooling the hive when temperatures are high</a:t>
            </a:r>
            <a:endParaRPr lang="en-US" dirty="0">
              <a:latin typeface="Bookman Old Style" panose="02050604050505020204" pitchFamily="18" charset="0"/>
            </a:endParaRPr>
          </a:p>
          <a:p>
            <a:pPr lvl="0"/>
            <a:r>
              <a:rPr lang="en-GB" dirty="0">
                <a:latin typeface="Bookman Old Style" panose="02050604050505020204" pitchFamily="18" charset="0"/>
              </a:rPr>
              <a:t>Lowering sugar content of nectar</a:t>
            </a:r>
            <a:endParaRPr lang="en-US" dirty="0">
              <a:latin typeface="Bookman Old Style" panose="02050604050505020204" pitchFamily="18" charset="0"/>
            </a:endParaRPr>
          </a:p>
          <a:p>
            <a:r>
              <a:rPr lang="en-GB" dirty="0" smtClean="0">
                <a:latin typeface="Bookman Old Style" panose="02050604050505020204" pitchFamily="18" charset="0"/>
              </a:rPr>
              <a:t>Without </a:t>
            </a:r>
            <a:r>
              <a:rPr lang="en-GB" dirty="0">
                <a:latin typeface="Bookman Old Style" panose="02050604050505020204" pitchFamily="18" charset="0"/>
              </a:rPr>
              <a:t>water, the effect would lead to losing of the whole colony</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34984287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SITE SELECTION CONT’</a:t>
            </a:r>
            <a:endParaRPr lang="en-US" dirty="0"/>
          </a:p>
        </p:txBody>
      </p:sp>
      <p:sp>
        <p:nvSpPr>
          <p:cNvPr id="3" name="Content Placeholder 2"/>
          <p:cNvSpPr>
            <a:spLocks noGrp="1"/>
          </p:cNvSpPr>
          <p:nvPr>
            <p:ph idx="1"/>
          </p:nvPr>
        </p:nvSpPr>
        <p:spPr/>
        <p:txBody>
          <a:bodyPr>
            <a:normAutofit/>
          </a:bodyPr>
          <a:lstStyle/>
          <a:p>
            <a:pPr marL="0" lvl="0" indent="0">
              <a:buNone/>
            </a:pPr>
            <a:r>
              <a:rPr lang="en-GB" b="1" dirty="0">
                <a:latin typeface="Bookman Old Style" panose="02050604050505020204" pitchFamily="18" charset="0"/>
              </a:rPr>
              <a:t>Residential areas</a:t>
            </a:r>
            <a:endParaRPr lang="en-US" dirty="0">
              <a:latin typeface="Bookman Old Style" panose="02050604050505020204" pitchFamily="18" charset="0"/>
            </a:endParaRPr>
          </a:p>
          <a:p>
            <a:r>
              <a:rPr lang="en-GB" dirty="0">
                <a:latin typeface="Bookman Old Style" panose="02050604050505020204" pitchFamily="18" charset="0"/>
              </a:rPr>
              <a:t>An apiary should be at least 500m away from the residential area and it should be at least 100m away from homestead or working people. This is to avoid disturbances and unnecessary bee attacks</a:t>
            </a:r>
            <a:r>
              <a:rPr lang="en-GB" dirty="0" smtClean="0">
                <a:latin typeface="Bookman Old Style" panose="02050604050505020204" pitchFamily="18" charset="0"/>
              </a:rPr>
              <a:t>.</a:t>
            </a:r>
          </a:p>
          <a:p>
            <a:pPr marL="0" lvl="0" indent="0">
              <a:buNone/>
            </a:pPr>
            <a:r>
              <a:rPr lang="en-GB" b="1" dirty="0">
                <a:latin typeface="Bookman Old Style" panose="02050604050505020204" pitchFamily="18" charset="0"/>
              </a:rPr>
              <a:t>Protection/security</a:t>
            </a:r>
            <a:endParaRPr lang="en-US" dirty="0">
              <a:latin typeface="Bookman Old Style" panose="02050604050505020204" pitchFamily="18" charset="0"/>
            </a:endParaRPr>
          </a:p>
          <a:p>
            <a:pPr lvl="1"/>
            <a:r>
              <a:rPr lang="en-GB" dirty="0">
                <a:latin typeface="Bookman Old Style" panose="02050604050505020204" pitchFamily="18" charset="0"/>
              </a:rPr>
              <a:t>Against </a:t>
            </a:r>
            <a:r>
              <a:rPr lang="en-GB" dirty="0" smtClean="0">
                <a:latin typeface="Bookman Old Style" panose="02050604050505020204" pitchFamily="18" charset="0"/>
              </a:rPr>
              <a:t>animals</a:t>
            </a:r>
          </a:p>
          <a:p>
            <a:pPr lvl="1"/>
            <a:r>
              <a:rPr lang="en-GB" dirty="0" smtClean="0">
                <a:latin typeface="Bookman Old Style" panose="02050604050505020204" pitchFamily="18" charset="0"/>
              </a:rPr>
              <a:t>Against fires</a:t>
            </a:r>
          </a:p>
          <a:p>
            <a:pPr lvl="1"/>
            <a:r>
              <a:rPr lang="en-GB" dirty="0" smtClean="0">
                <a:latin typeface="Bookman Old Style" panose="02050604050505020204" pitchFamily="18" charset="0"/>
              </a:rPr>
              <a:t>Against ants</a:t>
            </a:r>
          </a:p>
          <a:p>
            <a:r>
              <a:rPr lang="en-GB" dirty="0" smtClean="0">
                <a:latin typeface="Bookman Old Style" panose="02050604050505020204" pitchFamily="18" charset="0"/>
              </a:rPr>
              <a:t>Choose </a:t>
            </a:r>
            <a:r>
              <a:rPr lang="en-GB" dirty="0">
                <a:latin typeface="Bookman Old Style" panose="02050604050505020204" pitchFamily="18" charset="0"/>
              </a:rPr>
              <a:t>areas with minimal thefts and vandalism of hives.</a:t>
            </a:r>
            <a:endParaRPr lang="en-US" dirty="0">
              <a:latin typeface="Bookman Old Style" panose="02050604050505020204" pitchFamily="18" charset="0"/>
            </a:endParaRPr>
          </a:p>
        </p:txBody>
      </p:sp>
    </p:spTree>
    <p:extLst>
      <p:ext uri="{BB962C8B-B14F-4D97-AF65-F5344CB8AC3E}">
        <p14:creationId xmlns:p14="http://schemas.microsoft.com/office/powerpoint/2010/main" val="22009827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1000"/>
                                        <p:tgtEl>
                                          <p:spTgt spid="3">
                                            <p:txEl>
                                              <p:pRg st="3" end="3"/>
                                            </p:txEl>
                                          </p:spTgt>
                                        </p:tgtEl>
                                      </p:cBhvr>
                                    </p:animEffect>
                                    <p:anim calcmode="lin" valueType="num">
                                      <p:cBhvr>
                                        <p:cTn id="3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1000"/>
                                        <p:tgtEl>
                                          <p:spTgt spid="3">
                                            <p:txEl>
                                              <p:pRg st="4" end="4"/>
                                            </p:txEl>
                                          </p:spTgt>
                                        </p:tgtEl>
                                      </p:cBhvr>
                                    </p:animEffect>
                                    <p:anim calcmode="lin" valueType="num">
                                      <p:cBhvr>
                                        <p:cTn id="3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SITE SELECTION CONT’</a:t>
            </a:r>
            <a:endParaRPr lang="en-US" dirty="0"/>
          </a:p>
        </p:txBody>
      </p:sp>
      <p:sp>
        <p:nvSpPr>
          <p:cNvPr id="3" name="Content Placeholder 2"/>
          <p:cNvSpPr>
            <a:spLocks noGrp="1"/>
          </p:cNvSpPr>
          <p:nvPr>
            <p:ph idx="1"/>
          </p:nvPr>
        </p:nvSpPr>
        <p:spPr>
          <a:xfrm>
            <a:off x="838200" y="1825625"/>
            <a:ext cx="10515600" cy="4653552"/>
          </a:xfrm>
        </p:spPr>
        <p:txBody>
          <a:bodyPr>
            <a:normAutofit fontScale="92500" lnSpcReduction="10000"/>
          </a:bodyPr>
          <a:lstStyle/>
          <a:p>
            <a:pPr marL="0" lvl="0" indent="0">
              <a:buNone/>
            </a:pPr>
            <a:r>
              <a:rPr lang="en-GB" b="1" dirty="0">
                <a:latin typeface="Bookman Old Style" panose="02050604050505020204" pitchFamily="18" charset="0"/>
              </a:rPr>
              <a:t>Climate</a:t>
            </a:r>
            <a:endParaRPr lang="en-US" dirty="0">
              <a:latin typeface="Bookman Old Style" panose="02050604050505020204" pitchFamily="18" charset="0"/>
            </a:endParaRPr>
          </a:p>
          <a:p>
            <a:pPr lvl="0"/>
            <a:r>
              <a:rPr lang="en-GB" dirty="0">
                <a:latin typeface="Bookman Old Style" panose="02050604050505020204" pitchFamily="18" charset="0"/>
              </a:rPr>
              <a:t>Select areas of moderate temperatures and humidity (not too hot or cold). </a:t>
            </a:r>
            <a:endParaRPr lang="en-GB" dirty="0" smtClean="0">
              <a:latin typeface="Bookman Old Style" panose="02050604050505020204" pitchFamily="18" charset="0"/>
            </a:endParaRPr>
          </a:p>
          <a:p>
            <a:pPr lvl="0"/>
            <a:r>
              <a:rPr lang="en-GB" dirty="0" smtClean="0">
                <a:latin typeface="Bookman Old Style" panose="02050604050505020204" pitchFamily="18" charset="0"/>
              </a:rPr>
              <a:t>Avoid </a:t>
            </a:r>
            <a:r>
              <a:rPr lang="en-GB" dirty="0">
                <a:latin typeface="Bookman Old Style" panose="02050604050505020204" pitchFamily="18" charset="0"/>
              </a:rPr>
              <a:t>areas of strong winds. </a:t>
            </a:r>
            <a:endParaRPr lang="en-GB" dirty="0" smtClean="0">
              <a:latin typeface="Bookman Old Style" panose="02050604050505020204" pitchFamily="18" charset="0"/>
            </a:endParaRPr>
          </a:p>
          <a:p>
            <a:pPr lvl="0"/>
            <a:r>
              <a:rPr lang="en-GB" dirty="0" smtClean="0">
                <a:latin typeface="Bookman Old Style" panose="02050604050505020204" pitchFamily="18" charset="0"/>
              </a:rPr>
              <a:t>Avoid </a:t>
            </a:r>
            <a:r>
              <a:rPr lang="en-GB" dirty="0">
                <a:latin typeface="Bookman Old Style" panose="02050604050505020204" pitchFamily="18" charset="0"/>
              </a:rPr>
              <a:t>open </a:t>
            </a:r>
            <a:r>
              <a:rPr lang="en-GB" dirty="0" smtClean="0">
                <a:latin typeface="Bookman Old Style" panose="02050604050505020204" pitchFamily="18" charset="0"/>
              </a:rPr>
              <a:t>areas</a:t>
            </a:r>
          </a:p>
          <a:p>
            <a:pPr marL="0" lvl="0" indent="0">
              <a:buNone/>
            </a:pPr>
            <a:r>
              <a:rPr lang="en-GB" b="1" dirty="0">
                <a:latin typeface="Bookman Old Style" panose="02050604050505020204" pitchFamily="18" charset="0"/>
              </a:rPr>
              <a:t>Accessibility</a:t>
            </a:r>
            <a:endParaRPr lang="en-US" dirty="0">
              <a:latin typeface="Bookman Old Style" panose="02050604050505020204" pitchFamily="18" charset="0"/>
            </a:endParaRPr>
          </a:p>
          <a:p>
            <a:r>
              <a:rPr lang="en-GB" dirty="0">
                <a:latin typeface="Bookman Old Style" panose="02050604050505020204" pitchFamily="18" charset="0"/>
              </a:rPr>
              <a:t>Ensure that the apiary is accessible by vehicle throughout the year.</a:t>
            </a:r>
            <a:endParaRPr lang="en-US" dirty="0">
              <a:latin typeface="Bookman Old Style" panose="02050604050505020204" pitchFamily="18" charset="0"/>
            </a:endParaRPr>
          </a:p>
          <a:p>
            <a:pPr marL="0" lvl="0" indent="0">
              <a:buNone/>
            </a:pPr>
            <a:r>
              <a:rPr lang="en-GB" b="1" dirty="0" smtClean="0">
                <a:latin typeface="Bookman Old Style" panose="02050604050505020204" pitchFamily="18" charset="0"/>
              </a:rPr>
              <a:t>Floods</a:t>
            </a:r>
            <a:endParaRPr lang="en-US" dirty="0">
              <a:latin typeface="Bookman Old Style" panose="02050604050505020204" pitchFamily="18" charset="0"/>
            </a:endParaRPr>
          </a:p>
          <a:p>
            <a:r>
              <a:rPr lang="en-GB" dirty="0">
                <a:latin typeface="Bookman Old Style" panose="02050604050505020204" pitchFamily="18" charset="0"/>
              </a:rPr>
              <a:t>Avoid areas that are flooded with water most parts the year or wetland areas</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33719232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fade">
                                      <p:cBhvr>
                                        <p:cTn id="62" dur="1000"/>
                                        <p:tgtEl>
                                          <p:spTgt spid="3">
                                            <p:txEl>
                                              <p:pRg st="7" end="7"/>
                                            </p:txEl>
                                          </p:spTgt>
                                        </p:tgtEl>
                                      </p:cBhvr>
                                    </p:animEffect>
                                    <p:anim calcmode="lin" valueType="num">
                                      <p:cBhvr>
                                        <p:cTn id="6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APIARY MANAGEMENT</a:t>
            </a:r>
            <a:endParaRPr lang="en-US" dirty="0"/>
          </a:p>
        </p:txBody>
      </p:sp>
      <p:sp>
        <p:nvSpPr>
          <p:cNvPr id="3" name="Content Placeholder 2"/>
          <p:cNvSpPr>
            <a:spLocks noGrp="1"/>
          </p:cNvSpPr>
          <p:nvPr>
            <p:ph idx="1"/>
          </p:nvPr>
        </p:nvSpPr>
        <p:spPr>
          <a:xfrm>
            <a:off x="838200" y="1825625"/>
            <a:ext cx="10515600" cy="4744992"/>
          </a:xfrm>
        </p:spPr>
        <p:txBody>
          <a:bodyPr>
            <a:normAutofit fontScale="92500" lnSpcReduction="20000"/>
          </a:bodyPr>
          <a:lstStyle/>
          <a:p>
            <a:r>
              <a:rPr lang="en-GB" dirty="0" smtClean="0">
                <a:latin typeface="Bookman Old Style" panose="02050604050505020204" pitchFamily="18" charset="0"/>
              </a:rPr>
              <a:t>When </a:t>
            </a:r>
            <a:r>
              <a:rPr lang="en-GB" dirty="0">
                <a:latin typeface="Bookman Old Style" panose="02050604050505020204" pitchFamily="18" charset="0"/>
              </a:rPr>
              <a:t>inspecting honey bee colonies in an apiary, below are some guidelines to consider.</a:t>
            </a:r>
            <a:endParaRPr lang="en-US" dirty="0">
              <a:latin typeface="Bookman Old Style" panose="02050604050505020204" pitchFamily="18" charset="0"/>
            </a:endParaRPr>
          </a:p>
          <a:p>
            <a:pPr lvl="0"/>
            <a:r>
              <a:rPr lang="en-GB" dirty="0" smtClean="0">
                <a:latin typeface="Bookman Old Style" panose="02050604050505020204" pitchFamily="18" charset="0"/>
              </a:rPr>
              <a:t>Wearing protective clothing's</a:t>
            </a:r>
            <a:endParaRPr lang="en-US" dirty="0">
              <a:latin typeface="Bookman Old Style" panose="02050604050505020204" pitchFamily="18" charset="0"/>
            </a:endParaRPr>
          </a:p>
          <a:p>
            <a:pPr lvl="0"/>
            <a:r>
              <a:rPr lang="en-GB" dirty="0">
                <a:latin typeface="Bookman Old Style" panose="02050604050505020204" pitchFamily="18" charset="0"/>
              </a:rPr>
              <a:t>Approaching the hive from behind to avoid blocking the bees from the hive entrance.</a:t>
            </a:r>
            <a:endParaRPr lang="en-US" dirty="0">
              <a:latin typeface="Bookman Old Style" panose="02050604050505020204" pitchFamily="18" charset="0"/>
            </a:endParaRPr>
          </a:p>
          <a:p>
            <a:pPr lvl="0"/>
            <a:r>
              <a:rPr lang="en-GB" dirty="0">
                <a:latin typeface="Bookman Old Style" panose="02050604050505020204" pitchFamily="18" charset="0"/>
              </a:rPr>
              <a:t>Smoke the hive entrance before removing the hive lid and inner cover</a:t>
            </a:r>
            <a:endParaRPr lang="en-US" dirty="0">
              <a:latin typeface="Bookman Old Style" panose="02050604050505020204" pitchFamily="18" charset="0"/>
            </a:endParaRPr>
          </a:p>
          <a:p>
            <a:pPr lvl="0"/>
            <a:r>
              <a:rPr lang="en-GB" dirty="0">
                <a:latin typeface="Bookman Old Style" panose="02050604050505020204" pitchFamily="18" charset="0"/>
              </a:rPr>
              <a:t>Again smoke the bees before removing the first frame of comb.</a:t>
            </a:r>
            <a:endParaRPr lang="en-US" dirty="0">
              <a:latin typeface="Bookman Old Style" panose="02050604050505020204" pitchFamily="18" charset="0"/>
            </a:endParaRPr>
          </a:p>
          <a:p>
            <a:pPr lvl="0"/>
            <a:r>
              <a:rPr lang="en-GB" dirty="0">
                <a:latin typeface="Bookman Old Style" panose="02050604050505020204" pitchFamily="18" charset="0"/>
              </a:rPr>
              <a:t>Remove and inspect the first frame of comb on each side and one or two </a:t>
            </a:r>
            <a:r>
              <a:rPr lang="en-GB" dirty="0" smtClean="0">
                <a:latin typeface="Bookman Old Style" panose="02050604050505020204" pitchFamily="18" charset="0"/>
              </a:rPr>
              <a:t>frames</a:t>
            </a:r>
          </a:p>
          <a:p>
            <a:pPr lvl="0"/>
            <a:r>
              <a:rPr lang="en-GB" dirty="0" smtClean="0">
                <a:latin typeface="Bookman Old Style" panose="02050604050505020204" pitchFamily="18" charset="0"/>
              </a:rPr>
              <a:t>Place </a:t>
            </a:r>
            <a:r>
              <a:rPr lang="en-GB" dirty="0">
                <a:latin typeface="Bookman Old Style" panose="02050604050505020204" pitchFamily="18" charset="0"/>
              </a:rPr>
              <a:t>back frames of combs which were removed when inspecting.</a:t>
            </a:r>
            <a:endParaRPr lang="en-US" dirty="0">
              <a:latin typeface="Bookman Old Style" panose="02050604050505020204" pitchFamily="18" charset="0"/>
            </a:endParaRPr>
          </a:p>
          <a:p>
            <a:pPr lvl="0"/>
            <a:r>
              <a:rPr lang="en-GB" dirty="0">
                <a:latin typeface="Bookman Old Style" panose="02050604050505020204" pitchFamily="18" charset="0"/>
              </a:rPr>
              <a:t>Place back the lid of the hive on top of the hive</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39612046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fade">
                                      <p:cBhvr>
                                        <p:cTn id="62" dur="1000"/>
                                        <p:tgtEl>
                                          <p:spTgt spid="3">
                                            <p:txEl>
                                              <p:pRg st="7" end="7"/>
                                            </p:txEl>
                                          </p:spTgt>
                                        </p:tgtEl>
                                      </p:cBhvr>
                                    </p:animEffect>
                                    <p:anim calcmode="lin" valueType="num">
                                      <p:cBhvr>
                                        <p:cTn id="6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APIARY MANAGEMENT</a:t>
            </a:r>
            <a:endParaRPr lang="en-US" dirty="0"/>
          </a:p>
        </p:txBody>
      </p:sp>
      <p:sp>
        <p:nvSpPr>
          <p:cNvPr id="3" name="Content Placeholder 2"/>
          <p:cNvSpPr>
            <a:spLocks noGrp="1"/>
          </p:cNvSpPr>
          <p:nvPr>
            <p:ph idx="1"/>
          </p:nvPr>
        </p:nvSpPr>
        <p:spPr/>
        <p:txBody>
          <a:bodyPr/>
          <a:lstStyle/>
          <a:p>
            <a:pPr marL="0" indent="0">
              <a:buNone/>
            </a:pPr>
            <a:r>
              <a:rPr lang="en-GB" b="1" dirty="0">
                <a:latin typeface="Bookman Old Style" panose="02050604050505020204" pitchFamily="18" charset="0"/>
              </a:rPr>
              <a:t>Duties </a:t>
            </a:r>
            <a:r>
              <a:rPr lang="en-GB" b="1" dirty="0" smtClean="0">
                <a:latin typeface="Bookman Old Style" panose="02050604050505020204" pitchFamily="18" charset="0"/>
              </a:rPr>
              <a:t>of a beekeeper </a:t>
            </a:r>
          </a:p>
          <a:p>
            <a:r>
              <a:rPr lang="en-GB" dirty="0" smtClean="0">
                <a:latin typeface="Bookman Old Style" panose="02050604050505020204" pitchFamily="18" charset="0"/>
              </a:rPr>
              <a:t>A </a:t>
            </a:r>
            <a:r>
              <a:rPr lang="en-GB" dirty="0">
                <a:latin typeface="Bookman Old Style" panose="02050604050505020204" pitchFamily="18" charset="0"/>
              </a:rPr>
              <a:t>beekeeper is expected to carry out during weekly inspections are as follows;</a:t>
            </a:r>
            <a:endParaRPr lang="en-US" dirty="0">
              <a:latin typeface="Bookman Old Style" panose="02050604050505020204" pitchFamily="18" charset="0"/>
            </a:endParaRPr>
          </a:p>
          <a:p>
            <a:pPr lvl="0"/>
            <a:r>
              <a:rPr lang="en-GB" dirty="0">
                <a:latin typeface="Bookman Old Style" panose="02050604050505020204" pitchFamily="18" charset="0"/>
              </a:rPr>
              <a:t>Strength of colonies i.e. strong or weak.</a:t>
            </a:r>
            <a:endParaRPr lang="en-US" dirty="0">
              <a:latin typeface="Bookman Old Style" panose="02050604050505020204" pitchFamily="18" charset="0"/>
            </a:endParaRPr>
          </a:p>
          <a:p>
            <a:pPr lvl="0"/>
            <a:r>
              <a:rPr lang="en-GB" dirty="0">
                <a:latin typeface="Bookman Old Style" panose="02050604050505020204" pitchFamily="18" charset="0"/>
              </a:rPr>
              <a:t>Bee diseases</a:t>
            </a:r>
            <a:endParaRPr lang="en-US" dirty="0">
              <a:latin typeface="Bookman Old Style" panose="02050604050505020204" pitchFamily="18" charset="0"/>
            </a:endParaRPr>
          </a:p>
          <a:p>
            <a:pPr lvl="0"/>
            <a:r>
              <a:rPr lang="en-GB" dirty="0">
                <a:latin typeface="Bookman Old Style" panose="02050604050505020204" pitchFamily="18" charset="0"/>
              </a:rPr>
              <a:t>Colony population</a:t>
            </a:r>
            <a:endParaRPr lang="en-US" dirty="0">
              <a:latin typeface="Bookman Old Style" panose="02050604050505020204" pitchFamily="18" charset="0"/>
            </a:endParaRPr>
          </a:p>
          <a:p>
            <a:pPr lvl="0"/>
            <a:r>
              <a:rPr lang="en-GB" dirty="0">
                <a:latin typeface="Bookman Old Style" panose="02050604050505020204" pitchFamily="18" charset="0"/>
              </a:rPr>
              <a:t>Foods (for bees) i.e. honey.</a:t>
            </a:r>
            <a:endParaRPr lang="en-US" dirty="0">
              <a:latin typeface="Bookman Old Style" panose="02050604050505020204" pitchFamily="18" charset="0"/>
            </a:endParaRPr>
          </a:p>
          <a:p>
            <a:pPr lvl="0"/>
            <a:r>
              <a:rPr lang="en-GB" dirty="0">
                <a:latin typeface="Bookman Old Style" panose="02050604050505020204" pitchFamily="18" charset="0"/>
              </a:rPr>
              <a:t>Wax moth infestation and pests i.e. red ants and termites</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22411581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latin typeface="Bookman Old Style" panose="02050604050505020204" pitchFamily="18" charset="0"/>
              </a:rPr>
              <a:t>APIARY ESTABLISHMENT</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a:xfrm>
            <a:off x="838200" y="1825625"/>
            <a:ext cx="10515600" cy="4705804"/>
          </a:xfrm>
        </p:spPr>
        <p:txBody>
          <a:bodyPr>
            <a:noAutofit/>
          </a:bodyPr>
          <a:lstStyle/>
          <a:p>
            <a:pPr marL="0" indent="0">
              <a:buNone/>
            </a:pPr>
            <a:r>
              <a:rPr lang="en-GB" b="1" dirty="0">
                <a:latin typeface="Bookman Old Style" panose="02050604050505020204" pitchFamily="18" charset="0"/>
              </a:rPr>
              <a:t>APIARY</a:t>
            </a:r>
            <a:endParaRPr lang="en-US" dirty="0">
              <a:latin typeface="Bookman Old Style" panose="02050604050505020204" pitchFamily="18" charset="0"/>
            </a:endParaRPr>
          </a:p>
          <a:p>
            <a:r>
              <a:rPr lang="en-GB" dirty="0">
                <a:latin typeface="Bookman Old Style" panose="02050604050505020204" pitchFamily="18" charset="0"/>
              </a:rPr>
              <a:t>This is a designated place where many bee hives are kept together for managing honey </a:t>
            </a:r>
            <a:r>
              <a:rPr lang="en-GB" dirty="0" smtClean="0">
                <a:latin typeface="Bookman Old Style" panose="02050604050505020204" pitchFamily="18" charset="0"/>
              </a:rPr>
              <a:t>bees.</a:t>
            </a:r>
          </a:p>
          <a:p>
            <a:r>
              <a:rPr lang="en-GB" dirty="0" smtClean="0">
                <a:latin typeface="Bookman Old Style" panose="02050604050505020204" pitchFamily="18" charset="0"/>
              </a:rPr>
              <a:t>There </a:t>
            </a:r>
            <a:r>
              <a:rPr lang="en-GB" dirty="0">
                <a:latin typeface="Bookman Old Style" panose="02050604050505020204" pitchFamily="18" charset="0"/>
              </a:rPr>
              <a:t>are two types of apiaries namely; Bark hive apiary and Frame hive apiary</a:t>
            </a:r>
            <a:r>
              <a:rPr lang="en-GB" dirty="0" smtClean="0">
                <a:latin typeface="Bookman Old Style" panose="02050604050505020204" pitchFamily="18" charset="0"/>
              </a:rPr>
              <a:t>.</a:t>
            </a:r>
          </a:p>
          <a:p>
            <a:r>
              <a:rPr lang="en-GB" b="1" dirty="0">
                <a:latin typeface="Bookman Old Style" panose="02050604050505020204" pitchFamily="18" charset="0"/>
              </a:rPr>
              <a:t>Bark hive</a:t>
            </a:r>
            <a:r>
              <a:rPr lang="en-GB" dirty="0">
                <a:latin typeface="Bookman Old Style" panose="02050604050505020204" pitchFamily="18" charset="0"/>
              </a:rPr>
              <a:t> </a:t>
            </a:r>
            <a:r>
              <a:rPr lang="en-GB" dirty="0" smtClean="0">
                <a:latin typeface="Bookman Old Style" panose="02050604050505020204" pitchFamily="18" charset="0"/>
              </a:rPr>
              <a:t>apiary; This </a:t>
            </a:r>
            <a:r>
              <a:rPr lang="en-GB" dirty="0">
                <a:latin typeface="Bookman Old Style" panose="02050604050505020204" pitchFamily="18" charset="0"/>
              </a:rPr>
              <a:t>is where bark hives are scattered over a large area of woodland for the purpose of managing bee colonies.</a:t>
            </a:r>
            <a:endParaRPr lang="en-US" dirty="0">
              <a:latin typeface="Bookman Old Style" panose="02050604050505020204" pitchFamily="18" charset="0"/>
            </a:endParaRPr>
          </a:p>
          <a:p>
            <a:r>
              <a:rPr lang="en-GB" b="1" dirty="0">
                <a:latin typeface="Bookman Old Style" panose="02050604050505020204" pitchFamily="18" charset="0"/>
              </a:rPr>
              <a:t>Frame hive</a:t>
            </a:r>
            <a:r>
              <a:rPr lang="en-GB" dirty="0">
                <a:latin typeface="Bookman Old Style" panose="02050604050505020204" pitchFamily="18" charset="0"/>
              </a:rPr>
              <a:t> </a:t>
            </a:r>
            <a:r>
              <a:rPr lang="en-GB" dirty="0" smtClean="0">
                <a:latin typeface="Bookman Old Style" panose="02050604050505020204" pitchFamily="18" charset="0"/>
              </a:rPr>
              <a:t>apiary; This </a:t>
            </a:r>
            <a:r>
              <a:rPr lang="en-GB" dirty="0">
                <a:latin typeface="Bookman Old Style" panose="02050604050505020204" pitchFamily="18" charset="0"/>
              </a:rPr>
              <a:t>is an area where frame hives are grouped together in one location for managing bee colonies</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33106225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APIARY ESTABLISHMENT CONT’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GB" b="1" u="sng" dirty="0">
                <a:latin typeface="Bookman Old Style" panose="02050604050505020204" pitchFamily="18" charset="0"/>
              </a:rPr>
              <a:t>Merits of scattering hives </a:t>
            </a:r>
            <a:r>
              <a:rPr lang="en-GB" b="1" u="sng" dirty="0" smtClean="0">
                <a:latin typeface="Bookman Old Style" panose="02050604050505020204" pitchFamily="18" charset="0"/>
              </a:rPr>
              <a:t>are</a:t>
            </a:r>
            <a:r>
              <a:rPr lang="en-GB" b="1" dirty="0" smtClean="0">
                <a:latin typeface="Bookman Old Style" panose="02050604050505020204" pitchFamily="18" charset="0"/>
              </a:rPr>
              <a:t>;</a:t>
            </a:r>
            <a:endParaRPr lang="en-US" b="1" dirty="0" smtClean="0">
              <a:latin typeface="Bookman Old Style" panose="02050604050505020204" pitchFamily="18" charset="0"/>
            </a:endParaRPr>
          </a:p>
          <a:p>
            <a:r>
              <a:rPr lang="en-GB" dirty="0" smtClean="0">
                <a:latin typeface="Bookman Old Style" panose="02050604050505020204" pitchFamily="18" charset="0"/>
              </a:rPr>
              <a:t>Bigger </a:t>
            </a:r>
            <a:r>
              <a:rPr lang="en-GB" dirty="0">
                <a:latin typeface="Bookman Old Style" panose="02050604050505020204" pitchFamily="18" charset="0"/>
              </a:rPr>
              <a:t>chances of better </a:t>
            </a:r>
            <a:r>
              <a:rPr lang="en-GB" dirty="0" smtClean="0">
                <a:latin typeface="Bookman Old Style" panose="02050604050505020204" pitchFamily="18" charset="0"/>
              </a:rPr>
              <a:t>occupation</a:t>
            </a:r>
            <a:endParaRPr lang="en-US" sz="2000" dirty="0" smtClean="0">
              <a:latin typeface="Bookman Old Style" panose="02050604050505020204" pitchFamily="18" charset="0"/>
            </a:endParaRPr>
          </a:p>
          <a:p>
            <a:r>
              <a:rPr lang="en-GB" dirty="0" smtClean="0">
                <a:latin typeface="Bookman Old Style" panose="02050604050505020204" pitchFamily="18" charset="0"/>
              </a:rPr>
              <a:t>Bigger </a:t>
            </a:r>
            <a:r>
              <a:rPr lang="en-GB" dirty="0">
                <a:latin typeface="Bookman Old Style" panose="02050604050505020204" pitchFamily="18" charset="0"/>
              </a:rPr>
              <a:t>crop(yields) of honey and other </a:t>
            </a:r>
            <a:r>
              <a:rPr lang="en-GB" dirty="0" smtClean="0">
                <a:latin typeface="Bookman Old Style" panose="02050604050505020204" pitchFamily="18" charset="0"/>
              </a:rPr>
              <a:t>by-products</a:t>
            </a:r>
            <a:endParaRPr lang="en-US" sz="2000" dirty="0" smtClean="0">
              <a:latin typeface="Bookman Old Style" panose="02050604050505020204" pitchFamily="18" charset="0"/>
            </a:endParaRPr>
          </a:p>
          <a:p>
            <a:r>
              <a:rPr lang="en-GB" dirty="0" smtClean="0">
                <a:latin typeface="Bookman Old Style" panose="02050604050505020204" pitchFamily="18" charset="0"/>
              </a:rPr>
              <a:t>Absconding </a:t>
            </a:r>
            <a:r>
              <a:rPr lang="en-GB" dirty="0">
                <a:latin typeface="Bookman Old Style" panose="02050604050505020204" pitchFamily="18" charset="0"/>
              </a:rPr>
              <a:t>rates may be low.</a:t>
            </a:r>
            <a:endParaRPr lang="en-US" sz="2000" dirty="0">
              <a:latin typeface="Bookman Old Style" panose="02050604050505020204" pitchFamily="18" charset="0"/>
            </a:endParaRPr>
          </a:p>
          <a:p>
            <a:pPr marL="0" indent="0">
              <a:buNone/>
            </a:pPr>
            <a:r>
              <a:rPr lang="en-GB" b="1" u="sng" dirty="0">
                <a:latin typeface="Bookman Old Style" panose="02050604050505020204" pitchFamily="18" charset="0"/>
              </a:rPr>
              <a:t>Merits of grouping hives are;</a:t>
            </a:r>
            <a:endParaRPr lang="en-US" b="1" dirty="0">
              <a:latin typeface="Bookman Old Style" panose="02050604050505020204" pitchFamily="18" charset="0"/>
            </a:endParaRPr>
          </a:p>
          <a:p>
            <a:pPr lvl="0"/>
            <a:r>
              <a:rPr lang="en-GB" dirty="0">
                <a:latin typeface="Bookman Old Style" panose="02050604050505020204" pitchFamily="18" charset="0"/>
              </a:rPr>
              <a:t>Easy to inspect the colonies or hives</a:t>
            </a:r>
            <a:endParaRPr lang="en-US" dirty="0">
              <a:latin typeface="Bookman Old Style" panose="02050604050505020204" pitchFamily="18" charset="0"/>
            </a:endParaRPr>
          </a:p>
          <a:p>
            <a:pPr lvl="0"/>
            <a:r>
              <a:rPr lang="en-GB" dirty="0">
                <a:latin typeface="Bookman Old Style" panose="02050604050505020204" pitchFamily="18" charset="0"/>
              </a:rPr>
              <a:t>Easy to crop the hives</a:t>
            </a:r>
            <a:endParaRPr lang="en-US" dirty="0">
              <a:latin typeface="Bookman Old Style" panose="02050604050505020204" pitchFamily="18" charset="0"/>
            </a:endParaRPr>
          </a:p>
          <a:p>
            <a:pPr lvl="0"/>
            <a:r>
              <a:rPr lang="en-GB" dirty="0">
                <a:latin typeface="Bookman Old Style" panose="02050604050505020204" pitchFamily="18" charset="0"/>
              </a:rPr>
              <a:t>Easy to transport the crop</a:t>
            </a:r>
            <a:endParaRPr lang="en-US" dirty="0">
              <a:latin typeface="Bookman Old Style" panose="02050604050505020204" pitchFamily="18" charset="0"/>
            </a:endParaRPr>
          </a:p>
          <a:p>
            <a:pPr lvl="0"/>
            <a:r>
              <a:rPr lang="en-GB" dirty="0">
                <a:latin typeface="Bookman Old Style" panose="02050604050505020204" pitchFamily="18" charset="0"/>
              </a:rPr>
              <a:t>Easy to </a:t>
            </a:r>
            <a:r>
              <a:rPr lang="en-GB" dirty="0" smtClean="0">
                <a:latin typeface="Bookman Old Style" panose="02050604050505020204" pitchFamily="18" charset="0"/>
              </a:rPr>
              <a:t>manage</a:t>
            </a:r>
            <a:endParaRPr lang="en-US" dirty="0">
              <a:latin typeface="Bookman Old Style" panose="02050604050505020204" pitchFamily="18" charset="0"/>
            </a:endParaRPr>
          </a:p>
        </p:txBody>
      </p:sp>
    </p:spTree>
    <p:extLst>
      <p:ext uri="{BB962C8B-B14F-4D97-AF65-F5344CB8AC3E}">
        <p14:creationId xmlns:p14="http://schemas.microsoft.com/office/powerpoint/2010/main" val="36338770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fade">
                                      <p:cBhvr>
                                        <p:cTn id="62" dur="1000"/>
                                        <p:tgtEl>
                                          <p:spTgt spid="3">
                                            <p:txEl>
                                              <p:pRg st="7" end="7"/>
                                            </p:txEl>
                                          </p:spTgt>
                                        </p:tgtEl>
                                      </p:cBhvr>
                                    </p:animEffect>
                                    <p:anim calcmode="lin" valueType="num">
                                      <p:cBhvr>
                                        <p:cTn id="6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Effect transition="in" filter="fade">
                                      <p:cBhvr>
                                        <p:cTn id="69" dur="1000"/>
                                        <p:tgtEl>
                                          <p:spTgt spid="3">
                                            <p:txEl>
                                              <p:pRg st="8" end="8"/>
                                            </p:txEl>
                                          </p:spTgt>
                                        </p:tgtEl>
                                      </p:cBhvr>
                                    </p:animEffect>
                                    <p:anim calcmode="lin" valueType="num">
                                      <p:cBhvr>
                                        <p:cTn id="7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APIARY ESTABLISHMENT CONT’</a:t>
            </a:r>
            <a:endParaRPr lang="en-US" dirty="0"/>
          </a:p>
        </p:txBody>
      </p:sp>
      <p:sp>
        <p:nvSpPr>
          <p:cNvPr id="3" name="Content Placeholder 2"/>
          <p:cNvSpPr>
            <a:spLocks noGrp="1"/>
          </p:cNvSpPr>
          <p:nvPr>
            <p:ph idx="1"/>
          </p:nvPr>
        </p:nvSpPr>
        <p:spPr/>
        <p:txBody>
          <a:bodyPr/>
          <a:lstStyle/>
          <a:p>
            <a:r>
              <a:rPr lang="en-GB" b="1" dirty="0"/>
              <a:t>Types of frame hive apiaries</a:t>
            </a:r>
            <a:endParaRPr lang="en-US" dirty="0"/>
          </a:p>
          <a:p>
            <a:r>
              <a:rPr lang="en-GB" dirty="0"/>
              <a:t>There are two types of frame hive apiaries namely, bee yard and bee house. The hives are grouped in one area for easy management and protection</a:t>
            </a:r>
            <a:r>
              <a:rPr lang="en-GB" dirty="0" smtClean="0"/>
              <a:t>.</a:t>
            </a:r>
          </a:p>
          <a:p>
            <a:r>
              <a:rPr lang="en-GB" b="1" dirty="0"/>
              <a:t>BEEYARD </a:t>
            </a:r>
            <a:endParaRPr lang="en-US" dirty="0"/>
          </a:p>
          <a:p>
            <a:r>
              <a:rPr lang="en-GB" b="1" dirty="0" smtClean="0"/>
              <a:t>BEEHOUSE</a:t>
            </a:r>
            <a:endParaRPr lang="en-US" dirty="0"/>
          </a:p>
        </p:txBody>
      </p:sp>
    </p:spTree>
    <p:extLst>
      <p:ext uri="{BB962C8B-B14F-4D97-AF65-F5344CB8AC3E}">
        <p14:creationId xmlns:p14="http://schemas.microsoft.com/office/powerpoint/2010/main" val="32757930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672</Words>
  <Application>Microsoft Office PowerPoint</Application>
  <PresentationFormat>Widescreen</PresentationFormat>
  <Paragraphs>90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Bookman Old Style</vt:lpstr>
      <vt:lpstr>Calibri</vt:lpstr>
      <vt:lpstr>Calibri Light</vt:lpstr>
      <vt:lpstr>Office Theme</vt:lpstr>
      <vt:lpstr>BEEKEEPING</vt:lpstr>
      <vt:lpstr>CONTENT</vt:lpstr>
      <vt:lpstr>SITE SELECTION</vt:lpstr>
      <vt:lpstr>SITE SELECTION CONT’</vt:lpstr>
      <vt:lpstr>SITE SELECTION CONT’</vt:lpstr>
      <vt:lpstr>SITE SELECTION CONT’</vt:lpstr>
      <vt:lpstr>SITE SELECTION CONT’</vt:lpstr>
      <vt:lpstr>APIARY MANAGEMENT</vt:lpstr>
      <vt:lpstr>APIARY MANAGEMENT</vt:lpstr>
      <vt:lpstr>APIARY ESTABLISHMENT</vt:lpstr>
      <vt:lpstr>APIARY ESTABLISHMENT CONT’</vt:lpstr>
      <vt:lpstr>APIARY ESTABLISHMENT CONT’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BEEKEEPING</dc:title>
  <dc:creator>Ariella</dc:creator>
  <cp:lastModifiedBy>Edgar Bowa</cp:lastModifiedBy>
  <cp:revision>13</cp:revision>
  <dcterms:created xsi:type="dcterms:W3CDTF">2025-03-13T06:54:56Z</dcterms:created>
  <dcterms:modified xsi:type="dcterms:W3CDTF">2025-03-17T04:57:49Z</dcterms:modified>
</cp:coreProperties>
</file>