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0" r:id="rId8"/>
    <p:sldId id="261" r:id="rId9"/>
    <p:sldId id="262" r:id="rId10"/>
    <p:sldId id="265" r:id="rId11"/>
    <p:sldId id="266" r:id="rId12"/>
    <p:sldId id="283" r:id="rId13"/>
    <p:sldId id="284" r:id="rId14"/>
    <p:sldId id="285" r:id="rId15"/>
    <p:sldId id="267" r:id="rId16"/>
    <p:sldId id="268" r:id="rId17"/>
    <p:sldId id="269" r:id="rId18"/>
    <p:sldId id="270" r:id="rId19"/>
    <p:sldId id="271" r:id="rId20"/>
    <p:sldId id="272" r:id="rId21"/>
    <p:sldId id="273" r:id="rId22"/>
    <p:sldId id="274" r:id="rId23"/>
    <p:sldId id="275" r:id="rId24"/>
    <p:sldId id="276" r:id="rId25"/>
    <p:sldId id="282" r:id="rId26"/>
    <p:sldId id="277" r:id="rId27"/>
    <p:sldId id="278" r:id="rId28"/>
    <p:sldId id="279" r:id="rId29"/>
    <p:sldId id="280" r:id="rId30"/>
    <p:sldId id="28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12419A0-309D-4843-855E-3E84465131E0}"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992161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12419A0-309D-4843-855E-3E84465131E0}"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9147832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12419A0-309D-4843-855E-3E84465131E0}"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32721001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12419A0-309D-4843-855E-3E84465131E0}"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41726187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12419A0-309D-4843-855E-3E84465131E0}" type="datetimeFigureOut">
              <a:rPr lang="en-US" smtClean="0"/>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9399414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12419A0-309D-4843-855E-3E84465131E0}"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12488958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2419A0-309D-4843-855E-3E84465131E0}" type="datetimeFigureOut">
              <a:rPr lang="en-US" smtClean="0"/>
              <a:t>3/16/2025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4184280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2419A0-309D-4843-855E-3E84465131E0}"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2920794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2419A0-309D-4843-855E-3E84465131E0}"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4611764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12419A0-309D-4843-855E-3E84465131E0}"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478790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12419A0-309D-4843-855E-3E84465131E0}"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E4ACC3-0058-42E8-87A4-6DA658BCF1E1}" type="slidenum">
              <a:rPr lang="en-US" smtClean="0"/>
              <a:t>‹#›</a:t>
            </a:fld>
            <a:endParaRPr lang="en-US"/>
          </a:p>
        </p:txBody>
      </p:sp>
    </p:spTree>
    <p:extLst>
      <p:ext uri="{BB962C8B-B14F-4D97-AF65-F5344CB8AC3E}">
        <p14:creationId xmlns:p14="http://schemas.microsoft.com/office/powerpoint/2010/main" val="6402261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2419A0-309D-4843-855E-3E84465131E0}" type="datetimeFigureOut">
              <a:rPr lang="en-US" smtClean="0"/>
              <a:t>3/16/2025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E4ACC3-0058-42E8-87A4-6DA658BCF1E1}" type="slidenum">
              <a:rPr lang="en-US" smtClean="0"/>
              <a:t>‹#›</a:t>
            </a:fld>
            <a:endParaRPr lang="en-US"/>
          </a:p>
        </p:txBody>
      </p:sp>
    </p:spTree>
    <p:extLst>
      <p:ext uri="{BB962C8B-B14F-4D97-AF65-F5344CB8AC3E}">
        <p14:creationId xmlns:p14="http://schemas.microsoft.com/office/powerpoint/2010/main" val="31647509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latin typeface="Bookman Old Style" panose="02050604050505020204" pitchFamily="18" charset="0"/>
              </a:rPr>
              <a:t>BEEKEEPING</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Subtitle 2"/>
          <p:cNvSpPr>
            <a:spLocks noGrp="1"/>
          </p:cNvSpPr>
          <p:nvPr>
            <p:ph type="subTitle" idx="1"/>
          </p:nvPr>
        </p:nvSpPr>
        <p:spPr/>
        <p:txBody>
          <a:bodyPr>
            <a:normAutofit fontScale="77500" lnSpcReduction="20000"/>
          </a:bodyPr>
          <a:lstStyle/>
          <a:p>
            <a:r>
              <a:rPr lang="en-US" dirty="0" smtClean="0">
                <a:effectLst>
                  <a:outerShdw blurRad="38100" dist="38100" dir="2700000" algn="tl">
                    <a:srgbClr val="000000">
                      <a:alpha val="43137"/>
                    </a:srgbClr>
                  </a:outerShdw>
                </a:effectLst>
                <a:latin typeface="Bookman Old Style" panose="02050604050505020204" pitchFamily="18" charset="0"/>
              </a:rPr>
              <a:t>Edgar Bowa</a:t>
            </a:r>
          </a:p>
          <a:p>
            <a:r>
              <a:rPr lang="en-US" dirty="0" smtClean="0">
                <a:effectLst>
                  <a:outerShdw blurRad="38100" dist="38100" dir="2700000" algn="tl">
                    <a:srgbClr val="000000">
                      <a:alpha val="43137"/>
                    </a:srgbClr>
                  </a:outerShdw>
                </a:effectLst>
                <a:latin typeface="Bookman Old Style" panose="02050604050505020204" pitchFamily="18" charset="0"/>
              </a:rPr>
              <a:t>Ms.</a:t>
            </a:r>
          </a:p>
          <a:p>
            <a:r>
              <a:rPr lang="en-US" dirty="0" smtClean="0">
                <a:effectLst>
                  <a:outerShdw blurRad="38100" dist="38100" dir="2700000" algn="tl">
                    <a:srgbClr val="000000">
                      <a:alpha val="43137"/>
                    </a:srgbClr>
                  </a:outerShdw>
                </a:effectLst>
                <a:latin typeface="Bookman Old Style" panose="02050604050505020204" pitchFamily="18" charset="0"/>
              </a:rPr>
              <a:t>Email:</a:t>
            </a:r>
          </a:p>
          <a:p>
            <a:r>
              <a:rPr lang="en-US" dirty="0" smtClean="0">
                <a:effectLst>
                  <a:outerShdw blurRad="38100" dist="38100" dir="2700000" algn="tl">
                    <a:srgbClr val="000000">
                      <a:alpha val="43137"/>
                    </a:srgbClr>
                  </a:outerShdw>
                </a:effectLst>
                <a:latin typeface="Bookman Old Style" panose="02050604050505020204" pitchFamily="18" charset="0"/>
              </a:rPr>
              <a:t>Tel: +260 964834475</a:t>
            </a:r>
          </a:p>
          <a:p>
            <a:r>
              <a:rPr lang="en-GB" dirty="0" smtClean="0">
                <a:effectLst>
                  <a:outerShdw blurRad="38100" dist="38100" dir="2700000" algn="tl">
                    <a:srgbClr val="000000">
                      <a:alpha val="43137"/>
                    </a:srgbClr>
                  </a:outerShdw>
                </a:effectLst>
                <a:latin typeface="Bookman Old Style" panose="02050604050505020204" pitchFamily="18" charset="0"/>
              </a:rPr>
              <a:t>MSc. Sustainable Land and </a:t>
            </a:r>
            <a:r>
              <a:rPr lang="en-GB" smtClean="0">
                <a:effectLst>
                  <a:outerShdw blurRad="38100" dist="38100" dir="2700000" algn="tl">
                    <a:srgbClr val="000000">
                      <a:alpha val="43137"/>
                    </a:srgbClr>
                  </a:outerShdw>
                </a:effectLst>
                <a:latin typeface="Bookman Old Style" panose="02050604050505020204" pitchFamily="18" charset="0"/>
              </a:rPr>
              <a:t>Environmental Management-UNZA</a:t>
            </a:r>
            <a:endParaRPr lang="en-US" dirty="0">
              <a:effectLst>
                <a:outerShdw blurRad="38100" dist="38100" dir="2700000" algn="tl">
                  <a:srgbClr val="000000">
                    <a:alpha val="43137"/>
                  </a:srgbClr>
                </a:outerShdw>
              </a:effectLst>
              <a:latin typeface="Bookman Old Style" panose="02050604050505020204" pitchFamily="18" charset="0"/>
            </a:endParaRPr>
          </a:p>
        </p:txBody>
      </p:sp>
    </p:spTree>
    <p:extLst>
      <p:ext uri="{BB962C8B-B14F-4D97-AF65-F5344CB8AC3E}">
        <p14:creationId xmlns:p14="http://schemas.microsoft.com/office/powerpoint/2010/main" val="1027398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CONTENT</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lstStyle/>
          <a:p>
            <a:r>
              <a:rPr lang="en-US" sz="3200" dirty="0" smtClean="0">
                <a:latin typeface="Bookman Old Style" panose="02050604050505020204" pitchFamily="18" charset="0"/>
              </a:rPr>
              <a:t>Definitions</a:t>
            </a:r>
          </a:p>
          <a:p>
            <a:r>
              <a:rPr lang="en-US" sz="3200" dirty="0" smtClean="0">
                <a:latin typeface="Bookman Old Style" panose="02050604050505020204" pitchFamily="18" charset="0"/>
              </a:rPr>
              <a:t>Terminologies</a:t>
            </a:r>
          </a:p>
          <a:p>
            <a:r>
              <a:rPr lang="en-US" sz="3200" dirty="0" smtClean="0">
                <a:latin typeface="Bookman Old Style" panose="02050604050505020204" pitchFamily="18" charset="0"/>
              </a:rPr>
              <a:t>Brief history of beekeeping in Zambia</a:t>
            </a:r>
            <a:endParaRPr lang="en-US" sz="3200" dirty="0">
              <a:latin typeface="Bookman Old Style" panose="02050604050505020204" pitchFamily="18" charset="0"/>
            </a:endParaRPr>
          </a:p>
          <a:p>
            <a:r>
              <a:rPr lang="en-US" sz="3200" dirty="0" smtClean="0">
                <a:latin typeface="Bookman Old Style" panose="02050604050505020204" pitchFamily="18" charset="0"/>
              </a:rPr>
              <a:t>Importance of beekeeping</a:t>
            </a:r>
          </a:p>
          <a:p>
            <a:r>
              <a:rPr lang="en-US" sz="3200" dirty="0" smtClean="0">
                <a:latin typeface="Bookman Old Style" panose="02050604050505020204" pitchFamily="18" charset="0"/>
              </a:rPr>
              <a:t>Biology and Ecological</a:t>
            </a:r>
          </a:p>
          <a:p>
            <a:endParaRPr lang="en-US" dirty="0"/>
          </a:p>
        </p:txBody>
      </p:sp>
    </p:spTree>
    <p:extLst>
      <p:ext uri="{BB962C8B-B14F-4D97-AF65-F5344CB8AC3E}">
        <p14:creationId xmlns:p14="http://schemas.microsoft.com/office/powerpoint/2010/main" val="42786000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DEFINITION</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normAutofit/>
          </a:bodyPr>
          <a:lstStyle/>
          <a:p>
            <a:pPr algn="just"/>
            <a:r>
              <a:rPr lang="en-GB" sz="3200" dirty="0">
                <a:latin typeface="Bookman Old Style" panose="02050604050505020204" pitchFamily="18" charset="0"/>
              </a:rPr>
              <a:t>Beekeeping is a branch of science which deals with sustainable caring and rearing of honey bee colonies in beehives for the economic benefits of man</a:t>
            </a:r>
            <a:r>
              <a:rPr lang="en-GB" sz="3200" dirty="0" smtClean="0">
                <a:latin typeface="Bookman Old Style" panose="02050604050505020204" pitchFamily="18" charset="0"/>
              </a:rPr>
              <a:t>.</a:t>
            </a:r>
          </a:p>
          <a:p>
            <a:pPr algn="just"/>
            <a:r>
              <a:rPr lang="en-GB" sz="3200" dirty="0">
                <a:latin typeface="Bookman Old Style" panose="02050604050505020204" pitchFamily="18" charset="0"/>
              </a:rPr>
              <a:t>Academicians refer to this subject as apiculture because a beekeeper is always known as an Apiculturist. </a:t>
            </a:r>
            <a:endParaRPr lang="en-US" sz="3200" dirty="0">
              <a:latin typeface="Bookman Old Style" panose="02050604050505020204" pitchFamily="18" charset="0"/>
            </a:endParaRPr>
          </a:p>
          <a:p>
            <a:pPr algn="just"/>
            <a:r>
              <a:rPr lang="en-GB" sz="3200" dirty="0">
                <a:latin typeface="Bookman Old Style" panose="02050604050505020204" pitchFamily="18" charset="0"/>
              </a:rPr>
              <a:t>A beehive is a name given to any container in which bees are managed by a beekeeper. </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894329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BRIEF HISTORY OF BEEKEEPING ZAMBIA</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normAutofit fontScale="92500" lnSpcReduction="20000"/>
          </a:bodyPr>
          <a:lstStyle/>
          <a:p>
            <a:pPr algn="just"/>
            <a:r>
              <a:rPr lang="en-GB" sz="3200" dirty="0">
                <a:latin typeface="Bookman Old Style" panose="02050604050505020204" pitchFamily="18" charset="0"/>
              </a:rPr>
              <a:t>Beekeeping in Zambia was stimulated by the wax trade which was started by the Portuguese traders in Angola</a:t>
            </a:r>
            <a:r>
              <a:rPr lang="en-GB" sz="3200" dirty="0" smtClean="0">
                <a:latin typeface="Bookman Old Style" panose="02050604050505020204" pitchFamily="18" charset="0"/>
              </a:rPr>
              <a:t>.</a:t>
            </a:r>
          </a:p>
          <a:p>
            <a:pPr algn="just"/>
            <a:r>
              <a:rPr lang="en-US" sz="3200" dirty="0" smtClean="0">
                <a:latin typeface="Bookman Old Style" panose="02050604050505020204" pitchFamily="18" charset="0"/>
              </a:rPr>
              <a:t>Zambia </a:t>
            </a:r>
            <a:r>
              <a:rPr lang="en-US" sz="3200" dirty="0">
                <a:latin typeface="Bookman Old Style" panose="02050604050505020204" pitchFamily="18" charset="0"/>
              </a:rPr>
              <a:t>being one of the countries based in the central Africa is rich in the natural resources needed for keeping-bees and the flowering trees on which they </a:t>
            </a:r>
            <a:r>
              <a:rPr lang="en-US" sz="3200" dirty="0" smtClean="0">
                <a:latin typeface="Bookman Old Style" panose="02050604050505020204" pitchFamily="18" charset="0"/>
              </a:rPr>
              <a:t>feed.</a:t>
            </a:r>
          </a:p>
          <a:p>
            <a:pPr algn="just"/>
            <a:r>
              <a:rPr lang="en-GB" sz="3200" dirty="0">
                <a:latin typeface="Bookman Old Style" panose="02050604050505020204" pitchFamily="18" charset="0"/>
              </a:rPr>
              <a:t>Beekeeping is an ancient skill which was practised even before biblical times and much has been written about the lessons to be learnt by man, in studying the behaviour of bees.</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14170947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IMPORTANCE OF BEEKEEPING</a:t>
            </a:r>
            <a:endParaRPr lang="en-US" dirty="0"/>
          </a:p>
        </p:txBody>
      </p:sp>
      <p:sp>
        <p:nvSpPr>
          <p:cNvPr id="3" name="Content Placeholder 2"/>
          <p:cNvSpPr>
            <a:spLocks noGrp="1"/>
          </p:cNvSpPr>
          <p:nvPr>
            <p:ph idx="1"/>
          </p:nvPr>
        </p:nvSpPr>
        <p:spPr/>
        <p:txBody>
          <a:bodyPr>
            <a:normAutofit lnSpcReduction="10000"/>
          </a:bodyPr>
          <a:lstStyle/>
          <a:p>
            <a:pPr algn="just"/>
            <a:r>
              <a:rPr lang="en-GB" sz="3200" dirty="0">
                <a:latin typeface="Bookman Old Style" panose="02050604050505020204" pitchFamily="18" charset="0"/>
              </a:rPr>
              <a:t>Beekeeping is not only a traditional practice but also a vital tool for forest conservation and sustainable </a:t>
            </a:r>
            <a:r>
              <a:rPr lang="en-GB" sz="3200" dirty="0" smtClean="0">
                <a:latin typeface="Bookman Old Style" panose="02050604050505020204" pitchFamily="18" charset="0"/>
              </a:rPr>
              <a:t>livelihoods.</a:t>
            </a:r>
          </a:p>
          <a:p>
            <a:pPr algn="just"/>
            <a:r>
              <a:rPr lang="en-GB" sz="3200" dirty="0">
                <a:latin typeface="Bookman Old Style" panose="02050604050505020204" pitchFamily="18" charset="0"/>
              </a:rPr>
              <a:t>Beekeeping, also known as apiculture, plays a crucial role in agricultural ecosystems and human societies worldwide</a:t>
            </a:r>
            <a:r>
              <a:rPr lang="en-GB" sz="3200" dirty="0" smtClean="0">
                <a:latin typeface="Bookman Old Style" panose="02050604050505020204" pitchFamily="18" charset="0"/>
              </a:rPr>
              <a:t>.</a:t>
            </a:r>
          </a:p>
          <a:p>
            <a:pPr algn="just"/>
            <a:r>
              <a:rPr lang="en-GB" sz="3200" dirty="0">
                <a:latin typeface="Bookman Old Style" panose="02050604050505020204" pitchFamily="18" charset="0"/>
              </a:rPr>
              <a:t>Beyond the production of honey, beekeeping offers a multitude of benefits that extend to environmental conservation, food security, economic development, and human health.</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9266438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IMPORTANCE OF BEEKEEPING CONT’</a:t>
            </a:r>
            <a:endParaRPr lang="en-US" dirty="0"/>
          </a:p>
        </p:txBody>
      </p:sp>
      <p:sp>
        <p:nvSpPr>
          <p:cNvPr id="3" name="Content Placeholder 2"/>
          <p:cNvSpPr>
            <a:spLocks noGrp="1"/>
          </p:cNvSpPr>
          <p:nvPr>
            <p:ph idx="1"/>
          </p:nvPr>
        </p:nvSpPr>
        <p:spPr/>
        <p:txBody>
          <a:bodyPr/>
          <a:lstStyle/>
          <a:p>
            <a:pPr algn="just"/>
            <a:r>
              <a:rPr lang="en-US" sz="3200" dirty="0">
                <a:latin typeface="Bookman Old Style" panose="02050604050505020204" pitchFamily="18" charset="0"/>
              </a:rPr>
              <a:t>T</a:t>
            </a:r>
            <a:r>
              <a:rPr lang="en-US" sz="3200" dirty="0" smtClean="0">
                <a:latin typeface="Bookman Old Style" panose="02050604050505020204" pitchFamily="18" charset="0"/>
              </a:rPr>
              <a:t>he notable benefits beekeeping provides, includes the following;</a:t>
            </a:r>
          </a:p>
          <a:p>
            <a:pPr lvl="0" algn="just" fontAlgn="base"/>
            <a:r>
              <a:rPr lang="en-GB" sz="3200" dirty="0">
                <a:latin typeface="Bookman Old Style" panose="02050604050505020204" pitchFamily="18" charset="0"/>
              </a:rPr>
              <a:t>Pollination </a:t>
            </a:r>
            <a:r>
              <a:rPr lang="en-GB" sz="3200" dirty="0" smtClean="0">
                <a:latin typeface="Bookman Old Style" panose="02050604050505020204" pitchFamily="18" charset="0"/>
              </a:rPr>
              <a:t>Services </a:t>
            </a:r>
            <a:endParaRPr lang="en-US" sz="3200" dirty="0">
              <a:latin typeface="Bookman Old Style" panose="02050604050505020204" pitchFamily="18" charset="0"/>
            </a:endParaRPr>
          </a:p>
          <a:p>
            <a:pPr lvl="0" algn="just" fontAlgn="base"/>
            <a:r>
              <a:rPr lang="en-GB" sz="3200" dirty="0">
                <a:latin typeface="Bookman Old Style" panose="02050604050505020204" pitchFamily="18" charset="0"/>
              </a:rPr>
              <a:t>Biodiversity </a:t>
            </a:r>
            <a:r>
              <a:rPr lang="en-GB" sz="3200" dirty="0" smtClean="0">
                <a:latin typeface="Bookman Old Style" panose="02050604050505020204" pitchFamily="18" charset="0"/>
              </a:rPr>
              <a:t>Conservation </a:t>
            </a:r>
            <a:endParaRPr lang="en-US" sz="3200" dirty="0">
              <a:latin typeface="Bookman Old Style" panose="02050604050505020204" pitchFamily="18" charset="0"/>
            </a:endParaRPr>
          </a:p>
          <a:p>
            <a:pPr lvl="0" algn="just" fontAlgn="base"/>
            <a:r>
              <a:rPr lang="en-GB" sz="3200" dirty="0">
                <a:latin typeface="Bookman Old Style" panose="02050604050505020204" pitchFamily="18" charset="0"/>
              </a:rPr>
              <a:t>Economic </a:t>
            </a:r>
            <a:r>
              <a:rPr lang="en-GB" sz="3200" dirty="0" smtClean="0">
                <a:latin typeface="Bookman Old Style" panose="02050604050505020204" pitchFamily="18" charset="0"/>
              </a:rPr>
              <a:t>Benefits </a:t>
            </a:r>
            <a:endParaRPr lang="en-US" sz="3200" dirty="0">
              <a:latin typeface="Bookman Old Style" panose="02050604050505020204" pitchFamily="18" charset="0"/>
            </a:endParaRPr>
          </a:p>
          <a:p>
            <a:pPr lvl="0" algn="just" fontAlgn="base"/>
            <a:r>
              <a:rPr lang="en-GB" sz="3200" dirty="0">
                <a:latin typeface="Bookman Old Style" panose="02050604050505020204" pitchFamily="18" charset="0"/>
              </a:rPr>
              <a:t>Environmental </a:t>
            </a:r>
            <a:r>
              <a:rPr lang="en-GB" sz="3200" dirty="0" smtClean="0">
                <a:latin typeface="Bookman Old Style" panose="02050604050505020204" pitchFamily="18" charset="0"/>
              </a:rPr>
              <a:t>Sustainability </a:t>
            </a:r>
            <a:endParaRPr lang="en-US" sz="3200" dirty="0">
              <a:latin typeface="Bookman Old Style" panose="02050604050505020204" pitchFamily="18" charset="0"/>
            </a:endParaRPr>
          </a:p>
          <a:p>
            <a:pPr lvl="0" algn="just" fontAlgn="base"/>
            <a:r>
              <a:rPr lang="en-GB" sz="3200" dirty="0">
                <a:latin typeface="Bookman Old Style" panose="02050604050505020204" pitchFamily="18" charset="0"/>
              </a:rPr>
              <a:t>Human Health and </a:t>
            </a:r>
            <a:r>
              <a:rPr lang="en-GB" sz="3200" dirty="0" smtClean="0">
                <a:latin typeface="Bookman Old Style" panose="02050604050505020204" pitchFamily="18" charset="0"/>
              </a:rPr>
              <a:t>Well-being </a:t>
            </a:r>
            <a:endParaRPr lang="en-US" sz="32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val="23301270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IMPORTANCE OF BEEKEEPING CONT’</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normAutofit lnSpcReduction="10000"/>
          </a:bodyPr>
          <a:lstStyle/>
          <a:p>
            <a:pPr algn="just"/>
            <a:r>
              <a:rPr lang="en-GB" sz="3200" dirty="0">
                <a:latin typeface="Bookman Old Style" panose="02050604050505020204" pitchFamily="18" charset="0"/>
              </a:rPr>
              <a:t>The importance of beekeeping has been recognized worldwide since the 16</a:t>
            </a:r>
            <a:r>
              <a:rPr lang="en-GB" sz="3200" baseline="30000" dirty="0">
                <a:latin typeface="Bookman Old Style" panose="02050604050505020204" pitchFamily="18" charset="0"/>
              </a:rPr>
              <a:t>TH</a:t>
            </a:r>
            <a:r>
              <a:rPr lang="en-GB" sz="3200" dirty="0">
                <a:latin typeface="Bookman Old Style" panose="02050604050505020204" pitchFamily="18" charset="0"/>
              </a:rPr>
              <a:t> century due to the fact that man derives a number of benefits directly and indirectly of which both benefits aim at improving the economic standard of living at local and national levels</a:t>
            </a:r>
            <a:r>
              <a:rPr lang="en-GB" sz="3200" dirty="0" smtClean="0">
                <a:latin typeface="Bookman Old Style" panose="02050604050505020204" pitchFamily="18" charset="0"/>
              </a:rPr>
              <a:t>.</a:t>
            </a:r>
          </a:p>
          <a:p>
            <a:pPr algn="just"/>
            <a:r>
              <a:rPr lang="en-GB" sz="3200" dirty="0">
                <a:latin typeface="Bookman Old Style" panose="02050604050505020204" pitchFamily="18" charset="0"/>
              </a:rPr>
              <a:t>The demand for both honey and beeswax has continued since these valuable commodities are used in the manufacturing of items used by man almost daily in his life as follows;</a:t>
            </a:r>
            <a:endParaRPr lang="en-US" sz="32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val="18069288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IMPORTANCE OF BEEKEEPING CONT’</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b="1" dirty="0" smtClean="0">
                <a:effectLst>
                  <a:outerShdw blurRad="38100" dist="38100" dir="2700000" algn="tl">
                    <a:srgbClr val="000000">
                      <a:alpha val="43137"/>
                    </a:srgbClr>
                  </a:outerShdw>
                </a:effectLst>
              </a:rPr>
              <a:t>DIRECT BENEFITS</a:t>
            </a:r>
          </a:p>
          <a:p>
            <a:pPr algn="just"/>
            <a:r>
              <a:rPr lang="en-GB" sz="3500" dirty="0" smtClean="0">
                <a:latin typeface="Bookman Old Style" panose="02050604050505020204" pitchFamily="18" charset="0"/>
              </a:rPr>
              <a:t>Beekeeping </a:t>
            </a:r>
            <a:r>
              <a:rPr lang="en-GB" sz="3500" dirty="0">
                <a:latin typeface="Bookman Old Style" panose="02050604050505020204" pitchFamily="18" charset="0"/>
              </a:rPr>
              <a:t>provides honey which has valuable uses such as;</a:t>
            </a:r>
            <a:endParaRPr lang="en-US" sz="3500" dirty="0">
              <a:latin typeface="Bookman Old Style" panose="02050604050505020204" pitchFamily="18" charset="0"/>
            </a:endParaRPr>
          </a:p>
          <a:p>
            <a:pPr lvl="1" algn="just">
              <a:buFont typeface="Wingdings" panose="05000000000000000000" pitchFamily="2" charset="2"/>
              <a:buChar char="ü"/>
            </a:pPr>
            <a:r>
              <a:rPr lang="en-GB" sz="3500" dirty="0">
                <a:latin typeface="Bookman Old Style" panose="02050604050505020204" pitchFamily="18" charset="0"/>
              </a:rPr>
              <a:t>It is used as food </a:t>
            </a:r>
            <a:endParaRPr lang="en-US" sz="3500" dirty="0">
              <a:latin typeface="Bookman Old Style" panose="02050604050505020204" pitchFamily="18" charset="0"/>
            </a:endParaRPr>
          </a:p>
          <a:p>
            <a:pPr lvl="1" algn="just">
              <a:buFont typeface="Wingdings" panose="05000000000000000000" pitchFamily="2" charset="2"/>
              <a:buChar char="ü"/>
            </a:pPr>
            <a:r>
              <a:rPr lang="en-GB" sz="3500" dirty="0" smtClean="0">
                <a:latin typeface="Bookman Old Style" panose="02050604050505020204" pitchFamily="18" charset="0"/>
              </a:rPr>
              <a:t>Medication in </a:t>
            </a:r>
            <a:r>
              <a:rPr lang="en-GB" sz="3500" dirty="0">
                <a:latin typeface="Bookman Old Style" panose="02050604050505020204" pitchFamily="18" charset="0"/>
              </a:rPr>
              <a:t>terms of health</a:t>
            </a:r>
            <a:endParaRPr lang="en-US" sz="3500" dirty="0">
              <a:latin typeface="Bookman Old Style" panose="02050604050505020204" pitchFamily="18" charset="0"/>
            </a:endParaRPr>
          </a:p>
          <a:p>
            <a:pPr lvl="1" algn="just">
              <a:buFont typeface="Wingdings" panose="05000000000000000000" pitchFamily="2" charset="2"/>
              <a:buChar char="ü"/>
            </a:pPr>
            <a:r>
              <a:rPr lang="en-GB" sz="3500" dirty="0">
                <a:latin typeface="Bookman Old Style" panose="02050604050505020204" pitchFamily="18" charset="0"/>
              </a:rPr>
              <a:t>It is a source of income </a:t>
            </a:r>
            <a:endParaRPr lang="en-US" sz="3500" dirty="0">
              <a:latin typeface="Bookman Old Style" panose="02050604050505020204" pitchFamily="18" charset="0"/>
            </a:endParaRPr>
          </a:p>
          <a:p>
            <a:pPr lvl="0" algn="just"/>
            <a:r>
              <a:rPr lang="en-GB" sz="3500" dirty="0">
                <a:latin typeface="Bookman Old Style" panose="02050604050505020204" pitchFamily="18" charset="0"/>
              </a:rPr>
              <a:t>Bees provide Beeswax an essential basic raw material having high demand in the manufacturing of  the following</a:t>
            </a:r>
            <a:r>
              <a:rPr lang="en-GB" sz="3500" dirty="0" smtClean="0">
                <a:latin typeface="Bookman Old Style" panose="02050604050505020204" pitchFamily="18" charset="0"/>
              </a:rPr>
              <a:t>;</a:t>
            </a:r>
          </a:p>
          <a:p>
            <a:pPr lvl="1" algn="just">
              <a:buFont typeface="Wingdings" panose="05000000000000000000" pitchFamily="2" charset="2"/>
              <a:buChar char="ü"/>
            </a:pPr>
            <a:r>
              <a:rPr lang="en-GB" sz="3500" dirty="0">
                <a:latin typeface="Bookman Old Style" panose="02050604050505020204" pitchFamily="18" charset="0"/>
              </a:rPr>
              <a:t>Candles, polish, cobra, </a:t>
            </a:r>
            <a:r>
              <a:rPr lang="en-GB" sz="3500" dirty="0" smtClean="0">
                <a:latin typeface="Bookman Old Style" panose="02050604050505020204" pitchFamily="18" charset="0"/>
              </a:rPr>
              <a:t>vanish, etc.</a:t>
            </a:r>
          </a:p>
          <a:p>
            <a:pPr lvl="1" algn="just">
              <a:buFont typeface="Wingdings" panose="05000000000000000000" pitchFamily="2" charset="2"/>
              <a:buChar char="ü"/>
            </a:pPr>
            <a:r>
              <a:rPr lang="en-GB" sz="3500" dirty="0" smtClean="0">
                <a:latin typeface="Bookman Old Style" panose="02050604050505020204" pitchFamily="18" charset="0"/>
              </a:rPr>
              <a:t>Cosmetics</a:t>
            </a:r>
          </a:p>
          <a:p>
            <a:pPr lvl="1" algn="just">
              <a:buFont typeface="Wingdings" panose="05000000000000000000" pitchFamily="2" charset="2"/>
              <a:buChar char="ü"/>
            </a:pPr>
            <a:r>
              <a:rPr lang="en-GB" sz="3500" dirty="0" smtClean="0">
                <a:latin typeface="Bookman Old Style" panose="02050604050505020204" pitchFamily="18" charset="0"/>
              </a:rPr>
              <a:t>pharmaceutical </a:t>
            </a:r>
            <a:r>
              <a:rPr lang="en-GB" sz="3500" dirty="0">
                <a:latin typeface="Bookman Old Style" panose="02050604050505020204" pitchFamily="18" charset="0"/>
              </a:rPr>
              <a:t>products</a:t>
            </a:r>
            <a:endParaRPr lang="en-US" sz="3500" dirty="0">
              <a:latin typeface="Bookman Old Style" panose="02050604050505020204" pitchFamily="18" charset="0"/>
            </a:endParaRPr>
          </a:p>
          <a:p>
            <a:pPr algn="just"/>
            <a:r>
              <a:rPr lang="en-GB" sz="3500" dirty="0">
                <a:latin typeface="Bookman Old Style" panose="02050604050505020204" pitchFamily="18" charset="0"/>
              </a:rPr>
              <a:t>Honey and Beeswax contributes to a </a:t>
            </a:r>
            <a:r>
              <a:rPr lang="en-GB" sz="3500" dirty="0" smtClean="0">
                <a:latin typeface="Bookman Old Style" panose="02050604050505020204" pitchFamily="18" charset="0"/>
              </a:rPr>
              <a:t>country's </a:t>
            </a:r>
            <a:r>
              <a:rPr lang="en-GB" sz="3500" dirty="0">
                <a:latin typeface="Bookman Old Style" panose="02050604050505020204" pitchFamily="18" charset="0"/>
              </a:rPr>
              <a:t>foreign exchange earnings through export.</a:t>
            </a:r>
            <a:endParaRPr lang="en-US" sz="35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val="16751523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0"/>
                                        <p:tgtEl>
                                          <p:spTgt spid="3">
                                            <p:txEl>
                                              <p:pRg st="3" end="3"/>
                                            </p:txEl>
                                          </p:spTgt>
                                        </p:tgtEl>
                                      </p:cBhvr>
                                    </p:animEffect>
                                    <p:anim calcmode="lin" valueType="num">
                                      <p:cBhvr>
                                        <p:cTn id="3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fade">
                                      <p:cBhvr>
                                        <p:cTn id="57" dur="1000"/>
                                        <p:tgtEl>
                                          <p:spTgt spid="3">
                                            <p:txEl>
                                              <p:pRg st="8" end="8"/>
                                            </p:txEl>
                                          </p:spTgt>
                                        </p:tgtEl>
                                      </p:cBhvr>
                                    </p:animEffect>
                                    <p:anim calcmode="lin" valueType="num">
                                      <p:cBhvr>
                                        <p:cTn id="5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fade">
                                      <p:cBhvr>
                                        <p:cTn id="64" dur="1000"/>
                                        <p:tgtEl>
                                          <p:spTgt spid="3">
                                            <p:txEl>
                                              <p:pRg st="9" end="9"/>
                                            </p:txEl>
                                          </p:spTgt>
                                        </p:tgtEl>
                                      </p:cBhvr>
                                    </p:animEffect>
                                    <p:anim calcmode="lin" valueType="num">
                                      <p:cBhvr>
                                        <p:cTn id="6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IMPORTANCE OF BEEKEEPING CONT’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effectLst>
                  <a:outerShdw blurRad="38100" dist="38100" dir="2700000" algn="tl">
                    <a:srgbClr val="000000">
                      <a:alpha val="43137"/>
                    </a:srgbClr>
                  </a:outerShdw>
                </a:effectLst>
              </a:rPr>
              <a:t>INDIRECT BENEFITS</a:t>
            </a:r>
          </a:p>
          <a:p>
            <a:pPr algn="just"/>
            <a:r>
              <a:rPr lang="en-GB" sz="3200" dirty="0" smtClean="0">
                <a:latin typeface="Bookman Old Style" panose="02050604050505020204" pitchFamily="18" charset="0"/>
              </a:rPr>
              <a:t>Ecological benefit</a:t>
            </a:r>
          </a:p>
          <a:p>
            <a:pPr algn="just"/>
            <a:r>
              <a:rPr lang="en-GB" sz="3200" dirty="0">
                <a:latin typeface="Bookman Old Style" panose="02050604050505020204" pitchFamily="18" charset="0"/>
              </a:rPr>
              <a:t>Beekeeping enterprise provides a profitable employment to farmers/people living in rural areas mostly and professionals employed either by the government or other organisations who are involved in promoting and marketing of honey both in rural and urban areas</a:t>
            </a:r>
            <a:r>
              <a:rPr lang="en-GB" sz="3200" dirty="0" smtClean="0">
                <a:latin typeface="Bookman Old Style" panose="02050604050505020204" pitchFamily="18" charset="0"/>
              </a:rPr>
              <a:t>.</a:t>
            </a:r>
          </a:p>
          <a:p>
            <a:pPr algn="just"/>
            <a:r>
              <a:rPr lang="en-GB" sz="3200" dirty="0">
                <a:latin typeface="Bookman Old Style" panose="02050604050505020204" pitchFamily="18" charset="0"/>
              </a:rPr>
              <a:t>Creation of industries e.g. Mwekera beekeeping factory Kitwe.</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33917918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ANY QUESTIONS</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3364560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BIOLOGY AND ECOLOGY OF HONEY BEE</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normAutofit/>
          </a:bodyPr>
          <a:lstStyle/>
          <a:p>
            <a:pPr algn="just"/>
            <a:r>
              <a:rPr lang="en-GB" sz="3200" dirty="0">
                <a:latin typeface="Bookman Old Style" panose="02050604050505020204" pitchFamily="18" charset="0"/>
              </a:rPr>
              <a:t>Bees, belonging to the order Hymenoptera and the family Apidae, are remarkable insects known for their intricate biology and complex social behavior. </a:t>
            </a:r>
            <a:endParaRPr lang="en-GB" sz="3200" dirty="0" smtClean="0">
              <a:latin typeface="Bookman Old Style" panose="02050604050505020204" pitchFamily="18" charset="0"/>
            </a:endParaRPr>
          </a:p>
          <a:p>
            <a:pPr algn="just"/>
            <a:r>
              <a:rPr lang="en-GB" sz="3200" dirty="0">
                <a:latin typeface="Bookman Old Style" panose="02050604050505020204" pitchFamily="18" charset="0"/>
              </a:rPr>
              <a:t>Understanding the biology and behavior of bees is essential for effective beekeeping practices, pollination management, and ecosystem conservation efforts</a:t>
            </a:r>
            <a:r>
              <a:rPr lang="en-GB" sz="3200" dirty="0" smtClean="0">
                <a:latin typeface="Bookman Old Style" panose="02050604050505020204" pitchFamily="18" charset="0"/>
              </a:rPr>
              <a:t>.</a:t>
            </a:r>
          </a:p>
          <a:p>
            <a:endParaRPr lang="en-US" sz="3200" dirty="0">
              <a:latin typeface="Bookman Old Style" panose="02050604050505020204" pitchFamily="18" charset="0"/>
            </a:endParaRPr>
          </a:p>
        </p:txBody>
      </p:sp>
    </p:spTree>
    <p:extLst>
      <p:ext uri="{BB962C8B-B14F-4D97-AF65-F5344CB8AC3E}">
        <p14:creationId xmlns:p14="http://schemas.microsoft.com/office/powerpoint/2010/main" val="38963182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p:txBody>
          <a:bodyPr>
            <a:normAutofit/>
          </a:bodyPr>
          <a:lstStyle/>
          <a:p>
            <a:pPr marL="0" indent="0" algn="just">
              <a:buNone/>
            </a:pPr>
            <a:r>
              <a:rPr lang="en-US" sz="3200" b="1" dirty="0">
                <a:latin typeface="Bookman Old Style" panose="02050604050505020204" pitchFamily="18" charset="0"/>
              </a:rPr>
              <a:t>Taxonomy of western honey bee</a:t>
            </a:r>
          </a:p>
          <a:p>
            <a:pPr algn="just"/>
            <a:r>
              <a:rPr lang="en-US" sz="3200" dirty="0">
                <a:latin typeface="Bookman Old Style" panose="02050604050505020204" pitchFamily="18" charset="0"/>
              </a:rPr>
              <a:t>Taxonomy is the classifying and naming of living organisms .e.g. plants and animals. Classification as the arrangements of the organisms into groups [taxon</a:t>
            </a:r>
            <a:r>
              <a:rPr lang="en-US" sz="3200" dirty="0" smtClean="0">
                <a:latin typeface="Bookman Old Style" panose="02050604050505020204" pitchFamily="18" charset="0"/>
              </a:rPr>
              <a:t>].</a:t>
            </a:r>
          </a:p>
          <a:p>
            <a:pPr algn="just"/>
            <a:r>
              <a:rPr lang="en-US" sz="3200" dirty="0">
                <a:latin typeface="Bookman Old Style" panose="02050604050505020204" pitchFamily="18" charset="0"/>
              </a:rPr>
              <a:t>The western honey bee </a:t>
            </a:r>
            <a:r>
              <a:rPr lang="en-US" sz="3200" i="1" dirty="0" err="1">
                <a:latin typeface="Bookman Old Style" panose="02050604050505020204" pitchFamily="18" charset="0"/>
              </a:rPr>
              <a:t>A</a:t>
            </a:r>
            <a:r>
              <a:rPr lang="en-US" sz="3200" i="1" dirty="0" err="1" smtClean="0">
                <a:latin typeface="Bookman Old Style" panose="02050604050505020204" pitchFamily="18" charset="0"/>
              </a:rPr>
              <a:t>pis</a:t>
            </a:r>
            <a:r>
              <a:rPr lang="en-US" sz="3200" i="1" dirty="0" smtClean="0">
                <a:latin typeface="Bookman Old Style" panose="02050604050505020204" pitchFamily="18" charset="0"/>
              </a:rPr>
              <a:t> </a:t>
            </a:r>
            <a:r>
              <a:rPr lang="en-US" sz="3200" i="1" dirty="0" err="1">
                <a:latin typeface="Bookman Old Style" panose="02050604050505020204" pitchFamily="18" charset="0"/>
              </a:rPr>
              <a:t>mellifera</a:t>
            </a:r>
            <a:r>
              <a:rPr lang="en-US" sz="3200" i="1" dirty="0">
                <a:latin typeface="Bookman Old Style" panose="02050604050505020204" pitchFamily="18" charset="0"/>
              </a:rPr>
              <a:t> </a:t>
            </a:r>
            <a:r>
              <a:rPr lang="en-US" sz="3200" dirty="0">
                <a:latin typeface="Bookman Old Style" panose="02050604050505020204" pitchFamily="18" charset="0"/>
              </a:rPr>
              <a:t>belongs to the animal kingdom which includes a large group of insects in the class insect.</a:t>
            </a:r>
          </a:p>
        </p:txBody>
      </p:sp>
    </p:spTree>
    <p:extLst>
      <p:ext uri="{BB962C8B-B14F-4D97-AF65-F5344CB8AC3E}">
        <p14:creationId xmlns:p14="http://schemas.microsoft.com/office/powerpoint/2010/main" val="4962119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latin typeface="Bookman Old Style" panose="02050604050505020204" pitchFamily="18" charset="0"/>
              </a:rPr>
              <a:t>Generally the honey bee is placed in the insect class where there are 29 orders of which one of the order hymenoptera where bees are placed. All insects in the hymenoptera has the following features;</a:t>
            </a:r>
          </a:p>
          <a:p>
            <a:pPr algn="just"/>
            <a:r>
              <a:rPr lang="en-US" dirty="0">
                <a:latin typeface="Bookman Old Style" panose="02050604050505020204" pitchFamily="18" charset="0"/>
              </a:rPr>
              <a:t>Wings; two pairs of membranous wings, often with venation greatly reduced.  The hind wings are smaller than the fore wings [pair] and interlocked with the later by means of </a:t>
            </a:r>
            <a:r>
              <a:rPr lang="en-US" dirty="0" err="1">
                <a:latin typeface="Bookman Old Style" panose="02050604050505020204" pitchFamily="18" charset="0"/>
              </a:rPr>
              <a:t>hooklets</a:t>
            </a:r>
            <a:r>
              <a:rPr lang="en-US" dirty="0">
                <a:latin typeface="Bookman Old Style" panose="02050604050505020204" pitchFamily="18" charset="0"/>
              </a:rPr>
              <a:t> [</a:t>
            </a:r>
            <a:r>
              <a:rPr lang="en-US" dirty="0" err="1">
                <a:latin typeface="Bookman Old Style" panose="02050604050505020204" pitchFamily="18" charset="0"/>
              </a:rPr>
              <a:t>hamuli</a:t>
            </a:r>
            <a:r>
              <a:rPr lang="en-US" dirty="0">
                <a:latin typeface="Bookman Old Style" panose="02050604050505020204" pitchFamily="18" charset="0"/>
              </a:rPr>
              <a:t>] on the hind wings. </a:t>
            </a:r>
          </a:p>
          <a:p>
            <a:pPr algn="just"/>
            <a:r>
              <a:rPr lang="en-US" dirty="0">
                <a:latin typeface="Bookman Old Style" panose="02050604050505020204" pitchFamily="18" charset="0"/>
              </a:rPr>
              <a:t>Mouth pars; primarily adapted for biting and often for lapping or sucking also.</a:t>
            </a:r>
          </a:p>
          <a:p>
            <a:pPr algn="just"/>
            <a:r>
              <a:rPr lang="en-US" dirty="0">
                <a:latin typeface="Bookman Old Style" panose="02050604050505020204" pitchFamily="18" charset="0"/>
              </a:rPr>
              <a:t>Abdomen; is usually constricted [narrowed] and its first segment used with a </a:t>
            </a:r>
            <a:r>
              <a:rPr lang="en-US" dirty="0" err="1">
                <a:latin typeface="Bookman Old Style" panose="02050604050505020204" pitchFamily="18" charset="0"/>
              </a:rPr>
              <a:t>metathorax</a:t>
            </a:r>
            <a:r>
              <a:rPr lang="en-US" dirty="0">
                <a:latin typeface="Bookman Old Style" panose="02050604050505020204" pitchFamily="18" charset="0"/>
              </a:rPr>
              <a:t>.</a:t>
            </a:r>
          </a:p>
          <a:p>
            <a:pPr algn="just"/>
            <a:r>
              <a:rPr lang="en-US" dirty="0">
                <a:latin typeface="Bookman Old Style" panose="02050604050505020204" pitchFamily="18" charset="0"/>
              </a:rPr>
              <a:t>Ovipositor; always present and modified for sowing or piercing or stinging. This is the first part of the abdomen.</a:t>
            </a:r>
          </a:p>
          <a:p>
            <a:pPr algn="just"/>
            <a:r>
              <a:rPr lang="en-US" dirty="0">
                <a:latin typeface="Bookman Old Style" panose="02050604050505020204" pitchFamily="18" charset="0"/>
              </a:rPr>
              <a:t>Metamorphosis; honey bees have a complete metamorphosis </a:t>
            </a:r>
            <a:r>
              <a:rPr lang="en-US" dirty="0" err="1">
                <a:latin typeface="Bookman Old Style" panose="02050604050505020204" pitchFamily="18" charset="0"/>
              </a:rPr>
              <a:t>ie</a:t>
            </a:r>
            <a:r>
              <a:rPr lang="en-US" dirty="0">
                <a:latin typeface="Bookman Old Style" panose="02050604050505020204" pitchFamily="18" charset="0"/>
              </a:rPr>
              <a:t> eggs, larva,  pupa, and imago[adult] </a:t>
            </a:r>
            <a:r>
              <a:rPr lang="en-US"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2403923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a:xfrm>
            <a:off x="838200" y="1825624"/>
            <a:ext cx="10515600" cy="4784181"/>
          </a:xfrm>
        </p:spPr>
        <p:txBody>
          <a:bodyPr>
            <a:normAutofit fontScale="77500" lnSpcReduction="20000"/>
          </a:bodyPr>
          <a:lstStyle/>
          <a:p>
            <a:pPr marL="0" indent="0" algn="just">
              <a:buNone/>
            </a:pPr>
            <a:r>
              <a:rPr lang="en-US" sz="3100" dirty="0">
                <a:latin typeface="Bookman Old Style" panose="02050604050505020204" pitchFamily="18" charset="0"/>
              </a:rPr>
              <a:t>There are over 20,000 species of bees in the world but only four [4] species are honey </a:t>
            </a:r>
            <a:r>
              <a:rPr lang="en-US" sz="3100" dirty="0" smtClean="0">
                <a:latin typeface="Bookman Old Style" panose="02050604050505020204" pitchFamily="18" charset="0"/>
              </a:rPr>
              <a:t>bees. Within </a:t>
            </a:r>
            <a:r>
              <a:rPr lang="en-US" sz="3100" dirty="0">
                <a:latin typeface="Bookman Old Style" panose="02050604050505020204" pitchFamily="18" charset="0"/>
              </a:rPr>
              <a:t>the genus </a:t>
            </a:r>
            <a:r>
              <a:rPr lang="en-US" sz="3100" dirty="0" err="1">
                <a:latin typeface="Bookman Old Style" panose="02050604050505020204" pitchFamily="18" charset="0"/>
              </a:rPr>
              <a:t>Apis</a:t>
            </a:r>
            <a:r>
              <a:rPr lang="en-US" sz="3100" dirty="0">
                <a:latin typeface="Bookman Old Style" panose="02050604050505020204" pitchFamily="18" charset="0"/>
              </a:rPr>
              <a:t> are found the following species</a:t>
            </a:r>
            <a:r>
              <a:rPr lang="en-US" sz="3100" dirty="0" smtClean="0">
                <a:latin typeface="Bookman Old Style" panose="02050604050505020204" pitchFamily="18" charset="0"/>
              </a:rPr>
              <a:t>;</a:t>
            </a:r>
            <a:endParaRPr lang="en-US" sz="3100" dirty="0">
              <a:latin typeface="Bookman Old Style" panose="02050604050505020204" pitchFamily="18" charset="0"/>
            </a:endParaRPr>
          </a:p>
          <a:p>
            <a:pPr marL="0" indent="0" algn="just">
              <a:buNone/>
            </a:pPr>
            <a:r>
              <a:rPr lang="en-GB" sz="3100" b="1" i="1" dirty="0" err="1" smtClean="0">
                <a:latin typeface="Bookman Old Style" panose="02050604050505020204" pitchFamily="18" charset="0"/>
              </a:rPr>
              <a:t>Apis</a:t>
            </a:r>
            <a:r>
              <a:rPr lang="en-GB" sz="3100" b="1" i="1" dirty="0" smtClean="0">
                <a:latin typeface="Bookman Old Style" panose="02050604050505020204" pitchFamily="18" charset="0"/>
              </a:rPr>
              <a:t> </a:t>
            </a:r>
            <a:r>
              <a:rPr lang="en-GB" sz="3100" b="1" i="1" dirty="0" err="1">
                <a:latin typeface="Bookman Old Style" panose="02050604050505020204" pitchFamily="18" charset="0"/>
              </a:rPr>
              <a:t>mellifera</a:t>
            </a:r>
            <a:endParaRPr lang="en-US" sz="3100" b="1" i="1" dirty="0">
              <a:latin typeface="Bookman Old Style" panose="02050604050505020204" pitchFamily="18" charset="0"/>
            </a:endParaRPr>
          </a:p>
          <a:p>
            <a:pPr algn="just"/>
            <a:r>
              <a:rPr lang="en-GB" sz="3100" dirty="0" smtClean="0">
                <a:latin typeface="Bookman Old Style" panose="02050604050505020204" pitchFamily="18" charset="0"/>
              </a:rPr>
              <a:t>This originated from either Africa or Europe and they build its honey comb in a close cavity.</a:t>
            </a:r>
            <a:endParaRPr lang="en-US" sz="3100" dirty="0" smtClean="0">
              <a:latin typeface="Bookman Old Style" panose="02050604050505020204" pitchFamily="18" charset="0"/>
            </a:endParaRPr>
          </a:p>
          <a:p>
            <a:pPr marL="0" indent="0" algn="just">
              <a:buNone/>
            </a:pPr>
            <a:r>
              <a:rPr lang="en-GB" sz="3100" b="1" i="1" dirty="0" err="1" smtClean="0">
                <a:latin typeface="Bookman Old Style" panose="02050604050505020204" pitchFamily="18" charset="0"/>
              </a:rPr>
              <a:t>Apis</a:t>
            </a:r>
            <a:r>
              <a:rPr lang="en-GB" sz="3100" b="1" i="1" dirty="0" smtClean="0">
                <a:latin typeface="Bookman Old Style" panose="02050604050505020204" pitchFamily="18" charset="0"/>
              </a:rPr>
              <a:t> </a:t>
            </a:r>
            <a:r>
              <a:rPr lang="en-GB" sz="3100" b="1" i="1" dirty="0" err="1">
                <a:latin typeface="Bookman Old Style" panose="02050604050505020204" pitchFamily="18" charset="0"/>
              </a:rPr>
              <a:t>floreca</a:t>
            </a:r>
            <a:endParaRPr lang="en-US" sz="3100" b="1" i="1" dirty="0">
              <a:latin typeface="Bookman Old Style" panose="02050604050505020204" pitchFamily="18" charset="0"/>
            </a:endParaRPr>
          </a:p>
          <a:p>
            <a:pPr algn="just"/>
            <a:r>
              <a:rPr lang="en-GB" sz="3100" dirty="0">
                <a:latin typeface="Bookman Old Style" panose="02050604050505020204" pitchFamily="18" charset="0"/>
              </a:rPr>
              <a:t>Smaller honeybees found in Asia</a:t>
            </a:r>
            <a:endParaRPr lang="en-US" sz="3100" dirty="0">
              <a:latin typeface="Bookman Old Style" panose="02050604050505020204" pitchFamily="18" charset="0"/>
            </a:endParaRPr>
          </a:p>
          <a:p>
            <a:pPr marL="0" indent="0" algn="just">
              <a:buNone/>
            </a:pPr>
            <a:r>
              <a:rPr lang="en-GB" sz="3100" b="1" i="1" dirty="0" err="1" smtClean="0">
                <a:latin typeface="Bookman Old Style" panose="02050604050505020204" pitchFamily="18" charset="0"/>
              </a:rPr>
              <a:t>Apis</a:t>
            </a:r>
            <a:r>
              <a:rPr lang="en-GB" sz="3100" b="1" i="1" dirty="0" smtClean="0">
                <a:latin typeface="Bookman Old Style" panose="02050604050505020204" pitchFamily="18" charset="0"/>
              </a:rPr>
              <a:t> </a:t>
            </a:r>
            <a:r>
              <a:rPr lang="en-GB" sz="3100" b="1" i="1" dirty="0" err="1">
                <a:latin typeface="Bookman Old Style" panose="02050604050505020204" pitchFamily="18" charset="0"/>
              </a:rPr>
              <a:t>Dorsata</a:t>
            </a:r>
            <a:endParaRPr lang="en-US" sz="3100" b="1" i="1" dirty="0">
              <a:latin typeface="Bookman Old Style" panose="02050604050505020204" pitchFamily="18" charset="0"/>
            </a:endParaRPr>
          </a:p>
          <a:p>
            <a:pPr algn="just"/>
            <a:r>
              <a:rPr lang="en-GB" sz="3100" dirty="0">
                <a:latin typeface="Bookman Old Style" panose="02050604050505020204" pitchFamily="18" charset="0"/>
              </a:rPr>
              <a:t>The giant honeybees or largest among the four races found in Asia and Far East.</a:t>
            </a:r>
            <a:endParaRPr lang="en-US" sz="3100" dirty="0">
              <a:latin typeface="Bookman Old Style" panose="02050604050505020204" pitchFamily="18" charset="0"/>
            </a:endParaRPr>
          </a:p>
          <a:p>
            <a:pPr marL="0" indent="0" algn="just">
              <a:buNone/>
            </a:pPr>
            <a:r>
              <a:rPr lang="en-GB" sz="3100" b="1" i="1" dirty="0" err="1" smtClean="0">
                <a:latin typeface="Bookman Old Style" panose="02050604050505020204" pitchFamily="18" charset="0"/>
              </a:rPr>
              <a:t>Apis</a:t>
            </a:r>
            <a:r>
              <a:rPr lang="en-GB" sz="3100" b="1" i="1" dirty="0" smtClean="0">
                <a:latin typeface="Bookman Old Style" panose="02050604050505020204" pitchFamily="18" charset="0"/>
              </a:rPr>
              <a:t> </a:t>
            </a:r>
            <a:r>
              <a:rPr lang="en-GB" sz="3100" b="1" i="1" dirty="0" err="1">
                <a:latin typeface="Bookman Old Style" panose="02050604050505020204" pitchFamily="18" charset="0"/>
              </a:rPr>
              <a:t>Cerana</a:t>
            </a:r>
            <a:r>
              <a:rPr lang="en-GB" sz="3100" b="1" i="1" dirty="0">
                <a:latin typeface="Bookman Old Style" panose="02050604050505020204" pitchFamily="18" charset="0"/>
              </a:rPr>
              <a:t> or the eastern honeybees</a:t>
            </a:r>
            <a:endParaRPr lang="en-US" sz="3100" b="1" i="1" dirty="0">
              <a:latin typeface="Bookman Old Style" panose="02050604050505020204" pitchFamily="18" charset="0"/>
            </a:endParaRPr>
          </a:p>
          <a:p>
            <a:pPr algn="just"/>
            <a:r>
              <a:rPr lang="en-GB" sz="3100" dirty="0">
                <a:latin typeface="Bookman Old Style" panose="02050604050505020204" pitchFamily="18" charset="0"/>
              </a:rPr>
              <a:t>Is rather more primitive in its behaviour than the </a:t>
            </a:r>
            <a:r>
              <a:rPr lang="en-GB" sz="3100" dirty="0" err="1">
                <a:latin typeface="Bookman Old Style" panose="02050604050505020204" pitchFamily="18" charset="0"/>
              </a:rPr>
              <a:t>Apis</a:t>
            </a:r>
            <a:r>
              <a:rPr lang="en-GB" sz="3100" dirty="0">
                <a:latin typeface="Bookman Old Style" panose="02050604050505020204" pitchFamily="18" charset="0"/>
              </a:rPr>
              <a:t> </a:t>
            </a:r>
            <a:r>
              <a:rPr lang="en-GB" sz="3100" dirty="0" err="1">
                <a:latin typeface="Bookman Old Style" panose="02050604050505020204" pitchFamily="18" charset="0"/>
              </a:rPr>
              <a:t>mellifera</a:t>
            </a:r>
            <a:r>
              <a:rPr lang="en-GB" sz="3100" dirty="0">
                <a:latin typeface="Bookman Old Style" panose="02050604050505020204" pitchFamily="18" charset="0"/>
              </a:rPr>
              <a:t> and is better adapted to hot climate.</a:t>
            </a:r>
            <a:endParaRPr lang="en-US" sz="31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val="20085242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fade">
                                      <p:cBhvr>
                                        <p:cTn id="69" dur="1000"/>
                                        <p:tgtEl>
                                          <p:spTgt spid="3">
                                            <p:txEl>
                                              <p:pRg st="8" end="8"/>
                                            </p:txEl>
                                          </p:spTgt>
                                        </p:tgtEl>
                                      </p:cBhvr>
                                    </p:animEffect>
                                    <p:anim calcmode="lin" valueType="num">
                                      <p:cBhvr>
                                        <p:cTn id="7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a:t>
            </a:r>
            <a:r>
              <a:rPr lang="en-US" b="1" dirty="0" smtClean="0">
                <a:effectLst>
                  <a:outerShdw blurRad="38100" dist="38100" dir="2700000" algn="tl">
                    <a:srgbClr val="000000">
                      <a:alpha val="43137"/>
                    </a:srgbClr>
                  </a:outerShdw>
                </a:effectLst>
                <a:latin typeface="Bookman Old Style" panose="02050604050505020204" pitchFamily="18" charset="0"/>
              </a:rPr>
              <a:t>BEE CONT’</a:t>
            </a:r>
            <a:endParaRPr lang="en-US" dirty="0"/>
          </a:p>
        </p:txBody>
      </p:sp>
      <p:sp>
        <p:nvSpPr>
          <p:cNvPr id="3" name="Content Placeholder 2"/>
          <p:cNvSpPr>
            <a:spLocks noGrp="1"/>
          </p:cNvSpPr>
          <p:nvPr>
            <p:ph idx="1"/>
          </p:nvPr>
        </p:nvSpPr>
        <p:spPr/>
        <p:txBody>
          <a:bodyPr>
            <a:normAutofit/>
          </a:bodyPr>
          <a:lstStyle/>
          <a:p>
            <a:pPr marL="0" lvl="0" indent="0" fontAlgn="base">
              <a:buNone/>
            </a:pPr>
            <a:r>
              <a:rPr lang="en-GB" b="1" dirty="0">
                <a:latin typeface="Bookman Old Style" panose="02050604050505020204" pitchFamily="18" charset="0"/>
              </a:rPr>
              <a:t>Anatomy and Physiology</a:t>
            </a:r>
            <a:r>
              <a:rPr lang="en-GB" b="1" dirty="0" smtClean="0">
                <a:latin typeface="Bookman Old Style" panose="02050604050505020204" pitchFamily="18" charset="0"/>
              </a:rPr>
              <a:t>:</a:t>
            </a:r>
            <a:endParaRPr lang="en-US" dirty="0">
              <a:latin typeface="Bookman Old Style" panose="02050604050505020204" pitchFamily="18" charset="0"/>
            </a:endParaRPr>
          </a:p>
          <a:p>
            <a:pPr lvl="0" algn="just" fontAlgn="base"/>
            <a:r>
              <a:rPr lang="en-GB" dirty="0" smtClean="0">
                <a:latin typeface="Bookman Old Style" panose="02050604050505020204" pitchFamily="18" charset="0"/>
              </a:rPr>
              <a:t>Bees </a:t>
            </a:r>
            <a:r>
              <a:rPr lang="en-GB" dirty="0">
                <a:latin typeface="Bookman Old Style" panose="02050604050505020204" pitchFamily="18" charset="0"/>
              </a:rPr>
              <a:t>have three main body segments: the head, thorax, and abdomen. Their bodies are covered in dense hairs that aid in pollen collection and </a:t>
            </a:r>
            <a:r>
              <a:rPr lang="en-GB" dirty="0" smtClean="0">
                <a:latin typeface="Bookman Old Style" panose="02050604050505020204" pitchFamily="18" charset="0"/>
              </a:rPr>
              <a:t>transportation.</a:t>
            </a:r>
          </a:p>
          <a:p>
            <a:pPr lvl="0" algn="just" fontAlgn="base"/>
            <a:r>
              <a:rPr lang="en-GB" dirty="0" smtClean="0">
                <a:latin typeface="Bookman Old Style" panose="02050604050505020204" pitchFamily="18" charset="0"/>
              </a:rPr>
              <a:t>Specialized </a:t>
            </a:r>
            <a:r>
              <a:rPr lang="en-GB" dirty="0">
                <a:latin typeface="Bookman Old Style" panose="02050604050505020204" pitchFamily="18" charset="0"/>
              </a:rPr>
              <a:t>structures such as compound eyes, antennae, and proboscis (tongue) facilitate sensory perception, communication, and </a:t>
            </a:r>
            <a:r>
              <a:rPr lang="en-GB" dirty="0" smtClean="0">
                <a:latin typeface="Bookman Old Style" panose="02050604050505020204" pitchFamily="18" charset="0"/>
              </a:rPr>
              <a:t>feeding.</a:t>
            </a:r>
          </a:p>
          <a:p>
            <a:pPr lvl="0" algn="just" fontAlgn="base"/>
            <a:r>
              <a:rPr lang="en-GB" dirty="0" smtClean="0">
                <a:latin typeface="Bookman Old Style" panose="02050604050505020204" pitchFamily="18" charset="0"/>
              </a:rPr>
              <a:t>Female </a:t>
            </a:r>
            <a:r>
              <a:rPr lang="en-GB" dirty="0">
                <a:latin typeface="Bookman Old Style" panose="02050604050505020204" pitchFamily="18" charset="0"/>
              </a:rPr>
              <a:t>bees possess a unique anatomical feature called a pollen basket (corbicula) on their hind legs, used for carrying pollen back to the hive</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22013319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a:t>
            </a:r>
            <a:r>
              <a:rPr lang="en-US" b="1" dirty="0" smtClean="0">
                <a:effectLst>
                  <a:outerShdw blurRad="38100" dist="38100" dir="2700000" algn="tl">
                    <a:srgbClr val="000000">
                      <a:alpha val="43137"/>
                    </a:srgbClr>
                  </a:outerShdw>
                </a:effectLst>
                <a:latin typeface="Bookman Old Style" panose="02050604050505020204" pitchFamily="18" charset="0"/>
              </a:rPr>
              <a:t>BEE CONT’</a:t>
            </a:r>
            <a:endParaRPr lang="en-US" dirty="0"/>
          </a:p>
        </p:txBody>
      </p:sp>
      <p:sp>
        <p:nvSpPr>
          <p:cNvPr id="3" name="Content Placeholder 2"/>
          <p:cNvSpPr>
            <a:spLocks noGrp="1"/>
          </p:cNvSpPr>
          <p:nvPr>
            <p:ph idx="1"/>
          </p:nvPr>
        </p:nvSpPr>
        <p:spPr/>
        <p:txBody>
          <a:bodyPr>
            <a:normAutofit lnSpcReduction="10000"/>
          </a:bodyPr>
          <a:lstStyle/>
          <a:p>
            <a:pPr marL="0" lvl="0" indent="0" fontAlgn="base">
              <a:buNone/>
            </a:pPr>
            <a:r>
              <a:rPr lang="en-GB" b="1" dirty="0">
                <a:latin typeface="Bookman Old Style" panose="02050604050505020204" pitchFamily="18" charset="0"/>
              </a:rPr>
              <a:t>Life </a:t>
            </a:r>
            <a:r>
              <a:rPr lang="en-GB" b="1" dirty="0" smtClean="0">
                <a:latin typeface="Bookman Old Style" panose="02050604050505020204" pitchFamily="18" charset="0"/>
              </a:rPr>
              <a:t>Cycle:</a:t>
            </a:r>
          </a:p>
          <a:p>
            <a:pPr lvl="0" algn="just" fontAlgn="base"/>
            <a:r>
              <a:rPr lang="en-GB" dirty="0" smtClean="0">
                <a:latin typeface="Bookman Old Style" panose="02050604050505020204" pitchFamily="18" charset="0"/>
              </a:rPr>
              <a:t>The </a:t>
            </a:r>
            <a:r>
              <a:rPr lang="en-GB" dirty="0">
                <a:latin typeface="Bookman Old Style" panose="02050604050505020204" pitchFamily="18" charset="0"/>
              </a:rPr>
              <a:t>life cycle of bees consists of four stages: egg, larva, pupa, and </a:t>
            </a:r>
            <a:r>
              <a:rPr lang="en-GB" dirty="0" smtClean="0">
                <a:latin typeface="Bookman Old Style" panose="02050604050505020204" pitchFamily="18" charset="0"/>
              </a:rPr>
              <a:t>adult.</a:t>
            </a:r>
          </a:p>
          <a:p>
            <a:pPr lvl="0" algn="just" fontAlgn="base"/>
            <a:r>
              <a:rPr lang="en-GB" dirty="0" smtClean="0">
                <a:latin typeface="Bookman Old Style" panose="02050604050505020204" pitchFamily="18" charset="0"/>
              </a:rPr>
              <a:t>Eggs </a:t>
            </a:r>
            <a:r>
              <a:rPr lang="en-GB" dirty="0">
                <a:latin typeface="Bookman Old Style" panose="02050604050505020204" pitchFamily="18" charset="0"/>
              </a:rPr>
              <a:t>are laid by the queen bee in individual cells within the hive's honeycomb. Larvae hatch from these eggs and are fed by worker bees with a mixture of pollen and nectar known as "bee bread</a:t>
            </a:r>
            <a:r>
              <a:rPr lang="en-GB" dirty="0" smtClean="0">
                <a:latin typeface="Bookman Old Style" panose="02050604050505020204" pitchFamily="18" charset="0"/>
              </a:rPr>
              <a:t>.“</a:t>
            </a:r>
          </a:p>
          <a:p>
            <a:pPr lvl="0" algn="just" fontAlgn="base"/>
            <a:r>
              <a:rPr lang="en-GB" dirty="0" smtClean="0">
                <a:latin typeface="Bookman Old Style" panose="02050604050505020204" pitchFamily="18" charset="0"/>
              </a:rPr>
              <a:t>Larvae </a:t>
            </a:r>
            <a:r>
              <a:rPr lang="en-GB" dirty="0">
                <a:latin typeface="Bookman Old Style" panose="02050604050505020204" pitchFamily="18" charset="0"/>
              </a:rPr>
              <a:t>undergo metamorphosis within sealed cells and emerge as adult bees. The development time varies among bee species and is influenced by environmental factors such as temperature and resource availability</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16811991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a:t>
            </a:r>
            <a:r>
              <a:rPr lang="en-US" b="1" dirty="0" smtClean="0">
                <a:effectLst>
                  <a:outerShdw blurRad="38100" dist="38100" dir="2700000" algn="tl">
                    <a:srgbClr val="000000">
                      <a:alpha val="43137"/>
                    </a:srgbClr>
                  </a:outerShdw>
                </a:effectLst>
                <a:latin typeface="Bookman Old Style" panose="02050604050505020204" pitchFamily="18" charset="0"/>
              </a:rPr>
              <a:t>BEE CONT’</a:t>
            </a:r>
            <a:endParaRPr lang="en-US" dirty="0"/>
          </a:p>
        </p:txBody>
      </p:sp>
      <p:sp>
        <p:nvSpPr>
          <p:cNvPr id="3" name="Content Placeholder 2"/>
          <p:cNvSpPr>
            <a:spLocks noGrp="1"/>
          </p:cNvSpPr>
          <p:nvPr>
            <p:ph idx="1"/>
          </p:nvPr>
        </p:nvSpPr>
        <p:spPr/>
        <p:txBody>
          <a:bodyPr>
            <a:normAutofit fontScale="92500" lnSpcReduction="10000"/>
          </a:bodyPr>
          <a:lstStyle/>
          <a:p>
            <a:pPr marL="0" lvl="0" indent="0" fontAlgn="base">
              <a:buNone/>
            </a:pPr>
            <a:r>
              <a:rPr lang="en-GB" b="1" dirty="0">
                <a:latin typeface="Bookman Old Style" panose="02050604050505020204" pitchFamily="18" charset="0"/>
              </a:rPr>
              <a:t>Social </a:t>
            </a:r>
            <a:r>
              <a:rPr lang="en-GB" b="1" dirty="0" smtClean="0">
                <a:latin typeface="Bookman Old Style" panose="02050604050505020204" pitchFamily="18" charset="0"/>
              </a:rPr>
              <a:t>Structure:</a:t>
            </a:r>
          </a:p>
          <a:p>
            <a:pPr lvl="0" algn="just" fontAlgn="base"/>
            <a:r>
              <a:rPr lang="en-GB" dirty="0" smtClean="0">
                <a:latin typeface="Bookman Old Style" panose="02050604050505020204" pitchFamily="18" charset="0"/>
              </a:rPr>
              <a:t>Honeybee </a:t>
            </a:r>
            <a:r>
              <a:rPr lang="en-GB" dirty="0">
                <a:latin typeface="Bookman Old Style" panose="02050604050505020204" pitchFamily="18" charset="0"/>
              </a:rPr>
              <a:t>colonies exhibit complex social organization, with distinct roles assigned to different castes of bees: queen, workers, and </a:t>
            </a:r>
            <a:r>
              <a:rPr lang="en-GB" dirty="0" smtClean="0">
                <a:latin typeface="Bookman Old Style" panose="02050604050505020204" pitchFamily="18" charset="0"/>
              </a:rPr>
              <a:t>drones.</a:t>
            </a:r>
          </a:p>
          <a:p>
            <a:pPr lvl="0" algn="just" fontAlgn="base"/>
            <a:r>
              <a:rPr lang="en-GB" dirty="0" smtClean="0">
                <a:latin typeface="Bookman Old Style" panose="02050604050505020204" pitchFamily="18" charset="0"/>
              </a:rPr>
              <a:t>The </a:t>
            </a:r>
            <a:r>
              <a:rPr lang="en-GB" dirty="0">
                <a:latin typeface="Bookman Old Style" panose="02050604050505020204" pitchFamily="18" charset="0"/>
              </a:rPr>
              <a:t>queen bee is responsible for egg-laying and colony reproduction. Worker bees perform various tasks such as nursing brood, foraging for food, building comb, and defending the </a:t>
            </a:r>
            <a:r>
              <a:rPr lang="en-GB" dirty="0" smtClean="0">
                <a:latin typeface="Bookman Old Style" panose="02050604050505020204" pitchFamily="18" charset="0"/>
              </a:rPr>
              <a:t>hive.</a:t>
            </a:r>
          </a:p>
          <a:p>
            <a:pPr lvl="0" algn="just" fontAlgn="base"/>
            <a:r>
              <a:rPr lang="en-GB" dirty="0" smtClean="0">
                <a:latin typeface="Bookman Old Style" panose="02050604050505020204" pitchFamily="18" charset="0"/>
              </a:rPr>
              <a:t>Drones </a:t>
            </a:r>
            <a:r>
              <a:rPr lang="en-GB" dirty="0">
                <a:latin typeface="Bookman Old Style" panose="02050604050505020204" pitchFamily="18" charset="0"/>
              </a:rPr>
              <a:t>are male bees whose primary role is to mate with virgin queens. They do not engage in typical hive tasks and are expelled from the colony during periods of resource scarcity</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41503254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a:t>
            </a:r>
            <a:r>
              <a:rPr lang="en-US" b="1" dirty="0" smtClean="0">
                <a:effectLst>
                  <a:outerShdw blurRad="38100" dist="38100" dir="2700000" algn="tl">
                    <a:srgbClr val="000000">
                      <a:alpha val="43137"/>
                    </a:srgbClr>
                  </a:outerShdw>
                </a:effectLst>
                <a:latin typeface="Bookman Old Style" panose="02050604050505020204" pitchFamily="18" charset="0"/>
              </a:rPr>
              <a:t>BEE CONT’</a:t>
            </a:r>
            <a:endParaRPr lang="en-US" dirty="0"/>
          </a:p>
        </p:txBody>
      </p:sp>
      <p:sp>
        <p:nvSpPr>
          <p:cNvPr id="3" name="Content Placeholder 2"/>
          <p:cNvSpPr>
            <a:spLocks noGrp="1"/>
          </p:cNvSpPr>
          <p:nvPr>
            <p:ph idx="1"/>
          </p:nvPr>
        </p:nvSpPr>
        <p:spPr/>
        <p:txBody>
          <a:bodyPr/>
          <a:lstStyle/>
          <a:p>
            <a:pPr marL="0" lvl="0" indent="0" fontAlgn="base">
              <a:buNone/>
            </a:pPr>
            <a:r>
              <a:rPr lang="en-GB" b="1" dirty="0" smtClean="0">
                <a:latin typeface="Bookman Old Style" panose="02050604050505020204" pitchFamily="18" charset="0"/>
              </a:rPr>
              <a:t>Communication:</a:t>
            </a:r>
          </a:p>
          <a:p>
            <a:pPr lvl="0" algn="just" fontAlgn="base"/>
            <a:r>
              <a:rPr lang="en-GB" dirty="0" smtClean="0">
                <a:latin typeface="Bookman Old Style" panose="02050604050505020204" pitchFamily="18" charset="0"/>
              </a:rPr>
              <a:t>Bees </a:t>
            </a:r>
            <a:r>
              <a:rPr lang="en-GB" dirty="0">
                <a:latin typeface="Bookman Old Style" panose="02050604050505020204" pitchFamily="18" charset="0"/>
              </a:rPr>
              <a:t>communicate through a variety of mechanisms, including pheromones, tactile signals, and dance </a:t>
            </a:r>
            <a:r>
              <a:rPr lang="en-GB" dirty="0" smtClean="0">
                <a:latin typeface="Bookman Old Style" panose="02050604050505020204" pitchFamily="18" charset="0"/>
              </a:rPr>
              <a:t>language.</a:t>
            </a:r>
          </a:p>
          <a:p>
            <a:pPr lvl="0" algn="just" fontAlgn="base"/>
            <a:r>
              <a:rPr lang="en-GB" dirty="0" smtClean="0">
                <a:latin typeface="Bookman Old Style" panose="02050604050505020204" pitchFamily="18" charset="0"/>
              </a:rPr>
              <a:t>Pheromones </a:t>
            </a:r>
            <a:r>
              <a:rPr lang="en-GB" dirty="0">
                <a:latin typeface="Bookman Old Style" panose="02050604050505020204" pitchFamily="18" charset="0"/>
              </a:rPr>
              <a:t>play a crucial role in regulating colony behavior, coordinating tasks, and maintaining social </a:t>
            </a:r>
            <a:r>
              <a:rPr lang="en-GB" dirty="0" smtClean="0">
                <a:latin typeface="Bookman Old Style" panose="02050604050505020204" pitchFamily="18" charset="0"/>
              </a:rPr>
              <a:t>cohesion.</a:t>
            </a:r>
          </a:p>
          <a:p>
            <a:pPr lvl="0" algn="just" fontAlgn="base"/>
            <a:r>
              <a:rPr lang="en-GB" dirty="0" smtClean="0">
                <a:latin typeface="Bookman Old Style" panose="02050604050505020204" pitchFamily="18" charset="0"/>
              </a:rPr>
              <a:t>The </a:t>
            </a:r>
            <a:r>
              <a:rPr lang="en-GB" dirty="0">
                <a:latin typeface="Bookman Old Style" panose="02050604050505020204" pitchFamily="18" charset="0"/>
              </a:rPr>
              <a:t>waggle dance, performed by forager bees returning to the hive, conveys information about the direction, distance, and quality of food sources</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18010664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a:t>
            </a:r>
            <a:r>
              <a:rPr lang="en-US" b="1" dirty="0" smtClean="0">
                <a:effectLst>
                  <a:outerShdw blurRad="38100" dist="38100" dir="2700000" algn="tl">
                    <a:srgbClr val="000000">
                      <a:alpha val="43137"/>
                    </a:srgbClr>
                  </a:outerShdw>
                </a:effectLst>
                <a:latin typeface="Bookman Old Style" panose="02050604050505020204" pitchFamily="18" charset="0"/>
              </a:rPr>
              <a:t>BEE CONT’</a:t>
            </a:r>
            <a:endParaRPr lang="en-US" dirty="0"/>
          </a:p>
        </p:txBody>
      </p:sp>
      <p:sp>
        <p:nvSpPr>
          <p:cNvPr id="3" name="Content Placeholder 2"/>
          <p:cNvSpPr>
            <a:spLocks noGrp="1"/>
          </p:cNvSpPr>
          <p:nvPr>
            <p:ph idx="1"/>
          </p:nvPr>
        </p:nvSpPr>
        <p:spPr/>
        <p:txBody>
          <a:bodyPr>
            <a:normAutofit lnSpcReduction="10000"/>
          </a:bodyPr>
          <a:lstStyle/>
          <a:p>
            <a:pPr marL="0" lvl="0" indent="0" fontAlgn="base">
              <a:buNone/>
            </a:pPr>
            <a:r>
              <a:rPr lang="en-GB" b="1" dirty="0">
                <a:latin typeface="Bookman Old Style" panose="02050604050505020204" pitchFamily="18" charset="0"/>
              </a:rPr>
              <a:t>Foraging Behavior: </a:t>
            </a:r>
            <a:endParaRPr lang="en-US" dirty="0">
              <a:latin typeface="Bookman Old Style" panose="02050604050505020204" pitchFamily="18" charset="0"/>
            </a:endParaRPr>
          </a:p>
          <a:p>
            <a:pPr lvl="0" algn="just" fontAlgn="base"/>
            <a:r>
              <a:rPr lang="en-GB" dirty="0" smtClean="0">
                <a:latin typeface="Bookman Old Style" panose="02050604050505020204" pitchFamily="18" charset="0"/>
              </a:rPr>
              <a:t>Forager </a:t>
            </a:r>
            <a:r>
              <a:rPr lang="en-GB" dirty="0">
                <a:latin typeface="Bookman Old Style" panose="02050604050505020204" pitchFamily="18" charset="0"/>
              </a:rPr>
              <a:t>bees collect pollen, nectar, water, and </a:t>
            </a:r>
            <a:r>
              <a:rPr lang="en-GB" dirty="0" err="1">
                <a:latin typeface="Bookman Old Style" panose="02050604050505020204" pitchFamily="18" charset="0"/>
              </a:rPr>
              <a:t>propolis</a:t>
            </a:r>
            <a:r>
              <a:rPr lang="en-GB" dirty="0">
                <a:latin typeface="Bookman Old Style" panose="02050604050505020204" pitchFamily="18" charset="0"/>
              </a:rPr>
              <a:t> (plant resins) from the surrounding environment to sustain the </a:t>
            </a:r>
            <a:r>
              <a:rPr lang="en-GB" dirty="0" smtClean="0">
                <a:latin typeface="Bookman Old Style" panose="02050604050505020204" pitchFamily="18" charset="0"/>
              </a:rPr>
              <a:t>colony.</a:t>
            </a:r>
          </a:p>
          <a:p>
            <a:pPr lvl="0" algn="just" fontAlgn="base"/>
            <a:r>
              <a:rPr lang="en-GB" dirty="0" smtClean="0">
                <a:latin typeface="Bookman Old Style" panose="02050604050505020204" pitchFamily="18" charset="0"/>
              </a:rPr>
              <a:t>Bees </a:t>
            </a:r>
            <a:r>
              <a:rPr lang="en-GB" dirty="0">
                <a:latin typeface="Bookman Old Style" panose="02050604050505020204" pitchFamily="18" charset="0"/>
              </a:rPr>
              <a:t>exhibit flower constancy, preferring to visit flowers of the same species during foraging trips. This behavior enhances pollination efficiency and reduces competition among </a:t>
            </a:r>
            <a:r>
              <a:rPr lang="en-GB" dirty="0" smtClean="0">
                <a:latin typeface="Bookman Old Style" panose="02050604050505020204" pitchFamily="18" charset="0"/>
              </a:rPr>
              <a:t>plants.</a:t>
            </a:r>
          </a:p>
          <a:p>
            <a:pPr lvl="0" algn="just" fontAlgn="base"/>
            <a:r>
              <a:rPr lang="en-GB" dirty="0" smtClean="0">
                <a:latin typeface="Bookman Old Style" panose="02050604050505020204" pitchFamily="18" charset="0"/>
              </a:rPr>
              <a:t>The </a:t>
            </a:r>
            <a:r>
              <a:rPr lang="en-GB" dirty="0">
                <a:latin typeface="Bookman Old Style" panose="02050604050505020204" pitchFamily="18" charset="0"/>
              </a:rPr>
              <a:t>ability of bees to navigate complex landscapes and communicate foraging information contributes to their role as efficient pollinators</a:t>
            </a:r>
            <a:r>
              <a:rPr lang="en-GB" dirty="0" smtClean="0">
                <a:latin typeface="Bookman Old Style" panose="02050604050505020204" pitchFamily="18" charset="0"/>
              </a:rPr>
              <a:t>.</a:t>
            </a:r>
            <a:endParaRPr lang="en-US" dirty="0">
              <a:latin typeface="Bookman Old Style" panose="02050604050505020204" pitchFamily="18" charset="0"/>
            </a:endParaRPr>
          </a:p>
        </p:txBody>
      </p:sp>
    </p:spTree>
    <p:extLst>
      <p:ext uri="{BB962C8B-B14F-4D97-AF65-F5344CB8AC3E}">
        <p14:creationId xmlns:p14="http://schemas.microsoft.com/office/powerpoint/2010/main" val="36633546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a:t>
            </a:r>
            <a:r>
              <a:rPr lang="en-US" b="1" dirty="0" smtClean="0">
                <a:effectLst>
                  <a:outerShdw blurRad="38100" dist="38100" dir="2700000" algn="tl">
                    <a:srgbClr val="000000">
                      <a:alpha val="43137"/>
                    </a:srgbClr>
                  </a:outerShdw>
                </a:effectLst>
                <a:latin typeface="Bookman Old Style" panose="02050604050505020204" pitchFamily="18" charset="0"/>
              </a:rPr>
              <a:t>BEE CONT’</a:t>
            </a:r>
            <a:endParaRPr lang="en-US" dirty="0"/>
          </a:p>
        </p:txBody>
      </p:sp>
      <p:sp>
        <p:nvSpPr>
          <p:cNvPr id="3" name="Content Placeholder 2"/>
          <p:cNvSpPr>
            <a:spLocks noGrp="1"/>
          </p:cNvSpPr>
          <p:nvPr>
            <p:ph idx="1"/>
          </p:nvPr>
        </p:nvSpPr>
        <p:spPr/>
        <p:txBody>
          <a:bodyPr/>
          <a:lstStyle/>
          <a:p>
            <a:pPr algn="just"/>
            <a:r>
              <a:rPr lang="en-GB" dirty="0">
                <a:latin typeface="Bookman Old Style" panose="02050604050505020204" pitchFamily="18" charset="0"/>
              </a:rPr>
              <a:t>In nature bees usually live in a sheltered cavity, such as a hollow tree or rock crevice. The colony is composed of a queen, drones, and workers.</a:t>
            </a:r>
            <a:endParaRPr lang="en-US" dirty="0">
              <a:latin typeface="Bookman Old Style" panose="020506040505050202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651" y="3084739"/>
            <a:ext cx="10280469" cy="3655695"/>
          </a:xfrm>
          <a:prstGeom prst="rect">
            <a:avLst/>
          </a:prstGeom>
        </p:spPr>
      </p:pic>
    </p:spTree>
    <p:extLst>
      <p:ext uri="{BB962C8B-B14F-4D97-AF65-F5344CB8AC3E}">
        <p14:creationId xmlns:p14="http://schemas.microsoft.com/office/powerpoint/2010/main" val="11102428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ircle(in)">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a:xfrm>
            <a:off x="4518212" y="1825625"/>
            <a:ext cx="6835588" cy="4351338"/>
          </a:xfrm>
        </p:spPr>
        <p:txBody>
          <a:bodyPr>
            <a:normAutofit fontScale="92500" lnSpcReduction="10000"/>
          </a:bodyPr>
          <a:lstStyle/>
          <a:p>
            <a:pPr marL="0" indent="0">
              <a:buNone/>
            </a:pPr>
            <a:r>
              <a:rPr lang="en-GB" b="1" dirty="0">
                <a:latin typeface="Bookman Old Style" panose="02050604050505020204" pitchFamily="18" charset="0"/>
              </a:rPr>
              <a:t>The Queen </a:t>
            </a:r>
            <a:endParaRPr lang="en-US" dirty="0">
              <a:latin typeface="Bookman Old Style" panose="02050604050505020204" pitchFamily="18" charset="0"/>
            </a:endParaRPr>
          </a:p>
          <a:p>
            <a:pPr lvl="0" algn="just"/>
            <a:r>
              <a:rPr lang="en-GB" dirty="0" smtClean="0">
                <a:latin typeface="Bookman Old Style" panose="02050604050505020204" pitchFamily="18" charset="0"/>
              </a:rPr>
              <a:t>This </a:t>
            </a:r>
            <a:r>
              <a:rPr lang="en-GB" dirty="0">
                <a:latin typeface="Bookman Old Style" panose="02050604050505020204" pitchFamily="18" charset="0"/>
              </a:rPr>
              <a:t>is the mother of all individual bees (the drones and workers) in a colony.</a:t>
            </a:r>
            <a:endParaRPr lang="en-US" dirty="0">
              <a:latin typeface="Bookman Old Style" panose="02050604050505020204" pitchFamily="18" charset="0"/>
            </a:endParaRPr>
          </a:p>
          <a:p>
            <a:pPr lvl="0" algn="just"/>
            <a:r>
              <a:rPr lang="en-GB" dirty="0">
                <a:latin typeface="Bookman Old Style" panose="02050604050505020204" pitchFamily="18" charset="0"/>
              </a:rPr>
              <a:t>It develops from fertilized eggs and the only female bee capable of laying eggs.</a:t>
            </a:r>
            <a:endParaRPr lang="en-US" dirty="0">
              <a:latin typeface="Bookman Old Style" panose="02050604050505020204" pitchFamily="18" charset="0"/>
            </a:endParaRPr>
          </a:p>
          <a:p>
            <a:pPr lvl="0" algn="just"/>
            <a:r>
              <a:rPr lang="en-GB" dirty="0">
                <a:latin typeface="Bookman Old Style" panose="02050604050505020204" pitchFamily="18" charset="0"/>
              </a:rPr>
              <a:t>It has a long abdomen than the drones and workers and has a slightly barded sting meant for fighting rival queens (it does not lose the sting after stinging).</a:t>
            </a:r>
            <a:endParaRPr lang="en-US" dirty="0">
              <a:latin typeface="Bookman Old Style" panose="02050604050505020204" pitchFamily="18" charset="0"/>
            </a:endParaRPr>
          </a:p>
          <a:p>
            <a:pPr algn="just"/>
            <a:r>
              <a:rPr lang="en-GB" dirty="0">
                <a:latin typeface="Bookman Old Style" panose="02050604050505020204" pitchFamily="18" charset="0"/>
              </a:rPr>
              <a:t>Its life span ranges between 3 to 5 years.</a:t>
            </a:r>
            <a:endParaRPr lang="en-US" dirty="0">
              <a:latin typeface="Bookman Old Style" panose="020506040505050202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024" y="1690687"/>
            <a:ext cx="4491317" cy="4952159"/>
          </a:xfrm>
          <a:prstGeom prst="rect">
            <a:avLst/>
          </a:prstGeom>
        </p:spPr>
      </p:pic>
    </p:spTree>
    <p:extLst>
      <p:ext uri="{BB962C8B-B14F-4D97-AF65-F5344CB8AC3E}">
        <p14:creationId xmlns:p14="http://schemas.microsoft.com/office/powerpoint/2010/main" val="5252114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0"/>
                                        <p:tgtEl>
                                          <p:spTgt spid="3">
                                            <p:txEl>
                                              <p:pRg st="0" end="0"/>
                                            </p:txEl>
                                          </p:spTgt>
                                        </p:tgtEl>
                                      </p:cBhvr>
                                    </p:animEffect>
                                    <p:anim calcmode="lin" valueType="num">
                                      <p:cBhvr>
                                        <p:cTn id="1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5" name="Content Placeholder 4"/>
          <p:cNvSpPr>
            <a:spLocks noGrp="1"/>
          </p:cNvSpPr>
          <p:nvPr>
            <p:ph idx="1"/>
          </p:nvPr>
        </p:nvSpPr>
        <p:spPr>
          <a:xfrm>
            <a:off x="838200" y="1825625"/>
            <a:ext cx="10515599" cy="4351338"/>
          </a:xfrm>
        </p:spPr>
        <p:txBody>
          <a:bodyPr>
            <a:normAutofit/>
          </a:bodyPr>
          <a:lstStyle/>
          <a:p>
            <a:pPr marL="0" indent="0">
              <a:buNone/>
            </a:pPr>
            <a:r>
              <a:rPr lang="en-GB" sz="3200" b="1" dirty="0">
                <a:latin typeface="Bookman Old Style" panose="02050604050505020204" pitchFamily="18" charset="0"/>
              </a:rPr>
              <a:t>Her Duties</a:t>
            </a:r>
            <a:endParaRPr lang="en-US" sz="3200" dirty="0">
              <a:latin typeface="Bookman Old Style" panose="02050604050505020204" pitchFamily="18" charset="0"/>
            </a:endParaRPr>
          </a:p>
          <a:p>
            <a:pPr lvl="0"/>
            <a:r>
              <a:rPr lang="en-GB" sz="3200" dirty="0">
                <a:latin typeface="Bookman Old Style" panose="02050604050505020204" pitchFamily="18" charset="0"/>
              </a:rPr>
              <a:t>To mate with the drones.</a:t>
            </a:r>
            <a:endParaRPr lang="en-US" sz="3200" dirty="0">
              <a:latin typeface="Bookman Old Style" panose="02050604050505020204" pitchFamily="18" charset="0"/>
            </a:endParaRPr>
          </a:p>
          <a:p>
            <a:pPr lvl="0"/>
            <a:r>
              <a:rPr lang="en-GB" sz="3200" dirty="0">
                <a:latin typeface="Bookman Old Style" panose="02050604050505020204" pitchFamily="18" charset="0"/>
              </a:rPr>
              <a:t>To lay eggs e.g. 800 to 3000 eggs per day.</a:t>
            </a:r>
            <a:endParaRPr lang="en-US" sz="3200" dirty="0">
              <a:latin typeface="Bookman Old Style" panose="02050604050505020204" pitchFamily="18" charset="0"/>
            </a:endParaRPr>
          </a:p>
          <a:p>
            <a:pPr lvl="0"/>
            <a:r>
              <a:rPr lang="en-GB" sz="3200" dirty="0">
                <a:latin typeface="Bookman Old Style" panose="02050604050505020204" pitchFamily="18" charset="0"/>
              </a:rPr>
              <a:t>To secrete queen substance (pheromone) meant for promoting colony cohesion and unity.</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34142849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1000"/>
                                        <p:tgtEl>
                                          <p:spTgt spid="5">
                                            <p:txEl>
                                              <p:pRg st="1" end="1"/>
                                            </p:txEl>
                                          </p:spTgt>
                                        </p:tgtEl>
                                      </p:cBhvr>
                                    </p:animEffect>
                                    <p:anim calcmode="lin" valueType="num">
                                      <p:cBhvr>
                                        <p:cTn id="21"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1000"/>
                                        <p:tgtEl>
                                          <p:spTgt spid="5">
                                            <p:txEl>
                                              <p:pRg st="2" end="2"/>
                                            </p:txEl>
                                          </p:spTgt>
                                        </p:tgtEl>
                                      </p:cBhvr>
                                    </p:animEffect>
                                    <p:anim calcmode="lin" valueType="num">
                                      <p:cBhvr>
                                        <p:cTn id="2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fade">
                                      <p:cBhvr>
                                        <p:cTn id="34" dur="1000"/>
                                        <p:tgtEl>
                                          <p:spTgt spid="5">
                                            <p:txEl>
                                              <p:pRg st="3" end="3"/>
                                            </p:txEl>
                                          </p:spTgt>
                                        </p:tgtEl>
                                      </p:cBhvr>
                                    </p:animEffect>
                                    <p:anim calcmode="lin" valueType="num">
                                      <p:cBhvr>
                                        <p:cTn id="3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a:xfrm>
            <a:off x="4594974" y="1825625"/>
            <a:ext cx="6758826" cy="4718866"/>
          </a:xfrm>
        </p:spPr>
        <p:txBody>
          <a:bodyPr>
            <a:normAutofit fontScale="92500" lnSpcReduction="10000"/>
          </a:bodyPr>
          <a:lstStyle/>
          <a:p>
            <a:pPr marL="0" indent="0" algn="just">
              <a:buNone/>
            </a:pPr>
            <a:r>
              <a:rPr lang="en-GB" b="1" dirty="0">
                <a:latin typeface="Bookman Old Style" panose="02050604050505020204" pitchFamily="18" charset="0"/>
              </a:rPr>
              <a:t>The Drone </a:t>
            </a:r>
            <a:endParaRPr lang="en-US" dirty="0">
              <a:latin typeface="Bookman Old Style" panose="02050604050505020204" pitchFamily="18" charset="0"/>
            </a:endParaRPr>
          </a:p>
          <a:p>
            <a:pPr lvl="0"/>
            <a:r>
              <a:rPr lang="en-GB" sz="3200" dirty="0">
                <a:latin typeface="Bookman Old Style" panose="02050604050505020204" pitchFamily="18" charset="0"/>
              </a:rPr>
              <a:t>The only male bees in the hive and develops from unfertilized eggs.</a:t>
            </a:r>
            <a:endParaRPr lang="en-US" sz="3200" dirty="0">
              <a:latin typeface="Bookman Old Style" panose="02050604050505020204" pitchFamily="18" charset="0"/>
            </a:endParaRPr>
          </a:p>
          <a:p>
            <a:pPr lvl="0"/>
            <a:r>
              <a:rPr lang="en-GB" sz="3200" dirty="0">
                <a:latin typeface="Bookman Old Style" panose="02050604050505020204" pitchFamily="18" charset="0"/>
              </a:rPr>
              <a:t>They have a blunt abdomen and have no sting.</a:t>
            </a:r>
            <a:endParaRPr lang="en-US" sz="3200" dirty="0">
              <a:latin typeface="Bookman Old Style" panose="02050604050505020204" pitchFamily="18" charset="0"/>
            </a:endParaRPr>
          </a:p>
          <a:p>
            <a:pPr lvl="0"/>
            <a:r>
              <a:rPr lang="en-GB" sz="3200" dirty="0">
                <a:latin typeface="Bookman Old Style" panose="02050604050505020204" pitchFamily="18" charset="0"/>
              </a:rPr>
              <a:t>They number from 200 to 2000 in a colony.</a:t>
            </a:r>
            <a:endParaRPr lang="en-US" sz="3200" dirty="0">
              <a:latin typeface="Bookman Old Style" panose="02050604050505020204" pitchFamily="18" charset="0"/>
            </a:endParaRPr>
          </a:p>
          <a:p>
            <a:pPr lvl="0"/>
            <a:r>
              <a:rPr lang="en-GB" sz="3200" dirty="0">
                <a:latin typeface="Bookman Old Style" panose="02050604050505020204" pitchFamily="18" charset="0"/>
              </a:rPr>
              <a:t>Their </a:t>
            </a:r>
            <a:r>
              <a:rPr lang="en-GB" sz="3200" u="sng" dirty="0">
                <a:latin typeface="Bookman Old Style" panose="02050604050505020204" pitchFamily="18" charset="0"/>
              </a:rPr>
              <a:t>only duty</a:t>
            </a:r>
            <a:r>
              <a:rPr lang="en-GB" sz="3200" dirty="0">
                <a:latin typeface="Bookman Old Style" panose="02050604050505020204" pitchFamily="18" charset="0"/>
              </a:rPr>
              <a:t> is to </a:t>
            </a:r>
            <a:r>
              <a:rPr lang="en-GB" sz="3200" u="sng" dirty="0">
                <a:latin typeface="Bookman Old Style" panose="02050604050505020204" pitchFamily="18" charset="0"/>
              </a:rPr>
              <a:t>mate</a:t>
            </a:r>
            <a:r>
              <a:rPr lang="en-GB" sz="3200" dirty="0">
                <a:latin typeface="Bookman Old Style" panose="02050604050505020204" pitchFamily="18" charset="0"/>
              </a:rPr>
              <a:t> with the queen there after shortly they die.</a:t>
            </a:r>
            <a:endParaRPr lang="en-US" sz="3200" dirty="0">
              <a:latin typeface="Bookman Old Style" panose="020506040505050202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25624"/>
            <a:ext cx="3756774" cy="4836433"/>
          </a:xfrm>
          <a:prstGeom prst="rect">
            <a:avLst/>
          </a:prstGeom>
        </p:spPr>
      </p:pic>
    </p:spTree>
    <p:extLst>
      <p:ext uri="{BB962C8B-B14F-4D97-AF65-F5344CB8AC3E}">
        <p14:creationId xmlns:p14="http://schemas.microsoft.com/office/powerpoint/2010/main" val="15164768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0"/>
                                        <p:tgtEl>
                                          <p:spTgt spid="3">
                                            <p:txEl>
                                              <p:pRg st="0" end="0"/>
                                            </p:txEl>
                                          </p:spTgt>
                                        </p:tgtEl>
                                      </p:cBhvr>
                                    </p:animEffect>
                                    <p:anim calcmode="lin" valueType="num">
                                      <p:cBhvr>
                                        <p:cTn id="1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a:xfrm>
            <a:off x="4781006" y="1825625"/>
            <a:ext cx="6572794" cy="4648960"/>
          </a:xfrm>
        </p:spPr>
        <p:txBody>
          <a:bodyPr>
            <a:normAutofit lnSpcReduction="10000"/>
          </a:bodyPr>
          <a:lstStyle/>
          <a:p>
            <a:pPr marL="0" indent="0" algn="just">
              <a:buNone/>
            </a:pPr>
            <a:r>
              <a:rPr lang="en-GB" b="1" dirty="0">
                <a:latin typeface="Bookman Old Style" panose="02050604050505020204" pitchFamily="18" charset="0"/>
              </a:rPr>
              <a:t>The worker </a:t>
            </a:r>
            <a:endParaRPr lang="en-US" dirty="0">
              <a:latin typeface="Bookman Old Style" panose="02050604050505020204" pitchFamily="18" charset="0"/>
            </a:endParaRPr>
          </a:p>
          <a:p>
            <a:pPr lvl="0" algn="just"/>
            <a:r>
              <a:rPr lang="en-GB" dirty="0">
                <a:latin typeface="Bookman Old Style" panose="02050604050505020204" pitchFamily="18" charset="0"/>
              </a:rPr>
              <a:t>Female bees produced from unfertilized eggs and lays unfertilized eggs unless in certain circumstances.</a:t>
            </a:r>
            <a:endParaRPr lang="en-US" dirty="0">
              <a:latin typeface="Bookman Old Style" panose="02050604050505020204" pitchFamily="18" charset="0"/>
            </a:endParaRPr>
          </a:p>
          <a:p>
            <a:pPr lvl="0" algn="just"/>
            <a:r>
              <a:rPr lang="en-GB" dirty="0">
                <a:latin typeface="Bookman Old Style" panose="02050604050505020204" pitchFamily="18" charset="0"/>
              </a:rPr>
              <a:t>They number from 10 000 to 80 000 in a single colony and they are smaller than the queen and drones and their live span ranges from 6 to7 weeks.</a:t>
            </a:r>
            <a:endParaRPr lang="en-US" dirty="0">
              <a:latin typeface="Bookman Old Style" panose="02050604050505020204" pitchFamily="18" charset="0"/>
            </a:endParaRPr>
          </a:p>
          <a:p>
            <a:pPr lvl="0" algn="just"/>
            <a:r>
              <a:rPr lang="en-GB" dirty="0">
                <a:latin typeface="Bookman Old Style" panose="02050604050505020204" pitchFamily="18" charset="0"/>
              </a:rPr>
              <a:t>All work in the colony is done by the workers except egg lying.</a:t>
            </a:r>
            <a:endParaRPr lang="en-US" dirty="0">
              <a:latin typeface="Bookman Old Style" panose="020506040505050202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25624"/>
            <a:ext cx="3942806" cy="4514025"/>
          </a:xfrm>
          <a:prstGeom prst="rect">
            <a:avLst/>
          </a:prstGeom>
        </p:spPr>
      </p:pic>
    </p:spTree>
    <p:extLst>
      <p:ext uri="{BB962C8B-B14F-4D97-AF65-F5344CB8AC3E}">
        <p14:creationId xmlns:p14="http://schemas.microsoft.com/office/powerpoint/2010/main" val="29388509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ircle(in)">
                                      <p:cBhvr>
                                        <p:cTn id="13" dur="2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0"/>
                                        <p:tgtEl>
                                          <p:spTgt spid="3">
                                            <p:txEl>
                                              <p:pRg st="0" end="0"/>
                                            </p:txEl>
                                          </p:spTgt>
                                        </p:tgtEl>
                                      </p:cBhvr>
                                    </p:animEffect>
                                    <p:anim calcmode="lin" valueType="num">
                                      <p:cBhvr>
                                        <p:cTn id="1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a:xfrm>
            <a:off x="838200" y="1825624"/>
            <a:ext cx="10515600" cy="4692741"/>
          </a:xfrm>
        </p:spPr>
        <p:txBody>
          <a:bodyPr>
            <a:normAutofit fontScale="55000" lnSpcReduction="20000"/>
          </a:bodyPr>
          <a:lstStyle/>
          <a:p>
            <a:pPr marL="0" indent="0" algn="just">
              <a:buNone/>
            </a:pPr>
            <a:r>
              <a:rPr lang="en-GB" sz="4400" b="1" dirty="0">
                <a:latin typeface="Bookman Old Style" panose="02050604050505020204" pitchFamily="18" charset="0"/>
              </a:rPr>
              <a:t>Duties </a:t>
            </a:r>
            <a:r>
              <a:rPr lang="en-GB" sz="4400" b="1" dirty="0" smtClean="0">
                <a:latin typeface="Bookman Old Style" panose="02050604050505020204" pitchFamily="18" charset="0"/>
              </a:rPr>
              <a:t>of Workers</a:t>
            </a:r>
            <a:endParaRPr lang="en-US" sz="4400" dirty="0">
              <a:latin typeface="Bookman Old Style" panose="02050604050505020204" pitchFamily="18" charset="0"/>
            </a:endParaRPr>
          </a:p>
          <a:p>
            <a:pPr algn="just"/>
            <a:r>
              <a:rPr lang="en-US" sz="4400" dirty="0">
                <a:latin typeface="Bookman Old Style" panose="02050604050505020204" pitchFamily="18" charset="0"/>
              </a:rPr>
              <a:t>Sight and Smell are keenly developed in the worker bee. The worker bee makes use of these senses accurately to find and re-find sources of food, and must also communicate information regarding food sources to other </a:t>
            </a:r>
            <a:r>
              <a:rPr lang="en-US" sz="4400" dirty="0" smtClean="0">
                <a:latin typeface="Bookman Old Style" panose="02050604050505020204" pitchFamily="18" charset="0"/>
              </a:rPr>
              <a:t>workers. </a:t>
            </a:r>
            <a:r>
              <a:rPr lang="en-GB" sz="4400" dirty="0" smtClean="0">
                <a:latin typeface="Bookman Old Style" panose="02050604050505020204" pitchFamily="18" charset="0"/>
              </a:rPr>
              <a:t>This </a:t>
            </a:r>
            <a:r>
              <a:rPr lang="en-GB" sz="4400" dirty="0">
                <a:latin typeface="Bookman Old Style" panose="02050604050505020204" pitchFamily="18" charset="0"/>
              </a:rPr>
              <a:t>caste is divided into the following groups;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Scouts bees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Foragers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Guards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Comb builders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Nurse bees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General workers</a:t>
            </a:r>
            <a:endParaRPr lang="en-US" sz="4400" dirty="0">
              <a:latin typeface="Bookman Old Style" panose="02050604050505020204" pitchFamily="18" charset="0"/>
            </a:endParaRPr>
          </a:p>
          <a:p>
            <a:pPr lvl="0" algn="just"/>
            <a:r>
              <a:rPr lang="en-GB" sz="4400" dirty="0">
                <a:latin typeface="Bookman Old Style" panose="02050604050505020204" pitchFamily="18" charset="0"/>
              </a:rPr>
              <a:t>Young bees</a:t>
            </a:r>
            <a:endParaRPr lang="en-US" sz="4400" dirty="0">
              <a:latin typeface="Bookman Old Style" panose="02050604050505020204" pitchFamily="18" charset="0"/>
            </a:endParaRPr>
          </a:p>
          <a:p>
            <a:endParaRPr lang="en-US" dirty="0"/>
          </a:p>
        </p:txBody>
      </p:sp>
    </p:spTree>
    <p:extLst>
      <p:ext uri="{BB962C8B-B14F-4D97-AF65-F5344CB8AC3E}">
        <p14:creationId xmlns:p14="http://schemas.microsoft.com/office/powerpoint/2010/main" val="6466943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fade">
                                      <p:cBhvr>
                                        <p:cTn id="69" dur="1000"/>
                                        <p:tgtEl>
                                          <p:spTgt spid="3">
                                            <p:txEl>
                                              <p:pRg st="8" end="8"/>
                                            </p:txEl>
                                          </p:spTgt>
                                        </p:tgtEl>
                                      </p:cBhvr>
                                    </p:animEffect>
                                    <p:anim calcmode="lin" valueType="num">
                                      <p:cBhvr>
                                        <p:cTn id="7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a:xfrm>
            <a:off x="7696202" y="1825624"/>
            <a:ext cx="4099558" cy="4914809"/>
          </a:xfrm>
        </p:spPr>
        <p:txBody>
          <a:bodyPr>
            <a:normAutofit fontScale="92500" lnSpcReduction="20000"/>
          </a:bodyPr>
          <a:lstStyle/>
          <a:p>
            <a:r>
              <a:rPr lang="en-GB" dirty="0" smtClean="0">
                <a:latin typeface="Bookman Old Style" panose="02050604050505020204" pitchFamily="18" charset="0"/>
              </a:rPr>
              <a:t>The </a:t>
            </a:r>
            <a:r>
              <a:rPr lang="en-GB" dirty="0">
                <a:latin typeface="Bookman Old Style" panose="02050604050505020204" pitchFamily="18" charset="0"/>
              </a:rPr>
              <a:t>worker bee does all work in the hive. The work is done according to age and keeps on transitioning.  (A)Nursing the larvae (B) Feeding the larvae (C) Help in offloading and packing in cells, also cleaning of comb cells (D) construction of combs (E) Guarding (F) collecting nectar and pollen till death (G) </a:t>
            </a:r>
            <a:endParaRPr lang="en-US" dirty="0">
              <a:latin typeface="Bookman Old Style" panose="020506040505050202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329759" y="491556"/>
            <a:ext cx="5167313" cy="7565572"/>
          </a:xfrm>
          <a:prstGeom prst="rect">
            <a:avLst/>
          </a:prstGeom>
        </p:spPr>
      </p:pic>
    </p:spTree>
    <p:extLst>
      <p:ext uri="{BB962C8B-B14F-4D97-AF65-F5344CB8AC3E}">
        <p14:creationId xmlns:p14="http://schemas.microsoft.com/office/powerpoint/2010/main" val="23770098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circle(in)">
                                      <p:cBhvr>
                                        <p:cTn id="13" dur="2000"/>
                                        <p:tgtEl>
                                          <p:spTgt spid="3">
                                            <p:txEl>
                                              <p:pRg st="0" end="0"/>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circle(in)">
                                      <p:cBhvr>
                                        <p:cTn id="16"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5" name="Content Placeholder 4"/>
          <p:cNvSpPr>
            <a:spLocks noGrp="1"/>
          </p:cNvSpPr>
          <p:nvPr>
            <p:ph idx="1"/>
          </p:nvPr>
        </p:nvSpPr>
        <p:spPr/>
        <p:txBody>
          <a:bodyPr/>
          <a:lstStyle/>
          <a:p>
            <a:endParaRPr lang="en-US" dirty="0"/>
          </a:p>
        </p:txBody>
      </p:sp>
      <p:pic>
        <p:nvPicPr>
          <p:cNvPr id="6" name="Picture 5"/>
          <p:cNvPicPr>
            <a:picLocks noChangeAspect="1"/>
          </p:cNvPicPr>
          <p:nvPr/>
        </p:nvPicPr>
        <p:blipFill>
          <a:blip r:embed="rId2"/>
          <a:stretch>
            <a:fillRect/>
          </a:stretch>
        </p:blipFill>
        <p:spPr>
          <a:xfrm>
            <a:off x="838200" y="3037258"/>
            <a:ext cx="10515600" cy="3139705"/>
          </a:xfrm>
          <a:prstGeom prst="rect">
            <a:avLst/>
          </a:prstGeom>
        </p:spPr>
      </p:pic>
    </p:spTree>
    <p:extLst>
      <p:ext uri="{BB962C8B-B14F-4D97-AF65-F5344CB8AC3E}">
        <p14:creationId xmlns:p14="http://schemas.microsoft.com/office/powerpoint/2010/main" val="19673774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nodePh="1">
                                  <p:stCondLst>
                                    <p:cond delay="0"/>
                                  </p:stCondLst>
                                  <p:endCondLst>
                                    <p:cond evt="begin" delay="0">
                                      <p:tn val="11"/>
                                    </p:cond>
                                  </p:end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ircle(in)">
                                      <p:cBhvr>
                                        <p:cTn id="2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p:txBody>
          <a:bodyPr/>
          <a:lstStyle/>
          <a:p>
            <a:endParaRPr lang="en-US" dirty="0"/>
          </a:p>
        </p:txBody>
      </p:sp>
      <p:pic>
        <p:nvPicPr>
          <p:cNvPr id="6" name="Picture 5"/>
          <p:cNvPicPr>
            <a:picLocks noChangeAspect="1"/>
          </p:cNvPicPr>
          <p:nvPr/>
        </p:nvPicPr>
        <p:blipFill>
          <a:blip r:embed="rId2"/>
          <a:stretch>
            <a:fillRect/>
          </a:stretch>
        </p:blipFill>
        <p:spPr>
          <a:xfrm>
            <a:off x="838200" y="2486381"/>
            <a:ext cx="10515600" cy="3690582"/>
          </a:xfrm>
          <a:prstGeom prst="rect">
            <a:avLst/>
          </a:prstGeom>
        </p:spPr>
      </p:pic>
    </p:spTree>
    <p:extLst>
      <p:ext uri="{BB962C8B-B14F-4D97-AF65-F5344CB8AC3E}">
        <p14:creationId xmlns:p14="http://schemas.microsoft.com/office/powerpoint/2010/main" val="26736830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nodePh="1">
                                  <p:stCondLst>
                                    <p:cond delay="0"/>
                                  </p:stCondLst>
                                  <p:endCondLst>
                                    <p:cond evt="begin" delay="0">
                                      <p:tn val="11"/>
                                    </p:cond>
                                  </p:end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ircle(in)">
                                      <p:cBhvr>
                                        <p:cTn id="2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Bookman Old Style" panose="02050604050505020204" pitchFamily="18" charset="0"/>
              </a:rPr>
              <a:t>BIOLOGY AND ECOLOGY OF HONEY BEE CONT’</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8200" y="2617476"/>
            <a:ext cx="10515600" cy="3595126"/>
          </a:xfrm>
          <a:prstGeom prst="rect">
            <a:avLst/>
          </a:prstGeom>
        </p:spPr>
      </p:pic>
    </p:spTree>
    <p:extLst>
      <p:ext uri="{BB962C8B-B14F-4D97-AF65-F5344CB8AC3E}">
        <p14:creationId xmlns:p14="http://schemas.microsoft.com/office/powerpoint/2010/main" val="25957721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nodePh="1">
                                  <p:stCondLst>
                                    <p:cond delay="0"/>
                                  </p:stCondLst>
                                  <p:endCondLst>
                                    <p:cond evt="begin" delay="0">
                                      <p:tn val="11"/>
                                    </p:cond>
                                  </p:end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circle(in)">
                                      <p:cBhvr>
                                        <p:cTn id="2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effectLst>
                  <a:outerShdw blurRad="38100" dist="38100" dir="2700000" algn="tl">
                    <a:srgbClr val="000000">
                      <a:alpha val="43137"/>
                    </a:srgbClr>
                  </a:outerShdw>
                </a:effectLst>
                <a:latin typeface="Bookman Old Style" panose="02050604050505020204" pitchFamily="18" charset="0"/>
              </a:rPr>
              <a:t>THE END</a:t>
            </a:r>
            <a:endParaRPr lang="en-US" b="1" dirty="0">
              <a:effectLst>
                <a:outerShdw blurRad="38100" dist="38100" dir="2700000" algn="tl">
                  <a:srgbClr val="000000">
                    <a:alpha val="43137"/>
                  </a:srgbClr>
                </a:outerShdw>
              </a:effectLst>
              <a:latin typeface="Bookman Old Style" panose="02050604050505020204" pitchFamily="18" charset="0"/>
            </a:endParaRPr>
          </a:p>
        </p:txBody>
      </p:sp>
      <p:sp>
        <p:nvSpPr>
          <p:cNvPr id="3" name="Content Placeholder 2"/>
          <p:cNvSpPr>
            <a:spLocks noGrp="1"/>
          </p:cNvSpPr>
          <p:nvPr>
            <p:ph idx="1"/>
          </p:nvPr>
        </p:nvSpPr>
        <p:spPr/>
        <p:txBody>
          <a:bodyPr>
            <a:normAutofit/>
          </a:bodyPr>
          <a:lstStyle/>
          <a:p>
            <a:pPr algn="ctr"/>
            <a:r>
              <a:rPr lang="en-US" sz="3200" dirty="0" smtClean="0">
                <a:latin typeface="Bookman Old Style" panose="02050604050505020204" pitchFamily="18" charset="0"/>
              </a:rPr>
              <a:t>Thank you for your attention</a:t>
            </a:r>
            <a:endParaRPr lang="en-US" sz="3200" dirty="0">
              <a:latin typeface="Bookman Old Style" panose="02050604050505020204" pitchFamily="18" charset="0"/>
            </a:endParaRPr>
          </a:p>
        </p:txBody>
      </p:sp>
    </p:spTree>
    <p:extLst>
      <p:ext uri="{BB962C8B-B14F-4D97-AF65-F5344CB8AC3E}">
        <p14:creationId xmlns:p14="http://schemas.microsoft.com/office/powerpoint/2010/main" val="1890503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326</TotalTime>
  <Words>1810</Words>
  <Application>Microsoft Office PowerPoint</Application>
  <PresentationFormat>Widescreen</PresentationFormat>
  <Paragraphs>141</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Bookman Old Style</vt:lpstr>
      <vt:lpstr>Calibri</vt:lpstr>
      <vt:lpstr>Calibri Light</vt:lpstr>
      <vt:lpstr>Wingdings</vt:lpstr>
      <vt:lpstr>Office Theme</vt:lpstr>
      <vt:lpstr>BEEKEEPING</vt:lpstr>
      <vt:lpstr>CONTENT</vt:lpstr>
      <vt:lpstr>DEFINITION</vt:lpstr>
      <vt:lpstr>BRIEF HISTORY OF BEEKEEPING ZAMBIA</vt:lpstr>
      <vt:lpstr>IMPORTANCE OF BEEKEEPING</vt:lpstr>
      <vt:lpstr>IMPORTANCE OF BEEKEEPING CONT’</vt:lpstr>
      <vt:lpstr>IMPORTANCE OF BEEKEEPING CONT’</vt:lpstr>
      <vt:lpstr>IMPORTANCE OF BEEKEEPING CONT’</vt:lpstr>
      <vt:lpstr>IMPORTANCE OF BEEKEEPING CONT’</vt:lpstr>
      <vt:lpstr>ANY QUESTIONS</vt:lpstr>
      <vt:lpstr>BIOLOGY AND ECOLOGY OF HONEY BEE</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BIOLOGY AND ECOLOGY OF HONEY BEE CONT’</vt:lpstr>
      <vt:lpstr>THE END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Beekeeping</dc:title>
  <dc:creator>Ariella</dc:creator>
  <cp:lastModifiedBy>Edgar Bowa</cp:lastModifiedBy>
  <cp:revision>46</cp:revision>
  <dcterms:created xsi:type="dcterms:W3CDTF">2025-03-09T16:02:37Z</dcterms:created>
  <dcterms:modified xsi:type="dcterms:W3CDTF">2025-03-16T15:11:01Z</dcterms:modified>
</cp:coreProperties>
</file>