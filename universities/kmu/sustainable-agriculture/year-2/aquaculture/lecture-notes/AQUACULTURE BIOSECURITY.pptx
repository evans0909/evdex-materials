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85" r:id="rId5"/>
    <p:sldId id="262" r:id="rId6"/>
    <p:sldId id="295" r:id="rId7"/>
    <p:sldId id="296" r:id="rId8"/>
    <p:sldId id="297" r:id="rId9"/>
    <p:sldId id="265" r:id="rId10"/>
    <p:sldId id="298" r:id="rId11"/>
    <p:sldId id="259" r:id="rId12"/>
    <p:sldId id="270" r:id="rId13"/>
    <p:sldId id="269" r:id="rId14"/>
    <p:sldId id="299" r:id="rId15"/>
    <p:sldId id="301" r:id="rId16"/>
    <p:sldId id="286" r:id="rId17"/>
    <p:sldId id="272" r:id="rId18"/>
    <p:sldId id="273" r:id="rId19"/>
    <p:sldId id="274" r:id="rId20"/>
    <p:sldId id="275" r:id="rId21"/>
    <p:sldId id="276" r:id="rId22"/>
    <p:sldId id="277" r:id="rId23"/>
    <p:sldId id="290" r:id="rId24"/>
    <p:sldId id="278" r:id="rId25"/>
    <p:sldId id="279" r:id="rId26"/>
    <p:sldId id="280" r:id="rId27"/>
    <p:sldId id="281" r:id="rId28"/>
    <p:sldId id="282" r:id="rId29"/>
    <p:sldId id="283" r:id="rId30"/>
    <p:sldId id="287" r:id="rId31"/>
    <p:sldId id="284" r:id="rId32"/>
    <p:sldId id="288" r:id="rId33"/>
    <p:sldId id="294" r:id="rId34"/>
    <p:sldId id="289" r:id="rId35"/>
    <p:sldId id="271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Z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8063C-9E9C-F03B-4FD8-78147BD78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913BF-B052-3FD5-DB96-FD04A3000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78700-6AA4-D9C5-5576-09C4AB4D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B05DB-8FE5-E9F6-5450-719C567FA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328CD-0D64-B581-82C4-AF76AE1D4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73976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82E38-842F-65FB-F744-C94D5E17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AA70-C018-8B9A-4403-2A208E2E9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8B48B-0E83-D9F9-7D94-F841176C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A91E4-9F47-8BB1-FE4A-0A824186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AA34F-EA89-7E34-261A-C3563EBD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586502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A73B-463E-EF94-6FA8-4917682A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3B26F-7FA7-7808-789A-AF13DA82F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7C1CC-13FE-E4E7-A0FD-793CCCA9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0378-29C9-0555-73D2-4FD7B71F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FF520-665A-32FB-F299-0496307AD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097012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C11C2-41B7-3CA7-C27E-BB119A3A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99EEE-0D24-881C-17E8-F1E3494E9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041C8-D1CE-4CA7-96B3-B8FA15C0C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25BBE-ED16-02B8-A47A-8232D38FD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F0117-AE68-56DF-F8C4-CD09F787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7F2D2-1ED9-CD37-2198-FEFC68D6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227626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312C-85BA-48F9-77DD-A01D6CAFA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2E5DA-51F1-A322-E313-0B911882F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949C0-1375-E444-C96C-BB5EFAFDF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35709-7B01-6178-097C-3D58B834A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BFC11-6D9E-1C86-F249-8AE62CA7D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B4FBB2-3A1F-2F5C-420A-53D7EA0E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D7653F-F5E5-8922-3EAE-E433716D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3229E-B2FD-4207-69E8-C2449FD7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12036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A6F1E-F784-0B1C-25AB-E7797B7B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8688D-7619-4A4B-1A5C-ED29D4D1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6367C-2974-B87E-D644-B9D8716D4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D434A3-90EB-B123-EF55-3E36DD3DF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26073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03B67D-010A-B8DB-6814-C1E9695D9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213A4-B2B3-7E7A-E7A8-517A7CB6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5C0BB-F468-F22D-51E3-61A6FE87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75410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8029-3FFE-C401-C688-0BF539C9A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58D92-6E9F-BE82-AE49-1FEC0097C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432FA-D00D-8F9B-F338-9AC372ECD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2A8BE-C368-2776-F708-989A47E9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A21CF-5487-3493-399F-B001C386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D5CBA-C85B-4E0B-5149-EC119119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08157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C1C2-DDE1-4489-5C6B-5EBDDDF6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43128-AD40-3253-F063-E9C4ACAB3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9DD88-D336-D7E0-121A-023237D1F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A7708-E5D9-99D9-7F97-DAC4A58B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876E6-C22B-956B-6428-BD1C0C08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93C67-2214-A3CC-C96D-A46C1EC2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9709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077D-7F7B-99CA-DC55-D5266010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34697-91F6-3CAB-60ED-1B298037D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3FEFD-4113-706E-0733-DE880BA0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E6136-896B-3128-FB9A-8A52F5CE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5BC44-CE32-9688-FEB1-1C7C67B0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097895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D242A3-D02E-CC08-21B3-1124687EF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B35A6-E26C-BD57-5F59-EE8EC3FC7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5F19E-B226-439F-AC9F-F2315955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61DC4-7200-6B70-7A47-C1C9CD12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63522-E79C-5E2F-8C9D-0B521B99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63787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640F39-6CBA-A8AF-0374-D762DFD1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860B1-5353-6770-D3D5-B92A8BF00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C2325-9ABE-0790-7370-C598D6B74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D4975-2E9E-4B8B-ABE6-C9AE41610E9A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71247-8239-3C3E-6A85-9C8832D78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98D26-1CC0-C6FD-85F1-B09636EF7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BE7E8-0B65-4EFE-977D-927D6B10D561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14281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Z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BF2F-F432-9B3A-BB67-82E729DA5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4297"/>
            <a:ext cx="9144000" cy="1071716"/>
          </a:xfrm>
        </p:spPr>
        <p:txBody>
          <a:bodyPr/>
          <a:lstStyle/>
          <a:p>
            <a:r>
              <a:rPr lang="en-GB" dirty="0"/>
              <a:t>AQUACULTURE BIOSECURITY</a:t>
            </a:r>
            <a:endParaRPr lang="en-Z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42F5A-8137-D328-B470-1BBA79C74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5174" y="486794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Arial Narrow" panose="020B0606020202030204" pitchFamily="34" charset="0"/>
              </a:rPr>
              <a:t>Joseph Mphande</a:t>
            </a:r>
          </a:p>
          <a:p>
            <a:r>
              <a:rPr lang="en-GB" dirty="0">
                <a:latin typeface="Arial Narrow" panose="020B0606020202030204" pitchFamily="34" charset="0"/>
              </a:rPr>
              <a:t>MSc Sustainable Aquaculture –University of Stirling, UK</a:t>
            </a:r>
          </a:p>
          <a:p>
            <a:r>
              <a:rPr lang="en-GB" dirty="0">
                <a:latin typeface="Arial Narrow" panose="020B0606020202030204" pitchFamily="34" charset="0"/>
              </a:rPr>
              <a:t>MSc  -Aquaculture and Fisheries Science-LUANAR, Malawi.</a:t>
            </a:r>
          </a:p>
          <a:p>
            <a:r>
              <a:rPr lang="en-GB" b="1" dirty="0">
                <a:latin typeface="Arial Narrow" panose="020B0606020202030204" pitchFamily="34" charset="0"/>
              </a:rPr>
              <a:t>Email: josephmphande90@gmail.com</a:t>
            </a:r>
            <a:endParaRPr lang="en-ZM" b="1" dirty="0">
              <a:latin typeface="Arial Narrow" panose="020B0606020202030204" pitchFamily="34" charset="0"/>
            </a:endParaRPr>
          </a:p>
          <a:p>
            <a:endParaRPr lang="en-ZM" dirty="0"/>
          </a:p>
        </p:txBody>
      </p:sp>
      <p:pic>
        <p:nvPicPr>
          <p:cNvPr id="1026" name="Picture 2" descr="Aquaculture Biosecurity - YouTube">
            <a:extLst>
              <a:ext uri="{FF2B5EF4-FFF2-40B4-BE49-F238E27FC236}">
                <a16:creationId xmlns:a16="http://schemas.microsoft.com/office/drawing/2014/main" id="{AC9DEDB4-D1E0-B005-3BAB-71C3A4969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916" y="1430952"/>
            <a:ext cx="4815898" cy="3200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038ED3-6399-973D-BEBC-80D7186AC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90" y="1464611"/>
            <a:ext cx="5708636" cy="316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953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221D-D368-2178-878C-37A424EE3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INTRODUCTION 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BC5FE-690C-5AFA-1468-8ADE976F3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4231"/>
            <a:ext cx="7342239" cy="576170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b="1" dirty="0">
                <a:latin typeface="Arial Narrow" panose="020B0606020202030204" pitchFamily="34" charset="0"/>
              </a:rPr>
              <a:t>WHAT IS BIOSECURITY?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dirty="0">
                <a:latin typeface="Arial Narrow" panose="020B0606020202030204" pitchFamily="34" charset="0"/>
              </a:rPr>
              <a:t>The term biosecurity first referred to biological weapons and bio-terrorism.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dirty="0">
                <a:latin typeface="Arial Narrow" panose="020B0606020202030204" pitchFamily="34" charset="0"/>
              </a:rPr>
              <a:t>Originally used in reference to the management of biological weapons and bio-terrorism, the term biosecurity was first used in the </a:t>
            </a:r>
            <a:r>
              <a:rPr lang="en-GB" sz="2400" b="1" dirty="0">
                <a:latin typeface="Arial Narrow" panose="020B0606020202030204" pitchFamily="34" charset="0"/>
              </a:rPr>
              <a:t>agricultural sector </a:t>
            </a:r>
            <a:r>
              <a:rPr lang="en-GB" sz="2400" dirty="0">
                <a:latin typeface="Arial Narrow" panose="020B0606020202030204" pitchFamily="34" charset="0"/>
              </a:rPr>
              <a:t>in the 1980s as </a:t>
            </a:r>
            <a:r>
              <a:rPr lang="en-GB" sz="2400" b="1" dirty="0">
                <a:latin typeface="Arial Narrow" panose="020B0606020202030204" pitchFamily="34" charset="0"/>
              </a:rPr>
              <a:t>“the sum of risk management practices in the defence against biological threats”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GB" sz="240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ZM" sz="2400" dirty="0">
              <a:latin typeface="Arial Narrow" panose="020B0606020202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39167F-D496-09A0-E8FD-662E70F3B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179" y="1193157"/>
            <a:ext cx="3471685" cy="496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19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221D-D368-2178-878C-37A424EE3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INTRODUCTION 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BC5FE-690C-5AFA-1468-8ADE976F3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214" y="924232"/>
            <a:ext cx="7332406" cy="576170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b="1" dirty="0">
                <a:latin typeface="Arial Narrow" panose="020B0606020202030204" pitchFamily="34" charset="0"/>
              </a:rPr>
              <a:t>WHAT IS BIOSECURITY?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Defined as “a set of management and physical measures designed to mitigate the risk of introduction of pathogenic agents into, or spread within, or release from, aquatic animal production”.</a:t>
            </a:r>
            <a:endParaRPr lang="en-GB" sz="240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ZM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413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221D-D368-2178-878C-37A424EE3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INTRODUCTION 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BC5FE-690C-5AFA-1468-8ADE976F3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4231"/>
            <a:ext cx="10832689" cy="576170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b="1" dirty="0">
                <a:latin typeface="Arial Narrow" panose="020B0606020202030204" pitchFamily="34" charset="0"/>
              </a:rPr>
              <a:t>WHAT IS BIOSECURITY?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dirty="0">
                <a:latin typeface="Arial Narrow" panose="020B0606020202030204" pitchFamily="34" charset="0"/>
              </a:rPr>
              <a:t>It is now used in diverse sectors including biological laboratory risks and infectious disease prevention in both animal and public health.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dirty="0">
                <a:latin typeface="Arial Narrow" panose="020B0606020202030204" pitchFamily="34" charset="0"/>
              </a:rPr>
              <a:t>Health management in the aquaculture sector must be applied and addressed for sustainability purposes.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GB" sz="240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ZM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217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221D-D368-2178-878C-37A424EE3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INTRODUCTION 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BC5FE-690C-5AFA-1468-8ADE976F3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7" y="1022555"/>
            <a:ext cx="11543070" cy="547032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dirty="0">
                <a:latin typeface="Arial Narrow" panose="020B0606020202030204" pitchFamily="34" charset="0"/>
              </a:rPr>
              <a:t>The definition of the biosecurity concept by the Food and Agriculture Organization (FAO) is a strategic and integrated approach that encompasses the policy and regulatory frameworks for </a:t>
            </a:r>
            <a:r>
              <a:rPr lang="en-GB" sz="2400" dirty="0" err="1">
                <a:latin typeface="Arial Narrow" panose="020B0606020202030204" pitchFamily="34" charset="0"/>
              </a:rPr>
              <a:t>analyzing</a:t>
            </a:r>
            <a:r>
              <a:rPr lang="en-GB" sz="2400" dirty="0">
                <a:latin typeface="Arial Narrow" panose="020B0606020202030204" pitchFamily="34" charset="0"/>
              </a:rPr>
              <a:t> and managing relevant risks to human, animal, and plant life and health and the environment (FAO 2007, 2020).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dirty="0">
                <a:latin typeface="Arial Narrow" panose="020B0606020202030204" pitchFamily="34" charset="0"/>
              </a:rPr>
              <a:t>The concept is applied to production sectors like; Agriculture, poultry, animal husbandry, and aquaculture industries, which need proper health management of their production system.</a:t>
            </a:r>
            <a:endParaRPr lang="en-ZM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13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F9444-560B-BC11-7554-9F3776D93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53"/>
            <a:ext cx="10515600" cy="698090"/>
          </a:xfrm>
        </p:spPr>
        <p:txBody>
          <a:bodyPr>
            <a:normAutofit/>
          </a:bodyPr>
          <a:lstStyle/>
          <a:p>
            <a:pPr algn="ctr"/>
            <a:r>
              <a:rPr lang="en-GB" sz="4400" b="1" dirty="0">
                <a:latin typeface="Arial Narrow" panose="020B0606020202030204" pitchFamily="34" charset="0"/>
              </a:rPr>
              <a:t>INTRODUCTION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A4AC8-32B6-9149-3E27-CEFF6A591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310" y="835743"/>
            <a:ext cx="5803490" cy="534122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sz="2800" dirty="0">
                <a:latin typeface="Arial Narrow" panose="020B0606020202030204" pitchFamily="34" charset="0"/>
              </a:rPr>
              <a:t>The rapid growth of the  global aquaculture industry has led to a dramatic increase in the spread of pathogens (e.g., pests, bacteria, viruses, and other parasites) by translocation of commercial aquatic organisms, such as fishes, shrimp, and </a:t>
            </a:r>
            <a:r>
              <a:rPr lang="en-GB" sz="2800" dirty="0" err="1">
                <a:latin typeface="Arial Narrow" panose="020B0606020202030204" pitchFamily="34" charset="0"/>
              </a:rPr>
              <a:t>mollusks</a:t>
            </a:r>
            <a:r>
              <a:rPr lang="en-GB" sz="2800" dirty="0">
                <a:latin typeface="Arial Narrow" panose="020B0606020202030204" pitchFamily="34" charset="0"/>
              </a:rPr>
              <a:t>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sz="2800" dirty="0">
                <a:latin typeface="Arial Narrow" panose="020B0606020202030204" pitchFamily="34" charset="0"/>
              </a:rPr>
              <a:t>These pathogens causes economic loss, reduction in profit and revenues  and poor food security systems, low market accessibility.</a:t>
            </a:r>
          </a:p>
          <a:p>
            <a:endParaRPr lang="en-Z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30102-4249-83A6-3F9A-29F9FB2FF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24232"/>
            <a:ext cx="5803490" cy="5252731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sz="2800" dirty="0">
                <a:latin typeface="Arial Narrow" panose="020B0606020202030204" pitchFamily="34" charset="0"/>
              </a:rPr>
              <a:t>Preventing and controlling pathogen spread is a major concern of aquaculture biosecurity starting from on-farm to national and international levels, particularly when unrecognized species enter transport pathways.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sz="2800" dirty="0">
                <a:latin typeface="Arial Narrow" panose="020B0606020202030204" pitchFamily="34" charset="0"/>
              </a:rPr>
              <a:t> As “</a:t>
            </a:r>
            <a:r>
              <a:rPr lang="en-GB" sz="2800" dirty="0">
                <a:solidFill>
                  <a:srgbClr val="FF0000"/>
                </a:solidFill>
                <a:latin typeface="Arial Narrow" panose="020B0606020202030204" pitchFamily="34" charset="0"/>
              </a:rPr>
              <a:t>prevention is better than cure,” </a:t>
            </a:r>
            <a:r>
              <a:rPr lang="en-GB" sz="2800" dirty="0">
                <a:latin typeface="Arial Narrow" panose="020B0606020202030204" pitchFamily="34" charset="0"/>
              </a:rPr>
              <a:t>it is advisable to focus on preventing the occurrence of pathogens in the aquaculture system.</a:t>
            </a:r>
            <a:endParaRPr lang="en-ZM" sz="2800" dirty="0">
              <a:latin typeface="Arial Narrow" panose="020B0606020202030204" pitchFamily="34" charset="0"/>
            </a:endParaRP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78910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2723-F227-7F05-8654-92DAD8DE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816077"/>
          </a:xfrm>
        </p:spPr>
        <p:txBody>
          <a:bodyPr/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PROTECT YOUR FARM IN SEVEN STEPS 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48E4-872F-5A64-1327-142785E31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3123" y="1071716"/>
            <a:ext cx="5616677" cy="559947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1.Maintain stock health and welfare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Follow good animal husbandry practices.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The benefits of good animal welfare and biosecurity go hand-in-hand and should minimise animal stress where practicable.</a:t>
            </a:r>
          </a:p>
          <a:p>
            <a:pPr marL="0" indent="0">
              <a:buNone/>
            </a:pPr>
            <a:endParaRPr lang="en-Z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F2176-BF0D-5B87-331B-935A79F2E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71716"/>
            <a:ext cx="5783826" cy="559947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600" b="1" i="0" u="none" strike="noStrike" baseline="0" dirty="0">
                <a:latin typeface="Arial Narrow" panose="020B0606020202030204" pitchFamily="34" charset="0"/>
              </a:rPr>
              <a:t>2.Be aware of the pathways of risk organisms onto, within and off your farm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b="0" i="0" u="none" strike="noStrike" baseline="0" dirty="0">
                <a:latin typeface="Arial Narrow" panose="020B0606020202030204" pitchFamily="34" charset="0"/>
              </a:rPr>
              <a:t>Make sure your staff are familiar with the pests and diseases of concern and their pathways.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b="0" i="0" u="none" strike="noStrike" baseline="0" dirty="0">
                <a:latin typeface="Arial Narrow" panose="020B0606020202030204" pitchFamily="34" charset="0"/>
              </a:rPr>
              <a:t>Carry out biosecurity induction and ongoing training to explain required behaviours and hygiene practices on your farm. 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083078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5922-6B87-2F65-F509-D9398953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646"/>
            <a:ext cx="10515600" cy="845574"/>
          </a:xfrm>
        </p:spPr>
        <p:txBody>
          <a:bodyPr/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PROTECT YOUR FARM IN SEVEN STEPS 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F5EAC-5DCA-E8EC-14CB-4EBE0F3B5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1042220"/>
            <a:ext cx="5793658" cy="54372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3.Obtain pest and disease-free stock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b="0" i="0" u="none" strike="noStrike" baseline="0" dirty="0">
                <a:latin typeface="Arial Narrow" panose="020B0606020202030204" pitchFamily="34" charset="0"/>
              </a:rPr>
              <a:t>Preferentially source stock from areas/facilities with a known health status and with a health monitoring programme.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b="0" i="0" u="none" strike="noStrike" baseline="0" dirty="0">
                <a:latin typeface="Arial Narrow" panose="020B0606020202030204" pitchFamily="34" charset="0"/>
              </a:rPr>
              <a:t>Keep records of all stock movements onto, within and off your farm so they can be traced in the event of a problem.</a:t>
            </a:r>
          </a:p>
          <a:p>
            <a:endParaRPr lang="en-Z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E38C6-FA72-386F-CF8C-7E6FED57D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042220"/>
            <a:ext cx="5793657" cy="561913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4. Keep things clean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 </a:t>
            </a: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Carry out good cleaning practices to help prevent the introduction, exacerbation and spread of pests and diseases.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All people (including workers and visitors), equipment, vehicles and vessels represent potential ways of spreading pests or diseases onto, within or off your farm.</a:t>
            </a:r>
            <a:endParaRPr lang="en-ZM" sz="2400" dirty="0"/>
          </a:p>
        </p:txBody>
      </p:sp>
    </p:spTree>
    <p:extLst>
      <p:ext uri="{BB962C8B-B14F-4D97-AF65-F5344CB8AC3E}">
        <p14:creationId xmlns:p14="http://schemas.microsoft.com/office/powerpoint/2010/main" val="210704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FC01-A1A9-3CCC-E5CB-F3B1736C1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91"/>
            <a:ext cx="10515600" cy="973394"/>
          </a:xfrm>
        </p:spPr>
        <p:txBody>
          <a:bodyPr>
            <a:normAutofit/>
          </a:bodyPr>
          <a:lstStyle/>
          <a:p>
            <a:pPr algn="ctr"/>
            <a:r>
              <a:rPr lang="en-GB" sz="3600" b="1" i="0" u="none" strike="noStrike" baseline="0" dirty="0">
                <a:latin typeface="Arial Narrow" panose="020B0606020202030204" pitchFamily="34" charset="0"/>
              </a:rPr>
              <a:t>PROTECT YOUR FARM IN SEVEN STEPS 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FB3F-3D3B-6800-874C-D8DF7D4C5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477" y="894736"/>
            <a:ext cx="8731045" cy="575187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5.Check your farm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Constant vigilance is vital for early detection of pests and diseases.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Regularly monitor your stock for signs of unusual behaviour, colourations, pests or mortalities.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Knowing what is normal will help you to recognise what isn’t.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Keep records (written, photographic) of all unusual observations. </a:t>
            </a:r>
            <a:endParaRPr lang="en-ZM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153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19104-3DBB-6BA9-72A6-352B5A5E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58860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PROTECT YOUR FARM IN SEVEN STEPS 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2204-91E6-43DE-6202-2ABF36C13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135" y="914400"/>
            <a:ext cx="5734665" cy="570270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6.Report anything unusual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Farmers are regularly in and around the aquatic environment and therefore are well placed to notice anything out of the ordinary.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If your stock appears abnormal or experiences unusual sickness or mortalities.</a:t>
            </a:r>
          </a:p>
          <a:p>
            <a:endParaRPr lang="en-Z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6D053-5AA0-7318-0BA9-76A6505D2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914400"/>
            <a:ext cx="5734665" cy="57911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7.Have a biosecurity management plan in place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A biosecurity management plan will help you to assess and prioritise the biosecurity risks relevant to your farming operation.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 Implementing good biosecurity practices will in turn help you prevent, reduce or manage those risks. </a:t>
            </a:r>
            <a:endParaRPr lang="en-ZM" sz="2400" dirty="0">
              <a:latin typeface="Arial Narrow" panose="020B0606020202030204" pitchFamily="34" charset="0"/>
            </a:endParaRP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483906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37185-6C9D-0C23-331C-819EE5FC6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006"/>
            <a:ext cx="10515600" cy="680065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MAJOR WAYS OF PATHOGEN TRANSMISSION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F4D86-3733-35AE-A205-3DFC97B69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4" y="875071"/>
            <a:ext cx="11297264" cy="578792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 Narrow" panose="020B0606020202030204" pitchFamily="34" charset="0"/>
              </a:rPr>
              <a:t>Aquaculture biosecurity can be effectively managed when there is an understating of pathways that can introduce, take away or reinfect the farm/stock (incoming, outgoing or enhancing the infection).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 Narrow" panose="020B0606020202030204" pitchFamily="34" charset="0"/>
              </a:rPr>
              <a:t>Examples of pathways include;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2400" b="1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Stock movements and containment </a:t>
            </a:r>
            <a:endParaRPr lang="de-DE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Introduction of new stock or broodstock onto your farm.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Stock movements within your farm.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Stock movements off your farm.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e-DE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Stock escapes.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ZM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06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0D9E-46A7-E750-E29F-D98086F9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151"/>
            <a:ext cx="10515600" cy="696759"/>
          </a:xfrm>
        </p:spPr>
        <p:txBody>
          <a:bodyPr/>
          <a:lstStyle/>
          <a:p>
            <a:r>
              <a:rPr lang="en-GB" sz="4400" b="1" dirty="0">
                <a:latin typeface="Arial Narrow" panose="020B0606020202030204" pitchFamily="34" charset="0"/>
              </a:rPr>
              <a:t>MAJOR WAYS OF PATHOGEN TRANSMISSION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244A-E7E6-D09C-7915-806F700895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34065"/>
            <a:ext cx="5181600" cy="524289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de-DE" sz="2400" b="1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2. Water </a:t>
            </a:r>
            <a:endParaRPr lang="de-DE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Water that can be controlled -pumped or flowed onto, within and off your farm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Uncontrolled water – farms that reside in water e.g. in lakes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Water that stock is transported in. </a:t>
            </a:r>
          </a:p>
          <a:p>
            <a:endParaRPr lang="en-Z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D9198-7C4A-9948-D8CC-E6BC9C0A6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4065"/>
            <a:ext cx="5181600" cy="524289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de-DE" sz="2400" b="1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3. Equipment </a:t>
            </a:r>
            <a:endParaRPr lang="de-DE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Nets, ropes, baskets, buoys, containers, clothing, footwear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e-DE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Vessels –  supply boats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Vehicles – transporting trucks, trailers, courier vans. 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818122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ABA9-A2EE-A92A-3F84-87ADBB0D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5"/>
            <a:ext cx="10515600" cy="804914"/>
          </a:xfrm>
        </p:spPr>
        <p:txBody>
          <a:bodyPr/>
          <a:lstStyle/>
          <a:p>
            <a:r>
              <a:rPr lang="en-GB" sz="4400" b="1" dirty="0">
                <a:latin typeface="Arial Narrow" panose="020B0606020202030204" pitchFamily="34" charset="0"/>
              </a:rPr>
              <a:t>MAJOR WAYS OF PATHOGEN TRANSMISSION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6679F-D75C-B5A9-448F-036202428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458" y="993059"/>
            <a:ext cx="5633884" cy="56767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de-DE" sz="2400" b="1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4. People </a:t>
            </a:r>
            <a:endParaRPr lang="de-DE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de-DE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Site staff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de-DE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Staff from other farms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de-DE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Visitors, contractors, couriers, suppliers.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GB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5. </a:t>
            </a:r>
            <a:r>
              <a:rPr lang="de-DE" sz="2400" b="1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Feed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de-DE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Stock feed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de-DE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Raw materials</a:t>
            </a:r>
            <a:r>
              <a:rPr lang="de-DE" sz="28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. </a:t>
            </a:r>
          </a:p>
          <a:p>
            <a:endParaRPr lang="en-Z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621A0-9792-136B-9CFE-BC0A4DA2B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56206" y="993058"/>
            <a:ext cx="4689988" cy="554539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6. </a:t>
            </a:r>
            <a:r>
              <a:rPr lang="de-DE" sz="2400" b="1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Wildlife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e-DE" sz="28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Marine mammals, birds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Vermin (rats, mice, stray or feral animals)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e-DE" sz="28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Domestic animals. 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221596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ABA9-A2EE-A92A-3F84-87ADBB0D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5"/>
            <a:ext cx="10515600" cy="804914"/>
          </a:xfrm>
        </p:spPr>
        <p:txBody>
          <a:bodyPr/>
          <a:lstStyle/>
          <a:p>
            <a:r>
              <a:rPr lang="en-GB" sz="4400" b="1" dirty="0">
                <a:latin typeface="Arial Narrow" panose="020B0606020202030204" pitchFamily="34" charset="0"/>
              </a:rPr>
              <a:t>MAJOR WAYS OF PATHOGEN TRANSMISSION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6679F-D75C-B5A9-448F-036202428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458" y="993059"/>
            <a:ext cx="5633884" cy="56767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de-DE" sz="28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. </a:t>
            </a:r>
          </a:p>
          <a:p>
            <a:endParaRPr lang="en-ZM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F0F8A1-6337-B85F-C279-E1E7F2F14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55" y="894224"/>
            <a:ext cx="5270090" cy="5545906"/>
          </a:xfrm>
          <a:prstGeom prst="rect">
            <a:avLst/>
          </a:prstGeom>
        </p:spPr>
      </p:pic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A93B6792-6B82-2C67-14A9-EB5A15DCDA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239" y="993058"/>
            <a:ext cx="5532966" cy="5447071"/>
          </a:xfrm>
        </p:spPr>
      </p:pic>
    </p:spTree>
    <p:extLst>
      <p:ext uri="{BB962C8B-B14F-4D97-AF65-F5344CB8AC3E}">
        <p14:creationId xmlns:p14="http://schemas.microsoft.com/office/powerpoint/2010/main" val="3633867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ABA9-A2EE-A92A-3F84-87ADBB0D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5"/>
            <a:ext cx="10515600" cy="804914"/>
          </a:xfrm>
        </p:spPr>
        <p:txBody>
          <a:bodyPr/>
          <a:lstStyle/>
          <a:p>
            <a:r>
              <a:rPr lang="en-GB" sz="4400" b="1" dirty="0">
                <a:latin typeface="Arial Narrow" panose="020B0606020202030204" pitchFamily="34" charset="0"/>
              </a:rPr>
              <a:t>MAJOR WAYS OF PATHOGEN TRANSMISSION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6679F-D75C-B5A9-448F-036202428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458" y="993059"/>
            <a:ext cx="5633884" cy="56767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de-DE" sz="28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. </a:t>
            </a:r>
          </a:p>
          <a:p>
            <a:endParaRPr lang="en-ZM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36192A-5825-C73D-70EE-DFA28ECEC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775" y="993059"/>
            <a:ext cx="9042399" cy="540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86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C1E2-53EC-D11D-328C-A8DABF8E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4"/>
            <a:ext cx="10515600" cy="753654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TRANSMISSION PATHWAYS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65DB4A-1390-0CC9-4E52-6B0E29827D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45805" y="892638"/>
            <a:ext cx="6037007" cy="5826378"/>
          </a:xfr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EB7494-19A0-9075-8965-EC5243B68D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26883" y="892638"/>
            <a:ext cx="5519311" cy="58263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0CE6E84-4505-63B5-0213-16FAAEACA0CC}"/>
              </a:ext>
            </a:extLst>
          </p:cNvPr>
          <p:cNvSpPr/>
          <p:nvPr/>
        </p:nvSpPr>
        <p:spPr>
          <a:xfrm>
            <a:off x="5624052" y="5584723"/>
            <a:ext cx="658760" cy="1134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270366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33D8-F9E2-549E-02BF-3F95EC9D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313"/>
            <a:ext cx="10515600" cy="726256"/>
          </a:xfrm>
        </p:spPr>
        <p:txBody>
          <a:bodyPr>
            <a:normAutofit/>
          </a:bodyPr>
          <a:lstStyle/>
          <a:p>
            <a:pPr algn="ctr"/>
            <a:r>
              <a:rPr lang="en-GB" sz="36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sz="3600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1D268-CDCA-C536-0B11-5A31429EF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032386"/>
            <a:ext cx="4847303" cy="53094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 Narrow" panose="020B0606020202030204" pitchFamily="34" charset="0"/>
              </a:rPr>
              <a:t>Developing a plan comes with having  clearer b</a:t>
            </a:r>
            <a:r>
              <a:rPr lang="en-GB" sz="2400" i="0" u="none" strike="noStrike" baseline="0" dirty="0">
                <a:latin typeface="Arial Narrow" panose="020B0606020202030204" pitchFamily="34" charset="0"/>
              </a:rPr>
              <a:t>iosecurity Management Objectives and simple  practices.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 Narrow" panose="020B0606020202030204" pitchFamily="34" charset="0"/>
              </a:rPr>
              <a:t>The following are some of the farm biosecurity plans and practices which can be executed.</a:t>
            </a:r>
            <a:endParaRPr lang="en-ZM" sz="2400" dirty="0">
              <a:latin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B78F5-19F6-2A56-1801-5A4C1A1E5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756696"/>
            <a:ext cx="4141299" cy="534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21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742335"/>
          </a:xfrm>
        </p:spPr>
        <p:txBody>
          <a:bodyPr/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4129" y="894735"/>
            <a:ext cx="5675671" cy="571254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de-DE" sz="2600" b="1" i="0" u="none" strike="noStrike" baseline="0" dirty="0">
                <a:latin typeface="Arial Narrow" panose="020B0606020202030204" pitchFamily="34" charset="0"/>
              </a:rPr>
              <a:t>1. STOCK HEALTH MANAGEMENT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GB" sz="2600" b="1" i="0" u="none" strike="noStrike" baseline="0" dirty="0">
                <a:latin typeface="Arial Narrow" panose="020B0606020202030204" pitchFamily="34" charset="0"/>
              </a:rPr>
              <a:t>Objective: </a:t>
            </a:r>
            <a:r>
              <a:rPr lang="en-GB" sz="2600" i="0" u="none" strike="noStrike" baseline="0" dirty="0">
                <a:latin typeface="Arial Narrow" panose="020B0606020202030204" pitchFamily="34" charset="0"/>
              </a:rPr>
              <a:t>Stock health should be maintained to optimum levels.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de-DE" sz="2600" b="1" dirty="0">
                <a:latin typeface="Arial Narrow" panose="020B0606020202030204" pitchFamily="34" charset="0"/>
              </a:rPr>
              <a:t>Simple p</a:t>
            </a:r>
            <a:r>
              <a:rPr lang="de-DE" sz="2600" b="1" i="0" u="none" strike="noStrike" baseline="0" dirty="0">
                <a:latin typeface="Arial Narrow" panose="020B0606020202030204" pitchFamily="34" charset="0"/>
              </a:rPr>
              <a:t>ractices.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2600" i="0" u="none" strike="noStrike" baseline="0" dirty="0">
                <a:latin typeface="Arial Narrow" panose="020B0606020202030204" pitchFamily="34" charset="0"/>
              </a:rPr>
              <a:t>Keep stock stress to a minimum.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2600" i="0" u="none" strike="noStrike" baseline="0" dirty="0">
                <a:latin typeface="Arial Narrow" panose="020B0606020202030204" pitchFamily="34" charset="0"/>
              </a:rPr>
              <a:t>Maintain optimum water quality levels.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de-DE" sz="2600" i="0" u="none" strike="noStrike" baseline="0" dirty="0">
                <a:latin typeface="Arial Narrow" panose="020B0606020202030204" pitchFamily="34" charset="0"/>
              </a:rPr>
              <a:t>Maintain appropriate stocking densities.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2600" i="0" u="none" strike="noStrike" baseline="0" dirty="0">
                <a:latin typeface="Arial Narrow" panose="020B0606020202030204" pitchFamily="34" charset="0"/>
              </a:rPr>
              <a:t>Provide appropriate diets and nutrition</a:t>
            </a:r>
            <a:r>
              <a:rPr lang="en-GB" sz="2800" i="0" u="none" strike="noStrike" baseline="0" dirty="0">
                <a:latin typeface="Arial Narrow" panose="020B0606020202030204" pitchFamily="34" charset="0"/>
              </a:rPr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800" i="0" u="none" strike="noStrike" baseline="0" dirty="0">
              <a:latin typeface="Arial Narrow" panose="020B0606020202030204" pitchFamily="34" charset="0"/>
            </a:endParaRPr>
          </a:p>
          <a:p>
            <a:endParaRPr lang="en-Z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3561"/>
            <a:ext cx="5793658" cy="564371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2400" i="0" u="none" strike="noStrike" baseline="0" dirty="0">
                <a:latin typeface="Arial Narrow" panose="020B0606020202030204" pitchFamily="34" charset="0"/>
              </a:rPr>
              <a:t>Avoid unnecessary or rough handling of stock.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2400" i="0" u="none" strike="noStrike" baseline="0" dirty="0">
                <a:latin typeface="Arial Narrow" panose="020B0606020202030204" pitchFamily="34" charset="0"/>
              </a:rPr>
              <a:t>Keep transfers within or between farms to a minimum.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de-DE" sz="2400" i="0" u="none" strike="noStrike" baseline="0" dirty="0">
                <a:latin typeface="Arial Narrow" panose="020B0606020202030204" pitchFamily="34" charset="0"/>
              </a:rPr>
              <a:t>Monitor stock frequently.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2400" i="0" u="none" strike="noStrike" baseline="0" dirty="0">
                <a:latin typeface="Arial Narrow" panose="020B0606020202030204" pitchFamily="34" charset="0"/>
              </a:rPr>
              <a:t>Remove dead or dying stock from remaining stock as soon as practicable.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Monitor and keep records of all aspects of stock health management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721019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742335"/>
          </a:xfrm>
        </p:spPr>
        <p:txBody>
          <a:bodyPr/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776748"/>
            <a:ext cx="6469625" cy="6081252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GB" sz="9600" b="1" i="0" u="none" strike="noStrike" baseline="0" dirty="0">
                <a:latin typeface="Arial Narrow" panose="020B0606020202030204" pitchFamily="34" charset="0"/>
              </a:rPr>
              <a:t>2. STOCK MOVEMENTS AND CONTAINMENT </a:t>
            </a:r>
            <a:endParaRPr lang="en-GB" sz="96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GB" sz="9600" b="0" i="0" u="none" strike="noStrike" baseline="0" dirty="0">
                <a:latin typeface="Arial Narrow" panose="020B0606020202030204" pitchFamily="34" charset="0"/>
              </a:rPr>
              <a:t>Objective: Minimise the pest and disease risk associated with stock movements onto, within and off your farm.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de-DE" sz="9600" b="1" dirty="0">
                <a:latin typeface="Arial Narrow" panose="020B0606020202030204" pitchFamily="34" charset="0"/>
              </a:rPr>
              <a:t>Simple p</a:t>
            </a:r>
            <a:r>
              <a:rPr lang="de-DE" sz="9600" b="1" i="0" u="none" strike="noStrike" baseline="0" dirty="0">
                <a:latin typeface="Arial Narrow" panose="020B0606020202030204" pitchFamily="34" charset="0"/>
              </a:rPr>
              <a:t>ractices</a:t>
            </a:r>
            <a:endParaRPr lang="de-DE" sz="96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sz="9600" b="0" i="0" u="none" strike="noStrike" baseline="0" dirty="0">
                <a:latin typeface="Arial Narrow" panose="020B0606020202030204" pitchFamily="34" charset="0"/>
              </a:rPr>
              <a:t>Only stock of known health status should be introduced onto your farm.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sz="9600" b="0" i="0" u="none" strike="noStrike" baseline="0" dirty="0">
                <a:latin typeface="Arial Narrow" panose="020B0606020202030204" pitchFamily="34" charset="0"/>
              </a:rPr>
              <a:t>Only move stock off your farm to locations of equal or lesser health status than the current location.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de-DE" sz="96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Prevent stock escapes.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GB" sz="2600" b="0" i="0" u="none" strike="noStrike" baseline="0" dirty="0">
              <a:latin typeface="Arial Narrow" panose="020B060602020203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GB" sz="2800" i="0" u="none" strike="noStrike" baseline="0" dirty="0">
              <a:latin typeface="Arial Narrow" panose="020B0606020202030204" pitchFamily="34" charset="0"/>
            </a:endParaRPr>
          </a:p>
          <a:p>
            <a:pPr>
              <a:lnSpc>
                <a:spcPct val="120000"/>
              </a:lnSpc>
            </a:pPr>
            <a:endParaRPr lang="en-Z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257" y="776748"/>
            <a:ext cx="5309419" cy="6081252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sz="9600" b="0" i="0" u="none" strike="noStrike" baseline="0" dirty="0">
                <a:latin typeface="Arial Narrow" panose="020B0606020202030204" pitchFamily="34" charset="0"/>
              </a:rPr>
              <a:t>If stock of unknown health status is to be introduced (e.g. wild broodstock, seed stock), this stock should be isolated in separate production units or dedicated quarantine facilities (e.g. land-based farms)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sz="96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Precautions should be undertaken to prevent the within farm spread of pests, disease until such situations are resolved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sz="96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Keep accurate records of all stock movements onto, within or off your farm.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GB" sz="2800" b="0" i="0" u="none" strike="noStrike" baseline="0" dirty="0">
                <a:latin typeface="Arial Narrow" panose="020B0606020202030204" pitchFamily="34" charset="0"/>
              </a:rPr>
              <a:t>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727406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742335"/>
          </a:xfrm>
        </p:spPr>
        <p:txBody>
          <a:bodyPr/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776748"/>
            <a:ext cx="6469625" cy="608125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b="1" dirty="0">
                <a:latin typeface="Arial Narrow" panose="020B0606020202030204" pitchFamily="34" charset="0"/>
              </a:rPr>
              <a:t>3.</a:t>
            </a: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 Water sources (land-based farms) </a:t>
            </a:r>
            <a:endParaRPr lang="en-GB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Objective: Minimise the risks of pests and disease entry and spread associated with incoming water.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sz="2400" b="1" dirty="0">
                <a:latin typeface="Arial Narrow" panose="020B0606020202030204" pitchFamily="34" charset="0"/>
              </a:rPr>
              <a:t>Simple</a:t>
            </a: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 practices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The water supply should be assessed for biosecurity risk and appropriate action(s) taken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Locate water intake and outflow pipes to avoid cross-contamination.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GB" sz="2400" b="0" i="0" u="none" strike="noStrike" baseline="0" dirty="0">
              <a:latin typeface="Arial Narrow" panose="020B0606020202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GB" sz="240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257" y="776748"/>
            <a:ext cx="5309419" cy="5840362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2800" b="0" i="0" u="none" strike="noStrike" baseline="0" dirty="0">
                <a:latin typeface="Arial Narrow" panose="020B0606020202030204" pitchFamily="34" charset="0"/>
              </a:rPr>
              <a:t> 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Treat intake water to an acceptable level so as to minimise the risk of pests and diseases entering your farm (screening, filtration, ultra-violet light, ozone).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Install screens on intake pipes to prevent entry of undesirable organisms.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Maintain good water quality at all times </a:t>
            </a: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361995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742335"/>
          </a:xfrm>
        </p:spPr>
        <p:txBody>
          <a:bodyPr/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609600"/>
            <a:ext cx="6469625" cy="62484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 4. EQUIPMENT, VEHICLES AND VESSELS </a:t>
            </a:r>
            <a:endParaRPr lang="en-GB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Objective: Minimise the risk of equipment, vehicles and vessels introducing and spreading pests and diseases onto, within and off your farm.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sz="2400" b="1" dirty="0">
                <a:latin typeface="Arial Narrow" panose="020B0606020202030204" pitchFamily="34" charset="0"/>
              </a:rPr>
              <a:t>Simple</a:t>
            </a: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 practices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Assess all equipment, vehicles and vessels entering the farm for biosecurity risk and ensure that risk is managed by taking appropriate action(s)</a:t>
            </a:r>
          </a:p>
          <a:p>
            <a:pPr algn="just">
              <a:lnSpc>
                <a:spcPct val="150000"/>
              </a:lnSpc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Farms should have dedicated and well-designed delivery and loading areas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240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257" y="776748"/>
            <a:ext cx="5309419" cy="584036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Standard operating procedures and dedicated infrastructure should be in place for cleaning and disinfection of equipment, vehicles and vessels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GB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064132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742335"/>
          </a:xfrm>
        </p:spPr>
        <p:txBody>
          <a:bodyPr/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609600"/>
            <a:ext cx="5997677" cy="6096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5. PEOPLE MANAGEMENT: Staff and visitors </a:t>
            </a:r>
            <a:endParaRPr lang="en-GB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Objective: Minimise the risk of staff and visitors transferring pests and diseases onto, within and off your farm.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e-DE" sz="2400" b="1" dirty="0">
                <a:latin typeface="Arial Narrow" panose="020B0606020202030204" pitchFamily="34" charset="0"/>
              </a:rPr>
              <a:t>Simple</a:t>
            </a: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 practices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Assess all staff and visitor access to farms for biosecurity risk and ensure that risk is managed by taking appropriate action(s).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Refusal of entry should be considered for high risk visitors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240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819" y="776748"/>
            <a:ext cx="5869857" cy="5840362"/>
          </a:xfrm>
        </p:spPr>
        <p:txBody>
          <a:bodyPr>
            <a:normAutofit fontScale="62500" lnSpcReduction="20000"/>
          </a:bodyPr>
          <a:lstStyle/>
          <a:p>
            <a:pPr algn="l"/>
            <a:endParaRPr lang="en-ZM" sz="1800" b="0" i="0" u="none" strike="noStrike" baseline="0" dirty="0">
              <a:solidFill>
                <a:srgbClr val="000000"/>
              </a:solidFill>
              <a:latin typeface="DIN"/>
            </a:endParaRPr>
          </a:p>
          <a:p>
            <a:pPr algn="just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GB" sz="3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Manage farm access (e.g. access controls and signage) </a:t>
            </a:r>
          </a:p>
          <a:p>
            <a:pPr algn="just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GB" sz="3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All visitors should be briefed regarding on-farm biosecurity </a:t>
            </a:r>
            <a:endParaRPr lang="en-ZM" sz="3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GB" sz="3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Restrict staff and visitor access to sensitive areas.</a:t>
            </a:r>
            <a:endParaRPr lang="en-ZM" sz="3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GB" sz="3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Keep records of all visitors to your farm and education and staff training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792283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742335"/>
          </a:xfrm>
        </p:spPr>
        <p:txBody>
          <a:bodyPr/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609600"/>
            <a:ext cx="5997677" cy="6096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240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819" y="776748"/>
            <a:ext cx="5869857" cy="5840362"/>
          </a:xfrm>
        </p:spPr>
        <p:txBody>
          <a:bodyPr>
            <a:normAutofit/>
          </a:bodyPr>
          <a:lstStyle/>
          <a:p>
            <a:pPr algn="l"/>
            <a:endParaRPr lang="en-ZM" sz="1800" b="0" i="0" u="none" strike="noStrike" baseline="0" dirty="0">
              <a:solidFill>
                <a:srgbClr val="000000"/>
              </a:solidFill>
              <a:latin typeface="DIN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4BDF61-E499-C6EE-0A2C-51FB4EFD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9" y="800504"/>
            <a:ext cx="3466844" cy="27784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9EE0E7-5E4B-2B1E-49EC-D7333E122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94" y="4298225"/>
            <a:ext cx="3297009" cy="21517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6FF7B8-4C1B-C923-C44A-85D1E1141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005" y="776748"/>
            <a:ext cx="2453853" cy="42828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E04EF8-D4D3-DA14-063A-EC9979805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184" y="894735"/>
            <a:ext cx="5270821" cy="526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324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742335"/>
          </a:xfrm>
        </p:spPr>
        <p:txBody>
          <a:bodyPr/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609600"/>
            <a:ext cx="5997677" cy="6096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 </a:t>
            </a: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6. FEEDS AND FEEDING 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Objective: Minimise the risk of feed exacerbating or transferring pests and diseases onto, within and off your farm.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sz="2400" b="1" dirty="0">
                <a:latin typeface="Arial Narrow" panose="020B0606020202030204" pitchFamily="34" charset="0"/>
              </a:rPr>
              <a:t>Simple</a:t>
            </a: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 practices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All feeds entering the farm should be assessed for biosecurity risk and appropriate action(s) taken to address identified risk(s)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Source feeds from reputable suppliers to ensure they provide assurances of quality and content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2400" i="0" u="none" strike="noStrike" baseline="0" dirty="0">
              <a:latin typeface="Arial Narrow" panose="020B0606020202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819" y="776748"/>
            <a:ext cx="5869857" cy="584036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Ensure any feed containing aquatic organisms is adequately treated to ensure safe product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Store feeds in designated areas (e.g. clean and dry) to avoid contamination and reduced feed quality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Regularly inspect feed to check for the presence of mould, vermin, and other undesirable organisms.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097925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2434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609600"/>
            <a:ext cx="5997677" cy="6096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7. WILDLIFE, SCAVENGERS AND VERMIN </a:t>
            </a:r>
            <a:endParaRPr lang="en-GB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Objective: Minimise the risk of wildlife, scavengers, vermin, and pets transferring pests and disease onto, within or from the farm.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sz="2400" b="1" dirty="0">
                <a:latin typeface="Arial Narrow" panose="020B0606020202030204" pitchFamily="34" charset="0"/>
              </a:rPr>
              <a:t>Simple</a:t>
            </a: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 practices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Control or exclude predators, wildlife, vermin and other organisms (e.g. aquatic life) from land-based systems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2400" i="0" u="none" strike="noStrike" baseline="0" dirty="0">
              <a:latin typeface="Arial Narrow" panose="020B0606020202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819" y="776748"/>
            <a:ext cx="5869857" cy="5840362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Control, exclude or prevent aggregations of predators, wildlife, vermin and other organisms (e.g. aquatic life) from open water systems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Regularly inspect farms for biosecurity breaches or signs of potential breaches and remedy as required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Keep records of any presence of wildlife and vermin, or biosecurity breaches and any preventive or corrective actions taken.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1187730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2434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609600"/>
            <a:ext cx="5997677" cy="6096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8.RECORD KEEPING 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Objective: Record all information necessary to trace and determine the origin of pest or disease in the event of an outbreak.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sz="2400" b="1" dirty="0">
                <a:latin typeface="Arial Narrow" panose="020B0606020202030204" pitchFamily="34" charset="0"/>
              </a:rPr>
              <a:t>Simple </a:t>
            </a: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practices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Maintain records to trace stock, and their associated health status, onto, within or from the farm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Maintain records for all aspects of the biosecurity plan.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2400" i="0" u="none" strike="noStrike" baseline="0" dirty="0">
              <a:latin typeface="Arial Narrow" panose="020B0606020202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819" y="776748"/>
            <a:ext cx="5869857" cy="584036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31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Other records that should be maintained include, but are not limited to: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1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all stock transfer on to, within, and off your farm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31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stock health, purchases and sales, monitoring and surveillance activities, testing and declarations, stocking densities, stock performance and feed schedules.</a:t>
            </a:r>
          </a:p>
          <a:p>
            <a:endParaRPr lang="en-ZM" sz="1800" b="0" i="0" u="none" strike="noStrike" baseline="0" dirty="0">
              <a:solidFill>
                <a:srgbClr val="000000"/>
              </a:solidFill>
              <a:latin typeface="DIN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949890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2434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609600"/>
            <a:ext cx="5997677" cy="6096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 9.MONITORING/SURVEILLANCE 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Objective: Minimise the biosecurity risk to a farm by implementing appropriate monitoring and surveillance practices.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sz="2400" b="1" dirty="0">
                <a:latin typeface="Arial Narrow" panose="020B0606020202030204" pitchFamily="34" charset="0"/>
              </a:rPr>
              <a:t>Simple</a:t>
            </a: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 practices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Regularly inspect and monitor all of your stock and record abnormalities and mortalities (including early signs of stress, behavioural changes or presence of pests)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2400" i="0" u="none" strike="noStrike" baseline="0" dirty="0">
              <a:latin typeface="Arial Narrow" panose="020B0606020202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819" y="776748"/>
            <a:ext cx="5869857" cy="584036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Investigate suspected health problems in your stock.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Observe and record abnormalities and mortalities in wild stocks around your farm.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Maintain access to qualified veterinarian or aquatic health professional who can provide advice and examine stock at short notice.</a:t>
            </a:r>
          </a:p>
          <a:p>
            <a:endParaRPr lang="en-ZM" sz="1800" b="0" i="0" u="none" strike="noStrike" baseline="0" dirty="0">
              <a:solidFill>
                <a:srgbClr val="000000"/>
              </a:solidFill>
              <a:latin typeface="DIN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93660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2434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609600"/>
            <a:ext cx="5997677" cy="6096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b="1" i="0" u="none" strike="noStrike" baseline="0" dirty="0">
                <a:latin typeface="Arial Narrow" panose="020B0606020202030204" pitchFamily="34" charset="0"/>
              </a:rPr>
              <a:t>10. WASTE (OTHER THAN WATER) </a:t>
            </a:r>
            <a:endParaRPr lang="en-GB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Objective: Minimise the pest and disease risks associated with removal and disposal of farm waste.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b="1" dirty="0">
                <a:latin typeface="Arial Narrow" panose="020B0606020202030204" pitchFamily="34" charset="0"/>
              </a:rPr>
              <a:t>Simple</a:t>
            </a: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 practices </a:t>
            </a:r>
          </a:p>
          <a:p>
            <a:pPr algn="just">
              <a:lnSpc>
                <a:spcPct val="150000"/>
              </a:lnSpc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All waste should be assessed for biosecurity risk to the farm and environment and appropriate action(s) taken to address identified risks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2400" i="0" u="none" strike="noStrike" baseline="0" dirty="0">
              <a:latin typeface="Arial Narrow" panose="020B0606020202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819" y="776748"/>
            <a:ext cx="5869857" cy="584036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Containment, handling and disposal of waste should be conducted in a </a:t>
            </a:r>
            <a:r>
              <a:rPr lang="en-GB" b="0" i="0" u="none" strike="noStrike" baseline="0" dirty="0" err="1">
                <a:solidFill>
                  <a:srgbClr val="000000"/>
                </a:solidFill>
                <a:latin typeface="Arial Narrow" panose="020B0606020202030204" pitchFamily="34" charset="0"/>
              </a:rPr>
              <a:t>biosecure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 manner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Designate waste holding areas away from production or feed storage areas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Contain, handle and dispose of waste in a </a:t>
            </a:r>
            <a:r>
              <a:rPr lang="en-GB" b="0" i="0" u="none" strike="noStrike" baseline="0" dirty="0" err="1">
                <a:solidFill>
                  <a:srgbClr val="000000"/>
                </a:solidFill>
                <a:latin typeface="Arial Narrow" panose="020B0606020202030204" pitchFamily="34" charset="0"/>
              </a:rPr>
              <a:t>biosecure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 manner 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Disposal of waste should be to an approved waste site or waste management company.</a:t>
            </a:r>
          </a:p>
          <a:p>
            <a:endParaRPr lang="en-ZM" sz="1800" b="0" i="0" u="none" strike="noStrike" baseline="0" dirty="0">
              <a:solidFill>
                <a:srgbClr val="000000"/>
              </a:solidFill>
              <a:latin typeface="DIN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160562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2434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COMING UP WITH A BIOSECURITY PLAN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609600"/>
            <a:ext cx="5997677" cy="6096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11. AUDITING 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Objective: To ensure your farm biosecurity plan continues to address biosecurity risks effectively and efficiently.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sz="2400" b="1" dirty="0">
                <a:latin typeface="Arial Narrow" panose="020B0606020202030204" pitchFamily="34" charset="0"/>
              </a:rPr>
              <a:t>Simple </a:t>
            </a: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practices</a:t>
            </a:r>
            <a:endParaRPr lang="de-DE" sz="24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Have audits conducted of on-farm biosecurity plans and their implementation at regular prescribed intervals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2400" i="0" u="none" strike="noStrike" baseline="0" dirty="0">
              <a:latin typeface="Arial Narrow" panose="020B0606020202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819" y="776748"/>
            <a:ext cx="5869857" cy="5840362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sz="3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Farms should have a veterinary health plan (VHP), which includes a biosecurity plan that sets out biosecurity protocols, preventive measures, treatments and contingencies.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sz="3400" b="0" i="0" u="none" strike="noStrike" baseline="0" dirty="0">
                <a:solidFill>
                  <a:srgbClr val="000000"/>
                </a:solidFill>
                <a:latin typeface="Arial Narrow" panose="020B0606020202030204" pitchFamily="34" charset="0"/>
              </a:rPr>
              <a:t>Your farm biosecurity plan should include a schedule for routine review and identify any triggers for extraordinary review.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3600" b="0" i="0" u="none" strike="noStrike" baseline="0" dirty="0">
                <a:latin typeface="Arial Narrow" panose="020B0606020202030204" pitchFamily="34" charset="0"/>
              </a:rPr>
              <a:t> </a:t>
            </a:r>
          </a:p>
          <a:p>
            <a:endParaRPr lang="en-ZM" sz="1800" b="0" i="0" u="none" strike="noStrike" baseline="0" dirty="0">
              <a:solidFill>
                <a:srgbClr val="000000"/>
              </a:solidFill>
              <a:latin typeface="DIN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248433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2EA74-9BC0-4360-2DC6-EDE61583F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294968"/>
            <a:ext cx="11107144" cy="616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64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24348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Arial Narrow" panose="020B0606020202030204" pitchFamily="34" charset="0"/>
              </a:rPr>
              <a:t>SOME BENEFITS OF</a:t>
            </a:r>
            <a:r>
              <a:rPr lang="en-GB" sz="4400" b="1" i="0" u="none" strike="noStrike" baseline="0" dirty="0">
                <a:latin typeface="Arial Narrow" panose="020B0606020202030204" pitchFamily="34" charset="0"/>
              </a:rPr>
              <a:t> BIOSECURITY 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865238"/>
            <a:ext cx="5997677" cy="584036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i="0" u="none" strike="noStrike" baseline="0" dirty="0">
                <a:latin typeface="Arial Narrow" panose="020B0606020202030204" pitchFamily="34" charset="0"/>
              </a:rPr>
              <a:t>Improve market access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i="0" u="none" strike="noStrike" baseline="0" dirty="0">
                <a:latin typeface="Arial Narrow" panose="020B0606020202030204" pitchFamily="34" charset="0"/>
              </a:rPr>
              <a:t>Increase productivity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i="0" u="none" strike="noStrike" baseline="0" dirty="0">
                <a:latin typeface="Arial Narrow" panose="020B0606020202030204" pitchFamily="34" charset="0"/>
              </a:rPr>
              <a:t>Reduction in production costs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819" y="973394"/>
            <a:ext cx="5869857" cy="5643716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600" i="0" u="none" strike="noStrike" baseline="0" dirty="0">
                <a:latin typeface="Arial Narrow" panose="020B0606020202030204" pitchFamily="34" charset="0"/>
              </a:rPr>
              <a:t>Reduction rate of emergence antimicrobial resistance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3600" b="0" i="0" u="none" strike="noStrike" baseline="0" dirty="0">
                <a:latin typeface="Arial Narrow" panose="020B0606020202030204" pitchFamily="34" charset="0"/>
              </a:rPr>
              <a:t> enhances food </a:t>
            </a:r>
            <a:r>
              <a:rPr lang="en-GB" sz="3600" b="0" i="0" u="none" strike="noStrike" baseline="0" dirty="0">
                <a:latin typeface="Arial Narrow" panose="020B0606020202030204" pitchFamily="34" charset="0"/>
              </a:rPr>
              <a:t>safety, protects the investments by preventing economic losses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600" b="0" i="0" u="none" strike="noStrike" baseline="0" dirty="0">
                <a:latin typeface="Arial Narrow" panose="020B0606020202030204" pitchFamily="34" charset="0"/>
              </a:rPr>
              <a:t>optimizing the health and immunity of fish stocks</a:t>
            </a:r>
            <a:endParaRPr lang="en-GB" sz="3600" i="0" u="none" strike="noStrike" baseline="0" dirty="0">
              <a:latin typeface="Arial Narrow" panose="020B0606020202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3600" b="0" i="0" u="none" strike="noStrike" baseline="0" dirty="0">
                <a:latin typeface="Arial Narrow" panose="020B0606020202030204" pitchFamily="34" charset="0"/>
              </a:rPr>
              <a:t> </a:t>
            </a:r>
          </a:p>
          <a:p>
            <a:endParaRPr lang="en-ZM" sz="1800" b="0" i="0" u="none" strike="noStrike" baseline="0" dirty="0">
              <a:solidFill>
                <a:srgbClr val="000000"/>
              </a:solidFill>
              <a:latin typeface="DIN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776936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2434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 AQUACULTURE BIOSECURITY IN ZAMBIA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2963879"/>
            <a:ext cx="5997677" cy="374172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CHALLENGES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i="0" u="none" strike="noStrike" baseline="0" dirty="0">
                <a:latin typeface="Arial Narrow" panose="020B0606020202030204" pitchFamily="34" charset="0"/>
              </a:rPr>
              <a:t>Lack of knowledge due to inadequate extension services</a:t>
            </a:r>
            <a:endParaRPr lang="de-DE" sz="24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i="0" u="none" strike="noStrike" baseline="0" dirty="0">
                <a:latin typeface="Arial Narrow" panose="020B0606020202030204" pitchFamily="34" charset="0"/>
              </a:rPr>
              <a:t>Poor entry and exit control measures against fish and other </a:t>
            </a:r>
            <a:r>
              <a:rPr lang="de-DE" sz="2400" i="0" u="none" strike="noStrike" baseline="0" dirty="0">
                <a:latin typeface="Arial Narrow" panose="020B0606020202030204" pitchFamily="34" charset="0"/>
              </a:rPr>
              <a:t>organisms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i="0" u="none" strike="noStrike" baseline="0" dirty="0">
                <a:latin typeface="Arial Narrow" panose="020B0606020202030204" pitchFamily="34" charset="0"/>
              </a:rPr>
              <a:t>Lack of basic biosecurity measures</a:t>
            </a:r>
            <a:endParaRPr lang="de-DE" sz="24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i="0" u="none" strike="noStrike" baseline="0" dirty="0">
                <a:latin typeface="Arial Narrow" panose="020B0606020202030204" pitchFamily="34" charset="0"/>
              </a:rPr>
              <a:t>Lack of proper diagnostic tools</a:t>
            </a:r>
            <a:endParaRPr lang="en-ZM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819" y="2963880"/>
            <a:ext cx="5869857" cy="365323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de-DE" sz="2400" b="1" i="0" u="none" strike="noStrike" baseline="0" dirty="0">
                <a:latin typeface="Arial Narrow" panose="020B0606020202030204" pitchFamily="34" charset="0"/>
              </a:rPr>
              <a:t>PROPOSED BIOSECURITY MEASURES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i="0" u="none" strike="noStrike" baseline="0" dirty="0">
                <a:latin typeface="Arial Narrow" panose="020B0606020202030204" pitchFamily="34" charset="0"/>
              </a:rPr>
              <a:t>There is need to manage animals, people, vehicles and other moving equipment, water and sediments, feed, and solid </a:t>
            </a:r>
            <a:r>
              <a:rPr lang="de-DE" sz="2400" b="0" i="0" u="none" strike="noStrike" baseline="0" dirty="0">
                <a:latin typeface="Arial Narrow" panose="020B0606020202030204" pitchFamily="34" charset="0"/>
              </a:rPr>
              <a:t>and liquid wastes</a:t>
            </a:r>
            <a:endParaRPr lang="en-GB" sz="2400" b="0" i="0" u="none" strike="noStrike" baseline="0" dirty="0">
              <a:latin typeface="Arial Narrow" panose="020B0606020202030204" pitchFamily="34" charset="0"/>
            </a:endParaRPr>
          </a:p>
          <a:p>
            <a:endParaRPr lang="en-ZM" sz="1800" b="0" i="0" u="none" strike="noStrike" baseline="0" dirty="0">
              <a:solidFill>
                <a:srgbClr val="000000"/>
              </a:solidFill>
              <a:latin typeface="DIN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D8B11C-778C-D7B1-795E-8718665CC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776749"/>
            <a:ext cx="10668000" cy="153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77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2434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CONCLUSION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776750"/>
            <a:ext cx="5997677" cy="592885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 Narrow" panose="020B0606020202030204" pitchFamily="34" charset="0"/>
              </a:rPr>
              <a:t>Good biosecurity measures will reduce the risk of catastrophic losses from infectious disease and low-level losses that, over time, can also greatly affect the bottom line.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 Narrow" panose="020B0606020202030204" pitchFamily="34" charset="0"/>
              </a:rPr>
              <a:t>Work with an experienced aquatic animal health professional, production specialist, and aquacultural engineer to develop a comprehensive biosecurity plan.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1136" y="776749"/>
            <a:ext cx="5584722" cy="5928850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sz="5100" dirty="0">
                <a:latin typeface="Arial Narrow" panose="020B0606020202030204" pitchFamily="34" charset="0"/>
              </a:rPr>
              <a:t>Know your fish source and water source to ensure that specific pathogens don’t enter your facility by either route.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sz="5100" dirty="0">
                <a:latin typeface="Arial Narrow" panose="020B0606020202030204" pitchFamily="34" charset="0"/>
              </a:rPr>
              <a:t>Quarantine, test, and continue to monitor fish health throughout the production cycle.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sz="5100" dirty="0">
                <a:latin typeface="Arial Narrow" panose="020B0606020202030204" pitchFamily="34" charset="0"/>
              </a:rPr>
              <a:t>Good husbandry is key to reducing disease susceptibility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4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0000"/>
                </a:solidFill>
                <a:latin typeface="DIN"/>
              </a:rPr>
              <a:t>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057600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C15F-D249-E799-9F37-81F52E10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2434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i="0" u="none" strike="noStrike" baseline="0" dirty="0">
                <a:latin typeface="Arial Narrow" panose="020B0606020202030204" pitchFamily="34" charset="0"/>
              </a:rPr>
              <a:t>CONCLUSION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F7B5-9795-8722-9EBB-2C62805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776749"/>
            <a:ext cx="5997677" cy="621398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 Narrow" panose="020B0606020202030204" pitchFamily="34" charset="0"/>
              </a:rPr>
              <a:t>Regularly monitor systems, water quality, and fish. Isolate sick fish and remove dead and moribund fish.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 Narrow" panose="020B0606020202030204" pitchFamily="34" charset="0"/>
              </a:rPr>
              <a:t>Know which diagnostics to use and which treatments are legal and available.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 Narrow" panose="020B0606020202030204" pitchFamily="34" charset="0"/>
              </a:rPr>
              <a:t>Educate your personnel and visitors so that they understand and follow biosecurity protocols. Regularly evaluate educational programs.</a:t>
            </a:r>
            <a:endParaRPr lang="de-DE" sz="2400" b="1" i="0" u="none" strike="noStrike" baseline="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B628-AAB6-91C2-FAC1-0EF461E3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7948" y="776749"/>
            <a:ext cx="5525728" cy="5840361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>
                <a:latin typeface="Arial Narrow" panose="020B0606020202030204" pitchFamily="34" charset="0"/>
              </a:rPr>
              <a:t>Plan your facility’s sanitation, disinfection, and system management schemes and design your biosecurity with science, efficiency, and personnel compliance in mind.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>
                <a:latin typeface="Arial Narrow" panose="020B0606020202030204" pitchFamily="34" charset="0"/>
              </a:rPr>
              <a:t>Keep good records. Compliance with, and documentation of, biosecurity protocols will help reduce losses during an outbreak and may help prevent mandatory depopulation.</a:t>
            </a:r>
            <a:endParaRPr lang="de-DE" sz="2600" b="1" i="0" u="none" strike="noStrike" baseline="0" dirty="0">
              <a:latin typeface="Arial Narrow" panose="020B0606020202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GB" sz="2800" b="0" i="0" u="none" strike="noStrike" baseline="0" dirty="0">
              <a:latin typeface="Arial Narrow" panose="020B0606020202030204" pitchFamily="34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30498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33D8-F9E2-549E-02BF-3F95EC9D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734"/>
            <a:ext cx="10515600" cy="50011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EXAMPLE OF PLAN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38895F-7AC2-54D6-AFF5-BDC7250C2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066" y="634847"/>
            <a:ext cx="9548061" cy="5993978"/>
          </a:xfrm>
        </p:spPr>
      </p:pic>
    </p:spTree>
    <p:extLst>
      <p:ext uri="{BB962C8B-B14F-4D97-AF65-F5344CB8AC3E}">
        <p14:creationId xmlns:p14="http://schemas.microsoft.com/office/powerpoint/2010/main" val="1758210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33D8-F9E2-549E-02BF-3F95EC9D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734"/>
            <a:ext cx="10515600" cy="50011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EXAMPLE OF PLAN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86CDB1-1CAF-7C5E-A37F-2EFC72649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28" y="887510"/>
            <a:ext cx="10897544" cy="565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53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33D8-F9E2-549E-02BF-3F95EC9D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734"/>
            <a:ext cx="10515600" cy="50011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EXAMPLE OF PLAN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F7F300-93C5-C753-E665-E0395940A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5" y="737502"/>
            <a:ext cx="5887417" cy="56632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17D21D-5523-BB00-788B-1F0295FB0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273" y="737502"/>
            <a:ext cx="5148983" cy="584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440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33D8-F9E2-549E-02BF-3F95EC9D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734"/>
            <a:ext cx="10515600" cy="50011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EXAMPLE OF PLAN</a:t>
            </a:r>
            <a:endParaRPr lang="en-ZM" sz="3600" b="1" dirty="0">
              <a:latin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2A1A8-A045-F1D1-00D1-EFF42E7EE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63" y="1209122"/>
            <a:ext cx="5656211" cy="51204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42B1F6-5E28-39C1-C115-FBDF9154D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58" y="1189185"/>
            <a:ext cx="5270089" cy="512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2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2550</Words>
  <Application>Microsoft Office PowerPoint</Application>
  <PresentationFormat>Widescreen</PresentationFormat>
  <Paragraphs>279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Arial Narrow</vt:lpstr>
      <vt:lpstr>Calibri</vt:lpstr>
      <vt:lpstr>Calibri Light</vt:lpstr>
      <vt:lpstr>DIN</vt:lpstr>
      <vt:lpstr>Wingdings</vt:lpstr>
      <vt:lpstr>Office Theme</vt:lpstr>
      <vt:lpstr>AQUACULTURE BIOSECURITY</vt:lpstr>
      <vt:lpstr>INTRODUCTION </vt:lpstr>
      <vt:lpstr>INTRODUCTION </vt:lpstr>
      <vt:lpstr>INTRODUCTION </vt:lpstr>
      <vt:lpstr>INTRODUCTION </vt:lpstr>
      <vt:lpstr>INTRODUCTION</vt:lpstr>
      <vt:lpstr>PROTECT YOUR FARM IN SEVEN STEPS </vt:lpstr>
      <vt:lpstr>PROTECT YOUR FARM IN SEVEN STEPS </vt:lpstr>
      <vt:lpstr>PROTECT YOUR FARM IN SEVEN STEPS </vt:lpstr>
      <vt:lpstr>PROTECT YOUR FARM IN SEVEN STEPS </vt:lpstr>
      <vt:lpstr>MAJOR WAYS OF PATHOGEN TRANSMISSION</vt:lpstr>
      <vt:lpstr>MAJOR WAYS OF PATHOGEN TRANSMISSION</vt:lpstr>
      <vt:lpstr>MAJOR WAYS OF PATHOGEN TRANSMISSION</vt:lpstr>
      <vt:lpstr>MAJOR WAYS OF PATHOGEN TRANSMISSION</vt:lpstr>
      <vt:lpstr>MAJOR WAYS OF PATHOGEN TRANSMISSION</vt:lpstr>
      <vt:lpstr>TRANSMISSION PATHWAYS</vt:lpstr>
      <vt:lpstr>COMING UP WITH A BIOSECURITY PLAN</vt:lpstr>
      <vt:lpstr>COMING UP WITH A BIOSECURITY PLAN</vt:lpstr>
      <vt:lpstr>COMING UP WITH A BIOSECURITY PLAN</vt:lpstr>
      <vt:lpstr>COMING UP WITH A BIOSECURITY PLAN</vt:lpstr>
      <vt:lpstr>COMING UP WITH A BIOSECURITY PLAN</vt:lpstr>
      <vt:lpstr>COMING UP WITH A BIOSECURITY PLAN</vt:lpstr>
      <vt:lpstr>COMING UP WITH A BIOSECURITY PLAN</vt:lpstr>
      <vt:lpstr>COMING UP WITH A BIOSECURITY PLAN</vt:lpstr>
      <vt:lpstr>COMING UP WITH A BIOSECURITY PLAN</vt:lpstr>
      <vt:lpstr>COMING UP WITH A BIOSECURITY PLAN</vt:lpstr>
      <vt:lpstr>COMING UP WITH A BIOSECURITY PLAN</vt:lpstr>
      <vt:lpstr>COMING UP WITH A BIOSECURITY PLAN</vt:lpstr>
      <vt:lpstr>COMING UP WITH A BIOSECURITY PLAN</vt:lpstr>
      <vt:lpstr>PowerPoint Presentation</vt:lpstr>
      <vt:lpstr>SOME BENEFITS OF BIOSECURITY </vt:lpstr>
      <vt:lpstr> AQUACULTURE BIOSECURITY IN ZAMBIA</vt:lpstr>
      <vt:lpstr>CONCLUSION</vt:lpstr>
      <vt:lpstr>CONCLUSION</vt:lpstr>
      <vt:lpstr>EXAMPLE OF PLAN</vt:lpstr>
      <vt:lpstr>EXAMPLE OF PLAN</vt:lpstr>
      <vt:lpstr>EXAMPLE OF PLAN</vt:lpstr>
      <vt:lpstr>EXAMPLE OF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AQUACULTURE BIOSECURITY</dc:title>
  <dc:creator>Joseph Mphande</dc:creator>
  <cp:lastModifiedBy>MPHANDE JOSEPH</cp:lastModifiedBy>
  <cp:revision>73</cp:revision>
  <dcterms:created xsi:type="dcterms:W3CDTF">2024-04-29T04:01:13Z</dcterms:created>
  <dcterms:modified xsi:type="dcterms:W3CDTF">2024-08-01T11:52:12Z</dcterms:modified>
</cp:coreProperties>
</file>