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6" r:id="rId3"/>
    <p:sldId id="258" r:id="rId4"/>
    <p:sldId id="262" r:id="rId5"/>
    <p:sldId id="259" r:id="rId6"/>
    <p:sldId id="260" r:id="rId7"/>
    <p:sldId id="261" r:id="rId8"/>
    <p:sldId id="277" r:id="rId9"/>
    <p:sldId id="263" r:id="rId10"/>
    <p:sldId id="282" r:id="rId11"/>
    <p:sldId id="264" r:id="rId12"/>
    <p:sldId id="283" r:id="rId13"/>
    <p:sldId id="284" r:id="rId14"/>
    <p:sldId id="267" r:id="rId15"/>
    <p:sldId id="279" r:id="rId16"/>
    <p:sldId id="285" r:id="rId17"/>
    <p:sldId id="268" r:id="rId18"/>
    <p:sldId id="272" r:id="rId19"/>
    <p:sldId id="269" r:id="rId20"/>
    <p:sldId id="280" r:id="rId21"/>
    <p:sldId id="270" r:id="rId22"/>
    <p:sldId id="271" r:id="rId23"/>
    <p:sldId id="286" r:id="rId24"/>
    <p:sldId id="275" r:id="rId25"/>
    <p:sldId id="287" r:id="rId26"/>
    <p:sldId id="276" r:id="rId27"/>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C310D-6748-42C7-A742-281E9C016BC7}" type="datetimeFigureOut">
              <a:rPr lang="en-ZM" smtClean="0"/>
              <a:t>05/08/2024</a:t>
            </a:fld>
            <a:endParaRPr lang="en-Z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A9B462-196E-4BE3-9FBE-85AA1A357EF7}" type="slidenum">
              <a:rPr lang="en-ZM" smtClean="0"/>
              <a:t>‹#›</a:t>
            </a:fld>
            <a:endParaRPr lang="en-ZM"/>
          </a:p>
        </p:txBody>
      </p:sp>
    </p:spTree>
    <p:extLst>
      <p:ext uri="{BB962C8B-B14F-4D97-AF65-F5344CB8AC3E}">
        <p14:creationId xmlns:p14="http://schemas.microsoft.com/office/powerpoint/2010/main" val="2789692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baseline="0" dirty="0">
                <a:latin typeface="Times New Roman" panose="02020603050405020304" pitchFamily="18" charset="0"/>
                <a:cs typeface="Times New Roman" panose="02020603050405020304" pitchFamily="18" charset="0"/>
              </a:rPr>
              <a:t>that connect producers, intermediaries, wholesalers, retailers, and consumers</a:t>
            </a:r>
            <a:endParaRPr lang="en-ZM" dirty="0"/>
          </a:p>
        </p:txBody>
      </p:sp>
      <p:sp>
        <p:nvSpPr>
          <p:cNvPr id="4" name="Slide Number Placeholder 3"/>
          <p:cNvSpPr>
            <a:spLocks noGrp="1"/>
          </p:cNvSpPr>
          <p:nvPr>
            <p:ph type="sldNum" sz="quarter" idx="5"/>
          </p:nvPr>
        </p:nvSpPr>
        <p:spPr/>
        <p:txBody>
          <a:bodyPr/>
          <a:lstStyle/>
          <a:p>
            <a:fld id="{38A9B462-196E-4BE3-9FBE-85AA1A357EF7}" type="slidenum">
              <a:rPr lang="en-ZM" smtClean="0"/>
              <a:t>4</a:t>
            </a:fld>
            <a:endParaRPr lang="en-ZM"/>
          </a:p>
        </p:txBody>
      </p:sp>
    </p:spTree>
    <p:extLst>
      <p:ext uri="{BB962C8B-B14F-4D97-AF65-F5344CB8AC3E}">
        <p14:creationId xmlns:p14="http://schemas.microsoft.com/office/powerpoint/2010/main" val="4100582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A49E1-96DB-3819-DC32-08E418DAB0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25FA6E81-71E1-87E9-8326-BB4AB7D015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BE4EBA65-42D0-F0F3-C816-D2A8FCDE45A2}"/>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5" name="Footer Placeholder 4">
            <a:extLst>
              <a:ext uri="{FF2B5EF4-FFF2-40B4-BE49-F238E27FC236}">
                <a16:creationId xmlns:a16="http://schemas.microsoft.com/office/drawing/2014/main" id="{3A90561E-223E-D79B-8032-A075C48E7FC3}"/>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718845E7-F36F-C301-41DF-99DB4FE58808}"/>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1229079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CA07A-8CAC-47BC-1940-A74059427A04}"/>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A2790BEE-C5A5-7DFB-EFD9-A834CC22CA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E0813AE2-1EA9-65C4-E112-E873A336BA0D}"/>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5" name="Footer Placeholder 4">
            <a:extLst>
              <a:ext uri="{FF2B5EF4-FFF2-40B4-BE49-F238E27FC236}">
                <a16:creationId xmlns:a16="http://schemas.microsoft.com/office/drawing/2014/main" id="{4996A412-B8E5-1DAB-6C16-3213C5A1C9DB}"/>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B23FEAE-3959-94C1-3C7B-810387F063E6}"/>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2533596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78BD-6A80-A4E8-A9D1-BCE95A8B8C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791AF4EC-EED2-12F3-2182-520999CC3B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2F6B4D-2160-035C-2DE3-3988CDA2BA01}"/>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5" name="Footer Placeholder 4">
            <a:extLst>
              <a:ext uri="{FF2B5EF4-FFF2-40B4-BE49-F238E27FC236}">
                <a16:creationId xmlns:a16="http://schemas.microsoft.com/office/drawing/2014/main" id="{0176C05B-9EE0-7FDE-7DEF-65251B826439}"/>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8B8D87F9-A857-BDD1-6CD4-DFA2D3C7226E}"/>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2572268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E533E-7E9D-6DB6-88E0-662923903C57}"/>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CDEAD352-422F-3F98-2B81-07C5F6E380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D31D0568-BECE-404B-2860-ACDBF6B6AA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96FB8732-E539-57D7-EEE2-B0BDBDA5B54E}"/>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6" name="Footer Placeholder 5">
            <a:extLst>
              <a:ext uri="{FF2B5EF4-FFF2-40B4-BE49-F238E27FC236}">
                <a16:creationId xmlns:a16="http://schemas.microsoft.com/office/drawing/2014/main" id="{D8465D10-8FFB-B017-951E-DA9F90173579}"/>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AE483986-00A7-A2FE-AAA5-37F45B2C0DDD}"/>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2427366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8CFA-5764-51C3-786E-976C98010123}"/>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FCC43966-41DB-A22C-6EE3-1D7A0939C4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BA08CE-F690-165C-D1EA-FEA63D070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7C1C88FD-F58C-875B-82A0-E7B2AE80C2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33D3E1-F064-817F-907C-7E2602EEE5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D41E9716-FFA0-DAF5-CA95-7377139B5A54}"/>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8" name="Footer Placeholder 7">
            <a:extLst>
              <a:ext uri="{FF2B5EF4-FFF2-40B4-BE49-F238E27FC236}">
                <a16:creationId xmlns:a16="http://schemas.microsoft.com/office/drawing/2014/main" id="{602AB45E-6FFD-4D11-BDCF-CAAB44570AE2}"/>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BC92F318-329D-C2C5-06C9-B0492DA7B1D5}"/>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3337401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5C3A-18C2-0311-3132-A0475F8F287F}"/>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115437C1-1121-11FF-0BF4-9B7B2B4E8ACE}"/>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4" name="Footer Placeholder 3">
            <a:extLst>
              <a:ext uri="{FF2B5EF4-FFF2-40B4-BE49-F238E27FC236}">
                <a16:creationId xmlns:a16="http://schemas.microsoft.com/office/drawing/2014/main" id="{408A87A4-C709-5A9C-4DFA-26A72BF367D9}"/>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D3509007-938D-2210-285C-EA15CB301B07}"/>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404309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E4898-458A-6F5C-0A80-D1538E3E21D9}"/>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3" name="Footer Placeholder 2">
            <a:extLst>
              <a:ext uri="{FF2B5EF4-FFF2-40B4-BE49-F238E27FC236}">
                <a16:creationId xmlns:a16="http://schemas.microsoft.com/office/drawing/2014/main" id="{98766A36-9D7C-024D-0A94-97AEB21F9149}"/>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3ED03698-46D2-D2D8-C309-343CC010C582}"/>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3340826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E2A8-2E34-C1A8-669E-235ED22726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F3EE16D9-B282-1456-543A-C277C57AD2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77E11D32-763E-D904-6FD5-E3E7C80B2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070DD-11A9-D742-2F51-36AA691C2DDD}"/>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6" name="Footer Placeholder 5">
            <a:extLst>
              <a:ext uri="{FF2B5EF4-FFF2-40B4-BE49-F238E27FC236}">
                <a16:creationId xmlns:a16="http://schemas.microsoft.com/office/drawing/2014/main" id="{4BDA71E7-6A13-11A5-EB1C-C8A6C4FA6F0A}"/>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C4807046-A8D2-A3DF-BC9A-F2DB67E933AC}"/>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293483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8838A-87B5-DC22-435A-E70BF0AF3B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8F643A4B-05BA-A311-D515-ABE2FF184E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BDA05750-7275-BEDE-6101-6C91904C94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3A9FB-4C76-4642-5872-167D604E77A9}"/>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6" name="Footer Placeholder 5">
            <a:extLst>
              <a:ext uri="{FF2B5EF4-FFF2-40B4-BE49-F238E27FC236}">
                <a16:creationId xmlns:a16="http://schemas.microsoft.com/office/drawing/2014/main" id="{ED7ADC2D-359D-047E-CB63-A8C181E5167E}"/>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F2258C75-56D8-0CE3-7106-5F94DC4C547D}"/>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1206508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B040C-EF60-67EB-EEAF-C1F7B73BA2E3}"/>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11356F72-ED07-1395-E7B2-5AA441E17C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D09ABA1D-B705-DD6A-E97E-62B7DCDB82E9}"/>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5" name="Footer Placeholder 4">
            <a:extLst>
              <a:ext uri="{FF2B5EF4-FFF2-40B4-BE49-F238E27FC236}">
                <a16:creationId xmlns:a16="http://schemas.microsoft.com/office/drawing/2014/main" id="{B3A6E87B-2F99-5FCF-DC0A-C3974DAC0B0D}"/>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90322A5B-25DB-5837-5CE2-EA1DC41B87EC}"/>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428257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D9B9FF-D170-DE11-506C-97162F8E3F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78A9FF78-B006-5B12-BD9A-27F86B3B89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7B7160CC-E4CC-780D-17B5-FCEAA2530867}"/>
              </a:ext>
            </a:extLst>
          </p:cNvPr>
          <p:cNvSpPr>
            <a:spLocks noGrp="1"/>
          </p:cNvSpPr>
          <p:nvPr>
            <p:ph type="dt" sz="half" idx="10"/>
          </p:nvPr>
        </p:nvSpPr>
        <p:spPr/>
        <p:txBody>
          <a:bodyPr/>
          <a:lstStyle/>
          <a:p>
            <a:fld id="{E4198493-A4F1-4CFF-94F4-E7A5AB45337E}" type="datetimeFigureOut">
              <a:rPr lang="en-ZM" smtClean="0"/>
              <a:t>05/08/2024</a:t>
            </a:fld>
            <a:endParaRPr lang="en-ZM"/>
          </a:p>
        </p:txBody>
      </p:sp>
      <p:sp>
        <p:nvSpPr>
          <p:cNvPr id="5" name="Footer Placeholder 4">
            <a:extLst>
              <a:ext uri="{FF2B5EF4-FFF2-40B4-BE49-F238E27FC236}">
                <a16:creationId xmlns:a16="http://schemas.microsoft.com/office/drawing/2014/main" id="{429BB64E-4A59-DC01-9AFD-1216B13AEEF5}"/>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008FFA10-A674-20E6-0C5F-F6593800AA7E}"/>
              </a:ext>
            </a:extLst>
          </p:cNvPr>
          <p:cNvSpPr>
            <a:spLocks noGrp="1"/>
          </p:cNvSpPr>
          <p:nvPr>
            <p:ph type="sldNum" sz="quarter" idx="12"/>
          </p:nvPr>
        </p:nvSpPr>
        <p:spPr/>
        <p:txBody>
          <a:bodyPr/>
          <a:lstStyle/>
          <a:p>
            <a:fld id="{2C5AD154-0B79-4C10-AD05-6D80873D4A4A}" type="slidenum">
              <a:rPr lang="en-ZM" smtClean="0"/>
              <a:t>‹#›</a:t>
            </a:fld>
            <a:endParaRPr lang="en-ZM"/>
          </a:p>
        </p:txBody>
      </p:sp>
    </p:spTree>
    <p:extLst>
      <p:ext uri="{BB962C8B-B14F-4D97-AF65-F5344CB8AC3E}">
        <p14:creationId xmlns:p14="http://schemas.microsoft.com/office/powerpoint/2010/main" val="76158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4DA7DF-E991-7FDA-9A74-9C542F4800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A6486BCF-2BB6-203A-536C-44D99DFB95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95612F65-C4BA-1C56-63CC-894DEE2835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198493-A4F1-4CFF-94F4-E7A5AB45337E}" type="datetimeFigureOut">
              <a:rPr lang="en-ZM" smtClean="0"/>
              <a:t>05/08/2024</a:t>
            </a:fld>
            <a:endParaRPr lang="en-ZM"/>
          </a:p>
        </p:txBody>
      </p:sp>
      <p:sp>
        <p:nvSpPr>
          <p:cNvPr id="5" name="Footer Placeholder 4">
            <a:extLst>
              <a:ext uri="{FF2B5EF4-FFF2-40B4-BE49-F238E27FC236}">
                <a16:creationId xmlns:a16="http://schemas.microsoft.com/office/drawing/2014/main" id="{8419EEF0-86A7-DEEC-CD5D-EE9BA78CBF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29B1F591-B1B4-FE2B-5048-5EC37A27A9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5AD154-0B79-4C10-AD05-6D80873D4A4A}" type="slidenum">
              <a:rPr lang="en-ZM" smtClean="0"/>
              <a:t>‹#›</a:t>
            </a:fld>
            <a:endParaRPr lang="en-ZM"/>
          </a:p>
        </p:txBody>
      </p:sp>
    </p:spTree>
    <p:extLst>
      <p:ext uri="{BB962C8B-B14F-4D97-AF65-F5344CB8AC3E}">
        <p14:creationId xmlns:p14="http://schemas.microsoft.com/office/powerpoint/2010/main" val="928234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64DA56-A766-D712-550F-0DDEAD9FAE90}"/>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79C5D5DC-48FE-EB64-A5D7-E636D4BA3FE6}"/>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06307"/>
            <a:ext cx="923773" cy="890341"/>
          </a:xfrm>
          <a:prstGeom prst="rect">
            <a:avLst/>
          </a:prstGeom>
          <a:noFill/>
          <a:ln>
            <a:noFill/>
          </a:ln>
        </p:spPr>
      </p:pic>
      <p:sp>
        <p:nvSpPr>
          <p:cNvPr id="7" name="Subtitle 2">
            <a:extLst>
              <a:ext uri="{FF2B5EF4-FFF2-40B4-BE49-F238E27FC236}">
                <a16:creationId xmlns:a16="http://schemas.microsoft.com/office/drawing/2014/main" id="{EDAB9989-CA86-7072-4A0E-BCBC8CE8428B}"/>
              </a:ext>
            </a:extLst>
          </p:cNvPr>
          <p:cNvSpPr>
            <a:spLocks noGrp="1"/>
          </p:cNvSpPr>
          <p:nvPr>
            <p:ph type="subTitle" idx="1"/>
          </p:nvPr>
        </p:nvSpPr>
        <p:spPr>
          <a:xfrm>
            <a:off x="1744321" y="4410648"/>
            <a:ext cx="9022704" cy="2286000"/>
          </a:xfrm>
        </p:spPr>
        <p:txBody>
          <a:bodyPr>
            <a:normAutofit/>
          </a:bodyPr>
          <a:lstStyle/>
          <a:p>
            <a:r>
              <a:rPr lang="en-GB" dirty="0">
                <a:latin typeface="Times New Roman" panose="02020603050405020304" pitchFamily="18" charset="0"/>
                <a:cs typeface="Times New Roman" panose="02020603050405020304" pitchFamily="18" charset="0"/>
              </a:rPr>
              <a:t>Joseph Mphande</a:t>
            </a:r>
          </a:p>
          <a:p>
            <a:r>
              <a:rPr lang="en-GB" dirty="0">
                <a:latin typeface="Times New Roman" panose="02020603050405020304" pitchFamily="18" charset="0"/>
                <a:cs typeface="Times New Roman" panose="02020603050405020304" pitchFamily="18" charset="0"/>
              </a:rPr>
              <a:t>MSc Sustainable Aquaculture –University of Stirling, UK</a:t>
            </a:r>
          </a:p>
          <a:p>
            <a:r>
              <a:rPr lang="en-GB" dirty="0">
                <a:latin typeface="Times New Roman" panose="02020603050405020304" pitchFamily="18" charset="0"/>
                <a:cs typeface="Times New Roman" panose="02020603050405020304" pitchFamily="18" charset="0"/>
              </a:rPr>
              <a:t>MSc  -Aquaculture and Fisheries Science-LUANAR, Malawi.</a:t>
            </a:r>
          </a:p>
          <a:p>
            <a:r>
              <a:rPr lang="en-GB" b="1" dirty="0">
                <a:latin typeface="Times New Roman" panose="02020603050405020304" pitchFamily="18" charset="0"/>
                <a:cs typeface="Times New Roman" panose="02020603050405020304" pitchFamily="18" charset="0"/>
              </a:rPr>
              <a:t>Email: josephmphande90@gmail.com</a:t>
            </a:r>
            <a:endParaRPr lang="en-ZM" b="1" dirty="0">
              <a:latin typeface="Times New Roman" panose="02020603050405020304" pitchFamily="18" charset="0"/>
              <a:cs typeface="Times New Roman" panose="02020603050405020304" pitchFamily="18" charset="0"/>
            </a:endParaRPr>
          </a:p>
        </p:txBody>
      </p:sp>
      <p:sp>
        <p:nvSpPr>
          <p:cNvPr id="8" name="Subtitle 2">
            <a:extLst>
              <a:ext uri="{FF2B5EF4-FFF2-40B4-BE49-F238E27FC236}">
                <a16:creationId xmlns:a16="http://schemas.microsoft.com/office/drawing/2014/main" id="{0BA5DE1B-A088-51F3-D4CC-C65DF1B2D0F7}"/>
              </a:ext>
            </a:extLst>
          </p:cNvPr>
          <p:cNvSpPr txBox="1">
            <a:spLocks/>
          </p:cNvSpPr>
          <p:nvPr/>
        </p:nvSpPr>
        <p:spPr>
          <a:xfrm>
            <a:off x="609600" y="302463"/>
            <a:ext cx="10972800" cy="101318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400" b="1" dirty="0">
                <a:latin typeface="Times New Roman" panose="02020603050405020304" pitchFamily="18" charset="0"/>
                <a:cs typeface="Times New Roman" panose="02020603050405020304" pitchFamily="18" charset="0"/>
              </a:rPr>
              <a:t>FISH MARKETING</a:t>
            </a:r>
            <a:endParaRPr lang="en-ZM" sz="4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A4FA99E-67E1-2ED6-EA63-36D0FBC4A14D}"/>
              </a:ext>
            </a:extLst>
          </p:cNvPr>
          <p:cNvPicPr>
            <a:picLocks noChangeAspect="1"/>
          </p:cNvPicPr>
          <p:nvPr/>
        </p:nvPicPr>
        <p:blipFill rotWithShape="1">
          <a:blip r:embed="rId3"/>
          <a:srcRect l="7529" t="27462" r="51464" b="12017"/>
          <a:stretch/>
        </p:blipFill>
        <p:spPr>
          <a:xfrm>
            <a:off x="167608" y="2472396"/>
            <a:ext cx="2037703" cy="1743848"/>
          </a:xfrm>
          <a:prstGeom prst="rect">
            <a:avLst/>
          </a:prstGeom>
        </p:spPr>
      </p:pic>
      <p:pic>
        <p:nvPicPr>
          <p:cNvPr id="10" name="Picture 9">
            <a:extLst>
              <a:ext uri="{FF2B5EF4-FFF2-40B4-BE49-F238E27FC236}">
                <a16:creationId xmlns:a16="http://schemas.microsoft.com/office/drawing/2014/main" id="{85606D60-352B-45DA-E847-D5B4D6B94A33}"/>
              </a:ext>
            </a:extLst>
          </p:cNvPr>
          <p:cNvPicPr>
            <a:picLocks noChangeAspect="1"/>
          </p:cNvPicPr>
          <p:nvPr/>
        </p:nvPicPr>
        <p:blipFill rotWithShape="1">
          <a:blip r:embed="rId3"/>
          <a:srcRect l="52312" r="16538" b="45225"/>
          <a:stretch/>
        </p:blipFill>
        <p:spPr>
          <a:xfrm>
            <a:off x="10124631" y="2472396"/>
            <a:ext cx="1754154" cy="1563096"/>
          </a:xfrm>
          <a:prstGeom prst="rect">
            <a:avLst/>
          </a:prstGeom>
        </p:spPr>
      </p:pic>
    </p:spTree>
    <p:extLst>
      <p:ext uri="{BB962C8B-B14F-4D97-AF65-F5344CB8AC3E}">
        <p14:creationId xmlns:p14="http://schemas.microsoft.com/office/powerpoint/2010/main" val="336858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833715" y="1236407"/>
            <a:ext cx="8652387" cy="4385186"/>
          </a:xfrm>
        </p:spPr>
        <p:txBody>
          <a:bodyPr>
            <a:noAutofit/>
          </a:bodyPr>
          <a:lstStyle/>
          <a:p>
            <a:pPr marL="342900" indent="-34290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Marketing is one of the main activities directly related to consumers that need to be carried out by the company </a:t>
            </a:r>
          </a:p>
          <a:p>
            <a:pPr marL="342900" indent="-342900" algn="just">
              <a:lnSpc>
                <a:spcPct val="150000"/>
              </a:lnSpc>
              <a:buFont typeface="Wingdings" panose="05000000000000000000" pitchFamily="2" charset="2"/>
              <a:buChar char="q"/>
            </a:pPr>
            <a:r>
              <a:rPr lang="de-DE" b="0" i="0" u="none" strike="noStrike" baseline="0" dirty="0">
                <a:latin typeface="Times New Roman" panose="02020603050405020304" pitchFamily="18" charset="0"/>
                <a:cs typeface="Times New Roman" panose="02020603050405020304" pitchFamily="18" charset="0"/>
              </a:rPr>
              <a:t>The main purpose </a:t>
            </a:r>
            <a:r>
              <a:rPr lang="en-GB" b="0" i="0" u="none" strike="noStrike" baseline="0" dirty="0">
                <a:latin typeface="Times New Roman" panose="02020603050405020304" pitchFamily="18" charset="0"/>
                <a:cs typeface="Times New Roman" panose="02020603050405020304" pitchFamily="18" charset="0"/>
              </a:rPr>
              <a:t>of the marketing concept is to serve consumers by getting a number of profits</a:t>
            </a: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614420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288027" y="1236407"/>
            <a:ext cx="9016179" cy="4385186"/>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Thus, marketers must provide customers with what they want to buy, with prices that represent the value of money.</a:t>
            </a:r>
          </a:p>
          <a:p>
            <a:pPr marL="342900" indent="-342900" algn="just">
              <a:lnSpc>
                <a:spcPct val="150000"/>
              </a:lnSpc>
              <a:buFont typeface="Wingdings" panose="05000000000000000000" pitchFamily="2" charset="2"/>
              <a:buChar char="q"/>
            </a:pPr>
            <a:r>
              <a:rPr lang="de-DE" b="0" i="0" u="none" strike="noStrike" baseline="0" dirty="0">
                <a:latin typeface="Times New Roman" panose="02020603050405020304" pitchFamily="18" charset="0"/>
                <a:cs typeface="Times New Roman" panose="02020603050405020304" pitchFamily="18" charset="0"/>
              </a:rPr>
              <a:t>Several </a:t>
            </a:r>
            <a:r>
              <a:rPr lang="en-GB" b="0" i="0" u="none" strike="noStrike" baseline="0" dirty="0">
                <a:latin typeface="Times New Roman" panose="02020603050405020304" pitchFamily="18" charset="0"/>
                <a:cs typeface="Times New Roman" panose="02020603050405020304" pitchFamily="18" charset="0"/>
              </a:rPr>
              <a:t>processes are involved in the fish marketing system, it starts with transporting fish from farmers and finally received by consumers</a:t>
            </a: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287767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592827" y="1236407"/>
            <a:ext cx="9340644" cy="4385186"/>
          </a:xfrm>
        </p:spPr>
        <p:txBody>
          <a:bodyPr>
            <a:normAutofit/>
          </a:bodyPr>
          <a:lstStyle/>
          <a:p>
            <a:pPr marL="342900" indent="-342900" algn="just">
              <a:lnSpc>
                <a:spcPct val="150000"/>
              </a:lnSpc>
              <a:buFont typeface="Wingdings" panose="05000000000000000000" pitchFamily="2" charset="2"/>
              <a:buChar char="q"/>
            </a:pPr>
            <a:r>
              <a:rPr lang="en-GB" b="1" i="0" u="none" strike="noStrike" baseline="0" dirty="0">
                <a:latin typeface="Times New Roman" panose="02020603050405020304" pitchFamily="18" charset="0"/>
                <a:cs typeface="Times New Roman" panose="02020603050405020304" pitchFamily="18" charset="0"/>
              </a:rPr>
              <a:t>Preservation, transportation and marketing </a:t>
            </a:r>
            <a:r>
              <a:rPr lang="en-GB" b="0" i="0" u="none" strike="noStrike" baseline="0" dirty="0">
                <a:latin typeface="Times New Roman" panose="02020603050405020304" pitchFamily="18" charset="0"/>
                <a:cs typeface="Times New Roman" panose="02020603050405020304" pitchFamily="18" charset="0"/>
              </a:rPr>
              <a:t>are three important links in the fish production and consumption chain</a:t>
            </a:r>
            <a:endParaRPr lang="en-GB"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Harvesting and marketing of fish become profitable only when fishery products are sent in healthy conditions and at prices that are acceptable to consumers.</a:t>
            </a: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3"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3"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387233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700981" y="1236407"/>
            <a:ext cx="8544232" cy="4385186"/>
          </a:xfrm>
        </p:spPr>
        <p:txBody>
          <a:bodyPr>
            <a:normAutofit/>
          </a:bodyPr>
          <a:lstStyle/>
          <a:p>
            <a:pPr marL="285750" indent="-28575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Marketing Mix is a set of tools for tactical marketing that can be controlled, product, price, distribution, and promotion combined by the company to produce the desired response </a:t>
            </a:r>
            <a:r>
              <a:rPr lang="de-DE" b="0" i="0" u="none" strike="noStrike" baseline="0" dirty="0">
                <a:latin typeface="Times New Roman" panose="02020603050405020304" pitchFamily="18" charset="0"/>
                <a:cs typeface="Times New Roman" panose="02020603050405020304" pitchFamily="18" charset="0"/>
              </a:rPr>
              <a:t>in the target market.</a:t>
            </a: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1445165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521110" y="977429"/>
            <a:ext cx="11149780" cy="4828878"/>
          </a:xfrm>
        </p:spPr>
        <p:txBody>
          <a:bodyPr>
            <a:normAutofit/>
          </a:bodyPr>
          <a:lstStyle/>
          <a:p>
            <a:pPr marL="285750" indent="-28575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Furthermore, the marketing mix can be used as a collection of variables that can be used by companies to influence consumer responses.</a:t>
            </a:r>
          </a:p>
          <a:p>
            <a:pPr marL="285750" indent="-28575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At first, the Marketing Mix included four Ps of marketing, namely Promotion, Product, Place, Price.</a:t>
            </a:r>
          </a:p>
          <a:p>
            <a:pPr marL="285750" indent="-28575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Then, </a:t>
            </a:r>
            <a:r>
              <a:rPr lang="en-GB" dirty="0">
                <a:latin typeface="Times New Roman" panose="02020603050405020304" pitchFamily="18" charset="0"/>
                <a:cs typeface="Times New Roman" panose="02020603050405020304" pitchFamily="18" charset="0"/>
              </a:rPr>
              <a:t>o</a:t>
            </a:r>
            <a:r>
              <a:rPr lang="en-GB" b="0" i="0" u="none" strike="noStrike" baseline="0" dirty="0">
                <a:latin typeface="Times New Roman" panose="02020603050405020304" pitchFamily="18" charset="0"/>
                <a:cs typeface="Times New Roman" panose="02020603050405020304" pitchFamily="18" charset="0"/>
              </a:rPr>
              <a:t>ther Ps were added as the additional factors to the formula namely Process, People and Physical Evidence.</a:t>
            </a:r>
          </a:p>
          <a:p>
            <a:pPr marL="285750" indent="-28575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This brought the total Ps to 7.</a:t>
            </a:r>
          </a:p>
          <a:p>
            <a:pPr marL="285750" indent="-285750" algn="l">
              <a:buFont typeface="Wingdings" panose="05000000000000000000" pitchFamily="2" charset="2"/>
              <a:buChar char="q"/>
            </a:pP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1082561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pic>
        <p:nvPicPr>
          <p:cNvPr id="7" name="Picture 6">
            <a:extLst>
              <a:ext uri="{FF2B5EF4-FFF2-40B4-BE49-F238E27FC236}">
                <a16:creationId xmlns:a16="http://schemas.microsoft.com/office/drawing/2014/main" id="{D1A47F3A-68AF-F7CB-DF08-114FA7066433}"/>
              </a:ext>
            </a:extLst>
          </p:cNvPr>
          <p:cNvPicPr>
            <a:picLocks noChangeAspect="1"/>
          </p:cNvPicPr>
          <p:nvPr/>
        </p:nvPicPr>
        <p:blipFill>
          <a:blip r:embed="rId3"/>
          <a:stretch>
            <a:fillRect/>
          </a:stretch>
        </p:blipFill>
        <p:spPr>
          <a:xfrm>
            <a:off x="2054942" y="1281161"/>
            <a:ext cx="6581083" cy="5121067"/>
          </a:xfrm>
          <a:prstGeom prst="rect">
            <a:avLst/>
          </a:prstGeom>
        </p:spPr>
      </p:pic>
    </p:spTree>
    <p:extLst>
      <p:ext uri="{BB962C8B-B14F-4D97-AF65-F5344CB8AC3E}">
        <p14:creationId xmlns:p14="http://schemas.microsoft.com/office/powerpoint/2010/main" val="190765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521110" y="977429"/>
            <a:ext cx="5541991" cy="4828878"/>
          </a:xfrm>
        </p:spPr>
        <p:txBody>
          <a:bodyPr>
            <a:normAutofit fontScale="92500"/>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1. Product.</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The first “P” from Marketing Mix is Product, it can be the form of both </a:t>
            </a:r>
            <a:r>
              <a:rPr lang="en-GB" b="1" u="none" strike="noStrike" baseline="0" dirty="0">
                <a:latin typeface="Times New Roman" panose="02020603050405020304" pitchFamily="18" charset="0"/>
                <a:cs typeface="Times New Roman" panose="02020603050405020304" pitchFamily="18" charset="0"/>
              </a:rPr>
              <a:t>goods</a:t>
            </a:r>
            <a:r>
              <a:rPr lang="en-GB" b="0" u="none" strike="noStrike" baseline="0" dirty="0">
                <a:latin typeface="Times New Roman" panose="02020603050405020304" pitchFamily="18" charset="0"/>
                <a:cs typeface="Times New Roman" panose="02020603050405020304" pitchFamily="18" charset="0"/>
              </a:rPr>
              <a:t> or </a:t>
            </a:r>
            <a:r>
              <a:rPr lang="en-GB" b="1" u="none" strike="noStrike" baseline="0" dirty="0">
                <a:latin typeface="Times New Roman" panose="02020603050405020304" pitchFamily="18" charset="0"/>
                <a:cs typeface="Times New Roman" panose="02020603050405020304" pitchFamily="18" charset="0"/>
              </a:rPr>
              <a:t>services</a:t>
            </a:r>
            <a:r>
              <a:rPr lang="en-GB" b="0" u="none" strike="noStrike" baseline="0" dirty="0">
                <a:latin typeface="Times New Roman" panose="02020603050405020304" pitchFamily="18" charset="0"/>
                <a:cs typeface="Times New Roman" panose="02020603050405020304" pitchFamily="18" charset="0"/>
              </a:rPr>
              <a:t> from </a:t>
            </a:r>
            <a:r>
              <a:rPr lang="de-DE" b="0" u="none" strike="noStrike" baseline="0" dirty="0">
                <a:latin typeface="Times New Roman" panose="02020603050405020304" pitchFamily="18" charset="0"/>
                <a:cs typeface="Times New Roman" panose="02020603050405020304" pitchFamily="18" charset="0"/>
              </a:rPr>
              <a:t>producer into the consumers.</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The Product should fit the task consumers want it for, it should work and it should be what the consumers are expecting to get.</a:t>
            </a:r>
            <a:endParaRPr lang="de-DE" b="0" u="none" strike="noStrike" baseline="0" dirty="0">
              <a:latin typeface="Times New Roman" panose="02020603050405020304" pitchFamily="18" charset="0"/>
              <a:cs typeface="Times New Roman" panose="02020603050405020304" pitchFamily="18" charset="0"/>
            </a:endParaRPr>
          </a:p>
          <a:p>
            <a:pPr algn="just">
              <a:lnSpc>
                <a:spcPct val="150000"/>
              </a:lnSpc>
            </a:pP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pic>
        <p:nvPicPr>
          <p:cNvPr id="8" name="Picture 7">
            <a:extLst>
              <a:ext uri="{FF2B5EF4-FFF2-40B4-BE49-F238E27FC236}">
                <a16:creationId xmlns:a16="http://schemas.microsoft.com/office/drawing/2014/main" id="{BF5041F5-034C-3BB0-1AD0-C3B582092038}"/>
              </a:ext>
            </a:extLst>
          </p:cNvPr>
          <p:cNvPicPr>
            <a:picLocks noChangeAspect="1"/>
          </p:cNvPicPr>
          <p:nvPr/>
        </p:nvPicPr>
        <p:blipFill>
          <a:blip r:embed="rId3"/>
          <a:stretch>
            <a:fillRect/>
          </a:stretch>
        </p:blipFill>
        <p:spPr>
          <a:xfrm>
            <a:off x="6357539" y="1756375"/>
            <a:ext cx="2224321" cy="1672625"/>
          </a:xfrm>
          <a:prstGeom prst="rect">
            <a:avLst/>
          </a:prstGeom>
        </p:spPr>
      </p:pic>
      <p:pic>
        <p:nvPicPr>
          <p:cNvPr id="10" name="Picture 9">
            <a:extLst>
              <a:ext uri="{FF2B5EF4-FFF2-40B4-BE49-F238E27FC236}">
                <a16:creationId xmlns:a16="http://schemas.microsoft.com/office/drawing/2014/main" id="{33B8F70A-D42B-C735-5E9B-856CD907BF88}"/>
              </a:ext>
            </a:extLst>
          </p:cNvPr>
          <p:cNvPicPr>
            <a:picLocks noChangeAspect="1"/>
          </p:cNvPicPr>
          <p:nvPr/>
        </p:nvPicPr>
        <p:blipFill>
          <a:blip r:embed="rId4"/>
          <a:stretch>
            <a:fillRect/>
          </a:stretch>
        </p:blipFill>
        <p:spPr>
          <a:xfrm>
            <a:off x="8858366" y="1774941"/>
            <a:ext cx="2132368" cy="1672625"/>
          </a:xfrm>
          <a:prstGeom prst="rect">
            <a:avLst/>
          </a:prstGeom>
        </p:spPr>
      </p:pic>
      <p:pic>
        <p:nvPicPr>
          <p:cNvPr id="12" name="Picture 11">
            <a:extLst>
              <a:ext uri="{FF2B5EF4-FFF2-40B4-BE49-F238E27FC236}">
                <a16:creationId xmlns:a16="http://schemas.microsoft.com/office/drawing/2014/main" id="{8F18F8CD-CDC2-4D09-984F-75DFF77014E1}"/>
              </a:ext>
            </a:extLst>
          </p:cNvPr>
          <p:cNvPicPr>
            <a:picLocks noChangeAspect="1"/>
          </p:cNvPicPr>
          <p:nvPr/>
        </p:nvPicPr>
        <p:blipFill>
          <a:blip r:embed="rId5"/>
          <a:stretch>
            <a:fillRect/>
          </a:stretch>
        </p:blipFill>
        <p:spPr>
          <a:xfrm>
            <a:off x="6624742" y="3653913"/>
            <a:ext cx="4484506" cy="2814483"/>
          </a:xfrm>
          <a:prstGeom prst="rect">
            <a:avLst/>
          </a:prstGeom>
        </p:spPr>
      </p:pic>
    </p:spTree>
    <p:extLst>
      <p:ext uri="{BB962C8B-B14F-4D97-AF65-F5344CB8AC3E}">
        <p14:creationId xmlns:p14="http://schemas.microsoft.com/office/powerpoint/2010/main" val="2078092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818969" y="977429"/>
            <a:ext cx="8917857" cy="4828878"/>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1. Product.</a:t>
            </a:r>
            <a:endParaRPr lang="en-GB" b="1" i="0" dirty="0">
              <a:solidFill>
                <a:srgbClr val="000000"/>
              </a:solidFill>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When you’re marketing your product, you should think about the key features and benefits your customers want and how your product meets these needs. </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Consider competitor products too  how does the product you’re selling stack up against the competition in terms of product appearance, quality and durability?</a:t>
            </a: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3005508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521111" y="977429"/>
            <a:ext cx="11021960" cy="4828878"/>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1. Product.</a:t>
            </a:r>
            <a:endParaRPr lang="en-GB" b="1" i="0" dirty="0">
              <a:solidFill>
                <a:srgbClr val="000000"/>
              </a:solidFill>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GB" b="0" i="0" dirty="0">
                <a:effectLst/>
                <a:latin typeface="Times New Roman" panose="02020603050405020304" pitchFamily="18" charset="0"/>
                <a:cs typeface="Times New Roman" panose="02020603050405020304" pitchFamily="18" charset="0"/>
              </a:rPr>
              <a:t>If you’re starting a new business, you should undertake a thorough customer and competitor analysis as part of the product development process. </a:t>
            </a:r>
          </a:p>
          <a:p>
            <a:pPr marL="342900" indent="-342900" algn="just">
              <a:lnSpc>
                <a:spcPct val="150000"/>
              </a:lnSpc>
              <a:buFont typeface="Wingdings" panose="05000000000000000000" pitchFamily="2" charset="2"/>
              <a:buChar char="q"/>
            </a:pPr>
            <a:r>
              <a:rPr lang="en-GB" b="0" i="0" dirty="0">
                <a:effectLst/>
                <a:latin typeface="Times New Roman" panose="02020603050405020304" pitchFamily="18" charset="0"/>
                <a:cs typeface="Times New Roman" panose="02020603050405020304" pitchFamily="18" charset="0"/>
              </a:rPr>
              <a:t>Existing businesses can also benefit from performing a regular market analysis to help them ensure that their products continue to meet and exceed customer expectations.</a:t>
            </a: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2904536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521110" y="977429"/>
            <a:ext cx="11149779" cy="4828878"/>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2. Promotion.</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The way you promote your product will have a direct impact on the success of your brand. </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Promotion is an effort to inform the consumers about the information about goods or services from marketers through several media or face to face.</a:t>
            </a: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3467178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474838" y="1193739"/>
            <a:ext cx="9370141" cy="4828878"/>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2. Promotion.</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There are a vast number of promotional channels you can use in today’s market from traditional paid advertising via outdoor, TV, radio and the internet to more modern approaches including social </a:t>
            </a:r>
            <a:r>
              <a:rPr lang="en-GB" b="0" i="0" dirty="0">
                <a:effectLst/>
                <a:latin typeface="Times New Roman" panose="02020603050405020304" pitchFamily="18" charset="0"/>
                <a:cs typeface="Times New Roman" panose="02020603050405020304" pitchFamily="18" charset="0"/>
              </a:rPr>
              <a:t>media, SMS and email marketing </a:t>
            </a:r>
            <a:r>
              <a:rPr lang="en-GB" dirty="0">
                <a:latin typeface="Times New Roman" panose="02020603050405020304" pitchFamily="18" charset="0"/>
                <a:cs typeface="Times New Roman" panose="02020603050405020304" pitchFamily="18" charset="0"/>
              </a:rPr>
              <a:t>email marketing.</a:t>
            </a:r>
            <a:endParaRPr lang="en-GB" b="0" i="0" dirty="0">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GB" b="0" i="0" dirty="0">
                <a:effectLst/>
                <a:latin typeface="Times New Roman" panose="02020603050405020304" pitchFamily="18" charset="0"/>
                <a:cs typeface="Times New Roman" panose="02020603050405020304" pitchFamily="18" charset="0"/>
              </a:rPr>
              <a:t>Think about your target audience and the channels they use to be effective, you must promote your product where they are. </a:t>
            </a:r>
            <a:endParaRPr lang="en-ZM"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144517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445342" y="1061003"/>
            <a:ext cx="9537290" cy="4828878"/>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2. Promotion.</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If you’re not using digital promotion to market your business in 2024, you’re missing out on a huge opportunity. </a:t>
            </a:r>
          </a:p>
          <a:p>
            <a:pPr marL="342900" indent="-342900" algn="just">
              <a:lnSpc>
                <a:spcPct val="150000"/>
              </a:lnSpc>
              <a:buFont typeface="Wingdings" panose="05000000000000000000" pitchFamily="2" charset="2"/>
              <a:buChar char="q"/>
            </a:pPr>
            <a:r>
              <a:rPr lang="de-DE" b="0" i="0" u="none" strike="noStrike" baseline="0" dirty="0">
                <a:latin typeface="Times New Roman" panose="02020603050405020304" pitchFamily="18" charset="0"/>
                <a:cs typeface="Times New Roman" panose="02020603050405020304" pitchFamily="18" charset="0"/>
              </a:rPr>
              <a:t>E-advertising has brought </a:t>
            </a:r>
            <a:r>
              <a:rPr lang="en-GB" b="0" i="0" u="none" strike="noStrike" baseline="0" dirty="0">
                <a:latin typeface="Times New Roman" panose="02020603050405020304" pitchFamily="18" charset="0"/>
                <a:cs typeface="Times New Roman" panose="02020603050405020304" pitchFamily="18" charset="0"/>
              </a:rPr>
              <a:t>great opportunities for marketers to attract the interest of consumer negating their gender, age or community through the Internet and web-based marketing.</a:t>
            </a:r>
            <a:endParaRPr lang="en-ZM"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endParaRPr lang="en-GB" b="0" i="0" dirty="0">
              <a:solidFill>
                <a:srgbClr val="000000"/>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778324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521111" y="977429"/>
            <a:ext cx="11021960" cy="4828878"/>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3. Place</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The product should be available from where your target consumer finds it easiest to shop. </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This may be in shops, Malls or the more current option via e-commerce or an online shop.</a:t>
            </a:r>
            <a:endParaRPr lang="en-GB"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1210529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966453" y="1061003"/>
            <a:ext cx="7767483" cy="4828878"/>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3. Place</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The place of the sale by using IT is a site or a market place in the social network and the Internet. </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Customers can quickly get information about the products or services and comparing similar products without visiting the market place of the house of auction.</a:t>
            </a: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1709612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877962" y="1134744"/>
            <a:ext cx="8436076" cy="4912453"/>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4. Process</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Process, it is the whole actual procedure, mechanism, and activity flows that used regarding to the goods and services delivered to customers satisfied.</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Process refers to the processes involved in delivering your product or service to customers.</a:t>
            </a:r>
            <a:endParaRPr lang="en-GB"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3912213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2113937" y="1262563"/>
            <a:ext cx="8593392" cy="4912453"/>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4. Process</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This includes aspects like your </a:t>
            </a:r>
            <a:r>
              <a:rPr lang="en-GB" dirty="0">
                <a:solidFill>
                  <a:srgbClr val="000000"/>
                </a:solidFill>
                <a:latin typeface="Times New Roman" panose="02020603050405020304" pitchFamily="18" charset="0"/>
                <a:cs typeface="Times New Roman" panose="02020603050405020304" pitchFamily="18" charset="0"/>
              </a:rPr>
              <a:t>sales</a:t>
            </a:r>
            <a:r>
              <a:rPr lang="en-GB" b="0" i="0" dirty="0">
                <a:solidFill>
                  <a:srgbClr val="000000"/>
                </a:solidFill>
                <a:effectLst/>
                <a:latin typeface="Times New Roman" panose="02020603050405020304" pitchFamily="18" charset="0"/>
                <a:cs typeface="Times New Roman" panose="02020603050405020304" pitchFamily="18" charset="0"/>
              </a:rPr>
              <a:t> your payment systems, your distribution approach and the way you manage customer relationships. </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Having established, customer-focused processes in place supports your people to deliver a positive and consistent customer experience and work more efficiently.</a:t>
            </a:r>
            <a:endParaRPr lang="de-DE" dirty="0">
              <a:latin typeface="Times New Roman" panose="02020603050405020304" pitchFamily="18" charset="0"/>
              <a:cs typeface="Times New Roman" panose="02020603050405020304" pitchFamily="18" charset="0"/>
            </a:endParaRPr>
          </a:p>
          <a:p>
            <a:pPr algn="just">
              <a:lnSpc>
                <a:spcPct val="150000"/>
              </a:lnSpc>
            </a:pPr>
            <a:endParaRPr lang="de-DE"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457350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789471" y="1134744"/>
            <a:ext cx="8613057" cy="4912453"/>
          </a:xfrm>
        </p:spPr>
        <p:txBody>
          <a:bodyPr>
            <a:norm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4. Process</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Supply Chain is an effort to increase the marketer's competitive value to be more efficiency, which is managing the flow of the process from raw material suppliers through factories and warehouses to the end customer.</a:t>
            </a:r>
          </a:p>
          <a:p>
            <a:pPr algn="l"/>
            <a:endParaRPr lang="en-GB"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3167123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858526" y="1166880"/>
            <a:ext cx="8602766" cy="5266055"/>
          </a:xfrm>
        </p:spPr>
        <p:txBody>
          <a:bodyPr>
            <a:no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5. Price</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The Product should always be seen as representing good value for money. </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This does not necessarily mean it should be the cheapest available; one of the main tenets of the marketing concept is that customers are usually happy to pay a little more for something that works really well for them</a:t>
            </a:r>
            <a:r>
              <a:rPr lang="de-DE" b="0" u="none" strike="noStrike" baseline="0" dirty="0">
                <a:latin typeface="Times New Roman" panose="02020603050405020304" pitchFamily="18" charset="0"/>
                <a:cs typeface="Times New Roman" panose="02020603050405020304" pitchFamily="18" charset="0"/>
              </a:rPr>
              <a:t>.</a:t>
            </a:r>
            <a:endParaRPr lang="en-GB"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4179971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2134060" y="1208667"/>
            <a:ext cx="7688366" cy="5266055"/>
          </a:xfrm>
        </p:spPr>
        <p:txBody>
          <a:bodyPr>
            <a:no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5. Price</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Pricing in marketing should follow the market dynamics, also it is formed according to the rules of classical price formation, namely: cost, customer value, and competitors.</a:t>
            </a:r>
          </a:p>
          <a:p>
            <a:pPr algn="just">
              <a:lnSpc>
                <a:spcPct val="150000"/>
              </a:lnSpc>
            </a:pPr>
            <a:endParaRPr lang="en-GB"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668878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632155"/>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327355" y="1166880"/>
            <a:ext cx="9684774" cy="5266055"/>
          </a:xfrm>
        </p:spPr>
        <p:txBody>
          <a:bodyPr>
            <a:no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6. People</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All companies are reliant on the people who run them from front line Sales staff to the Managing Director. </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Having the right people is essential because they are as much a part of your business offering as the products/services you are offering.</a:t>
            </a:r>
            <a:endParaRPr lang="en-GB" b="0" u="none" strike="noStrike" baseline="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People in marketing involving the consumers and all the workers.</a:t>
            </a: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3987335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490467"/>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681777" y="1066277"/>
            <a:ext cx="8976391" cy="5266055"/>
          </a:xfrm>
        </p:spPr>
        <p:txBody>
          <a:bodyPr>
            <a:no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7. Physical evidence</a:t>
            </a:r>
          </a:p>
          <a:p>
            <a:pPr marL="342900" indent="-342900" algn="just">
              <a:lnSpc>
                <a:spcPct val="150000"/>
              </a:lnSpc>
              <a:buFont typeface="Wingdings" panose="05000000000000000000" pitchFamily="2" charset="2"/>
              <a:buChar char="q"/>
            </a:pPr>
            <a:r>
              <a:rPr lang="en-GB" b="0" u="none" strike="noStrike" baseline="0" dirty="0">
                <a:latin typeface="Times New Roman" panose="02020603050405020304" pitchFamily="18" charset="0"/>
                <a:cs typeface="Times New Roman" panose="02020603050405020304" pitchFamily="18" charset="0"/>
              </a:rPr>
              <a:t>Physical Evidence, such as building and environmental surrounding, equipment, logo, instrument, </a:t>
            </a:r>
            <a:r>
              <a:rPr lang="en-GB" b="0" u="none" strike="noStrike" baseline="0" dirty="0" err="1">
                <a:latin typeface="Times New Roman" panose="02020603050405020304" pitchFamily="18" charset="0"/>
                <a:cs typeface="Times New Roman" panose="02020603050405020304" pitchFamily="18" charset="0"/>
              </a:rPr>
              <a:t>color</a:t>
            </a:r>
            <a:r>
              <a:rPr lang="en-GB" b="0" u="none" strike="noStrike" baseline="0" dirty="0">
                <a:latin typeface="Times New Roman" panose="02020603050405020304" pitchFamily="18" charset="0"/>
                <a:cs typeface="Times New Roman" panose="02020603050405020304" pitchFamily="18" charset="0"/>
              </a:rPr>
              <a:t>, packaging are important. </a:t>
            </a:r>
          </a:p>
          <a:p>
            <a:pPr marL="342900" indent="-342900" algn="just">
              <a:lnSpc>
                <a:spcPct val="150000"/>
              </a:lnSpc>
              <a:buFont typeface="Wingdings" panose="05000000000000000000" pitchFamily="2" charset="2"/>
              <a:buChar char="q"/>
            </a:pPr>
            <a:r>
              <a:rPr lang="en-GB" b="0" i="0" dirty="0">
                <a:effectLst/>
                <a:highlight>
                  <a:srgbClr val="FFFFFF"/>
                </a:highlight>
                <a:latin typeface="Times New Roman" panose="02020603050405020304" pitchFamily="18" charset="0"/>
                <a:cs typeface="Times New Roman" panose="02020603050405020304" pitchFamily="18" charset="0"/>
              </a:rPr>
              <a:t>Almost all services include some physical elements even if the bulk of what the consumer is paying for is </a:t>
            </a:r>
            <a:r>
              <a:rPr lang="en-GB" dirty="0">
                <a:highlight>
                  <a:srgbClr val="FFFFFF"/>
                </a:highlight>
                <a:latin typeface="Times New Roman" panose="02020603050405020304" pitchFamily="18" charset="0"/>
                <a:cs typeface="Times New Roman" panose="02020603050405020304" pitchFamily="18" charset="0"/>
              </a:rPr>
              <a:t>minimal</a:t>
            </a:r>
            <a:r>
              <a:rPr lang="en-GB" b="0" i="0" dirty="0">
                <a:effectLst/>
                <a:highlight>
                  <a:srgbClr val="FFFFFF"/>
                </a:highlight>
                <a:latin typeface="Times New Roman" panose="02020603050405020304" pitchFamily="18" charset="0"/>
                <a:cs typeface="Times New Roman" panose="02020603050405020304" pitchFamily="18" charset="0"/>
              </a:rPr>
              <a:t>.</a:t>
            </a:r>
            <a:endParaRPr lang="de-DE"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2240247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490467"/>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en-GB" sz="6000" b="1" dirty="0">
                <a:latin typeface="Times New Roman" panose="02020603050405020304" pitchFamily="18" charset="0"/>
                <a:cs typeface="Times New Roman" panose="02020603050405020304" pitchFamily="18" charset="0"/>
              </a:rPr>
              <a:t>7Ps OF FISH MARKETING</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516739" y="985422"/>
            <a:ext cx="9286339" cy="5266055"/>
          </a:xfrm>
        </p:spPr>
        <p:txBody>
          <a:bodyPr>
            <a:noAutofit/>
          </a:bodyPr>
          <a:lstStyle/>
          <a:p>
            <a:pPr algn="just">
              <a:lnSpc>
                <a:spcPct val="150000"/>
              </a:lnSpc>
            </a:pPr>
            <a:r>
              <a:rPr lang="de-DE" b="1" u="none" strike="noStrike" baseline="0" dirty="0">
                <a:latin typeface="Times New Roman" panose="02020603050405020304" pitchFamily="18" charset="0"/>
                <a:cs typeface="Times New Roman" panose="02020603050405020304" pitchFamily="18" charset="0"/>
              </a:rPr>
              <a:t>7. Physical evidence</a:t>
            </a:r>
          </a:p>
          <a:p>
            <a:pPr marL="342900" indent="-342900" algn="just">
              <a:lnSpc>
                <a:spcPct val="150000"/>
              </a:lnSpc>
              <a:buFont typeface="Wingdings" panose="05000000000000000000" pitchFamily="2" charset="2"/>
              <a:buChar char="q"/>
            </a:pPr>
            <a:r>
              <a:rPr lang="en-GB" b="0" i="0" dirty="0">
                <a:solidFill>
                  <a:srgbClr val="000000"/>
                </a:solidFill>
                <a:effectLst/>
                <a:latin typeface="Times New Roman" panose="02020603050405020304" pitchFamily="18" charset="0"/>
                <a:cs typeface="Times New Roman" panose="02020603050405020304" pitchFamily="18" charset="0"/>
              </a:rPr>
              <a:t>Physical evidence isn’t just the marketing-focused things your customers see it also includes operational aspects like the way your staff look and act, your receipts or invoices</a:t>
            </a:r>
            <a:r>
              <a:rPr lang="en-GB" dirty="0">
                <a:solidFill>
                  <a:srgbClr val="000000"/>
                </a:solidFill>
                <a:latin typeface="Times New Roman" panose="02020603050405020304" pitchFamily="18" charset="0"/>
                <a:cs typeface="Times New Roman" panose="02020603050405020304" pitchFamily="18" charset="0"/>
              </a:rPr>
              <a:t>.</a:t>
            </a:r>
            <a:endParaRPr lang="de-DE" b="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1708146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490467"/>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fr-FR" sz="2700" b="1" i="0" u="none" strike="noStrike" baseline="0" dirty="0">
                <a:latin typeface="Times New Roman" panose="02020603050405020304" pitchFamily="18" charset="0"/>
                <a:cs typeface="Times New Roman" panose="02020603050405020304" pitchFamily="18" charset="0"/>
              </a:rPr>
              <a:t>CHALLENGES FACING EMERGING AQUACULTURE ENTREPRENEURS</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091382" y="1113682"/>
            <a:ext cx="9743766" cy="5137795"/>
          </a:xfrm>
        </p:spPr>
        <p:txBody>
          <a:bodyPr>
            <a:noAutofit/>
          </a:bodyPr>
          <a:lstStyle/>
          <a:p>
            <a:pPr marL="342900" indent="-342900" algn="just">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Lack of availability of necessary resources such as land, water, infrastructure</a:t>
            </a:r>
          </a:p>
          <a:p>
            <a:pPr marL="342900" indent="-342900" algn="just">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Lack of</a:t>
            </a:r>
            <a:r>
              <a:rPr lang="en-GB" b="0" i="0" u="none" strike="noStrike" baseline="0" dirty="0">
                <a:latin typeface="Times New Roman" panose="02020603050405020304" pitchFamily="18" charset="0"/>
                <a:cs typeface="Times New Roman" panose="02020603050405020304" pitchFamily="18" charset="0"/>
              </a:rPr>
              <a:t> financial support (Several financial institutions view aquaculture as a high-risk business, and as a consequence, decline financial support or loan requests from emerging farmers)</a:t>
            </a:r>
          </a:p>
          <a:p>
            <a:pPr marL="342900" indent="-342900" algn="just">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Lack of </a:t>
            </a:r>
            <a:r>
              <a:rPr lang="en-GB" b="0" i="0" u="none" strike="noStrike" baseline="0" dirty="0">
                <a:latin typeface="Times New Roman" panose="02020603050405020304" pitchFamily="18" charset="0"/>
                <a:cs typeface="Times New Roman" panose="02020603050405020304" pitchFamily="18" charset="0"/>
              </a:rPr>
              <a:t>access to markets</a:t>
            </a:r>
          </a:p>
          <a:p>
            <a:pPr algn="l"/>
            <a:endParaRPr lang="en-GB" sz="1800" dirty="0">
              <a:latin typeface="TimesNewRomanPSMT"/>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1471110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161352"/>
            <a:ext cx="11021961" cy="1490467"/>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fr-FR" sz="2700" b="1" i="0" u="none" strike="noStrike" baseline="0" dirty="0">
                <a:latin typeface="Times New Roman" panose="02020603050405020304" pitchFamily="18" charset="0"/>
                <a:cs typeface="Times New Roman" panose="02020603050405020304" pitchFamily="18" charset="0"/>
              </a:rPr>
              <a:t>CHALLENGES FACING EMERGING AQUACULTURE ENTREPRENEURS</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140542" y="906585"/>
            <a:ext cx="9458173" cy="5137795"/>
          </a:xfrm>
        </p:spPr>
        <p:txBody>
          <a:bodyPr>
            <a:noAutofit/>
          </a:bodyPr>
          <a:lstStyle/>
          <a:p>
            <a:pPr marL="285750" indent="-285750" algn="l">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High C</a:t>
            </a:r>
            <a:r>
              <a:rPr lang="en-GB" b="0" i="0" u="none" strike="noStrike" baseline="0" dirty="0">
                <a:latin typeface="Times New Roman" panose="02020603050405020304" pitchFamily="18" charset="0"/>
                <a:cs typeface="Times New Roman" panose="02020603050405020304" pitchFamily="18" charset="0"/>
              </a:rPr>
              <a:t>rime rates in some countries</a:t>
            </a:r>
          </a:p>
          <a:p>
            <a:pPr marL="285750" indent="-285750" algn="l">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Limited human resources in capacity building, skills and aquaculture expertise </a:t>
            </a:r>
          </a:p>
          <a:p>
            <a:pPr marL="285750" indent="-285750" algn="l">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Complex legislation governing aquaculture further limits the development of this sector to prospective investors</a:t>
            </a:r>
          </a:p>
          <a:p>
            <a:pPr marL="285750" indent="-285750" algn="l">
              <a:lnSpc>
                <a:spcPct val="150000"/>
              </a:lnSpc>
              <a:buFont typeface="Wingdings" panose="05000000000000000000" pitchFamily="2" charset="2"/>
              <a:buChar char="q"/>
            </a:pPr>
            <a:r>
              <a:rPr lang="en-GB" b="0" i="0" u="none" strike="noStrike" baseline="0" dirty="0">
                <a:latin typeface="Times New Roman" panose="02020603050405020304" pitchFamily="18" charset="0"/>
                <a:cs typeface="Times New Roman" panose="02020603050405020304" pitchFamily="18" charset="0"/>
              </a:rPr>
              <a:t>Fish and machinery theft in fish farms has an adverse effect, which had resulted in many enterprises closing down</a:t>
            </a:r>
          </a:p>
          <a:p>
            <a:pPr algn="l"/>
            <a:endParaRPr lang="en-GB" sz="1800" dirty="0">
              <a:latin typeface="TimesNewRomanPSMT"/>
            </a:endParaRP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2953757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A3C8-1EC7-C21F-C6BE-6B9CC7BF7C1A}"/>
              </a:ext>
            </a:extLst>
          </p:cNvPr>
          <p:cNvSpPr>
            <a:spLocks noGrp="1"/>
          </p:cNvSpPr>
          <p:nvPr>
            <p:ph type="ctrTitle"/>
          </p:nvPr>
        </p:nvSpPr>
        <p:spPr>
          <a:xfrm>
            <a:off x="648929" y="206037"/>
            <a:ext cx="11021961" cy="1445782"/>
          </a:xfrm>
        </p:spPr>
        <p:txBody>
          <a:bodyPr>
            <a:normAutofit fontScale="90000"/>
          </a:bodyPr>
          <a:lstStyle/>
          <a:p>
            <a:br>
              <a:rPr lang="en-GB" sz="6000" b="1" dirty="0">
                <a:latin typeface="Times New Roman" panose="02020603050405020304" pitchFamily="18" charset="0"/>
                <a:cs typeface="Times New Roman" panose="02020603050405020304" pitchFamily="18" charset="0"/>
              </a:rPr>
            </a:br>
            <a:br>
              <a:rPr lang="en-GB" sz="6000" b="1" dirty="0">
                <a:latin typeface="Times New Roman" panose="02020603050405020304" pitchFamily="18" charset="0"/>
                <a:cs typeface="Times New Roman" panose="02020603050405020304" pitchFamily="18" charset="0"/>
              </a:rPr>
            </a:br>
            <a:r>
              <a:rPr lang="fr-FR" sz="2700" b="1" i="0" u="none" strike="noStrike" baseline="0" dirty="0">
                <a:latin typeface="Times New Roman" panose="02020603050405020304" pitchFamily="18" charset="0"/>
                <a:cs typeface="Times New Roman" panose="02020603050405020304" pitchFamily="18" charset="0"/>
              </a:rPr>
              <a:t>Possible solutions</a:t>
            </a:r>
            <a:br>
              <a:rPr lang="en-ZM" sz="6000" b="1" dirty="0">
                <a:latin typeface="Times New Roman" panose="02020603050405020304" pitchFamily="18" charset="0"/>
                <a:cs typeface="Times New Roman" panose="02020603050405020304" pitchFamily="18" charset="0"/>
              </a:rPr>
            </a:br>
            <a:endParaRPr lang="en-ZM" dirty="0"/>
          </a:p>
        </p:txBody>
      </p:sp>
      <p:sp>
        <p:nvSpPr>
          <p:cNvPr id="3" name="Subtitle 2">
            <a:extLst>
              <a:ext uri="{FF2B5EF4-FFF2-40B4-BE49-F238E27FC236}">
                <a16:creationId xmlns:a16="http://schemas.microsoft.com/office/drawing/2014/main" id="{AA9BA086-40CD-1347-FB90-CB61671B9CD0}"/>
              </a:ext>
            </a:extLst>
          </p:cNvPr>
          <p:cNvSpPr>
            <a:spLocks noGrp="1"/>
          </p:cNvSpPr>
          <p:nvPr>
            <p:ph type="subTitle" idx="1"/>
          </p:nvPr>
        </p:nvSpPr>
        <p:spPr>
          <a:xfrm>
            <a:off x="167608" y="924232"/>
            <a:ext cx="11758920" cy="5137795"/>
          </a:xfrm>
        </p:spPr>
        <p:txBody>
          <a:bodyPr>
            <a:noAutofit/>
          </a:bodyPr>
          <a:lstStyle/>
          <a:p>
            <a:endParaRPr lang="en-GB" b="0" i="0" u="none" strike="noStrike" baseline="0"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GB" b="0" i="0" u="none" strike="noStrike" baseline="0"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r>
              <a:rPr lang="en-GB" sz="4000" b="1" i="0" u="none" strike="noStrike" baseline="0" dirty="0">
                <a:latin typeface="Times New Roman" panose="02020603050405020304" pitchFamily="18" charset="0"/>
                <a:cs typeface="Times New Roman" panose="02020603050405020304" pitchFamily="18" charset="0"/>
              </a:rPr>
              <a:t>What are some of the solutions to the above challenges?</a:t>
            </a:r>
          </a:p>
        </p:txBody>
      </p:sp>
      <p:pic>
        <p:nvPicPr>
          <p:cNvPr id="4" name="Picture 3">
            <a:extLst>
              <a:ext uri="{FF2B5EF4-FFF2-40B4-BE49-F238E27FC236}">
                <a16:creationId xmlns:a16="http://schemas.microsoft.com/office/drawing/2014/main" id="{45FCD1AF-B0DB-F3F5-3AE4-9E6BBE1A1AD3}"/>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67608" y="5806307"/>
            <a:ext cx="923773" cy="890341"/>
          </a:xfrm>
          <a:prstGeom prst="rect">
            <a:avLst/>
          </a:prstGeom>
          <a:noFill/>
          <a:ln>
            <a:noFill/>
          </a:ln>
        </p:spPr>
      </p:pic>
      <p:pic>
        <p:nvPicPr>
          <p:cNvPr id="5" name="Picture 4">
            <a:extLst>
              <a:ext uri="{FF2B5EF4-FFF2-40B4-BE49-F238E27FC236}">
                <a16:creationId xmlns:a16="http://schemas.microsoft.com/office/drawing/2014/main" id="{EA2CAE6F-D5EB-4D2D-11D3-6A8B3156EFB2}"/>
              </a:ext>
            </a:extLst>
          </p:cNvPr>
          <p:cNvPicPr>
            <a:picLocks noChangeAspect="1"/>
          </p:cNvPicPr>
          <p:nvPr/>
        </p:nvPicPr>
        <p:blipFill>
          <a:blip r:embed="rId2" cstate="print">
            <a:extLst>
              <a:ext uri="{28A0092B-C50C-407E-A947-70E740481C1C}">
                <a14:useLocalDpi xmlns:a14="http://schemas.microsoft.com/office/drawing/2010/main" val="0"/>
              </a:ext>
            </a:extLst>
          </a:blip>
          <a:srcRect l="44231" t="13676" b="14317"/>
          <a:stretch>
            <a:fillRect/>
          </a:stretch>
        </p:blipFill>
        <p:spPr bwMode="auto">
          <a:xfrm>
            <a:off x="11100619" y="5889881"/>
            <a:ext cx="923773" cy="890341"/>
          </a:xfrm>
          <a:prstGeom prst="rect">
            <a:avLst/>
          </a:prstGeom>
          <a:noFill/>
          <a:ln>
            <a:noFill/>
          </a:ln>
        </p:spPr>
      </p:pic>
    </p:spTree>
    <p:extLst>
      <p:ext uri="{BB962C8B-B14F-4D97-AF65-F5344CB8AC3E}">
        <p14:creationId xmlns:p14="http://schemas.microsoft.com/office/powerpoint/2010/main" val="545478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1337</Words>
  <Application>Microsoft Office PowerPoint</Application>
  <PresentationFormat>Widescreen</PresentationFormat>
  <Paragraphs>101</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Times New Roman</vt:lpstr>
      <vt:lpstr>TimesNewRomanPSMT</vt:lpstr>
      <vt:lpstr>Wingdings</vt:lpstr>
      <vt:lpstr>Office Theme</vt:lpstr>
      <vt:lpstr>PowerPoint Presentation</vt:lpstr>
      <vt:lpstr>  FISH MARKETING </vt:lpstr>
      <vt:lpstr>  FISH MARKETING </vt:lpstr>
      <vt:lpstr>  FISH MARKETING </vt:lpstr>
      <vt:lpstr>  FISH MARKETING </vt:lpstr>
      <vt:lpstr>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7Ps OF FISH MARKETING </vt:lpstr>
      <vt:lpstr>  CHALLENGES FACING EMERGING AQUACULTURE ENTREPRENEURS </vt:lpstr>
      <vt:lpstr>  CHALLENGES FACING EMERGING AQUACULTURE ENTREPRENEURS </vt:lpstr>
      <vt:lpstr>  Possible solutions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MPHANDE JOSEPH</dc:creator>
  <cp:lastModifiedBy>MPHANDE JOSEPH</cp:lastModifiedBy>
  <cp:revision>67</cp:revision>
  <dcterms:created xsi:type="dcterms:W3CDTF">2024-07-31T05:29:29Z</dcterms:created>
  <dcterms:modified xsi:type="dcterms:W3CDTF">2024-08-05T17:01:35Z</dcterms:modified>
</cp:coreProperties>
</file>