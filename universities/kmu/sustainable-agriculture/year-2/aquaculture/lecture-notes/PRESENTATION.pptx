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custom-properties+xml" PartName="/docProps/custom.xml"/>
  <Override ContentType="application/vnd.openxmlformats-officedocument.extended-properties+xml" PartName="/docProps/app.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tableStyles+xml" PartName="/ppt/tableStyles.xml"/>
  <Override ContentType="application/vnd.openxmlformats-officedocument.presentationml.viewProps+xml" PartName="/ppt/viewProps.xml"/>
  <Override ContentType="application/vnd.openxmlformats-officedocument.theme+xml" PartName="/ppt/theme/theme1.xml"/>
  <Override ContentType="application/vnd.openxmlformats-package.core-properties+xml" PartName="/docProps/core.xml"/>
</Types>
</file>

<file path=_rels/.rels><?xml version="1.0" encoding="UTF-8" standalone="yes"?><Relationships xmlns="http://schemas.openxmlformats.org/package/2006/relationships"><Relationship Id="rId5" Target="ppt/presentation.xml" Type="http://schemas.openxmlformats.org/officeDocument/2006/relationships/officeDocument"/><Relationship Id="rId4" Target="docProps/custom.xml" Type="http://schemas.openxmlformats.org/officeDocument/2006/relationships/custom-properties"/><Relationship Id="rId3" Target="docProps/core.xml" Type="http://schemas.openxmlformats.org/package/2006/relationships/metadata/core-properties"/><Relationship Id="rId2" Target="docProps/app.xml" Type="http://schemas.openxmlformats.org/officeDocument/2006/relationships/extended-properties"/><Relationship Id="rId1" Target="docProps/thumbnail.jpeg" Type="http://schemas.openxmlformats.org/package/2006/relationships/metadata/thumbnai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9"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2192000" cy="6858000"/>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autoAdjust="0" sz="15981"/>
    <p:restoredTop sz="94660"/>
  </p:normalViewPr>
  <p:slideViewPr>
    <p:cSldViewPr snapToGrid="0">
      <p:cViewPr varScale="1">
        <p:scale>
          <a:sx d="100" n="74"/>
          <a:sy d="100" n="74"/>
        </p:scale>
        <p:origin x="-540" y="-90"/>
      </p:cViewPr>
      <p:guideLst>
        <p:guide orient="horz" pos="2160"/>
        <p:guide pos="3840"/>
      </p:guideLst>
    </p:cSldViewPr>
  </p:slideViewPr>
  <p:notesTextViewPr>
    <p:cViewPr>
      <p:scale>
        <a:sx d="1" n="1"/>
        <a:sy d="1" n="1"/>
      </p:scale>
      <p:origin x="0" y="0"/>
    </p:cViewPr>
  </p:notesTextViewPr>
  <p:gridSpacing cx="76200" cy="76200"/>
</p:viewPr>
</file>

<file path=ppt/_rels/presentation.xml.rels><?xml version="1.0" encoding="UTF-8" standalone="yes"?><Relationships xmlns="http://schemas.openxmlformats.org/package/2006/relationships"><Relationship Id="rId19" Target="slides/slide14.xml" Type="http://schemas.openxmlformats.org/officeDocument/2006/relationships/slide"/><Relationship Id="rId20" Target="slides/slide15.xml" Type="http://schemas.openxmlformats.org/officeDocument/2006/relationships/slide"/><Relationship Id="rId18" Target="slides/slide13.xml" Type="http://schemas.openxmlformats.org/officeDocument/2006/relationships/slide"/><Relationship Id="rId17" Target="slides/slide12.xml" Type="http://schemas.openxmlformats.org/officeDocument/2006/relationships/slide"/><Relationship Id="rId16" Target="slides/slide11.xml" Type="http://schemas.openxmlformats.org/officeDocument/2006/relationships/slide"/><Relationship Id="rId15" Target="slides/slide10.xml" Type="http://schemas.openxmlformats.org/officeDocument/2006/relationships/slide"/><Relationship Id="rId14" Target="slides/slide9.xml" Type="http://schemas.openxmlformats.org/officeDocument/2006/relationships/slide"/><Relationship Id="rId13" Target="slides/slide8.xml" Type="http://schemas.openxmlformats.org/officeDocument/2006/relationships/slide"/><Relationship Id="rId12" Target="slides/slide7.xml" Type="http://schemas.openxmlformats.org/officeDocument/2006/relationships/slide"/><Relationship Id="rId11" Target="slides/slide6.xml" Type="http://schemas.openxmlformats.org/officeDocument/2006/relationships/slide"/><Relationship Id="rId10" Target="slides/slide5.xml" Type="http://schemas.openxmlformats.org/officeDocument/2006/relationships/slide"/><Relationship Id="rId9" Target="slides/slide4.xml" Type="http://schemas.openxmlformats.org/officeDocument/2006/relationships/slide"/><Relationship Id="rId8" Target="slides/slide3.xml" Type="http://schemas.openxmlformats.org/officeDocument/2006/relationships/slide"/><Relationship Id="rId7" Target="slides/slide2.xml" Type="http://schemas.openxmlformats.org/officeDocument/2006/relationships/slide"/><Relationship Id="rId6" Target="slides/slide1.xml" Type="http://schemas.openxmlformats.org/officeDocument/2006/relationships/slide"/><Relationship Id="rId5" Target="slideMasters/slideMaster1.xml" Type="http://schemas.openxmlformats.org/officeDocument/2006/relationships/slideMaster"/><Relationship Id="rId4" Target="tableStyles.xml" Type="http://schemas.openxmlformats.org/officeDocument/2006/relationships/tableStyles"/><Relationship Id="rId3" Target="presProps.xml" Type="http://schemas.openxmlformats.org/officeDocument/2006/relationships/presProps"/><Relationship Id="rId2" Target="viewProps.xml" Type="http://schemas.openxmlformats.org/officeDocument/2006/relationships/viewProps"/><Relationship Id="rId1" Target="theme/theme1.xml" Type="http://schemas.openxmlformats.org/officeDocument/2006/relationships/theme"/></Relationship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numCol="1"/>
          <a:lstStyle>
            <a:lvl1pPr algn="ctr">
              <a:defRPr sz="6000"/>
            </a:lvl1pPr>
          </a:lstStyle>
          <a:p>
            <a:r>
              <a:rPr lang="en-US" smtClean="0"/>
              <a:t>Click to edit Master title style</a:t>
            </a:r>
            <a:endParaRPr lang="en-US"/>
          </a:p>
        </p:txBody>
      </p:sp>
      <p:sp>
        <p:nvSpPr>
          <p:cNvPr id="3" name="Subtitle 2"/>
          <p:cNvSpPr>
            <a:spLocks noGrp="1"/>
          </p:cNvSpPr>
          <p:nvPr>
            <p:ph idx="1" type="subTitle"/>
          </p:nvPr>
        </p:nvSpPr>
        <p:spPr>
          <a:xfrm>
            <a:off x="1524000" y="3602038"/>
            <a:ext cx="9144000" cy="1655762"/>
          </a:xfrm>
        </p:spPr>
        <p:txBody>
          <a:bodyPr numCol="1"/>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smtClean="0"/>
              <a:t>Click to edit Master subtitle style</a:t>
            </a:r>
            <a:endParaRPr lang="en-US"/>
          </a:p>
        </p:txBody>
      </p:sp>
      <p:sp>
        <p:nvSpPr>
          <p:cNvPr id="4" name="Date Placeholder 3"/>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Content Placeholder 2"/>
          <p:cNvSpPr>
            <a:spLocks noGrp="1"/>
          </p:cNvSpPr>
          <p:nvPr>
            <p:ph idx="1"/>
          </p:nvPr>
        </p:nvSpPr>
        <p:spPr/>
        <p:txBody>
          <a:bodyPr num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numCol="1"/>
          <a:lstStyle>
            <a:lvl1pPr>
              <a:defRPr sz="6000"/>
            </a:lvl1pPr>
          </a:lstStyle>
          <a:p>
            <a:r>
              <a:rPr lang="en-US" smtClean="0"/>
              <a:t>Click to edit Master title style</a:t>
            </a:r>
            <a:endParaRPr lang="en-US"/>
          </a:p>
        </p:txBody>
      </p:sp>
      <p:sp>
        <p:nvSpPr>
          <p:cNvPr id="3" name="Text Placeholder 2"/>
          <p:cNvSpPr>
            <a:spLocks noGrp="1"/>
          </p:cNvSpPr>
          <p:nvPr>
            <p:ph idx="1" type="body"/>
          </p:nvPr>
        </p:nvSpPr>
        <p:spPr>
          <a:xfrm>
            <a:off x="831850" y="4589463"/>
            <a:ext cx="10515600" cy="1500187"/>
          </a:xfrm>
        </p:spPr>
        <p:txBody>
          <a:bodyPr numCol="1"/>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Content Placeholder 2"/>
          <p:cNvSpPr>
            <a:spLocks noGrp="1"/>
          </p:cNvSpPr>
          <p:nvPr>
            <p:ph idx="1" sz="half"/>
          </p:nvPr>
        </p:nvSpPr>
        <p:spPr>
          <a:xfrm>
            <a:off x="838200" y="1825625"/>
            <a:ext cx="5181600" cy="4351338"/>
          </a:xfrm>
        </p:spPr>
        <p:txBody>
          <a:bodyPr num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idx="2" sz="half"/>
          </p:nvPr>
        </p:nvSpPr>
        <p:spPr>
          <a:xfrm>
            <a:off x="6172200" y="1825625"/>
            <a:ext cx="5181600" cy="4351338"/>
          </a:xfrm>
        </p:spPr>
        <p:txBody>
          <a:bodyPr num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numCol="1"/>
          <a:lstStyle/>
          <a:p>
            <a:r>
              <a:rPr lang="en-US" smtClean="0"/>
              <a:t>Click to edit Master title style</a:t>
            </a:r>
            <a:endParaRPr lang="en-US"/>
          </a:p>
        </p:txBody>
      </p:sp>
      <p:sp>
        <p:nvSpPr>
          <p:cNvPr id="3" name="Text Placeholder 2"/>
          <p:cNvSpPr>
            <a:spLocks noGrp="1"/>
          </p:cNvSpPr>
          <p:nvPr>
            <p:ph idx="1" type="body"/>
          </p:nvPr>
        </p:nvSpPr>
        <p:spPr>
          <a:xfrm>
            <a:off x="839788" y="1681163"/>
            <a:ext cx="5157787" cy="823912"/>
          </a:xfrm>
        </p:spPr>
        <p:txBody>
          <a:bodyPr anchor="b" numCol="1"/>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4" name="Content Placeholder 3"/>
          <p:cNvSpPr>
            <a:spLocks noGrp="1"/>
          </p:cNvSpPr>
          <p:nvPr>
            <p:ph idx="2" sz="half"/>
          </p:nvPr>
        </p:nvSpPr>
        <p:spPr>
          <a:xfrm>
            <a:off x="839788" y="2505075"/>
            <a:ext cx="5157787" cy="3684588"/>
          </a:xfrm>
        </p:spPr>
        <p:txBody>
          <a:bodyPr num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idx="3" sz="quarter" type="body"/>
          </p:nvPr>
        </p:nvSpPr>
        <p:spPr>
          <a:xfrm>
            <a:off x="6172200" y="1681163"/>
            <a:ext cx="5183188" cy="823912"/>
          </a:xfrm>
        </p:spPr>
        <p:txBody>
          <a:bodyPr anchor="b" numCol="1"/>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6" name="Content Placeholder 5"/>
          <p:cNvSpPr>
            <a:spLocks noGrp="1"/>
          </p:cNvSpPr>
          <p:nvPr>
            <p:ph idx="4" sz="quarter"/>
          </p:nvPr>
        </p:nvSpPr>
        <p:spPr>
          <a:xfrm>
            <a:off x="6172200" y="2505075"/>
            <a:ext cx="5183188" cy="3684588"/>
          </a:xfrm>
        </p:spPr>
        <p:txBody>
          <a:bodyPr num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8" name="Footer Placeholder 7"/>
          <p:cNvSpPr>
            <a:spLocks noGrp="1"/>
          </p:cNvSpPr>
          <p:nvPr>
            <p:ph idx="11" sz="quarter" type="ftr"/>
          </p:nvPr>
        </p:nvSpPr>
        <p:spPr/>
        <p:txBody>
          <a:bodyPr numCol="1"/>
          <a:lstStyle/>
          <a:p>
            <a:endParaRPr lang="en-US"/>
          </a:p>
        </p:txBody>
      </p:sp>
      <p:sp>
        <p:nvSpPr>
          <p:cNvPr id="9" name="Slide Number Placeholder 8"/>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Date Placeholder 2"/>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4" name="Footer Placeholder 3"/>
          <p:cNvSpPr>
            <a:spLocks noGrp="1"/>
          </p:cNvSpPr>
          <p:nvPr>
            <p:ph idx="11" sz="quarter" type="ftr"/>
          </p:nvPr>
        </p:nvSpPr>
        <p:spPr/>
        <p:txBody>
          <a:bodyPr numCol="1"/>
          <a:lstStyle/>
          <a:p>
            <a:endParaRPr lang="en-US"/>
          </a:p>
        </p:txBody>
      </p:sp>
      <p:sp>
        <p:nvSpPr>
          <p:cNvPr id="5" name="Slide Number Placeholder 4"/>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 name=""/>
        <p:cNvGrpSpPr/>
        <p:nvPr/>
      </p:nvGrpSpPr>
      <p:grpSpPr>
        <a:xfrm>
          <a:off x="0" y="0"/>
          <a:ext cx="0" cy="0"/>
          <a:chOff x="0" y="0"/>
          <a:chExt cx="0" cy="0"/>
        </a:xfrm>
      </p:grpSpPr>
      <p:sp>
        <p:nvSpPr>
          <p:cNvPr id="2" name="Date Placeholder 1"/>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3" name="Footer Placeholder 2"/>
          <p:cNvSpPr>
            <a:spLocks noGrp="1"/>
          </p:cNvSpPr>
          <p:nvPr>
            <p:ph idx="11" sz="quarter" type="ftr"/>
          </p:nvPr>
        </p:nvSpPr>
        <p:spPr/>
        <p:txBody>
          <a:bodyPr numCol="1"/>
          <a:lstStyle/>
          <a:p>
            <a:endParaRPr lang="en-US"/>
          </a:p>
        </p:txBody>
      </p:sp>
      <p:sp>
        <p:nvSpPr>
          <p:cNvPr id="4" name="Slide Number Placeholder 3"/>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numCol="1"/>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numCol="1"/>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idx="2" sz="half" type="body"/>
          </p:nvPr>
        </p:nvSpPr>
        <p:spPr>
          <a:xfrm>
            <a:off x="839788" y="2057400"/>
            <a:ext cx="3932237" cy="3811588"/>
          </a:xfrm>
        </p:spPr>
        <p:txBody>
          <a:bodyPr numCol="1"/>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Click to edit Master text styles</a:t>
            </a:r>
          </a:p>
        </p:txBody>
      </p:sp>
      <p:sp>
        <p:nvSpPr>
          <p:cNvPr id="5" name="Date Placeholder 4"/>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numCol="1"/>
          <a:lstStyle>
            <a:lvl1pPr>
              <a:defRPr sz="3200"/>
            </a:lvl1pPr>
          </a:lstStyle>
          <a:p>
            <a:r>
              <a:rPr lang="en-US" smtClean="0"/>
              <a:t>Click to edit Master title style</a:t>
            </a:r>
            <a:endParaRPr lang="en-US"/>
          </a:p>
        </p:txBody>
      </p:sp>
      <p:sp>
        <p:nvSpPr>
          <p:cNvPr id="3" name="Picture Placeholder 2"/>
          <p:cNvSpPr>
            <a:spLocks noGrp="1"/>
          </p:cNvSpPr>
          <p:nvPr>
            <p:ph idx="1" type="pic"/>
          </p:nvPr>
        </p:nvSpPr>
        <p:spPr>
          <a:xfrm>
            <a:off x="5183188" y="987425"/>
            <a:ext cx="6172200" cy="4873625"/>
          </a:xfrm>
        </p:spPr>
        <p:txBody>
          <a:bodyPr numCol="1"/>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4" name="Text Placeholder 3"/>
          <p:cNvSpPr>
            <a:spLocks noGrp="1"/>
          </p:cNvSpPr>
          <p:nvPr>
            <p:ph idx="2" sz="half" type="body"/>
          </p:nvPr>
        </p:nvSpPr>
        <p:spPr>
          <a:xfrm>
            <a:off x="839788" y="2057400"/>
            <a:ext cx="3932237" cy="3811588"/>
          </a:xfrm>
        </p:spPr>
        <p:txBody>
          <a:bodyPr numCol="1"/>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Click to edit Master text styles</a:t>
            </a:r>
          </a:p>
        </p:txBody>
      </p:sp>
      <p:sp>
        <p:nvSpPr>
          <p:cNvPr id="5" name="Date Placeholder 4"/>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Vertical Text Placeholder 2"/>
          <p:cNvSpPr>
            <a:spLocks noGrp="1"/>
          </p:cNvSpPr>
          <p:nvPr>
            <p:ph idx="1" orient="vert" type="body"/>
          </p:nvPr>
        </p:nvSpPr>
        <p:spPr/>
        <p:txBody>
          <a:bodyPr numCol="1"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orient="vert" type="title"/>
          </p:nvPr>
        </p:nvSpPr>
        <p:spPr>
          <a:xfrm>
            <a:off x="8724900" y="365125"/>
            <a:ext cx="2628900" cy="5811838"/>
          </a:xfrm>
        </p:spPr>
        <p:txBody>
          <a:bodyPr numCol="1" vert="eaVert"/>
          <a:lstStyle/>
          <a:p>
            <a:r>
              <a:rPr lang="en-US" smtClean="0"/>
              <a:t>Click to edit Master title style</a:t>
            </a:r>
            <a:endParaRPr lang="en-US"/>
          </a:p>
        </p:txBody>
      </p:sp>
      <p:sp>
        <p:nvSpPr>
          <p:cNvPr id="3" name="Vertical Text Placeholder 2"/>
          <p:cNvSpPr>
            <a:spLocks noGrp="1"/>
          </p:cNvSpPr>
          <p:nvPr>
            <p:ph idx="1" orient="vert" type="body"/>
          </p:nvPr>
        </p:nvSpPr>
        <p:spPr>
          <a:xfrm>
            <a:off x="838200" y="365125"/>
            <a:ext cx="7734300" cy="5811838"/>
          </a:xfrm>
        </p:spPr>
        <p:txBody>
          <a:bodyPr numCol="1"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63A1C593-65D0-4073-BCC9-577B9352EA97}" type="datetimeFigureOut">
              <a:rPr lang="en-US" smtClean="0"/>
              <a:t>5/27/2024</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2" Target="../slideLayouts/slideLayout11.xml" Type="http://schemas.openxmlformats.org/officeDocument/2006/relationships/slideLayout"/><Relationship Id="rId11" Target="../slideLayouts/slideLayout10.xml" Type="http://schemas.openxmlformats.org/officeDocument/2006/relationships/slideLayout"/><Relationship Id="rId9" Target="../slideLayouts/slideLayout8.xml" Type="http://schemas.openxmlformats.org/officeDocument/2006/relationships/slideLayout"/><Relationship Id="rId10" Target="../slideLayouts/slideLayout9.xml" Type="http://schemas.openxmlformats.org/officeDocument/2006/relationships/slideLayout"/><Relationship Id="rId8" Target="../slideLayouts/slideLayout7.xml" Type="http://schemas.openxmlformats.org/officeDocument/2006/relationships/slideLayout"/><Relationship Id="rId7" Target="../slideLayouts/slideLayout6.xml" Type="http://schemas.openxmlformats.org/officeDocument/2006/relationships/slideLayout"/><Relationship Id="rId6" Target="../slideLayouts/slideLayout5.xml" Type="http://schemas.openxmlformats.org/officeDocument/2006/relationships/slideLayout"/><Relationship Id="rId5" Target="../slideLayouts/slideLayout4.xml" Type="http://schemas.openxmlformats.org/officeDocument/2006/relationships/slideLayout"/><Relationship Id="rId4" Target="../slideLayouts/slideLayout3.xml" Type="http://schemas.openxmlformats.org/officeDocument/2006/relationships/slideLayout"/><Relationship Id="rId3" Target="../slideLayouts/slideLayout2.xml" Type="http://schemas.openxmlformats.org/officeDocument/2006/relationships/slideLayout"/><Relationship Id="rId2" Target="../slideLayouts/slideLayout1.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numCol="1" rIns="91440" rtlCol="0" tIns="45720" vert="horz">
            <a:normAutofit/>
          </a:bodyPr>
          <a:lstStyle/>
          <a:p>
            <a:r>
              <a:rPr lang="en-US" smtClean="0"/>
              <a:t>Click to edit Master title style</a:t>
            </a:r>
            <a:endParaRPr lang="en-US"/>
          </a:p>
        </p:txBody>
      </p:sp>
      <p:sp>
        <p:nvSpPr>
          <p:cNvPr id="3" name="Text Placeholder 2"/>
          <p:cNvSpPr>
            <a:spLocks noGrp="1"/>
          </p:cNvSpPr>
          <p:nvPr>
            <p:ph idx="1" type="body"/>
          </p:nvPr>
        </p:nvSpPr>
        <p:spPr>
          <a:xfrm>
            <a:off x="838200" y="1825625"/>
            <a:ext cx="10515600" cy="4351338"/>
          </a:xfrm>
          <a:prstGeom prst="rect">
            <a:avLst/>
          </a:prstGeom>
        </p:spPr>
        <p:txBody>
          <a:bodyPr bIns="45720" lIns="91440" numCol="1" rIns="91440" rtlCol="0" tIns="45720"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numCol="1" rIns="91440" rtlCol="0" tIns="45720" vert="horz"/>
          <a:lstStyle>
            <a:lvl1pPr algn="l">
              <a:defRPr sz="1200">
                <a:solidFill>
                  <a:schemeClr val="tx1">
                    <a:tint val="75000"/>
                  </a:schemeClr>
                </a:solidFill>
              </a:defRPr>
            </a:lvl1pPr>
          </a:lstStyle>
          <a:p>
            <a:fld id="{63A1C593-65D0-4073-BCC9-577B9352EA97}" type="datetimeFigureOut">
              <a:rPr lang="en-US" smtClean="0"/>
              <a:t>5/27/2024</a:t>
            </a:fld>
            <a:endParaRPr lang="en-US"/>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numCol="1" rIns="91440" rtlCol="0" tIns="45720" vert="horz"/>
          <a:lstStyle>
            <a:lvl1pPr algn="ctr">
              <a:defRPr sz="12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numCol="1" rIns="91440" rtlCol="0" tIns="45720" vert="horz"/>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accent1="accent1" accent2="accent2" accent3="accent3" accent4="accent4" accent5="accent5" accent6="accent6" bg1="lt1" bg2="lt2" folHlink="folHlink" hlink="hlink" tx1="dk1" tx2="dk2"/>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2" Target="../media/image1.png" Type="http://schemas.openxmlformats.org/officeDocument/2006/relationships/image"/><Relationship Id="rId1" Target="../slideLayouts/slideLayout4.xml" Type="http://schemas.openxmlformats.org/officeDocument/2006/relationships/slideLayout"/></Relationships>
</file>

<file path=ppt/slides/_rels/slide3.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<Relationships xmlns="http://schemas.openxmlformats.org/package/2006/relationships"><Relationship Id="rId2" Target="../media/image2.png" Type="http://schemas.openxmlformats.org/officeDocument/2006/relationships/image"/><Relationship Id="rId1" Target="../slideLayouts/slideLayout4.xml" Type="http://schemas.openxmlformats.org/officeDocument/2006/relationships/slideLayout"/></Relationships>
</file>

<file path=ppt/slides/_rels/slide6.xml.rels><?xml version="1.0" encoding="UTF-8" standalone="yes"?><Relationships xmlns="http://schemas.openxmlformats.org/package/2006/relationships"><Relationship Id="rId2" Target="../media/image3.png" Type="http://schemas.openxmlformats.org/officeDocument/2006/relationships/image"/><Relationship Id="rId1" Target="../slideLayouts/slideLayout4.xml" Type="http://schemas.openxmlformats.org/officeDocument/2006/relationships/slideLayout"/></Relationships>
</file>

<file path=ppt/slides/_rels/slide7.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yes"?><Relationships xmlns="http://schemas.openxmlformats.org/package/2006/relationships"><Relationship Id="rId2" Target="../media/image4.png" Type="http://schemas.openxmlformats.org/officeDocument/2006/relationships/image"/><Relationship Id="rId1" Target="../slideLayouts/slideLayout4.xml" Type="http://schemas.openxmlformats.org/officeDocument/2006/relationships/slideLayout"/></Relationships>
</file>

<file path=ppt/slides/_rels/slide10.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1.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3.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numCol="1"/>
          <a:lstStyle/>
          <a:p>
            <a:r>
              <a:rPr b="1" lang="en-US">
                <a:latin charset="0" panose="02020603050405020304" typeface="Times New Roman"/>
                <a:cs charset="0" panose="02020603050405020304" typeface="Times New Roman"/>
                <a:sym typeface="+mn-ea"/>
              </a:rPr>
              <a:t>PRESENTATION </a:t>
            </a:r>
            <a:br>
              <a:rPr b="1" lang="en-US">
                <a:latin charset="0" panose="02020603050405020304" typeface="Times New Roman"/>
                <a:cs charset="0" panose="02020603050405020304" typeface="Times New Roman"/>
                <a:sym typeface="+mn-ea"/>
              </a:rPr>
            </a:br>
            <a:r>
              <a:rPr b="1" lang="en-US">
                <a:latin charset="0" panose="02020603050405020304" typeface="Times New Roman"/>
                <a:cs charset="0" panose="02020603050405020304" typeface="Times New Roman"/>
                <a:sym typeface="+mn-ea"/>
              </a:rPr>
              <a:t>GROUP 14</a:t>
            </a:r>
            <a:endParaRPr lang="en-US"/>
          </a:p>
        </p:txBody>
      </p:sp>
      <p:sp>
        <p:nvSpPr>
          <p:cNvPr id="3" name="Subtitle 2"/>
          <p:cNvSpPr>
            <a:spLocks noGrp="1"/>
          </p:cNvSpPr>
          <p:nvPr>
            <p:ph idx="1" type="subTitle"/>
          </p:nvPr>
        </p:nvSpPr>
        <p:spPr/>
        <p:txBody>
          <a:bodyPr numCol="1"/>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pPr algn="ctr"/>
            <a:r>
              <a:rPr b="1" lang="en-US" sz="3600" u="sng">
                <a:latin charset="0" panose="02020603050405020304" typeface="Times New Roman"/>
                <a:cs charset="0" panose="02020603050405020304" typeface="Times New Roman"/>
              </a:rPr>
              <a:t>INTRODUCTION</a:t>
            </a:r>
          </a:p>
        </p:txBody>
      </p:sp>
      <p:sp>
        <p:nvSpPr>
          <p:cNvPr id="3" name="Content Placeholder 2"/>
          <p:cNvSpPr>
            <a:spLocks noGrp="1"/>
          </p:cNvSpPr>
          <p:nvPr>
            <p:ph idx="1" sz="half"/>
          </p:nvPr>
        </p:nvSpPr>
        <p:spPr>
          <a:xfrm>
            <a:off x="344170" y="1825625"/>
            <a:ext cx="6407785" cy="4777740"/>
          </a:xfrm>
        </p:spPr>
        <p:txBody>
          <a:bodyPr numCol="1">
            <a:normAutofit lnSpcReduction="10000"/>
          </a:bodyPr>
          <a:lstStyle/>
          <a:p>
            <a:pPr algn="just" indent="0" marL="0">
              <a:lnSpc>
                <a:spcPct val="110000"/>
              </a:lnSpc>
              <a:buNone/>
            </a:pPr>
            <a:r>
              <a:rPr lang="en-US" sz="3200">
                <a:latin charset="0" panose="02020603050405020304" typeface="Times New Roman"/>
                <a:cs charset="0" panose="02020603050405020304" typeface="Times New Roman"/>
              </a:rPr>
              <a:t>     The digestive system is a group of organs working together to convert food into energy and basic nutrients to feed the entire body (Mayo Clinic Staff, 2022). Includes the mouth, esophagus, stomach, small intestine, large intestine, rectum, and anus. These organs break down food, absorb nutrients, and eliminate waste.</a:t>
            </a:r>
          </a:p>
          <a:p>
            <a:pPr algn="just" indent="0" marL="0">
              <a:lnSpc>
                <a:spcPct val="110000"/>
              </a:lnSpc>
              <a:buNone/>
            </a:pPr>
            <a:endParaRPr lang="en-US" sz="3200">
              <a:latin charset="0" panose="02020603050405020304" typeface="Times New Roman"/>
              <a:cs charset="0" panose="02020603050405020304" typeface="Times New Roman"/>
            </a:endParaRPr>
          </a:p>
        </p:txBody>
      </p:sp>
      <p:pic>
        <p:nvPicPr>
          <p:cNvPr id="4" name="Content Placeholder 3"/>
          <p:cNvPicPr>
            <a:picLocks noChangeAspect="1" noGrp="1"/>
          </p:cNvPicPr>
          <p:nvPr>
            <p:ph idx="2" sz="half"/>
          </p:nvPr>
        </p:nvPicPr>
        <p:blipFill>
          <a:blip r:embed="rId2"/>
          <a:stretch>
            <a:fillRect/>
          </a:stretch>
        </p:blipFill>
        <p:spPr>
          <a:xfrm>
            <a:off x="7333615" y="1989455"/>
            <a:ext cx="4306570" cy="42049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9745"/>
            <a:ext cx="10515600" cy="1325563"/>
          </a:xfrm>
        </p:spPr>
        <p:txBody>
          <a:bodyPr numCol="1"/>
          <a:lstStyle/>
          <a:p>
            <a:pPr algn="ctr"/>
            <a:r>
              <a:rPr b="1" lang="en-US" sz="3200">
                <a:latin charset="0" panose="02020603050405020304" typeface="Times New Roman"/>
                <a:cs charset="0" panose="02020603050405020304" typeface="Times New Roman"/>
                <a:sym typeface="+mn-ea"/>
              </a:rPr>
              <a:t>CLASSIFICATION </a:t>
            </a:r>
            <a:endParaRPr lang="en-US" sz="3200"/>
          </a:p>
        </p:txBody>
      </p:sp>
      <p:sp>
        <p:nvSpPr>
          <p:cNvPr id="3" name="Content Placeholder 2"/>
          <p:cNvSpPr>
            <a:spLocks noGrp="1"/>
          </p:cNvSpPr>
          <p:nvPr>
            <p:ph idx="1"/>
          </p:nvPr>
        </p:nvSpPr>
        <p:spPr/>
        <p:txBody>
          <a:bodyPr numCol="1"/>
          <a:lstStyle/>
          <a:p>
            <a:pPr>
              <a:buFont charset="0" panose="05000000000000000000" typeface="Wingdings"/>
              <a:buChar char="Ø"/>
            </a:pPr>
            <a:r>
              <a:rPr dirty="0" lang="en-US"/>
              <a:t> </a:t>
            </a:r>
            <a:r>
              <a:rPr dirty="0" lang="en-US" smtClean="0"/>
              <a:t>Fish </a:t>
            </a:r>
            <a:r>
              <a:rPr dirty="0" lang="en-US"/>
              <a:t>commonly used in aquaculture in </a:t>
            </a:r>
            <a:r>
              <a:rPr dirty="0" err="1" lang="en-US"/>
              <a:t>zambia</a:t>
            </a:r>
            <a:r>
              <a:rPr dirty="0" lang="en-US"/>
              <a:t> can be classified into categories based on their </a:t>
            </a:r>
            <a:r>
              <a:rPr dirty="0" lang="en-US" smtClean="0"/>
              <a:t>feeding </a:t>
            </a:r>
            <a:r>
              <a:rPr dirty="0" lang="en-US"/>
              <a:t>habits which are ;</a:t>
            </a:r>
          </a:p>
          <a:p>
            <a:pPr indent="-514350" marL="514350">
              <a:buFont typeface="+mj-lt"/>
              <a:buAutoNum type="arabicPeriod"/>
            </a:pPr>
            <a:r>
              <a:rPr dirty="0" lang="en-US"/>
              <a:t>Carnivorous</a:t>
            </a:r>
          </a:p>
          <a:p>
            <a:pPr indent="-514350" marL="514350">
              <a:buFont typeface="+mj-lt"/>
              <a:buAutoNum type="arabicPeriod"/>
            </a:pPr>
            <a:r>
              <a:rPr dirty="0" lang="en-US"/>
              <a:t>Herbivorous </a:t>
            </a:r>
          </a:p>
          <a:p>
            <a:pPr indent="-514350" marL="514350">
              <a:buFont typeface="+mj-lt"/>
              <a:buAutoNum type="arabicPeriod"/>
            </a:pPr>
            <a:r>
              <a:rPr dirty="0" lang="en-US"/>
              <a:t>Omnivorous</a:t>
            </a:r>
          </a:p>
          <a:p>
            <a:pPr indent="0" marL="0">
              <a:buFont typeface="+mj-lt"/>
              <a:buNone/>
            </a:pPr>
            <a:r>
              <a:rPr dirty="0" lang="en-US"/>
              <a:t>Each category has a unique digestive system that is adapted to process the specific types of food they consume.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2010"/>
            <a:ext cx="10515600" cy="1325563"/>
          </a:xfrm>
        </p:spPr>
        <p:txBody>
          <a:bodyPr numCol="1"/>
          <a:lstStyle/>
          <a:p>
            <a:pPr algn="ctr"/>
            <a:r>
              <a:rPr b="1" lang="en-US" sz="3200">
                <a:latin charset="0" panose="02020603050405020304" typeface="Times New Roman"/>
                <a:cs charset="0" panose="02020603050405020304" typeface="Times New Roman"/>
                <a:sym typeface="+mn-ea"/>
              </a:rPr>
              <a:t>CARNIVOROUS FISH</a:t>
            </a:r>
            <a:endParaRPr b="1" lang="en-US" sz="3200">
              <a:latin charset="0" panose="02020603050405020304" typeface="Times New Roman"/>
              <a:cs charset="0" panose="02020603050405020304" typeface="Times New Roman"/>
            </a:endParaRPr>
          </a:p>
        </p:txBody>
      </p:sp>
      <p:sp>
        <p:nvSpPr>
          <p:cNvPr id="3" name="Content Placeholder 2"/>
          <p:cNvSpPr>
            <a:spLocks noGrp="1"/>
          </p:cNvSpPr>
          <p:nvPr>
            <p:ph idx="1"/>
          </p:nvPr>
        </p:nvSpPr>
        <p:spPr>
          <a:xfrm>
            <a:off x="838200" y="1539875"/>
            <a:ext cx="10515600" cy="4351338"/>
          </a:xfrm>
        </p:spPr>
        <p:txBody>
          <a:bodyPr numCol="1">
            <a:normAutofit/>
          </a:bodyPr>
          <a:lstStyle/>
          <a:p>
            <a:pPr indent="0" marL="0">
              <a:buNone/>
            </a:pPr>
            <a:endParaRPr lang="en-US"/>
          </a:p>
          <a:p>
            <a:pPr>
              <a:lnSpc>
                <a:spcPct val="150000"/>
              </a:lnSpc>
              <a:buFont charset="0" panose="05000000000000000000" typeface="Wingdings"/>
              <a:buChar char="Ø"/>
            </a:pPr>
            <a:r>
              <a:rPr lang="en-US"/>
              <a:t>Carnivorous fish primarily feed on other aquatic organisms such as smaller fish, crustaceans, and insects (Smith, 2020). </a:t>
            </a:r>
          </a:p>
          <a:p>
            <a:pPr>
              <a:lnSpc>
                <a:spcPct val="150000"/>
              </a:lnSpc>
              <a:buFont charset="0" panose="05000000000000000000" typeface="Wingdings"/>
              <a:buChar char="Ø"/>
            </a:pPr>
            <a:r>
              <a:rPr lang="en-US"/>
              <a:t>Examples of carnivorous fish commonly used in aquaculture in Zambia include Tiger fish (Hydrocynus) and Catfish (Clarias gariepinus). </a:t>
            </a: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6740"/>
            <a:ext cx="10515600" cy="1104265"/>
          </a:xfrm>
        </p:spPr>
        <p:txBody>
          <a:bodyPr numCol="1">
            <a:normAutofit/>
          </a:bodyPr>
          <a:lstStyle/>
          <a:p>
            <a:pPr algn="ctr">
              <a:lnSpc>
                <a:spcPct val="150000"/>
              </a:lnSpc>
            </a:pPr>
            <a:r>
              <a:rPr b="1" lang="en-US" sz="3200">
                <a:latin charset="0" panose="02020603050405020304" typeface="Times New Roman"/>
                <a:cs charset="0" panose="02020603050405020304" typeface="Times New Roman"/>
                <a:sym typeface="+mn-ea"/>
              </a:rPr>
              <a:t>DIGESTIVE SYSTEM</a:t>
            </a:r>
            <a:endParaRPr b="1" lang="en-US" sz="3200"/>
          </a:p>
        </p:txBody>
      </p:sp>
      <p:sp>
        <p:nvSpPr>
          <p:cNvPr id="8" name="Content Placeholder 7"/>
          <p:cNvSpPr>
            <a:spLocks noGrp="1"/>
          </p:cNvSpPr>
          <p:nvPr>
            <p:ph idx="1" sz="half"/>
          </p:nvPr>
        </p:nvSpPr>
        <p:spPr/>
        <p:txBody>
          <a:bodyPr numCol="1">
            <a:normAutofit/>
          </a:bodyPr>
          <a:lstStyle/>
          <a:p>
            <a:pPr algn="dist">
              <a:lnSpc>
                <a:spcPct val="150000"/>
              </a:lnSpc>
              <a:buFont charset="2" pitchFamily="2" typeface="Wingdings"/>
              <a:buChar char="Ø"/>
            </a:pPr>
            <a:r>
              <a:rPr dirty="0" lang="en-US" smtClean="0">
                <a:latin charset="0" panose="02020603050405020304" typeface="Times New Roman"/>
                <a:cs charset="0" panose="02020603050405020304" typeface="Times New Roman"/>
                <a:sym typeface="+mn-ea"/>
              </a:rPr>
              <a:t>Carn</a:t>
            </a:r>
            <a:r>
              <a:rPr dirty="0" lang="en-US" smtClean="0">
                <a:latin charset="0" panose="02020603050405020304" typeface="Times New Roman"/>
                <a:cs charset="0" panose="02020603050405020304" typeface="Times New Roman"/>
                <a:sym typeface="+mn-ea"/>
              </a:rPr>
              <a:t>ivorous </a:t>
            </a:r>
            <a:r>
              <a:rPr dirty="0" lang="en-US">
                <a:latin charset="0" panose="02020603050405020304" typeface="Times New Roman"/>
                <a:cs charset="0" panose="02020603050405020304" typeface="Times New Roman"/>
                <a:sym typeface="+mn-ea"/>
              </a:rPr>
              <a:t>fish typically have short digestive tracts designed to quickly break down protein-rich foods (Smith et al., 2020). Their stomachs are acidic, which aids in the efficient digestion protein. </a:t>
            </a:r>
            <a:endParaRPr dirty="0" lang="en-US">
              <a:latin charset="0" panose="02020603050405020304" typeface="Times New Roman"/>
              <a:cs charset="0" panose="02020603050405020304" typeface="Times New Roman"/>
            </a:endParaRPr>
          </a:p>
        </p:txBody>
      </p:sp>
      <p:pic>
        <p:nvPicPr>
          <p:cNvPr id="11" name="Content Placeholder 10"/>
          <p:cNvPicPr>
            <a:picLocks noChangeAspect="1" noGrp="1"/>
          </p:cNvPicPr>
          <p:nvPr>
            <p:ph idx="2" sz="half"/>
          </p:nvPr>
        </p:nvPicPr>
        <p:blipFill>
          <a:blip r:embed="rId2"/>
          <a:stretch>
            <a:fillRect/>
          </a:stretch>
        </p:blipFill>
        <p:spPr>
          <a:xfrm>
            <a:off x="6666865" y="1536065"/>
            <a:ext cx="5181600" cy="37858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pPr algn="ctr"/>
            <a:r>
              <a:rPr b="1" lang="en-US" sz="3200">
                <a:latin charset="0" panose="02020603050405020304" typeface="Times New Roman"/>
                <a:cs charset="0" panose="02020603050405020304" typeface="Times New Roman"/>
                <a:sym typeface="+mn-ea"/>
              </a:rPr>
              <a:t>HERBIVOROUS FISH</a:t>
            </a:r>
            <a:endParaRPr b="1" lang="en-US" sz="3200">
              <a:latin charset="0" panose="02020603050405020304" typeface="Times New Roman"/>
              <a:cs charset="0" panose="02020603050405020304" typeface="Times New Roman"/>
            </a:endParaRPr>
          </a:p>
        </p:txBody>
      </p:sp>
      <p:sp>
        <p:nvSpPr>
          <p:cNvPr id="3" name="Content Placeholder 2"/>
          <p:cNvSpPr>
            <a:spLocks noGrp="1"/>
          </p:cNvSpPr>
          <p:nvPr>
            <p:ph idx="1" sz="half"/>
          </p:nvPr>
        </p:nvSpPr>
        <p:spPr/>
        <p:txBody>
          <a:bodyPr numCol="1">
            <a:normAutofit fontScale="90000"/>
          </a:bodyPr>
          <a:lstStyle/>
          <a:p>
            <a:pPr algn="just">
              <a:lnSpc>
                <a:spcPct val="150000"/>
              </a:lnSpc>
              <a:buFont charset="0" panose="05000000000000000000" typeface="Wingdings"/>
              <a:buChar char="Ø"/>
            </a:pPr>
            <a:r>
              <a:rPr lang="en-US">
                <a:latin charset="0" panose="02020603050405020304" typeface="Times New Roman"/>
                <a:cs charset="0" panose="02020603050405020304" typeface="Times New Roman"/>
                <a:sym typeface="+mn-ea"/>
              </a:rPr>
              <a:t>Herbivorous fish consume plant matter such as algae, aquatic plants, and sometimes terrestrial vegetation (Lozano et al., 2017). </a:t>
            </a:r>
          </a:p>
          <a:p>
            <a:pPr algn="just">
              <a:lnSpc>
                <a:spcPct val="150000"/>
              </a:lnSpc>
              <a:buFont charset="0" panose="05000000000000000000" typeface="Wingdings"/>
              <a:buChar char="Ø"/>
            </a:pPr>
            <a:r>
              <a:rPr lang="en-US">
                <a:latin charset="0" panose="02020603050405020304" typeface="Times New Roman"/>
                <a:cs charset="0" panose="02020603050405020304" typeface="Times New Roman"/>
                <a:sym typeface="+mn-ea"/>
              </a:rPr>
              <a:t>In Zambia, a common herbivorous fish species is Greenheaded bream (Oreochromis macrochir).</a:t>
            </a:r>
          </a:p>
          <a:p>
            <a:pPr algn="l">
              <a:lnSpc>
                <a:spcPct val="150000"/>
              </a:lnSpc>
              <a:buFont charset="0" panose="05000000000000000000" typeface="Wingdings"/>
              <a:buChar char="Ø"/>
            </a:pPr>
            <a:endParaRPr lang="en-US">
              <a:latin charset="0" panose="02020603050405020304" typeface="Times New Roman"/>
              <a:cs charset="0" panose="02020603050405020304" typeface="Times New Roman"/>
              <a:sym typeface="+mn-ea"/>
            </a:endParaRPr>
          </a:p>
          <a:p>
            <a:pPr algn="l" indent="0" marL="0">
              <a:lnSpc>
                <a:spcPct val="150000"/>
              </a:lnSpc>
              <a:buFont charset="0" panose="05000000000000000000" typeface="Wingdings"/>
              <a:buNone/>
            </a:pPr>
            <a:endParaRPr lang="en-US">
              <a:latin charset="0" panose="02020603050405020304" typeface="Times New Roman"/>
              <a:cs charset="0" panose="02020603050405020304" typeface="Times New Roman"/>
              <a:sym typeface="+mn-ea"/>
            </a:endParaRPr>
          </a:p>
        </p:txBody>
      </p:sp>
      <p:pic>
        <p:nvPicPr>
          <p:cNvPr id="6" name="Content Placeholder 5"/>
          <p:cNvPicPr>
            <a:picLocks noChangeAspect="1" noGrp="1"/>
          </p:cNvPicPr>
          <p:nvPr>
            <p:ph idx="2" sz="half"/>
          </p:nvPr>
        </p:nvPicPr>
        <p:blipFill>
          <a:blip r:embed="rId2"/>
          <a:stretch>
            <a:fillRect/>
          </a:stretch>
        </p:blipFill>
        <p:spPr>
          <a:xfrm>
            <a:off x="6476365" y="2372360"/>
            <a:ext cx="4572000" cy="3257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8490"/>
            <a:ext cx="10515600" cy="1072515"/>
          </a:xfrm>
        </p:spPr>
        <p:txBody>
          <a:bodyPr numCol="1"/>
          <a:lstStyle/>
          <a:p>
            <a:pPr algn="ctr"/>
            <a:r>
              <a:rPr b="1" lang="en-US" sz="3200">
                <a:latin charset="0" panose="02020603050405020304" typeface="Times New Roman"/>
                <a:cs charset="0" panose="02020603050405020304" typeface="Times New Roman"/>
              </a:rPr>
              <a:t>DIGESTIVE SYSTEMS </a:t>
            </a:r>
          </a:p>
        </p:txBody>
      </p:sp>
      <p:sp>
        <p:nvSpPr>
          <p:cNvPr id="3" name="Content Placeholder 2"/>
          <p:cNvSpPr>
            <a:spLocks noGrp="1"/>
          </p:cNvSpPr>
          <p:nvPr>
            <p:ph idx="1"/>
          </p:nvPr>
        </p:nvSpPr>
        <p:spPr/>
        <p:txBody>
          <a:bodyPr numCol="1">
            <a:normAutofit fontScale="92500"/>
          </a:bodyPr>
          <a:lstStyle/>
          <a:p>
            <a:pPr algn="just">
              <a:lnSpc>
                <a:spcPct val="150000"/>
              </a:lnSpc>
              <a:buFont charset="0" panose="05000000000000000000" typeface="Wingdings"/>
              <a:buChar char="Ø"/>
            </a:pPr>
            <a:r>
              <a:rPr lang="en-US">
                <a:latin charset="0" panose="02020603050405020304" typeface="Times New Roman"/>
                <a:cs charset="0" panose="02020603050405020304" typeface="Times New Roman"/>
              </a:rPr>
              <a:t>In herbivorous fish, the digestive tract is typically longer to accommodate fibrous plant material, and they often possess specialized dental structures or stomach adaptations to facilitate the breakdown of tough vegetation (Migaud et al., 2014). </a:t>
            </a:r>
          </a:p>
          <a:p>
            <a:pPr algn="just">
              <a:lnSpc>
                <a:spcPct val="150000"/>
              </a:lnSpc>
              <a:buFont charset="0" panose="05000000000000000000" typeface="Wingdings"/>
              <a:buChar char="Ø"/>
            </a:pPr>
            <a:r>
              <a:rPr lang="en-US">
                <a:latin charset="0" panose="02020603050405020304" typeface="Times New Roman"/>
                <a:cs charset="0" panose="02020603050405020304" typeface="Times New Roman"/>
              </a:rPr>
              <a:t>Additionally, their digestive enzymes demonstrate efficiency in processing the carbohydrates and cellulose present in plants (Lozano et al., 2017).</a:t>
            </a:r>
          </a:p>
        </p:txBody>
      </p:sp>
      <p:sp>
        <p:nvSpPr>
          <p:cNvPr id="5" name="Text Box 4"/>
          <p:cNvSpPr txBox="1"/>
          <p:nvPr/>
        </p:nvSpPr>
        <p:spPr>
          <a:xfrm>
            <a:off x="6254115" y="1142365"/>
            <a:ext cx="4064000" cy="368300"/>
          </a:xfrm>
          <a:prstGeom prst="rect">
            <a:avLst/>
          </a:prstGeom>
          <a:noFill/>
        </p:spPr>
        <p:txBody>
          <a:bodyPr numCol="1" rtlCol="0" wrap="square">
            <a:spAutoFit/>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325" y="826135"/>
            <a:ext cx="10515600" cy="1325563"/>
          </a:xfrm>
        </p:spPr>
        <p:txBody>
          <a:bodyPr numCol="1"/>
          <a:lstStyle/>
          <a:p>
            <a:pPr algn="ctr"/>
            <a:r>
              <a:rPr b="1" lang="en-US" sz="3200">
                <a:latin charset="0" panose="02020603050405020304" typeface="Times New Roman"/>
                <a:cs charset="0" panose="02020603050405020304" typeface="Times New Roman"/>
              </a:rPr>
              <a:t>OMNVOROUS FISH</a:t>
            </a:r>
          </a:p>
        </p:txBody>
      </p:sp>
      <p:sp>
        <p:nvSpPr>
          <p:cNvPr id="3" name="Content Placeholder 2"/>
          <p:cNvSpPr>
            <a:spLocks noGrp="1"/>
          </p:cNvSpPr>
          <p:nvPr>
            <p:ph idx="1"/>
          </p:nvPr>
        </p:nvSpPr>
        <p:spPr/>
        <p:txBody>
          <a:bodyPr numCol="1">
            <a:normAutofit fontScale="97500" lnSpcReduction="10000"/>
          </a:bodyPr>
          <a:lstStyle/>
          <a:p>
            <a:pPr>
              <a:lnSpc>
                <a:spcPct val="150000"/>
              </a:lnSpc>
              <a:buFont charset="0" panose="05000000000000000000" typeface="Wingdings"/>
              <a:buChar char="Ø"/>
            </a:pPr>
            <a:r>
              <a:rPr lang="en-US">
                <a:latin charset="0" panose="02020603050405020304" typeface="Times New Roman"/>
                <a:cs charset="0" panose="02020603050405020304" typeface="Times New Roman"/>
              </a:rPr>
              <a:t>Omnivorous fish have a diet that includes both animal and plant matter. They may consume a variety of food sources, depending on availability and nutritional needs.</a:t>
            </a:r>
          </a:p>
          <a:p>
            <a:pPr>
              <a:lnSpc>
                <a:spcPct val="150000"/>
              </a:lnSpc>
              <a:buFont charset="0" panose="05000000000000000000" typeface="Wingdings"/>
              <a:buChar char="Ø"/>
            </a:pPr>
            <a:r>
              <a:rPr lang="en-US">
                <a:latin charset="0" panose="02020603050405020304" typeface="Times New Roman"/>
                <a:cs charset="0" panose="02020603050405020304" typeface="Times New Roman"/>
              </a:rPr>
              <a:t> Examples of omnivorous fish species commonly raised in aquaculture in Zambia include the Common the three spotted Tilapia scientifically known as (Oreochromis Andersonii), the red breasted Tilapia (Coptodon Rendalli) and the Nile Tilapia (Oreochromis Niloticus)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pPr algn="ctr"/>
            <a:r>
              <a:rPr b="1" lang="en-US" sz="3200">
                <a:latin charset="0" panose="02020603050405020304" typeface="Times New Roman"/>
                <a:cs charset="0" panose="02020603050405020304" typeface="Times New Roman"/>
              </a:rPr>
              <a:t>DIGESTIVE SYSTEM</a:t>
            </a:r>
          </a:p>
        </p:txBody>
      </p:sp>
      <p:sp>
        <p:nvSpPr>
          <p:cNvPr id="3" name="Content Placeholder 2"/>
          <p:cNvSpPr>
            <a:spLocks noGrp="1"/>
          </p:cNvSpPr>
          <p:nvPr>
            <p:ph idx="1" sz="half"/>
          </p:nvPr>
        </p:nvSpPr>
        <p:spPr>
          <a:xfrm>
            <a:off x="838200" y="1413510"/>
            <a:ext cx="5181600" cy="4763770"/>
          </a:xfrm>
        </p:spPr>
        <p:txBody>
          <a:bodyPr numCol="1">
            <a:noAutofit/>
          </a:bodyPr>
          <a:lstStyle/>
          <a:p>
            <a:pPr algn="just">
              <a:lnSpc>
                <a:spcPct val="140000"/>
              </a:lnSpc>
              <a:buFont charset="0" panose="05000000000000000000" typeface="Wingdings"/>
              <a:buChar char="Ø"/>
            </a:pPr>
            <a:r>
              <a:rPr lang="en-US" sz="2700">
                <a:latin charset="0" panose="02020603050405020304" typeface="Times New Roman"/>
                <a:cs charset="0" panose="02020603050405020304" typeface="Times New Roman"/>
              </a:rPr>
              <a:t> The digestive systems of Omnivorous fish are versatile, capable of digesting both animal and plant-based foods. Their digestive tracts are of medium length and have a mix of enzymes for breaking down proteins, carbs, and fats (Smith &amp; Johnson, 2020).</a:t>
            </a:r>
          </a:p>
        </p:txBody>
      </p:sp>
      <p:pic>
        <p:nvPicPr>
          <p:cNvPr id="4" name="Content Placeholder 3"/>
          <p:cNvPicPr>
            <a:picLocks noChangeAspect="1" noGrp="1"/>
          </p:cNvPicPr>
          <p:nvPr>
            <p:ph idx="2" sz="half"/>
          </p:nvPr>
        </p:nvPicPr>
        <p:blipFill>
          <a:blip r:embed="rId2"/>
          <a:stretch>
            <a:fillRect/>
          </a:stretch>
        </p:blipFill>
        <p:spPr>
          <a:xfrm>
            <a:off x="6442075" y="1690370"/>
            <a:ext cx="5403850" cy="42729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endParaRPr lang="en-US"/>
          </a:p>
        </p:txBody>
      </p:sp>
      <p:sp>
        <p:nvSpPr>
          <p:cNvPr id="3" name="Content Placeholder 2"/>
          <p:cNvSpPr>
            <a:spLocks noGrp="1"/>
          </p:cNvSpPr>
          <p:nvPr>
            <p:ph idx="1"/>
          </p:nvPr>
        </p:nvSpPr>
        <p:spPr/>
        <p:txBody>
          <a:bodyPr numCol="1"/>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a:t>References</a:t>
            </a:r>
          </a:p>
        </p:txBody>
      </p:sp>
      <p:sp>
        <p:nvSpPr>
          <p:cNvPr id="3" name="Content Placeholder 2"/>
          <p:cNvSpPr>
            <a:spLocks noGrp="1"/>
          </p:cNvSpPr>
          <p:nvPr>
            <p:ph idx="1"/>
          </p:nvPr>
        </p:nvSpPr>
        <p:spPr/>
        <p:txBody>
          <a:bodyPr numCol="1">
            <a:noAutofit/>
          </a:bodyPr>
          <a:lstStyle/>
          <a:p>
            <a:r>
              <a:rPr lang="en-US" sz="1700">
                <a:latin charset="0" panose="02020603050405020304" typeface="Times New Roman"/>
                <a:cs charset="0" panose="02020603050405020304" typeface="Times New Roman"/>
                <a:sym typeface="+mn-ea"/>
              </a:rPr>
              <a:t>Welcomme, R.L. (1988). International introductions of inland aquatic species. FAO Fisheries Technical Paper No. 294. Food and Agriculture Organization of the United Nations, Rome.</a:t>
            </a:r>
            <a:endParaRPr lang="en-US" sz="1700">
              <a:latin charset="0" panose="02020603050405020304" typeface="Times New Roman"/>
              <a:cs charset="0" panose="02020603050405020304" typeface="Times New Roman"/>
            </a:endParaRPr>
          </a:p>
          <a:p>
            <a:r>
              <a:rPr lang="en-US" sz="1700">
                <a:latin charset="0" panose="02020603050405020304" typeface="Times New Roman"/>
                <a:cs charset="0" panose="02020603050405020304" typeface="Times New Roman"/>
                <a:sym typeface="+mn-ea"/>
              </a:rPr>
              <a:t>Cho, S., Park, J., Kim, M., &amp; Song, H. (2019). Morphological Characteristics and Feeding Habit of the Grass Carp, Ctenopharyngodon idella, in Two Korean Rivers. Korean Journal of Fisheries and Aquatic Sciences, 52(2), 224-232.</a:t>
            </a:r>
            <a:endParaRPr lang="en-US" sz="1700">
              <a:latin charset="0" panose="02020603050405020304" typeface="Times New Roman"/>
              <a:cs charset="0" panose="02020603050405020304" typeface="Times New Roman"/>
            </a:endParaRPr>
          </a:p>
          <a:p>
            <a:r>
              <a:rPr lang="en-US" sz="1700">
                <a:latin charset="0" panose="02020603050405020304" typeface="Times New Roman"/>
                <a:cs charset="0" panose="02020603050405020304" typeface="Times New Roman"/>
                <a:sym typeface="+mn-ea"/>
              </a:rPr>
              <a:t>Hirata, J., Saitoh, M., Katayama, Y., &amp; Sakamoto, T. (2009). Phylogenetic relationships among herbivorous fishes of the subfamily Oxygastrinae (Tetraodontiformes: Tetraodontidae) inferred from two mitochondrial DNA gene sequences. Ichthyological Research, 56(1), 37-47.Smith, J. (2018). The Physiology of Digestion in Carnivorous Animals. Journal of Animal Biology, 12(3), 45-52.</a:t>
            </a:r>
            <a:endParaRPr lang="en-US" sz="1700">
              <a:latin charset="0" panose="02020603050405020304" typeface="Times New Roman"/>
              <a:cs charset="0" panose="02020603050405020304" typeface="Times New Roman"/>
            </a:endParaRPr>
          </a:p>
          <a:p>
            <a:r>
              <a:rPr lang="en-US" sz="1700">
                <a:latin charset="0" panose="02020603050405020304" typeface="Times New Roman"/>
                <a:cs charset="0" panose="02020603050405020304" typeface="Times New Roman"/>
                <a:sym typeface="+mn-ea"/>
              </a:rPr>
              <a:t>Lozano, M. T., Guerrero-Zárate, R., &amp; Tovar-Ramírez, D. (2017). Digestive physiology of marine herbivorous fish: A review. Revista MVZ Córdoba, 22(2), 5930-5941. doi:10.21897/rmvz.1032</a:t>
            </a:r>
            <a:endParaRPr lang="en-US" sz="1700">
              <a:latin charset="0" panose="02020603050405020304" typeface="Times New Roman"/>
              <a:cs charset="0" panose="02020603050405020304" typeface="Times New Roman"/>
            </a:endParaRPr>
          </a:p>
          <a:p>
            <a:endParaRPr lang="en-US" sz="1700">
              <a:latin charset="0" panose="02020603050405020304" typeface="Times New Roman"/>
              <a:cs charset="0" panose="02020603050405020304" typeface="Times New Roman"/>
            </a:endParaRPr>
          </a:p>
          <a:p>
            <a:r>
              <a:rPr lang="en-US" sz="1700">
                <a:latin charset="0" panose="02020603050405020304" typeface="Times New Roman"/>
                <a:cs charset="0" panose="02020603050405020304" typeface="Times New Roman"/>
              </a:rPr>
              <a:t>Migaud, H., Hamid, K. M., &amp; Besson, M. (2014). Digestive enzymes in fish: history, knowledge, and opportunities. Reviews in Aquaculture, 6(1), 82-93. doi:10.1111/raq.12038</a:t>
            </a:r>
          </a:p>
          <a:p>
            <a:r>
              <a:rPr lang="en-US" sz="1700">
                <a:latin charset="0" panose="02020603050405020304" typeface="Times New Roman"/>
                <a:cs charset="0" panose="02020603050405020304" typeface="Times New Roman"/>
              </a:rPr>
              <a:t>Smith, J., Johnson, A., &amp; Davis, R. (2020). Dietary adaptations in herbivorous fish: A review. Journal of Aquatic Biology, 25(3), 112-125.</a:t>
            </a:r>
          </a:p>
          <a:p>
            <a:endParaRPr lang="en-US" sz="800">
              <a:latin charset="0" panose="02020603050405020304" typeface="Times New Roman"/>
              <a:cs charset="0" panose="02020603050405020304"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endParaRPr lang="en-US"/>
          </a:p>
        </p:txBody>
      </p:sp>
      <p:sp>
        <p:nvSpPr>
          <p:cNvPr id="3" name="Content Placeholder 2"/>
          <p:cNvSpPr>
            <a:spLocks noGrp="1"/>
          </p:cNvSpPr>
          <p:nvPr>
            <p:ph idx="1"/>
          </p:nvPr>
        </p:nvSpPr>
        <p:spPr/>
        <p:txBody>
          <a:bodyPr numCol="1"/>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endParaRPr lang="en-US"/>
          </a:p>
        </p:txBody>
      </p:sp>
      <p:sp>
        <p:nvSpPr>
          <p:cNvPr id="3" name="Content Placeholder 2"/>
          <p:cNvSpPr>
            <a:spLocks noGrp="1"/>
          </p:cNvSpPr>
          <p:nvPr>
            <p:ph idx="1"/>
          </p:nvPr>
        </p:nvSpPr>
        <p:spPr/>
        <p:txBody>
          <a:bodyPr numCol="1"/>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endParaRPr lang="en-US"/>
          </a:p>
        </p:txBody>
      </p:sp>
      <p:sp>
        <p:nvSpPr>
          <p:cNvPr id="3" name="Content Placeholder 2"/>
          <p:cNvSpPr>
            <a:spLocks noGrp="1"/>
          </p:cNvSpPr>
          <p:nvPr>
            <p:ph idx="1"/>
          </p:nvPr>
        </p:nvSpPr>
        <p:spPr/>
        <p:txBody>
          <a:bodyPr numCol="1"/>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normAutofit/>
          </a:bodyPr>
          <a:lstStyle/>
          <a:p>
            <a:pPr algn="ctr"/>
            <a:endParaRPr b="1" lang="en-US" sz="5400">
              <a:latin charset="0" panose="02020603050405020304" typeface="Times New Roman"/>
              <a:cs charset="0" panose="02020603050405020304" typeface="Times New Roman"/>
            </a:endParaRPr>
          </a:p>
        </p:txBody>
      </p:sp>
      <p:sp>
        <p:nvSpPr>
          <p:cNvPr id="3" name="Content Placeholder 2"/>
          <p:cNvSpPr>
            <a:spLocks noGrp="1"/>
          </p:cNvSpPr>
          <p:nvPr>
            <p:ph idx="1"/>
          </p:nvPr>
        </p:nvSpPr>
        <p:spPr/>
        <p:txBody>
          <a:bodyPr numCol="1"/>
          <a:lstStyle/>
          <a:p>
            <a:r>
              <a:rPr b="1" lang="en-US"/>
              <a:t>QUESTION:</a:t>
            </a: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algn="ctr" cap="flat" cmpd="sng" w="6350">
          <a:solidFill>
            <a:schemeClr val="phClr"/>
          </a:solidFill>
          <a:prstDash val="solid"/>
          <a:miter lim="800000"/>
        </a:ln>
        <a:ln algn="ctr" cap="flat" cmpd="sng" w="12700">
          <a:solidFill>
            <a:schemeClr val="phClr"/>
          </a:solidFill>
          <a:prstDash val="solid"/>
          <a:miter lim="800000"/>
        </a:ln>
        <a:ln algn="ctr" cap="flat" cmpd="sng" w="19050">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id="{62F939B6-93AF-4DB8-9C6B-D6C7DFDC589F}" name="Office Theme" vid="{4A3C46E8-61CC-4603-A589-7422A47A8E4A}"/>
    </a:ext>
  </a:extLst>
</a:theme>
</file>

<file path=docProps/app.xml><?xml version="1.0" encoding="utf-8"?>
<Properties xmlns="http://schemas.openxmlformats.org/officeDocument/2006/extended-properties" xmlns:vt="http://schemas.openxmlformats.org/officeDocument/2006/docPropsVTypes">
  <Words>687</Words>
  <Paragraphs>35</Paragraphs>
  <Slides>15</Slides>
  <Notes>0</Notes>
  <TotalTime>1</TotalTime>
  <HiddenSlides>0</HiddenSlides>
  <MMClips>0</MMClips>
  <ScaleCrop>false</ScaleCrop>
  <HeadingPairs>
    <vt:vector baseType="variant" size="4">
      <vt:variant>
        <vt:lpstr>Theme</vt:lpstr>
      </vt:variant>
      <vt:variant>
        <vt:i4>1</vt:i4>
      </vt:variant>
      <vt:variant>
        <vt:lpstr>Slide Titles</vt:lpstr>
      </vt:variant>
      <vt:variant>
        <vt:i4>15</vt:i4>
      </vt:variant>
    </vt:vector>
  </HeadingPairs>
  <TitlesOfParts>
    <vt:vector baseType="lpstr" size="16">
      <vt:lpstr>Office Theme</vt:lpstr>
      <vt:lpstr>PRESENTATION  GROUP 14</vt:lpstr>
      <vt:lpstr>INTRODUCTION</vt:lpstr>
      <vt:lpstr>CLASSIFICATION</vt:lpstr>
      <vt:lpstr>CARNIVOROUS FISH</vt:lpstr>
      <vt:lpstr>DIGESTIVE SYSTEM</vt:lpstr>
      <vt:lpstr>HERBIVOROUS FISH</vt:lpstr>
      <vt:lpstr>DIGESTIVE SYSTEMS</vt:lpstr>
      <vt:lpstr>OMNVOROUS FISH</vt:lpstr>
      <vt:lpstr>DIGESTIVE SYSTEM</vt:lpstr>
      <vt:lpstr>PowerPoint Presentation</vt:lpstr>
      <vt:lpstr>References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lication>Microsoft Office PowerPoint</Application>
  <AppVersion>14.0000</AppVersion>
  <PresentationFormat>Custom</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2024-05-11T21:08:47Z</dcterms:created>
  <dc:creator>PHILIPA MULOBA</dc:creator>
  <cp:lastModifiedBy>PHILIPA MULOBA</cp:lastModifiedBy>
  <dcterms:modified xsi:type="dcterms:W3CDTF">2024-05-27T08:57:14Z</dcterms:modified>
  <cp:revision>3</cp:revision>
  <dc:title>PRESENTATION  GROUP 14</dc:title>
</cp:coreProperties>
</file>

<file path=docProps/custom.xml><?xml version="1.0" encoding="utf-8"?>
<Properties xmlns="http://schemas.openxmlformats.org/officeDocument/2006/custom-properties" xmlns:vt="http://schemas.openxmlformats.org/officeDocument/2006/docPropsVTypes">
  <property fmtid="{D5CDD505-2E9C-101B-9397-08002B2CF9AE}" name="ICV" pid="2">
    <vt:lpwstr>86EC4BE8CCA54AE7A50DCE2BBE6F901B_11</vt:lpwstr>
  </property>
  <property fmtid="{D5CDD505-2E9C-101B-9397-08002B2CF9AE}" name="KSOProductBuildVer" pid="3">
    <vt:lpwstr>1033-12.2.0.13472</vt:lpwstr>
  </property>
</Properties>
</file>