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7" r:id="rId2"/>
    <p:sldId id="260" r:id="rId3"/>
    <p:sldId id="313" r:id="rId4"/>
    <p:sldId id="261" r:id="rId5"/>
    <p:sldId id="262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4" r:id="rId15"/>
    <p:sldId id="276" r:id="rId16"/>
    <p:sldId id="277" r:id="rId17"/>
    <p:sldId id="293" r:id="rId18"/>
    <p:sldId id="294" r:id="rId19"/>
    <p:sldId id="295" r:id="rId20"/>
    <p:sldId id="278" r:id="rId21"/>
    <p:sldId id="299" r:id="rId22"/>
    <p:sldId id="300" r:id="rId23"/>
    <p:sldId id="301" r:id="rId24"/>
    <p:sldId id="302" r:id="rId25"/>
    <p:sldId id="303" r:id="rId26"/>
    <p:sldId id="308" r:id="rId27"/>
    <p:sldId id="304" r:id="rId28"/>
    <p:sldId id="305" r:id="rId29"/>
    <p:sldId id="306" r:id="rId30"/>
    <p:sldId id="307" r:id="rId31"/>
    <p:sldId id="311" r:id="rId32"/>
    <p:sldId id="312" r:id="rId33"/>
    <p:sldId id="279" r:id="rId34"/>
    <p:sldId id="30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321" r:id="rId47"/>
    <p:sldId id="322" r:id="rId48"/>
    <p:sldId id="291" r:id="rId49"/>
    <p:sldId id="292" r:id="rId50"/>
    <p:sldId id="296" r:id="rId51"/>
    <p:sldId id="297" r:id="rId52"/>
    <p:sldId id="298" r:id="rId53"/>
    <p:sldId id="314" r:id="rId54"/>
    <p:sldId id="315" r:id="rId55"/>
    <p:sldId id="316" r:id="rId56"/>
    <p:sldId id="317" r:id="rId57"/>
    <p:sldId id="318" r:id="rId58"/>
    <p:sldId id="319" r:id="rId59"/>
    <p:sldId id="310" r:id="rId60"/>
    <p:sldId id="323" r:id="rId61"/>
    <p:sldId id="263" r:id="rId62"/>
    <p:sldId id="264" r:id="rId63"/>
    <p:sldId id="265" r:id="rId64"/>
    <p:sldId id="266" r:id="rId65"/>
    <p:sldId id="324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93D7C-CF25-4535-B94A-5942B5EC8B73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0C4E-1E4B-4CE9-A059-26528C251BE8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2356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Char char="□"/>
              <a:tabLst>
                <a:tab pos="989965" algn="l"/>
                <a:tab pos="990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Draw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–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up 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action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plan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–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“things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to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do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list”</a:t>
            </a: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  <a:p>
            <a:pPr marL="742950" lvl="1" indent="-285750">
              <a:spcBef>
                <a:spcPts val="345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Char char="□"/>
              <a:tabLst>
                <a:tab pos="989965" algn="l"/>
                <a:tab pos="990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Set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out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priorities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based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on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what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urgent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and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important</a:t>
            </a: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  <a:p>
            <a:pPr marL="742950" lvl="1" indent="-285750">
              <a:spcBef>
                <a:spcPts val="335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Char char="□"/>
              <a:tabLst>
                <a:tab pos="989965" algn="l"/>
                <a:tab pos="9906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Schedule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your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time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realistically</a:t>
            </a: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77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36412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78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76729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79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735085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80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959372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81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9172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82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510082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690"/>
              </a:spcBef>
              <a:spcAft>
                <a:spcPts val="0"/>
              </a:spcAft>
              <a:buSzPts val="1200"/>
              <a:buFont typeface="Segoe UI Symbol" panose="020B0502040204020203" pitchFamily="34" charset="0"/>
              <a:buNone/>
              <a:tabLst>
                <a:tab pos="989965" algn="l"/>
                <a:tab pos="990600" algn="l"/>
              </a:tabLst>
            </a:pPr>
            <a:endParaRPr lang="en-ZM" sz="1800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0C4E-1E4B-4CE9-A059-26528C251BE8}" type="slidenum">
              <a:rPr lang="en-ZM" smtClean="0"/>
              <a:t>83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68859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A6CD-C4BD-835F-B2FF-6C2BCC010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D6F47-0B98-C071-4B69-3BB066FA8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A6319-8D56-020E-4087-CA3EEF97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8E77E-FA05-F6A2-E8FA-BA0DCECF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53E8B-CA9D-D5EB-0172-3DC33672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06307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6B53-4873-2574-8661-90CBB04F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2B4E-F4BF-96D4-D4E8-998CAA1E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5EB7-40FE-F683-7603-70BBA90B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1DAA0-ED91-DCE3-588D-C876E914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C985-D9F7-57CE-C2F0-A9D54E4C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2870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DE96-79A3-DC79-F977-C700828F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40FC3-34C6-0342-FD4A-CAC09A3A5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B8423-3848-FCC3-178A-C8AD952E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5BB75-4B82-C116-C875-430A7D44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98698-162B-82B9-F581-B34D988D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417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E5C2-05B2-ECDD-C0DA-93B20D9E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D528-D020-23F2-11C7-DACBEB275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1592E-E120-1191-C11E-D58D315BC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C8205-29FF-6C70-62A0-CE7534E5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407FA-6482-672A-5A7C-9010B904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7DD3F-8FCD-52DD-E0C5-4594791C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124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C71E-F1F3-8111-8941-A6CAA698B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B4170-5915-1D6E-AB4D-A4684784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55126-78C3-6ECD-4619-4DD555FF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F53E7-F7BC-DC51-E598-EA222321E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5E0F3-8FBD-F486-A95C-1E40D77E6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C5624-B471-EC45-8DB4-ED07D5B5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8AC45-B619-39E0-223C-FF0F5A25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37A6D-A715-CB80-E6F2-27037384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1880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31FA-46C7-01AC-BBEA-81586C22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33F8E-BDE1-DF9C-C333-A6B3BEF1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C0FD2-3A44-CA11-1F42-95B5F128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BB27-06C5-6F8F-96EE-EDF0D966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51113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26B1B-11A9-3759-5FF5-047D2F4A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A0369-DE7B-666B-8362-6D6802F1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790DF-D204-7FF2-B7E0-3EC8AC9F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63515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E1A6-4F7F-8F8B-A903-8DFC2A390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98FA-47D8-6B70-2469-53ED1D78C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BD518-E27B-0002-B9B2-46E7D61F4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D868A-ACD7-9227-6E73-D1813296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60B70-2179-6F4D-E6F1-5F8B06CB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DF8E0-DB17-0598-9B4E-64F3DD68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75148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E310-03DF-EE66-A382-B64EC99C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57139-0612-DF19-676F-2BEF5B6BE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6FF76-E6F4-9FC7-2796-6AA68E12E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68E2F-F39A-B717-1972-A5B3F3FA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1329F-3F0C-77DB-B8B7-D1FF9B24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CBE06-43E8-62FA-F808-EA8606BC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43934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403F-4901-F42B-B2AA-F53B32E4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E4C36-F94E-229F-6AD2-99CD838F9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81FB-072B-BCF7-34CF-979F9B61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E6DF3-40C5-050F-CD22-607D16C0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C02A-2EF7-3225-A093-0D714DF1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27728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066E90-5D09-7E32-3A72-C1EC96E04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A9723-6C92-439C-4FAC-824DAB2F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F0AC-E849-DDC6-F8D1-39E28DE6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E15A4-19FE-D6DC-47FC-FD43CEA2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8A829-C791-9D75-5646-3A222BD4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11031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427A4-CEB8-C0F6-6F9F-8D92B8EB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F305-C7C3-C5D5-9AD3-513C714E2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90E0A-1BB1-26C0-117F-6283F71BC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729C6-C28C-4502-B0B0-03764689FBA9}" type="datetimeFigureOut">
              <a:rPr lang="en-ZM" smtClean="0"/>
              <a:t>01/08/2024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D600F-4F49-ED50-2C19-F4A2013D1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ED45-E24A-9DDC-006C-59F02313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ACB82-4569-4F1F-89A5-F613E5C55F0B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27149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5806307"/>
            <a:ext cx="923773" cy="890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100619" y="5806307"/>
            <a:ext cx="923773" cy="8903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DAB9989-CA86-7072-4A0E-BCBC8CE84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321" y="4410648"/>
            <a:ext cx="9022704" cy="2286000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 Mphande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Sustainable Aquaculture –University of Stirling, UK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 -Aquaculture and Fisheries Science-LUANAR, Malawi.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josephmphande90@gmail.com</a:t>
            </a:r>
            <a:endParaRPr lang="en-Z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BA5DE1B-A088-51F3-D4CC-C65DF1B2D0F7}"/>
              </a:ext>
            </a:extLst>
          </p:cNvPr>
          <p:cNvSpPr txBox="1">
            <a:spLocks/>
          </p:cNvSpPr>
          <p:nvPr/>
        </p:nvSpPr>
        <p:spPr>
          <a:xfrm>
            <a:off x="678571" y="521963"/>
            <a:ext cx="10972800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TERM THREE OF 2024 AQUACULTURE COURSE (SA220)</a:t>
            </a:r>
            <a:endParaRPr lang="en-ZM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4FA99E-67E1-2ED6-EA63-36D0FBC4A1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9" t="27462" r="51464" b="12017"/>
          <a:stretch/>
        </p:blipFill>
        <p:spPr>
          <a:xfrm>
            <a:off x="167608" y="2472396"/>
            <a:ext cx="2037703" cy="1743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06D60-352B-45DA-E847-D5B4D6B94A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12" r="16538" b="45225"/>
          <a:stretch/>
        </p:blipFill>
        <p:spPr>
          <a:xfrm>
            <a:off x="10124631" y="2472396"/>
            <a:ext cx="1754154" cy="156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257125"/>
            <a:ext cx="9576619" cy="1343075"/>
          </a:xfrm>
        </p:spPr>
        <p:txBody>
          <a:bodyPr>
            <a:normAutofit/>
          </a:bodyPr>
          <a:lstStyle/>
          <a:p>
            <a:r>
              <a:rPr lang="en-GB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NOTICES</a:t>
            </a:r>
            <a:endParaRPr lang="en-ZM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28" y="1982172"/>
            <a:ext cx="9144000" cy="3389671"/>
          </a:xfrm>
        </p:spPr>
        <p:txBody>
          <a:bodyPr/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/>
              <a:t>We shall have a test 3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/>
              <a:t>We shall have an assignment (Class based)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</a:rPr>
              <a:t>Class notes are encouraged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/>
              <a:t>We shall do revisions (Question based) student led</a:t>
            </a:r>
          </a:p>
          <a:p>
            <a:pPr algn="just"/>
            <a:endParaRPr lang="en-ZM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1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257125"/>
            <a:ext cx="9576619" cy="1343075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PRESENTATION-JOSEPH CHUMA</a:t>
            </a:r>
            <a:endParaRPr lang="en-ZM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28" y="1982172"/>
            <a:ext cx="9144000" cy="3389671"/>
          </a:xfrm>
        </p:spPr>
        <p:txBody>
          <a:bodyPr/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/>
              <a:t>5 MINUTES PRESENTATION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/>
              <a:t>5 MINUTES QUESTIONS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GB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GB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</a:rPr>
              <a:t>Initial marks to be allocated by the class reps and the group leader</a:t>
            </a:r>
          </a:p>
          <a:p>
            <a:pPr algn="just"/>
            <a:endParaRPr lang="en-ZM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85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569" y="257125"/>
            <a:ext cx="10510684" cy="1030901"/>
          </a:xfrm>
        </p:spPr>
        <p:txBody>
          <a:bodyPr>
            <a:normAutofit/>
          </a:bodyPr>
          <a:lstStyle/>
          <a:p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ENTERPRENEURSHIP</a:t>
            </a:r>
            <a:endParaRPr lang="en-ZM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set of thin line icons aquaculture production process - Royalty-free Aquacultuur vectorkunst">
            <a:extLst>
              <a:ext uri="{FF2B5EF4-FFF2-40B4-BE49-F238E27FC236}">
                <a16:creationId xmlns:a16="http://schemas.microsoft.com/office/drawing/2014/main" id="{F7BC0CAD-FCAF-74DC-5CE3-48F6508C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78" y="1502042"/>
            <a:ext cx="8563896" cy="49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29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3" y="1681315"/>
            <a:ext cx="10953135" cy="429669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meaning of Value chain?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set of intertwined businesses and actors that participate in the coordinated production and value-adding activities needed to make products that consumers are prepared to purchase.</a:t>
            </a:r>
          </a:p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aquaculture value chain?</a:t>
            </a:r>
            <a:endParaRPr lang="en-Z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770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3" y="1681315"/>
            <a:ext cx="10953135" cy="429669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aquaculture value chain.</a:t>
            </a:r>
            <a:endParaRPr lang="en-GB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E1FCB0-1944-1B42-D6F6-1131834F7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4" y="2646088"/>
            <a:ext cx="9236452" cy="1040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DCBE6A-FD54-81EB-F038-F4F54FBDA893}"/>
              </a:ext>
            </a:extLst>
          </p:cNvPr>
          <p:cNvSpPr txBox="1"/>
          <p:nvPr/>
        </p:nvSpPr>
        <p:spPr>
          <a:xfrm>
            <a:off x="1818969" y="5853938"/>
            <a:ext cx="9792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Adapted (Kaminski et al., 2018). </a:t>
            </a:r>
            <a:r>
              <a:rPr lang="de-DE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https://doi.org/10.1016/j.aquaculture.2017.12.010</a:t>
            </a:r>
            <a:endParaRPr lang="en-ZM" sz="1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39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3" y="1681315"/>
            <a:ext cx="10953135" cy="429669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aquaculture value chain.</a:t>
            </a:r>
            <a:endParaRPr lang="en-GB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Aquaculture production value chain for grow-out in Uganda">
            <a:extLst>
              <a:ext uri="{FF2B5EF4-FFF2-40B4-BE49-F238E27FC236}">
                <a16:creationId xmlns:a16="http://schemas.microsoft.com/office/drawing/2014/main" id="{8734272A-1BD9-4AA2-1299-D3F1AA0B3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5"/>
          <a:stretch/>
        </p:blipFill>
        <p:spPr bwMode="auto">
          <a:xfrm>
            <a:off x="1381410" y="2412949"/>
            <a:ext cx="8617996" cy="392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86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3" y="1681315"/>
            <a:ext cx="10953135" cy="429669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 focuses on </a:t>
            </a:r>
            <a:r>
              <a:rPr lang="en-GB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business linkages through out the chain in order to make the chain perform better and in a competitive manner.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Caution: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of one actor is affected by the actions of the others, which results in either a good or poor performance of the entire chain. </a:t>
            </a:r>
            <a:endParaRPr lang="en-GB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706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0953135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OF A FUNCTIONAL AQUACULTURE VALUE CHAIN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differ depending on a given player or actor in the Value chain for instance,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benefits for a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farmers would;  increased income, secure linkages to markets, and access to new services to aid production. 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for a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improved quality and flow of raw materials, reduced transaction costs would be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merits that they obtain from the value chain. </a:t>
            </a:r>
          </a:p>
          <a:p>
            <a:pPr marR="0"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92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AQUACULTURE VALUE CHAIN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0953135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OF A FUNCTIONAL AQUACULTURE VALUE CHAIN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Further, for a t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raders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having access to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reliable supply of products, higher quality products maybe some of the advantages of the a value chain that is properly functional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reduces the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burden and is an avenue for local resources mobilisation through tax.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79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ENTERPRENEURSHIP?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566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ENTERPRENEURSHIP?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about creating or establishing a business.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a dynamic, social process where individuals, alone or in</a:t>
            </a:r>
          </a:p>
          <a:p>
            <a:pPr algn="just"/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identify financial opportunities and act upon them by establishing</a:t>
            </a:r>
          </a:p>
          <a:p>
            <a:pPr algn="just"/>
            <a:r>
              <a:rPr lang="de-DE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enterprises.</a:t>
            </a:r>
            <a:endParaRPr lang="en-GB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 is more than simply starting or operating a small business because it is both a science and an art.</a:t>
            </a:r>
            <a:endParaRPr lang="en-GB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10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ENTERPRENEURSHIP?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identifying business opportunities, allocating resources, and taking risks to produce goods and services of value, through creative and </a:t>
            </a:r>
            <a:r>
              <a:rPr lang="de-DE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processes, to satisfy unmet consumer demands.</a:t>
            </a:r>
            <a:endParaRPr lang="en-GB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9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note that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impact on individuals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financial opportunities.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an impact on the economic well‐being of a society.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Innovation.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dynamic.</a:t>
            </a:r>
            <a:endParaRPr lang="en-GB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604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an entrepreneur?</a:t>
            </a:r>
          </a:p>
          <a:p>
            <a:pPr algn="just">
              <a:lnSpc>
                <a:spcPct val="150000"/>
              </a:lnSpc>
            </a:pPr>
            <a:r>
              <a:rPr lang="en-GB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entrepreneur is someone (person) who in pursuit of profits and at a risk makes the most of the opportunities in the environment by combining the expertise and resources of the community in different ways to produce products and services for </a:t>
            </a:r>
            <a:r>
              <a:rPr lang="de-DE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(</a:t>
            </a: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Cronje et al 2001) </a:t>
            </a:r>
            <a:r>
              <a:rPr lang="de-DE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771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an entrepreneur?</a:t>
            </a:r>
          </a:p>
          <a:p>
            <a:pPr algn="just">
              <a:lnSpc>
                <a:spcPct val="150000"/>
              </a:lnSpc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risk taker, Be innovative, Possess business acumen and </a:t>
            </a: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potential opportunities in the community.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main process that entrepreneurs have to o through according to </a:t>
            </a: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Nieman et al. (2003).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7118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to an entrepreneur.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ancient period the word entrepreneur was used to refer to a person managing large commercial projects through the </a:t>
            </a:r>
            <a:r>
              <a:rPr lang="de-DE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 provided to him.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C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17th Century a person who has signed a contractual agreement with the government to provide stipulated products or to perform service was considered as entrepreneur.</a:t>
            </a:r>
          </a:p>
          <a:p>
            <a:pPr algn="l"/>
            <a:r>
              <a:rPr lang="en-GB" sz="1800" b="0" i="0" u="none" strike="noStrike" baseline="0" dirty="0">
                <a:solidFill>
                  <a:srgbClr val="C10000"/>
                </a:solidFill>
                <a:latin typeface="Verdana" panose="020B0604030504040204" pitchFamily="34" charset="0"/>
              </a:rPr>
              <a:t>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2510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to an entrepreneur.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18th Century the first theory of entrepreneur has been developed by Richard Cantillon. He said that an entrepreneur is a risk taker. If we consider the merchant, farmers and /or the professionals they all operate at risk. For example, the merchants buy products at a known price and sell it at unknown price and this shows that they are operating at risk.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617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to an entrepreneur.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other development during the 18th Century is the differentiation of the entrepreneurial role from capital providing role. The later role is the base for today’s venture </a:t>
            </a:r>
            <a:r>
              <a:rPr lang="de-DE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capitalist.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C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late 19th and early 20th Century an entrepreneur was viewed from economic perspectives. The entrepreneur organizes and operates an enterprise for personal gain.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middle of the 20th and early 21thCentury the notion of an entrepreneur as an inventor was established.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398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an entrepreneur?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AB94E-2380-4D1C-ECCC-C2A7C8EE5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658" y="1875668"/>
            <a:ext cx="6440128" cy="409267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1791BA-87F2-0932-7D6A-48E489B82DF4}"/>
              </a:ext>
            </a:extLst>
          </p:cNvPr>
          <p:cNvSpPr/>
          <p:nvPr/>
        </p:nvSpPr>
        <p:spPr>
          <a:xfrm>
            <a:off x="3470787" y="4227872"/>
            <a:ext cx="747252" cy="5604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M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463AC8-2A83-C2EC-AB61-65EDAA7CAEB4}"/>
              </a:ext>
            </a:extLst>
          </p:cNvPr>
          <p:cNvSpPr/>
          <p:nvPr/>
        </p:nvSpPr>
        <p:spPr>
          <a:xfrm>
            <a:off x="4503174" y="3429000"/>
            <a:ext cx="766916" cy="6907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36560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1. Identifying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Need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marR="404495" lvl="1" indent="-285750" algn="just">
              <a:lnSpc>
                <a:spcPct val="150000"/>
              </a:lnSpc>
              <a:spcBef>
                <a:spcPts val="23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 need can be an opportunity and indeed a consumer buys to satisfy need. Abraham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Maslow in his humanistic hierarchy of needs, physical needs to very high personalized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needs.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marR="404495" lvl="1" indent="-285750" algn="just">
              <a:lnSpc>
                <a:spcPct val="150000"/>
              </a:lnSpc>
              <a:spcBef>
                <a:spcPts val="2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Therefore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identifying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unidentified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or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unserved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need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sure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way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generating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business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ideas. 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429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1. Identifying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Need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800100" marR="404495" lvl="1" indent="-342900" algn="just">
              <a:lnSpc>
                <a:spcPct val="150000"/>
              </a:lnSpc>
              <a:spcBef>
                <a:spcPts val="23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94361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Brain</a:t>
            </a:r>
            <a:r>
              <a:rPr lang="en-US" sz="2400" b="1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Storming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This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process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detaching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analysis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from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actual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ideas.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marR="405765" lvl="1" indent="-285750" algn="just">
              <a:lnSpc>
                <a:spcPct val="150000"/>
              </a:lnSpc>
              <a:spcBef>
                <a:spcPts val="1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 idea may or may not be related to a given product. In brainstorming even silly and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stupid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ideas may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generated.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022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1. Identifying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Need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One’s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Skill,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Hobbies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Interests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Business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can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generated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through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SzPts val="1200"/>
              <a:tabLst>
                <a:tab pos="1447800" algn="l"/>
              </a:tabLst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personal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interests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hobbies</a:t>
            </a:r>
            <a:endParaRPr lang="en-ZM" sz="24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430"/>
              </a:spcBef>
              <a:spcAft>
                <a:spcPts val="0"/>
              </a:spcAft>
              <a:buSzPts val="1200"/>
              <a:tabLst>
                <a:tab pos="1448435" algn="l"/>
              </a:tabLst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Copying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improving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somebody’s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skills)</a:t>
            </a:r>
            <a:endParaRPr lang="en-ZM" sz="24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Sporting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Niche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04495" lvl="1" indent="-285750" algn="just">
              <a:lnSpc>
                <a:spcPct val="150000"/>
              </a:lnSpc>
              <a:spcBef>
                <a:spcPts val="7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Entrepreneurs usually look for gaps in the growing markets, identifying market sections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which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are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not being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utilized.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1625">
              <a:spcBef>
                <a:spcPts val="385"/>
              </a:spcBef>
              <a:spcAft>
                <a:spcPts val="0"/>
              </a:spcAft>
            </a:pPr>
            <a:b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968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1. Identifying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Need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spcBef>
                <a:spcPts val="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ZM" sz="11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644525" indent="-342900" algn="just">
              <a:lnSpc>
                <a:spcPct val="150000"/>
              </a:lnSpc>
              <a:spcBef>
                <a:spcPts val="385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Listening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say.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7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2975" algn="l"/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These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are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people</a:t>
            </a:r>
            <a:r>
              <a:rPr lang="en-US" sz="2400" spc="2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who</a:t>
            </a:r>
            <a:r>
              <a:rPr lang="en-US" sz="2400" spc="2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simply</a:t>
            </a:r>
            <a:r>
              <a:rPr lang="en-US" sz="2400" spc="19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say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or</a:t>
            </a:r>
            <a:r>
              <a:rPr lang="en-US" sz="2400" spc="2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speak</a:t>
            </a:r>
            <a:r>
              <a:rPr lang="en-US" sz="2400" spc="2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their</a:t>
            </a:r>
            <a:r>
              <a:rPr lang="en-US" sz="2400" spc="2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needs</a:t>
            </a:r>
            <a:r>
              <a:rPr lang="en-US" sz="2400" spc="2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e.g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if</a:t>
            </a:r>
            <a:r>
              <a:rPr lang="en-US" sz="2400" spc="2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these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good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</a:t>
            </a:r>
            <a:r>
              <a:rPr lang="en-US" sz="2400" spc="2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services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285875" indent="-342900" algn="just">
              <a:lnSpc>
                <a:spcPct val="150000"/>
              </a:lnSpc>
              <a:spcBef>
                <a:spcPts val="8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listening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06400" lvl="1" indent="-285750" algn="just">
              <a:lnSpc>
                <a:spcPct val="150000"/>
              </a:lnSpc>
              <a:spcBef>
                <a:spcPts val="4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2975" algn="l"/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This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method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generating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business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ideas</a:t>
            </a:r>
            <a:r>
              <a:rPr lang="en-US" sz="2400" spc="2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based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on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changing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way</a:t>
            </a:r>
            <a:r>
              <a:rPr lang="en-US" sz="2400" spc="20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one</a:t>
            </a:r>
            <a:r>
              <a:rPr lang="en-US" sz="2400" spc="2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looks</a:t>
            </a:r>
            <a:r>
              <a:rPr lang="en-US" sz="2400" spc="2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at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something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in order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</a:t>
            </a:r>
            <a:r>
              <a:rPr lang="en-US" sz="2400" spc="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find a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new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use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for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it.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2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2975" algn="l"/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attempts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answer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question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–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what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do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do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with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this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product.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647700" indent="-342900" algn="just">
              <a:lnSpc>
                <a:spcPct val="150000"/>
              </a:lnSpc>
              <a:spcBef>
                <a:spcPts val="13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Gaining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Waste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04495" lvl="1" indent="-285750" algn="just">
              <a:lnSpc>
                <a:spcPct val="150000"/>
              </a:lnSpc>
              <a:spcBef>
                <a:spcPts val="8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2975" algn="l"/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What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would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appear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waste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can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be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used-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say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recycles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create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new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opportunity.</a:t>
            </a:r>
            <a:r>
              <a:rPr lang="en-US" sz="2400" spc="7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6822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032387"/>
            <a:ext cx="11061290" cy="508327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spcBef>
                <a:spcPts val="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ZM" sz="11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4800" algn="just">
              <a:spcBef>
                <a:spcPts val="5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Screening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Idea.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04495" lvl="1" indent="-285750" algn="just">
              <a:lnSpc>
                <a:spcPct val="160000"/>
              </a:lnSpc>
              <a:spcBef>
                <a:spcPts val="55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After generating business ideas- it is important that some evaluation through a screening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process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made.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marR="403860" lvl="1" indent="-285750" algn="just">
              <a:lnSpc>
                <a:spcPct val="16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 screening process is a systematic evaluation ideas in order to select the best idea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which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would suit one.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1625" algn="just">
              <a:lnSpc>
                <a:spcPct val="150000"/>
              </a:lnSpc>
              <a:spcBef>
                <a:spcPts val="385"/>
              </a:spcBef>
              <a:spcAft>
                <a:spcPts val="0"/>
              </a:spcAft>
            </a:pPr>
            <a:r>
              <a:rPr lang="en-US" sz="2400" spc="7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228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032387"/>
            <a:ext cx="11061290" cy="508327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spcBef>
                <a:spcPts val="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ZM" sz="11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4800" algn="just">
              <a:spcBef>
                <a:spcPts val="5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Screening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Idea.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402590" lvl="1" indent="-285750" algn="just">
              <a:lnSpc>
                <a:spcPct val="160000"/>
              </a:lnSpc>
              <a:spcBef>
                <a:spcPts val="24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screening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process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must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done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carefully,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objectively,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soberly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without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any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emotions.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marR="403860" lvl="1" indent="-285750" algn="just">
              <a:lnSpc>
                <a:spcPct val="16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 business idea screening is required even when there is only one idea to consider. This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 because this is a stage of starting a business that may be not be profitable or may be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difficult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 run</a:t>
            </a:r>
            <a:endParaRPr lang="en-ZM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1625" algn="just">
              <a:lnSpc>
                <a:spcPct val="150000"/>
              </a:lnSpc>
              <a:spcBef>
                <a:spcPts val="385"/>
              </a:spcBef>
              <a:spcAft>
                <a:spcPts val="0"/>
              </a:spcAft>
            </a:pPr>
            <a:r>
              <a:rPr lang="en-US" sz="2400" spc="7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4318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032387"/>
            <a:ext cx="5899354" cy="508327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spcBef>
                <a:spcPts val="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ZM" sz="11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04800" algn="just">
              <a:spcBef>
                <a:spcPts val="5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Screening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Idea.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24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"/>
              <a:tabLst>
                <a:tab pos="943610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6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screening</a:t>
            </a:r>
            <a:r>
              <a:rPr lang="en-US" sz="2600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process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must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therefore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evaluate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following</a:t>
            </a:r>
            <a:endParaRPr lang="en-ZM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75"/>
              </a:spcBef>
              <a:spcAft>
                <a:spcPts val="0"/>
              </a:spcAft>
              <a:buSzPts val="1100"/>
              <a:buFont typeface="Palatino Linotype" panose="02040502050505030304" pitchFamily="18" charset="0"/>
              <a:buAutoNum type="alphaLcParenR"/>
              <a:tabLst>
                <a:tab pos="889635" algn="l"/>
              </a:tabLst>
            </a:pPr>
            <a:r>
              <a:rPr lang="en-US" sz="2600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Personal</a:t>
            </a:r>
            <a:r>
              <a:rPr lang="en-US" sz="2600" b="1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b="1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Evaluation</a:t>
            </a:r>
            <a:endParaRPr lang="en-ZM" sz="2600" b="1" spc="-5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25"/>
              </a:spcBef>
              <a:spcAft>
                <a:spcPts val="0"/>
              </a:spcAft>
              <a:buSzPts val="1200"/>
              <a:buFont typeface="Palatino Linotype" panose="02040502050505030304" pitchFamily="18" charset="0"/>
              <a:buChar char="-"/>
              <a:tabLst>
                <a:tab pos="201358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objective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for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going</a:t>
            </a:r>
            <a:r>
              <a:rPr lang="en-US" sz="2600" spc="-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to business</a:t>
            </a:r>
            <a:endParaRPr lang="en-ZM" sz="2600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 algn="just">
              <a:lnSpc>
                <a:spcPct val="150000"/>
              </a:lnSpc>
              <a:buSzPts val="1200"/>
              <a:buFont typeface="Palatino Linotype" panose="02040502050505030304" pitchFamily="18" charset="0"/>
              <a:buChar char="-"/>
              <a:tabLst>
                <a:tab pos="201358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personal</a:t>
            </a:r>
            <a:r>
              <a:rPr lang="en-US" sz="2600" spc="-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interests</a:t>
            </a:r>
            <a:endParaRPr lang="en-ZM" sz="2600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 algn="just">
              <a:lnSpc>
                <a:spcPct val="150000"/>
              </a:lnSpc>
              <a:buSzPts val="1200"/>
              <a:buFont typeface="Palatino Linotype" panose="02040502050505030304" pitchFamily="18" charset="0"/>
              <a:buChar char="-"/>
              <a:tabLst>
                <a:tab pos="201358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sz="2600" spc="1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degree</a:t>
            </a:r>
            <a:r>
              <a:rPr lang="en-US" sz="2600" spc="43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of</a:t>
            </a:r>
            <a:r>
              <a:rPr lang="en-US" sz="2600" spc="43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commitment</a:t>
            </a:r>
            <a:r>
              <a:rPr lang="en-US" sz="2600" spc="42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to</a:t>
            </a:r>
            <a:r>
              <a:rPr lang="en-US" sz="2600" spc="4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sz="2600" spc="4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business</a:t>
            </a:r>
            <a:r>
              <a:rPr lang="en-US" sz="2600" spc="43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or</a:t>
            </a:r>
            <a:r>
              <a:rPr lang="en-US" sz="2600" spc="4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others</a:t>
            </a:r>
            <a:r>
              <a:rPr lang="en-US" sz="2600" spc="43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e.g.</a:t>
            </a:r>
            <a:r>
              <a:rPr lang="en-US" sz="2600" spc="4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family.</a:t>
            </a:r>
            <a:endParaRPr lang="en-ZM" sz="2600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6843251" y="1032387"/>
            <a:ext cx="5043947" cy="49382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SzPts val="1100"/>
              <a:buFont typeface="Palatino Linotype" panose="02040502050505030304" pitchFamily="18" charset="0"/>
              <a:buAutoNum type="alphaLcParenR"/>
              <a:tabLst>
                <a:tab pos="135509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Personal</a:t>
            </a:r>
            <a:r>
              <a:rPr lang="en-US" b="1" spc="-1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b="1" spc="-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Skills</a:t>
            </a:r>
            <a:endParaRPr lang="en-ZM" b="1" spc="-5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 algn="just">
              <a:lnSpc>
                <a:spcPct val="150000"/>
              </a:lnSpc>
              <a:buSzPts val="1200"/>
              <a:buFont typeface="Palatino Linotype" panose="02040502050505030304" pitchFamily="18" charset="0"/>
              <a:buChar char="-"/>
              <a:tabLst>
                <a:tab pos="2013585" algn="l"/>
              </a:tabLst>
            </a:pP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sz="2400" spc="-1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self</a:t>
            </a:r>
            <a:r>
              <a:rPr lang="en-US" sz="2400" spc="-1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SWOT</a:t>
            </a:r>
            <a:r>
              <a:rPr lang="en-US" sz="2400" spc="-1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analysis</a:t>
            </a:r>
            <a:r>
              <a:rPr lang="en-US" sz="2400" spc="-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–</a:t>
            </a:r>
            <a:r>
              <a:rPr lang="en-US" sz="2400" spc="-1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this</a:t>
            </a:r>
            <a:r>
              <a:rPr lang="en-US" sz="2400" spc="-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aims</a:t>
            </a:r>
            <a:r>
              <a:rPr lang="en-US" sz="2400" spc="-1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at</a:t>
            </a:r>
            <a:r>
              <a:rPr lang="en-US" sz="2400" spc="-5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analyzing</a:t>
            </a:r>
            <a:r>
              <a:rPr lang="en-US" sz="2400" spc="-2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ones</a:t>
            </a:r>
            <a:endParaRPr lang="en-ZM" sz="2400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Palatino Linotype" panose="02040502050505030304" pitchFamily="18" charset="0"/>
              <a:buAutoNum type="alphaLcPeriod"/>
              <a:tabLst>
                <a:tab pos="1678305" algn="l"/>
              </a:tabLst>
            </a:pPr>
            <a:r>
              <a:rPr lang="en-US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Strengths</a:t>
            </a:r>
            <a:endParaRPr lang="en-ZM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Palatino Linotype" panose="02040502050505030304" pitchFamily="18" charset="0"/>
              <a:buAutoNum type="alphaLcPeriod"/>
              <a:tabLst>
                <a:tab pos="1678305" algn="l"/>
              </a:tabLst>
            </a:pPr>
            <a:r>
              <a:rPr lang="en-US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Weaknesses</a:t>
            </a:r>
            <a:endParaRPr lang="en-ZM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Palatino Linotype" panose="02040502050505030304" pitchFamily="18" charset="0"/>
              <a:buAutoNum type="alphaLcPeriod"/>
              <a:tabLst>
                <a:tab pos="1678305" algn="l"/>
              </a:tabLst>
            </a:pPr>
            <a:r>
              <a:rPr lang="en-US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Opportunities</a:t>
            </a:r>
            <a:endParaRPr lang="en-ZM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Palatino Linotype" panose="02040502050505030304" pitchFamily="18" charset="0"/>
              <a:buAutoNum type="alphaLcPeriod"/>
              <a:tabLst>
                <a:tab pos="1678305" algn="l"/>
              </a:tabLst>
            </a:pPr>
            <a:r>
              <a:rPr lang="en-US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Treats</a:t>
            </a:r>
            <a:endParaRPr lang="en-ZM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01625" algn="just">
              <a:lnSpc>
                <a:spcPct val="150000"/>
              </a:lnSpc>
              <a:spcBef>
                <a:spcPts val="385"/>
              </a:spcBef>
            </a:pPr>
            <a:r>
              <a:rPr lang="en-US" spc="75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080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032387"/>
            <a:ext cx="5043947" cy="508327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algn="just">
              <a:spcBef>
                <a:spcPts val="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ZM" sz="11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R="404495"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256665" algn="l"/>
                <a:tab pos="1257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“Strengths” and “Weaknesses” should focus on the internal environment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(management,</a:t>
            </a:r>
            <a:r>
              <a:rPr lang="en-US" spc="19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product/service),</a:t>
            </a:r>
            <a:r>
              <a:rPr lang="en-US" spc="19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whilst</a:t>
            </a:r>
            <a:r>
              <a:rPr lang="en-US" spc="19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“Opportunities”</a:t>
            </a:r>
            <a:r>
              <a:rPr lang="en-US" spc="18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and</a:t>
            </a:r>
            <a:r>
              <a:rPr lang="en-US" spc="19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“Threats”</a:t>
            </a:r>
            <a:r>
              <a:rPr lang="en-US" spc="18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should</a:t>
            </a:r>
            <a:r>
              <a:rPr lang="en-US" spc="19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focus</a:t>
            </a:r>
            <a:r>
              <a:rPr lang="en-US" spc="-28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on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external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environment (economy,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market and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competitors).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6843251" y="1032387"/>
            <a:ext cx="5043947" cy="4938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514350" lvl="0" algn="just">
              <a:lnSpc>
                <a:spcPct val="150000"/>
              </a:lnSpc>
              <a:spcAft>
                <a:spcPts val="0"/>
              </a:spcAft>
              <a:buSzPts val="1200"/>
              <a:tabLst>
                <a:tab pos="1256665" algn="l"/>
                <a:tab pos="12573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Clearly, it is important that your business idea has significant strengths (or can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develop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them)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and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plan to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counter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to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any</a:t>
            </a:r>
            <a:r>
              <a:rPr lang="en-US" spc="-3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weaknesses.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</a:p>
          <a:p>
            <a:pPr marR="514350" lvl="0" algn="just">
              <a:lnSpc>
                <a:spcPct val="150000"/>
              </a:lnSpc>
              <a:spcAft>
                <a:spcPts val="0"/>
              </a:spcAft>
              <a:buSzPts val="1200"/>
              <a:tabLst>
                <a:tab pos="1256665" algn="l"/>
                <a:tab pos="12573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Your</a:t>
            </a:r>
            <a:r>
              <a:rPr lang="en-US" spc="-1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business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idea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should</a:t>
            </a:r>
            <a:r>
              <a:rPr lang="en-GB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any</a:t>
            </a:r>
            <a:r>
              <a:rPr lang="en-US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opportunities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thought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given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would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respond to threats.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667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032387"/>
            <a:ext cx="4571999" cy="508327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GB" b="1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en-US" spc="-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SWOT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analysis</a:t>
            </a:r>
            <a:r>
              <a:rPr lang="en-US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should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provide</a:t>
            </a:r>
            <a:r>
              <a:rPr lang="en-US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proof</a:t>
            </a:r>
            <a:r>
              <a:rPr lang="en-US" spc="-2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to</a:t>
            </a:r>
            <a:r>
              <a:rPr lang="en-US" spc="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you,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your</a:t>
            </a:r>
            <a:r>
              <a:rPr lang="en-US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investors</a:t>
            </a:r>
            <a:r>
              <a:rPr lang="en-US" spc="-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and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funders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etc.,</a:t>
            </a:r>
            <a:r>
              <a:rPr lang="en-US" spc="-10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of</a:t>
            </a:r>
            <a:r>
              <a:rPr lang="en-US" spc="-28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 likelihood of your business succeeding or failing. If your analysis suggests it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will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fail</a:t>
            </a:r>
            <a:r>
              <a:rPr lang="en-US" spc="1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 need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to reconsider</a:t>
            </a:r>
            <a:r>
              <a:rPr lang="en-US" spc="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your</a:t>
            </a:r>
            <a:r>
              <a:rPr lang="en-US" spc="-5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idea.</a:t>
            </a:r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5506065" y="855406"/>
            <a:ext cx="6228734" cy="493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screening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identify;</a:t>
            </a:r>
          </a:p>
          <a:p>
            <a:pPr algn="just">
              <a:lnSpc>
                <a:spcPct val="16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Strengths:</a:t>
            </a:r>
            <a:r>
              <a:rPr lang="en-US" b="1" spc="2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E.g.</a:t>
            </a:r>
            <a:r>
              <a:rPr lang="en-US" spc="5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Distinctive</a:t>
            </a:r>
            <a:r>
              <a:rPr lang="en-US" spc="1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competence,</a:t>
            </a:r>
            <a:r>
              <a:rPr lang="en-US" spc="3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Adequate</a:t>
            </a:r>
            <a:r>
              <a:rPr lang="en-US" spc="1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finances,</a:t>
            </a:r>
            <a:r>
              <a:rPr lang="en-US" spc="2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Access</a:t>
            </a:r>
            <a:r>
              <a:rPr lang="en-US" spc="2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to</a:t>
            </a:r>
            <a:r>
              <a:rPr lang="en-US" spc="3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economies</a:t>
            </a:r>
            <a:r>
              <a:rPr lang="en-US" spc="-2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scale, Good</a:t>
            </a:r>
            <a:r>
              <a:rPr lang="en-US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innovation ability, proven</a:t>
            </a:r>
            <a:r>
              <a:rPr lang="en-US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management</a:t>
            </a:r>
            <a:b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Weakness:</a:t>
            </a:r>
            <a:r>
              <a:rPr lang="en-US" b="1" spc="8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E.g.</a:t>
            </a:r>
            <a:r>
              <a:rPr lang="en-US" spc="18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Lack</a:t>
            </a:r>
            <a:r>
              <a:rPr lang="en-US" spc="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of</a:t>
            </a:r>
            <a:r>
              <a:rPr lang="en-US" spc="9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key</a:t>
            </a:r>
            <a:r>
              <a:rPr lang="en-US" spc="6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skill</a:t>
            </a:r>
            <a:r>
              <a:rPr lang="en-US" spc="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9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Internal</a:t>
            </a:r>
            <a:r>
              <a:rPr lang="en-US" spc="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operations</a:t>
            </a:r>
            <a:r>
              <a:rPr lang="en-US" spc="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problems</a:t>
            </a:r>
            <a:r>
              <a:rPr lang="en-US" spc="8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9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Low</a:t>
            </a:r>
            <a:r>
              <a:rPr lang="en-US" spc="9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morale</a:t>
            </a:r>
            <a:r>
              <a:rPr lang="en-US" spc="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-2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Poor</a:t>
            </a:r>
            <a:r>
              <a:rPr lang="en-US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track records  , Weak</a:t>
            </a:r>
            <a:r>
              <a:rPr lang="en-US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internal image</a:t>
            </a:r>
            <a:endParaRPr lang="en-GB" dirty="0"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  <a:p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98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968" y="1297858"/>
            <a:ext cx="9979741" cy="508327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GB" b="1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screening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identify;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Opportunities:</a:t>
            </a:r>
            <a:r>
              <a:rPr lang="en-US" b="1" spc="7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E.g.</a:t>
            </a:r>
            <a:r>
              <a:rPr lang="en-US" spc="6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Potential</a:t>
            </a:r>
            <a:r>
              <a:rPr lang="en-US" spc="7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customers</a:t>
            </a:r>
            <a:r>
              <a:rPr lang="en-US" spc="14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5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Potential</a:t>
            </a:r>
            <a:r>
              <a:rPr lang="en-US" spc="7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goodwill</a:t>
            </a:r>
            <a:r>
              <a:rPr lang="en-US" spc="7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6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</a:t>
            </a:r>
            <a:r>
              <a:rPr lang="en-US" spc="6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favorable</a:t>
            </a:r>
            <a:r>
              <a:rPr lang="en-US" spc="6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social</a:t>
            </a:r>
            <a:r>
              <a:rPr lang="en-US" spc="-2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environment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Threats:</a:t>
            </a:r>
            <a:r>
              <a:rPr lang="en-US" b="1" spc="6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Strong</a:t>
            </a:r>
            <a:r>
              <a:rPr lang="en-US" spc="4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competitions</a:t>
            </a:r>
            <a:r>
              <a:rPr lang="en-US" spc="5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5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Adverse</a:t>
            </a:r>
            <a:r>
              <a:rPr lang="en-US" spc="6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government</a:t>
            </a:r>
            <a:r>
              <a:rPr lang="en-US" spc="6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policies,</a:t>
            </a:r>
            <a:r>
              <a:rPr lang="en-US" spc="5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Political</a:t>
            </a:r>
            <a:r>
              <a:rPr lang="en-US" spc="6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instability,</a:t>
            </a:r>
            <a:r>
              <a:rPr lang="en-US" spc="-28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mismanaged</a:t>
            </a:r>
            <a:r>
              <a:rPr lang="en-US" spc="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economy</a:t>
            </a:r>
            <a:r>
              <a:rPr lang="en-US" spc="-2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,</a:t>
            </a:r>
            <a:r>
              <a:rPr lang="en-US" spc="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Unfavorable</a:t>
            </a:r>
            <a:r>
              <a:rPr lang="en-US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Segoe UI Symbol" panose="020B0502040204020203" pitchFamily="34" charset="0"/>
              </a:rPr>
              <a:t>legislation.</a:t>
            </a:r>
            <a:endParaRPr lang="en-ZM" dirty="0">
              <a:effectLst/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4876800" y="1032387"/>
            <a:ext cx="7010399" cy="493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907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303" y="1059426"/>
            <a:ext cx="5157019" cy="5560142"/>
          </a:xfrm>
        </p:spPr>
        <p:txBody>
          <a:bodyPr>
            <a:normAutofit fontScale="77500" lnSpcReduction="20000"/>
          </a:bodyPr>
          <a:lstStyle/>
          <a:p>
            <a:pPr lvl="0" algn="just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</a:t>
            </a:r>
            <a:r>
              <a:rPr lang="en-US" b="1" dirty="0">
                <a:effectLst/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. Developing a business idea</a:t>
            </a:r>
            <a:endParaRPr lang="en-GB" b="1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lvl="0" indent="-342900" algn="just">
              <a:lnSpc>
                <a:spcPct val="170000"/>
              </a:lnSpc>
              <a:buFont typeface="+mj-lt"/>
              <a:buAutoNum type="alphaLcParenR" startAt="4"/>
              <a:tabLst>
                <a:tab pos="9906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evaluations</a:t>
            </a:r>
            <a:endParaRPr lang="en-GB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70000"/>
              </a:lnSpc>
              <a:tabLst>
                <a:tab pos="9906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aim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create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assurance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 adequate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market The main components include</a:t>
            </a:r>
          </a:p>
          <a:p>
            <a:pPr lvl="0" algn="just">
              <a:lnSpc>
                <a:spcPct val="170000"/>
              </a:lnSpc>
              <a:tabLst>
                <a:tab pos="990600" algn="l"/>
              </a:tabLst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.)Consumer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demand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analysis</a:t>
            </a:r>
            <a:endParaRPr lang="en-GB" dirty="0"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lvl="0" algn="just">
              <a:lnSpc>
                <a:spcPct val="170000"/>
              </a:lnSpc>
              <a:tabLst>
                <a:tab pos="990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ii.)	Product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price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placements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70000"/>
              </a:lnSpc>
              <a:tabLst>
                <a:tab pos="990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iii.)	No.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competitors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markets.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70000"/>
              </a:lnSpc>
              <a:spcBef>
                <a:spcPts val="185"/>
              </a:spcBef>
              <a:spcAft>
                <a:spcPts val="0"/>
              </a:spcAft>
              <a:buFont typeface="+mj-lt"/>
              <a:buAutoNum type="alphaLcParenR" startAt="4"/>
              <a:tabLst>
                <a:tab pos="9906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availability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raw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materials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terms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</a:p>
          <a:p>
            <a:pPr marL="342900" lvl="0" indent="-342900" algn="just">
              <a:lnSpc>
                <a:spcPct val="170000"/>
              </a:lnSpc>
              <a:spcBef>
                <a:spcPts val="185"/>
              </a:spcBef>
              <a:spcAft>
                <a:spcPts val="0"/>
              </a:spcAft>
              <a:buFont typeface="+mj-lt"/>
              <a:buAutoNum type="alphaLcParenR" startAt="4"/>
              <a:tabLst>
                <a:tab pos="9906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Adequacy	ii)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</a:t>
            </a:r>
          </a:p>
          <a:p>
            <a:pPr marL="342900" lvl="0" indent="-342900" algn="just">
              <a:lnSpc>
                <a:spcPct val="170000"/>
              </a:lnSpc>
              <a:spcBef>
                <a:spcPts val="185"/>
              </a:spcBef>
              <a:spcAft>
                <a:spcPts val="0"/>
              </a:spcAft>
              <a:buFont typeface="+mj-lt"/>
              <a:buAutoNum type="alphaLcParenR" startAt="4"/>
              <a:tabLst>
                <a:tab pos="990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iii)	Price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6312310" y="1032387"/>
            <a:ext cx="5574889" cy="493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389F90-7AFC-FEDD-FA81-158C74148D5A}"/>
              </a:ext>
            </a:extLst>
          </p:cNvPr>
          <p:cNvSpPr txBox="1">
            <a:spLocks/>
          </p:cNvSpPr>
          <p:nvPr/>
        </p:nvSpPr>
        <p:spPr>
          <a:xfrm>
            <a:off x="6572864" y="1297858"/>
            <a:ext cx="5284839" cy="5083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"/>
              </a:spcBef>
              <a:buSzPts val="1200"/>
              <a:tabLst>
                <a:tab pos="1098550" algn="l"/>
                <a:tab pos="1099185" algn="l"/>
              </a:tabLst>
            </a:pPr>
            <a:r>
              <a:rPr lang="en-US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2. Developing a business idea</a:t>
            </a:r>
            <a:endParaRPr lang="en-GB" b="1" dirty="0"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75"/>
              </a:spcBef>
              <a:buFont typeface="+mj-lt"/>
              <a:buAutoNum type="alphaLcParenR" startAt="4"/>
              <a:tabLst>
                <a:tab pos="989965" algn="l"/>
                <a:tab pos="9906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providing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terms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endParaRPr lang="en-ZM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romanLcParenR"/>
              <a:tabLst>
                <a:tab pos="138874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Appropriateness</a:t>
            </a:r>
            <a:r>
              <a:rPr lang="en-US" spc="5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ii)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Affordability</a:t>
            </a:r>
            <a:endParaRPr lang="en-ZM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175"/>
              </a:spcBef>
              <a:buFont typeface="+mj-lt"/>
              <a:buAutoNum type="alphaLcParenR" startAt="4"/>
              <a:tabLst>
                <a:tab pos="99123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skills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endParaRPr lang="en-ZM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government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policies.</a:t>
            </a:r>
            <a:endParaRPr lang="en-ZM" dirty="0"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812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303" y="1059426"/>
            <a:ext cx="5157019" cy="5560142"/>
          </a:xfrm>
        </p:spPr>
        <p:txBody>
          <a:bodyPr>
            <a:normAutofit/>
          </a:bodyPr>
          <a:lstStyle/>
          <a:p>
            <a:pPr marL="301625" algn="just">
              <a:lnSpc>
                <a:spcPct val="150000"/>
              </a:lnSpc>
              <a:spcBef>
                <a:spcPts val="485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idea.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Easy to manage and involve minimal risk.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ii) Does not require excessive capital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investments iii) Offers a good returns on capital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iv) The idea has scope for growth,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expansion and diversification</a:t>
            </a:r>
            <a:endParaRPr lang="en-GB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EAF8E9-E5A0-6D8E-8745-FCE4997820A2}"/>
              </a:ext>
            </a:extLst>
          </p:cNvPr>
          <p:cNvSpPr txBox="1">
            <a:spLocks/>
          </p:cNvSpPr>
          <p:nvPr/>
        </p:nvSpPr>
        <p:spPr>
          <a:xfrm>
            <a:off x="6312310" y="1032387"/>
            <a:ext cx="5574889" cy="493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M" dirty="0">
              <a:effectLst/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389F90-7AFC-FEDD-FA81-158C74148D5A}"/>
              </a:ext>
            </a:extLst>
          </p:cNvPr>
          <p:cNvSpPr txBox="1">
            <a:spLocks/>
          </p:cNvSpPr>
          <p:nvPr/>
        </p:nvSpPr>
        <p:spPr>
          <a:xfrm>
            <a:off x="6572864" y="1297858"/>
            <a:ext cx="5284839" cy="5083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"/>
              </a:spcBef>
              <a:buSzPts val="1200"/>
              <a:tabLst>
                <a:tab pos="1098550" algn="l"/>
                <a:tab pos="109918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v) Comparative with owner’s goal and interest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vi)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sz="2400" spc="-2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against expectation of the society v)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 a short gestation period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vi)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 a readily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 vii)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Easy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exit when necessary.</a:t>
            </a:r>
            <a:endParaRPr lang="en-ZM" dirty="0">
              <a:latin typeface="Times New Roman" panose="02020603050405020304" pitchFamily="18" charset="0"/>
              <a:ea typeface="Segoe UI Symbol" panose="020B0502040204020203" pitchFamily="34" charset="0"/>
              <a:cs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389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/>
            <a:r>
              <a:rPr lang="de-DE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Entrepreneurship is a business process and the entrepreneur is a person involved in</a:t>
            </a:r>
          </a:p>
          <a:p>
            <a:pPr algn="just">
              <a:lnSpc>
                <a:spcPct val="150000"/>
              </a:lnSpc>
            </a:pP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entrepreneurial process.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aspects of entrepreneurship include: identifying an opportunity, innovation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creativity, gathering resources, creating and growing a business, taking risks, being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rewarded and managing the business.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8406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de-DE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ENTERPRENEURSHIP</a:t>
            </a:r>
            <a:endParaRPr lang="en-ZM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/>
            <a:r>
              <a:rPr lang="de-DE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steps in the entrepreneurial process are: identifying and evaluating an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opportunity; developing a business plan; determining the resources required and then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 starting and managing a business.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037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aquaculture value chain.</a:t>
            </a:r>
          </a:p>
          <a:p>
            <a:pPr algn="just">
              <a:lnSpc>
                <a:spcPct val="150000"/>
              </a:lnSpc>
            </a:pPr>
            <a:endParaRPr lang="en-GB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as a whole contributes to a society’s social wealth by creating new markets, new industries, new technology, new institutional forms, new jobs and net </a:t>
            </a: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in real productivity.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4731B-7DC5-402A-8A25-E1A96A521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0" y="1933577"/>
            <a:ext cx="9236452" cy="130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99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jobs created by entrepreneurship in turn lead to equitable distribution of income, which results in higher standards of living for the population.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way, the resources available to government also increases, the tax base grows.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taxes enable governments to improve social services, like hospitals and schools, to enhance infrastructure and to keep law and order.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9780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benefits that entrepreneurship can have for society, including individuals, families and the community are provided and discussed by Benade et al. (2011) as follows;</a:t>
            </a:r>
          </a:p>
          <a:p>
            <a:pPr algn="just">
              <a:lnSpc>
                <a:spcPct val="150000"/>
              </a:lnSpc>
            </a:pPr>
            <a:r>
              <a:rPr lang="de-DE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Employment opportunities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not only offers self‐employment opportunities, but also creates employment for others, often better jobs.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Self‐employment offers more job satisfaction and flexibility of the work force.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job creation initiatives utilise the human resources of the particular country and helps the natural talent materialise.</a:t>
            </a:r>
          </a:p>
          <a:p>
            <a:pPr algn="l"/>
            <a:endParaRPr lang="en-GB" sz="1800" b="0" i="0" u="none" strike="noStrike" baseline="0" dirty="0"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525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generation and fewer social problems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entrepreneurship activities increase the income level of the average person, and also the standard of living in the community.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who search for business opportunities usually create wealth through entrepreneurship.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wealth plays a considerable role in the development of a nation.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more people are employed more people pay taxes, which means more income for the government.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935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generation and fewer social problems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means that the crime rate will go down and the country can become a safer location with more tourists willing to visit the country.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tourism increases, more job opportunities will become available and more people will be employed.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can also attract more foreign investment, which in return can also create more job opportunities</a:t>
            </a:r>
            <a:r>
              <a:rPr lang="en-GB" sz="1800" b="0" i="0" u="none" strike="noStrike" baseline="0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8993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de-DE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Challenge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a challenging task, but if successful the rewards are worth the effort.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Rewards for an entrepreneur can be both financial and personal.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entrepreneur gains self‐satisfaction and confidence as he or she succeeds.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1568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de-DE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in Industry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leads to the development of more industries, especially in rural areas or regions where there are very few economic activities.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does not only mean more goods and services, but also higher quality products, because of healthy competition between the different businesses.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48322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3898" y="1269315"/>
            <a:ext cx="10491019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productivity and economic growth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industries can create higher production at lower prices.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encourages the use of local materials to produce finished goods for domestic consumption, as well as for export.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enables the country to produce more and more goods locally and thereby build its capacity and resources.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new inventions and development in technology, a nation can use its resources more effectively.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5318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productivity and economic growth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change our raw materials into consumable goods we add value to our products, which means that we can now receive a much higher price and at the same time create more jobs.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new inventions and development in technology, a nation can use its resources more effectively.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0558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in exports and less dependence on imports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leads to the development of new markets.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produce more, we can export products that are not sold locally.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a country’s products can also enter foreign markets.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time to time a country’s government officials sign agreements with other countries to promote trade.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725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in exports and less dependence on imports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many developing countries (including small states) rely heavily on imports, especially from the developed nations.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must exceed imports in order to create an economic advantage.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Earnings from exports inevitably stimulate the economy.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opportunities that should be taken into account when we are planning and growing our new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business. </a:t>
            </a:r>
          </a:p>
          <a:p>
            <a:pPr algn="l"/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413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80954" cy="4835014"/>
          </a:xfrm>
        </p:spPr>
        <p:txBody>
          <a:bodyPr>
            <a:noAutofit/>
          </a:bodyPr>
          <a:lstStyle/>
          <a:p>
            <a:pPr marL="304800" algn="just">
              <a:lnSpc>
                <a:spcPct val="150000"/>
              </a:lnSpc>
              <a:spcBef>
                <a:spcPts val="67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demotivate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Entrepreneurship?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algn="l"/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C25A92-18DD-58B1-355B-3CA2B7742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595" y="2153430"/>
            <a:ext cx="6995877" cy="43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24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8799870" cy="4835014"/>
          </a:xfrm>
        </p:spPr>
        <p:txBody>
          <a:bodyPr>
            <a:noAutofit/>
          </a:bodyPr>
          <a:lstStyle/>
          <a:p>
            <a:pPr marL="304800" algn="just">
              <a:lnSpc>
                <a:spcPct val="150000"/>
              </a:lnSpc>
              <a:spcBef>
                <a:spcPts val="67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demotivate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Entrepreneurship?</a:t>
            </a:r>
            <a:endParaRPr lang="en-US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285750" lvl="0" indent="-285750" algn="just">
              <a:lnSpc>
                <a:spcPct val="150000"/>
              </a:lnSpc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Lack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proper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information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Fear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competition.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Fear</a:t>
            </a:r>
            <a:r>
              <a:rPr lang="en-US" spc="-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taking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risk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3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Inhibiting</a:t>
            </a:r>
            <a:r>
              <a:rPr lang="en-US" spc="-2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government</a:t>
            </a:r>
            <a:r>
              <a:rPr lang="en-US" spc="-2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laws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Lack</a:t>
            </a:r>
            <a:r>
              <a:rPr lang="en-US" spc="-1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adequate</a:t>
            </a:r>
            <a:r>
              <a:rPr lang="en-US" spc="-2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start-up capital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Lack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knowledge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and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skills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1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1365" algn="l"/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Wrong</a:t>
            </a:r>
            <a:r>
              <a:rPr lang="en-US" spc="-3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attitudes</a:t>
            </a:r>
            <a:r>
              <a:rPr lang="en-US" spc="-2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towards</a:t>
            </a:r>
            <a:r>
              <a:rPr lang="en-US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employment</a:t>
            </a:r>
            <a:endParaRPr lang="en-ZM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algn="l"/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4248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clear that entrepreneurship improves the economy and creates a better place to live. Entrepreneurship definitely offers many advantages to individuals, families and the general community.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advantages influence one another and are interwoven to create a multiplier effect.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become more creative, we can develop new and unique products.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426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ENTREPRENEURSHIP IN SOCIETY</a:t>
            </a:r>
            <a:endParaRPr lang="en-Z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succeed, we become proud of our achievements, and we are motivated to increase our production.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produce more goods, we can lower our need for imports and have excess goods for export, while simultaneously creating </a:t>
            </a: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jobs.</a:t>
            </a:r>
            <a:endParaRPr lang="en-GB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advantageous, but it also involves hard work and sacrifices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0092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102352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ZM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ECONOMIC, SOCIAL AND POLITICAL FACTORS AFFECTING ENTREPRENEURIAL DEVELOPMENT</a:t>
            </a:r>
            <a:endParaRPr lang="en-ZM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High taxation levels.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business and personal incomes</a:t>
            </a:r>
            <a:r>
              <a:rPr lang="en-GB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</a:t>
            </a:r>
            <a:r>
              <a:rPr lang="en-ZM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hich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effect reduce profits earned making it un-attractive to engage in business</a:t>
            </a:r>
            <a:r>
              <a:rPr lang="en-GB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Taxation of raw materials and other inputs raise production costs.</a:t>
            </a:r>
          </a:p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Corruption and official harassment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Occurs where entrepreneurs are forced to bribe officials in various government departments to allow operation or start up</a:t>
            </a:r>
            <a:r>
              <a:rPr lang="en-GB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3348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8932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ZM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ECONOMIC, SOCIAL AND POLITICAL FACTORS AFFECTING ENTREPRENEURIAL DEVELOPMENT</a:t>
            </a:r>
            <a:endParaRPr lang="en-ZM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Unregulated competition from the outside world due.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Liberalization which opened importation competing locally produced goods.</a:t>
            </a:r>
          </a:p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Declining personal incomes of people due to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Over-increasing cost of living</a:t>
            </a:r>
            <a:r>
              <a:rPr lang="en-GB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Arise in unemployment</a:t>
            </a:r>
          </a:p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The high cost of finance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cost of borrowing is high</a:t>
            </a:r>
            <a:r>
              <a:rPr lang="en-GB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collapses because they lack ability to repay loans.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490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109972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ZM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ECONOMIC, SOCIAL AND POLITICAL FACTORS AFFECTING ENTREPRENEURIAL DEVELOPMENT</a:t>
            </a:r>
            <a:endParaRPr lang="en-ZM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f) Lack of necessary skills and knowledge due to</a:t>
            </a:r>
            <a:endParaRPr lang="en-GB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training opportunities</a:t>
            </a:r>
            <a:r>
              <a:rPr lang="en-GB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education costs</a:t>
            </a:r>
            <a:r>
              <a:rPr lang="en-GB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ZM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g) Poor transport and communication network</a:t>
            </a:r>
            <a:endParaRPr lang="en-ZM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Making business difficult</a:t>
            </a:r>
            <a:r>
              <a:rPr lang="en-GB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Inconveniencing consumers</a:t>
            </a:r>
            <a:r>
              <a:rPr lang="en-GB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energy costs</a:t>
            </a:r>
            <a:r>
              <a:rPr lang="en-GB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ZM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entrepreneurial culture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7907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525" y="1260987"/>
            <a:ext cx="11061290" cy="4835014"/>
          </a:xfrm>
        </p:spPr>
        <p:txBody>
          <a:bodyPr>
            <a:noAutofit/>
          </a:bodyPr>
          <a:lstStyle/>
          <a:p>
            <a:pPr marL="310515" algn="just"/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LEADERSHIP</a:t>
            </a:r>
            <a:endParaRPr lang="en-GB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6265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bility to inspire, influence, persuade others to give maximum effort and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cooperation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willingly</a:t>
            </a:r>
            <a:r>
              <a:rPr lang="en-US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voluntarily</a:t>
            </a:r>
            <a:r>
              <a:rPr lang="en-US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towards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 attainment of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unplanned goals.</a:t>
            </a:r>
            <a:endParaRPr lang="en-GB" dirty="0"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596265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Good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leadership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necessity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in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any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business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organization (Key to show leadership behavior, leading and motivating others,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leaders influence and activities)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84027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525" y="766916"/>
            <a:ext cx="11061290" cy="5535561"/>
          </a:xfrm>
        </p:spPr>
        <p:txBody>
          <a:bodyPr>
            <a:noAutofit/>
          </a:bodyPr>
          <a:lstStyle/>
          <a:p>
            <a:pPr marL="310515"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Leadership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275"/>
              </a:spcBef>
              <a:spcAft>
                <a:spcPts val="0"/>
              </a:spcAft>
              <a:buSzPts val="1200"/>
              <a:tabLst>
                <a:tab pos="5397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As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leader,</a:t>
            </a:r>
            <a:r>
              <a:rPr lang="en-US" spc="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your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should have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following</a:t>
            </a:r>
            <a:r>
              <a:rPr lang="en-US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qualities: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marR="404495" lvl="0" indent="-342900" algn="just">
              <a:lnSpc>
                <a:spcPct val="150000"/>
              </a:lnSpc>
              <a:spcBef>
                <a:spcPts val="83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Vision</a:t>
            </a:r>
            <a:r>
              <a:rPr lang="en-US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foresight:</a:t>
            </a:r>
            <a:r>
              <a:rPr lang="en-US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into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</a:t>
            </a:r>
            <a:r>
              <a:rPr lang="en-US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en-US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making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plans,</a:t>
            </a:r>
            <a:r>
              <a:rPr lang="en-US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vision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order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be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able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determine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want</a:t>
            </a:r>
            <a:r>
              <a:rPr lang="en-US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 business to develop</a:t>
            </a: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04495" lvl="0" indent="-342900" algn="just">
              <a:lnSpc>
                <a:spcPct val="150000"/>
              </a:lnSpc>
              <a:spcBef>
                <a:spcPts val="83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Strong desire to influence others: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can influence your staff if they have confidence 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trust in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you.</a:t>
            </a:r>
            <a:r>
              <a:rPr lang="en-GB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Ability</a:t>
            </a:r>
            <a:r>
              <a:rPr lang="en-US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</a:t>
            </a:r>
            <a:r>
              <a:rPr lang="en-US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past</a:t>
            </a:r>
            <a:r>
              <a:rPr lang="en-US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errors</a:t>
            </a:r>
            <a:r>
              <a:rPr lang="en-US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</a:t>
            </a:r>
            <a:r>
              <a:rPr lang="en-US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past</a:t>
            </a:r>
            <a:r>
              <a:rPr lang="en-US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 (Avoid mistakes)</a:t>
            </a: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38575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766916"/>
            <a:ext cx="11306867" cy="5535561"/>
          </a:xfrm>
        </p:spPr>
        <p:txBody>
          <a:bodyPr>
            <a:noAutofit/>
          </a:bodyPr>
          <a:lstStyle/>
          <a:p>
            <a:pPr marL="310515" algn="just">
              <a:lnSpc>
                <a:spcPct val="15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Leadership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405765" lvl="0" algn="just">
              <a:lnSpc>
                <a:spcPct val="150000"/>
              </a:lnSpc>
              <a:spcBef>
                <a:spcPts val="775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ambition: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undertakings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expectations.</a:t>
            </a:r>
            <a:endParaRPr lang="en-ZM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Imagination: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 you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 see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horizon</a:t>
            </a:r>
            <a:endParaRPr lang="en-ZM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05130" lvl="0" algn="just">
              <a:lnSpc>
                <a:spcPct val="150000"/>
              </a:lnSpc>
              <a:spcBef>
                <a:spcPts val="815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Creativity: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should be as original as possible in ideas and activities (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methods or ways of operation).</a:t>
            </a:r>
            <a:endParaRPr lang="en-ZM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04495" lvl="0" algn="just">
              <a:lnSpc>
                <a:spcPct val="150000"/>
              </a:lnSpc>
              <a:spcBef>
                <a:spcPts val="755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Initiative:</a:t>
            </a:r>
            <a:r>
              <a:rPr lang="en-US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leader,</a:t>
            </a:r>
            <a:r>
              <a:rPr lang="en-US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getting</a:t>
            </a:r>
            <a:r>
              <a:rPr lang="en-US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started.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better ways 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doing things</a:t>
            </a:r>
            <a:r>
              <a:rPr lang="en-US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agent of change.</a:t>
            </a:r>
            <a:endParaRPr lang="en-ZM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 human relations: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a leader you should sell good image of your business.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73524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766916"/>
            <a:ext cx="11306867" cy="5535561"/>
          </a:xfrm>
        </p:spPr>
        <p:txBody>
          <a:bodyPr>
            <a:noAutofit/>
          </a:bodyPr>
          <a:lstStyle/>
          <a:p>
            <a:pPr marR="1239520" lvl="0" algn="just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Motivating Others</a:t>
            </a:r>
            <a:endParaRPr lang="en-ZM" b="1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marR="405130" algn="just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entrepreneur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motivate</a:t>
            </a:r>
            <a:r>
              <a:rPr lang="en-US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employees.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 be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employed: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03860" lvl="0" indent="-342900" algn="just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romanLcPeriod"/>
              <a:tabLst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Built Workers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self-esteem: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praising the good work done by your employees, you are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building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selves.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Appreciate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they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done.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75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romanLcPeriod"/>
              <a:tabLst>
                <a:tab pos="882015" algn="l"/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employees: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Tell your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trying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accomplish.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05765" lvl="0" indent="-342900" algn="just">
              <a:lnSpc>
                <a:spcPct val="150000"/>
              </a:lnSpc>
              <a:spcBef>
                <a:spcPts val="85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romanLcPeriod"/>
              <a:tabLst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Delegation of authority and responsibility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Good delegation will allow you as a leader to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devote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crucial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515" algn="just">
              <a:lnSpc>
                <a:spcPct val="150000"/>
              </a:lnSpc>
            </a:pP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53275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766916"/>
            <a:ext cx="11306867" cy="5535561"/>
          </a:xfrm>
        </p:spPr>
        <p:txBody>
          <a:bodyPr>
            <a:noAutofit/>
          </a:bodyPr>
          <a:lstStyle/>
          <a:p>
            <a:pPr marR="1239520" lvl="0" algn="just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Motivating Others</a:t>
            </a:r>
            <a:endParaRPr lang="en-ZM" b="1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245"/>
              </a:spcBef>
              <a:spcAft>
                <a:spcPts val="0"/>
              </a:spcAft>
              <a:buSzPts val="1200"/>
              <a:tabLst>
                <a:tab pos="882015" algn="l"/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contact: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 your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staff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well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enough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contact.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403860" lvl="0" algn="just">
              <a:lnSpc>
                <a:spcPct val="150000"/>
              </a:lnSpc>
              <a:spcBef>
                <a:spcPts val="825"/>
              </a:spcBef>
              <a:spcAft>
                <a:spcPts val="0"/>
              </a:spcAft>
              <a:buSzPts val="1200"/>
              <a:tabLst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Apply reinforcement principal: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should reward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behaviours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that you consider desirable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people tend to repeat rewarded behavior. Don’t reward undesirable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7302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08114"/>
          </a:xfrm>
        </p:spPr>
        <p:txBody>
          <a:bodyPr>
            <a:normAutofit/>
          </a:bodyPr>
          <a:lstStyle/>
          <a:p>
            <a:pPr marL="124460" marR="298450" algn="ctr"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COMPETENCIES</a:t>
            </a:r>
            <a:endParaRPr lang="en-ZM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766916"/>
            <a:ext cx="11306867" cy="5535561"/>
          </a:xfrm>
        </p:spPr>
        <p:txBody>
          <a:bodyPr>
            <a:noAutofit/>
          </a:bodyPr>
          <a:lstStyle/>
          <a:p>
            <a:pPr marR="1239520" lvl="0" algn="just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200"/>
              <a:tabLst>
                <a:tab pos="762000" algn="l"/>
              </a:tabLst>
            </a:pP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Motivating Others</a:t>
            </a:r>
            <a:endParaRPr lang="en-ZM" b="1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04495" lvl="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SzPts val="1200"/>
              <a:tabLst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 an active listener: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active listening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will be an</a:t>
            </a:r>
            <a:r>
              <a:rPr lang="en-US" spc="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effective communicator which is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important quality of a leader. Your employees will take it that you appreciate them 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concern in them.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401320" lvl="0" algn="just">
              <a:lnSpc>
                <a:spcPct val="150000"/>
              </a:lnSpc>
              <a:spcBef>
                <a:spcPts val="775"/>
              </a:spcBef>
              <a:spcAft>
                <a:spcPts val="0"/>
              </a:spcAft>
              <a:buSzPts val="1200"/>
              <a:tabLst>
                <a:tab pos="88265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specific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specific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clearly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understood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measurable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continuously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them.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Take collective action-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you must deal with some negative aspects of a workers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 talk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worker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private,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never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criticize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worker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2765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5"/>
            <a:ext cx="11552902" cy="10997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4" y="1280651"/>
            <a:ext cx="11061290" cy="48350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LISTENING/WRITING YOUR OWN NOTES</a:t>
            </a:r>
          </a:p>
          <a:p>
            <a:pPr>
              <a:lnSpc>
                <a:spcPct val="150000"/>
              </a:lnSpc>
            </a:pPr>
            <a:endParaRPr lang="en-GB" sz="28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80011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6199A-0016-3D8D-472C-5F5279168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393" y="1111045"/>
            <a:ext cx="10658167" cy="495068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an entrepreneur is not easy. In order to succeed, entrepreneurs must demonstrate specific characteristics. </a:t>
            </a:r>
          </a:p>
          <a:p>
            <a:pPr algn="just">
              <a:lnSpc>
                <a:spcPct val="150000"/>
              </a:lnSpc>
            </a:pPr>
            <a:r>
              <a:rPr lang="en-GB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look into these characteristics a bit further as presented by </a:t>
            </a:r>
            <a:r>
              <a:rPr lang="de-DE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VUSSC, (2011).</a:t>
            </a:r>
            <a:endParaRPr lang="en-ZM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53073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561F8-BB72-E2F2-BCCF-F2DB90745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36" y="1061028"/>
            <a:ext cx="9488128" cy="508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373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0FB57-4AE8-3533-081C-AA75D4D274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209"/>
          <a:stretch/>
        </p:blipFill>
        <p:spPr>
          <a:xfrm>
            <a:off x="1641986" y="1164257"/>
            <a:ext cx="8548959" cy="489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659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0FB57-4AE8-3533-081C-AA75D4D274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383"/>
          <a:stretch/>
        </p:blipFill>
        <p:spPr>
          <a:xfrm>
            <a:off x="1607574" y="1160205"/>
            <a:ext cx="8976852" cy="490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92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9390C5-8911-5E5E-7F8B-FA7C502A83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276"/>
          <a:stretch/>
        </p:blipFill>
        <p:spPr>
          <a:xfrm>
            <a:off x="1853224" y="973394"/>
            <a:ext cx="8485552" cy="532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35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8F02-1BF1-D704-5676-15AD57EE8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365279"/>
            <a:ext cx="10255045" cy="6081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AN ENTREPRENEUR</a:t>
            </a:r>
            <a:endParaRPr lang="en-Z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D09EA-04BE-2EC9-8DBC-4458772AE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9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5FC7C-D93C-1854-F973-68FA1DA24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365630" y="6061727"/>
            <a:ext cx="658762" cy="63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9390C5-8911-5E5E-7F8B-FA7C502A83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25"/>
          <a:stretch/>
        </p:blipFill>
        <p:spPr>
          <a:xfrm>
            <a:off x="1980990" y="973394"/>
            <a:ext cx="8230020" cy="547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98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97" y="896312"/>
            <a:ext cx="11690095" cy="5415997"/>
          </a:xfrm>
        </p:spPr>
        <p:txBody>
          <a:bodyPr>
            <a:noAutofit/>
          </a:bodyPr>
          <a:lstStyle/>
          <a:p>
            <a:pPr marL="295275">
              <a:spcBef>
                <a:spcPts val="725"/>
              </a:spcBef>
              <a:spcAft>
                <a:spcPts val="0"/>
              </a:spcAft>
            </a:pPr>
            <a:endParaRPr lang="en-ZM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classification;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tabLst>
                <a:tab pos="762635" algn="l"/>
              </a:tabLst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Autocratic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endParaRPr lang="en-GB" sz="2400" b="1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7626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oldest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and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most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traditional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form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leadership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style.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In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this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style,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manager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draws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very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firm discipline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line.</a:t>
            </a:r>
            <a:endParaRPr lang="en-GB" sz="2400" dirty="0"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7626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Everybody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knows</a:t>
            </a:r>
            <a:r>
              <a:rPr lang="en-US" sz="2400" spc="16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what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he/she</a:t>
            </a:r>
            <a:r>
              <a:rPr lang="en-US" sz="2400" spc="15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can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or</a:t>
            </a:r>
            <a:r>
              <a:rPr lang="en-US" sz="2400" spc="16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cannot</a:t>
            </a:r>
            <a:r>
              <a:rPr lang="en-US" sz="2400" spc="16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do.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Many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like</a:t>
            </a:r>
            <a:r>
              <a:rPr lang="en-US" sz="2400" spc="15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this</a:t>
            </a:r>
            <a:r>
              <a:rPr lang="en-US" sz="2400" spc="16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form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16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leadership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because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it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gives</a:t>
            </a:r>
            <a:r>
              <a:rPr lang="en-US" sz="2400" spc="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sense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purpose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and security.</a:t>
            </a:r>
          </a:p>
          <a:p>
            <a:pPr marL="800100" lvl="1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7626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They</a:t>
            </a:r>
            <a:r>
              <a:rPr lang="en-US" sz="2400" spc="1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know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what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is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expected</a:t>
            </a:r>
            <a:r>
              <a:rPr lang="en-US" sz="2400" spc="1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them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and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they</a:t>
            </a:r>
            <a:r>
              <a:rPr lang="en-US" sz="2400" spc="10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know</a:t>
            </a:r>
            <a:r>
              <a:rPr lang="en-US" sz="2400" spc="1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that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they</a:t>
            </a:r>
            <a:r>
              <a:rPr lang="en-US" sz="2400" spc="1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must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leave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upto</a:t>
            </a:r>
            <a:r>
              <a:rPr lang="en-US" sz="2400" spc="13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certain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standards.</a:t>
            </a:r>
            <a:endParaRPr lang="en-ZM" sz="2400" dirty="0">
              <a:effectLst/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462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3" y="907721"/>
            <a:ext cx="9104671" cy="5415997"/>
          </a:xfrm>
        </p:spPr>
        <p:txBody>
          <a:bodyPr>
            <a:noAutofit/>
          </a:bodyPr>
          <a:lstStyle/>
          <a:p>
            <a:pPr marL="295275" algn="just">
              <a:lnSpc>
                <a:spcPct val="150000"/>
              </a:lnSpc>
              <a:spcBef>
                <a:spcPts val="725"/>
              </a:spcBef>
              <a:spcAft>
                <a:spcPts val="0"/>
              </a:spcAft>
            </a:pP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classification;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GB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Laissez</a:t>
            </a:r>
            <a:r>
              <a:rPr lang="en-US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Faire</a:t>
            </a:r>
            <a:r>
              <a:rPr lang="en-US" b="1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Free-Reign</a:t>
            </a:r>
            <a:r>
              <a:rPr lang="en-US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very permissive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style,</a:t>
            </a:r>
            <a:r>
              <a:rPr lang="en-US" sz="2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lang="en-US" sz="2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sz="24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alone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reach their own potential.</a:t>
            </a:r>
            <a:endParaRPr lang="en-GB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Some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people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are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responsive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to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these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style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and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do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not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abuse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their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freedom,</a:t>
            </a:r>
            <a:r>
              <a:rPr lang="en-US" sz="2400" spc="13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others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take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advantage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climate and do not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leave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up to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their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potential.</a:t>
            </a:r>
            <a:endParaRPr lang="en-ZM" sz="2400" dirty="0">
              <a:effectLst/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6347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09" y="892699"/>
            <a:ext cx="9556955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classification;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GB" b="1" spc="-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Democratic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upon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organization,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personalities of its people.</a:t>
            </a:r>
            <a:endParaRPr lang="en-GB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In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democratic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climate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manager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builds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sense</a:t>
            </a:r>
            <a:r>
              <a:rPr lang="en-US" sz="2400" spc="16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of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union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and</a:t>
            </a:r>
            <a:r>
              <a:rPr lang="en-US" sz="2400" spc="15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common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interest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among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his/her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workers.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57266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3" y="907721"/>
            <a:ext cx="10589342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classification;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GB" b="1" spc="-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Democratic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upon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organization,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personalities of its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times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even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hard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to recognize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who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manager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is.</a:t>
            </a:r>
            <a:r>
              <a:rPr lang="en-GB" dirty="0"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</a:p>
          <a:p>
            <a:pPr marL="647065" indent="-342900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Leaders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set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discipline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lines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against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which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nobody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seems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object.</a:t>
            </a:r>
            <a:endParaRPr lang="en-ZM" sz="2400" dirty="0">
              <a:effectLst/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75370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2" y="907721"/>
            <a:ext cx="10923179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79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classification;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 leaders use a combination of styles, depending on the group and the situations.</a:t>
            </a:r>
            <a:r>
              <a:rPr lang="en-GB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95275" marR="1410970" indent="889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</a:t>
            </a:r>
            <a:r>
              <a:rPr lang="en-US" b="1" u="sng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b="1" u="sng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u="sng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</a:t>
            </a:r>
            <a:r>
              <a:rPr lang="en-US" b="1" u="sng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03225" lvl="0" indent="-342900" algn="just">
              <a:lnSpc>
                <a:spcPct val="150000"/>
              </a:lnSpc>
              <a:spcBef>
                <a:spcPts val="33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According to Mc Gregory each manager will manage his employees according to his own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attitudes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 ideas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about</a:t>
            </a:r>
            <a:r>
              <a:rPr lang="en-US" spc="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people, their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needs and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their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motivations.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marR="404495" lvl="0" indent="-342900" algn="just">
              <a:lnSpc>
                <a:spcPct val="150000"/>
              </a:lnSpc>
              <a:spcBef>
                <a:spcPts val="24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If</a:t>
            </a:r>
            <a:r>
              <a:rPr lang="en-US" spc="3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 appointed a manager believes that individuals are naturally lazy, then he or she will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treat subordinate employees in a certain way, such as issuing precise orders and exercising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tight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control over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their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work.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algn="just"/>
            <a:endParaRPr lang="en-GB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2756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08" y="807273"/>
            <a:ext cx="4207747" cy="5415997"/>
          </a:xfrm>
        </p:spPr>
        <p:txBody>
          <a:bodyPr>
            <a:noAutofit/>
          </a:bodyPr>
          <a:lstStyle/>
          <a:p>
            <a:pPr marL="342900" marR="404495" lvl="0" indent="-342900" algn="just">
              <a:lnSpc>
                <a:spcPct val="150000"/>
              </a:lnSpc>
              <a:spcBef>
                <a:spcPts val="475"/>
              </a:spcBef>
              <a:spcAft>
                <a:spcPts val="105"/>
              </a:spcAft>
              <a:buSzPts val="1200"/>
              <a:buFont typeface="Wingdings" panose="05000000000000000000" pitchFamily="2" charset="2"/>
              <a:buChar char="q"/>
              <a:tabLst>
                <a:tab pos="7620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For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purposes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of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comparison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he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stated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that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extremes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in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contrasting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attitudes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among</a:t>
            </a:r>
            <a:r>
              <a:rPr lang="en-US" spc="-28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managers</a:t>
            </a:r>
            <a:r>
              <a:rPr lang="en-US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could be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classified as Theory</a:t>
            </a:r>
            <a:r>
              <a:rPr lang="en-US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X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 Theory</a:t>
            </a:r>
            <a:r>
              <a:rPr lang="en-US" spc="-3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Y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algn="just"/>
            <a:endParaRPr lang="en-GB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1FEBD7-5B16-658E-EABC-57EAFEE1F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15092"/>
              </p:ext>
            </p:extLst>
          </p:nvPr>
        </p:nvGraphicFramePr>
        <p:xfrm>
          <a:off x="4621161" y="1042219"/>
          <a:ext cx="7403231" cy="541599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434573">
                  <a:extLst>
                    <a:ext uri="{9D8B030D-6E8A-4147-A177-3AD203B41FA5}">
                      <a16:colId xmlns:a16="http://schemas.microsoft.com/office/drawing/2014/main" val="1329196518"/>
                    </a:ext>
                  </a:extLst>
                </a:gridCol>
                <a:gridCol w="3968658">
                  <a:extLst>
                    <a:ext uri="{9D8B030D-6E8A-4147-A177-3AD203B41FA5}">
                      <a16:colId xmlns:a16="http://schemas.microsoft.com/office/drawing/2014/main" val="2252236361"/>
                    </a:ext>
                  </a:extLst>
                </a:gridCol>
              </a:tblGrid>
              <a:tr h="445073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 dirty="0">
                          <a:effectLst/>
                        </a:rPr>
                        <a:t>Theory</a:t>
                      </a:r>
                      <a:r>
                        <a:rPr lang="en-US" sz="1100" spc="-5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ZM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 dirty="0">
                          <a:effectLst/>
                        </a:rPr>
                        <a:t>Theory</a:t>
                      </a:r>
                      <a:r>
                        <a:rPr lang="en-US" sz="1100" spc="-5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Y</a:t>
                      </a:r>
                      <a:endParaRPr lang="en-ZM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14778669"/>
                  </a:ext>
                </a:extLst>
              </a:tr>
              <a:tr h="442831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1.Inert,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lazy,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prodded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Naturally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active,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striving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5500452"/>
                  </a:ext>
                </a:extLst>
              </a:tr>
              <a:tr h="800460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2.Work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for threat of hunger,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loss of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job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Work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to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achieve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goals,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find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satisfaction,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build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good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life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95627560"/>
                  </a:ext>
                </a:extLst>
              </a:tr>
              <a:tr h="440589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3.Pay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is almost</a:t>
                      </a:r>
                      <a:r>
                        <a:rPr lang="en-US" sz="1100" spc="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the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only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motive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Many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motives,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achievement,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recognition,</a:t>
                      </a:r>
                      <a:r>
                        <a:rPr lang="en-US" sz="1100" spc="-2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service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01601928"/>
                  </a:ext>
                </a:extLst>
              </a:tr>
              <a:tr h="803824">
                <a:tc>
                  <a:txBody>
                    <a:bodyPr/>
                    <a:lstStyle/>
                    <a:p>
                      <a:pPr marL="296545" marR="20320" indent="-228600">
                        <a:lnSpc>
                          <a:spcPct val="107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4.Dependent,</a:t>
                      </a:r>
                      <a:r>
                        <a:rPr lang="en-US" sz="1100" spc="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must</a:t>
                      </a:r>
                      <a:r>
                        <a:rPr lang="en-US" sz="1100" spc="2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be</a:t>
                      </a:r>
                      <a:r>
                        <a:rPr lang="en-US" sz="1100" spc="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directed,</a:t>
                      </a:r>
                      <a:r>
                        <a:rPr lang="en-US" sz="1100" spc="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push,</a:t>
                      </a:r>
                      <a:r>
                        <a:rPr lang="en-US" sz="1100" spc="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needs</a:t>
                      </a:r>
                      <a:r>
                        <a:rPr lang="en-US" sz="1100" spc="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leader</a:t>
                      </a:r>
                      <a:r>
                        <a:rPr lang="en-US" sz="1100" spc="-26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to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inspire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Independent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capable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of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self-directing,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setting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own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goal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81752222"/>
                  </a:ext>
                </a:extLst>
              </a:tr>
              <a:tr h="800460">
                <a:tc>
                  <a:txBody>
                    <a:bodyPr/>
                    <a:lstStyle/>
                    <a:p>
                      <a:pPr marL="296545" marR="20955" indent="-228600">
                        <a:lnSpc>
                          <a:spcPct val="107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tabLst>
                          <a:tab pos="1083310" algn="l"/>
                          <a:tab pos="1799590" algn="l"/>
                          <a:tab pos="2215515" algn="l"/>
                          <a:tab pos="2493010" algn="l"/>
                        </a:tabLst>
                      </a:pPr>
                      <a:r>
                        <a:rPr lang="en-US" sz="1100">
                          <a:effectLst/>
                        </a:rPr>
                        <a:t>5.Irresponsible,	immature,	must	be	</a:t>
                      </a:r>
                      <a:r>
                        <a:rPr lang="en-US" sz="1100" spc="-5">
                          <a:effectLst/>
                        </a:rPr>
                        <a:t>closely</a:t>
                      </a:r>
                      <a:r>
                        <a:rPr lang="en-US" sz="1100" spc="-26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supervised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and carefully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checked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Mature,</a:t>
                      </a:r>
                      <a:r>
                        <a:rPr lang="en-US" sz="1100" spc="-3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responsible,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capable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of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self-correction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16645824"/>
                  </a:ext>
                </a:extLst>
              </a:tr>
              <a:tr h="794855">
                <a:tc>
                  <a:txBody>
                    <a:bodyPr/>
                    <a:lstStyle/>
                    <a:p>
                      <a:pPr marL="296545" marR="58420" indent="-228600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6.Conformists-needs prescribed routine and resist</a:t>
                      </a:r>
                      <a:r>
                        <a:rPr lang="en-US" sz="1100" spc="-26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change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Inventive,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adaptive,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creative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needs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to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device</a:t>
                      </a:r>
                      <a:r>
                        <a:rPr lang="en-US" sz="1100" spc="-2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new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ways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3937571"/>
                  </a:ext>
                </a:extLst>
              </a:tr>
              <a:tr h="445073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7.Satisfied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with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good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pay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Seeks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broader meaning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in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work</a:t>
                      </a:r>
                      <a:r>
                        <a:rPr lang="en-US" sz="1100" spc="-1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life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2368398"/>
                  </a:ext>
                </a:extLst>
              </a:tr>
              <a:tr h="442831">
                <a:tc>
                  <a:txBody>
                    <a:bodyPr/>
                    <a:lstStyle/>
                    <a:p>
                      <a:pPr marL="67945">
                        <a:spcBef>
                          <a:spcPts val="15"/>
                        </a:spcBef>
                      </a:pPr>
                      <a:r>
                        <a:rPr lang="en-US" sz="1100">
                          <a:effectLst/>
                        </a:rPr>
                        <a:t>8.Not to</a:t>
                      </a:r>
                      <a:r>
                        <a:rPr lang="en-US" sz="1100" spc="-5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be</a:t>
                      </a:r>
                      <a:r>
                        <a:rPr lang="en-US" sz="1100" spc="-10">
                          <a:effectLst/>
                        </a:rPr>
                        <a:t> </a:t>
                      </a:r>
                      <a:r>
                        <a:rPr lang="en-US" sz="1100">
                          <a:effectLst/>
                        </a:rPr>
                        <a:t>trusted</a:t>
                      </a:r>
                      <a:endParaRPr lang="en-ZM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spcBef>
                          <a:spcPts val="15"/>
                        </a:spcBef>
                      </a:pPr>
                      <a:r>
                        <a:rPr lang="en-US" sz="1100" dirty="0">
                          <a:effectLst/>
                        </a:rPr>
                        <a:t>Usually</a:t>
                      </a:r>
                      <a:r>
                        <a:rPr lang="en-US" sz="1100" spc="-1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trusted</a:t>
                      </a:r>
                      <a:endParaRPr lang="en-ZM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578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2520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295275" algn="just">
              <a:lnSpc>
                <a:spcPct val="150000"/>
              </a:lnSpc>
            </a:pP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 you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among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have;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05765" lvl="0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805815" algn="l"/>
                <a:tab pos="8064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Thumb:</a:t>
            </a:r>
            <a:r>
              <a:rPr lang="en-US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lang="en-US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lang="en-US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lang="en-US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laws,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customs, religion,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can’t</a:t>
            </a:r>
            <a:r>
              <a:rPr lang="en-US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05130" lvl="0" indent="-342900" algn="just">
              <a:lnSpc>
                <a:spcPct val="150000"/>
              </a:lnSpc>
              <a:spcBef>
                <a:spcPts val="47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805815" algn="l"/>
                <a:tab pos="8064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Committee</a:t>
            </a:r>
            <a:r>
              <a:rPr lang="en-US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Approach/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r>
              <a:rPr lang="en-US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en-US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to make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which will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accepted by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0904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295275" algn="just">
              <a:lnSpc>
                <a:spcPct val="150000"/>
              </a:lnSpc>
            </a:pP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165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 you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among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have;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05765" lvl="0" indent="-342900" algn="just">
              <a:lnSpc>
                <a:spcPct val="150000"/>
              </a:lnSpc>
              <a:spcBef>
                <a:spcPts val="45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805815" algn="l"/>
                <a:tab pos="8064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US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US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US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lang="en-US" spc="1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pc="1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lang="en-US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reached.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48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805815" algn="l"/>
                <a:tab pos="80645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Brainstorming: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6539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R="4267835" lvl="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SzPts val="1200"/>
              <a:tabLst>
                <a:tab pos="805815" algn="l"/>
                <a:tab pos="806450" algn="l"/>
              </a:tabLst>
            </a:pP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Making</a:t>
            </a:r>
            <a:r>
              <a:rPr lang="en-US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 e.g.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productivity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causes 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e.g.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salaries,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conditions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solve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Verify</a:t>
            </a:r>
            <a:r>
              <a:rPr lang="en-US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2662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OF </a:t>
            </a:r>
            <a:r>
              <a:rPr lang="de-DE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R="4267835" lvl="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SzPts val="1200"/>
              <a:tabLst>
                <a:tab pos="805815" algn="l"/>
                <a:tab pos="806450" algn="l"/>
              </a:tabLst>
            </a:pP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u="sng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</a:t>
            </a:r>
            <a:r>
              <a:rPr lang="en-US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Making</a:t>
            </a:r>
            <a:r>
              <a:rPr lang="en-US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 e.g.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productivity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causes 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e.g.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salaries,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conditions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solve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solutions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Verify</a:t>
            </a:r>
            <a:r>
              <a:rPr lang="en-US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23747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MANAGEMENT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Time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is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measure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life.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A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unique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resource,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shared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equally, cannot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be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stored,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cannot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be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replaced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once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it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is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lost.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7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Time</a:t>
            </a:r>
            <a:r>
              <a:rPr lang="en-US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is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an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entrepreneurs scarcest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resource</a:t>
            </a:r>
            <a:r>
              <a:rPr lang="en-US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&amp;</a:t>
            </a:r>
            <a:r>
              <a:rPr lang="en-US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unless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it’s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managed,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nothing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else</a:t>
            </a:r>
            <a:r>
              <a:rPr lang="en-US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can</a:t>
            </a:r>
            <a:r>
              <a:rPr lang="en-US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be</a:t>
            </a:r>
            <a:r>
              <a:rPr lang="en-US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managed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Times New Roman" panose="02020603050405020304" pitchFamily="18" charset="0"/>
            </a:endParaRPr>
          </a:p>
          <a:p>
            <a:pPr marL="342900" marR="405130" lvl="0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q"/>
              <a:tabLst>
                <a:tab pos="533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Time Management is the management of the activities we engage in during our time to achieve a</a:t>
            </a:r>
            <a:r>
              <a:rPr lang="en-US" spc="-28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Times New Roman" panose="02020603050405020304" pitchFamily="18" charset="0"/>
              </a:rPr>
              <a:t>goal.</a:t>
            </a:r>
            <a:endParaRPr lang="en-ZM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wasting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3504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MANAGEMENT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CAN AN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ENTREPRENEURIAL DO TO MANAGE THEIR TIME?</a:t>
            </a: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ZM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40821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COPING WITH COMPETITION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589915" indent="-28575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9915" marR="405130" indent="-285750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 competitors.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Services / Products which are similar to the same already in the market.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9915" marR="405130" indent="-285750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Indirect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competitor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offering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goods/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market/customers.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9915" marR="405130" indent="-285750" algn="just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competitors.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8494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COPING WITH COMPETITION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04165" marR="25019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US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yourself</a:t>
            </a:r>
            <a:r>
              <a:rPr lang="en-US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</a:t>
            </a:r>
            <a:r>
              <a:rPr lang="en-US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competitors</a:t>
            </a:r>
            <a:r>
              <a:rPr lang="en-US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basis</a:t>
            </a:r>
            <a:r>
              <a:rPr lang="en-US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yourself</a:t>
            </a:r>
            <a:r>
              <a:rPr lang="en-US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</a:t>
            </a:r>
            <a:r>
              <a:rPr lang="en-US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competitors</a:t>
            </a:r>
            <a:r>
              <a:rPr lang="en-US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follows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marR="534035" lvl="1" indent="-342900" algn="just">
              <a:lnSpc>
                <a:spcPct val="150000"/>
              </a:lnSpc>
              <a:spcBef>
                <a:spcPts val="46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Market: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your/ the market? What share of the market do you/they have? What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do</a:t>
            </a:r>
            <a:r>
              <a:rPr lang="en-US" sz="24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you/they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servicing</a:t>
            </a:r>
            <a:r>
              <a:rPr lang="en-US" sz="24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your/their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 segments?</a:t>
            </a:r>
            <a:endParaRPr lang="en-ZM" sz="24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marR="534035" lvl="1" indent="-342900" algn="just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Product: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does your product quality compare with the competitors? What special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offer?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you/they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programme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your/their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products? Is there a possibility of developing a new/ or improved product to satisfy new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needs?</a:t>
            </a:r>
            <a:endParaRPr lang="en-ZM" sz="24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3858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COPING WITH COMPETITION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marR="535305" lvl="1" indent="-342900" algn="just">
              <a:lnSpc>
                <a:spcPct val="150000"/>
              </a:lnSpc>
              <a:spcBef>
                <a:spcPts val="48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Production: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 you compare your technology with the competitors? How do you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sources of raw materials with those of your competitors? How do your skills (and</a:t>
            </a:r>
            <a:r>
              <a:rPr lang="en-US" sz="24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those of your workers) compare with the competitors? What advantages / disadvantages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/ their location</a:t>
            </a:r>
            <a:r>
              <a:rPr lang="en-US" sz="24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have?</a:t>
            </a:r>
            <a:endParaRPr lang="en-GB" sz="2400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535305" lvl="1" indent="-342900" algn="just">
              <a:lnSpc>
                <a:spcPct val="150000"/>
              </a:lnSpc>
              <a:spcBef>
                <a:spcPts val="48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your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competitors?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19877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COPING WITH COMPETITION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346426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marR="535305" lvl="1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Government Policy: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 you identified any opportunities or threats resulting from new or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policies(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restrictions, introduction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VAT)</a:t>
            </a:r>
            <a:endParaRPr lang="en-GB" sz="2400" spc="-5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535305" lvl="1" indent="-342900" algn="just">
              <a:lnSpc>
                <a:spcPct val="150000"/>
              </a:lnSpc>
              <a:spcBef>
                <a:spcPts val="515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v"/>
              <a:tabLst>
                <a:tab pos="7620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Do changes in the general</a:t>
            </a:r>
            <a:r>
              <a:rPr lang="en-US" sz="2400" spc="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 including the local communities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 any opportunities or threats to you for example there is a large number of young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tastes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en-ZM" sz="24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61821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COPING WITH COMPETITION</a:t>
            </a:r>
            <a:endParaRPr lang="en-ZM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5171768" cy="5415997"/>
          </a:xfrm>
        </p:spPr>
        <p:txBody>
          <a:bodyPr>
            <a:noAutofit/>
          </a:bodyPr>
          <a:lstStyle/>
          <a:p>
            <a:pPr marL="304165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endParaRPr lang="en-ZM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04165" marR="404495" algn="just">
              <a:lnSpc>
                <a:spcPct val="150000"/>
              </a:lnSpc>
              <a:spcBef>
                <a:spcPts val="465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obtaining answers to these and any other questions you develop arrange them in a strength/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weaknesses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 opportunities and threats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SWOT Table.</a:t>
            </a:r>
            <a:endParaRPr lang="en-ZM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F86A8-4563-8B4B-1804-5527D7FA5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44" y="977919"/>
            <a:ext cx="5752159" cy="42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58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B65F-5BDC-2863-7C21-01FEDE3EF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57126"/>
            <a:ext cx="11552902" cy="63918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4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en-ZM" sz="4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F01D6-E092-2826-7AF0-A2E0A2C14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807273"/>
            <a:ext cx="11021962" cy="5415997"/>
          </a:xfrm>
        </p:spPr>
        <p:txBody>
          <a:bodyPr>
            <a:noAutofit/>
          </a:bodyPr>
          <a:lstStyle/>
          <a:p>
            <a:pPr marL="304165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</a:pPr>
            <a:r>
              <a:rPr lang="en-GB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Thank you for listening </a:t>
            </a:r>
            <a:endParaRPr lang="en-ZM" sz="5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4DA56-A766-D712-550F-0DDEAD9FA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67608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5D5DC-48FE-EB64-A5D7-E636D4BA3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1" t="13676" b="14317"/>
          <a:stretch>
            <a:fillRect/>
          </a:stretch>
        </p:blipFill>
        <p:spPr bwMode="auto">
          <a:xfrm>
            <a:off x="11533239" y="6223270"/>
            <a:ext cx="491153" cy="47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676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4716</Words>
  <Application>Microsoft Office PowerPoint</Application>
  <PresentationFormat>Widescreen</PresentationFormat>
  <Paragraphs>448</Paragraphs>
  <Slides>83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2" baseType="lpstr">
      <vt:lpstr>Arial</vt:lpstr>
      <vt:lpstr>Calibri</vt:lpstr>
      <vt:lpstr>Calibri Light</vt:lpstr>
      <vt:lpstr>Palatino Linotype</vt:lpstr>
      <vt:lpstr>Segoe UI Symbol</vt:lpstr>
      <vt:lpstr>Times New Roman</vt:lpstr>
      <vt:lpstr>Verdana</vt:lpstr>
      <vt:lpstr>Wingdings</vt:lpstr>
      <vt:lpstr>Office Theme</vt:lpstr>
      <vt:lpstr>PowerPoint Presentation</vt:lpstr>
      <vt:lpstr>NOTICES</vt:lpstr>
      <vt:lpstr>PRESENTATION-JOSEPH CHUMA</vt:lpstr>
      <vt:lpstr>AQUACULTURE ENTERPRENEURSHIP</vt:lpstr>
      <vt:lpstr>AQUACULTURE VALUE CHAIN</vt:lpstr>
      <vt:lpstr>AQUACULTURE VALUE CHAIN</vt:lpstr>
      <vt:lpstr>AQUACULTURE VALUE CHAIN</vt:lpstr>
      <vt:lpstr>AQUACULTURE VALUE CHAIN</vt:lpstr>
      <vt:lpstr>AQUACULTURE VALUE CHAIN</vt:lpstr>
      <vt:lpstr>AQUACULTURE VALUE CHAIN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ENTERPRENEURSHIP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THE ROLE OF ENTREPRENEURSHIP IN SOCIETY</vt:lpstr>
      <vt:lpstr>ECONOMIC, SOCIAL AND POLITICAL FACTORS AFFECTING ENTREPRENEURIAL DEVELOPMENT</vt:lpstr>
      <vt:lpstr>ECONOMIC, SOCIAL AND POLITICAL FACTORS AFFECTING ENTREPRENEURIAL DEVELOPMENT</vt:lpstr>
      <vt:lpstr>ECONOMIC, SOCIAL AND POLITICAL FACTORS AFFECTING ENTREPRENEURIAL DEVELOPMENT</vt:lpstr>
      <vt:lpstr>ENTREPRENEURIAL COMPETENCIES</vt:lpstr>
      <vt:lpstr>ENTREPRENEURIAL COMPETENCIES</vt:lpstr>
      <vt:lpstr>ENTREPRENEURIAL COMPETENCIES</vt:lpstr>
      <vt:lpstr>ENTREPRENEURIAL COMPETENCIES</vt:lpstr>
      <vt:lpstr>ENTREPRENEURIAL COMPETENCIES</vt:lpstr>
      <vt:lpstr>ENTREPRENEURIAL COMPETENCIES</vt:lpstr>
      <vt:lpstr>END</vt:lpstr>
      <vt:lpstr>CHARACTERISTICS OF AN ENTREPRENEUR</vt:lpstr>
      <vt:lpstr>CHARACTERISTICS OF AN ENTREPRENEUR</vt:lpstr>
      <vt:lpstr>CHARACTERISTICS OF AN ENTREPRENEUR</vt:lpstr>
      <vt:lpstr>CHARACTERISTICS OF AN ENTREPRENEUR</vt:lpstr>
      <vt:lpstr>CHARACTERISTICS OF AN ENTREPRENEUR</vt:lpstr>
      <vt:lpstr>CHARACTERISTICS OF AN ENTREPRENEUR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LEADERSHIP OF ENTREPRENEURS</vt:lpstr>
      <vt:lpstr>TIME MANAGEMENT</vt:lpstr>
      <vt:lpstr>TIME MANAGEMENT</vt:lpstr>
      <vt:lpstr>COPING WITH COMPETITION</vt:lpstr>
      <vt:lpstr>COPING WITH COMPETITION</vt:lpstr>
      <vt:lpstr>COPING WITH COMPETITION</vt:lpstr>
      <vt:lpstr>COPING WITH COMPETITION</vt:lpstr>
      <vt:lpstr>COPING WITH COMPETITION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MPHANDE JOSEPH</dc:creator>
  <cp:lastModifiedBy>MPHANDE JOSEPH</cp:lastModifiedBy>
  <cp:revision>101</cp:revision>
  <dcterms:created xsi:type="dcterms:W3CDTF">2024-07-25T12:15:12Z</dcterms:created>
  <dcterms:modified xsi:type="dcterms:W3CDTF">2024-08-01T15:09:06Z</dcterms:modified>
</cp:coreProperties>
</file>