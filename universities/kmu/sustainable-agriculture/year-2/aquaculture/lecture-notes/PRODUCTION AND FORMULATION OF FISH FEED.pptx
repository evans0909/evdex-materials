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7"/>
  </p:notesMasterIdLst>
  <p:sldIdLst>
    <p:sldId id="256" r:id="rId2"/>
    <p:sldId id="268" r:id="rId3"/>
    <p:sldId id="269" r:id="rId4"/>
    <p:sldId id="270" r:id="rId5"/>
    <p:sldId id="272" r:id="rId6"/>
    <p:sldId id="273" r:id="rId7"/>
    <p:sldId id="274" r:id="rId8"/>
    <p:sldId id="259" r:id="rId9"/>
    <p:sldId id="260" r:id="rId10"/>
    <p:sldId id="261" r:id="rId11"/>
    <p:sldId id="262" r:id="rId12"/>
    <p:sldId id="264" r:id="rId13"/>
    <p:sldId id="267" r:id="rId14"/>
    <p:sldId id="287" r:id="rId15"/>
    <p:sldId id="288" r:id="rId16"/>
    <p:sldId id="263" r:id="rId17"/>
    <p:sldId id="265" r:id="rId18"/>
    <p:sldId id="275" r:id="rId19"/>
    <p:sldId id="276" r:id="rId20"/>
    <p:sldId id="277" r:id="rId21"/>
    <p:sldId id="278" r:id="rId22"/>
    <p:sldId id="279" r:id="rId23"/>
    <p:sldId id="280" r:id="rId24"/>
    <p:sldId id="281" r:id="rId25"/>
    <p:sldId id="283" r:id="rId26"/>
    <p:sldId id="282" r:id="rId27"/>
    <p:sldId id="284" r:id="rId28"/>
    <p:sldId id="285" r:id="rId29"/>
    <p:sldId id="289" r:id="rId30"/>
    <p:sldId id="290" r:id="rId31"/>
    <p:sldId id="286" r:id="rId32"/>
    <p:sldId id="292" r:id="rId33"/>
    <p:sldId id="293" r:id="rId34"/>
    <p:sldId id="294" r:id="rId35"/>
    <p:sldId id="295" r:id="rId36"/>
    <p:sldId id="296" r:id="rId37"/>
    <p:sldId id="291" r:id="rId38"/>
    <p:sldId id="298" r:id="rId39"/>
    <p:sldId id="299" r:id="rId40"/>
    <p:sldId id="300" r:id="rId41"/>
    <p:sldId id="301" r:id="rId42"/>
    <p:sldId id="302" r:id="rId43"/>
    <p:sldId id="303" r:id="rId44"/>
    <p:sldId id="309" r:id="rId45"/>
    <p:sldId id="310" r:id="rId46"/>
    <p:sldId id="311" r:id="rId47"/>
    <p:sldId id="312" r:id="rId48"/>
    <p:sldId id="313" r:id="rId49"/>
    <p:sldId id="314" r:id="rId50"/>
    <p:sldId id="327" r:id="rId51"/>
    <p:sldId id="306" r:id="rId52"/>
    <p:sldId id="307" r:id="rId53"/>
    <p:sldId id="308" r:id="rId54"/>
    <p:sldId id="316" r:id="rId55"/>
    <p:sldId id="317" r:id="rId56"/>
    <p:sldId id="318" r:id="rId57"/>
    <p:sldId id="323" r:id="rId58"/>
    <p:sldId id="319" r:id="rId59"/>
    <p:sldId id="324" r:id="rId60"/>
    <p:sldId id="328" r:id="rId61"/>
    <p:sldId id="321" r:id="rId62"/>
    <p:sldId id="322" r:id="rId63"/>
    <p:sldId id="304" r:id="rId64"/>
    <p:sldId id="325" r:id="rId65"/>
    <p:sldId id="326" r:id="rId66"/>
  </p:sldIdLst>
  <p:sldSz cx="12192000" cy="6858000"/>
  <p:notesSz cx="6858000" cy="9144000"/>
  <p:defaultTextStyle>
    <a:defPPr>
      <a:defRPr lang="en-ZM"/>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M"/>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98CB1F-8E72-4274-A9CC-07139392F1BD}" type="datetimeFigureOut">
              <a:rPr lang="en-ZM" smtClean="0"/>
              <a:t>06/05/2024</a:t>
            </a:fld>
            <a:endParaRPr lang="en-ZM"/>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M"/>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M"/>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799696-7650-436A-93F0-9658C79F978C}" type="slidenum">
              <a:rPr lang="en-ZM" smtClean="0"/>
              <a:t>‹#›</a:t>
            </a:fld>
            <a:endParaRPr lang="en-ZM"/>
          </a:p>
        </p:txBody>
      </p:sp>
    </p:spTree>
    <p:extLst>
      <p:ext uri="{BB962C8B-B14F-4D97-AF65-F5344CB8AC3E}">
        <p14:creationId xmlns:p14="http://schemas.microsoft.com/office/powerpoint/2010/main" val="41737014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M" dirty="0"/>
          </a:p>
        </p:txBody>
      </p:sp>
      <p:sp>
        <p:nvSpPr>
          <p:cNvPr id="4" name="Slide Number Placeholder 3"/>
          <p:cNvSpPr>
            <a:spLocks noGrp="1"/>
          </p:cNvSpPr>
          <p:nvPr>
            <p:ph type="sldNum" sz="quarter" idx="5"/>
          </p:nvPr>
        </p:nvSpPr>
        <p:spPr/>
        <p:txBody>
          <a:bodyPr/>
          <a:lstStyle/>
          <a:p>
            <a:fld id="{23799696-7650-436A-93F0-9658C79F978C}" type="slidenum">
              <a:rPr lang="en-ZM" smtClean="0"/>
              <a:t>58</a:t>
            </a:fld>
            <a:endParaRPr lang="en-ZM"/>
          </a:p>
        </p:txBody>
      </p:sp>
    </p:spTree>
    <p:extLst>
      <p:ext uri="{BB962C8B-B14F-4D97-AF65-F5344CB8AC3E}">
        <p14:creationId xmlns:p14="http://schemas.microsoft.com/office/powerpoint/2010/main" val="39387448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M" dirty="0"/>
          </a:p>
        </p:txBody>
      </p:sp>
      <p:sp>
        <p:nvSpPr>
          <p:cNvPr id="4" name="Slide Number Placeholder 3"/>
          <p:cNvSpPr>
            <a:spLocks noGrp="1"/>
          </p:cNvSpPr>
          <p:nvPr>
            <p:ph type="sldNum" sz="quarter" idx="5"/>
          </p:nvPr>
        </p:nvSpPr>
        <p:spPr/>
        <p:txBody>
          <a:bodyPr/>
          <a:lstStyle/>
          <a:p>
            <a:fld id="{23799696-7650-436A-93F0-9658C79F978C}" type="slidenum">
              <a:rPr lang="en-ZM" smtClean="0"/>
              <a:t>59</a:t>
            </a:fld>
            <a:endParaRPr lang="en-ZM"/>
          </a:p>
        </p:txBody>
      </p:sp>
    </p:spTree>
    <p:extLst>
      <p:ext uri="{BB962C8B-B14F-4D97-AF65-F5344CB8AC3E}">
        <p14:creationId xmlns:p14="http://schemas.microsoft.com/office/powerpoint/2010/main" val="15500993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921D7-36A8-7552-47C4-A18882AC86C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M"/>
          </a:p>
        </p:txBody>
      </p:sp>
      <p:sp>
        <p:nvSpPr>
          <p:cNvPr id="3" name="Subtitle 2">
            <a:extLst>
              <a:ext uri="{FF2B5EF4-FFF2-40B4-BE49-F238E27FC236}">
                <a16:creationId xmlns:a16="http://schemas.microsoft.com/office/drawing/2014/main" id="{FC68DFE1-1050-EA23-1BCA-21F46007F93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M"/>
          </a:p>
        </p:txBody>
      </p:sp>
      <p:sp>
        <p:nvSpPr>
          <p:cNvPr id="4" name="Date Placeholder 3">
            <a:extLst>
              <a:ext uri="{FF2B5EF4-FFF2-40B4-BE49-F238E27FC236}">
                <a16:creationId xmlns:a16="http://schemas.microsoft.com/office/drawing/2014/main" id="{1A62002B-E1B8-D057-F56B-D14398D1DA82}"/>
              </a:ext>
            </a:extLst>
          </p:cNvPr>
          <p:cNvSpPr>
            <a:spLocks noGrp="1"/>
          </p:cNvSpPr>
          <p:nvPr>
            <p:ph type="dt" sz="half" idx="10"/>
          </p:nvPr>
        </p:nvSpPr>
        <p:spPr/>
        <p:txBody>
          <a:bodyPr/>
          <a:lstStyle/>
          <a:p>
            <a:fld id="{B522AA23-E47B-4E83-8A47-F40CF558E204}" type="datetimeFigureOut">
              <a:rPr lang="en-ZM" smtClean="0"/>
              <a:t>06/05/2024</a:t>
            </a:fld>
            <a:endParaRPr lang="en-ZM"/>
          </a:p>
        </p:txBody>
      </p:sp>
      <p:sp>
        <p:nvSpPr>
          <p:cNvPr id="5" name="Footer Placeholder 4">
            <a:extLst>
              <a:ext uri="{FF2B5EF4-FFF2-40B4-BE49-F238E27FC236}">
                <a16:creationId xmlns:a16="http://schemas.microsoft.com/office/drawing/2014/main" id="{95ACE14D-C18D-905B-8966-646E3C22B7CB}"/>
              </a:ext>
            </a:extLst>
          </p:cNvPr>
          <p:cNvSpPr>
            <a:spLocks noGrp="1"/>
          </p:cNvSpPr>
          <p:nvPr>
            <p:ph type="ftr" sz="quarter" idx="11"/>
          </p:nvPr>
        </p:nvSpPr>
        <p:spPr/>
        <p:txBody>
          <a:bodyPr/>
          <a:lstStyle/>
          <a:p>
            <a:endParaRPr lang="en-ZM"/>
          </a:p>
        </p:txBody>
      </p:sp>
      <p:sp>
        <p:nvSpPr>
          <p:cNvPr id="6" name="Slide Number Placeholder 5">
            <a:extLst>
              <a:ext uri="{FF2B5EF4-FFF2-40B4-BE49-F238E27FC236}">
                <a16:creationId xmlns:a16="http://schemas.microsoft.com/office/drawing/2014/main" id="{DF1CA282-6304-E64E-7566-3C4B6892A30C}"/>
              </a:ext>
            </a:extLst>
          </p:cNvPr>
          <p:cNvSpPr>
            <a:spLocks noGrp="1"/>
          </p:cNvSpPr>
          <p:nvPr>
            <p:ph type="sldNum" sz="quarter" idx="12"/>
          </p:nvPr>
        </p:nvSpPr>
        <p:spPr/>
        <p:txBody>
          <a:bodyPr/>
          <a:lstStyle/>
          <a:p>
            <a:fld id="{B2114E58-FA09-4ECB-AB1D-37E0A1BF47BF}" type="slidenum">
              <a:rPr lang="en-ZM" smtClean="0"/>
              <a:t>‹#›</a:t>
            </a:fld>
            <a:endParaRPr lang="en-ZM"/>
          </a:p>
        </p:txBody>
      </p:sp>
    </p:spTree>
    <p:extLst>
      <p:ext uri="{BB962C8B-B14F-4D97-AF65-F5344CB8AC3E}">
        <p14:creationId xmlns:p14="http://schemas.microsoft.com/office/powerpoint/2010/main" val="34481292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58F70-663E-0417-D805-B45FC5384B75}"/>
              </a:ext>
            </a:extLst>
          </p:cNvPr>
          <p:cNvSpPr>
            <a:spLocks noGrp="1"/>
          </p:cNvSpPr>
          <p:nvPr>
            <p:ph type="title"/>
          </p:nvPr>
        </p:nvSpPr>
        <p:spPr/>
        <p:txBody>
          <a:bodyPr/>
          <a:lstStyle/>
          <a:p>
            <a:r>
              <a:rPr lang="en-US"/>
              <a:t>Click to edit Master title style</a:t>
            </a:r>
            <a:endParaRPr lang="en-ZM"/>
          </a:p>
        </p:txBody>
      </p:sp>
      <p:sp>
        <p:nvSpPr>
          <p:cNvPr id="3" name="Content Placeholder 2">
            <a:extLst>
              <a:ext uri="{FF2B5EF4-FFF2-40B4-BE49-F238E27FC236}">
                <a16:creationId xmlns:a16="http://schemas.microsoft.com/office/drawing/2014/main" id="{90B40555-B0FF-479C-A841-F726F25FA9F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4" name="Date Placeholder 3">
            <a:extLst>
              <a:ext uri="{FF2B5EF4-FFF2-40B4-BE49-F238E27FC236}">
                <a16:creationId xmlns:a16="http://schemas.microsoft.com/office/drawing/2014/main" id="{5A8C1F49-F967-E14C-699E-B316EB608694}"/>
              </a:ext>
            </a:extLst>
          </p:cNvPr>
          <p:cNvSpPr>
            <a:spLocks noGrp="1"/>
          </p:cNvSpPr>
          <p:nvPr>
            <p:ph type="dt" sz="half" idx="10"/>
          </p:nvPr>
        </p:nvSpPr>
        <p:spPr/>
        <p:txBody>
          <a:bodyPr/>
          <a:lstStyle/>
          <a:p>
            <a:fld id="{B522AA23-E47B-4E83-8A47-F40CF558E204}" type="datetimeFigureOut">
              <a:rPr lang="en-ZM" smtClean="0"/>
              <a:t>06/05/2024</a:t>
            </a:fld>
            <a:endParaRPr lang="en-ZM"/>
          </a:p>
        </p:txBody>
      </p:sp>
      <p:sp>
        <p:nvSpPr>
          <p:cNvPr id="5" name="Footer Placeholder 4">
            <a:extLst>
              <a:ext uri="{FF2B5EF4-FFF2-40B4-BE49-F238E27FC236}">
                <a16:creationId xmlns:a16="http://schemas.microsoft.com/office/drawing/2014/main" id="{2B071341-9683-B546-69BE-10DB55C695DC}"/>
              </a:ext>
            </a:extLst>
          </p:cNvPr>
          <p:cNvSpPr>
            <a:spLocks noGrp="1"/>
          </p:cNvSpPr>
          <p:nvPr>
            <p:ph type="ftr" sz="quarter" idx="11"/>
          </p:nvPr>
        </p:nvSpPr>
        <p:spPr/>
        <p:txBody>
          <a:bodyPr/>
          <a:lstStyle/>
          <a:p>
            <a:endParaRPr lang="en-ZM"/>
          </a:p>
        </p:txBody>
      </p:sp>
      <p:sp>
        <p:nvSpPr>
          <p:cNvPr id="6" name="Slide Number Placeholder 5">
            <a:extLst>
              <a:ext uri="{FF2B5EF4-FFF2-40B4-BE49-F238E27FC236}">
                <a16:creationId xmlns:a16="http://schemas.microsoft.com/office/drawing/2014/main" id="{88BB476F-86F0-3E57-1ABC-1A4B1C305469}"/>
              </a:ext>
            </a:extLst>
          </p:cNvPr>
          <p:cNvSpPr>
            <a:spLocks noGrp="1"/>
          </p:cNvSpPr>
          <p:nvPr>
            <p:ph type="sldNum" sz="quarter" idx="12"/>
          </p:nvPr>
        </p:nvSpPr>
        <p:spPr/>
        <p:txBody>
          <a:bodyPr/>
          <a:lstStyle/>
          <a:p>
            <a:fld id="{B2114E58-FA09-4ECB-AB1D-37E0A1BF47BF}" type="slidenum">
              <a:rPr lang="en-ZM" smtClean="0"/>
              <a:t>‹#›</a:t>
            </a:fld>
            <a:endParaRPr lang="en-ZM"/>
          </a:p>
        </p:txBody>
      </p:sp>
    </p:spTree>
    <p:extLst>
      <p:ext uri="{BB962C8B-B14F-4D97-AF65-F5344CB8AC3E}">
        <p14:creationId xmlns:p14="http://schemas.microsoft.com/office/powerpoint/2010/main" val="10553481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4420E-F326-99EC-8316-D252F4660B7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M"/>
          </a:p>
        </p:txBody>
      </p:sp>
      <p:sp>
        <p:nvSpPr>
          <p:cNvPr id="3" name="Text Placeholder 2">
            <a:extLst>
              <a:ext uri="{FF2B5EF4-FFF2-40B4-BE49-F238E27FC236}">
                <a16:creationId xmlns:a16="http://schemas.microsoft.com/office/drawing/2014/main" id="{8FA80EA1-B397-E430-6E70-5E396AEB2B5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5FBD36A-78D4-F06C-0462-4138E86327F1}"/>
              </a:ext>
            </a:extLst>
          </p:cNvPr>
          <p:cNvSpPr>
            <a:spLocks noGrp="1"/>
          </p:cNvSpPr>
          <p:nvPr>
            <p:ph type="dt" sz="half" idx="10"/>
          </p:nvPr>
        </p:nvSpPr>
        <p:spPr/>
        <p:txBody>
          <a:bodyPr/>
          <a:lstStyle/>
          <a:p>
            <a:fld id="{B522AA23-E47B-4E83-8A47-F40CF558E204}" type="datetimeFigureOut">
              <a:rPr lang="en-ZM" smtClean="0"/>
              <a:t>06/05/2024</a:t>
            </a:fld>
            <a:endParaRPr lang="en-ZM"/>
          </a:p>
        </p:txBody>
      </p:sp>
      <p:sp>
        <p:nvSpPr>
          <p:cNvPr id="5" name="Footer Placeholder 4">
            <a:extLst>
              <a:ext uri="{FF2B5EF4-FFF2-40B4-BE49-F238E27FC236}">
                <a16:creationId xmlns:a16="http://schemas.microsoft.com/office/drawing/2014/main" id="{11065894-91BB-3ABC-B919-59FB5D8826C1}"/>
              </a:ext>
            </a:extLst>
          </p:cNvPr>
          <p:cNvSpPr>
            <a:spLocks noGrp="1"/>
          </p:cNvSpPr>
          <p:nvPr>
            <p:ph type="ftr" sz="quarter" idx="11"/>
          </p:nvPr>
        </p:nvSpPr>
        <p:spPr/>
        <p:txBody>
          <a:bodyPr/>
          <a:lstStyle/>
          <a:p>
            <a:endParaRPr lang="en-ZM"/>
          </a:p>
        </p:txBody>
      </p:sp>
      <p:sp>
        <p:nvSpPr>
          <p:cNvPr id="6" name="Slide Number Placeholder 5">
            <a:extLst>
              <a:ext uri="{FF2B5EF4-FFF2-40B4-BE49-F238E27FC236}">
                <a16:creationId xmlns:a16="http://schemas.microsoft.com/office/drawing/2014/main" id="{8D9B2572-2C23-7F94-0C3B-6EB17700CF20}"/>
              </a:ext>
            </a:extLst>
          </p:cNvPr>
          <p:cNvSpPr>
            <a:spLocks noGrp="1"/>
          </p:cNvSpPr>
          <p:nvPr>
            <p:ph type="sldNum" sz="quarter" idx="12"/>
          </p:nvPr>
        </p:nvSpPr>
        <p:spPr/>
        <p:txBody>
          <a:bodyPr/>
          <a:lstStyle/>
          <a:p>
            <a:fld id="{B2114E58-FA09-4ECB-AB1D-37E0A1BF47BF}" type="slidenum">
              <a:rPr lang="en-ZM" smtClean="0"/>
              <a:t>‹#›</a:t>
            </a:fld>
            <a:endParaRPr lang="en-ZM"/>
          </a:p>
        </p:txBody>
      </p:sp>
    </p:spTree>
    <p:extLst>
      <p:ext uri="{BB962C8B-B14F-4D97-AF65-F5344CB8AC3E}">
        <p14:creationId xmlns:p14="http://schemas.microsoft.com/office/powerpoint/2010/main" val="9110658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EB8DA-B802-9467-FFC9-AE179D1F77AF}"/>
              </a:ext>
            </a:extLst>
          </p:cNvPr>
          <p:cNvSpPr>
            <a:spLocks noGrp="1"/>
          </p:cNvSpPr>
          <p:nvPr>
            <p:ph type="title"/>
          </p:nvPr>
        </p:nvSpPr>
        <p:spPr/>
        <p:txBody>
          <a:bodyPr/>
          <a:lstStyle/>
          <a:p>
            <a:r>
              <a:rPr lang="en-US"/>
              <a:t>Click to edit Master title style</a:t>
            </a:r>
            <a:endParaRPr lang="en-ZM"/>
          </a:p>
        </p:txBody>
      </p:sp>
      <p:sp>
        <p:nvSpPr>
          <p:cNvPr id="3" name="Content Placeholder 2">
            <a:extLst>
              <a:ext uri="{FF2B5EF4-FFF2-40B4-BE49-F238E27FC236}">
                <a16:creationId xmlns:a16="http://schemas.microsoft.com/office/drawing/2014/main" id="{7B1669AB-AB29-9760-6287-DEECDDCBCEF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4" name="Content Placeholder 3">
            <a:extLst>
              <a:ext uri="{FF2B5EF4-FFF2-40B4-BE49-F238E27FC236}">
                <a16:creationId xmlns:a16="http://schemas.microsoft.com/office/drawing/2014/main" id="{D3985CBB-1557-997D-97B6-4783C3D6C24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5" name="Date Placeholder 4">
            <a:extLst>
              <a:ext uri="{FF2B5EF4-FFF2-40B4-BE49-F238E27FC236}">
                <a16:creationId xmlns:a16="http://schemas.microsoft.com/office/drawing/2014/main" id="{E7ACD033-D212-F631-6943-DC41F9B4AD15}"/>
              </a:ext>
            </a:extLst>
          </p:cNvPr>
          <p:cNvSpPr>
            <a:spLocks noGrp="1"/>
          </p:cNvSpPr>
          <p:nvPr>
            <p:ph type="dt" sz="half" idx="10"/>
          </p:nvPr>
        </p:nvSpPr>
        <p:spPr/>
        <p:txBody>
          <a:bodyPr/>
          <a:lstStyle/>
          <a:p>
            <a:fld id="{B522AA23-E47B-4E83-8A47-F40CF558E204}" type="datetimeFigureOut">
              <a:rPr lang="en-ZM" smtClean="0"/>
              <a:t>06/05/2024</a:t>
            </a:fld>
            <a:endParaRPr lang="en-ZM"/>
          </a:p>
        </p:txBody>
      </p:sp>
      <p:sp>
        <p:nvSpPr>
          <p:cNvPr id="6" name="Footer Placeholder 5">
            <a:extLst>
              <a:ext uri="{FF2B5EF4-FFF2-40B4-BE49-F238E27FC236}">
                <a16:creationId xmlns:a16="http://schemas.microsoft.com/office/drawing/2014/main" id="{5EE3B518-9154-73D4-823E-2E4DADD5A20A}"/>
              </a:ext>
            </a:extLst>
          </p:cNvPr>
          <p:cNvSpPr>
            <a:spLocks noGrp="1"/>
          </p:cNvSpPr>
          <p:nvPr>
            <p:ph type="ftr" sz="quarter" idx="11"/>
          </p:nvPr>
        </p:nvSpPr>
        <p:spPr/>
        <p:txBody>
          <a:bodyPr/>
          <a:lstStyle/>
          <a:p>
            <a:endParaRPr lang="en-ZM"/>
          </a:p>
        </p:txBody>
      </p:sp>
      <p:sp>
        <p:nvSpPr>
          <p:cNvPr id="7" name="Slide Number Placeholder 6">
            <a:extLst>
              <a:ext uri="{FF2B5EF4-FFF2-40B4-BE49-F238E27FC236}">
                <a16:creationId xmlns:a16="http://schemas.microsoft.com/office/drawing/2014/main" id="{ACBC29BB-0FB7-CD21-F803-C6A0D7DF4943}"/>
              </a:ext>
            </a:extLst>
          </p:cNvPr>
          <p:cNvSpPr>
            <a:spLocks noGrp="1"/>
          </p:cNvSpPr>
          <p:nvPr>
            <p:ph type="sldNum" sz="quarter" idx="12"/>
          </p:nvPr>
        </p:nvSpPr>
        <p:spPr/>
        <p:txBody>
          <a:bodyPr/>
          <a:lstStyle/>
          <a:p>
            <a:fld id="{B2114E58-FA09-4ECB-AB1D-37E0A1BF47BF}" type="slidenum">
              <a:rPr lang="en-ZM" smtClean="0"/>
              <a:t>‹#›</a:t>
            </a:fld>
            <a:endParaRPr lang="en-ZM"/>
          </a:p>
        </p:txBody>
      </p:sp>
    </p:spTree>
    <p:extLst>
      <p:ext uri="{BB962C8B-B14F-4D97-AF65-F5344CB8AC3E}">
        <p14:creationId xmlns:p14="http://schemas.microsoft.com/office/powerpoint/2010/main" val="34238120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C17C6-3781-BDB7-8A5E-53744346149B}"/>
              </a:ext>
            </a:extLst>
          </p:cNvPr>
          <p:cNvSpPr>
            <a:spLocks noGrp="1"/>
          </p:cNvSpPr>
          <p:nvPr>
            <p:ph type="title"/>
          </p:nvPr>
        </p:nvSpPr>
        <p:spPr>
          <a:xfrm>
            <a:off x="839788" y="365125"/>
            <a:ext cx="10515600" cy="1325563"/>
          </a:xfrm>
        </p:spPr>
        <p:txBody>
          <a:bodyPr/>
          <a:lstStyle/>
          <a:p>
            <a:r>
              <a:rPr lang="en-US"/>
              <a:t>Click to edit Master title style</a:t>
            </a:r>
            <a:endParaRPr lang="en-ZM"/>
          </a:p>
        </p:txBody>
      </p:sp>
      <p:sp>
        <p:nvSpPr>
          <p:cNvPr id="3" name="Text Placeholder 2">
            <a:extLst>
              <a:ext uri="{FF2B5EF4-FFF2-40B4-BE49-F238E27FC236}">
                <a16:creationId xmlns:a16="http://schemas.microsoft.com/office/drawing/2014/main" id="{B8018A21-A364-CC6A-6DE4-568A6901F39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4022519-88D5-FF5A-A8EC-933A8754F7F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5" name="Text Placeholder 4">
            <a:extLst>
              <a:ext uri="{FF2B5EF4-FFF2-40B4-BE49-F238E27FC236}">
                <a16:creationId xmlns:a16="http://schemas.microsoft.com/office/drawing/2014/main" id="{14D6D0D5-3A5A-A7E4-4820-87EE6AF7EF1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B9A234-75DE-B213-CA25-BA85EF05843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7" name="Date Placeholder 6">
            <a:extLst>
              <a:ext uri="{FF2B5EF4-FFF2-40B4-BE49-F238E27FC236}">
                <a16:creationId xmlns:a16="http://schemas.microsoft.com/office/drawing/2014/main" id="{A2497EE3-EF83-BF33-A418-76F593983823}"/>
              </a:ext>
            </a:extLst>
          </p:cNvPr>
          <p:cNvSpPr>
            <a:spLocks noGrp="1"/>
          </p:cNvSpPr>
          <p:nvPr>
            <p:ph type="dt" sz="half" idx="10"/>
          </p:nvPr>
        </p:nvSpPr>
        <p:spPr/>
        <p:txBody>
          <a:bodyPr/>
          <a:lstStyle/>
          <a:p>
            <a:fld id="{B522AA23-E47B-4E83-8A47-F40CF558E204}" type="datetimeFigureOut">
              <a:rPr lang="en-ZM" smtClean="0"/>
              <a:t>06/05/2024</a:t>
            </a:fld>
            <a:endParaRPr lang="en-ZM"/>
          </a:p>
        </p:txBody>
      </p:sp>
      <p:sp>
        <p:nvSpPr>
          <p:cNvPr id="8" name="Footer Placeholder 7">
            <a:extLst>
              <a:ext uri="{FF2B5EF4-FFF2-40B4-BE49-F238E27FC236}">
                <a16:creationId xmlns:a16="http://schemas.microsoft.com/office/drawing/2014/main" id="{14437E84-1FD4-0093-A6AB-41DD7250BB95}"/>
              </a:ext>
            </a:extLst>
          </p:cNvPr>
          <p:cNvSpPr>
            <a:spLocks noGrp="1"/>
          </p:cNvSpPr>
          <p:nvPr>
            <p:ph type="ftr" sz="quarter" idx="11"/>
          </p:nvPr>
        </p:nvSpPr>
        <p:spPr/>
        <p:txBody>
          <a:bodyPr/>
          <a:lstStyle/>
          <a:p>
            <a:endParaRPr lang="en-ZM"/>
          </a:p>
        </p:txBody>
      </p:sp>
      <p:sp>
        <p:nvSpPr>
          <p:cNvPr id="9" name="Slide Number Placeholder 8">
            <a:extLst>
              <a:ext uri="{FF2B5EF4-FFF2-40B4-BE49-F238E27FC236}">
                <a16:creationId xmlns:a16="http://schemas.microsoft.com/office/drawing/2014/main" id="{1122E076-4F5E-CA22-24CA-7BC1428AF412}"/>
              </a:ext>
            </a:extLst>
          </p:cNvPr>
          <p:cNvSpPr>
            <a:spLocks noGrp="1"/>
          </p:cNvSpPr>
          <p:nvPr>
            <p:ph type="sldNum" sz="quarter" idx="12"/>
          </p:nvPr>
        </p:nvSpPr>
        <p:spPr/>
        <p:txBody>
          <a:bodyPr/>
          <a:lstStyle/>
          <a:p>
            <a:fld id="{B2114E58-FA09-4ECB-AB1D-37E0A1BF47BF}" type="slidenum">
              <a:rPr lang="en-ZM" smtClean="0"/>
              <a:t>‹#›</a:t>
            </a:fld>
            <a:endParaRPr lang="en-ZM"/>
          </a:p>
        </p:txBody>
      </p:sp>
    </p:spTree>
    <p:extLst>
      <p:ext uri="{BB962C8B-B14F-4D97-AF65-F5344CB8AC3E}">
        <p14:creationId xmlns:p14="http://schemas.microsoft.com/office/powerpoint/2010/main" val="12373510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B6C50-190B-877E-0394-379132824B62}"/>
              </a:ext>
            </a:extLst>
          </p:cNvPr>
          <p:cNvSpPr>
            <a:spLocks noGrp="1"/>
          </p:cNvSpPr>
          <p:nvPr>
            <p:ph type="title"/>
          </p:nvPr>
        </p:nvSpPr>
        <p:spPr/>
        <p:txBody>
          <a:bodyPr/>
          <a:lstStyle/>
          <a:p>
            <a:r>
              <a:rPr lang="en-US"/>
              <a:t>Click to edit Master title style</a:t>
            </a:r>
            <a:endParaRPr lang="en-ZM"/>
          </a:p>
        </p:txBody>
      </p:sp>
      <p:sp>
        <p:nvSpPr>
          <p:cNvPr id="3" name="Date Placeholder 2">
            <a:extLst>
              <a:ext uri="{FF2B5EF4-FFF2-40B4-BE49-F238E27FC236}">
                <a16:creationId xmlns:a16="http://schemas.microsoft.com/office/drawing/2014/main" id="{1D405E63-14D0-D051-CAAB-B33BDEC9B3A8}"/>
              </a:ext>
            </a:extLst>
          </p:cNvPr>
          <p:cNvSpPr>
            <a:spLocks noGrp="1"/>
          </p:cNvSpPr>
          <p:nvPr>
            <p:ph type="dt" sz="half" idx="10"/>
          </p:nvPr>
        </p:nvSpPr>
        <p:spPr/>
        <p:txBody>
          <a:bodyPr/>
          <a:lstStyle/>
          <a:p>
            <a:fld id="{B522AA23-E47B-4E83-8A47-F40CF558E204}" type="datetimeFigureOut">
              <a:rPr lang="en-ZM" smtClean="0"/>
              <a:t>06/05/2024</a:t>
            </a:fld>
            <a:endParaRPr lang="en-ZM"/>
          </a:p>
        </p:txBody>
      </p:sp>
      <p:sp>
        <p:nvSpPr>
          <p:cNvPr id="4" name="Footer Placeholder 3">
            <a:extLst>
              <a:ext uri="{FF2B5EF4-FFF2-40B4-BE49-F238E27FC236}">
                <a16:creationId xmlns:a16="http://schemas.microsoft.com/office/drawing/2014/main" id="{29477AED-6FF4-A113-E576-040B0866CEEE}"/>
              </a:ext>
            </a:extLst>
          </p:cNvPr>
          <p:cNvSpPr>
            <a:spLocks noGrp="1"/>
          </p:cNvSpPr>
          <p:nvPr>
            <p:ph type="ftr" sz="quarter" idx="11"/>
          </p:nvPr>
        </p:nvSpPr>
        <p:spPr/>
        <p:txBody>
          <a:bodyPr/>
          <a:lstStyle/>
          <a:p>
            <a:endParaRPr lang="en-ZM"/>
          </a:p>
        </p:txBody>
      </p:sp>
      <p:sp>
        <p:nvSpPr>
          <p:cNvPr id="5" name="Slide Number Placeholder 4">
            <a:extLst>
              <a:ext uri="{FF2B5EF4-FFF2-40B4-BE49-F238E27FC236}">
                <a16:creationId xmlns:a16="http://schemas.microsoft.com/office/drawing/2014/main" id="{02398E54-2F99-2355-D122-80FB282E14E3}"/>
              </a:ext>
            </a:extLst>
          </p:cNvPr>
          <p:cNvSpPr>
            <a:spLocks noGrp="1"/>
          </p:cNvSpPr>
          <p:nvPr>
            <p:ph type="sldNum" sz="quarter" idx="12"/>
          </p:nvPr>
        </p:nvSpPr>
        <p:spPr/>
        <p:txBody>
          <a:bodyPr/>
          <a:lstStyle/>
          <a:p>
            <a:fld id="{B2114E58-FA09-4ECB-AB1D-37E0A1BF47BF}" type="slidenum">
              <a:rPr lang="en-ZM" smtClean="0"/>
              <a:t>‹#›</a:t>
            </a:fld>
            <a:endParaRPr lang="en-ZM"/>
          </a:p>
        </p:txBody>
      </p:sp>
    </p:spTree>
    <p:extLst>
      <p:ext uri="{BB962C8B-B14F-4D97-AF65-F5344CB8AC3E}">
        <p14:creationId xmlns:p14="http://schemas.microsoft.com/office/powerpoint/2010/main" val="41081778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8E606F4-A714-8928-ED59-38C791B22BBE}"/>
              </a:ext>
            </a:extLst>
          </p:cNvPr>
          <p:cNvSpPr>
            <a:spLocks noGrp="1"/>
          </p:cNvSpPr>
          <p:nvPr>
            <p:ph type="dt" sz="half" idx="10"/>
          </p:nvPr>
        </p:nvSpPr>
        <p:spPr/>
        <p:txBody>
          <a:bodyPr/>
          <a:lstStyle/>
          <a:p>
            <a:fld id="{B522AA23-E47B-4E83-8A47-F40CF558E204}" type="datetimeFigureOut">
              <a:rPr lang="en-ZM" smtClean="0"/>
              <a:t>06/05/2024</a:t>
            </a:fld>
            <a:endParaRPr lang="en-ZM"/>
          </a:p>
        </p:txBody>
      </p:sp>
      <p:sp>
        <p:nvSpPr>
          <p:cNvPr id="3" name="Footer Placeholder 2">
            <a:extLst>
              <a:ext uri="{FF2B5EF4-FFF2-40B4-BE49-F238E27FC236}">
                <a16:creationId xmlns:a16="http://schemas.microsoft.com/office/drawing/2014/main" id="{3F314F13-C9EA-8D56-1329-872CD2B230EF}"/>
              </a:ext>
            </a:extLst>
          </p:cNvPr>
          <p:cNvSpPr>
            <a:spLocks noGrp="1"/>
          </p:cNvSpPr>
          <p:nvPr>
            <p:ph type="ftr" sz="quarter" idx="11"/>
          </p:nvPr>
        </p:nvSpPr>
        <p:spPr/>
        <p:txBody>
          <a:bodyPr/>
          <a:lstStyle/>
          <a:p>
            <a:endParaRPr lang="en-ZM"/>
          </a:p>
        </p:txBody>
      </p:sp>
      <p:sp>
        <p:nvSpPr>
          <p:cNvPr id="4" name="Slide Number Placeholder 3">
            <a:extLst>
              <a:ext uri="{FF2B5EF4-FFF2-40B4-BE49-F238E27FC236}">
                <a16:creationId xmlns:a16="http://schemas.microsoft.com/office/drawing/2014/main" id="{457CEC15-F7B0-B2D2-6BA3-6AF1ACE7D493}"/>
              </a:ext>
            </a:extLst>
          </p:cNvPr>
          <p:cNvSpPr>
            <a:spLocks noGrp="1"/>
          </p:cNvSpPr>
          <p:nvPr>
            <p:ph type="sldNum" sz="quarter" idx="12"/>
          </p:nvPr>
        </p:nvSpPr>
        <p:spPr/>
        <p:txBody>
          <a:bodyPr/>
          <a:lstStyle/>
          <a:p>
            <a:fld id="{B2114E58-FA09-4ECB-AB1D-37E0A1BF47BF}" type="slidenum">
              <a:rPr lang="en-ZM" smtClean="0"/>
              <a:t>‹#›</a:t>
            </a:fld>
            <a:endParaRPr lang="en-ZM"/>
          </a:p>
        </p:txBody>
      </p:sp>
    </p:spTree>
    <p:extLst>
      <p:ext uri="{BB962C8B-B14F-4D97-AF65-F5344CB8AC3E}">
        <p14:creationId xmlns:p14="http://schemas.microsoft.com/office/powerpoint/2010/main" val="15020317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6648D-1177-B06D-299D-93BD3CEDFF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M"/>
          </a:p>
        </p:txBody>
      </p:sp>
      <p:sp>
        <p:nvSpPr>
          <p:cNvPr id="3" name="Content Placeholder 2">
            <a:extLst>
              <a:ext uri="{FF2B5EF4-FFF2-40B4-BE49-F238E27FC236}">
                <a16:creationId xmlns:a16="http://schemas.microsoft.com/office/drawing/2014/main" id="{9ED74B7D-58A9-10A3-58A7-67309F07733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4" name="Text Placeholder 3">
            <a:extLst>
              <a:ext uri="{FF2B5EF4-FFF2-40B4-BE49-F238E27FC236}">
                <a16:creationId xmlns:a16="http://schemas.microsoft.com/office/drawing/2014/main" id="{E0A8BF74-71EE-033D-AB6B-5D47227381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DFF304E-6EB1-3192-34FC-9F5EA9B1B121}"/>
              </a:ext>
            </a:extLst>
          </p:cNvPr>
          <p:cNvSpPr>
            <a:spLocks noGrp="1"/>
          </p:cNvSpPr>
          <p:nvPr>
            <p:ph type="dt" sz="half" idx="10"/>
          </p:nvPr>
        </p:nvSpPr>
        <p:spPr/>
        <p:txBody>
          <a:bodyPr/>
          <a:lstStyle/>
          <a:p>
            <a:fld id="{B522AA23-E47B-4E83-8A47-F40CF558E204}" type="datetimeFigureOut">
              <a:rPr lang="en-ZM" smtClean="0"/>
              <a:t>06/05/2024</a:t>
            </a:fld>
            <a:endParaRPr lang="en-ZM"/>
          </a:p>
        </p:txBody>
      </p:sp>
      <p:sp>
        <p:nvSpPr>
          <p:cNvPr id="6" name="Footer Placeholder 5">
            <a:extLst>
              <a:ext uri="{FF2B5EF4-FFF2-40B4-BE49-F238E27FC236}">
                <a16:creationId xmlns:a16="http://schemas.microsoft.com/office/drawing/2014/main" id="{8C1945C4-7396-DFA5-0445-CA72078D66B7}"/>
              </a:ext>
            </a:extLst>
          </p:cNvPr>
          <p:cNvSpPr>
            <a:spLocks noGrp="1"/>
          </p:cNvSpPr>
          <p:nvPr>
            <p:ph type="ftr" sz="quarter" idx="11"/>
          </p:nvPr>
        </p:nvSpPr>
        <p:spPr/>
        <p:txBody>
          <a:bodyPr/>
          <a:lstStyle/>
          <a:p>
            <a:endParaRPr lang="en-ZM"/>
          </a:p>
        </p:txBody>
      </p:sp>
      <p:sp>
        <p:nvSpPr>
          <p:cNvPr id="7" name="Slide Number Placeholder 6">
            <a:extLst>
              <a:ext uri="{FF2B5EF4-FFF2-40B4-BE49-F238E27FC236}">
                <a16:creationId xmlns:a16="http://schemas.microsoft.com/office/drawing/2014/main" id="{21CB8898-F3E0-E413-663D-B2168006AAC1}"/>
              </a:ext>
            </a:extLst>
          </p:cNvPr>
          <p:cNvSpPr>
            <a:spLocks noGrp="1"/>
          </p:cNvSpPr>
          <p:nvPr>
            <p:ph type="sldNum" sz="quarter" idx="12"/>
          </p:nvPr>
        </p:nvSpPr>
        <p:spPr/>
        <p:txBody>
          <a:bodyPr/>
          <a:lstStyle/>
          <a:p>
            <a:fld id="{B2114E58-FA09-4ECB-AB1D-37E0A1BF47BF}" type="slidenum">
              <a:rPr lang="en-ZM" smtClean="0"/>
              <a:t>‹#›</a:t>
            </a:fld>
            <a:endParaRPr lang="en-ZM"/>
          </a:p>
        </p:txBody>
      </p:sp>
    </p:spTree>
    <p:extLst>
      <p:ext uri="{BB962C8B-B14F-4D97-AF65-F5344CB8AC3E}">
        <p14:creationId xmlns:p14="http://schemas.microsoft.com/office/powerpoint/2010/main" val="40147953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AB3C3-02B9-E65C-3B98-0AADF8D6EB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M"/>
          </a:p>
        </p:txBody>
      </p:sp>
      <p:sp>
        <p:nvSpPr>
          <p:cNvPr id="3" name="Picture Placeholder 2">
            <a:extLst>
              <a:ext uri="{FF2B5EF4-FFF2-40B4-BE49-F238E27FC236}">
                <a16:creationId xmlns:a16="http://schemas.microsoft.com/office/drawing/2014/main" id="{C8894187-C3F7-522F-CB6A-E3DFAEC9CA2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M"/>
          </a:p>
        </p:txBody>
      </p:sp>
      <p:sp>
        <p:nvSpPr>
          <p:cNvPr id="4" name="Text Placeholder 3">
            <a:extLst>
              <a:ext uri="{FF2B5EF4-FFF2-40B4-BE49-F238E27FC236}">
                <a16:creationId xmlns:a16="http://schemas.microsoft.com/office/drawing/2014/main" id="{D24E8644-099C-B056-3687-95D6691F6C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821F3C-80F4-4243-AB4E-59E70CA0D50F}"/>
              </a:ext>
            </a:extLst>
          </p:cNvPr>
          <p:cNvSpPr>
            <a:spLocks noGrp="1"/>
          </p:cNvSpPr>
          <p:nvPr>
            <p:ph type="dt" sz="half" idx="10"/>
          </p:nvPr>
        </p:nvSpPr>
        <p:spPr/>
        <p:txBody>
          <a:bodyPr/>
          <a:lstStyle/>
          <a:p>
            <a:fld id="{B522AA23-E47B-4E83-8A47-F40CF558E204}" type="datetimeFigureOut">
              <a:rPr lang="en-ZM" smtClean="0"/>
              <a:t>06/05/2024</a:t>
            </a:fld>
            <a:endParaRPr lang="en-ZM"/>
          </a:p>
        </p:txBody>
      </p:sp>
      <p:sp>
        <p:nvSpPr>
          <p:cNvPr id="6" name="Footer Placeholder 5">
            <a:extLst>
              <a:ext uri="{FF2B5EF4-FFF2-40B4-BE49-F238E27FC236}">
                <a16:creationId xmlns:a16="http://schemas.microsoft.com/office/drawing/2014/main" id="{BB16EA3E-90AD-7C05-637B-BDA69E0C0521}"/>
              </a:ext>
            </a:extLst>
          </p:cNvPr>
          <p:cNvSpPr>
            <a:spLocks noGrp="1"/>
          </p:cNvSpPr>
          <p:nvPr>
            <p:ph type="ftr" sz="quarter" idx="11"/>
          </p:nvPr>
        </p:nvSpPr>
        <p:spPr/>
        <p:txBody>
          <a:bodyPr/>
          <a:lstStyle/>
          <a:p>
            <a:endParaRPr lang="en-ZM"/>
          </a:p>
        </p:txBody>
      </p:sp>
      <p:sp>
        <p:nvSpPr>
          <p:cNvPr id="7" name="Slide Number Placeholder 6">
            <a:extLst>
              <a:ext uri="{FF2B5EF4-FFF2-40B4-BE49-F238E27FC236}">
                <a16:creationId xmlns:a16="http://schemas.microsoft.com/office/drawing/2014/main" id="{35ADC2EF-3211-D009-16D2-22380894BEF3}"/>
              </a:ext>
            </a:extLst>
          </p:cNvPr>
          <p:cNvSpPr>
            <a:spLocks noGrp="1"/>
          </p:cNvSpPr>
          <p:nvPr>
            <p:ph type="sldNum" sz="quarter" idx="12"/>
          </p:nvPr>
        </p:nvSpPr>
        <p:spPr/>
        <p:txBody>
          <a:bodyPr/>
          <a:lstStyle/>
          <a:p>
            <a:fld id="{B2114E58-FA09-4ECB-AB1D-37E0A1BF47BF}" type="slidenum">
              <a:rPr lang="en-ZM" smtClean="0"/>
              <a:t>‹#›</a:t>
            </a:fld>
            <a:endParaRPr lang="en-ZM"/>
          </a:p>
        </p:txBody>
      </p:sp>
    </p:spTree>
    <p:extLst>
      <p:ext uri="{BB962C8B-B14F-4D97-AF65-F5344CB8AC3E}">
        <p14:creationId xmlns:p14="http://schemas.microsoft.com/office/powerpoint/2010/main" val="22543270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8860B-2F05-76DE-4DBD-4653540ED59B}"/>
              </a:ext>
            </a:extLst>
          </p:cNvPr>
          <p:cNvSpPr>
            <a:spLocks noGrp="1"/>
          </p:cNvSpPr>
          <p:nvPr>
            <p:ph type="title"/>
          </p:nvPr>
        </p:nvSpPr>
        <p:spPr/>
        <p:txBody>
          <a:bodyPr/>
          <a:lstStyle/>
          <a:p>
            <a:r>
              <a:rPr lang="en-US"/>
              <a:t>Click to edit Master title style</a:t>
            </a:r>
            <a:endParaRPr lang="en-ZM"/>
          </a:p>
        </p:txBody>
      </p:sp>
      <p:sp>
        <p:nvSpPr>
          <p:cNvPr id="3" name="Vertical Text Placeholder 2">
            <a:extLst>
              <a:ext uri="{FF2B5EF4-FFF2-40B4-BE49-F238E27FC236}">
                <a16:creationId xmlns:a16="http://schemas.microsoft.com/office/drawing/2014/main" id="{A6447268-2280-FE50-E1FE-149AC65DA9B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4" name="Date Placeholder 3">
            <a:extLst>
              <a:ext uri="{FF2B5EF4-FFF2-40B4-BE49-F238E27FC236}">
                <a16:creationId xmlns:a16="http://schemas.microsoft.com/office/drawing/2014/main" id="{EF65B29E-26F2-D9A1-1992-CE0B84818ADF}"/>
              </a:ext>
            </a:extLst>
          </p:cNvPr>
          <p:cNvSpPr>
            <a:spLocks noGrp="1"/>
          </p:cNvSpPr>
          <p:nvPr>
            <p:ph type="dt" sz="half" idx="10"/>
          </p:nvPr>
        </p:nvSpPr>
        <p:spPr/>
        <p:txBody>
          <a:bodyPr/>
          <a:lstStyle/>
          <a:p>
            <a:fld id="{B522AA23-E47B-4E83-8A47-F40CF558E204}" type="datetimeFigureOut">
              <a:rPr lang="en-ZM" smtClean="0"/>
              <a:t>06/05/2024</a:t>
            </a:fld>
            <a:endParaRPr lang="en-ZM"/>
          </a:p>
        </p:txBody>
      </p:sp>
      <p:sp>
        <p:nvSpPr>
          <p:cNvPr id="5" name="Footer Placeholder 4">
            <a:extLst>
              <a:ext uri="{FF2B5EF4-FFF2-40B4-BE49-F238E27FC236}">
                <a16:creationId xmlns:a16="http://schemas.microsoft.com/office/drawing/2014/main" id="{EA9FFFC0-AC1F-0521-6C90-3F21EB71E940}"/>
              </a:ext>
            </a:extLst>
          </p:cNvPr>
          <p:cNvSpPr>
            <a:spLocks noGrp="1"/>
          </p:cNvSpPr>
          <p:nvPr>
            <p:ph type="ftr" sz="quarter" idx="11"/>
          </p:nvPr>
        </p:nvSpPr>
        <p:spPr/>
        <p:txBody>
          <a:bodyPr/>
          <a:lstStyle/>
          <a:p>
            <a:endParaRPr lang="en-ZM"/>
          </a:p>
        </p:txBody>
      </p:sp>
      <p:sp>
        <p:nvSpPr>
          <p:cNvPr id="6" name="Slide Number Placeholder 5">
            <a:extLst>
              <a:ext uri="{FF2B5EF4-FFF2-40B4-BE49-F238E27FC236}">
                <a16:creationId xmlns:a16="http://schemas.microsoft.com/office/drawing/2014/main" id="{CBFE7043-8FAA-99E9-FB3D-9FD9BB78E018}"/>
              </a:ext>
            </a:extLst>
          </p:cNvPr>
          <p:cNvSpPr>
            <a:spLocks noGrp="1"/>
          </p:cNvSpPr>
          <p:nvPr>
            <p:ph type="sldNum" sz="quarter" idx="12"/>
          </p:nvPr>
        </p:nvSpPr>
        <p:spPr/>
        <p:txBody>
          <a:bodyPr/>
          <a:lstStyle/>
          <a:p>
            <a:fld id="{B2114E58-FA09-4ECB-AB1D-37E0A1BF47BF}" type="slidenum">
              <a:rPr lang="en-ZM" smtClean="0"/>
              <a:t>‹#›</a:t>
            </a:fld>
            <a:endParaRPr lang="en-ZM"/>
          </a:p>
        </p:txBody>
      </p:sp>
    </p:spTree>
    <p:extLst>
      <p:ext uri="{BB962C8B-B14F-4D97-AF65-F5344CB8AC3E}">
        <p14:creationId xmlns:p14="http://schemas.microsoft.com/office/powerpoint/2010/main" val="41645823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7F34C43-8D52-BD13-A2B0-1EE45F9FEE8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M"/>
          </a:p>
        </p:txBody>
      </p:sp>
      <p:sp>
        <p:nvSpPr>
          <p:cNvPr id="3" name="Vertical Text Placeholder 2">
            <a:extLst>
              <a:ext uri="{FF2B5EF4-FFF2-40B4-BE49-F238E27FC236}">
                <a16:creationId xmlns:a16="http://schemas.microsoft.com/office/drawing/2014/main" id="{97868FD9-2C15-19BF-8181-6F4132700D0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4" name="Date Placeholder 3">
            <a:extLst>
              <a:ext uri="{FF2B5EF4-FFF2-40B4-BE49-F238E27FC236}">
                <a16:creationId xmlns:a16="http://schemas.microsoft.com/office/drawing/2014/main" id="{B23D3A3E-373D-3598-4D41-9FBCC4031C16}"/>
              </a:ext>
            </a:extLst>
          </p:cNvPr>
          <p:cNvSpPr>
            <a:spLocks noGrp="1"/>
          </p:cNvSpPr>
          <p:nvPr>
            <p:ph type="dt" sz="half" idx="10"/>
          </p:nvPr>
        </p:nvSpPr>
        <p:spPr/>
        <p:txBody>
          <a:bodyPr/>
          <a:lstStyle/>
          <a:p>
            <a:fld id="{B522AA23-E47B-4E83-8A47-F40CF558E204}" type="datetimeFigureOut">
              <a:rPr lang="en-ZM" smtClean="0"/>
              <a:t>06/05/2024</a:t>
            </a:fld>
            <a:endParaRPr lang="en-ZM"/>
          </a:p>
        </p:txBody>
      </p:sp>
      <p:sp>
        <p:nvSpPr>
          <p:cNvPr id="5" name="Footer Placeholder 4">
            <a:extLst>
              <a:ext uri="{FF2B5EF4-FFF2-40B4-BE49-F238E27FC236}">
                <a16:creationId xmlns:a16="http://schemas.microsoft.com/office/drawing/2014/main" id="{2E3BB37C-CC7F-D61E-8387-0923642DAE62}"/>
              </a:ext>
            </a:extLst>
          </p:cNvPr>
          <p:cNvSpPr>
            <a:spLocks noGrp="1"/>
          </p:cNvSpPr>
          <p:nvPr>
            <p:ph type="ftr" sz="quarter" idx="11"/>
          </p:nvPr>
        </p:nvSpPr>
        <p:spPr/>
        <p:txBody>
          <a:bodyPr/>
          <a:lstStyle/>
          <a:p>
            <a:endParaRPr lang="en-ZM"/>
          </a:p>
        </p:txBody>
      </p:sp>
      <p:sp>
        <p:nvSpPr>
          <p:cNvPr id="6" name="Slide Number Placeholder 5">
            <a:extLst>
              <a:ext uri="{FF2B5EF4-FFF2-40B4-BE49-F238E27FC236}">
                <a16:creationId xmlns:a16="http://schemas.microsoft.com/office/drawing/2014/main" id="{F588D1C2-DF35-2E65-DA32-85F7C1D4432D}"/>
              </a:ext>
            </a:extLst>
          </p:cNvPr>
          <p:cNvSpPr>
            <a:spLocks noGrp="1"/>
          </p:cNvSpPr>
          <p:nvPr>
            <p:ph type="sldNum" sz="quarter" idx="12"/>
          </p:nvPr>
        </p:nvSpPr>
        <p:spPr/>
        <p:txBody>
          <a:bodyPr/>
          <a:lstStyle/>
          <a:p>
            <a:fld id="{B2114E58-FA09-4ECB-AB1D-37E0A1BF47BF}" type="slidenum">
              <a:rPr lang="en-ZM" smtClean="0"/>
              <a:t>‹#›</a:t>
            </a:fld>
            <a:endParaRPr lang="en-ZM"/>
          </a:p>
        </p:txBody>
      </p:sp>
    </p:spTree>
    <p:extLst>
      <p:ext uri="{BB962C8B-B14F-4D97-AF65-F5344CB8AC3E}">
        <p14:creationId xmlns:p14="http://schemas.microsoft.com/office/powerpoint/2010/main" val="25098567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D2A97C2-163E-EE97-0326-D45BDB32241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M"/>
          </a:p>
        </p:txBody>
      </p:sp>
      <p:sp>
        <p:nvSpPr>
          <p:cNvPr id="3" name="Text Placeholder 2">
            <a:extLst>
              <a:ext uri="{FF2B5EF4-FFF2-40B4-BE49-F238E27FC236}">
                <a16:creationId xmlns:a16="http://schemas.microsoft.com/office/drawing/2014/main" id="{E60198B4-9038-5503-49A5-95487456533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4" name="Date Placeholder 3">
            <a:extLst>
              <a:ext uri="{FF2B5EF4-FFF2-40B4-BE49-F238E27FC236}">
                <a16:creationId xmlns:a16="http://schemas.microsoft.com/office/drawing/2014/main" id="{C6A33B51-EFBD-3201-CF30-8B0AF9CDD84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22AA23-E47B-4E83-8A47-F40CF558E204}" type="datetimeFigureOut">
              <a:rPr lang="en-ZM" smtClean="0"/>
              <a:t>06/05/2024</a:t>
            </a:fld>
            <a:endParaRPr lang="en-ZM"/>
          </a:p>
        </p:txBody>
      </p:sp>
      <p:sp>
        <p:nvSpPr>
          <p:cNvPr id="5" name="Footer Placeholder 4">
            <a:extLst>
              <a:ext uri="{FF2B5EF4-FFF2-40B4-BE49-F238E27FC236}">
                <a16:creationId xmlns:a16="http://schemas.microsoft.com/office/drawing/2014/main" id="{238E5F5E-9CD1-622E-D819-EC34B918383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ZM"/>
          </a:p>
        </p:txBody>
      </p:sp>
      <p:sp>
        <p:nvSpPr>
          <p:cNvPr id="6" name="Slide Number Placeholder 5">
            <a:extLst>
              <a:ext uri="{FF2B5EF4-FFF2-40B4-BE49-F238E27FC236}">
                <a16:creationId xmlns:a16="http://schemas.microsoft.com/office/drawing/2014/main" id="{BF148406-7597-2C69-177B-6E5BED2B412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114E58-FA09-4ECB-AB1D-37E0A1BF47BF}" type="slidenum">
              <a:rPr lang="en-ZM" smtClean="0"/>
              <a:t>‹#›</a:t>
            </a:fld>
            <a:endParaRPr lang="en-ZM"/>
          </a:p>
        </p:txBody>
      </p:sp>
    </p:spTree>
    <p:extLst>
      <p:ext uri="{BB962C8B-B14F-4D97-AF65-F5344CB8AC3E}">
        <p14:creationId xmlns:p14="http://schemas.microsoft.com/office/powerpoint/2010/main" val="6827660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ZM"/>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emf"/><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emf"/><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879DF-704F-A00D-572B-E7C7A52AE7B4}"/>
              </a:ext>
            </a:extLst>
          </p:cNvPr>
          <p:cNvSpPr>
            <a:spLocks noGrp="1"/>
          </p:cNvSpPr>
          <p:nvPr>
            <p:ph type="ctrTitle"/>
          </p:nvPr>
        </p:nvSpPr>
        <p:spPr>
          <a:xfrm>
            <a:off x="255639" y="399181"/>
            <a:ext cx="11533238" cy="1655762"/>
          </a:xfrm>
        </p:spPr>
        <p:txBody>
          <a:bodyPr>
            <a:normAutofit/>
          </a:bodyPr>
          <a:lstStyle/>
          <a:p>
            <a:r>
              <a:rPr lang="en-GB" sz="5400" b="1" dirty="0">
                <a:latin typeface="Arial Narrow" panose="020B0606020202030204" pitchFamily="34" charset="0"/>
              </a:rPr>
              <a:t>PRODUCTION AND FORMULATION OF FISH FEED</a:t>
            </a:r>
            <a:endParaRPr lang="en-ZM" sz="5400" b="1" dirty="0">
              <a:latin typeface="Arial Narrow" panose="020B0606020202030204" pitchFamily="34" charset="0"/>
            </a:endParaRPr>
          </a:p>
        </p:txBody>
      </p:sp>
      <p:sp>
        <p:nvSpPr>
          <p:cNvPr id="3" name="Subtitle 2">
            <a:extLst>
              <a:ext uri="{FF2B5EF4-FFF2-40B4-BE49-F238E27FC236}">
                <a16:creationId xmlns:a16="http://schemas.microsoft.com/office/drawing/2014/main" id="{6107AEAB-3800-9DC8-32E6-AB24BBF3E56C}"/>
              </a:ext>
            </a:extLst>
          </p:cNvPr>
          <p:cNvSpPr>
            <a:spLocks noGrp="1"/>
          </p:cNvSpPr>
          <p:nvPr>
            <p:ph type="subTitle" idx="1"/>
          </p:nvPr>
        </p:nvSpPr>
        <p:spPr>
          <a:xfrm>
            <a:off x="1991032" y="4803058"/>
            <a:ext cx="9144000" cy="1655762"/>
          </a:xfrm>
        </p:spPr>
        <p:txBody>
          <a:bodyPr>
            <a:normAutofit lnSpcReduction="10000"/>
          </a:bodyPr>
          <a:lstStyle/>
          <a:p>
            <a:pPr algn="l"/>
            <a:r>
              <a:rPr lang="en-GB" dirty="0">
                <a:latin typeface="Arial Narrow" panose="020B0606020202030204" pitchFamily="34" charset="0"/>
              </a:rPr>
              <a:t>Joseph Mphande</a:t>
            </a:r>
          </a:p>
          <a:p>
            <a:pPr algn="l"/>
            <a:r>
              <a:rPr lang="en-GB" dirty="0">
                <a:latin typeface="Arial Narrow" panose="020B0606020202030204" pitchFamily="34" charset="0"/>
              </a:rPr>
              <a:t>MSc Sustainable Aquaculture –University of Stirling, UK</a:t>
            </a:r>
          </a:p>
          <a:p>
            <a:pPr algn="l"/>
            <a:r>
              <a:rPr lang="en-GB" dirty="0">
                <a:latin typeface="Arial Narrow" panose="020B0606020202030204" pitchFamily="34" charset="0"/>
              </a:rPr>
              <a:t>MSc  -Aquaculture and Fisheries Science-LUANAR, Malawi.</a:t>
            </a:r>
          </a:p>
          <a:p>
            <a:pPr algn="l"/>
            <a:r>
              <a:rPr lang="en-GB" b="1" dirty="0">
                <a:latin typeface="Arial Narrow" panose="020B0606020202030204" pitchFamily="34" charset="0"/>
              </a:rPr>
              <a:t>Email: josephmphande90@gmail.com</a:t>
            </a:r>
            <a:endParaRPr lang="en-ZM" b="1" dirty="0">
              <a:latin typeface="Arial Narrow" panose="020B0606020202030204" pitchFamily="34" charset="0"/>
            </a:endParaRPr>
          </a:p>
          <a:p>
            <a:endParaRPr lang="en-ZM" dirty="0"/>
          </a:p>
        </p:txBody>
      </p:sp>
      <p:pic>
        <p:nvPicPr>
          <p:cNvPr id="5" name="Picture 4">
            <a:extLst>
              <a:ext uri="{FF2B5EF4-FFF2-40B4-BE49-F238E27FC236}">
                <a16:creationId xmlns:a16="http://schemas.microsoft.com/office/drawing/2014/main" id="{597860DF-AD37-A655-7670-4F89836CB190}"/>
              </a:ext>
            </a:extLst>
          </p:cNvPr>
          <p:cNvPicPr>
            <a:picLocks noChangeAspect="1"/>
          </p:cNvPicPr>
          <p:nvPr/>
        </p:nvPicPr>
        <p:blipFill>
          <a:blip r:embed="rId2"/>
          <a:stretch>
            <a:fillRect/>
          </a:stretch>
        </p:blipFill>
        <p:spPr>
          <a:xfrm>
            <a:off x="1830642" y="2054942"/>
            <a:ext cx="9144000" cy="2748116"/>
          </a:xfrm>
          <a:prstGeom prst="rect">
            <a:avLst/>
          </a:prstGeom>
        </p:spPr>
      </p:pic>
    </p:spTree>
    <p:extLst>
      <p:ext uri="{BB962C8B-B14F-4D97-AF65-F5344CB8AC3E}">
        <p14:creationId xmlns:p14="http://schemas.microsoft.com/office/powerpoint/2010/main" val="3944536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879DF-704F-A00D-572B-E7C7A52AE7B4}"/>
              </a:ext>
            </a:extLst>
          </p:cNvPr>
          <p:cNvSpPr>
            <a:spLocks noGrp="1"/>
          </p:cNvSpPr>
          <p:nvPr>
            <p:ph type="ctrTitle"/>
          </p:nvPr>
        </p:nvSpPr>
        <p:spPr>
          <a:xfrm>
            <a:off x="255639" y="399181"/>
            <a:ext cx="11533238" cy="820019"/>
          </a:xfrm>
        </p:spPr>
        <p:txBody>
          <a:bodyPr>
            <a:normAutofit fontScale="90000"/>
          </a:bodyPr>
          <a:lstStyle/>
          <a:p>
            <a:r>
              <a:rPr lang="en-GB" sz="5400" b="1" dirty="0">
                <a:latin typeface="Arial Narrow" panose="020B0606020202030204" pitchFamily="34" charset="0"/>
              </a:rPr>
              <a:t>INTRODUCTION</a:t>
            </a:r>
            <a:endParaRPr lang="en-ZM" sz="5400" b="1" dirty="0">
              <a:latin typeface="Arial Narrow" panose="020B0606020202030204" pitchFamily="34" charset="0"/>
            </a:endParaRPr>
          </a:p>
        </p:txBody>
      </p:sp>
      <p:sp>
        <p:nvSpPr>
          <p:cNvPr id="3" name="Subtitle 2">
            <a:extLst>
              <a:ext uri="{FF2B5EF4-FFF2-40B4-BE49-F238E27FC236}">
                <a16:creationId xmlns:a16="http://schemas.microsoft.com/office/drawing/2014/main" id="{6107AEAB-3800-9DC8-32E6-AB24BBF3E56C}"/>
              </a:ext>
            </a:extLst>
          </p:cNvPr>
          <p:cNvSpPr>
            <a:spLocks noGrp="1"/>
          </p:cNvSpPr>
          <p:nvPr>
            <p:ph type="subTitle" idx="1"/>
          </p:nvPr>
        </p:nvSpPr>
        <p:spPr>
          <a:xfrm>
            <a:off x="1312606" y="1337187"/>
            <a:ext cx="9566787" cy="5121632"/>
          </a:xfrm>
        </p:spPr>
        <p:txBody>
          <a:bodyPr>
            <a:normAutofit/>
          </a:bodyPr>
          <a:lstStyle/>
          <a:p>
            <a:pPr algn="just"/>
            <a:r>
              <a:rPr lang="en-GB" dirty="0">
                <a:solidFill>
                  <a:srgbClr val="FF0000"/>
                </a:solidFill>
                <a:latin typeface="Arial Narrow" panose="020B0606020202030204" pitchFamily="34" charset="0"/>
              </a:rPr>
              <a:t>REMEMBER: We briefly discussed natural food, supplemental and complete complete feed.</a:t>
            </a:r>
          </a:p>
          <a:p>
            <a:pPr marL="342900" indent="-342900" algn="just">
              <a:buFont typeface="Wingdings" panose="05000000000000000000" pitchFamily="2" charset="2"/>
              <a:buChar char="q"/>
            </a:pPr>
            <a:r>
              <a:rPr lang="en-GB" b="1" dirty="0">
                <a:latin typeface="Arial Narrow" panose="020B0606020202030204" pitchFamily="34" charset="0"/>
              </a:rPr>
              <a:t>NATURAL FOOD</a:t>
            </a:r>
          </a:p>
          <a:p>
            <a:pPr marL="342900" indent="-342900" algn="just">
              <a:lnSpc>
                <a:spcPct val="150000"/>
              </a:lnSpc>
              <a:buFont typeface="Wingdings" panose="05000000000000000000" pitchFamily="2" charset="2"/>
              <a:buChar char="Ø"/>
            </a:pPr>
            <a:r>
              <a:rPr lang="en-GB" b="0" i="0" u="none" strike="noStrike" baseline="0" dirty="0">
                <a:solidFill>
                  <a:srgbClr val="000000"/>
                </a:solidFill>
                <a:latin typeface="Arial Narrow" panose="020B0606020202030204" pitchFamily="34" charset="0"/>
              </a:rPr>
              <a:t>Fish food consists of natural food and artificial (manufactured) feeds.</a:t>
            </a:r>
          </a:p>
          <a:p>
            <a:pPr marL="342900" indent="-342900" algn="just">
              <a:lnSpc>
                <a:spcPct val="150000"/>
              </a:lnSpc>
              <a:buFont typeface="Wingdings" panose="05000000000000000000" pitchFamily="2" charset="2"/>
              <a:buChar char="Ø"/>
            </a:pPr>
            <a:r>
              <a:rPr lang="en-GB" b="0" i="0" u="none" strike="noStrike" baseline="0" dirty="0">
                <a:solidFill>
                  <a:srgbClr val="000000"/>
                </a:solidFill>
                <a:latin typeface="Arial Narrow" panose="020B0606020202030204" pitchFamily="34" charset="0"/>
              </a:rPr>
              <a:t>In natural waters and well-fertilized ponds, microscopic plants (phytoplankton), microscopic animals (zooplankton), insects, crustaceans, copepods and molluscs are examples of natural foods. </a:t>
            </a:r>
          </a:p>
          <a:p>
            <a:pPr marL="342900" indent="-342900" algn="just">
              <a:lnSpc>
                <a:spcPct val="150000"/>
              </a:lnSpc>
              <a:buFont typeface="Wingdings" panose="05000000000000000000" pitchFamily="2" charset="2"/>
              <a:buChar char="Ø"/>
            </a:pPr>
            <a:r>
              <a:rPr lang="en-GB" b="0" i="0" u="none" strike="noStrike" baseline="0" dirty="0">
                <a:solidFill>
                  <a:srgbClr val="000000"/>
                </a:solidFill>
                <a:latin typeface="Arial Narrow" panose="020B0606020202030204" pitchFamily="34" charset="0"/>
              </a:rPr>
              <a:t>Natural food organisms in the water will provide essential nutrients.</a:t>
            </a:r>
            <a:endParaRPr lang="en-GB" dirty="0">
              <a:solidFill>
                <a:srgbClr val="FF0000"/>
              </a:solidFill>
              <a:latin typeface="Arial Narrow" panose="020B0606020202030204" pitchFamily="34" charset="0"/>
            </a:endParaRPr>
          </a:p>
        </p:txBody>
      </p:sp>
    </p:spTree>
    <p:extLst>
      <p:ext uri="{BB962C8B-B14F-4D97-AF65-F5344CB8AC3E}">
        <p14:creationId xmlns:p14="http://schemas.microsoft.com/office/powerpoint/2010/main" val="29628673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879DF-704F-A00D-572B-E7C7A52AE7B4}"/>
              </a:ext>
            </a:extLst>
          </p:cNvPr>
          <p:cNvSpPr>
            <a:spLocks noGrp="1"/>
          </p:cNvSpPr>
          <p:nvPr>
            <p:ph type="ctrTitle"/>
          </p:nvPr>
        </p:nvSpPr>
        <p:spPr>
          <a:xfrm>
            <a:off x="147485" y="153374"/>
            <a:ext cx="11533238" cy="820019"/>
          </a:xfrm>
        </p:spPr>
        <p:txBody>
          <a:bodyPr>
            <a:normAutofit fontScale="90000"/>
          </a:bodyPr>
          <a:lstStyle/>
          <a:p>
            <a:r>
              <a:rPr lang="en-GB" sz="5400" b="1" dirty="0">
                <a:latin typeface="Arial Narrow" panose="020B0606020202030204" pitchFamily="34" charset="0"/>
              </a:rPr>
              <a:t>INTRODUCTION</a:t>
            </a:r>
            <a:endParaRPr lang="en-ZM" sz="5400" b="1" dirty="0">
              <a:latin typeface="Arial Narrow" panose="020B0606020202030204" pitchFamily="34" charset="0"/>
            </a:endParaRPr>
          </a:p>
        </p:txBody>
      </p:sp>
      <p:sp>
        <p:nvSpPr>
          <p:cNvPr id="3" name="Subtitle 2">
            <a:extLst>
              <a:ext uri="{FF2B5EF4-FFF2-40B4-BE49-F238E27FC236}">
                <a16:creationId xmlns:a16="http://schemas.microsoft.com/office/drawing/2014/main" id="{6107AEAB-3800-9DC8-32E6-AB24BBF3E56C}"/>
              </a:ext>
            </a:extLst>
          </p:cNvPr>
          <p:cNvSpPr>
            <a:spLocks noGrp="1"/>
          </p:cNvSpPr>
          <p:nvPr>
            <p:ph type="subTitle" idx="1"/>
          </p:nvPr>
        </p:nvSpPr>
        <p:spPr>
          <a:xfrm>
            <a:off x="530942" y="973393"/>
            <a:ext cx="11149781" cy="5485426"/>
          </a:xfrm>
        </p:spPr>
        <p:txBody>
          <a:bodyPr>
            <a:normAutofit/>
          </a:bodyPr>
          <a:lstStyle/>
          <a:p>
            <a:pPr algn="just"/>
            <a:r>
              <a:rPr lang="en-GB" dirty="0">
                <a:solidFill>
                  <a:srgbClr val="FF0000"/>
                </a:solidFill>
                <a:latin typeface="Arial Narrow" panose="020B0606020202030204" pitchFamily="34" charset="0"/>
              </a:rPr>
              <a:t>REMEMBER: We discussed natural food, supplemental and complete complete feed.</a:t>
            </a:r>
          </a:p>
          <a:p>
            <a:pPr algn="just"/>
            <a:endParaRPr lang="en-GB" dirty="0">
              <a:solidFill>
                <a:srgbClr val="FF0000"/>
              </a:solidFill>
              <a:latin typeface="Arial Narrow" panose="020B0606020202030204" pitchFamily="34" charset="0"/>
            </a:endParaRPr>
          </a:p>
          <a:p>
            <a:pPr marL="342900" indent="-342900" algn="just">
              <a:buFont typeface="Wingdings" panose="05000000000000000000" pitchFamily="2" charset="2"/>
              <a:buChar char="q"/>
            </a:pPr>
            <a:r>
              <a:rPr lang="en-GB" b="1" dirty="0">
                <a:latin typeface="Arial Narrow" panose="020B0606020202030204" pitchFamily="34" charset="0"/>
              </a:rPr>
              <a:t>SUPPLEMENTAL FEED</a:t>
            </a:r>
          </a:p>
          <a:p>
            <a:pPr marL="342900" indent="-342900" algn="just">
              <a:lnSpc>
                <a:spcPct val="150000"/>
              </a:lnSpc>
              <a:buFont typeface="Wingdings" panose="05000000000000000000" pitchFamily="2" charset="2"/>
              <a:buChar char="Ø"/>
            </a:pPr>
            <a:r>
              <a:rPr lang="en-GB" i="0" u="none" strike="noStrike" baseline="0" dirty="0">
                <a:solidFill>
                  <a:srgbClr val="000000"/>
                </a:solidFill>
                <a:latin typeface="Arial Narrow" panose="020B0606020202030204" pitchFamily="34" charset="0"/>
              </a:rPr>
              <a:t>When natural foods are not available in sufficient quantity to provide adequate nutrients for fish growth and development, supplementary feeds and</a:t>
            </a:r>
            <a:r>
              <a:rPr lang="en-GB" dirty="0">
                <a:solidFill>
                  <a:srgbClr val="000000"/>
                </a:solidFill>
                <a:latin typeface="Arial Narrow" panose="020B0606020202030204" pitchFamily="34" charset="0"/>
              </a:rPr>
              <a:t> </a:t>
            </a:r>
            <a:r>
              <a:rPr lang="en-GB" i="0" u="none" strike="noStrike" baseline="0" dirty="0">
                <a:solidFill>
                  <a:srgbClr val="000000"/>
                </a:solidFill>
                <a:latin typeface="Arial Narrow" panose="020B0606020202030204" pitchFamily="34" charset="0"/>
              </a:rPr>
              <a:t>supplement natural foods. </a:t>
            </a:r>
          </a:p>
          <a:p>
            <a:pPr marL="342900" indent="-342900" algn="just">
              <a:lnSpc>
                <a:spcPct val="150000"/>
              </a:lnSpc>
              <a:buFont typeface="Wingdings" panose="05000000000000000000" pitchFamily="2" charset="2"/>
              <a:buChar char="Ø"/>
            </a:pPr>
            <a:r>
              <a:rPr lang="en-GB" i="0" u="none" strike="noStrike" baseline="0" dirty="0">
                <a:solidFill>
                  <a:srgbClr val="000000"/>
                </a:solidFill>
                <a:latin typeface="Arial Narrow" panose="020B0606020202030204" pitchFamily="34" charset="0"/>
              </a:rPr>
              <a:t>They are not nutritionally complete and will not adequately support fish growth in the absence of natural foods.</a:t>
            </a:r>
          </a:p>
          <a:p>
            <a:pPr marL="342900" indent="-342900" algn="just">
              <a:lnSpc>
                <a:spcPct val="150000"/>
              </a:lnSpc>
              <a:buFont typeface="Wingdings" panose="05000000000000000000" pitchFamily="2" charset="2"/>
              <a:buChar char="Ø"/>
            </a:pPr>
            <a:r>
              <a:rPr lang="en-GB" i="0" u="none" strike="noStrike" baseline="0" dirty="0">
                <a:solidFill>
                  <a:srgbClr val="000000"/>
                </a:solidFill>
                <a:latin typeface="Arial Narrow" panose="020B0606020202030204" pitchFamily="34" charset="0"/>
              </a:rPr>
              <a:t> Some examples of supplementary fish feeds are commercially produced rations for chickens and pigs, rice bran, cassava leaves, kitchen refuse, oil seed cakes or other agricultural products and by products.</a:t>
            </a:r>
            <a:endParaRPr lang="en-GB" dirty="0">
              <a:solidFill>
                <a:srgbClr val="FF0000"/>
              </a:solidFill>
              <a:latin typeface="Arial Narrow" panose="020B0606020202030204" pitchFamily="34" charset="0"/>
            </a:endParaRPr>
          </a:p>
        </p:txBody>
      </p:sp>
    </p:spTree>
    <p:extLst>
      <p:ext uri="{BB962C8B-B14F-4D97-AF65-F5344CB8AC3E}">
        <p14:creationId xmlns:p14="http://schemas.microsoft.com/office/powerpoint/2010/main" val="23810155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879DF-704F-A00D-572B-E7C7A52AE7B4}"/>
              </a:ext>
            </a:extLst>
          </p:cNvPr>
          <p:cNvSpPr>
            <a:spLocks noGrp="1"/>
          </p:cNvSpPr>
          <p:nvPr>
            <p:ph type="ctrTitle"/>
          </p:nvPr>
        </p:nvSpPr>
        <p:spPr>
          <a:xfrm>
            <a:off x="255639" y="399181"/>
            <a:ext cx="11533238" cy="820019"/>
          </a:xfrm>
        </p:spPr>
        <p:txBody>
          <a:bodyPr>
            <a:normAutofit fontScale="90000"/>
          </a:bodyPr>
          <a:lstStyle/>
          <a:p>
            <a:r>
              <a:rPr lang="en-GB" sz="5400" b="1" dirty="0">
                <a:latin typeface="Arial Narrow" panose="020B0606020202030204" pitchFamily="34" charset="0"/>
              </a:rPr>
              <a:t>INTRODUCTION</a:t>
            </a:r>
            <a:endParaRPr lang="en-ZM" sz="5400" b="1" dirty="0">
              <a:latin typeface="Arial Narrow" panose="020B0606020202030204" pitchFamily="34" charset="0"/>
            </a:endParaRPr>
          </a:p>
        </p:txBody>
      </p:sp>
      <p:sp>
        <p:nvSpPr>
          <p:cNvPr id="3" name="Subtitle 2">
            <a:extLst>
              <a:ext uri="{FF2B5EF4-FFF2-40B4-BE49-F238E27FC236}">
                <a16:creationId xmlns:a16="http://schemas.microsoft.com/office/drawing/2014/main" id="{6107AEAB-3800-9DC8-32E6-AB24BBF3E56C}"/>
              </a:ext>
            </a:extLst>
          </p:cNvPr>
          <p:cNvSpPr>
            <a:spLocks noGrp="1"/>
          </p:cNvSpPr>
          <p:nvPr>
            <p:ph type="subTitle" idx="1"/>
          </p:nvPr>
        </p:nvSpPr>
        <p:spPr>
          <a:xfrm>
            <a:off x="1071717" y="1219199"/>
            <a:ext cx="9438968" cy="5535561"/>
          </a:xfrm>
        </p:spPr>
        <p:txBody>
          <a:bodyPr>
            <a:normAutofit/>
          </a:bodyPr>
          <a:lstStyle/>
          <a:p>
            <a:pPr algn="just">
              <a:lnSpc>
                <a:spcPct val="150000"/>
              </a:lnSpc>
            </a:pPr>
            <a:r>
              <a:rPr lang="en-GB" dirty="0">
                <a:solidFill>
                  <a:srgbClr val="FF0000"/>
                </a:solidFill>
                <a:latin typeface="Arial Narrow" panose="020B0606020202030204" pitchFamily="34" charset="0"/>
              </a:rPr>
              <a:t>REMEMBER: We discussed natural food, supplemental and complete complete feed.</a:t>
            </a:r>
          </a:p>
          <a:p>
            <a:pPr marL="342900" indent="-342900" algn="just">
              <a:lnSpc>
                <a:spcPct val="150000"/>
              </a:lnSpc>
              <a:buFont typeface="Wingdings" panose="05000000000000000000" pitchFamily="2" charset="2"/>
              <a:buChar char="q"/>
            </a:pPr>
            <a:r>
              <a:rPr lang="en-GB" b="1" dirty="0">
                <a:latin typeface="Arial Narrow" panose="020B0606020202030204" pitchFamily="34" charset="0"/>
              </a:rPr>
              <a:t>COMPLETE FEED</a:t>
            </a:r>
          </a:p>
          <a:p>
            <a:pPr marL="285750" indent="-285750" algn="just">
              <a:lnSpc>
                <a:spcPct val="150000"/>
              </a:lnSpc>
              <a:buFont typeface="Wingdings" panose="05000000000000000000" pitchFamily="2" charset="2"/>
              <a:buChar char="Ø"/>
            </a:pPr>
            <a:r>
              <a:rPr lang="en-GB" b="0" i="0" u="none" strike="noStrike" baseline="0" dirty="0">
                <a:solidFill>
                  <a:srgbClr val="000000"/>
                </a:solidFill>
                <a:latin typeface="Arial Narrow" panose="020B0606020202030204" pitchFamily="34" charset="0"/>
              </a:rPr>
              <a:t>In the total absence of natural foods as it is the case with recirculating aquaculture and indoor system, </a:t>
            </a:r>
            <a:r>
              <a:rPr lang="en-GB" i="0" u="none" strike="noStrike" baseline="0" dirty="0">
                <a:solidFill>
                  <a:srgbClr val="000000"/>
                </a:solidFill>
                <a:latin typeface="Arial Narrow" panose="020B0606020202030204" pitchFamily="34" charset="0"/>
              </a:rPr>
              <a:t>nutritionally complete manufactured </a:t>
            </a:r>
            <a:r>
              <a:rPr lang="en-GB" b="0" i="0" u="none" strike="noStrike" baseline="0" dirty="0">
                <a:solidFill>
                  <a:srgbClr val="000000"/>
                </a:solidFill>
                <a:latin typeface="Arial Narrow" panose="020B0606020202030204" pitchFamily="34" charset="0"/>
              </a:rPr>
              <a:t>feeds that contain all essential nutrients must be fed to fish.  </a:t>
            </a:r>
          </a:p>
          <a:p>
            <a:pPr marL="285750" indent="-285750" algn="just">
              <a:lnSpc>
                <a:spcPct val="150000"/>
              </a:lnSpc>
              <a:buFont typeface="Wingdings" panose="05000000000000000000" pitchFamily="2" charset="2"/>
              <a:buChar char="Ø"/>
            </a:pPr>
            <a:r>
              <a:rPr lang="en-GB" b="0" i="0" u="none" strike="noStrike" baseline="0" dirty="0">
                <a:solidFill>
                  <a:srgbClr val="000000"/>
                </a:solidFill>
                <a:latin typeface="Arial Narrow" panose="020B0606020202030204" pitchFamily="34" charset="0"/>
              </a:rPr>
              <a:t>Artificial complete (or balanced) feeds are well-compounded mixture of feedstuffs and can be in mash or pellets form that could be fed to fish. </a:t>
            </a:r>
            <a:endParaRPr lang="en-GB" dirty="0">
              <a:solidFill>
                <a:srgbClr val="FF0000"/>
              </a:solidFill>
              <a:latin typeface="Arial Narrow" panose="020B0606020202030204" pitchFamily="34" charset="0"/>
            </a:endParaRPr>
          </a:p>
        </p:txBody>
      </p:sp>
    </p:spTree>
    <p:extLst>
      <p:ext uri="{BB962C8B-B14F-4D97-AF65-F5344CB8AC3E}">
        <p14:creationId xmlns:p14="http://schemas.microsoft.com/office/powerpoint/2010/main" val="38034679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879DF-704F-A00D-572B-E7C7A52AE7B4}"/>
              </a:ext>
            </a:extLst>
          </p:cNvPr>
          <p:cNvSpPr>
            <a:spLocks noGrp="1"/>
          </p:cNvSpPr>
          <p:nvPr>
            <p:ph type="ctrTitle"/>
          </p:nvPr>
        </p:nvSpPr>
        <p:spPr>
          <a:xfrm>
            <a:off x="255639" y="399181"/>
            <a:ext cx="11533238" cy="820019"/>
          </a:xfrm>
        </p:spPr>
        <p:txBody>
          <a:bodyPr>
            <a:normAutofit fontScale="90000"/>
          </a:bodyPr>
          <a:lstStyle/>
          <a:p>
            <a:r>
              <a:rPr lang="en-GB" sz="5400" b="1" dirty="0">
                <a:latin typeface="Arial Narrow" panose="020B0606020202030204" pitchFamily="34" charset="0"/>
              </a:rPr>
              <a:t>INTRODUCTION</a:t>
            </a:r>
            <a:endParaRPr lang="en-ZM" sz="5400" b="1" dirty="0">
              <a:latin typeface="Arial Narrow" panose="020B0606020202030204" pitchFamily="34" charset="0"/>
            </a:endParaRPr>
          </a:p>
        </p:txBody>
      </p:sp>
      <p:sp>
        <p:nvSpPr>
          <p:cNvPr id="3" name="Subtitle 2">
            <a:extLst>
              <a:ext uri="{FF2B5EF4-FFF2-40B4-BE49-F238E27FC236}">
                <a16:creationId xmlns:a16="http://schemas.microsoft.com/office/drawing/2014/main" id="{6107AEAB-3800-9DC8-32E6-AB24BBF3E56C}"/>
              </a:ext>
            </a:extLst>
          </p:cNvPr>
          <p:cNvSpPr>
            <a:spLocks noGrp="1"/>
          </p:cNvSpPr>
          <p:nvPr>
            <p:ph type="subTitle" idx="1"/>
          </p:nvPr>
        </p:nvSpPr>
        <p:spPr>
          <a:xfrm>
            <a:off x="1681316" y="1337187"/>
            <a:ext cx="8681883" cy="5121632"/>
          </a:xfrm>
        </p:spPr>
        <p:txBody>
          <a:bodyPr>
            <a:normAutofit/>
          </a:bodyPr>
          <a:lstStyle/>
          <a:p>
            <a:pPr algn="just">
              <a:lnSpc>
                <a:spcPct val="150000"/>
              </a:lnSpc>
            </a:pPr>
            <a:r>
              <a:rPr lang="en-GB" dirty="0">
                <a:solidFill>
                  <a:srgbClr val="FF0000"/>
                </a:solidFill>
                <a:latin typeface="Arial Narrow" panose="020B0606020202030204" pitchFamily="34" charset="0"/>
              </a:rPr>
              <a:t>REMEMBER: We discussed natural food, supplemental and complete complete feed.</a:t>
            </a:r>
          </a:p>
          <a:p>
            <a:pPr marL="342900" indent="-342900" algn="just">
              <a:lnSpc>
                <a:spcPct val="150000"/>
              </a:lnSpc>
              <a:buFont typeface="Wingdings" panose="05000000000000000000" pitchFamily="2" charset="2"/>
              <a:buChar char="q"/>
            </a:pPr>
            <a:r>
              <a:rPr lang="en-GB" b="1" dirty="0">
                <a:latin typeface="Arial Narrow" panose="020B0606020202030204" pitchFamily="34" charset="0"/>
              </a:rPr>
              <a:t>COMPLETE FEED</a:t>
            </a:r>
          </a:p>
          <a:p>
            <a:pPr algn="just">
              <a:lnSpc>
                <a:spcPct val="150000"/>
              </a:lnSpc>
            </a:pPr>
            <a:r>
              <a:rPr lang="en-GB" b="0" i="0" u="none" strike="noStrike" baseline="0" dirty="0">
                <a:solidFill>
                  <a:srgbClr val="000000"/>
                </a:solidFill>
                <a:latin typeface="Arial Narrow" panose="020B0606020202030204" pitchFamily="34" charset="0"/>
              </a:rPr>
              <a:t>Mash feeds are good for fry and pellets for fingerlings, juveniles and adults depending on pellet size. </a:t>
            </a:r>
          </a:p>
          <a:p>
            <a:pPr algn="just">
              <a:lnSpc>
                <a:spcPct val="150000"/>
              </a:lnSpc>
            </a:pPr>
            <a:r>
              <a:rPr lang="en-GB" b="0" i="0" u="none" strike="noStrike" baseline="0" dirty="0">
                <a:solidFill>
                  <a:srgbClr val="000000"/>
                </a:solidFill>
                <a:latin typeface="Arial Narrow" panose="020B0606020202030204" pitchFamily="34" charset="0"/>
              </a:rPr>
              <a:t>Although the use of artificial feeds may be costly, especially the commercially compounded ration, they have the following advantages in fish culture:</a:t>
            </a:r>
            <a:endParaRPr lang="en-GB" dirty="0">
              <a:solidFill>
                <a:srgbClr val="FF0000"/>
              </a:solidFill>
              <a:latin typeface="Arial Narrow" panose="020B0606020202030204" pitchFamily="34" charset="0"/>
            </a:endParaRPr>
          </a:p>
        </p:txBody>
      </p:sp>
    </p:spTree>
    <p:extLst>
      <p:ext uri="{BB962C8B-B14F-4D97-AF65-F5344CB8AC3E}">
        <p14:creationId xmlns:p14="http://schemas.microsoft.com/office/powerpoint/2010/main" val="36526659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879DF-704F-A00D-572B-E7C7A52AE7B4}"/>
              </a:ext>
            </a:extLst>
          </p:cNvPr>
          <p:cNvSpPr>
            <a:spLocks noGrp="1"/>
          </p:cNvSpPr>
          <p:nvPr>
            <p:ph type="ctrTitle"/>
          </p:nvPr>
        </p:nvSpPr>
        <p:spPr>
          <a:xfrm>
            <a:off x="255639" y="182871"/>
            <a:ext cx="11533238" cy="820019"/>
          </a:xfrm>
        </p:spPr>
        <p:txBody>
          <a:bodyPr>
            <a:normAutofit fontScale="90000"/>
          </a:bodyPr>
          <a:lstStyle/>
          <a:p>
            <a:r>
              <a:rPr lang="en-GB" sz="5400" b="1" dirty="0">
                <a:latin typeface="Arial Narrow" panose="020B0606020202030204" pitchFamily="34" charset="0"/>
              </a:rPr>
              <a:t>INTRODUCTION</a:t>
            </a:r>
            <a:endParaRPr lang="en-ZM" sz="5400" b="1" dirty="0">
              <a:latin typeface="Arial Narrow" panose="020B0606020202030204" pitchFamily="34" charset="0"/>
            </a:endParaRPr>
          </a:p>
        </p:txBody>
      </p:sp>
      <p:sp>
        <p:nvSpPr>
          <p:cNvPr id="3" name="Subtitle 2">
            <a:extLst>
              <a:ext uri="{FF2B5EF4-FFF2-40B4-BE49-F238E27FC236}">
                <a16:creationId xmlns:a16="http://schemas.microsoft.com/office/drawing/2014/main" id="{6107AEAB-3800-9DC8-32E6-AB24BBF3E56C}"/>
              </a:ext>
            </a:extLst>
          </p:cNvPr>
          <p:cNvSpPr>
            <a:spLocks noGrp="1"/>
          </p:cNvSpPr>
          <p:nvPr>
            <p:ph type="subTitle" idx="1"/>
          </p:nvPr>
        </p:nvSpPr>
        <p:spPr>
          <a:xfrm>
            <a:off x="403123" y="894734"/>
            <a:ext cx="11503741" cy="5889523"/>
          </a:xfrm>
        </p:spPr>
        <p:txBody>
          <a:bodyPr>
            <a:noAutofit/>
          </a:bodyPr>
          <a:lstStyle/>
          <a:p>
            <a:pPr algn="just">
              <a:lnSpc>
                <a:spcPct val="150000"/>
              </a:lnSpc>
            </a:pPr>
            <a:r>
              <a:rPr lang="en-GB" dirty="0">
                <a:solidFill>
                  <a:srgbClr val="FF0000"/>
                </a:solidFill>
                <a:latin typeface="Arial Narrow" panose="020B0606020202030204" pitchFamily="34" charset="0"/>
              </a:rPr>
              <a:t>REMEMBER: We discussed natural food, supplemental and complete complete feed.</a:t>
            </a:r>
          </a:p>
          <a:p>
            <a:pPr marL="342900" indent="-342900" algn="just">
              <a:lnSpc>
                <a:spcPct val="150000"/>
              </a:lnSpc>
              <a:buFont typeface="Wingdings" panose="05000000000000000000" pitchFamily="2" charset="2"/>
              <a:buChar char="q"/>
            </a:pPr>
            <a:r>
              <a:rPr lang="en-GB" b="1" dirty="0">
                <a:latin typeface="Arial Narrow" panose="020B0606020202030204" pitchFamily="34" charset="0"/>
              </a:rPr>
              <a:t>ADVANTAGES OF COMPLETE FEED</a:t>
            </a:r>
            <a:endParaRPr lang="en-ZM" b="0" i="0" u="none" strike="noStrike" baseline="0" dirty="0">
              <a:solidFill>
                <a:srgbClr val="000000"/>
              </a:solidFill>
              <a:latin typeface="Arial Narrow" panose="020B0606020202030204" pitchFamily="34" charset="0"/>
            </a:endParaRPr>
          </a:p>
          <a:p>
            <a:pPr marL="342900" indent="-342900" algn="just">
              <a:lnSpc>
                <a:spcPct val="150000"/>
              </a:lnSpc>
              <a:buFont typeface="+mj-lt"/>
              <a:buAutoNum type="arabicPeriod"/>
            </a:pPr>
            <a:r>
              <a:rPr lang="en-GB" b="0" i="0" u="none" strike="noStrike" baseline="0" dirty="0">
                <a:solidFill>
                  <a:srgbClr val="000000"/>
                </a:solidFill>
                <a:latin typeface="Arial Narrow" panose="020B0606020202030204" pitchFamily="34" charset="0"/>
              </a:rPr>
              <a:t>Enable high stocking density (stocking maximization) especially in polyculture system; </a:t>
            </a:r>
          </a:p>
          <a:p>
            <a:pPr marL="342900" indent="-342900" algn="just">
              <a:lnSpc>
                <a:spcPct val="150000"/>
              </a:lnSpc>
              <a:buFont typeface="+mj-lt"/>
              <a:buAutoNum type="arabicPeriod"/>
            </a:pPr>
            <a:r>
              <a:rPr lang="en-GB" b="0" i="0" u="none" strike="noStrike" baseline="0" dirty="0">
                <a:solidFill>
                  <a:srgbClr val="000000"/>
                </a:solidFill>
                <a:latin typeface="Arial Narrow" panose="020B0606020202030204" pitchFamily="34" charset="0"/>
              </a:rPr>
              <a:t>They promote faster growth of fish, since food will always be available; </a:t>
            </a:r>
          </a:p>
          <a:p>
            <a:pPr marL="342900" indent="-342900" algn="just">
              <a:lnSpc>
                <a:spcPct val="150000"/>
              </a:lnSpc>
              <a:buFont typeface="+mj-lt"/>
              <a:buAutoNum type="arabicPeriod"/>
            </a:pPr>
            <a:r>
              <a:rPr lang="en-GB" b="0" i="0" u="none" strike="noStrike" baseline="0" dirty="0">
                <a:solidFill>
                  <a:srgbClr val="000000"/>
                </a:solidFill>
                <a:latin typeface="Arial Narrow" panose="020B0606020202030204" pitchFamily="34" charset="0"/>
              </a:rPr>
              <a:t> High fish yield is guaranteed relative to the stocking density; </a:t>
            </a:r>
          </a:p>
          <a:p>
            <a:pPr marL="342900" indent="-342900" algn="just">
              <a:lnSpc>
                <a:spcPct val="150000"/>
              </a:lnSpc>
              <a:buFont typeface="+mj-lt"/>
              <a:buAutoNum type="arabicPeriod"/>
            </a:pPr>
            <a:r>
              <a:rPr lang="en-GB" b="0" i="0" u="none" strike="noStrike" baseline="0" dirty="0">
                <a:solidFill>
                  <a:srgbClr val="000000"/>
                </a:solidFill>
                <a:latin typeface="Arial Narrow" panose="020B0606020202030204" pitchFamily="34" charset="0"/>
              </a:rPr>
              <a:t> Uneaten artificial feeds in the pond water will be biologically degraded hence acting as fertilizer to promote plankton growth</a:t>
            </a:r>
          </a:p>
          <a:p>
            <a:pPr marL="342900" indent="-342900" algn="just">
              <a:lnSpc>
                <a:spcPct val="150000"/>
              </a:lnSpc>
              <a:buFont typeface="+mj-lt"/>
              <a:buAutoNum type="arabicPeriod"/>
            </a:pPr>
            <a:r>
              <a:rPr lang="en-GB" b="0" i="0" u="none" strike="noStrike" baseline="0" dirty="0">
                <a:solidFill>
                  <a:srgbClr val="000000"/>
                </a:solidFill>
                <a:latin typeface="Arial Narrow" panose="020B0606020202030204" pitchFamily="34" charset="0"/>
              </a:rPr>
              <a:t>A fish farmer while feeding the fish can study the behaviour (activity) of fish and monitor their health. </a:t>
            </a:r>
          </a:p>
        </p:txBody>
      </p:sp>
    </p:spTree>
    <p:extLst>
      <p:ext uri="{BB962C8B-B14F-4D97-AF65-F5344CB8AC3E}">
        <p14:creationId xmlns:p14="http://schemas.microsoft.com/office/powerpoint/2010/main" val="29265252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879DF-704F-A00D-572B-E7C7A52AE7B4}"/>
              </a:ext>
            </a:extLst>
          </p:cNvPr>
          <p:cNvSpPr>
            <a:spLocks noGrp="1"/>
          </p:cNvSpPr>
          <p:nvPr>
            <p:ph type="ctrTitle"/>
          </p:nvPr>
        </p:nvSpPr>
        <p:spPr>
          <a:xfrm>
            <a:off x="255639" y="182871"/>
            <a:ext cx="11533238" cy="820019"/>
          </a:xfrm>
        </p:spPr>
        <p:txBody>
          <a:bodyPr>
            <a:normAutofit fontScale="90000"/>
          </a:bodyPr>
          <a:lstStyle/>
          <a:p>
            <a:r>
              <a:rPr lang="en-GB" sz="5400" b="1" dirty="0">
                <a:latin typeface="Arial Narrow" panose="020B0606020202030204" pitchFamily="34" charset="0"/>
              </a:rPr>
              <a:t>INTRODUCTION</a:t>
            </a:r>
            <a:endParaRPr lang="en-ZM" sz="5400" b="1" dirty="0">
              <a:latin typeface="Arial Narrow" panose="020B0606020202030204" pitchFamily="34" charset="0"/>
            </a:endParaRPr>
          </a:p>
        </p:txBody>
      </p:sp>
      <p:sp>
        <p:nvSpPr>
          <p:cNvPr id="3" name="Subtitle 2">
            <a:extLst>
              <a:ext uri="{FF2B5EF4-FFF2-40B4-BE49-F238E27FC236}">
                <a16:creationId xmlns:a16="http://schemas.microsoft.com/office/drawing/2014/main" id="{6107AEAB-3800-9DC8-32E6-AB24BBF3E56C}"/>
              </a:ext>
            </a:extLst>
          </p:cNvPr>
          <p:cNvSpPr>
            <a:spLocks noGrp="1"/>
          </p:cNvSpPr>
          <p:nvPr>
            <p:ph type="subTitle" idx="1"/>
          </p:nvPr>
        </p:nvSpPr>
        <p:spPr>
          <a:xfrm>
            <a:off x="1229032" y="855405"/>
            <a:ext cx="9733935" cy="5889523"/>
          </a:xfrm>
        </p:spPr>
        <p:txBody>
          <a:bodyPr>
            <a:noAutofit/>
          </a:bodyPr>
          <a:lstStyle/>
          <a:p>
            <a:pPr algn="just">
              <a:lnSpc>
                <a:spcPct val="150000"/>
              </a:lnSpc>
            </a:pPr>
            <a:r>
              <a:rPr lang="en-GB" dirty="0">
                <a:solidFill>
                  <a:srgbClr val="FF0000"/>
                </a:solidFill>
                <a:latin typeface="Arial Narrow" panose="020B0606020202030204" pitchFamily="34" charset="0"/>
              </a:rPr>
              <a:t>REMEMBER: We discussed natural food, supplemental and complete complete feed.</a:t>
            </a:r>
            <a:endParaRPr lang="en-GB" b="1" dirty="0">
              <a:latin typeface="Arial Narrow" panose="020B0606020202030204" pitchFamily="34" charset="0"/>
            </a:endParaRPr>
          </a:p>
          <a:p>
            <a:pPr marL="342900" indent="-342900" algn="just">
              <a:lnSpc>
                <a:spcPct val="150000"/>
              </a:lnSpc>
              <a:buFont typeface="Wingdings" panose="05000000000000000000" pitchFamily="2" charset="2"/>
              <a:buChar char="Ø"/>
            </a:pPr>
            <a:r>
              <a:rPr lang="en-GB" b="0" i="0" u="none" strike="noStrike" baseline="0" dirty="0">
                <a:solidFill>
                  <a:srgbClr val="000000"/>
                </a:solidFill>
                <a:latin typeface="Arial Narrow" panose="020B0606020202030204" pitchFamily="34" charset="0"/>
              </a:rPr>
              <a:t>Good quality feed is key to fish production and profitability of the venture. </a:t>
            </a:r>
          </a:p>
          <a:p>
            <a:pPr marL="342900" indent="-342900" algn="just">
              <a:lnSpc>
                <a:spcPct val="150000"/>
              </a:lnSpc>
              <a:buFont typeface="Wingdings" panose="05000000000000000000" pitchFamily="2" charset="2"/>
              <a:buChar char="Ø"/>
            </a:pPr>
            <a:r>
              <a:rPr lang="en-GB" b="0" i="0" u="none" strike="noStrike" baseline="0" dirty="0">
                <a:solidFill>
                  <a:srgbClr val="000000"/>
                </a:solidFill>
                <a:latin typeface="Arial Narrow" panose="020B0606020202030204" pitchFamily="34" charset="0"/>
              </a:rPr>
              <a:t>Feed has a direct impact on growth rate, productivity and animal health as well as farm profit</a:t>
            </a:r>
          </a:p>
          <a:p>
            <a:pPr marL="342900" indent="-342900" algn="just">
              <a:lnSpc>
                <a:spcPct val="150000"/>
              </a:lnSpc>
              <a:buFont typeface="Wingdings" panose="05000000000000000000" pitchFamily="2" charset="2"/>
              <a:buChar char="v"/>
            </a:pPr>
            <a:r>
              <a:rPr lang="en-GB" b="0" i="0" u="none" strike="noStrike" baseline="0" dirty="0">
                <a:solidFill>
                  <a:srgbClr val="000000"/>
                </a:solidFill>
                <a:latin typeface="Arial Narrow" panose="020B0606020202030204" pitchFamily="34" charset="0"/>
              </a:rPr>
              <a:t>The following are importance of good quality feed: </a:t>
            </a:r>
          </a:p>
          <a:p>
            <a:pPr marL="457200" indent="-457200" algn="just">
              <a:lnSpc>
                <a:spcPct val="150000"/>
              </a:lnSpc>
              <a:buFont typeface="+mj-lt"/>
              <a:buAutoNum type="arabicPeriod"/>
            </a:pPr>
            <a:r>
              <a:rPr lang="en-GB" b="0" i="0" u="none" strike="noStrike" baseline="0" dirty="0">
                <a:solidFill>
                  <a:srgbClr val="000000"/>
                </a:solidFill>
                <a:latin typeface="Arial Narrow" panose="020B0606020202030204" pitchFamily="34" charset="0"/>
              </a:rPr>
              <a:t>Good quality feed increases the income of producer</a:t>
            </a:r>
          </a:p>
          <a:p>
            <a:pPr marL="457200" indent="-457200" algn="just">
              <a:lnSpc>
                <a:spcPct val="150000"/>
              </a:lnSpc>
              <a:buFont typeface="+mj-lt"/>
              <a:buAutoNum type="arabicPeriod"/>
            </a:pPr>
            <a:r>
              <a:rPr lang="en-GB" b="0" i="0" u="none" strike="noStrike" baseline="0" dirty="0">
                <a:solidFill>
                  <a:srgbClr val="000000"/>
                </a:solidFill>
                <a:latin typeface="Arial Narrow" panose="020B0606020202030204" pitchFamily="34" charset="0"/>
              </a:rPr>
              <a:t> Absence of good quality food can predispose fish to diseases</a:t>
            </a:r>
          </a:p>
          <a:p>
            <a:pPr marL="457200" indent="-457200" algn="just">
              <a:lnSpc>
                <a:spcPct val="150000"/>
              </a:lnSpc>
              <a:buFont typeface="+mj-lt"/>
              <a:buAutoNum type="arabicPeriod"/>
            </a:pPr>
            <a:r>
              <a:rPr lang="en-GB" b="0" i="0" u="none" strike="noStrike" baseline="0" dirty="0">
                <a:solidFill>
                  <a:srgbClr val="000000"/>
                </a:solidFill>
                <a:latin typeface="Arial Narrow" panose="020B0606020202030204" pitchFamily="34" charset="0"/>
              </a:rPr>
              <a:t>Good quality feed improves yield or quality of fish product. </a:t>
            </a:r>
          </a:p>
          <a:p>
            <a:pPr algn="just">
              <a:lnSpc>
                <a:spcPct val="150000"/>
              </a:lnSpc>
            </a:pPr>
            <a:endParaRPr lang="en-ZM" b="0" i="0" u="none" strike="noStrike" baseline="0" dirty="0">
              <a:solidFill>
                <a:srgbClr val="000000"/>
              </a:solidFill>
              <a:latin typeface="Arial Narrow" panose="020B0606020202030204" pitchFamily="34" charset="0"/>
            </a:endParaRPr>
          </a:p>
        </p:txBody>
      </p:sp>
    </p:spTree>
    <p:extLst>
      <p:ext uri="{BB962C8B-B14F-4D97-AF65-F5344CB8AC3E}">
        <p14:creationId xmlns:p14="http://schemas.microsoft.com/office/powerpoint/2010/main" val="1938446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879DF-704F-A00D-572B-E7C7A52AE7B4}"/>
              </a:ext>
            </a:extLst>
          </p:cNvPr>
          <p:cNvSpPr>
            <a:spLocks noGrp="1"/>
          </p:cNvSpPr>
          <p:nvPr>
            <p:ph type="ctrTitle"/>
          </p:nvPr>
        </p:nvSpPr>
        <p:spPr>
          <a:xfrm>
            <a:off x="255639" y="399181"/>
            <a:ext cx="11533238" cy="820019"/>
          </a:xfrm>
        </p:spPr>
        <p:txBody>
          <a:bodyPr>
            <a:normAutofit fontScale="90000"/>
          </a:bodyPr>
          <a:lstStyle/>
          <a:p>
            <a:r>
              <a:rPr lang="en-GB" sz="5400" b="1" dirty="0">
                <a:latin typeface="Arial Narrow" panose="020B0606020202030204" pitchFamily="34" charset="0"/>
              </a:rPr>
              <a:t>INTRODUCTION</a:t>
            </a:r>
            <a:endParaRPr lang="en-ZM" sz="5400" b="1" dirty="0">
              <a:latin typeface="Arial Narrow" panose="020B0606020202030204" pitchFamily="34" charset="0"/>
            </a:endParaRPr>
          </a:p>
        </p:txBody>
      </p:sp>
      <p:sp>
        <p:nvSpPr>
          <p:cNvPr id="3" name="Subtitle 2">
            <a:extLst>
              <a:ext uri="{FF2B5EF4-FFF2-40B4-BE49-F238E27FC236}">
                <a16:creationId xmlns:a16="http://schemas.microsoft.com/office/drawing/2014/main" id="{6107AEAB-3800-9DC8-32E6-AB24BBF3E56C}"/>
              </a:ext>
            </a:extLst>
          </p:cNvPr>
          <p:cNvSpPr>
            <a:spLocks noGrp="1"/>
          </p:cNvSpPr>
          <p:nvPr>
            <p:ph type="subTitle" idx="1"/>
          </p:nvPr>
        </p:nvSpPr>
        <p:spPr>
          <a:xfrm>
            <a:off x="1602657" y="1337187"/>
            <a:ext cx="9694607" cy="5121632"/>
          </a:xfrm>
        </p:spPr>
        <p:txBody>
          <a:bodyPr>
            <a:normAutofit/>
          </a:bodyPr>
          <a:lstStyle/>
          <a:p>
            <a:pPr algn="just">
              <a:lnSpc>
                <a:spcPct val="150000"/>
              </a:lnSpc>
            </a:pPr>
            <a:r>
              <a:rPr lang="en-GB" dirty="0">
                <a:solidFill>
                  <a:srgbClr val="FF0000"/>
                </a:solidFill>
                <a:latin typeface="Arial Narrow" panose="020B0606020202030204" pitchFamily="34" charset="0"/>
              </a:rPr>
              <a:t>Why do we need to formulate or produce complete feed?</a:t>
            </a:r>
            <a:endParaRPr lang="en-ZM" dirty="0">
              <a:solidFill>
                <a:srgbClr val="FF0000"/>
              </a:solidFill>
              <a:latin typeface="Arial Narrow" panose="020B0606020202030204" pitchFamily="34" charset="0"/>
            </a:endParaRPr>
          </a:p>
          <a:p>
            <a:pPr marL="342900" indent="-342900" algn="just">
              <a:lnSpc>
                <a:spcPct val="150000"/>
              </a:lnSpc>
              <a:buFont typeface="Wingdings" panose="05000000000000000000" pitchFamily="2" charset="2"/>
              <a:buChar char="Ø"/>
            </a:pPr>
            <a:r>
              <a:rPr lang="de-DE" b="0" i="0" u="none" strike="noStrike" baseline="0" dirty="0">
                <a:solidFill>
                  <a:srgbClr val="000000"/>
                </a:solidFill>
                <a:latin typeface="Arial Narrow" panose="020B0606020202030204" pitchFamily="34" charset="0"/>
              </a:rPr>
              <a:t>No single feed ingredient can supply all the nutrients and energy required for optimal </a:t>
            </a:r>
            <a:r>
              <a:rPr lang="en-GB" b="0" i="0" u="none" strike="noStrike" baseline="0" dirty="0">
                <a:latin typeface="Arial Narrow" panose="020B0606020202030204" pitchFamily="34" charset="0"/>
              </a:rPr>
              <a:t>bodily or gonadal growth, health and well being of the </a:t>
            </a:r>
            <a:r>
              <a:rPr lang="de-DE" b="0" i="0" u="none" strike="noStrike" baseline="0" dirty="0">
                <a:latin typeface="Arial Narrow" panose="020B0606020202030204" pitchFamily="34" charset="0"/>
              </a:rPr>
              <a:t>species concerned</a:t>
            </a:r>
            <a:r>
              <a:rPr lang="de-DE" b="0" i="0" u="none" strike="noStrike" baseline="0" dirty="0">
                <a:solidFill>
                  <a:srgbClr val="000000"/>
                </a:solidFill>
                <a:latin typeface="Arial Narrow" panose="020B0606020202030204" pitchFamily="34" charset="0"/>
              </a:rPr>
              <a:t>;as such, a mixture of feed ingredient is combined to produce a diet with the desired nutrient profile of target species.</a:t>
            </a:r>
          </a:p>
          <a:p>
            <a:pPr marL="342900" indent="-342900" algn="just">
              <a:buFont typeface="Wingdings" panose="05000000000000000000" pitchFamily="2" charset="2"/>
              <a:buChar char="Ø"/>
            </a:pPr>
            <a:endParaRPr lang="en-ZM" dirty="0">
              <a:solidFill>
                <a:srgbClr val="FF0000"/>
              </a:solidFill>
              <a:latin typeface="Arial Narrow" panose="020B0606020202030204" pitchFamily="34" charset="0"/>
            </a:endParaRPr>
          </a:p>
        </p:txBody>
      </p:sp>
    </p:spTree>
    <p:extLst>
      <p:ext uri="{BB962C8B-B14F-4D97-AF65-F5344CB8AC3E}">
        <p14:creationId xmlns:p14="http://schemas.microsoft.com/office/powerpoint/2010/main" val="21209041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879DF-704F-A00D-572B-E7C7A52AE7B4}"/>
              </a:ext>
            </a:extLst>
          </p:cNvPr>
          <p:cNvSpPr>
            <a:spLocks noGrp="1"/>
          </p:cNvSpPr>
          <p:nvPr>
            <p:ph type="ctrTitle"/>
          </p:nvPr>
        </p:nvSpPr>
        <p:spPr>
          <a:xfrm>
            <a:off x="255639" y="399181"/>
            <a:ext cx="11533238" cy="820019"/>
          </a:xfrm>
        </p:spPr>
        <p:txBody>
          <a:bodyPr>
            <a:normAutofit fontScale="90000"/>
          </a:bodyPr>
          <a:lstStyle/>
          <a:p>
            <a:r>
              <a:rPr lang="en-GB" sz="5400" b="1" dirty="0">
                <a:latin typeface="Arial Narrow" panose="020B0606020202030204" pitchFamily="34" charset="0"/>
              </a:rPr>
              <a:t>INTRODUCTION</a:t>
            </a:r>
            <a:endParaRPr lang="en-ZM" sz="5400" b="1" dirty="0">
              <a:latin typeface="Arial Narrow" panose="020B0606020202030204" pitchFamily="34" charset="0"/>
            </a:endParaRPr>
          </a:p>
        </p:txBody>
      </p:sp>
      <p:sp>
        <p:nvSpPr>
          <p:cNvPr id="3" name="Subtitle 2">
            <a:extLst>
              <a:ext uri="{FF2B5EF4-FFF2-40B4-BE49-F238E27FC236}">
                <a16:creationId xmlns:a16="http://schemas.microsoft.com/office/drawing/2014/main" id="{6107AEAB-3800-9DC8-32E6-AB24BBF3E56C}"/>
              </a:ext>
            </a:extLst>
          </p:cNvPr>
          <p:cNvSpPr>
            <a:spLocks noGrp="1"/>
          </p:cNvSpPr>
          <p:nvPr>
            <p:ph type="subTitle" idx="1"/>
          </p:nvPr>
        </p:nvSpPr>
        <p:spPr>
          <a:xfrm>
            <a:off x="2064773" y="1278193"/>
            <a:ext cx="8101781" cy="5121632"/>
          </a:xfrm>
        </p:spPr>
        <p:txBody>
          <a:bodyPr>
            <a:normAutofit/>
          </a:bodyPr>
          <a:lstStyle/>
          <a:p>
            <a:pPr algn="just"/>
            <a:r>
              <a:rPr lang="en-GB" b="0" i="0" u="none" strike="noStrike" baseline="0" dirty="0">
                <a:solidFill>
                  <a:srgbClr val="000000"/>
                </a:solidFill>
                <a:latin typeface="Arial Narrow" panose="020B0606020202030204" pitchFamily="34" charset="0"/>
              </a:rPr>
              <a:t>But what </a:t>
            </a:r>
            <a:r>
              <a:rPr lang="en-GB" dirty="0">
                <a:solidFill>
                  <a:srgbClr val="000000"/>
                </a:solidFill>
                <a:latin typeface="Arial Narrow" panose="020B0606020202030204" pitchFamily="34" charset="0"/>
              </a:rPr>
              <a:t>is the meaning of feed formulation?</a:t>
            </a:r>
          </a:p>
          <a:p>
            <a:pPr marL="285750" indent="-285750" algn="just">
              <a:lnSpc>
                <a:spcPct val="150000"/>
              </a:lnSpc>
              <a:buFont typeface="Wingdings" panose="05000000000000000000" pitchFamily="2" charset="2"/>
              <a:buChar char="Ø"/>
            </a:pPr>
            <a:r>
              <a:rPr lang="en-GB" b="0" i="0" u="none" strike="noStrike" baseline="0" dirty="0">
                <a:solidFill>
                  <a:srgbClr val="000000"/>
                </a:solidFill>
                <a:latin typeface="Arial Narrow" panose="020B0606020202030204" pitchFamily="34" charset="0"/>
              </a:rPr>
              <a:t>Determining the quantity of various ingredients in the feed mixture</a:t>
            </a:r>
          </a:p>
          <a:p>
            <a:pPr marL="342900" indent="-342900" algn="just">
              <a:lnSpc>
                <a:spcPct val="150000"/>
              </a:lnSpc>
              <a:buFont typeface="Wingdings" panose="05000000000000000000" pitchFamily="2" charset="2"/>
              <a:buChar char="q"/>
            </a:pPr>
            <a:r>
              <a:rPr lang="en-GB" b="0" i="0" u="none" strike="noStrike" baseline="0" dirty="0">
                <a:solidFill>
                  <a:srgbClr val="000000"/>
                </a:solidFill>
                <a:latin typeface="Arial Narrow" panose="020B0606020202030204" pitchFamily="34" charset="0"/>
              </a:rPr>
              <a:t> </a:t>
            </a:r>
            <a:r>
              <a:rPr lang="en-GB" dirty="0">
                <a:solidFill>
                  <a:srgbClr val="000000"/>
                </a:solidFill>
                <a:latin typeface="Arial Narrow" panose="020B0606020202030204" pitchFamily="34" charset="0"/>
              </a:rPr>
              <a:t>B</a:t>
            </a:r>
            <a:r>
              <a:rPr lang="en-GB" b="0" i="0" u="none" strike="noStrike" baseline="0" dirty="0">
                <a:solidFill>
                  <a:srgbClr val="000000"/>
                </a:solidFill>
                <a:latin typeface="Arial Narrow" panose="020B0606020202030204" pitchFamily="34" charset="0"/>
              </a:rPr>
              <a:t>ased on the specific requirements of the specific nutrients by the fish</a:t>
            </a:r>
          </a:p>
          <a:p>
            <a:pPr marL="342900" indent="-342900" algn="just">
              <a:lnSpc>
                <a:spcPct val="150000"/>
              </a:lnSpc>
              <a:buFont typeface="Wingdings" panose="05000000000000000000" pitchFamily="2" charset="2"/>
              <a:buChar char="q"/>
            </a:pPr>
            <a:r>
              <a:rPr lang="en-GB" b="0" i="0" u="none" strike="noStrike" baseline="0" dirty="0">
                <a:solidFill>
                  <a:srgbClr val="000000"/>
                </a:solidFill>
                <a:latin typeface="Arial Narrow" panose="020B0606020202030204" pitchFamily="34" charset="0"/>
              </a:rPr>
              <a:t> Stage of growth and development </a:t>
            </a:r>
          </a:p>
          <a:p>
            <a:pPr marL="285750" indent="-285750" algn="just">
              <a:lnSpc>
                <a:spcPct val="150000"/>
              </a:lnSpc>
              <a:buFont typeface="Wingdings" panose="05000000000000000000" pitchFamily="2" charset="2"/>
              <a:buChar char="Ø"/>
            </a:pPr>
            <a:r>
              <a:rPr lang="en-GB" b="0" i="0" u="none" strike="noStrike" baseline="0" dirty="0">
                <a:solidFill>
                  <a:srgbClr val="000000"/>
                </a:solidFill>
                <a:latin typeface="Arial Narrow" panose="020B0606020202030204" pitchFamily="34" charset="0"/>
              </a:rPr>
              <a:t>Feed formulation involves selecting a combination of ingredients which will produce a mixture containing levels of essential nutrients at or above the minimum requirements of the fish. </a:t>
            </a:r>
          </a:p>
          <a:p>
            <a:pPr algn="just"/>
            <a:endParaRPr lang="en-ZM" dirty="0">
              <a:solidFill>
                <a:srgbClr val="FF0000"/>
              </a:solidFill>
              <a:latin typeface="Arial Narrow" panose="020B0606020202030204" pitchFamily="34" charset="0"/>
            </a:endParaRPr>
          </a:p>
        </p:txBody>
      </p:sp>
    </p:spTree>
    <p:extLst>
      <p:ext uri="{BB962C8B-B14F-4D97-AF65-F5344CB8AC3E}">
        <p14:creationId xmlns:p14="http://schemas.microsoft.com/office/powerpoint/2010/main" val="14781550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879DF-704F-A00D-572B-E7C7A52AE7B4}"/>
              </a:ext>
            </a:extLst>
          </p:cNvPr>
          <p:cNvSpPr>
            <a:spLocks noGrp="1"/>
          </p:cNvSpPr>
          <p:nvPr>
            <p:ph type="ctrTitle"/>
          </p:nvPr>
        </p:nvSpPr>
        <p:spPr>
          <a:xfrm>
            <a:off x="255639" y="399181"/>
            <a:ext cx="11533238" cy="820019"/>
          </a:xfrm>
        </p:spPr>
        <p:txBody>
          <a:bodyPr>
            <a:normAutofit fontScale="90000"/>
          </a:bodyPr>
          <a:lstStyle/>
          <a:p>
            <a:r>
              <a:rPr lang="en-GB" sz="5400" b="1" dirty="0">
                <a:latin typeface="Arial Narrow" panose="020B0606020202030204" pitchFamily="34" charset="0"/>
              </a:rPr>
              <a:t>INTRODUCTION</a:t>
            </a:r>
            <a:endParaRPr lang="en-ZM" sz="5400" b="1" dirty="0">
              <a:latin typeface="Arial Narrow" panose="020B0606020202030204" pitchFamily="34" charset="0"/>
            </a:endParaRPr>
          </a:p>
        </p:txBody>
      </p:sp>
      <p:sp>
        <p:nvSpPr>
          <p:cNvPr id="3" name="Subtitle 2">
            <a:extLst>
              <a:ext uri="{FF2B5EF4-FFF2-40B4-BE49-F238E27FC236}">
                <a16:creationId xmlns:a16="http://schemas.microsoft.com/office/drawing/2014/main" id="{6107AEAB-3800-9DC8-32E6-AB24BBF3E56C}"/>
              </a:ext>
            </a:extLst>
          </p:cNvPr>
          <p:cNvSpPr>
            <a:spLocks noGrp="1"/>
          </p:cNvSpPr>
          <p:nvPr>
            <p:ph type="subTitle" idx="1"/>
          </p:nvPr>
        </p:nvSpPr>
        <p:spPr>
          <a:xfrm>
            <a:off x="2064774" y="1455174"/>
            <a:ext cx="8426245" cy="5121632"/>
          </a:xfrm>
        </p:spPr>
        <p:txBody>
          <a:bodyPr>
            <a:normAutofit/>
          </a:bodyPr>
          <a:lstStyle/>
          <a:p>
            <a:pPr algn="l"/>
            <a:endParaRPr lang="en-ZM" sz="1800" b="0" i="0" u="none" strike="noStrike" baseline="0" dirty="0">
              <a:solidFill>
                <a:srgbClr val="000000"/>
              </a:solidFill>
              <a:latin typeface="Arial" panose="020B0604020202020204" pitchFamily="34" charset="0"/>
            </a:endParaRPr>
          </a:p>
          <a:p>
            <a:pPr algn="just">
              <a:lnSpc>
                <a:spcPct val="150000"/>
              </a:lnSpc>
            </a:pPr>
            <a:r>
              <a:rPr lang="en-GB" b="1" i="0" u="none" strike="noStrike" baseline="0" dirty="0">
                <a:solidFill>
                  <a:srgbClr val="000000"/>
                </a:solidFill>
                <a:latin typeface="Arial Narrow" panose="020B0606020202030204" pitchFamily="34" charset="0"/>
              </a:rPr>
              <a:t>WHAT ARE THE OBJETIVES OF FEED FORMULATION?</a:t>
            </a:r>
          </a:p>
          <a:p>
            <a:pPr marL="342900" indent="-342900" algn="just">
              <a:lnSpc>
                <a:spcPct val="150000"/>
              </a:lnSpc>
              <a:buFont typeface="Wingdings" panose="05000000000000000000" pitchFamily="2" charset="2"/>
              <a:buChar char="Ø"/>
            </a:pPr>
            <a:r>
              <a:rPr lang="en-GB" b="0" i="0" u="none" strike="noStrike" baseline="0" dirty="0">
                <a:solidFill>
                  <a:srgbClr val="000000"/>
                </a:solidFill>
                <a:latin typeface="Arial Narrow" panose="020B0606020202030204" pitchFamily="34" charset="0"/>
              </a:rPr>
              <a:t>Satisfy all known nutrient requirements for growth of the species. </a:t>
            </a:r>
          </a:p>
          <a:p>
            <a:pPr marL="342900" indent="-342900" algn="just">
              <a:lnSpc>
                <a:spcPct val="150000"/>
              </a:lnSpc>
              <a:buFont typeface="Wingdings" panose="05000000000000000000" pitchFamily="2" charset="2"/>
              <a:buChar char="Ø"/>
            </a:pPr>
            <a:r>
              <a:rPr lang="de-DE" b="0" i="0" u="none" strike="noStrike" baseline="0" dirty="0">
                <a:solidFill>
                  <a:srgbClr val="000000"/>
                </a:solidFill>
                <a:latin typeface="Arial Narrow" panose="020B0606020202030204" pitchFamily="34" charset="0"/>
              </a:rPr>
              <a:t>Minimize feed cost </a:t>
            </a:r>
            <a:r>
              <a:rPr lang="de-DE" b="0" i="1" u="none" strike="noStrike" baseline="0" dirty="0">
                <a:solidFill>
                  <a:srgbClr val="000000"/>
                </a:solidFill>
                <a:latin typeface="Arial Narrow" panose="020B0606020202030204" pitchFamily="34" charset="0"/>
              </a:rPr>
              <a:t>(Buying ingredients, cosst of formulation, trasportation, cost of feeding)</a:t>
            </a:r>
          </a:p>
          <a:p>
            <a:pPr marL="342900" indent="-342900" algn="just">
              <a:lnSpc>
                <a:spcPct val="150000"/>
              </a:lnSpc>
              <a:buFont typeface="Wingdings" panose="05000000000000000000" pitchFamily="2" charset="2"/>
              <a:buChar char="Ø"/>
            </a:pPr>
            <a:r>
              <a:rPr lang="en-GB" b="0" i="0" u="none" strike="noStrike" baseline="0" dirty="0">
                <a:solidFill>
                  <a:srgbClr val="000000"/>
                </a:solidFill>
                <a:latin typeface="Arial Narrow" panose="020B0606020202030204" pitchFamily="34" charset="0"/>
              </a:rPr>
              <a:t>Select and use ingredients that will result in products that are readily utilized to minimize wastage. </a:t>
            </a:r>
          </a:p>
          <a:p>
            <a:pPr algn="just"/>
            <a:endParaRPr lang="en-ZM" dirty="0">
              <a:solidFill>
                <a:srgbClr val="FF0000"/>
              </a:solidFill>
              <a:latin typeface="Arial Narrow" panose="020B0606020202030204" pitchFamily="34" charset="0"/>
            </a:endParaRPr>
          </a:p>
        </p:txBody>
      </p:sp>
    </p:spTree>
    <p:extLst>
      <p:ext uri="{BB962C8B-B14F-4D97-AF65-F5344CB8AC3E}">
        <p14:creationId xmlns:p14="http://schemas.microsoft.com/office/powerpoint/2010/main" val="8961658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879DF-704F-A00D-572B-E7C7A52AE7B4}"/>
              </a:ext>
            </a:extLst>
          </p:cNvPr>
          <p:cNvSpPr>
            <a:spLocks noGrp="1"/>
          </p:cNvSpPr>
          <p:nvPr>
            <p:ph type="ctrTitle"/>
          </p:nvPr>
        </p:nvSpPr>
        <p:spPr>
          <a:xfrm>
            <a:off x="329381" y="212368"/>
            <a:ext cx="11533238" cy="820019"/>
          </a:xfrm>
        </p:spPr>
        <p:txBody>
          <a:bodyPr>
            <a:normAutofit fontScale="90000"/>
          </a:bodyPr>
          <a:lstStyle/>
          <a:p>
            <a:r>
              <a:rPr lang="en-GB" sz="5400" b="1" dirty="0">
                <a:latin typeface="Arial Narrow" panose="020B0606020202030204" pitchFamily="34" charset="0"/>
              </a:rPr>
              <a:t>INTRODUCTION</a:t>
            </a:r>
            <a:endParaRPr lang="en-ZM" sz="5400" b="1" dirty="0">
              <a:latin typeface="Arial Narrow" panose="020B0606020202030204" pitchFamily="34" charset="0"/>
            </a:endParaRPr>
          </a:p>
        </p:txBody>
      </p:sp>
      <p:sp>
        <p:nvSpPr>
          <p:cNvPr id="3" name="Subtitle 2">
            <a:extLst>
              <a:ext uri="{FF2B5EF4-FFF2-40B4-BE49-F238E27FC236}">
                <a16:creationId xmlns:a16="http://schemas.microsoft.com/office/drawing/2014/main" id="{6107AEAB-3800-9DC8-32E6-AB24BBF3E56C}"/>
              </a:ext>
            </a:extLst>
          </p:cNvPr>
          <p:cNvSpPr>
            <a:spLocks noGrp="1"/>
          </p:cNvSpPr>
          <p:nvPr>
            <p:ph type="subTitle" idx="1"/>
          </p:nvPr>
        </p:nvSpPr>
        <p:spPr>
          <a:xfrm>
            <a:off x="1582993" y="1032387"/>
            <a:ext cx="9026013" cy="5505090"/>
          </a:xfrm>
        </p:spPr>
        <p:txBody>
          <a:bodyPr>
            <a:normAutofit/>
          </a:bodyPr>
          <a:lstStyle/>
          <a:p>
            <a:pPr algn="just"/>
            <a:endParaRPr lang="en-GB" dirty="0">
              <a:solidFill>
                <a:srgbClr val="FF0000"/>
              </a:solidFill>
              <a:latin typeface="Arial Narrow" panose="020B0606020202030204" pitchFamily="34" charset="0"/>
            </a:endParaRPr>
          </a:p>
          <a:p>
            <a:pPr algn="l"/>
            <a:r>
              <a:rPr lang="en-GB" sz="1800" b="1" i="0" u="none" strike="noStrike" baseline="0" dirty="0">
                <a:solidFill>
                  <a:srgbClr val="000000"/>
                </a:solidFill>
                <a:latin typeface="Arial" panose="020B0604020202020204" pitchFamily="34" charset="0"/>
              </a:rPr>
              <a:t>WHAT TYPE OF INFORMATION DO YOU NEED TO PROPERLY FORMULATE AQUA-FEEDS?</a:t>
            </a:r>
            <a:endParaRPr lang="en-ZM" sz="1800" b="1" i="0" u="none" strike="noStrike" baseline="0" dirty="0">
              <a:solidFill>
                <a:srgbClr val="000000"/>
              </a:solidFill>
              <a:latin typeface="Arial" panose="020B0604020202020204" pitchFamily="34" charset="0"/>
            </a:endParaRPr>
          </a:p>
          <a:p>
            <a:pPr marL="342900" indent="-342900" algn="just">
              <a:lnSpc>
                <a:spcPct val="150000"/>
              </a:lnSpc>
              <a:buFont typeface="Wingdings" panose="05000000000000000000" pitchFamily="2" charset="2"/>
              <a:buChar char="Ø"/>
            </a:pPr>
            <a:r>
              <a:rPr lang="en-GB" dirty="0">
                <a:solidFill>
                  <a:srgbClr val="000000"/>
                </a:solidFill>
                <a:latin typeface="Arial Narrow" panose="020B0606020202030204" pitchFamily="34" charset="0"/>
              </a:rPr>
              <a:t>N</a:t>
            </a:r>
            <a:r>
              <a:rPr lang="en-GB" b="0" i="0" u="none" strike="noStrike" baseline="0" dirty="0">
                <a:solidFill>
                  <a:srgbClr val="000000"/>
                </a:solidFill>
                <a:latin typeface="Arial Narrow" panose="020B0606020202030204" pitchFamily="34" charset="0"/>
              </a:rPr>
              <a:t>utritional required of the target species </a:t>
            </a:r>
          </a:p>
          <a:p>
            <a:pPr marL="342900" indent="-342900" algn="just">
              <a:lnSpc>
                <a:spcPct val="150000"/>
              </a:lnSpc>
              <a:buFont typeface="Wingdings" panose="05000000000000000000" pitchFamily="2" charset="2"/>
              <a:buChar char="Ø"/>
            </a:pPr>
            <a:r>
              <a:rPr lang="de-DE" dirty="0">
                <a:solidFill>
                  <a:srgbClr val="000000"/>
                </a:solidFill>
                <a:latin typeface="Arial Narrow" panose="020B0606020202030204" pitchFamily="34" charset="0"/>
              </a:rPr>
              <a:t>Fish </a:t>
            </a:r>
            <a:r>
              <a:rPr lang="de-DE" b="0" i="0" u="none" strike="noStrike" baseline="0" dirty="0">
                <a:solidFill>
                  <a:srgbClr val="000000"/>
                </a:solidFill>
                <a:latin typeface="Arial Narrow" panose="020B0606020202030204" pitchFamily="34" charset="0"/>
              </a:rPr>
              <a:t>physiology (Digestive system, feeding behavior)</a:t>
            </a:r>
          </a:p>
          <a:p>
            <a:pPr marL="342900" indent="-342900" algn="just">
              <a:lnSpc>
                <a:spcPct val="150000"/>
              </a:lnSpc>
              <a:buFont typeface="Wingdings" panose="05000000000000000000" pitchFamily="2" charset="2"/>
              <a:buChar char="Ø"/>
            </a:pPr>
            <a:r>
              <a:rPr lang="en-GB" b="0" i="0" u="none" strike="noStrike" baseline="0" dirty="0">
                <a:solidFill>
                  <a:srgbClr val="000000"/>
                </a:solidFill>
                <a:latin typeface="Arial Narrow" panose="020B0606020202030204" pitchFamily="34" charset="0"/>
              </a:rPr>
              <a:t>Nutritional values of various ingredients used in the feed mixture </a:t>
            </a:r>
          </a:p>
          <a:p>
            <a:pPr marL="342900" indent="-342900" algn="just">
              <a:lnSpc>
                <a:spcPct val="150000"/>
              </a:lnSpc>
              <a:buFont typeface="Wingdings" panose="05000000000000000000" pitchFamily="2" charset="2"/>
              <a:buChar char="Ø"/>
            </a:pPr>
            <a:r>
              <a:rPr lang="en-GB" b="0" i="0" u="none" strike="noStrike" baseline="0" dirty="0">
                <a:solidFill>
                  <a:srgbClr val="000000"/>
                </a:solidFill>
                <a:latin typeface="Arial Narrow" panose="020B0606020202030204" pitchFamily="34" charset="0"/>
              </a:rPr>
              <a:t>The specific functions of the ingredients in the metabolism  </a:t>
            </a:r>
          </a:p>
          <a:p>
            <a:pPr algn="just"/>
            <a:endParaRPr lang="en-ZM" dirty="0">
              <a:solidFill>
                <a:srgbClr val="FF0000"/>
              </a:solidFill>
              <a:latin typeface="Arial Narrow" panose="020B0606020202030204" pitchFamily="34" charset="0"/>
            </a:endParaRPr>
          </a:p>
        </p:txBody>
      </p:sp>
    </p:spTree>
    <p:extLst>
      <p:ext uri="{BB962C8B-B14F-4D97-AF65-F5344CB8AC3E}">
        <p14:creationId xmlns:p14="http://schemas.microsoft.com/office/powerpoint/2010/main" val="16666157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879DF-704F-A00D-572B-E7C7A52AE7B4}"/>
              </a:ext>
            </a:extLst>
          </p:cNvPr>
          <p:cNvSpPr>
            <a:spLocks noGrp="1"/>
          </p:cNvSpPr>
          <p:nvPr>
            <p:ph type="ctrTitle"/>
          </p:nvPr>
        </p:nvSpPr>
        <p:spPr>
          <a:xfrm>
            <a:off x="255639" y="399181"/>
            <a:ext cx="11533238" cy="820019"/>
          </a:xfrm>
        </p:spPr>
        <p:txBody>
          <a:bodyPr>
            <a:normAutofit fontScale="90000"/>
          </a:bodyPr>
          <a:lstStyle/>
          <a:p>
            <a:r>
              <a:rPr lang="en-GB" sz="5400" b="1" dirty="0">
                <a:latin typeface="Arial Narrow" panose="020B0606020202030204" pitchFamily="34" charset="0"/>
              </a:rPr>
              <a:t>INTRODUCTION</a:t>
            </a:r>
            <a:endParaRPr lang="en-ZM" sz="5400" b="1" dirty="0">
              <a:latin typeface="Arial Narrow" panose="020B0606020202030204" pitchFamily="34" charset="0"/>
            </a:endParaRPr>
          </a:p>
        </p:txBody>
      </p:sp>
      <p:sp>
        <p:nvSpPr>
          <p:cNvPr id="3" name="Subtitle 2">
            <a:extLst>
              <a:ext uri="{FF2B5EF4-FFF2-40B4-BE49-F238E27FC236}">
                <a16:creationId xmlns:a16="http://schemas.microsoft.com/office/drawing/2014/main" id="{6107AEAB-3800-9DC8-32E6-AB24BBF3E56C}"/>
              </a:ext>
            </a:extLst>
          </p:cNvPr>
          <p:cNvSpPr>
            <a:spLocks noGrp="1"/>
          </p:cNvSpPr>
          <p:nvPr>
            <p:ph type="subTitle" idx="1"/>
          </p:nvPr>
        </p:nvSpPr>
        <p:spPr>
          <a:xfrm>
            <a:off x="1671484" y="1337187"/>
            <a:ext cx="9606116" cy="5121632"/>
          </a:xfrm>
        </p:spPr>
        <p:txBody>
          <a:bodyPr>
            <a:normAutofit/>
          </a:bodyPr>
          <a:lstStyle/>
          <a:p>
            <a:pPr algn="just">
              <a:lnSpc>
                <a:spcPct val="150000"/>
              </a:lnSpc>
            </a:pPr>
            <a:r>
              <a:rPr lang="en-GB" b="1" i="0" u="none" strike="noStrike" baseline="0" dirty="0">
                <a:solidFill>
                  <a:srgbClr val="000000"/>
                </a:solidFill>
                <a:latin typeface="Arial Narrow" panose="020B0606020202030204" pitchFamily="34" charset="0"/>
              </a:rPr>
              <a:t>WHAT TYPE OF INFORMATION DO YOU NEED TO PROPERLY FORMULATE AQUA-FEEDS?</a:t>
            </a:r>
            <a:endParaRPr lang="en-ZM" b="1" i="0" u="none" strike="noStrike" baseline="0" dirty="0">
              <a:solidFill>
                <a:srgbClr val="000000"/>
              </a:solidFill>
              <a:latin typeface="Arial Narrow" panose="020B0606020202030204" pitchFamily="34" charset="0"/>
            </a:endParaRPr>
          </a:p>
          <a:p>
            <a:pPr marL="342900" indent="-342900" algn="just">
              <a:lnSpc>
                <a:spcPct val="150000"/>
              </a:lnSpc>
              <a:buFont typeface="Wingdings" panose="05000000000000000000" pitchFamily="2" charset="2"/>
              <a:buChar char="Ø"/>
            </a:pPr>
            <a:r>
              <a:rPr lang="de-DE" b="0" i="0" u="none" strike="noStrike" baseline="0" dirty="0">
                <a:solidFill>
                  <a:srgbClr val="000000"/>
                </a:solidFill>
                <a:latin typeface="Arial Narrow" panose="020B0606020202030204" pitchFamily="34" charset="0"/>
              </a:rPr>
              <a:t>Cost of ingridients and other economic reason (</a:t>
            </a:r>
            <a:r>
              <a:rPr lang="en-GB" b="0" i="0" u="none" strike="noStrike" baseline="0" dirty="0">
                <a:solidFill>
                  <a:srgbClr val="000000"/>
                </a:solidFill>
                <a:latin typeface="Arial Narrow" panose="020B0606020202030204" pitchFamily="34" charset="0"/>
              </a:rPr>
              <a:t>binders and antioxidants). </a:t>
            </a:r>
          </a:p>
          <a:p>
            <a:pPr marL="342900" indent="-342900" algn="just">
              <a:lnSpc>
                <a:spcPct val="150000"/>
              </a:lnSpc>
              <a:buFont typeface="Wingdings" panose="05000000000000000000" pitchFamily="2" charset="2"/>
              <a:buChar char="Ø"/>
            </a:pPr>
            <a:r>
              <a:rPr lang="en-GB" dirty="0">
                <a:solidFill>
                  <a:srgbClr val="000000"/>
                </a:solidFill>
                <a:latin typeface="Arial Narrow" panose="020B0606020202030204" pitchFamily="34" charset="0"/>
              </a:rPr>
              <a:t>Availability of ingredients</a:t>
            </a:r>
          </a:p>
          <a:p>
            <a:pPr marL="342900" indent="-342900" algn="just">
              <a:lnSpc>
                <a:spcPct val="150000"/>
              </a:lnSpc>
              <a:buFont typeface="Wingdings" panose="05000000000000000000" pitchFamily="2" charset="2"/>
              <a:buChar char="Ø"/>
            </a:pPr>
            <a:r>
              <a:rPr lang="de-DE" dirty="0">
                <a:latin typeface="Arial Narrow" panose="020B0606020202030204" pitchFamily="34" charset="0"/>
              </a:rPr>
              <a:t>I</a:t>
            </a:r>
            <a:r>
              <a:rPr lang="de-DE" b="0" i="0" u="none" strike="noStrike" baseline="0" dirty="0">
                <a:latin typeface="Arial Narrow" panose="020B0606020202030204" pitchFamily="34" charset="0"/>
              </a:rPr>
              <a:t>ngredient digestibilities </a:t>
            </a:r>
            <a:r>
              <a:rPr lang="de-DE" b="0" i="1" u="none" strike="noStrike" baseline="0" dirty="0">
                <a:latin typeface="Arial Narrow" panose="020B0606020202030204" pitchFamily="34" charset="0"/>
              </a:rPr>
              <a:t>(</a:t>
            </a:r>
            <a:r>
              <a:rPr lang="en-GB" i="1" dirty="0">
                <a:latin typeface="Arial Narrow" panose="020B0606020202030204" pitchFamily="34" charset="0"/>
              </a:rPr>
              <a:t>T</a:t>
            </a:r>
            <a:r>
              <a:rPr lang="en-GB" b="0" i="1" u="none" strike="noStrike" baseline="0" dirty="0">
                <a:latin typeface="Arial Narrow" panose="020B0606020202030204" pitchFamily="34" charset="0"/>
              </a:rPr>
              <a:t>he measurement of the proportion of energy and nutrients, which an animal can obtain from a particular ingredient through its digestive and </a:t>
            </a:r>
            <a:r>
              <a:rPr lang="de-DE" b="0" i="1" u="none" strike="noStrike" baseline="0" dirty="0">
                <a:latin typeface="Arial Narrow" panose="020B0606020202030204" pitchFamily="34" charset="0"/>
              </a:rPr>
              <a:t>absorptive processes)</a:t>
            </a:r>
          </a:p>
          <a:p>
            <a:pPr algn="l"/>
            <a:r>
              <a:rPr lang="de-DE" b="0" i="0" u="none" strike="noStrike" baseline="0" dirty="0">
                <a:latin typeface="Arial Narrow" panose="020B0606020202030204" pitchFamily="34" charset="0"/>
              </a:rPr>
              <a:t>  </a:t>
            </a:r>
            <a:endParaRPr lang="en-GB" b="0" i="0" u="none" strike="noStrike" baseline="0" dirty="0">
              <a:solidFill>
                <a:srgbClr val="000000"/>
              </a:solidFill>
              <a:latin typeface="Arial Narrow" panose="020B0606020202030204" pitchFamily="34" charset="0"/>
            </a:endParaRPr>
          </a:p>
          <a:p>
            <a:pPr algn="just"/>
            <a:endParaRPr lang="en-ZM" dirty="0">
              <a:solidFill>
                <a:srgbClr val="FF0000"/>
              </a:solidFill>
              <a:latin typeface="Arial Narrow" panose="020B0606020202030204" pitchFamily="34" charset="0"/>
            </a:endParaRPr>
          </a:p>
        </p:txBody>
      </p:sp>
    </p:spTree>
    <p:extLst>
      <p:ext uri="{BB962C8B-B14F-4D97-AF65-F5344CB8AC3E}">
        <p14:creationId xmlns:p14="http://schemas.microsoft.com/office/powerpoint/2010/main" val="1664538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879DF-704F-A00D-572B-E7C7A52AE7B4}"/>
              </a:ext>
            </a:extLst>
          </p:cNvPr>
          <p:cNvSpPr>
            <a:spLocks noGrp="1"/>
          </p:cNvSpPr>
          <p:nvPr>
            <p:ph type="ctrTitle"/>
          </p:nvPr>
        </p:nvSpPr>
        <p:spPr>
          <a:xfrm>
            <a:off x="255639" y="399181"/>
            <a:ext cx="11533238" cy="820019"/>
          </a:xfrm>
        </p:spPr>
        <p:txBody>
          <a:bodyPr>
            <a:normAutofit fontScale="90000"/>
          </a:bodyPr>
          <a:lstStyle/>
          <a:p>
            <a:r>
              <a:rPr lang="en-GB" sz="5400" b="1" dirty="0">
                <a:latin typeface="Arial Narrow" panose="020B0606020202030204" pitchFamily="34" charset="0"/>
              </a:rPr>
              <a:t>INTRODUCTION</a:t>
            </a:r>
            <a:endParaRPr lang="en-ZM" sz="5400" b="1" dirty="0">
              <a:latin typeface="Arial Narrow" panose="020B0606020202030204" pitchFamily="34" charset="0"/>
            </a:endParaRPr>
          </a:p>
        </p:txBody>
      </p:sp>
      <p:sp>
        <p:nvSpPr>
          <p:cNvPr id="3" name="Subtitle 2">
            <a:extLst>
              <a:ext uri="{FF2B5EF4-FFF2-40B4-BE49-F238E27FC236}">
                <a16:creationId xmlns:a16="http://schemas.microsoft.com/office/drawing/2014/main" id="{6107AEAB-3800-9DC8-32E6-AB24BBF3E56C}"/>
              </a:ext>
            </a:extLst>
          </p:cNvPr>
          <p:cNvSpPr>
            <a:spLocks noGrp="1"/>
          </p:cNvSpPr>
          <p:nvPr>
            <p:ph type="subTitle" idx="1"/>
          </p:nvPr>
        </p:nvSpPr>
        <p:spPr>
          <a:xfrm>
            <a:off x="471948" y="1337187"/>
            <a:ext cx="11434917" cy="5240594"/>
          </a:xfrm>
        </p:spPr>
        <p:txBody>
          <a:bodyPr>
            <a:normAutofit/>
          </a:bodyPr>
          <a:lstStyle/>
          <a:p>
            <a:pPr algn="just">
              <a:lnSpc>
                <a:spcPct val="150000"/>
              </a:lnSpc>
            </a:pPr>
            <a:r>
              <a:rPr lang="en-GB" b="1" i="0" u="none" strike="noStrike" baseline="0" dirty="0">
                <a:solidFill>
                  <a:srgbClr val="000000"/>
                </a:solidFill>
                <a:latin typeface="Arial Narrow" panose="020B0606020202030204" pitchFamily="34" charset="0"/>
              </a:rPr>
              <a:t>WHAT TYPE OF INFORMATION DO YOU NEED TO PROPERLY FORMULATE AQUA-FEEDS?</a:t>
            </a:r>
            <a:endParaRPr lang="en-ZM" b="1" i="0" u="none" strike="noStrike" baseline="0" dirty="0">
              <a:solidFill>
                <a:srgbClr val="000000"/>
              </a:solidFill>
              <a:latin typeface="Arial Narrow" panose="020B0606020202030204" pitchFamily="34" charset="0"/>
            </a:endParaRPr>
          </a:p>
          <a:p>
            <a:pPr marL="342900" indent="-342900" algn="just">
              <a:lnSpc>
                <a:spcPct val="150000"/>
              </a:lnSpc>
              <a:buFont typeface="Wingdings" panose="05000000000000000000" pitchFamily="2" charset="2"/>
              <a:buChar char="Ø"/>
            </a:pPr>
            <a:r>
              <a:rPr lang="de-DE" b="0" i="0" u="none" strike="noStrike" baseline="0" dirty="0">
                <a:latin typeface="Arial Narrow" panose="020B0606020202030204" pitchFamily="34" charset="0"/>
              </a:rPr>
              <a:t>Ingredient palatability (</a:t>
            </a:r>
            <a:r>
              <a:rPr lang="en-GB" dirty="0">
                <a:latin typeface="Arial Narrow" panose="020B0606020202030204" pitchFamily="34" charset="0"/>
              </a:rPr>
              <a:t>D</a:t>
            </a:r>
            <a:r>
              <a:rPr lang="en-GB" b="0" i="0" u="none" strike="noStrike" baseline="0" dirty="0">
                <a:latin typeface="Arial Narrow" panose="020B0606020202030204" pitchFamily="34" charset="0"/>
              </a:rPr>
              <a:t>efined as the combination of both attractiveness and ingestion of a diet and therefore of most relevance to feed </a:t>
            </a:r>
            <a:r>
              <a:rPr lang="de-DE" b="0" i="0" u="none" strike="noStrike" baseline="0" dirty="0">
                <a:latin typeface="Arial Narrow" panose="020B0606020202030204" pitchFamily="34" charset="0"/>
              </a:rPr>
              <a:t>development</a:t>
            </a:r>
            <a:r>
              <a:rPr lang="de-DE" dirty="0">
                <a:latin typeface="Arial Narrow" panose="020B0606020202030204" pitchFamily="34" charset="0"/>
              </a:rPr>
              <a:t>)</a:t>
            </a:r>
          </a:p>
          <a:p>
            <a:pPr marL="342900" indent="-342900" algn="just">
              <a:lnSpc>
                <a:spcPct val="150000"/>
              </a:lnSpc>
              <a:buFont typeface="Wingdings" panose="05000000000000000000" pitchFamily="2" charset="2"/>
              <a:buChar char="Ø"/>
            </a:pPr>
            <a:r>
              <a:rPr lang="de-DE" dirty="0">
                <a:latin typeface="Arial Narrow" panose="020B0606020202030204" pitchFamily="34" charset="0"/>
              </a:rPr>
              <a:t>N</a:t>
            </a:r>
            <a:r>
              <a:rPr lang="de-DE" b="0" i="0" u="none" strike="noStrike" baseline="0" dirty="0">
                <a:latin typeface="Arial Narrow" panose="020B0606020202030204" pitchFamily="34" charset="0"/>
              </a:rPr>
              <a:t>utrient utilization </a:t>
            </a:r>
            <a:endParaRPr lang="de-DE" dirty="0">
              <a:latin typeface="Arial Narrow" panose="020B0606020202030204" pitchFamily="34" charset="0"/>
            </a:endParaRPr>
          </a:p>
          <a:p>
            <a:pPr marL="342900" indent="-342900" algn="just">
              <a:lnSpc>
                <a:spcPct val="150000"/>
              </a:lnSpc>
              <a:buFont typeface="Wingdings" panose="05000000000000000000" pitchFamily="2" charset="2"/>
              <a:buChar char="Ø"/>
            </a:pPr>
            <a:r>
              <a:rPr lang="en-GB" i="0" u="none" strike="noStrike" baseline="0" dirty="0">
                <a:solidFill>
                  <a:srgbClr val="000000"/>
                </a:solidFill>
                <a:latin typeface="Arial Narrow" panose="020B0606020202030204" pitchFamily="34" charset="0"/>
              </a:rPr>
              <a:t>Age of fish: </a:t>
            </a:r>
            <a:r>
              <a:rPr lang="en-GB" b="0" i="0" u="none" strike="noStrike" baseline="0" dirty="0">
                <a:solidFill>
                  <a:srgbClr val="000000"/>
                </a:solidFill>
                <a:latin typeface="Arial Narrow" panose="020B0606020202030204" pitchFamily="34" charset="0"/>
              </a:rPr>
              <a:t>the life stage of fish determines the nutritional requirement for the fish.</a:t>
            </a:r>
          </a:p>
          <a:p>
            <a:pPr marL="342900" indent="-342900" algn="just">
              <a:lnSpc>
                <a:spcPct val="150000"/>
              </a:lnSpc>
              <a:buFont typeface="Wingdings" panose="05000000000000000000" pitchFamily="2" charset="2"/>
              <a:buChar char="q"/>
            </a:pPr>
            <a:r>
              <a:rPr lang="en-GB" b="0" i="0" u="none" strike="noStrike" baseline="0" dirty="0">
                <a:solidFill>
                  <a:srgbClr val="000000"/>
                </a:solidFill>
                <a:latin typeface="Arial Narrow" panose="020B0606020202030204" pitchFamily="34" charset="0"/>
              </a:rPr>
              <a:t> Younger fish need feed with high of quality protein, which is easily digestible.</a:t>
            </a:r>
          </a:p>
          <a:p>
            <a:pPr marL="342900" indent="-342900" algn="just">
              <a:lnSpc>
                <a:spcPct val="150000"/>
              </a:lnSpc>
              <a:buFont typeface="Wingdings" panose="05000000000000000000" pitchFamily="2" charset="2"/>
              <a:buChar char="q"/>
            </a:pPr>
            <a:r>
              <a:rPr lang="en-GB" b="0" i="0" u="none" strike="noStrike" baseline="0" dirty="0">
                <a:solidFill>
                  <a:srgbClr val="000000"/>
                </a:solidFill>
                <a:latin typeface="Arial Narrow" panose="020B0606020202030204" pitchFamily="34" charset="0"/>
              </a:rPr>
              <a:t> In some species such as catfish, crude protein in feed for fingerlings is above 45% while in adult fish is may be around 30%. </a:t>
            </a:r>
          </a:p>
          <a:p>
            <a:pPr marL="342900" indent="-342900" algn="just">
              <a:lnSpc>
                <a:spcPct val="150000"/>
              </a:lnSpc>
              <a:buFont typeface="Wingdings" panose="05000000000000000000" pitchFamily="2" charset="2"/>
              <a:buChar char="Ø"/>
            </a:pPr>
            <a:endParaRPr lang="en-GB" dirty="0">
              <a:solidFill>
                <a:srgbClr val="000000"/>
              </a:solidFill>
              <a:latin typeface="Arial Narrow" panose="020B0606020202030204" pitchFamily="34" charset="0"/>
            </a:endParaRPr>
          </a:p>
          <a:p>
            <a:pPr algn="just">
              <a:lnSpc>
                <a:spcPct val="150000"/>
              </a:lnSpc>
            </a:pPr>
            <a:endParaRPr lang="en-GB" b="0" i="0" u="none" strike="noStrike" baseline="0" dirty="0">
              <a:solidFill>
                <a:srgbClr val="000000"/>
              </a:solidFill>
              <a:latin typeface="Arial Narrow" panose="020B0606020202030204" pitchFamily="34" charset="0"/>
            </a:endParaRPr>
          </a:p>
          <a:p>
            <a:pPr algn="just"/>
            <a:endParaRPr lang="en-ZM" dirty="0">
              <a:solidFill>
                <a:srgbClr val="FF0000"/>
              </a:solidFill>
              <a:latin typeface="Arial Narrow" panose="020B0606020202030204" pitchFamily="34" charset="0"/>
            </a:endParaRPr>
          </a:p>
        </p:txBody>
      </p:sp>
    </p:spTree>
    <p:extLst>
      <p:ext uri="{BB962C8B-B14F-4D97-AF65-F5344CB8AC3E}">
        <p14:creationId xmlns:p14="http://schemas.microsoft.com/office/powerpoint/2010/main" val="42211189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879DF-704F-A00D-572B-E7C7A52AE7B4}"/>
              </a:ext>
            </a:extLst>
          </p:cNvPr>
          <p:cNvSpPr>
            <a:spLocks noGrp="1"/>
          </p:cNvSpPr>
          <p:nvPr>
            <p:ph type="ctrTitle"/>
          </p:nvPr>
        </p:nvSpPr>
        <p:spPr>
          <a:xfrm>
            <a:off x="255639" y="399181"/>
            <a:ext cx="11533238" cy="820019"/>
          </a:xfrm>
        </p:spPr>
        <p:txBody>
          <a:bodyPr>
            <a:normAutofit fontScale="90000"/>
          </a:bodyPr>
          <a:lstStyle/>
          <a:p>
            <a:r>
              <a:rPr lang="en-GB" sz="5400" b="1" dirty="0">
                <a:latin typeface="Arial Narrow" panose="020B0606020202030204" pitchFamily="34" charset="0"/>
              </a:rPr>
              <a:t>INTRODUCTION</a:t>
            </a:r>
            <a:endParaRPr lang="en-ZM" sz="5400" b="1" dirty="0">
              <a:latin typeface="Arial Narrow" panose="020B0606020202030204" pitchFamily="34" charset="0"/>
            </a:endParaRPr>
          </a:p>
        </p:txBody>
      </p:sp>
      <p:sp>
        <p:nvSpPr>
          <p:cNvPr id="3" name="Subtitle 2">
            <a:extLst>
              <a:ext uri="{FF2B5EF4-FFF2-40B4-BE49-F238E27FC236}">
                <a16:creationId xmlns:a16="http://schemas.microsoft.com/office/drawing/2014/main" id="{6107AEAB-3800-9DC8-32E6-AB24BBF3E56C}"/>
              </a:ext>
            </a:extLst>
          </p:cNvPr>
          <p:cNvSpPr>
            <a:spLocks noGrp="1"/>
          </p:cNvSpPr>
          <p:nvPr>
            <p:ph type="subTitle" idx="1"/>
          </p:nvPr>
        </p:nvSpPr>
        <p:spPr>
          <a:xfrm>
            <a:off x="894735" y="1347020"/>
            <a:ext cx="10471355" cy="5240594"/>
          </a:xfrm>
        </p:spPr>
        <p:txBody>
          <a:bodyPr>
            <a:normAutofit/>
          </a:bodyPr>
          <a:lstStyle/>
          <a:p>
            <a:pPr algn="just">
              <a:lnSpc>
                <a:spcPct val="150000"/>
              </a:lnSpc>
            </a:pPr>
            <a:r>
              <a:rPr lang="en-GB" b="1" i="0" u="none" strike="noStrike" baseline="0" dirty="0">
                <a:solidFill>
                  <a:srgbClr val="000000"/>
                </a:solidFill>
                <a:latin typeface="Arial Narrow" panose="020B0606020202030204" pitchFamily="34" charset="0"/>
              </a:rPr>
              <a:t>WHAT TYPE OF INFORMATION DO YOU NEED TO PROPERLY FORMULATE AQUA-FEEDS?</a:t>
            </a:r>
            <a:endParaRPr lang="en-GB" b="1" dirty="0">
              <a:solidFill>
                <a:srgbClr val="000000"/>
              </a:solidFill>
              <a:latin typeface="Arial Narrow" panose="020B0606020202030204" pitchFamily="34" charset="0"/>
            </a:endParaRPr>
          </a:p>
          <a:p>
            <a:pPr marL="342900" indent="-342900" algn="just">
              <a:lnSpc>
                <a:spcPct val="150000"/>
              </a:lnSpc>
              <a:buFont typeface="Wingdings" panose="05000000000000000000" pitchFamily="2" charset="2"/>
              <a:buChar char="Ø"/>
            </a:pPr>
            <a:r>
              <a:rPr lang="en-GB" i="0" u="none" strike="noStrike" baseline="0" dirty="0">
                <a:solidFill>
                  <a:srgbClr val="000000"/>
                </a:solidFill>
                <a:latin typeface="Arial Narrow" panose="020B0606020202030204" pitchFamily="34" charset="0"/>
              </a:rPr>
              <a:t>Specie: </a:t>
            </a:r>
            <a:r>
              <a:rPr lang="en-GB" dirty="0">
                <a:solidFill>
                  <a:srgbClr val="000000"/>
                </a:solidFill>
                <a:latin typeface="Arial Narrow" panose="020B0606020202030204" pitchFamily="34" charset="0"/>
              </a:rPr>
              <a:t>(</a:t>
            </a:r>
            <a:r>
              <a:rPr lang="en-GB" b="0" i="0" u="none" strike="noStrike" baseline="0" dirty="0">
                <a:solidFill>
                  <a:srgbClr val="000000"/>
                </a:solidFill>
                <a:latin typeface="Arial Narrow" panose="020B0606020202030204" pitchFamily="34" charset="0"/>
              </a:rPr>
              <a:t>carnivores, </a:t>
            </a:r>
            <a:r>
              <a:rPr lang="en-GB" b="0" i="0" u="none" strike="noStrike" baseline="0" dirty="0" err="1">
                <a:solidFill>
                  <a:srgbClr val="000000"/>
                </a:solidFill>
                <a:latin typeface="Arial Narrow" panose="020B0606020202030204" pitchFamily="34" charset="0"/>
              </a:rPr>
              <a:t>Onmivorous</a:t>
            </a:r>
            <a:r>
              <a:rPr lang="en-GB" b="0" i="0" u="none" strike="noStrike" baseline="0" dirty="0">
                <a:solidFill>
                  <a:srgbClr val="000000"/>
                </a:solidFill>
                <a:latin typeface="Arial Narrow" panose="020B0606020202030204" pitchFamily="34" charset="0"/>
              </a:rPr>
              <a:t>, herbivores).</a:t>
            </a:r>
          </a:p>
          <a:p>
            <a:pPr marL="342900" indent="-342900" algn="just">
              <a:lnSpc>
                <a:spcPct val="150000"/>
              </a:lnSpc>
              <a:buFont typeface="Wingdings" panose="05000000000000000000" pitchFamily="2" charset="2"/>
              <a:buChar char="q"/>
            </a:pPr>
            <a:r>
              <a:rPr lang="en-GB" b="0" i="0" u="none" strike="noStrike" baseline="0" dirty="0">
                <a:solidFill>
                  <a:srgbClr val="000000"/>
                </a:solidFill>
                <a:latin typeface="Arial Narrow" panose="020B0606020202030204" pitchFamily="34" charset="0"/>
              </a:rPr>
              <a:t>This feeding </a:t>
            </a:r>
            <a:r>
              <a:rPr lang="en-GB" b="0" i="0" u="none" strike="noStrike" baseline="0" dirty="0" err="1">
                <a:solidFill>
                  <a:srgbClr val="000000"/>
                </a:solidFill>
                <a:latin typeface="Arial Narrow" panose="020B0606020202030204" pitchFamily="34" charset="0"/>
              </a:rPr>
              <a:t>behavior</a:t>
            </a:r>
            <a:r>
              <a:rPr lang="en-GB" b="0" i="0" u="none" strike="noStrike" baseline="0" dirty="0">
                <a:solidFill>
                  <a:srgbClr val="000000"/>
                </a:solidFill>
                <a:latin typeface="Arial Narrow" panose="020B0606020202030204" pitchFamily="34" charset="0"/>
              </a:rPr>
              <a:t> determines to a large extent what they accept as feed or food. </a:t>
            </a:r>
          </a:p>
          <a:p>
            <a:pPr marL="342900" indent="-342900" algn="just">
              <a:lnSpc>
                <a:spcPct val="150000"/>
              </a:lnSpc>
              <a:buFont typeface="Wingdings" panose="05000000000000000000" pitchFamily="2" charset="2"/>
              <a:buChar char="Ø"/>
            </a:pPr>
            <a:r>
              <a:rPr lang="en-GB" b="0" i="0" u="none" strike="noStrike" baseline="0" dirty="0">
                <a:solidFill>
                  <a:srgbClr val="000000"/>
                </a:solidFill>
                <a:latin typeface="Arial Narrow" panose="020B0606020202030204" pitchFamily="34" charset="0"/>
              </a:rPr>
              <a:t> </a:t>
            </a:r>
            <a:r>
              <a:rPr lang="en-GB" i="0" u="none" strike="noStrike" baseline="0" dirty="0">
                <a:solidFill>
                  <a:srgbClr val="000000"/>
                </a:solidFill>
                <a:latin typeface="Arial Narrow" panose="020B0606020202030204" pitchFamily="34" charset="0"/>
              </a:rPr>
              <a:t>Nutritional composition: </a:t>
            </a:r>
            <a:r>
              <a:rPr lang="en-GB" b="0" i="0" u="none" strike="noStrike" baseline="0" dirty="0">
                <a:solidFill>
                  <a:srgbClr val="000000"/>
                </a:solidFill>
                <a:latin typeface="Arial Narrow" panose="020B0606020202030204" pitchFamily="34" charset="0"/>
              </a:rPr>
              <a:t>this is the information on the proportion of nutrients contained in feed ingredients; this information includes crude protein, carbohydrates, crude fat, vitamins, minerals and gross energy.</a:t>
            </a:r>
          </a:p>
          <a:p>
            <a:pPr marL="342900" indent="-342900" algn="just">
              <a:lnSpc>
                <a:spcPct val="150000"/>
              </a:lnSpc>
              <a:buFont typeface="Wingdings" panose="05000000000000000000" pitchFamily="2" charset="2"/>
              <a:buChar char="Ø"/>
            </a:pPr>
            <a:endParaRPr lang="en-GB" dirty="0">
              <a:solidFill>
                <a:srgbClr val="000000"/>
              </a:solidFill>
              <a:latin typeface="Arial Narrow" panose="020B0606020202030204" pitchFamily="34" charset="0"/>
            </a:endParaRPr>
          </a:p>
          <a:p>
            <a:pPr algn="just">
              <a:lnSpc>
                <a:spcPct val="150000"/>
              </a:lnSpc>
            </a:pPr>
            <a:endParaRPr lang="en-GB" b="0" i="0" u="none" strike="noStrike" baseline="0" dirty="0">
              <a:solidFill>
                <a:srgbClr val="000000"/>
              </a:solidFill>
              <a:latin typeface="Arial Narrow" panose="020B0606020202030204" pitchFamily="34" charset="0"/>
            </a:endParaRPr>
          </a:p>
          <a:p>
            <a:pPr algn="just"/>
            <a:endParaRPr lang="en-ZM" dirty="0">
              <a:solidFill>
                <a:srgbClr val="FF0000"/>
              </a:solidFill>
              <a:latin typeface="Arial Narrow" panose="020B0606020202030204" pitchFamily="34" charset="0"/>
            </a:endParaRPr>
          </a:p>
        </p:txBody>
      </p:sp>
    </p:spTree>
    <p:extLst>
      <p:ext uri="{BB962C8B-B14F-4D97-AF65-F5344CB8AC3E}">
        <p14:creationId xmlns:p14="http://schemas.microsoft.com/office/powerpoint/2010/main" val="21079710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879DF-704F-A00D-572B-E7C7A52AE7B4}"/>
              </a:ext>
            </a:extLst>
          </p:cNvPr>
          <p:cNvSpPr>
            <a:spLocks noGrp="1"/>
          </p:cNvSpPr>
          <p:nvPr>
            <p:ph type="ctrTitle"/>
          </p:nvPr>
        </p:nvSpPr>
        <p:spPr>
          <a:xfrm>
            <a:off x="255639" y="270386"/>
            <a:ext cx="11533238" cy="820019"/>
          </a:xfrm>
        </p:spPr>
        <p:txBody>
          <a:bodyPr>
            <a:normAutofit fontScale="90000"/>
          </a:bodyPr>
          <a:lstStyle/>
          <a:p>
            <a:r>
              <a:rPr lang="en-GB" sz="5400" b="1" dirty="0">
                <a:latin typeface="Arial Narrow" panose="020B0606020202030204" pitchFamily="34" charset="0"/>
              </a:rPr>
              <a:t>INTRODUCTION</a:t>
            </a:r>
            <a:endParaRPr lang="en-ZM" sz="5400" b="1" dirty="0">
              <a:latin typeface="Arial Narrow" panose="020B0606020202030204" pitchFamily="34" charset="0"/>
            </a:endParaRPr>
          </a:p>
        </p:txBody>
      </p:sp>
      <p:sp>
        <p:nvSpPr>
          <p:cNvPr id="3" name="Subtitle 2">
            <a:extLst>
              <a:ext uri="{FF2B5EF4-FFF2-40B4-BE49-F238E27FC236}">
                <a16:creationId xmlns:a16="http://schemas.microsoft.com/office/drawing/2014/main" id="{6107AEAB-3800-9DC8-32E6-AB24BBF3E56C}"/>
              </a:ext>
            </a:extLst>
          </p:cNvPr>
          <p:cNvSpPr>
            <a:spLocks noGrp="1"/>
          </p:cNvSpPr>
          <p:nvPr>
            <p:ph type="subTitle" idx="1"/>
          </p:nvPr>
        </p:nvSpPr>
        <p:spPr>
          <a:xfrm>
            <a:off x="412955" y="1090405"/>
            <a:ext cx="11375922" cy="5497209"/>
          </a:xfrm>
        </p:spPr>
        <p:txBody>
          <a:bodyPr>
            <a:normAutofit/>
          </a:bodyPr>
          <a:lstStyle/>
          <a:p>
            <a:pPr algn="just">
              <a:lnSpc>
                <a:spcPct val="150000"/>
              </a:lnSpc>
            </a:pPr>
            <a:r>
              <a:rPr lang="en-GB" b="1" i="0" u="none" strike="noStrike" baseline="0" dirty="0">
                <a:solidFill>
                  <a:srgbClr val="000000"/>
                </a:solidFill>
                <a:latin typeface="Arial Narrow" panose="020B0606020202030204" pitchFamily="34" charset="0"/>
              </a:rPr>
              <a:t>WHAT TYPE OF INFORMATION DO YOU NEED TO PROPERLY FORMULATE AQUA-FEEDS?</a:t>
            </a:r>
            <a:endParaRPr lang="en-ZM" b="0" i="0" u="none" strike="noStrike" baseline="0" dirty="0">
              <a:solidFill>
                <a:srgbClr val="000000"/>
              </a:solidFill>
              <a:latin typeface="Arial Narrow" panose="020B0606020202030204" pitchFamily="34" charset="0"/>
            </a:endParaRPr>
          </a:p>
          <a:p>
            <a:pPr marL="342900" indent="-342900" algn="just">
              <a:lnSpc>
                <a:spcPct val="150000"/>
              </a:lnSpc>
              <a:buFont typeface="Wingdings" panose="05000000000000000000" pitchFamily="2" charset="2"/>
              <a:buChar char="Ø"/>
            </a:pPr>
            <a:r>
              <a:rPr lang="de-DE" i="0" u="none" strike="noStrike" baseline="0" dirty="0">
                <a:solidFill>
                  <a:srgbClr val="000000"/>
                </a:solidFill>
                <a:latin typeface="Arial Narrow" panose="020B0606020202030204" pitchFamily="34" charset="0"/>
              </a:rPr>
              <a:t>Anti-Nutritional factors</a:t>
            </a:r>
            <a:r>
              <a:rPr lang="de-DE" b="0" i="0" u="none" strike="noStrike" baseline="0" dirty="0">
                <a:solidFill>
                  <a:srgbClr val="000000"/>
                </a:solidFill>
                <a:latin typeface="Arial Narrow" panose="020B0606020202030204" pitchFamily="34" charset="0"/>
              </a:rPr>
              <a:t>: these are biological compounds present in feed ingredient that cause disease in fish and thus reduce nutrient utilization and fish growth. </a:t>
            </a:r>
          </a:p>
          <a:p>
            <a:pPr marL="342900" indent="-342900" algn="just">
              <a:lnSpc>
                <a:spcPct val="150000"/>
              </a:lnSpc>
              <a:buFont typeface="Wingdings" panose="05000000000000000000" pitchFamily="2" charset="2"/>
              <a:buChar char="q"/>
            </a:pPr>
            <a:r>
              <a:rPr lang="de-DE" b="0" i="0" u="none" strike="noStrike" baseline="0" dirty="0">
                <a:solidFill>
                  <a:srgbClr val="000000"/>
                </a:solidFill>
                <a:latin typeface="Arial Narrow" panose="020B0606020202030204" pitchFamily="34" charset="0"/>
              </a:rPr>
              <a:t>Anti-nutritional factors include: gossypol, tannin, saponin, cyanogenic glycosides, lectins, protease inhibitors, toxic amino acid etc. </a:t>
            </a:r>
            <a:endParaRPr lang="en-ZM" b="0" i="0" u="none" strike="noStrike" baseline="0" dirty="0">
              <a:solidFill>
                <a:srgbClr val="000000"/>
              </a:solidFill>
              <a:latin typeface="Arial Narrow" panose="020B0606020202030204" pitchFamily="34" charset="0"/>
            </a:endParaRPr>
          </a:p>
          <a:p>
            <a:pPr marL="342900" indent="-342900" algn="just">
              <a:buFont typeface="Wingdings" panose="05000000000000000000" pitchFamily="2" charset="2"/>
              <a:buChar char="Ø"/>
            </a:pPr>
            <a:r>
              <a:rPr lang="en-GB" i="0" u="none" strike="noStrike" baseline="0" dirty="0">
                <a:solidFill>
                  <a:srgbClr val="000000"/>
                </a:solidFill>
                <a:latin typeface="Arial Narrow" panose="020B0606020202030204" pitchFamily="34" charset="0"/>
              </a:rPr>
              <a:t>Danger-free: </a:t>
            </a:r>
            <a:r>
              <a:rPr lang="en-GB" b="0" i="0" u="none" strike="noStrike" baseline="0" dirty="0">
                <a:solidFill>
                  <a:srgbClr val="000000"/>
                </a:solidFill>
                <a:latin typeface="Arial Narrow" panose="020B0606020202030204" pitchFamily="34" charset="0"/>
              </a:rPr>
              <a:t>some feed ingredients may contain harmful substances like plastic, pieces of metals, nylon and even heavy metals. </a:t>
            </a:r>
          </a:p>
          <a:p>
            <a:pPr marL="342900" indent="-342900" algn="just">
              <a:buFont typeface="Wingdings" panose="05000000000000000000" pitchFamily="2" charset="2"/>
              <a:buChar char="Ø"/>
            </a:pPr>
            <a:r>
              <a:rPr lang="en-GB" b="0" i="0" u="none" strike="noStrike" baseline="0" dirty="0">
                <a:solidFill>
                  <a:srgbClr val="000000"/>
                </a:solidFill>
                <a:latin typeface="Arial Narrow" panose="020B0606020202030204" pitchFamily="34" charset="0"/>
              </a:rPr>
              <a:t> </a:t>
            </a:r>
            <a:r>
              <a:rPr lang="en-GB" i="0" u="none" strike="noStrike" baseline="0" dirty="0">
                <a:solidFill>
                  <a:srgbClr val="000000"/>
                </a:solidFill>
                <a:latin typeface="Arial Narrow" panose="020B0606020202030204" pitchFamily="34" charset="0"/>
              </a:rPr>
              <a:t>Stability: </a:t>
            </a:r>
            <a:r>
              <a:rPr lang="en-GB" b="0" i="0" u="none" strike="noStrike" baseline="0" dirty="0">
                <a:solidFill>
                  <a:srgbClr val="000000"/>
                </a:solidFill>
                <a:latin typeface="Arial Narrow" panose="020B0606020202030204" pitchFamily="34" charset="0"/>
              </a:rPr>
              <a:t>this is the ability of feed ingredients to maintain unchanged quality when stored. </a:t>
            </a:r>
          </a:p>
          <a:p>
            <a:pPr algn="just">
              <a:lnSpc>
                <a:spcPct val="150000"/>
              </a:lnSpc>
            </a:pPr>
            <a:endParaRPr lang="en-GB" dirty="0">
              <a:solidFill>
                <a:srgbClr val="000000"/>
              </a:solidFill>
              <a:latin typeface="Arial Narrow" panose="020B0606020202030204" pitchFamily="34" charset="0"/>
            </a:endParaRPr>
          </a:p>
          <a:p>
            <a:pPr algn="just">
              <a:lnSpc>
                <a:spcPct val="150000"/>
              </a:lnSpc>
            </a:pPr>
            <a:endParaRPr lang="en-GB" b="0" i="0" u="none" strike="noStrike" baseline="0" dirty="0">
              <a:solidFill>
                <a:srgbClr val="000000"/>
              </a:solidFill>
              <a:latin typeface="Arial Narrow" panose="020B0606020202030204" pitchFamily="34" charset="0"/>
            </a:endParaRPr>
          </a:p>
          <a:p>
            <a:pPr algn="just"/>
            <a:endParaRPr lang="en-ZM" dirty="0">
              <a:solidFill>
                <a:srgbClr val="FF0000"/>
              </a:solidFill>
              <a:latin typeface="Arial Narrow" panose="020B0606020202030204" pitchFamily="34" charset="0"/>
            </a:endParaRPr>
          </a:p>
        </p:txBody>
      </p:sp>
    </p:spTree>
    <p:extLst>
      <p:ext uri="{BB962C8B-B14F-4D97-AF65-F5344CB8AC3E}">
        <p14:creationId xmlns:p14="http://schemas.microsoft.com/office/powerpoint/2010/main" val="2510199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879DF-704F-A00D-572B-E7C7A52AE7B4}"/>
              </a:ext>
            </a:extLst>
          </p:cNvPr>
          <p:cNvSpPr>
            <a:spLocks noGrp="1"/>
          </p:cNvSpPr>
          <p:nvPr>
            <p:ph type="ctrTitle"/>
          </p:nvPr>
        </p:nvSpPr>
        <p:spPr>
          <a:xfrm>
            <a:off x="255639" y="399181"/>
            <a:ext cx="11533238" cy="820019"/>
          </a:xfrm>
        </p:spPr>
        <p:txBody>
          <a:bodyPr>
            <a:normAutofit fontScale="90000"/>
          </a:bodyPr>
          <a:lstStyle/>
          <a:p>
            <a:r>
              <a:rPr lang="en-GB" sz="5400" b="1" dirty="0">
                <a:latin typeface="Arial Narrow" panose="020B0606020202030204" pitchFamily="34" charset="0"/>
              </a:rPr>
              <a:t>INTRODUCTION</a:t>
            </a:r>
            <a:endParaRPr lang="en-ZM" sz="5400" b="1" dirty="0">
              <a:latin typeface="Arial Narrow" panose="020B0606020202030204" pitchFamily="34" charset="0"/>
            </a:endParaRPr>
          </a:p>
        </p:txBody>
      </p:sp>
      <p:sp>
        <p:nvSpPr>
          <p:cNvPr id="3" name="Subtitle 2">
            <a:extLst>
              <a:ext uri="{FF2B5EF4-FFF2-40B4-BE49-F238E27FC236}">
                <a16:creationId xmlns:a16="http://schemas.microsoft.com/office/drawing/2014/main" id="{6107AEAB-3800-9DC8-32E6-AB24BBF3E56C}"/>
              </a:ext>
            </a:extLst>
          </p:cNvPr>
          <p:cNvSpPr>
            <a:spLocks noGrp="1"/>
          </p:cNvSpPr>
          <p:nvPr>
            <p:ph type="subTitle" idx="1"/>
          </p:nvPr>
        </p:nvSpPr>
        <p:spPr>
          <a:xfrm>
            <a:off x="2025445" y="1406013"/>
            <a:ext cx="8141110" cy="5121632"/>
          </a:xfrm>
        </p:spPr>
        <p:txBody>
          <a:bodyPr>
            <a:normAutofit/>
          </a:bodyPr>
          <a:lstStyle/>
          <a:p>
            <a:pPr algn="just">
              <a:lnSpc>
                <a:spcPct val="150000"/>
              </a:lnSpc>
            </a:pPr>
            <a:r>
              <a:rPr lang="en-GB" dirty="0">
                <a:solidFill>
                  <a:srgbClr val="FF0000"/>
                </a:solidFill>
                <a:latin typeface="Arial Narrow" panose="020B0606020202030204" pitchFamily="34" charset="0"/>
              </a:rPr>
              <a:t>WHAT IS THE MEANING OF THE FOLLOWING STATEMENT?</a:t>
            </a:r>
          </a:p>
          <a:p>
            <a:pPr algn="just">
              <a:lnSpc>
                <a:spcPct val="150000"/>
              </a:lnSpc>
            </a:pPr>
            <a:endParaRPr lang="en-GB" dirty="0">
              <a:solidFill>
                <a:srgbClr val="FF0000"/>
              </a:solidFill>
              <a:latin typeface="Arial Narrow" panose="020B0606020202030204" pitchFamily="34" charset="0"/>
            </a:endParaRPr>
          </a:p>
          <a:p>
            <a:pPr marL="342900" indent="-342900" algn="just">
              <a:lnSpc>
                <a:spcPct val="150000"/>
              </a:lnSpc>
              <a:buFont typeface="Wingdings" panose="05000000000000000000" pitchFamily="2" charset="2"/>
              <a:buChar char="q"/>
            </a:pPr>
            <a:r>
              <a:rPr lang="en-GB" b="0" i="0" u="none" strike="noStrike" baseline="0" dirty="0">
                <a:latin typeface="Arial Narrow" panose="020B0606020202030204" pitchFamily="34" charset="0"/>
              </a:rPr>
              <a:t>A feed is only as good as its ingredients</a:t>
            </a:r>
            <a:r>
              <a:rPr lang="en-GB" dirty="0">
                <a:solidFill>
                  <a:srgbClr val="FF0000"/>
                </a:solidFill>
                <a:latin typeface="Arial Narrow" panose="020B0606020202030204" pitchFamily="34" charset="0"/>
              </a:rPr>
              <a:t>.</a:t>
            </a:r>
            <a:endParaRPr lang="en-ZM" dirty="0">
              <a:solidFill>
                <a:srgbClr val="FF0000"/>
              </a:solidFill>
              <a:latin typeface="Arial Narrow" panose="020B0606020202030204" pitchFamily="34" charset="0"/>
            </a:endParaRPr>
          </a:p>
        </p:txBody>
      </p:sp>
    </p:spTree>
    <p:extLst>
      <p:ext uri="{BB962C8B-B14F-4D97-AF65-F5344CB8AC3E}">
        <p14:creationId xmlns:p14="http://schemas.microsoft.com/office/powerpoint/2010/main" val="26794742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879DF-704F-A00D-572B-E7C7A52AE7B4}"/>
              </a:ext>
            </a:extLst>
          </p:cNvPr>
          <p:cNvSpPr>
            <a:spLocks noGrp="1"/>
          </p:cNvSpPr>
          <p:nvPr>
            <p:ph type="ctrTitle"/>
          </p:nvPr>
        </p:nvSpPr>
        <p:spPr>
          <a:xfrm>
            <a:off x="255639" y="399181"/>
            <a:ext cx="11533238" cy="820019"/>
          </a:xfrm>
        </p:spPr>
        <p:txBody>
          <a:bodyPr>
            <a:normAutofit fontScale="90000"/>
          </a:bodyPr>
          <a:lstStyle/>
          <a:p>
            <a:r>
              <a:rPr lang="en-GB" sz="5400" b="1" dirty="0">
                <a:latin typeface="Arial Narrow" panose="020B0606020202030204" pitchFamily="34" charset="0"/>
              </a:rPr>
              <a:t>INTRODUCTION</a:t>
            </a:r>
            <a:endParaRPr lang="en-ZM" sz="5400" b="1" dirty="0">
              <a:latin typeface="Arial Narrow" panose="020B0606020202030204" pitchFamily="34" charset="0"/>
            </a:endParaRPr>
          </a:p>
        </p:txBody>
      </p:sp>
      <p:sp>
        <p:nvSpPr>
          <p:cNvPr id="3" name="Subtitle 2">
            <a:extLst>
              <a:ext uri="{FF2B5EF4-FFF2-40B4-BE49-F238E27FC236}">
                <a16:creationId xmlns:a16="http://schemas.microsoft.com/office/drawing/2014/main" id="{6107AEAB-3800-9DC8-32E6-AB24BBF3E56C}"/>
              </a:ext>
            </a:extLst>
          </p:cNvPr>
          <p:cNvSpPr>
            <a:spLocks noGrp="1"/>
          </p:cNvSpPr>
          <p:nvPr>
            <p:ph type="subTitle" idx="1"/>
          </p:nvPr>
        </p:nvSpPr>
        <p:spPr>
          <a:xfrm>
            <a:off x="619432" y="1337187"/>
            <a:ext cx="11041626" cy="5121632"/>
          </a:xfrm>
        </p:spPr>
        <p:txBody>
          <a:bodyPr>
            <a:normAutofit/>
          </a:bodyPr>
          <a:lstStyle/>
          <a:p>
            <a:pPr algn="just">
              <a:lnSpc>
                <a:spcPct val="150000"/>
              </a:lnSpc>
            </a:pPr>
            <a:r>
              <a:rPr lang="de-DE" b="0" i="0" u="none" strike="noStrike" baseline="0" dirty="0">
                <a:solidFill>
                  <a:srgbClr val="000000"/>
                </a:solidFill>
                <a:latin typeface="Arial Narrow" panose="020B0606020202030204" pitchFamily="34" charset="0"/>
              </a:rPr>
              <a:t>No single feed ingredient can supply all the nutrients and energy required for optimal growth;as such, a mixture of feed ingredient is combined to produce a diet with the desired nutrient profile of target species.</a:t>
            </a:r>
          </a:p>
          <a:p>
            <a:pPr algn="just"/>
            <a:endParaRPr lang="en-ZM" dirty="0">
              <a:solidFill>
                <a:srgbClr val="FF0000"/>
              </a:solidFill>
              <a:latin typeface="Arial Narrow" panose="020B0606020202030204" pitchFamily="34" charset="0"/>
            </a:endParaRPr>
          </a:p>
        </p:txBody>
      </p:sp>
    </p:spTree>
    <p:extLst>
      <p:ext uri="{BB962C8B-B14F-4D97-AF65-F5344CB8AC3E}">
        <p14:creationId xmlns:p14="http://schemas.microsoft.com/office/powerpoint/2010/main" val="12547302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879DF-704F-A00D-572B-E7C7A52AE7B4}"/>
              </a:ext>
            </a:extLst>
          </p:cNvPr>
          <p:cNvSpPr>
            <a:spLocks noGrp="1"/>
          </p:cNvSpPr>
          <p:nvPr>
            <p:ph type="ctrTitle"/>
          </p:nvPr>
        </p:nvSpPr>
        <p:spPr>
          <a:xfrm>
            <a:off x="255639" y="399181"/>
            <a:ext cx="11533238" cy="820019"/>
          </a:xfrm>
        </p:spPr>
        <p:txBody>
          <a:bodyPr>
            <a:normAutofit fontScale="90000"/>
          </a:bodyPr>
          <a:lstStyle/>
          <a:p>
            <a:r>
              <a:rPr lang="en-GB" sz="5400" b="1" dirty="0">
                <a:latin typeface="Arial Narrow" panose="020B0606020202030204" pitchFamily="34" charset="0"/>
              </a:rPr>
              <a:t>FEED STUFFS</a:t>
            </a:r>
            <a:endParaRPr lang="en-ZM" sz="5400" b="1" dirty="0">
              <a:latin typeface="Arial Narrow" panose="020B0606020202030204" pitchFamily="34" charset="0"/>
            </a:endParaRPr>
          </a:p>
        </p:txBody>
      </p:sp>
      <p:sp>
        <p:nvSpPr>
          <p:cNvPr id="3" name="Subtitle 2">
            <a:extLst>
              <a:ext uri="{FF2B5EF4-FFF2-40B4-BE49-F238E27FC236}">
                <a16:creationId xmlns:a16="http://schemas.microsoft.com/office/drawing/2014/main" id="{6107AEAB-3800-9DC8-32E6-AB24BBF3E56C}"/>
              </a:ext>
            </a:extLst>
          </p:cNvPr>
          <p:cNvSpPr>
            <a:spLocks noGrp="1"/>
          </p:cNvSpPr>
          <p:nvPr>
            <p:ph type="subTitle" idx="1"/>
          </p:nvPr>
        </p:nvSpPr>
        <p:spPr>
          <a:xfrm>
            <a:off x="1838631" y="1337187"/>
            <a:ext cx="9016181" cy="5121632"/>
          </a:xfrm>
        </p:spPr>
        <p:txBody>
          <a:bodyPr>
            <a:normAutofit/>
          </a:bodyPr>
          <a:lstStyle/>
          <a:p>
            <a:pPr marL="342900" indent="-342900" algn="just">
              <a:lnSpc>
                <a:spcPct val="150000"/>
              </a:lnSpc>
              <a:buFont typeface="Wingdings" panose="05000000000000000000" pitchFamily="2" charset="2"/>
              <a:buChar char="q"/>
            </a:pPr>
            <a:r>
              <a:rPr lang="en-GB" b="0" i="0" u="none" strike="noStrike" baseline="0" dirty="0">
                <a:solidFill>
                  <a:srgbClr val="000000"/>
                </a:solidFill>
                <a:latin typeface="Arial Narrow" panose="020B0606020202030204" pitchFamily="34" charset="0"/>
              </a:rPr>
              <a:t>Feedstuffs are ingredients used to manufacture fish feeds. </a:t>
            </a:r>
          </a:p>
          <a:p>
            <a:pPr marL="342900" indent="-342900" algn="just">
              <a:lnSpc>
                <a:spcPct val="150000"/>
              </a:lnSpc>
              <a:buFont typeface="Wingdings" panose="05000000000000000000" pitchFamily="2" charset="2"/>
              <a:buChar char="q"/>
            </a:pPr>
            <a:r>
              <a:rPr lang="en-GB" b="0" i="0" u="none" strike="noStrike" baseline="0" dirty="0">
                <a:solidFill>
                  <a:srgbClr val="000000"/>
                </a:solidFill>
                <a:latin typeface="Arial Narrow" panose="020B0606020202030204" pitchFamily="34" charset="0"/>
              </a:rPr>
              <a:t>Artificial feeds are produced by carefully selecting and blending ingredients to provide highly nutritional diets that induce high growth, maintain the health of the fish and increase the quality of fish flesh and associated end products as fish oil and fish eggs. </a:t>
            </a:r>
            <a:endParaRPr lang="en-ZM" dirty="0">
              <a:solidFill>
                <a:srgbClr val="FF0000"/>
              </a:solidFill>
              <a:latin typeface="Arial Narrow" panose="020B0606020202030204" pitchFamily="34" charset="0"/>
            </a:endParaRPr>
          </a:p>
        </p:txBody>
      </p:sp>
    </p:spTree>
    <p:extLst>
      <p:ext uri="{BB962C8B-B14F-4D97-AF65-F5344CB8AC3E}">
        <p14:creationId xmlns:p14="http://schemas.microsoft.com/office/powerpoint/2010/main" val="5391219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879DF-704F-A00D-572B-E7C7A52AE7B4}"/>
              </a:ext>
            </a:extLst>
          </p:cNvPr>
          <p:cNvSpPr>
            <a:spLocks noGrp="1"/>
          </p:cNvSpPr>
          <p:nvPr>
            <p:ph type="ctrTitle"/>
          </p:nvPr>
        </p:nvSpPr>
        <p:spPr>
          <a:xfrm>
            <a:off x="255639" y="399181"/>
            <a:ext cx="11533238" cy="820019"/>
          </a:xfrm>
        </p:spPr>
        <p:txBody>
          <a:bodyPr>
            <a:normAutofit fontScale="90000"/>
          </a:bodyPr>
          <a:lstStyle/>
          <a:p>
            <a:r>
              <a:rPr lang="en-GB" sz="5400" b="1" dirty="0">
                <a:latin typeface="Arial Narrow" panose="020B0606020202030204" pitchFamily="34" charset="0"/>
              </a:rPr>
              <a:t>FEED STUFFS</a:t>
            </a:r>
            <a:endParaRPr lang="en-ZM" sz="5400" b="1" dirty="0">
              <a:latin typeface="Arial Narrow" panose="020B0606020202030204" pitchFamily="34" charset="0"/>
            </a:endParaRPr>
          </a:p>
        </p:txBody>
      </p:sp>
      <p:sp>
        <p:nvSpPr>
          <p:cNvPr id="3" name="Subtitle 2">
            <a:extLst>
              <a:ext uri="{FF2B5EF4-FFF2-40B4-BE49-F238E27FC236}">
                <a16:creationId xmlns:a16="http://schemas.microsoft.com/office/drawing/2014/main" id="{6107AEAB-3800-9DC8-32E6-AB24BBF3E56C}"/>
              </a:ext>
            </a:extLst>
          </p:cNvPr>
          <p:cNvSpPr>
            <a:spLocks noGrp="1"/>
          </p:cNvSpPr>
          <p:nvPr>
            <p:ph type="subTitle" idx="1"/>
          </p:nvPr>
        </p:nvSpPr>
        <p:spPr>
          <a:xfrm>
            <a:off x="1838631" y="1337187"/>
            <a:ext cx="9016181" cy="5121632"/>
          </a:xfrm>
        </p:spPr>
        <p:txBody>
          <a:bodyPr>
            <a:normAutofit/>
          </a:bodyPr>
          <a:lstStyle/>
          <a:p>
            <a:pPr marL="342900" indent="-342900" algn="just">
              <a:lnSpc>
                <a:spcPct val="150000"/>
              </a:lnSpc>
              <a:buFont typeface="Wingdings" panose="05000000000000000000" pitchFamily="2" charset="2"/>
              <a:buChar char="q"/>
            </a:pPr>
            <a:r>
              <a:rPr lang="en-GB" b="0" i="0" u="none" strike="noStrike" baseline="0" dirty="0">
                <a:solidFill>
                  <a:srgbClr val="000000"/>
                </a:solidFill>
                <a:latin typeface="Arial Narrow" panose="020B0606020202030204" pitchFamily="34" charset="0"/>
              </a:rPr>
              <a:t>Feeds and feed stuffs contain the energy and nutrients essential for the growth, reproduction and health of aquatic animals. </a:t>
            </a:r>
          </a:p>
          <a:p>
            <a:pPr marL="342900" indent="-342900" algn="just">
              <a:lnSpc>
                <a:spcPct val="150000"/>
              </a:lnSpc>
              <a:buFont typeface="Wingdings" panose="05000000000000000000" pitchFamily="2" charset="2"/>
              <a:buChar char="q"/>
            </a:pPr>
            <a:r>
              <a:rPr lang="en-GB" b="0" i="0" u="none" strike="noStrike" baseline="0" dirty="0">
                <a:solidFill>
                  <a:srgbClr val="000000"/>
                </a:solidFill>
                <a:latin typeface="Arial Narrow" panose="020B0606020202030204" pitchFamily="34" charset="0"/>
              </a:rPr>
              <a:t>Dietary nutrients are essential for the construction of living tissues. </a:t>
            </a:r>
          </a:p>
          <a:p>
            <a:pPr marL="342900" indent="-342900" algn="just">
              <a:lnSpc>
                <a:spcPct val="150000"/>
              </a:lnSpc>
              <a:buFont typeface="Wingdings" panose="05000000000000000000" pitchFamily="2" charset="2"/>
              <a:buChar char="q"/>
            </a:pPr>
            <a:r>
              <a:rPr lang="en-GB" b="0" i="0" u="none" strike="noStrike" baseline="0" dirty="0">
                <a:solidFill>
                  <a:srgbClr val="000000"/>
                </a:solidFill>
                <a:latin typeface="Arial Narrow" panose="020B0606020202030204" pitchFamily="34" charset="0"/>
              </a:rPr>
              <a:t>They also are a source of stored energy for fish digestion, growth, reproduction and the other life processes. </a:t>
            </a:r>
            <a:endParaRPr lang="en-ZM" dirty="0">
              <a:solidFill>
                <a:srgbClr val="FF0000"/>
              </a:solidFill>
              <a:latin typeface="Arial Narrow" panose="020B0606020202030204" pitchFamily="34" charset="0"/>
            </a:endParaRPr>
          </a:p>
        </p:txBody>
      </p:sp>
    </p:spTree>
    <p:extLst>
      <p:ext uri="{BB962C8B-B14F-4D97-AF65-F5344CB8AC3E}">
        <p14:creationId xmlns:p14="http://schemas.microsoft.com/office/powerpoint/2010/main" val="11537184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879DF-704F-A00D-572B-E7C7A52AE7B4}"/>
              </a:ext>
            </a:extLst>
          </p:cNvPr>
          <p:cNvSpPr>
            <a:spLocks noGrp="1"/>
          </p:cNvSpPr>
          <p:nvPr>
            <p:ph type="ctrTitle"/>
          </p:nvPr>
        </p:nvSpPr>
        <p:spPr>
          <a:xfrm>
            <a:off x="255639" y="399181"/>
            <a:ext cx="11533238" cy="820019"/>
          </a:xfrm>
        </p:spPr>
        <p:txBody>
          <a:bodyPr>
            <a:normAutofit fontScale="90000"/>
          </a:bodyPr>
          <a:lstStyle/>
          <a:p>
            <a:r>
              <a:rPr lang="en-GB" sz="5400" b="1" dirty="0">
                <a:latin typeface="Arial Narrow" panose="020B0606020202030204" pitchFamily="34" charset="0"/>
              </a:rPr>
              <a:t>FEED STUFFS</a:t>
            </a:r>
            <a:endParaRPr lang="en-ZM" sz="5400" b="1" dirty="0">
              <a:latin typeface="Arial Narrow" panose="020B0606020202030204" pitchFamily="34" charset="0"/>
            </a:endParaRPr>
          </a:p>
        </p:txBody>
      </p:sp>
      <p:sp>
        <p:nvSpPr>
          <p:cNvPr id="3" name="Subtitle 2">
            <a:extLst>
              <a:ext uri="{FF2B5EF4-FFF2-40B4-BE49-F238E27FC236}">
                <a16:creationId xmlns:a16="http://schemas.microsoft.com/office/drawing/2014/main" id="{6107AEAB-3800-9DC8-32E6-AB24BBF3E56C}"/>
              </a:ext>
            </a:extLst>
          </p:cNvPr>
          <p:cNvSpPr>
            <a:spLocks noGrp="1"/>
          </p:cNvSpPr>
          <p:nvPr>
            <p:ph type="subTitle" idx="1"/>
          </p:nvPr>
        </p:nvSpPr>
        <p:spPr>
          <a:xfrm>
            <a:off x="1838631" y="1337187"/>
            <a:ext cx="9016181" cy="5121632"/>
          </a:xfrm>
        </p:spPr>
        <p:txBody>
          <a:bodyPr>
            <a:normAutofit/>
          </a:bodyPr>
          <a:lstStyle/>
          <a:p>
            <a:pPr marL="342900" indent="-342900" algn="just">
              <a:lnSpc>
                <a:spcPct val="150000"/>
              </a:lnSpc>
              <a:buFont typeface="Wingdings" panose="05000000000000000000" pitchFamily="2" charset="2"/>
              <a:buChar char="q"/>
            </a:pPr>
            <a:r>
              <a:rPr lang="en-GB" b="0" i="0" u="none" strike="noStrike" baseline="0" dirty="0">
                <a:solidFill>
                  <a:srgbClr val="000000"/>
                </a:solidFill>
                <a:latin typeface="Arial Narrow" panose="020B0606020202030204" pitchFamily="34" charset="0"/>
              </a:rPr>
              <a:t>Feedstuffs for fish could be dry or wet but Dry feedstuffs are easy to store, transport and distribute to farmers or end users. </a:t>
            </a:r>
          </a:p>
          <a:p>
            <a:pPr marL="342900" indent="-342900" algn="just">
              <a:lnSpc>
                <a:spcPct val="150000"/>
              </a:lnSpc>
              <a:buFont typeface="Wingdings" panose="05000000000000000000" pitchFamily="2" charset="2"/>
              <a:buChar char="q"/>
            </a:pPr>
            <a:r>
              <a:rPr lang="en-GB" b="0" i="0" u="none" strike="noStrike" baseline="0" dirty="0">
                <a:solidFill>
                  <a:srgbClr val="000000"/>
                </a:solidFill>
                <a:latin typeface="Arial Narrow" panose="020B0606020202030204" pitchFamily="34" charset="0"/>
              </a:rPr>
              <a:t>Examples of dry feedstuff include: palm kernel cake, soy bean meal, fish meal, cereals etc. On the other hand, wet feedstuffs require special treatment before they can be fed to fish.</a:t>
            </a:r>
          </a:p>
          <a:p>
            <a:pPr marL="342900" indent="-342900" algn="just">
              <a:lnSpc>
                <a:spcPct val="150000"/>
              </a:lnSpc>
              <a:buFont typeface="Wingdings" panose="05000000000000000000" pitchFamily="2" charset="2"/>
              <a:buChar char="q"/>
            </a:pPr>
            <a:r>
              <a:rPr lang="en-GB" b="0" i="0" u="none" strike="noStrike" baseline="0" dirty="0">
                <a:solidFill>
                  <a:srgbClr val="000000"/>
                </a:solidFill>
                <a:latin typeface="Arial Narrow" panose="020B0606020202030204" pitchFamily="34" charset="0"/>
              </a:rPr>
              <a:t>Examples of wet feedstuffs include: brewery waste and molasses. </a:t>
            </a:r>
            <a:endParaRPr lang="en-ZM" dirty="0">
              <a:solidFill>
                <a:srgbClr val="FF0000"/>
              </a:solidFill>
              <a:latin typeface="Arial Narrow" panose="020B0606020202030204" pitchFamily="34" charset="0"/>
            </a:endParaRPr>
          </a:p>
        </p:txBody>
      </p:sp>
    </p:spTree>
    <p:extLst>
      <p:ext uri="{BB962C8B-B14F-4D97-AF65-F5344CB8AC3E}">
        <p14:creationId xmlns:p14="http://schemas.microsoft.com/office/powerpoint/2010/main" val="24867324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879DF-704F-A00D-572B-E7C7A52AE7B4}"/>
              </a:ext>
            </a:extLst>
          </p:cNvPr>
          <p:cNvSpPr>
            <a:spLocks noGrp="1"/>
          </p:cNvSpPr>
          <p:nvPr>
            <p:ph type="ctrTitle"/>
          </p:nvPr>
        </p:nvSpPr>
        <p:spPr>
          <a:xfrm>
            <a:off x="255639" y="399181"/>
            <a:ext cx="11533238" cy="820019"/>
          </a:xfrm>
        </p:spPr>
        <p:txBody>
          <a:bodyPr>
            <a:normAutofit fontScale="90000"/>
          </a:bodyPr>
          <a:lstStyle/>
          <a:p>
            <a:r>
              <a:rPr lang="en-GB" sz="5400" b="1" dirty="0">
                <a:latin typeface="Arial Narrow" panose="020B0606020202030204" pitchFamily="34" charset="0"/>
              </a:rPr>
              <a:t>FEED STUFFS</a:t>
            </a:r>
            <a:endParaRPr lang="en-ZM" sz="5400" b="1" dirty="0">
              <a:latin typeface="Arial Narrow" panose="020B0606020202030204" pitchFamily="34" charset="0"/>
            </a:endParaRPr>
          </a:p>
        </p:txBody>
      </p:sp>
      <p:pic>
        <p:nvPicPr>
          <p:cNvPr id="9" name="Picture 8">
            <a:extLst>
              <a:ext uri="{FF2B5EF4-FFF2-40B4-BE49-F238E27FC236}">
                <a16:creationId xmlns:a16="http://schemas.microsoft.com/office/drawing/2014/main" id="{F32B1BEE-5932-B45B-EFFD-BE5D3410DB72}"/>
              </a:ext>
            </a:extLst>
          </p:cNvPr>
          <p:cNvPicPr>
            <a:picLocks noChangeAspect="1"/>
          </p:cNvPicPr>
          <p:nvPr/>
        </p:nvPicPr>
        <p:blipFill>
          <a:blip r:embed="rId2"/>
          <a:stretch>
            <a:fillRect/>
          </a:stretch>
        </p:blipFill>
        <p:spPr>
          <a:xfrm>
            <a:off x="1842339" y="1362762"/>
            <a:ext cx="8055038" cy="5410669"/>
          </a:xfrm>
          <a:prstGeom prst="rect">
            <a:avLst/>
          </a:prstGeom>
        </p:spPr>
      </p:pic>
    </p:spTree>
    <p:extLst>
      <p:ext uri="{BB962C8B-B14F-4D97-AF65-F5344CB8AC3E}">
        <p14:creationId xmlns:p14="http://schemas.microsoft.com/office/powerpoint/2010/main" val="9546550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879DF-704F-A00D-572B-E7C7A52AE7B4}"/>
              </a:ext>
            </a:extLst>
          </p:cNvPr>
          <p:cNvSpPr>
            <a:spLocks noGrp="1"/>
          </p:cNvSpPr>
          <p:nvPr>
            <p:ph type="ctrTitle"/>
          </p:nvPr>
        </p:nvSpPr>
        <p:spPr>
          <a:xfrm>
            <a:off x="255639" y="399181"/>
            <a:ext cx="11533238" cy="820019"/>
          </a:xfrm>
        </p:spPr>
        <p:txBody>
          <a:bodyPr>
            <a:normAutofit fontScale="90000"/>
          </a:bodyPr>
          <a:lstStyle/>
          <a:p>
            <a:r>
              <a:rPr lang="en-GB" sz="5400" b="1" dirty="0">
                <a:latin typeface="Arial Narrow" panose="020B0606020202030204" pitchFamily="34" charset="0"/>
              </a:rPr>
              <a:t>FEED STUFFS</a:t>
            </a:r>
            <a:endParaRPr lang="en-ZM" sz="5400" b="1" dirty="0">
              <a:latin typeface="Arial Narrow" panose="020B0606020202030204" pitchFamily="34" charset="0"/>
            </a:endParaRPr>
          </a:p>
        </p:txBody>
      </p:sp>
      <p:pic>
        <p:nvPicPr>
          <p:cNvPr id="7" name="Picture 6">
            <a:extLst>
              <a:ext uri="{FF2B5EF4-FFF2-40B4-BE49-F238E27FC236}">
                <a16:creationId xmlns:a16="http://schemas.microsoft.com/office/drawing/2014/main" id="{A103EE52-D663-CDBA-7FEF-E28F5A26A902}"/>
              </a:ext>
            </a:extLst>
          </p:cNvPr>
          <p:cNvPicPr>
            <a:picLocks noChangeAspect="1"/>
          </p:cNvPicPr>
          <p:nvPr/>
        </p:nvPicPr>
        <p:blipFill>
          <a:blip r:embed="rId2"/>
          <a:stretch>
            <a:fillRect/>
          </a:stretch>
        </p:blipFill>
        <p:spPr>
          <a:xfrm>
            <a:off x="1477880" y="1390687"/>
            <a:ext cx="9236240" cy="4823878"/>
          </a:xfrm>
          <a:prstGeom prst="rect">
            <a:avLst/>
          </a:prstGeom>
        </p:spPr>
      </p:pic>
    </p:spTree>
    <p:extLst>
      <p:ext uri="{BB962C8B-B14F-4D97-AF65-F5344CB8AC3E}">
        <p14:creationId xmlns:p14="http://schemas.microsoft.com/office/powerpoint/2010/main" val="4857144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879DF-704F-A00D-572B-E7C7A52AE7B4}"/>
              </a:ext>
            </a:extLst>
          </p:cNvPr>
          <p:cNvSpPr>
            <a:spLocks noGrp="1"/>
          </p:cNvSpPr>
          <p:nvPr>
            <p:ph type="ctrTitle"/>
          </p:nvPr>
        </p:nvSpPr>
        <p:spPr>
          <a:xfrm>
            <a:off x="255639" y="399181"/>
            <a:ext cx="11533238" cy="820019"/>
          </a:xfrm>
        </p:spPr>
        <p:txBody>
          <a:bodyPr>
            <a:normAutofit fontScale="90000"/>
          </a:bodyPr>
          <a:lstStyle/>
          <a:p>
            <a:r>
              <a:rPr lang="en-GB" sz="5400" b="1" dirty="0">
                <a:latin typeface="Arial Narrow" panose="020B0606020202030204" pitchFamily="34" charset="0"/>
              </a:rPr>
              <a:t>FEED STUFFS</a:t>
            </a:r>
            <a:endParaRPr lang="en-ZM" sz="5400" b="1" dirty="0">
              <a:latin typeface="Arial Narrow" panose="020B0606020202030204" pitchFamily="34" charset="0"/>
            </a:endParaRPr>
          </a:p>
        </p:txBody>
      </p:sp>
      <p:pic>
        <p:nvPicPr>
          <p:cNvPr id="7" name="Picture 6">
            <a:extLst>
              <a:ext uri="{FF2B5EF4-FFF2-40B4-BE49-F238E27FC236}">
                <a16:creationId xmlns:a16="http://schemas.microsoft.com/office/drawing/2014/main" id="{3DB2F230-402C-429F-8ED0-34109E6372B6}"/>
              </a:ext>
            </a:extLst>
          </p:cNvPr>
          <p:cNvPicPr>
            <a:picLocks noChangeAspect="1"/>
          </p:cNvPicPr>
          <p:nvPr/>
        </p:nvPicPr>
        <p:blipFill>
          <a:blip r:embed="rId2"/>
          <a:stretch>
            <a:fillRect/>
          </a:stretch>
        </p:blipFill>
        <p:spPr>
          <a:xfrm>
            <a:off x="1504552" y="1399533"/>
            <a:ext cx="9182896" cy="4884843"/>
          </a:xfrm>
          <a:prstGeom prst="rect">
            <a:avLst/>
          </a:prstGeom>
        </p:spPr>
      </p:pic>
    </p:spTree>
    <p:extLst>
      <p:ext uri="{BB962C8B-B14F-4D97-AF65-F5344CB8AC3E}">
        <p14:creationId xmlns:p14="http://schemas.microsoft.com/office/powerpoint/2010/main" val="14255089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879DF-704F-A00D-572B-E7C7A52AE7B4}"/>
              </a:ext>
            </a:extLst>
          </p:cNvPr>
          <p:cNvSpPr>
            <a:spLocks noGrp="1"/>
          </p:cNvSpPr>
          <p:nvPr>
            <p:ph type="ctrTitle"/>
          </p:nvPr>
        </p:nvSpPr>
        <p:spPr>
          <a:xfrm>
            <a:off x="255639" y="399181"/>
            <a:ext cx="11533238" cy="820019"/>
          </a:xfrm>
        </p:spPr>
        <p:txBody>
          <a:bodyPr>
            <a:normAutofit fontScale="90000"/>
          </a:bodyPr>
          <a:lstStyle/>
          <a:p>
            <a:r>
              <a:rPr lang="en-GB" sz="5400" kern="100" dirty="0">
                <a:effectLst/>
                <a:latin typeface="Arial Narrow" panose="020B0606020202030204" pitchFamily="34" charset="0"/>
                <a:ea typeface="Calibri" panose="020F0502020204030204" pitchFamily="34" charset="0"/>
                <a:cs typeface="Times New Roman" panose="02020603050405020304" pitchFamily="18" charset="0"/>
              </a:rPr>
              <a:t>Feed ingredients and sources</a:t>
            </a:r>
            <a:endParaRPr lang="en-ZM" sz="5400" b="1" dirty="0">
              <a:latin typeface="Arial Narrow" panose="020B0606020202030204" pitchFamily="34" charset="0"/>
            </a:endParaRPr>
          </a:p>
        </p:txBody>
      </p:sp>
      <p:pic>
        <p:nvPicPr>
          <p:cNvPr id="4" name="Picture 3">
            <a:extLst>
              <a:ext uri="{FF2B5EF4-FFF2-40B4-BE49-F238E27FC236}">
                <a16:creationId xmlns:a16="http://schemas.microsoft.com/office/drawing/2014/main" id="{C9D3F335-FA60-F474-FDF1-0B48E1F6A64E}"/>
              </a:ext>
            </a:extLst>
          </p:cNvPr>
          <p:cNvPicPr>
            <a:picLocks noChangeAspect="1"/>
          </p:cNvPicPr>
          <p:nvPr/>
        </p:nvPicPr>
        <p:blipFill>
          <a:blip r:embed="rId2"/>
          <a:stretch>
            <a:fillRect/>
          </a:stretch>
        </p:blipFill>
        <p:spPr>
          <a:xfrm>
            <a:off x="335250" y="1219200"/>
            <a:ext cx="11374016" cy="5151566"/>
          </a:xfrm>
          <a:prstGeom prst="rect">
            <a:avLst/>
          </a:prstGeom>
        </p:spPr>
      </p:pic>
    </p:spTree>
    <p:extLst>
      <p:ext uri="{BB962C8B-B14F-4D97-AF65-F5344CB8AC3E}">
        <p14:creationId xmlns:p14="http://schemas.microsoft.com/office/powerpoint/2010/main" val="6340827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879DF-704F-A00D-572B-E7C7A52AE7B4}"/>
              </a:ext>
            </a:extLst>
          </p:cNvPr>
          <p:cNvSpPr>
            <a:spLocks noGrp="1"/>
          </p:cNvSpPr>
          <p:nvPr>
            <p:ph type="ctrTitle"/>
          </p:nvPr>
        </p:nvSpPr>
        <p:spPr>
          <a:xfrm>
            <a:off x="255639" y="399181"/>
            <a:ext cx="11533238" cy="820019"/>
          </a:xfrm>
        </p:spPr>
        <p:txBody>
          <a:bodyPr>
            <a:normAutofit fontScale="90000"/>
          </a:bodyPr>
          <a:lstStyle/>
          <a:p>
            <a:r>
              <a:rPr lang="en-GB" sz="5400" kern="100" dirty="0">
                <a:effectLst/>
                <a:latin typeface="Arial Narrow" panose="020B0606020202030204" pitchFamily="34" charset="0"/>
                <a:ea typeface="Calibri" panose="020F0502020204030204" pitchFamily="34" charset="0"/>
                <a:cs typeface="Times New Roman" panose="02020603050405020304" pitchFamily="18" charset="0"/>
              </a:rPr>
              <a:t>Feed ingredients and sources</a:t>
            </a:r>
            <a:endParaRPr lang="en-ZM" sz="5400" b="1" dirty="0">
              <a:latin typeface="Arial Narrow" panose="020B0606020202030204" pitchFamily="34" charset="0"/>
            </a:endParaRPr>
          </a:p>
        </p:txBody>
      </p:sp>
      <p:pic>
        <p:nvPicPr>
          <p:cNvPr id="3" name="Picture 2">
            <a:extLst>
              <a:ext uri="{FF2B5EF4-FFF2-40B4-BE49-F238E27FC236}">
                <a16:creationId xmlns:a16="http://schemas.microsoft.com/office/drawing/2014/main" id="{4C390510-E350-BAB7-E2AA-C3B413D77535}"/>
              </a:ext>
            </a:extLst>
          </p:cNvPr>
          <p:cNvPicPr>
            <a:picLocks noChangeAspect="1"/>
          </p:cNvPicPr>
          <p:nvPr/>
        </p:nvPicPr>
        <p:blipFill>
          <a:blip r:embed="rId2"/>
          <a:stretch>
            <a:fillRect/>
          </a:stretch>
        </p:blipFill>
        <p:spPr>
          <a:xfrm>
            <a:off x="755780" y="1252699"/>
            <a:ext cx="10804849" cy="5372036"/>
          </a:xfrm>
          <a:prstGeom prst="rect">
            <a:avLst/>
          </a:prstGeom>
        </p:spPr>
      </p:pic>
    </p:spTree>
    <p:extLst>
      <p:ext uri="{BB962C8B-B14F-4D97-AF65-F5344CB8AC3E}">
        <p14:creationId xmlns:p14="http://schemas.microsoft.com/office/powerpoint/2010/main" val="8269723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879DF-704F-A00D-572B-E7C7A52AE7B4}"/>
              </a:ext>
            </a:extLst>
          </p:cNvPr>
          <p:cNvSpPr>
            <a:spLocks noGrp="1"/>
          </p:cNvSpPr>
          <p:nvPr>
            <p:ph type="ctrTitle"/>
          </p:nvPr>
        </p:nvSpPr>
        <p:spPr>
          <a:xfrm>
            <a:off x="216310" y="201561"/>
            <a:ext cx="11533238" cy="820019"/>
          </a:xfrm>
        </p:spPr>
        <p:txBody>
          <a:bodyPr>
            <a:normAutofit fontScale="90000"/>
          </a:bodyPr>
          <a:lstStyle/>
          <a:p>
            <a:r>
              <a:rPr lang="en-GB" sz="5400" b="1" dirty="0">
                <a:latin typeface="Arial Narrow" panose="020B0606020202030204" pitchFamily="34" charset="0"/>
              </a:rPr>
              <a:t>FEED STUFFS</a:t>
            </a:r>
            <a:endParaRPr lang="en-ZM" sz="5400" b="1" dirty="0">
              <a:latin typeface="Arial Narrow" panose="020B0606020202030204" pitchFamily="34" charset="0"/>
            </a:endParaRPr>
          </a:p>
        </p:txBody>
      </p:sp>
      <p:sp>
        <p:nvSpPr>
          <p:cNvPr id="3" name="Subtitle 2">
            <a:extLst>
              <a:ext uri="{FF2B5EF4-FFF2-40B4-BE49-F238E27FC236}">
                <a16:creationId xmlns:a16="http://schemas.microsoft.com/office/drawing/2014/main" id="{6107AEAB-3800-9DC8-32E6-AB24BBF3E56C}"/>
              </a:ext>
            </a:extLst>
          </p:cNvPr>
          <p:cNvSpPr>
            <a:spLocks noGrp="1"/>
          </p:cNvSpPr>
          <p:nvPr>
            <p:ph type="subTitle" idx="1"/>
          </p:nvPr>
        </p:nvSpPr>
        <p:spPr>
          <a:xfrm>
            <a:off x="334297" y="904568"/>
            <a:ext cx="11602064" cy="5751871"/>
          </a:xfrm>
        </p:spPr>
        <p:txBody>
          <a:bodyPr>
            <a:noAutofit/>
          </a:bodyPr>
          <a:lstStyle/>
          <a:p>
            <a:pPr algn="just">
              <a:lnSpc>
                <a:spcPct val="150000"/>
              </a:lnSpc>
            </a:pPr>
            <a:r>
              <a:rPr lang="en-GB" b="0" i="0" u="none" strike="noStrike" baseline="0" dirty="0">
                <a:solidFill>
                  <a:srgbClr val="000000"/>
                </a:solidFill>
                <a:latin typeface="Arial Narrow" panose="020B0606020202030204" pitchFamily="34" charset="0"/>
              </a:rPr>
              <a:t>Feedstuffs are classified into two major groups in fish culture </a:t>
            </a:r>
          </a:p>
          <a:p>
            <a:pPr algn="just">
              <a:lnSpc>
                <a:spcPct val="150000"/>
              </a:lnSpc>
            </a:pPr>
            <a:r>
              <a:rPr lang="en-GB" b="0" i="0" u="none" strike="noStrike" baseline="0" dirty="0" err="1">
                <a:solidFill>
                  <a:srgbClr val="000000"/>
                </a:solidFill>
                <a:latin typeface="Arial Narrow" panose="020B0606020202030204" pitchFamily="34" charset="0"/>
              </a:rPr>
              <a:t>i</a:t>
            </a:r>
            <a:r>
              <a:rPr lang="en-GB" b="0" i="0" u="none" strike="noStrike" baseline="0" dirty="0">
                <a:solidFill>
                  <a:srgbClr val="000000"/>
                </a:solidFill>
                <a:latin typeface="Arial Narrow" panose="020B0606020202030204" pitchFamily="34" charset="0"/>
              </a:rPr>
              <a:t>. </a:t>
            </a:r>
            <a:r>
              <a:rPr lang="en-GB" b="1" i="1" u="none" strike="noStrike" baseline="0" dirty="0">
                <a:solidFill>
                  <a:srgbClr val="000000"/>
                </a:solidFill>
                <a:latin typeface="Arial Narrow" panose="020B0606020202030204" pitchFamily="34" charset="0"/>
              </a:rPr>
              <a:t>Energy Feedstuffs</a:t>
            </a:r>
            <a:r>
              <a:rPr lang="en-GB" b="1" i="0" u="none" strike="noStrike" baseline="0" dirty="0">
                <a:solidFill>
                  <a:srgbClr val="000000"/>
                </a:solidFill>
                <a:latin typeface="Arial Narrow" panose="020B0606020202030204" pitchFamily="34" charset="0"/>
              </a:rPr>
              <a:t>: </a:t>
            </a:r>
            <a:r>
              <a:rPr lang="en-GB" b="0" i="0" u="none" strike="noStrike" baseline="0" dirty="0">
                <a:solidFill>
                  <a:srgbClr val="000000"/>
                </a:solidFill>
                <a:latin typeface="Arial Narrow" panose="020B0606020202030204" pitchFamily="34" charset="0"/>
              </a:rPr>
              <a:t>These are feedstuffs containing less than 20% crude protein usually of plant origin (cassava, wheat offal, rice bran, maize, guinea corn)</a:t>
            </a:r>
          </a:p>
          <a:p>
            <a:pPr algn="just">
              <a:lnSpc>
                <a:spcPct val="150000"/>
              </a:lnSpc>
            </a:pPr>
            <a:r>
              <a:rPr lang="en-GB" b="0" i="0" u="none" strike="noStrike" baseline="0" dirty="0">
                <a:solidFill>
                  <a:srgbClr val="000000"/>
                </a:solidFill>
                <a:latin typeface="Arial Narrow" panose="020B0606020202030204" pitchFamily="34" charset="0"/>
              </a:rPr>
              <a:t>ii. </a:t>
            </a:r>
            <a:r>
              <a:rPr lang="en-GB" b="1" i="1" u="none" strike="noStrike" baseline="0" dirty="0">
                <a:solidFill>
                  <a:srgbClr val="000000"/>
                </a:solidFill>
                <a:latin typeface="Arial Narrow" panose="020B0606020202030204" pitchFamily="34" charset="0"/>
              </a:rPr>
              <a:t>Protein Supplements</a:t>
            </a:r>
            <a:r>
              <a:rPr lang="en-GB" b="1" i="0" u="none" strike="noStrike" baseline="0" dirty="0">
                <a:solidFill>
                  <a:srgbClr val="000000"/>
                </a:solidFill>
                <a:latin typeface="Arial Narrow" panose="020B0606020202030204" pitchFamily="34" charset="0"/>
              </a:rPr>
              <a:t>: </a:t>
            </a:r>
            <a:r>
              <a:rPr lang="en-GB" b="0" i="0" u="none" strike="noStrike" baseline="0" dirty="0">
                <a:solidFill>
                  <a:srgbClr val="000000"/>
                </a:solidFill>
                <a:latin typeface="Arial Narrow" panose="020B0606020202030204" pitchFamily="34" charset="0"/>
              </a:rPr>
              <a:t>These are feedstuffs containing 20% crude protein or more and maybe of plant or animal materials origin but Protein of animal origin is of higher quality than those of plant origin. </a:t>
            </a:r>
          </a:p>
          <a:p>
            <a:pPr marL="342900" indent="-342900" algn="just">
              <a:lnSpc>
                <a:spcPct val="150000"/>
              </a:lnSpc>
              <a:buFont typeface="Wingdings" panose="05000000000000000000" pitchFamily="2" charset="2"/>
              <a:buChar char="Ø"/>
            </a:pPr>
            <a:r>
              <a:rPr lang="en-GB" b="0" i="0" u="none" strike="noStrike" baseline="0" dirty="0">
                <a:solidFill>
                  <a:srgbClr val="000000"/>
                </a:solidFill>
                <a:latin typeface="Arial Narrow" panose="020B0606020202030204" pitchFamily="34" charset="0"/>
              </a:rPr>
              <a:t>Examples of animal protein sources in fish culture are fishmeal, bone meal, blood meal, poultry meal. </a:t>
            </a:r>
          </a:p>
          <a:p>
            <a:pPr marL="342900" indent="-342900" algn="just">
              <a:lnSpc>
                <a:spcPct val="150000"/>
              </a:lnSpc>
              <a:buFont typeface="Wingdings" panose="05000000000000000000" pitchFamily="2" charset="2"/>
              <a:buChar char="Ø"/>
            </a:pPr>
            <a:r>
              <a:rPr lang="en-GB" b="0" i="0" u="none" strike="noStrike" baseline="0" dirty="0">
                <a:solidFill>
                  <a:srgbClr val="000000"/>
                </a:solidFill>
                <a:latin typeface="Arial Narrow" panose="020B0606020202030204" pitchFamily="34" charset="0"/>
              </a:rPr>
              <a:t>Soybean meal, groundnut cake and cottonseed cake are some examples of plant protein materials. </a:t>
            </a:r>
          </a:p>
        </p:txBody>
      </p:sp>
    </p:spTree>
    <p:extLst>
      <p:ext uri="{BB962C8B-B14F-4D97-AF65-F5344CB8AC3E}">
        <p14:creationId xmlns:p14="http://schemas.microsoft.com/office/powerpoint/2010/main" val="6403921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879DF-704F-A00D-572B-E7C7A52AE7B4}"/>
              </a:ext>
            </a:extLst>
          </p:cNvPr>
          <p:cNvSpPr>
            <a:spLocks noGrp="1"/>
          </p:cNvSpPr>
          <p:nvPr>
            <p:ph type="ctrTitle"/>
          </p:nvPr>
        </p:nvSpPr>
        <p:spPr>
          <a:xfrm>
            <a:off x="255639" y="399181"/>
            <a:ext cx="11533238" cy="820019"/>
          </a:xfrm>
        </p:spPr>
        <p:txBody>
          <a:bodyPr>
            <a:normAutofit fontScale="90000"/>
          </a:bodyPr>
          <a:lstStyle/>
          <a:p>
            <a:r>
              <a:rPr lang="en-GB" sz="5400" b="1" dirty="0">
                <a:latin typeface="Arial Narrow" panose="020B0606020202030204" pitchFamily="34" charset="0"/>
              </a:rPr>
              <a:t>FEED STUFFS</a:t>
            </a:r>
            <a:endParaRPr lang="en-ZM" sz="5400" b="1" dirty="0">
              <a:latin typeface="Arial Narrow" panose="020B0606020202030204" pitchFamily="34" charset="0"/>
            </a:endParaRPr>
          </a:p>
        </p:txBody>
      </p:sp>
      <p:pic>
        <p:nvPicPr>
          <p:cNvPr id="5" name="Picture 4">
            <a:extLst>
              <a:ext uri="{FF2B5EF4-FFF2-40B4-BE49-F238E27FC236}">
                <a16:creationId xmlns:a16="http://schemas.microsoft.com/office/drawing/2014/main" id="{4FCE3120-768B-3E7F-007C-FC4CA36DAD24}"/>
              </a:ext>
            </a:extLst>
          </p:cNvPr>
          <p:cNvPicPr>
            <a:picLocks noChangeAspect="1"/>
          </p:cNvPicPr>
          <p:nvPr/>
        </p:nvPicPr>
        <p:blipFill>
          <a:blip r:embed="rId2"/>
          <a:stretch>
            <a:fillRect/>
          </a:stretch>
        </p:blipFill>
        <p:spPr>
          <a:xfrm>
            <a:off x="1376516" y="1589732"/>
            <a:ext cx="9438968" cy="5034390"/>
          </a:xfrm>
          <a:prstGeom prst="rect">
            <a:avLst/>
          </a:prstGeom>
        </p:spPr>
      </p:pic>
      <p:sp>
        <p:nvSpPr>
          <p:cNvPr id="9" name="TextBox 8">
            <a:extLst>
              <a:ext uri="{FF2B5EF4-FFF2-40B4-BE49-F238E27FC236}">
                <a16:creationId xmlns:a16="http://schemas.microsoft.com/office/drawing/2014/main" id="{1522FE07-2865-33F7-DCE3-2EE04F07F8A1}"/>
              </a:ext>
            </a:extLst>
          </p:cNvPr>
          <p:cNvSpPr txBox="1"/>
          <p:nvPr/>
        </p:nvSpPr>
        <p:spPr>
          <a:xfrm>
            <a:off x="639097" y="1128067"/>
            <a:ext cx="9881419" cy="461665"/>
          </a:xfrm>
          <a:prstGeom prst="rect">
            <a:avLst/>
          </a:prstGeom>
          <a:noFill/>
        </p:spPr>
        <p:txBody>
          <a:bodyPr wrap="square">
            <a:spAutoFit/>
          </a:bodyPr>
          <a:lstStyle/>
          <a:p>
            <a:pPr algn="ctr"/>
            <a:r>
              <a:rPr lang="en-GB" sz="2400" b="0" i="0" u="none" strike="noStrike" baseline="0" dirty="0">
                <a:solidFill>
                  <a:srgbClr val="000000"/>
                </a:solidFill>
                <a:latin typeface="Arial Narrow" panose="020B0606020202030204" pitchFamily="34" charset="0"/>
              </a:rPr>
              <a:t>The dietary protein requirements for catfish and tilapia at various stages of growth </a:t>
            </a:r>
            <a:endParaRPr lang="en-ZM" sz="2400" dirty="0">
              <a:latin typeface="Arial Narrow" panose="020B0606020202030204" pitchFamily="34" charset="0"/>
            </a:endParaRPr>
          </a:p>
        </p:txBody>
      </p:sp>
    </p:spTree>
    <p:extLst>
      <p:ext uri="{BB962C8B-B14F-4D97-AF65-F5344CB8AC3E}">
        <p14:creationId xmlns:p14="http://schemas.microsoft.com/office/powerpoint/2010/main" val="7890661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879DF-704F-A00D-572B-E7C7A52AE7B4}"/>
              </a:ext>
            </a:extLst>
          </p:cNvPr>
          <p:cNvSpPr>
            <a:spLocks noGrp="1"/>
          </p:cNvSpPr>
          <p:nvPr>
            <p:ph type="ctrTitle"/>
          </p:nvPr>
        </p:nvSpPr>
        <p:spPr>
          <a:xfrm>
            <a:off x="255639" y="232033"/>
            <a:ext cx="11533238" cy="544716"/>
          </a:xfrm>
        </p:spPr>
        <p:txBody>
          <a:bodyPr>
            <a:noAutofit/>
          </a:bodyPr>
          <a:lstStyle/>
          <a:p>
            <a:r>
              <a:rPr lang="en-GB" sz="3600" b="1" i="0" u="none" strike="noStrike" baseline="0" dirty="0">
                <a:solidFill>
                  <a:srgbClr val="000000"/>
                </a:solidFill>
                <a:latin typeface="Arial Narrow" panose="020B0606020202030204" pitchFamily="34" charset="0"/>
              </a:rPr>
              <a:t>NUTRIENTS REQUIREMENT OF THE FISH </a:t>
            </a:r>
            <a:endParaRPr lang="en-ZM" sz="3600" b="1" dirty="0">
              <a:latin typeface="Arial Narrow" panose="020B0606020202030204" pitchFamily="34" charset="0"/>
            </a:endParaRPr>
          </a:p>
        </p:txBody>
      </p:sp>
      <p:sp>
        <p:nvSpPr>
          <p:cNvPr id="3" name="Subtitle 2">
            <a:extLst>
              <a:ext uri="{FF2B5EF4-FFF2-40B4-BE49-F238E27FC236}">
                <a16:creationId xmlns:a16="http://schemas.microsoft.com/office/drawing/2014/main" id="{6107AEAB-3800-9DC8-32E6-AB24BBF3E56C}"/>
              </a:ext>
            </a:extLst>
          </p:cNvPr>
          <p:cNvSpPr>
            <a:spLocks noGrp="1"/>
          </p:cNvSpPr>
          <p:nvPr>
            <p:ph type="subTitle" idx="1"/>
          </p:nvPr>
        </p:nvSpPr>
        <p:spPr>
          <a:xfrm>
            <a:off x="1081548" y="1337187"/>
            <a:ext cx="10097729" cy="5121632"/>
          </a:xfrm>
        </p:spPr>
        <p:txBody>
          <a:bodyPr>
            <a:normAutofit/>
          </a:bodyPr>
          <a:lstStyle/>
          <a:p>
            <a:pPr marL="342900" indent="-342900" algn="just">
              <a:lnSpc>
                <a:spcPct val="150000"/>
              </a:lnSpc>
              <a:buFont typeface="Wingdings" panose="05000000000000000000" pitchFamily="2" charset="2"/>
              <a:buChar char="Ø"/>
            </a:pPr>
            <a:r>
              <a:rPr lang="en-GB" b="0" i="0" u="none" strike="noStrike" baseline="0" dirty="0">
                <a:solidFill>
                  <a:srgbClr val="000000"/>
                </a:solidFill>
                <a:latin typeface="Arial Narrow" panose="020B0606020202030204" pitchFamily="34" charset="0"/>
              </a:rPr>
              <a:t>Nutrient requirement of fish refers to the lowest amount of nutrients necessary for good growth and health in fish.</a:t>
            </a:r>
          </a:p>
          <a:p>
            <a:pPr marL="342900" indent="-342900" algn="just">
              <a:lnSpc>
                <a:spcPct val="150000"/>
              </a:lnSpc>
              <a:buFont typeface="Wingdings" panose="05000000000000000000" pitchFamily="2" charset="2"/>
              <a:buChar char="Ø"/>
            </a:pPr>
            <a:r>
              <a:rPr lang="en-GB" b="0" i="0" u="none" strike="noStrike" baseline="0" dirty="0">
                <a:solidFill>
                  <a:srgbClr val="000000"/>
                </a:solidFill>
                <a:latin typeface="Arial Narrow" panose="020B0606020202030204" pitchFamily="34" charset="0"/>
              </a:rPr>
              <a:t>Nutritional requirement varies with species and life stage of fish. </a:t>
            </a:r>
          </a:p>
          <a:p>
            <a:pPr marL="342900" indent="-342900" algn="just">
              <a:lnSpc>
                <a:spcPct val="150000"/>
              </a:lnSpc>
              <a:buFont typeface="Wingdings" panose="05000000000000000000" pitchFamily="2" charset="2"/>
              <a:buChar char="Ø"/>
            </a:pPr>
            <a:r>
              <a:rPr lang="en-GB" b="0" i="0" u="none" strike="noStrike" baseline="0" dirty="0">
                <a:solidFill>
                  <a:srgbClr val="000000"/>
                </a:solidFill>
                <a:latin typeface="Arial Narrow" panose="020B0606020202030204" pitchFamily="34" charset="0"/>
              </a:rPr>
              <a:t>To achieve optimum growth and production of fish, fish diet must be formulated to meet all nutrient requirements of the fish. </a:t>
            </a:r>
          </a:p>
          <a:p>
            <a:pPr algn="just">
              <a:lnSpc>
                <a:spcPct val="150000"/>
              </a:lnSpc>
            </a:pPr>
            <a:endParaRPr lang="en-ZM" dirty="0">
              <a:solidFill>
                <a:srgbClr val="FF0000"/>
              </a:solidFill>
              <a:latin typeface="Arial Narrow" panose="020B0606020202030204" pitchFamily="34" charset="0"/>
            </a:endParaRPr>
          </a:p>
        </p:txBody>
      </p:sp>
    </p:spTree>
    <p:extLst>
      <p:ext uri="{BB962C8B-B14F-4D97-AF65-F5344CB8AC3E}">
        <p14:creationId xmlns:p14="http://schemas.microsoft.com/office/powerpoint/2010/main" val="23897566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879DF-704F-A00D-572B-E7C7A52AE7B4}"/>
              </a:ext>
            </a:extLst>
          </p:cNvPr>
          <p:cNvSpPr>
            <a:spLocks noGrp="1"/>
          </p:cNvSpPr>
          <p:nvPr>
            <p:ph type="ctrTitle"/>
          </p:nvPr>
        </p:nvSpPr>
        <p:spPr>
          <a:xfrm>
            <a:off x="255639" y="232033"/>
            <a:ext cx="11533238" cy="544716"/>
          </a:xfrm>
        </p:spPr>
        <p:txBody>
          <a:bodyPr>
            <a:noAutofit/>
          </a:bodyPr>
          <a:lstStyle/>
          <a:p>
            <a:r>
              <a:rPr lang="en-GB" sz="3600" b="1" i="0" u="none" strike="noStrike" baseline="0" dirty="0">
                <a:solidFill>
                  <a:srgbClr val="000000"/>
                </a:solidFill>
                <a:latin typeface="Arial Narrow" panose="020B0606020202030204" pitchFamily="34" charset="0"/>
              </a:rPr>
              <a:t>NUTRIENTS REQUIREMENT OF THE FISH </a:t>
            </a:r>
            <a:endParaRPr lang="en-ZM" sz="3600" b="1" dirty="0">
              <a:latin typeface="Arial Narrow" panose="020B0606020202030204" pitchFamily="34" charset="0"/>
            </a:endParaRPr>
          </a:p>
        </p:txBody>
      </p:sp>
      <p:sp>
        <p:nvSpPr>
          <p:cNvPr id="3" name="Subtitle 2">
            <a:extLst>
              <a:ext uri="{FF2B5EF4-FFF2-40B4-BE49-F238E27FC236}">
                <a16:creationId xmlns:a16="http://schemas.microsoft.com/office/drawing/2014/main" id="{6107AEAB-3800-9DC8-32E6-AB24BBF3E56C}"/>
              </a:ext>
            </a:extLst>
          </p:cNvPr>
          <p:cNvSpPr>
            <a:spLocks noGrp="1"/>
          </p:cNvSpPr>
          <p:nvPr>
            <p:ph type="subTitle" idx="1"/>
          </p:nvPr>
        </p:nvSpPr>
        <p:spPr>
          <a:xfrm>
            <a:off x="255639" y="904568"/>
            <a:ext cx="11720051" cy="5830529"/>
          </a:xfrm>
        </p:spPr>
        <p:txBody>
          <a:bodyPr>
            <a:normAutofit/>
          </a:bodyPr>
          <a:lstStyle/>
          <a:p>
            <a:pPr marL="342900" indent="-342900" algn="just">
              <a:lnSpc>
                <a:spcPct val="150000"/>
              </a:lnSpc>
              <a:buFont typeface="Wingdings" panose="05000000000000000000" pitchFamily="2" charset="2"/>
              <a:buChar char="q"/>
            </a:pPr>
            <a:r>
              <a:rPr lang="en-GB" b="1" i="0" u="none" strike="noStrike" baseline="0" dirty="0">
                <a:solidFill>
                  <a:srgbClr val="000000"/>
                </a:solidFill>
                <a:latin typeface="Arial Narrow" panose="020B0606020202030204" pitchFamily="34" charset="0"/>
              </a:rPr>
              <a:t>There are six classes of nutrients</a:t>
            </a:r>
            <a:endParaRPr lang="en-ZM" b="1" i="0" u="none" strike="noStrike" baseline="0" dirty="0">
              <a:solidFill>
                <a:srgbClr val="000000"/>
              </a:solidFill>
              <a:latin typeface="Arial Narrow" panose="020B0606020202030204" pitchFamily="34" charset="0"/>
            </a:endParaRPr>
          </a:p>
          <a:p>
            <a:pPr marL="457200" indent="-457200" algn="just">
              <a:buFont typeface="+mj-lt"/>
              <a:buAutoNum type="arabicPeriod"/>
            </a:pPr>
            <a:r>
              <a:rPr lang="en-GB" b="1" i="1" u="none" strike="noStrike" baseline="0" dirty="0">
                <a:solidFill>
                  <a:srgbClr val="000000"/>
                </a:solidFill>
                <a:latin typeface="Arial Narrow" panose="020B0606020202030204" pitchFamily="34" charset="0"/>
              </a:rPr>
              <a:t>Carbohydrate: </a:t>
            </a:r>
            <a:r>
              <a:rPr lang="en-GB" b="0" i="0" u="none" strike="noStrike" baseline="0" dirty="0">
                <a:solidFill>
                  <a:srgbClr val="000000"/>
                </a:solidFill>
                <a:latin typeface="Arial Narrow" panose="020B0606020202030204" pitchFamily="34" charset="0"/>
              </a:rPr>
              <a:t>serves as a source of energy in fish feed. Meanwhile less of it is needed in carnivorous fishes; they are also used as binders. </a:t>
            </a:r>
          </a:p>
          <a:p>
            <a:pPr marL="457200" indent="-457200" algn="just">
              <a:buFont typeface="+mj-lt"/>
              <a:buAutoNum type="arabicPeriod"/>
            </a:pPr>
            <a:r>
              <a:rPr lang="en-GB" b="1" i="1" u="none" strike="noStrike" baseline="0" dirty="0">
                <a:solidFill>
                  <a:srgbClr val="000000"/>
                </a:solidFill>
                <a:latin typeface="Arial Narrow" panose="020B0606020202030204" pitchFamily="34" charset="0"/>
              </a:rPr>
              <a:t>Protein</a:t>
            </a:r>
            <a:r>
              <a:rPr lang="en-GB" b="1" i="0" u="none" strike="noStrike" baseline="0" dirty="0">
                <a:solidFill>
                  <a:srgbClr val="000000"/>
                </a:solidFill>
                <a:latin typeface="Arial Narrow" panose="020B0606020202030204" pitchFamily="34" charset="0"/>
              </a:rPr>
              <a:t>: </a:t>
            </a:r>
            <a:r>
              <a:rPr lang="en-GB" b="0" i="0" u="none" strike="noStrike" baseline="0" dirty="0">
                <a:solidFill>
                  <a:srgbClr val="000000"/>
                </a:solidFill>
                <a:latin typeface="Arial Narrow" panose="020B0606020202030204" pitchFamily="34" charset="0"/>
              </a:rPr>
              <a:t>this is important for synthesis and building of body tissues, growth maintenance, reproduction, enzymes and hormones, egg production, etc. Protein is a source of small amount of energy. </a:t>
            </a:r>
          </a:p>
          <a:p>
            <a:pPr marL="457200" indent="-457200" algn="just">
              <a:buFont typeface="+mj-lt"/>
              <a:buAutoNum type="arabicPeriod"/>
            </a:pPr>
            <a:r>
              <a:rPr lang="en-GB" b="1" i="1" u="none" strike="noStrike" baseline="0" dirty="0">
                <a:solidFill>
                  <a:srgbClr val="000000"/>
                </a:solidFill>
                <a:latin typeface="Arial Narrow" panose="020B0606020202030204" pitchFamily="34" charset="0"/>
              </a:rPr>
              <a:t>Fats</a:t>
            </a:r>
            <a:r>
              <a:rPr lang="en-GB" b="1" i="0" u="none" strike="noStrike" baseline="0" dirty="0">
                <a:solidFill>
                  <a:srgbClr val="000000"/>
                </a:solidFill>
                <a:latin typeface="Arial Narrow" panose="020B0606020202030204" pitchFamily="34" charset="0"/>
              </a:rPr>
              <a:t>: </a:t>
            </a:r>
            <a:r>
              <a:rPr lang="en-GB" b="0" i="0" u="none" strike="noStrike" baseline="0" dirty="0">
                <a:solidFill>
                  <a:srgbClr val="000000"/>
                </a:solidFill>
                <a:latin typeface="Arial Narrow" panose="020B0606020202030204" pitchFamily="34" charset="0"/>
              </a:rPr>
              <a:t>serves as a source of large amount of energy to fish. They also provide essential fatty acids that are needed for physiological processes. </a:t>
            </a:r>
          </a:p>
          <a:p>
            <a:pPr marL="457200" indent="-457200" algn="just">
              <a:buFont typeface="+mj-lt"/>
              <a:buAutoNum type="arabicPeriod"/>
            </a:pPr>
            <a:r>
              <a:rPr lang="en-GB" b="1" i="1" u="none" strike="noStrike" baseline="0" dirty="0">
                <a:solidFill>
                  <a:srgbClr val="000000"/>
                </a:solidFill>
                <a:latin typeface="Arial Narrow" panose="020B0606020202030204" pitchFamily="34" charset="0"/>
              </a:rPr>
              <a:t>Minerals</a:t>
            </a:r>
            <a:r>
              <a:rPr lang="en-GB" b="1" i="0" u="none" strike="noStrike" baseline="0" dirty="0">
                <a:solidFill>
                  <a:srgbClr val="000000"/>
                </a:solidFill>
                <a:latin typeface="Arial Narrow" panose="020B0606020202030204" pitchFamily="34" charset="0"/>
              </a:rPr>
              <a:t>: </a:t>
            </a:r>
            <a:r>
              <a:rPr lang="en-GB" b="0" i="0" u="none" strike="noStrike" baseline="0" dirty="0">
                <a:solidFill>
                  <a:srgbClr val="000000"/>
                </a:solidFill>
                <a:latin typeface="Arial Narrow" panose="020B0606020202030204" pitchFamily="34" charset="0"/>
              </a:rPr>
              <a:t>these are inorganic chemicals required for normal health and growth, they also control physiological processes. </a:t>
            </a:r>
          </a:p>
          <a:p>
            <a:pPr marL="457200" indent="-457200" algn="just">
              <a:buFont typeface="+mj-lt"/>
              <a:buAutoNum type="arabicPeriod"/>
            </a:pPr>
            <a:r>
              <a:rPr lang="en-GB" b="1" i="1" u="none" strike="noStrike" baseline="0" dirty="0">
                <a:solidFill>
                  <a:srgbClr val="000000"/>
                </a:solidFill>
                <a:latin typeface="Arial Narrow" panose="020B0606020202030204" pitchFamily="34" charset="0"/>
              </a:rPr>
              <a:t>Vitamins</a:t>
            </a:r>
            <a:r>
              <a:rPr lang="en-GB" b="1" i="0" u="none" strike="noStrike" baseline="0" dirty="0">
                <a:solidFill>
                  <a:srgbClr val="000000"/>
                </a:solidFill>
                <a:latin typeface="Arial Narrow" panose="020B0606020202030204" pitchFamily="34" charset="0"/>
              </a:rPr>
              <a:t>: </a:t>
            </a:r>
            <a:r>
              <a:rPr lang="en-GB" b="0" i="0" u="none" strike="noStrike" baseline="0" dirty="0">
                <a:solidFill>
                  <a:srgbClr val="000000"/>
                </a:solidFill>
                <a:latin typeface="Arial Narrow" panose="020B0606020202030204" pitchFamily="34" charset="0"/>
              </a:rPr>
              <a:t>these are organic chemicals needed in small amounts and required for normal health and growth; they also control body enzymatic processes. </a:t>
            </a:r>
          </a:p>
          <a:p>
            <a:pPr marL="457200" indent="-457200" algn="just">
              <a:buFont typeface="+mj-lt"/>
              <a:buAutoNum type="arabicPeriod"/>
            </a:pPr>
            <a:r>
              <a:rPr lang="en-GB" b="0" i="0" u="none" strike="noStrike" baseline="0" dirty="0">
                <a:solidFill>
                  <a:srgbClr val="000000"/>
                </a:solidFill>
                <a:latin typeface="Arial Narrow" panose="020B0606020202030204" pitchFamily="34" charset="0"/>
              </a:rPr>
              <a:t> </a:t>
            </a:r>
            <a:r>
              <a:rPr lang="en-GB" b="1" i="1" u="none" strike="noStrike" baseline="0" dirty="0">
                <a:solidFill>
                  <a:srgbClr val="000000"/>
                </a:solidFill>
                <a:latin typeface="Arial Narrow" panose="020B0606020202030204" pitchFamily="34" charset="0"/>
              </a:rPr>
              <a:t>Water: </a:t>
            </a:r>
            <a:r>
              <a:rPr lang="en-GB" b="0" i="0" u="none" strike="noStrike" baseline="0" dirty="0">
                <a:solidFill>
                  <a:srgbClr val="000000"/>
                </a:solidFill>
                <a:latin typeface="Arial Narrow" panose="020B0606020202030204" pitchFamily="34" charset="0"/>
              </a:rPr>
              <a:t>this is the universal solvent, needed in all bodily processes. </a:t>
            </a:r>
          </a:p>
          <a:p>
            <a:pPr marL="342900" indent="-342900" algn="just">
              <a:lnSpc>
                <a:spcPct val="150000"/>
              </a:lnSpc>
              <a:buFont typeface="Wingdings" panose="05000000000000000000" pitchFamily="2" charset="2"/>
              <a:buChar char="Ø"/>
            </a:pPr>
            <a:endParaRPr lang="en-ZM" dirty="0">
              <a:solidFill>
                <a:srgbClr val="FF0000"/>
              </a:solidFill>
              <a:latin typeface="Arial Narrow" panose="020B0606020202030204" pitchFamily="34" charset="0"/>
            </a:endParaRPr>
          </a:p>
        </p:txBody>
      </p:sp>
    </p:spTree>
    <p:extLst>
      <p:ext uri="{BB962C8B-B14F-4D97-AF65-F5344CB8AC3E}">
        <p14:creationId xmlns:p14="http://schemas.microsoft.com/office/powerpoint/2010/main" val="5885769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879DF-704F-A00D-572B-E7C7A52AE7B4}"/>
              </a:ext>
            </a:extLst>
          </p:cNvPr>
          <p:cNvSpPr>
            <a:spLocks noGrp="1"/>
          </p:cNvSpPr>
          <p:nvPr>
            <p:ph type="ctrTitle"/>
          </p:nvPr>
        </p:nvSpPr>
        <p:spPr>
          <a:xfrm>
            <a:off x="255639" y="232033"/>
            <a:ext cx="11533238" cy="544716"/>
          </a:xfrm>
        </p:spPr>
        <p:txBody>
          <a:bodyPr>
            <a:noAutofit/>
          </a:bodyPr>
          <a:lstStyle/>
          <a:p>
            <a:r>
              <a:rPr lang="en-GB" sz="3600" b="1" i="0" u="none" strike="noStrike" baseline="0" dirty="0">
                <a:solidFill>
                  <a:srgbClr val="000000"/>
                </a:solidFill>
                <a:latin typeface="Arial Narrow" panose="020B0606020202030204" pitchFamily="34" charset="0"/>
              </a:rPr>
              <a:t>NUTRIENTS REQUIREMENT OF THE FISH </a:t>
            </a:r>
            <a:endParaRPr lang="en-ZM" sz="3600" b="1" dirty="0">
              <a:latin typeface="Arial Narrow" panose="020B0606020202030204" pitchFamily="34" charset="0"/>
            </a:endParaRPr>
          </a:p>
        </p:txBody>
      </p:sp>
      <p:sp>
        <p:nvSpPr>
          <p:cNvPr id="3" name="Subtitle 2">
            <a:extLst>
              <a:ext uri="{FF2B5EF4-FFF2-40B4-BE49-F238E27FC236}">
                <a16:creationId xmlns:a16="http://schemas.microsoft.com/office/drawing/2014/main" id="{6107AEAB-3800-9DC8-32E6-AB24BBF3E56C}"/>
              </a:ext>
            </a:extLst>
          </p:cNvPr>
          <p:cNvSpPr>
            <a:spLocks noGrp="1"/>
          </p:cNvSpPr>
          <p:nvPr>
            <p:ph type="subTitle" idx="1"/>
          </p:nvPr>
        </p:nvSpPr>
        <p:spPr>
          <a:xfrm>
            <a:off x="255639" y="904568"/>
            <a:ext cx="11720051" cy="5830529"/>
          </a:xfrm>
        </p:spPr>
        <p:txBody>
          <a:bodyPr>
            <a:normAutofit/>
          </a:bodyPr>
          <a:lstStyle/>
          <a:p>
            <a:pPr marL="342900" indent="-342900" algn="just">
              <a:lnSpc>
                <a:spcPct val="150000"/>
              </a:lnSpc>
              <a:buFont typeface="Wingdings" panose="05000000000000000000" pitchFamily="2" charset="2"/>
              <a:buChar char="q"/>
            </a:pPr>
            <a:r>
              <a:rPr lang="en-GB" b="1" i="0" u="none" strike="noStrike" baseline="0" dirty="0">
                <a:solidFill>
                  <a:srgbClr val="000000"/>
                </a:solidFill>
                <a:latin typeface="Arial Narrow" panose="020B0606020202030204" pitchFamily="34" charset="0"/>
              </a:rPr>
              <a:t>Factors that affect nutritional requirements of fish are: </a:t>
            </a:r>
          </a:p>
          <a:p>
            <a:pPr algn="just">
              <a:lnSpc>
                <a:spcPct val="150000"/>
              </a:lnSpc>
            </a:pPr>
            <a:r>
              <a:rPr lang="en-GB" b="1" i="1" u="none" strike="noStrike" baseline="0" dirty="0">
                <a:solidFill>
                  <a:srgbClr val="000000"/>
                </a:solidFill>
                <a:latin typeface="Arial Narrow" panose="020B0606020202030204" pitchFamily="34" charset="0"/>
              </a:rPr>
              <a:t>Genetics</a:t>
            </a:r>
            <a:r>
              <a:rPr lang="en-GB" b="1" i="0" u="none" strike="noStrike" baseline="0" dirty="0">
                <a:solidFill>
                  <a:srgbClr val="000000"/>
                </a:solidFill>
                <a:latin typeface="Arial Narrow" panose="020B0606020202030204" pitchFamily="34" charset="0"/>
              </a:rPr>
              <a:t>: </a:t>
            </a:r>
            <a:r>
              <a:rPr lang="en-GB" b="0" i="0" u="none" strike="noStrike" baseline="0" dirty="0">
                <a:solidFill>
                  <a:srgbClr val="000000"/>
                </a:solidFill>
                <a:latin typeface="Arial Narrow" panose="020B0606020202030204" pitchFamily="34" charset="0"/>
              </a:rPr>
              <a:t>variation in species may also mean variation in nutritional requirement. Growth rate potential and efficiency of absorbing and utilization of nutrients in fish feed will determine the nutrient inclusion. </a:t>
            </a:r>
          </a:p>
          <a:p>
            <a:pPr algn="just">
              <a:lnSpc>
                <a:spcPct val="150000"/>
              </a:lnSpc>
            </a:pPr>
            <a:r>
              <a:rPr lang="en-GB" b="1" i="1" u="none" strike="noStrike" baseline="0" dirty="0">
                <a:solidFill>
                  <a:srgbClr val="000000"/>
                </a:solidFill>
                <a:latin typeface="Arial Narrow" panose="020B0606020202030204" pitchFamily="34" charset="0"/>
              </a:rPr>
              <a:t>Life stage or age</a:t>
            </a:r>
            <a:r>
              <a:rPr lang="en-GB" b="1" i="0" u="none" strike="noStrike" baseline="0" dirty="0">
                <a:solidFill>
                  <a:srgbClr val="000000"/>
                </a:solidFill>
                <a:latin typeface="Arial Narrow" panose="020B0606020202030204" pitchFamily="34" charset="0"/>
              </a:rPr>
              <a:t>: </a:t>
            </a:r>
            <a:r>
              <a:rPr lang="en-GB" b="0" i="0" u="none" strike="noStrike" baseline="0" dirty="0">
                <a:solidFill>
                  <a:srgbClr val="000000"/>
                </a:solidFill>
                <a:latin typeface="Arial Narrow" panose="020B0606020202030204" pitchFamily="34" charset="0"/>
              </a:rPr>
              <a:t>nutrient requirement is related to stage of maturity of fish and its body weight.</a:t>
            </a:r>
          </a:p>
          <a:p>
            <a:pPr algn="just">
              <a:lnSpc>
                <a:spcPct val="150000"/>
              </a:lnSpc>
            </a:pPr>
            <a:r>
              <a:rPr lang="en-GB" b="1" i="1" u="none" strike="noStrike" baseline="0" dirty="0">
                <a:solidFill>
                  <a:srgbClr val="000000"/>
                </a:solidFill>
                <a:latin typeface="Arial Narrow" panose="020B0606020202030204" pitchFamily="34" charset="0"/>
              </a:rPr>
              <a:t>Reproductive state</a:t>
            </a:r>
            <a:r>
              <a:rPr lang="en-GB" b="1" i="0" u="none" strike="noStrike" baseline="0" dirty="0">
                <a:solidFill>
                  <a:srgbClr val="000000"/>
                </a:solidFill>
                <a:latin typeface="Arial Narrow" panose="020B0606020202030204" pitchFamily="34" charset="0"/>
              </a:rPr>
              <a:t>: </a:t>
            </a:r>
            <a:r>
              <a:rPr lang="en-GB" b="0" i="0" u="none" strike="noStrike" baseline="0" dirty="0">
                <a:solidFill>
                  <a:srgbClr val="000000"/>
                </a:solidFill>
                <a:latin typeface="Arial Narrow" panose="020B0606020202030204" pitchFamily="34" charset="0"/>
              </a:rPr>
              <a:t>female broodfish producing eggs and male broodfish producing </a:t>
            </a:r>
            <a:r>
              <a:rPr lang="en-GB" b="0" i="0" u="none" strike="noStrike" baseline="0" dirty="0">
                <a:latin typeface="Arial Narrow" panose="020B0606020202030204" pitchFamily="34" charset="0"/>
              </a:rPr>
              <a:t>milt will need nutrient different from a fry. Nutrients that meet present anabolic need of the fish is important. </a:t>
            </a:r>
          </a:p>
          <a:p>
            <a:pPr algn="just">
              <a:lnSpc>
                <a:spcPct val="150000"/>
              </a:lnSpc>
            </a:pPr>
            <a:r>
              <a:rPr lang="en-GB" b="0" i="0" u="none" strike="noStrike" baseline="0" dirty="0">
                <a:latin typeface="Arial Narrow" panose="020B0606020202030204" pitchFamily="34" charset="0"/>
              </a:rPr>
              <a:t> </a:t>
            </a:r>
            <a:r>
              <a:rPr lang="en-GB" b="1" i="1" u="none" strike="noStrike" baseline="0" dirty="0">
                <a:latin typeface="Arial Narrow" panose="020B0606020202030204" pitchFamily="34" charset="0"/>
              </a:rPr>
              <a:t>Temperature of environment</a:t>
            </a:r>
            <a:r>
              <a:rPr lang="en-GB" b="1" i="0" u="none" strike="noStrike" baseline="0" dirty="0">
                <a:latin typeface="Arial Narrow" panose="020B0606020202030204" pitchFamily="34" charset="0"/>
              </a:rPr>
              <a:t>: </a:t>
            </a:r>
            <a:r>
              <a:rPr lang="en-GB" b="0" i="0" u="none" strike="noStrike" baseline="0" dirty="0">
                <a:latin typeface="Arial Narrow" panose="020B0606020202030204" pitchFamily="34" charset="0"/>
              </a:rPr>
              <a:t>nutritional requirement may also depend on ambient temperature of the water derived from the climate of the location of the farm. </a:t>
            </a:r>
            <a:endParaRPr lang="en-ZM" dirty="0">
              <a:solidFill>
                <a:srgbClr val="FF0000"/>
              </a:solidFill>
              <a:latin typeface="Arial Narrow" panose="020B0606020202030204" pitchFamily="34" charset="0"/>
            </a:endParaRPr>
          </a:p>
        </p:txBody>
      </p:sp>
    </p:spTree>
    <p:extLst>
      <p:ext uri="{BB962C8B-B14F-4D97-AF65-F5344CB8AC3E}">
        <p14:creationId xmlns:p14="http://schemas.microsoft.com/office/powerpoint/2010/main" val="17032280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879DF-704F-A00D-572B-E7C7A52AE7B4}"/>
              </a:ext>
            </a:extLst>
          </p:cNvPr>
          <p:cNvSpPr>
            <a:spLocks noGrp="1"/>
          </p:cNvSpPr>
          <p:nvPr>
            <p:ph type="ctrTitle"/>
          </p:nvPr>
        </p:nvSpPr>
        <p:spPr>
          <a:xfrm>
            <a:off x="329381" y="271361"/>
            <a:ext cx="11533238" cy="741362"/>
          </a:xfrm>
        </p:spPr>
        <p:txBody>
          <a:bodyPr>
            <a:normAutofit/>
          </a:bodyPr>
          <a:lstStyle/>
          <a:p>
            <a:r>
              <a:rPr lang="de-DE" sz="4000" b="1" i="0" u="none" strike="noStrike" baseline="0" dirty="0">
                <a:solidFill>
                  <a:srgbClr val="000000"/>
                </a:solidFill>
                <a:latin typeface="Arial Narrow" panose="020B0606020202030204" pitchFamily="34" charset="0"/>
              </a:rPr>
              <a:t>NUTRIENT COMPOSITION OF FEEDSTUFFS </a:t>
            </a:r>
            <a:endParaRPr lang="en-ZM" sz="4000" b="1" dirty="0">
              <a:latin typeface="Arial Narrow" panose="020B0606020202030204" pitchFamily="34" charset="0"/>
            </a:endParaRPr>
          </a:p>
        </p:txBody>
      </p:sp>
      <p:sp>
        <p:nvSpPr>
          <p:cNvPr id="3" name="Subtitle 2">
            <a:extLst>
              <a:ext uri="{FF2B5EF4-FFF2-40B4-BE49-F238E27FC236}">
                <a16:creationId xmlns:a16="http://schemas.microsoft.com/office/drawing/2014/main" id="{6107AEAB-3800-9DC8-32E6-AB24BBF3E56C}"/>
              </a:ext>
            </a:extLst>
          </p:cNvPr>
          <p:cNvSpPr>
            <a:spLocks noGrp="1"/>
          </p:cNvSpPr>
          <p:nvPr>
            <p:ph type="subTitle" idx="1"/>
          </p:nvPr>
        </p:nvSpPr>
        <p:spPr>
          <a:xfrm>
            <a:off x="1661653" y="1189703"/>
            <a:ext cx="9497962" cy="5121632"/>
          </a:xfrm>
        </p:spPr>
        <p:txBody>
          <a:bodyPr>
            <a:normAutofit/>
          </a:bodyPr>
          <a:lstStyle/>
          <a:p>
            <a:pPr marL="342900" indent="-342900" algn="just">
              <a:lnSpc>
                <a:spcPct val="150000"/>
              </a:lnSpc>
              <a:buFont typeface="Wingdings" panose="05000000000000000000" pitchFamily="2" charset="2"/>
              <a:buChar char="q"/>
            </a:pPr>
            <a:r>
              <a:rPr lang="en-GB" dirty="0">
                <a:solidFill>
                  <a:srgbClr val="000000"/>
                </a:solidFill>
                <a:latin typeface="Arial Narrow" panose="020B0606020202030204" pitchFamily="34" charset="0"/>
              </a:rPr>
              <a:t>T</a:t>
            </a:r>
            <a:r>
              <a:rPr lang="en-GB" b="0" i="0" u="none" strike="noStrike" baseline="0" dirty="0">
                <a:solidFill>
                  <a:srgbClr val="000000"/>
                </a:solidFill>
                <a:latin typeface="Arial Narrow" panose="020B0606020202030204" pitchFamily="34" charset="0"/>
              </a:rPr>
              <a:t>here are six nutrients as discussed above; water, carbohydrates, lipids, proteins, minerals, and vitamins. </a:t>
            </a:r>
          </a:p>
          <a:p>
            <a:pPr marL="342900" indent="-342900" algn="just">
              <a:lnSpc>
                <a:spcPct val="150000"/>
              </a:lnSpc>
              <a:buFont typeface="Wingdings" panose="05000000000000000000" pitchFamily="2" charset="2"/>
              <a:buChar char="q"/>
            </a:pPr>
            <a:r>
              <a:rPr lang="en-GB" b="0" i="0" u="none" strike="noStrike" baseline="0" dirty="0">
                <a:solidFill>
                  <a:srgbClr val="000000"/>
                </a:solidFill>
                <a:latin typeface="Arial Narrow" panose="020B0606020202030204" pitchFamily="34" charset="0"/>
              </a:rPr>
              <a:t>Fish derive energy from three of these nutrients: lipids, proteins, and carbohydrates (the chemical energy or heat density available for the animal to use in 1 gram of fat, protein, and carbohydrate is approximately 9, 4, and 4 kilocalories, respectively). </a:t>
            </a:r>
            <a:endParaRPr lang="en-ZM" dirty="0">
              <a:solidFill>
                <a:srgbClr val="FF0000"/>
              </a:solidFill>
              <a:latin typeface="Arial Narrow" panose="020B0606020202030204" pitchFamily="34" charset="0"/>
            </a:endParaRPr>
          </a:p>
        </p:txBody>
      </p:sp>
    </p:spTree>
    <p:extLst>
      <p:ext uri="{BB962C8B-B14F-4D97-AF65-F5344CB8AC3E}">
        <p14:creationId xmlns:p14="http://schemas.microsoft.com/office/powerpoint/2010/main" val="37954674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879DF-704F-A00D-572B-E7C7A52AE7B4}"/>
              </a:ext>
            </a:extLst>
          </p:cNvPr>
          <p:cNvSpPr>
            <a:spLocks noGrp="1"/>
          </p:cNvSpPr>
          <p:nvPr>
            <p:ph type="ctrTitle"/>
          </p:nvPr>
        </p:nvSpPr>
        <p:spPr>
          <a:xfrm>
            <a:off x="329381" y="271361"/>
            <a:ext cx="11533238" cy="741362"/>
          </a:xfrm>
        </p:spPr>
        <p:txBody>
          <a:bodyPr>
            <a:normAutofit/>
          </a:bodyPr>
          <a:lstStyle/>
          <a:p>
            <a:r>
              <a:rPr lang="de-DE" sz="4000" b="1" i="0" u="none" strike="noStrike" baseline="0" dirty="0">
                <a:solidFill>
                  <a:srgbClr val="000000"/>
                </a:solidFill>
                <a:latin typeface="Arial Narrow" panose="020B0606020202030204" pitchFamily="34" charset="0"/>
              </a:rPr>
              <a:t>NUTRIENT COMPOSITION OF FEEDSTUFFS </a:t>
            </a:r>
            <a:endParaRPr lang="en-ZM" sz="4000" b="1" dirty="0">
              <a:latin typeface="Arial Narrow" panose="020B0606020202030204" pitchFamily="34" charset="0"/>
            </a:endParaRPr>
          </a:p>
        </p:txBody>
      </p:sp>
      <p:sp>
        <p:nvSpPr>
          <p:cNvPr id="3" name="Subtitle 2">
            <a:extLst>
              <a:ext uri="{FF2B5EF4-FFF2-40B4-BE49-F238E27FC236}">
                <a16:creationId xmlns:a16="http://schemas.microsoft.com/office/drawing/2014/main" id="{6107AEAB-3800-9DC8-32E6-AB24BBF3E56C}"/>
              </a:ext>
            </a:extLst>
          </p:cNvPr>
          <p:cNvSpPr>
            <a:spLocks noGrp="1"/>
          </p:cNvSpPr>
          <p:nvPr>
            <p:ph type="subTitle" idx="1"/>
          </p:nvPr>
        </p:nvSpPr>
        <p:spPr>
          <a:xfrm>
            <a:off x="1661653" y="1189703"/>
            <a:ext cx="8898192" cy="5121632"/>
          </a:xfrm>
        </p:spPr>
        <p:txBody>
          <a:bodyPr>
            <a:noAutofit/>
          </a:bodyPr>
          <a:lstStyle/>
          <a:p>
            <a:pPr marL="342900" indent="-342900" algn="just">
              <a:lnSpc>
                <a:spcPct val="150000"/>
              </a:lnSpc>
              <a:buFont typeface="Wingdings" panose="05000000000000000000" pitchFamily="2" charset="2"/>
              <a:buChar char="q"/>
            </a:pPr>
            <a:r>
              <a:rPr lang="en-GB" b="0" i="0" u="none" strike="noStrike" baseline="0" dirty="0">
                <a:solidFill>
                  <a:srgbClr val="000000"/>
                </a:solidFill>
                <a:latin typeface="Arial Narrow" panose="020B0606020202030204" pitchFamily="34" charset="0"/>
              </a:rPr>
              <a:t>The term </a:t>
            </a:r>
            <a:r>
              <a:rPr lang="en-GB" b="0" i="1" u="none" strike="noStrike" baseline="0" dirty="0">
                <a:solidFill>
                  <a:srgbClr val="000000"/>
                </a:solidFill>
                <a:latin typeface="Arial Narrow" panose="020B0606020202030204" pitchFamily="34" charset="0"/>
              </a:rPr>
              <a:t>nutrient-density </a:t>
            </a:r>
            <a:r>
              <a:rPr lang="en-GB" b="0" i="0" u="none" strike="noStrike" baseline="0" dirty="0">
                <a:solidFill>
                  <a:srgbClr val="000000"/>
                </a:solidFill>
                <a:latin typeface="Arial Narrow" panose="020B0606020202030204" pitchFamily="34" charset="0"/>
              </a:rPr>
              <a:t>refers to the amount and type of a particular nutrient, or combination of them, contained in a feed, usually a pellet of specific size or volume. </a:t>
            </a:r>
          </a:p>
          <a:p>
            <a:pPr marL="342900" indent="-342900" algn="just">
              <a:lnSpc>
                <a:spcPct val="150000"/>
              </a:lnSpc>
              <a:buFont typeface="Wingdings" panose="05000000000000000000" pitchFamily="2" charset="2"/>
              <a:buChar char="q"/>
            </a:pPr>
            <a:r>
              <a:rPr lang="en-GB" b="0" i="0" u="none" strike="noStrike" baseline="0" dirty="0">
                <a:solidFill>
                  <a:srgbClr val="000000"/>
                </a:solidFill>
                <a:latin typeface="Arial Narrow" panose="020B0606020202030204" pitchFamily="34" charset="0"/>
              </a:rPr>
              <a:t>For example, a high-performance grow-out pellet may contain a high concentration of protein to supply amino acids necessary to build muscles and support fast growth. </a:t>
            </a:r>
          </a:p>
          <a:p>
            <a:pPr marL="342900" indent="-342900" algn="just">
              <a:lnSpc>
                <a:spcPct val="150000"/>
              </a:lnSpc>
              <a:buFont typeface="Wingdings" panose="05000000000000000000" pitchFamily="2" charset="2"/>
              <a:buChar char="q"/>
            </a:pPr>
            <a:r>
              <a:rPr lang="en-GB" b="0" i="0" u="none" strike="noStrike" baseline="0" dirty="0">
                <a:solidFill>
                  <a:srgbClr val="000000"/>
                </a:solidFill>
                <a:latin typeface="Arial Narrow" panose="020B0606020202030204" pitchFamily="34" charset="0"/>
              </a:rPr>
              <a:t>In order to increase the nutrient and energy density of a feed, something has to be taken out to provide room for the selected nutrient. What is decreased in the diet is usually carbohydrate, particularly in fish feeds. </a:t>
            </a:r>
            <a:endParaRPr lang="en-ZM" dirty="0">
              <a:solidFill>
                <a:srgbClr val="FF0000"/>
              </a:solidFill>
              <a:latin typeface="Arial Narrow" panose="020B0606020202030204" pitchFamily="34" charset="0"/>
            </a:endParaRPr>
          </a:p>
        </p:txBody>
      </p:sp>
    </p:spTree>
    <p:extLst>
      <p:ext uri="{BB962C8B-B14F-4D97-AF65-F5344CB8AC3E}">
        <p14:creationId xmlns:p14="http://schemas.microsoft.com/office/powerpoint/2010/main" val="24085094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879DF-704F-A00D-572B-E7C7A52AE7B4}"/>
              </a:ext>
            </a:extLst>
          </p:cNvPr>
          <p:cNvSpPr>
            <a:spLocks noGrp="1"/>
          </p:cNvSpPr>
          <p:nvPr>
            <p:ph type="ctrTitle"/>
          </p:nvPr>
        </p:nvSpPr>
        <p:spPr>
          <a:xfrm>
            <a:off x="329381" y="271361"/>
            <a:ext cx="11533238" cy="741362"/>
          </a:xfrm>
        </p:spPr>
        <p:txBody>
          <a:bodyPr>
            <a:normAutofit/>
          </a:bodyPr>
          <a:lstStyle/>
          <a:p>
            <a:r>
              <a:rPr lang="de-DE" sz="4000" b="1" i="0" u="none" strike="noStrike" baseline="0" dirty="0">
                <a:solidFill>
                  <a:srgbClr val="000000"/>
                </a:solidFill>
                <a:latin typeface="Arial Narrow" panose="020B0606020202030204" pitchFamily="34" charset="0"/>
              </a:rPr>
              <a:t>NUTRIENT COMPOSITION OF FEEDSTUFFS </a:t>
            </a:r>
            <a:endParaRPr lang="en-ZM" sz="4000" b="1" dirty="0">
              <a:latin typeface="Arial Narrow" panose="020B0606020202030204" pitchFamily="34" charset="0"/>
            </a:endParaRPr>
          </a:p>
        </p:txBody>
      </p:sp>
      <p:sp>
        <p:nvSpPr>
          <p:cNvPr id="3" name="Subtitle 2">
            <a:extLst>
              <a:ext uri="{FF2B5EF4-FFF2-40B4-BE49-F238E27FC236}">
                <a16:creationId xmlns:a16="http://schemas.microsoft.com/office/drawing/2014/main" id="{6107AEAB-3800-9DC8-32E6-AB24BBF3E56C}"/>
              </a:ext>
            </a:extLst>
          </p:cNvPr>
          <p:cNvSpPr>
            <a:spLocks noGrp="1"/>
          </p:cNvSpPr>
          <p:nvPr>
            <p:ph type="subTitle" idx="1"/>
          </p:nvPr>
        </p:nvSpPr>
        <p:spPr>
          <a:xfrm>
            <a:off x="1661653" y="1189703"/>
            <a:ext cx="8898192" cy="5121632"/>
          </a:xfrm>
        </p:spPr>
        <p:txBody>
          <a:bodyPr>
            <a:noAutofit/>
          </a:bodyPr>
          <a:lstStyle/>
          <a:p>
            <a:pPr marL="342900" indent="-342900" algn="just">
              <a:lnSpc>
                <a:spcPct val="150000"/>
              </a:lnSpc>
              <a:buFont typeface="Wingdings" panose="05000000000000000000" pitchFamily="2" charset="2"/>
              <a:buChar char="q"/>
            </a:pPr>
            <a:r>
              <a:rPr lang="en-GB" b="0" i="0" u="none" strike="noStrike" baseline="0" dirty="0">
                <a:solidFill>
                  <a:srgbClr val="000000"/>
                </a:solidFill>
                <a:latin typeface="Arial Narrow" panose="020B0606020202030204" pitchFamily="34" charset="0"/>
              </a:rPr>
              <a:t>Most species of fish derive energy from proteins and fats more efficiently than from carbohydrates</a:t>
            </a:r>
          </a:p>
          <a:p>
            <a:pPr marL="342900" indent="-342900" algn="just">
              <a:lnSpc>
                <a:spcPct val="150000"/>
              </a:lnSpc>
              <a:buFont typeface="Wingdings" panose="05000000000000000000" pitchFamily="2" charset="2"/>
              <a:buChar char="q"/>
            </a:pPr>
            <a:r>
              <a:rPr lang="en-GB" b="0" i="0" u="none" strike="noStrike" baseline="0" dirty="0">
                <a:solidFill>
                  <a:srgbClr val="000000"/>
                </a:solidFill>
                <a:latin typeface="Arial Narrow" panose="020B0606020202030204" pitchFamily="34" charset="0"/>
              </a:rPr>
              <a:t>The moisture content of a feed pellet also will influence its nutrient and energy densities because more water adds weight but no nutrients or calories </a:t>
            </a:r>
            <a:endParaRPr lang="en-ZM" dirty="0">
              <a:solidFill>
                <a:srgbClr val="FF0000"/>
              </a:solidFill>
              <a:latin typeface="Arial Narrow" panose="020B0606020202030204" pitchFamily="34" charset="0"/>
            </a:endParaRPr>
          </a:p>
        </p:txBody>
      </p:sp>
    </p:spTree>
    <p:extLst>
      <p:ext uri="{BB962C8B-B14F-4D97-AF65-F5344CB8AC3E}">
        <p14:creationId xmlns:p14="http://schemas.microsoft.com/office/powerpoint/2010/main" val="41990201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879DF-704F-A00D-572B-E7C7A52AE7B4}"/>
              </a:ext>
            </a:extLst>
          </p:cNvPr>
          <p:cNvSpPr>
            <a:spLocks noGrp="1"/>
          </p:cNvSpPr>
          <p:nvPr>
            <p:ph type="ctrTitle"/>
          </p:nvPr>
        </p:nvSpPr>
        <p:spPr>
          <a:xfrm>
            <a:off x="329381" y="271361"/>
            <a:ext cx="11533238" cy="741362"/>
          </a:xfrm>
        </p:spPr>
        <p:txBody>
          <a:bodyPr>
            <a:normAutofit/>
          </a:bodyPr>
          <a:lstStyle/>
          <a:p>
            <a:r>
              <a:rPr lang="de-DE" sz="4000" b="1" i="0" u="none" strike="noStrike" baseline="0" dirty="0">
                <a:solidFill>
                  <a:srgbClr val="000000"/>
                </a:solidFill>
                <a:latin typeface="Arial Narrow" panose="020B0606020202030204" pitchFamily="34" charset="0"/>
              </a:rPr>
              <a:t>NUTRIENT COMPOSITION OF FEEDSTUFFS </a:t>
            </a:r>
            <a:endParaRPr lang="en-ZM" sz="4000" b="1" dirty="0">
              <a:latin typeface="Arial Narrow" panose="020B0606020202030204" pitchFamily="34" charset="0"/>
            </a:endParaRPr>
          </a:p>
        </p:txBody>
      </p:sp>
      <p:pic>
        <p:nvPicPr>
          <p:cNvPr id="7" name="Picture 6">
            <a:extLst>
              <a:ext uri="{FF2B5EF4-FFF2-40B4-BE49-F238E27FC236}">
                <a16:creationId xmlns:a16="http://schemas.microsoft.com/office/drawing/2014/main" id="{861A10C5-34B4-2D71-6B67-AA99AF6EF593}"/>
              </a:ext>
            </a:extLst>
          </p:cNvPr>
          <p:cNvPicPr>
            <a:picLocks noChangeAspect="1"/>
          </p:cNvPicPr>
          <p:nvPr/>
        </p:nvPicPr>
        <p:blipFill>
          <a:blip r:embed="rId2"/>
          <a:stretch>
            <a:fillRect/>
          </a:stretch>
        </p:blipFill>
        <p:spPr>
          <a:xfrm>
            <a:off x="2131736" y="1100710"/>
            <a:ext cx="7928527" cy="5159632"/>
          </a:xfrm>
          <a:prstGeom prst="rect">
            <a:avLst/>
          </a:prstGeom>
        </p:spPr>
      </p:pic>
    </p:spTree>
    <p:extLst>
      <p:ext uri="{BB962C8B-B14F-4D97-AF65-F5344CB8AC3E}">
        <p14:creationId xmlns:p14="http://schemas.microsoft.com/office/powerpoint/2010/main" val="11364890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879DF-704F-A00D-572B-E7C7A52AE7B4}"/>
              </a:ext>
            </a:extLst>
          </p:cNvPr>
          <p:cNvSpPr>
            <a:spLocks noGrp="1"/>
          </p:cNvSpPr>
          <p:nvPr>
            <p:ph type="ctrTitle"/>
          </p:nvPr>
        </p:nvSpPr>
        <p:spPr>
          <a:xfrm>
            <a:off x="329381" y="271361"/>
            <a:ext cx="11533238" cy="741362"/>
          </a:xfrm>
        </p:spPr>
        <p:txBody>
          <a:bodyPr>
            <a:normAutofit/>
          </a:bodyPr>
          <a:lstStyle/>
          <a:p>
            <a:r>
              <a:rPr lang="de-DE" sz="4000" b="1" i="0" u="none" strike="noStrike" baseline="0" dirty="0">
                <a:solidFill>
                  <a:srgbClr val="000000"/>
                </a:solidFill>
                <a:latin typeface="Arial Narrow" panose="020B0606020202030204" pitchFamily="34" charset="0"/>
              </a:rPr>
              <a:t>NUTRIENT COMPOSITION OF FEEDSTUFFS </a:t>
            </a:r>
            <a:endParaRPr lang="en-ZM" sz="4000" b="1" dirty="0">
              <a:latin typeface="Arial Narrow" panose="020B0606020202030204" pitchFamily="34" charset="0"/>
            </a:endParaRPr>
          </a:p>
        </p:txBody>
      </p:sp>
      <p:pic>
        <p:nvPicPr>
          <p:cNvPr id="4" name="Picture 3">
            <a:extLst>
              <a:ext uri="{FF2B5EF4-FFF2-40B4-BE49-F238E27FC236}">
                <a16:creationId xmlns:a16="http://schemas.microsoft.com/office/drawing/2014/main" id="{1B211278-6C87-1CCC-B66C-8E310916390C}"/>
              </a:ext>
            </a:extLst>
          </p:cNvPr>
          <p:cNvPicPr>
            <a:picLocks noChangeAspect="1"/>
          </p:cNvPicPr>
          <p:nvPr/>
        </p:nvPicPr>
        <p:blipFill>
          <a:blip r:embed="rId2"/>
          <a:stretch>
            <a:fillRect/>
          </a:stretch>
        </p:blipFill>
        <p:spPr>
          <a:xfrm>
            <a:off x="2437418" y="1306202"/>
            <a:ext cx="7935614" cy="5147081"/>
          </a:xfrm>
          <a:prstGeom prst="rect">
            <a:avLst/>
          </a:prstGeom>
        </p:spPr>
      </p:pic>
    </p:spTree>
    <p:extLst>
      <p:ext uri="{BB962C8B-B14F-4D97-AF65-F5344CB8AC3E}">
        <p14:creationId xmlns:p14="http://schemas.microsoft.com/office/powerpoint/2010/main" val="27520828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879DF-704F-A00D-572B-E7C7A52AE7B4}"/>
              </a:ext>
            </a:extLst>
          </p:cNvPr>
          <p:cNvSpPr>
            <a:spLocks noGrp="1"/>
          </p:cNvSpPr>
          <p:nvPr>
            <p:ph type="ctrTitle"/>
          </p:nvPr>
        </p:nvSpPr>
        <p:spPr>
          <a:xfrm>
            <a:off x="329381" y="271361"/>
            <a:ext cx="11533238" cy="741362"/>
          </a:xfrm>
        </p:spPr>
        <p:txBody>
          <a:bodyPr>
            <a:normAutofit/>
          </a:bodyPr>
          <a:lstStyle/>
          <a:p>
            <a:r>
              <a:rPr lang="de-DE" sz="4000" b="1" i="0" u="none" strike="noStrike" baseline="0" dirty="0">
                <a:solidFill>
                  <a:srgbClr val="000000"/>
                </a:solidFill>
                <a:latin typeface="Arial Narrow" panose="020B0606020202030204" pitchFamily="34" charset="0"/>
              </a:rPr>
              <a:t>NUTRIENT COMPOSITION OF FEEDSTUFFS </a:t>
            </a:r>
            <a:endParaRPr lang="en-ZM" sz="4000" b="1" dirty="0">
              <a:latin typeface="Arial Narrow" panose="020B0606020202030204" pitchFamily="34" charset="0"/>
            </a:endParaRPr>
          </a:p>
        </p:txBody>
      </p:sp>
      <p:pic>
        <p:nvPicPr>
          <p:cNvPr id="5" name="Picture 4">
            <a:extLst>
              <a:ext uri="{FF2B5EF4-FFF2-40B4-BE49-F238E27FC236}">
                <a16:creationId xmlns:a16="http://schemas.microsoft.com/office/drawing/2014/main" id="{D032EEC3-0E4A-1007-9261-B7CF2E1075F7}"/>
              </a:ext>
            </a:extLst>
          </p:cNvPr>
          <p:cNvPicPr>
            <a:picLocks noChangeAspect="1"/>
          </p:cNvPicPr>
          <p:nvPr/>
        </p:nvPicPr>
        <p:blipFill>
          <a:blip r:embed="rId2"/>
          <a:stretch>
            <a:fillRect/>
          </a:stretch>
        </p:blipFill>
        <p:spPr>
          <a:xfrm>
            <a:off x="1763654" y="1081883"/>
            <a:ext cx="8717533" cy="5471588"/>
          </a:xfrm>
          <a:prstGeom prst="rect">
            <a:avLst/>
          </a:prstGeom>
        </p:spPr>
      </p:pic>
    </p:spTree>
    <p:extLst>
      <p:ext uri="{BB962C8B-B14F-4D97-AF65-F5344CB8AC3E}">
        <p14:creationId xmlns:p14="http://schemas.microsoft.com/office/powerpoint/2010/main" val="16711668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879DF-704F-A00D-572B-E7C7A52AE7B4}"/>
              </a:ext>
            </a:extLst>
          </p:cNvPr>
          <p:cNvSpPr>
            <a:spLocks noGrp="1"/>
          </p:cNvSpPr>
          <p:nvPr>
            <p:ph type="ctrTitle"/>
          </p:nvPr>
        </p:nvSpPr>
        <p:spPr>
          <a:xfrm>
            <a:off x="255639" y="221227"/>
            <a:ext cx="11533238" cy="811161"/>
          </a:xfrm>
        </p:spPr>
        <p:txBody>
          <a:bodyPr>
            <a:normAutofit/>
          </a:bodyPr>
          <a:lstStyle/>
          <a:p>
            <a:r>
              <a:rPr lang="de-DE" sz="4000" b="1" i="0" u="none" strike="noStrike" baseline="0" dirty="0">
                <a:solidFill>
                  <a:srgbClr val="000000"/>
                </a:solidFill>
                <a:latin typeface="Arial Narrow" panose="020B0606020202030204" pitchFamily="34" charset="0"/>
              </a:rPr>
              <a:t>PROCESSING OF THE FEEDSTUFFS </a:t>
            </a:r>
            <a:endParaRPr lang="en-ZM" sz="4000" b="1" dirty="0">
              <a:latin typeface="Arial Narrow" panose="020B0606020202030204" pitchFamily="34" charset="0"/>
            </a:endParaRPr>
          </a:p>
        </p:txBody>
      </p:sp>
      <p:sp>
        <p:nvSpPr>
          <p:cNvPr id="3" name="Subtitle 2">
            <a:extLst>
              <a:ext uri="{FF2B5EF4-FFF2-40B4-BE49-F238E27FC236}">
                <a16:creationId xmlns:a16="http://schemas.microsoft.com/office/drawing/2014/main" id="{6107AEAB-3800-9DC8-32E6-AB24BBF3E56C}"/>
              </a:ext>
            </a:extLst>
          </p:cNvPr>
          <p:cNvSpPr>
            <a:spLocks noGrp="1"/>
          </p:cNvSpPr>
          <p:nvPr>
            <p:ph type="subTitle" idx="1"/>
          </p:nvPr>
        </p:nvSpPr>
        <p:spPr>
          <a:xfrm>
            <a:off x="255639" y="1032388"/>
            <a:ext cx="11533238" cy="5604385"/>
          </a:xfrm>
        </p:spPr>
        <p:txBody>
          <a:bodyPr>
            <a:normAutofit/>
          </a:bodyPr>
          <a:lstStyle/>
          <a:p>
            <a:pPr marL="342900" indent="-342900" algn="just">
              <a:lnSpc>
                <a:spcPct val="150000"/>
              </a:lnSpc>
              <a:buFont typeface="Wingdings" panose="05000000000000000000" pitchFamily="2" charset="2"/>
              <a:buChar char="q"/>
            </a:pPr>
            <a:r>
              <a:rPr lang="en-GB" b="0" i="0" u="none" strike="noStrike" baseline="0" dirty="0">
                <a:solidFill>
                  <a:srgbClr val="000000"/>
                </a:solidFill>
                <a:latin typeface="Arial Narrow" panose="020B0606020202030204" pitchFamily="34" charset="0"/>
              </a:rPr>
              <a:t>Most feedstuffs have anti-nutritional factors, which will be harmful to fish. </a:t>
            </a:r>
          </a:p>
          <a:p>
            <a:pPr marL="342900" indent="-342900" algn="just">
              <a:lnSpc>
                <a:spcPct val="150000"/>
              </a:lnSpc>
              <a:buFont typeface="Wingdings" panose="05000000000000000000" pitchFamily="2" charset="2"/>
              <a:buChar char="q"/>
            </a:pPr>
            <a:r>
              <a:rPr lang="en-GB" b="0" i="0" u="none" strike="noStrike" baseline="0" dirty="0">
                <a:solidFill>
                  <a:srgbClr val="000000"/>
                </a:solidFill>
                <a:latin typeface="Arial Narrow" panose="020B0606020202030204" pitchFamily="34" charset="0"/>
              </a:rPr>
              <a:t>The anti-nutritional factors alter the nutritional value of the feedstuffs and affect the health of fish. </a:t>
            </a:r>
          </a:p>
          <a:p>
            <a:pPr marL="342900" indent="-342900" algn="just">
              <a:lnSpc>
                <a:spcPct val="150000"/>
              </a:lnSpc>
              <a:buFont typeface="Wingdings" panose="05000000000000000000" pitchFamily="2" charset="2"/>
              <a:buChar char="q"/>
            </a:pPr>
            <a:r>
              <a:rPr lang="en-GB" b="0" i="0" u="none" strike="noStrike" baseline="0" dirty="0">
                <a:solidFill>
                  <a:srgbClr val="000000"/>
                </a:solidFill>
                <a:latin typeface="Arial Narrow" panose="020B0606020202030204" pitchFamily="34" charset="0"/>
              </a:rPr>
              <a:t>They may be inherent in the foodstuffs or contaminants on the feedstuffs. They prevent easy digestion of nutrients in the feed. </a:t>
            </a:r>
          </a:p>
          <a:p>
            <a:pPr marL="342900" indent="-342900" algn="just">
              <a:lnSpc>
                <a:spcPct val="150000"/>
              </a:lnSpc>
              <a:buFont typeface="Wingdings" panose="05000000000000000000" pitchFamily="2" charset="2"/>
              <a:buChar char="q"/>
            </a:pPr>
            <a:r>
              <a:rPr lang="en-GB" b="0" i="0" u="none" strike="noStrike" baseline="0" dirty="0">
                <a:solidFill>
                  <a:srgbClr val="000000"/>
                </a:solidFill>
                <a:latin typeface="Arial Narrow" panose="020B0606020202030204" pitchFamily="34" charset="0"/>
              </a:rPr>
              <a:t>One of the ways to destroy anti-nutritional factors is to heat-treat the feedstuffs.</a:t>
            </a:r>
          </a:p>
          <a:p>
            <a:pPr marL="342900" indent="-342900" algn="just">
              <a:lnSpc>
                <a:spcPct val="150000"/>
              </a:lnSpc>
              <a:buFont typeface="Wingdings" panose="05000000000000000000" pitchFamily="2" charset="2"/>
              <a:buChar char="q"/>
            </a:pPr>
            <a:r>
              <a:rPr lang="en-GB" b="0" i="0" u="none" strike="noStrike" baseline="0" dirty="0">
                <a:solidFill>
                  <a:srgbClr val="000000"/>
                </a:solidFill>
                <a:latin typeface="Arial Narrow" panose="020B0606020202030204" pitchFamily="34" charset="0"/>
              </a:rPr>
              <a:t> Heat destroys such factors e.g. </a:t>
            </a:r>
            <a:r>
              <a:rPr lang="en-GB" b="0" i="0" u="none" strike="noStrike" baseline="0" dirty="0" err="1">
                <a:solidFill>
                  <a:srgbClr val="000000"/>
                </a:solidFill>
                <a:latin typeface="Arial Narrow" panose="020B0606020202030204" pitchFamily="34" charset="0"/>
              </a:rPr>
              <a:t>tripsin</a:t>
            </a:r>
            <a:r>
              <a:rPr lang="en-GB" b="0" i="0" u="none" strike="noStrike" baseline="0" dirty="0">
                <a:solidFill>
                  <a:srgbClr val="000000"/>
                </a:solidFill>
                <a:latin typeface="Arial Narrow" panose="020B0606020202030204" pitchFamily="34" charset="0"/>
              </a:rPr>
              <a:t> inhibitors in raw soybean or groundnut and gossypol in cottonseed. </a:t>
            </a:r>
          </a:p>
          <a:p>
            <a:pPr marL="342900" indent="-342900" algn="just">
              <a:lnSpc>
                <a:spcPct val="150000"/>
              </a:lnSpc>
              <a:buFont typeface="Wingdings" panose="05000000000000000000" pitchFamily="2" charset="2"/>
              <a:buChar char="q"/>
            </a:pPr>
            <a:r>
              <a:rPr lang="en-GB" sz="2400" b="0" i="0" u="none" strike="noStrike" baseline="0" dirty="0">
                <a:solidFill>
                  <a:srgbClr val="000000"/>
                </a:solidFill>
                <a:latin typeface="Arial Narrow" panose="020B0606020202030204" pitchFamily="34" charset="0"/>
              </a:rPr>
              <a:t>Processing feed stuffs may also include one or a combination of grinding,  soaking or pelleting</a:t>
            </a:r>
            <a:endParaRPr lang="en-GB" b="0" i="0" u="none" strike="noStrike" baseline="0" dirty="0">
              <a:solidFill>
                <a:srgbClr val="000000"/>
              </a:solidFill>
              <a:latin typeface="Arial Narrow" panose="020B0606020202030204" pitchFamily="34" charset="0"/>
            </a:endParaRPr>
          </a:p>
          <a:p>
            <a:pPr marL="342900" indent="-342900" algn="just">
              <a:lnSpc>
                <a:spcPct val="150000"/>
              </a:lnSpc>
              <a:buFont typeface="Wingdings" panose="05000000000000000000" pitchFamily="2" charset="2"/>
              <a:buChar char="q"/>
            </a:pPr>
            <a:endParaRPr lang="en-ZM" dirty="0">
              <a:solidFill>
                <a:srgbClr val="FF0000"/>
              </a:solidFill>
              <a:latin typeface="Arial Narrow" panose="020B0606020202030204" pitchFamily="34" charset="0"/>
            </a:endParaRPr>
          </a:p>
        </p:txBody>
      </p:sp>
    </p:spTree>
    <p:extLst>
      <p:ext uri="{BB962C8B-B14F-4D97-AF65-F5344CB8AC3E}">
        <p14:creationId xmlns:p14="http://schemas.microsoft.com/office/powerpoint/2010/main" val="933880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879DF-704F-A00D-572B-E7C7A52AE7B4}"/>
              </a:ext>
            </a:extLst>
          </p:cNvPr>
          <p:cNvSpPr>
            <a:spLocks noGrp="1"/>
          </p:cNvSpPr>
          <p:nvPr>
            <p:ph type="ctrTitle"/>
          </p:nvPr>
        </p:nvSpPr>
        <p:spPr>
          <a:xfrm>
            <a:off x="255639" y="221227"/>
            <a:ext cx="11533238" cy="811161"/>
          </a:xfrm>
        </p:spPr>
        <p:txBody>
          <a:bodyPr>
            <a:normAutofit/>
          </a:bodyPr>
          <a:lstStyle/>
          <a:p>
            <a:r>
              <a:rPr lang="de-DE" sz="4000" b="1" i="0" u="none" strike="noStrike" baseline="0" dirty="0">
                <a:solidFill>
                  <a:srgbClr val="000000"/>
                </a:solidFill>
                <a:latin typeface="Arial Narrow" panose="020B0606020202030204" pitchFamily="34" charset="0"/>
              </a:rPr>
              <a:t>PROCESSING OF THE FEEDSTUFFS </a:t>
            </a:r>
            <a:endParaRPr lang="en-ZM" sz="4000" b="1" dirty="0">
              <a:latin typeface="Arial Narrow" panose="020B0606020202030204" pitchFamily="34" charset="0"/>
            </a:endParaRPr>
          </a:p>
        </p:txBody>
      </p:sp>
      <p:sp>
        <p:nvSpPr>
          <p:cNvPr id="3" name="Subtitle 2">
            <a:extLst>
              <a:ext uri="{FF2B5EF4-FFF2-40B4-BE49-F238E27FC236}">
                <a16:creationId xmlns:a16="http://schemas.microsoft.com/office/drawing/2014/main" id="{6107AEAB-3800-9DC8-32E6-AB24BBF3E56C}"/>
              </a:ext>
            </a:extLst>
          </p:cNvPr>
          <p:cNvSpPr>
            <a:spLocks noGrp="1"/>
          </p:cNvSpPr>
          <p:nvPr>
            <p:ph type="subTitle" idx="1"/>
          </p:nvPr>
        </p:nvSpPr>
        <p:spPr>
          <a:xfrm>
            <a:off x="255638" y="1337186"/>
            <a:ext cx="11710219" cy="5299587"/>
          </a:xfrm>
        </p:spPr>
        <p:txBody>
          <a:bodyPr>
            <a:normAutofit/>
          </a:bodyPr>
          <a:lstStyle/>
          <a:p>
            <a:pPr marL="342900" indent="-342900" algn="just">
              <a:lnSpc>
                <a:spcPct val="150000"/>
              </a:lnSpc>
              <a:buFont typeface="Wingdings" panose="05000000000000000000" pitchFamily="2" charset="2"/>
              <a:buChar char="q"/>
            </a:pPr>
            <a:r>
              <a:rPr lang="en-GB" b="0" i="0" u="none" strike="noStrike" baseline="0" dirty="0">
                <a:solidFill>
                  <a:srgbClr val="000000"/>
                </a:solidFill>
                <a:latin typeface="Arial Narrow" panose="020B0606020202030204" pitchFamily="34" charset="0"/>
              </a:rPr>
              <a:t>Sources of nutrients for fish feed are: </a:t>
            </a:r>
          </a:p>
          <a:p>
            <a:pPr algn="just">
              <a:lnSpc>
                <a:spcPct val="150000"/>
              </a:lnSpc>
            </a:pPr>
            <a:r>
              <a:rPr lang="de-DE" b="1" i="0" u="none" strike="noStrike" baseline="0" dirty="0">
                <a:solidFill>
                  <a:srgbClr val="000000"/>
                </a:solidFill>
                <a:latin typeface="Arial Narrow" panose="020B0606020202030204" pitchFamily="34" charset="0"/>
              </a:rPr>
              <a:t>Proteins and Amino Acids - </a:t>
            </a:r>
            <a:r>
              <a:rPr lang="de-DE" b="0" i="0" u="none" strike="noStrike" baseline="0" dirty="0">
                <a:solidFill>
                  <a:srgbClr val="000000"/>
                </a:solidFill>
                <a:latin typeface="Arial Narrow" panose="020B0606020202030204" pitchFamily="34" charset="0"/>
              </a:rPr>
              <a:t>Fish meal, soybean meal, fish hydroxylate, skim milk powder, legumes, wheat gluten, and many plant-based concentrates (corn protein concentrate, sunflower concentrate, etc.) are excellent sources of protein. </a:t>
            </a:r>
          </a:p>
          <a:p>
            <a:pPr algn="just">
              <a:lnSpc>
                <a:spcPct val="150000"/>
              </a:lnSpc>
            </a:pPr>
            <a:r>
              <a:rPr lang="de-DE" b="0" i="0" u="none" strike="noStrike" baseline="0" dirty="0">
                <a:solidFill>
                  <a:srgbClr val="000000"/>
                </a:solidFill>
                <a:latin typeface="Arial Narrow" panose="020B0606020202030204" pitchFamily="34" charset="0"/>
              </a:rPr>
              <a:t>Additionally, the building blocks of proteins (free amino acids) such as crystalline lysine and methionine are commercially available to supplement the diet. </a:t>
            </a:r>
          </a:p>
          <a:p>
            <a:pPr algn="just">
              <a:lnSpc>
                <a:spcPct val="150000"/>
              </a:lnSpc>
            </a:pPr>
            <a:r>
              <a:rPr lang="en-GB" b="1" i="0" u="none" strike="noStrike" baseline="0" dirty="0">
                <a:solidFill>
                  <a:srgbClr val="000000"/>
                </a:solidFill>
                <a:latin typeface="Arial Narrow" panose="020B0606020202030204" pitchFamily="34" charset="0"/>
              </a:rPr>
              <a:t>Lipids - </a:t>
            </a:r>
            <a:r>
              <a:rPr lang="en-GB" b="0" i="0" u="none" strike="noStrike" baseline="0" dirty="0">
                <a:solidFill>
                  <a:srgbClr val="000000"/>
                </a:solidFill>
                <a:latin typeface="Arial Narrow" panose="020B0606020202030204" pitchFamily="34" charset="0"/>
              </a:rPr>
              <a:t>Oils from marine fish, vegetable oils from canola, sunflower and linseed, are common sources of lipids in fish feeds. </a:t>
            </a:r>
          </a:p>
        </p:txBody>
      </p:sp>
    </p:spTree>
    <p:extLst>
      <p:ext uri="{BB962C8B-B14F-4D97-AF65-F5344CB8AC3E}">
        <p14:creationId xmlns:p14="http://schemas.microsoft.com/office/powerpoint/2010/main" val="7252660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879DF-704F-A00D-572B-E7C7A52AE7B4}"/>
              </a:ext>
            </a:extLst>
          </p:cNvPr>
          <p:cNvSpPr>
            <a:spLocks noGrp="1"/>
          </p:cNvSpPr>
          <p:nvPr>
            <p:ph type="ctrTitle"/>
          </p:nvPr>
        </p:nvSpPr>
        <p:spPr>
          <a:xfrm>
            <a:off x="255639" y="221227"/>
            <a:ext cx="11533238" cy="811161"/>
          </a:xfrm>
        </p:spPr>
        <p:txBody>
          <a:bodyPr>
            <a:normAutofit/>
          </a:bodyPr>
          <a:lstStyle/>
          <a:p>
            <a:r>
              <a:rPr lang="de-DE" sz="4000" b="1" i="0" u="none" strike="noStrike" baseline="0" dirty="0">
                <a:solidFill>
                  <a:srgbClr val="000000"/>
                </a:solidFill>
                <a:latin typeface="Arial Narrow" panose="020B0606020202030204" pitchFamily="34" charset="0"/>
              </a:rPr>
              <a:t>PROCESSING OF THE FEEDSTUFFS </a:t>
            </a:r>
            <a:endParaRPr lang="en-ZM" sz="4000" b="1" dirty="0">
              <a:latin typeface="Arial Narrow" panose="020B0606020202030204" pitchFamily="34" charset="0"/>
            </a:endParaRPr>
          </a:p>
        </p:txBody>
      </p:sp>
      <p:sp>
        <p:nvSpPr>
          <p:cNvPr id="3" name="Subtitle 2">
            <a:extLst>
              <a:ext uri="{FF2B5EF4-FFF2-40B4-BE49-F238E27FC236}">
                <a16:creationId xmlns:a16="http://schemas.microsoft.com/office/drawing/2014/main" id="{6107AEAB-3800-9DC8-32E6-AB24BBF3E56C}"/>
              </a:ext>
            </a:extLst>
          </p:cNvPr>
          <p:cNvSpPr>
            <a:spLocks noGrp="1"/>
          </p:cNvSpPr>
          <p:nvPr>
            <p:ph type="subTitle" idx="1"/>
          </p:nvPr>
        </p:nvSpPr>
        <p:spPr>
          <a:xfrm>
            <a:off x="255638" y="1337186"/>
            <a:ext cx="11710219" cy="5299587"/>
          </a:xfrm>
        </p:spPr>
        <p:txBody>
          <a:bodyPr>
            <a:normAutofit lnSpcReduction="10000"/>
          </a:bodyPr>
          <a:lstStyle/>
          <a:p>
            <a:pPr marL="342900" indent="-342900" algn="just">
              <a:lnSpc>
                <a:spcPct val="150000"/>
              </a:lnSpc>
              <a:buFont typeface="Wingdings" panose="05000000000000000000" pitchFamily="2" charset="2"/>
              <a:buChar char="q"/>
            </a:pPr>
            <a:r>
              <a:rPr lang="en-GB" b="0" i="0" u="none" strike="noStrike" baseline="0" dirty="0">
                <a:solidFill>
                  <a:srgbClr val="000000"/>
                </a:solidFill>
                <a:latin typeface="Arial Narrow" panose="020B0606020202030204" pitchFamily="34" charset="0"/>
              </a:rPr>
              <a:t>Sources of nutrients for fish feed are: </a:t>
            </a:r>
            <a:endParaRPr lang="en-ZM" b="0" i="0" u="none" strike="noStrike" baseline="0" dirty="0">
              <a:solidFill>
                <a:srgbClr val="000000"/>
              </a:solidFill>
              <a:latin typeface="Arial Narrow" panose="020B0606020202030204" pitchFamily="34" charset="0"/>
            </a:endParaRPr>
          </a:p>
          <a:p>
            <a:pPr algn="just">
              <a:lnSpc>
                <a:spcPct val="150000"/>
              </a:lnSpc>
            </a:pPr>
            <a:r>
              <a:rPr lang="en-GB" b="1" i="0" u="none" strike="noStrike" baseline="0" dirty="0">
                <a:solidFill>
                  <a:srgbClr val="000000"/>
                </a:solidFill>
                <a:latin typeface="Arial Narrow" panose="020B0606020202030204" pitchFamily="34" charset="0"/>
              </a:rPr>
              <a:t>Carbohydrates - </a:t>
            </a:r>
            <a:r>
              <a:rPr lang="en-GB" b="0" i="0" u="none" strike="noStrike" baseline="0" dirty="0">
                <a:solidFill>
                  <a:srgbClr val="000000"/>
                </a:solidFill>
                <a:latin typeface="Arial Narrow" panose="020B0606020202030204" pitchFamily="34" charset="0"/>
              </a:rPr>
              <a:t>Cooked carbohydrates, from flours of corn, wheat or other cereals, are relatively inexpensive sources of energy that may spare protein (which is more expensive) from being used as an energy source. </a:t>
            </a:r>
          </a:p>
          <a:p>
            <a:pPr algn="just">
              <a:lnSpc>
                <a:spcPct val="150000"/>
              </a:lnSpc>
            </a:pPr>
            <a:r>
              <a:rPr lang="en-GB" b="1" i="0" u="none" strike="noStrike" baseline="0" dirty="0">
                <a:solidFill>
                  <a:srgbClr val="000000"/>
                </a:solidFill>
                <a:latin typeface="Arial Narrow" panose="020B0606020202030204" pitchFamily="34" charset="0"/>
              </a:rPr>
              <a:t>Vitamins and Minerals - </a:t>
            </a:r>
            <a:r>
              <a:rPr lang="en-GB" b="0" i="0" u="none" strike="noStrike" baseline="0" dirty="0">
                <a:solidFill>
                  <a:srgbClr val="000000"/>
                </a:solidFill>
                <a:latin typeface="Arial Narrow" panose="020B0606020202030204" pitchFamily="34" charset="0"/>
              </a:rPr>
              <a:t>The variety and number of vitamins and minerals are so complex that they are usually prepared synthetically and are available commercially as a balanced and pre-measured mixture known as a vitamin or mineral premix. </a:t>
            </a:r>
          </a:p>
          <a:p>
            <a:pPr algn="just">
              <a:lnSpc>
                <a:spcPct val="150000"/>
              </a:lnSpc>
            </a:pPr>
            <a:r>
              <a:rPr lang="en-GB" b="0" i="0" u="none" strike="noStrike" baseline="0" dirty="0">
                <a:solidFill>
                  <a:srgbClr val="000000"/>
                </a:solidFill>
                <a:latin typeface="Arial Narrow" panose="020B0606020202030204" pitchFamily="34" charset="0"/>
              </a:rPr>
              <a:t>This premix is added to the diet in generous amounts (1-2%) to ensure that adequate levels of vitamins and minerals are supplied to meet dietary requirements. </a:t>
            </a:r>
          </a:p>
        </p:txBody>
      </p:sp>
    </p:spTree>
    <p:extLst>
      <p:ext uri="{BB962C8B-B14F-4D97-AF65-F5344CB8AC3E}">
        <p14:creationId xmlns:p14="http://schemas.microsoft.com/office/powerpoint/2010/main" val="36618072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879DF-704F-A00D-572B-E7C7A52AE7B4}"/>
              </a:ext>
            </a:extLst>
          </p:cNvPr>
          <p:cNvSpPr>
            <a:spLocks noGrp="1"/>
          </p:cNvSpPr>
          <p:nvPr>
            <p:ph type="ctrTitle"/>
          </p:nvPr>
        </p:nvSpPr>
        <p:spPr>
          <a:xfrm>
            <a:off x="255639" y="221227"/>
            <a:ext cx="11533238" cy="811161"/>
          </a:xfrm>
        </p:spPr>
        <p:txBody>
          <a:bodyPr>
            <a:normAutofit/>
          </a:bodyPr>
          <a:lstStyle/>
          <a:p>
            <a:r>
              <a:rPr lang="de-DE" sz="4000" b="1" i="0" u="none" strike="noStrike" baseline="0" dirty="0">
                <a:solidFill>
                  <a:srgbClr val="000000"/>
                </a:solidFill>
                <a:latin typeface="Arial Narrow" panose="020B0606020202030204" pitchFamily="34" charset="0"/>
              </a:rPr>
              <a:t>PROCESSING OF THE FEEDSTUFFS </a:t>
            </a:r>
            <a:endParaRPr lang="en-ZM" sz="4000" b="1" dirty="0">
              <a:latin typeface="Arial Narrow" panose="020B0606020202030204" pitchFamily="34" charset="0"/>
            </a:endParaRPr>
          </a:p>
        </p:txBody>
      </p:sp>
      <p:sp>
        <p:nvSpPr>
          <p:cNvPr id="3" name="Subtitle 2">
            <a:extLst>
              <a:ext uri="{FF2B5EF4-FFF2-40B4-BE49-F238E27FC236}">
                <a16:creationId xmlns:a16="http://schemas.microsoft.com/office/drawing/2014/main" id="{6107AEAB-3800-9DC8-32E6-AB24BBF3E56C}"/>
              </a:ext>
            </a:extLst>
          </p:cNvPr>
          <p:cNvSpPr>
            <a:spLocks noGrp="1"/>
          </p:cNvSpPr>
          <p:nvPr>
            <p:ph type="subTitle" idx="1"/>
          </p:nvPr>
        </p:nvSpPr>
        <p:spPr>
          <a:xfrm>
            <a:off x="255638" y="1032388"/>
            <a:ext cx="11710219" cy="5604385"/>
          </a:xfrm>
        </p:spPr>
        <p:txBody>
          <a:bodyPr>
            <a:normAutofit/>
          </a:bodyPr>
          <a:lstStyle/>
          <a:p>
            <a:pPr marL="342900" indent="-342900" algn="just">
              <a:lnSpc>
                <a:spcPct val="150000"/>
              </a:lnSpc>
              <a:buFont typeface="Wingdings" panose="05000000000000000000" pitchFamily="2" charset="2"/>
              <a:buChar char="q"/>
            </a:pPr>
            <a:r>
              <a:rPr lang="en-GB" b="0" i="0" u="none" strike="noStrike" baseline="0" dirty="0">
                <a:solidFill>
                  <a:srgbClr val="000000"/>
                </a:solidFill>
                <a:latin typeface="Arial Narrow" panose="020B0606020202030204" pitchFamily="34" charset="0"/>
              </a:rPr>
              <a:t>Sources of nutrients for fish feed are: </a:t>
            </a:r>
            <a:endParaRPr lang="en-ZM" b="0" i="0" u="none" strike="noStrike" baseline="0" dirty="0">
              <a:solidFill>
                <a:srgbClr val="000000"/>
              </a:solidFill>
              <a:latin typeface="Arial Narrow" panose="020B0606020202030204" pitchFamily="34" charset="0"/>
            </a:endParaRPr>
          </a:p>
          <a:p>
            <a:pPr algn="just">
              <a:lnSpc>
                <a:spcPct val="150000"/>
              </a:lnSpc>
            </a:pPr>
            <a:r>
              <a:rPr lang="en-GB" b="1" i="0" u="none" strike="noStrike" baseline="0" dirty="0">
                <a:solidFill>
                  <a:srgbClr val="000000"/>
                </a:solidFill>
                <a:latin typeface="Arial Narrow" panose="020B0606020202030204" pitchFamily="34" charset="0"/>
              </a:rPr>
              <a:t>Pigments - </a:t>
            </a:r>
            <a:r>
              <a:rPr lang="en-GB" dirty="0">
                <a:solidFill>
                  <a:srgbClr val="000000"/>
                </a:solidFill>
                <a:latin typeface="Arial Narrow" panose="020B0606020202030204" pitchFamily="34" charset="0"/>
              </a:rPr>
              <a:t>C</a:t>
            </a:r>
            <a:r>
              <a:rPr lang="en-GB" b="0" i="0" u="none" strike="noStrike" baseline="0" dirty="0">
                <a:solidFill>
                  <a:srgbClr val="000000"/>
                </a:solidFill>
                <a:latin typeface="Arial Narrow" panose="020B0606020202030204" pitchFamily="34" charset="0"/>
              </a:rPr>
              <a:t>arotenoids are available to enhance </a:t>
            </a:r>
            <a:r>
              <a:rPr lang="en-GB" b="0" i="0" u="none" strike="noStrike" baseline="0" dirty="0" err="1">
                <a:solidFill>
                  <a:srgbClr val="000000"/>
                </a:solidFill>
                <a:latin typeface="Arial Narrow" panose="020B0606020202030204" pitchFamily="34" charset="0"/>
              </a:rPr>
              <a:t>colors</a:t>
            </a:r>
            <a:r>
              <a:rPr lang="en-GB" b="0" i="0" u="none" strike="noStrike" baseline="0" dirty="0">
                <a:solidFill>
                  <a:srgbClr val="000000"/>
                </a:solidFill>
                <a:latin typeface="Arial Narrow" panose="020B0606020202030204" pitchFamily="34" charset="0"/>
              </a:rPr>
              <a:t> red and yellow coloration in the flesh and the skin of freshwater and marine ornamental fish. </a:t>
            </a:r>
          </a:p>
          <a:p>
            <a:pPr algn="just">
              <a:lnSpc>
                <a:spcPct val="150000"/>
              </a:lnSpc>
            </a:pPr>
            <a:r>
              <a:rPr lang="en-GB" b="0" i="0" u="none" strike="noStrike" baseline="0" dirty="0">
                <a:solidFill>
                  <a:srgbClr val="000000"/>
                </a:solidFill>
                <a:latin typeface="Arial Narrow" panose="020B0606020202030204" pitchFamily="34" charset="0"/>
              </a:rPr>
              <a:t>The synthetically produced pigment, astaxanthin is the most commonly used additive (100–400 mg/kg). </a:t>
            </a:r>
          </a:p>
          <a:p>
            <a:pPr algn="just">
              <a:lnSpc>
                <a:spcPct val="150000"/>
              </a:lnSpc>
            </a:pPr>
            <a:r>
              <a:rPr lang="en-GB" b="0" i="0" u="none" strike="noStrike" baseline="0" dirty="0">
                <a:solidFill>
                  <a:srgbClr val="000000"/>
                </a:solidFill>
                <a:latin typeface="Arial Narrow" panose="020B0606020202030204" pitchFamily="34" charset="0"/>
              </a:rPr>
              <a:t>Cyanobacteria (blue-green algae’ dried shrimp meal, shrimp and palm oils, red peppers and yeast are excellent natural sources of pigments. </a:t>
            </a:r>
          </a:p>
          <a:p>
            <a:pPr algn="just">
              <a:lnSpc>
                <a:spcPct val="150000"/>
              </a:lnSpc>
            </a:pPr>
            <a:r>
              <a:rPr lang="en-GB" b="1" i="0" u="none" strike="noStrike" baseline="0" dirty="0">
                <a:solidFill>
                  <a:srgbClr val="000000"/>
                </a:solidFill>
                <a:latin typeface="Arial Narrow" panose="020B0606020202030204" pitchFamily="34" charset="0"/>
              </a:rPr>
              <a:t>Binding Agents - </a:t>
            </a:r>
            <a:r>
              <a:rPr lang="en-GB" b="0" i="0" u="none" strike="noStrike" baseline="0" dirty="0">
                <a:solidFill>
                  <a:srgbClr val="000000"/>
                </a:solidFill>
                <a:latin typeface="Arial Narrow" panose="020B0606020202030204" pitchFamily="34" charset="0"/>
              </a:rPr>
              <a:t>Another important ingredient in fish diets is a binding agent to provide stability to the pellet and reduce leaching of nutrients into the water. </a:t>
            </a:r>
          </a:p>
        </p:txBody>
      </p:sp>
    </p:spTree>
    <p:extLst>
      <p:ext uri="{BB962C8B-B14F-4D97-AF65-F5344CB8AC3E}">
        <p14:creationId xmlns:p14="http://schemas.microsoft.com/office/powerpoint/2010/main" val="370598191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879DF-704F-A00D-572B-E7C7A52AE7B4}"/>
              </a:ext>
            </a:extLst>
          </p:cNvPr>
          <p:cNvSpPr>
            <a:spLocks noGrp="1"/>
          </p:cNvSpPr>
          <p:nvPr>
            <p:ph type="ctrTitle"/>
          </p:nvPr>
        </p:nvSpPr>
        <p:spPr>
          <a:xfrm>
            <a:off x="255639" y="221227"/>
            <a:ext cx="11533238" cy="811161"/>
          </a:xfrm>
        </p:spPr>
        <p:txBody>
          <a:bodyPr>
            <a:normAutofit/>
          </a:bodyPr>
          <a:lstStyle/>
          <a:p>
            <a:r>
              <a:rPr lang="de-DE" sz="4000" b="1" i="0" u="none" strike="noStrike" baseline="0" dirty="0">
                <a:solidFill>
                  <a:srgbClr val="000000"/>
                </a:solidFill>
                <a:latin typeface="Arial Narrow" panose="020B0606020202030204" pitchFamily="34" charset="0"/>
              </a:rPr>
              <a:t>PROCESSING OF THE FEEDSTUFFS </a:t>
            </a:r>
            <a:endParaRPr lang="en-ZM" sz="4000" b="1" dirty="0">
              <a:latin typeface="Arial Narrow" panose="020B0606020202030204" pitchFamily="34" charset="0"/>
            </a:endParaRPr>
          </a:p>
        </p:txBody>
      </p:sp>
      <p:sp>
        <p:nvSpPr>
          <p:cNvPr id="3" name="Subtitle 2">
            <a:extLst>
              <a:ext uri="{FF2B5EF4-FFF2-40B4-BE49-F238E27FC236}">
                <a16:creationId xmlns:a16="http://schemas.microsoft.com/office/drawing/2014/main" id="{6107AEAB-3800-9DC8-32E6-AB24BBF3E56C}"/>
              </a:ext>
            </a:extLst>
          </p:cNvPr>
          <p:cNvSpPr>
            <a:spLocks noGrp="1"/>
          </p:cNvSpPr>
          <p:nvPr>
            <p:ph type="subTitle" idx="1"/>
          </p:nvPr>
        </p:nvSpPr>
        <p:spPr>
          <a:xfrm>
            <a:off x="255638" y="1032388"/>
            <a:ext cx="11710219" cy="5604385"/>
          </a:xfrm>
        </p:spPr>
        <p:txBody>
          <a:bodyPr>
            <a:normAutofit/>
          </a:bodyPr>
          <a:lstStyle/>
          <a:p>
            <a:pPr marL="342900" indent="-342900" algn="just">
              <a:lnSpc>
                <a:spcPct val="150000"/>
              </a:lnSpc>
              <a:buFont typeface="Wingdings" panose="05000000000000000000" pitchFamily="2" charset="2"/>
              <a:buChar char="q"/>
            </a:pPr>
            <a:r>
              <a:rPr lang="en-GB" b="0" i="0" u="none" strike="noStrike" baseline="0" dirty="0">
                <a:solidFill>
                  <a:srgbClr val="000000"/>
                </a:solidFill>
                <a:latin typeface="Arial Narrow" panose="020B0606020202030204" pitchFamily="34" charset="0"/>
              </a:rPr>
              <a:t>Sources of nutrients for fish feed are: </a:t>
            </a:r>
            <a:endParaRPr lang="en-ZM" b="0" i="0" u="none" strike="noStrike" baseline="0" dirty="0">
              <a:solidFill>
                <a:srgbClr val="000000"/>
              </a:solidFill>
              <a:latin typeface="Arial Narrow" panose="020B0606020202030204" pitchFamily="34" charset="0"/>
            </a:endParaRPr>
          </a:p>
          <a:p>
            <a:pPr algn="just">
              <a:lnSpc>
                <a:spcPct val="150000"/>
              </a:lnSpc>
            </a:pPr>
            <a:r>
              <a:rPr lang="en-GB" b="1" i="0" u="none" strike="noStrike" baseline="0" dirty="0">
                <a:solidFill>
                  <a:srgbClr val="000000"/>
                </a:solidFill>
                <a:latin typeface="Arial Narrow" panose="020B0606020202030204" pitchFamily="34" charset="0"/>
              </a:rPr>
              <a:t>Preservatives - </a:t>
            </a:r>
            <a:r>
              <a:rPr lang="en-GB" b="0" i="0" u="none" strike="noStrike" baseline="0" dirty="0">
                <a:solidFill>
                  <a:srgbClr val="000000"/>
                </a:solidFill>
                <a:latin typeface="Arial Narrow" panose="020B0606020202030204" pitchFamily="34" charset="0"/>
              </a:rPr>
              <a:t>Preservatives, such as antimicrobials and antioxidants, are often added to extend the shelf-life of fish diets and reduce the rancidity of the fats. </a:t>
            </a:r>
          </a:p>
          <a:p>
            <a:pPr marL="342900" indent="-342900" algn="just">
              <a:lnSpc>
                <a:spcPct val="150000"/>
              </a:lnSpc>
              <a:buFont typeface="Wingdings" panose="05000000000000000000" pitchFamily="2" charset="2"/>
              <a:buChar char="Ø"/>
            </a:pPr>
            <a:r>
              <a:rPr lang="en-GB" b="0" i="0" u="none" strike="noStrike" baseline="0" dirty="0">
                <a:solidFill>
                  <a:srgbClr val="000000"/>
                </a:solidFill>
                <a:latin typeface="Arial Narrow" panose="020B0606020202030204" pitchFamily="34" charset="0"/>
              </a:rPr>
              <a:t>Vitamin E is an effective, but expensive, antioxidant that can be used in laboratory prepared formulations. </a:t>
            </a:r>
          </a:p>
          <a:p>
            <a:pPr marL="342900" indent="-342900" algn="just">
              <a:lnSpc>
                <a:spcPct val="150000"/>
              </a:lnSpc>
              <a:buFont typeface="Wingdings" panose="05000000000000000000" pitchFamily="2" charset="2"/>
              <a:buChar char="Ø"/>
            </a:pPr>
            <a:r>
              <a:rPr lang="en-GB" b="0" i="0" u="none" strike="noStrike" baseline="0" dirty="0">
                <a:solidFill>
                  <a:srgbClr val="000000"/>
                </a:solidFill>
                <a:latin typeface="Arial Narrow" panose="020B0606020202030204" pitchFamily="34" charset="0"/>
              </a:rPr>
              <a:t>Sodium and potassium salts of propionic, benzoic or sorbic acids, are commonly available antimicrobials added at less than 0.1% in the manufacture of fish feeds.</a:t>
            </a:r>
          </a:p>
          <a:p>
            <a:pPr marL="342900" indent="-342900" algn="just">
              <a:lnSpc>
                <a:spcPct val="150000"/>
              </a:lnSpc>
              <a:buFont typeface="Wingdings" panose="05000000000000000000" pitchFamily="2" charset="2"/>
              <a:buChar char="Ø"/>
            </a:pPr>
            <a:r>
              <a:rPr lang="en-GB" b="0" i="0" u="none" strike="noStrike" baseline="0" dirty="0">
                <a:solidFill>
                  <a:srgbClr val="000000"/>
                </a:solidFill>
                <a:latin typeface="Arial Narrow" panose="020B0606020202030204" pitchFamily="34" charset="0"/>
              </a:rPr>
              <a:t> Ethoxyquin (EMQ) is also used as a feed preservative in certain countries to prevent </a:t>
            </a:r>
            <a:r>
              <a:rPr lang="en-GB" b="0" i="0" u="none" strike="noStrike" baseline="0" dirty="0" err="1">
                <a:solidFill>
                  <a:srgbClr val="000000"/>
                </a:solidFill>
                <a:latin typeface="Arial Narrow" panose="020B0606020202030204" pitchFamily="34" charset="0"/>
              </a:rPr>
              <a:t>mold</a:t>
            </a:r>
            <a:r>
              <a:rPr lang="en-GB" b="0" i="0" u="none" strike="noStrike" baseline="0" dirty="0">
                <a:solidFill>
                  <a:srgbClr val="000000"/>
                </a:solidFill>
                <a:latin typeface="Arial Narrow" panose="020B0606020202030204" pitchFamily="34" charset="0"/>
              </a:rPr>
              <a:t>. </a:t>
            </a:r>
          </a:p>
        </p:txBody>
      </p:sp>
    </p:spTree>
    <p:extLst>
      <p:ext uri="{BB962C8B-B14F-4D97-AF65-F5344CB8AC3E}">
        <p14:creationId xmlns:p14="http://schemas.microsoft.com/office/powerpoint/2010/main" val="313896555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879DF-704F-A00D-572B-E7C7A52AE7B4}"/>
              </a:ext>
            </a:extLst>
          </p:cNvPr>
          <p:cNvSpPr>
            <a:spLocks noGrp="1"/>
          </p:cNvSpPr>
          <p:nvPr>
            <p:ph type="ctrTitle"/>
          </p:nvPr>
        </p:nvSpPr>
        <p:spPr>
          <a:xfrm>
            <a:off x="255639" y="221227"/>
            <a:ext cx="11533238" cy="811161"/>
          </a:xfrm>
        </p:spPr>
        <p:txBody>
          <a:bodyPr>
            <a:normAutofit/>
          </a:bodyPr>
          <a:lstStyle/>
          <a:p>
            <a:r>
              <a:rPr lang="de-DE" sz="4000" b="1" i="0" u="none" strike="noStrike" baseline="0" dirty="0">
                <a:solidFill>
                  <a:srgbClr val="000000"/>
                </a:solidFill>
                <a:latin typeface="Arial Narrow" panose="020B0606020202030204" pitchFamily="34" charset="0"/>
              </a:rPr>
              <a:t>PROCESSING OF THE FEEDSTUFFS </a:t>
            </a:r>
            <a:endParaRPr lang="en-ZM" sz="4000" b="1" dirty="0">
              <a:latin typeface="Arial Narrow" panose="020B0606020202030204" pitchFamily="34" charset="0"/>
            </a:endParaRPr>
          </a:p>
        </p:txBody>
      </p:sp>
      <p:sp>
        <p:nvSpPr>
          <p:cNvPr id="3" name="Subtitle 2">
            <a:extLst>
              <a:ext uri="{FF2B5EF4-FFF2-40B4-BE49-F238E27FC236}">
                <a16:creationId xmlns:a16="http://schemas.microsoft.com/office/drawing/2014/main" id="{6107AEAB-3800-9DC8-32E6-AB24BBF3E56C}"/>
              </a:ext>
            </a:extLst>
          </p:cNvPr>
          <p:cNvSpPr>
            <a:spLocks noGrp="1"/>
          </p:cNvSpPr>
          <p:nvPr>
            <p:ph type="subTitle" idx="1"/>
          </p:nvPr>
        </p:nvSpPr>
        <p:spPr>
          <a:xfrm>
            <a:off x="255638" y="1032388"/>
            <a:ext cx="11710219" cy="5604385"/>
          </a:xfrm>
        </p:spPr>
        <p:txBody>
          <a:bodyPr>
            <a:normAutofit/>
          </a:bodyPr>
          <a:lstStyle/>
          <a:p>
            <a:pPr marL="342900" indent="-342900" algn="just">
              <a:lnSpc>
                <a:spcPct val="150000"/>
              </a:lnSpc>
              <a:buFont typeface="Wingdings" panose="05000000000000000000" pitchFamily="2" charset="2"/>
              <a:buChar char="q"/>
            </a:pPr>
            <a:r>
              <a:rPr lang="en-GB" b="0" i="0" u="none" strike="noStrike" baseline="0" dirty="0">
                <a:solidFill>
                  <a:srgbClr val="000000"/>
                </a:solidFill>
                <a:latin typeface="Arial Narrow" panose="020B0606020202030204" pitchFamily="34" charset="0"/>
              </a:rPr>
              <a:t>Sources of nutrients for fish feed are: </a:t>
            </a:r>
            <a:endParaRPr lang="en-ZM" b="0" i="0" u="none" strike="noStrike" baseline="0" dirty="0">
              <a:solidFill>
                <a:srgbClr val="000000"/>
              </a:solidFill>
              <a:latin typeface="Arial Narrow" panose="020B0606020202030204" pitchFamily="34" charset="0"/>
            </a:endParaRPr>
          </a:p>
          <a:p>
            <a:pPr algn="just">
              <a:lnSpc>
                <a:spcPct val="150000"/>
              </a:lnSpc>
            </a:pPr>
            <a:r>
              <a:rPr lang="en-GB" b="1" i="0" u="none" strike="noStrike" baseline="0" dirty="0">
                <a:solidFill>
                  <a:srgbClr val="000000"/>
                </a:solidFill>
                <a:latin typeface="Arial Narrow" panose="020B0606020202030204" pitchFamily="34" charset="0"/>
              </a:rPr>
              <a:t>Stimulant and attractants - </a:t>
            </a:r>
            <a:r>
              <a:rPr lang="en-GB" b="0" i="0" u="none" strike="noStrike" baseline="0" dirty="0">
                <a:solidFill>
                  <a:srgbClr val="000000"/>
                </a:solidFill>
                <a:latin typeface="Arial Narrow" panose="020B0606020202030204" pitchFamily="34" charset="0"/>
              </a:rPr>
              <a:t>Other common additives incorporated into fish feeds are chemo-attractants and </a:t>
            </a:r>
            <a:r>
              <a:rPr lang="en-GB" b="0" i="0" u="none" strike="noStrike" baseline="0" dirty="0" err="1">
                <a:solidFill>
                  <a:srgbClr val="000000"/>
                </a:solidFill>
                <a:latin typeface="Arial Narrow" panose="020B0606020202030204" pitchFamily="34" charset="0"/>
              </a:rPr>
              <a:t>flavorings</a:t>
            </a:r>
            <a:r>
              <a:rPr lang="en-GB" b="0" i="0" u="none" strike="noStrike" baseline="0" dirty="0">
                <a:solidFill>
                  <a:srgbClr val="000000"/>
                </a:solidFill>
                <a:latin typeface="Arial Narrow" panose="020B0606020202030204" pitchFamily="34" charset="0"/>
              </a:rPr>
              <a:t>, such as fish hydroxylates and condensed fish soluble (typically added at 0.5-2% of the diet). </a:t>
            </a:r>
          </a:p>
          <a:p>
            <a:pPr marL="342900" indent="-342900" algn="just">
              <a:lnSpc>
                <a:spcPct val="150000"/>
              </a:lnSpc>
              <a:buFont typeface="Wingdings" panose="05000000000000000000" pitchFamily="2" charset="2"/>
              <a:buChar char="Ø"/>
            </a:pPr>
            <a:r>
              <a:rPr lang="en-GB" b="0" i="0" u="none" strike="noStrike" baseline="0" dirty="0">
                <a:solidFill>
                  <a:srgbClr val="000000"/>
                </a:solidFill>
                <a:latin typeface="Arial Narrow" panose="020B0606020202030204" pitchFamily="34" charset="0"/>
              </a:rPr>
              <a:t>The amino acids glycine and alanine, and the chemical betaine are also known to stimulate strong feeding </a:t>
            </a:r>
            <a:r>
              <a:rPr lang="en-GB" b="0" i="0" u="none" strike="noStrike" baseline="0" dirty="0" err="1">
                <a:solidFill>
                  <a:srgbClr val="000000"/>
                </a:solidFill>
                <a:latin typeface="Arial Narrow" panose="020B0606020202030204" pitchFamily="34" charset="0"/>
              </a:rPr>
              <a:t>behavior</a:t>
            </a:r>
            <a:r>
              <a:rPr lang="en-GB" b="0" i="0" u="none" strike="noStrike" baseline="0" dirty="0">
                <a:solidFill>
                  <a:srgbClr val="000000"/>
                </a:solidFill>
                <a:latin typeface="Arial Narrow" panose="020B0606020202030204" pitchFamily="34" charset="0"/>
              </a:rPr>
              <a:t> in fish. </a:t>
            </a:r>
          </a:p>
          <a:p>
            <a:pPr marL="342900" indent="-342900" algn="just">
              <a:lnSpc>
                <a:spcPct val="150000"/>
              </a:lnSpc>
              <a:buFont typeface="Wingdings" panose="05000000000000000000" pitchFamily="2" charset="2"/>
              <a:buChar char="Ø"/>
            </a:pPr>
            <a:r>
              <a:rPr lang="en-GB" b="0" i="0" u="none" strike="noStrike" baseline="0" dirty="0">
                <a:solidFill>
                  <a:srgbClr val="000000"/>
                </a:solidFill>
                <a:latin typeface="Arial Narrow" panose="020B0606020202030204" pitchFamily="34" charset="0"/>
              </a:rPr>
              <a:t>Basically, attractants enhance feed palatability and stimulant enhance feed intake. </a:t>
            </a:r>
          </a:p>
        </p:txBody>
      </p:sp>
    </p:spTree>
    <p:extLst>
      <p:ext uri="{BB962C8B-B14F-4D97-AF65-F5344CB8AC3E}">
        <p14:creationId xmlns:p14="http://schemas.microsoft.com/office/powerpoint/2010/main" val="86640293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879DF-704F-A00D-572B-E7C7A52AE7B4}"/>
              </a:ext>
            </a:extLst>
          </p:cNvPr>
          <p:cNvSpPr>
            <a:spLocks noGrp="1"/>
          </p:cNvSpPr>
          <p:nvPr>
            <p:ph type="ctrTitle"/>
          </p:nvPr>
        </p:nvSpPr>
        <p:spPr>
          <a:xfrm>
            <a:off x="255639" y="221227"/>
            <a:ext cx="11533238" cy="811161"/>
          </a:xfrm>
        </p:spPr>
        <p:txBody>
          <a:bodyPr>
            <a:normAutofit/>
          </a:bodyPr>
          <a:lstStyle/>
          <a:p>
            <a:r>
              <a:rPr lang="de-DE" sz="4000" b="1" i="0" u="none" strike="noStrike" baseline="0" dirty="0">
                <a:solidFill>
                  <a:srgbClr val="000000"/>
                </a:solidFill>
                <a:latin typeface="Arial Narrow" panose="020B0606020202030204" pitchFamily="34" charset="0"/>
              </a:rPr>
              <a:t>PROCESSING OF THE FEEDSTUFFS </a:t>
            </a:r>
            <a:endParaRPr lang="en-ZM" sz="4000" b="1" dirty="0">
              <a:latin typeface="Arial Narrow" panose="020B0606020202030204" pitchFamily="34" charset="0"/>
            </a:endParaRPr>
          </a:p>
        </p:txBody>
      </p:sp>
      <p:sp>
        <p:nvSpPr>
          <p:cNvPr id="3" name="Subtitle 2">
            <a:extLst>
              <a:ext uri="{FF2B5EF4-FFF2-40B4-BE49-F238E27FC236}">
                <a16:creationId xmlns:a16="http://schemas.microsoft.com/office/drawing/2014/main" id="{6107AEAB-3800-9DC8-32E6-AB24BBF3E56C}"/>
              </a:ext>
            </a:extLst>
          </p:cNvPr>
          <p:cNvSpPr>
            <a:spLocks noGrp="1"/>
          </p:cNvSpPr>
          <p:nvPr>
            <p:ph type="subTitle" idx="1"/>
          </p:nvPr>
        </p:nvSpPr>
        <p:spPr>
          <a:xfrm>
            <a:off x="1022554" y="1032388"/>
            <a:ext cx="9871587" cy="5604385"/>
          </a:xfrm>
        </p:spPr>
        <p:txBody>
          <a:bodyPr>
            <a:normAutofit/>
          </a:bodyPr>
          <a:lstStyle/>
          <a:p>
            <a:pPr marL="342900" indent="-342900" algn="just">
              <a:lnSpc>
                <a:spcPct val="150000"/>
              </a:lnSpc>
              <a:buFont typeface="Wingdings" panose="05000000000000000000" pitchFamily="2" charset="2"/>
              <a:buChar char="q"/>
            </a:pPr>
            <a:r>
              <a:rPr lang="en-GB" b="0" i="0" u="none" strike="noStrike" baseline="0" dirty="0">
                <a:solidFill>
                  <a:srgbClr val="000000"/>
                </a:solidFill>
                <a:latin typeface="Arial Narrow" panose="020B0606020202030204" pitchFamily="34" charset="0"/>
              </a:rPr>
              <a:t>Sources of nutrients for fish feed are: </a:t>
            </a:r>
            <a:endParaRPr lang="en-ZM" b="0" i="0" u="none" strike="noStrike" baseline="0" dirty="0">
              <a:solidFill>
                <a:srgbClr val="000000"/>
              </a:solidFill>
              <a:latin typeface="Arial Narrow" panose="020B0606020202030204" pitchFamily="34" charset="0"/>
            </a:endParaRPr>
          </a:p>
          <a:p>
            <a:pPr algn="just">
              <a:lnSpc>
                <a:spcPct val="150000"/>
              </a:lnSpc>
            </a:pPr>
            <a:r>
              <a:rPr lang="en-GB" b="1" i="0" u="none" strike="noStrike" baseline="0" dirty="0">
                <a:solidFill>
                  <a:srgbClr val="000000"/>
                </a:solidFill>
                <a:latin typeface="Arial Narrow" panose="020B0606020202030204" pitchFamily="34" charset="0"/>
              </a:rPr>
              <a:t>Other Feedstuffs</a:t>
            </a:r>
            <a:r>
              <a:rPr lang="en-GB" b="0" i="1" u="none" strike="noStrike" baseline="0" dirty="0">
                <a:solidFill>
                  <a:srgbClr val="000000"/>
                </a:solidFill>
                <a:latin typeface="Arial Narrow" panose="020B0606020202030204" pitchFamily="34" charset="0"/>
              </a:rPr>
              <a:t>. </a:t>
            </a:r>
            <a:r>
              <a:rPr lang="en-GB" b="0" i="0" u="none" strike="noStrike" baseline="0" dirty="0">
                <a:solidFill>
                  <a:srgbClr val="000000"/>
                </a:solidFill>
                <a:latin typeface="Arial Narrow" panose="020B0606020202030204" pitchFamily="34" charset="0"/>
              </a:rPr>
              <a:t>Fiber and ash (minerals) are a group of mixed materials found in most feedstuffs. </a:t>
            </a:r>
          </a:p>
          <a:p>
            <a:pPr marL="342900" indent="-342900" algn="just">
              <a:lnSpc>
                <a:spcPct val="150000"/>
              </a:lnSpc>
              <a:buFont typeface="Wingdings" panose="05000000000000000000" pitchFamily="2" charset="2"/>
              <a:buChar char="Ø"/>
            </a:pPr>
            <a:r>
              <a:rPr lang="en-GB" b="0" i="0" u="none" strike="noStrike" baseline="0" dirty="0">
                <a:solidFill>
                  <a:srgbClr val="000000"/>
                </a:solidFill>
                <a:latin typeface="Arial Narrow" panose="020B0606020202030204" pitchFamily="34" charset="0"/>
              </a:rPr>
              <a:t>In experimental diets, </a:t>
            </a:r>
            <a:r>
              <a:rPr lang="en-GB" b="0" i="0" u="none" strike="noStrike" baseline="0" dirty="0" err="1">
                <a:solidFill>
                  <a:srgbClr val="000000"/>
                </a:solidFill>
                <a:latin typeface="Arial Narrow" panose="020B0606020202030204" pitchFamily="34" charset="0"/>
              </a:rPr>
              <a:t>fiber</a:t>
            </a:r>
            <a:r>
              <a:rPr lang="en-GB" b="0" i="0" u="none" strike="noStrike" baseline="0" dirty="0">
                <a:solidFill>
                  <a:srgbClr val="000000"/>
                </a:solidFill>
                <a:latin typeface="Arial Narrow" panose="020B0606020202030204" pitchFamily="34" charset="0"/>
              </a:rPr>
              <a:t> is used as a filler, and ash as a source of calcium and phosphorus.</a:t>
            </a:r>
          </a:p>
          <a:p>
            <a:pPr marL="342900" indent="-342900" algn="just">
              <a:lnSpc>
                <a:spcPct val="150000"/>
              </a:lnSpc>
              <a:buFont typeface="Wingdings" panose="05000000000000000000" pitchFamily="2" charset="2"/>
              <a:buChar char="Ø"/>
            </a:pPr>
            <a:r>
              <a:rPr lang="en-GB" b="0" i="0" u="none" strike="noStrike" baseline="0" dirty="0">
                <a:solidFill>
                  <a:srgbClr val="000000"/>
                </a:solidFill>
                <a:latin typeface="Arial Narrow" panose="020B0606020202030204" pitchFamily="34" charset="0"/>
              </a:rPr>
              <a:t>A high </a:t>
            </a:r>
            <a:r>
              <a:rPr lang="en-GB" b="0" i="0" u="none" strike="noStrike" baseline="0" dirty="0" err="1">
                <a:solidFill>
                  <a:srgbClr val="000000"/>
                </a:solidFill>
                <a:latin typeface="Arial Narrow" panose="020B0606020202030204" pitchFamily="34" charset="0"/>
              </a:rPr>
              <a:t>fiber</a:t>
            </a:r>
            <a:r>
              <a:rPr lang="en-GB" b="0" i="0" u="none" strike="noStrike" baseline="0" dirty="0">
                <a:solidFill>
                  <a:srgbClr val="000000"/>
                </a:solidFill>
                <a:latin typeface="Arial Narrow" panose="020B0606020202030204" pitchFamily="34" charset="0"/>
              </a:rPr>
              <a:t> and ash content reduce the digestibility of other ingredients in the diet resulting in poor growth of the fish. </a:t>
            </a:r>
          </a:p>
        </p:txBody>
      </p:sp>
    </p:spTree>
    <p:extLst>
      <p:ext uri="{BB962C8B-B14F-4D97-AF65-F5344CB8AC3E}">
        <p14:creationId xmlns:p14="http://schemas.microsoft.com/office/powerpoint/2010/main" val="414138990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879DF-704F-A00D-572B-E7C7A52AE7B4}"/>
              </a:ext>
            </a:extLst>
          </p:cNvPr>
          <p:cNvSpPr>
            <a:spLocks noGrp="1"/>
          </p:cNvSpPr>
          <p:nvPr>
            <p:ph type="ctrTitle"/>
          </p:nvPr>
        </p:nvSpPr>
        <p:spPr>
          <a:xfrm>
            <a:off x="211395" y="117987"/>
            <a:ext cx="11533238" cy="589936"/>
          </a:xfrm>
        </p:spPr>
        <p:txBody>
          <a:bodyPr>
            <a:normAutofit fontScale="90000"/>
          </a:bodyPr>
          <a:lstStyle/>
          <a:p>
            <a:r>
              <a:rPr lang="de-DE" sz="4000" b="1" i="0" u="none" strike="noStrike" baseline="0" dirty="0">
                <a:solidFill>
                  <a:srgbClr val="000000"/>
                </a:solidFill>
                <a:latin typeface="Arial Narrow" panose="020B0606020202030204" pitchFamily="34" charset="0"/>
              </a:rPr>
              <a:t>SIMPLE QUESTIONS </a:t>
            </a:r>
            <a:endParaRPr lang="en-ZM" sz="4000" b="1" dirty="0">
              <a:latin typeface="Arial Narrow" panose="020B0606020202030204" pitchFamily="34" charset="0"/>
            </a:endParaRPr>
          </a:p>
        </p:txBody>
      </p:sp>
      <p:sp>
        <p:nvSpPr>
          <p:cNvPr id="3" name="Subtitle 2">
            <a:extLst>
              <a:ext uri="{FF2B5EF4-FFF2-40B4-BE49-F238E27FC236}">
                <a16:creationId xmlns:a16="http://schemas.microsoft.com/office/drawing/2014/main" id="{6107AEAB-3800-9DC8-32E6-AB24BBF3E56C}"/>
              </a:ext>
            </a:extLst>
          </p:cNvPr>
          <p:cNvSpPr>
            <a:spLocks noGrp="1"/>
          </p:cNvSpPr>
          <p:nvPr>
            <p:ph type="subTitle" idx="1"/>
          </p:nvPr>
        </p:nvSpPr>
        <p:spPr>
          <a:xfrm>
            <a:off x="1337188" y="707924"/>
            <a:ext cx="9281652" cy="5928850"/>
          </a:xfrm>
        </p:spPr>
        <p:txBody>
          <a:bodyPr>
            <a:normAutofit/>
          </a:bodyPr>
          <a:lstStyle/>
          <a:p>
            <a:pPr algn="just">
              <a:lnSpc>
                <a:spcPct val="150000"/>
              </a:lnSpc>
            </a:pPr>
            <a:r>
              <a:rPr lang="en-GB" b="0" i="0" u="none" strike="noStrike" baseline="0" dirty="0">
                <a:solidFill>
                  <a:srgbClr val="000000"/>
                </a:solidFill>
                <a:latin typeface="Arial Narrow" panose="020B0606020202030204" pitchFamily="34" charset="0"/>
              </a:rPr>
              <a:t>1. Which of the following is a feedstuff for fish?</a:t>
            </a:r>
          </a:p>
          <a:p>
            <a:pPr algn="just">
              <a:lnSpc>
                <a:spcPct val="150000"/>
              </a:lnSpc>
            </a:pPr>
            <a:r>
              <a:rPr lang="en-GB" b="0" i="0" u="none" strike="noStrike" baseline="0" dirty="0">
                <a:solidFill>
                  <a:srgbClr val="000000"/>
                </a:solidFill>
                <a:latin typeface="Arial Narrow" panose="020B0606020202030204" pitchFamily="34" charset="0"/>
              </a:rPr>
              <a:t>(a) Cassava, (b) Rice; (c) Groundnut cake</a:t>
            </a:r>
          </a:p>
          <a:p>
            <a:pPr algn="just">
              <a:lnSpc>
                <a:spcPct val="150000"/>
              </a:lnSpc>
            </a:pPr>
            <a:r>
              <a:rPr lang="en-GB" b="0" i="0" u="none" strike="noStrike" baseline="0" dirty="0">
                <a:solidFill>
                  <a:srgbClr val="000000"/>
                </a:solidFill>
                <a:latin typeface="Arial Narrow" panose="020B0606020202030204" pitchFamily="34" charset="0"/>
              </a:rPr>
              <a:t>2. Which of the following is not an anti-nutritional factor?</a:t>
            </a:r>
          </a:p>
          <a:p>
            <a:pPr algn="just">
              <a:lnSpc>
                <a:spcPct val="150000"/>
              </a:lnSpc>
            </a:pPr>
            <a:r>
              <a:rPr lang="en-GB" b="0" i="0" u="none" strike="noStrike" baseline="0" dirty="0">
                <a:solidFill>
                  <a:srgbClr val="000000"/>
                </a:solidFill>
                <a:latin typeface="Arial Narrow" panose="020B0606020202030204" pitchFamily="34" charset="0"/>
              </a:rPr>
              <a:t>(a) Cyanogenic glycosides; (b) Tannin; (c) Chitin</a:t>
            </a:r>
          </a:p>
          <a:p>
            <a:pPr algn="just">
              <a:lnSpc>
                <a:spcPct val="150000"/>
              </a:lnSpc>
            </a:pPr>
            <a:r>
              <a:rPr lang="en-GB" dirty="0">
                <a:solidFill>
                  <a:srgbClr val="000000"/>
                </a:solidFill>
                <a:latin typeface="Arial Narrow" panose="020B0606020202030204" pitchFamily="34" charset="0"/>
              </a:rPr>
              <a:t>3</a:t>
            </a:r>
            <a:r>
              <a:rPr lang="en-GB" b="0" i="0" u="none" strike="noStrike" baseline="0" dirty="0">
                <a:solidFill>
                  <a:srgbClr val="000000"/>
                </a:solidFill>
                <a:latin typeface="Arial Narrow" panose="020B0606020202030204" pitchFamily="34" charset="0"/>
              </a:rPr>
              <a:t>. Carbohydrate included in fish feed can serve the purpose of:</a:t>
            </a:r>
          </a:p>
          <a:p>
            <a:pPr algn="just">
              <a:lnSpc>
                <a:spcPct val="150000"/>
              </a:lnSpc>
            </a:pPr>
            <a:r>
              <a:rPr lang="en-GB" b="0" i="0" u="none" strike="noStrike" baseline="0" dirty="0">
                <a:solidFill>
                  <a:srgbClr val="000000"/>
                </a:solidFill>
                <a:latin typeface="Arial Narrow" panose="020B0606020202030204" pitchFamily="34" charset="0"/>
              </a:rPr>
              <a:t>(a) Binding; (b) Repairing worn out tissues; (c) Enhancement of bodily processes</a:t>
            </a:r>
          </a:p>
          <a:p>
            <a:pPr algn="just">
              <a:lnSpc>
                <a:spcPct val="150000"/>
              </a:lnSpc>
            </a:pPr>
            <a:r>
              <a:rPr lang="en-GB" dirty="0">
                <a:solidFill>
                  <a:srgbClr val="000000"/>
                </a:solidFill>
                <a:latin typeface="Arial Narrow" panose="020B0606020202030204" pitchFamily="34" charset="0"/>
              </a:rPr>
              <a:t>4</a:t>
            </a:r>
            <a:r>
              <a:rPr lang="en-GB" b="0" i="0" u="none" strike="noStrike" baseline="0" dirty="0">
                <a:solidFill>
                  <a:srgbClr val="000000"/>
                </a:solidFill>
                <a:latin typeface="Arial Narrow" panose="020B0606020202030204" pitchFamily="34" charset="0"/>
              </a:rPr>
              <a:t>. Protein included in fish feed can serve the purpose of:</a:t>
            </a:r>
          </a:p>
          <a:p>
            <a:pPr algn="just">
              <a:lnSpc>
                <a:spcPct val="150000"/>
              </a:lnSpc>
            </a:pPr>
            <a:r>
              <a:rPr lang="en-GB" b="0" i="0" u="none" strike="noStrike" baseline="0" dirty="0">
                <a:solidFill>
                  <a:srgbClr val="000000"/>
                </a:solidFill>
                <a:latin typeface="Arial Narrow" panose="020B0606020202030204" pitchFamily="34" charset="0"/>
              </a:rPr>
              <a:t>(a) Binding; (b) Repairing worn out tissues; (c) Enhancement of bodily processes</a:t>
            </a:r>
          </a:p>
        </p:txBody>
      </p:sp>
    </p:spTree>
    <p:extLst>
      <p:ext uri="{BB962C8B-B14F-4D97-AF65-F5344CB8AC3E}">
        <p14:creationId xmlns:p14="http://schemas.microsoft.com/office/powerpoint/2010/main" val="255101516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879DF-704F-A00D-572B-E7C7A52AE7B4}"/>
              </a:ext>
            </a:extLst>
          </p:cNvPr>
          <p:cNvSpPr>
            <a:spLocks noGrp="1"/>
          </p:cNvSpPr>
          <p:nvPr>
            <p:ph type="ctrTitle"/>
          </p:nvPr>
        </p:nvSpPr>
        <p:spPr>
          <a:xfrm>
            <a:off x="398208" y="117988"/>
            <a:ext cx="11253018" cy="589936"/>
          </a:xfrm>
        </p:spPr>
        <p:txBody>
          <a:bodyPr>
            <a:normAutofit fontScale="90000"/>
          </a:bodyPr>
          <a:lstStyle/>
          <a:p>
            <a:r>
              <a:rPr lang="de-DE" sz="4000" b="1" i="0" u="none" strike="noStrike" baseline="0" dirty="0">
                <a:solidFill>
                  <a:srgbClr val="000000"/>
                </a:solidFill>
                <a:latin typeface="Arial Narrow" panose="020B0606020202030204" pitchFamily="34" charset="0"/>
              </a:rPr>
              <a:t>CASE STUDY OF TILAPIA NUTRITIONAL REQUIREMENTS</a:t>
            </a:r>
            <a:endParaRPr lang="en-ZM" sz="4000" b="1" dirty="0">
              <a:latin typeface="Arial Narrow" panose="020B0606020202030204" pitchFamily="34" charset="0"/>
            </a:endParaRPr>
          </a:p>
        </p:txBody>
      </p:sp>
      <p:sp>
        <p:nvSpPr>
          <p:cNvPr id="3" name="Subtitle 2">
            <a:extLst>
              <a:ext uri="{FF2B5EF4-FFF2-40B4-BE49-F238E27FC236}">
                <a16:creationId xmlns:a16="http://schemas.microsoft.com/office/drawing/2014/main" id="{6107AEAB-3800-9DC8-32E6-AB24BBF3E56C}"/>
              </a:ext>
            </a:extLst>
          </p:cNvPr>
          <p:cNvSpPr>
            <a:spLocks noGrp="1"/>
          </p:cNvSpPr>
          <p:nvPr>
            <p:ph type="subTitle" idx="1"/>
          </p:nvPr>
        </p:nvSpPr>
        <p:spPr>
          <a:xfrm>
            <a:off x="1568247" y="707924"/>
            <a:ext cx="8686798" cy="5928850"/>
          </a:xfrm>
        </p:spPr>
        <p:txBody>
          <a:bodyPr>
            <a:normAutofit/>
          </a:bodyPr>
          <a:lstStyle/>
          <a:p>
            <a:pPr marL="342900" indent="-342900" algn="just">
              <a:lnSpc>
                <a:spcPct val="150000"/>
              </a:lnSpc>
              <a:buFont typeface="Wingdings" panose="05000000000000000000" pitchFamily="2" charset="2"/>
              <a:buChar char="Ø"/>
            </a:pPr>
            <a:r>
              <a:rPr lang="en-GB" b="0" i="0" u="none" strike="noStrike" baseline="0" dirty="0">
                <a:solidFill>
                  <a:srgbClr val="000000"/>
                </a:solidFill>
                <a:latin typeface="Arial Narrow" panose="020B0606020202030204" pitchFamily="34" charset="0"/>
              </a:rPr>
              <a:t>The Nile tilapia (</a:t>
            </a:r>
            <a:r>
              <a:rPr lang="en-GB" b="0" i="1" u="none" strike="noStrike" baseline="0" dirty="0">
                <a:solidFill>
                  <a:srgbClr val="000000"/>
                </a:solidFill>
                <a:latin typeface="Arial Narrow" panose="020B0606020202030204" pitchFamily="34" charset="0"/>
              </a:rPr>
              <a:t>Oreochromis </a:t>
            </a:r>
            <a:r>
              <a:rPr lang="en-GB" b="0" i="1" u="none" strike="noStrike" baseline="0" dirty="0" err="1">
                <a:solidFill>
                  <a:srgbClr val="000000"/>
                </a:solidFill>
                <a:latin typeface="Arial Narrow" panose="020B0606020202030204" pitchFamily="34" charset="0"/>
              </a:rPr>
              <a:t>niloticus</a:t>
            </a:r>
            <a:r>
              <a:rPr lang="en-GB" b="0" i="1" u="none" strike="noStrike" baseline="0" dirty="0">
                <a:solidFill>
                  <a:srgbClr val="000000"/>
                </a:solidFill>
                <a:latin typeface="Arial Narrow" panose="020B0606020202030204" pitchFamily="34" charset="0"/>
              </a:rPr>
              <a:t>) </a:t>
            </a:r>
            <a:r>
              <a:rPr lang="en-GB" b="0" i="0" u="none" strike="noStrike" baseline="0" dirty="0">
                <a:solidFill>
                  <a:srgbClr val="000000"/>
                </a:solidFill>
                <a:latin typeface="Arial Narrow" panose="020B0606020202030204" pitchFamily="34" charset="0"/>
              </a:rPr>
              <a:t>is a widely cultured species because it grows and reproduces in a wide range of environmental conditions and tolerates stress induced by handling. </a:t>
            </a:r>
          </a:p>
          <a:p>
            <a:pPr marL="342900" indent="-342900" algn="just">
              <a:lnSpc>
                <a:spcPct val="150000"/>
              </a:lnSpc>
              <a:buFont typeface="Wingdings" panose="05000000000000000000" pitchFamily="2" charset="2"/>
              <a:buChar char="Ø"/>
            </a:pPr>
            <a:r>
              <a:rPr lang="en-GB" b="0" i="0" u="none" strike="noStrike" baseline="0" dirty="0">
                <a:solidFill>
                  <a:srgbClr val="000000"/>
                </a:solidFill>
                <a:latin typeface="Arial Narrow" panose="020B0606020202030204" pitchFamily="34" charset="0"/>
              </a:rPr>
              <a:t>Nile tilapias are omnivores in feeding habits with an herbivore tendency. </a:t>
            </a:r>
          </a:p>
          <a:p>
            <a:pPr marL="342900" indent="-342900" algn="just">
              <a:lnSpc>
                <a:spcPct val="150000"/>
              </a:lnSpc>
              <a:buFont typeface="Wingdings" panose="05000000000000000000" pitchFamily="2" charset="2"/>
              <a:buChar char="Ø"/>
            </a:pPr>
            <a:r>
              <a:rPr lang="en-GB" b="0" i="0" u="none" strike="noStrike" baseline="0" dirty="0">
                <a:solidFill>
                  <a:srgbClr val="000000"/>
                </a:solidFill>
                <a:latin typeface="Arial Narrow" panose="020B0606020202030204" pitchFamily="34" charset="0"/>
              </a:rPr>
              <a:t>Tilapia can thus feed on a wide range of both natural and artificial foods. </a:t>
            </a:r>
          </a:p>
          <a:p>
            <a:pPr marL="342900" indent="-342900" algn="just">
              <a:lnSpc>
                <a:spcPct val="150000"/>
              </a:lnSpc>
              <a:buFont typeface="Wingdings" panose="05000000000000000000" pitchFamily="2" charset="2"/>
              <a:buChar char="Ø"/>
            </a:pPr>
            <a:r>
              <a:rPr lang="en-GB" b="0" i="0" u="none" strike="noStrike" baseline="0" dirty="0">
                <a:solidFill>
                  <a:srgbClr val="000000"/>
                </a:solidFill>
                <a:latin typeface="Arial Narrow" panose="020B0606020202030204" pitchFamily="34" charset="0"/>
              </a:rPr>
              <a:t>Nile tilapia has considerable potential for aquaculture in many tropical and subtropical regions in the world </a:t>
            </a:r>
          </a:p>
        </p:txBody>
      </p:sp>
    </p:spTree>
    <p:extLst>
      <p:ext uri="{BB962C8B-B14F-4D97-AF65-F5344CB8AC3E}">
        <p14:creationId xmlns:p14="http://schemas.microsoft.com/office/powerpoint/2010/main" val="421740562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879DF-704F-A00D-572B-E7C7A52AE7B4}"/>
              </a:ext>
            </a:extLst>
          </p:cNvPr>
          <p:cNvSpPr>
            <a:spLocks noGrp="1"/>
          </p:cNvSpPr>
          <p:nvPr>
            <p:ph type="ctrTitle"/>
          </p:nvPr>
        </p:nvSpPr>
        <p:spPr>
          <a:xfrm>
            <a:off x="398208" y="117988"/>
            <a:ext cx="11253018" cy="589936"/>
          </a:xfrm>
        </p:spPr>
        <p:txBody>
          <a:bodyPr>
            <a:normAutofit fontScale="90000"/>
          </a:bodyPr>
          <a:lstStyle/>
          <a:p>
            <a:r>
              <a:rPr lang="de-DE" sz="4000" b="1" i="0" u="none" strike="noStrike" baseline="0" dirty="0">
                <a:solidFill>
                  <a:srgbClr val="000000"/>
                </a:solidFill>
                <a:latin typeface="Arial Narrow" panose="020B0606020202030204" pitchFamily="34" charset="0"/>
              </a:rPr>
              <a:t>CASE STUDY OF TILAPIA NUTRITIONAL REQUIREMENTS</a:t>
            </a:r>
            <a:endParaRPr lang="en-ZM" sz="4000" b="1" dirty="0">
              <a:latin typeface="Arial Narrow" panose="020B0606020202030204" pitchFamily="34" charset="0"/>
            </a:endParaRPr>
          </a:p>
        </p:txBody>
      </p:sp>
      <p:sp>
        <p:nvSpPr>
          <p:cNvPr id="3" name="Subtitle 2">
            <a:extLst>
              <a:ext uri="{FF2B5EF4-FFF2-40B4-BE49-F238E27FC236}">
                <a16:creationId xmlns:a16="http://schemas.microsoft.com/office/drawing/2014/main" id="{6107AEAB-3800-9DC8-32E6-AB24BBF3E56C}"/>
              </a:ext>
            </a:extLst>
          </p:cNvPr>
          <p:cNvSpPr>
            <a:spLocks noGrp="1"/>
          </p:cNvSpPr>
          <p:nvPr>
            <p:ph type="subTitle" idx="1"/>
          </p:nvPr>
        </p:nvSpPr>
        <p:spPr>
          <a:xfrm>
            <a:off x="1568247" y="707924"/>
            <a:ext cx="9660192" cy="5928850"/>
          </a:xfrm>
        </p:spPr>
        <p:txBody>
          <a:bodyPr>
            <a:normAutofit/>
          </a:bodyPr>
          <a:lstStyle/>
          <a:p>
            <a:pPr marL="342900" indent="-342900" algn="just">
              <a:lnSpc>
                <a:spcPct val="150000"/>
              </a:lnSpc>
              <a:buFont typeface="Wingdings" panose="05000000000000000000" pitchFamily="2" charset="2"/>
              <a:buChar char="Ø"/>
            </a:pPr>
            <a:r>
              <a:rPr lang="en-GB" b="0" i="0" u="none" strike="noStrike" baseline="0" dirty="0">
                <a:solidFill>
                  <a:srgbClr val="000000"/>
                </a:solidFill>
                <a:latin typeface="Arial Narrow" panose="020B0606020202030204" pitchFamily="34" charset="0"/>
              </a:rPr>
              <a:t>Attributes that contribute to the popularity of Nile tilapia farming in ponds include </a:t>
            </a:r>
          </a:p>
          <a:p>
            <a:pPr marL="285750" indent="-285750" algn="just">
              <a:lnSpc>
                <a:spcPct val="150000"/>
              </a:lnSpc>
              <a:buFont typeface="Wingdings" panose="05000000000000000000" pitchFamily="2" charset="2"/>
              <a:buChar char="q"/>
            </a:pPr>
            <a:r>
              <a:rPr lang="en-GB" dirty="0">
                <a:solidFill>
                  <a:srgbClr val="000000"/>
                </a:solidFill>
                <a:latin typeface="Arial Narrow" panose="020B0606020202030204" pitchFamily="34" charset="0"/>
              </a:rPr>
              <a:t>E</a:t>
            </a:r>
            <a:r>
              <a:rPr lang="en-GB" b="0" i="0" u="none" strike="noStrike" baseline="0" dirty="0">
                <a:solidFill>
                  <a:srgbClr val="000000"/>
                </a:solidFill>
                <a:latin typeface="Arial Narrow" panose="020B0606020202030204" pitchFamily="34" charset="0"/>
              </a:rPr>
              <a:t>asy breeding, fast growth, tolerance of adverse environmental conditions, good taste, good market price, high tolerance to low water quality, efficient food conversion, resistance to disease and good consumer acceptance. </a:t>
            </a:r>
          </a:p>
        </p:txBody>
      </p:sp>
    </p:spTree>
    <p:extLst>
      <p:ext uri="{BB962C8B-B14F-4D97-AF65-F5344CB8AC3E}">
        <p14:creationId xmlns:p14="http://schemas.microsoft.com/office/powerpoint/2010/main" val="290414358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879DF-704F-A00D-572B-E7C7A52AE7B4}"/>
              </a:ext>
            </a:extLst>
          </p:cNvPr>
          <p:cNvSpPr>
            <a:spLocks noGrp="1"/>
          </p:cNvSpPr>
          <p:nvPr>
            <p:ph type="ctrTitle"/>
          </p:nvPr>
        </p:nvSpPr>
        <p:spPr>
          <a:xfrm>
            <a:off x="398208" y="117988"/>
            <a:ext cx="11253018" cy="589936"/>
          </a:xfrm>
        </p:spPr>
        <p:txBody>
          <a:bodyPr>
            <a:normAutofit fontScale="90000"/>
          </a:bodyPr>
          <a:lstStyle/>
          <a:p>
            <a:r>
              <a:rPr lang="de-DE" sz="4000" b="1" i="0" u="none" strike="noStrike" baseline="0" dirty="0">
                <a:solidFill>
                  <a:srgbClr val="000000"/>
                </a:solidFill>
                <a:latin typeface="Arial Narrow" panose="020B0606020202030204" pitchFamily="34" charset="0"/>
              </a:rPr>
              <a:t>CASE STUDY OF TILAPIA NUTRITIONAL REQUIREMENTS</a:t>
            </a:r>
            <a:endParaRPr lang="en-ZM" sz="4000" b="1" dirty="0">
              <a:latin typeface="Arial Narrow" panose="020B0606020202030204" pitchFamily="34" charset="0"/>
            </a:endParaRPr>
          </a:p>
        </p:txBody>
      </p:sp>
      <p:sp>
        <p:nvSpPr>
          <p:cNvPr id="3" name="Subtitle 2">
            <a:extLst>
              <a:ext uri="{FF2B5EF4-FFF2-40B4-BE49-F238E27FC236}">
                <a16:creationId xmlns:a16="http://schemas.microsoft.com/office/drawing/2014/main" id="{6107AEAB-3800-9DC8-32E6-AB24BBF3E56C}"/>
              </a:ext>
            </a:extLst>
          </p:cNvPr>
          <p:cNvSpPr>
            <a:spLocks noGrp="1"/>
          </p:cNvSpPr>
          <p:nvPr>
            <p:ph type="subTitle" idx="1"/>
          </p:nvPr>
        </p:nvSpPr>
        <p:spPr>
          <a:xfrm>
            <a:off x="1804222" y="698093"/>
            <a:ext cx="8785121" cy="5928850"/>
          </a:xfrm>
        </p:spPr>
        <p:txBody>
          <a:bodyPr>
            <a:normAutofit/>
          </a:bodyPr>
          <a:lstStyle/>
          <a:p>
            <a:pPr marL="342900" indent="-342900" algn="just">
              <a:lnSpc>
                <a:spcPct val="150000"/>
              </a:lnSpc>
              <a:buFont typeface="Wingdings" panose="05000000000000000000" pitchFamily="2" charset="2"/>
              <a:buChar char="Ø"/>
            </a:pPr>
            <a:r>
              <a:rPr lang="en-GB" b="0" i="0" u="none" strike="noStrike" baseline="0" dirty="0">
                <a:solidFill>
                  <a:srgbClr val="000000"/>
                </a:solidFill>
                <a:latin typeface="Arial Narrow" panose="020B0606020202030204" pitchFamily="34" charset="0"/>
              </a:rPr>
              <a:t>The major nutrient requirements of cultured tilapia show that early juvenile fish (0.02-10.0 g) would require a diet higher in protein, lipids, vitamins and minerals and lower in carbohydrates.</a:t>
            </a:r>
          </a:p>
          <a:p>
            <a:pPr marL="342900" indent="-342900" algn="just">
              <a:lnSpc>
                <a:spcPct val="150000"/>
              </a:lnSpc>
              <a:buFont typeface="Wingdings" panose="05000000000000000000" pitchFamily="2" charset="2"/>
              <a:buChar char="Ø"/>
            </a:pPr>
            <a:r>
              <a:rPr lang="en-GB" b="0" i="0" u="none" strike="noStrike" baseline="0" dirty="0">
                <a:solidFill>
                  <a:srgbClr val="000000"/>
                </a:solidFill>
                <a:latin typeface="Arial Narrow" panose="020B0606020202030204" pitchFamily="34" charset="0"/>
              </a:rPr>
              <a:t>Sub-adult fish (10-25 g) require more energy from lipids and carbohydrates for metabolism and a lower proportion of protein for growth. </a:t>
            </a:r>
          </a:p>
          <a:p>
            <a:pPr marL="342900" indent="-342900" algn="just">
              <a:lnSpc>
                <a:spcPct val="150000"/>
              </a:lnSpc>
              <a:buFont typeface="Wingdings" panose="05000000000000000000" pitchFamily="2" charset="2"/>
              <a:buChar char="Ø"/>
            </a:pPr>
            <a:r>
              <a:rPr lang="en-GB" b="0" i="0" u="none" strike="noStrike" baseline="0" dirty="0">
                <a:solidFill>
                  <a:srgbClr val="000000"/>
                </a:solidFill>
                <a:latin typeface="Arial Narrow" panose="020B0606020202030204" pitchFamily="34" charset="0"/>
              </a:rPr>
              <a:t>Adult fish (&gt;25.0 g) would require even less dietary protein for growth and can utilize even higher levels of carbohydrates as a source of energy. </a:t>
            </a:r>
          </a:p>
        </p:txBody>
      </p:sp>
    </p:spTree>
    <p:extLst>
      <p:ext uri="{BB962C8B-B14F-4D97-AF65-F5344CB8AC3E}">
        <p14:creationId xmlns:p14="http://schemas.microsoft.com/office/powerpoint/2010/main" val="48296010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879DF-704F-A00D-572B-E7C7A52AE7B4}"/>
              </a:ext>
            </a:extLst>
          </p:cNvPr>
          <p:cNvSpPr>
            <a:spLocks noGrp="1"/>
          </p:cNvSpPr>
          <p:nvPr>
            <p:ph type="ctrTitle"/>
          </p:nvPr>
        </p:nvSpPr>
        <p:spPr>
          <a:xfrm>
            <a:off x="398208" y="117988"/>
            <a:ext cx="11253018" cy="589936"/>
          </a:xfrm>
        </p:spPr>
        <p:txBody>
          <a:bodyPr>
            <a:normAutofit fontScale="90000"/>
          </a:bodyPr>
          <a:lstStyle/>
          <a:p>
            <a:r>
              <a:rPr lang="de-DE" sz="4000" b="1" i="0" u="none" strike="noStrike" baseline="0" dirty="0">
                <a:solidFill>
                  <a:srgbClr val="000000"/>
                </a:solidFill>
                <a:latin typeface="Arial Narrow" panose="020B0606020202030204" pitchFamily="34" charset="0"/>
              </a:rPr>
              <a:t>CASE STUDY OF TILAPIA NUTRITIONAL REQUIREMENTS</a:t>
            </a:r>
            <a:endParaRPr lang="en-ZM" sz="4000" b="1" dirty="0">
              <a:latin typeface="Arial Narrow" panose="020B0606020202030204" pitchFamily="34" charset="0"/>
            </a:endParaRPr>
          </a:p>
        </p:txBody>
      </p:sp>
      <p:pic>
        <p:nvPicPr>
          <p:cNvPr id="5" name="Picture 4">
            <a:extLst>
              <a:ext uri="{FF2B5EF4-FFF2-40B4-BE49-F238E27FC236}">
                <a16:creationId xmlns:a16="http://schemas.microsoft.com/office/drawing/2014/main" id="{832A3B0F-7EBA-9AE4-6A3C-B538047826EB}"/>
              </a:ext>
            </a:extLst>
          </p:cNvPr>
          <p:cNvPicPr>
            <a:picLocks noChangeAspect="1"/>
          </p:cNvPicPr>
          <p:nvPr/>
        </p:nvPicPr>
        <p:blipFill>
          <a:blip r:embed="rId2"/>
          <a:stretch>
            <a:fillRect/>
          </a:stretch>
        </p:blipFill>
        <p:spPr>
          <a:xfrm>
            <a:off x="1533867" y="1160207"/>
            <a:ext cx="9315996" cy="4994787"/>
          </a:xfrm>
          <a:prstGeom prst="rect">
            <a:avLst/>
          </a:prstGeom>
        </p:spPr>
      </p:pic>
      <p:sp>
        <p:nvSpPr>
          <p:cNvPr id="6" name="Rectangle 5">
            <a:extLst>
              <a:ext uri="{FF2B5EF4-FFF2-40B4-BE49-F238E27FC236}">
                <a16:creationId xmlns:a16="http://schemas.microsoft.com/office/drawing/2014/main" id="{5964E116-5BA6-F648-F1EA-702E0093068B}"/>
              </a:ext>
            </a:extLst>
          </p:cNvPr>
          <p:cNvSpPr/>
          <p:nvPr/>
        </p:nvSpPr>
        <p:spPr>
          <a:xfrm>
            <a:off x="1720645" y="1248697"/>
            <a:ext cx="1012723" cy="46211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M"/>
          </a:p>
        </p:txBody>
      </p:sp>
    </p:spTree>
    <p:extLst>
      <p:ext uri="{BB962C8B-B14F-4D97-AF65-F5344CB8AC3E}">
        <p14:creationId xmlns:p14="http://schemas.microsoft.com/office/powerpoint/2010/main" val="28033732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879DF-704F-A00D-572B-E7C7A52AE7B4}"/>
              </a:ext>
            </a:extLst>
          </p:cNvPr>
          <p:cNvSpPr>
            <a:spLocks noGrp="1"/>
          </p:cNvSpPr>
          <p:nvPr>
            <p:ph type="ctrTitle"/>
          </p:nvPr>
        </p:nvSpPr>
        <p:spPr>
          <a:xfrm>
            <a:off x="398208" y="117988"/>
            <a:ext cx="11253018" cy="589936"/>
          </a:xfrm>
        </p:spPr>
        <p:txBody>
          <a:bodyPr>
            <a:normAutofit fontScale="90000"/>
          </a:bodyPr>
          <a:lstStyle/>
          <a:p>
            <a:r>
              <a:rPr lang="de-DE" sz="4000" b="1" i="0" u="none" strike="noStrike" baseline="0" dirty="0">
                <a:solidFill>
                  <a:srgbClr val="000000"/>
                </a:solidFill>
                <a:latin typeface="Arial Narrow" panose="020B0606020202030204" pitchFamily="34" charset="0"/>
              </a:rPr>
              <a:t>CASE STUDY OF TILAPIA NUTRITIONAL REQUIREMENTS</a:t>
            </a:r>
            <a:endParaRPr lang="en-ZM" sz="4000" b="1" dirty="0">
              <a:latin typeface="Arial Narrow" panose="020B0606020202030204" pitchFamily="34" charset="0"/>
            </a:endParaRPr>
          </a:p>
        </p:txBody>
      </p:sp>
      <p:sp>
        <p:nvSpPr>
          <p:cNvPr id="3" name="Subtitle 2">
            <a:extLst>
              <a:ext uri="{FF2B5EF4-FFF2-40B4-BE49-F238E27FC236}">
                <a16:creationId xmlns:a16="http://schemas.microsoft.com/office/drawing/2014/main" id="{6107AEAB-3800-9DC8-32E6-AB24BBF3E56C}"/>
              </a:ext>
            </a:extLst>
          </p:cNvPr>
          <p:cNvSpPr>
            <a:spLocks noGrp="1"/>
          </p:cNvSpPr>
          <p:nvPr>
            <p:ph type="subTitle" idx="1"/>
          </p:nvPr>
        </p:nvSpPr>
        <p:spPr>
          <a:xfrm>
            <a:off x="1804222" y="698093"/>
            <a:ext cx="8785121" cy="5928850"/>
          </a:xfrm>
        </p:spPr>
        <p:txBody>
          <a:bodyPr>
            <a:normAutofit/>
          </a:bodyPr>
          <a:lstStyle/>
          <a:p>
            <a:pPr marL="342900" indent="-342900" algn="just">
              <a:lnSpc>
                <a:spcPct val="150000"/>
              </a:lnSpc>
              <a:buFont typeface="Wingdings" panose="05000000000000000000" pitchFamily="2" charset="2"/>
              <a:buChar char="Ø"/>
            </a:pPr>
            <a:r>
              <a:rPr lang="en-GB" b="0" i="0" u="none" strike="noStrike" baseline="0" dirty="0">
                <a:solidFill>
                  <a:srgbClr val="000000"/>
                </a:solidFill>
                <a:latin typeface="Arial Narrow" panose="020B0606020202030204" pitchFamily="34" charset="0"/>
              </a:rPr>
              <a:t>The major nutrient requirements of cultured tilapia show that early juvenile fish (0.02-10.0 g) would require a diet higher in protein, lipids, vitamins and minerals and lower in carbohydrates.</a:t>
            </a:r>
          </a:p>
          <a:p>
            <a:pPr marL="342900" indent="-342900" algn="just">
              <a:lnSpc>
                <a:spcPct val="150000"/>
              </a:lnSpc>
              <a:buFont typeface="Wingdings" panose="05000000000000000000" pitchFamily="2" charset="2"/>
              <a:buChar char="Ø"/>
            </a:pPr>
            <a:r>
              <a:rPr lang="en-GB" b="0" i="0" u="none" strike="noStrike" baseline="0" dirty="0">
                <a:solidFill>
                  <a:srgbClr val="000000"/>
                </a:solidFill>
                <a:latin typeface="Arial Narrow" panose="020B0606020202030204" pitchFamily="34" charset="0"/>
              </a:rPr>
              <a:t>Sub-adult fish (10-25 g) require more energy from lipids and carbohydrates for metabolism and a lower proportion of protein for growth. </a:t>
            </a:r>
          </a:p>
          <a:p>
            <a:pPr marL="342900" indent="-342900" algn="just">
              <a:lnSpc>
                <a:spcPct val="150000"/>
              </a:lnSpc>
              <a:buFont typeface="Wingdings" panose="05000000000000000000" pitchFamily="2" charset="2"/>
              <a:buChar char="Ø"/>
            </a:pPr>
            <a:r>
              <a:rPr lang="en-GB" b="0" i="0" u="none" strike="noStrike" baseline="0" dirty="0">
                <a:solidFill>
                  <a:srgbClr val="000000"/>
                </a:solidFill>
                <a:latin typeface="Arial Narrow" panose="020B0606020202030204" pitchFamily="34" charset="0"/>
              </a:rPr>
              <a:t>Adult fish (&gt;25.0 g) would require even less dietary protein for growth and can utilize even higher levels of carbohydrates as a source of energy. </a:t>
            </a:r>
          </a:p>
        </p:txBody>
      </p:sp>
    </p:spTree>
    <p:extLst>
      <p:ext uri="{BB962C8B-B14F-4D97-AF65-F5344CB8AC3E}">
        <p14:creationId xmlns:p14="http://schemas.microsoft.com/office/powerpoint/2010/main" val="219803925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C9308-ADE9-DCD3-9A6D-77D1BA394F20}"/>
              </a:ext>
            </a:extLst>
          </p:cNvPr>
          <p:cNvSpPr>
            <a:spLocks noGrp="1"/>
          </p:cNvSpPr>
          <p:nvPr>
            <p:ph type="title"/>
          </p:nvPr>
        </p:nvSpPr>
        <p:spPr>
          <a:xfrm>
            <a:off x="838200" y="138984"/>
            <a:ext cx="10515600" cy="677094"/>
          </a:xfrm>
        </p:spPr>
        <p:txBody>
          <a:bodyPr>
            <a:normAutofit fontScale="90000"/>
          </a:bodyPr>
          <a:lstStyle/>
          <a:p>
            <a:pPr algn="ctr"/>
            <a:r>
              <a:rPr lang="en-GB" sz="4400" b="1" dirty="0">
                <a:latin typeface="Arial Narrow" panose="020B0606020202030204" pitchFamily="34" charset="0"/>
              </a:rPr>
              <a:t>MANUFACTURING/FORMULATION</a:t>
            </a:r>
            <a:endParaRPr lang="en-ZM" dirty="0"/>
          </a:p>
        </p:txBody>
      </p:sp>
      <p:sp>
        <p:nvSpPr>
          <p:cNvPr id="3" name="Content Placeholder 2">
            <a:extLst>
              <a:ext uri="{FF2B5EF4-FFF2-40B4-BE49-F238E27FC236}">
                <a16:creationId xmlns:a16="http://schemas.microsoft.com/office/drawing/2014/main" id="{2EA05564-A838-8054-DDAD-7A5377B56557}"/>
              </a:ext>
            </a:extLst>
          </p:cNvPr>
          <p:cNvSpPr>
            <a:spLocks noGrp="1"/>
          </p:cNvSpPr>
          <p:nvPr>
            <p:ph sz="half" idx="1"/>
          </p:nvPr>
        </p:nvSpPr>
        <p:spPr>
          <a:xfrm>
            <a:off x="294968" y="816078"/>
            <a:ext cx="5724832" cy="5742037"/>
          </a:xfrm>
        </p:spPr>
        <p:txBody>
          <a:bodyPr>
            <a:normAutofit/>
          </a:bodyPr>
          <a:lstStyle/>
          <a:p>
            <a:pPr marL="342900" indent="-342900" algn="just">
              <a:lnSpc>
                <a:spcPct val="150000"/>
              </a:lnSpc>
              <a:buFont typeface="Wingdings" panose="05000000000000000000" pitchFamily="2" charset="2"/>
              <a:buChar char="q"/>
            </a:pPr>
            <a:r>
              <a:rPr lang="en-GB" sz="2400" dirty="0">
                <a:latin typeface="Arial Narrow" panose="020B0606020202030204" pitchFamily="34" charset="0"/>
              </a:rPr>
              <a:t>Process of forming feed ingredient mixtures into particles that make it easier to deliver nutrients and energy to fish and other aquatic organisms. </a:t>
            </a:r>
          </a:p>
          <a:p>
            <a:pPr marL="285750" indent="-285750" algn="just">
              <a:lnSpc>
                <a:spcPct val="150000"/>
              </a:lnSpc>
              <a:buFont typeface="Wingdings" panose="05000000000000000000" pitchFamily="2" charset="2"/>
              <a:buChar char="q"/>
            </a:pPr>
            <a:r>
              <a:rPr lang="en-GB" sz="2400" b="0" i="0" u="none" strike="noStrike" baseline="0" dirty="0">
                <a:solidFill>
                  <a:srgbClr val="000000"/>
                </a:solidFill>
                <a:latin typeface="Arial Narrow" panose="020B0606020202030204" pitchFamily="34" charset="0"/>
              </a:rPr>
              <a:t>Feed formulation is the method of combining selected ground feed ingredients in varying proportions to comply with predetermined nutrient requirements of a fish species. </a:t>
            </a:r>
            <a:endParaRPr lang="en-GB" sz="2400" dirty="0">
              <a:latin typeface="Arial Narrow" panose="020B0606020202030204" pitchFamily="34" charset="0"/>
            </a:endParaRPr>
          </a:p>
          <a:p>
            <a:endParaRPr lang="en-ZM" dirty="0"/>
          </a:p>
        </p:txBody>
      </p:sp>
      <p:sp>
        <p:nvSpPr>
          <p:cNvPr id="4" name="Content Placeholder 3">
            <a:extLst>
              <a:ext uri="{FF2B5EF4-FFF2-40B4-BE49-F238E27FC236}">
                <a16:creationId xmlns:a16="http://schemas.microsoft.com/office/drawing/2014/main" id="{32ACF8FD-3EC7-A44C-1C8B-793EB69C4D37}"/>
              </a:ext>
            </a:extLst>
          </p:cNvPr>
          <p:cNvSpPr>
            <a:spLocks noGrp="1"/>
          </p:cNvSpPr>
          <p:nvPr>
            <p:ph sz="half" idx="2"/>
          </p:nvPr>
        </p:nvSpPr>
        <p:spPr>
          <a:xfrm>
            <a:off x="6172200" y="816078"/>
            <a:ext cx="5793658" cy="5742037"/>
          </a:xfrm>
        </p:spPr>
        <p:txBody>
          <a:bodyPr>
            <a:normAutofit/>
          </a:bodyPr>
          <a:lstStyle/>
          <a:p>
            <a:pPr algn="just">
              <a:lnSpc>
                <a:spcPct val="160000"/>
              </a:lnSpc>
              <a:buFont typeface="Wingdings" panose="05000000000000000000" pitchFamily="2" charset="2"/>
              <a:buChar char="q"/>
            </a:pPr>
            <a:r>
              <a:rPr lang="en-GB" sz="2400" b="0" i="0" u="none" strike="noStrike" baseline="0" dirty="0">
                <a:latin typeface="Arial Narrow" panose="020B0606020202030204" pitchFamily="34" charset="0"/>
              </a:rPr>
              <a:t>Another term for </a:t>
            </a:r>
            <a:r>
              <a:rPr lang="en-GB" sz="2400" b="1" i="0" u="none" strike="noStrike" baseline="0" dirty="0">
                <a:latin typeface="Arial Narrow" panose="020B0606020202030204" pitchFamily="34" charset="0"/>
              </a:rPr>
              <a:t>manufacturing</a:t>
            </a:r>
            <a:r>
              <a:rPr lang="en-GB" sz="2400" b="0" i="0" u="none" strike="noStrike" baseline="0" dirty="0">
                <a:latin typeface="Arial Narrow" panose="020B0606020202030204" pitchFamily="34" charset="0"/>
              </a:rPr>
              <a:t>’ is </a:t>
            </a:r>
            <a:r>
              <a:rPr lang="en-GB" sz="2400" b="1" i="0" u="none" strike="noStrike" baseline="0" dirty="0">
                <a:latin typeface="Arial Narrow" panose="020B0606020202030204" pitchFamily="34" charset="0"/>
              </a:rPr>
              <a:t>pelleting</a:t>
            </a:r>
          </a:p>
          <a:p>
            <a:pPr algn="just">
              <a:lnSpc>
                <a:spcPct val="160000"/>
              </a:lnSpc>
              <a:buFont typeface="Wingdings" panose="05000000000000000000" pitchFamily="2" charset="2"/>
              <a:buChar char="q"/>
            </a:pPr>
            <a:r>
              <a:rPr lang="en-GB" sz="2400" b="0" i="0" u="none" strike="noStrike" baseline="0" dirty="0">
                <a:latin typeface="Arial Narrow" panose="020B0606020202030204" pitchFamily="34" charset="0"/>
              </a:rPr>
              <a:t>There are a variety of strategies that use physical, chemical and mechanical forces to make particles that are practical to ship, store, use and be acceptable to fish</a:t>
            </a:r>
          </a:p>
          <a:p>
            <a:pPr algn="just">
              <a:lnSpc>
                <a:spcPct val="160000"/>
              </a:lnSpc>
              <a:buFont typeface="Wingdings" panose="05000000000000000000" pitchFamily="2" charset="2"/>
              <a:buChar char="q"/>
            </a:pPr>
            <a:r>
              <a:rPr lang="en-GB" sz="2400" b="1" dirty="0">
                <a:latin typeface="Arial Narrow" panose="020B0606020202030204" pitchFamily="34" charset="0"/>
              </a:rPr>
              <a:t>AIM. </a:t>
            </a:r>
            <a:r>
              <a:rPr lang="en-GB" sz="2400" dirty="0">
                <a:latin typeface="Arial Narrow" panose="020B0606020202030204" pitchFamily="34" charset="0"/>
              </a:rPr>
              <a:t>To make particles that are practical to ship, store, use and acceptable to fish which is done in two ways namely Compression pelleting and Cooking </a:t>
            </a:r>
            <a:r>
              <a:rPr lang="en-GB" dirty="0">
                <a:latin typeface="Arial Narrow" panose="020B0606020202030204" pitchFamily="34" charset="0"/>
              </a:rPr>
              <a:t>extrusion.</a:t>
            </a:r>
          </a:p>
          <a:p>
            <a:endParaRPr lang="en-GB" sz="2800" b="0" i="0" u="none" strike="noStrike" baseline="0" dirty="0">
              <a:solidFill>
                <a:srgbClr val="FF0000"/>
              </a:solidFill>
              <a:latin typeface="Calibri" panose="020F0502020204030204" pitchFamily="34" charset="0"/>
            </a:endParaRPr>
          </a:p>
          <a:p>
            <a:endParaRPr lang="en-ZM" dirty="0"/>
          </a:p>
        </p:txBody>
      </p:sp>
    </p:spTree>
    <p:extLst>
      <p:ext uri="{BB962C8B-B14F-4D97-AF65-F5344CB8AC3E}">
        <p14:creationId xmlns:p14="http://schemas.microsoft.com/office/powerpoint/2010/main" val="150768163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4EB5C-E500-F29E-8D6F-16892C316555}"/>
              </a:ext>
            </a:extLst>
          </p:cNvPr>
          <p:cNvSpPr>
            <a:spLocks noGrp="1"/>
          </p:cNvSpPr>
          <p:nvPr>
            <p:ph type="ctrTitle"/>
          </p:nvPr>
        </p:nvSpPr>
        <p:spPr>
          <a:xfrm>
            <a:off x="1356049" y="359650"/>
            <a:ext cx="10204580" cy="893049"/>
          </a:xfrm>
        </p:spPr>
        <p:txBody>
          <a:bodyPr>
            <a:normAutofit fontScale="90000"/>
          </a:bodyPr>
          <a:lstStyle/>
          <a:p>
            <a:pPr>
              <a:lnSpc>
                <a:spcPct val="150000"/>
              </a:lnSpc>
            </a:pPr>
            <a:r>
              <a:rPr lang="en-GB" b="1" dirty="0">
                <a:latin typeface="Arial Narrow" panose="020B0606020202030204" pitchFamily="34" charset="0"/>
              </a:rPr>
              <a:t>Compression Pelleting</a:t>
            </a:r>
            <a:endParaRPr lang="en-ZM" b="1" dirty="0">
              <a:latin typeface="Arial Narrow" panose="020B0606020202030204" pitchFamily="34" charset="0"/>
            </a:endParaRPr>
          </a:p>
        </p:txBody>
      </p:sp>
      <p:sp>
        <p:nvSpPr>
          <p:cNvPr id="3" name="Subtitle 2">
            <a:extLst>
              <a:ext uri="{FF2B5EF4-FFF2-40B4-BE49-F238E27FC236}">
                <a16:creationId xmlns:a16="http://schemas.microsoft.com/office/drawing/2014/main" id="{B1323DBA-6119-AB7A-DF6B-4225F287DAAC}"/>
              </a:ext>
            </a:extLst>
          </p:cNvPr>
          <p:cNvSpPr>
            <a:spLocks noGrp="1"/>
          </p:cNvSpPr>
          <p:nvPr>
            <p:ph type="subTitle" idx="1"/>
          </p:nvPr>
        </p:nvSpPr>
        <p:spPr>
          <a:xfrm>
            <a:off x="699797" y="1252699"/>
            <a:ext cx="10860832" cy="5101448"/>
          </a:xfrm>
        </p:spPr>
        <p:txBody>
          <a:bodyPr>
            <a:normAutofit/>
          </a:bodyPr>
          <a:lstStyle/>
          <a:p>
            <a:pPr algn="just">
              <a:lnSpc>
                <a:spcPct val="150000"/>
              </a:lnSpc>
            </a:pPr>
            <a:r>
              <a:rPr lang="en-GB" sz="2000" dirty="0">
                <a:latin typeface="Arial Narrow" panose="020B0606020202030204" pitchFamily="34" charset="0"/>
              </a:rPr>
              <a:t>Uses a static roller to force a feed mixture that has been exposed to dry steam (10-30 sec) through tapered holes in a rotating metal die </a:t>
            </a:r>
          </a:p>
          <a:p>
            <a:pPr algn="just">
              <a:lnSpc>
                <a:spcPct val="150000"/>
              </a:lnSpc>
            </a:pPr>
            <a:r>
              <a:rPr lang="en-GB" sz="2000" dirty="0">
                <a:latin typeface="Arial Narrow" panose="020B0606020202030204" pitchFamily="34" charset="0"/>
              </a:rPr>
              <a:t>Compression of the mixture into dense threads that are cut off by a stationary knife as they emerge from the outside surface of the rotating die</a:t>
            </a:r>
          </a:p>
          <a:p>
            <a:pPr algn="just">
              <a:lnSpc>
                <a:spcPct val="150000"/>
              </a:lnSpc>
            </a:pPr>
            <a:r>
              <a:rPr lang="en-GB" sz="2000" dirty="0">
                <a:latin typeface="Arial Narrow" panose="020B0606020202030204" pitchFamily="34" charset="0"/>
              </a:rPr>
              <a:t> Pellet diameter and length can be adjusted </a:t>
            </a:r>
          </a:p>
          <a:p>
            <a:pPr algn="just">
              <a:lnSpc>
                <a:spcPct val="150000"/>
              </a:lnSpc>
            </a:pPr>
            <a:r>
              <a:rPr lang="en-GB" sz="2000" dirty="0">
                <a:latin typeface="Arial Narrow" panose="020B0606020202030204" pitchFamily="34" charset="0"/>
              </a:rPr>
              <a:t>Compression pellets are also referred to as ‘sinking pellets’ as they have higher density than extruded pellets</a:t>
            </a:r>
            <a:endParaRPr lang="en-ZM" sz="2000" dirty="0">
              <a:latin typeface="Arial Narrow" panose="020B0606020202030204" pitchFamily="34" charset="0"/>
            </a:endParaRPr>
          </a:p>
        </p:txBody>
      </p:sp>
    </p:spTree>
    <p:extLst>
      <p:ext uri="{BB962C8B-B14F-4D97-AF65-F5344CB8AC3E}">
        <p14:creationId xmlns:p14="http://schemas.microsoft.com/office/powerpoint/2010/main" val="105053505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4EB5C-E500-F29E-8D6F-16892C316555}"/>
              </a:ext>
            </a:extLst>
          </p:cNvPr>
          <p:cNvSpPr>
            <a:spLocks noGrp="1"/>
          </p:cNvSpPr>
          <p:nvPr>
            <p:ph type="ctrTitle"/>
          </p:nvPr>
        </p:nvSpPr>
        <p:spPr>
          <a:xfrm>
            <a:off x="1356049" y="359650"/>
            <a:ext cx="10204580" cy="893049"/>
          </a:xfrm>
        </p:spPr>
        <p:txBody>
          <a:bodyPr>
            <a:normAutofit fontScale="90000"/>
          </a:bodyPr>
          <a:lstStyle/>
          <a:p>
            <a:pPr>
              <a:lnSpc>
                <a:spcPct val="150000"/>
              </a:lnSpc>
            </a:pPr>
            <a:r>
              <a:rPr lang="en-GB" b="1" dirty="0">
                <a:latin typeface="Arial Narrow" panose="020B0606020202030204" pitchFamily="34" charset="0"/>
              </a:rPr>
              <a:t>Cooking-extrusion</a:t>
            </a:r>
            <a:endParaRPr lang="en-ZM" b="1" dirty="0">
              <a:latin typeface="Arial Narrow" panose="020B0606020202030204" pitchFamily="34" charset="0"/>
            </a:endParaRPr>
          </a:p>
        </p:txBody>
      </p:sp>
      <p:sp>
        <p:nvSpPr>
          <p:cNvPr id="3" name="Subtitle 2">
            <a:extLst>
              <a:ext uri="{FF2B5EF4-FFF2-40B4-BE49-F238E27FC236}">
                <a16:creationId xmlns:a16="http://schemas.microsoft.com/office/drawing/2014/main" id="{B1323DBA-6119-AB7A-DF6B-4225F287DAAC}"/>
              </a:ext>
            </a:extLst>
          </p:cNvPr>
          <p:cNvSpPr>
            <a:spLocks noGrp="1"/>
          </p:cNvSpPr>
          <p:nvPr>
            <p:ph type="subTitle" idx="1"/>
          </p:nvPr>
        </p:nvSpPr>
        <p:spPr>
          <a:xfrm>
            <a:off x="442452" y="1252698"/>
            <a:ext cx="11464413" cy="5462733"/>
          </a:xfrm>
        </p:spPr>
        <p:txBody>
          <a:bodyPr>
            <a:noAutofit/>
          </a:bodyPr>
          <a:lstStyle/>
          <a:p>
            <a:pPr marL="342900" indent="-342900" algn="just">
              <a:lnSpc>
                <a:spcPct val="150000"/>
              </a:lnSpc>
              <a:buFont typeface="Wingdings" panose="05000000000000000000" pitchFamily="2" charset="2"/>
              <a:buChar char="Ø"/>
            </a:pPr>
            <a:r>
              <a:rPr lang="en-GB" b="0" i="0" dirty="0">
                <a:solidFill>
                  <a:srgbClr val="232225"/>
                </a:solidFill>
                <a:effectLst/>
                <a:latin typeface="Arial Narrow" panose="020B0606020202030204" pitchFamily="34" charset="0"/>
              </a:rPr>
              <a:t>Extrusion is a process involving high temperatures and short times, which minimises nutrient loss while improving the digestibility of starches and proteins compared to pelleted food. </a:t>
            </a:r>
          </a:p>
          <a:p>
            <a:pPr marL="342900" indent="-342900" algn="just">
              <a:lnSpc>
                <a:spcPct val="150000"/>
              </a:lnSpc>
              <a:buFont typeface="Wingdings" panose="05000000000000000000" pitchFamily="2" charset="2"/>
              <a:buChar char="Ø"/>
            </a:pPr>
            <a:r>
              <a:rPr lang="en-GB" b="0" i="0" dirty="0">
                <a:solidFill>
                  <a:srgbClr val="232225"/>
                </a:solidFill>
                <a:effectLst/>
                <a:latin typeface="Arial Narrow" panose="020B0606020202030204" pitchFamily="34" charset="0"/>
              </a:rPr>
              <a:t>Extrusion is a process in which the food is not only compressed, as in </a:t>
            </a:r>
            <a:r>
              <a:rPr lang="en-GB" b="0" i="0" dirty="0" err="1">
                <a:solidFill>
                  <a:srgbClr val="232225"/>
                </a:solidFill>
                <a:effectLst/>
                <a:latin typeface="Arial Narrow" panose="020B0606020202030204" pitchFamily="34" charset="0"/>
              </a:rPr>
              <a:t>pelletisation</a:t>
            </a:r>
            <a:r>
              <a:rPr lang="en-GB" b="0" i="0" dirty="0">
                <a:solidFill>
                  <a:srgbClr val="232225"/>
                </a:solidFill>
                <a:effectLst/>
                <a:latin typeface="Arial Narrow" panose="020B0606020202030204" pitchFamily="34" charset="0"/>
              </a:rPr>
              <a:t>, but also ‘cooked’, which is why it requires higher levels of moisture, temperature and pressure than </a:t>
            </a:r>
            <a:r>
              <a:rPr lang="en-GB" b="0" i="0" dirty="0" err="1">
                <a:solidFill>
                  <a:srgbClr val="232225"/>
                </a:solidFill>
                <a:effectLst/>
                <a:latin typeface="Arial Narrow" panose="020B0606020202030204" pitchFamily="34" charset="0"/>
              </a:rPr>
              <a:t>pelletisation</a:t>
            </a:r>
            <a:endParaRPr lang="en-GB" b="0" i="0" dirty="0">
              <a:solidFill>
                <a:srgbClr val="232225"/>
              </a:solidFill>
              <a:effectLst/>
              <a:latin typeface="Arial Narrow" panose="020B0606020202030204" pitchFamily="34" charset="0"/>
            </a:endParaRPr>
          </a:p>
          <a:p>
            <a:pPr marL="342900" indent="-342900" algn="just">
              <a:lnSpc>
                <a:spcPct val="150000"/>
              </a:lnSpc>
              <a:buFont typeface="Wingdings" panose="05000000000000000000" pitchFamily="2" charset="2"/>
              <a:buChar char="Ø"/>
            </a:pPr>
            <a:r>
              <a:rPr lang="en-GB" b="0" i="0" dirty="0">
                <a:solidFill>
                  <a:srgbClr val="232225"/>
                </a:solidFill>
                <a:effectLst/>
                <a:latin typeface="Arial Narrow" panose="020B0606020202030204" pitchFamily="34" charset="0"/>
              </a:rPr>
              <a:t>advantages include lower pollution, longer stability in water (from 12 to 36 hours) while maintaining all its nutrients, greater digestibility, high efficiency and a high conversion rate. </a:t>
            </a:r>
          </a:p>
          <a:p>
            <a:pPr marL="342900" indent="-342900" algn="just">
              <a:lnSpc>
                <a:spcPct val="150000"/>
              </a:lnSpc>
              <a:buFont typeface="Wingdings" panose="05000000000000000000" pitchFamily="2" charset="2"/>
              <a:buChar char="Ø"/>
            </a:pPr>
            <a:r>
              <a:rPr lang="en-GB" b="0" i="0" dirty="0">
                <a:solidFill>
                  <a:srgbClr val="232225"/>
                </a:solidFill>
                <a:effectLst/>
                <a:latin typeface="Arial Narrow" panose="020B0606020202030204" pitchFamily="34" charset="0"/>
              </a:rPr>
              <a:t>As a result, extruded feed is a higher quality product that increases the profitability of fish farms.</a:t>
            </a:r>
            <a:endParaRPr lang="en-ZM" dirty="0">
              <a:latin typeface="Arial Narrow" panose="020B0606020202030204" pitchFamily="34" charset="0"/>
            </a:endParaRPr>
          </a:p>
        </p:txBody>
      </p:sp>
    </p:spTree>
    <p:extLst>
      <p:ext uri="{BB962C8B-B14F-4D97-AF65-F5344CB8AC3E}">
        <p14:creationId xmlns:p14="http://schemas.microsoft.com/office/powerpoint/2010/main" val="154929588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4EB5C-E500-F29E-8D6F-16892C316555}"/>
              </a:ext>
            </a:extLst>
          </p:cNvPr>
          <p:cNvSpPr>
            <a:spLocks noGrp="1"/>
          </p:cNvSpPr>
          <p:nvPr>
            <p:ph type="ctrTitle"/>
          </p:nvPr>
        </p:nvSpPr>
        <p:spPr>
          <a:xfrm>
            <a:off x="1356049" y="359650"/>
            <a:ext cx="10204580" cy="893049"/>
          </a:xfrm>
        </p:spPr>
        <p:txBody>
          <a:bodyPr>
            <a:normAutofit fontScale="90000"/>
          </a:bodyPr>
          <a:lstStyle/>
          <a:p>
            <a:pPr>
              <a:lnSpc>
                <a:spcPct val="150000"/>
              </a:lnSpc>
            </a:pPr>
            <a:r>
              <a:rPr lang="en-GB" b="1" dirty="0">
                <a:latin typeface="Arial Narrow" panose="020B0606020202030204" pitchFamily="34" charset="0"/>
              </a:rPr>
              <a:t>Steps in Feed Manufacture</a:t>
            </a:r>
            <a:endParaRPr lang="en-ZM" b="1" dirty="0">
              <a:latin typeface="Arial Narrow" panose="020B0606020202030204" pitchFamily="34" charset="0"/>
            </a:endParaRPr>
          </a:p>
        </p:txBody>
      </p:sp>
      <p:sp>
        <p:nvSpPr>
          <p:cNvPr id="3" name="Subtitle 2">
            <a:extLst>
              <a:ext uri="{FF2B5EF4-FFF2-40B4-BE49-F238E27FC236}">
                <a16:creationId xmlns:a16="http://schemas.microsoft.com/office/drawing/2014/main" id="{B1323DBA-6119-AB7A-DF6B-4225F287DAAC}"/>
              </a:ext>
            </a:extLst>
          </p:cNvPr>
          <p:cNvSpPr>
            <a:spLocks noGrp="1"/>
          </p:cNvSpPr>
          <p:nvPr>
            <p:ph type="subTitle" idx="1"/>
          </p:nvPr>
        </p:nvSpPr>
        <p:spPr>
          <a:xfrm>
            <a:off x="699797" y="1252698"/>
            <a:ext cx="10860832" cy="5605301"/>
          </a:xfrm>
        </p:spPr>
        <p:txBody>
          <a:bodyPr>
            <a:normAutofit/>
          </a:bodyPr>
          <a:lstStyle/>
          <a:p>
            <a:pPr algn="just">
              <a:lnSpc>
                <a:spcPct val="150000"/>
              </a:lnSpc>
            </a:pPr>
            <a:r>
              <a:rPr lang="en-GB" sz="2000" dirty="0">
                <a:latin typeface="Arial Narrow" panose="020B0606020202030204" pitchFamily="34" charset="0"/>
              </a:rPr>
              <a:t>1.Raw Material Intake</a:t>
            </a:r>
          </a:p>
          <a:p>
            <a:pPr algn="just">
              <a:lnSpc>
                <a:spcPct val="150000"/>
              </a:lnSpc>
            </a:pPr>
            <a:r>
              <a:rPr lang="en-GB" sz="2000" dirty="0">
                <a:latin typeface="Arial Narrow" panose="020B0606020202030204" pitchFamily="34" charset="0"/>
              </a:rPr>
              <a:t> 2. Batching (weighing) </a:t>
            </a:r>
          </a:p>
          <a:p>
            <a:pPr algn="just">
              <a:lnSpc>
                <a:spcPct val="150000"/>
              </a:lnSpc>
            </a:pPr>
            <a:r>
              <a:rPr lang="en-GB" sz="2000" dirty="0">
                <a:latin typeface="Arial Narrow" panose="020B0606020202030204" pitchFamily="34" charset="0"/>
              </a:rPr>
              <a:t>3. Grinding </a:t>
            </a:r>
          </a:p>
          <a:p>
            <a:pPr algn="just">
              <a:lnSpc>
                <a:spcPct val="150000"/>
              </a:lnSpc>
            </a:pPr>
            <a:r>
              <a:rPr lang="en-GB" sz="2000" dirty="0">
                <a:latin typeface="Arial Narrow" panose="020B0606020202030204" pitchFamily="34" charset="0"/>
              </a:rPr>
              <a:t>4. Mixing and Conditioning </a:t>
            </a:r>
          </a:p>
          <a:p>
            <a:pPr algn="just">
              <a:lnSpc>
                <a:spcPct val="150000"/>
              </a:lnSpc>
            </a:pPr>
            <a:r>
              <a:rPr lang="en-GB" sz="2000" dirty="0">
                <a:latin typeface="Arial Narrow" panose="020B0606020202030204" pitchFamily="34" charset="0"/>
              </a:rPr>
              <a:t>5. Forming (Extrusion/Pelleting) </a:t>
            </a:r>
          </a:p>
          <a:p>
            <a:pPr algn="just">
              <a:lnSpc>
                <a:spcPct val="150000"/>
              </a:lnSpc>
            </a:pPr>
            <a:r>
              <a:rPr lang="en-GB" sz="2000" dirty="0">
                <a:latin typeface="Arial Narrow" panose="020B0606020202030204" pitchFamily="34" charset="0"/>
              </a:rPr>
              <a:t>6. Drying, Screening, Coating and Cooling </a:t>
            </a:r>
          </a:p>
          <a:p>
            <a:pPr algn="just">
              <a:lnSpc>
                <a:spcPct val="150000"/>
              </a:lnSpc>
            </a:pPr>
            <a:r>
              <a:rPr lang="en-GB" sz="2000" dirty="0">
                <a:latin typeface="Arial Narrow" panose="020B0606020202030204" pitchFamily="34" charset="0"/>
              </a:rPr>
              <a:t>7. Packing, QC and Storage </a:t>
            </a:r>
            <a:endParaRPr lang="en-ZM" sz="2000" dirty="0">
              <a:latin typeface="Arial Narrow" panose="020B0606020202030204" pitchFamily="34" charset="0"/>
            </a:endParaRPr>
          </a:p>
        </p:txBody>
      </p:sp>
      <p:sp>
        <p:nvSpPr>
          <p:cNvPr id="4" name="Arrow: Right 3">
            <a:extLst>
              <a:ext uri="{FF2B5EF4-FFF2-40B4-BE49-F238E27FC236}">
                <a16:creationId xmlns:a16="http://schemas.microsoft.com/office/drawing/2014/main" id="{60C8B8C9-E0A6-01B8-E0BC-627858213735}"/>
              </a:ext>
            </a:extLst>
          </p:cNvPr>
          <p:cNvSpPr/>
          <p:nvPr/>
        </p:nvSpPr>
        <p:spPr>
          <a:xfrm>
            <a:off x="1465006" y="5933768"/>
            <a:ext cx="1936955" cy="716982"/>
          </a:xfrm>
          <a:prstGeom prst="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 Intake </a:t>
            </a:r>
            <a:endParaRPr lang="en-ZM" dirty="0"/>
          </a:p>
        </p:txBody>
      </p:sp>
      <p:sp>
        <p:nvSpPr>
          <p:cNvPr id="5" name="Arrow: Right 4">
            <a:extLst>
              <a:ext uri="{FF2B5EF4-FFF2-40B4-BE49-F238E27FC236}">
                <a16:creationId xmlns:a16="http://schemas.microsoft.com/office/drawing/2014/main" id="{ADADC6D6-5B45-20D9-DD5B-892F313683B9}"/>
              </a:ext>
            </a:extLst>
          </p:cNvPr>
          <p:cNvSpPr/>
          <p:nvPr/>
        </p:nvSpPr>
        <p:spPr>
          <a:xfrm>
            <a:off x="4503875" y="5933768"/>
            <a:ext cx="1936955" cy="716982"/>
          </a:xfrm>
          <a:prstGeom prst="rightArrow">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 Process </a:t>
            </a:r>
            <a:endParaRPr lang="en-ZM" dirty="0"/>
          </a:p>
        </p:txBody>
      </p:sp>
      <p:sp>
        <p:nvSpPr>
          <p:cNvPr id="6" name="Arrow: Right 5">
            <a:extLst>
              <a:ext uri="{FF2B5EF4-FFF2-40B4-BE49-F238E27FC236}">
                <a16:creationId xmlns:a16="http://schemas.microsoft.com/office/drawing/2014/main" id="{580AA560-D057-0B9E-4A2D-FD3DDA5E7BA7}"/>
              </a:ext>
            </a:extLst>
          </p:cNvPr>
          <p:cNvSpPr/>
          <p:nvPr/>
        </p:nvSpPr>
        <p:spPr>
          <a:xfrm>
            <a:off x="7523081" y="5933768"/>
            <a:ext cx="1936955" cy="716982"/>
          </a:xfrm>
          <a:prstGeom prst="rightArrow">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Pack</a:t>
            </a:r>
            <a:endParaRPr lang="en-ZM" dirty="0"/>
          </a:p>
        </p:txBody>
      </p:sp>
      <p:pic>
        <p:nvPicPr>
          <p:cNvPr id="8" name="Picture 7">
            <a:extLst>
              <a:ext uri="{FF2B5EF4-FFF2-40B4-BE49-F238E27FC236}">
                <a16:creationId xmlns:a16="http://schemas.microsoft.com/office/drawing/2014/main" id="{05E79B4F-9C86-58FE-C064-5E91F4F7BC6D}"/>
              </a:ext>
            </a:extLst>
          </p:cNvPr>
          <p:cNvPicPr>
            <a:picLocks noChangeAspect="1"/>
          </p:cNvPicPr>
          <p:nvPr/>
        </p:nvPicPr>
        <p:blipFill>
          <a:blip r:embed="rId2"/>
          <a:stretch>
            <a:fillRect/>
          </a:stretch>
        </p:blipFill>
        <p:spPr>
          <a:xfrm>
            <a:off x="1909226" y="5615959"/>
            <a:ext cx="676658" cy="562385"/>
          </a:xfrm>
          <a:prstGeom prst="rect">
            <a:avLst/>
          </a:prstGeom>
        </p:spPr>
      </p:pic>
      <p:pic>
        <p:nvPicPr>
          <p:cNvPr id="10" name="Picture 9">
            <a:extLst>
              <a:ext uri="{FF2B5EF4-FFF2-40B4-BE49-F238E27FC236}">
                <a16:creationId xmlns:a16="http://schemas.microsoft.com/office/drawing/2014/main" id="{03261DE8-9D76-2D7D-4400-C1B343DACCCD}"/>
              </a:ext>
            </a:extLst>
          </p:cNvPr>
          <p:cNvPicPr>
            <a:picLocks noChangeAspect="1"/>
          </p:cNvPicPr>
          <p:nvPr/>
        </p:nvPicPr>
        <p:blipFill>
          <a:blip r:embed="rId3"/>
          <a:stretch>
            <a:fillRect/>
          </a:stretch>
        </p:blipFill>
        <p:spPr>
          <a:xfrm>
            <a:off x="4873862" y="5689189"/>
            <a:ext cx="1097252" cy="489155"/>
          </a:xfrm>
          <a:prstGeom prst="rect">
            <a:avLst/>
          </a:prstGeom>
        </p:spPr>
      </p:pic>
    </p:spTree>
    <p:extLst>
      <p:ext uri="{BB962C8B-B14F-4D97-AF65-F5344CB8AC3E}">
        <p14:creationId xmlns:p14="http://schemas.microsoft.com/office/powerpoint/2010/main" val="287198536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4EB5C-E500-F29E-8D6F-16892C316555}"/>
              </a:ext>
            </a:extLst>
          </p:cNvPr>
          <p:cNvSpPr>
            <a:spLocks noGrp="1"/>
          </p:cNvSpPr>
          <p:nvPr>
            <p:ph type="ctrTitle"/>
          </p:nvPr>
        </p:nvSpPr>
        <p:spPr>
          <a:xfrm>
            <a:off x="1356049" y="359650"/>
            <a:ext cx="10204580" cy="893049"/>
          </a:xfrm>
        </p:spPr>
        <p:txBody>
          <a:bodyPr>
            <a:normAutofit fontScale="90000"/>
          </a:bodyPr>
          <a:lstStyle/>
          <a:p>
            <a:pPr>
              <a:lnSpc>
                <a:spcPct val="150000"/>
              </a:lnSpc>
            </a:pPr>
            <a:r>
              <a:rPr lang="en-GB" b="1" dirty="0">
                <a:latin typeface="Arial Narrow" panose="020B0606020202030204" pitchFamily="34" charset="0"/>
              </a:rPr>
              <a:t>Steps in Feed Manufacture</a:t>
            </a:r>
            <a:endParaRPr lang="en-ZM" b="1" dirty="0">
              <a:latin typeface="Arial Narrow" panose="020B0606020202030204" pitchFamily="34" charset="0"/>
            </a:endParaRPr>
          </a:p>
        </p:txBody>
      </p:sp>
      <p:sp>
        <p:nvSpPr>
          <p:cNvPr id="3" name="Subtitle 2">
            <a:extLst>
              <a:ext uri="{FF2B5EF4-FFF2-40B4-BE49-F238E27FC236}">
                <a16:creationId xmlns:a16="http://schemas.microsoft.com/office/drawing/2014/main" id="{B1323DBA-6119-AB7A-DF6B-4225F287DAAC}"/>
              </a:ext>
            </a:extLst>
          </p:cNvPr>
          <p:cNvSpPr>
            <a:spLocks noGrp="1"/>
          </p:cNvSpPr>
          <p:nvPr>
            <p:ph type="subTitle" idx="1"/>
          </p:nvPr>
        </p:nvSpPr>
        <p:spPr>
          <a:xfrm>
            <a:off x="1525707" y="1287568"/>
            <a:ext cx="9279945" cy="4282863"/>
          </a:xfrm>
        </p:spPr>
        <p:txBody>
          <a:bodyPr>
            <a:normAutofit/>
          </a:bodyPr>
          <a:lstStyle/>
          <a:p>
            <a:pPr algn="just">
              <a:lnSpc>
                <a:spcPct val="150000"/>
              </a:lnSpc>
            </a:pPr>
            <a:r>
              <a:rPr lang="en-GB" sz="2000" b="1" dirty="0">
                <a:latin typeface="Arial Narrow" panose="020B0606020202030204" pitchFamily="34" charset="0"/>
              </a:rPr>
              <a:t>1</a:t>
            </a:r>
            <a:r>
              <a:rPr lang="en-GB" b="1" dirty="0">
                <a:latin typeface="Arial Narrow" panose="020B0606020202030204" pitchFamily="34" charset="0"/>
              </a:rPr>
              <a:t>.Raw Material Intake</a:t>
            </a:r>
            <a:endParaRPr lang="en-GB" dirty="0">
              <a:latin typeface="Arial Narrow" panose="020B0606020202030204" pitchFamily="34" charset="0"/>
            </a:endParaRPr>
          </a:p>
          <a:p>
            <a:pPr marL="342900" indent="-342900" algn="just">
              <a:lnSpc>
                <a:spcPct val="150000"/>
              </a:lnSpc>
              <a:buFont typeface="Wingdings" panose="05000000000000000000" pitchFamily="2" charset="2"/>
              <a:buChar char="Ø"/>
            </a:pPr>
            <a:r>
              <a:rPr lang="en-GB" dirty="0">
                <a:latin typeface="Arial Narrow" panose="020B0606020202030204" pitchFamily="34" charset="0"/>
              </a:rPr>
              <a:t>This follows  receiving/sources of various raw materials needed for the formulation of fish feed</a:t>
            </a:r>
            <a:r>
              <a:rPr lang="en-GB" sz="2000" dirty="0">
                <a:latin typeface="Arial Narrow" panose="020B0606020202030204" pitchFamily="34" charset="0"/>
              </a:rPr>
              <a:t>.</a:t>
            </a:r>
          </a:p>
          <a:p>
            <a:pPr algn="just">
              <a:lnSpc>
                <a:spcPct val="150000"/>
              </a:lnSpc>
            </a:pPr>
            <a:endParaRPr lang="en-GB" sz="2000" dirty="0">
              <a:latin typeface="Arial Narrow" panose="020B0606020202030204" pitchFamily="34" charset="0"/>
            </a:endParaRPr>
          </a:p>
        </p:txBody>
      </p:sp>
    </p:spTree>
    <p:extLst>
      <p:ext uri="{BB962C8B-B14F-4D97-AF65-F5344CB8AC3E}">
        <p14:creationId xmlns:p14="http://schemas.microsoft.com/office/powerpoint/2010/main" val="404525909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4EB5C-E500-F29E-8D6F-16892C316555}"/>
              </a:ext>
            </a:extLst>
          </p:cNvPr>
          <p:cNvSpPr>
            <a:spLocks noGrp="1"/>
          </p:cNvSpPr>
          <p:nvPr>
            <p:ph type="ctrTitle"/>
          </p:nvPr>
        </p:nvSpPr>
        <p:spPr>
          <a:xfrm>
            <a:off x="1356049" y="359650"/>
            <a:ext cx="10204580" cy="893049"/>
          </a:xfrm>
        </p:spPr>
        <p:txBody>
          <a:bodyPr>
            <a:normAutofit fontScale="90000"/>
          </a:bodyPr>
          <a:lstStyle/>
          <a:p>
            <a:pPr>
              <a:lnSpc>
                <a:spcPct val="150000"/>
              </a:lnSpc>
            </a:pPr>
            <a:r>
              <a:rPr lang="en-GB" b="1" dirty="0">
                <a:latin typeface="Arial Narrow" panose="020B0606020202030204" pitchFamily="34" charset="0"/>
              </a:rPr>
              <a:t>Steps in Feed Manufacture</a:t>
            </a:r>
            <a:endParaRPr lang="en-ZM" b="1" dirty="0">
              <a:latin typeface="Arial Narrow" panose="020B0606020202030204" pitchFamily="34" charset="0"/>
            </a:endParaRPr>
          </a:p>
        </p:txBody>
      </p:sp>
      <p:sp>
        <p:nvSpPr>
          <p:cNvPr id="3" name="Subtitle 2">
            <a:extLst>
              <a:ext uri="{FF2B5EF4-FFF2-40B4-BE49-F238E27FC236}">
                <a16:creationId xmlns:a16="http://schemas.microsoft.com/office/drawing/2014/main" id="{B1323DBA-6119-AB7A-DF6B-4225F287DAAC}"/>
              </a:ext>
            </a:extLst>
          </p:cNvPr>
          <p:cNvSpPr>
            <a:spLocks noGrp="1"/>
          </p:cNvSpPr>
          <p:nvPr>
            <p:ph type="subTitle" idx="1"/>
          </p:nvPr>
        </p:nvSpPr>
        <p:spPr>
          <a:xfrm>
            <a:off x="2223797" y="1518626"/>
            <a:ext cx="8090242" cy="3820747"/>
          </a:xfrm>
        </p:spPr>
        <p:txBody>
          <a:bodyPr>
            <a:normAutofit/>
          </a:bodyPr>
          <a:lstStyle/>
          <a:p>
            <a:pPr algn="just">
              <a:lnSpc>
                <a:spcPct val="150000"/>
              </a:lnSpc>
            </a:pPr>
            <a:r>
              <a:rPr lang="en-GB" b="1" dirty="0">
                <a:latin typeface="Arial Narrow" panose="020B0606020202030204" pitchFamily="34" charset="0"/>
              </a:rPr>
              <a:t>2. Batching (weighing) </a:t>
            </a:r>
          </a:p>
          <a:p>
            <a:pPr marL="342900" indent="-342900" algn="just">
              <a:lnSpc>
                <a:spcPct val="150000"/>
              </a:lnSpc>
              <a:buFont typeface="Wingdings" panose="05000000000000000000" pitchFamily="2" charset="2"/>
              <a:buChar char="Ø"/>
            </a:pPr>
            <a:r>
              <a:rPr lang="en-GB" dirty="0">
                <a:latin typeface="Arial Narrow" panose="020B0606020202030204" pitchFamily="34" charset="0"/>
              </a:rPr>
              <a:t>Once the raw materials are available and known that they are appropriate for feed formulation, they are weighed according to the quantity of feed to be formulated.</a:t>
            </a:r>
          </a:p>
          <a:p>
            <a:pPr marL="342900" indent="-342900" algn="just">
              <a:lnSpc>
                <a:spcPct val="150000"/>
              </a:lnSpc>
              <a:buFont typeface="Wingdings" panose="05000000000000000000" pitchFamily="2" charset="2"/>
              <a:buChar char="Ø"/>
            </a:pPr>
            <a:r>
              <a:rPr lang="en-GB" dirty="0">
                <a:latin typeface="Arial Narrow" panose="020B0606020202030204" pitchFamily="34" charset="0"/>
              </a:rPr>
              <a:t>Scales are used in order to be accurate and avoid mistakes</a:t>
            </a:r>
          </a:p>
        </p:txBody>
      </p:sp>
    </p:spTree>
    <p:extLst>
      <p:ext uri="{BB962C8B-B14F-4D97-AF65-F5344CB8AC3E}">
        <p14:creationId xmlns:p14="http://schemas.microsoft.com/office/powerpoint/2010/main" val="154099268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4EB5C-E500-F29E-8D6F-16892C316555}"/>
              </a:ext>
            </a:extLst>
          </p:cNvPr>
          <p:cNvSpPr>
            <a:spLocks noGrp="1"/>
          </p:cNvSpPr>
          <p:nvPr>
            <p:ph type="ctrTitle"/>
          </p:nvPr>
        </p:nvSpPr>
        <p:spPr>
          <a:xfrm>
            <a:off x="1356049" y="359650"/>
            <a:ext cx="10204580" cy="893049"/>
          </a:xfrm>
        </p:spPr>
        <p:txBody>
          <a:bodyPr>
            <a:normAutofit fontScale="90000"/>
          </a:bodyPr>
          <a:lstStyle/>
          <a:p>
            <a:pPr>
              <a:lnSpc>
                <a:spcPct val="150000"/>
              </a:lnSpc>
            </a:pPr>
            <a:r>
              <a:rPr lang="en-GB" b="1" dirty="0">
                <a:latin typeface="Arial Narrow" panose="020B0606020202030204" pitchFamily="34" charset="0"/>
              </a:rPr>
              <a:t>Steps in Feed Manufacture</a:t>
            </a:r>
            <a:endParaRPr lang="en-ZM" b="1" dirty="0">
              <a:latin typeface="Arial Narrow" panose="020B0606020202030204" pitchFamily="34" charset="0"/>
            </a:endParaRPr>
          </a:p>
        </p:txBody>
      </p:sp>
      <p:sp>
        <p:nvSpPr>
          <p:cNvPr id="3" name="Subtitle 2">
            <a:extLst>
              <a:ext uri="{FF2B5EF4-FFF2-40B4-BE49-F238E27FC236}">
                <a16:creationId xmlns:a16="http://schemas.microsoft.com/office/drawing/2014/main" id="{B1323DBA-6119-AB7A-DF6B-4225F287DAAC}"/>
              </a:ext>
            </a:extLst>
          </p:cNvPr>
          <p:cNvSpPr>
            <a:spLocks noGrp="1"/>
          </p:cNvSpPr>
          <p:nvPr>
            <p:ph type="subTitle" idx="1"/>
          </p:nvPr>
        </p:nvSpPr>
        <p:spPr>
          <a:xfrm>
            <a:off x="1785608" y="1376058"/>
            <a:ext cx="8620784" cy="4105883"/>
          </a:xfrm>
        </p:spPr>
        <p:txBody>
          <a:bodyPr>
            <a:normAutofit/>
          </a:bodyPr>
          <a:lstStyle/>
          <a:p>
            <a:pPr algn="just">
              <a:lnSpc>
                <a:spcPct val="150000"/>
              </a:lnSpc>
            </a:pPr>
            <a:r>
              <a:rPr lang="en-GB" b="1" dirty="0">
                <a:latin typeface="Arial Narrow" panose="020B0606020202030204" pitchFamily="34" charset="0"/>
              </a:rPr>
              <a:t>3. Grinding</a:t>
            </a:r>
          </a:p>
          <a:p>
            <a:pPr algn="just">
              <a:lnSpc>
                <a:spcPct val="150000"/>
              </a:lnSpc>
            </a:pPr>
            <a:r>
              <a:rPr lang="en-GB" dirty="0">
                <a:latin typeface="Arial Narrow" panose="020B0606020202030204" pitchFamily="34" charset="0"/>
              </a:rPr>
              <a:t>Why do you think it is important to grind the ingredients?</a:t>
            </a:r>
            <a:r>
              <a:rPr lang="en-GB" b="1" dirty="0">
                <a:latin typeface="Arial Narrow" panose="020B0606020202030204" pitchFamily="34" charset="0"/>
              </a:rPr>
              <a:t> </a:t>
            </a:r>
          </a:p>
        </p:txBody>
      </p:sp>
      <p:pic>
        <p:nvPicPr>
          <p:cNvPr id="5" name="Picture 4">
            <a:extLst>
              <a:ext uri="{FF2B5EF4-FFF2-40B4-BE49-F238E27FC236}">
                <a16:creationId xmlns:a16="http://schemas.microsoft.com/office/drawing/2014/main" id="{ACFF8E66-2F7A-C94E-6E25-29534BAF95CC}"/>
              </a:ext>
            </a:extLst>
          </p:cNvPr>
          <p:cNvPicPr>
            <a:picLocks noChangeAspect="1"/>
          </p:cNvPicPr>
          <p:nvPr/>
        </p:nvPicPr>
        <p:blipFill>
          <a:blip r:embed="rId2"/>
          <a:stretch>
            <a:fillRect/>
          </a:stretch>
        </p:blipFill>
        <p:spPr>
          <a:xfrm>
            <a:off x="6247347" y="3168235"/>
            <a:ext cx="4012365" cy="3117432"/>
          </a:xfrm>
          <a:prstGeom prst="rect">
            <a:avLst/>
          </a:prstGeom>
        </p:spPr>
      </p:pic>
      <p:pic>
        <p:nvPicPr>
          <p:cNvPr id="7" name="Picture 6">
            <a:extLst>
              <a:ext uri="{FF2B5EF4-FFF2-40B4-BE49-F238E27FC236}">
                <a16:creationId xmlns:a16="http://schemas.microsoft.com/office/drawing/2014/main" id="{0A7F52EF-72F1-6670-249C-1FD13297F589}"/>
              </a:ext>
            </a:extLst>
          </p:cNvPr>
          <p:cNvPicPr>
            <a:picLocks noChangeAspect="1"/>
          </p:cNvPicPr>
          <p:nvPr/>
        </p:nvPicPr>
        <p:blipFill>
          <a:blip r:embed="rId3"/>
          <a:stretch>
            <a:fillRect/>
          </a:stretch>
        </p:blipFill>
        <p:spPr>
          <a:xfrm>
            <a:off x="1356048" y="3168235"/>
            <a:ext cx="4012365" cy="3057809"/>
          </a:xfrm>
          <a:prstGeom prst="rect">
            <a:avLst/>
          </a:prstGeom>
        </p:spPr>
      </p:pic>
      <p:sp>
        <p:nvSpPr>
          <p:cNvPr id="9" name="TextBox 8">
            <a:extLst>
              <a:ext uri="{FF2B5EF4-FFF2-40B4-BE49-F238E27FC236}">
                <a16:creationId xmlns:a16="http://schemas.microsoft.com/office/drawing/2014/main" id="{5FC8FACC-233F-759A-27B8-64BDC69DE5D0}"/>
              </a:ext>
            </a:extLst>
          </p:cNvPr>
          <p:cNvSpPr txBox="1"/>
          <p:nvPr/>
        </p:nvSpPr>
        <p:spPr>
          <a:xfrm>
            <a:off x="2005781" y="6412779"/>
            <a:ext cx="2320413" cy="369332"/>
          </a:xfrm>
          <a:prstGeom prst="rect">
            <a:avLst/>
          </a:prstGeom>
          <a:noFill/>
        </p:spPr>
        <p:txBody>
          <a:bodyPr wrap="square">
            <a:spAutoFit/>
          </a:bodyPr>
          <a:lstStyle/>
          <a:p>
            <a:r>
              <a:rPr lang="de-DE" sz="1800" b="1" i="0" u="none" strike="noStrike" baseline="0" dirty="0">
                <a:solidFill>
                  <a:srgbClr val="000000"/>
                </a:solidFill>
                <a:latin typeface="Times New Roman" panose="02020603050405020304" pitchFamily="18" charset="0"/>
              </a:rPr>
              <a:t>A Hammer Mill </a:t>
            </a:r>
            <a:endParaRPr lang="en-ZM" dirty="0"/>
          </a:p>
        </p:txBody>
      </p:sp>
    </p:spTree>
    <p:extLst>
      <p:ext uri="{BB962C8B-B14F-4D97-AF65-F5344CB8AC3E}">
        <p14:creationId xmlns:p14="http://schemas.microsoft.com/office/powerpoint/2010/main" val="357776072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4EB5C-E500-F29E-8D6F-16892C316555}"/>
              </a:ext>
            </a:extLst>
          </p:cNvPr>
          <p:cNvSpPr>
            <a:spLocks noGrp="1"/>
          </p:cNvSpPr>
          <p:nvPr>
            <p:ph type="ctrTitle"/>
          </p:nvPr>
        </p:nvSpPr>
        <p:spPr>
          <a:xfrm>
            <a:off x="1356049" y="359650"/>
            <a:ext cx="10204580" cy="893049"/>
          </a:xfrm>
        </p:spPr>
        <p:txBody>
          <a:bodyPr>
            <a:normAutofit fontScale="90000"/>
          </a:bodyPr>
          <a:lstStyle/>
          <a:p>
            <a:pPr>
              <a:lnSpc>
                <a:spcPct val="150000"/>
              </a:lnSpc>
            </a:pPr>
            <a:r>
              <a:rPr lang="en-GB" b="1" dirty="0">
                <a:latin typeface="Arial Narrow" panose="020B0606020202030204" pitchFamily="34" charset="0"/>
              </a:rPr>
              <a:t>Steps in Feed Manufacture</a:t>
            </a:r>
            <a:endParaRPr lang="en-ZM" b="1" dirty="0">
              <a:latin typeface="Arial Narrow" panose="020B0606020202030204" pitchFamily="34" charset="0"/>
            </a:endParaRPr>
          </a:p>
        </p:txBody>
      </p:sp>
      <p:sp>
        <p:nvSpPr>
          <p:cNvPr id="3" name="Subtitle 2">
            <a:extLst>
              <a:ext uri="{FF2B5EF4-FFF2-40B4-BE49-F238E27FC236}">
                <a16:creationId xmlns:a16="http://schemas.microsoft.com/office/drawing/2014/main" id="{B1323DBA-6119-AB7A-DF6B-4225F287DAAC}"/>
              </a:ext>
            </a:extLst>
          </p:cNvPr>
          <p:cNvSpPr>
            <a:spLocks noGrp="1"/>
          </p:cNvSpPr>
          <p:nvPr>
            <p:ph type="subTitle" idx="1"/>
          </p:nvPr>
        </p:nvSpPr>
        <p:spPr>
          <a:xfrm>
            <a:off x="1484671" y="1385891"/>
            <a:ext cx="9497961" cy="4867426"/>
          </a:xfrm>
        </p:spPr>
        <p:txBody>
          <a:bodyPr>
            <a:normAutofit/>
          </a:bodyPr>
          <a:lstStyle/>
          <a:p>
            <a:pPr algn="just">
              <a:lnSpc>
                <a:spcPct val="150000"/>
              </a:lnSpc>
            </a:pPr>
            <a:r>
              <a:rPr lang="en-GB" b="1" dirty="0">
                <a:latin typeface="Arial Narrow" panose="020B0606020202030204" pitchFamily="34" charset="0"/>
              </a:rPr>
              <a:t>3. Grinding</a:t>
            </a:r>
            <a:endParaRPr lang="en-ZM" b="0" i="0" u="none" strike="noStrike" baseline="0" dirty="0">
              <a:latin typeface="Arial Narrow" panose="020B0606020202030204" pitchFamily="34" charset="0"/>
            </a:endParaRPr>
          </a:p>
          <a:p>
            <a:pPr marL="342900" indent="-342900" algn="just">
              <a:lnSpc>
                <a:spcPct val="150000"/>
              </a:lnSpc>
              <a:buFont typeface="Wingdings" panose="05000000000000000000" pitchFamily="2" charset="2"/>
              <a:buChar char="Ø"/>
            </a:pPr>
            <a:r>
              <a:rPr lang="de-DE" dirty="0">
                <a:latin typeface="Arial Narrow" panose="020B0606020202030204" pitchFamily="34" charset="0"/>
              </a:rPr>
              <a:t>To icrease the surface area/</a:t>
            </a:r>
            <a:r>
              <a:rPr lang="de-DE" i="0" u="none" strike="noStrike" baseline="0" dirty="0">
                <a:latin typeface="Arial Narrow" panose="020B0606020202030204" pitchFamily="34" charset="0"/>
              </a:rPr>
              <a:t>Reduction of particlesize of ingredients</a:t>
            </a:r>
          </a:p>
          <a:p>
            <a:pPr marL="342900" indent="-342900" algn="just">
              <a:lnSpc>
                <a:spcPct val="150000"/>
              </a:lnSpc>
              <a:buFont typeface="Wingdings" panose="05000000000000000000" pitchFamily="2" charset="2"/>
              <a:buChar char="Ø"/>
            </a:pPr>
            <a:r>
              <a:rPr lang="de-DE" dirty="0">
                <a:latin typeface="Arial Narrow" panose="020B0606020202030204" pitchFamily="34" charset="0"/>
              </a:rPr>
              <a:t>To </a:t>
            </a:r>
            <a:r>
              <a:rPr lang="de-DE" i="0" u="none" strike="noStrike" baseline="0" dirty="0">
                <a:latin typeface="Arial Narrow" panose="020B0606020202030204" pitchFamily="34" charset="0"/>
              </a:rPr>
              <a:t>reduce differences in the average size of particles from different feed ingredients</a:t>
            </a:r>
          </a:p>
          <a:p>
            <a:pPr marL="342900" indent="-342900" algn="just">
              <a:lnSpc>
                <a:spcPct val="150000"/>
              </a:lnSpc>
              <a:buFont typeface="Wingdings" panose="05000000000000000000" pitchFamily="2" charset="2"/>
              <a:buChar char="Ø"/>
            </a:pPr>
            <a:r>
              <a:rPr lang="de-DE" dirty="0">
                <a:latin typeface="Arial Narrow" panose="020B0606020202030204" pitchFamily="34" charset="0"/>
              </a:rPr>
              <a:t>To ensure </a:t>
            </a:r>
            <a:r>
              <a:rPr lang="de-DE" i="0" u="none" strike="noStrike" baseline="0" dirty="0">
                <a:latin typeface="Arial Narrow" panose="020B0606020202030204" pitchFamily="34" charset="0"/>
              </a:rPr>
              <a:t>homogeneity of a mixture</a:t>
            </a:r>
          </a:p>
          <a:p>
            <a:pPr marL="342900" indent="-342900" algn="just">
              <a:lnSpc>
                <a:spcPct val="150000"/>
              </a:lnSpc>
              <a:buFont typeface="Wingdings" panose="05000000000000000000" pitchFamily="2" charset="2"/>
              <a:buChar char="Ø"/>
            </a:pPr>
            <a:r>
              <a:rPr lang="de-DE" dirty="0">
                <a:latin typeface="Arial Narrow" panose="020B0606020202030204" pitchFamily="34" charset="0"/>
              </a:rPr>
              <a:t>Very vital in facilitating </a:t>
            </a:r>
            <a:r>
              <a:rPr lang="de-DE" i="0" u="none" strike="noStrike" baseline="0" dirty="0">
                <a:latin typeface="Arial Narrow" panose="020B0606020202030204" pitchFamily="34" charset="0"/>
              </a:rPr>
              <a:t>conditioning and pelleting</a:t>
            </a:r>
          </a:p>
          <a:p>
            <a:pPr marL="342900" indent="-342900" algn="just">
              <a:lnSpc>
                <a:spcPct val="150000"/>
              </a:lnSpc>
              <a:buFont typeface="Wingdings" panose="05000000000000000000" pitchFamily="2" charset="2"/>
              <a:buChar char="Ø"/>
            </a:pPr>
            <a:r>
              <a:rPr lang="de-DE" dirty="0">
                <a:latin typeface="Arial Narrow" panose="020B0606020202030204" pitchFamily="34" charset="0"/>
              </a:rPr>
              <a:t>T</a:t>
            </a:r>
            <a:r>
              <a:rPr lang="de-DE" i="0" u="none" strike="noStrike" baseline="0" dirty="0">
                <a:latin typeface="Arial Narrow" panose="020B0606020202030204" pitchFamily="34" charset="0"/>
              </a:rPr>
              <a:t>o ensure that individual feed pellets contain all nutrients</a:t>
            </a:r>
          </a:p>
          <a:p>
            <a:pPr algn="just">
              <a:lnSpc>
                <a:spcPct val="150000"/>
              </a:lnSpc>
            </a:pPr>
            <a:endParaRPr lang="en-GB" b="1" dirty="0">
              <a:latin typeface="Arial Narrow" panose="020B0606020202030204" pitchFamily="34" charset="0"/>
            </a:endParaRPr>
          </a:p>
        </p:txBody>
      </p:sp>
    </p:spTree>
    <p:extLst>
      <p:ext uri="{BB962C8B-B14F-4D97-AF65-F5344CB8AC3E}">
        <p14:creationId xmlns:p14="http://schemas.microsoft.com/office/powerpoint/2010/main" val="312796241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4EB5C-E500-F29E-8D6F-16892C316555}"/>
              </a:ext>
            </a:extLst>
          </p:cNvPr>
          <p:cNvSpPr>
            <a:spLocks noGrp="1"/>
          </p:cNvSpPr>
          <p:nvPr>
            <p:ph type="ctrTitle"/>
          </p:nvPr>
        </p:nvSpPr>
        <p:spPr>
          <a:xfrm>
            <a:off x="1356049" y="359650"/>
            <a:ext cx="10204580" cy="893049"/>
          </a:xfrm>
        </p:spPr>
        <p:txBody>
          <a:bodyPr>
            <a:normAutofit fontScale="90000"/>
          </a:bodyPr>
          <a:lstStyle/>
          <a:p>
            <a:pPr>
              <a:lnSpc>
                <a:spcPct val="150000"/>
              </a:lnSpc>
            </a:pPr>
            <a:r>
              <a:rPr lang="en-GB" b="1" dirty="0">
                <a:latin typeface="Arial Narrow" panose="020B0606020202030204" pitchFamily="34" charset="0"/>
              </a:rPr>
              <a:t>Steps in Feed Manufacture</a:t>
            </a:r>
            <a:endParaRPr lang="en-ZM" b="1" dirty="0">
              <a:latin typeface="Arial Narrow" panose="020B0606020202030204" pitchFamily="34" charset="0"/>
            </a:endParaRPr>
          </a:p>
        </p:txBody>
      </p:sp>
      <p:sp>
        <p:nvSpPr>
          <p:cNvPr id="3" name="Subtitle 2">
            <a:extLst>
              <a:ext uri="{FF2B5EF4-FFF2-40B4-BE49-F238E27FC236}">
                <a16:creationId xmlns:a16="http://schemas.microsoft.com/office/drawing/2014/main" id="{B1323DBA-6119-AB7A-DF6B-4225F287DAAC}"/>
              </a:ext>
            </a:extLst>
          </p:cNvPr>
          <p:cNvSpPr>
            <a:spLocks noGrp="1"/>
          </p:cNvSpPr>
          <p:nvPr>
            <p:ph type="subTitle" idx="1"/>
          </p:nvPr>
        </p:nvSpPr>
        <p:spPr>
          <a:xfrm>
            <a:off x="699797" y="1252698"/>
            <a:ext cx="10860832" cy="5605301"/>
          </a:xfrm>
        </p:spPr>
        <p:txBody>
          <a:bodyPr>
            <a:normAutofit/>
          </a:bodyPr>
          <a:lstStyle/>
          <a:p>
            <a:pPr algn="just">
              <a:lnSpc>
                <a:spcPct val="150000"/>
              </a:lnSpc>
            </a:pPr>
            <a:r>
              <a:rPr lang="en-GB" b="1" dirty="0">
                <a:latin typeface="Arial Narrow" panose="020B0606020202030204" pitchFamily="34" charset="0"/>
              </a:rPr>
              <a:t>4. Mixing and Conditioning </a:t>
            </a:r>
            <a:endParaRPr lang="en-ZM" b="0" i="0" u="none" strike="noStrike" baseline="0" dirty="0">
              <a:solidFill>
                <a:srgbClr val="000000"/>
              </a:solidFill>
              <a:latin typeface="Arial Narrow" panose="020B0606020202030204" pitchFamily="34" charset="0"/>
            </a:endParaRPr>
          </a:p>
          <a:p>
            <a:pPr marL="342900" indent="-342900" algn="just">
              <a:lnSpc>
                <a:spcPct val="150000"/>
              </a:lnSpc>
              <a:buFont typeface="Wingdings" panose="05000000000000000000" pitchFamily="2" charset="2"/>
              <a:buChar char="Ø"/>
            </a:pPr>
            <a:r>
              <a:rPr lang="de-DE" b="0" i="0" u="none" strike="noStrike" baseline="0" dirty="0">
                <a:latin typeface="Arial Narrow" panose="020B0606020202030204" pitchFamily="34" charset="0"/>
              </a:rPr>
              <a:t>This is done ensure  homogeneous mix of dry ingredients.</a:t>
            </a:r>
          </a:p>
          <a:p>
            <a:pPr marL="342900" indent="-342900" algn="just">
              <a:lnSpc>
                <a:spcPct val="150000"/>
              </a:lnSpc>
              <a:buFont typeface="Wingdings" panose="05000000000000000000" pitchFamily="2" charset="2"/>
              <a:buChar char="Ø"/>
            </a:pPr>
            <a:r>
              <a:rPr lang="de-DE" b="0" i="0" u="none" strike="noStrike" baseline="0" dirty="0">
                <a:latin typeface="Arial Narrow" panose="020B0606020202030204" pitchFamily="34" charset="0"/>
              </a:rPr>
              <a:t>Over mixing (mixingfortoolongperiod) can make particles begin to segregate based on material density.</a:t>
            </a:r>
          </a:p>
          <a:p>
            <a:pPr marL="342900" indent="-342900" algn="just">
              <a:lnSpc>
                <a:spcPct val="150000"/>
              </a:lnSpc>
              <a:buFont typeface="Wingdings" panose="05000000000000000000" pitchFamily="2" charset="2"/>
              <a:buChar char="Ø"/>
            </a:pPr>
            <a:r>
              <a:rPr lang="de-DE" b="0" i="0" u="none" strike="noStrike" baseline="0" dirty="0">
                <a:latin typeface="Arial Narrow" panose="020B0606020202030204" pitchFamily="34" charset="0"/>
              </a:rPr>
              <a:t>Undermixing can compromise homogeneity of mixture.</a:t>
            </a:r>
          </a:p>
          <a:p>
            <a:pPr algn="just">
              <a:lnSpc>
                <a:spcPct val="150000"/>
              </a:lnSpc>
            </a:pPr>
            <a:endParaRPr lang="en-GB" sz="2000" dirty="0">
              <a:latin typeface="Arial Narrow" panose="020B0606020202030204" pitchFamily="34" charset="0"/>
            </a:endParaRPr>
          </a:p>
        </p:txBody>
      </p:sp>
      <p:pic>
        <p:nvPicPr>
          <p:cNvPr id="5" name="Picture 4">
            <a:extLst>
              <a:ext uri="{FF2B5EF4-FFF2-40B4-BE49-F238E27FC236}">
                <a16:creationId xmlns:a16="http://schemas.microsoft.com/office/drawing/2014/main" id="{804C4430-25B2-99D7-546C-8F8E77D7EA84}"/>
              </a:ext>
            </a:extLst>
          </p:cNvPr>
          <p:cNvPicPr>
            <a:picLocks noChangeAspect="1"/>
          </p:cNvPicPr>
          <p:nvPr/>
        </p:nvPicPr>
        <p:blipFill>
          <a:blip r:embed="rId3"/>
          <a:stretch>
            <a:fillRect/>
          </a:stretch>
        </p:blipFill>
        <p:spPr>
          <a:xfrm>
            <a:off x="8789306" y="3336365"/>
            <a:ext cx="2606280" cy="3004670"/>
          </a:xfrm>
          <a:prstGeom prst="rect">
            <a:avLst/>
          </a:prstGeom>
        </p:spPr>
      </p:pic>
    </p:spTree>
    <p:extLst>
      <p:ext uri="{BB962C8B-B14F-4D97-AF65-F5344CB8AC3E}">
        <p14:creationId xmlns:p14="http://schemas.microsoft.com/office/powerpoint/2010/main" val="169909477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4EB5C-E500-F29E-8D6F-16892C316555}"/>
              </a:ext>
            </a:extLst>
          </p:cNvPr>
          <p:cNvSpPr>
            <a:spLocks noGrp="1"/>
          </p:cNvSpPr>
          <p:nvPr>
            <p:ph type="ctrTitle"/>
          </p:nvPr>
        </p:nvSpPr>
        <p:spPr>
          <a:xfrm>
            <a:off x="1356049" y="359650"/>
            <a:ext cx="10204580" cy="893049"/>
          </a:xfrm>
        </p:spPr>
        <p:txBody>
          <a:bodyPr>
            <a:normAutofit fontScale="90000"/>
          </a:bodyPr>
          <a:lstStyle/>
          <a:p>
            <a:pPr>
              <a:lnSpc>
                <a:spcPct val="150000"/>
              </a:lnSpc>
            </a:pPr>
            <a:r>
              <a:rPr lang="en-GB" b="1" dirty="0">
                <a:latin typeface="Arial Narrow" panose="020B0606020202030204" pitchFamily="34" charset="0"/>
              </a:rPr>
              <a:t>Steps in Feed Manufacture</a:t>
            </a:r>
            <a:endParaRPr lang="en-ZM" b="1" dirty="0">
              <a:latin typeface="Arial Narrow" panose="020B0606020202030204" pitchFamily="34" charset="0"/>
            </a:endParaRPr>
          </a:p>
        </p:txBody>
      </p:sp>
      <p:sp>
        <p:nvSpPr>
          <p:cNvPr id="3" name="Subtitle 2">
            <a:extLst>
              <a:ext uri="{FF2B5EF4-FFF2-40B4-BE49-F238E27FC236}">
                <a16:creationId xmlns:a16="http://schemas.microsoft.com/office/drawing/2014/main" id="{B1323DBA-6119-AB7A-DF6B-4225F287DAAC}"/>
              </a:ext>
            </a:extLst>
          </p:cNvPr>
          <p:cNvSpPr>
            <a:spLocks noGrp="1"/>
          </p:cNvSpPr>
          <p:nvPr>
            <p:ph type="subTitle" idx="1"/>
          </p:nvPr>
        </p:nvSpPr>
        <p:spPr>
          <a:xfrm>
            <a:off x="1484070" y="1266533"/>
            <a:ext cx="7246976" cy="4420515"/>
          </a:xfrm>
        </p:spPr>
        <p:txBody>
          <a:bodyPr>
            <a:normAutofit/>
          </a:bodyPr>
          <a:lstStyle/>
          <a:p>
            <a:pPr algn="just">
              <a:lnSpc>
                <a:spcPct val="150000"/>
              </a:lnSpc>
            </a:pPr>
            <a:r>
              <a:rPr lang="en-GB" b="1" dirty="0">
                <a:latin typeface="Arial Narrow" panose="020B0606020202030204" pitchFamily="34" charset="0"/>
              </a:rPr>
              <a:t>4. Mixing and Conditioning </a:t>
            </a:r>
            <a:endParaRPr lang="en-ZM" b="0" i="0" u="none" strike="noStrike" baseline="0" dirty="0">
              <a:solidFill>
                <a:srgbClr val="000000"/>
              </a:solidFill>
              <a:latin typeface="Arial Narrow" panose="020B0606020202030204" pitchFamily="34" charset="0"/>
            </a:endParaRPr>
          </a:p>
          <a:p>
            <a:pPr marL="342900" indent="-342900" algn="just">
              <a:lnSpc>
                <a:spcPct val="150000"/>
              </a:lnSpc>
              <a:buFont typeface="Wingdings" panose="05000000000000000000" pitchFamily="2" charset="2"/>
              <a:buChar char="Ø"/>
            </a:pPr>
            <a:r>
              <a:rPr lang="en-GB" dirty="0">
                <a:latin typeface="Arial Narrow" panose="020B0606020202030204" pitchFamily="34" charset="0"/>
              </a:rPr>
              <a:t>Conditioning is key because it helps to prepare a feed mixture for pelleting increasing the moisture content, heating the mixture and this is done in  a chamber ( to which steam and physical agitation are introduced)</a:t>
            </a:r>
          </a:p>
          <a:p>
            <a:pPr marL="342900" indent="-342900" algn="just">
              <a:lnSpc>
                <a:spcPct val="150000"/>
              </a:lnSpc>
              <a:buFont typeface="Wingdings" panose="05000000000000000000" pitchFamily="2" charset="2"/>
              <a:buChar char="Ø"/>
            </a:pPr>
            <a:r>
              <a:rPr lang="en-GB" dirty="0">
                <a:latin typeface="Arial Narrow" panose="020B0606020202030204" pitchFamily="34" charset="0"/>
              </a:rPr>
              <a:t>The mixture then enters either a compression pelleting chamber or an extrusion barrel.</a:t>
            </a:r>
          </a:p>
        </p:txBody>
      </p:sp>
      <p:pic>
        <p:nvPicPr>
          <p:cNvPr id="6" name="Picture 5">
            <a:extLst>
              <a:ext uri="{FF2B5EF4-FFF2-40B4-BE49-F238E27FC236}">
                <a16:creationId xmlns:a16="http://schemas.microsoft.com/office/drawing/2014/main" id="{891290DC-949F-B919-98AB-454677052BFB}"/>
              </a:ext>
            </a:extLst>
          </p:cNvPr>
          <p:cNvPicPr>
            <a:picLocks noChangeAspect="1"/>
          </p:cNvPicPr>
          <p:nvPr/>
        </p:nvPicPr>
        <p:blipFill>
          <a:blip r:embed="rId3"/>
          <a:stretch>
            <a:fillRect/>
          </a:stretch>
        </p:blipFill>
        <p:spPr>
          <a:xfrm>
            <a:off x="9742014" y="2366257"/>
            <a:ext cx="1931831" cy="2905328"/>
          </a:xfrm>
          <a:prstGeom prst="rect">
            <a:avLst/>
          </a:prstGeom>
        </p:spPr>
      </p:pic>
    </p:spTree>
    <p:extLst>
      <p:ext uri="{BB962C8B-B14F-4D97-AF65-F5344CB8AC3E}">
        <p14:creationId xmlns:p14="http://schemas.microsoft.com/office/powerpoint/2010/main" val="75875145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B5BFD-CBD2-893A-0C29-1B229EF0EFB4}"/>
              </a:ext>
            </a:extLst>
          </p:cNvPr>
          <p:cNvSpPr>
            <a:spLocks noGrp="1"/>
          </p:cNvSpPr>
          <p:nvPr>
            <p:ph type="title"/>
          </p:nvPr>
        </p:nvSpPr>
        <p:spPr>
          <a:xfrm>
            <a:off x="838200" y="197976"/>
            <a:ext cx="10515600" cy="608269"/>
          </a:xfrm>
        </p:spPr>
        <p:txBody>
          <a:bodyPr>
            <a:normAutofit fontScale="90000"/>
          </a:bodyPr>
          <a:lstStyle/>
          <a:p>
            <a:pPr algn="ctr"/>
            <a:r>
              <a:rPr lang="en-GB" b="1" dirty="0">
                <a:latin typeface="Arial Narrow" panose="020B0606020202030204" pitchFamily="34" charset="0"/>
              </a:rPr>
              <a:t>Steps in Feed Manufacture</a:t>
            </a:r>
            <a:endParaRPr lang="en-ZM" dirty="0"/>
          </a:p>
        </p:txBody>
      </p:sp>
      <p:sp>
        <p:nvSpPr>
          <p:cNvPr id="3" name="Content Placeholder 2">
            <a:extLst>
              <a:ext uri="{FF2B5EF4-FFF2-40B4-BE49-F238E27FC236}">
                <a16:creationId xmlns:a16="http://schemas.microsoft.com/office/drawing/2014/main" id="{FBD7EC72-FB94-B911-17E6-636D2AB00240}"/>
              </a:ext>
            </a:extLst>
          </p:cNvPr>
          <p:cNvSpPr>
            <a:spLocks noGrp="1"/>
          </p:cNvSpPr>
          <p:nvPr>
            <p:ph sz="half" idx="1"/>
          </p:nvPr>
        </p:nvSpPr>
        <p:spPr>
          <a:xfrm>
            <a:off x="255639" y="806245"/>
            <a:ext cx="5764161" cy="5853779"/>
          </a:xfrm>
        </p:spPr>
        <p:txBody>
          <a:bodyPr/>
          <a:lstStyle/>
          <a:p>
            <a:pPr algn="just">
              <a:lnSpc>
                <a:spcPct val="150000"/>
              </a:lnSpc>
              <a:buFont typeface="Wingdings" panose="05000000000000000000" pitchFamily="2" charset="2"/>
              <a:buChar char="q"/>
            </a:pPr>
            <a:r>
              <a:rPr lang="en-GB" sz="2400" b="1" dirty="0">
                <a:latin typeface="Arial Narrow" panose="020B0606020202030204" pitchFamily="34" charset="0"/>
              </a:rPr>
              <a:t>5. Forming (Extrusion/Pelleting) </a:t>
            </a:r>
          </a:p>
          <a:p>
            <a:pPr algn="just">
              <a:lnSpc>
                <a:spcPct val="150000"/>
              </a:lnSpc>
              <a:buFont typeface="Wingdings" panose="05000000000000000000" pitchFamily="2" charset="2"/>
              <a:buChar char="Ø"/>
            </a:pPr>
            <a:r>
              <a:rPr lang="en-GB" sz="2400" dirty="0">
                <a:latin typeface="Arial Narrow" panose="020B0606020202030204" pitchFamily="34" charset="0"/>
              </a:rPr>
              <a:t>Uses a static roller to force a feed mixture that has been exposed to dry steam through tapered holes in a rotating metal die.</a:t>
            </a:r>
          </a:p>
          <a:p>
            <a:pPr algn="just">
              <a:lnSpc>
                <a:spcPct val="150000"/>
              </a:lnSpc>
              <a:buFont typeface="Wingdings" panose="05000000000000000000" pitchFamily="2" charset="2"/>
              <a:buChar char="Ø"/>
            </a:pPr>
            <a:r>
              <a:rPr lang="en-GB" sz="2400" dirty="0">
                <a:latin typeface="Arial Narrow" panose="020B0606020202030204" pitchFamily="34" charset="0"/>
              </a:rPr>
              <a:t>Compression of the mixture into dense threads that are cut off by a stationary knife as they emerge from the outside surface of the rotating die and pellet diameter and length can be adjusted</a:t>
            </a:r>
          </a:p>
          <a:p>
            <a:pPr marL="0" indent="0">
              <a:buNone/>
            </a:pPr>
            <a:endParaRPr lang="en-ZM" dirty="0"/>
          </a:p>
        </p:txBody>
      </p:sp>
      <p:sp>
        <p:nvSpPr>
          <p:cNvPr id="4" name="Content Placeholder 3">
            <a:extLst>
              <a:ext uri="{FF2B5EF4-FFF2-40B4-BE49-F238E27FC236}">
                <a16:creationId xmlns:a16="http://schemas.microsoft.com/office/drawing/2014/main" id="{294225DD-00B9-B42E-9723-23D13F59FF06}"/>
              </a:ext>
            </a:extLst>
          </p:cNvPr>
          <p:cNvSpPr>
            <a:spLocks noGrp="1"/>
          </p:cNvSpPr>
          <p:nvPr>
            <p:ph sz="half" idx="2"/>
          </p:nvPr>
        </p:nvSpPr>
        <p:spPr>
          <a:xfrm>
            <a:off x="6172200" y="806244"/>
            <a:ext cx="5764160" cy="5853779"/>
          </a:xfrm>
        </p:spPr>
        <p:txBody>
          <a:bodyPr/>
          <a:lstStyle/>
          <a:p>
            <a:pPr marL="342900" indent="-342900" algn="just">
              <a:lnSpc>
                <a:spcPct val="150000"/>
              </a:lnSpc>
              <a:buFont typeface="Wingdings" panose="05000000000000000000" pitchFamily="2" charset="2"/>
              <a:buChar char="Ø"/>
            </a:pPr>
            <a:r>
              <a:rPr lang="en-GB" sz="2400" dirty="0">
                <a:latin typeface="Arial Narrow" panose="020B0606020202030204" pitchFamily="34" charset="0"/>
              </a:rPr>
              <a:t>Compression pellets are also referred to as sinking pellets as they have higher density than extruded pellets</a:t>
            </a:r>
          </a:p>
          <a:p>
            <a:pPr marL="0" indent="0">
              <a:buNone/>
            </a:pPr>
            <a:endParaRPr lang="en-ZM" dirty="0"/>
          </a:p>
        </p:txBody>
      </p:sp>
    </p:spTree>
    <p:extLst>
      <p:ext uri="{BB962C8B-B14F-4D97-AF65-F5344CB8AC3E}">
        <p14:creationId xmlns:p14="http://schemas.microsoft.com/office/powerpoint/2010/main" val="92798813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4EB5C-E500-F29E-8D6F-16892C316555}"/>
              </a:ext>
            </a:extLst>
          </p:cNvPr>
          <p:cNvSpPr>
            <a:spLocks noGrp="1"/>
          </p:cNvSpPr>
          <p:nvPr>
            <p:ph type="ctrTitle"/>
          </p:nvPr>
        </p:nvSpPr>
        <p:spPr>
          <a:xfrm>
            <a:off x="1356049" y="359650"/>
            <a:ext cx="10204580" cy="893049"/>
          </a:xfrm>
        </p:spPr>
        <p:txBody>
          <a:bodyPr>
            <a:normAutofit fontScale="90000"/>
          </a:bodyPr>
          <a:lstStyle/>
          <a:p>
            <a:pPr>
              <a:lnSpc>
                <a:spcPct val="150000"/>
              </a:lnSpc>
            </a:pPr>
            <a:r>
              <a:rPr lang="en-GB" b="1" dirty="0">
                <a:latin typeface="Arial Narrow" panose="020B0606020202030204" pitchFamily="34" charset="0"/>
              </a:rPr>
              <a:t>Steps in Feed Manufacture</a:t>
            </a:r>
            <a:endParaRPr lang="en-ZM" b="1" dirty="0">
              <a:latin typeface="Arial Narrow" panose="020B0606020202030204" pitchFamily="34" charset="0"/>
            </a:endParaRPr>
          </a:p>
        </p:txBody>
      </p:sp>
      <p:sp>
        <p:nvSpPr>
          <p:cNvPr id="3" name="Subtitle 2">
            <a:extLst>
              <a:ext uri="{FF2B5EF4-FFF2-40B4-BE49-F238E27FC236}">
                <a16:creationId xmlns:a16="http://schemas.microsoft.com/office/drawing/2014/main" id="{B1323DBA-6119-AB7A-DF6B-4225F287DAAC}"/>
              </a:ext>
            </a:extLst>
          </p:cNvPr>
          <p:cNvSpPr>
            <a:spLocks noGrp="1"/>
          </p:cNvSpPr>
          <p:nvPr>
            <p:ph type="subTitle" idx="1"/>
          </p:nvPr>
        </p:nvSpPr>
        <p:spPr>
          <a:xfrm>
            <a:off x="827617" y="1252699"/>
            <a:ext cx="7067686" cy="4656489"/>
          </a:xfrm>
        </p:spPr>
        <p:txBody>
          <a:bodyPr>
            <a:normAutofit/>
          </a:bodyPr>
          <a:lstStyle/>
          <a:p>
            <a:pPr algn="just">
              <a:lnSpc>
                <a:spcPct val="150000"/>
              </a:lnSpc>
            </a:pPr>
            <a:r>
              <a:rPr lang="en-GB" b="1" dirty="0">
                <a:latin typeface="Arial Narrow" panose="020B0606020202030204" pitchFamily="34" charset="0"/>
              </a:rPr>
              <a:t>6. Drying or Cooling </a:t>
            </a:r>
          </a:p>
          <a:p>
            <a:pPr marL="342900" indent="-342900" algn="just">
              <a:lnSpc>
                <a:spcPct val="150000"/>
              </a:lnSpc>
              <a:buFont typeface="Wingdings" panose="05000000000000000000" pitchFamily="2" charset="2"/>
              <a:buChar char="Ø"/>
            </a:pPr>
            <a:r>
              <a:rPr lang="en-GB" dirty="0">
                <a:latin typeface="Arial Narrow" panose="020B0606020202030204" pitchFamily="34" charset="0"/>
              </a:rPr>
              <a:t>As the pellets come out of the die, there is need to dry them either through exposing them to the sunlight (Small scale) or within the pelletizers or extruder through counterflow dryers.</a:t>
            </a:r>
          </a:p>
        </p:txBody>
      </p:sp>
      <p:pic>
        <p:nvPicPr>
          <p:cNvPr id="5" name="Picture 4">
            <a:extLst>
              <a:ext uri="{FF2B5EF4-FFF2-40B4-BE49-F238E27FC236}">
                <a16:creationId xmlns:a16="http://schemas.microsoft.com/office/drawing/2014/main" id="{8562A873-38B5-0CEE-1235-9776D26347CF}"/>
              </a:ext>
            </a:extLst>
          </p:cNvPr>
          <p:cNvPicPr>
            <a:picLocks noChangeAspect="1"/>
          </p:cNvPicPr>
          <p:nvPr/>
        </p:nvPicPr>
        <p:blipFill>
          <a:blip r:embed="rId2"/>
          <a:stretch>
            <a:fillRect/>
          </a:stretch>
        </p:blipFill>
        <p:spPr>
          <a:xfrm>
            <a:off x="8359081" y="1427979"/>
            <a:ext cx="3477296" cy="4481209"/>
          </a:xfrm>
          <a:prstGeom prst="rect">
            <a:avLst/>
          </a:prstGeom>
        </p:spPr>
      </p:pic>
    </p:spTree>
    <p:extLst>
      <p:ext uri="{BB962C8B-B14F-4D97-AF65-F5344CB8AC3E}">
        <p14:creationId xmlns:p14="http://schemas.microsoft.com/office/powerpoint/2010/main" val="36827787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4EB5C-E500-F29E-8D6F-16892C316555}"/>
              </a:ext>
            </a:extLst>
          </p:cNvPr>
          <p:cNvSpPr>
            <a:spLocks noGrp="1"/>
          </p:cNvSpPr>
          <p:nvPr>
            <p:ph type="ctrTitle"/>
          </p:nvPr>
        </p:nvSpPr>
        <p:spPr>
          <a:xfrm>
            <a:off x="1356049" y="359650"/>
            <a:ext cx="10204580" cy="893049"/>
          </a:xfrm>
        </p:spPr>
        <p:txBody>
          <a:bodyPr>
            <a:normAutofit fontScale="90000"/>
          </a:bodyPr>
          <a:lstStyle/>
          <a:p>
            <a:pPr>
              <a:lnSpc>
                <a:spcPct val="150000"/>
              </a:lnSpc>
            </a:pPr>
            <a:r>
              <a:rPr lang="en-GB" b="1" dirty="0">
                <a:latin typeface="Arial Narrow" panose="020B0606020202030204" pitchFamily="34" charset="0"/>
              </a:rPr>
              <a:t>Steps in Feed Manufacture</a:t>
            </a:r>
            <a:endParaRPr lang="en-ZM" b="1" dirty="0">
              <a:latin typeface="Arial Narrow" panose="020B0606020202030204" pitchFamily="34" charset="0"/>
            </a:endParaRPr>
          </a:p>
        </p:txBody>
      </p:sp>
      <p:sp>
        <p:nvSpPr>
          <p:cNvPr id="3" name="Subtitle 2">
            <a:extLst>
              <a:ext uri="{FF2B5EF4-FFF2-40B4-BE49-F238E27FC236}">
                <a16:creationId xmlns:a16="http://schemas.microsoft.com/office/drawing/2014/main" id="{B1323DBA-6119-AB7A-DF6B-4225F287DAAC}"/>
              </a:ext>
            </a:extLst>
          </p:cNvPr>
          <p:cNvSpPr>
            <a:spLocks noGrp="1"/>
          </p:cNvSpPr>
          <p:nvPr>
            <p:ph type="subTitle" idx="1"/>
          </p:nvPr>
        </p:nvSpPr>
        <p:spPr>
          <a:xfrm>
            <a:off x="385564" y="1252699"/>
            <a:ext cx="7962023" cy="5245651"/>
          </a:xfrm>
        </p:spPr>
        <p:txBody>
          <a:bodyPr>
            <a:normAutofit/>
          </a:bodyPr>
          <a:lstStyle/>
          <a:p>
            <a:pPr algn="just">
              <a:lnSpc>
                <a:spcPct val="150000"/>
              </a:lnSpc>
            </a:pPr>
            <a:r>
              <a:rPr lang="en-GB" b="1" dirty="0">
                <a:latin typeface="Arial Narrow" panose="020B0606020202030204" pitchFamily="34" charset="0"/>
              </a:rPr>
              <a:t>7. Packing and storage</a:t>
            </a:r>
            <a:endParaRPr lang="en-ZM" b="0" i="0" u="none" strike="noStrike" baseline="0" dirty="0">
              <a:solidFill>
                <a:srgbClr val="000000"/>
              </a:solidFill>
              <a:latin typeface="Arial Narrow" panose="020B0606020202030204" pitchFamily="34" charset="0"/>
            </a:endParaRPr>
          </a:p>
          <a:p>
            <a:pPr marL="342900" indent="-342900" algn="just">
              <a:lnSpc>
                <a:spcPct val="150000"/>
              </a:lnSpc>
              <a:buFont typeface="Wingdings" panose="05000000000000000000" pitchFamily="2" charset="2"/>
              <a:buChar char="Ø"/>
            </a:pPr>
            <a:r>
              <a:rPr lang="en-GB" b="0" i="0" u="none" strike="noStrike" baseline="0" dirty="0">
                <a:solidFill>
                  <a:srgbClr val="000000"/>
                </a:solidFill>
                <a:latin typeface="Arial Narrow" panose="020B0606020202030204" pitchFamily="34" charset="0"/>
              </a:rPr>
              <a:t>The feed will then be packaged in various sizes depending on the needs of the market and the aim is to keep feed as dry/cool as possible.</a:t>
            </a:r>
          </a:p>
          <a:p>
            <a:pPr marL="342900" indent="-342900" algn="just">
              <a:lnSpc>
                <a:spcPct val="150000"/>
              </a:lnSpc>
              <a:buFont typeface="Wingdings" panose="05000000000000000000" pitchFamily="2" charset="2"/>
              <a:buChar char="Ø"/>
            </a:pPr>
            <a:r>
              <a:rPr lang="en-GB" dirty="0">
                <a:solidFill>
                  <a:srgbClr val="000000"/>
                </a:solidFill>
                <a:latin typeface="Arial Narrow" panose="020B0606020202030204" pitchFamily="34" charset="0"/>
              </a:rPr>
              <a:t>There is quality control through proximate analysis (Checking the nutritional values of the final product)</a:t>
            </a:r>
            <a:endParaRPr lang="en-ZM" b="0" i="0" u="none" strike="noStrike" baseline="0" dirty="0">
              <a:solidFill>
                <a:srgbClr val="000000"/>
              </a:solidFill>
              <a:latin typeface="Arial Narrow" panose="020B0606020202030204" pitchFamily="34" charset="0"/>
            </a:endParaRPr>
          </a:p>
          <a:p>
            <a:pPr marL="342900" indent="-342900" algn="just">
              <a:lnSpc>
                <a:spcPct val="150000"/>
              </a:lnSpc>
              <a:buFont typeface="Wingdings" panose="05000000000000000000" pitchFamily="2" charset="2"/>
              <a:buChar char="Ø"/>
            </a:pPr>
            <a:r>
              <a:rPr lang="en-GB" b="0" i="0" u="none" strike="noStrike" baseline="0" dirty="0">
                <a:solidFill>
                  <a:srgbClr val="000000"/>
                </a:solidFill>
                <a:latin typeface="Arial Narrow" panose="020B0606020202030204" pitchFamily="34" charset="0"/>
              </a:rPr>
              <a:t>A variety of physical tests are done (</a:t>
            </a:r>
            <a:r>
              <a:rPr lang="de-DE" b="0" i="0" u="none" strike="noStrike" baseline="0" dirty="0">
                <a:solidFill>
                  <a:srgbClr val="000000"/>
                </a:solidFill>
                <a:latin typeface="Arial Narrow" panose="020B0606020202030204" pitchFamily="34" charset="0"/>
              </a:rPr>
              <a:t>Pellet size, Water stability,Durability)</a:t>
            </a:r>
          </a:p>
          <a:p>
            <a:pPr algn="just">
              <a:lnSpc>
                <a:spcPct val="150000"/>
              </a:lnSpc>
            </a:pPr>
            <a:endParaRPr lang="en-GB" b="0" i="0" u="none" strike="noStrike" baseline="0" dirty="0">
              <a:solidFill>
                <a:srgbClr val="000000"/>
              </a:solidFill>
              <a:latin typeface="Arial Narrow" panose="020B0606020202030204" pitchFamily="34" charset="0"/>
            </a:endParaRPr>
          </a:p>
        </p:txBody>
      </p:sp>
      <p:pic>
        <p:nvPicPr>
          <p:cNvPr id="5" name="Picture 4">
            <a:extLst>
              <a:ext uri="{FF2B5EF4-FFF2-40B4-BE49-F238E27FC236}">
                <a16:creationId xmlns:a16="http://schemas.microsoft.com/office/drawing/2014/main" id="{FCD26AA8-7208-8AD6-36AC-B18BE07FDC4D}"/>
              </a:ext>
            </a:extLst>
          </p:cNvPr>
          <p:cNvPicPr>
            <a:picLocks noChangeAspect="1"/>
          </p:cNvPicPr>
          <p:nvPr/>
        </p:nvPicPr>
        <p:blipFill>
          <a:blip r:embed="rId2"/>
          <a:stretch>
            <a:fillRect/>
          </a:stretch>
        </p:blipFill>
        <p:spPr>
          <a:xfrm>
            <a:off x="8487001" y="4487889"/>
            <a:ext cx="3319435" cy="1705684"/>
          </a:xfrm>
          <a:prstGeom prst="rect">
            <a:avLst/>
          </a:prstGeom>
        </p:spPr>
      </p:pic>
      <p:pic>
        <p:nvPicPr>
          <p:cNvPr id="7" name="Picture 6">
            <a:extLst>
              <a:ext uri="{FF2B5EF4-FFF2-40B4-BE49-F238E27FC236}">
                <a16:creationId xmlns:a16="http://schemas.microsoft.com/office/drawing/2014/main" id="{9A06F4C7-B973-FB6E-0F7D-816FDB541D5D}"/>
              </a:ext>
            </a:extLst>
          </p:cNvPr>
          <p:cNvPicPr>
            <a:picLocks noChangeAspect="1"/>
          </p:cNvPicPr>
          <p:nvPr/>
        </p:nvPicPr>
        <p:blipFill rotWithShape="1">
          <a:blip r:embed="rId3"/>
          <a:srcRect r="51169"/>
          <a:stretch/>
        </p:blipFill>
        <p:spPr>
          <a:xfrm>
            <a:off x="8487001" y="1517269"/>
            <a:ext cx="3319435" cy="2512399"/>
          </a:xfrm>
          <a:prstGeom prst="rect">
            <a:avLst/>
          </a:prstGeom>
        </p:spPr>
      </p:pic>
    </p:spTree>
    <p:extLst>
      <p:ext uri="{BB962C8B-B14F-4D97-AF65-F5344CB8AC3E}">
        <p14:creationId xmlns:p14="http://schemas.microsoft.com/office/powerpoint/2010/main" val="158697762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879DF-704F-A00D-572B-E7C7A52AE7B4}"/>
              </a:ext>
            </a:extLst>
          </p:cNvPr>
          <p:cNvSpPr>
            <a:spLocks noGrp="1"/>
          </p:cNvSpPr>
          <p:nvPr>
            <p:ph type="ctrTitle"/>
          </p:nvPr>
        </p:nvSpPr>
        <p:spPr>
          <a:xfrm>
            <a:off x="255639" y="399181"/>
            <a:ext cx="11533238" cy="820019"/>
          </a:xfrm>
        </p:spPr>
        <p:txBody>
          <a:bodyPr>
            <a:normAutofit fontScale="90000"/>
          </a:bodyPr>
          <a:lstStyle/>
          <a:p>
            <a:r>
              <a:rPr lang="en-GB" sz="5400" b="1" dirty="0">
                <a:latin typeface="Arial Narrow" panose="020B0606020202030204" pitchFamily="34" charset="0"/>
              </a:rPr>
              <a:t>PHYSICAL PROPERTIES OF FISH FEED</a:t>
            </a:r>
            <a:endParaRPr lang="en-ZM" sz="5400" b="1" dirty="0">
              <a:latin typeface="Arial Narrow" panose="020B0606020202030204" pitchFamily="34" charset="0"/>
            </a:endParaRPr>
          </a:p>
        </p:txBody>
      </p:sp>
      <p:sp>
        <p:nvSpPr>
          <p:cNvPr id="3" name="Subtitle 2">
            <a:extLst>
              <a:ext uri="{FF2B5EF4-FFF2-40B4-BE49-F238E27FC236}">
                <a16:creationId xmlns:a16="http://schemas.microsoft.com/office/drawing/2014/main" id="{6107AEAB-3800-9DC8-32E6-AB24BBF3E56C}"/>
              </a:ext>
            </a:extLst>
          </p:cNvPr>
          <p:cNvSpPr>
            <a:spLocks noGrp="1"/>
          </p:cNvSpPr>
          <p:nvPr>
            <p:ph type="subTitle" idx="1"/>
          </p:nvPr>
        </p:nvSpPr>
        <p:spPr>
          <a:xfrm>
            <a:off x="2079522" y="1337187"/>
            <a:ext cx="7885472" cy="5121632"/>
          </a:xfrm>
        </p:spPr>
        <p:txBody>
          <a:bodyPr>
            <a:normAutofit/>
          </a:bodyPr>
          <a:lstStyle/>
          <a:p>
            <a:pPr marL="342900" indent="-342900" algn="just">
              <a:lnSpc>
                <a:spcPct val="150000"/>
              </a:lnSpc>
              <a:buFont typeface="Wingdings" panose="05000000000000000000" pitchFamily="2" charset="2"/>
              <a:buChar char="Ø"/>
            </a:pPr>
            <a:r>
              <a:rPr lang="en-GB" b="0" i="0" u="none" strike="noStrike" baseline="0" dirty="0">
                <a:solidFill>
                  <a:srgbClr val="000000"/>
                </a:solidFill>
                <a:latin typeface="Arial Narrow" panose="020B0606020202030204" pitchFamily="34" charset="0"/>
              </a:rPr>
              <a:t>Pellets need to be stable in water until consumed by the target animal</a:t>
            </a:r>
          </a:p>
          <a:p>
            <a:pPr marL="342900" indent="-342900" algn="just">
              <a:lnSpc>
                <a:spcPct val="150000"/>
              </a:lnSpc>
              <a:buFont typeface="Wingdings" panose="05000000000000000000" pitchFamily="2" charset="2"/>
              <a:buChar char="Ø"/>
            </a:pPr>
            <a:r>
              <a:rPr lang="en-GB" b="0" i="0" u="none" strike="noStrike" baseline="0" dirty="0">
                <a:solidFill>
                  <a:srgbClr val="000000"/>
                </a:solidFill>
                <a:latin typeface="Arial Narrow" panose="020B0606020202030204" pitchFamily="34" charset="0"/>
              </a:rPr>
              <a:t>Good pellet stability is required for slow feeding species such as shrimp</a:t>
            </a:r>
          </a:p>
          <a:p>
            <a:pPr marL="342900" indent="-342900" algn="just">
              <a:lnSpc>
                <a:spcPct val="150000"/>
              </a:lnSpc>
              <a:buFont typeface="Wingdings" panose="05000000000000000000" pitchFamily="2" charset="2"/>
              <a:buChar char="Ø"/>
            </a:pPr>
            <a:r>
              <a:rPr lang="en-GB" b="0" i="0" u="none" strike="noStrike" baseline="0" dirty="0">
                <a:solidFill>
                  <a:srgbClr val="000000"/>
                </a:solidFill>
                <a:latin typeface="Arial Narrow" panose="020B0606020202030204" pitchFamily="34" charset="0"/>
              </a:rPr>
              <a:t>Particle size is important to insure appropriate consumption</a:t>
            </a:r>
          </a:p>
          <a:p>
            <a:pPr marL="342900" indent="-342900" algn="just">
              <a:lnSpc>
                <a:spcPct val="150000"/>
              </a:lnSpc>
              <a:buFont typeface="Wingdings" panose="05000000000000000000" pitchFamily="2" charset="2"/>
              <a:buChar char="Ø"/>
            </a:pPr>
            <a:r>
              <a:rPr lang="en-GB" b="0" i="0" u="none" strike="noStrike" baseline="0" dirty="0">
                <a:solidFill>
                  <a:srgbClr val="000000"/>
                </a:solidFill>
                <a:latin typeface="Arial Narrow" panose="020B0606020202030204" pitchFamily="34" charset="0"/>
              </a:rPr>
              <a:t>Sinking and floating properties of the pellets can also be an important requirement of the farmer (and the animal)</a:t>
            </a:r>
            <a:endParaRPr lang="en-ZM" dirty="0">
              <a:solidFill>
                <a:srgbClr val="FF0000"/>
              </a:solidFill>
              <a:latin typeface="Arial Narrow" panose="020B0606020202030204" pitchFamily="34" charset="0"/>
            </a:endParaRPr>
          </a:p>
        </p:txBody>
      </p:sp>
    </p:spTree>
    <p:extLst>
      <p:ext uri="{BB962C8B-B14F-4D97-AF65-F5344CB8AC3E}">
        <p14:creationId xmlns:p14="http://schemas.microsoft.com/office/powerpoint/2010/main" val="82877923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879DF-704F-A00D-572B-E7C7A52AE7B4}"/>
              </a:ext>
            </a:extLst>
          </p:cNvPr>
          <p:cNvSpPr>
            <a:spLocks noGrp="1"/>
          </p:cNvSpPr>
          <p:nvPr>
            <p:ph type="ctrTitle"/>
          </p:nvPr>
        </p:nvSpPr>
        <p:spPr>
          <a:xfrm>
            <a:off x="255639" y="399181"/>
            <a:ext cx="11533238" cy="820019"/>
          </a:xfrm>
        </p:spPr>
        <p:txBody>
          <a:bodyPr>
            <a:normAutofit fontScale="90000"/>
          </a:bodyPr>
          <a:lstStyle/>
          <a:p>
            <a:r>
              <a:rPr lang="en-GB" sz="5400" b="1" dirty="0">
                <a:latin typeface="Arial Narrow" panose="020B0606020202030204" pitchFamily="34" charset="0"/>
              </a:rPr>
              <a:t>ASSIGNMENT TOPICS</a:t>
            </a:r>
            <a:endParaRPr lang="en-ZM" sz="5400" b="1" dirty="0">
              <a:latin typeface="Arial Narrow" panose="020B0606020202030204" pitchFamily="34" charset="0"/>
            </a:endParaRPr>
          </a:p>
        </p:txBody>
      </p:sp>
      <p:sp>
        <p:nvSpPr>
          <p:cNvPr id="3" name="Subtitle 2">
            <a:extLst>
              <a:ext uri="{FF2B5EF4-FFF2-40B4-BE49-F238E27FC236}">
                <a16:creationId xmlns:a16="http://schemas.microsoft.com/office/drawing/2014/main" id="{6107AEAB-3800-9DC8-32E6-AB24BBF3E56C}"/>
              </a:ext>
            </a:extLst>
          </p:cNvPr>
          <p:cNvSpPr>
            <a:spLocks noGrp="1"/>
          </p:cNvSpPr>
          <p:nvPr>
            <p:ph type="subTitle" idx="1"/>
          </p:nvPr>
        </p:nvSpPr>
        <p:spPr>
          <a:xfrm>
            <a:off x="1936954" y="1769806"/>
            <a:ext cx="9016181" cy="2654710"/>
          </a:xfrm>
        </p:spPr>
        <p:txBody>
          <a:bodyPr>
            <a:normAutofit/>
          </a:bodyPr>
          <a:lstStyle/>
          <a:p>
            <a:pPr marL="457200" indent="-457200" algn="just">
              <a:lnSpc>
                <a:spcPct val="150000"/>
              </a:lnSpc>
              <a:buAutoNum type="arabicPeriod"/>
            </a:pPr>
            <a:r>
              <a:rPr lang="en-GB" dirty="0">
                <a:solidFill>
                  <a:srgbClr val="000000"/>
                </a:solidFill>
                <a:latin typeface="Arial Narrow" panose="020B0606020202030204" pitchFamily="34" charset="0"/>
              </a:rPr>
              <a:t>How to appropriately store aqua feed</a:t>
            </a:r>
          </a:p>
          <a:p>
            <a:pPr marL="457200" indent="-457200" algn="just">
              <a:lnSpc>
                <a:spcPct val="150000"/>
              </a:lnSpc>
              <a:buAutoNum type="arabicPeriod"/>
            </a:pPr>
            <a:r>
              <a:rPr lang="en-GB" dirty="0">
                <a:solidFill>
                  <a:srgbClr val="000000"/>
                </a:solidFill>
                <a:latin typeface="Arial Narrow" panose="020B0606020202030204" pitchFamily="34" charset="0"/>
              </a:rPr>
              <a:t>Methods of fish feed production </a:t>
            </a:r>
          </a:p>
          <a:p>
            <a:pPr marL="457200" indent="-457200" algn="just">
              <a:lnSpc>
                <a:spcPct val="150000"/>
              </a:lnSpc>
              <a:buAutoNum type="arabicPeriod"/>
            </a:pPr>
            <a:r>
              <a:rPr lang="en-GB" dirty="0">
                <a:solidFill>
                  <a:srgbClr val="000000"/>
                </a:solidFill>
                <a:latin typeface="Arial Narrow" panose="020B0606020202030204" pitchFamily="34" charset="0"/>
              </a:rPr>
              <a:t>How to deliver feed to the fish/aquatic organisms</a:t>
            </a:r>
          </a:p>
          <a:p>
            <a:pPr algn="just">
              <a:lnSpc>
                <a:spcPct val="150000"/>
              </a:lnSpc>
            </a:pPr>
            <a:endParaRPr lang="en-ZM" dirty="0">
              <a:solidFill>
                <a:srgbClr val="FF0000"/>
              </a:solidFill>
              <a:latin typeface="Arial Narrow" panose="020B0606020202030204" pitchFamily="34" charset="0"/>
            </a:endParaRPr>
          </a:p>
        </p:txBody>
      </p:sp>
    </p:spTree>
    <p:extLst>
      <p:ext uri="{BB962C8B-B14F-4D97-AF65-F5344CB8AC3E}">
        <p14:creationId xmlns:p14="http://schemas.microsoft.com/office/powerpoint/2010/main" val="52846754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879DF-704F-A00D-572B-E7C7A52AE7B4}"/>
              </a:ext>
            </a:extLst>
          </p:cNvPr>
          <p:cNvSpPr>
            <a:spLocks noGrp="1"/>
          </p:cNvSpPr>
          <p:nvPr>
            <p:ph type="ctrTitle"/>
          </p:nvPr>
        </p:nvSpPr>
        <p:spPr>
          <a:xfrm>
            <a:off x="255639" y="399181"/>
            <a:ext cx="11533238" cy="820019"/>
          </a:xfrm>
        </p:spPr>
        <p:txBody>
          <a:bodyPr>
            <a:normAutofit fontScale="90000"/>
          </a:bodyPr>
          <a:lstStyle/>
          <a:p>
            <a:r>
              <a:rPr lang="en-GB" sz="5400" b="1" dirty="0">
                <a:latin typeface="Arial Narrow" panose="020B0606020202030204" pitchFamily="34" charset="0"/>
              </a:rPr>
              <a:t>END</a:t>
            </a:r>
            <a:endParaRPr lang="en-ZM" sz="5400" b="1" dirty="0">
              <a:latin typeface="Arial Narrow" panose="020B0606020202030204" pitchFamily="34" charset="0"/>
            </a:endParaRPr>
          </a:p>
        </p:txBody>
      </p:sp>
      <p:sp>
        <p:nvSpPr>
          <p:cNvPr id="3" name="Subtitle 2">
            <a:extLst>
              <a:ext uri="{FF2B5EF4-FFF2-40B4-BE49-F238E27FC236}">
                <a16:creationId xmlns:a16="http://schemas.microsoft.com/office/drawing/2014/main" id="{6107AEAB-3800-9DC8-32E6-AB24BBF3E56C}"/>
              </a:ext>
            </a:extLst>
          </p:cNvPr>
          <p:cNvSpPr>
            <a:spLocks noGrp="1"/>
          </p:cNvSpPr>
          <p:nvPr>
            <p:ph type="subTitle" idx="1"/>
          </p:nvPr>
        </p:nvSpPr>
        <p:spPr>
          <a:xfrm>
            <a:off x="1838631" y="1337187"/>
            <a:ext cx="9016181" cy="5121632"/>
          </a:xfrm>
        </p:spPr>
        <p:txBody>
          <a:bodyPr>
            <a:normAutofit/>
          </a:bodyPr>
          <a:lstStyle/>
          <a:p>
            <a:pPr>
              <a:lnSpc>
                <a:spcPct val="150000"/>
              </a:lnSpc>
            </a:pPr>
            <a:r>
              <a:rPr lang="en-GB" sz="6000" dirty="0">
                <a:latin typeface="Arial Narrow" panose="020B0606020202030204" pitchFamily="34" charset="0"/>
              </a:rPr>
              <a:t>THANK YOU FOR YOUR ATTENTION </a:t>
            </a:r>
            <a:endParaRPr lang="en-ZM" sz="6000" dirty="0">
              <a:latin typeface="Arial Narrow" panose="020B0606020202030204" pitchFamily="34" charset="0"/>
            </a:endParaRPr>
          </a:p>
        </p:txBody>
      </p:sp>
    </p:spTree>
    <p:extLst>
      <p:ext uri="{BB962C8B-B14F-4D97-AF65-F5344CB8AC3E}">
        <p14:creationId xmlns:p14="http://schemas.microsoft.com/office/powerpoint/2010/main" val="29033132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403</TotalTime>
  <Words>4140</Words>
  <Application>Microsoft Office PowerPoint</Application>
  <PresentationFormat>Widescreen</PresentationFormat>
  <Paragraphs>299</Paragraphs>
  <Slides>65</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65</vt:i4>
      </vt:variant>
    </vt:vector>
  </HeadingPairs>
  <TitlesOfParts>
    <vt:vector size="72" baseType="lpstr">
      <vt:lpstr>Arial</vt:lpstr>
      <vt:lpstr>Arial Narrow</vt:lpstr>
      <vt:lpstr>Calibri</vt:lpstr>
      <vt:lpstr>Calibri Light</vt:lpstr>
      <vt:lpstr>Times New Roman</vt:lpstr>
      <vt:lpstr>Wingdings</vt:lpstr>
      <vt:lpstr>Office Theme</vt:lpstr>
      <vt:lpstr>PRODUCTION AND FORMULATION OF FISH FEED</vt:lpstr>
      <vt:lpstr>INTRODUCTION</vt:lpstr>
      <vt:lpstr>INTRODUCTION</vt:lpstr>
      <vt:lpstr>INTRODUCTION</vt:lpstr>
      <vt:lpstr>INTRODUCTION</vt:lpstr>
      <vt:lpstr>INTRODUCTION</vt:lpstr>
      <vt:lpstr>INTRODUCTION</vt:lpstr>
      <vt:lpstr>INTRODUCTION</vt:lpstr>
      <vt:lpstr>INTRODUCTION</vt:lpstr>
      <vt:lpstr>INTRODUCTION</vt:lpstr>
      <vt:lpstr>INTRODUCTION</vt:lpstr>
      <vt:lpstr>INTRODUCTION</vt:lpstr>
      <vt:lpstr>INTRODUCTION</vt:lpstr>
      <vt:lpstr>INTRODUCTION</vt:lpstr>
      <vt:lpstr>INTRODUCTION</vt:lpstr>
      <vt:lpstr>INTRODUCTION</vt:lpstr>
      <vt:lpstr>INTRODUCTION</vt:lpstr>
      <vt:lpstr>FEED STUFFS</vt:lpstr>
      <vt:lpstr>FEED STUFFS</vt:lpstr>
      <vt:lpstr>FEED STUFFS</vt:lpstr>
      <vt:lpstr>FEED STUFFS</vt:lpstr>
      <vt:lpstr>FEED STUFFS</vt:lpstr>
      <vt:lpstr>FEED STUFFS</vt:lpstr>
      <vt:lpstr>Feed ingredients and sources</vt:lpstr>
      <vt:lpstr>Feed ingredients and sources</vt:lpstr>
      <vt:lpstr>FEED STUFFS</vt:lpstr>
      <vt:lpstr>FEED STUFFS</vt:lpstr>
      <vt:lpstr>NUTRIENTS REQUIREMENT OF THE FISH </vt:lpstr>
      <vt:lpstr>NUTRIENTS REQUIREMENT OF THE FISH </vt:lpstr>
      <vt:lpstr>NUTRIENTS REQUIREMENT OF THE FISH </vt:lpstr>
      <vt:lpstr>NUTRIENT COMPOSITION OF FEEDSTUFFS </vt:lpstr>
      <vt:lpstr>NUTRIENT COMPOSITION OF FEEDSTUFFS </vt:lpstr>
      <vt:lpstr>NUTRIENT COMPOSITION OF FEEDSTUFFS </vt:lpstr>
      <vt:lpstr>NUTRIENT COMPOSITION OF FEEDSTUFFS </vt:lpstr>
      <vt:lpstr>NUTRIENT COMPOSITION OF FEEDSTUFFS </vt:lpstr>
      <vt:lpstr>NUTRIENT COMPOSITION OF FEEDSTUFFS </vt:lpstr>
      <vt:lpstr>PROCESSING OF THE FEEDSTUFFS </vt:lpstr>
      <vt:lpstr>PROCESSING OF THE FEEDSTUFFS </vt:lpstr>
      <vt:lpstr>PROCESSING OF THE FEEDSTUFFS </vt:lpstr>
      <vt:lpstr>PROCESSING OF THE FEEDSTUFFS </vt:lpstr>
      <vt:lpstr>PROCESSING OF THE FEEDSTUFFS </vt:lpstr>
      <vt:lpstr>PROCESSING OF THE FEEDSTUFFS </vt:lpstr>
      <vt:lpstr>PROCESSING OF THE FEEDSTUFFS </vt:lpstr>
      <vt:lpstr>SIMPLE QUESTIONS </vt:lpstr>
      <vt:lpstr>CASE STUDY OF TILAPIA NUTRITIONAL REQUIREMENTS</vt:lpstr>
      <vt:lpstr>CASE STUDY OF TILAPIA NUTRITIONAL REQUIREMENTS</vt:lpstr>
      <vt:lpstr>CASE STUDY OF TILAPIA NUTRITIONAL REQUIREMENTS</vt:lpstr>
      <vt:lpstr>CASE STUDY OF TILAPIA NUTRITIONAL REQUIREMENTS</vt:lpstr>
      <vt:lpstr>CASE STUDY OF TILAPIA NUTRITIONAL REQUIREMENTS</vt:lpstr>
      <vt:lpstr>MANUFACTURING/FORMULATION</vt:lpstr>
      <vt:lpstr>Compression Pelleting</vt:lpstr>
      <vt:lpstr>Cooking-extrusion</vt:lpstr>
      <vt:lpstr>Steps in Feed Manufacture</vt:lpstr>
      <vt:lpstr>Steps in Feed Manufacture</vt:lpstr>
      <vt:lpstr>Steps in Feed Manufacture</vt:lpstr>
      <vt:lpstr>Steps in Feed Manufacture</vt:lpstr>
      <vt:lpstr>Steps in Feed Manufacture</vt:lpstr>
      <vt:lpstr>Steps in Feed Manufacture</vt:lpstr>
      <vt:lpstr>Steps in Feed Manufacture</vt:lpstr>
      <vt:lpstr>Steps in Feed Manufacture</vt:lpstr>
      <vt:lpstr>Steps in Feed Manufacture</vt:lpstr>
      <vt:lpstr>Steps in Feed Manufacture</vt:lpstr>
      <vt:lpstr>PHYSICAL PROPERTIES OF FISH FEED</vt:lpstr>
      <vt:lpstr>ASSIGNMENT TOPICS</vt:lpstr>
      <vt:lpstr>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PRODUCTION AND FORMULATION OF FISH FEED</dc:title>
  <dc:creator>Joseph Mphande</dc:creator>
  <cp:lastModifiedBy>Joseph Mphande</cp:lastModifiedBy>
  <cp:revision>113</cp:revision>
  <dcterms:created xsi:type="dcterms:W3CDTF">2024-04-27T08:07:46Z</dcterms:created>
  <dcterms:modified xsi:type="dcterms:W3CDTF">2024-05-06T12:11:21Z</dcterms:modified>
</cp:coreProperties>
</file>