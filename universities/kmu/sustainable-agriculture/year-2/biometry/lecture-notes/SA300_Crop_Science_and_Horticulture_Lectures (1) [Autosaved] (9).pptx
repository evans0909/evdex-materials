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handoutMasterIdLst>
    <p:handoutMasterId r:id="rId91"/>
  </p:handoutMasterIdLst>
  <p:sldIdLst>
    <p:sldId id="256" r:id="rId2"/>
    <p:sldId id="354" r:id="rId3"/>
    <p:sldId id="279" r:id="rId4"/>
    <p:sldId id="355" r:id="rId5"/>
    <p:sldId id="356" r:id="rId6"/>
    <p:sldId id="357" r:id="rId7"/>
    <p:sldId id="277" r:id="rId8"/>
    <p:sldId id="273" r:id="rId9"/>
    <p:sldId id="276" r:id="rId10"/>
    <p:sldId id="274" r:id="rId11"/>
    <p:sldId id="278" r:id="rId12"/>
    <p:sldId id="280" r:id="rId13"/>
    <p:sldId id="281" r:id="rId14"/>
    <p:sldId id="284" r:id="rId15"/>
    <p:sldId id="285" r:id="rId16"/>
    <p:sldId id="286" r:id="rId17"/>
    <p:sldId id="290" r:id="rId18"/>
    <p:sldId id="291" r:id="rId19"/>
    <p:sldId id="292" r:id="rId20"/>
    <p:sldId id="282" r:id="rId21"/>
    <p:sldId id="283" r:id="rId22"/>
    <p:sldId id="287" r:id="rId23"/>
    <p:sldId id="288" r:id="rId24"/>
    <p:sldId id="289" r:id="rId25"/>
    <p:sldId id="259" r:id="rId26"/>
    <p:sldId id="293" r:id="rId27"/>
    <p:sldId id="294" r:id="rId28"/>
    <p:sldId id="295" r:id="rId29"/>
    <p:sldId id="296" r:id="rId30"/>
    <p:sldId id="297" r:id="rId31"/>
    <p:sldId id="298" r:id="rId32"/>
    <p:sldId id="299" r:id="rId33"/>
    <p:sldId id="300" r:id="rId34"/>
    <p:sldId id="347" r:id="rId35"/>
    <p:sldId id="348" r:id="rId36"/>
    <p:sldId id="349" r:id="rId37"/>
    <p:sldId id="350" r:id="rId38"/>
    <p:sldId id="351" r:id="rId39"/>
    <p:sldId id="352" r:id="rId40"/>
    <p:sldId id="260" r:id="rId41"/>
    <p:sldId id="310" r:id="rId42"/>
    <p:sldId id="331" r:id="rId43"/>
    <p:sldId id="330" r:id="rId44"/>
    <p:sldId id="329" r:id="rId45"/>
    <p:sldId id="311" r:id="rId46"/>
    <p:sldId id="312" r:id="rId47"/>
    <p:sldId id="313" r:id="rId48"/>
    <p:sldId id="315" r:id="rId49"/>
    <p:sldId id="358" r:id="rId50"/>
    <p:sldId id="317" r:id="rId51"/>
    <p:sldId id="319" r:id="rId52"/>
    <p:sldId id="320" r:id="rId53"/>
    <p:sldId id="321" r:id="rId54"/>
    <p:sldId id="322" r:id="rId55"/>
    <p:sldId id="323" r:id="rId56"/>
    <p:sldId id="324" r:id="rId57"/>
    <p:sldId id="325" r:id="rId58"/>
    <p:sldId id="326" r:id="rId59"/>
    <p:sldId id="328" r:id="rId60"/>
    <p:sldId id="327" r:id="rId61"/>
    <p:sldId id="261" r:id="rId62"/>
    <p:sldId id="332" r:id="rId63"/>
    <p:sldId id="334" r:id="rId64"/>
    <p:sldId id="335" r:id="rId65"/>
    <p:sldId id="336" r:id="rId66"/>
    <p:sldId id="337" r:id="rId67"/>
    <p:sldId id="338" r:id="rId68"/>
    <p:sldId id="339" r:id="rId69"/>
    <p:sldId id="340" r:id="rId70"/>
    <p:sldId id="341" r:id="rId71"/>
    <p:sldId id="342" r:id="rId72"/>
    <p:sldId id="344" r:id="rId73"/>
    <p:sldId id="343" r:id="rId74"/>
    <p:sldId id="345" r:id="rId75"/>
    <p:sldId id="346" r:id="rId76"/>
    <p:sldId id="301" r:id="rId77"/>
    <p:sldId id="302" r:id="rId78"/>
    <p:sldId id="303" r:id="rId79"/>
    <p:sldId id="366" r:id="rId80"/>
    <p:sldId id="304" r:id="rId81"/>
    <p:sldId id="365" r:id="rId82"/>
    <p:sldId id="305" r:id="rId83"/>
    <p:sldId id="367" r:id="rId84"/>
    <p:sldId id="306" r:id="rId85"/>
    <p:sldId id="368" r:id="rId86"/>
    <p:sldId id="307" r:id="rId87"/>
    <p:sldId id="369" r:id="rId88"/>
    <p:sldId id="308" r:id="rId89"/>
    <p:sldId id="360" r:id="rId9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2" autoAdjust="0"/>
    <p:restoredTop sz="96271"/>
  </p:normalViewPr>
  <p:slideViewPr>
    <p:cSldViewPr snapToGrid="0" snapToObjects="1">
      <p:cViewPr varScale="1">
        <p:scale>
          <a:sx n="60" d="100"/>
          <a:sy n="60" d="100"/>
        </p:scale>
        <p:origin x="782" y="43"/>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95" d="100"/>
          <a:sy n="95" d="100"/>
        </p:scale>
        <p:origin x="3720" y="19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5C5BCF-697D-0447-B3A5-F40274B3DF5F}" type="datetimeFigureOut">
              <a:rPr lang="en-US" smtClean="0"/>
              <a:t>3/10/2026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34F5CA-848C-6C4D-858C-ED2680E1639E}" type="slidenum">
              <a:rPr lang="en-US" smtClean="0"/>
              <a:t>‹#›</a:t>
            </a:fld>
            <a:endParaRPr lang="en-US"/>
          </a:p>
        </p:txBody>
      </p:sp>
    </p:spTree>
    <p:extLst>
      <p:ext uri="{BB962C8B-B14F-4D97-AF65-F5344CB8AC3E}">
        <p14:creationId xmlns:p14="http://schemas.microsoft.com/office/powerpoint/2010/main" val="150238625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43491" y="796631"/>
            <a:ext cx="6251304" cy="2700706"/>
          </a:xfrm>
        </p:spPr>
        <p:txBody>
          <a:bodyPr bIns="0"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443491" y="3497337"/>
            <a:ext cx="6251304" cy="1011489"/>
          </a:xfrm>
        </p:spPr>
        <p:txBody>
          <a:bodyPr tIns="91440" bIns="91440">
            <a:normAutofit/>
          </a:bodyPr>
          <a:lstStyle>
            <a:lvl1pPr marL="0" indent="0" algn="ctr">
              <a:buNone/>
              <a:defRPr sz="1600" b="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a:xfrm>
            <a:off x="1443490" y="329308"/>
            <a:ext cx="3719283" cy="309201"/>
          </a:xfrm>
        </p:spPr>
        <p:txBody>
          <a:bodyPr/>
          <a:lstStyle/>
          <a:p>
            <a:endParaRPr lang="en-US"/>
          </a:p>
        </p:txBody>
      </p:sp>
      <p:sp>
        <p:nvSpPr>
          <p:cNvPr id="6" name="Slide Number Placeholder 5"/>
          <p:cNvSpPr>
            <a:spLocks noGrp="1"/>
          </p:cNvSpPr>
          <p:nvPr>
            <p:ph type="sldNum" sz="quarter" idx="12"/>
          </p:nvPr>
        </p:nvSpPr>
        <p:spPr>
          <a:xfrm>
            <a:off x="477760" y="798973"/>
            <a:ext cx="802005" cy="503578"/>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95472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8986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2" y="1756130"/>
            <a:ext cx="6251302" cy="1952270"/>
          </a:xfrm>
        </p:spPr>
        <p:txBody>
          <a:bodyPr anchor="b">
            <a:normAutofit/>
          </a:bodyPr>
          <a:lstStyle>
            <a:lvl1pPr algn="ctr">
              <a:defRPr sz="3200"/>
            </a:lvl1pPr>
          </a:lstStyle>
          <a:p>
            <a:r>
              <a:rPr lang="en-US"/>
              <a:t>Click to edit Master title style</a:t>
            </a:r>
            <a:endParaRPr lang="en-US" dirty="0"/>
          </a:p>
        </p:txBody>
      </p:sp>
      <p:sp>
        <p:nvSpPr>
          <p:cNvPr id="3" name="Text Placeholder 2"/>
          <p:cNvSpPr>
            <a:spLocks noGrp="1"/>
          </p:cNvSpPr>
          <p:nvPr>
            <p:ph type="body" idx="1"/>
          </p:nvPr>
        </p:nvSpPr>
        <p:spPr>
          <a:xfrm>
            <a:off x="1434318" y="3708400"/>
            <a:ext cx="6251302" cy="1110725"/>
          </a:xfrm>
        </p:spPr>
        <p:txBody>
          <a:bodyPr tIns="91440">
            <a:normAutofit/>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8066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25130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1" y="2013936"/>
            <a:ext cx="2965632"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29162" y="2013936"/>
            <a:ext cx="2965424"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9927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164"/>
            <a:ext cx="62513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2965631"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2965631"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9270" y="2023004"/>
            <a:ext cx="2965523"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29270" y="2821491"/>
            <a:ext cx="2965523"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7388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26958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65194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406519"/>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506719"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1501"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1818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4996501" y="482171"/>
            <a:ext cx="3511387" cy="5149101"/>
            <a:chOff x="4996501" y="482171"/>
            <a:chExt cx="3511387" cy="5149101"/>
          </a:xfrm>
        </p:grpSpPr>
        <p:sp>
          <p:nvSpPr>
            <p:cNvPr id="14" name="Rectangle 13"/>
            <p:cNvSpPr/>
            <p:nvPr/>
          </p:nvSpPr>
          <p:spPr>
            <a:xfrm>
              <a:off x="4996501" y="482171"/>
              <a:ext cx="3511387"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5312152" y="812506"/>
              <a:ext cx="2883013" cy="4479361"/>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9" y="1129513"/>
            <a:ext cx="3080490"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defTabSz="914400">
              <a:spcBef>
                <a:spcPts val="1800"/>
              </a:spcBef>
            </a:pPr>
            <a:r>
              <a:rPr lang="en-US"/>
              <a:t>Click icon to add picture</a:t>
            </a:r>
            <a:endParaRPr lang="en-US" dirty="0"/>
          </a:p>
        </p:txBody>
      </p:sp>
      <p:sp>
        <p:nvSpPr>
          <p:cNvPr id="4" name="Text Placeholder 3"/>
          <p:cNvSpPr>
            <a:spLocks noGrp="1"/>
          </p:cNvSpPr>
          <p:nvPr>
            <p:ph type="body" sz="half" idx="2"/>
          </p:nvPr>
        </p:nvSpPr>
        <p:spPr>
          <a:xfrm>
            <a:off x="1443492" y="3145992"/>
            <a:ext cx="3076077"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082905" cy="320123"/>
          </a:xfrm>
        </p:spPr>
        <p:txBody>
          <a:bodyPr/>
          <a:lstStyle>
            <a:lvl1pPr algn="l">
              <a:defRPr/>
            </a:lvl1pPr>
          </a:lstStyle>
          <a:p>
            <a:fld id="{5BCAD085-E8A6-8845-BD4E-CB4CCA059FC4}" type="datetimeFigureOut">
              <a:rPr lang="en-US" smtClean="0"/>
              <a:t>3/10/2026</a:t>
            </a:fld>
            <a:endParaRPr lang="en-US"/>
          </a:p>
        </p:txBody>
      </p:sp>
      <p:sp>
        <p:nvSpPr>
          <p:cNvPr id="6" name="Footer Placeholder 5"/>
          <p:cNvSpPr>
            <a:spLocks noGrp="1"/>
          </p:cNvSpPr>
          <p:nvPr>
            <p:ph type="ftr" sz="quarter" idx="11"/>
          </p:nvPr>
        </p:nvSpPr>
        <p:spPr>
          <a:xfrm>
            <a:off x="1437530" y="318641"/>
            <a:ext cx="308208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96847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7809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2373"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2" y="798974"/>
            <a:ext cx="4985762"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59612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10" name="Rectangle 9"/>
          <p:cNvSpPr/>
          <p:nvPr/>
        </p:nvSpPr>
        <p:spPr>
          <a:xfrm>
            <a:off x="0" y="3622291"/>
            <a:ext cx="9144000" cy="2512271"/>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1" name="Picture 10"/>
          <p:cNvPicPr>
            <a:picLocks noChangeAspect="1"/>
          </p:cNvPicPr>
          <p:nvPr/>
        </p:nvPicPr>
        <p:blipFill rotWithShape="1">
          <a:blip r:embed="rId13">
            <a:extLst>
              <a:ext uri="{28A0092B-C50C-407E-A947-70E740481C1C}">
                <a14:useLocalDpi xmlns:a14="http://schemas.microsoft.com/office/drawing/2010/main" val="0"/>
              </a:ext>
            </a:extLst>
          </a:blip>
          <a:srcRect t="2769" b="-2769"/>
          <a:stretch/>
        </p:blipFill>
        <p:spPr>
          <a:xfrm>
            <a:off x="0" y="6135624"/>
            <a:ext cx="9144000" cy="742950"/>
          </a:xfrm>
          <a:prstGeom prst="rect">
            <a:avLst/>
          </a:prstGeom>
        </p:spPr>
      </p:pic>
      <p:sp>
        <p:nvSpPr>
          <p:cNvPr id="2" name="Title Placeholder 1"/>
          <p:cNvSpPr>
            <a:spLocks noGrp="1"/>
          </p:cNvSpPr>
          <p:nvPr>
            <p:ph type="title"/>
          </p:nvPr>
        </p:nvSpPr>
        <p:spPr>
          <a:xfrm>
            <a:off x="1443491" y="804520"/>
            <a:ext cx="6251303"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25130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2650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3/10/2026</a:t>
            </a:fld>
            <a:endParaRPr lang="en-US"/>
          </a:p>
        </p:txBody>
      </p:sp>
      <p:sp>
        <p:nvSpPr>
          <p:cNvPr id="5" name="Footer Placeholder 4"/>
          <p:cNvSpPr>
            <a:spLocks noGrp="1"/>
          </p:cNvSpPr>
          <p:nvPr>
            <p:ph type="ftr" sz="quarter" idx="3"/>
          </p:nvPr>
        </p:nvSpPr>
        <p:spPr>
          <a:xfrm>
            <a:off x="1443491" y="329308"/>
            <a:ext cx="3719283"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cxnSp>
        <p:nvCxnSpPr>
          <p:cNvPr id="12" name="Straight Connector 11"/>
          <p:cNvCxnSpPr/>
          <p:nvPr/>
        </p:nvCxnSpPr>
        <p:spPr>
          <a:xfrm>
            <a:off x="0" y="6144768"/>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3243499"/>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6858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SA300 Crop Science and Horticulture</a:t>
            </a:r>
          </a:p>
        </p:txBody>
      </p:sp>
      <p:sp>
        <p:nvSpPr>
          <p:cNvPr id="3" name="Subtitle 2"/>
          <p:cNvSpPr>
            <a:spLocks noGrp="1"/>
          </p:cNvSpPr>
          <p:nvPr>
            <p:ph type="subTitle" idx="1"/>
          </p:nvPr>
        </p:nvSpPr>
        <p:spPr/>
        <p:txBody>
          <a:bodyPr>
            <a:normAutofit/>
          </a:bodyPr>
          <a:lstStyle/>
          <a:p>
            <a:r>
              <a:rPr lang="en-GB" dirty="0">
                <a:latin typeface="Times New Roman" panose="02020603050405020304" pitchFamily="18" charset="0"/>
                <a:cs typeface="Times New Roman" panose="02020603050405020304" pitchFamily="18" charset="0"/>
              </a:rPr>
              <a:t>By </a:t>
            </a:r>
            <a:r>
              <a:rPr lang="en-GB" dirty="0" err="1">
                <a:latin typeface="Times New Roman" panose="02020603050405020304" pitchFamily="18" charset="0"/>
                <a:cs typeface="Times New Roman" panose="02020603050405020304" pitchFamily="18" charset="0"/>
              </a:rPr>
              <a:t>Mubika</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Demian</a:t>
            </a:r>
            <a:r>
              <a:rPr lang="en-GB" dirty="0">
                <a:latin typeface="Times New Roman" panose="02020603050405020304" pitchFamily="18" charset="0"/>
                <a:cs typeface="Times New Roman" panose="02020603050405020304" pitchFamily="18" charset="0"/>
              </a:rPr>
              <a:t>, </a:t>
            </a:r>
          </a:p>
          <a:p>
            <a:r>
              <a:rPr lang="en-GB" dirty="0">
                <a:latin typeface="Times New Roman" panose="02020603050405020304" pitchFamily="18" charset="0"/>
                <a:cs typeface="Times New Roman" panose="02020603050405020304" pitchFamily="18" charset="0"/>
              </a:rPr>
              <a:t>M.Sc. Agronomy/Integrated Plant Protection. </a:t>
            </a:r>
            <a:endParaRPr lang="x-none" dirty="0">
              <a:latin typeface="Times New Roman" panose="02020603050405020304" pitchFamily="18" charset="0"/>
              <a:cs typeface="Times New Roman" panose="02020603050405020304" pitchFamily="18" charset="0"/>
            </a:endParaRPr>
          </a:p>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E1694-03D2-BF11-9AE9-DE93A1522A88}"/>
              </a:ext>
            </a:extLst>
          </p:cNvPr>
          <p:cNvSpPr>
            <a:spLocks noGrp="1"/>
          </p:cNvSpPr>
          <p:nvPr>
            <p:ph type="title"/>
          </p:nvPr>
        </p:nvSpPr>
        <p:spPr>
          <a:xfrm>
            <a:off x="884903" y="403124"/>
            <a:ext cx="7403691" cy="988530"/>
          </a:xfrm>
        </p:spPr>
        <p:txBody>
          <a:bodyPr/>
          <a:lstStyle/>
          <a:p>
            <a:r>
              <a:rPr lang="en-GB" dirty="0">
                <a:latin typeface="Times New Roman" panose="02020603050405020304" pitchFamily="18" charset="0"/>
                <a:cs typeface="Times New Roman" panose="02020603050405020304" pitchFamily="18" charset="0"/>
              </a:rPr>
              <a:t>Students learning objectives</a:t>
            </a:r>
          </a:p>
        </p:txBody>
      </p:sp>
      <p:sp>
        <p:nvSpPr>
          <p:cNvPr id="3" name="Content Placeholder 2">
            <a:extLst>
              <a:ext uri="{FF2B5EF4-FFF2-40B4-BE49-F238E27FC236}">
                <a16:creationId xmlns:a16="http://schemas.microsoft.com/office/drawing/2014/main" id="{06C4E817-E622-479B-BF21-8487C8A9CA0D}"/>
              </a:ext>
            </a:extLst>
          </p:cNvPr>
          <p:cNvSpPr>
            <a:spLocks noGrp="1"/>
          </p:cNvSpPr>
          <p:nvPr>
            <p:ph idx="1"/>
          </p:nvPr>
        </p:nvSpPr>
        <p:spPr>
          <a:xfrm>
            <a:off x="599768" y="1563329"/>
            <a:ext cx="8296805" cy="3903017"/>
          </a:xfrm>
        </p:spPr>
        <p:txBody>
          <a:bodyPr/>
          <a:lstStyle/>
          <a:p>
            <a:pPr marL="457200" indent="-457200">
              <a:buFont typeface="+mj-lt"/>
              <a:buAutoNum type="arabicPeriod"/>
            </a:pPr>
            <a:r>
              <a:rPr lang="en-GB" sz="2400" dirty="0">
                <a:latin typeface="Times New Roman" panose="02020603050405020304" pitchFamily="18" charset="0"/>
                <a:cs typeface="Times New Roman" panose="02020603050405020304" pitchFamily="18" charset="0"/>
              </a:rPr>
              <a:t>Understand plant science and its major principles to ensure optimal yield, quality and sustainability.</a:t>
            </a:r>
          </a:p>
          <a:p>
            <a:pPr marL="457200" indent="-457200">
              <a:buFont typeface="+mj-lt"/>
              <a:buAutoNum type="arabicPeriod"/>
            </a:pPr>
            <a:r>
              <a:rPr lang="en-GB" sz="2400" dirty="0">
                <a:latin typeface="Times New Roman" panose="02020603050405020304" pitchFamily="18" charset="0"/>
                <a:cs typeface="Times New Roman" panose="02020603050405020304" pitchFamily="18" charset="0"/>
              </a:rPr>
              <a:t>Identify common field crops and their uses.</a:t>
            </a:r>
          </a:p>
          <a:p>
            <a:pPr marL="457200" indent="-457200">
              <a:buFont typeface="+mj-lt"/>
              <a:buAutoNum type="arabicPeriod"/>
            </a:pPr>
            <a:r>
              <a:rPr lang="en-GB" sz="2400" dirty="0">
                <a:latin typeface="Times New Roman" panose="02020603050405020304" pitchFamily="18" charset="0"/>
                <a:cs typeface="Times New Roman" panose="02020603050405020304" pitchFamily="18" charset="0"/>
              </a:rPr>
              <a:t>Define Horticultural crops and understand their uses.</a:t>
            </a:r>
          </a:p>
          <a:p>
            <a:pPr marL="457200" indent="-457200">
              <a:buFont typeface="+mj-lt"/>
              <a:buAutoNum type="arabicPeriod"/>
            </a:pPr>
            <a:r>
              <a:rPr lang="en-GB" sz="2400" dirty="0">
                <a:latin typeface="Times New Roman" panose="02020603050405020304" pitchFamily="18" charset="0"/>
                <a:cs typeface="Times New Roman" panose="02020603050405020304" pitchFamily="18" charset="0"/>
              </a:rPr>
              <a:t>Describe crop physiology and morphology.</a:t>
            </a:r>
          </a:p>
          <a:p>
            <a:pPr marL="0" indent="0">
              <a:buNone/>
            </a:pPr>
            <a:endParaRPr lang="en-GB" dirty="0"/>
          </a:p>
        </p:txBody>
      </p:sp>
    </p:spTree>
    <p:extLst>
      <p:ext uri="{BB962C8B-B14F-4D97-AF65-F5344CB8AC3E}">
        <p14:creationId xmlns:p14="http://schemas.microsoft.com/office/powerpoint/2010/main" val="2120085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07928"/>
          </a:xfrm>
        </p:spPr>
        <p:txBody>
          <a:bodyPr>
            <a:normAutofit/>
          </a:bodyPr>
          <a:lstStyle/>
          <a:p>
            <a:pPr algn="ctr"/>
            <a:r>
              <a:rPr lang="en-US" sz="3200" b="1" dirty="0">
                <a:latin typeface="Times New Roman" charset="0"/>
                <a:ea typeface="Times New Roman" charset="0"/>
                <a:cs typeface="Times New Roman" charset="0"/>
              </a:rPr>
              <a:t>MAJOR TYPES OF CROPS</a:t>
            </a:r>
          </a:p>
        </p:txBody>
      </p:sp>
      <p:sp>
        <p:nvSpPr>
          <p:cNvPr id="3" name="Content Placeholder 2"/>
          <p:cNvSpPr>
            <a:spLocks noGrp="1"/>
          </p:cNvSpPr>
          <p:nvPr>
            <p:ph idx="1"/>
          </p:nvPr>
        </p:nvSpPr>
        <p:spPr>
          <a:xfrm>
            <a:off x="457200" y="1334814"/>
            <a:ext cx="8229600" cy="4791349"/>
          </a:xfrm>
        </p:spPr>
        <p:txBody>
          <a:bodyPr>
            <a:normAutofit lnSpcReduction="10000"/>
          </a:bodyPr>
          <a:lstStyle/>
          <a:p>
            <a:pPr marL="0" indent="0">
              <a:buNone/>
            </a:pPr>
            <a:endParaRPr lang="en-US" sz="2400" dirty="0">
              <a:latin typeface="Times New Roman" charset="0"/>
              <a:ea typeface="Times New Roman" charset="0"/>
              <a:cs typeface="Times New Roman" charset="0"/>
            </a:endParaRPr>
          </a:p>
          <a:p>
            <a:pPr marL="0" indent="0">
              <a:buNone/>
            </a:pPr>
            <a:r>
              <a:rPr lang="en-US" sz="2400" dirty="0">
                <a:latin typeface="Times New Roman" charset="0"/>
                <a:ea typeface="Times New Roman" charset="0"/>
                <a:cs typeface="Times New Roman" charset="0"/>
              </a:rPr>
              <a:t>Crops can be classified into several categories: </a:t>
            </a:r>
          </a:p>
          <a:p>
            <a:endParaRPr lang="en-US" sz="2400" dirty="0">
              <a:latin typeface="Times New Roman" charset="0"/>
              <a:ea typeface="Times New Roman" charset="0"/>
              <a:cs typeface="Times New Roman" charset="0"/>
            </a:endParaRPr>
          </a:p>
          <a:p>
            <a:pPr marL="0" indent="0">
              <a:buNone/>
            </a:pPr>
            <a:r>
              <a:rPr lang="en-US" sz="2400" dirty="0">
                <a:latin typeface="Times New Roman" charset="0"/>
                <a:ea typeface="Times New Roman" charset="0"/>
                <a:cs typeface="Times New Roman" charset="0"/>
              </a:rPr>
              <a:t>1. Food crops – maize, rice, wheat, cassava, sorghum </a:t>
            </a:r>
          </a:p>
          <a:p>
            <a:pPr marL="0" indent="0">
              <a:buNone/>
            </a:pPr>
            <a:r>
              <a:rPr lang="en-US" sz="2400" dirty="0">
                <a:latin typeface="Times New Roman" charset="0"/>
                <a:ea typeface="Times New Roman" charset="0"/>
                <a:cs typeface="Times New Roman" charset="0"/>
              </a:rPr>
              <a:t>2. Cash crops – cotton, tobacco, coffee, tea </a:t>
            </a:r>
          </a:p>
          <a:p>
            <a:pPr marL="0" indent="0">
              <a:buNone/>
            </a:pPr>
            <a:r>
              <a:rPr lang="en-US" sz="2400" dirty="0">
                <a:latin typeface="Times New Roman" charset="0"/>
                <a:ea typeface="Times New Roman" charset="0"/>
                <a:cs typeface="Times New Roman" charset="0"/>
              </a:rPr>
              <a:t>3. Horticultural crops – vegetables, fruits, flowers </a:t>
            </a:r>
          </a:p>
          <a:p>
            <a:pPr marL="0" indent="0">
              <a:buNone/>
            </a:pPr>
            <a:r>
              <a:rPr lang="en-US" sz="2400" dirty="0">
                <a:latin typeface="Times New Roman" charset="0"/>
                <a:ea typeface="Times New Roman" charset="0"/>
                <a:cs typeface="Times New Roman" charset="0"/>
              </a:rPr>
              <a:t>4. Industrial crops – sugarcane, oil palm, sunflower </a:t>
            </a:r>
          </a:p>
          <a:p>
            <a:pPr marL="0" indent="0">
              <a:buNone/>
            </a:pPr>
            <a:r>
              <a:rPr lang="en-US" sz="2400" dirty="0">
                <a:latin typeface="Times New Roman" charset="0"/>
                <a:ea typeface="Times New Roman" charset="0"/>
                <a:cs typeface="Times New Roman" charset="0"/>
              </a:rPr>
              <a:t>5. Forage crops – pasture grasses and legumes Each category plays a unique role in human welfare and economic development.</a:t>
            </a:r>
          </a:p>
        </p:txBody>
      </p:sp>
    </p:spTree>
    <p:extLst>
      <p:ext uri="{BB962C8B-B14F-4D97-AF65-F5344CB8AC3E}">
        <p14:creationId xmlns:p14="http://schemas.microsoft.com/office/powerpoint/2010/main" val="1408347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BE86A-EAEB-8DE5-DB54-03734F762CB4}"/>
              </a:ext>
            </a:extLst>
          </p:cNvPr>
          <p:cNvSpPr>
            <a:spLocks noGrp="1"/>
          </p:cNvSpPr>
          <p:nvPr>
            <p:ph type="title"/>
          </p:nvPr>
        </p:nvSpPr>
        <p:spPr>
          <a:xfrm>
            <a:off x="602428" y="408792"/>
            <a:ext cx="7874597" cy="806822"/>
          </a:xfrm>
        </p:spPr>
        <p:txBody>
          <a:bodyPr/>
          <a:lstStyle/>
          <a:p>
            <a:r>
              <a:rPr lang="en-GB" b="1" dirty="0" err="1">
                <a:latin typeface="Times New Roman" panose="02020603050405020304" pitchFamily="18" charset="0"/>
                <a:cs typeface="Times New Roman" panose="02020603050405020304" pitchFamily="18" charset="0"/>
              </a:rPr>
              <a:t>cLASSIFICATION</a:t>
            </a:r>
            <a:r>
              <a:rPr lang="en-GB" b="1" dirty="0">
                <a:latin typeface="Times New Roman" panose="02020603050405020304" pitchFamily="18" charset="0"/>
                <a:cs typeface="Times New Roman" panose="02020603050405020304" pitchFamily="18" charset="0"/>
              </a:rPr>
              <a:t> OF CROPS</a:t>
            </a:r>
          </a:p>
        </p:txBody>
      </p:sp>
      <p:sp>
        <p:nvSpPr>
          <p:cNvPr id="3" name="Content Placeholder 2">
            <a:extLst>
              <a:ext uri="{FF2B5EF4-FFF2-40B4-BE49-F238E27FC236}">
                <a16:creationId xmlns:a16="http://schemas.microsoft.com/office/drawing/2014/main" id="{D4D9A325-07B6-F46F-8BAF-9CB18A8E160C}"/>
              </a:ext>
            </a:extLst>
          </p:cNvPr>
          <p:cNvSpPr>
            <a:spLocks noGrp="1"/>
          </p:cNvSpPr>
          <p:nvPr>
            <p:ph idx="1"/>
          </p:nvPr>
        </p:nvSpPr>
        <p:spPr>
          <a:xfrm>
            <a:off x="290456" y="1581375"/>
            <a:ext cx="8659905" cy="3884972"/>
          </a:xfrm>
        </p:spPr>
        <p:txBody>
          <a:bodyPr>
            <a:normAutofit/>
          </a:bodyPr>
          <a:lstStyle/>
          <a:p>
            <a:pPr marL="457200" indent="-457200">
              <a:buFont typeface="+mj-lt"/>
              <a:buAutoNum type="arabicPeriod"/>
            </a:pPr>
            <a:r>
              <a:rPr lang="en-GB" sz="2400" b="1" dirty="0">
                <a:latin typeface="Times New Roman" panose="02020603050405020304" pitchFamily="18" charset="0"/>
                <a:cs typeface="Times New Roman" panose="02020603050405020304" pitchFamily="18" charset="0"/>
              </a:rPr>
              <a:t>Origin</a:t>
            </a:r>
            <a:r>
              <a:rPr lang="en-GB" sz="2400" dirty="0">
                <a:latin typeface="Times New Roman" panose="02020603050405020304" pitchFamily="18" charset="0"/>
                <a:cs typeface="Times New Roman" panose="02020603050405020304" pitchFamily="18" charset="0"/>
              </a:rPr>
              <a:t> </a:t>
            </a:r>
          </a:p>
          <a:p>
            <a:pPr marL="457200" indent="-457200">
              <a:buFont typeface="+mj-lt"/>
              <a:buAutoNum type="alphaLcPeriod"/>
            </a:pPr>
            <a:r>
              <a:rPr lang="en-GB" sz="2400" dirty="0">
                <a:latin typeface="Times New Roman" panose="02020603050405020304" pitchFamily="18" charset="0"/>
                <a:cs typeface="Times New Roman" panose="02020603050405020304" pitchFamily="18" charset="0"/>
              </a:rPr>
              <a:t>Indigenous crops: These are crops that are native to a particular region or country. E.g., cassava, okra, plantain, millet and sorghum.</a:t>
            </a:r>
          </a:p>
          <a:p>
            <a:pPr marL="457200" indent="-457200">
              <a:buFont typeface="+mj-lt"/>
              <a:buAutoNum type="alphaLcPeriod"/>
            </a:pPr>
            <a:r>
              <a:rPr lang="en-GB" sz="2400" dirty="0">
                <a:latin typeface="Times New Roman" panose="02020603050405020304" pitchFamily="18" charset="0"/>
                <a:cs typeface="Times New Roman" panose="02020603050405020304" pitchFamily="18" charset="0"/>
              </a:rPr>
              <a:t>Exotic crops: Exotic crops, also known as introduced or non-native crops, are those that are not naturally found in a particular region but have been introduced from other regions or countries. E.g., cabbage, carrot, lettuce, apples and cashews.</a:t>
            </a:r>
          </a:p>
        </p:txBody>
      </p:sp>
    </p:spTree>
    <p:extLst>
      <p:ext uri="{BB962C8B-B14F-4D97-AF65-F5344CB8AC3E}">
        <p14:creationId xmlns:p14="http://schemas.microsoft.com/office/powerpoint/2010/main" val="3692927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DF134-206F-688C-8AED-416174C62825}"/>
              </a:ext>
            </a:extLst>
          </p:cNvPr>
          <p:cNvSpPr>
            <a:spLocks noGrp="1"/>
          </p:cNvSpPr>
          <p:nvPr>
            <p:ph type="title"/>
          </p:nvPr>
        </p:nvSpPr>
        <p:spPr>
          <a:xfrm>
            <a:off x="580913" y="268942"/>
            <a:ext cx="7616414" cy="785307"/>
          </a:xfrm>
        </p:spPr>
        <p:txBody>
          <a:bodyPr/>
          <a:lstStyle/>
          <a:p>
            <a:r>
              <a:rPr lang="en-GB" b="1" dirty="0" err="1">
                <a:latin typeface="Times New Roman" panose="02020603050405020304" pitchFamily="18" charset="0"/>
                <a:cs typeface="Times New Roman" panose="02020603050405020304" pitchFamily="18" charset="0"/>
              </a:rPr>
              <a:t>cLASSIFICATION</a:t>
            </a:r>
            <a:r>
              <a:rPr lang="en-GB" b="1" dirty="0">
                <a:latin typeface="Times New Roman" panose="02020603050405020304" pitchFamily="18" charset="0"/>
                <a:cs typeface="Times New Roman" panose="02020603050405020304" pitchFamily="18" charset="0"/>
              </a:rPr>
              <a:t> OF CROPS</a:t>
            </a:r>
            <a:endParaRPr lang="en-GB" dirty="0"/>
          </a:p>
        </p:txBody>
      </p:sp>
      <p:sp>
        <p:nvSpPr>
          <p:cNvPr id="3" name="Content Placeholder 2">
            <a:extLst>
              <a:ext uri="{FF2B5EF4-FFF2-40B4-BE49-F238E27FC236}">
                <a16:creationId xmlns:a16="http://schemas.microsoft.com/office/drawing/2014/main" id="{28981D4F-F8F2-66F4-5F90-8CEDC167BAAA}"/>
              </a:ext>
            </a:extLst>
          </p:cNvPr>
          <p:cNvSpPr>
            <a:spLocks noGrp="1"/>
          </p:cNvSpPr>
          <p:nvPr>
            <p:ph idx="1"/>
          </p:nvPr>
        </p:nvSpPr>
        <p:spPr>
          <a:xfrm>
            <a:off x="462579" y="1204857"/>
            <a:ext cx="8218842" cy="4261490"/>
          </a:xfrm>
        </p:spPr>
        <p:txBody>
          <a:bodyPr>
            <a:noAutofit/>
          </a:bodyPr>
          <a:lstStyle/>
          <a:p>
            <a:pPr marL="457200" indent="-457200">
              <a:buFont typeface="+mj-lt"/>
              <a:buAutoNum type="arabicPeriod" startAt="2"/>
            </a:pPr>
            <a:r>
              <a:rPr lang="en-GB" sz="2400" dirty="0">
                <a:latin typeface="Times New Roman" panose="02020603050405020304" pitchFamily="18" charset="0"/>
                <a:cs typeface="Times New Roman" panose="02020603050405020304" pitchFamily="18" charset="0"/>
              </a:rPr>
              <a:t>Growth Cycle</a:t>
            </a:r>
          </a:p>
          <a:p>
            <a:pPr marL="457200" indent="-457200">
              <a:buFont typeface="+mj-lt"/>
              <a:buAutoNum type="alphaLcPeriod"/>
            </a:pPr>
            <a:r>
              <a:rPr lang="en-GB" sz="2400" dirty="0">
                <a:latin typeface="Times New Roman" panose="02020603050405020304" pitchFamily="18" charset="0"/>
                <a:cs typeface="Times New Roman" panose="02020603050405020304" pitchFamily="18" charset="0"/>
              </a:rPr>
              <a:t>Annual crops: Annual crops complete their full life cycle within a year. </a:t>
            </a:r>
            <a:r>
              <a:rPr lang="en-GB" sz="2400" dirty="0" err="1">
                <a:latin typeface="Times New Roman" panose="02020603050405020304" pitchFamily="18" charset="0"/>
                <a:cs typeface="Times New Roman" panose="02020603050405020304" pitchFamily="18" charset="0"/>
              </a:rPr>
              <a:t>eg</a:t>
            </a:r>
            <a:r>
              <a:rPr lang="en-GB" sz="2400" dirty="0">
                <a:latin typeface="Times New Roman" panose="02020603050405020304" pitchFamily="18" charset="0"/>
                <a:cs typeface="Times New Roman" panose="02020603050405020304" pitchFamily="18" charset="0"/>
              </a:rPr>
              <a:t> maize (corn), wheat, rice, soya beans and most vegetables.</a:t>
            </a:r>
          </a:p>
          <a:p>
            <a:pPr marL="457200" indent="-457200">
              <a:buFont typeface="+mj-lt"/>
              <a:buAutoNum type="alphaLcPeriod"/>
            </a:pPr>
            <a:r>
              <a:rPr lang="en-GB" sz="2400" dirty="0">
                <a:latin typeface="Times New Roman" panose="02020603050405020304" pitchFamily="18" charset="0"/>
                <a:cs typeface="Times New Roman" panose="02020603050405020304" pitchFamily="18" charset="0"/>
              </a:rPr>
              <a:t>Biennial crops: Biennial crops have a life cycle that spans two (2) years. Eg carrots, beets, onions, and some types of cabbage and okra.</a:t>
            </a:r>
          </a:p>
          <a:p>
            <a:pPr marL="457200" indent="-457200">
              <a:buFont typeface="+mj-lt"/>
              <a:buAutoNum type="alphaLcPeriod"/>
            </a:pPr>
            <a:r>
              <a:rPr lang="en-GB" sz="2400" dirty="0">
                <a:latin typeface="Times New Roman" panose="02020603050405020304" pitchFamily="18" charset="0"/>
                <a:cs typeface="Times New Roman" panose="02020603050405020304" pitchFamily="18" charset="0"/>
              </a:rPr>
              <a:t>Perennial crops: Perennial crops have a life cycle of more than two (2) years. Eg cocoa, citrus cashew, mango, avocado, cola, coffee and some forage grasses.</a:t>
            </a:r>
          </a:p>
        </p:txBody>
      </p:sp>
    </p:spTree>
    <p:extLst>
      <p:ext uri="{BB962C8B-B14F-4D97-AF65-F5344CB8AC3E}">
        <p14:creationId xmlns:p14="http://schemas.microsoft.com/office/powerpoint/2010/main" val="1653511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B8D04-8F5E-81C2-6F0D-78A77757C0E2}"/>
              </a:ext>
            </a:extLst>
          </p:cNvPr>
          <p:cNvSpPr>
            <a:spLocks noGrp="1"/>
          </p:cNvSpPr>
          <p:nvPr>
            <p:ph type="title"/>
          </p:nvPr>
        </p:nvSpPr>
        <p:spPr>
          <a:xfrm>
            <a:off x="806824" y="268942"/>
            <a:ext cx="7476563" cy="871369"/>
          </a:xfrm>
        </p:spPr>
        <p:txBody>
          <a:bodyPr/>
          <a:lstStyle/>
          <a:p>
            <a:r>
              <a:rPr lang="en-GB" b="1" dirty="0" err="1">
                <a:latin typeface="Times New Roman" panose="02020603050405020304" pitchFamily="18" charset="0"/>
                <a:cs typeface="Times New Roman" panose="02020603050405020304" pitchFamily="18" charset="0"/>
              </a:rPr>
              <a:t>cLASSIFICATION</a:t>
            </a:r>
            <a:r>
              <a:rPr lang="en-GB" b="1" dirty="0">
                <a:latin typeface="Times New Roman" panose="02020603050405020304" pitchFamily="18" charset="0"/>
                <a:cs typeface="Times New Roman" panose="02020603050405020304" pitchFamily="18" charset="0"/>
              </a:rPr>
              <a:t> OF CROPS</a:t>
            </a:r>
            <a:endParaRPr lang="en-GB" dirty="0"/>
          </a:p>
        </p:txBody>
      </p:sp>
      <p:sp>
        <p:nvSpPr>
          <p:cNvPr id="3" name="Content Placeholder 2">
            <a:extLst>
              <a:ext uri="{FF2B5EF4-FFF2-40B4-BE49-F238E27FC236}">
                <a16:creationId xmlns:a16="http://schemas.microsoft.com/office/drawing/2014/main" id="{57877545-78C1-38BB-2979-DB4C96E320C7}"/>
              </a:ext>
            </a:extLst>
          </p:cNvPr>
          <p:cNvSpPr>
            <a:spLocks noGrp="1"/>
          </p:cNvSpPr>
          <p:nvPr>
            <p:ph idx="1"/>
          </p:nvPr>
        </p:nvSpPr>
        <p:spPr>
          <a:xfrm>
            <a:off x="419548" y="1140311"/>
            <a:ext cx="8530813" cy="4765637"/>
          </a:xfrm>
        </p:spPr>
        <p:txBody>
          <a:bodyPr>
            <a:normAutofit/>
          </a:bodyPr>
          <a:lstStyle/>
          <a:p>
            <a:pPr marL="457200" indent="-457200">
              <a:buFont typeface="+mj-lt"/>
              <a:buAutoNum type="arabicPeriod" startAt="3"/>
            </a:pPr>
            <a:r>
              <a:rPr lang="en-GB" sz="2400" b="1" dirty="0">
                <a:latin typeface="Times New Roman" panose="02020603050405020304" pitchFamily="18" charset="0"/>
                <a:cs typeface="Times New Roman" panose="02020603050405020304" pitchFamily="18" charset="0"/>
              </a:rPr>
              <a:t>Botanical Classification   </a:t>
            </a:r>
          </a:p>
          <a:p>
            <a:pPr marL="457200" indent="-457200">
              <a:buFont typeface="+mj-lt"/>
              <a:buAutoNum type="alphaLcPeriod"/>
            </a:pPr>
            <a:r>
              <a:rPr lang="en-GB" sz="2400" dirty="0" err="1">
                <a:latin typeface="Times New Roman" panose="02020603050405020304" pitchFamily="18" charset="0"/>
                <a:cs typeface="Times New Roman" panose="02020603050405020304" pitchFamily="18" charset="0"/>
              </a:rPr>
              <a:t>Poaceae</a:t>
            </a:r>
            <a:r>
              <a:rPr lang="en-GB" sz="2400" dirty="0">
                <a:latin typeface="Times New Roman" panose="02020603050405020304" pitchFamily="18" charset="0"/>
                <a:cs typeface="Times New Roman" panose="02020603050405020304" pitchFamily="18" charset="0"/>
              </a:rPr>
              <a:t> (grasses): Crops such as wheat, rice, corn, barley and oats belong to the grass family. </a:t>
            </a:r>
          </a:p>
          <a:p>
            <a:pPr marL="457200" indent="-457200">
              <a:buFont typeface="+mj-lt"/>
              <a:buAutoNum type="alphaLcPeriod"/>
            </a:pPr>
            <a:r>
              <a:rPr lang="en-GB" sz="2400" dirty="0">
                <a:latin typeface="Times New Roman" panose="02020603050405020304" pitchFamily="18" charset="0"/>
                <a:cs typeface="Times New Roman" panose="02020603050405020304" pitchFamily="18" charset="0"/>
              </a:rPr>
              <a:t>b. Solanaceae (nightshades): Crops like tomatoes, potatoes, peppers and eggplants belong to this family. </a:t>
            </a:r>
          </a:p>
          <a:p>
            <a:pPr marL="457200" indent="-457200">
              <a:buFont typeface="+mj-lt"/>
              <a:buAutoNum type="alphaLcPeriod"/>
            </a:pPr>
            <a:r>
              <a:rPr lang="en-GB" sz="2400" dirty="0">
                <a:latin typeface="Times New Roman" panose="02020603050405020304" pitchFamily="18" charset="0"/>
                <a:cs typeface="Times New Roman" panose="02020603050405020304" pitchFamily="18" charset="0"/>
              </a:rPr>
              <a:t>c. Leguminosae/Fabaceae (legumes): Leguminous crops include beans, peas, lentils, soya beans, and peanuts.</a:t>
            </a:r>
          </a:p>
          <a:p>
            <a:pPr marL="457200" indent="-457200">
              <a:buFont typeface="+mj-lt"/>
              <a:buAutoNum type="alphaLcPeriod"/>
            </a:pPr>
            <a:r>
              <a:rPr lang="en-GB" sz="2400" dirty="0">
                <a:latin typeface="Times New Roman" panose="02020603050405020304" pitchFamily="18" charset="0"/>
                <a:cs typeface="Times New Roman" panose="02020603050405020304" pitchFamily="18" charset="0"/>
              </a:rPr>
              <a:t>Rosaceae (rose family): Fruits like apples, pears, cherries and strawberries belong to this family. </a:t>
            </a:r>
          </a:p>
        </p:txBody>
      </p:sp>
    </p:spTree>
    <p:extLst>
      <p:ext uri="{BB962C8B-B14F-4D97-AF65-F5344CB8AC3E}">
        <p14:creationId xmlns:p14="http://schemas.microsoft.com/office/powerpoint/2010/main" val="2813856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1" y="441064"/>
            <a:ext cx="6251303" cy="860611"/>
          </a:xfrm>
        </p:spPr>
        <p:txBody>
          <a:bodyPr>
            <a:normAutofit fontScale="90000"/>
          </a:bodyPr>
          <a:lstStyle/>
          <a:p>
            <a:r>
              <a:rPr lang="en-US" dirty="0">
                <a:latin typeface="Times New Roman" charset="0"/>
                <a:ea typeface="Times New Roman" charset="0"/>
                <a:cs typeface="Times New Roman" charset="0"/>
              </a:rPr>
              <a:t>Introduction to Crop production</a:t>
            </a:r>
            <a:endParaRPr lang="en-US" dirty="0"/>
          </a:p>
        </p:txBody>
      </p:sp>
      <p:sp>
        <p:nvSpPr>
          <p:cNvPr id="3" name="Content Placeholder 2"/>
          <p:cNvSpPr>
            <a:spLocks noGrp="1"/>
          </p:cNvSpPr>
          <p:nvPr>
            <p:ph idx="1"/>
          </p:nvPr>
        </p:nvSpPr>
        <p:spPr>
          <a:xfrm>
            <a:off x="623944" y="1430767"/>
            <a:ext cx="7842323" cy="4035579"/>
          </a:xfrm>
        </p:spPr>
        <p:txBody>
          <a:bodyPr>
            <a:normAutofit fontScale="92500"/>
          </a:bodyPr>
          <a:lstStyle/>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Crop production is a branch of agricultural science that focuses on the principles and practices involved in growing crops for food, fiber, fuel, and other economic uses. It is regarded as a scientific discipline because it applies systematic knowledge, research methods, and technological innovations to improve the productivity and sustainability of farming systems.</a:t>
            </a:r>
            <a:endParaRPr lang="en-US" sz="2000" dirty="0">
              <a:latin typeface="Times New Roman" panose="02020603050405020304" pitchFamily="18" charset="0"/>
              <a:ea typeface="Times New Roman" charset="0"/>
              <a:cs typeface="Times New Roman" panose="02020603050405020304" pitchFamily="18" charset="0"/>
            </a:endParaRPr>
          </a:p>
          <a:p>
            <a:pPr>
              <a:buFont typeface="Wingdings" panose="05000000000000000000" pitchFamily="2" charset="2"/>
              <a:buChar char="ü"/>
            </a:pPr>
            <a:r>
              <a:rPr lang="en-US" sz="2000" dirty="0">
                <a:latin typeface="Times New Roman" charset="0"/>
                <a:ea typeface="Times New Roman" charset="0"/>
                <a:cs typeface="Times New Roman" charset="0"/>
              </a:rPr>
              <a:t>As a scientific field, crop production integrates knowledge from various disciplines such as agronomy, soil science, plant physiology, plant breeding, entomology, plant pathology, and agricultural economics. These fields work together to provide a holistic understanding of how crops grow, develop, and respond to different environmental and management conditions.</a:t>
            </a:r>
          </a:p>
        </p:txBody>
      </p:sp>
    </p:spTree>
    <p:extLst>
      <p:ext uri="{BB962C8B-B14F-4D97-AF65-F5344CB8AC3E}">
        <p14:creationId xmlns:p14="http://schemas.microsoft.com/office/powerpoint/2010/main" val="257009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4308"/>
          </a:xfrm>
        </p:spPr>
        <p:txBody>
          <a:bodyPr>
            <a:noAutofit/>
          </a:bodyPr>
          <a:lstStyle/>
          <a:p>
            <a:r>
              <a:rPr lang="en-US" sz="4000" dirty="0">
                <a:latin typeface="Times New Roman" charset="0"/>
                <a:ea typeface="Times New Roman" charset="0"/>
                <a:cs typeface="Times New Roman" charset="0"/>
              </a:rPr>
              <a:t>Crop production as a science and business.</a:t>
            </a:r>
            <a:endParaRPr lang="en-US" sz="4000" dirty="0"/>
          </a:p>
        </p:txBody>
      </p:sp>
      <p:sp>
        <p:nvSpPr>
          <p:cNvPr id="3" name="Content Placeholder 2"/>
          <p:cNvSpPr>
            <a:spLocks noGrp="1"/>
          </p:cNvSpPr>
          <p:nvPr>
            <p:ph idx="1"/>
          </p:nvPr>
        </p:nvSpPr>
        <p:spPr>
          <a:xfrm>
            <a:off x="311972" y="1345324"/>
            <a:ext cx="8724452" cy="4780839"/>
          </a:xfrm>
        </p:spPr>
        <p:txBody>
          <a:bodyPr>
            <a:normAutofit fontScale="92500" lnSpcReduction="10000"/>
          </a:bodyPr>
          <a:lstStyle/>
          <a:p>
            <a:r>
              <a:rPr lang="en-GB" sz="2600" dirty="0">
                <a:latin typeface="Times New Roman" panose="02020603050405020304" pitchFamily="18" charset="0"/>
                <a:ea typeface="Times New Roman" charset="0"/>
                <a:cs typeface="Times New Roman" panose="02020603050405020304" pitchFamily="18" charset="0"/>
              </a:rPr>
              <a:t>Crop production is a multifaceted </a:t>
            </a:r>
            <a:r>
              <a:rPr lang="en-GB" sz="2600" dirty="0" err="1">
                <a:latin typeface="Times New Roman" panose="02020603050405020304" pitchFamily="18" charset="0"/>
                <a:ea typeface="Times New Roman" charset="0"/>
                <a:cs typeface="Times New Roman" panose="02020603050405020304" pitchFamily="18" charset="0"/>
              </a:rPr>
              <a:t>endeavor</a:t>
            </a:r>
            <a:r>
              <a:rPr lang="en-GB" sz="2600" dirty="0">
                <a:latin typeface="Times New Roman" panose="02020603050405020304" pitchFamily="18" charset="0"/>
                <a:ea typeface="Times New Roman" charset="0"/>
                <a:cs typeface="Times New Roman" panose="02020603050405020304" pitchFamily="18" charset="0"/>
              </a:rPr>
              <a:t> that combines the art, science, and business of cultivating crops. </a:t>
            </a:r>
          </a:p>
          <a:p>
            <a:r>
              <a:rPr lang="en-GB" sz="2600" dirty="0">
                <a:latin typeface="Times New Roman" panose="02020603050405020304" pitchFamily="18" charset="0"/>
                <a:ea typeface="Times New Roman" charset="0"/>
                <a:cs typeface="Times New Roman" panose="02020603050405020304" pitchFamily="18" charset="0"/>
              </a:rPr>
              <a:t>As an art, it involves the </a:t>
            </a:r>
            <a:r>
              <a:rPr lang="en-GB" sz="2600" dirty="0" err="1">
                <a:latin typeface="Times New Roman" panose="02020603050405020304" pitchFamily="18" charset="0"/>
                <a:ea typeface="Times New Roman" charset="0"/>
                <a:cs typeface="Times New Roman" panose="02020603050405020304" pitchFamily="18" charset="0"/>
              </a:rPr>
              <a:t>skillful</a:t>
            </a:r>
            <a:r>
              <a:rPr lang="en-GB" sz="2600" dirty="0">
                <a:latin typeface="Times New Roman" panose="02020603050405020304" pitchFamily="18" charset="0"/>
                <a:ea typeface="Times New Roman" charset="0"/>
                <a:cs typeface="Times New Roman" panose="02020603050405020304" pitchFamily="18" charset="0"/>
              </a:rPr>
              <a:t> performance of farm operations, while as a science, it applies scientific principles to maximize crop yield and profitability. </a:t>
            </a:r>
          </a:p>
          <a:p>
            <a:r>
              <a:rPr lang="en-GB" sz="2600" dirty="0">
                <a:latin typeface="Times New Roman" panose="02020603050405020304" pitchFamily="18" charset="0"/>
                <a:ea typeface="Times New Roman" charset="0"/>
                <a:cs typeface="Times New Roman" panose="02020603050405020304" pitchFamily="18" charset="0"/>
              </a:rPr>
              <a:t>As a business, it aims at generating a net return through the management of land, </a:t>
            </a:r>
            <a:r>
              <a:rPr lang="en-GB" sz="2600" dirty="0" err="1">
                <a:latin typeface="Times New Roman" panose="02020603050405020304" pitchFamily="18" charset="0"/>
                <a:ea typeface="Times New Roman" charset="0"/>
                <a:cs typeface="Times New Roman" panose="02020603050405020304" pitchFamily="18" charset="0"/>
              </a:rPr>
              <a:t>labor</a:t>
            </a:r>
            <a:r>
              <a:rPr lang="en-GB" sz="2600" dirty="0">
                <a:latin typeface="Times New Roman" panose="02020603050405020304" pitchFamily="18" charset="0"/>
                <a:ea typeface="Times New Roman" charset="0"/>
                <a:cs typeface="Times New Roman" panose="02020603050405020304" pitchFamily="18" charset="0"/>
              </a:rPr>
              <a:t>, water, and capital, employing various scientific knowledge for the production of food, feed, </a:t>
            </a:r>
            <a:r>
              <a:rPr lang="en-GB" sz="2600" dirty="0" err="1">
                <a:latin typeface="Times New Roman" panose="02020603050405020304" pitchFamily="18" charset="0"/>
                <a:ea typeface="Times New Roman" charset="0"/>
                <a:cs typeface="Times New Roman" panose="02020603050405020304" pitchFamily="18" charset="0"/>
              </a:rPr>
              <a:t>fiber</a:t>
            </a:r>
            <a:r>
              <a:rPr lang="en-GB" sz="2600" dirty="0">
                <a:latin typeface="Times New Roman" panose="02020603050405020304" pitchFamily="18" charset="0"/>
                <a:ea typeface="Times New Roman" charset="0"/>
                <a:cs typeface="Times New Roman" panose="02020603050405020304" pitchFamily="18" charset="0"/>
              </a:rPr>
              <a:t>, and fuel. In recent years, agriculture has been commercialized to run as a business through mechanization, focusing on maximizing output relative to inputs and producing at times of high demand and prices. </a:t>
            </a:r>
            <a:endParaRPr lang="en-US" sz="2600" dirty="0">
              <a:latin typeface="Times New Roman" panose="02020603050405020304" pitchFamily="18" charset="0"/>
              <a:ea typeface="Times New Roman" charset="0"/>
              <a:cs typeface="Times New Roman" panose="02020603050405020304" pitchFamily="18" charset="0"/>
            </a:endParaRPr>
          </a:p>
          <a:p>
            <a:endParaRPr lang="en-US"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504569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charset="0"/>
                <a:ea typeface="Times New Roman" charset="0"/>
                <a:cs typeface="Times New Roman" charset="0"/>
              </a:rPr>
              <a:t>Crop production as a business.</a:t>
            </a:r>
            <a:endParaRPr lang="en-US" dirty="0"/>
          </a:p>
        </p:txBody>
      </p:sp>
      <p:sp>
        <p:nvSpPr>
          <p:cNvPr id="3" name="Content Placeholder 2"/>
          <p:cNvSpPr>
            <a:spLocks noGrp="1"/>
          </p:cNvSpPr>
          <p:nvPr>
            <p:ph idx="1"/>
          </p:nvPr>
        </p:nvSpPr>
        <p:spPr/>
        <p:txBody>
          <a:bodyPr>
            <a:normAutofit fontScale="92500" lnSpcReduction="20000"/>
          </a:bodyPr>
          <a:lstStyle/>
          <a:p>
            <a:r>
              <a:rPr lang="en-US" sz="2200" dirty="0">
                <a:latin typeface="Times New Roman" charset="0"/>
                <a:ea typeface="Times New Roman" charset="0"/>
                <a:cs typeface="Times New Roman" charset="0"/>
              </a:rPr>
              <a:t>Agronomy – From the Greek word “</a:t>
            </a:r>
            <a:r>
              <a:rPr lang="en-US" sz="2200" dirty="0" err="1">
                <a:latin typeface="Times New Roman" charset="0"/>
                <a:ea typeface="Times New Roman" charset="0"/>
                <a:cs typeface="Times New Roman" charset="0"/>
              </a:rPr>
              <a:t>agros</a:t>
            </a:r>
            <a:r>
              <a:rPr lang="en-US" sz="2200" dirty="0">
                <a:latin typeface="Times New Roman" charset="0"/>
                <a:ea typeface="Times New Roman" charset="0"/>
                <a:cs typeface="Times New Roman" charset="0"/>
              </a:rPr>
              <a:t>” meaning field and “</a:t>
            </a:r>
            <a:r>
              <a:rPr lang="en-US" sz="2200" dirty="0" err="1">
                <a:latin typeface="Times New Roman" charset="0"/>
                <a:ea typeface="Times New Roman" charset="0"/>
                <a:cs typeface="Times New Roman" charset="0"/>
              </a:rPr>
              <a:t>nomos</a:t>
            </a:r>
            <a:r>
              <a:rPr lang="en-US" sz="2200" dirty="0">
                <a:latin typeface="Times New Roman" charset="0"/>
                <a:ea typeface="Times New Roman" charset="0"/>
                <a:cs typeface="Times New Roman" charset="0"/>
              </a:rPr>
              <a:t>” meaning to manage. Thus, Agronomy deals with the principles and practices of managing field crops and soils.</a:t>
            </a:r>
          </a:p>
          <a:p>
            <a:r>
              <a:rPr lang="en-US" sz="2200" dirty="0">
                <a:latin typeface="Times New Roman" charset="0"/>
                <a:ea typeface="Times New Roman" charset="0"/>
                <a:cs typeface="Times New Roman" charset="0"/>
              </a:rPr>
              <a:t>Horticulture -  From the Latin words “</a:t>
            </a:r>
            <a:r>
              <a:rPr lang="en-US" sz="2200" dirty="0" err="1">
                <a:latin typeface="Times New Roman" charset="0"/>
                <a:ea typeface="Times New Roman" charset="0"/>
                <a:cs typeface="Times New Roman" charset="0"/>
              </a:rPr>
              <a:t>hortus</a:t>
            </a:r>
            <a:r>
              <a:rPr lang="en-US" sz="2200" dirty="0">
                <a:latin typeface="Times New Roman" charset="0"/>
                <a:ea typeface="Times New Roman" charset="0"/>
                <a:cs typeface="Times New Roman" charset="0"/>
              </a:rPr>
              <a:t>”, which means a garden (a term derived from </a:t>
            </a:r>
            <a:r>
              <a:rPr lang="en-US" sz="2200" dirty="0" err="1">
                <a:latin typeface="Times New Roman" charset="0"/>
                <a:ea typeface="Times New Roman" charset="0"/>
                <a:cs typeface="Times New Roman" charset="0"/>
              </a:rPr>
              <a:t>Anglo-saxon</a:t>
            </a:r>
            <a:r>
              <a:rPr lang="en-US" sz="2200" dirty="0">
                <a:latin typeface="Times New Roman" charset="0"/>
                <a:ea typeface="Times New Roman" charset="0"/>
                <a:cs typeface="Times New Roman" charset="0"/>
              </a:rPr>
              <a:t> word “</a:t>
            </a:r>
            <a:r>
              <a:rPr lang="en-US" sz="2200" dirty="0" err="1">
                <a:latin typeface="Times New Roman" charset="0"/>
                <a:ea typeface="Times New Roman" charset="0"/>
                <a:cs typeface="Times New Roman" charset="0"/>
              </a:rPr>
              <a:t>gyrdan</a:t>
            </a:r>
            <a:r>
              <a:rPr lang="en-US" sz="2200" dirty="0">
                <a:latin typeface="Times New Roman" charset="0"/>
                <a:ea typeface="Times New Roman" charset="0"/>
                <a:cs typeface="Times New Roman" charset="0"/>
              </a:rPr>
              <a:t>” which means to enclose), Horticulture is the branch of agriculture that deals with intensive cultivation of fruits, vegetables, flowers, ornamental plants, and landscape design.</a:t>
            </a:r>
          </a:p>
          <a:p>
            <a:endParaRPr lang="en-US" dirty="0"/>
          </a:p>
        </p:txBody>
      </p:sp>
    </p:spTree>
    <p:extLst>
      <p:ext uri="{BB962C8B-B14F-4D97-AF65-F5344CB8AC3E}">
        <p14:creationId xmlns:p14="http://schemas.microsoft.com/office/powerpoint/2010/main" val="683309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1" y="216310"/>
            <a:ext cx="6571343" cy="588209"/>
          </a:xfrm>
        </p:spPr>
        <p:txBody>
          <a:bodyPr/>
          <a:lstStyle/>
          <a:p>
            <a:pPr algn="ctr"/>
            <a:r>
              <a:rPr lang="en-US" b="1" dirty="0">
                <a:latin typeface="Times New Roman" charset="0"/>
                <a:ea typeface="Times New Roman" charset="0"/>
                <a:cs typeface="Times New Roman" charset="0"/>
              </a:rPr>
              <a:t>Scope of crop science</a:t>
            </a:r>
          </a:p>
        </p:txBody>
      </p:sp>
      <p:sp>
        <p:nvSpPr>
          <p:cNvPr id="3" name="Content Placeholder 2"/>
          <p:cNvSpPr>
            <a:spLocks noGrp="1"/>
          </p:cNvSpPr>
          <p:nvPr>
            <p:ph idx="1"/>
          </p:nvPr>
        </p:nvSpPr>
        <p:spPr>
          <a:xfrm>
            <a:off x="457199" y="894735"/>
            <a:ext cx="8360979" cy="5158746"/>
          </a:xfrm>
        </p:spPr>
        <p:txBody>
          <a:bodyPr>
            <a:normAutofit fontScale="92500" lnSpcReduction="20000"/>
          </a:bodyPr>
          <a:lstStyle/>
          <a:p>
            <a:pPr marL="0" indent="0">
              <a:buNone/>
            </a:pPr>
            <a:r>
              <a:rPr lang="en-US" dirty="0">
                <a:latin typeface="Times New Roman" charset="0"/>
                <a:ea typeface="Times New Roman" charset="0"/>
                <a:cs typeface="Times New Roman" charset="0"/>
              </a:rPr>
              <a:t>1. Crop Production and Management – Principles of crop growth, land preparation, planting methods, fertilizer management, irrigation, pest and disease control, and post-harvest handling.</a:t>
            </a:r>
          </a:p>
          <a:p>
            <a:pPr marL="0" indent="0">
              <a:buNone/>
            </a:pPr>
            <a:r>
              <a:rPr lang="en-US" dirty="0">
                <a:latin typeface="Times New Roman" charset="0"/>
                <a:ea typeface="Times New Roman" charset="0"/>
                <a:cs typeface="Times New Roman" charset="0"/>
              </a:rPr>
              <a:t>2. Agronomy – Study of soil–plant relationships, cropping systems, conservation agriculture, and sustainable farming systems.</a:t>
            </a:r>
          </a:p>
          <a:p>
            <a:pPr marL="0" indent="0">
              <a:buNone/>
            </a:pPr>
            <a:r>
              <a:rPr lang="en-US" dirty="0">
                <a:latin typeface="Times New Roman" charset="0"/>
                <a:ea typeface="Times New Roman" charset="0"/>
                <a:cs typeface="Times New Roman" charset="0"/>
              </a:rPr>
              <a:t>3. Plant Breeding and Genetics – Development of improved crop varieties with higher yield, drought tolerance, and pest resistance.</a:t>
            </a:r>
          </a:p>
          <a:p>
            <a:pPr marL="0" indent="0">
              <a:buNone/>
            </a:pPr>
            <a:r>
              <a:rPr lang="en-US" dirty="0">
                <a:latin typeface="Times New Roman" charset="0"/>
                <a:ea typeface="Times New Roman" charset="0"/>
                <a:cs typeface="Times New Roman" charset="0"/>
              </a:rPr>
              <a:t>4. Soil Science – Soil fertility, soil conservation, soil chemistry, and fertilizer use.</a:t>
            </a:r>
          </a:p>
          <a:p>
            <a:pPr marL="0" indent="0">
              <a:buNone/>
            </a:pPr>
            <a:r>
              <a:rPr lang="en-US" dirty="0">
                <a:latin typeface="Times New Roman" charset="0"/>
                <a:ea typeface="Times New Roman" charset="0"/>
                <a:cs typeface="Times New Roman" charset="0"/>
              </a:rPr>
              <a:t>5. Crop Protection – Entomology, plant pathology, weed science, and integrated pest management.</a:t>
            </a:r>
          </a:p>
          <a:p>
            <a:pPr marL="0" indent="0">
              <a:buNone/>
            </a:pPr>
            <a:r>
              <a:rPr lang="en-US" dirty="0">
                <a:latin typeface="Times New Roman" charset="0"/>
                <a:ea typeface="Times New Roman" charset="0"/>
                <a:cs typeface="Times New Roman" charset="0"/>
              </a:rPr>
              <a:t>6. Agricultural Biotechnology – Genetic engineering, tissue culture, and modern breeding technologies.</a:t>
            </a:r>
          </a:p>
          <a:p>
            <a:pPr marL="0" indent="0">
              <a:buNone/>
            </a:pPr>
            <a:r>
              <a:rPr lang="en-US" dirty="0">
                <a:latin typeface="Times New Roman" charset="0"/>
                <a:ea typeface="Times New Roman" charset="0"/>
                <a:cs typeface="Times New Roman" charset="0"/>
              </a:rPr>
              <a:t>7. Research and Extension – Field experimentation, data analysis, and farmer advisory services.</a:t>
            </a:r>
          </a:p>
        </p:txBody>
      </p:sp>
    </p:spTree>
    <p:extLst>
      <p:ext uri="{BB962C8B-B14F-4D97-AF65-F5344CB8AC3E}">
        <p14:creationId xmlns:p14="http://schemas.microsoft.com/office/powerpoint/2010/main" val="216588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1" y="0"/>
            <a:ext cx="6992586" cy="1091381"/>
          </a:xfrm>
        </p:spPr>
        <p:txBody>
          <a:bodyPr>
            <a:normAutofit/>
          </a:bodyPr>
          <a:lstStyle/>
          <a:p>
            <a:pPr algn="ctr"/>
            <a:r>
              <a:rPr lang="en-US" sz="3600" b="1" dirty="0">
                <a:latin typeface="Times New Roman" charset="0"/>
                <a:ea typeface="Times New Roman" charset="0"/>
                <a:cs typeface="Times New Roman" charset="0"/>
              </a:rPr>
              <a:t>The Importance of Crop Production</a:t>
            </a:r>
          </a:p>
        </p:txBody>
      </p:sp>
      <p:sp>
        <p:nvSpPr>
          <p:cNvPr id="3" name="Content Placeholder 2"/>
          <p:cNvSpPr>
            <a:spLocks noGrp="1"/>
          </p:cNvSpPr>
          <p:nvPr>
            <p:ph idx="1"/>
          </p:nvPr>
        </p:nvSpPr>
        <p:spPr>
          <a:xfrm>
            <a:off x="215152" y="1022555"/>
            <a:ext cx="8745967" cy="5055516"/>
          </a:xfrm>
        </p:spPr>
        <p:txBody>
          <a:bodyPr>
            <a:noAutofit/>
          </a:bodyPr>
          <a:lstStyle/>
          <a:p>
            <a:pPr marL="457200" indent="-457200">
              <a:buFont typeface="+mj-lt"/>
              <a:buAutoNum type="arabicPeriod"/>
            </a:pPr>
            <a:r>
              <a:rPr lang="en-GB" dirty="0">
                <a:latin typeface="Times New Roman" panose="02020603050405020304" pitchFamily="18" charset="0"/>
                <a:cs typeface="Times New Roman" panose="02020603050405020304" pitchFamily="18" charset="0"/>
              </a:rPr>
              <a:t>Economic importance: Crops contribute to national and global economies by generating income and employment opportunities.</a:t>
            </a:r>
          </a:p>
          <a:p>
            <a:pPr marL="457200" indent="-457200">
              <a:buFont typeface="+mj-lt"/>
              <a:buAutoNum type="arabicPeriod"/>
            </a:pPr>
            <a:r>
              <a:rPr lang="en-GB" dirty="0">
                <a:latin typeface="Times New Roman" panose="02020603050405020304" pitchFamily="18" charset="0"/>
                <a:cs typeface="Times New Roman" panose="02020603050405020304" pitchFamily="18" charset="0"/>
              </a:rPr>
              <a:t>Livelihoods and rural development: Crops are a lifeline for many rural communities, especially in developing countries.</a:t>
            </a:r>
          </a:p>
          <a:p>
            <a:pPr marL="457200" indent="-457200">
              <a:buFont typeface="+mj-lt"/>
              <a:buAutoNum type="arabicPeriod"/>
            </a:pPr>
            <a:r>
              <a:rPr lang="en-GB" dirty="0">
                <a:latin typeface="Times New Roman" panose="02020603050405020304" pitchFamily="18" charset="0"/>
                <a:cs typeface="Times New Roman" panose="02020603050405020304" pitchFamily="18" charset="0"/>
              </a:rPr>
              <a:t>Environmental benefits: Certain crops, such as legumes, help improve soil fertility through nitrogen fixation and reducing the need for synthetic fertilisers. </a:t>
            </a:r>
          </a:p>
          <a:p>
            <a:pPr marL="457200" indent="-457200">
              <a:buFont typeface="+mj-lt"/>
              <a:buAutoNum type="arabicPeriod"/>
            </a:pPr>
            <a:r>
              <a:rPr lang="en-GB" dirty="0">
                <a:latin typeface="Times New Roman" panose="02020603050405020304" pitchFamily="18" charset="0"/>
                <a:cs typeface="Times New Roman" panose="02020603050405020304" pitchFamily="18" charset="0"/>
              </a:rPr>
              <a:t>Trade and global exchange: Crops are traded globally, fostering international relations and exchange.</a:t>
            </a:r>
          </a:p>
          <a:p>
            <a:pPr marL="457200" indent="-457200">
              <a:buFont typeface="+mj-lt"/>
              <a:buAutoNum type="arabicPeriod"/>
            </a:pPr>
            <a:r>
              <a:rPr lang="en-GB" dirty="0">
                <a:latin typeface="Times New Roman" panose="02020603050405020304" pitchFamily="18" charset="0"/>
                <a:cs typeface="Times New Roman" panose="02020603050405020304" pitchFamily="18" charset="0"/>
              </a:rPr>
              <a:t>Industrial and commercial uses: Many crops serve as raw materials for various industries such as textiles, pharmaceuticals, biofuels, cosmetics and construction.</a:t>
            </a:r>
          </a:p>
          <a:p>
            <a:pPr marL="457200" indent="-457200">
              <a:buFont typeface="+mj-lt"/>
              <a:buAutoNum type="arabicPeriod"/>
            </a:pPr>
            <a:r>
              <a:rPr lang="en-GB" dirty="0">
                <a:latin typeface="Times New Roman" panose="02020603050405020304" pitchFamily="18" charset="0"/>
                <a:cs typeface="Times New Roman" panose="02020603050405020304" pitchFamily="18" charset="0"/>
              </a:rPr>
              <a:t>Food security: Crops are the primary source of food for humans and animals. </a:t>
            </a:r>
            <a:endParaRPr lang="en-US" sz="2000" dirty="0">
              <a:latin typeface="Times New Roman" panose="02020603050405020304" pitchFamily="18" charset="0"/>
              <a:ea typeface="Times New Roman" charset="0"/>
              <a:cs typeface="Times New Roman" panose="02020603050405020304" pitchFamily="18" charset="0"/>
            </a:endParaRPr>
          </a:p>
        </p:txBody>
      </p:sp>
    </p:spTree>
    <p:extLst>
      <p:ext uri="{BB962C8B-B14F-4D97-AF65-F5344CB8AC3E}">
        <p14:creationId xmlns:p14="http://schemas.microsoft.com/office/powerpoint/2010/main" val="733628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7417"/>
          </a:xfrm>
        </p:spPr>
        <p:txBody>
          <a:bodyPr>
            <a:normAutofit fontScale="90000"/>
          </a:bodyPr>
          <a:lstStyle/>
          <a:p>
            <a:pPr algn="ctr"/>
            <a:r>
              <a:rPr lang="en-US" b="1" dirty="0">
                <a:latin typeface="Times New Roman" charset="0"/>
                <a:ea typeface="Times New Roman" charset="0"/>
                <a:cs typeface="Times New Roman" charset="0"/>
              </a:rPr>
              <a:t>The Importance of Crop Production</a:t>
            </a:r>
            <a:endParaRPr lang="en-US" b="1" dirty="0"/>
          </a:p>
        </p:txBody>
      </p:sp>
      <p:sp>
        <p:nvSpPr>
          <p:cNvPr id="3" name="Content Placeholder 2"/>
          <p:cNvSpPr>
            <a:spLocks noGrp="1"/>
          </p:cNvSpPr>
          <p:nvPr>
            <p:ph idx="1"/>
          </p:nvPr>
        </p:nvSpPr>
        <p:spPr>
          <a:xfrm>
            <a:off x="457200" y="1460938"/>
            <a:ext cx="8229600" cy="4665225"/>
          </a:xfrm>
        </p:spPr>
        <p:txBody>
          <a:bodyPr>
            <a:normAutofit fontScale="92500" lnSpcReduction="20000"/>
          </a:bodyPr>
          <a:lstStyle/>
          <a:p>
            <a:pPr marL="0" indent="0">
              <a:buNone/>
            </a:pPr>
            <a:r>
              <a:rPr lang="en-US" sz="2000" dirty="0">
                <a:latin typeface="Times New Roman" charset="0"/>
                <a:ea typeface="Times New Roman" charset="0"/>
                <a:cs typeface="Times New Roman" charset="0"/>
              </a:rPr>
              <a:t>1. </a:t>
            </a:r>
            <a:r>
              <a:rPr lang="en-US" sz="2000" b="1" dirty="0">
                <a:latin typeface="Times New Roman" charset="0"/>
                <a:ea typeface="Times New Roman" charset="0"/>
                <a:cs typeface="Times New Roman" charset="0"/>
              </a:rPr>
              <a:t>SOURCE OF FOOD </a:t>
            </a:r>
            <a:r>
              <a:rPr lang="en-US" sz="2000" dirty="0">
                <a:latin typeface="Times New Roman" charset="0"/>
                <a:ea typeface="Times New Roman" charset="0"/>
                <a:cs typeface="Times New Roman" charset="0"/>
              </a:rPr>
              <a:t>- All staple foods consumed in Zambia and around the world such as maize meal, rice, potatoes, and vegetables come from crop farming. </a:t>
            </a:r>
          </a:p>
          <a:p>
            <a:pPr marL="0" indent="0">
              <a:buNone/>
            </a:pPr>
            <a:r>
              <a:rPr lang="en-US" sz="2000" dirty="0">
                <a:latin typeface="Times New Roman" charset="0"/>
                <a:ea typeface="Times New Roman" charset="0"/>
                <a:cs typeface="Times New Roman" charset="0"/>
              </a:rPr>
              <a:t>2. </a:t>
            </a:r>
            <a:r>
              <a:rPr lang="en-US" sz="2000" b="1" dirty="0">
                <a:latin typeface="Times New Roman" charset="0"/>
                <a:ea typeface="Times New Roman" charset="0"/>
                <a:cs typeface="Times New Roman" charset="0"/>
              </a:rPr>
              <a:t>EMPLOYMENT CREATION </a:t>
            </a:r>
            <a:r>
              <a:rPr lang="en-US" sz="2000" dirty="0">
                <a:latin typeface="Times New Roman" charset="0"/>
                <a:ea typeface="Times New Roman" charset="0"/>
                <a:cs typeface="Times New Roman" charset="0"/>
              </a:rPr>
              <a:t>- Agriculture is one of the largest employers in many developing countries, many are employed directly as farmers, farm workers, extension officers, researchers, and agribusiness operators. </a:t>
            </a:r>
          </a:p>
          <a:p>
            <a:pPr marL="0" indent="0">
              <a:buNone/>
            </a:pPr>
            <a:r>
              <a:rPr lang="en-US" sz="2000" dirty="0">
                <a:latin typeface="Times New Roman" charset="0"/>
                <a:ea typeface="Times New Roman" charset="0"/>
                <a:cs typeface="Times New Roman" charset="0"/>
              </a:rPr>
              <a:t>3. </a:t>
            </a:r>
            <a:r>
              <a:rPr lang="en-US" sz="2000" b="1" dirty="0">
                <a:latin typeface="Times New Roman" charset="0"/>
                <a:ea typeface="Times New Roman" charset="0"/>
                <a:cs typeface="Times New Roman" charset="0"/>
              </a:rPr>
              <a:t>SOURCE OF RAW MATERIALS FOR INDUSTRIES </a:t>
            </a:r>
            <a:r>
              <a:rPr lang="en-US" sz="2000" dirty="0">
                <a:latin typeface="Times New Roman" charset="0"/>
                <a:ea typeface="Times New Roman" charset="0"/>
                <a:cs typeface="Times New Roman" charset="0"/>
              </a:rPr>
              <a:t>- Many industries depend on crop products as raw materials. Examples include: </a:t>
            </a:r>
          </a:p>
          <a:p>
            <a:pPr>
              <a:buFontTx/>
              <a:buChar char="-"/>
            </a:pPr>
            <a:r>
              <a:rPr lang="en-US" sz="2000" dirty="0">
                <a:latin typeface="Times New Roman" charset="0"/>
                <a:ea typeface="Times New Roman" charset="0"/>
                <a:cs typeface="Times New Roman" charset="0"/>
              </a:rPr>
              <a:t>Cotton for textile industries </a:t>
            </a:r>
          </a:p>
          <a:p>
            <a:pPr>
              <a:buFontTx/>
              <a:buChar char="-"/>
            </a:pPr>
            <a:r>
              <a:rPr lang="en-US" sz="2000" dirty="0">
                <a:latin typeface="Times New Roman" charset="0"/>
                <a:ea typeface="Times New Roman" charset="0"/>
                <a:cs typeface="Times New Roman" charset="0"/>
              </a:rPr>
              <a:t>Sugarcane for sugar processing </a:t>
            </a:r>
          </a:p>
          <a:p>
            <a:pPr>
              <a:buFontTx/>
              <a:buChar char="-"/>
            </a:pPr>
            <a:r>
              <a:rPr lang="en-US" sz="2000" dirty="0">
                <a:latin typeface="Times New Roman" charset="0"/>
                <a:ea typeface="Times New Roman" charset="0"/>
                <a:cs typeface="Times New Roman" charset="0"/>
              </a:rPr>
              <a:t>Tobacco for cigarette manufacturing </a:t>
            </a:r>
          </a:p>
          <a:p>
            <a:pPr>
              <a:buFontTx/>
              <a:buChar char="-"/>
            </a:pPr>
            <a:r>
              <a:rPr lang="en-US" sz="2000" dirty="0">
                <a:latin typeface="Times New Roman" charset="0"/>
                <a:ea typeface="Times New Roman" charset="0"/>
                <a:cs typeface="Times New Roman" charset="0"/>
              </a:rPr>
              <a:t>Sunflower and soybean for cooking oil Without crop production, </a:t>
            </a:r>
          </a:p>
          <a:p>
            <a:pPr>
              <a:buFontTx/>
              <a:buChar char="-"/>
            </a:pPr>
            <a:r>
              <a:rPr lang="en-US" sz="2000" dirty="0">
                <a:latin typeface="Times New Roman" charset="0"/>
                <a:ea typeface="Times New Roman" charset="0"/>
                <a:cs typeface="Times New Roman" charset="0"/>
              </a:rPr>
              <a:t>agro-based industries would collapse, leading to economic decline.</a:t>
            </a:r>
          </a:p>
        </p:txBody>
      </p:sp>
    </p:spTree>
    <p:extLst>
      <p:ext uri="{BB962C8B-B14F-4D97-AF65-F5344CB8AC3E}">
        <p14:creationId xmlns:p14="http://schemas.microsoft.com/office/powerpoint/2010/main" val="1069774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8426" y="324466"/>
            <a:ext cx="8239431" cy="530940"/>
          </a:xfrm>
        </p:spPr>
        <p:txBody>
          <a:bodyPr>
            <a:normAutofit fontScale="90000"/>
          </a:bodyPr>
          <a:lstStyle/>
          <a:p>
            <a:pPr algn="ctr"/>
            <a:r>
              <a:rPr lang="en-US" b="1" dirty="0">
                <a:latin typeface="Times New Roman" charset="0"/>
                <a:ea typeface="Times New Roman" charset="0"/>
                <a:cs typeface="Times New Roman" charset="0"/>
              </a:rPr>
              <a:t>The Importance of Crop Production</a:t>
            </a:r>
            <a:endParaRPr lang="en-US" b="1" dirty="0"/>
          </a:p>
        </p:txBody>
      </p:sp>
      <p:sp>
        <p:nvSpPr>
          <p:cNvPr id="3" name="Content Placeholder 2"/>
          <p:cNvSpPr>
            <a:spLocks noGrp="1"/>
          </p:cNvSpPr>
          <p:nvPr>
            <p:ph idx="1"/>
          </p:nvPr>
        </p:nvSpPr>
        <p:spPr>
          <a:xfrm>
            <a:off x="678426" y="1209368"/>
            <a:ext cx="7983793" cy="4256979"/>
          </a:xfrm>
        </p:spPr>
        <p:txBody>
          <a:bodyPr>
            <a:normAutofit fontScale="92500" lnSpcReduction="20000"/>
          </a:bodyPr>
          <a:lstStyle/>
          <a:p>
            <a:pPr marL="0" indent="0">
              <a:buNone/>
            </a:pPr>
            <a:r>
              <a:rPr lang="en-US" sz="2000" dirty="0">
                <a:latin typeface="Times New Roman" charset="0"/>
                <a:ea typeface="Times New Roman" charset="0"/>
                <a:cs typeface="Times New Roman" charset="0"/>
              </a:rPr>
              <a:t>4. CONTRIBUTION TO NATIONAL ECONOMY - Agriculture contributes significantly to Gross Domestic Product (GDP) in many African countries. Revenue from crop production supports government budgets through taxes and export earnings. A strong crop production sector stimulates growth in other sectors such as manufacturing, trade, and transport.</a:t>
            </a:r>
          </a:p>
          <a:p>
            <a:pPr marL="0" indent="0">
              <a:buNone/>
            </a:pPr>
            <a:r>
              <a:rPr lang="en-US" sz="2000" dirty="0">
                <a:latin typeface="Times New Roman" charset="0"/>
                <a:ea typeface="Times New Roman" charset="0"/>
                <a:cs typeface="Times New Roman" charset="0"/>
              </a:rPr>
              <a:t>4. RURAL DEVELOPMENT - Most farming activities take place in rural areas. Investment in crop production leads to the development of rural infrastructure such as roads, storage facilities, irrigation schemes, and markets. This improves the quality of life in rural communities. </a:t>
            </a:r>
          </a:p>
          <a:p>
            <a:pPr marL="0" indent="0">
              <a:buNone/>
            </a:pPr>
            <a:r>
              <a:rPr lang="en-US" sz="2000" dirty="0">
                <a:latin typeface="Times New Roman" charset="0"/>
                <a:ea typeface="Times New Roman" charset="0"/>
                <a:cs typeface="Times New Roman" charset="0"/>
              </a:rPr>
              <a:t>6. FOOD SECURITY AND NATIONAL STABILITY - A country that is able to produce enough food for its people enjoys social and political stability. Shortage of food often leads to high prices, hunger, and social unrest. Therefore, strong crop production systems are important for national peace and security.</a:t>
            </a:r>
          </a:p>
        </p:txBody>
      </p:sp>
    </p:spTree>
    <p:extLst>
      <p:ext uri="{BB962C8B-B14F-4D97-AF65-F5344CB8AC3E}">
        <p14:creationId xmlns:p14="http://schemas.microsoft.com/office/powerpoint/2010/main" val="1703835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93550"/>
          </a:xfrm>
        </p:spPr>
        <p:txBody>
          <a:bodyPr>
            <a:normAutofit fontScale="90000"/>
          </a:bodyPr>
          <a:lstStyle/>
          <a:p>
            <a:r>
              <a:rPr lang="en-US" sz="3200" dirty="0">
                <a:latin typeface="Times New Roman" charset="0"/>
                <a:ea typeface="Times New Roman" charset="0"/>
                <a:cs typeface="Times New Roman" charset="0"/>
              </a:rPr>
              <a:t>Shoot system: stem, leaves, buds, and flowers</a:t>
            </a:r>
            <a:endParaRPr lang="en-US" sz="3200" dirty="0"/>
          </a:p>
        </p:txBody>
      </p:sp>
      <p:sp>
        <p:nvSpPr>
          <p:cNvPr id="3" name="Content Placeholder 2"/>
          <p:cNvSpPr>
            <a:spLocks noGrp="1"/>
          </p:cNvSpPr>
          <p:nvPr>
            <p:ph idx="1"/>
          </p:nvPr>
        </p:nvSpPr>
        <p:spPr>
          <a:xfrm>
            <a:off x="226142" y="1065007"/>
            <a:ext cx="5545393" cy="4962167"/>
          </a:xfrm>
        </p:spPr>
        <p:txBody>
          <a:bodyPr>
            <a:normAutofit fontScale="62500" lnSpcReduction="20000"/>
          </a:bodyPr>
          <a:lstStyle/>
          <a:p>
            <a:pPr marL="0" indent="0">
              <a:buNone/>
            </a:pPr>
            <a:r>
              <a:rPr lang="en-US" sz="2400" dirty="0">
                <a:latin typeface="Times New Roman" charset="0"/>
                <a:ea typeface="Times New Roman" charset="0"/>
                <a:cs typeface="Times New Roman" charset="0"/>
              </a:rPr>
              <a:t>The shoot system refers to the above-ground part of a plant and is responsible for photosynthesis, reproduction, support, and transport of materials. It develops from the </a:t>
            </a:r>
            <a:r>
              <a:rPr lang="en-US" sz="2400" dirty="0" err="1">
                <a:latin typeface="Times New Roman" charset="0"/>
                <a:ea typeface="Times New Roman" charset="0"/>
                <a:cs typeface="Times New Roman" charset="0"/>
              </a:rPr>
              <a:t>plumule</a:t>
            </a:r>
            <a:r>
              <a:rPr lang="en-US" sz="2400" dirty="0">
                <a:latin typeface="Times New Roman" charset="0"/>
                <a:ea typeface="Times New Roman" charset="0"/>
                <a:cs typeface="Times New Roman" charset="0"/>
              </a:rPr>
              <a:t> of the embryo and consists of the stem, leaves, buds, and flowers. </a:t>
            </a:r>
          </a:p>
          <a:p>
            <a:pPr marL="0" indent="0">
              <a:buNone/>
            </a:pPr>
            <a:r>
              <a:rPr lang="en-US" sz="2400" dirty="0">
                <a:latin typeface="Times New Roman" charset="0"/>
                <a:ea typeface="Times New Roman" charset="0"/>
                <a:cs typeface="Times New Roman" charset="0"/>
              </a:rPr>
              <a:t> 1. Stem - The stem is the main supporting axis of the plant shoot system. </a:t>
            </a:r>
          </a:p>
          <a:p>
            <a:pPr marL="0" indent="0">
              <a:buNone/>
            </a:pPr>
            <a:r>
              <a:rPr lang="en-US" sz="2400" b="1" dirty="0">
                <a:latin typeface="Times New Roman" charset="0"/>
                <a:ea typeface="Times New Roman" charset="0"/>
                <a:cs typeface="Times New Roman" charset="0"/>
              </a:rPr>
              <a:t>Functions of the Stem </a:t>
            </a:r>
            <a:endParaRPr lang="en-US" sz="2400" dirty="0">
              <a:latin typeface="Times New Roman" charset="0"/>
              <a:ea typeface="Times New Roman" charset="0"/>
              <a:cs typeface="Times New Roman" charset="0"/>
            </a:endParaRPr>
          </a:p>
          <a:p>
            <a:pPr>
              <a:buFont typeface="Wingdings" charset="2"/>
              <a:buChar char="Ø"/>
            </a:pPr>
            <a:r>
              <a:rPr lang="en-US" sz="2400" dirty="0">
                <a:latin typeface="Times New Roman" charset="0"/>
                <a:ea typeface="Times New Roman" charset="0"/>
                <a:cs typeface="Times New Roman" charset="0"/>
              </a:rPr>
              <a:t>Supports leaves, flowers, and fruits. </a:t>
            </a:r>
          </a:p>
          <a:p>
            <a:pPr>
              <a:buFont typeface="Wingdings" charset="2"/>
              <a:buChar char="Ø"/>
            </a:pPr>
            <a:r>
              <a:rPr lang="en-US" sz="2400" dirty="0">
                <a:latin typeface="Times New Roman" charset="0"/>
                <a:ea typeface="Times New Roman" charset="0"/>
                <a:cs typeface="Times New Roman" charset="0"/>
              </a:rPr>
              <a:t>Conducts water and minerals from roots to leaves (xylem). </a:t>
            </a:r>
          </a:p>
          <a:p>
            <a:pPr>
              <a:buFont typeface="Wingdings" charset="2"/>
              <a:buChar char="Ø"/>
            </a:pPr>
            <a:r>
              <a:rPr lang="en-US" sz="2400" dirty="0">
                <a:latin typeface="Times New Roman" charset="0"/>
                <a:ea typeface="Times New Roman" charset="0"/>
                <a:cs typeface="Times New Roman" charset="0"/>
              </a:rPr>
              <a:t>Transports manufactured food to other plant parts (phloem). </a:t>
            </a:r>
          </a:p>
          <a:p>
            <a:pPr>
              <a:buFont typeface="Wingdings" charset="2"/>
              <a:buChar char="Ø"/>
            </a:pPr>
            <a:r>
              <a:rPr lang="en-US" sz="2400" dirty="0">
                <a:latin typeface="Times New Roman" charset="0"/>
                <a:ea typeface="Times New Roman" charset="0"/>
                <a:cs typeface="Times New Roman" charset="0"/>
              </a:rPr>
              <a:t>Stores food and performs photosynthesis in some plants. </a:t>
            </a:r>
            <a:endParaRPr lang="en-US" sz="2400" b="1" dirty="0">
              <a:latin typeface="Times New Roman" charset="0"/>
              <a:ea typeface="Times New Roman" charset="0"/>
              <a:cs typeface="Times New Roman" charset="0"/>
            </a:endParaRPr>
          </a:p>
          <a:p>
            <a:pPr marL="0" indent="0">
              <a:buNone/>
            </a:pPr>
            <a:r>
              <a:rPr lang="en-US" sz="2400" b="1" dirty="0">
                <a:latin typeface="Times New Roman" charset="0"/>
                <a:ea typeface="Times New Roman" charset="0"/>
                <a:cs typeface="Times New Roman" charset="0"/>
              </a:rPr>
              <a:t>Structural Features </a:t>
            </a:r>
            <a:endParaRPr lang="en-US" sz="2400" dirty="0">
              <a:latin typeface="Times New Roman" charset="0"/>
              <a:ea typeface="Times New Roman" charset="0"/>
              <a:cs typeface="Times New Roman" charset="0"/>
            </a:endParaRPr>
          </a:p>
          <a:p>
            <a:pPr>
              <a:buFont typeface="Wingdings" charset="2"/>
              <a:buChar char="Ø"/>
            </a:pPr>
            <a:r>
              <a:rPr lang="en-US" sz="2400" dirty="0">
                <a:latin typeface="Times New Roman" charset="0"/>
                <a:ea typeface="Times New Roman" charset="0"/>
                <a:cs typeface="Times New Roman" charset="0"/>
              </a:rPr>
              <a:t>Nodes – points where leaves and buds arise. </a:t>
            </a:r>
          </a:p>
          <a:p>
            <a:pPr>
              <a:buFont typeface="Wingdings" charset="2"/>
              <a:buChar char="Ø"/>
            </a:pPr>
            <a:r>
              <a:rPr lang="en-US" sz="2400" dirty="0">
                <a:latin typeface="Times New Roman" charset="0"/>
                <a:ea typeface="Times New Roman" charset="0"/>
                <a:cs typeface="Times New Roman" charset="0"/>
              </a:rPr>
              <a:t>Internodes – regions between nodes. </a:t>
            </a:r>
          </a:p>
          <a:p>
            <a:pPr>
              <a:buFont typeface="Wingdings" charset="2"/>
              <a:buChar char="Ø"/>
            </a:pPr>
            <a:r>
              <a:rPr lang="en-US" sz="2400" dirty="0">
                <a:latin typeface="Times New Roman" charset="0"/>
                <a:ea typeface="Times New Roman" charset="0"/>
                <a:cs typeface="Times New Roman" charset="0"/>
              </a:rPr>
              <a:t>May be herbaceous or woody. </a:t>
            </a:r>
          </a:p>
          <a:p>
            <a:pPr>
              <a:buFont typeface="Wingdings" charset="2"/>
              <a:buChar char="Ø"/>
            </a:pPr>
            <a:endParaRPr lang="en-US" sz="2000" dirty="0">
              <a:latin typeface="Times New Roman" charset="0"/>
              <a:ea typeface="Times New Roman" charset="0"/>
              <a:cs typeface="Times New Roman" charset="0"/>
            </a:endParaRP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2918" y="1041400"/>
            <a:ext cx="3173506" cy="4775200"/>
          </a:xfrm>
          <a:prstGeom prst="rect">
            <a:avLst/>
          </a:prstGeom>
        </p:spPr>
      </p:pic>
    </p:spTree>
    <p:extLst>
      <p:ext uri="{BB962C8B-B14F-4D97-AF65-F5344CB8AC3E}">
        <p14:creationId xmlns:p14="http://schemas.microsoft.com/office/powerpoint/2010/main" val="217010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4968" y="236669"/>
            <a:ext cx="5378245" cy="5761008"/>
          </a:xfrm>
        </p:spPr>
        <p:txBody>
          <a:bodyPr>
            <a:normAutofit fontScale="25000" lnSpcReduction="20000"/>
          </a:bodyPr>
          <a:lstStyle/>
          <a:p>
            <a:pPr marL="0" indent="0">
              <a:buNone/>
            </a:pPr>
            <a:r>
              <a:rPr lang="en-US" sz="6400" b="1" dirty="0">
                <a:latin typeface="Times New Roman" charset="0"/>
                <a:ea typeface="Times New Roman" charset="0"/>
                <a:cs typeface="Times New Roman" charset="0"/>
              </a:rPr>
              <a:t>2. Leaves - </a:t>
            </a:r>
            <a:r>
              <a:rPr lang="en-US" sz="6400" dirty="0">
                <a:latin typeface="Times New Roman" charset="0"/>
                <a:ea typeface="Times New Roman" charset="0"/>
                <a:cs typeface="Times New Roman" charset="0"/>
              </a:rPr>
              <a:t>Leaves are flat, green organs attached to the stem at nodes and are the primary sites of photosynthesis. </a:t>
            </a:r>
          </a:p>
          <a:p>
            <a:pPr marL="0" indent="0">
              <a:buNone/>
            </a:pPr>
            <a:r>
              <a:rPr lang="en-US" sz="6400" b="1" dirty="0">
                <a:solidFill>
                  <a:srgbClr val="0070C0"/>
                </a:solidFill>
                <a:latin typeface="Times New Roman" charset="0"/>
                <a:ea typeface="Times New Roman" charset="0"/>
                <a:cs typeface="Times New Roman" charset="0"/>
              </a:rPr>
              <a:t>Functions of Leaves </a:t>
            </a:r>
          </a:p>
          <a:p>
            <a:pPr>
              <a:buFont typeface="Wingdings" charset="2"/>
              <a:buChar char="Ø"/>
            </a:pPr>
            <a:r>
              <a:rPr lang="en-US" sz="6400" dirty="0">
                <a:latin typeface="Times New Roman" charset="0"/>
                <a:ea typeface="Times New Roman" charset="0"/>
                <a:cs typeface="Times New Roman" charset="0"/>
              </a:rPr>
              <a:t>Photosynthesis </a:t>
            </a:r>
          </a:p>
          <a:p>
            <a:pPr>
              <a:buFont typeface="Wingdings" charset="2"/>
              <a:buChar char="Ø"/>
            </a:pPr>
            <a:r>
              <a:rPr lang="en-US" sz="6400" dirty="0">
                <a:latin typeface="Times New Roman" charset="0"/>
                <a:ea typeface="Times New Roman" charset="0"/>
                <a:cs typeface="Times New Roman" charset="0"/>
              </a:rPr>
              <a:t>Transpiration </a:t>
            </a:r>
          </a:p>
          <a:p>
            <a:pPr>
              <a:buFont typeface="Wingdings" charset="2"/>
              <a:buChar char="Ø"/>
            </a:pPr>
            <a:r>
              <a:rPr lang="en-US" sz="6400" dirty="0">
                <a:latin typeface="Times New Roman" charset="0"/>
                <a:ea typeface="Times New Roman" charset="0"/>
                <a:cs typeface="Times New Roman" charset="0"/>
              </a:rPr>
              <a:t>Gaseous exchange </a:t>
            </a:r>
          </a:p>
          <a:p>
            <a:pPr>
              <a:buFont typeface="Wingdings" charset="2"/>
              <a:buChar char="Ø"/>
            </a:pPr>
            <a:r>
              <a:rPr lang="en-US" sz="6400" dirty="0">
                <a:latin typeface="Times New Roman" charset="0"/>
                <a:ea typeface="Times New Roman" charset="0"/>
                <a:cs typeface="Times New Roman" charset="0"/>
              </a:rPr>
              <a:t>Storage in some plants </a:t>
            </a:r>
          </a:p>
          <a:p>
            <a:pPr marL="0" indent="0">
              <a:buNone/>
            </a:pPr>
            <a:r>
              <a:rPr lang="en-US" sz="6400" b="1" dirty="0">
                <a:solidFill>
                  <a:srgbClr val="0070C0"/>
                </a:solidFill>
                <a:latin typeface="Times New Roman" charset="0"/>
                <a:ea typeface="Times New Roman" charset="0"/>
                <a:cs typeface="Times New Roman" charset="0"/>
              </a:rPr>
              <a:t>Parts of a Leaf </a:t>
            </a:r>
            <a:endParaRPr lang="en-US" sz="6400" dirty="0">
              <a:solidFill>
                <a:srgbClr val="0070C0"/>
              </a:solidFill>
              <a:latin typeface="Times New Roman" charset="0"/>
              <a:ea typeface="Times New Roman" charset="0"/>
              <a:cs typeface="Times New Roman" charset="0"/>
            </a:endParaRPr>
          </a:p>
          <a:p>
            <a:pPr>
              <a:buFont typeface="Wingdings" charset="2"/>
              <a:buChar char="Ø"/>
            </a:pPr>
            <a:r>
              <a:rPr lang="en-US" sz="6400" dirty="0">
                <a:latin typeface="Times New Roman" charset="0"/>
                <a:ea typeface="Times New Roman" charset="0"/>
                <a:cs typeface="Times New Roman" charset="0"/>
              </a:rPr>
              <a:t>Leaf base </a:t>
            </a:r>
          </a:p>
          <a:p>
            <a:pPr>
              <a:buFont typeface="Wingdings" charset="2"/>
              <a:buChar char="Ø"/>
            </a:pPr>
            <a:r>
              <a:rPr lang="en-US" sz="6400" dirty="0">
                <a:latin typeface="Times New Roman" charset="0"/>
                <a:ea typeface="Times New Roman" charset="0"/>
                <a:cs typeface="Times New Roman" charset="0"/>
              </a:rPr>
              <a:t>Petiole </a:t>
            </a:r>
          </a:p>
          <a:p>
            <a:pPr>
              <a:buFont typeface="Wingdings" charset="2"/>
              <a:buChar char="Ø"/>
            </a:pPr>
            <a:r>
              <a:rPr lang="en-US" sz="6400" dirty="0">
                <a:latin typeface="Times New Roman" charset="0"/>
                <a:ea typeface="Times New Roman" charset="0"/>
                <a:cs typeface="Times New Roman" charset="0"/>
              </a:rPr>
              <a:t>Lamina (leaf blade) </a:t>
            </a:r>
          </a:p>
          <a:p>
            <a:pPr marL="0" indent="0">
              <a:buNone/>
            </a:pPr>
            <a:r>
              <a:rPr lang="en-US" sz="6400" b="1" dirty="0">
                <a:latin typeface="Times New Roman" charset="0"/>
                <a:ea typeface="Times New Roman" charset="0"/>
                <a:cs typeface="Times New Roman" charset="0"/>
              </a:rPr>
              <a:t>3. Buds - </a:t>
            </a:r>
            <a:r>
              <a:rPr lang="en-US" sz="6400" dirty="0">
                <a:latin typeface="Times New Roman" charset="0"/>
                <a:ea typeface="Times New Roman" charset="0"/>
                <a:cs typeface="Times New Roman" charset="0"/>
              </a:rPr>
              <a:t>Buds are undeveloped or embryonic shoots that give rise to new branches or flowers. </a:t>
            </a:r>
            <a:r>
              <a:rPr lang="en-US" sz="6400" b="1" dirty="0">
                <a:latin typeface="Times New Roman" charset="0"/>
                <a:ea typeface="Times New Roman" charset="0"/>
                <a:cs typeface="Times New Roman" charset="0"/>
              </a:rPr>
              <a:t>Types of Buds </a:t>
            </a:r>
            <a:endParaRPr lang="en-US" sz="6400" dirty="0">
              <a:latin typeface="Times New Roman" charset="0"/>
              <a:ea typeface="Times New Roman" charset="0"/>
              <a:cs typeface="Times New Roman" charset="0"/>
            </a:endParaRPr>
          </a:p>
          <a:p>
            <a:pPr>
              <a:buFont typeface="Wingdings" charset="2"/>
              <a:buChar char="Ø"/>
            </a:pPr>
            <a:r>
              <a:rPr lang="en-US" sz="6400" dirty="0">
                <a:latin typeface="Times New Roman" charset="0"/>
                <a:ea typeface="Times New Roman" charset="0"/>
                <a:cs typeface="Times New Roman" charset="0"/>
              </a:rPr>
              <a:t>Apical buds – responsible for increase in length </a:t>
            </a:r>
          </a:p>
          <a:p>
            <a:pPr>
              <a:buFont typeface="Wingdings" charset="2"/>
              <a:buChar char="Ø"/>
            </a:pPr>
            <a:r>
              <a:rPr lang="en-US" sz="6400" dirty="0">
                <a:latin typeface="Times New Roman" charset="0"/>
                <a:ea typeface="Times New Roman" charset="0"/>
                <a:cs typeface="Times New Roman" charset="0"/>
              </a:rPr>
              <a:t>Axillary buds – form branches or flowers </a:t>
            </a:r>
          </a:p>
          <a:p>
            <a:pPr>
              <a:buFont typeface="Wingdings" charset="2"/>
              <a:buChar char="Ø"/>
            </a:pPr>
            <a:r>
              <a:rPr lang="en-US" sz="6400" dirty="0">
                <a:latin typeface="Times New Roman" charset="0"/>
                <a:ea typeface="Times New Roman" charset="0"/>
                <a:cs typeface="Times New Roman" charset="0"/>
              </a:rPr>
              <a:t>Adventitious buds – arise from unusual positions </a:t>
            </a:r>
          </a:p>
          <a:p>
            <a:pPr>
              <a:buFont typeface="Wingdings" charset="2"/>
              <a:buChar char="Ø"/>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3213" y="707923"/>
            <a:ext cx="3244876" cy="4892777"/>
          </a:xfrm>
          <a:prstGeom prst="rect">
            <a:avLst/>
          </a:prstGeom>
        </p:spPr>
      </p:pic>
    </p:spTree>
    <p:extLst>
      <p:ext uri="{BB962C8B-B14F-4D97-AF65-F5344CB8AC3E}">
        <p14:creationId xmlns:p14="http://schemas.microsoft.com/office/powerpoint/2010/main" val="1108537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781" y="324465"/>
            <a:ext cx="7533053" cy="5141881"/>
          </a:xfrm>
        </p:spPr>
        <p:txBody>
          <a:bodyPr>
            <a:normAutofit fontScale="70000" lnSpcReduction="20000"/>
          </a:bodyPr>
          <a:lstStyle/>
          <a:p>
            <a:pPr marL="0" indent="0">
              <a:buNone/>
            </a:pPr>
            <a:r>
              <a:rPr lang="en-US" sz="2900" dirty="0">
                <a:latin typeface="Times New Roman" charset="0"/>
                <a:ea typeface="Times New Roman" charset="0"/>
                <a:cs typeface="Times New Roman" charset="0"/>
              </a:rPr>
              <a:t>4. Flowers - are the reproductive structures of flowering plants and are involved in sexual reproduction. </a:t>
            </a:r>
          </a:p>
          <a:p>
            <a:pPr marL="0" indent="0">
              <a:buNone/>
            </a:pPr>
            <a:r>
              <a:rPr lang="en-US" sz="2900" b="1" dirty="0">
                <a:latin typeface="Times New Roman" charset="0"/>
                <a:ea typeface="Times New Roman" charset="0"/>
                <a:cs typeface="Times New Roman" charset="0"/>
              </a:rPr>
              <a:t>Main Parts of a Flower </a:t>
            </a:r>
            <a:endParaRPr lang="en-US" sz="2900" dirty="0">
              <a:latin typeface="Times New Roman" charset="0"/>
              <a:ea typeface="Times New Roman" charset="0"/>
              <a:cs typeface="Times New Roman" charset="0"/>
            </a:endParaRPr>
          </a:p>
          <a:p>
            <a:pPr>
              <a:buFont typeface="Wingdings" charset="2"/>
              <a:buChar char="ü"/>
            </a:pPr>
            <a:r>
              <a:rPr lang="en-US" sz="2900" dirty="0">
                <a:latin typeface="Times New Roman" charset="0"/>
                <a:ea typeface="Times New Roman" charset="0"/>
                <a:cs typeface="Times New Roman" charset="0"/>
              </a:rPr>
              <a:t>Calyx (sepals) – protection </a:t>
            </a:r>
          </a:p>
          <a:p>
            <a:pPr>
              <a:buFont typeface="Wingdings" charset="2"/>
              <a:buChar char="ü"/>
            </a:pPr>
            <a:r>
              <a:rPr lang="en-US" sz="2900" dirty="0">
                <a:latin typeface="Times New Roman" charset="0"/>
                <a:ea typeface="Times New Roman" charset="0"/>
                <a:cs typeface="Times New Roman" charset="0"/>
              </a:rPr>
              <a:t>Corolla (petals) – attraction of pollinators </a:t>
            </a:r>
          </a:p>
          <a:p>
            <a:pPr>
              <a:buFont typeface="Wingdings" charset="2"/>
              <a:buChar char="ü"/>
            </a:pPr>
            <a:r>
              <a:rPr lang="en-US" sz="2900" dirty="0">
                <a:latin typeface="Times New Roman" charset="0"/>
                <a:ea typeface="Times New Roman" charset="0"/>
                <a:cs typeface="Times New Roman" charset="0"/>
              </a:rPr>
              <a:t>Androecium (stamens) – male reproductive part </a:t>
            </a:r>
          </a:p>
          <a:p>
            <a:pPr>
              <a:buFont typeface="Wingdings" charset="2"/>
              <a:buChar char="ü"/>
            </a:pPr>
            <a:r>
              <a:rPr lang="en-US" sz="2900" dirty="0">
                <a:latin typeface="Times New Roman" charset="0"/>
                <a:ea typeface="Times New Roman" charset="0"/>
                <a:cs typeface="Times New Roman" charset="0"/>
              </a:rPr>
              <a:t>Gynoecium (pistil/carpel) – female reproductive part </a:t>
            </a:r>
          </a:p>
          <a:p>
            <a:pPr marL="0" indent="0">
              <a:buNone/>
            </a:pPr>
            <a:r>
              <a:rPr lang="en-US" sz="2900" dirty="0">
                <a:latin typeface="Times New Roman" charset="0"/>
                <a:ea typeface="Times New Roman" charset="0"/>
                <a:cs typeface="Times New Roman" charset="0"/>
              </a:rPr>
              <a:t>Importance of the Shoot System </a:t>
            </a:r>
          </a:p>
          <a:p>
            <a:pPr>
              <a:buFont typeface="Wingdings" charset="2"/>
              <a:buChar char="ü"/>
            </a:pPr>
            <a:r>
              <a:rPr lang="en-US" sz="2900" dirty="0">
                <a:latin typeface="Times New Roman" charset="0"/>
                <a:ea typeface="Times New Roman" charset="0"/>
                <a:cs typeface="Times New Roman" charset="0"/>
              </a:rPr>
              <a:t>Essential for photosynthesis and food production. </a:t>
            </a:r>
          </a:p>
          <a:p>
            <a:pPr>
              <a:buFont typeface="Wingdings" charset="2"/>
              <a:buChar char="ü"/>
            </a:pPr>
            <a:r>
              <a:rPr lang="en-US" sz="2900" dirty="0">
                <a:latin typeface="Times New Roman" charset="0"/>
                <a:ea typeface="Times New Roman" charset="0"/>
                <a:cs typeface="Times New Roman" charset="0"/>
              </a:rPr>
              <a:t>Determines crop yield and productivity. </a:t>
            </a:r>
          </a:p>
          <a:p>
            <a:pPr>
              <a:buFont typeface="Wingdings" charset="2"/>
              <a:buChar char="ü"/>
            </a:pPr>
            <a:r>
              <a:rPr lang="en-US" sz="2900" dirty="0">
                <a:latin typeface="Times New Roman" charset="0"/>
                <a:ea typeface="Times New Roman" charset="0"/>
                <a:cs typeface="Times New Roman" charset="0"/>
              </a:rPr>
              <a:t>Important in agricultural practices such as pruning and pest control. </a:t>
            </a:r>
          </a:p>
          <a:p>
            <a:endParaRPr lang="en-US" dirty="0"/>
          </a:p>
        </p:txBody>
      </p:sp>
    </p:spTree>
    <p:extLst>
      <p:ext uri="{BB962C8B-B14F-4D97-AF65-F5344CB8AC3E}">
        <p14:creationId xmlns:p14="http://schemas.microsoft.com/office/powerpoint/2010/main" val="1940599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066"/>
          </a:xfrm>
        </p:spPr>
        <p:txBody>
          <a:bodyPr>
            <a:normAutofit fontScale="90000"/>
          </a:bodyPr>
          <a:lstStyle/>
          <a:p>
            <a:r>
              <a:rPr lang="en-US" sz="3200" b="1" dirty="0">
                <a:latin typeface="Times New Roman" charset="0"/>
                <a:ea typeface="Times New Roman" charset="0"/>
                <a:cs typeface="Times New Roman" charset="0"/>
              </a:rPr>
              <a:t>Root system: tap roots and fibrous roots</a:t>
            </a:r>
            <a:endParaRPr lang="en-US" sz="3200" b="1" dirty="0"/>
          </a:p>
        </p:txBody>
      </p:sp>
      <p:sp>
        <p:nvSpPr>
          <p:cNvPr id="3" name="Content Placeholder 2"/>
          <p:cNvSpPr>
            <a:spLocks noGrp="1"/>
          </p:cNvSpPr>
          <p:nvPr>
            <p:ph idx="1"/>
          </p:nvPr>
        </p:nvSpPr>
        <p:spPr>
          <a:xfrm>
            <a:off x="457200" y="1101212"/>
            <a:ext cx="8229600" cy="5024951"/>
          </a:xfrm>
        </p:spPr>
        <p:txBody>
          <a:bodyPr>
            <a:normAutofit/>
          </a:bodyPr>
          <a:lstStyle/>
          <a:p>
            <a:pPr marL="0" indent="0">
              <a:buNone/>
            </a:pPr>
            <a:r>
              <a:rPr lang="en-US" sz="2000" dirty="0">
                <a:latin typeface="Times New Roman" charset="0"/>
                <a:ea typeface="Times New Roman" charset="0"/>
                <a:cs typeface="Times New Roman" charset="0"/>
              </a:rPr>
              <a:t>The root system is the underground part of a plant that plays a critical role in anchorage, absorption of water and mineral nutrients, storage of food, and synthesis of plant growth regulators. Based on their origin, structure, and growth pattern, root systems are broadly classified into two main types: the tap root system and the fibrous root system. </a:t>
            </a:r>
          </a:p>
          <a:p>
            <a:pPr marL="0" indent="0">
              <a:buNone/>
            </a:pPr>
            <a:r>
              <a:rPr lang="en-US" sz="2000" b="1" dirty="0">
                <a:latin typeface="Times New Roman" charset="0"/>
                <a:ea typeface="Times New Roman" charset="0"/>
                <a:cs typeface="Times New Roman" charset="0"/>
              </a:rPr>
              <a:t>General Functions of Roots </a:t>
            </a:r>
            <a:endParaRPr lang="en-US" sz="2000" dirty="0">
              <a:latin typeface="Times New Roman" charset="0"/>
              <a:ea typeface="Times New Roman" charset="0"/>
              <a:cs typeface="Times New Roman" charset="0"/>
            </a:endParaRPr>
          </a:p>
          <a:p>
            <a:pPr marL="0" indent="0">
              <a:buNone/>
            </a:pPr>
            <a:r>
              <a:rPr lang="en-US" sz="2000" dirty="0">
                <a:latin typeface="Times New Roman" charset="0"/>
                <a:ea typeface="Times New Roman" charset="0"/>
                <a:cs typeface="Times New Roman" charset="0"/>
              </a:rPr>
              <a:t>Anchorage of the plant in the soil. </a:t>
            </a:r>
          </a:p>
          <a:p>
            <a:pPr marL="0" indent="0">
              <a:buNone/>
            </a:pPr>
            <a:r>
              <a:rPr lang="en-US" sz="2000" dirty="0">
                <a:latin typeface="Times New Roman" charset="0"/>
                <a:ea typeface="Times New Roman" charset="0"/>
                <a:cs typeface="Times New Roman" charset="0"/>
              </a:rPr>
              <a:t>Absorption of water and mineral nutrients.  </a:t>
            </a:r>
          </a:p>
          <a:p>
            <a:pPr marL="0" indent="0">
              <a:buNone/>
            </a:pPr>
            <a:r>
              <a:rPr lang="en-US" sz="2000" dirty="0">
                <a:latin typeface="Times New Roman" charset="0"/>
                <a:ea typeface="Times New Roman" charset="0"/>
                <a:cs typeface="Times New Roman" charset="0"/>
              </a:rPr>
              <a:t>Storage of reserve food materials.  </a:t>
            </a:r>
          </a:p>
          <a:p>
            <a:pPr marL="0" indent="0">
              <a:buNone/>
            </a:pPr>
            <a:r>
              <a:rPr lang="en-US" sz="2000" dirty="0">
                <a:latin typeface="Times New Roman" charset="0"/>
                <a:ea typeface="Times New Roman" charset="0"/>
                <a:cs typeface="Times New Roman" charset="0"/>
              </a:rPr>
              <a:t>Conduction of absorbed materials to aerial parts.  </a:t>
            </a:r>
          </a:p>
          <a:p>
            <a:pPr marL="0" indent="0">
              <a:buNone/>
            </a:pPr>
            <a:r>
              <a:rPr lang="en-US" sz="2000" dirty="0">
                <a:latin typeface="Times New Roman" charset="0"/>
                <a:ea typeface="Times New Roman" charset="0"/>
                <a:cs typeface="Times New Roman" charset="0"/>
              </a:rPr>
              <a:t>Synthesis of plant hormones such as </a:t>
            </a:r>
            <a:r>
              <a:rPr lang="en-US" sz="2000" dirty="0" err="1">
                <a:latin typeface="Times New Roman" charset="0"/>
                <a:ea typeface="Times New Roman" charset="0"/>
                <a:cs typeface="Times New Roman" charset="0"/>
              </a:rPr>
              <a:t>cytokinins</a:t>
            </a:r>
            <a:r>
              <a:rPr lang="en-US" sz="2000" dirty="0">
                <a:latin typeface="Times New Roman" charset="0"/>
                <a:ea typeface="Times New Roman" charset="0"/>
                <a:cs typeface="Times New Roman" charset="0"/>
              </a:rPr>
              <a:t> and gibberellins.</a:t>
            </a:r>
          </a:p>
        </p:txBody>
      </p:sp>
    </p:spTree>
    <p:extLst>
      <p:ext uri="{BB962C8B-B14F-4D97-AF65-F5344CB8AC3E}">
        <p14:creationId xmlns:p14="http://schemas.microsoft.com/office/powerpoint/2010/main" val="168488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01127"/>
          </a:xfrm>
        </p:spPr>
        <p:txBody>
          <a:bodyPr>
            <a:normAutofit/>
          </a:bodyPr>
          <a:lstStyle/>
          <a:p>
            <a:pPr algn="ctr"/>
            <a:r>
              <a:rPr lang="en-US" sz="3200" b="1" dirty="0">
                <a:latin typeface="Times New Roman" charset="0"/>
                <a:ea typeface="Times New Roman" charset="0"/>
                <a:cs typeface="Times New Roman" charset="0"/>
              </a:rPr>
              <a:t>Tap Root System</a:t>
            </a:r>
            <a:endParaRPr lang="en-US" sz="3200" b="1" dirty="0"/>
          </a:p>
        </p:txBody>
      </p:sp>
      <p:sp>
        <p:nvSpPr>
          <p:cNvPr id="3" name="Content Placeholder 2"/>
          <p:cNvSpPr>
            <a:spLocks noGrp="1"/>
          </p:cNvSpPr>
          <p:nvPr>
            <p:ph idx="1"/>
          </p:nvPr>
        </p:nvSpPr>
        <p:spPr>
          <a:xfrm>
            <a:off x="589935" y="2015733"/>
            <a:ext cx="8096865" cy="3450613"/>
          </a:xfrm>
        </p:spPr>
        <p:txBody>
          <a:bodyPr>
            <a:normAutofit fontScale="85000" lnSpcReduction="10000"/>
          </a:bodyPr>
          <a:lstStyle/>
          <a:p>
            <a:pPr marL="0" indent="0">
              <a:buNone/>
            </a:pPr>
            <a:r>
              <a:rPr lang="en-US" sz="2000" dirty="0">
                <a:latin typeface="Times New Roman" charset="0"/>
                <a:ea typeface="Times New Roman" charset="0"/>
                <a:cs typeface="Times New Roman" charset="0"/>
              </a:rPr>
              <a:t>Tap Root System The tap root system develops from the radicle of the germinating seed. The radicle grows vertically downward into the soil to form a prominent primary root called the tap root. This main root gives rise to secondary (lateral) and tertiary roots. </a:t>
            </a:r>
          </a:p>
          <a:p>
            <a:pPr marL="0" indent="0">
              <a:buNone/>
            </a:pPr>
            <a:r>
              <a:rPr lang="en-US" sz="2000" b="1" dirty="0">
                <a:latin typeface="Times New Roman" charset="0"/>
                <a:ea typeface="Times New Roman" charset="0"/>
                <a:cs typeface="Times New Roman" charset="0"/>
              </a:rPr>
              <a:t>Characteristics of Tap Root System. </a:t>
            </a:r>
          </a:p>
          <a:p>
            <a:pPr>
              <a:buFont typeface="Wingdings" charset="2"/>
              <a:buChar char="Ø"/>
            </a:pPr>
            <a:r>
              <a:rPr lang="en-US" sz="2000" dirty="0">
                <a:latin typeface="Times New Roman" charset="0"/>
                <a:ea typeface="Times New Roman" charset="0"/>
                <a:cs typeface="Times New Roman" charset="0"/>
              </a:rPr>
              <a:t>Presence of a single, thick, primary root (tap root). </a:t>
            </a:r>
          </a:p>
          <a:p>
            <a:pPr>
              <a:buFont typeface="Wingdings" charset="2"/>
              <a:buChar char="Ø"/>
            </a:pPr>
            <a:r>
              <a:rPr lang="en-US" sz="2000" dirty="0">
                <a:latin typeface="Times New Roman" charset="0"/>
                <a:ea typeface="Times New Roman" charset="0"/>
                <a:cs typeface="Times New Roman" charset="0"/>
              </a:rPr>
              <a:t>Lateral roots arise from the main root. </a:t>
            </a:r>
          </a:p>
          <a:p>
            <a:pPr>
              <a:buFont typeface="Wingdings" charset="2"/>
              <a:buChar char="Ø"/>
            </a:pPr>
            <a:r>
              <a:rPr lang="en-US" sz="2000" dirty="0">
                <a:latin typeface="Times New Roman" charset="0"/>
                <a:ea typeface="Times New Roman" charset="0"/>
                <a:cs typeface="Times New Roman" charset="0"/>
              </a:rPr>
              <a:t>Deep penetration into the soil. </a:t>
            </a:r>
          </a:p>
          <a:p>
            <a:pPr>
              <a:buFont typeface="Wingdings" charset="2"/>
              <a:buChar char="Ø"/>
            </a:pPr>
            <a:r>
              <a:rPr lang="en-US" sz="2000" dirty="0">
                <a:latin typeface="Times New Roman" charset="0"/>
                <a:ea typeface="Times New Roman" charset="0"/>
                <a:cs typeface="Times New Roman" charset="0"/>
              </a:rPr>
              <a:t>Strong anchorage to the plant. </a:t>
            </a:r>
          </a:p>
          <a:p>
            <a:pPr>
              <a:buFont typeface="Wingdings" charset="2"/>
              <a:buChar char="Ø"/>
            </a:pPr>
            <a:r>
              <a:rPr lang="en-US" sz="2000" dirty="0">
                <a:latin typeface="Times New Roman" charset="0"/>
                <a:ea typeface="Times New Roman" charset="0"/>
                <a:cs typeface="Times New Roman" charset="0"/>
              </a:rPr>
              <a:t>Capable of accessing deep soil moisture.</a:t>
            </a:r>
          </a:p>
        </p:txBody>
      </p:sp>
    </p:spTree>
    <p:extLst>
      <p:ext uri="{BB962C8B-B14F-4D97-AF65-F5344CB8AC3E}">
        <p14:creationId xmlns:p14="http://schemas.microsoft.com/office/powerpoint/2010/main" val="1376108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823"/>
          </a:xfrm>
        </p:spPr>
        <p:txBody>
          <a:bodyPr>
            <a:normAutofit/>
          </a:bodyPr>
          <a:lstStyle/>
          <a:p>
            <a:pPr algn="ctr"/>
            <a:r>
              <a:rPr lang="en-US" sz="3200" b="1" dirty="0">
                <a:latin typeface="Times New Roman" charset="0"/>
                <a:ea typeface="Times New Roman" charset="0"/>
                <a:cs typeface="Times New Roman" charset="0"/>
              </a:rPr>
              <a:t>Fibrous Root System</a:t>
            </a:r>
            <a:endParaRPr lang="en-US" sz="3200" b="1" dirty="0"/>
          </a:p>
        </p:txBody>
      </p:sp>
      <p:sp>
        <p:nvSpPr>
          <p:cNvPr id="3" name="Content Placeholder 2"/>
          <p:cNvSpPr>
            <a:spLocks noGrp="1"/>
          </p:cNvSpPr>
          <p:nvPr>
            <p:ph idx="1"/>
          </p:nvPr>
        </p:nvSpPr>
        <p:spPr>
          <a:xfrm>
            <a:off x="457200" y="1406013"/>
            <a:ext cx="8155857" cy="4345858"/>
          </a:xfrm>
        </p:spPr>
        <p:txBody>
          <a:bodyPr>
            <a:normAutofit/>
          </a:bodyPr>
          <a:lstStyle/>
          <a:p>
            <a:pPr marL="0" indent="0">
              <a:buNone/>
            </a:pPr>
            <a:r>
              <a:rPr lang="en-US" sz="2000" dirty="0">
                <a:latin typeface="Times New Roman" charset="0"/>
                <a:ea typeface="Times New Roman" charset="0"/>
                <a:cs typeface="Times New Roman" charset="0"/>
              </a:rPr>
              <a:t>Fibrous Root System The fibrous root system develops when the radicle is short-lived and replaced by a large number of thin roots that arise from the base of the stem. These roots are almost equal in size and form a dense mat. </a:t>
            </a:r>
          </a:p>
          <a:p>
            <a:pPr marL="0" indent="0">
              <a:buNone/>
            </a:pPr>
            <a:r>
              <a:rPr lang="en-US" sz="2000" b="1" dirty="0">
                <a:latin typeface="Times New Roman" charset="0"/>
                <a:ea typeface="Times New Roman" charset="0"/>
                <a:cs typeface="Times New Roman" charset="0"/>
              </a:rPr>
              <a:t>Characteristics of Fibrous Root System.</a:t>
            </a:r>
          </a:p>
          <a:p>
            <a:pPr>
              <a:buFont typeface="Wingdings" charset="2"/>
              <a:buChar char="Ø"/>
            </a:pPr>
            <a:r>
              <a:rPr lang="en-US" sz="2000" dirty="0">
                <a:latin typeface="Times New Roman" charset="0"/>
                <a:ea typeface="Times New Roman" charset="0"/>
                <a:cs typeface="Times New Roman" charset="0"/>
              </a:rPr>
              <a:t>Absence of a dominant main root.</a:t>
            </a:r>
          </a:p>
          <a:p>
            <a:pPr>
              <a:buFont typeface="Wingdings" charset="2"/>
              <a:buChar char="Ø"/>
            </a:pPr>
            <a:r>
              <a:rPr lang="en-US" sz="2000" dirty="0">
                <a:latin typeface="Times New Roman" charset="0"/>
                <a:ea typeface="Times New Roman" charset="0"/>
                <a:cs typeface="Times New Roman" charset="0"/>
              </a:rPr>
              <a:t>Numerous thin roots of similar size.</a:t>
            </a:r>
          </a:p>
          <a:p>
            <a:pPr>
              <a:buFont typeface="Wingdings" charset="2"/>
              <a:buChar char="Ø"/>
            </a:pPr>
            <a:r>
              <a:rPr lang="en-US" sz="2000" dirty="0">
                <a:latin typeface="Times New Roman" charset="0"/>
                <a:ea typeface="Times New Roman" charset="0"/>
                <a:cs typeface="Times New Roman" charset="0"/>
              </a:rPr>
              <a:t>Shallow spread in the upper soil layers.</a:t>
            </a:r>
          </a:p>
          <a:p>
            <a:pPr>
              <a:buFont typeface="Wingdings" charset="2"/>
              <a:buChar char="Ø"/>
            </a:pPr>
            <a:r>
              <a:rPr lang="en-US" sz="2000" dirty="0">
                <a:latin typeface="Times New Roman" charset="0"/>
                <a:ea typeface="Times New Roman" charset="0"/>
                <a:cs typeface="Times New Roman" charset="0"/>
              </a:rPr>
              <a:t>Less deep penetration compared to tap roots. </a:t>
            </a:r>
          </a:p>
          <a:p>
            <a:pPr>
              <a:buFont typeface="Wingdings" charset="2"/>
              <a:buChar char="Ø"/>
            </a:pPr>
            <a:r>
              <a:rPr lang="en-US" sz="2000" dirty="0">
                <a:latin typeface="Times New Roman" charset="0"/>
                <a:ea typeface="Times New Roman" charset="0"/>
                <a:cs typeface="Times New Roman" charset="0"/>
              </a:rPr>
              <a:t>Efficient in quick absorption of surface water.</a:t>
            </a:r>
          </a:p>
        </p:txBody>
      </p:sp>
    </p:spTree>
    <p:extLst>
      <p:ext uri="{BB962C8B-B14F-4D97-AF65-F5344CB8AC3E}">
        <p14:creationId xmlns:p14="http://schemas.microsoft.com/office/powerpoint/2010/main" val="19599708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0768"/>
          </a:xfrm>
        </p:spPr>
        <p:txBody>
          <a:bodyPr>
            <a:normAutofit/>
          </a:bodyPr>
          <a:lstStyle/>
          <a:p>
            <a:pPr algn="ctr"/>
            <a:r>
              <a:rPr lang="en-US" b="1" dirty="0">
                <a:latin typeface="Times New Roman" charset="0"/>
                <a:ea typeface="Times New Roman" charset="0"/>
                <a:cs typeface="Times New Roman" charset="0"/>
              </a:rPr>
              <a:t>Plant Tissues</a:t>
            </a:r>
          </a:p>
        </p:txBody>
      </p:sp>
      <p:sp>
        <p:nvSpPr>
          <p:cNvPr id="3" name="Content Placeholder 2"/>
          <p:cNvSpPr>
            <a:spLocks noGrp="1"/>
          </p:cNvSpPr>
          <p:nvPr>
            <p:ph idx="1"/>
          </p:nvPr>
        </p:nvSpPr>
        <p:spPr>
          <a:xfrm>
            <a:off x="457200" y="1032734"/>
            <a:ext cx="8229600" cy="5093430"/>
          </a:xfrm>
        </p:spPr>
        <p:txBody>
          <a:bodyPr>
            <a:normAutofit/>
          </a:bodyPr>
          <a:lstStyle/>
          <a:p>
            <a:r>
              <a:rPr lang="en-US" sz="2000" dirty="0">
                <a:latin typeface="Times New Roman" charset="0"/>
                <a:ea typeface="Times New Roman" charset="0"/>
                <a:cs typeface="Times New Roman" charset="0"/>
              </a:rPr>
              <a:t>A tissue is a cluster of cells, that are alike in configuration and work together to attain a specific function.  Different types of plant tissues include permanent and meristematic tissues.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500" y="2399071"/>
            <a:ext cx="8054041" cy="3023828"/>
          </a:xfrm>
          <a:prstGeom prst="rect">
            <a:avLst/>
          </a:prstGeom>
        </p:spPr>
      </p:pic>
    </p:spTree>
    <p:extLst>
      <p:ext uri="{BB962C8B-B14F-4D97-AF65-F5344CB8AC3E}">
        <p14:creationId xmlns:p14="http://schemas.microsoft.com/office/powerpoint/2010/main" val="1836997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2595"/>
          </a:xfrm>
        </p:spPr>
        <p:txBody>
          <a:bodyPr>
            <a:normAutofit/>
          </a:bodyPr>
          <a:lstStyle/>
          <a:p>
            <a:pPr algn="ctr"/>
            <a:r>
              <a:rPr lang="en-US" sz="3200" b="1" dirty="0">
                <a:latin typeface="Times New Roman" charset="0"/>
                <a:ea typeface="Times New Roman" charset="0"/>
                <a:cs typeface="Times New Roman" charset="0"/>
              </a:rPr>
              <a:t>Meristematic Tissues</a:t>
            </a:r>
            <a:endParaRPr lang="en-US" sz="3200" dirty="0">
              <a:latin typeface="Times New Roman" charset="0"/>
              <a:ea typeface="Times New Roman" charset="0"/>
              <a:cs typeface="Times New Roman" charset="0"/>
            </a:endParaRPr>
          </a:p>
        </p:txBody>
      </p:sp>
      <p:sp>
        <p:nvSpPr>
          <p:cNvPr id="3" name="Content Placeholder 2"/>
          <p:cNvSpPr>
            <a:spLocks noGrp="1"/>
          </p:cNvSpPr>
          <p:nvPr>
            <p:ph idx="1"/>
          </p:nvPr>
        </p:nvSpPr>
        <p:spPr>
          <a:xfrm>
            <a:off x="457201" y="1194098"/>
            <a:ext cx="5265868" cy="4932066"/>
          </a:xfrm>
        </p:spPr>
        <p:txBody>
          <a:bodyPr>
            <a:normAutofit fontScale="77500" lnSpcReduction="20000"/>
          </a:bodyPr>
          <a:lstStyle/>
          <a:p>
            <a:pPr marL="0" indent="0">
              <a:buNone/>
            </a:pPr>
            <a:r>
              <a:rPr lang="en-US" sz="2400" dirty="0">
                <a:latin typeface="Times New Roman" charset="0"/>
                <a:ea typeface="Times New Roman" charset="0"/>
                <a:cs typeface="Times New Roman" charset="0"/>
              </a:rPr>
              <a:t>The main function of meristematic tissue is mitosis. The cells are small, thin-walled, with no central vacuole and no specialized features. Depending on the section where the meristematic tissues are existing, they are categorized as intercalary, lateral and apical meristems.</a:t>
            </a:r>
          </a:p>
          <a:p>
            <a:r>
              <a:rPr lang="en-US" sz="2400" b="1" dirty="0">
                <a:latin typeface="Times New Roman" charset="0"/>
                <a:ea typeface="Times New Roman" charset="0"/>
                <a:cs typeface="Times New Roman" charset="0"/>
              </a:rPr>
              <a:t>Apical meristem</a:t>
            </a:r>
            <a:r>
              <a:rPr lang="en-US" sz="2400" dirty="0">
                <a:latin typeface="Times New Roman" charset="0"/>
                <a:ea typeface="Times New Roman" charset="0"/>
                <a:cs typeface="Times New Roman" charset="0"/>
              </a:rPr>
              <a:t> is existent at the growing tips or apical of stems and roots. Apical meristem upsurges the length of the plant.</a:t>
            </a:r>
          </a:p>
          <a:p>
            <a:r>
              <a:rPr lang="en-US" sz="2400" b="1" dirty="0">
                <a:latin typeface="Times New Roman" charset="0"/>
                <a:ea typeface="Times New Roman" charset="0"/>
                <a:cs typeface="Times New Roman" charset="0"/>
              </a:rPr>
              <a:t>Lateral meristem</a:t>
            </a:r>
            <a:r>
              <a:rPr lang="en-US" sz="2400" dirty="0">
                <a:latin typeface="Times New Roman" charset="0"/>
                <a:ea typeface="Times New Roman" charset="0"/>
                <a:cs typeface="Times New Roman" charset="0"/>
              </a:rPr>
              <a:t> is existent in the radial portion of the stem or root. Lateral meristem upsurges the thickness of the plant.</a:t>
            </a:r>
          </a:p>
          <a:p>
            <a:r>
              <a:rPr lang="en-US" sz="2400" b="1" dirty="0">
                <a:latin typeface="Times New Roman" charset="0"/>
                <a:ea typeface="Times New Roman" charset="0"/>
                <a:cs typeface="Times New Roman" charset="0"/>
              </a:rPr>
              <a:t>Intercalary meristem</a:t>
            </a:r>
            <a:r>
              <a:rPr lang="en-US" sz="2400" dirty="0">
                <a:latin typeface="Times New Roman" charset="0"/>
                <a:ea typeface="Times New Roman" charset="0"/>
                <a:cs typeface="Times New Roman" charset="0"/>
              </a:rPr>
              <a:t> is found at the internodes or at the base of the leaves. Intercalary meristem upsurges the size of the internode.</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3068" y="1194098"/>
            <a:ext cx="3205778" cy="4635201"/>
          </a:xfrm>
          <a:prstGeom prst="rect">
            <a:avLst/>
          </a:prstGeom>
        </p:spPr>
      </p:pic>
    </p:spTree>
    <p:extLst>
      <p:ext uri="{BB962C8B-B14F-4D97-AF65-F5344CB8AC3E}">
        <p14:creationId xmlns:p14="http://schemas.microsoft.com/office/powerpoint/2010/main" val="1367743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62491"/>
          </a:xfrm>
        </p:spPr>
        <p:txBody>
          <a:bodyPr>
            <a:normAutofit/>
          </a:bodyPr>
          <a:lstStyle/>
          <a:p>
            <a:r>
              <a:rPr lang="en-US" b="1" dirty="0">
                <a:latin typeface="Times New Roman" charset="0"/>
                <a:ea typeface="Times New Roman" charset="0"/>
                <a:cs typeface="Times New Roman" charset="0"/>
              </a:rPr>
              <a:t>Permanent tissues</a:t>
            </a:r>
            <a:endParaRPr lang="en-US" dirty="0">
              <a:latin typeface="Times New Roman" charset="0"/>
              <a:ea typeface="Times New Roman" charset="0"/>
              <a:cs typeface="Times New Roman" charset="0"/>
            </a:endParaRPr>
          </a:p>
        </p:txBody>
      </p:sp>
      <p:sp>
        <p:nvSpPr>
          <p:cNvPr id="3" name="Content Placeholder 2"/>
          <p:cNvSpPr>
            <a:spLocks noGrp="1"/>
          </p:cNvSpPr>
          <p:nvPr>
            <p:ph idx="1"/>
          </p:nvPr>
        </p:nvSpPr>
        <p:spPr>
          <a:xfrm>
            <a:off x="540774" y="1140543"/>
            <a:ext cx="7983793" cy="4325804"/>
          </a:xfrm>
        </p:spPr>
        <p:txBody>
          <a:bodyPr>
            <a:normAutofit fontScale="92500" lnSpcReduction="20000"/>
          </a:bodyPr>
          <a:lstStyle/>
          <a:p>
            <a:pPr marL="0" indent="0">
              <a:buNone/>
            </a:pPr>
            <a:r>
              <a:rPr lang="en-US" sz="2200" dirty="0">
                <a:latin typeface="Times New Roman" charset="0"/>
                <a:ea typeface="Times New Roman" charset="0"/>
                <a:cs typeface="Times New Roman" charset="0"/>
              </a:rPr>
              <a:t>These cells have lost their ability to distribute but are </a:t>
            </a:r>
            <a:r>
              <a:rPr lang="en-US" sz="2200" dirty="0" err="1">
                <a:latin typeface="Times New Roman" charset="0"/>
                <a:ea typeface="Times New Roman" charset="0"/>
                <a:cs typeface="Times New Roman" charset="0"/>
              </a:rPr>
              <a:t>specialised</a:t>
            </a:r>
            <a:r>
              <a:rPr lang="en-US" sz="2200" dirty="0">
                <a:latin typeface="Times New Roman" charset="0"/>
                <a:ea typeface="Times New Roman" charset="0"/>
                <a:cs typeface="Times New Roman" charset="0"/>
              </a:rPr>
              <a:t> to offer elasticity, flexibility and strength to the plant. These tissues can be additionally </a:t>
            </a:r>
            <a:r>
              <a:rPr lang="en-US" sz="2200" dirty="0" err="1">
                <a:latin typeface="Times New Roman" charset="0"/>
                <a:ea typeface="Times New Roman" charset="0"/>
                <a:cs typeface="Times New Roman" charset="0"/>
              </a:rPr>
              <a:t>categorised</a:t>
            </a:r>
            <a:r>
              <a:rPr lang="en-US" sz="2200" dirty="0">
                <a:latin typeface="Times New Roman" charset="0"/>
                <a:ea typeface="Times New Roman" charset="0"/>
                <a:cs typeface="Times New Roman" charset="0"/>
              </a:rPr>
              <a:t> into:</a:t>
            </a:r>
          </a:p>
          <a:p>
            <a:endParaRPr lang="en-US" sz="2200" dirty="0">
              <a:latin typeface="Times New Roman" charset="0"/>
              <a:ea typeface="Times New Roman" charset="0"/>
              <a:cs typeface="Times New Roman" charset="0"/>
            </a:endParaRPr>
          </a:p>
          <a:p>
            <a:pPr>
              <a:buFont typeface="Wingdings" charset="2"/>
              <a:buChar char="v"/>
            </a:pPr>
            <a:r>
              <a:rPr lang="en-US" sz="2200" b="1" dirty="0">
                <a:latin typeface="Times New Roman" charset="0"/>
                <a:ea typeface="Times New Roman" charset="0"/>
                <a:cs typeface="Times New Roman" charset="0"/>
              </a:rPr>
              <a:t>Simple Permanent Tissue</a:t>
            </a:r>
            <a:r>
              <a:rPr lang="en-US" sz="2200" dirty="0">
                <a:latin typeface="Times New Roman" charset="0"/>
                <a:ea typeface="Times New Roman" charset="0"/>
                <a:cs typeface="Times New Roman" charset="0"/>
              </a:rPr>
              <a:t>: They can be classified into sclerenchyma, collenchyma and parenchyma based on their purpose.</a:t>
            </a:r>
          </a:p>
          <a:p>
            <a:pPr>
              <a:buFont typeface="Wingdings" charset="2"/>
              <a:buChar char="v"/>
            </a:pPr>
            <a:r>
              <a:rPr lang="en-US" sz="2200" b="1" dirty="0">
                <a:latin typeface="Times New Roman" charset="0"/>
                <a:ea typeface="Times New Roman" charset="0"/>
                <a:cs typeface="Times New Roman" charset="0"/>
              </a:rPr>
              <a:t>Complex Permanent Tissue</a:t>
            </a:r>
            <a:r>
              <a:rPr lang="en-US" sz="2200" dirty="0">
                <a:latin typeface="Times New Roman" charset="0"/>
                <a:ea typeface="Times New Roman" charset="0"/>
                <a:cs typeface="Times New Roman" charset="0"/>
              </a:rPr>
              <a:t>: These tissues include phloem and xylem. Xylem is valuable for the transportation of water and solvable constituents. It is made up of xylem parenchyma, </a:t>
            </a:r>
            <a:r>
              <a:rPr lang="en-US" sz="2200" dirty="0" err="1">
                <a:latin typeface="Times New Roman" charset="0"/>
                <a:ea typeface="Times New Roman" charset="0"/>
                <a:cs typeface="Times New Roman" charset="0"/>
              </a:rPr>
              <a:t>fibres</a:t>
            </a:r>
            <a:r>
              <a:rPr lang="en-US" sz="2200" dirty="0">
                <a:latin typeface="Times New Roman" charset="0"/>
                <a:ea typeface="Times New Roman" charset="0"/>
                <a:cs typeface="Times New Roman" charset="0"/>
              </a:rPr>
              <a:t>, vessels and </a:t>
            </a:r>
            <a:r>
              <a:rPr lang="en-US" sz="2200" dirty="0" err="1">
                <a:latin typeface="Times New Roman" charset="0"/>
                <a:ea typeface="Times New Roman" charset="0"/>
                <a:cs typeface="Times New Roman" charset="0"/>
              </a:rPr>
              <a:t>tracheids</a:t>
            </a:r>
            <a:r>
              <a:rPr lang="en-US" sz="2200" dirty="0">
                <a:latin typeface="Times New Roman" charset="0"/>
                <a:ea typeface="Times New Roman" charset="0"/>
                <a:cs typeface="Times New Roman" charset="0"/>
              </a:rPr>
              <a:t>. Phloem is valuable in the transportation of food particles. Phloem consists of phloem parenchyma, phloem </a:t>
            </a:r>
            <a:r>
              <a:rPr lang="en-US" sz="2200" dirty="0" err="1">
                <a:latin typeface="Times New Roman" charset="0"/>
                <a:ea typeface="Times New Roman" charset="0"/>
                <a:cs typeface="Times New Roman" charset="0"/>
              </a:rPr>
              <a:t>fibres</a:t>
            </a:r>
            <a:r>
              <a:rPr lang="en-US" sz="2200" dirty="0">
                <a:latin typeface="Times New Roman" charset="0"/>
                <a:ea typeface="Times New Roman" charset="0"/>
                <a:cs typeface="Times New Roman" charset="0"/>
              </a:rPr>
              <a:t>, companion cells, sieve cells and sieve tubes.</a:t>
            </a:r>
          </a:p>
          <a:p>
            <a:endParaRPr lang="en-US" dirty="0"/>
          </a:p>
        </p:txBody>
      </p:sp>
    </p:spTree>
    <p:extLst>
      <p:ext uri="{BB962C8B-B14F-4D97-AF65-F5344CB8AC3E}">
        <p14:creationId xmlns:p14="http://schemas.microsoft.com/office/powerpoint/2010/main" val="186391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47338"/>
          </a:xfrm>
        </p:spPr>
        <p:txBody>
          <a:bodyPr>
            <a:normAutofit fontScale="90000"/>
          </a:bodyPr>
          <a:lstStyle/>
          <a:p>
            <a:pPr algn="ctr"/>
            <a:r>
              <a:rPr lang="en-US" sz="2800" b="1" dirty="0">
                <a:latin typeface="Times New Roman" charset="0"/>
                <a:ea typeface="Times New Roman" charset="0"/>
                <a:cs typeface="Times New Roman" charset="0"/>
              </a:rPr>
              <a:t>Collenchyma, Sclerenchyma, Xylem, Phloem</a:t>
            </a:r>
            <a:endParaRPr lang="en-US" sz="2800" dirty="0">
              <a:latin typeface="Times New Roman" charset="0"/>
              <a:ea typeface="Times New Roman" charset="0"/>
              <a:cs typeface="Times New Roman" charset="0"/>
            </a:endParaRPr>
          </a:p>
        </p:txBody>
      </p:sp>
      <p:sp>
        <p:nvSpPr>
          <p:cNvPr id="3" name="Content Placeholder 2"/>
          <p:cNvSpPr>
            <a:spLocks noGrp="1"/>
          </p:cNvSpPr>
          <p:nvPr>
            <p:ph idx="1"/>
          </p:nvPr>
        </p:nvSpPr>
        <p:spPr>
          <a:xfrm>
            <a:off x="457200" y="1215614"/>
            <a:ext cx="8229600" cy="4910549"/>
          </a:xfrm>
        </p:spPr>
        <p:txBody>
          <a:bodyPr>
            <a:normAutofit fontScale="92500" lnSpcReduction="20000"/>
          </a:bodyPr>
          <a:lstStyle/>
          <a:p>
            <a:pPr marL="0" indent="0">
              <a:buNone/>
            </a:pPr>
            <a:r>
              <a:rPr lang="en-US" sz="2000" b="1" dirty="0">
                <a:latin typeface="Times New Roman" charset="0"/>
                <a:ea typeface="Times New Roman" charset="0"/>
                <a:cs typeface="Times New Roman" charset="0"/>
              </a:rPr>
              <a:t>Collenchyma - </a:t>
            </a:r>
            <a:r>
              <a:rPr lang="en-US" sz="2000" dirty="0">
                <a:latin typeface="Times New Roman" charset="0"/>
                <a:ea typeface="Times New Roman" charset="0"/>
                <a:cs typeface="Times New Roman" charset="0"/>
              </a:rPr>
              <a:t>Their cell walls are made up of pectin and cellulose. Collenchyma is found in the marginal regions of leaves and stems and offers flexibility with the structural framework and mechanical support to plants.</a:t>
            </a:r>
          </a:p>
          <a:p>
            <a:pPr marL="0" indent="0">
              <a:buNone/>
            </a:pPr>
            <a:r>
              <a:rPr lang="en-US" sz="2000" b="1" dirty="0">
                <a:latin typeface="Times New Roman" charset="0"/>
                <a:ea typeface="Times New Roman" charset="0"/>
                <a:cs typeface="Times New Roman" charset="0"/>
              </a:rPr>
              <a:t>Sclerenchyma - </a:t>
            </a:r>
            <a:r>
              <a:rPr lang="en-US" sz="2000" dirty="0">
                <a:latin typeface="Times New Roman" charset="0"/>
                <a:ea typeface="Times New Roman" charset="0"/>
                <a:cs typeface="Times New Roman" charset="0"/>
              </a:rPr>
              <a:t>These are elongated, dead cells with lignin deposits in their cell wall.   Sclerenchyma is found in the covering of seeds and nuts, around the vascular tissues in stems and the veins of leaves. Sclerenchyma provides strength to the plant.</a:t>
            </a:r>
          </a:p>
          <a:p>
            <a:pPr marL="0" indent="0">
              <a:buNone/>
            </a:pPr>
            <a:r>
              <a:rPr lang="en-US" sz="2000" b="1" dirty="0">
                <a:latin typeface="Times New Roman" charset="0"/>
                <a:ea typeface="Times New Roman" charset="0"/>
                <a:cs typeface="Times New Roman" charset="0"/>
              </a:rPr>
              <a:t>Xylem - </a:t>
            </a:r>
            <a:r>
              <a:rPr lang="en-US" sz="2000" dirty="0">
                <a:latin typeface="Times New Roman" charset="0"/>
                <a:ea typeface="Times New Roman" charset="0"/>
                <a:cs typeface="Times New Roman" charset="0"/>
              </a:rPr>
              <a:t>It helps in the transport of dissolved substances and water all through the plant. The diverse components of the xylem include vessels, </a:t>
            </a:r>
            <a:r>
              <a:rPr lang="en-US" sz="2000" dirty="0" err="1">
                <a:latin typeface="Times New Roman" charset="0"/>
                <a:ea typeface="Times New Roman" charset="0"/>
                <a:cs typeface="Times New Roman" charset="0"/>
              </a:rPr>
              <a:t>tracheids</a:t>
            </a:r>
            <a:r>
              <a:rPr lang="en-US" sz="2000" dirty="0">
                <a:latin typeface="Times New Roman" charset="0"/>
                <a:ea typeface="Times New Roman" charset="0"/>
                <a:cs typeface="Times New Roman" charset="0"/>
              </a:rPr>
              <a:t>, xylem </a:t>
            </a:r>
            <a:r>
              <a:rPr lang="en-US" sz="2000" dirty="0" err="1">
                <a:latin typeface="Times New Roman" charset="0"/>
                <a:ea typeface="Times New Roman" charset="0"/>
                <a:cs typeface="Times New Roman" charset="0"/>
              </a:rPr>
              <a:t>fibres</a:t>
            </a:r>
            <a:r>
              <a:rPr lang="en-US" sz="2000" dirty="0">
                <a:latin typeface="Times New Roman" charset="0"/>
                <a:ea typeface="Times New Roman" charset="0"/>
                <a:cs typeface="Times New Roman" charset="0"/>
              </a:rPr>
              <a:t> and xylem parenchyma. Xylem </a:t>
            </a:r>
            <a:r>
              <a:rPr lang="en-US" sz="2000" dirty="0" err="1">
                <a:latin typeface="Times New Roman" charset="0"/>
                <a:ea typeface="Times New Roman" charset="0"/>
                <a:cs typeface="Times New Roman" charset="0"/>
              </a:rPr>
              <a:t>fibres</a:t>
            </a:r>
            <a:r>
              <a:rPr lang="en-US" sz="2000" dirty="0">
                <a:latin typeface="Times New Roman" charset="0"/>
                <a:ea typeface="Times New Roman" charset="0"/>
                <a:cs typeface="Times New Roman" charset="0"/>
              </a:rPr>
              <a:t> and </a:t>
            </a:r>
            <a:r>
              <a:rPr lang="en-US" sz="2000" dirty="0" err="1">
                <a:latin typeface="Times New Roman" charset="0"/>
                <a:ea typeface="Times New Roman" charset="0"/>
                <a:cs typeface="Times New Roman" charset="0"/>
              </a:rPr>
              <a:t>Tracheids</a:t>
            </a:r>
            <a:r>
              <a:rPr lang="en-US" sz="2000" dirty="0">
                <a:latin typeface="Times New Roman" charset="0"/>
                <a:ea typeface="Times New Roman" charset="0"/>
                <a:cs typeface="Times New Roman" charset="0"/>
              </a:rPr>
              <a:t> are made up of lignin, which provides structural support to the plant.</a:t>
            </a:r>
          </a:p>
          <a:p>
            <a:pPr marL="0" indent="0">
              <a:buNone/>
            </a:pPr>
            <a:r>
              <a:rPr lang="en-US" sz="2000" b="1" dirty="0">
                <a:latin typeface="Times New Roman" charset="0"/>
                <a:ea typeface="Times New Roman" charset="0"/>
                <a:cs typeface="Times New Roman" charset="0"/>
              </a:rPr>
              <a:t>Phloem - </a:t>
            </a:r>
            <a:r>
              <a:rPr lang="en-US" sz="2000" dirty="0">
                <a:latin typeface="Times New Roman" charset="0"/>
                <a:ea typeface="Times New Roman" charset="0"/>
                <a:cs typeface="Times New Roman" charset="0"/>
              </a:rPr>
              <a:t>This tissue helps in the transportation of food all through the plant. The diverse elements of phloem include phloem </a:t>
            </a:r>
            <a:r>
              <a:rPr lang="en-US" sz="2000" dirty="0" err="1">
                <a:latin typeface="Times New Roman" charset="0"/>
                <a:ea typeface="Times New Roman" charset="0"/>
                <a:cs typeface="Times New Roman" charset="0"/>
              </a:rPr>
              <a:t>fibres</a:t>
            </a:r>
            <a:r>
              <a:rPr lang="en-US" sz="2000" dirty="0">
                <a:latin typeface="Times New Roman" charset="0"/>
                <a:ea typeface="Times New Roman" charset="0"/>
                <a:cs typeface="Times New Roman" charset="0"/>
              </a:rPr>
              <a:t>, sieve tubes, phloem parenchyma and companion cells.</a:t>
            </a:r>
          </a:p>
          <a:p>
            <a:pPr marL="0" indent="0">
              <a:buNone/>
            </a:pPr>
            <a:endParaRPr lang="en-US" sz="2000" dirty="0">
              <a:latin typeface="Times New Roman" charset="0"/>
              <a:ea typeface="Times New Roman" charset="0"/>
              <a:cs typeface="Times New Roman" charset="0"/>
            </a:endParaRPr>
          </a:p>
          <a:p>
            <a:endParaRPr lang="en-US" sz="20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21053422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561104"/>
          </a:xfrm>
        </p:spPr>
        <p:txBody>
          <a:bodyPr>
            <a:normAutofit/>
          </a:bodyPr>
          <a:lstStyle/>
          <a:p>
            <a:pPr algn="ctr"/>
            <a:r>
              <a:rPr lang="en-US" b="1" dirty="0"/>
              <a:t>Protective tissues</a:t>
            </a:r>
            <a:endParaRPr lang="en-US" dirty="0"/>
          </a:p>
        </p:txBody>
      </p:sp>
      <p:sp>
        <p:nvSpPr>
          <p:cNvPr id="3" name="Content Placeholder 2"/>
          <p:cNvSpPr>
            <a:spLocks noGrp="1"/>
          </p:cNvSpPr>
          <p:nvPr>
            <p:ph idx="1"/>
          </p:nvPr>
        </p:nvSpPr>
        <p:spPr>
          <a:xfrm>
            <a:off x="457200" y="1524001"/>
            <a:ext cx="8229599" cy="3942346"/>
          </a:xfrm>
        </p:spPr>
        <p:txBody>
          <a:bodyPr>
            <a:normAutofit/>
          </a:bodyPr>
          <a:lstStyle/>
          <a:p>
            <a:pPr marL="0" indent="0">
              <a:buNone/>
            </a:pPr>
            <a:r>
              <a:rPr lang="en-US" sz="2000" dirty="0">
                <a:latin typeface="Times New Roman" charset="0"/>
                <a:ea typeface="Times New Roman" charset="0"/>
                <a:cs typeface="Times New Roman" charset="0"/>
              </a:rPr>
              <a:t>These provide fortification to the plant. They include the cork and epidermis.</a:t>
            </a:r>
          </a:p>
          <a:p>
            <a:pPr>
              <a:buFont typeface="Wingdings" charset="2"/>
              <a:buChar char="Ø"/>
            </a:pPr>
            <a:r>
              <a:rPr lang="en-US" sz="2000" b="1" dirty="0">
                <a:latin typeface="Times New Roman" charset="0"/>
                <a:ea typeface="Times New Roman" charset="0"/>
                <a:cs typeface="Times New Roman" charset="0"/>
              </a:rPr>
              <a:t>Epidermis </a:t>
            </a:r>
            <a:r>
              <a:rPr lang="en-US" sz="2000" dirty="0">
                <a:latin typeface="Times New Roman" charset="0"/>
                <a:ea typeface="Times New Roman" charset="0"/>
                <a:cs typeface="Times New Roman" charset="0"/>
              </a:rPr>
              <a:t>– It is a layer of cell that makes up an outer casing of all the structures in the plant. The stomata perforates the epidermis at certain places. The stomata help in loss of water and gaseous exchange.</a:t>
            </a:r>
          </a:p>
          <a:p>
            <a:pPr>
              <a:buFont typeface="Wingdings" charset="2"/>
              <a:buChar char="Ø"/>
            </a:pPr>
            <a:r>
              <a:rPr lang="en-US" sz="2000" b="1" dirty="0">
                <a:latin typeface="Times New Roman" charset="0"/>
                <a:ea typeface="Times New Roman" charset="0"/>
                <a:cs typeface="Times New Roman" charset="0"/>
              </a:rPr>
              <a:t>Cork </a:t>
            </a:r>
            <a:r>
              <a:rPr lang="en-US" sz="2000" dirty="0">
                <a:latin typeface="Times New Roman" charset="0"/>
                <a:ea typeface="Times New Roman" charset="0"/>
                <a:cs typeface="Times New Roman" charset="0"/>
              </a:rPr>
              <a:t>– This is the external protective tissue, which substitutes the epidermal cells in mature stems and roots. Cork cells are lifeless and lack intercellular gaps.  Their cell walls are coagulated by </a:t>
            </a:r>
            <a:r>
              <a:rPr lang="en-US" sz="2000" dirty="0" err="1">
                <a:latin typeface="Times New Roman" charset="0"/>
                <a:ea typeface="Times New Roman" charset="0"/>
                <a:cs typeface="Times New Roman" charset="0"/>
              </a:rPr>
              <a:t>suberin</a:t>
            </a:r>
            <a:r>
              <a:rPr lang="en-US" sz="2000" dirty="0">
                <a:latin typeface="Times New Roman" charset="0"/>
                <a:ea typeface="Times New Roman" charset="0"/>
                <a:cs typeface="Times New Roman" charset="0"/>
              </a:rPr>
              <a:t>, which makes them impervious to gas and Water Molecules.</a:t>
            </a:r>
          </a:p>
          <a:p>
            <a:pPr>
              <a:buFont typeface="Wingdings" charset="2"/>
              <a:buChar char="Ø"/>
            </a:pPr>
            <a:endParaRPr lang="en-US" sz="2000" dirty="0"/>
          </a:p>
        </p:txBody>
      </p:sp>
    </p:spTree>
    <p:extLst>
      <p:ext uri="{BB962C8B-B14F-4D97-AF65-F5344CB8AC3E}">
        <p14:creationId xmlns:p14="http://schemas.microsoft.com/office/powerpoint/2010/main" val="558410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Plant Physiology</a:t>
            </a:r>
          </a:p>
        </p:txBody>
      </p:sp>
      <p:sp>
        <p:nvSpPr>
          <p:cNvPr id="3" name="Content Placeholder 2"/>
          <p:cNvSpPr>
            <a:spLocks noGrp="1"/>
          </p:cNvSpPr>
          <p:nvPr>
            <p:ph idx="1"/>
          </p:nvPr>
        </p:nvSpPr>
        <p:spPr>
          <a:xfrm>
            <a:off x="540775" y="2015733"/>
            <a:ext cx="8032954" cy="3450613"/>
          </a:xfrm>
        </p:spPr>
        <p:txBody>
          <a:bodyPr/>
          <a:lstStyle/>
          <a:p>
            <a:r>
              <a:rPr dirty="0">
                <a:latin typeface="Times New Roman" panose="02020603050405020304" pitchFamily="18" charset="0"/>
                <a:cs typeface="Times New Roman" panose="02020603050405020304" pitchFamily="18" charset="0"/>
              </a:rPr>
              <a:t>Crop growth requirements: water, nutrients, light, temperature</a:t>
            </a:r>
          </a:p>
          <a:p>
            <a:r>
              <a:rPr dirty="0">
                <a:latin typeface="Times New Roman" panose="02020603050405020304" pitchFamily="18" charset="0"/>
                <a:cs typeface="Times New Roman" panose="02020603050405020304" pitchFamily="18" charset="0"/>
              </a:rPr>
              <a:t>Photosynthesis: light reactions and Calvin cycle</a:t>
            </a:r>
          </a:p>
          <a:p>
            <a:r>
              <a:rPr dirty="0">
                <a:latin typeface="Times New Roman" panose="02020603050405020304" pitchFamily="18" charset="0"/>
                <a:cs typeface="Times New Roman" panose="02020603050405020304" pitchFamily="18" charset="0"/>
              </a:rPr>
              <a:t>Source–sink relationships in crops</a:t>
            </a:r>
          </a:p>
          <a:p>
            <a:r>
              <a:rPr dirty="0">
                <a:latin typeface="Times New Roman" panose="02020603050405020304" pitchFamily="18" charset="0"/>
                <a:cs typeface="Times New Roman" panose="02020603050405020304" pitchFamily="18" charset="0"/>
              </a:rPr>
              <a:t>Net Assimilation Rate (NAR) and crop productivity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88923"/>
          </a:xfrm>
        </p:spPr>
        <p:txBody>
          <a:bodyPr>
            <a:normAutofit/>
          </a:bodyPr>
          <a:lstStyle/>
          <a:p>
            <a:pPr algn="ctr"/>
            <a:r>
              <a:rPr lang="en-US" sz="3200" b="1" dirty="0">
                <a:latin typeface="Times New Roman" charset="0"/>
                <a:ea typeface="Times New Roman" charset="0"/>
                <a:cs typeface="Times New Roman" charset="0"/>
              </a:rPr>
              <a:t>Crop Growth Requirements</a:t>
            </a:r>
          </a:p>
        </p:txBody>
      </p:sp>
      <p:sp>
        <p:nvSpPr>
          <p:cNvPr id="3" name="Content Placeholder 2"/>
          <p:cNvSpPr>
            <a:spLocks noGrp="1"/>
          </p:cNvSpPr>
          <p:nvPr>
            <p:ph idx="1"/>
          </p:nvPr>
        </p:nvSpPr>
        <p:spPr>
          <a:xfrm>
            <a:off x="322729" y="963561"/>
            <a:ext cx="8364071" cy="5404967"/>
          </a:xfrm>
        </p:spPr>
        <p:txBody>
          <a:bodyPr>
            <a:normAutofit fontScale="92500" lnSpcReduction="20000"/>
          </a:bodyPr>
          <a:lstStyle/>
          <a:p>
            <a:pPr marL="0" indent="0">
              <a:buNone/>
            </a:pPr>
            <a:r>
              <a:rPr lang="en-US" sz="2000" dirty="0">
                <a:latin typeface="Times New Roman" charset="0"/>
                <a:ea typeface="Times New Roman" charset="0"/>
                <a:cs typeface="Times New Roman" charset="0"/>
              </a:rPr>
              <a:t>Crop growth and development depend on several environmental and nutritional factors. For a crop to complete its life cycle successfully and produce optimum yield, certain basic requirements must be met. The major crop growth requirements include water, nutrients, light, and temperature. Understanding how these factors influence crop performance is essential for effective crop management and improved productivity. </a:t>
            </a:r>
          </a:p>
          <a:p>
            <a:pPr marL="457200" indent="-457200">
              <a:buAutoNum type="arabicPeriod"/>
            </a:pPr>
            <a:r>
              <a:rPr lang="en-US" sz="2000" b="1" dirty="0">
                <a:latin typeface="Times New Roman" charset="0"/>
                <a:ea typeface="Times New Roman" charset="0"/>
                <a:cs typeface="Times New Roman" charset="0"/>
              </a:rPr>
              <a:t>Water Requirements for Crop Growth </a:t>
            </a:r>
            <a:r>
              <a:rPr lang="en-US" sz="2000" dirty="0">
                <a:latin typeface="Times New Roman" charset="0"/>
                <a:ea typeface="Times New Roman" charset="0"/>
                <a:cs typeface="Times New Roman" charset="0"/>
              </a:rPr>
              <a:t>- Water is one of the most critical factors for plant growth. It constitutes a major portion of plant tissues and plays a vital role in physiological and biochemical processes within the plant.</a:t>
            </a:r>
          </a:p>
          <a:p>
            <a:pPr marL="0" indent="0">
              <a:buNone/>
            </a:pPr>
            <a:r>
              <a:rPr lang="en-US" sz="2000" b="1" dirty="0">
                <a:latin typeface="Times New Roman" charset="0"/>
                <a:ea typeface="Times New Roman" charset="0"/>
                <a:cs typeface="Times New Roman" charset="0"/>
              </a:rPr>
              <a:t>Functions of Water in Plants </a:t>
            </a:r>
            <a:endParaRPr lang="en-US" sz="2000" dirty="0">
              <a:latin typeface="Times New Roman" charset="0"/>
              <a:ea typeface="Times New Roman" charset="0"/>
              <a:cs typeface="Times New Roman" charset="0"/>
            </a:endParaRPr>
          </a:p>
          <a:p>
            <a:pPr>
              <a:buFont typeface="Wingdings" charset="2"/>
              <a:buChar char="ü"/>
            </a:pPr>
            <a:r>
              <a:rPr lang="en-US" sz="2000" dirty="0">
                <a:latin typeface="Times New Roman" charset="0"/>
                <a:ea typeface="Times New Roman" charset="0"/>
                <a:cs typeface="Times New Roman" charset="0"/>
              </a:rPr>
              <a:t>Acts as a solvent and medium for nutrient uptake and transport. </a:t>
            </a:r>
          </a:p>
          <a:p>
            <a:pPr>
              <a:buFont typeface="Wingdings" charset="2"/>
              <a:buChar char="ü"/>
            </a:pPr>
            <a:r>
              <a:rPr lang="en-US" sz="2000" dirty="0">
                <a:latin typeface="Times New Roman" charset="0"/>
                <a:ea typeface="Times New Roman" charset="0"/>
                <a:cs typeface="Times New Roman" charset="0"/>
              </a:rPr>
              <a:t>Maintains cell turgidity, which is essential for cell expansion and growth. </a:t>
            </a:r>
          </a:p>
          <a:p>
            <a:pPr>
              <a:buFont typeface="Wingdings" charset="2"/>
              <a:buChar char="ü"/>
            </a:pPr>
            <a:r>
              <a:rPr lang="en-US" sz="2000" dirty="0">
                <a:latin typeface="Times New Roman" charset="0"/>
                <a:ea typeface="Times New Roman" charset="0"/>
                <a:cs typeface="Times New Roman" charset="0"/>
              </a:rPr>
              <a:t>Participates directly in photosynthesis.  </a:t>
            </a:r>
          </a:p>
          <a:p>
            <a:pPr>
              <a:buFont typeface="Wingdings" charset="2"/>
              <a:buChar char="ü"/>
            </a:pPr>
            <a:r>
              <a:rPr lang="en-US" sz="2000" dirty="0">
                <a:latin typeface="Times New Roman" charset="0"/>
                <a:ea typeface="Times New Roman" charset="0"/>
                <a:cs typeface="Times New Roman" charset="0"/>
              </a:rPr>
              <a:t>Regulates plant temperature through transpiration.  </a:t>
            </a:r>
          </a:p>
          <a:p>
            <a:pPr>
              <a:buFont typeface="Wingdings" charset="2"/>
              <a:buChar char="ü"/>
            </a:pPr>
            <a:r>
              <a:rPr lang="en-US" sz="2000" dirty="0">
                <a:latin typeface="Times New Roman" charset="0"/>
                <a:ea typeface="Times New Roman" charset="0"/>
                <a:cs typeface="Times New Roman" charset="0"/>
              </a:rPr>
              <a:t>Facilitates enzymatic and metabolic reactions.</a:t>
            </a:r>
          </a:p>
        </p:txBody>
      </p:sp>
    </p:spTree>
    <p:extLst>
      <p:ext uri="{BB962C8B-B14F-4D97-AF65-F5344CB8AC3E}">
        <p14:creationId xmlns:p14="http://schemas.microsoft.com/office/powerpoint/2010/main" val="19468558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1949" y="1012723"/>
            <a:ext cx="8072284" cy="4453624"/>
          </a:xfrm>
        </p:spPr>
        <p:txBody>
          <a:bodyPr>
            <a:normAutofit/>
          </a:bodyPr>
          <a:lstStyle/>
          <a:p>
            <a:pPr marL="0" indent="0">
              <a:buNone/>
            </a:pPr>
            <a:r>
              <a:rPr lang="en-US" sz="2000" b="1" dirty="0">
                <a:latin typeface="Times New Roman" charset="0"/>
                <a:ea typeface="Times New Roman" charset="0"/>
                <a:cs typeface="Times New Roman" charset="0"/>
              </a:rPr>
              <a:t>Effects of Water Deficiency  </a:t>
            </a:r>
          </a:p>
          <a:p>
            <a:pPr>
              <a:buFont typeface="Wingdings" charset="2"/>
              <a:buChar char="v"/>
            </a:pPr>
            <a:r>
              <a:rPr lang="en-US" sz="2000" dirty="0">
                <a:latin typeface="Times New Roman" charset="0"/>
                <a:ea typeface="Times New Roman" charset="0"/>
                <a:cs typeface="Times New Roman" charset="0"/>
              </a:rPr>
              <a:t>Wilting and reduced cell expansion. </a:t>
            </a:r>
          </a:p>
          <a:p>
            <a:pPr>
              <a:buFont typeface="Wingdings" charset="2"/>
              <a:buChar char="v"/>
            </a:pPr>
            <a:r>
              <a:rPr lang="en-US" sz="2000" dirty="0">
                <a:latin typeface="Times New Roman" charset="0"/>
                <a:ea typeface="Times New Roman" charset="0"/>
                <a:cs typeface="Times New Roman" charset="0"/>
              </a:rPr>
              <a:t>Reduced photosynthesis and nutrient uptake. </a:t>
            </a:r>
          </a:p>
          <a:p>
            <a:pPr>
              <a:buFont typeface="Wingdings" charset="2"/>
              <a:buChar char="v"/>
            </a:pPr>
            <a:r>
              <a:rPr lang="en-US" sz="2000" dirty="0">
                <a:latin typeface="Times New Roman" charset="0"/>
                <a:ea typeface="Times New Roman" charset="0"/>
                <a:cs typeface="Times New Roman" charset="0"/>
              </a:rPr>
              <a:t>Poor flowering, fruit set, and grain filling. </a:t>
            </a:r>
          </a:p>
          <a:p>
            <a:pPr>
              <a:buFont typeface="Wingdings" charset="2"/>
              <a:buChar char="v"/>
            </a:pPr>
            <a:r>
              <a:rPr lang="en-US" sz="2000" dirty="0">
                <a:latin typeface="Times New Roman" charset="0"/>
                <a:ea typeface="Times New Roman" charset="0"/>
                <a:cs typeface="Times New Roman" charset="0"/>
              </a:rPr>
              <a:t>Yield reduction and, in severe cases, crop failure. </a:t>
            </a:r>
          </a:p>
          <a:p>
            <a:pPr marL="0" indent="0">
              <a:buNone/>
            </a:pPr>
            <a:r>
              <a:rPr lang="en-US" sz="2000" b="1" dirty="0">
                <a:latin typeface="Times New Roman" charset="0"/>
                <a:ea typeface="Times New Roman" charset="0"/>
                <a:cs typeface="Times New Roman" charset="0"/>
              </a:rPr>
              <a:t>Effects of Excess Water </a:t>
            </a:r>
          </a:p>
          <a:p>
            <a:pPr>
              <a:buFont typeface="Wingdings" charset="2"/>
              <a:buChar char="ü"/>
            </a:pPr>
            <a:r>
              <a:rPr lang="en-US" sz="2000" dirty="0">
                <a:latin typeface="Times New Roman" charset="0"/>
                <a:ea typeface="Times New Roman" charset="0"/>
                <a:cs typeface="Times New Roman" charset="0"/>
              </a:rPr>
              <a:t>Poor aeration of the root zone leading to root suffocation. </a:t>
            </a:r>
          </a:p>
          <a:p>
            <a:pPr>
              <a:buFont typeface="Wingdings" charset="2"/>
              <a:buChar char="ü"/>
            </a:pPr>
            <a:r>
              <a:rPr lang="en-US" sz="2000" dirty="0">
                <a:latin typeface="Times New Roman" charset="0"/>
                <a:ea typeface="Times New Roman" charset="0"/>
                <a:cs typeface="Times New Roman" charset="0"/>
              </a:rPr>
              <a:t>Increased incidence of root diseases. </a:t>
            </a:r>
          </a:p>
          <a:p>
            <a:pPr>
              <a:buFont typeface="Wingdings" charset="2"/>
              <a:buChar char="ü"/>
            </a:pPr>
            <a:r>
              <a:rPr lang="en-US" sz="2000" dirty="0">
                <a:latin typeface="Times New Roman" charset="0"/>
                <a:ea typeface="Times New Roman" charset="0"/>
                <a:cs typeface="Times New Roman" charset="0"/>
              </a:rPr>
              <a:t>Leaching of nutrients, especially nitrogen.</a:t>
            </a:r>
          </a:p>
        </p:txBody>
      </p:sp>
    </p:spTree>
    <p:extLst>
      <p:ext uri="{BB962C8B-B14F-4D97-AF65-F5344CB8AC3E}">
        <p14:creationId xmlns:p14="http://schemas.microsoft.com/office/powerpoint/2010/main" val="11793394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8324"/>
            <a:ext cx="8229600" cy="717754"/>
          </a:xfrm>
        </p:spPr>
        <p:txBody>
          <a:bodyPr>
            <a:normAutofit/>
          </a:bodyPr>
          <a:lstStyle/>
          <a:p>
            <a:r>
              <a:rPr lang="en-US" sz="3200" dirty="0">
                <a:latin typeface="Times New Roman" charset="0"/>
                <a:ea typeface="Times New Roman" charset="0"/>
                <a:cs typeface="Times New Roman" charset="0"/>
              </a:rPr>
              <a:t>Nutrient Requirements</a:t>
            </a:r>
          </a:p>
        </p:txBody>
      </p:sp>
      <p:sp>
        <p:nvSpPr>
          <p:cNvPr id="3" name="Content Placeholder 2"/>
          <p:cNvSpPr>
            <a:spLocks noGrp="1"/>
          </p:cNvSpPr>
          <p:nvPr>
            <p:ph idx="1"/>
          </p:nvPr>
        </p:nvSpPr>
        <p:spPr>
          <a:xfrm>
            <a:off x="322729" y="816078"/>
            <a:ext cx="8364071" cy="5520176"/>
          </a:xfrm>
        </p:spPr>
        <p:txBody>
          <a:bodyPr>
            <a:normAutofit fontScale="85000" lnSpcReduction="20000"/>
          </a:bodyPr>
          <a:lstStyle/>
          <a:p>
            <a:pPr marL="0" indent="0">
              <a:buNone/>
            </a:pPr>
            <a:r>
              <a:rPr lang="en-US" sz="2000" dirty="0">
                <a:latin typeface="Times New Roman" charset="0"/>
                <a:ea typeface="Times New Roman" charset="0"/>
                <a:cs typeface="Times New Roman" charset="0"/>
              </a:rPr>
              <a:t>For Crop Growth Plants require essential mineral nutrients for growth, development, and reproduction. These nutrients are absorbed mainly from the soil through the root system. </a:t>
            </a:r>
          </a:p>
          <a:p>
            <a:pPr marL="0" indent="0">
              <a:buNone/>
            </a:pPr>
            <a:r>
              <a:rPr lang="en-US" sz="2000" b="1" dirty="0">
                <a:latin typeface="Times New Roman" charset="0"/>
                <a:ea typeface="Times New Roman" charset="0"/>
                <a:cs typeface="Times New Roman" charset="0"/>
              </a:rPr>
              <a:t>Classification of Plant Nutrients </a:t>
            </a:r>
            <a:r>
              <a:rPr lang="en-US" sz="2000" dirty="0">
                <a:latin typeface="Times New Roman" charset="0"/>
                <a:ea typeface="Times New Roman" charset="0"/>
                <a:cs typeface="Times New Roman" charset="0"/>
              </a:rPr>
              <a:t> </a:t>
            </a:r>
          </a:p>
          <a:p>
            <a:pPr>
              <a:buFont typeface="Arial" charset="0"/>
              <a:buChar char="•"/>
            </a:pPr>
            <a:r>
              <a:rPr lang="en-US" sz="2000" dirty="0">
                <a:latin typeface="Times New Roman" charset="0"/>
                <a:ea typeface="Times New Roman" charset="0"/>
                <a:cs typeface="Times New Roman" charset="0"/>
              </a:rPr>
              <a:t>Macronutrients: Nitrogen (N), Phosphorus (P), Potassium (K), Calcium (Ca), Magnesium (Mg), Sulfur (S).  </a:t>
            </a:r>
          </a:p>
          <a:p>
            <a:pPr>
              <a:buFont typeface="Arial" charset="0"/>
              <a:buChar char="•"/>
            </a:pPr>
            <a:r>
              <a:rPr lang="en-US" sz="2000" dirty="0">
                <a:latin typeface="Times New Roman" charset="0"/>
                <a:ea typeface="Times New Roman" charset="0"/>
                <a:cs typeface="Times New Roman" charset="0"/>
              </a:rPr>
              <a:t>Micronutrients: Iron (Fe), Manganese (</a:t>
            </a:r>
            <a:r>
              <a:rPr lang="en-US" sz="2000" dirty="0" err="1">
                <a:latin typeface="Times New Roman" charset="0"/>
                <a:ea typeface="Times New Roman" charset="0"/>
                <a:cs typeface="Times New Roman" charset="0"/>
              </a:rPr>
              <a:t>Mn</a:t>
            </a:r>
            <a:r>
              <a:rPr lang="en-US" sz="2000" dirty="0">
                <a:latin typeface="Times New Roman" charset="0"/>
                <a:ea typeface="Times New Roman" charset="0"/>
                <a:cs typeface="Times New Roman" charset="0"/>
              </a:rPr>
              <a:t>), Zinc (Zn), Copper (Cu), Boron (B), Molybdenum (Mo), Chlorine (Cl). </a:t>
            </a:r>
          </a:p>
          <a:p>
            <a:pPr marL="0" indent="0">
              <a:buNone/>
            </a:pPr>
            <a:r>
              <a:rPr lang="en-US" sz="2000" b="1" dirty="0">
                <a:latin typeface="Times New Roman" charset="0"/>
                <a:ea typeface="Times New Roman" charset="0"/>
                <a:cs typeface="Times New Roman" charset="0"/>
              </a:rPr>
              <a:t>Roles of Major Nutrients </a:t>
            </a:r>
            <a:r>
              <a:rPr lang="en-US" sz="2000" dirty="0">
                <a:latin typeface="Times New Roman" charset="0"/>
                <a:ea typeface="Times New Roman" charset="0"/>
                <a:cs typeface="Times New Roman" charset="0"/>
              </a:rPr>
              <a:t>• </a:t>
            </a:r>
          </a:p>
          <a:p>
            <a:pPr>
              <a:buFont typeface="Arial" charset="0"/>
              <a:buChar char="•"/>
            </a:pPr>
            <a:r>
              <a:rPr lang="en-US" sz="2000" dirty="0">
                <a:latin typeface="Times New Roman" charset="0"/>
                <a:ea typeface="Times New Roman" charset="0"/>
                <a:cs typeface="Times New Roman" charset="0"/>
              </a:rPr>
              <a:t>Nitrogen: Promotes vegetative growth and chlorophyll formation. • </a:t>
            </a:r>
          </a:p>
          <a:p>
            <a:pPr>
              <a:buFont typeface="Arial" charset="0"/>
              <a:buChar char="•"/>
            </a:pPr>
            <a:r>
              <a:rPr lang="en-US" sz="2000" dirty="0">
                <a:latin typeface="Times New Roman" charset="0"/>
                <a:ea typeface="Times New Roman" charset="0"/>
                <a:cs typeface="Times New Roman" charset="0"/>
              </a:rPr>
              <a:t>Phosphorus: Important for root development, flowering, and energy transfer. • </a:t>
            </a:r>
          </a:p>
          <a:p>
            <a:pPr>
              <a:buFont typeface="Arial" charset="0"/>
              <a:buChar char="•"/>
            </a:pPr>
            <a:r>
              <a:rPr lang="en-US" sz="2000" dirty="0">
                <a:latin typeface="Times New Roman" charset="0"/>
                <a:ea typeface="Times New Roman" charset="0"/>
                <a:cs typeface="Times New Roman" charset="0"/>
              </a:rPr>
              <a:t>Potassium: Enhances water regulation, disease resistance, and crop quality. </a:t>
            </a:r>
          </a:p>
          <a:p>
            <a:pPr marL="0" indent="0">
              <a:buNone/>
            </a:pPr>
            <a:r>
              <a:rPr lang="en-US" sz="2000" b="1" dirty="0">
                <a:latin typeface="Times New Roman" charset="0"/>
                <a:ea typeface="Times New Roman" charset="0"/>
                <a:cs typeface="Times New Roman" charset="0"/>
              </a:rPr>
              <a:t>Nutrient Deficiency Effects </a:t>
            </a:r>
            <a:r>
              <a:rPr lang="en-US" sz="2000" dirty="0">
                <a:latin typeface="Times New Roman" charset="0"/>
                <a:ea typeface="Times New Roman" charset="0"/>
                <a:cs typeface="Times New Roman" charset="0"/>
              </a:rPr>
              <a:t>• </a:t>
            </a:r>
          </a:p>
          <a:p>
            <a:pPr>
              <a:buFont typeface="Arial" charset="0"/>
              <a:buChar char="•"/>
            </a:pPr>
            <a:r>
              <a:rPr lang="en-US" sz="2000" dirty="0">
                <a:latin typeface="Times New Roman" charset="0"/>
                <a:ea typeface="Times New Roman" charset="0"/>
                <a:cs typeface="Times New Roman" charset="0"/>
              </a:rPr>
              <a:t>Stunted growth and poor crop vigor. • </a:t>
            </a:r>
          </a:p>
          <a:p>
            <a:pPr>
              <a:buFont typeface="Arial" charset="0"/>
              <a:buChar char="•"/>
            </a:pPr>
            <a:r>
              <a:rPr lang="en-US" sz="2000" dirty="0">
                <a:latin typeface="Times New Roman" charset="0"/>
                <a:ea typeface="Times New Roman" charset="0"/>
                <a:cs typeface="Times New Roman" charset="0"/>
              </a:rPr>
              <a:t>Leaf discoloration such as </a:t>
            </a:r>
            <a:r>
              <a:rPr lang="en-US" sz="2000" dirty="0" err="1">
                <a:latin typeface="Times New Roman" charset="0"/>
                <a:ea typeface="Times New Roman" charset="0"/>
                <a:cs typeface="Times New Roman" charset="0"/>
              </a:rPr>
              <a:t>chlorosis</a:t>
            </a:r>
            <a:r>
              <a:rPr lang="en-US" sz="2000" dirty="0">
                <a:latin typeface="Times New Roman" charset="0"/>
                <a:ea typeface="Times New Roman" charset="0"/>
                <a:cs typeface="Times New Roman" charset="0"/>
              </a:rPr>
              <a:t> or necrosis. • </a:t>
            </a:r>
          </a:p>
          <a:p>
            <a:pPr>
              <a:buFont typeface="Arial" charset="0"/>
              <a:buChar char="•"/>
            </a:pPr>
            <a:r>
              <a:rPr lang="en-US" sz="2000" dirty="0">
                <a:latin typeface="Times New Roman" charset="0"/>
                <a:ea typeface="Times New Roman" charset="0"/>
                <a:cs typeface="Times New Roman" charset="0"/>
              </a:rPr>
              <a:t>Reduced yield and inferior produce quality.</a:t>
            </a:r>
          </a:p>
        </p:txBody>
      </p:sp>
    </p:spTree>
    <p:extLst>
      <p:ext uri="{BB962C8B-B14F-4D97-AF65-F5344CB8AC3E}">
        <p14:creationId xmlns:p14="http://schemas.microsoft.com/office/powerpoint/2010/main" val="2004270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18247"/>
          </a:xfrm>
        </p:spPr>
        <p:txBody>
          <a:bodyPr>
            <a:normAutofit fontScale="90000"/>
          </a:bodyPr>
          <a:lstStyle/>
          <a:p>
            <a:r>
              <a:rPr lang="en-US" sz="3200" b="1" dirty="0">
                <a:latin typeface="Times New Roman" charset="0"/>
                <a:ea typeface="Times New Roman" charset="0"/>
                <a:cs typeface="Times New Roman" charset="0"/>
              </a:rPr>
              <a:t>Light Requirements for Crop Growth</a:t>
            </a:r>
          </a:p>
        </p:txBody>
      </p:sp>
      <p:sp>
        <p:nvSpPr>
          <p:cNvPr id="3" name="Content Placeholder 2"/>
          <p:cNvSpPr>
            <a:spLocks noGrp="1"/>
          </p:cNvSpPr>
          <p:nvPr>
            <p:ph idx="1"/>
          </p:nvPr>
        </p:nvSpPr>
        <p:spPr>
          <a:xfrm>
            <a:off x="457201" y="993059"/>
            <a:ext cx="8332838" cy="4817806"/>
          </a:xfrm>
        </p:spPr>
        <p:txBody>
          <a:bodyPr>
            <a:normAutofit fontScale="92500"/>
          </a:bodyPr>
          <a:lstStyle/>
          <a:p>
            <a:pPr marL="0" indent="0">
              <a:buNone/>
            </a:pPr>
            <a:r>
              <a:rPr lang="en-US" sz="2000" dirty="0">
                <a:latin typeface="Times New Roman" charset="0"/>
                <a:ea typeface="Times New Roman" charset="0"/>
                <a:cs typeface="Times New Roman" charset="0"/>
              </a:rPr>
              <a:t>Light is the primary source of energy for plants and is essential for photosynthesis. The intensity, quality, and duration of light influence plant growth and development. </a:t>
            </a:r>
          </a:p>
          <a:p>
            <a:pPr marL="0" indent="0">
              <a:buNone/>
            </a:pPr>
            <a:r>
              <a:rPr lang="en-US" sz="2000" b="1" dirty="0">
                <a:latin typeface="Times New Roman" charset="0"/>
                <a:ea typeface="Times New Roman" charset="0"/>
                <a:cs typeface="Times New Roman" charset="0"/>
              </a:rPr>
              <a:t>Importance of Light </a:t>
            </a:r>
            <a:r>
              <a:rPr lang="en-US" sz="2000" dirty="0">
                <a:latin typeface="Times New Roman" charset="0"/>
                <a:ea typeface="Times New Roman" charset="0"/>
                <a:cs typeface="Times New Roman" charset="0"/>
              </a:rPr>
              <a:t> </a:t>
            </a:r>
          </a:p>
          <a:p>
            <a:pPr>
              <a:buFont typeface="Wingdings" charset="2"/>
              <a:buChar char="Ø"/>
            </a:pPr>
            <a:r>
              <a:rPr lang="en-US" sz="2000" dirty="0">
                <a:latin typeface="Times New Roman" charset="0"/>
                <a:ea typeface="Times New Roman" charset="0"/>
                <a:cs typeface="Times New Roman" charset="0"/>
              </a:rPr>
              <a:t>Provides energy for photosynthesis. </a:t>
            </a:r>
          </a:p>
          <a:p>
            <a:pPr>
              <a:buFont typeface="Wingdings" charset="2"/>
              <a:buChar char="Ø"/>
            </a:pPr>
            <a:r>
              <a:rPr lang="en-US" sz="2000" dirty="0">
                <a:latin typeface="Times New Roman" charset="0"/>
                <a:ea typeface="Times New Roman" charset="0"/>
                <a:cs typeface="Times New Roman" charset="0"/>
              </a:rPr>
              <a:t>Influences plant height, leaf size, and branching. </a:t>
            </a:r>
          </a:p>
          <a:p>
            <a:pPr>
              <a:buFont typeface="Wingdings" charset="2"/>
              <a:buChar char="Ø"/>
            </a:pPr>
            <a:r>
              <a:rPr lang="en-US" sz="2000" dirty="0">
                <a:latin typeface="Times New Roman" charset="0"/>
                <a:ea typeface="Times New Roman" charset="0"/>
                <a:cs typeface="Times New Roman" charset="0"/>
              </a:rPr>
              <a:t>Regulates flowering through </a:t>
            </a:r>
            <a:r>
              <a:rPr lang="en-US" sz="2000" dirty="0" err="1">
                <a:latin typeface="Times New Roman" charset="0"/>
                <a:ea typeface="Times New Roman" charset="0"/>
                <a:cs typeface="Times New Roman" charset="0"/>
              </a:rPr>
              <a:t>photoperiodism</a:t>
            </a:r>
            <a:r>
              <a:rPr lang="en-US" sz="2000" dirty="0">
                <a:latin typeface="Times New Roman" charset="0"/>
                <a:ea typeface="Times New Roman" charset="0"/>
                <a:cs typeface="Times New Roman" charset="0"/>
              </a:rPr>
              <a:t>. </a:t>
            </a:r>
          </a:p>
          <a:p>
            <a:pPr marL="0" indent="0">
              <a:buNone/>
            </a:pPr>
            <a:r>
              <a:rPr lang="en-US" sz="2000" b="1" dirty="0">
                <a:latin typeface="Times New Roman" charset="0"/>
                <a:ea typeface="Times New Roman" charset="0"/>
                <a:cs typeface="Times New Roman" charset="0"/>
              </a:rPr>
              <a:t>Light Intensity and Duration </a:t>
            </a:r>
            <a:endParaRPr lang="en-US" sz="2000" dirty="0">
              <a:latin typeface="Times New Roman" charset="0"/>
              <a:ea typeface="Times New Roman" charset="0"/>
              <a:cs typeface="Times New Roman" charset="0"/>
            </a:endParaRPr>
          </a:p>
          <a:p>
            <a:pPr>
              <a:buFont typeface="Wingdings" charset="2"/>
              <a:buChar char="Ø"/>
            </a:pPr>
            <a:r>
              <a:rPr lang="en-US" sz="2000" dirty="0">
                <a:latin typeface="Times New Roman" charset="0"/>
                <a:ea typeface="Times New Roman" charset="0"/>
                <a:cs typeface="Times New Roman" charset="0"/>
              </a:rPr>
              <a:t>High light intensity generally increases photosynthesis up to an optimum level. </a:t>
            </a:r>
          </a:p>
          <a:p>
            <a:pPr>
              <a:buFont typeface="Wingdings" charset="2"/>
              <a:buChar char="Ø"/>
            </a:pPr>
            <a:r>
              <a:rPr lang="en-US" sz="2000" dirty="0">
                <a:latin typeface="Times New Roman" charset="0"/>
                <a:ea typeface="Times New Roman" charset="0"/>
                <a:cs typeface="Times New Roman" charset="0"/>
              </a:rPr>
              <a:t>Low light intensity leads to weak, elongated plants (</a:t>
            </a:r>
            <a:r>
              <a:rPr lang="en-US" sz="2000" dirty="0" err="1">
                <a:latin typeface="Times New Roman" charset="0"/>
                <a:ea typeface="Times New Roman" charset="0"/>
                <a:cs typeface="Times New Roman" charset="0"/>
              </a:rPr>
              <a:t>etiolation</a:t>
            </a:r>
            <a:r>
              <a:rPr lang="en-US" sz="2000" dirty="0">
                <a:latin typeface="Times New Roman" charset="0"/>
                <a:ea typeface="Times New Roman" charset="0"/>
                <a:cs typeface="Times New Roman" charset="0"/>
              </a:rPr>
              <a:t>). </a:t>
            </a:r>
          </a:p>
          <a:p>
            <a:pPr>
              <a:buFont typeface="Wingdings" charset="2"/>
              <a:buChar char="Ø"/>
            </a:pPr>
            <a:r>
              <a:rPr lang="en-US" sz="2000" dirty="0">
                <a:latin typeface="Times New Roman" charset="0"/>
                <a:ea typeface="Times New Roman" charset="0"/>
                <a:cs typeface="Times New Roman" charset="0"/>
              </a:rPr>
              <a:t>Photoperiod affects flowering in short-day, long-day, and day-neutral crops.</a:t>
            </a:r>
          </a:p>
        </p:txBody>
      </p:sp>
    </p:spTree>
    <p:extLst>
      <p:ext uri="{BB962C8B-B14F-4D97-AF65-F5344CB8AC3E}">
        <p14:creationId xmlns:p14="http://schemas.microsoft.com/office/powerpoint/2010/main" val="2434445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93550"/>
          </a:xfrm>
        </p:spPr>
        <p:txBody>
          <a:bodyPr>
            <a:normAutofit fontScale="90000"/>
          </a:bodyPr>
          <a:lstStyle/>
          <a:p>
            <a:r>
              <a:rPr lang="en-US" sz="3200" b="1" dirty="0">
                <a:latin typeface="Times New Roman" charset="0"/>
                <a:ea typeface="Times New Roman" charset="0"/>
                <a:cs typeface="Times New Roman" charset="0"/>
              </a:rPr>
              <a:t>Temperature Requirements for Crop Growth</a:t>
            </a:r>
          </a:p>
        </p:txBody>
      </p:sp>
      <p:sp>
        <p:nvSpPr>
          <p:cNvPr id="3" name="Content Placeholder 2"/>
          <p:cNvSpPr>
            <a:spLocks noGrp="1"/>
          </p:cNvSpPr>
          <p:nvPr>
            <p:ph idx="1"/>
          </p:nvPr>
        </p:nvSpPr>
        <p:spPr>
          <a:xfrm>
            <a:off x="285135" y="1071717"/>
            <a:ext cx="8603226" cy="4394630"/>
          </a:xfrm>
        </p:spPr>
        <p:txBody>
          <a:bodyPr>
            <a:normAutofit fontScale="92500" lnSpcReduction="20000"/>
          </a:bodyPr>
          <a:lstStyle/>
          <a:p>
            <a:pPr marL="0" indent="0">
              <a:buNone/>
            </a:pPr>
            <a:r>
              <a:rPr lang="en-US" sz="2000" dirty="0">
                <a:latin typeface="Times New Roman" charset="0"/>
                <a:ea typeface="Times New Roman" charset="0"/>
                <a:cs typeface="Times New Roman" charset="0"/>
              </a:rPr>
              <a:t>Temperature affects all physiological processes in plants, including germination, growth, and reproduction. Each crop species has an optimum temperature range for growth. </a:t>
            </a:r>
          </a:p>
          <a:p>
            <a:pPr marL="0" indent="0">
              <a:buNone/>
            </a:pPr>
            <a:r>
              <a:rPr lang="en-US" sz="2000" b="1" dirty="0">
                <a:latin typeface="Times New Roman" charset="0"/>
                <a:ea typeface="Times New Roman" charset="0"/>
                <a:cs typeface="Times New Roman" charset="0"/>
              </a:rPr>
              <a:t>Temperature Ranges </a:t>
            </a:r>
            <a:r>
              <a:rPr lang="en-US" sz="2000" dirty="0">
                <a:latin typeface="Times New Roman" charset="0"/>
                <a:ea typeface="Times New Roman" charset="0"/>
                <a:cs typeface="Times New Roman" charset="0"/>
              </a:rPr>
              <a:t> </a:t>
            </a:r>
          </a:p>
          <a:p>
            <a:pPr>
              <a:buFont typeface="Wingdings" charset="2"/>
              <a:buChar char="ü"/>
            </a:pPr>
            <a:r>
              <a:rPr lang="en-US" sz="2000" dirty="0">
                <a:latin typeface="Times New Roman" charset="0"/>
                <a:ea typeface="Times New Roman" charset="0"/>
                <a:cs typeface="Times New Roman" charset="0"/>
              </a:rPr>
              <a:t>Minimum temperature: Below this, growth is severely restricted. </a:t>
            </a:r>
          </a:p>
          <a:p>
            <a:pPr>
              <a:buFont typeface="Wingdings" charset="2"/>
              <a:buChar char="ü"/>
            </a:pPr>
            <a:r>
              <a:rPr lang="en-US" sz="2000" dirty="0">
                <a:latin typeface="Times New Roman" charset="0"/>
                <a:ea typeface="Times New Roman" charset="0"/>
                <a:cs typeface="Times New Roman" charset="0"/>
              </a:rPr>
              <a:t>Optimum temperature: Growth and development occur at maximum efficiency. </a:t>
            </a:r>
          </a:p>
          <a:p>
            <a:pPr>
              <a:buFont typeface="Wingdings" charset="2"/>
              <a:buChar char="ü"/>
            </a:pPr>
            <a:r>
              <a:rPr lang="en-US" sz="2000" dirty="0">
                <a:latin typeface="Times New Roman" charset="0"/>
                <a:ea typeface="Times New Roman" charset="0"/>
                <a:cs typeface="Times New Roman" charset="0"/>
              </a:rPr>
              <a:t>Maximum temperature: Above this, growth declines and heat stress occurs. </a:t>
            </a:r>
          </a:p>
          <a:p>
            <a:pPr marL="0" indent="0">
              <a:buNone/>
            </a:pPr>
            <a:r>
              <a:rPr lang="en-US" sz="2000" b="1" dirty="0">
                <a:latin typeface="Times New Roman" charset="0"/>
                <a:ea typeface="Times New Roman" charset="0"/>
                <a:cs typeface="Times New Roman" charset="0"/>
              </a:rPr>
              <a:t>Effects of Extreme Temperatures </a:t>
            </a:r>
            <a:r>
              <a:rPr lang="en-US" sz="2000" dirty="0">
                <a:latin typeface="Times New Roman" charset="0"/>
                <a:ea typeface="Times New Roman" charset="0"/>
                <a:cs typeface="Times New Roman" charset="0"/>
              </a:rPr>
              <a:t> </a:t>
            </a:r>
          </a:p>
          <a:p>
            <a:pPr>
              <a:buFont typeface="Wingdings" charset="2"/>
              <a:buChar char="ü"/>
            </a:pPr>
            <a:r>
              <a:rPr lang="en-US" sz="2000" dirty="0">
                <a:latin typeface="Times New Roman" charset="0"/>
                <a:ea typeface="Times New Roman" charset="0"/>
                <a:cs typeface="Times New Roman" charset="0"/>
              </a:rPr>
              <a:t>Low temperatures can cause frost damage and delayed growth. </a:t>
            </a:r>
          </a:p>
          <a:p>
            <a:pPr>
              <a:buFont typeface="Wingdings" charset="2"/>
              <a:buChar char="ü"/>
            </a:pPr>
            <a:r>
              <a:rPr lang="en-US" sz="2000" dirty="0">
                <a:latin typeface="Times New Roman" charset="0"/>
                <a:ea typeface="Times New Roman" charset="0"/>
                <a:cs typeface="Times New Roman" charset="0"/>
              </a:rPr>
              <a:t>High temperatures increase respiration and may cause heat stress. </a:t>
            </a:r>
          </a:p>
          <a:p>
            <a:pPr>
              <a:buFont typeface="Wingdings" charset="2"/>
              <a:buChar char="ü"/>
            </a:pPr>
            <a:r>
              <a:rPr lang="en-US" sz="2000" dirty="0">
                <a:latin typeface="Times New Roman" charset="0"/>
                <a:ea typeface="Times New Roman" charset="0"/>
                <a:cs typeface="Times New Roman" charset="0"/>
              </a:rPr>
              <a:t>Extreme temperatures can reduce pollination, fruit set, and yield.</a:t>
            </a:r>
          </a:p>
        </p:txBody>
      </p:sp>
    </p:spTree>
    <p:extLst>
      <p:ext uri="{BB962C8B-B14F-4D97-AF65-F5344CB8AC3E}">
        <p14:creationId xmlns:p14="http://schemas.microsoft.com/office/powerpoint/2010/main" val="17289702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2219" y="373627"/>
            <a:ext cx="7325033" cy="835742"/>
          </a:xfrm>
        </p:spPr>
        <p:txBody>
          <a:bodyPr>
            <a:normAutofit fontScale="90000"/>
          </a:bodyPr>
          <a:lstStyle/>
          <a:p>
            <a:r>
              <a:rPr lang="en-US" sz="3200" dirty="0">
                <a:latin typeface="Times New Roman" charset="0"/>
                <a:ea typeface="Times New Roman" charset="0"/>
                <a:cs typeface="Times New Roman" charset="0"/>
              </a:rPr>
              <a:t>Photosynthesis: light reactions and Calvin cycle</a:t>
            </a:r>
          </a:p>
        </p:txBody>
      </p:sp>
      <p:sp>
        <p:nvSpPr>
          <p:cNvPr id="3" name="Content Placeholder 2"/>
          <p:cNvSpPr>
            <a:spLocks noGrp="1"/>
          </p:cNvSpPr>
          <p:nvPr>
            <p:ph idx="1"/>
          </p:nvPr>
        </p:nvSpPr>
        <p:spPr>
          <a:xfrm>
            <a:off x="589935" y="1347019"/>
            <a:ext cx="8180439" cy="4119327"/>
          </a:xfrm>
        </p:spPr>
        <p:txBody>
          <a:bodyPr>
            <a:normAutofit/>
          </a:bodyPr>
          <a:lstStyle/>
          <a:p>
            <a:pPr marL="0" indent="0">
              <a:buNone/>
            </a:pPr>
            <a:r>
              <a:rPr lang="en-US" sz="2000" b="1" dirty="0">
                <a:latin typeface="Times New Roman" charset="0"/>
                <a:ea typeface="Times New Roman" charset="0"/>
                <a:cs typeface="Times New Roman" charset="0"/>
              </a:rPr>
              <a:t>photosynthesis</a:t>
            </a:r>
            <a:r>
              <a:rPr lang="en-US" sz="2000" dirty="0">
                <a:latin typeface="Times New Roman" charset="0"/>
                <a:ea typeface="Times New Roman" charset="0"/>
                <a:cs typeface="Times New Roman" charset="0"/>
              </a:rPr>
              <a:t> - the process by which green plants and certain other organisms transform light energy into chemical energy. During photosynthesis in green plants, light energy  is captured and used to convert water, carbon dioxide, and minerals into oxygen and energy-rich organic compounds.</a:t>
            </a:r>
          </a:p>
          <a:p>
            <a:pPr marL="0" indent="0">
              <a:buNone/>
            </a:pPr>
            <a:r>
              <a:rPr lang="en-US" sz="2000" dirty="0">
                <a:latin typeface="Times New Roman" charset="0"/>
                <a:ea typeface="Times New Roman" charset="0"/>
                <a:cs typeface="Times New Roman" charset="0"/>
              </a:rPr>
              <a:t>Plants, algae, and certain bacteria (cyanobacteria and green and purple sulfur bacteria) are called </a:t>
            </a:r>
            <a:r>
              <a:rPr lang="en-US" sz="2000" b="1" dirty="0">
                <a:latin typeface="Times New Roman" charset="0"/>
                <a:ea typeface="Times New Roman" charset="0"/>
                <a:cs typeface="Times New Roman" charset="0"/>
              </a:rPr>
              <a:t>photoautotrophs.</a:t>
            </a:r>
          </a:p>
          <a:p>
            <a:pPr marL="0" indent="0">
              <a:buNone/>
            </a:pPr>
            <a:r>
              <a:rPr lang="en-US" sz="2000" dirty="0">
                <a:latin typeface="Times New Roman" charset="0"/>
                <a:ea typeface="Times New Roman" charset="0"/>
                <a:cs typeface="Times New Roman" charset="0"/>
              </a:rPr>
              <a:t>Other organisms, such as animals, fungi, and most other bacteria, are termed </a:t>
            </a:r>
            <a:r>
              <a:rPr lang="en-US" sz="2000" b="1" dirty="0">
                <a:latin typeface="Times New Roman" charset="0"/>
                <a:ea typeface="Times New Roman" charset="0"/>
                <a:cs typeface="Times New Roman" charset="0"/>
              </a:rPr>
              <a:t>heterotrophs</a:t>
            </a:r>
            <a:r>
              <a:rPr lang="en-US" sz="2000" dirty="0">
                <a:latin typeface="Times New Roman" charset="0"/>
                <a:ea typeface="Times New Roman" charset="0"/>
                <a:cs typeface="Times New Roman" charset="0"/>
              </a:rPr>
              <a:t> (“other feeders”), because they must rely on the sugars produced by photosynthetic organisms for their energy needs.</a:t>
            </a:r>
          </a:p>
        </p:txBody>
      </p:sp>
    </p:spTree>
    <p:extLst>
      <p:ext uri="{BB962C8B-B14F-4D97-AF65-F5344CB8AC3E}">
        <p14:creationId xmlns:p14="http://schemas.microsoft.com/office/powerpoint/2010/main" val="17164621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823"/>
          </a:xfrm>
        </p:spPr>
        <p:txBody>
          <a:bodyPr>
            <a:normAutofit/>
          </a:bodyPr>
          <a:lstStyle/>
          <a:p>
            <a:r>
              <a:rPr lang="en-US" sz="3200" dirty="0">
                <a:latin typeface="Times New Roman" charset="0"/>
                <a:ea typeface="Times New Roman" charset="0"/>
                <a:cs typeface="Times New Roman" charset="0"/>
              </a:rPr>
              <a:t>Light reactions and Calvin cycle</a:t>
            </a:r>
          </a:p>
        </p:txBody>
      </p:sp>
      <p:sp>
        <p:nvSpPr>
          <p:cNvPr id="3" name="Content Placeholder 2"/>
          <p:cNvSpPr>
            <a:spLocks noGrp="1"/>
          </p:cNvSpPr>
          <p:nvPr>
            <p:ph idx="1"/>
          </p:nvPr>
        </p:nvSpPr>
        <p:spPr>
          <a:xfrm>
            <a:off x="457200" y="1000462"/>
            <a:ext cx="4846320" cy="5125702"/>
          </a:xfrm>
        </p:spPr>
        <p:txBody>
          <a:bodyPr>
            <a:normAutofit fontScale="92500" lnSpcReduction="20000"/>
          </a:bodyPr>
          <a:lstStyle/>
          <a:p>
            <a:pPr marL="0" indent="0">
              <a:buNone/>
            </a:pPr>
            <a:r>
              <a:rPr lang="en-US" sz="2000" dirty="0">
                <a:latin typeface="Times New Roman" charset="0"/>
                <a:ea typeface="Times New Roman" charset="0"/>
                <a:cs typeface="Times New Roman" charset="0"/>
              </a:rPr>
              <a:t>Photosynthesis takes place in two sequential stages: the </a:t>
            </a:r>
            <a:r>
              <a:rPr lang="en-US" sz="2000" b="1" dirty="0">
                <a:latin typeface="Times New Roman" charset="0"/>
                <a:ea typeface="Times New Roman" charset="0"/>
                <a:cs typeface="Times New Roman" charset="0"/>
              </a:rPr>
              <a:t>light-dependent reactions</a:t>
            </a:r>
            <a:r>
              <a:rPr lang="en-US" sz="2000" dirty="0">
                <a:latin typeface="Times New Roman" charset="0"/>
                <a:ea typeface="Times New Roman" charset="0"/>
                <a:cs typeface="Times New Roman" charset="0"/>
              </a:rPr>
              <a:t> and the </a:t>
            </a:r>
            <a:r>
              <a:rPr lang="en-US" sz="2000" b="1" dirty="0">
                <a:latin typeface="Times New Roman" charset="0"/>
                <a:ea typeface="Times New Roman" charset="0"/>
                <a:cs typeface="Times New Roman" charset="0"/>
              </a:rPr>
              <a:t>light independent-reactions </a:t>
            </a:r>
            <a:r>
              <a:rPr lang="en-US" sz="2000" dirty="0">
                <a:latin typeface="Times New Roman" charset="0"/>
                <a:ea typeface="Times New Roman" charset="0"/>
                <a:cs typeface="Times New Roman" charset="0"/>
              </a:rPr>
              <a:t>(Calvin cycle).</a:t>
            </a:r>
          </a:p>
          <a:p>
            <a:pPr>
              <a:buFont typeface="Wingdings" charset="2"/>
              <a:buChar char="ü"/>
            </a:pPr>
            <a:r>
              <a:rPr lang="en-US" sz="2000" dirty="0">
                <a:latin typeface="Times New Roman" charset="0"/>
                <a:ea typeface="Times New Roman" charset="0"/>
                <a:cs typeface="Times New Roman" charset="0"/>
              </a:rPr>
              <a:t>Just as the name implies, light-dependent reactions require sunlight. </a:t>
            </a:r>
          </a:p>
          <a:p>
            <a:pPr>
              <a:buFont typeface="Wingdings" charset="2"/>
              <a:buChar char="ü"/>
            </a:pPr>
            <a:r>
              <a:rPr lang="en-US" sz="2000" dirty="0">
                <a:latin typeface="Times New Roman" charset="0"/>
                <a:ea typeface="Times New Roman" charset="0"/>
                <a:cs typeface="Times New Roman" charset="0"/>
              </a:rPr>
              <a:t>In the light-dependent reactions, energy from sunlight is absorbed by chlorophyll and converted into stored chemical energy, in the form of the electron carrier molecule NADPH (</a:t>
            </a:r>
            <a:r>
              <a:rPr lang="en-US" sz="2000" dirty="0" err="1">
                <a:latin typeface="Times New Roman" charset="0"/>
                <a:ea typeface="Times New Roman" charset="0"/>
                <a:cs typeface="Times New Roman" charset="0"/>
              </a:rPr>
              <a:t>nicotinamide</a:t>
            </a:r>
            <a:r>
              <a:rPr lang="en-US" sz="2000" dirty="0">
                <a:latin typeface="Times New Roman" charset="0"/>
                <a:ea typeface="Times New Roman" charset="0"/>
                <a:cs typeface="Times New Roman" charset="0"/>
              </a:rPr>
              <a:t> adenine dinucleotide phosphate) and the energy currency molecule ATP (adenosine triphosphate). </a:t>
            </a:r>
          </a:p>
          <a:p>
            <a:pPr>
              <a:buFont typeface="Wingdings" charset="2"/>
              <a:buChar char="ü"/>
            </a:pPr>
            <a:r>
              <a:rPr lang="en-US" sz="2000" dirty="0">
                <a:latin typeface="Times New Roman" charset="0"/>
                <a:ea typeface="Times New Roman" charset="0"/>
                <a:cs typeface="Times New Roman" charset="0"/>
              </a:rPr>
              <a:t>The light-dependent reactions take place in the thylakoid membranes in the granum (stack of thylakoids), within the chloroplast.</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3520" y="1000462"/>
            <a:ext cx="3840480" cy="3958814"/>
          </a:xfrm>
          <a:prstGeom prst="rect">
            <a:avLst/>
          </a:prstGeom>
        </p:spPr>
      </p:pic>
    </p:spTree>
    <p:extLst>
      <p:ext uri="{BB962C8B-B14F-4D97-AF65-F5344CB8AC3E}">
        <p14:creationId xmlns:p14="http://schemas.microsoft.com/office/powerpoint/2010/main" val="1234733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68854"/>
          </a:xfrm>
        </p:spPr>
        <p:txBody>
          <a:bodyPr>
            <a:normAutofit/>
          </a:bodyPr>
          <a:lstStyle/>
          <a:p>
            <a:r>
              <a:rPr lang="en-US" sz="3200" b="1" dirty="0">
                <a:latin typeface="Times New Roman" charset="0"/>
                <a:ea typeface="Times New Roman" charset="0"/>
                <a:cs typeface="Times New Roman" charset="0"/>
              </a:rPr>
              <a:t>Light-Independent Reactions</a:t>
            </a:r>
            <a:endParaRPr lang="en-US" sz="3200" dirty="0">
              <a:latin typeface="Times New Roman" charset="0"/>
              <a:ea typeface="Times New Roman" charset="0"/>
              <a:cs typeface="Times New Roman" charset="0"/>
            </a:endParaRPr>
          </a:p>
        </p:txBody>
      </p:sp>
      <p:sp>
        <p:nvSpPr>
          <p:cNvPr id="3" name="Content Placeholder 2"/>
          <p:cNvSpPr>
            <a:spLocks noGrp="1"/>
          </p:cNvSpPr>
          <p:nvPr>
            <p:ph idx="1"/>
          </p:nvPr>
        </p:nvSpPr>
        <p:spPr>
          <a:xfrm>
            <a:off x="457200" y="1312434"/>
            <a:ext cx="8229600" cy="4813730"/>
          </a:xfrm>
        </p:spPr>
        <p:txBody>
          <a:bodyPr>
            <a:normAutofit fontScale="92500" lnSpcReduction="20000"/>
          </a:bodyPr>
          <a:lstStyle/>
          <a:p>
            <a:pPr>
              <a:buFont typeface="Wingdings" charset="2"/>
              <a:buChar char="ü"/>
            </a:pPr>
            <a:r>
              <a:rPr lang="en-US" sz="2000" dirty="0">
                <a:latin typeface="Times New Roman" charset="0"/>
                <a:ea typeface="Times New Roman" charset="0"/>
                <a:cs typeface="Times New Roman" charset="0"/>
              </a:rPr>
              <a:t>In the light-independent reactions or Calvin cycle, the energized electrons from the light-dependent reactions provide the energy to form carbohydrates from carbon dioxide molecules. </a:t>
            </a:r>
          </a:p>
          <a:p>
            <a:pPr>
              <a:buFont typeface="Wingdings" charset="2"/>
              <a:buChar char="ü"/>
            </a:pPr>
            <a:r>
              <a:rPr lang="en-US" sz="2000" dirty="0">
                <a:latin typeface="Times New Roman" charset="0"/>
                <a:ea typeface="Times New Roman" charset="0"/>
                <a:cs typeface="Times New Roman" charset="0"/>
              </a:rPr>
              <a:t>The light-independent reactions are sometimes called the Calvin cycle because of the cyclical nature of the process.</a:t>
            </a:r>
          </a:p>
          <a:p>
            <a:pPr>
              <a:buFont typeface="Wingdings" charset="2"/>
              <a:buChar char="ü"/>
            </a:pPr>
            <a:r>
              <a:rPr lang="en-US" sz="2000" dirty="0">
                <a:latin typeface="Times New Roman" charset="0"/>
                <a:ea typeface="Times New Roman" charset="0"/>
                <a:cs typeface="Times New Roman" charset="0"/>
              </a:rPr>
              <a:t>Although the light-independent reactions do not use light as a reactant (and as a result can take place at day or night), they require the products of the light-dependent reactions to function. </a:t>
            </a:r>
          </a:p>
          <a:p>
            <a:pPr>
              <a:buFont typeface="Wingdings" charset="2"/>
              <a:buChar char="ü"/>
            </a:pPr>
            <a:r>
              <a:rPr lang="en-US" sz="2000" dirty="0">
                <a:latin typeface="Times New Roman" charset="0"/>
                <a:ea typeface="Times New Roman" charset="0"/>
                <a:cs typeface="Times New Roman" charset="0"/>
              </a:rPr>
              <a:t>The light-independent molecules depend on the energy carrier molecules, ATP and NADPH, to drive the construction of new carbohydrate molecules. </a:t>
            </a:r>
          </a:p>
          <a:p>
            <a:pPr>
              <a:buFont typeface="Wingdings" charset="2"/>
              <a:buChar char="ü"/>
            </a:pPr>
            <a:r>
              <a:rPr lang="en-US" sz="2000" dirty="0">
                <a:latin typeface="Times New Roman" charset="0"/>
                <a:ea typeface="Times New Roman" charset="0"/>
                <a:cs typeface="Times New Roman" charset="0"/>
              </a:rPr>
              <a:t>After the energy is transferred, the energy carrier molecules return to the light-dependent reactions to obtain more energized electrons. </a:t>
            </a:r>
          </a:p>
          <a:p>
            <a:pPr>
              <a:buFont typeface="Wingdings" charset="2"/>
              <a:buChar char="ü"/>
            </a:pPr>
            <a:r>
              <a:rPr lang="en-US" sz="2000" dirty="0">
                <a:latin typeface="Times New Roman" charset="0"/>
                <a:ea typeface="Times New Roman" charset="0"/>
                <a:cs typeface="Times New Roman" charset="0"/>
              </a:rPr>
              <a:t>In addition, several enzymes of the light-independent reactions are activated by light.</a:t>
            </a:r>
          </a:p>
        </p:txBody>
      </p:sp>
    </p:spTree>
    <p:extLst>
      <p:ext uri="{BB962C8B-B14F-4D97-AF65-F5344CB8AC3E}">
        <p14:creationId xmlns:p14="http://schemas.microsoft.com/office/powerpoint/2010/main" val="18086657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54C91-06CA-8597-244B-BE79ECA1C771}"/>
              </a:ext>
            </a:extLst>
          </p:cNvPr>
          <p:cNvSpPr>
            <a:spLocks noGrp="1"/>
          </p:cNvSpPr>
          <p:nvPr>
            <p:ph type="title"/>
          </p:nvPr>
        </p:nvSpPr>
        <p:spPr>
          <a:xfrm>
            <a:off x="560439" y="88491"/>
            <a:ext cx="7655465" cy="1303164"/>
          </a:xfrm>
        </p:spPr>
        <p:txBody>
          <a:bodyPr>
            <a:normAutofit/>
          </a:bodyPr>
          <a:lstStyle/>
          <a:p>
            <a:r>
              <a:rPr lang="en-GB" b="1" dirty="0">
                <a:latin typeface="Times New Roman" panose="02020603050405020304" pitchFamily="18" charset="0"/>
                <a:cs typeface="Times New Roman" panose="02020603050405020304" pitchFamily="18" charset="0"/>
              </a:rPr>
              <a:t>Source–sink relationships in crops</a:t>
            </a:r>
          </a:p>
        </p:txBody>
      </p:sp>
      <p:sp>
        <p:nvSpPr>
          <p:cNvPr id="3" name="Content Placeholder 2">
            <a:extLst>
              <a:ext uri="{FF2B5EF4-FFF2-40B4-BE49-F238E27FC236}">
                <a16:creationId xmlns:a16="http://schemas.microsoft.com/office/drawing/2014/main" id="{6451F8CC-789C-F6B5-C1DE-38BE0A9EC5D4}"/>
              </a:ext>
            </a:extLst>
          </p:cNvPr>
          <p:cNvSpPr>
            <a:spLocks noGrp="1"/>
          </p:cNvSpPr>
          <p:nvPr>
            <p:ph idx="1"/>
          </p:nvPr>
        </p:nvSpPr>
        <p:spPr>
          <a:xfrm>
            <a:off x="403123" y="1268361"/>
            <a:ext cx="8432213" cy="4424516"/>
          </a:xfrm>
        </p:spPr>
        <p:txBody>
          <a:bodyPr>
            <a:normAutofit fontScale="85000" lnSpcReduction="10000"/>
          </a:bodyPr>
          <a:lstStyle/>
          <a:p>
            <a:r>
              <a:rPr lang="en-GB" sz="2200" dirty="0">
                <a:latin typeface="Times New Roman" panose="02020603050405020304" pitchFamily="18" charset="0"/>
                <a:cs typeface="Times New Roman" panose="02020603050405020304" pitchFamily="18" charset="0"/>
              </a:rPr>
              <a:t>Plants and some other microbes are autotrophs, i.e., they prepare their own food. </a:t>
            </a:r>
          </a:p>
          <a:p>
            <a:r>
              <a:rPr lang="en-GB" sz="2200" dirty="0">
                <a:latin typeface="Times New Roman" panose="02020603050405020304" pitchFamily="18" charset="0"/>
                <a:cs typeface="Times New Roman" panose="02020603050405020304" pitchFamily="18" charset="0"/>
              </a:rPr>
              <a:t>Therefore the process of self food preparation in plant is known as photosynthesis.</a:t>
            </a:r>
          </a:p>
          <a:p>
            <a:r>
              <a:rPr lang="en-GB" sz="2200" dirty="0">
                <a:latin typeface="Times New Roman" panose="02020603050405020304" pitchFamily="18" charset="0"/>
                <a:cs typeface="Times New Roman" panose="02020603050405020304" pitchFamily="18" charset="0"/>
              </a:rPr>
              <a:t>And the product is called photosynthate or photo-assimilate. </a:t>
            </a:r>
          </a:p>
          <a:p>
            <a:r>
              <a:rPr lang="en-GB" sz="2200" dirty="0">
                <a:latin typeface="Times New Roman" panose="02020603050405020304" pitchFamily="18" charset="0"/>
                <a:cs typeface="Times New Roman" panose="02020603050405020304" pitchFamily="18" charset="0"/>
              </a:rPr>
              <a:t>The source of production or manufacturing is called Source while storage or point of utilization is called Sink.</a:t>
            </a:r>
          </a:p>
          <a:p>
            <a:r>
              <a:rPr lang="en-GB" sz="2200" dirty="0">
                <a:latin typeface="Times New Roman" panose="02020603050405020304" pitchFamily="18" charset="0"/>
                <a:cs typeface="Times New Roman" panose="02020603050405020304" pitchFamily="18" charset="0"/>
              </a:rPr>
              <a:t>However, this food needs to be transported to different parts of the plant.</a:t>
            </a:r>
          </a:p>
          <a:p>
            <a:r>
              <a:rPr lang="en-GB" sz="2200" dirty="0">
                <a:latin typeface="Times New Roman" panose="02020603050405020304" pitchFamily="18" charset="0"/>
                <a:cs typeface="Times New Roman" panose="02020603050405020304" pitchFamily="18" charset="0"/>
              </a:rPr>
              <a:t> Phloem is a conducting tissue in plants that transports food to all the parts of a plant.</a:t>
            </a:r>
          </a:p>
          <a:p>
            <a:r>
              <a:rPr lang="en-GB" sz="2200" dirty="0">
                <a:latin typeface="Times New Roman" panose="02020603050405020304" pitchFamily="18" charset="0"/>
                <a:cs typeface="Times New Roman" panose="02020603050405020304" pitchFamily="18" charset="0"/>
              </a:rPr>
              <a:t>The movement of food from the source to the sink is known as phloem translocation.</a:t>
            </a:r>
          </a:p>
          <a:p>
            <a:endParaRPr lang="en-GB" dirty="0"/>
          </a:p>
        </p:txBody>
      </p:sp>
    </p:spTree>
    <p:extLst>
      <p:ext uri="{BB962C8B-B14F-4D97-AF65-F5344CB8AC3E}">
        <p14:creationId xmlns:p14="http://schemas.microsoft.com/office/powerpoint/2010/main" val="35820928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5">
            <a:extLst>
              <a:ext uri="{FF2B5EF4-FFF2-40B4-BE49-F238E27FC236}">
                <a16:creationId xmlns:a16="http://schemas.microsoft.com/office/drawing/2014/main" id="{0A9A16E1-A482-8B57-5A03-AE439AA574F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457200" y="1461729"/>
            <a:ext cx="3759201" cy="40941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A49CEFB-49F7-427E-4D8D-4EFFEBE15E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6401" y="1892164"/>
            <a:ext cx="4114799" cy="2675466"/>
          </a:xfrm>
          <a:prstGeom prst="rect">
            <a:avLst/>
          </a:prstGeom>
        </p:spPr>
      </p:pic>
    </p:spTree>
    <p:extLst>
      <p:ext uri="{BB962C8B-B14F-4D97-AF65-F5344CB8AC3E}">
        <p14:creationId xmlns:p14="http://schemas.microsoft.com/office/powerpoint/2010/main" val="3121152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5881E-95BD-DA49-692D-E09ED7E31C98}"/>
              </a:ext>
            </a:extLst>
          </p:cNvPr>
          <p:cNvSpPr>
            <a:spLocks noGrp="1"/>
          </p:cNvSpPr>
          <p:nvPr>
            <p:ph type="title"/>
          </p:nvPr>
        </p:nvSpPr>
        <p:spPr>
          <a:xfrm>
            <a:off x="1443491" y="412956"/>
            <a:ext cx="6251303" cy="865238"/>
          </a:xfrm>
        </p:spPr>
        <p:txBody>
          <a:bodyPr>
            <a:normAutofit fontScale="90000"/>
          </a:bodyPr>
          <a:lstStyle/>
          <a:p>
            <a:r>
              <a:rPr lang="en-US" b="1" dirty="0">
                <a:latin typeface="Times New Roman" charset="0"/>
                <a:ea typeface="Times New Roman" charset="0"/>
                <a:cs typeface="Times New Roman" charset="0"/>
              </a:rPr>
              <a:t>Definition of source and Sink</a:t>
            </a:r>
            <a:endParaRPr lang="en-GB" b="1" dirty="0"/>
          </a:p>
        </p:txBody>
      </p:sp>
      <p:sp>
        <p:nvSpPr>
          <p:cNvPr id="3" name="Content Placeholder 2">
            <a:extLst>
              <a:ext uri="{FF2B5EF4-FFF2-40B4-BE49-F238E27FC236}">
                <a16:creationId xmlns:a16="http://schemas.microsoft.com/office/drawing/2014/main" id="{57CCC787-8CEE-8754-34AC-B31A28A30665}"/>
              </a:ext>
            </a:extLst>
          </p:cNvPr>
          <p:cNvSpPr>
            <a:spLocks noGrp="1"/>
          </p:cNvSpPr>
          <p:nvPr>
            <p:ph idx="1"/>
          </p:nvPr>
        </p:nvSpPr>
        <p:spPr>
          <a:xfrm>
            <a:off x="530942" y="1514169"/>
            <a:ext cx="7875639" cy="3952178"/>
          </a:xfrm>
        </p:spPr>
        <p:txBody>
          <a:bodyPr>
            <a:normAutofit/>
          </a:bodyPr>
          <a:lstStyle/>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Source - The term source are referred to as the photosynthetically active parts of a plant.</a:t>
            </a:r>
          </a:p>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Sources - include any exporting organs, typically mature leaves, that are capable of producing photosynthate in excess of their own needs.</a:t>
            </a:r>
          </a:p>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SINKS - include any non-photosynthetic organs of the plant and organs that do not produce enough photosynthetic products to support their own growth or storage needs. Roots, tubers, developing fruits, and immature leaves, which must import carbohydrate for normal development, are all examples of sink tissues.</a:t>
            </a:r>
          </a:p>
          <a:p>
            <a:endParaRPr lang="en-GB" dirty="0"/>
          </a:p>
        </p:txBody>
      </p:sp>
    </p:spTree>
    <p:extLst>
      <p:ext uri="{BB962C8B-B14F-4D97-AF65-F5344CB8AC3E}">
        <p14:creationId xmlns:p14="http://schemas.microsoft.com/office/powerpoint/2010/main" val="30001098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96B2B-8E45-E68B-39A8-B62E66108DFE}"/>
              </a:ext>
            </a:extLst>
          </p:cNvPr>
          <p:cNvSpPr>
            <a:spLocks noGrp="1"/>
          </p:cNvSpPr>
          <p:nvPr>
            <p:ph type="title"/>
          </p:nvPr>
        </p:nvSpPr>
        <p:spPr>
          <a:xfrm>
            <a:off x="973394" y="334298"/>
            <a:ext cx="7098889" cy="1012721"/>
          </a:xfrm>
        </p:spPr>
        <p:txBody>
          <a:bodyPr>
            <a:normAutofit fontScale="90000"/>
          </a:bodyPr>
          <a:lstStyle/>
          <a:p>
            <a:r>
              <a:rPr lang="en-US" b="1" dirty="0">
                <a:latin typeface="Times New Roman" charset="0"/>
                <a:ea typeface="Times New Roman" charset="0"/>
                <a:cs typeface="Times New Roman" charset="0"/>
              </a:rPr>
              <a:t>Source not always a source, and a sink is not always a sink</a:t>
            </a:r>
            <a:endParaRPr lang="en-GB" dirty="0"/>
          </a:p>
        </p:txBody>
      </p:sp>
      <p:sp>
        <p:nvSpPr>
          <p:cNvPr id="3" name="Content Placeholder 2">
            <a:extLst>
              <a:ext uri="{FF2B5EF4-FFF2-40B4-BE49-F238E27FC236}">
                <a16:creationId xmlns:a16="http://schemas.microsoft.com/office/drawing/2014/main" id="{FA82F0AC-2219-FC10-1C2E-0EEBA9A24E83}"/>
              </a:ext>
            </a:extLst>
          </p:cNvPr>
          <p:cNvSpPr>
            <a:spLocks noGrp="1"/>
          </p:cNvSpPr>
          <p:nvPr>
            <p:ph idx="1"/>
          </p:nvPr>
        </p:nvSpPr>
        <p:spPr>
          <a:xfrm>
            <a:off x="457200" y="1600200"/>
            <a:ext cx="4114800" cy="4525963"/>
          </a:xfrm>
        </p:spPr>
        <p:txBody>
          <a:bodyPr>
            <a:normAutofit/>
          </a:bodyPr>
          <a:lstStyle/>
          <a:p>
            <a:pPr>
              <a:buFont typeface="Wingdings" charset="2"/>
              <a:buChar char="ü"/>
            </a:pPr>
            <a:r>
              <a:rPr lang="en-US" dirty="0">
                <a:latin typeface="Times New Roman" charset="0"/>
                <a:ea typeface="Times New Roman" charset="0"/>
                <a:cs typeface="Times New Roman" charset="0"/>
              </a:rPr>
              <a:t>However, a source is not always a source, and a sink is not always a sink.</a:t>
            </a:r>
          </a:p>
          <a:p>
            <a:pPr>
              <a:buFont typeface="Wingdings" charset="2"/>
              <a:buChar char="ü"/>
            </a:pPr>
            <a:r>
              <a:rPr lang="en-US" dirty="0">
                <a:latin typeface="Times New Roman" charset="0"/>
                <a:ea typeface="Times New Roman" charset="0"/>
                <a:cs typeface="Times New Roman" charset="0"/>
              </a:rPr>
              <a:t>For example, leaves that act as sources when the plant is fully grown are known to act as sinks when the plant is growing</a:t>
            </a:r>
            <a:endParaRPr lang="en-GB" dirty="0"/>
          </a:p>
        </p:txBody>
      </p:sp>
      <p:pic>
        <p:nvPicPr>
          <p:cNvPr id="4" name="Picture 3">
            <a:extLst>
              <a:ext uri="{FF2B5EF4-FFF2-40B4-BE49-F238E27FC236}">
                <a16:creationId xmlns:a16="http://schemas.microsoft.com/office/drawing/2014/main" id="{AF0D5D56-6587-1AC2-3B61-4EB13AEB05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1759974"/>
            <a:ext cx="4114800" cy="4306922"/>
          </a:xfrm>
          <a:prstGeom prst="rect">
            <a:avLst/>
          </a:prstGeom>
        </p:spPr>
      </p:pic>
    </p:spTree>
    <p:extLst>
      <p:ext uri="{BB962C8B-B14F-4D97-AF65-F5344CB8AC3E}">
        <p14:creationId xmlns:p14="http://schemas.microsoft.com/office/powerpoint/2010/main" val="28109849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CE373-21DA-56C8-5EE4-53B4EF5BB2E4}"/>
              </a:ext>
            </a:extLst>
          </p:cNvPr>
          <p:cNvSpPr>
            <a:spLocks noGrp="1"/>
          </p:cNvSpPr>
          <p:nvPr>
            <p:ph type="title"/>
          </p:nvPr>
        </p:nvSpPr>
        <p:spPr>
          <a:xfrm>
            <a:off x="934065" y="393291"/>
            <a:ext cx="7462683" cy="816078"/>
          </a:xfrm>
        </p:spPr>
        <p:txBody>
          <a:bodyPr>
            <a:normAutofit fontScale="90000"/>
          </a:bodyPr>
          <a:lstStyle/>
          <a:p>
            <a:r>
              <a:rPr lang="en-US" b="1" dirty="0">
                <a:latin typeface="Times New Roman" charset="0"/>
                <a:ea typeface="Times New Roman" charset="0"/>
                <a:cs typeface="Times New Roman" charset="0"/>
              </a:rPr>
              <a:t>Differences between source and Sinks in plants</a:t>
            </a:r>
            <a:endParaRPr lang="en-GB" dirty="0"/>
          </a:p>
        </p:txBody>
      </p:sp>
      <p:pic>
        <p:nvPicPr>
          <p:cNvPr id="4" name="Content Placeholder 3">
            <a:extLst>
              <a:ext uri="{FF2B5EF4-FFF2-40B4-BE49-F238E27FC236}">
                <a16:creationId xmlns:a16="http://schemas.microsoft.com/office/drawing/2014/main" id="{EB104F25-15F0-7696-CC99-141E33E969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6117" y="1582994"/>
            <a:ext cx="8125767" cy="3882769"/>
          </a:xfrm>
        </p:spPr>
      </p:pic>
    </p:spTree>
    <p:extLst>
      <p:ext uri="{BB962C8B-B14F-4D97-AF65-F5344CB8AC3E}">
        <p14:creationId xmlns:p14="http://schemas.microsoft.com/office/powerpoint/2010/main" val="4415209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39C02-5D29-385D-27D0-91CD2AF7D83A}"/>
              </a:ext>
            </a:extLst>
          </p:cNvPr>
          <p:cNvSpPr>
            <a:spLocks noGrp="1"/>
          </p:cNvSpPr>
          <p:nvPr>
            <p:ph type="title"/>
          </p:nvPr>
        </p:nvSpPr>
        <p:spPr>
          <a:xfrm>
            <a:off x="457200" y="274638"/>
            <a:ext cx="8229600" cy="944562"/>
          </a:xfrm>
        </p:spPr>
        <p:txBody>
          <a:bodyPr>
            <a:noAutofit/>
          </a:bodyPr>
          <a:lstStyle/>
          <a:p>
            <a:r>
              <a:rPr lang="en-GB" sz="3600" b="1" dirty="0">
                <a:latin typeface="Times New Roman" panose="02020603050405020304" pitchFamily="18" charset="0"/>
                <a:cs typeface="Times New Roman" panose="02020603050405020304" pitchFamily="18" charset="0"/>
              </a:rPr>
              <a:t>Net Assimilation Rate (NAR) and crop productivity</a:t>
            </a:r>
          </a:p>
        </p:txBody>
      </p:sp>
      <p:sp>
        <p:nvSpPr>
          <p:cNvPr id="3" name="Content Placeholder 2">
            <a:extLst>
              <a:ext uri="{FF2B5EF4-FFF2-40B4-BE49-F238E27FC236}">
                <a16:creationId xmlns:a16="http://schemas.microsoft.com/office/drawing/2014/main" id="{DF2DD480-4DD6-6987-B96D-C0101D6A73FA}"/>
              </a:ext>
            </a:extLst>
          </p:cNvPr>
          <p:cNvSpPr>
            <a:spLocks noGrp="1"/>
          </p:cNvSpPr>
          <p:nvPr>
            <p:ph idx="1"/>
          </p:nvPr>
        </p:nvSpPr>
        <p:spPr>
          <a:xfrm>
            <a:off x="457200" y="1917290"/>
            <a:ext cx="8229600" cy="4208873"/>
          </a:xfrm>
        </p:spPr>
        <p:txBody>
          <a:bodyPr>
            <a:normAutofit/>
          </a:bodyPr>
          <a:lstStyle/>
          <a:p>
            <a:pPr>
              <a:buFont typeface="Wingdings" panose="05000000000000000000" pitchFamily="2" charset="2"/>
              <a:buChar char="ü"/>
            </a:pPr>
            <a:r>
              <a:rPr lang="en-GB" sz="2400" dirty="0">
                <a:latin typeface="Times New Roman" panose="02020603050405020304" pitchFamily="18" charset="0"/>
                <a:cs typeface="Times New Roman" panose="02020603050405020304" pitchFamily="18" charset="0"/>
              </a:rPr>
              <a:t>The Net Assimilation Rate (NAR) is a crucial physiological parameter that influences crop production by determining how efficiently a plant uses photosynthetic carbon to produce biomass. NAR is directly related to the plant's ability to convert light energy into dry matter, which is essential for growth and yield.</a:t>
            </a:r>
          </a:p>
        </p:txBody>
      </p:sp>
    </p:spTree>
    <p:extLst>
      <p:ext uri="{BB962C8B-B14F-4D97-AF65-F5344CB8AC3E}">
        <p14:creationId xmlns:p14="http://schemas.microsoft.com/office/powerpoint/2010/main" val="23978992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761" y="589936"/>
            <a:ext cx="7521678" cy="973393"/>
          </a:xfrm>
        </p:spPr>
        <p:txBody>
          <a:bodyPr/>
          <a:lstStyle/>
          <a:p>
            <a:r>
              <a:rPr dirty="0">
                <a:latin typeface="Times New Roman" panose="02020603050405020304" pitchFamily="18" charset="0"/>
                <a:cs typeface="Times New Roman" panose="02020603050405020304" pitchFamily="18" charset="0"/>
              </a:rPr>
              <a:t>Crop Environmental Factors</a:t>
            </a:r>
          </a:p>
        </p:txBody>
      </p:sp>
      <p:sp>
        <p:nvSpPr>
          <p:cNvPr id="3" name="Content Placeholder 2"/>
          <p:cNvSpPr>
            <a:spLocks noGrp="1"/>
          </p:cNvSpPr>
          <p:nvPr>
            <p:ph idx="1"/>
          </p:nvPr>
        </p:nvSpPr>
        <p:spPr>
          <a:xfrm>
            <a:off x="511277" y="2163097"/>
            <a:ext cx="7777317" cy="3303249"/>
          </a:xfrm>
        </p:spPr>
        <p:txBody>
          <a:bodyPr/>
          <a:lstStyle/>
          <a:p>
            <a:pPr>
              <a:buFont typeface="Wingdings" panose="05000000000000000000" pitchFamily="2" charset="2"/>
              <a:buChar char="Ø"/>
            </a:pPr>
            <a:r>
              <a:rPr dirty="0">
                <a:latin typeface="Times New Roman" panose="02020603050405020304" pitchFamily="18" charset="0"/>
                <a:cs typeface="Times New Roman" panose="02020603050405020304" pitchFamily="18" charset="0"/>
              </a:rPr>
              <a:t>Air: role of CO₂ and oxygen in crop growth</a:t>
            </a:r>
          </a:p>
          <a:p>
            <a:pPr>
              <a:buFont typeface="Wingdings" panose="05000000000000000000" pitchFamily="2" charset="2"/>
              <a:buChar char="Ø"/>
            </a:pPr>
            <a:r>
              <a:rPr dirty="0">
                <a:latin typeface="Times New Roman" panose="02020603050405020304" pitchFamily="18" charset="0"/>
                <a:cs typeface="Times New Roman" panose="02020603050405020304" pitchFamily="18" charset="0"/>
              </a:rPr>
              <a:t>Light: intensity, quality, and duration (photoperiodism)</a:t>
            </a:r>
          </a:p>
          <a:p>
            <a:pPr>
              <a:buFont typeface="Wingdings" panose="05000000000000000000" pitchFamily="2" charset="2"/>
              <a:buChar char="Ø"/>
            </a:pPr>
            <a:r>
              <a:rPr dirty="0">
                <a:latin typeface="Times New Roman" panose="02020603050405020304" pitchFamily="18" charset="0"/>
                <a:cs typeface="Times New Roman" panose="02020603050405020304" pitchFamily="18" charset="0"/>
              </a:rPr>
              <a:t>Moisture: rainfall, irrigation, and soil water availability</a:t>
            </a:r>
          </a:p>
          <a:p>
            <a:pPr>
              <a:buFont typeface="Wingdings" panose="05000000000000000000" pitchFamily="2" charset="2"/>
              <a:buChar char="Ø"/>
            </a:pPr>
            <a:r>
              <a:rPr dirty="0">
                <a:latin typeface="Times New Roman" panose="02020603050405020304" pitchFamily="18" charset="0"/>
                <a:cs typeface="Times New Roman" panose="02020603050405020304" pitchFamily="18" charset="0"/>
              </a:rPr>
              <a:t>Temperature effects on germination, growth, and yield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3226" y="393291"/>
            <a:ext cx="7089057" cy="998364"/>
          </a:xfrm>
        </p:spPr>
        <p:txBody>
          <a:bodyPr/>
          <a:lstStyle/>
          <a:p>
            <a:r>
              <a:rPr lang="en-US" dirty="0">
                <a:latin typeface="Times New Roman" charset="0"/>
                <a:ea typeface="Times New Roman" charset="0"/>
                <a:cs typeface="Times New Roman" charset="0"/>
              </a:rPr>
              <a:t>Crop Environmental Factors</a:t>
            </a:r>
          </a:p>
        </p:txBody>
      </p:sp>
      <p:sp>
        <p:nvSpPr>
          <p:cNvPr id="3" name="Content Placeholder 2"/>
          <p:cNvSpPr>
            <a:spLocks noGrp="1"/>
          </p:cNvSpPr>
          <p:nvPr>
            <p:ph idx="1"/>
          </p:nvPr>
        </p:nvSpPr>
        <p:spPr>
          <a:xfrm>
            <a:off x="707923" y="1602659"/>
            <a:ext cx="7757651" cy="3863688"/>
          </a:xfrm>
        </p:spPr>
        <p:txBody>
          <a:bodyPr>
            <a:normAutofit/>
          </a:bodyPr>
          <a:lstStyle/>
          <a:p>
            <a:pPr>
              <a:buFont typeface="Wingdings" panose="05000000000000000000" pitchFamily="2" charset="2"/>
              <a:buChar char="Ø"/>
            </a:pPr>
            <a:r>
              <a:rPr lang="en-US" sz="2400" dirty="0">
                <a:latin typeface="Times New Roman" charset="0"/>
                <a:ea typeface="Times New Roman" charset="0"/>
                <a:cs typeface="Times New Roman" charset="0"/>
              </a:rPr>
              <a:t>Crop environmental factors, which dictate growth, yield, and distribution, are divided into climatic, edaphic (soil), and biotic components. </a:t>
            </a:r>
          </a:p>
          <a:p>
            <a:pPr>
              <a:buFont typeface="Wingdings" panose="05000000000000000000" pitchFamily="2" charset="2"/>
              <a:buChar char="Ø"/>
            </a:pPr>
            <a:r>
              <a:rPr lang="en-US" sz="2400" dirty="0">
                <a:latin typeface="Times New Roman" charset="0"/>
                <a:ea typeface="Times New Roman" charset="0"/>
                <a:cs typeface="Times New Roman" charset="0"/>
              </a:rPr>
              <a:t>Key elements include temperature, rainfall, light, and humidity. Soil factors like nutrient availability, pH, texture, and moisture are critical for plant development. </a:t>
            </a:r>
          </a:p>
          <a:p>
            <a:pPr>
              <a:buFont typeface="Wingdings" panose="05000000000000000000" pitchFamily="2" charset="2"/>
              <a:buChar char="Ø"/>
            </a:pPr>
            <a:r>
              <a:rPr lang="en-US" sz="2400" dirty="0">
                <a:latin typeface="Times New Roman" charset="0"/>
                <a:ea typeface="Times New Roman" charset="0"/>
                <a:cs typeface="Times New Roman" charset="0"/>
              </a:rPr>
              <a:t>Optimal management requires understanding these interconnected abiotic and biotic factors.</a:t>
            </a:r>
          </a:p>
        </p:txBody>
      </p:sp>
    </p:spTree>
    <p:extLst>
      <p:ext uri="{BB962C8B-B14F-4D97-AF65-F5344CB8AC3E}">
        <p14:creationId xmlns:p14="http://schemas.microsoft.com/office/powerpoint/2010/main" val="7192720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8ACF6-F3DB-4D81-1801-FB3A8CC964A2}"/>
              </a:ext>
            </a:extLst>
          </p:cNvPr>
          <p:cNvSpPr>
            <a:spLocks noGrp="1"/>
          </p:cNvSpPr>
          <p:nvPr>
            <p:ph type="title"/>
          </p:nvPr>
        </p:nvSpPr>
        <p:spPr>
          <a:xfrm>
            <a:off x="707923" y="324466"/>
            <a:ext cx="7659329" cy="973392"/>
          </a:xfrm>
        </p:spPr>
        <p:txBody>
          <a:bodyPr>
            <a:normAutofit/>
          </a:bodyPr>
          <a:lstStyle/>
          <a:p>
            <a:r>
              <a:rPr lang="en-GB" b="1" dirty="0">
                <a:latin typeface="Times New Roman" panose="02020603050405020304" pitchFamily="18" charset="0"/>
                <a:cs typeface="Times New Roman" panose="02020603050405020304" pitchFamily="18" charset="0"/>
              </a:rPr>
              <a:t>Moisture: rainfall, irrigation, and soil water availability</a:t>
            </a:r>
          </a:p>
        </p:txBody>
      </p:sp>
      <p:sp>
        <p:nvSpPr>
          <p:cNvPr id="3" name="Content Placeholder 2">
            <a:extLst>
              <a:ext uri="{FF2B5EF4-FFF2-40B4-BE49-F238E27FC236}">
                <a16:creationId xmlns:a16="http://schemas.microsoft.com/office/drawing/2014/main" id="{FC041D44-9E79-C52A-EB69-13FD8A41268E}"/>
              </a:ext>
            </a:extLst>
          </p:cNvPr>
          <p:cNvSpPr>
            <a:spLocks noGrp="1"/>
          </p:cNvSpPr>
          <p:nvPr>
            <p:ph idx="1"/>
          </p:nvPr>
        </p:nvSpPr>
        <p:spPr>
          <a:xfrm>
            <a:off x="294968" y="1297858"/>
            <a:ext cx="8377085" cy="4572000"/>
          </a:xfrm>
        </p:spPr>
        <p:txBody>
          <a:bodyPr>
            <a:normAutofit/>
          </a:bodyPr>
          <a:lstStyle/>
          <a:p>
            <a:pPr marL="0" indent="0">
              <a:buNone/>
            </a:pPr>
            <a:r>
              <a:rPr lang="en-GB" dirty="0">
                <a:latin typeface="Times New Roman" panose="02020603050405020304" pitchFamily="18" charset="0"/>
                <a:cs typeface="Times New Roman" panose="02020603050405020304" pitchFamily="18" charset="0"/>
              </a:rPr>
              <a:t>The environmental factors influencing crop growth, including moisture, rainfall, irrigation, and soil water availability, are crucial for optimizing </a:t>
            </a:r>
          </a:p>
          <a:p>
            <a:pPr marL="0" indent="0">
              <a:buNone/>
            </a:pPr>
            <a:r>
              <a:rPr lang="en-GB" dirty="0">
                <a:latin typeface="Times New Roman" panose="02020603050405020304" pitchFamily="18" charset="0"/>
                <a:cs typeface="Times New Roman" panose="02020603050405020304" pitchFamily="18" charset="0"/>
              </a:rPr>
              <a:t>agricultural production. These factors collectively determine the health and productivity of crops, as well as the sustainability of agricultural systems. </a:t>
            </a:r>
          </a:p>
          <a:p>
            <a:pPr marL="0" indent="0">
              <a:buNone/>
            </a:pPr>
            <a:r>
              <a:rPr lang="en-GB" dirty="0">
                <a:latin typeface="Times New Roman" panose="02020603050405020304" pitchFamily="18" charset="0"/>
                <a:cs typeface="Times New Roman" panose="02020603050405020304" pitchFamily="18" charset="0"/>
              </a:rPr>
              <a:t>Here's a breakdown of how each factor impacts crop growth.</a:t>
            </a:r>
          </a:p>
          <a:p>
            <a:pPr marL="457200" indent="-457200">
              <a:buFont typeface="+mj-lt"/>
              <a:buAutoNum type="arabicPeriod"/>
            </a:pPr>
            <a:r>
              <a:rPr lang="en-GB" b="1" dirty="0">
                <a:latin typeface="Times New Roman" panose="02020603050405020304" pitchFamily="18" charset="0"/>
                <a:cs typeface="Times New Roman" panose="02020603050405020304" pitchFamily="18" charset="0"/>
              </a:rPr>
              <a:t> Moisture: </a:t>
            </a:r>
            <a:r>
              <a:rPr lang="en-GB" dirty="0">
                <a:latin typeface="Times New Roman" panose="02020603050405020304" pitchFamily="18" charset="0"/>
                <a:cs typeface="Times New Roman" panose="02020603050405020304" pitchFamily="18" charset="0"/>
              </a:rPr>
              <a:t>Soil moisture is essential for plant growth, as it affects water availability for roots and overall plant health. Insufficient moisture can hinder nutrient uptake and photosynthesis, leading to reduced crop yields. Conversely, excessive moisture can lead to waterlogging and other issues.</a:t>
            </a:r>
          </a:p>
        </p:txBody>
      </p:sp>
    </p:spTree>
    <p:extLst>
      <p:ext uri="{BB962C8B-B14F-4D97-AF65-F5344CB8AC3E}">
        <p14:creationId xmlns:p14="http://schemas.microsoft.com/office/powerpoint/2010/main" val="3595607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C81D-0484-E0CA-E10D-61C2AE3952F0}"/>
              </a:ext>
            </a:extLst>
          </p:cNvPr>
          <p:cNvSpPr>
            <a:spLocks noGrp="1"/>
          </p:cNvSpPr>
          <p:nvPr>
            <p:ph type="title"/>
          </p:nvPr>
        </p:nvSpPr>
        <p:spPr>
          <a:xfrm>
            <a:off x="865239" y="344130"/>
            <a:ext cx="7561006" cy="1150373"/>
          </a:xfrm>
        </p:spPr>
        <p:txBody>
          <a:bodyPr>
            <a:normAutofit/>
          </a:bodyPr>
          <a:lstStyle/>
          <a:p>
            <a:r>
              <a:rPr lang="en-GB" b="1" dirty="0">
                <a:latin typeface="Times New Roman" panose="02020603050405020304" pitchFamily="18" charset="0"/>
                <a:cs typeface="Times New Roman" panose="02020603050405020304" pitchFamily="18" charset="0"/>
              </a:rPr>
              <a:t>Moisture: rainfall, irrigation, and soil water availability</a:t>
            </a:r>
            <a:endParaRPr lang="en-GB" dirty="0"/>
          </a:p>
        </p:txBody>
      </p:sp>
      <p:sp>
        <p:nvSpPr>
          <p:cNvPr id="3" name="Content Placeholder 2">
            <a:extLst>
              <a:ext uri="{FF2B5EF4-FFF2-40B4-BE49-F238E27FC236}">
                <a16:creationId xmlns:a16="http://schemas.microsoft.com/office/drawing/2014/main" id="{BD220FEA-DFE0-E887-0185-2D9309320ED7}"/>
              </a:ext>
            </a:extLst>
          </p:cNvPr>
          <p:cNvSpPr>
            <a:spLocks noGrp="1"/>
          </p:cNvSpPr>
          <p:nvPr>
            <p:ph idx="1"/>
          </p:nvPr>
        </p:nvSpPr>
        <p:spPr>
          <a:xfrm>
            <a:off x="412955" y="1853755"/>
            <a:ext cx="8278761" cy="3819458"/>
          </a:xfrm>
        </p:spPr>
        <p:txBody>
          <a:bodyPr>
            <a:normAutofit fontScale="92500" lnSpcReduction="20000"/>
          </a:bodyPr>
          <a:lstStyle/>
          <a:p>
            <a:pPr marL="457200" indent="-457200">
              <a:buFont typeface="+mj-lt"/>
              <a:buAutoNum type="arabicPeriod" startAt="2"/>
            </a:pPr>
            <a:r>
              <a:rPr lang="en-GB" sz="2400" b="1" dirty="0">
                <a:latin typeface="Times New Roman" panose="02020603050405020304" pitchFamily="18" charset="0"/>
                <a:cs typeface="Times New Roman" panose="02020603050405020304" pitchFamily="18" charset="0"/>
              </a:rPr>
              <a:t>Rainfall: </a:t>
            </a:r>
            <a:r>
              <a:rPr lang="en-GB" sz="2400" dirty="0">
                <a:latin typeface="Times New Roman" panose="02020603050405020304" pitchFamily="18" charset="0"/>
                <a:cs typeface="Times New Roman" panose="02020603050405020304" pitchFamily="18" charset="0"/>
              </a:rPr>
              <a:t>Rainfall is a primary climatic factor influencing crop growth. Areas with high rainfall tend to have dense vegetation, while those with low rainfall experience limited natural vegetation. The amount and distribution of rainfall can significantly affect crop growth and yield.</a:t>
            </a:r>
          </a:p>
          <a:p>
            <a:pPr marL="457200" indent="-457200">
              <a:buFont typeface="+mj-lt"/>
              <a:buAutoNum type="arabicPeriod" startAt="2"/>
            </a:pPr>
            <a:r>
              <a:rPr lang="en-GB" sz="2400" b="1" dirty="0">
                <a:latin typeface="Times New Roman" panose="02020603050405020304" pitchFamily="18" charset="0"/>
                <a:cs typeface="Times New Roman" panose="02020603050405020304" pitchFamily="18" charset="0"/>
              </a:rPr>
              <a:t>Irrigation: </a:t>
            </a:r>
            <a:r>
              <a:rPr lang="en-GB" sz="2400" dirty="0">
                <a:latin typeface="Times New Roman" panose="02020603050405020304" pitchFamily="18" charset="0"/>
                <a:cs typeface="Times New Roman" panose="02020603050405020304" pitchFamily="18" charset="0"/>
              </a:rPr>
              <a:t>Irrigation is necessary in areas with low rainfall or where natural vegetation is limited. It helps to ensure that crops receive the necessary water to thrive. However, it is essential to manage irrigation effectively to avoid water loss and ensure crop health.</a:t>
            </a:r>
          </a:p>
        </p:txBody>
      </p:sp>
    </p:spTree>
    <p:extLst>
      <p:ext uri="{BB962C8B-B14F-4D97-AF65-F5344CB8AC3E}">
        <p14:creationId xmlns:p14="http://schemas.microsoft.com/office/powerpoint/2010/main" val="31477413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2FF28-F95B-A03D-3336-15DE6240B706}"/>
              </a:ext>
            </a:extLst>
          </p:cNvPr>
          <p:cNvSpPr>
            <a:spLocks noGrp="1"/>
          </p:cNvSpPr>
          <p:nvPr>
            <p:ph type="title"/>
          </p:nvPr>
        </p:nvSpPr>
        <p:spPr>
          <a:xfrm>
            <a:off x="747253" y="294969"/>
            <a:ext cx="7669160" cy="1096686"/>
          </a:xfrm>
        </p:spPr>
        <p:txBody>
          <a:bodyPr>
            <a:normAutofit/>
          </a:bodyPr>
          <a:lstStyle/>
          <a:p>
            <a:r>
              <a:rPr lang="en-GB" b="1" dirty="0">
                <a:latin typeface="Times New Roman" panose="02020603050405020304" pitchFamily="18" charset="0"/>
                <a:cs typeface="Times New Roman" panose="02020603050405020304" pitchFamily="18" charset="0"/>
              </a:rPr>
              <a:t>Moisture: rainfall, irrigation, and soil water availability</a:t>
            </a:r>
            <a:endParaRPr lang="en-GB" dirty="0"/>
          </a:p>
        </p:txBody>
      </p:sp>
      <p:sp>
        <p:nvSpPr>
          <p:cNvPr id="3" name="Content Placeholder 2">
            <a:extLst>
              <a:ext uri="{FF2B5EF4-FFF2-40B4-BE49-F238E27FC236}">
                <a16:creationId xmlns:a16="http://schemas.microsoft.com/office/drawing/2014/main" id="{86D1AACF-2379-C3AB-770F-D7D2E48DD677}"/>
              </a:ext>
            </a:extLst>
          </p:cNvPr>
          <p:cNvSpPr>
            <a:spLocks noGrp="1"/>
          </p:cNvSpPr>
          <p:nvPr>
            <p:ph idx="1"/>
          </p:nvPr>
        </p:nvSpPr>
        <p:spPr>
          <a:xfrm>
            <a:off x="550606" y="2015733"/>
            <a:ext cx="8209935" cy="3450613"/>
          </a:xfrm>
        </p:spPr>
        <p:txBody>
          <a:bodyPr>
            <a:normAutofit/>
          </a:bodyPr>
          <a:lstStyle/>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Soil Water Availability: Soil water availability is determined by soil texture, structure, and organic matter content. Well-structured soils with stable aggregates allow for better infiltration and storage of water, reducing the risk of erosion and waterlogging. </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Understanding and managing these factors is vital for sustainable agricultural practices and ensuring food security.</a:t>
            </a:r>
          </a:p>
        </p:txBody>
      </p:sp>
    </p:spTree>
    <p:extLst>
      <p:ext uri="{BB962C8B-B14F-4D97-AF65-F5344CB8AC3E}">
        <p14:creationId xmlns:p14="http://schemas.microsoft.com/office/powerpoint/2010/main" val="20873095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1" y="324466"/>
            <a:ext cx="6251303" cy="1067188"/>
          </a:xfrm>
        </p:spPr>
        <p:txBody>
          <a:bodyPr>
            <a:normAutofit/>
          </a:bodyPr>
          <a:lstStyle/>
          <a:p>
            <a:r>
              <a:rPr lang="en-US" dirty="0">
                <a:latin typeface="Times New Roman" charset="0"/>
                <a:ea typeface="Times New Roman" charset="0"/>
                <a:cs typeface="Times New Roman" charset="0"/>
              </a:rPr>
              <a:t>Air: role of CO₂ and oxygen in crop growth</a:t>
            </a:r>
          </a:p>
        </p:txBody>
      </p:sp>
      <p:sp>
        <p:nvSpPr>
          <p:cNvPr id="3" name="Content Placeholder 2"/>
          <p:cNvSpPr>
            <a:spLocks noGrp="1"/>
          </p:cNvSpPr>
          <p:nvPr>
            <p:ph idx="1"/>
          </p:nvPr>
        </p:nvSpPr>
        <p:spPr>
          <a:xfrm>
            <a:off x="678426" y="2015733"/>
            <a:ext cx="7983793" cy="3450613"/>
          </a:xfrm>
        </p:spPr>
        <p:txBody>
          <a:bodyPr>
            <a:normAutofit fontScale="92500"/>
          </a:bodyPr>
          <a:lstStyle/>
          <a:p>
            <a:r>
              <a:rPr lang="en-US" sz="2400" dirty="0">
                <a:latin typeface="Times New Roman" charset="0"/>
                <a:ea typeface="Times New Roman" charset="0"/>
                <a:cs typeface="Times New Roman" charset="0"/>
              </a:rPr>
              <a:t>Plants take in CO</a:t>
            </a:r>
            <a:r>
              <a:rPr lang="en-US" sz="2400" baseline="-25000" dirty="0">
                <a:latin typeface="Times New Roman" charset="0"/>
                <a:ea typeface="Times New Roman" charset="0"/>
                <a:cs typeface="Times New Roman" charset="0"/>
              </a:rPr>
              <a:t>2</a:t>
            </a:r>
            <a:r>
              <a:rPr lang="en-US" sz="2400" dirty="0">
                <a:latin typeface="Times New Roman" charset="0"/>
                <a:ea typeface="Times New Roman" charset="0"/>
                <a:cs typeface="Times New Roman" charset="0"/>
              </a:rPr>
              <a:t> through small cellular pores called stomata in the leaves during the day. During respiration (oxidation of stored sugars in plants producing energy and CO</a:t>
            </a:r>
            <a:r>
              <a:rPr lang="en-US" sz="2400" baseline="-25000" dirty="0">
                <a:latin typeface="Times New Roman" charset="0"/>
                <a:ea typeface="Times New Roman" charset="0"/>
                <a:cs typeface="Times New Roman" charset="0"/>
              </a:rPr>
              <a:t>2</a:t>
            </a:r>
            <a:r>
              <a:rPr lang="en-US" sz="2400" dirty="0">
                <a:latin typeface="Times New Roman" charset="0"/>
                <a:ea typeface="Times New Roman" charset="0"/>
                <a:cs typeface="Times New Roman" charset="0"/>
              </a:rPr>
              <a:t>) plants take in oxygen (O</a:t>
            </a:r>
            <a:r>
              <a:rPr lang="en-US" sz="2400" baseline="-25000" dirty="0">
                <a:latin typeface="Times New Roman" charset="0"/>
                <a:ea typeface="Times New Roman" charset="0"/>
                <a:cs typeface="Times New Roman" charset="0"/>
              </a:rPr>
              <a:t>2</a:t>
            </a:r>
            <a:r>
              <a:rPr lang="en-US" sz="2400" dirty="0">
                <a:latin typeface="Times New Roman" charset="0"/>
                <a:ea typeface="Times New Roman" charset="0"/>
                <a:cs typeface="Times New Roman" charset="0"/>
              </a:rPr>
              <a:t>) and give off CO</a:t>
            </a:r>
            <a:r>
              <a:rPr lang="en-US" sz="2400" baseline="-25000" dirty="0">
                <a:latin typeface="Times New Roman" charset="0"/>
                <a:ea typeface="Times New Roman" charset="0"/>
                <a:cs typeface="Times New Roman" charset="0"/>
              </a:rPr>
              <a:t>2</a:t>
            </a:r>
            <a:r>
              <a:rPr lang="en-US" sz="2400" dirty="0">
                <a:latin typeface="Times New Roman" charset="0"/>
                <a:ea typeface="Times New Roman" charset="0"/>
                <a:cs typeface="Times New Roman" charset="0"/>
              </a:rPr>
              <a:t>, which complements photosynthesis when plants take in CO</a:t>
            </a:r>
            <a:r>
              <a:rPr lang="en-US" sz="2400" baseline="-25000" dirty="0">
                <a:latin typeface="Times New Roman" charset="0"/>
                <a:ea typeface="Times New Roman" charset="0"/>
                <a:cs typeface="Times New Roman" charset="0"/>
              </a:rPr>
              <a:t>2</a:t>
            </a:r>
            <a:r>
              <a:rPr lang="en-US" sz="2400" dirty="0">
                <a:latin typeface="Times New Roman" charset="0"/>
                <a:ea typeface="Times New Roman" charset="0"/>
                <a:cs typeface="Times New Roman" charset="0"/>
              </a:rPr>
              <a:t> and give off O</a:t>
            </a:r>
            <a:r>
              <a:rPr lang="en-US" sz="2400" baseline="-25000" dirty="0">
                <a:latin typeface="Times New Roman" charset="0"/>
                <a:ea typeface="Times New Roman" charset="0"/>
                <a:cs typeface="Times New Roman" charset="0"/>
              </a:rPr>
              <a:t>2</a:t>
            </a:r>
            <a:r>
              <a:rPr lang="en-US" sz="2400" dirty="0">
                <a:latin typeface="Times New Roman" charset="0"/>
                <a:ea typeface="Times New Roman" charset="0"/>
                <a:cs typeface="Times New Roman" charset="0"/>
              </a:rPr>
              <a:t>. The CO</a:t>
            </a:r>
            <a:r>
              <a:rPr lang="en-US" sz="2400" baseline="-25000" dirty="0">
                <a:latin typeface="Times New Roman" charset="0"/>
                <a:ea typeface="Times New Roman" charset="0"/>
                <a:cs typeface="Times New Roman" charset="0"/>
              </a:rPr>
              <a:t>2</a:t>
            </a:r>
            <a:r>
              <a:rPr lang="en-US" sz="2400" dirty="0">
                <a:latin typeface="Times New Roman" charset="0"/>
                <a:ea typeface="Times New Roman" charset="0"/>
                <a:cs typeface="Times New Roman" charset="0"/>
              </a:rPr>
              <a:t> produced during respiration is always less than the amount of CO</a:t>
            </a:r>
            <a:r>
              <a:rPr lang="en-US" sz="2400" baseline="-25000" dirty="0">
                <a:latin typeface="Times New Roman" charset="0"/>
                <a:ea typeface="Times New Roman" charset="0"/>
                <a:cs typeface="Times New Roman" charset="0"/>
              </a:rPr>
              <a:t>2</a:t>
            </a:r>
            <a:r>
              <a:rPr lang="en-US" sz="2400" dirty="0">
                <a:latin typeface="Times New Roman" charset="0"/>
                <a:ea typeface="Times New Roman" charset="0"/>
                <a:cs typeface="Times New Roman" charset="0"/>
              </a:rPr>
              <a:t> taken in during photosynthesis. So, plants are always in a CO</a:t>
            </a:r>
            <a:r>
              <a:rPr lang="en-US" sz="2400" baseline="-25000" dirty="0">
                <a:latin typeface="Times New Roman" charset="0"/>
                <a:ea typeface="Times New Roman" charset="0"/>
                <a:cs typeface="Times New Roman" charset="0"/>
              </a:rPr>
              <a:t>2</a:t>
            </a:r>
            <a:r>
              <a:rPr lang="en-US" sz="2400" dirty="0">
                <a:latin typeface="Times New Roman" charset="0"/>
                <a:ea typeface="Times New Roman" charset="0"/>
                <a:cs typeface="Times New Roman" charset="0"/>
              </a:rPr>
              <a:t> deficient condition, which limits their potential growth. </a:t>
            </a:r>
          </a:p>
        </p:txBody>
      </p:sp>
    </p:spTree>
    <p:extLst>
      <p:ext uri="{BB962C8B-B14F-4D97-AF65-F5344CB8AC3E}">
        <p14:creationId xmlns:p14="http://schemas.microsoft.com/office/powerpoint/2010/main" val="16988702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2723" y="481782"/>
            <a:ext cx="6682071" cy="1371974"/>
          </a:xfrm>
        </p:spPr>
        <p:txBody>
          <a:bodyPr>
            <a:normAutofit/>
          </a:bodyPr>
          <a:lstStyle/>
          <a:p>
            <a:r>
              <a:rPr lang="en-US" dirty="0">
                <a:latin typeface="Times New Roman" charset="0"/>
                <a:ea typeface="Times New Roman" charset="0"/>
                <a:cs typeface="Times New Roman" charset="0"/>
              </a:rPr>
              <a:t>Light: intensity, quality, and duration (</a:t>
            </a:r>
            <a:r>
              <a:rPr lang="en-US" dirty="0" err="1">
                <a:latin typeface="Times New Roman" charset="0"/>
                <a:ea typeface="Times New Roman" charset="0"/>
                <a:cs typeface="Times New Roman" charset="0"/>
              </a:rPr>
              <a:t>photoperiodism</a:t>
            </a:r>
            <a:r>
              <a:rPr lang="en-US" dirty="0">
                <a:latin typeface="Times New Roman" charset="0"/>
                <a:ea typeface="Times New Roman" charset="0"/>
                <a:cs typeface="Times New Roman" charset="0"/>
              </a:rPr>
              <a:t>)</a:t>
            </a:r>
          </a:p>
        </p:txBody>
      </p:sp>
      <p:sp>
        <p:nvSpPr>
          <p:cNvPr id="3" name="Content Placeholder 2"/>
          <p:cNvSpPr>
            <a:spLocks noGrp="1"/>
          </p:cNvSpPr>
          <p:nvPr>
            <p:ph idx="1"/>
          </p:nvPr>
        </p:nvSpPr>
        <p:spPr>
          <a:xfrm>
            <a:off x="521110" y="1853755"/>
            <a:ext cx="7944463" cy="3612591"/>
          </a:xfrm>
        </p:spPr>
        <p:txBody>
          <a:bodyPr/>
          <a:lstStyle/>
          <a:p>
            <a:r>
              <a:rPr lang="en-US" sz="2400" dirty="0">
                <a:latin typeface="Times New Roman" charset="0"/>
                <a:ea typeface="Times New Roman" charset="0"/>
                <a:cs typeface="Times New Roman" charset="0"/>
              </a:rPr>
              <a:t>Light (solar radiation) is crucial for plant growth because it is the primary source of energy for photosynthesis, the process by which plants convert light energy into chemical energy. Here are some reasons why light is important for plant growth: </a:t>
            </a:r>
          </a:p>
          <a:p>
            <a:endParaRPr lang="en-US" dirty="0"/>
          </a:p>
        </p:txBody>
      </p:sp>
    </p:spTree>
    <p:extLst>
      <p:ext uri="{BB962C8B-B14F-4D97-AF65-F5344CB8AC3E}">
        <p14:creationId xmlns:p14="http://schemas.microsoft.com/office/powerpoint/2010/main" val="16321634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63330"/>
          </a:xfrm>
        </p:spPr>
        <p:txBody>
          <a:bodyPr>
            <a:normAutofit/>
          </a:bodyPr>
          <a:lstStyle/>
          <a:p>
            <a:r>
              <a:rPr lang="en-US" b="1" dirty="0">
                <a:latin typeface="Times New Roman" charset="0"/>
                <a:ea typeface="Times New Roman" charset="0"/>
                <a:cs typeface="Times New Roman" charset="0"/>
              </a:rPr>
              <a:t>Quality of Light </a:t>
            </a:r>
            <a:endParaRPr lang="en-US" dirty="0">
              <a:latin typeface="Times New Roman" charset="0"/>
              <a:ea typeface="Times New Roman" charset="0"/>
              <a:cs typeface="Times New Roman" charset="0"/>
            </a:endParaRPr>
          </a:p>
        </p:txBody>
      </p:sp>
      <p:sp>
        <p:nvSpPr>
          <p:cNvPr id="3" name="Content Placeholder 2"/>
          <p:cNvSpPr>
            <a:spLocks noGrp="1"/>
          </p:cNvSpPr>
          <p:nvPr>
            <p:ph idx="1"/>
          </p:nvPr>
        </p:nvSpPr>
        <p:spPr>
          <a:xfrm>
            <a:off x="457200" y="1037969"/>
            <a:ext cx="8229599" cy="4428378"/>
          </a:xfrm>
        </p:spPr>
        <p:txBody>
          <a:bodyPr>
            <a:normAutofit fontScale="92500"/>
          </a:bodyPr>
          <a:lstStyle/>
          <a:p>
            <a:pPr>
              <a:buFont typeface="Wingdings" panose="05000000000000000000" pitchFamily="2" charset="2"/>
              <a:buChar char="v"/>
            </a:pPr>
            <a:r>
              <a:rPr lang="en-US" sz="2400" dirty="0">
                <a:latin typeface="Times New Roman" charset="0"/>
                <a:ea typeface="Times New Roman" charset="0"/>
                <a:cs typeface="Times New Roman" charset="0"/>
              </a:rPr>
              <a:t>The quality of light refers to its spectral composition, which describes the distribution of wavelengths within the light spectrum. </a:t>
            </a:r>
          </a:p>
          <a:p>
            <a:pPr>
              <a:buFont typeface="Wingdings" panose="05000000000000000000" pitchFamily="2" charset="2"/>
              <a:buChar char="v"/>
            </a:pPr>
            <a:r>
              <a:rPr lang="en-US" sz="2400" dirty="0">
                <a:latin typeface="Times New Roman" charset="0"/>
                <a:ea typeface="Times New Roman" charset="0"/>
                <a:cs typeface="Times New Roman" charset="0"/>
              </a:rPr>
              <a:t>In the visible spectrum (0.4 to 0.7 </a:t>
            </a:r>
            <a:r>
              <a:rPr lang="en-US" sz="2400" dirty="0" err="1">
                <a:latin typeface="Times New Roman" charset="0"/>
                <a:ea typeface="Times New Roman" charset="0"/>
                <a:cs typeface="Times New Roman" charset="0"/>
              </a:rPr>
              <a:t>μm</a:t>
            </a:r>
            <a:r>
              <a:rPr lang="en-US" sz="2400" dirty="0">
                <a:latin typeface="Times New Roman" charset="0"/>
                <a:ea typeface="Times New Roman" charset="0"/>
                <a:cs typeface="Times New Roman" charset="0"/>
              </a:rPr>
              <a:t>) approximately 85-90% light is absorbed, 5-10% is reflected, and 5% is transmitted by the canopies. </a:t>
            </a:r>
          </a:p>
          <a:p>
            <a:pPr>
              <a:buFont typeface="Wingdings" panose="05000000000000000000" pitchFamily="2" charset="2"/>
              <a:buChar char="v"/>
            </a:pPr>
            <a:r>
              <a:rPr lang="en-US" sz="2400" dirty="0">
                <a:latin typeface="Times New Roman" charset="0"/>
                <a:ea typeface="Times New Roman" charset="0"/>
                <a:cs typeface="Times New Roman" charset="0"/>
              </a:rPr>
              <a:t>Plants have a high absorption rate for blue light (approximately 0.45-0.50 </a:t>
            </a:r>
            <a:r>
              <a:rPr lang="en-US" sz="2400" dirty="0" err="1">
                <a:latin typeface="Times New Roman" charset="0"/>
                <a:ea typeface="Times New Roman" charset="0"/>
                <a:cs typeface="Times New Roman" charset="0"/>
              </a:rPr>
              <a:t>μm</a:t>
            </a:r>
            <a:r>
              <a:rPr lang="en-US" sz="2400" dirty="0">
                <a:latin typeface="Times New Roman" charset="0"/>
                <a:ea typeface="Times New Roman" charset="0"/>
                <a:cs typeface="Times New Roman" charset="0"/>
              </a:rPr>
              <a:t>) and red light (approximately 0.65-0.70 </a:t>
            </a:r>
            <a:r>
              <a:rPr lang="en-US" sz="2400" dirty="0" err="1">
                <a:latin typeface="Times New Roman" charset="0"/>
                <a:ea typeface="Times New Roman" charset="0"/>
                <a:cs typeface="Times New Roman" charset="0"/>
              </a:rPr>
              <a:t>μm</a:t>
            </a:r>
            <a:r>
              <a:rPr lang="en-US" sz="2400" dirty="0">
                <a:latin typeface="Times New Roman" charset="0"/>
                <a:ea typeface="Times New Roman" charset="0"/>
                <a:cs typeface="Times New Roman" charset="0"/>
              </a:rPr>
              <a:t>), while they reflect green light. </a:t>
            </a:r>
          </a:p>
          <a:p>
            <a:pPr>
              <a:buFont typeface="Wingdings" panose="05000000000000000000" pitchFamily="2" charset="2"/>
              <a:buChar char="v"/>
            </a:pPr>
            <a:r>
              <a:rPr lang="en-US" sz="2400" dirty="0">
                <a:latin typeface="Times New Roman" charset="0"/>
                <a:ea typeface="Times New Roman" charset="0"/>
                <a:cs typeface="Times New Roman" charset="0"/>
              </a:rPr>
              <a:t>Near infrared (NIR) (0.70 to 1.30 </a:t>
            </a:r>
            <a:r>
              <a:rPr lang="en-US" sz="2400" dirty="0" err="1">
                <a:latin typeface="Times New Roman" charset="0"/>
                <a:ea typeface="Times New Roman" charset="0"/>
                <a:cs typeface="Times New Roman" charset="0"/>
              </a:rPr>
              <a:t>μm</a:t>
            </a:r>
            <a:r>
              <a:rPr lang="en-US" sz="2400" dirty="0">
                <a:latin typeface="Times New Roman" charset="0"/>
                <a:ea typeface="Times New Roman" charset="0"/>
                <a:cs typeface="Times New Roman" charset="0"/>
              </a:rPr>
              <a:t>) re </a:t>
            </a:r>
            <a:r>
              <a:rPr lang="en-US" sz="2400" dirty="0" err="1">
                <a:latin typeface="Times New Roman" charset="0"/>
                <a:ea typeface="Times New Roman" charset="0"/>
                <a:cs typeface="Times New Roman" charset="0"/>
              </a:rPr>
              <a:t>ection</a:t>
            </a:r>
            <a:r>
              <a:rPr lang="en-US" sz="2400" dirty="0">
                <a:latin typeface="Times New Roman" charset="0"/>
                <a:ea typeface="Times New Roman" charset="0"/>
                <a:cs typeface="Times New Roman" charset="0"/>
              </a:rPr>
              <a:t> and transmission are much greater and low absorption than in visible range. </a:t>
            </a:r>
          </a:p>
          <a:p>
            <a:endParaRPr lang="en-US" sz="26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0954812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charset="0"/>
                <a:ea typeface="Times New Roman" charset="0"/>
                <a:cs typeface="Times New Roman" charset="0"/>
              </a:rPr>
              <a:t>Quality of Light </a:t>
            </a:r>
            <a:endParaRPr lang="en-US" dirty="0"/>
          </a:p>
        </p:txBody>
      </p:sp>
      <p:sp>
        <p:nvSpPr>
          <p:cNvPr id="3" name="Content Placeholder 2"/>
          <p:cNvSpPr>
            <a:spLocks noGrp="1"/>
          </p:cNvSpPr>
          <p:nvPr>
            <p:ph idx="1"/>
          </p:nvPr>
        </p:nvSpPr>
        <p:spPr>
          <a:xfrm>
            <a:off x="737419" y="1671485"/>
            <a:ext cx="7502013" cy="3794862"/>
          </a:xfrm>
        </p:spPr>
        <p:txBody>
          <a:bodyPr>
            <a:normAutofit/>
          </a:bodyPr>
          <a:lstStyle/>
          <a:p>
            <a:r>
              <a:rPr lang="en-US" sz="2400" dirty="0">
                <a:latin typeface="Times New Roman" charset="0"/>
                <a:ea typeface="Times New Roman" charset="0"/>
                <a:cs typeface="Times New Roman" charset="0"/>
              </a:rPr>
              <a:t>If water is present on the surface of a leaf, wavelengths ranging from 1.3 </a:t>
            </a:r>
            <a:r>
              <a:rPr lang="en-US" sz="2400" dirty="0" err="1">
                <a:latin typeface="Times New Roman" charset="0"/>
                <a:ea typeface="Times New Roman" charset="0"/>
                <a:cs typeface="Times New Roman" charset="0"/>
              </a:rPr>
              <a:t>μm</a:t>
            </a:r>
            <a:r>
              <a:rPr lang="en-US" sz="2400" dirty="0">
                <a:latin typeface="Times New Roman" charset="0"/>
                <a:ea typeface="Times New Roman" charset="0"/>
                <a:cs typeface="Times New Roman" charset="0"/>
              </a:rPr>
              <a:t> to 2.9 </a:t>
            </a:r>
            <a:r>
              <a:rPr lang="en-US" sz="2400" dirty="0" err="1">
                <a:latin typeface="Times New Roman" charset="0"/>
                <a:ea typeface="Times New Roman" charset="0"/>
                <a:cs typeface="Times New Roman" charset="0"/>
              </a:rPr>
              <a:t>μm</a:t>
            </a:r>
            <a:r>
              <a:rPr lang="en-US" sz="2400" dirty="0">
                <a:latin typeface="Times New Roman" charset="0"/>
                <a:ea typeface="Times New Roman" charset="0"/>
                <a:cs typeface="Times New Roman" charset="0"/>
              </a:rPr>
              <a:t> tend to exhibit higher levels of absorption and lower levels of reflection and transmission. </a:t>
            </a:r>
          </a:p>
          <a:p>
            <a:r>
              <a:rPr lang="en-US" sz="2400" dirty="0">
                <a:latin typeface="Times New Roman" charset="0"/>
                <a:ea typeface="Times New Roman" charset="0"/>
                <a:cs typeface="Times New Roman" charset="0"/>
              </a:rPr>
              <a:t>Based on the information provided, it can be inferred that plants primarily rely on visible light especially </a:t>
            </a:r>
            <a:r>
              <a:rPr lang="en-US" sz="2400" b="1" dirty="0">
                <a:latin typeface="Times New Roman" charset="0"/>
                <a:ea typeface="Times New Roman" charset="0"/>
                <a:cs typeface="Times New Roman" charset="0"/>
              </a:rPr>
              <a:t>blue and red light </a:t>
            </a:r>
            <a:r>
              <a:rPr lang="en-US" sz="2400" dirty="0">
                <a:latin typeface="Times New Roman" charset="0"/>
                <a:ea typeface="Times New Roman" charset="0"/>
                <a:cs typeface="Times New Roman" charset="0"/>
              </a:rPr>
              <a:t>for their internal processes and is known as </a:t>
            </a:r>
            <a:r>
              <a:rPr lang="en-US" sz="2400" dirty="0" err="1">
                <a:latin typeface="Times New Roman" charset="0"/>
                <a:ea typeface="Times New Roman" charset="0"/>
                <a:cs typeface="Times New Roman" charset="0"/>
              </a:rPr>
              <a:t>photosynthetically</a:t>
            </a:r>
            <a:r>
              <a:rPr lang="en-US" sz="2400" dirty="0">
                <a:latin typeface="Times New Roman" charset="0"/>
                <a:ea typeface="Times New Roman" charset="0"/>
                <a:cs typeface="Times New Roman" charset="0"/>
              </a:rPr>
              <a:t> active radiation (PAR) spectrum. </a:t>
            </a:r>
          </a:p>
          <a:p>
            <a:endParaRPr lang="en-US" dirty="0"/>
          </a:p>
        </p:txBody>
      </p:sp>
    </p:spTree>
    <p:extLst>
      <p:ext uri="{BB962C8B-B14F-4D97-AF65-F5344CB8AC3E}">
        <p14:creationId xmlns:p14="http://schemas.microsoft.com/office/powerpoint/2010/main" val="8258671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F7600-846D-921E-9071-A17F57527243}"/>
              </a:ext>
            </a:extLst>
          </p:cNvPr>
          <p:cNvSpPr>
            <a:spLocks noGrp="1"/>
          </p:cNvSpPr>
          <p:nvPr>
            <p:ph type="title"/>
          </p:nvPr>
        </p:nvSpPr>
        <p:spPr>
          <a:xfrm>
            <a:off x="1002891" y="167149"/>
            <a:ext cx="6691904" cy="678425"/>
          </a:xfrm>
        </p:spPr>
        <p:txBody>
          <a:bodyPr>
            <a:normAutofit/>
          </a:bodyPr>
          <a:lstStyle/>
          <a:p>
            <a:r>
              <a:rPr lang="en-GB" b="1" dirty="0">
                <a:latin typeface="Times New Roman" panose="02020603050405020304" pitchFamily="18" charset="0"/>
                <a:cs typeface="Times New Roman" panose="02020603050405020304" pitchFamily="18" charset="0"/>
              </a:rPr>
              <a:t>Low Light Intensity</a:t>
            </a:r>
          </a:p>
        </p:txBody>
      </p:sp>
      <p:sp>
        <p:nvSpPr>
          <p:cNvPr id="3" name="Content Placeholder 2">
            <a:extLst>
              <a:ext uri="{FF2B5EF4-FFF2-40B4-BE49-F238E27FC236}">
                <a16:creationId xmlns:a16="http://schemas.microsoft.com/office/drawing/2014/main" id="{FED9F0B7-6760-CE4A-81B2-E924045EC660}"/>
              </a:ext>
            </a:extLst>
          </p:cNvPr>
          <p:cNvSpPr>
            <a:spLocks noGrp="1"/>
          </p:cNvSpPr>
          <p:nvPr>
            <p:ph idx="1"/>
          </p:nvPr>
        </p:nvSpPr>
        <p:spPr>
          <a:xfrm>
            <a:off x="550606" y="1130711"/>
            <a:ext cx="7669161" cy="4335636"/>
          </a:xfrm>
        </p:spPr>
        <p:txBody>
          <a:bodyPr>
            <a:normAutofit/>
          </a:bodyPr>
          <a:lstStyle/>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Light regulates numerous physiological and developmental processes through photoreceptors such as phytochromes, cryptochromes, and </a:t>
            </a:r>
            <a:r>
              <a:rPr lang="en-GB" sz="2400" dirty="0" err="1">
                <a:latin typeface="Times New Roman" panose="02020603050405020304" pitchFamily="18" charset="0"/>
                <a:cs typeface="Times New Roman" panose="02020603050405020304" pitchFamily="18" charset="0"/>
              </a:rPr>
              <a:t>phototropins</a:t>
            </a:r>
            <a:r>
              <a:rPr lang="en-GB" sz="24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Insufficient light limits photosynthesis, reducing carbohydrate production needed for growth. Plants exposed to low light often exhibit etiolation - a phenomenon where stems elongate excessively while leaves become smaller and paler as the plant strives to reach a better light source.</a:t>
            </a:r>
          </a:p>
        </p:txBody>
      </p:sp>
    </p:spTree>
    <p:extLst>
      <p:ext uri="{BB962C8B-B14F-4D97-AF65-F5344CB8AC3E}">
        <p14:creationId xmlns:p14="http://schemas.microsoft.com/office/powerpoint/2010/main" val="37535455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8594" y="560439"/>
            <a:ext cx="7836309" cy="4905907"/>
          </a:xfrm>
        </p:spPr>
        <p:txBody>
          <a:bodyPr>
            <a:normAutofit/>
          </a:bodyPr>
          <a:lstStyle/>
          <a:p>
            <a:pPr marL="514350" indent="-514350">
              <a:buFont typeface="+mj-lt"/>
              <a:buAutoNum type="arabicPeriod"/>
            </a:pPr>
            <a:r>
              <a:rPr lang="en-US" sz="2400" b="1" dirty="0">
                <a:latin typeface="Times New Roman" charset="0"/>
                <a:ea typeface="Times New Roman" charset="0"/>
                <a:cs typeface="Times New Roman" charset="0"/>
              </a:rPr>
              <a:t>Photosynthesis</a:t>
            </a:r>
            <a:r>
              <a:rPr lang="en-US" sz="2400" dirty="0">
                <a:latin typeface="Times New Roman" charset="0"/>
                <a:ea typeface="Times New Roman" charset="0"/>
                <a:cs typeface="Times New Roman" charset="0"/>
              </a:rPr>
              <a:t>: Light intensity directly a </a:t>
            </a:r>
            <a:r>
              <a:rPr lang="en-US" sz="2400" dirty="0" err="1">
                <a:latin typeface="Times New Roman" charset="0"/>
                <a:ea typeface="Times New Roman" charset="0"/>
                <a:cs typeface="Times New Roman" charset="0"/>
              </a:rPr>
              <a:t>ects</a:t>
            </a:r>
            <a:r>
              <a:rPr lang="en-US" sz="2400" dirty="0">
                <a:latin typeface="Times New Roman" charset="0"/>
                <a:ea typeface="Times New Roman" charset="0"/>
                <a:cs typeface="Times New Roman" charset="0"/>
              </a:rPr>
              <a:t> the rate of photosynthesis in plants. As the intensity of light increases, the rate of photosynthesis generally increases until reaching a light saturation point. Beyond this point, further increases in light intensity may not significantly enhance photosynthesis. Different plant species have varying light intensity requirements for optimal photosynthetic activity. </a:t>
            </a:r>
          </a:p>
          <a:p>
            <a:endParaRPr lang="en-US" dirty="0"/>
          </a:p>
        </p:txBody>
      </p:sp>
    </p:spTree>
    <p:extLst>
      <p:ext uri="{BB962C8B-B14F-4D97-AF65-F5344CB8AC3E}">
        <p14:creationId xmlns:p14="http://schemas.microsoft.com/office/powerpoint/2010/main" val="20099005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marL="0" indent="0">
              <a:buNone/>
            </a:pPr>
            <a:r>
              <a:rPr lang="en-US" sz="2400" b="1" dirty="0">
                <a:latin typeface="Times New Roman" charset="0"/>
                <a:ea typeface="Times New Roman" charset="0"/>
                <a:cs typeface="Times New Roman" charset="0"/>
              </a:rPr>
              <a:t>2. Plant growth and morphology: </a:t>
            </a:r>
            <a:r>
              <a:rPr lang="en-US" sz="2400" dirty="0">
                <a:latin typeface="Times New Roman" charset="0"/>
                <a:ea typeface="Times New Roman" charset="0"/>
                <a:cs typeface="Times New Roman" charset="0"/>
              </a:rPr>
              <a:t>Light intensity a </a:t>
            </a:r>
            <a:r>
              <a:rPr lang="en-US" sz="2400" dirty="0" err="1">
                <a:latin typeface="Times New Roman" charset="0"/>
                <a:ea typeface="Times New Roman" charset="0"/>
                <a:cs typeface="Times New Roman" charset="0"/>
              </a:rPr>
              <a:t>ects</a:t>
            </a:r>
            <a:r>
              <a:rPr lang="en-US" sz="2400" dirty="0">
                <a:latin typeface="Times New Roman" charset="0"/>
                <a:ea typeface="Times New Roman" charset="0"/>
                <a:cs typeface="Times New Roman" charset="0"/>
              </a:rPr>
              <a:t> plant growth and morphology. </a:t>
            </a:r>
          </a:p>
          <a:p>
            <a:pPr marL="0" indent="0">
              <a:buNone/>
            </a:pPr>
            <a:r>
              <a:rPr lang="en-US" sz="2400" dirty="0">
                <a:latin typeface="Times New Roman" charset="0"/>
                <a:ea typeface="Times New Roman" charset="0"/>
                <a:cs typeface="Times New Roman" charset="0"/>
              </a:rPr>
              <a:t>Low light intensity can result in elongated, spindly growth and reduced leaf area. </a:t>
            </a:r>
          </a:p>
          <a:p>
            <a:pPr marL="0" indent="0">
              <a:buNone/>
            </a:pPr>
            <a:r>
              <a:rPr lang="en-US" sz="2400" dirty="0">
                <a:latin typeface="Times New Roman" charset="0"/>
                <a:ea typeface="Times New Roman" charset="0"/>
                <a:cs typeface="Times New Roman" charset="0"/>
              </a:rPr>
              <a:t>High light intensity, on the other hand, can lead to stunted growth or damage due to excessive heat or radiation. </a:t>
            </a:r>
          </a:p>
          <a:p>
            <a:pPr marL="0" indent="0">
              <a:buNone/>
            </a:pPr>
            <a:r>
              <a:rPr lang="en-US" sz="2400" dirty="0">
                <a:latin typeface="Times New Roman" charset="0"/>
                <a:ea typeface="Times New Roman" charset="0"/>
                <a:cs typeface="Times New Roman" charset="0"/>
              </a:rPr>
              <a:t>Different plant species have different tolerance ranges for light intensity, and it is important to provide an appropriate intensity level for each specific species. </a:t>
            </a:r>
          </a:p>
          <a:p>
            <a:endParaRPr lang="en-US" dirty="0"/>
          </a:p>
        </p:txBody>
      </p:sp>
    </p:spTree>
    <p:extLst>
      <p:ext uri="{BB962C8B-B14F-4D97-AF65-F5344CB8AC3E}">
        <p14:creationId xmlns:p14="http://schemas.microsoft.com/office/powerpoint/2010/main" val="13833719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sz="2400" b="1" dirty="0">
                <a:latin typeface="Times New Roman" charset="0"/>
                <a:ea typeface="Times New Roman" charset="0"/>
                <a:cs typeface="Times New Roman" charset="0"/>
              </a:rPr>
              <a:t>3. Flowering and fruiting: </a:t>
            </a:r>
            <a:r>
              <a:rPr lang="en-US" sz="2400" dirty="0">
                <a:latin typeface="Times New Roman" charset="0"/>
                <a:ea typeface="Times New Roman" charset="0"/>
                <a:cs typeface="Times New Roman" charset="0"/>
              </a:rPr>
              <a:t>Light intensity influences the timing and quality of flowering and fruiting in many plants. </a:t>
            </a:r>
          </a:p>
          <a:p>
            <a:pPr marL="0" indent="0">
              <a:buNone/>
            </a:pPr>
            <a:r>
              <a:rPr lang="en-US" sz="2400" dirty="0">
                <a:latin typeface="Times New Roman" charset="0"/>
                <a:ea typeface="Times New Roman" charset="0"/>
                <a:cs typeface="Times New Roman" charset="0"/>
              </a:rPr>
              <a:t>Certain plants require specific light intensity thresholds or ratios to trigger or inhibit flowering. </a:t>
            </a:r>
          </a:p>
          <a:p>
            <a:pPr marL="0" indent="0">
              <a:buNone/>
            </a:pPr>
            <a:r>
              <a:rPr lang="en-US" sz="2400" dirty="0">
                <a:latin typeface="Times New Roman" charset="0"/>
                <a:ea typeface="Times New Roman" charset="0"/>
                <a:cs typeface="Times New Roman" charset="0"/>
              </a:rPr>
              <a:t>Insufficient light intensity can result in delayed or reduced flowering, while excessively high intensity may negatively impact flower and fruit development. </a:t>
            </a:r>
          </a:p>
          <a:p>
            <a:endParaRPr lang="en-US" dirty="0"/>
          </a:p>
        </p:txBody>
      </p:sp>
    </p:spTree>
    <p:extLst>
      <p:ext uri="{BB962C8B-B14F-4D97-AF65-F5344CB8AC3E}">
        <p14:creationId xmlns:p14="http://schemas.microsoft.com/office/powerpoint/2010/main" val="10340510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marL="0" indent="0">
              <a:buNone/>
            </a:pPr>
            <a:r>
              <a:rPr lang="en-US" sz="2400" b="1" dirty="0">
                <a:latin typeface="Times New Roman" charset="0"/>
                <a:ea typeface="Times New Roman" charset="0"/>
                <a:cs typeface="Times New Roman" charset="0"/>
              </a:rPr>
              <a:t>3. Light adaptation and stress responses: </a:t>
            </a:r>
            <a:r>
              <a:rPr lang="en-US" sz="2400" dirty="0">
                <a:latin typeface="Times New Roman" charset="0"/>
                <a:ea typeface="Times New Roman" charset="0"/>
                <a:cs typeface="Times New Roman" charset="0"/>
              </a:rPr>
              <a:t>Plants exhibit various adaptive responses to changes in light intensity. </a:t>
            </a:r>
          </a:p>
          <a:p>
            <a:pPr marL="0" indent="0">
              <a:buNone/>
            </a:pPr>
            <a:r>
              <a:rPr lang="en-US" sz="2400" dirty="0">
                <a:latin typeface="Times New Roman" charset="0"/>
                <a:ea typeface="Times New Roman" charset="0"/>
                <a:cs typeface="Times New Roman" charset="0"/>
              </a:rPr>
              <a:t>They can adjust their photosynthetic machinery, pigment composition, and stomatal </a:t>
            </a:r>
            <a:r>
              <a:rPr lang="en-US" sz="2400" dirty="0" err="1">
                <a:latin typeface="Times New Roman" charset="0"/>
                <a:ea typeface="Times New Roman" charset="0"/>
                <a:cs typeface="Times New Roman" charset="0"/>
              </a:rPr>
              <a:t>behaviour</a:t>
            </a:r>
            <a:r>
              <a:rPr lang="en-US" sz="2400" dirty="0">
                <a:latin typeface="Times New Roman" charset="0"/>
                <a:ea typeface="Times New Roman" charset="0"/>
                <a:cs typeface="Times New Roman" charset="0"/>
              </a:rPr>
              <a:t> to optimize light absorption and minimize potential damage. </a:t>
            </a:r>
          </a:p>
          <a:p>
            <a:pPr marL="0" indent="0">
              <a:buNone/>
            </a:pPr>
            <a:r>
              <a:rPr lang="en-US" sz="2400" dirty="0">
                <a:latin typeface="Times New Roman" charset="0"/>
                <a:ea typeface="Times New Roman" charset="0"/>
                <a:cs typeface="Times New Roman" charset="0"/>
              </a:rPr>
              <a:t>In response to high light intensity, plants may produce protective pigments, such as </a:t>
            </a:r>
            <a:r>
              <a:rPr lang="en-US" sz="2400" dirty="0" err="1">
                <a:latin typeface="Times New Roman" charset="0"/>
                <a:ea typeface="Times New Roman" charset="0"/>
                <a:cs typeface="Times New Roman" charset="0"/>
              </a:rPr>
              <a:t>anthocyanins</a:t>
            </a:r>
            <a:r>
              <a:rPr lang="en-US" sz="2400" dirty="0">
                <a:latin typeface="Times New Roman" charset="0"/>
                <a:ea typeface="Times New Roman" charset="0"/>
                <a:cs typeface="Times New Roman" charset="0"/>
              </a:rPr>
              <a:t>, or modify their leaf orientation to reduce light exposure. </a:t>
            </a:r>
          </a:p>
          <a:p>
            <a:endParaRPr lang="en-US"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7170582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7144"/>
            <a:ext cx="8229600" cy="882870"/>
          </a:xfrm>
        </p:spPr>
        <p:txBody>
          <a:bodyPr>
            <a:normAutofit/>
          </a:bodyPr>
          <a:lstStyle/>
          <a:p>
            <a:r>
              <a:rPr lang="en-US" sz="3600" b="1" dirty="0">
                <a:latin typeface="Times New Roman" charset="0"/>
                <a:ea typeface="Times New Roman" charset="0"/>
                <a:cs typeface="Times New Roman" charset="0"/>
              </a:rPr>
              <a:t>Duration of Light </a:t>
            </a:r>
            <a:endParaRPr lang="en-US" sz="3600" dirty="0">
              <a:latin typeface="Times New Roman" charset="0"/>
              <a:ea typeface="Times New Roman" charset="0"/>
              <a:cs typeface="Times New Roman" charset="0"/>
            </a:endParaRPr>
          </a:p>
        </p:txBody>
      </p:sp>
      <p:sp>
        <p:nvSpPr>
          <p:cNvPr id="3" name="Content Placeholder 2"/>
          <p:cNvSpPr>
            <a:spLocks noGrp="1"/>
          </p:cNvSpPr>
          <p:nvPr>
            <p:ph idx="1"/>
          </p:nvPr>
        </p:nvSpPr>
        <p:spPr>
          <a:xfrm>
            <a:off x="457200" y="1692166"/>
            <a:ext cx="8229600" cy="4433997"/>
          </a:xfrm>
        </p:spPr>
        <p:txBody>
          <a:bodyPr/>
          <a:lstStyle/>
          <a:p>
            <a:pPr>
              <a:buFont typeface="Wingdings" charset="2"/>
              <a:buChar char="Ø"/>
            </a:pPr>
            <a:r>
              <a:rPr lang="en-US" sz="2400" dirty="0">
                <a:latin typeface="Times New Roman" charset="0"/>
                <a:ea typeface="Times New Roman" charset="0"/>
                <a:cs typeface="Times New Roman" charset="0"/>
              </a:rPr>
              <a:t>The duration of light refers to the length of time that plants are exposed to light within a 24-hour period, commonly known as the photoperiod. </a:t>
            </a:r>
          </a:p>
          <a:p>
            <a:pPr>
              <a:buFont typeface="Wingdings" charset="2"/>
              <a:buChar char="Ø"/>
            </a:pPr>
            <a:r>
              <a:rPr lang="en-US" sz="2400" dirty="0">
                <a:latin typeface="Times New Roman" charset="0"/>
                <a:ea typeface="Times New Roman" charset="0"/>
                <a:cs typeface="Times New Roman" charset="0"/>
              </a:rPr>
              <a:t>The duration of light plays a crucial role in regulating various physiological and developmental processes in plants. </a:t>
            </a:r>
          </a:p>
          <a:p>
            <a:pPr>
              <a:buFont typeface="Wingdings" charset="2"/>
              <a:buChar char="Ø"/>
            </a:pPr>
            <a:r>
              <a:rPr lang="en-US" sz="2400" dirty="0">
                <a:latin typeface="Times New Roman" charset="0"/>
                <a:ea typeface="Times New Roman" charset="0"/>
                <a:cs typeface="Times New Roman" charset="0"/>
              </a:rPr>
              <a:t>Here are some key aspects related to the duration of light: </a:t>
            </a:r>
          </a:p>
          <a:p>
            <a:endParaRPr lang="en-US" dirty="0"/>
          </a:p>
        </p:txBody>
      </p:sp>
    </p:spTree>
    <p:extLst>
      <p:ext uri="{BB962C8B-B14F-4D97-AF65-F5344CB8AC3E}">
        <p14:creationId xmlns:p14="http://schemas.microsoft.com/office/powerpoint/2010/main" val="14490526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111" y="619433"/>
            <a:ext cx="8052618" cy="4846914"/>
          </a:xfrm>
        </p:spPr>
        <p:txBody>
          <a:bodyPr>
            <a:normAutofit/>
          </a:bodyPr>
          <a:lstStyle/>
          <a:p>
            <a:pPr marL="0" indent="0">
              <a:buNone/>
            </a:pPr>
            <a:r>
              <a:rPr lang="en-US" sz="2400" b="1" dirty="0">
                <a:latin typeface="Times New Roman" charset="0"/>
                <a:ea typeface="Times New Roman" charset="0"/>
                <a:cs typeface="Times New Roman" charset="0"/>
              </a:rPr>
              <a:t>1. Photoperiodic responses: </a:t>
            </a:r>
            <a:r>
              <a:rPr lang="en-US" sz="2400" dirty="0">
                <a:latin typeface="Times New Roman" charset="0"/>
                <a:ea typeface="Times New Roman" charset="0"/>
                <a:cs typeface="Times New Roman" charset="0"/>
              </a:rPr>
              <a:t>Many plant species exhibit photoperiodic responses, which are specific physiological reactions triggered by the length of the light and dark periods. </a:t>
            </a:r>
          </a:p>
          <a:p>
            <a:pPr marL="0" indent="0">
              <a:buNone/>
            </a:pPr>
            <a:r>
              <a:rPr lang="en-US" sz="2400" dirty="0">
                <a:latin typeface="Times New Roman" charset="0"/>
                <a:ea typeface="Times New Roman" charset="0"/>
                <a:cs typeface="Times New Roman" charset="0"/>
              </a:rPr>
              <a:t>These responses can include flowering, bud formation, dormancy, and other developmental changes. </a:t>
            </a:r>
          </a:p>
          <a:p>
            <a:pPr marL="0" indent="0">
              <a:buNone/>
            </a:pPr>
            <a:r>
              <a:rPr lang="en-US" sz="2400" dirty="0">
                <a:latin typeface="Times New Roman" charset="0"/>
                <a:ea typeface="Times New Roman" charset="0"/>
                <a:cs typeface="Times New Roman" charset="0"/>
              </a:rPr>
              <a:t>Plants can be categorized as short-day plants, long-day plants, or day-neutral plants based on their </a:t>
            </a:r>
            <a:r>
              <a:rPr lang="en-US" sz="2400" dirty="0" err="1">
                <a:latin typeface="Times New Roman" charset="0"/>
                <a:ea typeface="Times New Roman" charset="0"/>
                <a:cs typeface="Times New Roman" charset="0"/>
              </a:rPr>
              <a:t>speci</a:t>
            </a:r>
            <a:r>
              <a:rPr lang="en-US" sz="2400" dirty="0">
                <a:latin typeface="Times New Roman" charset="0"/>
                <a:ea typeface="Times New Roman" charset="0"/>
                <a:cs typeface="Times New Roman" charset="0"/>
              </a:rPr>
              <a:t> c requirements for light duration. </a:t>
            </a:r>
          </a:p>
          <a:p>
            <a:endParaRPr lang="en-US" dirty="0"/>
          </a:p>
        </p:txBody>
      </p:sp>
    </p:spTree>
    <p:extLst>
      <p:ext uri="{BB962C8B-B14F-4D97-AF65-F5344CB8AC3E}">
        <p14:creationId xmlns:p14="http://schemas.microsoft.com/office/powerpoint/2010/main" val="3637077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0103" y="658761"/>
            <a:ext cx="8091949" cy="4807585"/>
          </a:xfrm>
        </p:spPr>
        <p:txBody>
          <a:bodyPr>
            <a:normAutofit/>
          </a:bodyPr>
          <a:lstStyle/>
          <a:p>
            <a:pPr marL="0" indent="0">
              <a:buNone/>
            </a:pPr>
            <a:r>
              <a:rPr lang="en-US" sz="2400" b="1" dirty="0">
                <a:latin typeface="Times New Roman" charset="0"/>
                <a:ea typeface="Times New Roman" charset="0"/>
                <a:cs typeface="Times New Roman" charset="0"/>
              </a:rPr>
              <a:t>2. Flowering induction: </a:t>
            </a:r>
            <a:r>
              <a:rPr lang="en-US" sz="2400" dirty="0">
                <a:latin typeface="Times New Roman" charset="0"/>
                <a:ea typeface="Times New Roman" charset="0"/>
                <a:cs typeface="Times New Roman" charset="0"/>
              </a:rPr>
              <a:t>The duration of light is particularly important for regulating flowering in many plant species. </a:t>
            </a:r>
          </a:p>
          <a:p>
            <a:pPr>
              <a:buFont typeface="Wingdings" charset="2"/>
              <a:buChar char="Ø"/>
            </a:pPr>
            <a:r>
              <a:rPr lang="en-US" sz="2400" dirty="0">
                <a:latin typeface="Times New Roman" charset="0"/>
                <a:ea typeface="Times New Roman" charset="0"/>
                <a:cs typeface="Times New Roman" charset="0"/>
              </a:rPr>
              <a:t>Short-day plants, also known as long-night plants, require a longer period of darkness than light to initiate flowering. </a:t>
            </a:r>
          </a:p>
          <a:p>
            <a:pPr>
              <a:buFont typeface="Wingdings" charset="2"/>
              <a:buChar char="Ø"/>
            </a:pPr>
            <a:r>
              <a:rPr lang="en-US" sz="2400" dirty="0">
                <a:latin typeface="Times New Roman" charset="0"/>
                <a:ea typeface="Times New Roman" charset="0"/>
                <a:cs typeface="Times New Roman" charset="0"/>
              </a:rPr>
              <a:t>In contrast, long-day plants, also known as short-night plants, require a shorter period of darkness than light to induce flowering. </a:t>
            </a:r>
          </a:p>
          <a:p>
            <a:pPr>
              <a:buFont typeface="Wingdings" charset="2"/>
              <a:buChar char="Ø"/>
            </a:pPr>
            <a:r>
              <a:rPr lang="en-US" sz="2400" dirty="0">
                <a:latin typeface="Times New Roman" charset="0"/>
                <a:ea typeface="Times New Roman" charset="0"/>
                <a:cs typeface="Times New Roman" charset="0"/>
              </a:rPr>
              <a:t>Day- neutral plants are not significantly influenced by the duration of light. </a:t>
            </a:r>
          </a:p>
          <a:p>
            <a:endParaRPr lang="en-US" dirty="0"/>
          </a:p>
        </p:txBody>
      </p:sp>
    </p:spTree>
    <p:extLst>
      <p:ext uri="{BB962C8B-B14F-4D97-AF65-F5344CB8AC3E}">
        <p14:creationId xmlns:p14="http://schemas.microsoft.com/office/powerpoint/2010/main" val="6878564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9935" y="639097"/>
            <a:ext cx="8200104" cy="4827249"/>
          </a:xfrm>
        </p:spPr>
        <p:txBody>
          <a:bodyPr>
            <a:normAutofit/>
          </a:bodyPr>
          <a:lstStyle/>
          <a:p>
            <a:pPr marL="0" indent="0">
              <a:buNone/>
            </a:pPr>
            <a:r>
              <a:rPr lang="en-US" sz="2400" b="1" dirty="0">
                <a:latin typeface="Times New Roman" charset="0"/>
                <a:ea typeface="Times New Roman" charset="0"/>
                <a:cs typeface="Times New Roman" charset="0"/>
              </a:rPr>
              <a:t>3. Vegetative growth and dormancy: </a:t>
            </a:r>
            <a:r>
              <a:rPr lang="en-US" sz="2400" dirty="0">
                <a:latin typeface="Times New Roman" charset="0"/>
                <a:ea typeface="Times New Roman" charset="0"/>
                <a:cs typeface="Times New Roman" charset="0"/>
              </a:rPr>
              <a:t>The duration of light also influences vegetative growth and dormancy in plants. </a:t>
            </a:r>
          </a:p>
          <a:p>
            <a:pPr>
              <a:buFont typeface="Wingdings" charset="2"/>
              <a:buChar char="Ø"/>
            </a:pPr>
            <a:r>
              <a:rPr lang="en-US" sz="2400" dirty="0">
                <a:latin typeface="Times New Roman" charset="0"/>
                <a:ea typeface="Times New Roman" charset="0"/>
                <a:cs typeface="Times New Roman" charset="0"/>
              </a:rPr>
              <a:t>Longer light durations can promote vegetative growth and inhibit the onset of dormancy, while shorter light durations can trigger dormancy and growth cessation. </a:t>
            </a:r>
          </a:p>
          <a:p>
            <a:pPr>
              <a:buFont typeface="Wingdings" charset="2"/>
              <a:buChar char="Ø"/>
            </a:pPr>
            <a:r>
              <a:rPr lang="en-US" sz="2400" dirty="0">
                <a:latin typeface="Times New Roman" charset="0"/>
                <a:ea typeface="Times New Roman" charset="0"/>
                <a:cs typeface="Times New Roman" charset="0"/>
              </a:rPr>
              <a:t>The photoperiodic cues provide plants with information about seasonal changes and help regulate their growth patterns accordingly. </a:t>
            </a:r>
          </a:p>
          <a:p>
            <a:endParaRPr lang="en-US" dirty="0"/>
          </a:p>
        </p:txBody>
      </p:sp>
    </p:spTree>
    <p:extLst>
      <p:ext uri="{BB962C8B-B14F-4D97-AF65-F5344CB8AC3E}">
        <p14:creationId xmlns:p14="http://schemas.microsoft.com/office/powerpoint/2010/main" val="19140082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7587" y="68826"/>
            <a:ext cx="7777316" cy="1111045"/>
          </a:xfrm>
        </p:spPr>
        <p:txBody>
          <a:bodyPr>
            <a:noAutofit/>
          </a:bodyPr>
          <a:lstStyle/>
          <a:p>
            <a:r>
              <a:rPr lang="en-US" b="1" dirty="0">
                <a:latin typeface="Times New Roman" charset="0"/>
                <a:ea typeface="Times New Roman" charset="0"/>
                <a:cs typeface="Times New Roman" charset="0"/>
              </a:rPr>
              <a:t>Temperature effects on germination, growth, and yield</a:t>
            </a:r>
          </a:p>
        </p:txBody>
      </p:sp>
      <p:sp>
        <p:nvSpPr>
          <p:cNvPr id="3" name="Content Placeholder 2"/>
          <p:cNvSpPr>
            <a:spLocks noGrp="1"/>
          </p:cNvSpPr>
          <p:nvPr>
            <p:ph idx="1"/>
          </p:nvPr>
        </p:nvSpPr>
        <p:spPr>
          <a:xfrm>
            <a:off x="501445" y="1179871"/>
            <a:ext cx="8200103" cy="4286475"/>
          </a:xfrm>
        </p:spPr>
        <p:txBody>
          <a:bodyPr>
            <a:normAutofit fontScale="85000" lnSpcReduction="10000"/>
          </a:bodyPr>
          <a:lstStyle/>
          <a:p>
            <a:pPr marL="0" indent="0">
              <a:buNone/>
            </a:pPr>
            <a:r>
              <a:rPr lang="en-US" sz="2400" dirty="0">
                <a:latin typeface="Times New Roman" charset="0"/>
                <a:ea typeface="Times New Roman" charset="0"/>
                <a:cs typeface="Times New Roman" charset="0"/>
              </a:rPr>
              <a:t>Temperature is a critical environmental factor that significantly influences crop performance and growth. </a:t>
            </a:r>
            <a:r>
              <a:rPr lang="en-US" sz="2400" b="1" dirty="0">
                <a:latin typeface="Times New Roman" charset="0"/>
                <a:ea typeface="Times New Roman" charset="0"/>
                <a:cs typeface="Times New Roman" charset="0"/>
              </a:rPr>
              <a:t>Here are some key aspects of how temperature affects crop performance: </a:t>
            </a:r>
            <a:endParaRPr lang="en-US" sz="2400" dirty="0">
              <a:latin typeface="Times New Roman" charset="0"/>
              <a:ea typeface="Times New Roman" charset="0"/>
              <a:cs typeface="Times New Roman" charset="0"/>
            </a:endParaRPr>
          </a:p>
          <a:p>
            <a:endParaRPr lang="en-US" sz="2400" dirty="0">
              <a:latin typeface="Times New Roman" charset="0"/>
              <a:ea typeface="Times New Roman" charset="0"/>
              <a:cs typeface="Times New Roman" charset="0"/>
            </a:endParaRPr>
          </a:p>
          <a:p>
            <a:pPr marL="457200" indent="-457200">
              <a:buFont typeface="Arial"/>
              <a:buAutoNum type="arabicPeriod"/>
            </a:pPr>
            <a:r>
              <a:rPr lang="en-US" sz="2400" b="1" dirty="0">
                <a:latin typeface="Times New Roman" charset="0"/>
                <a:ea typeface="Times New Roman" charset="0"/>
                <a:cs typeface="Times New Roman" charset="0"/>
              </a:rPr>
              <a:t>Germination and seedling establishment - </a:t>
            </a:r>
            <a:r>
              <a:rPr lang="en-US" sz="2400" dirty="0">
                <a:latin typeface="Times New Roman" charset="0"/>
                <a:ea typeface="Times New Roman" charset="0"/>
                <a:cs typeface="Times New Roman" charset="0"/>
              </a:rPr>
              <a:t>Temperature plays a vital role in seed germination and subsequent seedling establishment. Some seeds require cooler temperatures, while others need warmer conditions. The optimum temperature results in germination in the shortest time possible.</a:t>
            </a:r>
            <a:r>
              <a:rPr lang="en-US" sz="2400" dirty="0"/>
              <a:t> </a:t>
            </a:r>
            <a:r>
              <a:rPr lang="en-US" sz="2400" dirty="0">
                <a:latin typeface="Times New Roman" charset="0"/>
                <a:ea typeface="Times New Roman" charset="0"/>
                <a:cs typeface="Times New Roman" charset="0"/>
              </a:rPr>
              <a:t>In general, most of plants have a preferred temperature range for germination between </a:t>
            </a:r>
            <a:r>
              <a:rPr lang="en-US" sz="2400" b="1" dirty="0">
                <a:latin typeface="Times New Roman" charset="0"/>
                <a:ea typeface="Times New Roman" charset="0"/>
                <a:cs typeface="Times New Roman" charset="0"/>
              </a:rPr>
              <a:t>18°C to 29°C. </a:t>
            </a:r>
            <a:endParaRPr lang="en-US" sz="2400" dirty="0">
              <a:latin typeface="Times New Roman" charset="0"/>
              <a:ea typeface="Times New Roman" charset="0"/>
              <a:cs typeface="Times New Roman" charset="0"/>
            </a:endParaRPr>
          </a:p>
          <a:p>
            <a:pPr marL="0" indent="0">
              <a:buNone/>
            </a:pPr>
            <a:r>
              <a:rPr lang="en-US" sz="2400" dirty="0">
                <a:latin typeface="Times New Roman" charset="0"/>
                <a:ea typeface="Times New Roman" charset="0"/>
                <a:cs typeface="Times New Roman" charset="0"/>
              </a:rPr>
              <a:t> </a:t>
            </a:r>
          </a:p>
          <a:p>
            <a:pPr marL="0" indent="0">
              <a:buNone/>
            </a:pPr>
            <a:endParaRPr lang="en-US" sz="2400" dirty="0">
              <a:latin typeface="Times New Roman" charset="0"/>
              <a:ea typeface="Times New Roman" charset="0"/>
              <a:cs typeface="Times New Roman" charset="0"/>
            </a:endParaRPr>
          </a:p>
          <a:p>
            <a:pPr marL="0" indent="0">
              <a:buNone/>
            </a:pPr>
            <a:endParaRPr lang="en-US" sz="2400" dirty="0"/>
          </a:p>
          <a:p>
            <a:endParaRPr lang="en-US"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9726195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285" y="265472"/>
            <a:ext cx="7826476" cy="1120876"/>
          </a:xfrm>
        </p:spPr>
        <p:txBody>
          <a:bodyPr>
            <a:noAutofit/>
          </a:bodyPr>
          <a:lstStyle/>
          <a:p>
            <a:r>
              <a:rPr lang="en-US" b="1" dirty="0">
                <a:latin typeface="Times New Roman" charset="0"/>
                <a:ea typeface="Times New Roman" charset="0"/>
                <a:cs typeface="Times New Roman" charset="0"/>
              </a:rPr>
              <a:t>Requirement of cardinal temperature (°C) for certain crops </a:t>
            </a:r>
            <a:endParaRPr lang="en-US" dirty="0">
              <a:latin typeface="Times New Roman" charset="0"/>
              <a:ea typeface="Times New Roman" charset="0"/>
              <a:cs typeface="Times New Roman"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242" y="1632156"/>
            <a:ext cx="8726616" cy="3417978"/>
          </a:xfrm>
        </p:spPr>
      </p:pic>
    </p:spTree>
    <p:extLst>
      <p:ext uri="{BB962C8B-B14F-4D97-AF65-F5344CB8AC3E}">
        <p14:creationId xmlns:p14="http://schemas.microsoft.com/office/powerpoint/2010/main" val="9732987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96413"/>
            <a:ext cx="8229600" cy="5329751"/>
          </a:xfrm>
        </p:spPr>
        <p:txBody>
          <a:bodyPr>
            <a:normAutofit/>
          </a:bodyPr>
          <a:lstStyle/>
          <a:p>
            <a:pPr marL="0" indent="0">
              <a:buNone/>
            </a:pPr>
            <a:r>
              <a:rPr lang="en-US" sz="2600" b="1" dirty="0">
                <a:latin typeface="Times New Roman" charset="0"/>
                <a:ea typeface="Times New Roman" charset="0"/>
                <a:cs typeface="Times New Roman" charset="0"/>
              </a:rPr>
              <a:t>2. Growth and development </a:t>
            </a:r>
            <a:r>
              <a:rPr lang="en-US" sz="2600" dirty="0">
                <a:latin typeface="Times New Roman" charset="0"/>
                <a:ea typeface="Times New Roman" charset="0"/>
                <a:cs typeface="Times New Roman" charset="0"/>
              </a:rPr>
              <a:t>- Temperature affects the rate of plant growth and development. Each crop has specific maximum and minimum temperature ranges that define the limits within which observable growth occurs. As temperatures increase towards the crops optimum level, vegetative development including the rate of node and leaf appearance, also increases. Generally, most plant species have a higher optimum temperature for vegetative development compared to reproductive development. </a:t>
            </a:r>
            <a:endParaRPr lang="en-US"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7912141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1" y="245807"/>
            <a:ext cx="6251303" cy="1061884"/>
          </a:xfrm>
        </p:spPr>
        <p:txBody>
          <a:bodyPr/>
          <a:lstStyle/>
          <a:p>
            <a:r>
              <a:rPr dirty="0"/>
              <a:t>Biotic and Abiotic Factors</a:t>
            </a:r>
          </a:p>
        </p:txBody>
      </p:sp>
      <p:sp>
        <p:nvSpPr>
          <p:cNvPr id="3" name="Content Placeholder 2"/>
          <p:cNvSpPr>
            <a:spLocks noGrp="1"/>
          </p:cNvSpPr>
          <p:nvPr>
            <p:ph idx="1"/>
          </p:nvPr>
        </p:nvSpPr>
        <p:spPr>
          <a:xfrm>
            <a:off x="530943" y="1740311"/>
            <a:ext cx="8111612" cy="3726036"/>
          </a:xfrm>
        </p:spPr>
        <p:txBody>
          <a:bodyPr/>
          <a:lstStyle/>
          <a:p>
            <a:r>
              <a:rPr dirty="0">
                <a:latin typeface="Times New Roman" panose="02020603050405020304" pitchFamily="18" charset="0"/>
                <a:cs typeface="Times New Roman" panose="02020603050405020304" pitchFamily="18" charset="0"/>
              </a:rPr>
              <a:t>Biotic factors: pests, diseases, weeds</a:t>
            </a:r>
          </a:p>
          <a:p>
            <a:r>
              <a:rPr dirty="0">
                <a:latin typeface="Times New Roman" panose="02020603050405020304" pitchFamily="18" charset="0"/>
                <a:cs typeface="Times New Roman" panose="02020603050405020304" pitchFamily="18" charset="0"/>
              </a:rPr>
              <a:t>Abiotic factors: drought, salinity, frost, heat stress</a:t>
            </a:r>
          </a:p>
          <a:p>
            <a:r>
              <a:rPr dirty="0">
                <a:latin typeface="Times New Roman" panose="02020603050405020304" pitchFamily="18" charset="0"/>
                <a:cs typeface="Times New Roman" panose="02020603050405020304" pitchFamily="18" charset="0"/>
              </a:rPr>
              <a:t>Crop adaptation and stress tolerance mechanisms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0F07E-FF7E-2541-51C6-3C549342AC19}"/>
              </a:ext>
            </a:extLst>
          </p:cNvPr>
          <p:cNvSpPr>
            <a:spLocks noGrp="1"/>
          </p:cNvSpPr>
          <p:nvPr>
            <p:ph type="title"/>
          </p:nvPr>
        </p:nvSpPr>
        <p:spPr>
          <a:xfrm>
            <a:off x="1443491" y="275303"/>
            <a:ext cx="6251303" cy="1012723"/>
          </a:xfrm>
        </p:spPr>
        <p:txBody>
          <a:bodyPr/>
          <a:lstStyle/>
          <a:p>
            <a:r>
              <a:rPr lang="en-GB" dirty="0"/>
              <a:t>Biotic and Abiotic Factors</a:t>
            </a:r>
          </a:p>
        </p:txBody>
      </p:sp>
      <p:sp>
        <p:nvSpPr>
          <p:cNvPr id="3" name="Content Placeholder 2">
            <a:extLst>
              <a:ext uri="{FF2B5EF4-FFF2-40B4-BE49-F238E27FC236}">
                <a16:creationId xmlns:a16="http://schemas.microsoft.com/office/drawing/2014/main" id="{619DEC6E-04EC-4DB0-B0C4-921121C00300}"/>
              </a:ext>
            </a:extLst>
          </p:cNvPr>
          <p:cNvSpPr>
            <a:spLocks noGrp="1"/>
          </p:cNvSpPr>
          <p:nvPr>
            <p:ph idx="1"/>
          </p:nvPr>
        </p:nvSpPr>
        <p:spPr>
          <a:xfrm>
            <a:off x="491613" y="1573161"/>
            <a:ext cx="8131277" cy="3893185"/>
          </a:xfrm>
        </p:spPr>
        <p:txBody>
          <a:bodyPr>
            <a:normAutofit/>
          </a:bodyPr>
          <a:lstStyle/>
          <a:p>
            <a:r>
              <a:rPr lang="en-GB" sz="2400" dirty="0">
                <a:latin typeface="Times New Roman" panose="02020603050405020304" pitchFamily="18" charset="0"/>
                <a:cs typeface="Times New Roman" panose="02020603050405020304" pitchFamily="18" charset="0"/>
              </a:rPr>
              <a:t>Biotic factors in crop production are primarily caused by pests, diseases, and weeds. These factors can lead to significant reductions in crop yield and quality. Here's a brief overview of each:</a:t>
            </a:r>
          </a:p>
          <a:p>
            <a:r>
              <a:rPr lang="en-GB" sz="2400" dirty="0">
                <a:latin typeface="Times New Roman" panose="02020603050405020304" pitchFamily="18" charset="0"/>
                <a:cs typeface="Times New Roman" panose="02020603050405020304" pitchFamily="18" charset="0"/>
              </a:rPr>
              <a:t>Pests: These include insects such as aphids, caterpillars, and beetles, which can cause physical damage to crops and transmit diseases. Managing pests is crucial for maintaining crop health and productivity.</a:t>
            </a:r>
          </a:p>
        </p:txBody>
      </p:sp>
    </p:spTree>
    <p:extLst>
      <p:ext uri="{BB962C8B-B14F-4D97-AF65-F5344CB8AC3E}">
        <p14:creationId xmlns:p14="http://schemas.microsoft.com/office/powerpoint/2010/main" val="5742069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3D0143-F026-80E7-E912-8DB96EF420F4}"/>
              </a:ext>
            </a:extLst>
          </p:cNvPr>
          <p:cNvSpPr>
            <a:spLocks noGrp="1"/>
          </p:cNvSpPr>
          <p:nvPr>
            <p:ph idx="1"/>
          </p:nvPr>
        </p:nvSpPr>
        <p:spPr>
          <a:xfrm>
            <a:off x="457201" y="1600200"/>
            <a:ext cx="4272116" cy="4525963"/>
          </a:xfrm>
        </p:spPr>
        <p:txBody>
          <a:bodyPr>
            <a:normAutofit/>
          </a:bodyPr>
          <a:lstStyle/>
          <a:p>
            <a:r>
              <a:rPr lang="en-GB" sz="2400" b="1" dirty="0">
                <a:latin typeface="Times New Roman" panose="02020603050405020304" pitchFamily="18" charset="0"/>
                <a:cs typeface="Times New Roman" panose="02020603050405020304" pitchFamily="18" charset="0"/>
              </a:rPr>
              <a:t>Diseases: </a:t>
            </a:r>
            <a:r>
              <a:rPr lang="en-GB" sz="2400" dirty="0">
                <a:latin typeface="Times New Roman" panose="02020603050405020304" pitchFamily="18" charset="0"/>
                <a:cs typeface="Times New Roman" panose="02020603050405020304" pitchFamily="18" charset="0"/>
              </a:rPr>
              <a:t>Diseases caused by pathogens like bacteria, fungi, and viruses can devastate crops, leading to wilting, leaf spots, and decay. Effective disease management involves using appropriate treatments and preventive measures. </a:t>
            </a:r>
          </a:p>
        </p:txBody>
      </p:sp>
      <p:pic>
        <p:nvPicPr>
          <p:cNvPr id="5" name="Picture 4">
            <a:extLst>
              <a:ext uri="{FF2B5EF4-FFF2-40B4-BE49-F238E27FC236}">
                <a16:creationId xmlns:a16="http://schemas.microsoft.com/office/drawing/2014/main" id="{A5B12BFB-F579-0369-060F-531E4178DD9C}"/>
              </a:ext>
            </a:extLst>
          </p:cNvPr>
          <p:cNvPicPr>
            <a:picLocks noChangeAspect="1"/>
          </p:cNvPicPr>
          <p:nvPr/>
        </p:nvPicPr>
        <p:blipFill>
          <a:blip r:embed="rId2"/>
          <a:stretch>
            <a:fillRect/>
          </a:stretch>
        </p:blipFill>
        <p:spPr>
          <a:xfrm>
            <a:off x="4729317" y="1759975"/>
            <a:ext cx="3883741" cy="4012502"/>
          </a:xfrm>
          <a:prstGeom prst="rect">
            <a:avLst/>
          </a:prstGeom>
        </p:spPr>
      </p:pic>
    </p:spTree>
    <p:extLst>
      <p:ext uri="{BB962C8B-B14F-4D97-AF65-F5344CB8AC3E}">
        <p14:creationId xmlns:p14="http://schemas.microsoft.com/office/powerpoint/2010/main" val="37051970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5FA5B-F673-75FC-4232-049A7A735FDF}"/>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863F388F-E533-4BFA-322D-0EE0538E79DA}"/>
              </a:ext>
            </a:extLst>
          </p:cNvPr>
          <p:cNvSpPr>
            <a:spLocks noGrp="1"/>
          </p:cNvSpPr>
          <p:nvPr>
            <p:ph idx="1"/>
          </p:nvPr>
        </p:nvSpPr>
        <p:spPr>
          <a:xfrm>
            <a:off x="457200" y="1600200"/>
            <a:ext cx="4517923" cy="4525963"/>
          </a:xfrm>
        </p:spPr>
        <p:txBody>
          <a:bodyPr>
            <a:normAutofit fontScale="92500" lnSpcReduction="10000"/>
          </a:bodyPr>
          <a:lstStyle/>
          <a:p>
            <a:r>
              <a:rPr lang="en-GB" sz="2400" dirty="0">
                <a:latin typeface="Times New Roman" panose="02020603050405020304" pitchFamily="18" charset="0"/>
                <a:cs typeface="Times New Roman" panose="02020603050405020304" pitchFamily="18" charset="0"/>
              </a:rPr>
              <a:t>Weeds: Weeds compete with crops for nutrients, water, and sunlight, deteriorating the quality of harvested products. Control techniques include herbicides, cultural practices, and biological control. </a:t>
            </a:r>
          </a:p>
          <a:p>
            <a:r>
              <a:rPr lang="en-GB" sz="2400" dirty="0">
                <a:latin typeface="Times New Roman" panose="02020603050405020304" pitchFamily="18" charset="0"/>
                <a:cs typeface="Times New Roman" panose="02020603050405020304" pitchFamily="18" charset="0"/>
              </a:rPr>
              <a:t>By understanding and managing these biotic factors, farmers can enhance crop resilience and improve overall agricultural productivity</a:t>
            </a:r>
          </a:p>
        </p:txBody>
      </p:sp>
    </p:spTree>
    <p:extLst>
      <p:ext uri="{BB962C8B-B14F-4D97-AF65-F5344CB8AC3E}">
        <p14:creationId xmlns:p14="http://schemas.microsoft.com/office/powerpoint/2010/main" val="31362094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96FB-6CEE-DF7F-6559-8B4B7C7DFDB4}"/>
              </a:ext>
            </a:extLst>
          </p:cNvPr>
          <p:cNvSpPr>
            <a:spLocks noGrp="1"/>
          </p:cNvSpPr>
          <p:nvPr>
            <p:ph type="title"/>
          </p:nvPr>
        </p:nvSpPr>
        <p:spPr/>
        <p:txBody>
          <a:bodyPr/>
          <a:lstStyle/>
          <a:p>
            <a:r>
              <a:rPr lang="en-GB" dirty="0"/>
              <a:t>Plant Nutrients</a:t>
            </a:r>
          </a:p>
        </p:txBody>
      </p:sp>
      <p:sp>
        <p:nvSpPr>
          <p:cNvPr id="3" name="Content Placeholder 2">
            <a:extLst>
              <a:ext uri="{FF2B5EF4-FFF2-40B4-BE49-F238E27FC236}">
                <a16:creationId xmlns:a16="http://schemas.microsoft.com/office/drawing/2014/main" id="{6802C3A2-78D7-86C7-B692-750B0E4F4683}"/>
              </a:ext>
            </a:extLst>
          </p:cNvPr>
          <p:cNvSpPr>
            <a:spLocks noGrp="1"/>
          </p:cNvSpPr>
          <p:nvPr>
            <p:ph idx="1"/>
          </p:nvPr>
        </p:nvSpPr>
        <p:spPr>
          <a:xfrm>
            <a:off x="457200" y="1600200"/>
            <a:ext cx="8229600" cy="4771103"/>
          </a:xfrm>
        </p:spPr>
        <p:txBody>
          <a:bodyPr>
            <a:noAutofit/>
          </a:bodyPr>
          <a:lstStyle/>
          <a:p>
            <a:pPr>
              <a:buFont typeface="Wingdings" panose="05000000000000000000" pitchFamily="2" charset="2"/>
              <a:buChar char="Ø"/>
            </a:pPr>
            <a:r>
              <a:rPr lang="en-GB" sz="2400" b="1" dirty="0">
                <a:latin typeface="Times New Roman" panose="02020603050405020304" pitchFamily="18" charset="0"/>
                <a:cs typeface="Times New Roman" panose="02020603050405020304" pitchFamily="18" charset="0"/>
              </a:rPr>
              <a:t>Plant nutrients </a:t>
            </a:r>
            <a:r>
              <a:rPr lang="en-GB" sz="2400" dirty="0">
                <a:latin typeface="Times New Roman" panose="02020603050405020304" pitchFamily="18" charset="0"/>
                <a:cs typeface="Times New Roman" panose="02020603050405020304" pitchFamily="18" charset="0"/>
              </a:rPr>
              <a:t>are essential chemical elements and compounds necessary for plant growth, reproduction, and metabolism. They are categorized into two main types:</a:t>
            </a:r>
          </a:p>
          <a:p>
            <a:pPr>
              <a:buFont typeface="Wingdings" panose="05000000000000000000" pitchFamily="2" charset="2"/>
              <a:buChar char="Ø"/>
            </a:pPr>
            <a:r>
              <a:rPr lang="en-GB" sz="2400" b="1" dirty="0">
                <a:latin typeface="Times New Roman" panose="02020603050405020304" pitchFamily="18" charset="0"/>
                <a:cs typeface="Times New Roman" panose="02020603050405020304" pitchFamily="18" charset="0"/>
              </a:rPr>
              <a:t>Macronutrients: </a:t>
            </a:r>
            <a:r>
              <a:rPr lang="en-GB" sz="2400" dirty="0">
                <a:latin typeface="Times New Roman" panose="02020603050405020304" pitchFamily="18" charset="0"/>
                <a:cs typeface="Times New Roman" panose="02020603050405020304" pitchFamily="18" charset="0"/>
              </a:rPr>
              <a:t>These include Nitrogen (N), Phosphorus (P), and Potassium (K), which are required in larger quantities for various functions such as protein synthesis and energy transfer.</a:t>
            </a:r>
          </a:p>
          <a:p>
            <a:pPr>
              <a:buFont typeface="Wingdings" panose="05000000000000000000" pitchFamily="2" charset="2"/>
              <a:buChar char="Ø"/>
            </a:pPr>
            <a:r>
              <a:rPr lang="en-GB" sz="2400" b="1" dirty="0">
                <a:latin typeface="Times New Roman" panose="02020603050405020304" pitchFamily="18" charset="0"/>
                <a:cs typeface="Times New Roman" panose="02020603050405020304" pitchFamily="18" charset="0"/>
              </a:rPr>
              <a:t>Micronutrients: </a:t>
            </a:r>
            <a:r>
              <a:rPr lang="en-GB" sz="2400" dirty="0">
                <a:latin typeface="Times New Roman" panose="02020603050405020304" pitchFamily="18" charset="0"/>
                <a:cs typeface="Times New Roman" panose="02020603050405020304" pitchFamily="18" charset="0"/>
              </a:rPr>
              <a:t>These include elements like Iron (Fe), Zinc (Zn), and Copper (Cu), which are needed in smaller amounts but are crucial for processes like enzyme function and chlorophyll production.</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Overall, the availability of these nutrients directly affects plant health and productivity.</a:t>
            </a:r>
          </a:p>
        </p:txBody>
      </p:sp>
    </p:spTree>
    <p:extLst>
      <p:ext uri="{BB962C8B-B14F-4D97-AF65-F5344CB8AC3E}">
        <p14:creationId xmlns:p14="http://schemas.microsoft.com/office/powerpoint/2010/main" val="29359104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837E6-B522-3A5C-5520-C1A5FA774606}"/>
              </a:ext>
            </a:extLst>
          </p:cNvPr>
          <p:cNvSpPr>
            <a:spLocks noGrp="1"/>
          </p:cNvSpPr>
          <p:nvPr>
            <p:ph type="title"/>
          </p:nvPr>
        </p:nvSpPr>
        <p:spPr/>
        <p:txBody>
          <a:bodyPr>
            <a:normAutofit/>
          </a:bodyPr>
          <a:lstStyle/>
          <a:p>
            <a:r>
              <a:rPr lang="en-GB" b="1" dirty="0">
                <a:latin typeface="Times New Roman" panose="02020603050405020304" pitchFamily="18" charset="0"/>
                <a:cs typeface="Times New Roman" panose="02020603050405020304" pitchFamily="18" charset="0"/>
              </a:rPr>
              <a:t>Essential vs beneficial nutrients</a:t>
            </a:r>
          </a:p>
        </p:txBody>
      </p:sp>
      <p:sp>
        <p:nvSpPr>
          <p:cNvPr id="3" name="Content Placeholder 2">
            <a:extLst>
              <a:ext uri="{FF2B5EF4-FFF2-40B4-BE49-F238E27FC236}">
                <a16:creationId xmlns:a16="http://schemas.microsoft.com/office/drawing/2014/main" id="{43AAF7A7-3CCF-CDED-61A0-74C70722E2A5}"/>
              </a:ext>
            </a:extLst>
          </p:cNvPr>
          <p:cNvSpPr>
            <a:spLocks noGrp="1"/>
          </p:cNvSpPr>
          <p:nvPr>
            <p:ph idx="1"/>
          </p:nvPr>
        </p:nvSpPr>
        <p:spPr/>
        <p:txBody>
          <a:bodyPr>
            <a:normAutofit fontScale="62500" lnSpcReduction="20000"/>
          </a:bodyPr>
          <a:lstStyle/>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Essential nutrients are elements that plants must obtain from their environment to complete their life cycle. They are crucial for various physiological functions and are required in specific amounts. Essential nutrients are divided into </a:t>
            </a:r>
            <a:r>
              <a:rPr lang="en-GB" sz="2400" b="1" dirty="0">
                <a:latin typeface="Times New Roman" panose="02020603050405020304" pitchFamily="18" charset="0"/>
                <a:cs typeface="Times New Roman" panose="02020603050405020304" pitchFamily="18" charset="0"/>
              </a:rPr>
              <a:t>macronutrients</a:t>
            </a:r>
            <a:r>
              <a:rPr lang="en-GB" sz="2400" dirty="0">
                <a:latin typeface="Times New Roman" panose="02020603050405020304" pitchFamily="18" charset="0"/>
                <a:cs typeface="Times New Roman" panose="02020603050405020304" pitchFamily="18" charset="0"/>
              </a:rPr>
              <a:t> (needed in larger quantities) and </a:t>
            </a:r>
            <a:r>
              <a:rPr lang="en-GB" sz="2400" b="1" dirty="0">
                <a:latin typeface="Times New Roman" panose="02020603050405020304" pitchFamily="18" charset="0"/>
                <a:cs typeface="Times New Roman" panose="02020603050405020304" pitchFamily="18" charset="0"/>
              </a:rPr>
              <a:t>micronutrients</a:t>
            </a:r>
            <a:r>
              <a:rPr lang="en-GB" sz="2400" dirty="0">
                <a:latin typeface="Times New Roman" panose="02020603050405020304" pitchFamily="18" charset="0"/>
                <a:cs typeface="Times New Roman" panose="02020603050405020304" pitchFamily="18" charset="0"/>
              </a:rPr>
              <a:t> (needed in smaller quantities).</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Beneficial nutrients are elements that, while not essential for plant survival, can enhance growth, development, and stress resistance when present in low concentrations.</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Common beneficial nutrients include silicon (Si), sodium (Na), cobalt (Co), and selenium (Se). These elements can improve plant resilience against biotic and abiotic stresses, such as pests, diseases, and environmental conditions. </a:t>
            </a:r>
          </a:p>
        </p:txBody>
      </p:sp>
    </p:spTree>
    <p:extLst>
      <p:ext uri="{BB962C8B-B14F-4D97-AF65-F5344CB8AC3E}">
        <p14:creationId xmlns:p14="http://schemas.microsoft.com/office/powerpoint/2010/main" val="38256112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B49DE-6D43-7E80-E729-F319951815D2}"/>
              </a:ext>
            </a:extLst>
          </p:cNvPr>
          <p:cNvSpPr>
            <a:spLocks noGrp="1"/>
          </p:cNvSpPr>
          <p:nvPr>
            <p:ph type="title"/>
          </p:nvPr>
        </p:nvSpPr>
        <p:spPr/>
        <p:txBody>
          <a:bodyPr>
            <a:normAutofit/>
          </a:bodyPr>
          <a:lstStyle/>
          <a:p>
            <a:r>
              <a:rPr lang="en-GB" b="1" dirty="0">
                <a:latin typeface="Times New Roman" panose="02020603050405020304" pitchFamily="18" charset="0"/>
                <a:cs typeface="Times New Roman" panose="02020603050405020304" pitchFamily="18" charset="0"/>
              </a:rPr>
              <a:t>Criteria of essentiality (Arnon and Stout)</a:t>
            </a:r>
          </a:p>
        </p:txBody>
      </p:sp>
      <p:sp>
        <p:nvSpPr>
          <p:cNvPr id="3" name="Content Placeholder 2">
            <a:extLst>
              <a:ext uri="{FF2B5EF4-FFF2-40B4-BE49-F238E27FC236}">
                <a16:creationId xmlns:a16="http://schemas.microsoft.com/office/drawing/2014/main" id="{82C48230-CF98-CD2E-E2A3-2CF4748598D8}"/>
              </a:ext>
            </a:extLst>
          </p:cNvPr>
          <p:cNvSpPr>
            <a:spLocks noGrp="1"/>
          </p:cNvSpPr>
          <p:nvPr>
            <p:ph idx="1"/>
          </p:nvPr>
        </p:nvSpPr>
        <p:spPr/>
        <p:txBody>
          <a:bodyPr>
            <a:normAutofit fontScale="77500" lnSpcReduction="20000"/>
          </a:bodyPr>
          <a:lstStyle/>
          <a:p>
            <a:pPr marL="0" indent="0">
              <a:buNone/>
            </a:pPr>
            <a:r>
              <a:rPr lang="en-GB" sz="2400" dirty="0">
                <a:latin typeface="Times New Roman" panose="02020603050405020304" pitchFamily="18" charset="0"/>
                <a:cs typeface="Times New Roman" panose="02020603050405020304" pitchFamily="18" charset="0"/>
              </a:rPr>
              <a:t>This concept was propounded by Arnon and Stout(1939) and they considered 16 elements essential for plant nutrition.</a:t>
            </a:r>
          </a:p>
          <a:p>
            <a:pPr marL="457200" indent="-457200">
              <a:buFont typeface="+mj-lt"/>
              <a:buAutoNum type="arabicPeriod"/>
            </a:pPr>
            <a:r>
              <a:rPr lang="en-GB" sz="2400" dirty="0">
                <a:latin typeface="Times New Roman" panose="02020603050405020304" pitchFamily="18" charset="0"/>
                <a:cs typeface="Times New Roman" panose="02020603050405020304" pitchFamily="18" charset="0"/>
              </a:rPr>
              <a:t>A plant cannot complete its life cycle in the absence of the elements.</a:t>
            </a:r>
          </a:p>
          <a:p>
            <a:pPr marL="457200" indent="-457200">
              <a:buFont typeface="+mj-lt"/>
              <a:buAutoNum type="arabicPeriod"/>
            </a:pPr>
            <a:r>
              <a:rPr lang="en-GB" sz="2400" dirty="0">
                <a:latin typeface="Times New Roman" panose="02020603050405020304" pitchFamily="18" charset="0"/>
                <a:cs typeface="Times New Roman" panose="02020603050405020304" pitchFamily="18" charset="0"/>
              </a:rPr>
              <a:t>The action of the elements must be specific, with no other elements being able to completely substitute for it.</a:t>
            </a:r>
          </a:p>
          <a:p>
            <a:pPr marL="457200" indent="-457200">
              <a:buFont typeface="+mj-lt"/>
              <a:buAutoNum type="arabicPeriod"/>
            </a:pPr>
            <a:r>
              <a:rPr lang="en-GB" sz="2400" dirty="0">
                <a:latin typeface="Times New Roman" panose="02020603050405020304" pitchFamily="18" charset="0"/>
                <a:cs typeface="Times New Roman" panose="02020603050405020304" pitchFamily="18" charset="0"/>
              </a:rPr>
              <a:t>The element must be shown to be directly involved in the nutrition of the plant.</a:t>
            </a:r>
          </a:p>
          <a:p>
            <a:endParaRPr lang="en-GB" dirty="0"/>
          </a:p>
        </p:txBody>
      </p:sp>
    </p:spTree>
    <p:extLst>
      <p:ext uri="{BB962C8B-B14F-4D97-AF65-F5344CB8AC3E}">
        <p14:creationId xmlns:p14="http://schemas.microsoft.com/office/powerpoint/2010/main" val="39635152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72085-6FAC-F2C2-F2C9-355DDE32059C}"/>
              </a:ext>
            </a:extLst>
          </p:cNvPr>
          <p:cNvSpPr>
            <a:spLocks noGrp="1"/>
          </p:cNvSpPr>
          <p:nvPr>
            <p:ph type="title"/>
          </p:nvPr>
        </p:nvSpPr>
        <p:spPr/>
        <p:txBody>
          <a:bodyPr>
            <a:normAutofit/>
          </a:bodyPr>
          <a:lstStyle/>
          <a:p>
            <a:r>
              <a:rPr lang="en-GB" b="1" dirty="0">
                <a:latin typeface="Times New Roman" panose="02020603050405020304" pitchFamily="18" charset="0"/>
                <a:cs typeface="Times New Roman" panose="02020603050405020304" pitchFamily="18" charset="0"/>
              </a:rPr>
              <a:t>Plant Nutrient Uptake and Deficiencies</a:t>
            </a:r>
          </a:p>
        </p:txBody>
      </p:sp>
      <p:sp>
        <p:nvSpPr>
          <p:cNvPr id="3" name="Content Placeholder 2">
            <a:extLst>
              <a:ext uri="{FF2B5EF4-FFF2-40B4-BE49-F238E27FC236}">
                <a16:creationId xmlns:a16="http://schemas.microsoft.com/office/drawing/2014/main" id="{21FCD304-0AC2-37FB-8840-0E7E27585C47}"/>
              </a:ext>
            </a:extLst>
          </p:cNvPr>
          <p:cNvSpPr>
            <a:spLocks noGrp="1"/>
          </p:cNvSpPr>
          <p:nvPr>
            <p:ph idx="1"/>
          </p:nvPr>
        </p:nvSpPr>
        <p:spPr>
          <a:xfrm>
            <a:off x="457201" y="1600200"/>
            <a:ext cx="4832554" cy="4525963"/>
          </a:xfrm>
        </p:spPr>
        <p:txBody>
          <a:bodyPr>
            <a:normAutofit fontScale="85000" lnSpcReduction="10000"/>
          </a:bodyPr>
          <a:lstStyle/>
          <a:p>
            <a:r>
              <a:rPr lang="en-GB" sz="2400" dirty="0">
                <a:latin typeface="Times New Roman" panose="02020603050405020304" pitchFamily="18" charset="0"/>
                <a:cs typeface="Times New Roman" panose="02020603050405020304" pitchFamily="18" charset="0"/>
              </a:rPr>
              <a:t>Plant nutrient uptake is a complex process that involves the movement of minerals and ions from the soil into plant roots and their subsequent transport to various parts of the plant. Nutrient deficiencies can lead to stunted growth, poor yield, or increased susceptibility to diseases. Understanding the mechanisms of nutrient uptake and the factors affecting absorption is crucial for agriculture, horticulture, environmental science, and sustainable land management.</a:t>
            </a:r>
          </a:p>
        </p:txBody>
      </p:sp>
      <p:pic>
        <p:nvPicPr>
          <p:cNvPr id="5" name="Picture 4">
            <a:extLst>
              <a:ext uri="{FF2B5EF4-FFF2-40B4-BE49-F238E27FC236}">
                <a16:creationId xmlns:a16="http://schemas.microsoft.com/office/drawing/2014/main" id="{510350EF-6C73-4641-2BC8-6B8C849A2EDD}"/>
              </a:ext>
            </a:extLst>
          </p:cNvPr>
          <p:cNvPicPr>
            <a:picLocks noChangeAspect="1"/>
          </p:cNvPicPr>
          <p:nvPr/>
        </p:nvPicPr>
        <p:blipFill>
          <a:blip r:embed="rId2"/>
          <a:stretch>
            <a:fillRect/>
          </a:stretch>
        </p:blipFill>
        <p:spPr>
          <a:xfrm>
            <a:off x="5289754" y="1713474"/>
            <a:ext cx="3677265" cy="4077726"/>
          </a:xfrm>
          <a:prstGeom prst="rect">
            <a:avLst/>
          </a:prstGeom>
        </p:spPr>
      </p:pic>
    </p:spTree>
    <p:extLst>
      <p:ext uri="{BB962C8B-B14F-4D97-AF65-F5344CB8AC3E}">
        <p14:creationId xmlns:p14="http://schemas.microsoft.com/office/powerpoint/2010/main" val="7333727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180B4-BB66-32EE-9B17-5FC3C00F678C}"/>
              </a:ext>
            </a:extLst>
          </p:cNvPr>
          <p:cNvSpPr>
            <a:spLocks noGrp="1"/>
          </p:cNvSpPr>
          <p:nvPr>
            <p:ph type="title"/>
          </p:nvPr>
        </p:nvSpPr>
        <p:spPr>
          <a:xfrm>
            <a:off x="457200" y="274638"/>
            <a:ext cx="8229600" cy="738085"/>
          </a:xfrm>
        </p:spPr>
        <p:txBody>
          <a:bodyPr>
            <a:noAutofit/>
          </a:bodyPr>
          <a:lstStyle/>
          <a:p>
            <a:r>
              <a:rPr lang="en-GB" sz="4000" b="1" dirty="0">
                <a:latin typeface="Times New Roman" panose="02020603050405020304" pitchFamily="18" charset="0"/>
                <a:cs typeface="Times New Roman" panose="02020603050405020304" pitchFamily="18" charset="0"/>
              </a:rPr>
              <a:t>Mechanisms of nutrient uptake by roots</a:t>
            </a:r>
          </a:p>
        </p:txBody>
      </p:sp>
      <p:sp>
        <p:nvSpPr>
          <p:cNvPr id="3" name="Content Placeholder 2">
            <a:extLst>
              <a:ext uri="{FF2B5EF4-FFF2-40B4-BE49-F238E27FC236}">
                <a16:creationId xmlns:a16="http://schemas.microsoft.com/office/drawing/2014/main" id="{68F05501-BB74-2B2E-1677-306D561AFC01}"/>
              </a:ext>
            </a:extLst>
          </p:cNvPr>
          <p:cNvSpPr>
            <a:spLocks noGrp="1"/>
          </p:cNvSpPr>
          <p:nvPr>
            <p:ph idx="1"/>
          </p:nvPr>
        </p:nvSpPr>
        <p:spPr>
          <a:xfrm>
            <a:off x="457200" y="1150374"/>
            <a:ext cx="8229600" cy="5432988"/>
          </a:xfrm>
        </p:spPr>
        <p:txBody>
          <a:bodyPr>
            <a:noAutofit/>
          </a:bodyPr>
          <a:lstStyle/>
          <a:p>
            <a:pPr marL="457200" indent="-457200">
              <a:buFont typeface="+mj-lt"/>
              <a:buAutoNum type="arabicPeriod"/>
            </a:pPr>
            <a:r>
              <a:rPr lang="en-GB" b="1" dirty="0">
                <a:latin typeface="Times New Roman" panose="02020603050405020304" pitchFamily="18" charset="0"/>
                <a:cs typeface="Times New Roman" panose="02020603050405020304" pitchFamily="18" charset="0"/>
              </a:rPr>
              <a:t>Diffusion</a:t>
            </a:r>
            <a:r>
              <a:rPr lang="en-GB" dirty="0">
                <a:latin typeface="Times New Roman" panose="02020603050405020304" pitchFamily="18" charset="0"/>
                <a:cs typeface="Times New Roman" panose="02020603050405020304" pitchFamily="18" charset="0"/>
              </a:rPr>
              <a:t> is the movement of ions or molecules from areas of higher concentration in the soil solution to lower concentration near the root surface. Nutrients with low mobility, such as phosphate ions, primarily rely on diffusion to reach the root for absorption. </a:t>
            </a:r>
          </a:p>
          <a:p>
            <a:pPr marL="457200" indent="-457200">
              <a:buFont typeface="+mj-lt"/>
              <a:buAutoNum type="arabicPeriod"/>
            </a:pPr>
            <a:r>
              <a:rPr lang="en-GB" b="1" dirty="0">
                <a:latin typeface="Times New Roman" panose="02020603050405020304" pitchFamily="18" charset="0"/>
                <a:cs typeface="Times New Roman" panose="02020603050405020304" pitchFamily="18" charset="0"/>
              </a:rPr>
              <a:t>Mass flow </a:t>
            </a:r>
            <a:r>
              <a:rPr lang="en-GB" dirty="0">
                <a:latin typeface="Times New Roman" panose="02020603050405020304" pitchFamily="18" charset="0"/>
                <a:cs typeface="Times New Roman" panose="02020603050405020304" pitchFamily="18" charset="0"/>
              </a:rPr>
              <a:t>occurs when dissolved nutrients are carried along with water absorbed by roots. As plants transpire water through leaves, more water is drawn from the soil toward the roots, transporting soluble nutrients like nitrate, calcium, and magnesium. </a:t>
            </a:r>
          </a:p>
          <a:p>
            <a:pPr marL="457200" indent="-457200">
              <a:buFont typeface="+mj-lt"/>
              <a:buAutoNum type="arabicPeriod"/>
            </a:pPr>
            <a:r>
              <a:rPr lang="en-GB" b="1" dirty="0">
                <a:latin typeface="Times New Roman" panose="02020603050405020304" pitchFamily="18" charset="0"/>
                <a:cs typeface="Times New Roman" panose="02020603050405020304" pitchFamily="18" charset="0"/>
              </a:rPr>
              <a:t>Root Interception </a:t>
            </a:r>
            <a:r>
              <a:rPr lang="en-GB" dirty="0">
                <a:latin typeface="Times New Roman" panose="02020603050405020304" pitchFamily="18" charset="0"/>
                <a:cs typeface="Times New Roman" panose="02020603050405020304" pitchFamily="18" charset="0"/>
              </a:rPr>
              <a:t>-As roots grow through the soil, they physically contact nutrient ions adsorbed onto soil particles or organic matter. This direct contact allows roots to absorb otherwise immobile nutrients. </a:t>
            </a:r>
          </a:p>
        </p:txBody>
      </p:sp>
    </p:spTree>
    <p:extLst>
      <p:ext uri="{BB962C8B-B14F-4D97-AF65-F5344CB8AC3E}">
        <p14:creationId xmlns:p14="http://schemas.microsoft.com/office/powerpoint/2010/main" val="16547397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A99AE-5147-468F-127F-CC262461384F}"/>
              </a:ext>
            </a:extLst>
          </p:cNvPr>
          <p:cNvSpPr>
            <a:spLocks noGrp="1"/>
          </p:cNvSpPr>
          <p:nvPr>
            <p:ph type="title"/>
          </p:nvPr>
        </p:nvSpPr>
        <p:spPr/>
        <p:txBody>
          <a:bodyPr>
            <a:normAutofit/>
          </a:bodyPr>
          <a:lstStyle/>
          <a:p>
            <a:r>
              <a:rPr lang="en-GB" b="1" dirty="0">
                <a:latin typeface="Times New Roman" panose="02020603050405020304" pitchFamily="18" charset="0"/>
                <a:cs typeface="Times New Roman" panose="02020603050405020304" pitchFamily="18" charset="0"/>
              </a:rPr>
              <a:t>Mobile and non-mobile nutrients</a:t>
            </a:r>
          </a:p>
        </p:txBody>
      </p:sp>
      <p:sp>
        <p:nvSpPr>
          <p:cNvPr id="3" name="Content Placeholder 2">
            <a:extLst>
              <a:ext uri="{FF2B5EF4-FFF2-40B4-BE49-F238E27FC236}">
                <a16:creationId xmlns:a16="http://schemas.microsoft.com/office/drawing/2014/main" id="{4F78672C-7E04-3EC5-01DA-49C7A411AE86}"/>
              </a:ext>
            </a:extLst>
          </p:cNvPr>
          <p:cNvSpPr>
            <a:spLocks noGrp="1"/>
          </p:cNvSpPr>
          <p:nvPr>
            <p:ph idx="1"/>
          </p:nvPr>
        </p:nvSpPr>
        <p:spPr>
          <a:xfrm>
            <a:off x="457200" y="1600200"/>
            <a:ext cx="4606413" cy="4525963"/>
          </a:xfrm>
        </p:spPr>
        <p:txBody>
          <a:bodyPr>
            <a:normAutofit fontScale="85000" lnSpcReduction="20000"/>
          </a:bodyPr>
          <a:lstStyle/>
          <a:p>
            <a:r>
              <a:rPr lang="en-GB" sz="2400" dirty="0">
                <a:latin typeface="Times New Roman" panose="02020603050405020304" pitchFamily="18" charset="0"/>
                <a:cs typeface="Times New Roman" panose="02020603050405020304" pitchFamily="18" charset="0"/>
              </a:rPr>
              <a:t>Mobile nutrients can be translocated within the plant, allowing them to move to areas where they are needed most. Examples include nitrogen, phosphorus, and potassium. In contrast, immobile nutrients are fixed in the tissue where they are first deposited, and their deficiency symptoms appear in new growth. Examples of immobile nutrients include calcium, iron, and </a:t>
            </a:r>
            <a:r>
              <a:rPr lang="en-GB" sz="2400" dirty="0" err="1">
                <a:latin typeface="Times New Roman" panose="02020603050405020304" pitchFamily="18" charset="0"/>
                <a:cs typeface="Times New Roman" panose="02020603050405020304" pitchFamily="18" charset="0"/>
              </a:rPr>
              <a:t>sulfur</a:t>
            </a:r>
            <a:r>
              <a:rPr lang="en-GB" sz="2400" dirty="0">
                <a:latin typeface="Times New Roman" panose="02020603050405020304" pitchFamily="18" charset="0"/>
                <a:cs typeface="Times New Roman" panose="02020603050405020304" pitchFamily="18" charset="0"/>
              </a:rPr>
              <a:t>. Understanding the mobility of nutrients is crucial for diagnosing plant nutrient deficiencies and ensuring healthy plant growth.</a:t>
            </a:r>
          </a:p>
        </p:txBody>
      </p:sp>
      <p:pic>
        <p:nvPicPr>
          <p:cNvPr id="5" name="Picture 4">
            <a:extLst>
              <a:ext uri="{FF2B5EF4-FFF2-40B4-BE49-F238E27FC236}">
                <a16:creationId xmlns:a16="http://schemas.microsoft.com/office/drawing/2014/main" id="{6C18A3CF-C24A-57B7-764D-55ED5697E037}"/>
              </a:ext>
            </a:extLst>
          </p:cNvPr>
          <p:cNvPicPr>
            <a:picLocks noChangeAspect="1"/>
          </p:cNvPicPr>
          <p:nvPr/>
        </p:nvPicPr>
        <p:blipFill>
          <a:blip r:embed="rId2"/>
          <a:stretch>
            <a:fillRect/>
          </a:stretch>
        </p:blipFill>
        <p:spPr>
          <a:xfrm>
            <a:off x="5063612" y="2388198"/>
            <a:ext cx="3833341" cy="2667896"/>
          </a:xfrm>
          <a:prstGeom prst="rect">
            <a:avLst/>
          </a:prstGeom>
        </p:spPr>
      </p:pic>
    </p:spTree>
    <p:extLst>
      <p:ext uri="{BB962C8B-B14F-4D97-AF65-F5344CB8AC3E}">
        <p14:creationId xmlns:p14="http://schemas.microsoft.com/office/powerpoint/2010/main" val="18268652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96741-70C3-1469-3770-E0B89A09843B}"/>
              </a:ext>
            </a:extLst>
          </p:cNvPr>
          <p:cNvSpPr>
            <a:spLocks noGrp="1"/>
          </p:cNvSpPr>
          <p:nvPr>
            <p:ph type="title"/>
          </p:nvPr>
        </p:nvSpPr>
        <p:spPr>
          <a:xfrm>
            <a:off x="457200" y="274638"/>
            <a:ext cx="8229600" cy="629930"/>
          </a:xfrm>
        </p:spPr>
        <p:txBody>
          <a:bodyPr>
            <a:normAutofit fontScale="90000"/>
          </a:bodyPr>
          <a:lstStyle/>
          <a:p>
            <a:r>
              <a:rPr lang="en-GB" b="1" dirty="0">
                <a:latin typeface="Times New Roman" panose="02020603050405020304" pitchFamily="18" charset="0"/>
                <a:cs typeface="Times New Roman" panose="02020603050405020304" pitchFamily="18" charset="0"/>
              </a:rPr>
              <a:t>Common plant nutrient deficiency symptoms</a:t>
            </a:r>
          </a:p>
        </p:txBody>
      </p:sp>
      <p:sp>
        <p:nvSpPr>
          <p:cNvPr id="3" name="Content Placeholder 2">
            <a:extLst>
              <a:ext uri="{FF2B5EF4-FFF2-40B4-BE49-F238E27FC236}">
                <a16:creationId xmlns:a16="http://schemas.microsoft.com/office/drawing/2014/main" id="{82843447-7780-280D-9854-D22DD1A7BD36}"/>
              </a:ext>
            </a:extLst>
          </p:cNvPr>
          <p:cNvSpPr>
            <a:spLocks noGrp="1"/>
          </p:cNvSpPr>
          <p:nvPr>
            <p:ph idx="1"/>
          </p:nvPr>
        </p:nvSpPr>
        <p:spPr>
          <a:xfrm>
            <a:off x="457199" y="1229032"/>
            <a:ext cx="8362336" cy="4897131"/>
          </a:xfrm>
        </p:spPr>
        <p:txBody>
          <a:bodyPr>
            <a:noAutofit/>
          </a:bodyPr>
          <a:lstStyle/>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Nitrogen nutrition deficiency slows down the growth and development of plants. </a:t>
            </a:r>
          </a:p>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Nitrogen deficiency symptoms in plants manifest in a distinct manner. </a:t>
            </a:r>
          </a:p>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The plants appear stunted with light green lower leaves, while the upper leaves remain green, With prolonged Nitrogen nutrition deficiency, yellowing (chlorosis) of older or lower leaves occurs. </a:t>
            </a:r>
          </a:p>
          <a:p>
            <a:pPr>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This is followed by leaf tip death and leaf margins developing a brown discoloration (necrosis). In some instances, the leaves fall off. The plant sterns become woody.</a:t>
            </a:r>
          </a:p>
        </p:txBody>
      </p:sp>
      <p:sp>
        <p:nvSpPr>
          <p:cNvPr id="4" name="AutoShape 2">
            <a:extLst>
              <a:ext uri="{FF2B5EF4-FFF2-40B4-BE49-F238E27FC236}">
                <a16:creationId xmlns:a16="http://schemas.microsoft.com/office/drawing/2014/main" id="{8F8ED660-9FDD-18AB-9DE8-433EB1D7E03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1811386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9F2F6-074D-8B57-C6D2-C9E1BFAE8F9E}"/>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Nitrogen Deficiency in Maize</a:t>
            </a:r>
          </a:p>
        </p:txBody>
      </p:sp>
      <p:pic>
        <p:nvPicPr>
          <p:cNvPr id="5" name="Content Placeholder 4">
            <a:extLst>
              <a:ext uri="{FF2B5EF4-FFF2-40B4-BE49-F238E27FC236}">
                <a16:creationId xmlns:a16="http://schemas.microsoft.com/office/drawing/2014/main" id="{D28EBE51-15AA-211F-22BE-134732BA671A}"/>
              </a:ext>
            </a:extLst>
          </p:cNvPr>
          <p:cNvPicPr>
            <a:picLocks noGrp="1" noChangeAspect="1"/>
          </p:cNvPicPr>
          <p:nvPr>
            <p:ph idx="1"/>
          </p:nvPr>
        </p:nvPicPr>
        <p:blipFill>
          <a:blip r:embed="rId2"/>
          <a:stretch>
            <a:fillRect/>
          </a:stretch>
        </p:blipFill>
        <p:spPr>
          <a:xfrm>
            <a:off x="2443804" y="2016125"/>
            <a:ext cx="4250043" cy="3449638"/>
          </a:xfrm>
          <a:prstGeom prst="rect">
            <a:avLst/>
          </a:prstGeom>
        </p:spPr>
      </p:pic>
    </p:spTree>
    <p:extLst>
      <p:ext uri="{BB962C8B-B14F-4D97-AF65-F5344CB8AC3E}">
        <p14:creationId xmlns:p14="http://schemas.microsoft.com/office/powerpoint/2010/main" val="20802198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90AAD-D451-6FE7-74F0-BF55295EE960}"/>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Phosphorus Deficiency in Maize</a:t>
            </a:r>
          </a:p>
        </p:txBody>
      </p:sp>
      <p:sp>
        <p:nvSpPr>
          <p:cNvPr id="3" name="Content Placeholder 2">
            <a:extLst>
              <a:ext uri="{FF2B5EF4-FFF2-40B4-BE49-F238E27FC236}">
                <a16:creationId xmlns:a16="http://schemas.microsoft.com/office/drawing/2014/main" id="{88040B77-B852-5FA8-8DFD-741E0CFDEDF2}"/>
              </a:ext>
            </a:extLst>
          </p:cNvPr>
          <p:cNvSpPr>
            <a:spLocks noGrp="1"/>
          </p:cNvSpPr>
          <p:nvPr>
            <p:ph idx="1"/>
          </p:nvPr>
        </p:nvSpPr>
        <p:spPr>
          <a:xfrm>
            <a:off x="457200" y="1600200"/>
            <a:ext cx="4222955" cy="4525963"/>
          </a:xfrm>
        </p:spPr>
        <p:txBody>
          <a:bodyPr>
            <a:normAutofit fontScale="77500" lnSpcReduction="20000"/>
          </a:bodyPr>
          <a:lstStyle/>
          <a:p>
            <a:r>
              <a:rPr lang="en-GB" sz="2400" dirty="0">
                <a:latin typeface="Times New Roman" panose="02020603050405020304" pitchFamily="18" charset="0"/>
                <a:cs typeface="Times New Roman" panose="02020603050405020304" pitchFamily="18" charset="0"/>
              </a:rPr>
              <a:t>Nutrient Deficiency symptoms of Phosphorus in plants. Initially, plants with P nutrition deficiency appear darker green with reduced growth affecting the leaf size and stem thickness. As Phosphorus nutrition deficiency continues, the older, lower leaves develop irregular spots of brown to dark brown dead tissue. In some plants, reddish to purple pigmentation may appear on the under or upper surface of leaf margins, lower leaves, and stems. Eventually, leaf death of older leaves may occur. </a:t>
            </a:r>
          </a:p>
        </p:txBody>
      </p:sp>
      <p:pic>
        <p:nvPicPr>
          <p:cNvPr id="5" name="Picture 4">
            <a:extLst>
              <a:ext uri="{FF2B5EF4-FFF2-40B4-BE49-F238E27FC236}">
                <a16:creationId xmlns:a16="http://schemas.microsoft.com/office/drawing/2014/main" id="{25F6A578-CCBE-2B4E-0414-CEEE1DB0FB3D}"/>
              </a:ext>
            </a:extLst>
          </p:cNvPr>
          <p:cNvPicPr>
            <a:picLocks noChangeAspect="1"/>
          </p:cNvPicPr>
          <p:nvPr/>
        </p:nvPicPr>
        <p:blipFill>
          <a:blip r:embed="rId2"/>
          <a:stretch>
            <a:fillRect/>
          </a:stretch>
        </p:blipFill>
        <p:spPr>
          <a:xfrm>
            <a:off x="4572000" y="1684725"/>
            <a:ext cx="4496427" cy="4322786"/>
          </a:xfrm>
          <a:prstGeom prst="rect">
            <a:avLst/>
          </a:prstGeom>
        </p:spPr>
      </p:pic>
    </p:spTree>
    <p:extLst>
      <p:ext uri="{BB962C8B-B14F-4D97-AF65-F5344CB8AC3E}">
        <p14:creationId xmlns:p14="http://schemas.microsoft.com/office/powerpoint/2010/main" val="26266952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0EBC3-F0CD-3DCB-7979-B0951CDF94F4}"/>
              </a:ext>
            </a:extLst>
          </p:cNvPr>
          <p:cNvSpPr>
            <a:spLocks noGrp="1"/>
          </p:cNvSpPr>
          <p:nvPr>
            <p:ph type="title"/>
          </p:nvPr>
        </p:nvSpPr>
        <p:spPr>
          <a:xfrm>
            <a:off x="457200" y="274638"/>
            <a:ext cx="8229600" cy="1023220"/>
          </a:xfrm>
        </p:spPr>
        <p:txBody>
          <a:bodyPr>
            <a:normAutofit fontScale="90000"/>
          </a:bodyPr>
          <a:lstStyle/>
          <a:p>
            <a:r>
              <a:rPr lang="en-GB" sz="4000" b="1" dirty="0">
                <a:latin typeface="Times New Roman" panose="02020603050405020304" pitchFamily="18" charset="0"/>
                <a:cs typeface="Times New Roman" panose="02020603050405020304" pitchFamily="18" charset="0"/>
              </a:rPr>
              <a:t>Calcium Deficiency in Tomatoes</a:t>
            </a:r>
          </a:p>
        </p:txBody>
      </p:sp>
      <p:sp>
        <p:nvSpPr>
          <p:cNvPr id="3" name="Content Placeholder 2">
            <a:extLst>
              <a:ext uri="{FF2B5EF4-FFF2-40B4-BE49-F238E27FC236}">
                <a16:creationId xmlns:a16="http://schemas.microsoft.com/office/drawing/2014/main" id="{CB0DBE07-22F8-8128-A8CD-56766A94A923}"/>
              </a:ext>
            </a:extLst>
          </p:cNvPr>
          <p:cNvSpPr>
            <a:spLocks noGrp="1"/>
          </p:cNvSpPr>
          <p:nvPr>
            <p:ph idx="1"/>
          </p:nvPr>
        </p:nvSpPr>
        <p:spPr>
          <a:xfrm>
            <a:off x="457200" y="1600200"/>
            <a:ext cx="4901381" cy="4525963"/>
          </a:xfrm>
        </p:spPr>
        <p:txBody>
          <a:bodyPr>
            <a:normAutofit fontScale="77500" lnSpcReduction="20000"/>
          </a:bodyPr>
          <a:lstStyle/>
          <a:p>
            <a:pPr>
              <a:buFont typeface="Wingdings" panose="05000000000000000000" pitchFamily="2" charset="2"/>
              <a:buChar char="ü"/>
            </a:pPr>
            <a:r>
              <a:rPr lang="en-GB" sz="2400" dirty="0">
                <a:latin typeface="Times New Roman" panose="02020603050405020304" pitchFamily="18" charset="0"/>
                <a:cs typeface="Times New Roman" panose="02020603050405020304" pitchFamily="18" charset="0"/>
              </a:rPr>
              <a:t>Calcium is required for cell wall structure and cellular </a:t>
            </a:r>
            <a:r>
              <a:rPr lang="en-GB" sz="2400" dirty="0" err="1">
                <a:latin typeface="Times New Roman" panose="02020603050405020304" pitchFamily="18" charset="0"/>
                <a:cs typeface="Times New Roman" panose="02020603050405020304" pitchFamily="18" charset="0"/>
              </a:rPr>
              <a:t>signaling</a:t>
            </a:r>
            <a:r>
              <a:rPr lang="en-GB" sz="2400" dirty="0">
                <a:latin typeface="Times New Roman" panose="02020603050405020304" pitchFamily="18" charset="0"/>
                <a:cs typeface="Times New Roman" panose="02020603050405020304" pitchFamily="18" charset="0"/>
              </a:rPr>
              <a:t>. Calcium is important in cell division, cell expansion, building of cell walls, stomatal regulation, and cold tolerance.</a:t>
            </a:r>
          </a:p>
          <a:p>
            <a:pPr>
              <a:buFont typeface="Wingdings" panose="05000000000000000000" pitchFamily="2" charset="2"/>
              <a:buChar char="ü"/>
            </a:pPr>
            <a:r>
              <a:rPr lang="en-GB" sz="2400" dirty="0">
                <a:latin typeface="Times New Roman" panose="02020603050405020304" pitchFamily="18" charset="0"/>
                <a:cs typeface="Times New Roman" panose="02020603050405020304" pitchFamily="18" charset="0"/>
              </a:rPr>
              <a:t>Unlike other nutrients, calcium deficiency generally affects the growing points and young leaves of the plants. The young leaves are often twisted or wrinkled. In some cases, black spots appear on the growing points. </a:t>
            </a:r>
          </a:p>
          <a:p>
            <a:pPr>
              <a:buFont typeface="Wingdings" panose="05000000000000000000" pitchFamily="2" charset="2"/>
              <a:buChar char="ü"/>
            </a:pPr>
            <a:r>
              <a:rPr lang="en-GB" sz="2400" dirty="0">
                <a:latin typeface="Times New Roman" panose="02020603050405020304" pitchFamily="18" charset="0"/>
                <a:cs typeface="Times New Roman" panose="02020603050405020304" pitchFamily="18" charset="0"/>
              </a:rPr>
              <a:t>During fruiting lack Calcium nutrition can result in fruit cracking or in water-soaked tissues. Calcium deficiency in tomato plants normally results blossom end rot disease.</a:t>
            </a:r>
          </a:p>
        </p:txBody>
      </p:sp>
      <p:pic>
        <p:nvPicPr>
          <p:cNvPr id="5" name="Picture 4">
            <a:extLst>
              <a:ext uri="{FF2B5EF4-FFF2-40B4-BE49-F238E27FC236}">
                <a16:creationId xmlns:a16="http://schemas.microsoft.com/office/drawing/2014/main" id="{A8934432-4B35-67EF-62B9-E0A0BEE9A838}"/>
              </a:ext>
            </a:extLst>
          </p:cNvPr>
          <p:cNvPicPr>
            <a:picLocks noChangeAspect="1"/>
          </p:cNvPicPr>
          <p:nvPr/>
        </p:nvPicPr>
        <p:blipFill>
          <a:blip r:embed="rId2"/>
          <a:stretch>
            <a:fillRect/>
          </a:stretch>
        </p:blipFill>
        <p:spPr>
          <a:xfrm>
            <a:off x="5358581" y="1600201"/>
            <a:ext cx="3519948" cy="3138947"/>
          </a:xfrm>
          <a:prstGeom prst="rect">
            <a:avLst/>
          </a:prstGeom>
        </p:spPr>
      </p:pic>
    </p:spTree>
    <p:extLst>
      <p:ext uri="{BB962C8B-B14F-4D97-AF65-F5344CB8AC3E}">
        <p14:creationId xmlns:p14="http://schemas.microsoft.com/office/powerpoint/2010/main" val="3547274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BE32D-53C3-EB11-2FE2-E6FF8D648B0B}"/>
              </a:ext>
            </a:extLst>
          </p:cNvPr>
          <p:cNvSpPr>
            <a:spLocks noGrp="1"/>
          </p:cNvSpPr>
          <p:nvPr>
            <p:ph type="title"/>
          </p:nvPr>
        </p:nvSpPr>
        <p:spPr>
          <a:xfrm>
            <a:off x="457200" y="117988"/>
            <a:ext cx="8229600" cy="819380"/>
          </a:xfrm>
        </p:spPr>
        <p:txBody>
          <a:bodyPr/>
          <a:lstStyle/>
          <a:p>
            <a:r>
              <a:rPr lang="en-GB" b="1" dirty="0">
                <a:latin typeface="Times New Roman" panose="02020603050405020304" pitchFamily="18" charset="0"/>
                <a:cs typeface="Times New Roman" panose="02020603050405020304" pitchFamily="18" charset="0"/>
              </a:rPr>
              <a:t>Potassium Deficiency in Soybean</a:t>
            </a:r>
          </a:p>
        </p:txBody>
      </p:sp>
      <p:sp>
        <p:nvSpPr>
          <p:cNvPr id="3" name="Content Placeholder 2">
            <a:extLst>
              <a:ext uri="{FF2B5EF4-FFF2-40B4-BE49-F238E27FC236}">
                <a16:creationId xmlns:a16="http://schemas.microsoft.com/office/drawing/2014/main" id="{514C907B-950A-699C-59CD-B28D0DE66E17}"/>
              </a:ext>
            </a:extLst>
          </p:cNvPr>
          <p:cNvSpPr>
            <a:spLocks noGrp="1"/>
          </p:cNvSpPr>
          <p:nvPr>
            <p:ph idx="1"/>
          </p:nvPr>
        </p:nvSpPr>
        <p:spPr>
          <a:xfrm>
            <a:off x="186813" y="894736"/>
            <a:ext cx="5137027" cy="5231428"/>
          </a:xfrm>
        </p:spPr>
        <p:txBody>
          <a:bodyPr>
            <a:noAutofit/>
          </a:bodyPr>
          <a:lstStyle/>
          <a:p>
            <a:r>
              <a:rPr lang="en-GB" sz="2000" dirty="0">
                <a:latin typeface="Times New Roman" panose="02020603050405020304" pitchFamily="18" charset="0"/>
                <a:cs typeface="Times New Roman" panose="02020603050405020304" pitchFamily="18" charset="0"/>
              </a:rPr>
              <a:t>Unlike nitrogen and phosphorus, potassium is not a component of plant organic matter. Potassium is important for movement of sugars, starch formation, pH stabilization, drought tolerance, cell turgor, enzyme activation, and regulation of stomata opening and closing.</a:t>
            </a:r>
          </a:p>
          <a:p>
            <a:r>
              <a:rPr lang="en-GB" sz="2000" dirty="0">
                <a:latin typeface="Times New Roman" panose="02020603050405020304" pitchFamily="18" charset="0"/>
                <a:cs typeface="Times New Roman" panose="02020603050405020304" pitchFamily="18" charset="0"/>
              </a:rPr>
              <a:t>The leaves of potassium deficient plants are small and dark green. The plants have short internodes resulting in a compact plant appearance. These symptoms are followed by a sudden development of irregular necrotic tissues along the leaf margins and tips of lower, older leaves and eventually covering whole leaves, making the leaves appear scorched. </a:t>
            </a:r>
          </a:p>
        </p:txBody>
      </p:sp>
      <p:pic>
        <p:nvPicPr>
          <p:cNvPr id="5" name="Picture 4">
            <a:extLst>
              <a:ext uri="{FF2B5EF4-FFF2-40B4-BE49-F238E27FC236}">
                <a16:creationId xmlns:a16="http://schemas.microsoft.com/office/drawing/2014/main" id="{960EF7E0-5D6F-EFC7-8506-9E393C8BA0CC}"/>
              </a:ext>
            </a:extLst>
          </p:cNvPr>
          <p:cNvPicPr>
            <a:picLocks noChangeAspect="1"/>
          </p:cNvPicPr>
          <p:nvPr/>
        </p:nvPicPr>
        <p:blipFill>
          <a:blip r:embed="rId2"/>
          <a:stretch>
            <a:fillRect/>
          </a:stretch>
        </p:blipFill>
        <p:spPr>
          <a:xfrm>
            <a:off x="5435600" y="2138680"/>
            <a:ext cx="3328363" cy="3781953"/>
          </a:xfrm>
          <a:prstGeom prst="rect">
            <a:avLst/>
          </a:prstGeom>
        </p:spPr>
      </p:pic>
    </p:spTree>
    <p:extLst>
      <p:ext uri="{BB962C8B-B14F-4D97-AF65-F5344CB8AC3E}">
        <p14:creationId xmlns:p14="http://schemas.microsoft.com/office/powerpoint/2010/main" val="18010165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8929" y="186814"/>
            <a:ext cx="7708490" cy="707922"/>
          </a:xfrm>
        </p:spPr>
        <p:txBody>
          <a:bodyPr>
            <a:normAutofit fontScale="90000"/>
          </a:bodyPr>
          <a:lstStyle/>
          <a:p>
            <a:r>
              <a:rPr lang="en-US" dirty="0"/>
              <a:t>Plant Hormones (</a:t>
            </a:r>
            <a:r>
              <a:rPr lang="en-US" dirty="0" err="1"/>
              <a:t>Phytohormones</a:t>
            </a:r>
            <a:r>
              <a:rPr lang="en-US" dirty="0"/>
              <a:t>)</a:t>
            </a:r>
          </a:p>
        </p:txBody>
      </p:sp>
      <p:sp>
        <p:nvSpPr>
          <p:cNvPr id="3" name="Content Placeholder 2"/>
          <p:cNvSpPr>
            <a:spLocks noGrp="1"/>
          </p:cNvSpPr>
          <p:nvPr>
            <p:ph idx="1"/>
          </p:nvPr>
        </p:nvSpPr>
        <p:spPr>
          <a:xfrm>
            <a:off x="403123" y="1002891"/>
            <a:ext cx="8318090" cy="4886632"/>
          </a:xfrm>
        </p:spPr>
        <p:txBody>
          <a:bodyPr>
            <a:normAutofit fontScale="85000" lnSpcReduction="10000"/>
          </a:bodyPr>
          <a:lstStyle/>
          <a:p>
            <a:pPr>
              <a:buFont typeface="Wingdings" charset="2"/>
              <a:buChar char="Ø"/>
            </a:pPr>
            <a:r>
              <a:rPr lang="en-US" sz="2400" dirty="0" err="1">
                <a:latin typeface="Times New Roman" charset="0"/>
                <a:ea typeface="Times New Roman" charset="0"/>
                <a:cs typeface="Times New Roman" charset="0"/>
              </a:rPr>
              <a:t>Phytohormones</a:t>
            </a:r>
            <a:r>
              <a:rPr lang="en-US" sz="2400" dirty="0">
                <a:latin typeface="Times New Roman" charset="0"/>
                <a:ea typeface="Times New Roman" charset="0"/>
                <a:cs typeface="Times New Roman" charset="0"/>
              </a:rPr>
              <a:t> are chemical compounds present in very low concentrations in plants. </a:t>
            </a:r>
          </a:p>
          <a:p>
            <a:pPr>
              <a:buFont typeface="Wingdings" charset="2"/>
              <a:buChar char="Ø"/>
            </a:pPr>
            <a:r>
              <a:rPr lang="en-US" sz="2400" dirty="0">
                <a:latin typeface="Times New Roman" charset="0"/>
                <a:ea typeface="Times New Roman" charset="0"/>
                <a:cs typeface="Times New Roman" charset="0"/>
              </a:rPr>
              <a:t>They regulate plant development, growth, longevity and reproductive processes. </a:t>
            </a:r>
          </a:p>
          <a:p>
            <a:pPr>
              <a:buFont typeface="Wingdings" charset="2"/>
              <a:buChar char="Ø"/>
            </a:pPr>
            <a:r>
              <a:rPr lang="en-US" sz="2400" dirty="0">
                <a:latin typeface="Times New Roman" charset="0"/>
                <a:ea typeface="Times New Roman" charset="0"/>
                <a:cs typeface="Times New Roman" charset="0"/>
              </a:rPr>
              <a:t>Here, let’s look at the structure and functions of different </a:t>
            </a:r>
            <a:r>
              <a:rPr lang="en-US" sz="2400" dirty="0" err="1">
                <a:latin typeface="Times New Roman" charset="0"/>
                <a:ea typeface="Times New Roman" charset="0"/>
                <a:cs typeface="Times New Roman" charset="0"/>
              </a:rPr>
              <a:t>phytohormones</a:t>
            </a:r>
            <a:r>
              <a:rPr lang="en-US" sz="2400" dirty="0">
                <a:latin typeface="Times New Roman" charset="0"/>
                <a:ea typeface="Times New Roman" charset="0"/>
                <a:cs typeface="Times New Roman" charset="0"/>
              </a:rPr>
              <a:t> like auxins, gibberellins, </a:t>
            </a:r>
            <a:r>
              <a:rPr lang="en-US" sz="2400" dirty="0" err="1">
                <a:latin typeface="Times New Roman" charset="0"/>
                <a:ea typeface="Times New Roman" charset="0"/>
                <a:cs typeface="Times New Roman" charset="0"/>
              </a:rPr>
              <a:t>cytokinins</a:t>
            </a:r>
            <a:r>
              <a:rPr lang="en-US" sz="2400" dirty="0">
                <a:latin typeface="Times New Roman" charset="0"/>
                <a:ea typeface="Times New Roman" charset="0"/>
                <a:cs typeface="Times New Roman" charset="0"/>
              </a:rPr>
              <a:t>, ethylene and </a:t>
            </a:r>
            <a:r>
              <a:rPr lang="en-US" sz="2400" dirty="0" err="1">
                <a:latin typeface="Times New Roman" charset="0"/>
                <a:ea typeface="Times New Roman" charset="0"/>
                <a:cs typeface="Times New Roman" charset="0"/>
              </a:rPr>
              <a:t>abscisic</a:t>
            </a:r>
            <a:r>
              <a:rPr lang="en-US" sz="2400" dirty="0">
                <a:latin typeface="Times New Roman" charset="0"/>
                <a:ea typeface="Times New Roman" charset="0"/>
                <a:cs typeface="Times New Roman" charset="0"/>
              </a:rPr>
              <a:t> acid.</a:t>
            </a:r>
          </a:p>
          <a:p>
            <a:pPr>
              <a:buFont typeface="Wingdings" charset="2"/>
              <a:buChar char="Ø"/>
            </a:pPr>
            <a:r>
              <a:rPr lang="en-US" sz="2400" dirty="0">
                <a:latin typeface="Times New Roman" charset="0"/>
                <a:ea typeface="Times New Roman" charset="0"/>
                <a:cs typeface="Times New Roman" charset="0"/>
              </a:rPr>
              <a:t>They may act synergistically or individually. Roles of different hormones can be complementary or antagonistic.</a:t>
            </a:r>
          </a:p>
          <a:p>
            <a:pPr>
              <a:buFont typeface="Wingdings" charset="2"/>
              <a:buChar char="Ø"/>
            </a:pPr>
            <a:r>
              <a:rPr lang="en-US" sz="2400" dirty="0">
                <a:latin typeface="Times New Roman" charset="0"/>
                <a:ea typeface="Times New Roman" charset="0"/>
                <a:cs typeface="Times New Roman" charset="0"/>
              </a:rPr>
              <a:t>Hormones play an important role in the processes like </a:t>
            </a:r>
            <a:r>
              <a:rPr lang="en-US" sz="2400" dirty="0" err="1">
                <a:latin typeface="Times New Roman" charset="0"/>
                <a:ea typeface="Times New Roman" charset="0"/>
                <a:cs typeface="Times New Roman" charset="0"/>
              </a:rPr>
              <a:t>vernalisation</a:t>
            </a:r>
            <a:r>
              <a:rPr lang="en-US" sz="2400" dirty="0">
                <a:latin typeface="Times New Roman" charset="0"/>
                <a:ea typeface="Times New Roman" charset="0"/>
                <a:cs typeface="Times New Roman" charset="0"/>
              </a:rPr>
              <a:t>, phototropism, seed germination, dormancy etc. along with extrinsic factors.</a:t>
            </a:r>
          </a:p>
          <a:p>
            <a:pPr>
              <a:buFont typeface="Wingdings" charset="2"/>
              <a:buChar char="Ø"/>
            </a:pPr>
            <a:r>
              <a:rPr lang="en-US" sz="2400" dirty="0">
                <a:latin typeface="Times New Roman" charset="0"/>
                <a:ea typeface="Times New Roman" charset="0"/>
                <a:cs typeface="Times New Roman" charset="0"/>
              </a:rPr>
              <a:t>Synthetic plant hormones are exogenously applied for controlled crop production.</a:t>
            </a:r>
          </a:p>
          <a:p>
            <a:pPr marL="0" indent="0">
              <a:buNone/>
            </a:pPr>
            <a:endParaRPr lang="en-US" sz="20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8443207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
            <a:ext cx="8229600" cy="1253266"/>
          </a:xfrm>
        </p:spPr>
        <p:txBody>
          <a:bodyPr>
            <a:normAutofit/>
          </a:bodyPr>
          <a:lstStyle/>
          <a:p>
            <a:r>
              <a:rPr lang="en-US" sz="3200" b="1" dirty="0">
                <a:latin typeface="Times New Roman" charset="0"/>
                <a:ea typeface="Times New Roman" charset="0"/>
                <a:cs typeface="Times New Roman" charset="0"/>
              </a:rPr>
              <a:t>Growth-promoting hormones: auxins, gibberellins, </a:t>
            </a:r>
            <a:r>
              <a:rPr lang="en-US" sz="3200" b="1" dirty="0" err="1">
                <a:latin typeface="Times New Roman" charset="0"/>
                <a:ea typeface="Times New Roman" charset="0"/>
                <a:cs typeface="Times New Roman" charset="0"/>
              </a:rPr>
              <a:t>cytokinins</a:t>
            </a:r>
            <a:endParaRPr lang="en-US" sz="3200" b="1" dirty="0">
              <a:latin typeface="Times New Roman" charset="0"/>
              <a:ea typeface="Times New Roman" charset="0"/>
              <a:cs typeface="Times New Roman" charset="0"/>
            </a:endParaRPr>
          </a:p>
        </p:txBody>
      </p:sp>
      <p:sp>
        <p:nvSpPr>
          <p:cNvPr id="3" name="Content Placeholder 2"/>
          <p:cNvSpPr>
            <a:spLocks noGrp="1"/>
          </p:cNvSpPr>
          <p:nvPr>
            <p:ph idx="1"/>
          </p:nvPr>
        </p:nvSpPr>
        <p:spPr>
          <a:xfrm>
            <a:off x="226142" y="1514168"/>
            <a:ext cx="8809703" cy="4611995"/>
          </a:xfrm>
        </p:spPr>
        <p:txBody>
          <a:bodyPr>
            <a:noAutofit/>
          </a:bodyPr>
          <a:lstStyle/>
          <a:p>
            <a:pPr marL="0" indent="0">
              <a:buNone/>
            </a:pPr>
            <a:r>
              <a:rPr lang="en-US" sz="2400" b="1" dirty="0">
                <a:latin typeface="Times New Roman" charset="0"/>
                <a:ea typeface="Times New Roman" charset="0"/>
                <a:cs typeface="Times New Roman" charset="0"/>
              </a:rPr>
              <a:t>Auxin</a:t>
            </a:r>
            <a:r>
              <a:rPr lang="en-US" sz="2400" dirty="0">
                <a:latin typeface="Times New Roman" charset="0"/>
                <a:ea typeface="Times New Roman" charset="0"/>
                <a:cs typeface="Times New Roman" charset="0"/>
              </a:rPr>
              <a:t> - means “to grow”. They are widely used in agricultural and horticultural practices. They are found in growing apices of roots and stems and then migrate to other parts to act.</a:t>
            </a:r>
          </a:p>
          <a:p>
            <a:pPr marL="457200" indent="-457200">
              <a:buFont typeface="+mj-lt"/>
              <a:buAutoNum type="arabicPeriod"/>
            </a:pPr>
            <a:r>
              <a:rPr lang="en-US" sz="2400" dirty="0">
                <a:latin typeface="Times New Roman" charset="0"/>
                <a:ea typeface="Times New Roman" charset="0"/>
                <a:cs typeface="Times New Roman" charset="0"/>
              </a:rPr>
              <a:t>Natural: Indole-3-acetic acid (IAA), </a:t>
            </a:r>
            <a:r>
              <a:rPr lang="en-US" sz="2400" dirty="0" err="1">
                <a:latin typeface="Times New Roman" charset="0"/>
                <a:ea typeface="Times New Roman" charset="0"/>
                <a:cs typeface="Times New Roman" charset="0"/>
              </a:rPr>
              <a:t>Indole</a:t>
            </a:r>
            <a:r>
              <a:rPr lang="en-US" sz="2400" dirty="0">
                <a:latin typeface="Times New Roman" charset="0"/>
                <a:ea typeface="Times New Roman" charset="0"/>
                <a:cs typeface="Times New Roman" charset="0"/>
              </a:rPr>
              <a:t> butyric acid (IBA)</a:t>
            </a:r>
          </a:p>
          <a:p>
            <a:pPr marL="457200" indent="-457200">
              <a:buFont typeface="+mj-lt"/>
              <a:buAutoNum type="arabicPeriod"/>
            </a:pPr>
            <a:r>
              <a:rPr lang="en-US" sz="2400" dirty="0">
                <a:latin typeface="Times New Roman" charset="0"/>
                <a:ea typeface="Times New Roman" charset="0"/>
                <a:cs typeface="Times New Roman" charset="0"/>
              </a:rPr>
              <a:t>Synthetic: 2,4-D (2,4-Dichlorophenoxyacetic acid), NAA (Naphthalene acetic acid)</a:t>
            </a:r>
          </a:p>
        </p:txBody>
      </p:sp>
    </p:spTree>
    <p:extLst>
      <p:ext uri="{BB962C8B-B14F-4D97-AF65-F5344CB8AC3E}">
        <p14:creationId xmlns:p14="http://schemas.microsoft.com/office/powerpoint/2010/main" val="4678471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910" y="285136"/>
            <a:ext cx="7482347" cy="816077"/>
          </a:xfrm>
        </p:spPr>
        <p:txBody>
          <a:bodyPr/>
          <a:lstStyle/>
          <a:p>
            <a:r>
              <a:rPr lang="en-US" b="1" dirty="0">
                <a:latin typeface="Times New Roman" charset="0"/>
                <a:ea typeface="Times New Roman" charset="0"/>
                <a:cs typeface="Times New Roman" charset="0"/>
              </a:rPr>
              <a:t>Functions of Auxin Hormone</a:t>
            </a:r>
            <a:endParaRPr lang="en-US" dirty="0"/>
          </a:p>
        </p:txBody>
      </p:sp>
      <p:sp>
        <p:nvSpPr>
          <p:cNvPr id="3" name="Content Placeholder 2"/>
          <p:cNvSpPr>
            <a:spLocks noGrp="1"/>
          </p:cNvSpPr>
          <p:nvPr>
            <p:ph idx="1"/>
          </p:nvPr>
        </p:nvSpPr>
        <p:spPr>
          <a:xfrm>
            <a:off x="285136" y="1219201"/>
            <a:ext cx="3746090" cy="4611328"/>
          </a:xfrm>
        </p:spPr>
        <p:txBody>
          <a:bodyPr>
            <a:normAutofit/>
          </a:bodyPr>
          <a:lstStyle/>
          <a:p>
            <a:pPr>
              <a:buFont typeface="Wingdings" charset="2"/>
              <a:buChar char="ü"/>
            </a:pPr>
            <a:r>
              <a:rPr lang="en-US" sz="2200" dirty="0">
                <a:latin typeface="Times New Roman" charset="0"/>
                <a:ea typeface="Times New Roman" charset="0"/>
                <a:cs typeface="Times New Roman" charset="0"/>
              </a:rPr>
              <a:t>Cell elongation of stems and roots.</a:t>
            </a:r>
          </a:p>
          <a:p>
            <a:pPr>
              <a:buFont typeface="Wingdings" charset="2"/>
              <a:buChar char="ü"/>
            </a:pPr>
            <a:r>
              <a:rPr lang="en-US" sz="2200" b="1" dirty="0">
                <a:latin typeface="Times New Roman" charset="0"/>
                <a:ea typeface="Times New Roman" charset="0"/>
                <a:cs typeface="Times New Roman" charset="0"/>
              </a:rPr>
              <a:t>Apical dominance</a:t>
            </a:r>
            <a:r>
              <a:rPr lang="en-US" sz="2200" dirty="0">
                <a:latin typeface="Times New Roman" charset="0"/>
                <a:ea typeface="Times New Roman" charset="0"/>
                <a:cs typeface="Times New Roman" charset="0"/>
              </a:rPr>
              <a:t>, IAA in apical bud suppresses the growth of lateral buds.</a:t>
            </a:r>
          </a:p>
          <a:p>
            <a:pPr>
              <a:buFont typeface="Wingdings" charset="2"/>
              <a:buChar char="ü"/>
            </a:pPr>
            <a:r>
              <a:rPr lang="en-US" sz="2200" dirty="0">
                <a:latin typeface="Times New Roman" charset="0"/>
                <a:ea typeface="Times New Roman" charset="0"/>
                <a:cs typeface="Times New Roman" charset="0"/>
              </a:rPr>
              <a:t>Induces </a:t>
            </a:r>
            <a:r>
              <a:rPr lang="en-US" sz="2200" dirty="0" err="1">
                <a:latin typeface="Times New Roman" charset="0"/>
                <a:ea typeface="Times New Roman" charset="0"/>
                <a:cs typeface="Times New Roman" charset="0"/>
              </a:rPr>
              <a:t>parthenocarpy</a:t>
            </a:r>
            <a:r>
              <a:rPr lang="en-US" sz="2200" dirty="0">
                <a:latin typeface="Times New Roman" charset="0"/>
                <a:ea typeface="Times New Roman" charset="0"/>
                <a:cs typeface="Times New Roman" charset="0"/>
              </a:rPr>
              <a:t> i.e. development of fruit without </a:t>
            </a:r>
            <a:r>
              <a:rPr lang="en-US" sz="2200" dirty="0" err="1">
                <a:latin typeface="Times New Roman" charset="0"/>
                <a:ea typeface="Times New Roman" charset="0"/>
                <a:cs typeface="Times New Roman" charset="0"/>
              </a:rPr>
              <a:t>fertilisation</a:t>
            </a:r>
            <a:r>
              <a:rPr lang="en-US" sz="2200" dirty="0">
                <a:latin typeface="Times New Roman" charset="0"/>
                <a:ea typeface="Times New Roman" charset="0"/>
                <a:cs typeface="Times New Roman" charset="0"/>
              </a:rPr>
              <a:t> e.g. in tomatoes, cucumber, bananas and grapes.</a:t>
            </a:r>
          </a:p>
          <a:p>
            <a:pPr>
              <a:buFont typeface="Wingdings" charset="2"/>
              <a:buChar char="ü"/>
            </a:pPr>
            <a:endParaRPr lang="en-US" dirty="0"/>
          </a:p>
        </p:txBody>
      </p:sp>
      <p:pic>
        <p:nvPicPr>
          <p:cNvPr id="5" name="Picture 4">
            <a:extLst>
              <a:ext uri="{FF2B5EF4-FFF2-40B4-BE49-F238E27FC236}">
                <a16:creationId xmlns:a16="http://schemas.microsoft.com/office/drawing/2014/main" id="{3BFE84AE-D753-61C3-E6C5-CF89F1A18A14}"/>
              </a:ext>
            </a:extLst>
          </p:cNvPr>
          <p:cNvPicPr>
            <a:picLocks noChangeAspect="1"/>
          </p:cNvPicPr>
          <p:nvPr/>
        </p:nvPicPr>
        <p:blipFill>
          <a:blip r:embed="rId2"/>
          <a:stretch>
            <a:fillRect/>
          </a:stretch>
        </p:blipFill>
        <p:spPr>
          <a:xfrm>
            <a:off x="4031226" y="1288623"/>
            <a:ext cx="5112774" cy="4611328"/>
          </a:xfrm>
          <a:prstGeom prst="rect">
            <a:avLst/>
          </a:prstGeom>
        </p:spPr>
      </p:pic>
    </p:spTree>
    <p:extLst>
      <p:ext uri="{BB962C8B-B14F-4D97-AF65-F5344CB8AC3E}">
        <p14:creationId xmlns:p14="http://schemas.microsoft.com/office/powerpoint/2010/main" val="12472912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652B9-7A41-C5AB-473B-88C3C2141FC1}"/>
              </a:ext>
            </a:extLst>
          </p:cNvPr>
          <p:cNvSpPr>
            <a:spLocks noGrp="1"/>
          </p:cNvSpPr>
          <p:nvPr>
            <p:ph type="title"/>
          </p:nvPr>
        </p:nvSpPr>
        <p:spPr>
          <a:xfrm>
            <a:off x="1061885" y="304801"/>
            <a:ext cx="7275870" cy="983226"/>
          </a:xfrm>
        </p:spPr>
        <p:txBody>
          <a:bodyPr/>
          <a:lstStyle/>
          <a:p>
            <a:r>
              <a:rPr lang="en-US" b="1" dirty="0">
                <a:latin typeface="Times New Roman" charset="0"/>
                <a:ea typeface="Times New Roman" charset="0"/>
                <a:cs typeface="Times New Roman" charset="0"/>
              </a:rPr>
              <a:t>Functions of Auxin Hormone</a:t>
            </a:r>
            <a:endParaRPr lang="en-GB" dirty="0"/>
          </a:p>
        </p:txBody>
      </p:sp>
      <p:sp>
        <p:nvSpPr>
          <p:cNvPr id="3" name="Content Placeholder 2">
            <a:extLst>
              <a:ext uri="{FF2B5EF4-FFF2-40B4-BE49-F238E27FC236}">
                <a16:creationId xmlns:a16="http://schemas.microsoft.com/office/drawing/2014/main" id="{F7749456-D81B-0073-7114-665327F61577}"/>
              </a:ext>
            </a:extLst>
          </p:cNvPr>
          <p:cNvSpPr>
            <a:spLocks noGrp="1"/>
          </p:cNvSpPr>
          <p:nvPr>
            <p:ph idx="1"/>
          </p:nvPr>
        </p:nvSpPr>
        <p:spPr>
          <a:xfrm>
            <a:off x="418924" y="1445343"/>
            <a:ext cx="8479269" cy="4021004"/>
          </a:xfrm>
        </p:spPr>
        <p:txBody>
          <a:bodyPr/>
          <a:lstStyle/>
          <a:p>
            <a:pPr>
              <a:buFont typeface="Wingdings" charset="2"/>
              <a:buChar char="ü"/>
            </a:pPr>
            <a:r>
              <a:rPr lang="en-US" sz="2400" dirty="0">
                <a:latin typeface="Times New Roman" charset="0"/>
                <a:ea typeface="Times New Roman" charset="0"/>
                <a:cs typeface="Times New Roman" charset="0"/>
              </a:rPr>
              <a:t>Prevents premature fall of leaves, flowers, fruits.</a:t>
            </a:r>
          </a:p>
          <a:p>
            <a:pPr>
              <a:buFont typeface="Wingdings" charset="2"/>
              <a:buChar char="ü"/>
            </a:pPr>
            <a:r>
              <a:rPr lang="en-US" sz="2400" dirty="0">
                <a:latin typeface="Times New Roman" charset="0"/>
                <a:ea typeface="Times New Roman" charset="0"/>
                <a:cs typeface="Times New Roman" charset="0"/>
              </a:rPr>
              <a:t>Useful in stem cuttings and grafting where it initiates rooting.</a:t>
            </a:r>
          </a:p>
          <a:p>
            <a:pPr>
              <a:buFont typeface="Wingdings" charset="2"/>
              <a:buChar char="ü"/>
            </a:pPr>
            <a:r>
              <a:rPr lang="en-US" sz="2400" dirty="0">
                <a:latin typeface="Times New Roman" charset="0"/>
                <a:ea typeface="Times New Roman" charset="0"/>
                <a:cs typeface="Times New Roman" charset="0"/>
              </a:rPr>
              <a:t>Promotes flowering e.g. in pineapple.</a:t>
            </a:r>
          </a:p>
          <a:p>
            <a:pPr>
              <a:buFont typeface="Wingdings" charset="2"/>
              <a:buChar char="ü"/>
            </a:pPr>
            <a:r>
              <a:rPr lang="en-US" sz="2400" dirty="0">
                <a:latin typeface="Times New Roman" charset="0"/>
                <a:ea typeface="Times New Roman" charset="0"/>
                <a:cs typeface="Times New Roman" charset="0"/>
              </a:rPr>
              <a:t>2,4-D is widely used as a herbicide to kill undesirable weeds of dicot plants without affecting monocot plants.</a:t>
            </a:r>
          </a:p>
          <a:p>
            <a:pPr>
              <a:buFont typeface="Wingdings" charset="2"/>
              <a:buChar char="ü"/>
            </a:pPr>
            <a:r>
              <a:rPr lang="en-US" sz="2400" dirty="0">
                <a:latin typeface="Times New Roman" charset="0"/>
                <a:ea typeface="Times New Roman" charset="0"/>
                <a:cs typeface="Times New Roman" charset="0"/>
              </a:rPr>
              <a:t>Helps in cell division and xylem differentiation.</a:t>
            </a:r>
          </a:p>
          <a:p>
            <a:endParaRPr lang="en-GB" dirty="0"/>
          </a:p>
        </p:txBody>
      </p:sp>
    </p:spTree>
    <p:extLst>
      <p:ext uri="{BB962C8B-B14F-4D97-AF65-F5344CB8AC3E}">
        <p14:creationId xmlns:p14="http://schemas.microsoft.com/office/powerpoint/2010/main" val="41419246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8490"/>
            <a:ext cx="8229600" cy="757085"/>
          </a:xfrm>
        </p:spPr>
        <p:txBody>
          <a:bodyPr>
            <a:normAutofit/>
          </a:bodyPr>
          <a:lstStyle/>
          <a:p>
            <a:r>
              <a:rPr lang="en-US" sz="3200" b="1" dirty="0">
                <a:latin typeface="Times New Roman" charset="0"/>
                <a:ea typeface="Times New Roman" charset="0"/>
                <a:cs typeface="Times New Roman" charset="0"/>
              </a:rPr>
              <a:t>Gibberellins Hormone</a:t>
            </a:r>
            <a:endParaRPr lang="en-US" sz="3200" dirty="0">
              <a:latin typeface="Times New Roman" charset="0"/>
              <a:ea typeface="Times New Roman" charset="0"/>
              <a:cs typeface="Times New Roman" charset="0"/>
            </a:endParaRPr>
          </a:p>
        </p:txBody>
      </p:sp>
      <p:sp>
        <p:nvSpPr>
          <p:cNvPr id="3" name="Content Placeholder 2"/>
          <p:cNvSpPr>
            <a:spLocks noGrp="1"/>
          </p:cNvSpPr>
          <p:nvPr>
            <p:ph idx="1"/>
          </p:nvPr>
        </p:nvSpPr>
        <p:spPr>
          <a:xfrm>
            <a:off x="186814" y="845574"/>
            <a:ext cx="4257367" cy="5250425"/>
          </a:xfrm>
        </p:spPr>
        <p:txBody>
          <a:bodyPr>
            <a:normAutofit/>
          </a:bodyPr>
          <a:lstStyle/>
          <a:p>
            <a:pPr marL="0" indent="0">
              <a:buNone/>
            </a:pPr>
            <a:r>
              <a:rPr lang="en-US" sz="2000" dirty="0">
                <a:latin typeface="Times New Roman" charset="0"/>
                <a:ea typeface="Times New Roman" charset="0"/>
                <a:cs typeface="Times New Roman" charset="0"/>
              </a:rPr>
              <a:t>They are plant growth regulators involved in regulating the growth and influencing different developmental processes like stem elongation, germination, flowering and enzyme induction etc.</a:t>
            </a:r>
          </a:p>
          <a:p>
            <a:pPr marL="0" indent="0">
              <a:buNone/>
            </a:pPr>
            <a:r>
              <a:rPr lang="en-US" sz="2000" b="1" dirty="0">
                <a:latin typeface="Times New Roman" charset="0"/>
                <a:ea typeface="Times New Roman" charset="0"/>
                <a:cs typeface="Times New Roman" charset="0"/>
              </a:rPr>
              <a:t>Functions:</a:t>
            </a:r>
          </a:p>
          <a:p>
            <a:pPr>
              <a:buFont typeface="Wingdings" charset="2"/>
              <a:buChar char="ü"/>
            </a:pPr>
            <a:r>
              <a:rPr lang="en-US" sz="2000" dirty="0">
                <a:latin typeface="Times New Roman" charset="0"/>
                <a:ea typeface="Times New Roman" charset="0"/>
                <a:cs typeface="Times New Roman" charset="0"/>
              </a:rPr>
              <a:t>Promotes </a:t>
            </a:r>
            <a:r>
              <a:rPr lang="en-US" sz="2000" b="1" dirty="0">
                <a:latin typeface="Times New Roman" charset="0"/>
                <a:ea typeface="Times New Roman" charset="0"/>
                <a:cs typeface="Times New Roman" charset="0"/>
              </a:rPr>
              <a:t>bolting, </a:t>
            </a:r>
            <a:r>
              <a:rPr lang="en-US" sz="2000" dirty="0">
                <a:latin typeface="Times New Roman" charset="0"/>
                <a:ea typeface="Times New Roman" charset="0"/>
                <a:cs typeface="Times New Roman" charset="0"/>
              </a:rPr>
              <a:t>i.e. sudden elongation of internodes just before flowering in rosette plants like cabbage, beet.</a:t>
            </a:r>
          </a:p>
          <a:p>
            <a:pPr>
              <a:buFont typeface="Wingdings" charset="2"/>
              <a:buChar char="ü"/>
            </a:pPr>
            <a:endParaRPr lang="en-US" dirty="0"/>
          </a:p>
        </p:txBody>
      </p:sp>
      <p:pic>
        <p:nvPicPr>
          <p:cNvPr id="5" name="Picture 4">
            <a:extLst>
              <a:ext uri="{FF2B5EF4-FFF2-40B4-BE49-F238E27FC236}">
                <a16:creationId xmlns:a16="http://schemas.microsoft.com/office/drawing/2014/main" id="{670E48FC-696B-0CBA-D4D7-A650BF3F3C12}"/>
              </a:ext>
            </a:extLst>
          </p:cNvPr>
          <p:cNvPicPr>
            <a:picLocks noChangeAspect="1"/>
          </p:cNvPicPr>
          <p:nvPr/>
        </p:nvPicPr>
        <p:blipFill>
          <a:blip r:embed="rId2"/>
          <a:stretch>
            <a:fillRect/>
          </a:stretch>
        </p:blipFill>
        <p:spPr>
          <a:xfrm>
            <a:off x="4557187" y="712838"/>
            <a:ext cx="4292948" cy="4783394"/>
          </a:xfrm>
          <a:prstGeom prst="rect">
            <a:avLst/>
          </a:prstGeom>
        </p:spPr>
      </p:pic>
    </p:spTree>
    <p:extLst>
      <p:ext uri="{BB962C8B-B14F-4D97-AF65-F5344CB8AC3E}">
        <p14:creationId xmlns:p14="http://schemas.microsoft.com/office/powerpoint/2010/main" val="6816780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2247A-8598-9176-E4B7-D30BA6AF4D66}"/>
              </a:ext>
            </a:extLst>
          </p:cNvPr>
          <p:cNvSpPr>
            <a:spLocks noGrp="1"/>
          </p:cNvSpPr>
          <p:nvPr>
            <p:ph type="title"/>
          </p:nvPr>
        </p:nvSpPr>
        <p:spPr>
          <a:xfrm>
            <a:off x="462116" y="324466"/>
            <a:ext cx="7934631" cy="717753"/>
          </a:xfrm>
        </p:spPr>
        <p:txBody>
          <a:bodyPr/>
          <a:lstStyle/>
          <a:p>
            <a:r>
              <a:rPr lang="en-US" b="1" dirty="0">
                <a:latin typeface="Times New Roman" charset="0"/>
                <a:ea typeface="Times New Roman" charset="0"/>
                <a:cs typeface="Times New Roman" charset="0"/>
              </a:rPr>
              <a:t>Gibberellins Hormone</a:t>
            </a:r>
            <a:endParaRPr lang="en-GB" dirty="0"/>
          </a:p>
        </p:txBody>
      </p:sp>
      <p:sp>
        <p:nvSpPr>
          <p:cNvPr id="3" name="Content Placeholder 2">
            <a:extLst>
              <a:ext uri="{FF2B5EF4-FFF2-40B4-BE49-F238E27FC236}">
                <a16:creationId xmlns:a16="http://schemas.microsoft.com/office/drawing/2014/main" id="{6ED55351-F1F8-CC51-3812-F47B40CD2779}"/>
              </a:ext>
            </a:extLst>
          </p:cNvPr>
          <p:cNvSpPr>
            <a:spLocks noGrp="1"/>
          </p:cNvSpPr>
          <p:nvPr>
            <p:ph idx="1"/>
          </p:nvPr>
        </p:nvSpPr>
        <p:spPr>
          <a:xfrm>
            <a:off x="324466" y="1189703"/>
            <a:ext cx="3618269" cy="4748981"/>
          </a:xfrm>
        </p:spPr>
        <p:txBody>
          <a:bodyPr>
            <a:normAutofit fontScale="92500" lnSpcReduction="10000"/>
          </a:bodyPr>
          <a:lstStyle/>
          <a:p>
            <a:pPr>
              <a:buFont typeface="Wingdings" charset="2"/>
              <a:buChar char="ü"/>
            </a:pPr>
            <a:r>
              <a:rPr lang="en-US" dirty="0">
                <a:latin typeface="Times New Roman" charset="0"/>
                <a:ea typeface="Times New Roman" charset="0"/>
                <a:cs typeface="Times New Roman" charset="0"/>
              </a:rPr>
              <a:t>Delays senescence.</a:t>
            </a:r>
          </a:p>
          <a:p>
            <a:pPr>
              <a:buFont typeface="Wingdings" charset="2"/>
              <a:buChar char="ü"/>
            </a:pPr>
            <a:r>
              <a:rPr lang="en-US" dirty="0">
                <a:latin typeface="Times New Roman" charset="0"/>
                <a:ea typeface="Times New Roman" charset="0"/>
                <a:cs typeface="Times New Roman" charset="0"/>
              </a:rPr>
              <a:t>Induces parthenocarpy.</a:t>
            </a:r>
          </a:p>
          <a:p>
            <a:pPr>
              <a:buFont typeface="Wingdings" charset="2"/>
              <a:buChar char="ü"/>
            </a:pPr>
            <a:r>
              <a:rPr lang="en-US" dirty="0">
                <a:latin typeface="Times New Roman" charset="0"/>
                <a:ea typeface="Times New Roman" charset="0"/>
                <a:cs typeface="Times New Roman" charset="0"/>
              </a:rPr>
              <a:t>Elongation of the stem and reverses dwarfism.</a:t>
            </a:r>
          </a:p>
          <a:p>
            <a:pPr>
              <a:buFont typeface="Wingdings" charset="2"/>
              <a:buChar char="ü"/>
            </a:pPr>
            <a:r>
              <a:rPr lang="en-US" dirty="0">
                <a:latin typeface="Times New Roman" charset="0"/>
                <a:ea typeface="Times New Roman" charset="0"/>
                <a:cs typeface="Times New Roman" charset="0"/>
              </a:rPr>
              <a:t>GA3 is produced from methylerythritol phosphate.</a:t>
            </a:r>
          </a:p>
          <a:p>
            <a:pPr>
              <a:buFont typeface="Wingdings" charset="2"/>
              <a:buChar char="ü"/>
            </a:pPr>
            <a:r>
              <a:rPr lang="en-US" dirty="0">
                <a:latin typeface="Times New Roman" charset="0"/>
                <a:ea typeface="Times New Roman" charset="0"/>
                <a:cs typeface="Times New Roman" charset="0"/>
              </a:rPr>
              <a:t>Induces the formation of hydrolytic enzymes such as lipase, amylase in the endosperm of germinating cereal grains and barley seeds.</a:t>
            </a:r>
          </a:p>
          <a:p>
            <a:pPr>
              <a:buFont typeface="Wingdings" charset="2"/>
              <a:buChar char="ü"/>
            </a:pPr>
            <a:r>
              <a:rPr lang="en-US" dirty="0">
                <a:latin typeface="Times New Roman" charset="0"/>
                <a:ea typeface="Times New Roman" charset="0"/>
                <a:cs typeface="Times New Roman" charset="0"/>
              </a:rPr>
              <a:t>Breaks seed dormancy.</a:t>
            </a:r>
          </a:p>
          <a:p>
            <a:endParaRPr lang="en-GB" dirty="0"/>
          </a:p>
        </p:txBody>
      </p:sp>
      <p:pic>
        <p:nvPicPr>
          <p:cNvPr id="5" name="Picture 4">
            <a:extLst>
              <a:ext uri="{FF2B5EF4-FFF2-40B4-BE49-F238E27FC236}">
                <a16:creationId xmlns:a16="http://schemas.microsoft.com/office/drawing/2014/main" id="{0DF618C2-C618-7B47-1E2A-BFC3D81F2A40}"/>
              </a:ext>
            </a:extLst>
          </p:cNvPr>
          <p:cNvPicPr>
            <a:picLocks noChangeAspect="1"/>
          </p:cNvPicPr>
          <p:nvPr/>
        </p:nvPicPr>
        <p:blipFill>
          <a:blip r:embed="rId2"/>
          <a:stretch>
            <a:fillRect/>
          </a:stretch>
        </p:blipFill>
        <p:spPr>
          <a:xfrm>
            <a:off x="3854245" y="1358933"/>
            <a:ext cx="5289755" cy="4235622"/>
          </a:xfrm>
          <a:prstGeom prst="rect">
            <a:avLst/>
          </a:prstGeom>
        </p:spPr>
      </p:pic>
    </p:spTree>
    <p:extLst>
      <p:ext uri="{BB962C8B-B14F-4D97-AF65-F5344CB8AC3E}">
        <p14:creationId xmlns:p14="http://schemas.microsoft.com/office/powerpoint/2010/main" val="165872926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3561" y="147484"/>
            <a:ext cx="7187381" cy="806245"/>
          </a:xfrm>
        </p:spPr>
        <p:txBody>
          <a:bodyPr>
            <a:normAutofit/>
          </a:bodyPr>
          <a:lstStyle/>
          <a:p>
            <a:r>
              <a:rPr lang="en-US" sz="3200" b="1" dirty="0" err="1">
                <a:latin typeface="Times New Roman" charset="0"/>
                <a:ea typeface="Times New Roman" charset="0"/>
                <a:cs typeface="Times New Roman" charset="0"/>
              </a:rPr>
              <a:t>Cytokinins</a:t>
            </a:r>
            <a:r>
              <a:rPr lang="en-US" sz="3200" b="1" dirty="0">
                <a:latin typeface="Times New Roman" charset="0"/>
                <a:ea typeface="Times New Roman" charset="0"/>
                <a:cs typeface="Times New Roman" charset="0"/>
              </a:rPr>
              <a:t> Hormone</a:t>
            </a:r>
            <a:endParaRPr lang="en-US" sz="3200" dirty="0">
              <a:latin typeface="Times New Roman" charset="0"/>
              <a:ea typeface="Times New Roman" charset="0"/>
              <a:cs typeface="Times New Roman" charset="0"/>
            </a:endParaRPr>
          </a:p>
        </p:txBody>
      </p:sp>
      <p:sp>
        <p:nvSpPr>
          <p:cNvPr id="3" name="Content Placeholder 2"/>
          <p:cNvSpPr>
            <a:spLocks noGrp="1"/>
          </p:cNvSpPr>
          <p:nvPr>
            <p:ph idx="1"/>
          </p:nvPr>
        </p:nvSpPr>
        <p:spPr>
          <a:xfrm>
            <a:off x="196646" y="1189704"/>
            <a:ext cx="4876799" cy="4788310"/>
          </a:xfrm>
        </p:spPr>
        <p:txBody>
          <a:bodyPr>
            <a:normAutofit fontScale="92500" lnSpcReduction="10000"/>
          </a:bodyPr>
          <a:lstStyle/>
          <a:p>
            <a:pPr>
              <a:buFont typeface="Wingdings" charset="2"/>
              <a:buChar char="Ø"/>
            </a:pPr>
            <a:r>
              <a:rPr lang="en-US" sz="2000" dirty="0" err="1">
                <a:latin typeface="Times New Roman" charset="0"/>
                <a:ea typeface="Times New Roman" charset="0"/>
                <a:cs typeface="Times New Roman" charset="0"/>
              </a:rPr>
              <a:t>Cytokinins</a:t>
            </a:r>
            <a:r>
              <a:rPr lang="en-US" sz="2000" dirty="0">
                <a:latin typeface="Times New Roman" charset="0"/>
                <a:ea typeface="Times New Roman" charset="0"/>
                <a:cs typeface="Times New Roman" charset="0"/>
              </a:rPr>
              <a:t> play an important role in cytokinesis process. </a:t>
            </a:r>
          </a:p>
          <a:p>
            <a:pPr>
              <a:buFont typeface="Wingdings" charset="2"/>
              <a:buChar char="Ø"/>
            </a:pPr>
            <a:r>
              <a:rPr lang="en-US" sz="2000" dirty="0">
                <a:latin typeface="Times New Roman" charset="0"/>
                <a:ea typeface="Times New Roman" charset="0"/>
                <a:cs typeface="Times New Roman" charset="0"/>
              </a:rPr>
              <a:t>They are primarily involved in performing cell division in plant roots and shoot system.</a:t>
            </a:r>
          </a:p>
          <a:p>
            <a:pPr>
              <a:buFont typeface="Wingdings" charset="2"/>
              <a:buChar char="Ø"/>
            </a:pPr>
            <a:r>
              <a:rPr lang="en-US" sz="2000" dirty="0" err="1">
                <a:latin typeface="Times New Roman" charset="0"/>
                <a:ea typeface="Times New Roman" charset="0"/>
                <a:cs typeface="Times New Roman" charset="0"/>
              </a:rPr>
              <a:t>Cytokinins</a:t>
            </a:r>
            <a:r>
              <a:rPr lang="en-US" sz="2000" dirty="0">
                <a:latin typeface="Times New Roman" charset="0"/>
                <a:ea typeface="Times New Roman" charset="0"/>
                <a:cs typeface="Times New Roman" charset="0"/>
              </a:rPr>
              <a:t> are naturally </a:t>
            </a:r>
            <a:r>
              <a:rPr lang="en-US" sz="2000" dirty="0" err="1">
                <a:latin typeface="Times New Roman" charset="0"/>
                <a:ea typeface="Times New Roman" charset="0"/>
                <a:cs typeface="Times New Roman" charset="0"/>
              </a:rPr>
              <a:t>synthesised</a:t>
            </a:r>
            <a:r>
              <a:rPr lang="en-US" sz="2000" dirty="0">
                <a:latin typeface="Times New Roman" charset="0"/>
                <a:ea typeface="Times New Roman" charset="0"/>
                <a:cs typeface="Times New Roman" charset="0"/>
              </a:rPr>
              <a:t> in the plants where rapid cell division occurs e.g. root apices, shoot buds, young fruits, etc. Movement of </a:t>
            </a:r>
            <a:r>
              <a:rPr lang="en-US" sz="2000" dirty="0" err="1">
                <a:latin typeface="Times New Roman" charset="0"/>
                <a:ea typeface="Times New Roman" charset="0"/>
                <a:cs typeface="Times New Roman" charset="0"/>
              </a:rPr>
              <a:t>cytokinins</a:t>
            </a:r>
            <a:r>
              <a:rPr lang="en-US" sz="2000" dirty="0">
                <a:latin typeface="Times New Roman" charset="0"/>
                <a:ea typeface="Times New Roman" charset="0"/>
                <a:cs typeface="Times New Roman" charset="0"/>
              </a:rPr>
              <a:t> is </a:t>
            </a:r>
            <a:r>
              <a:rPr lang="en-US" sz="2000" dirty="0" err="1">
                <a:latin typeface="Times New Roman" charset="0"/>
                <a:ea typeface="Times New Roman" charset="0"/>
                <a:cs typeface="Times New Roman" charset="0"/>
              </a:rPr>
              <a:t>basipetal</a:t>
            </a:r>
            <a:r>
              <a:rPr lang="en-US" sz="2000" dirty="0">
                <a:latin typeface="Times New Roman" charset="0"/>
                <a:ea typeface="Times New Roman" charset="0"/>
                <a:cs typeface="Times New Roman" charset="0"/>
              </a:rPr>
              <a:t> and polar.</a:t>
            </a:r>
          </a:p>
          <a:p>
            <a:pPr marL="457200" indent="-457200">
              <a:buFont typeface="+mj-lt"/>
              <a:buAutoNum type="arabicPeriod"/>
            </a:pPr>
            <a:r>
              <a:rPr lang="en-US" sz="2000" dirty="0">
                <a:latin typeface="Times New Roman" charset="0"/>
                <a:ea typeface="Times New Roman" charset="0"/>
                <a:cs typeface="Times New Roman" charset="0"/>
              </a:rPr>
              <a:t>Natural: </a:t>
            </a:r>
            <a:r>
              <a:rPr lang="en-US" sz="2000" dirty="0" err="1">
                <a:latin typeface="Times New Roman" charset="0"/>
                <a:ea typeface="Times New Roman" charset="0"/>
                <a:cs typeface="Times New Roman" charset="0"/>
              </a:rPr>
              <a:t>Zeatin</a:t>
            </a:r>
            <a:r>
              <a:rPr lang="en-US" sz="2000" dirty="0">
                <a:latin typeface="Times New Roman" charset="0"/>
                <a:ea typeface="Times New Roman" charset="0"/>
                <a:cs typeface="Times New Roman" charset="0"/>
              </a:rPr>
              <a:t> (corn kernels, coconut milk), </a:t>
            </a:r>
            <a:r>
              <a:rPr lang="en-US" sz="2000" dirty="0" err="1">
                <a:latin typeface="Times New Roman" charset="0"/>
                <a:ea typeface="Times New Roman" charset="0"/>
                <a:cs typeface="Times New Roman" charset="0"/>
              </a:rPr>
              <a:t>isopentenyladenine</a:t>
            </a:r>
            <a:endParaRPr lang="en-US" sz="2000" dirty="0">
              <a:latin typeface="Times New Roman" charset="0"/>
              <a:ea typeface="Times New Roman" charset="0"/>
              <a:cs typeface="Times New Roman" charset="0"/>
            </a:endParaRPr>
          </a:p>
          <a:p>
            <a:pPr marL="457200" indent="-457200">
              <a:buFont typeface="+mj-lt"/>
              <a:buAutoNum type="arabicPeriod"/>
            </a:pPr>
            <a:r>
              <a:rPr lang="en-US" sz="2000" dirty="0">
                <a:latin typeface="Times New Roman" charset="0"/>
                <a:ea typeface="Times New Roman" charset="0"/>
                <a:cs typeface="Times New Roman" charset="0"/>
              </a:rPr>
              <a:t>Synthetic: Kinetin, </a:t>
            </a:r>
            <a:r>
              <a:rPr lang="en-US" sz="2000" dirty="0" err="1">
                <a:latin typeface="Times New Roman" charset="0"/>
                <a:ea typeface="Times New Roman" charset="0"/>
                <a:cs typeface="Times New Roman" charset="0"/>
              </a:rPr>
              <a:t>benzyladenine</a:t>
            </a:r>
            <a:r>
              <a:rPr lang="en-US" sz="2000" dirty="0">
                <a:latin typeface="Times New Roman" charset="0"/>
                <a:ea typeface="Times New Roman" charset="0"/>
                <a:cs typeface="Times New Roman" charset="0"/>
              </a:rPr>
              <a:t>, </a:t>
            </a:r>
            <a:r>
              <a:rPr lang="en-US" sz="2000" dirty="0" err="1">
                <a:latin typeface="Times New Roman" charset="0"/>
                <a:ea typeface="Times New Roman" charset="0"/>
                <a:cs typeface="Times New Roman" charset="0"/>
              </a:rPr>
              <a:t>diphenylurea</a:t>
            </a:r>
            <a:r>
              <a:rPr lang="en-US" sz="2000" dirty="0">
                <a:latin typeface="Times New Roman" charset="0"/>
                <a:ea typeface="Times New Roman" charset="0"/>
                <a:cs typeface="Times New Roman" charset="0"/>
              </a:rPr>
              <a:t>, </a:t>
            </a:r>
            <a:r>
              <a:rPr lang="en-US" sz="2000" dirty="0" err="1">
                <a:latin typeface="Times New Roman" charset="0"/>
                <a:ea typeface="Times New Roman" charset="0"/>
                <a:cs typeface="Times New Roman" charset="0"/>
              </a:rPr>
              <a:t>thidiazuron</a:t>
            </a:r>
            <a:r>
              <a:rPr lang="en-US" sz="2000" dirty="0">
                <a:latin typeface="Times New Roman" charset="0"/>
                <a:ea typeface="Times New Roman" charset="0"/>
                <a:cs typeface="Times New Roman" charset="0"/>
              </a:rPr>
              <a:t>.</a:t>
            </a:r>
          </a:p>
        </p:txBody>
      </p:sp>
      <p:pic>
        <p:nvPicPr>
          <p:cNvPr id="5" name="Picture 4">
            <a:extLst>
              <a:ext uri="{FF2B5EF4-FFF2-40B4-BE49-F238E27FC236}">
                <a16:creationId xmlns:a16="http://schemas.microsoft.com/office/drawing/2014/main" id="{4B101258-1744-93AC-D46F-9CBA1463EBBD}"/>
              </a:ext>
            </a:extLst>
          </p:cNvPr>
          <p:cNvPicPr>
            <a:picLocks noChangeAspect="1"/>
          </p:cNvPicPr>
          <p:nvPr/>
        </p:nvPicPr>
        <p:blipFill>
          <a:blip r:embed="rId2"/>
          <a:stretch>
            <a:fillRect/>
          </a:stretch>
        </p:blipFill>
        <p:spPr>
          <a:xfrm>
            <a:off x="4866969" y="1474773"/>
            <a:ext cx="4198374" cy="4060788"/>
          </a:xfrm>
          <a:prstGeom prst="rect">
            <a:avLst/>
          </a:prstGeom>
        </p:spPr>
      </p:pic>
    </p:spTree>
    <p:extLst>
      <p:ext uri="{BB962C8B-B14F-4D97-AF65-F5344CB8AC3E}">
        <p14:creationId xmlns:p14="http://schemas.microsoft.com/office/powerpoint/2010/main" val="12635809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42D4DF-E4BB-11AE-00EB-932A342B1168}"/>
              </a:ext>
            </a:extLst>
          </p:cNvPr>
          <p:cNvSpPr>
            <a:spLocks noGrp="1"/>
          </p:cNvSpPr>
          <p:nvPr>
            <p:ph idx="1"/>
          </p:nvPr>
        </p:nvSpPr>
        <p:spPr>
          <a:xfrm>
            <a:off x="619432" y="491613"/>
            <a:ext cx="7855973" cy="4974733"/>
          </a:xfrm>
        </p:spPr>
        <p:txBody>
          <a:bodyPr>
            <a:normAutofit/>
          </a:bodyPr>
          <a:lstStyle/>
          <a:p>
            <a:pPr marL="0" indent="0">
              <a:buNone/>
            </a:pPr>
            <a:r>
              <a:rPr lang="en-US" sz="2400" b="1" dirty="0">
                <a:latin typeface="Times New Roman" charset="0"/>
                <a:ea typeface="Times New Roman" charset="0"/>
                <a:cs typeface="Times New Roman" charset="0"/>
              </a:rPr>
              <a:t>Functions:</a:t>
            </a:r>
          </a:p>
          <a:p>
            <a:pPr>
              <a:buFont typeface="Wingdings" charset="2"/>
              <a:buChar char="ü"/>
            </a:pPr>
            <a:r>
              <a:rPr lang="en-US" sz="2400" dirty="0">
                <a:latin typeface="Times New Roman" charset="0"/>
                <a:ea typeface="Times New Roman" charset="0"/>
                <a:cs typeface="Times New Roman" charset="0"/>
              </a:rPr>
              <a:t>It promotes lateral and adventitious shoot growth and used to initiate shoot growth in culture.</a:t>
            </a:r>
          </a:p>
          <a:p>
            <a:pPr>
              <a:buFont typeface="Wingdings" charset="2"/>
              <a:buChar char="ü"/>
            </a:pPr>
            <a:r>
              <a:rPr lang="en-US" sz="2400" dirty="0">
                <a:latin typeface="Times New Roman" charset="0"/>
                <a:ea typeface="Times New Roman" charset="0"/>
                <a:cs typeface="Times New Roman" charset="0"/>
              </a:rPr>
              <a:t>Helps in overcoming apical dominance induced by auxins.</a:t>
            </a:r>
          </a:p>
          <a:p>
            <a:pPr>
              <a:buFont typeface="Wingdings" charset="2"/>
              <a:buChar char="ü"/>
            </a:pPr>
            <a:r>
              <a:rPr lang="en-US" sz="2400" dirty="0">
                <a:latin typeface="Times New Roman" charset="0"/>
                <a:ea typeface="Times New Roman" charset="0"/>
                <a:cs typeface="Times New Roman" charset="0"/>
              </a:rPr>
              <a:t>Stimulate the formation of chloroplast in leaves.</a:t>
            </a:r>
          </a:p>
          <a:p>
            <a:pPr>
              <a:buFont typeface="Wingdings" charset="2"/>
              <a:buChar char="ü"/>
            </a:pPr>
            <a:r>
              <a:rPr lang="en-US" sz="2400" dirty="0">
                <a:latin typeface="Times New Roman" charset="0"/>
                <a:ea typeface="Times New Roman" charset="0"/>
                <a:cs typeface="Times New Roman" charset="0"/>
              </a:rPr>
              <a:t>Promotes nutrient </a:t>
            </a:r>
            <a:r>
              <a:rPr lang="en-US" sz="2400" dirty="0" err="1">
                <a:latin typeface="Times New Roman" charset="0"/>
                <a:ea typeface="Times New Roman" charset="0"/>
                <a:cs typeface="Times New Roman" charset="0"/>
              </a:rPr>
              <a:t>mobilisation</a:t>
            </a:r>
            <a:r>
              <a:rPr lang="en-US" sz="2400" dirty="0">
                <a:latin typeface="Times New Roman" charset="0"/>
                <a:ea typeface="Times New Roman" charset="0"/>
                <a:cs typeface="Times New Roman" charset="0"/>
              </a:rPr>
              <a:t> and delay leaf senescence.</a:t>
            </a:r>
            <a:endParaRPr lang="en-GB" sz="2400" dirty="0"/>
          </a:p>
        </p:txBody>
      </p:sp>
    </p:spTree>
    <p:extLst>
      <p:ext uri="{BB962C8B-B14F-4D97-AF65-F5344CB8AC3E}">
        <p14:creationId xmlns:p14="http://schemas.microsoft.com/office/powerpoint/2010/main" val="192005432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0271" y="176982"/>
            <a:ext cx="7934632" cy="943895"/>
          </a:xfrm>
        </p:spPr>
        <p:txBody>
          <a:bodyPr>
            <a:normAutofit fontScale="90000"/>
          </a:bodyPr>
          <a:lstStyle/>
          <a:p>
            <a:r>
              <a:rPr lang="en-US" sz="3200" b="1" dirty="0">
                <a:latin typeface="Times New Roman" charset="0"/>
                <a:ea typeface="Times New Roman" charset="0"/>
                <a:cs typeface="Times New Roman" charset="0"/>
              </a:rPr>
              <a:t>Growth-inhibiting hormones: </a:t>
            </a:r>
            <a:r>
              <a:rPr lang="en-US" sz="3200" b="1" dirty="0" err="1">
                <a:latin typeface="Times New Roman" charset="0"/>
                <a:ea typeface="Times New Roman" charset="0"/>
                <a:cs typeface="Times New Roman" charset="0"/>
              </a:rPr>
              <a:t>abscisic</a:t>
            </a:r>
            <a:r>
              <a:rPr lang="en-US" sz="3200" b="1" dirty="0">
                <a:latin typeface="Times New Roman" charset="0"/>
                <a:ea typeface="Times New Roman" charset="0"/>
                <a:cs typeface="Times New Roman" charset="0"/>
              </a:rPr>
              <a:t> acid, ethylene</a:t>
            </a:r>
          </a:p>
        </p:txBody>
      </p:sp>
      <p:sp>
        <p:nvSpPr>
          <p:cNvPr id="3" name="Content Placeholder 2"/>
          <p:cNvSpPr>
            <a:spLocks noGrp="1"/>
          </p:cNvSpPr>
          <p:nvPr>
            <p:ph idx="1"/>
          </p:nvPr>
        </p:nvSpPr>
        <p:spPr>
          <a:xfrm>
            <a:off x="344129" y="1120877"/>
            <a:ext cx="3195484" cy="4670323"/>
          </a:xfrm>
        </p:spPr>
        <p:txBody>
          <a:bodyPr>
            <a:normAutofit/>
          </a:bodyPr>
          <a:lstStyle/>
          <a:p>
            <a:pPr marL="0" indent="0">
              <a:buNone/>
            </a:pPr>
            <a:r>
              <a:rPr lang="en-US" sz="2000" b="1" dirty="0" err="1">
                <a:latin typeface="Times New Roman" charset="0"/>
                <a:ea typeface="Times New Roman" charset="0"/>
                <a:cs typeface="Times New Roman" charset="0"/>
              </a:rPr>
              <a:t>Abscisic</a:t>
            </a:r>
            <a:r>
              <a:rPr lang="en-US" sz="2000" b="1" dirty="0">
                <a:latin typeface="Times New Roman" charset="0"/>
                <a:ea typeface="Times New Roman" charset="0"/>
                <a:cs typeface="Times New Roman" charset="0"/>
              </a:rPr>
              <a:t> Acid - </a:t>
            </a:r>
            <a:r>
              <a:rPr lang="en-US" sz="2000" dirty="0">
                <a:latin typeface="Times New Roman" charset="0"/>
                <a:ea typeface="Times New Roman" charset="0"/>
                <a:cs typeface="Times New Roman" charset="0"/>
              </a:rPr>
              <a:t>It is a growth-inhibiting hormone. ABAs act as an antagonist to GAs. It inhibits plant metabolism and regulates abscission and dormancy. It is also called “ stress hormone” as it increases the tolerance of plants.</a:t>
            </a:r>
          </a:p>
          <a:p>
            <a:endParaRPr lang="en-US" dirty="0"/>
          </a:p>
        </p:txBody>
      </p:sp>
      <p:pic>
        <p:nvPicPr>
          <p:cNvPr id="7" name="Picture 6">
            <a:extLst>
              <a:ext uri="{FF2B5EF4-FFF2-40B4-BE49-F238E27FC236}">
                <a16:creationId xmlns:a16="http://schemas.microsoft.com/office/drawing/2014/main" id="{7EE146ED-6113-C671-851C-DA40600C6CBF}"/>
              </a:ext>
            </a:extLst>
          </p:cNvPr>
          <p:cNvPicPr>
            <a:picLocks noChangeAspect="1"/>
          </p:cNvPicPr>
          <p:nvPr/>
        </p:nvPicPr>
        <p:blipFill>
          <a:blip r:embed="rId2"/>
          <a:stretch>
            <a:fillRect/>
          </a:stretch>
        </p:blipFill>
        <p:spPr>
          <a:xfrm>
            <a:off x="3539613" y="1285576"/>
            <a:ext cx="5465674" cy="4286848"/>
          </a:xfrm>
          <a:prstGeom prst="rect">
            <a:avLst/>
          </a:prstGeom>
        </p:spPr>
      </p:pic>
    </p:spTree>
    <p:extLst>
      <p:ext uri="{BB962C8B-B14F-4D97-AF65-F5344CB8AC3E}">
        <p14:creationId xmlns:p14="http://schemas.microsoft.com/office/powerpoint/2010/main" val="9500389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7CCE6-C3BE-8E4F-B82F-AA5024808933}"/>
              </a:ext>
            </a:extLst>
          </p:cNvPr>
          <p:cNvSpPr>
            <a:spLocks noGrp="1"/>
          </p:cNvSpPr>
          <p:nvPr>
            <p:ph type="title"/>
          </p:nvPr>
        </p:nvSpPr>
        <p:spPr>
          <a:xfrm>
            <a:off x="560439" y="108156"/>
            <a:ext cx="7905135" cy="1209368"/>
          </a:xfrm>
        </p:spPr>
        <p:txBody>
          <a:bodyPr>
            <a:normAutofit/>
          </a:bodyPr>
          <a:lstStyle/>
          <a:p>
            <a:r>
              <a:rPr lang="en-US" b="1" dirty="0">
                <a:latin typeface="Times New Roman" charset="0"/>
                <a:ea typeface="Times New Roman" charset="0"/>
                <a:cs typeface="Times New Roman" charset="0"/>
              </a:rPr>
              <a:t>Growth-inhibiting hormones: abscisic acid</a:t>
            </a:r>
            <a:endParaRPr lang="en-GB" dirty="0"/>
          </a:p>
        </p:txBody>
      </p:sp>
      <p:sp>
        <p:nvSpPr>
          <p:cNvPr id="3" name="Content Placeholder 2">
            <a:extLst>
              <a:ext uri="{FF2B5EF4-FFF2-40B4-BE49-F238E27FC236}">
                <a16:creationId xmlns:a16="http://schemas.microsoft.com/office/drawing/2014/main" id="{3254D881-A259-324C-138D-994B26143407}"/>
              </a:ext>
            </a:extLst>
          </p:cNvPr>
          <p:cNvSpPr>
            <a:spLocks noGrp="1"/>
          </p:cNvSpPr>
          <p:nvPr>
            <p:ph idx="1"/>
          </p:nvPr>
        </p:nvSpPr>
        <p:spPr>
          <a:xfrm>
            <a:off x="324465" y="1317524"/>
            <a:ext cx="4001729" cy="4562163"/>
          </a:xfrm>
        </p:spPr>
        <p:txBody>
          <a:bodyPr>
            <a:normAutofit/>
          </a:bodyPr>
          <a:lstStyle/>
          <a:p>
            <a:pPr marL="0" indent="0">
              <a:buNone/>
            </a:pPr>
            <a:r>
              <a:rPr lang="en-US" b="1" dirty="0">
                <a:latin typeface="Times New Roman" charset="0"/>
                <a:ea typeface="Times New Roman" charset="0"/>
                <a:cs typeface="Times New Roman" charset="0"/>
              </a:rPr>
              <a:t>Functions:</a:t>
            </a:r>
          </a:p>
          <a:p>
            <a:pPr>
              <a:buFont typeface="Wingdings" charset="2"/>
              <a:buChar char="ü"/>
            </a:pPr>
            <a:r>
              <a:rPr lang="en-US" dirty="0">
                <a:latin typeface="Times New Roman" charset="0"/>
                <a:ea typeface="Times New Roman" charset="0"/>
                <a:cs typeface="Times New Roman" charset="0"/>
              </a:rPr>
              <a:t>Induces abscission of leaves and fruits.</a:t>
            </a:r>
          </a:p>
          <a:p>
            <a:pPr>
              <a:buFont typeface="Wingdings" charset="2"/>
              <a:buChar char="ü"/>
            </a:pPr>
            <a:r>
              <a:rPr lang="en-US" dirty="0">
                <a:latin typeface="Times New Roman" charset="0"/>
                <a:ea typeface="Times New Roman" charset="0"/>
                <a:cs typeface="Times New Roman" charset="0"/>
              </a:rPr>
              <a:t>Inhibits seed germination.</a:t>
            </a:r>
          </a:p>
          <a:p>
            <a:pPr>
              <a:buFont typeface="Wingdings" charset="2"/>
              <a:buChar char="ü"/>
            </a:pPr>
            <a:r>
              <a:rPr lang="en-US" dirty="0">
                <a:latin typeface="Times New Roman" charset="0"/>
                <a:ea typeface="Times New Roman" charset="0"/>
                <a:cs typeface="Times New Roman" charset="0"/>
              </a:rPr>
              <a:t>Induces senescence in leaves.</a:t>
            </a:r>
          </a:p>
          <a:p>
            <a:pPr>
              <a:buFont typeface="Wingdings" charset="2"/>
              <a:buChar char="ü"/>
            </a:pPr>
            <a:r>
              <a:rPr lang="en-US" dirty="0">
                <a:latin typeface="Times New Roman" charset="0"/>
                <a:ea typeface="Times New Roman" charset="0"/>
                <a:cs typeface="Times New Roman" charset="0"/>
              </a:rPr>
              <a:t>Accelerates dormancy in seeds that is useful for storage purpose.</a:t>
            </a:r>
          </a:p>
          <a:p>
            <a:pPr>
              <a:buFont typeface="Wingdings" charset="2"/>
              <a:buChar char="ü"/>
            </a:pPr>
            <a:r>
              <a:rPr lang="en-US" dirty="0">
                <a:latin typeface="Times New Roman" charset="0"/>
                <a:ea typeface="Times New Roman" charset="0"/>
                <a:cs typeface="Times New Roman" charset="0"/>
              </a:rPr>
              <a:t>Stimulates closure of stomata to prevent transpiration under water stress.</a:t>
            </a:r>
          </a:p>
          <a:p>
            <a:endParaRPr lang="en-GB" dirty="0"/>
          </a:p>
        </p:txBody>
      </p:sp>
      <p:pic>
        <p:nvPicPr>
          <p:cNvPr id="5" name="Picture 4">
            <a:extLst>
              <a:ext uri="{FF2B5EF4-FFF2-40B4-BE49-F238E27FC236}">
                <a16:creationId xmlns:a16="http://schemas.microsoft.com/office/drawing/2014/main" id="{16FAB44F-8863-52F0-9FE4-E5F792653C01}"/>
              </a:ext>
            </a:extLst>
          </p:cNvPr>
          <p:cNvPicPr>
            <a:picLocks noChangeAspect="1"/>
          </p:cNvPicPr>
          <p:nvPr/>
        </p:nvPicPr>
        <p:blipFill>
          <a:blip r:embed="rId2"/>
          <a:stretch>
            <a:fillRect/>
          </a:stretch>
        </p:blipFill>
        <p:spPr>
          <a:xfrm>
            <a:off x="4463844" y="1317524"/>
            <a:ext cx="4680155" cy="4689986"/>
          </a:xfrm>
          <a:prstGeom prst="rect">
            <a:avLst/>
          </a:prstGeom>
        </p:spPr>
      </p:pic>
    </p:spTree>
    <p:extLst>
      <p:ext uri="{BB962C8B-B14F-4D97-AF65-F5344CB8AC3E}">
        <p14:creationId xmlns:p14="http://schemas.microsoft.com/office/powerpoint/2010/main" val="165235528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7820"/>
            <a:ext cx="8229600" cy="747252"/>
          </a:xfrm>
        </p:spPr>
        <p:txBody>
          <a:bodyPr>
            <a:normAutofit/>
          </a:bodyPr>
          <a:lstStyle/>
          <a:p>
            <a:r>
              <a:rPr lang="en-US" sz="3200" b="1" dirty="0">
                <a:latin typeface="Times New Roman" charset="0"/>
                <a:ea typeface="Times New Roman" charset="0"/>
                <a:cs typeface="Times New Roman" charset="0"/>
              </a:rPr>
              <a:t>Ethylene Plant Hormone</a:t>
            </a:r>
            <a:endParaRPr lang="en-US" sz="3200" dirty="0">
              <a:latin typeface="Times New Roman" charset="0"/>
              <a:ea typeface="Times New Roman" charset="0"/>
              <a:cs typeface="Times New Roman" charset="0"/>
            </a:endParaRPr>
          </a:p>
        </p:txBody>
      </p:sp>
      <p:sp>
        <p:nvSpPr>
          <p:cNvPr id="3" name="Content Placeholder 2"/>
          <p:cNvSpPr>
            <a:spLocks noGrp="1"/>
          </p:cNvSpPr>
          <p:nvPr>
            <p:ph idx="1"/>
          </p:nvPr>
        </p:nvSpPr>
        <p:spPr>
          <a:xfrm>
            <a:off x="216310" y="1051560"/>
            <a:ext cx="4139380" cy="5018616"/>
          </a:xfrm>
        </p:spPr>
        <p:txBody>
          <a:bodyPr>
            <a:normAutofit/>
          </a:bodyPr>
          <a:lstStyle/>
          <a:p>
            <a:pPr marL="0" indent="0">
              <a:buNone/>
            </a:pPr>
            <a:r>
              <a:rPr lang="en-US" sz="2000" b="1" dirty="0">
                <a:latin typeface="Times New Roman" charset="0"/>
                <a:ea typeface="Times New Roman" charset="0"/>
                <a:cs typeface="Times New Roman" charset="0"/>
              </a:rPr>
              <a:t>Ethylene</a:t>
            </a:r>
            <a:r>
              <a:rPr lang="en-US" sz="2000" dirty="0">
                <a:latin typeface="Times New Roman" charset="0"/>
                <a:ea typeface="Times New Roman" charset="0"/>
                <a:cs typeface="Times New Roman" charset="0"/>
              </a:rPr>
              <a:t> – is a group of plant growth regulators which are widely used for ripening fruits and for the production of more flowers and fruits. It acts as a growth promoter as well as an inhibitor. Occurs in gaseous form. It is </a:t>
            </a:r>
            <a:r>
              <a:rPr lang="en-US" sz="2000" dirty="0" err="1">
                <a:latin typeface="Times New Roman" charset="0"/>
                <a:ea typeface="Times New Roman" charset="0"/>
                <a:cs typeface="Times New Roman" charset="0"/>
              </a:rPr>
              <a:t>synthesised</a:t>
            </a:r>
            <a:r>
              <a:rPr lang="en-US" sz="2000" dirty="0">
                <a:latin typeface="Times New Roman" charset="0"/>
                <a:ea typeface="Times New Roman" charset="0"/>
                <a:cs typeface="Times New Roman" charset="0"/>
              </a:rPr>
              <a:t> in the ripening fruits and tissues undergoing senescence. It regulates many physiological processes and one of the most widely used hormones in agriculture.</a:t>
            </a:r>
          </a:p>
        </p:txBody>
      </p:sp>
      <p:pic>
        <p:nvPicPr>
          <p:cNvPr id="5" name="Picture 4">
            <a:extLst>
              <a:ext uri="{FF2B5EF4-FFF2-40B4-BE49-F238E27FC236}">
                <a16:creationId xmlns:a16="http://schemas.microsoft.com/office/drawing/2014/main" id="{5F45BED6-8C3B-3D86-628B-D83E4D932679}"/>
              </a:ext>
            </a:extLst>
          </p:cNvPr>
          <p:cNvPicPr>
            <a:picLocks noChangeAspect="1"/>
          </p:cNvPicPr>
          <p:nvPr/>
        </p:nvPicPr>
        <p:blipFill>
          <a:blip r:embed="rId2"/>
          <a:stretch>
            <a:fillRect/>
          </a:stretch>
        </p:blipFill>
        <p:spPr>
          <a:xfrm>
            <a:off x="4355690" y="1288026"/>
            <a:ext cx="4788309" cy="4518414"/>
          </a:xfrm>
          <a:prstGeom prst="rect">
            <a:avLst/>
          </a:prstGeom>
        </p:spPr>
      </p:pic>
    </p:spTree>
    <p:extLst>
      <p:ext uri="{BB962C8B-B14F-4D97-AF65-F5344CB8AC3E}">
        <p14:creationId xmlns:p14="http://schemas.microsoft.com/office/powerpoint/2010/main" val="33781411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94FD8-133E-3F7C-F809-7D9CD9A5A5C3}"/>
              </a:ext>
            </a:extLst>
          </p:cNvPr>
          <p:cNvSpPr>
            <a:spLocks noGrp="1"/>
          </p:cNvSpPr>
          <p:nvPr>
            <p:ph type="title"/>
          </p:nvPr>
        </p:nvSpPr>
        <p:spPr>
          <a:xfrm>
            <a:off x="737419" y="353962"/>
            <a:ext cx="7334865" cy="875070"/>
          </a:xfrm>
        </p:spPr>
        <p:txBody>
          <a:bodyPr/>
          <a:lstStyle/>
          <a:p>
            <a:r>
              <a:rPr lang="en-US" b="1" dirty="0">
                <a:latin typeface="Times New Roman" charset="0"/>
                <a:ea typeface="Times New Roman" charset="0"/>
                <a:cs typeface="Times New Roman" charset="0"/>
              </a:rPr>
              <a:t>Ethylene Plant Hormone</a:t>
            </a:r>
            <a:endParaRPr lang="en-GB" dirty="0"/>
          </a:p>
        </p:txBody>
      </p:sp>
      <p:sp>
        <p:nvSpPr>
          <p:cNvPr id="3" name="Content Placeholder 2">
            <a:extLst>
              <a:ext uri="{FF2B5EF4-FFF2-40B4-BE49-F238E27FC236}">
                <a16:creationId xmlns:a16="http://schemas.microsoft.com/office/drawing/2014/main" id="{B537030C-FE65-C700-95B3-A619E09A37C3}"/>
              </a:ext>
            </a:extLst>
          </p:cNvPr>
          <p:cNvSpPr>
            <a:spLocks noGrp="1"/>
          </p:cNvSpPr>
          <p:nvPr>
            <p:ph idx="1"/>
          </p:nvPr>
        </p:nvSpPr>
        <p:spPr>
          <a:xfrm>
            <a:off x="432619" y="1297859"/>
            <a:ext cx="8141110" cy="4168488"/>
          </a:xfrm>
        </p:spPr>
        <p:txBody>
          <a:bodyPr>
            <a:normAutofit fontScale="92500" lnSpcReduction="20000"/>
          </a:bodyPr>
          <a:lstStyle/>
          <a:p>
            <a:pPr marL="0" indent="0">
              <a:buNone/>
            </a:pPr>
            <a:r>
              <a:rPr lang="en-US" b="1" dirty="0">
                <a:latin typeface="Times New Roman" charset="0"/>
                <a:ea typeface="Times New Roman" charset="0"/>
                <a:cs typeface="Times New Roman" charset="0"/>
              </a:rPr>
              <a:t>Functions:</a:t>
            </a:r>
          </a:p>
          <a:p>
            <a:pPr>
              <a:buFont typeface="Wingdings" charset="2"/>
              <a:buChar char="ü"/>
            </a:pPr>
            <a:r>
              <a:rPr lang="en-US" dirty="0">
                <a:latin typeface="Times New Roman" charset="0"/>
                <a:ea typeface="Times New Roman" charset="0"/>
                <a:cs typeface="Times New Roman" charset="0"/>
              </a:rPr>
              <a:t>It hastens the ripening of fruits.</a:t>
            </a:r>
          </a:p>
          <a:p>
            <a:pPr>
              <a:buFont typeface="Wingdings" charset="2"/>
              <a:buChar char="ü"/>
            </a:pPr>
            <a:r>
              <a:rPr lang="en-US" dirty="0">
                <a:latin typeface="Times New Roman" charset="0"/>
                <a:ea typeface="Times New Roman" charset="0"/>
                <a:cs typeface="Times New Roman" charset="0"/>
              </a:rPr>
              <a:t>Controls epinasty of leaves.</a:t>
            </a:r>
          </a:p>
          <a:p>
            <a:pPr>
              <a:buFont typeface="Wingdings" charset="2"/>
              <a:buChar char="ü"/>
            </a:pPr>
            <a:r>
              <a:rPr lang="en-US" dirty="0">
                <a:latin typeface="Times New Roman" charset="0"/>
                <a:ea typeface="Times New Roman" charset="0"/>
                <a:cs typeface="Times New Roman" charset="0"/>
              </a:rPr>
              <a:t>Breaks seed and bud dormancy.</a:t>
            </a:r>
          </a:p>
          <a:p>
            <a:pPr>
              <a:buFont typeface="Wingdings" charset="2"/>
              <a:buChar char="ü"/>
            </a:pPr>
            <a:r>
              <a:rPr lang="en-US" dirty="0">
                <a:latin typeface="Times New Roman" charset="0"/>
                <a:ea typeface="Times New Roman" charset="0"/>
                <a:cs typeface="Times New Roman" charset="0"/>
              </a:rPr>
              <a:t>Stimulates rapid elongation of petioles and internodes.</a:t>
            </a:r>
          </a:p>
          <a:p>
            <a:pPr>
              <a:buFont typeface="Wingdings" charset="2"/>
              <a:buChar char="ü"/>
            </a:pPr>
            <a:r>
              <a:rPr lang="en-US" dirty="0">
                <a:latin typeface="Times New Roman" charset="0"/>
                <a:ea typeface="Times New Roman" charset="0"/>
                <a:cs typeface="Times New Roman" charset="0"/>
              </a:rPr>
              <a:t>Promotes senescence and abscission of leaves and flowers.</a:t>
            </a:r>
          </a:p>
          <a:p>
            <a:pPr>
              <a:buFont typeface="Wingdings" charset="2"/>
              <a:buChar char="ü"/>
            </a:pPr>
            <a:r>
              <a:rPr lang="en-US" dirty="0">
                <a:latin typeface="Times New Roman" charset="0"/>
                <a:ea typeface="Times New Roman" charset="0"/>
                <a:cs typeface="Times New Roman" charset="0"/>
              </a:rPr>
              <a:t>Induces root growth and root hair formation thereby increasing the absorption surface.</a:t>
            </a:r>
          </a:p>
          <a:p>
            <a:pPr>
              <a:buFont typeface="Wingdings" charset="2"/>
              <a:buChar char="ü"/>
            </a:pPr>
            <a:r>
              <a:rPr lang="en-US" dirty="0">
                <a:latin typeface="Times New Roman" charset="0"/>
                <a:ea typeface="Times New Roman" charset="0"/>
                <a:cs typeface="Times New Roman" charset="0"/>
              </a:rPr>
              <a:t>Stimulates femaleness in monoecious plants.</a:t>
            </a:r>
          </a:p>
          <a:p>
            <a:pPr>
              <a:buFont typeface="Wingdings" charset="2"/>
              <a:buChar char="ü"/>
            </a:pPr>
            <a:r>
              <a:rPr lang="en-US" dirty="0">
                <a:latin typeface="Times New Roman" charset="0"/>
                <a:ea typeface="Times New Roman" charset="0"/>
                <a:cs typeface="Times New Roman" charset="0"/>
              </a:rPr>
              <a:t>Apical hook formation in dicot seedlings</a:t>
            </a:r>
            <a:endParaRPr lang="en-GB" dirty="0"/>
          </a:p>
        </p:txBody>
      </p:sp>
    </p:spTree>
    <p:extLst>
      <p:ext uri="{BB962C8B-B14F-4D97-AF65-F5344CB8AC3E}">
        <p14:creationId xmlns:p14="http://schemas.microsoft.com/office/powerpoint/2010/main" val="184937433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08703"/>
          </a:xfrm>
        </p:spPr>
        <p:txBody>
          <a:bodyPr>
            <a:normAutofit fontScale="90000"/>
          </a:bodyPr>
          <a:lstStyle/>
          <a:p>
            <a:r>
              <a:rPr lang="en-US" sz="3200" b="1" dirty="0">
                <a:latin typeface="Times New Roman" charset="0"/>
                <a:ea typeface="Times New Roman" charset="0"/>
                <a:cs typeface="Times New Roman" charset="0"/>
              </a:rPr>
              <a:t>Agricultural applications of plant hormones</a:t>
            </a:r>
          </a:p>
        </p:txBody>
      </p:sp>
      <p:sp>
        <p:nvSpPr>
          <p:cNvPr id="3" name="Content Placeholder 2"/>
          <p:cNvSpPr>
            <a:spLocks noGrp="1"/>
          </p:cNvSpPr>
          <p:nvPr>
            <p:ph idx="1"/>
          </p:nvPr>
        </p:nvSpPr>
        <p:spPr>
          <a:xfrm>
            <a:off x="457200" y="1183341"/>
            <a:ext cx="8229600" cy="5282005"/>
          </a:xfrm>
        </p:spPr>
        <p:txBody>
          <a:bodyPr>
            <a:normAutofit fontScale="55000" lnSpcReduction="20000"/>
          </a:bodyPr>
          <a:lstStyle/>
          <a:p>
            <a:pPr>
              <a:buFont typeface="Wingdings" charset="2"/>
              <a:buChar char="Ø"/>
            </a:pPr>
            <a:r>
              <a:rPr lang="en-US" sz="4200" b="1" dirty="0">
                <a:latin typeface="Times New Roman" charset="0"/>
                <a:ea typeface="Times New Roman" charset="0"/>
                <a:cs typeface="Times New Roman" charset="0"/>
              </a:rPr>
              <a:t>Growth Promotion:</a:t>
            </a:r>
            <a:r>
              <a:rPr lang="en-US" sz="4200" dirty="0">
                <a:latin typeface="Times New Roman" charset="0"/>
                <a:ea typeface="Times New Roman" charset="0"/>
                <a:cs typeface="Times New Roman" charset="0"/>
              </a:rPr>
              <a:t> </a:t>
            </a:r>
            <a:r>
              <a:rPr lang="en-US" sz="4200" dirty="0" err="1">
                <a:latin typeface="Times New Roman" charset="0"/>
                <a:ea typeface="Times New Roman" charset="0"/>
                <a:cs typeface="Times New Roman" charset="0"/>
              </a:rPr>
              <a:t>Phytohormones</a:t>
            </a:r>
            <a:r>
              <a:rPr lang="en-US" sz="4200" dirty="0">
                <a:latin typeface="Times New Roman" charset="0"/>
                <a:ea typeface="Times New Roman" charset="0"/>
                <a:cs typeface="Times New Roman" charset="0"/>
              </a:rPr>
              <a:t> like auxins, gibberellins, and </a:t>
            </a:r>
            <a:r>
              <a:rPr lang="en-US" sz="4200" dirty="0" err="1">
                <a:latin typeface="Times New Roman" charset="0"/>
                <a:ea typeface="Times New Roman" charset="0"/>
                <a:cs typeface="Times New Roman" charset="0"/>
              </a:rPr>
              <a:t>cytokinins</a:t>
            </a:r>
            <a:r>
              <a:rPr lang="en-US" sz="4200" dirty="0">
                <a:latin typeface="Times New Roman" charset="0"/>
                <a:ea typeface="Times New Roman" charset="0"/>
                <a:cs typeface="Times New Roman" charset="0"/>
              </a:rPr>
              <a:t> promote cell division, cell elongation, and differentiation. They are used to enhance the growth of crops and increase yield.</a:t>
            </a:r>
          </a:p>
          <a:p>
            <a:pPr>
              <a:buFont typeface="Wingdings" charset="2"/>
              <a:buChar char="Ø"/>
            </a:pPr>
            <a:r>
              <a:rPr lang="en-US" sz="4200" b="1" dirty="0">
                <a:latin typeface="Times New Roman" charset="0"/>
                <a:ea typeface="Times New Roman" charset="0"/>
                <a:cs typeface="Times New Roman" charset="0"/>
              </a:rPr>
              <a:t>Weed Control:</a:t>
            </a:r>
            <a:r>
              <a:rPr lang="en-US" sz="4200" dirty="0">
                <a:latin typeface="Times New Roman" charset="0"/>
                <a:ea typeface="Times New Roman" charset="0"/>
                <a:cs typeface="Times New Roman" charset="0"/>
              </a:rPr>
              <a:t> Synthetic auxins are used as herbicides. They cause uncontrolled growth in weeds, leading to their death.</a:t>
            </a:r>
          </a:p>
          <a:p>
            <a:pPr>
              <a:buFont typeface="Wingdings" charset="2"/>
              <a:buChar char="Ø"/>
            </a:pPr>
            <a:r>
              <a:rPr lang="en-US" sz="4200" b="1" dirty="0">
                <a:latin typeface="Times New Roman" charset="0"/>
                <a:ea typeface="Times New Roman" charset="0"/>
                <a:cs typeface="Times New Roman" charset="0"/>
              </a:rPr>
              <a:t>Fruit Ripening:</a:t>
            </a:r>
            <a:r>
              <a:rPr lang="en-US" sz="4200" dirty="0">
                <a:latin typeface="Times New Roman" charset="0"/>
                <a:ea typeface="Times New Roman" charset="0"/>
                <a:cs typeface="Times New Roman" charset="0"/>
              </a:rPr>
              <a:t> Ethylene is a </a:t>
            </a:r>
            <a:r>
              <a:rPr lang="en-US" sz="4200" dirty="0" err="1">
                <a:latin typeface="Times New Roman" charset="0"/>
                <a:ea typeface="Times New Roman" charset="0"/>
                <a:cs typeface="Times New Roman" charset="0"/>
              </a:rPr>
              <a:t>phytohormone</a:t>
            </a:r>
            <a:r>
              <a:rPr lang="en-US" sz="4200" dirty="0">
                <a:latin typeface="Times New Roman" charset="0"/>
                <a:ea typeface="Times New Roman" charset="0"/>
                <a:cs typeface="Times New Roman" charset="0"/>
              </a:rPr>
              <a:t> that promotes fruit ripening. It is used in the agriculture industry to control the ripening process of fruits during storage and transport.</a:t>
            </a:r>
          </a:p>
          <a:p>
            <a:pPr>
              <a:buFont typeface="Wingdings" charset="2"/>
              <a:buChar char="Ø"/>
            </a:pPr>
            <a:r>
              <a:rPr lang="en-US" sz="4200" b="1" dirty="0">
                <a:latin typeface="Times New Roman" charset="0"/>
                <a:ea typeface="Times New Roman" charset="0"/>
                <a:cs typeface="Times New Roman" charset="0"/>
              </a:rPr>
              <a:t>Seed Germination:</a:t>
            </a:r>
            <a:r>
              <a:rPr lang="en-US" sz="4200" dirty="0">
                <a:latin typeface="Times New Roman" charset="0"/>
                <a:ea typeface="Times New Roman" charset="0"/>
                <a:cs typeface="Times New Roman" charset="0"/>
              </a:rPr>
              <a:t> Gibberellins are used to break seed dormancy and promote germination, especially in crops like barley.</a:t>
            </a:r>
          </a:p>
        </p:txBody>
      </p:sp>
    </p:spTree>
    <p:extLst>
      <p:ext uri="{BB962C8B-B14F-4D97-AF65-F5344CB8AC3E}">
        <p14:creationId xmlns:p14="http://schemas.microsoft.com/office/powerpoint/2010/main" val="10365997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15442-0208-2559-0E92-CAA3441BBDBB}"/>
              </a:ext>
            </a:extLst>
          </p:cNvPr>
          <p:cNvSpPr>
            <a:spLocks noGrp="1"/>
          </p:cNvSpPr>
          <p:nvPr>
            <p:ph type="title"/>
          </p:nvPr>
        </p:nvSpPr>
        <p:spPr>
          <a:xfrm>
            <a:off x="1061885" y="176981"/>
            <a:ext cx="7069392" cy="983225"/>
          </a:xfrm>
        </p:spPr>
        <p:txBody>
          <a:bodyPr>
            <a:normAutofit/>
          </a:bodyPr>
          <a:lstStyle/>
          <a:p>
            <a:r>
              <a:rPr lang="en-US" b="1" dirty="0">
                <a:latin typeface="Times New Roman" charset="0"/>
                <a:ea typeface="Times New Roman" charset="0"/>
                <a:cs typeface="Times New Roman" charset="0"/>
              </a:rPr>
              <a:t>Agricultural applications of plant hormones</a:t>
            </a:r>
            <a:endParaRPr lang="en-GB" dirty="0"/>
          </a:p>
        </p:txBody>
      </p:sp>
      <p:sp>
        <p:nvSpPr>
          <p:cNvPr id="3" name="Content Placeholder 2">
            <a:extLst>
              <a:ext uri="{FF2B5EF4-FFF2-40B4-BE49-F238E27FC236}">
                <a16:creationId xmlns:a16="http://schemas.microsoft.com/office/drawing/2014/main" id="{E28DFC1A-874A-BE1B-CE74-C54822E7E460}"/>
              </a:ext>
            </a:extLst>
          </p:cNvPr>
          <p:cNvSpPr>
            <a:spLocks noGrp="1"/>
          </p:cNvSpPr>
          <p:nvPr>
            <p:ph idx="1"/>
          </p:nvPr>
        </p:nvSpPr>
        <p:spPr>
          <a:xfrm>
            <a:off x="481781" y="1317523"/>
            <a:ext cx="8406580" cy="4483509"/>
          </a:xfrm>
        </p:spPr>
        <p:txBody>
          <a:bodyPr>
            <a:normAutofit/>
          </a:bodyPr>
          <a:lstStyle/>
          <a:p>
            <a:pPr>
              <a:buFont typeface="Wingdings" charset="2"/>
              <a:buChar char="Ø"/>
            </a:pPr>
            <a:r>
              <a:rPr lang="en-US" sz="2400" b="1" dirty="0">
                <a:latin typeface="Times New Roman" charset="0"/>
                <a:ea typeface="Times New Roman" charset="0"/>
                <a:cs typeface="Times New Roman" charset="0"/>
              </a:rPr>
              <a:t>Rooting:</a:t>
            </a:r>
            <a:r>
              <a:rPr lang="en-US" sz="2400" dirty="0">
                <a:latin typeface="Times New Roman" charset="0"/>
                <a:ea typeface="Times New Roman" charset="0"/>
                <a:cs typeface="Times New Roman" charset="0"/>
              </a:rPr>
              <a:t> Auxins are used to promote root formation in stem cuttings. This is particularly useful in plant propagation.</a:t>
            </a:r>
          </a:p>
          <a:p>
            <a:pPr>
              <a:buFont typeface="Wingdings" charset="2"/>
              <a:buChar char="Ø"/>
            </a:pPr>
            <a:r>
              <a:rPr lang="en-US" sz="2400" b="1" dirty="0">
                <a:latin typeface="Times New Roman" charset="0"/>
                <a:ea typeface="Times New Roman" charset="0"/>
                <a:cs typeface="Times New Roman" charset="0"/>
              </a:rPr>
              <a:t>Delaying Senescence:</a:t>
            </a:r>
            <a:r>
              <a:rPr lang="en-US" sz="2400" dirty="0">
                <a:latin typeface="Times New Roman" charset="0"/>
                <a:ea typeface="Times New Roman" charset="0"/>
                <a:cs typeface="Times New Roman" charset="0"/>
              </a:rPr>
              <a:t> </a:t>
            </a:r>
            <a:r>
              <a:rPr lang="en-US" sz="2400" dirty="0" err="1">
                <a:latin typeface="Times New Roman" charset="0"/>
                <a:ea typeface="Times New Roman" charset="0"/>
                <a:cs typeface="Times New Roman" charset="0"/>
              </a:rPr>
              <a:t>Cytokinins</a:t>
            </a:r>
            <a:r>
              <a:rPr lang="en-US" sz="2400" dirty="0">
                <a:latin typeface="Times New Roman" charset="0"/>
                <a:ea typeface="Times New Roman" charset="0"/>
                <a:cs typeface="Times New Roman" charset="0"/>
              </a:rPr>
              <a:t> help in delaying senescence (aging) in plants, thus extending their productivity.</a:t>
            </a:r>
          </a:p>
          <a:p>
            <a:pPr>
              <a:buFont typeface="Wingdings" charset="2"/>
              <a:buChar char="Ø"/>
            </a:pPr>
            <a:r>
              <a:rPr lang="en-US" sz="2400" b="1" dirty="0">
                <a:latin typeface="Times New Roman" charset="0"/>
                <a:ea typeface="Times New Roman" charset="0"/>
                <a:cs typeface="Times New Roman" charset="0"/>
              </a:rPr>
              <a:t>Stress Tolerance:</a:t>
            </a:r>
            <a:r>
              <a:rPr lang="en-US" sz="2400" dirty="0">
                <a:latin typeface="Times New Roman" charset="0"/>
                <a:ea typeface="Times New Roman" charset="0"/>
                <a:cs typeface="Times New Roman" charset="0"/>
              </a:rPr>
              <a:t> Some phytohormones like abscisic acid help plants to tolerate various stress conditions such as drought and salinity.</a:t>
            </a:r>
          </a:p>
          <a:p>
            <a:pPr>
              <a:buFont typeface="Wingdings" charset="2"/>
              <a:buChar char="Ø"/>
            </a:pPr>
            <a:r>
              <a:rPr lang="en-US" sz="2400" b="1" dirty="0">
                <a:latin typeface="Times New Roman" charset="0"/>
                <a:ea typeface="Times New Roman" charset="0"/>
                <a:cs typeface="Times New Roman" charset="0"/>
              </a:rPr>
              <a:t>Flowering:</a:t>
            </a:r>
            <a:r>
              <a:rPr lang="en-US" sz="2400" dirty="0">
                <a:latin typeface="Times New Roman" charset="0"/>
                <a:ea typeface="Times New Roman" charset="0"/>
                <a:cs typeface="Times New Roman" charset="0"/>
              </a:rPr>
              <a:t> Phytohormones like gibberellins and </a:t>
            </a:r>
            <a:r>
              <a:rPr lang="en-US" sz="2400" dirty="0" err="1">
                <a:latin typeface="Times New Roman" charset="0"/>
                <a:ea typeface="Times New Roman" charset="0"/>
                <a:cs typeface="Times New Roman" charset="0"/>
              </a:rPr>
              <a:t>cytokinins</a:t>
            </a:r>
            <a:r>
              <a:rPr lang="en-US" sz="2400" dirty="0">
                <a:latin typeface="Times New Roman" charset="0"/>
                <a:ea typeface="Times New Roman" charset="0"/>
                <a:cs typeface="Times New Roman" charset="0"/>
              </a:rPr>
              <a:t> are used to control flowering in plants.</a:t>
            </a:r>
          </a:p>
          <a:p>
            <a:endParaRPr lang="en-GB" dirty="0"/>
          </a:p>
        </p:txBody>
      </p:sp>
    </p:spTree>
    <p:extLst>
      <p:ext uri="{BB962C8B-B14F-4D97-AF65-F5344CB8AC3E}">
        <p14:creationId xmlns:p14="http://schemas.microsoft.com/office/powerpoint/2010/main" val="349680771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43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43160</TotalTime>
  <Words>7495</Words>
  <Application>Microsoft Office PowerPoint</Application>
  <PresentationFormat>On-screen Show (4:3)</PresentationFormat>
  <Paragraphs>430</Paragraphs>
  <Slides>89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89</vt:i4>
      </vt:variant>
    </vt:vector>
  </HeadingPairs>
  <TitlesOfParts>
    <vt:vector size="95" baseType="lpstr">
      <vt:lpstr>Arial</vt:lpstr>
      <vt:lpstr>Calibri</vt:lpstr>
      <vt:lpstr>Rockwell</vt:lpstr>
      <vt:lpstr>Times New Roman</vt:lpstr>
      <vt:lpstr>Wingdings</vt:lpstr>
      <vt:lpstr>Gallery</vt:lpstr>
      <vt:lpstr>SA300 Crop Science and Horticulture</vt:lpstr>
      <vt:lpstr>Students learning objectives</vt:lpstr>
      <vt:lpstr>MAJOR TYPES OF CROPS</vt:lpstr>
      <vt:lpstr>cLASSIFICATION OF CROPS</vt:lpstr>
      <vt:lpstr>cLASSIFICATION OF CROPS</vt:lpstr>
      <vt:lpstr>cLASSIFICATION OF CROPS</vt:lpstr>
      <vt:lpstr>Introduction to Crop production</vt:lpstr>
      <vt:lpstr>Crop production as a science and business.</vt:lpstr>
      <vt:lpstr>Crop production as a business.</vt:lpstr>
      <vt:lpstr>Scope of crop science</vt:lpstr>
      <vt:lpstr>The Importance of Crop Production</vt:lpstr>
      <vt:lpstr>The Importance of Crop Production</vt:lpstr>
      <vt:lpstr>The Importance of Crop Production</vt:lpstr>
      <vt:lpstr>Shoot system: stem, leaves, buds, and flowers</vt:lpstr>
      <vt:lpstr>PowerPoint Presentation</vt:lpstr>
      <vt:lpstr>PowerPoint Presentation</vt:lpstr>
      <vt:lpstr>Root system: tap roots and fibrous roots</vt:lpstr>
      <vt:lpstr>Tap Root System</vt:lpstr>
      <vt:lpstr>Fibrous Root System</vt:lpstr>
      <vt:lpstr>Plant Tissues</vt:lpstr>
      <vt:lpstr>Meristematic Tissues</vt:lpstr>
      <vt:lpstr>Permanent tissues</vt:lpstr>
      <vt:lpstr>Collenchyma, Sclerenchyma, Xylem, Phloem</vt:lpstr>
      <vt:lpstr>Protective tissues</vt:lpstr>
      <vt:lpstr>Plant Physiology</vt:lpstr>
      <vt:lpstr>Crop Growth Requirements</vt:lpstr>
      <vt:lpstr>PowerPoint Presentation</vt:lpstr>
      <vt:lpstr>Nutrient Requirements</vt:lpstr>
      <vt:lpstr>Light Requirements for Crop Growth</vt:lpstr>
      <vt:lpstr>Temperature Requirements for Crop Growth</vt:lpstr>
      <vt:lpstr>Photosynthesis: light reactions and Calvin cycle</vt:lpstr>
      <vt:lpstr>Light reactions and Calvin cycle</vt:lpstr>
      <vt:lpstr>Light-Independent Reactions</vt:lpstr>
      <vt:lpstr>Source–sink relationships in crops</vt:lpstr>
      <vt:lpstr>PowerPoint Presentation</vt:lpstr>
      <vt:lpstr>Definition of source and Sink</vt:lpstr>
      <vt:lpstr>Source not always a source, and a sink is not always a sink</vt:lpstr>
      <vt:lpstr>Differences between source and Sinks in plants</vt:lpstr>
      <vt:lpstr>Net Assimilation Rate (NAR) and crop productivity</vt:lpstr>
      <vt:lpstr>Crop Environmental Factors</vt:lpstr>
      <vt:lpstr>Crop Environmental Factors</vt:lpstr>
      <vt:lpstr>Moisture: rainfall, irrigation, and soil water availability</vt:lpstr>
      <vt:lpstr>Moisture: rainfall, irrigation, and soil water availability</vt:lpstr>
      <vt:lpstr>Moisture: rainfall, irrigation, and soil water availability</vt:lpstr>
      <vt:lpstr>Air: role of CO₂ and oxygen in crop growth</vt:lpstr>
      <vt:lpstr>Light: intensity, quality, and duration (photoperiodism)</vt:lpstr>
      <vt:lpstr>Quality of Light </vt:lpstr>
      <vt:lpstr>Quality of Light </vt:lpstr>
      <vt:lpstr>Low Light Intensity</vt:lpstr>
      <vt:lpstr>PowerPoint Presentation</vt:lpstr>
      <vt:lpstr>PowerPoint Presentation</vt:lpstr>
      <vt:lpstr>PowerPoint Presentation</vt:lpstr>
      <vt:lpstr>PowerPoint Presentation</vt:lpstr>
      <vt:lpstr>Duration of Light </vt:lpstr>
      <vt:lpstr>PowerPoint Presentation</vt:lpstr>
      <vt:lpstr>PowerPoint Presentation</vt:lpstr>
      <vt:lpstr>PowerPoint Presentation</vt:lpstr>
      <vt:lpstr>Temperature effects on germination, growth, and yield</vt:lpstr>
      <vt:lpstr>Requirement of cardinal temperature (°C) for certain crops </vt:lpstr>
      <vt:lpstr>PowerPoint Presentation</vt:lpstr>
      <vt:lpstr>Biotic and Abiotic Factors</vt:lpstr>
      <vt:lpstr>Biotic and Abiotic Factors</vt:lpstr>
      <vt:lpstr>PowerPoint Presentation</vt:lpstr>
      <vt:lpstr>PowerPoint Presentation</vt:lpstr>
      <vt:lpstr>Plant Nutrients</vt:lpstr>
      <vt:lpstr>Essential vs beneficial nutrients</vt:lpstr>
      <vt:lpstr>Criteria of essentiality (Arnon and Stout)</vt:lpstr>
      <vt:lpstr>Plant Nutrient Uptake and Deficiencies</vt:lpstr>
      <vt:lpstr>Mechanisms of nutrient uptake by roots</vt:lpstr>
      <vt:lpstr>Mobile and non-mobile nutrients</vt:lpstr>
      <vt:lpstr>Common plant nutrient deficiency symptoms</vt:lpstr>
      <vt:lpstr>Nitrogen Deficiency in Maize</vt:lpstr>
      <vt:lpstr>Phosphorus Deficiency in Maize</vt:lpstr>
      <vt:lpstr>Calcium Deficiency in Tomatoes</vt:lpstr>
      <vt:lpstr>Potassium Deficiency in Soybean</vt:lpstr>
      <vt:lpstr>Plant Hormones (Phytohormones)</vt:lpstr>
      <vt:lpstr>Growth-promoting hormones: auxins, gibberellins, cytokinins</vt:lpstr>
      <vt:lpstr>Functions of Auxin Hormone</vt:lpstr>
      <vt:lpstr>Functions of Auxin Hormone</vt:lpstr>
      <vt:lpstr>Gibberellins Hormone</vt:lpstr>
      <vt:lpstr>Gibberellins Hormone</vt:lpstr>
      <vt:lpstr>Cytokinins Hormone</vt:lpstr>
      <vt:lpstr>PowerPoint Presentation</vt:lpstr>
      <vt:lpstr>Growth-inhibiting hormones: abscisic acid, ethylene</vt:lpstr>
      <vt:lpstr>Growth-inhibiting hormones: abscisic acid</vt:lpstr>
      <vt:lpstr>Ethylene Plant Hormone</vt:lpstr>
      <vt:lpstr>Ethylene Plant Hormone</vt:lpstr>
      <vt:lpstr>Agricultural applications of plant hormones</vt:lpstr>
      <vt:lpstr>Agricultural applications of plant hormones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SA300 Crop Science and Horticulture</dc:title>
  <dc:subject/>
  <dc:creator/>
  <cp:keywords/>
  <dc:description>generated using python-pptx</dc:description>
  <cp:lastModifiedBy>HP</cp:lastModifiedBy>
  <cp:revision>108</cp:revision>
  <dcterms:created xsi:type="dcterms:W3CDTF">2013-01-27T09:14:16Z</dcterms:created>
  <dcterms:modified xsi:type="dcterms:W3CDTF">2026-03-10T09:57:18Z</dcterms:modified>
  <cp:category/>
</cp:coreProperties>
</file>