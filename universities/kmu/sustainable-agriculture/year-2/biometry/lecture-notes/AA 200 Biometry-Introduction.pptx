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94" r:id="rId2"/>
    <p:sldId id="256" r:id="rId3"/>
    <p:sldId id="296" r:id="rId4"/>
    <p:sldId id="295" r:id="rId5"/>
    <p:sldId id="306" r:id="rId6"/>
    <p:sldId id="307" r:id="rId7"/>
    <p:sldId id="311" r:id="rId8"/>
    <p:sldId id="297" r:id="rId9"/>
    <p:sldId id="308" r:id="rId10"/>
    <p:sldId id="298" r:id="rId11"/>
    <p:sldId id="309" r:id="rId12"/>
    <p:sldId id="301" r:id="rId13"/>
    <p:sldId id="310" r:id="rId14"/>
    <p:sldId id="300" r:id="rId15"/>
    <p:sldId id="302" r:id="rId16"/>
    <p:sldId id="303" r:id="rId17"/>
    <p:sldId id="258" r:id="rId18"/>
    <p:sldId id="318" r:id="rId19"/>
    <p:sldId id="324" r:id="rId20"/>
    <p:sldId id="325" r:id="rId21"/>
    <p:sldId id="326" r:id="rId22"/>
    <p:sldId id="327" r:id="rId23"/>
    <p:sldId id="328" r:id="rId24"/>
    <p:sldId id="304" r:id="rId25"/>
    <p:sldId id="312" r:id="rId26"/>
    <p:sldId id="270" r:id="rId27"/>
    <p:sldId id="269" r:id="rId28"/>
    <p:sldId id="305" r:id="rId29"/>
    <p:sldId id="313" r:id="rId30"/>
    <p:sldId id="314" r:id="rId31"/>
    <p:sldId id="315" r:id="rId32"/>
    <p:sldId id="316" r:id="rId33"/>
    <p:sldId id="317" r:id="rId34"/>
    <p:sldId id="319" r:id="rId35"/>
    <p:sldId id="329" r:id="rId36"/>
    <p:sldId id="320" r:id="rId37"/>
    <p:sldId id="321" r:id="rId38"/>
    <p:sldId id="322" r:id="rId39"/>
    <p:sldId id="330" r:id="rId40"/>
  </p:sldIdLst>
  <p:sldSz cx="12192000" cy="6858000"/>
  <p:notesSz cx="6858000" cy="9144000"/>
  <p:defaultTextStyle>
    <a:defPPr>
      <a:defRPr lang="en-Z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D2513E-30B7-430C-8105-D17846143803}" v="52" dt="2025-03-05T06:49:40.1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5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Mwitwa" userId="f201dfd6e0e63fcf" providerId="LiveId" clId="{46D2513E-30B7-430C-8105-D17846143803}"/>
    <pc:docChg chg="undo redo custSel addSld delSld modSld sldOrd">
      <pc:chgData name="Jacob Mwitwa" userId="f201dfd6e0e63fcf" providerId="LiveId" clId="{46D2513E-30B7-430C-8105-D17846143803}" dt="2025-03-06T07:12:13.349" v="1874" actId="47"/>
      <pc:docMkLst>
        <pc:docMk/>
      </pc:docMkLst>
      <pc:sldChg chg="modSp mod ord setBg modAnim">
        <pc:chgData name="Jacob Mwitwa" userId="f201dfd6e0e63fcf" providerId="LiveId" clId="{46D2513E-30B7-430C-8105-D17846143803}" dt="2025-03-04T13:22:24.925" v="1386"/>
        <pc:sldMkLst>
          <pc:docMk/>
          <pc:sldMk cId="0" sldId="258"/>
        </pc:sldMkLst>
        <pc:spChg chg="mod">
          <ac:chgData name="Jacob Mwitwa" userId="f201dfd6e0e63fcf" providerId="LiveId" clId="{46D2513E-30B7-430C-8105-D17846143803}" dt="2025-03-04T06:37:36.751" v="892" actId="207"/>
          <ac:spMkLst>
            <pc:docMk/>
            <pc:sldMk cId="0" sldId="258"/>
            <ac:spMk id="4098" creationId="{FB7632CA-5057-0BEB-8293-92122973E806}"/>
          </ac:spMkLst>
        </pc:spChg>
        <pc:spChg chg="mod">
          <ac:chgData name="Jacob Mwitwa" userId="f201dfd6e0e63fcf" providerId="LiveId" clId="{46D2513E-30B7-430C-8105-D17846143803}" dt="2025-03-04T06:37:44.383" v="893" actId="207"/>
          <ac:spMkLst>
            <pc:docMk/>
            <pc:sldMk cId="0" sldId="258"/>
            <ac:spMk id="4099" creationId="{6C4E8E14-38A4-A338-E022-45FE19B0D323}"/>
          </ac:spMkLst>
        </pc:spChg>
      </pc:sldChg>
      <pc:sldChg chg="modSp mod">
        <pc:chgData name="Jacob Mwitwa" userId="f201dfd6e0e63fcf" providerId="LiveId" clId="{46D2513E-30B7-430C-8105-D17846143803}" dt="2025-03-04T06:23:23.766" v="785" actId="1036"/>
        <pc:sldMkLst>
          <pc:docMk/>
          <pc:sldMk cId="0" sldId="269"/>
        </pc:sldMkLst>
        <pc:spChg chg="mod">
          <ac:chgData name="Jacob Mwitwa" userId="f201dfd6e0e63fcf" providerId="LiveId" clId="{46D2513E-30B7-430C-8105-D17846143803}" dt="2025-03-04T06:23:23.766" v="785" actId="1036"/>
          <ac:spMkLst>
            <pc:docMk/>
            <pc:sldMk cId="0" sldId="269"/>
            <ac:spMk id="16420" creationId="{AFE51C22-89DC-4858-700A-BA4AFE5BCB6E}"/>
          </ac:spMkLst>
        </pc:spChg>
      </pc:sldChg>
      <pc:sldChg chg="modSp">
        <pc:chgData name="Jacob Mwitwa" userId="f201dfd6e0e63fcf" providerId="LiveId" clId="{46D2513E-30B7-430C-8105-D17846143803}" dt="2025-03-04T06:21:53.964" v="765" actId="1076"/>
        <pc:sldMkLst>
          <pc:docMk/>
          <pc:sldMk cId="0" sldId="270"/>
        </pc:sldMkLst>
        <pc:picChg chg="mod">
          <ac:chgData name="Jacob Mwitwa" userId="f201dfd6e0e63fcf" providerId="LiveId" clId="{46D2513E-30B7-430C-8105-D17846143803}" dt="2025-03-04T06:21:53.964" v="765" actId="1076"/>
          <ac:picMkLst>
            <pc:docMk/>
            <pc:sldMk cId="0" sldId="270"/>
            <ac:picMk id="17456" creationId="{F39AAF35-2E5C-6A6F-D9E9-81B75DB7E627}"/>
          </ac:picMkLst>
        </pc:picChg>
      </pc:sldChg>
      <pc:sldChg chg="addSp delSp modSp mod">
        <pc:chgData name="Jacob Mwitwa" userId="f201dfd6e0e63fcf" providerId="LiveId" clId="{46D2513E-30B7-430C-8105-D17846143803}" dt="2025-03-03T15:04:32.399" v="731" actId="478"/>
        <pc:sldMkLst>
          <pc:docMk/>
          <pc:sldMk cId="0" sldId="294"/>
        </pc:sldMkLst>
        <pc:spChg chg="mod">
          <ac:chgData name="Jacob Mwitwa" userId="f201dfd6e0e63fcf" providerId="LiveId" clId="{46D2513E-30B7-430C-8105-D17846143803}" dt="2025-03-03T15:03:36.729" v="725" actId="255"/>
          <ac:spMkLst>
            <pc:docMk/>
            <pc:sldMk cId="0" sldId="294"/>
            <ac:spMk id="55321" creationId="{536713B5-6A93-CDEE-D8FA-2B8950771313}"/>
          </ac:spMkLst>
        </pc:spChg>
      </pc:sldChg>
      <pc:sldChg chg="modSp mod setBg">
        <pc:chgData name="Jacob Mwitwa" userId="f201dfd6e0e63fcf" providerId="LiveId" clId="{46D2513E-30B7-430C-8105-D17846143803}" dt="2025-03-05T06:47:37.546" v="1857" actId="207"/>
        <pc:sldMkLst>
          <pc:docMk/>
          <pc:sldMk cId="2546386835" sldId="304"/>
        </pc:sldMkLst>
        <pc:spChg chg="mod">
          <ac:chgData name="Jacob Mwitwa" userId="f201dfd6e0e63fcf" providerId="LiveId" clId="{46D2513E-30B7-430C-8105-D17846143803}" dt="2025-03-05T06:47:32.382" v="1856" actId="207"/>
          <ac:spMkLst>
            <pc:docMk/>
            <pc:sldMk cId="2546386835" sldId="304"/>
            <ac:spMk id="2" creationId="{E7A31083-7C29-F1CE-4FF2-4D4673A689D4}"/>
          </ac:spMkLst>
        </pc:spChg>
        <pc:spChg chg="mod">
          <ac:chgData name="Jacob Mwitwa" userId="f201dfd6e0e63fcf" providerId="LiveId" clId="{46D2513E-30B7-430C-8105-D17846143803}" dt="2025-03-05T06:47:37.546" v="1857" actId="207"/>
          <ac:spMkLst>
            <pc:docMk/>
            <pc:sldMk cId="2546386835" sldId="304"/>
            <ac:spMk id="3" creationId="{C781EF1B-0043-A6D1-0CA5-51738267C9FA}"/>
          </ac:spMkLst>
        </pc:spChg>
      </pc:sldChg>
      <pc:sldChg chg="modSp mod setBg">
        <pc:chgData name="Jacob Mwitwa" userId="f201dfd6e0e63fcf" providerId="LiveId" clId="{46D2513E-30B7-430C-8105-D17846143803}" dt="2025-03-05T06:48:47.848" v="1861" actId="207"/>
        <pc:sldMkLst>
          <pc:docMk/>
          <pc:sldMk cId="679510459" sldId="305"/>
        </pc:sldMkLst>
        <pc:spChg chg="mod">
          <ac:chgData name="Jacob Mwitwa" userId="f201dfd6e0e63fcf" providerId="LiveId" clId="{46D2513E-30B7-430C-8105-D17846143803}" dt="2025-03-05T06:48:47.848" v="1861" actId="207"/>
          <ac:spMkLst>
            <pc:docMk/>
            <pc:sldMk cId="679510459" sldId="305"/>
            <ac:spMk id="2" creationId="{DFB2B0DF-A883-F160-D9CE-593FCC348762}"/>
          </ac:spMkLst>
        </pc:spChg>
        <pc:spChg chg="mod">
          <ac:chgData name="Jacob Mwitwa" userId="f201dfd6e0e63fcf" providerId="LiveId" clId="{46D2513E-30B7-430C-8105-D17846143803}" dt="2025-03-05T06:48:41.204" v="1860" actId="207"/>
          <ac:spMkLst>
            <pc:docMk/>
            <pc:sldMk cId="679510459" sldId="305"/>
            <ac:spMk id="3" creationId="{118BBBAA-63CA-E43F-AD76-A64D0C381A27}"/>
          </ac:spMkLst>
        </pc:spChg>
      </pc:sldChg>
      <pc:sldChg chg="addSp delSp modSp mod setBg">
        <pc:chgData name="Jacob Mwitwa" userId="f201dfd6e0e63fcf" providerId="LiveId" clId="{46D2513E-30B7-430C-8105-D17846143803}" dt="2025-03-05T06:50:27.998" v="1873" actId="207"/>
        <pc:sldMkLst>
          <pc:docMk/>
          <pc:sldMk cId="2263100593" sldId="312"/>
        </pc:sldMkLst>
        <pc:spChg chg="mod">
          <ac:chgData name="Jacob Mwitwa" userId="f201dfd6e0e63fcf" providerId="LiveId" clId="{46D2513E-30B7-430C-8105-D17846143803}" dt="2025-03-05T06:50:23.558" v="1872" actId="207"/>
          <ac:spMkLst>
            <pc:docMk/>
            <pc:sldMk cId="2263100593" sldId="312"/>
            <ac:spMk id="2" creationId="{714268EE-1F0F-DF66-9173-20FC06001F49}"/>
          </ac:spMkLst>
        </pc:spChg>
        <pc:spChg chg="mod">
          <ac:chgData name="Jacob Mwitwa" userId="f201dfd6e0e63fcf" providerId="LiveId" clId="{46D2513E-30B7-430C-8105-D17846143803}" dt="2025-03-05T06:50:27.998" v="1873" actId="207"/>
          <ac:spMkLst>
            <pc:docMk/>
            <pc:sldMk cId="2263100593" sldId="312"/>
            <ac:spMk id="3" creationId="{837B90AF-7287-5465-EA0F-47847EA19D51}"/>
          </ac:spMkLst>
        </pc:spChg>
      </pc:sldChg>
      <pc:sldChg chg="modSp add mod setBg">
        <pc:chgData name="Jacob Mwitwa" userId="f201dfd6e0e63fcf" providerId="LiveId" clId="{46D2513E-30B7-430C-8105-D17846143803}" dt="2025-03-05T06:48:55.132" v="1862" actId="207"/>
        <pc:sldMkLst>
          <pc:docMk/>
          <pc:sldMk cId="3010960373" sldId="313"/>
        </pc:sldMkLst>
        <pc:spChg chg="mod">
          <ac:chgData name="Jacob Mwitwa" userId="f201dfd6e0e63fcf" providerId="LiveId" clId="{46D2513E-30B7-430C-8105-D17846143803}" dt="2025-03-05T06:48:55.132" v="1862" actId="207"/>
          <ac:spMkLst>
            <pc:docMk/>
            <pc:sldMk cId="3010960373" sldId="313"/>
            <ac:spMk id="2" creationId="{CF55ADE8-2945-7601-F759-20CA6359BC95}"/>
          </ac:spMkLst>
        </pc:spChg>
        <pc:spChg chg="mod">
          <ac:chgData name="Jacob Mwitwa" userId="f201dfd6e0e63fcf" providerId="LiveId" clId="{46D2513E-30B7-430C-8105-D17846143803}" dt="2025-03-05T06:48:55.132" v="1862" actId="207"/>
          <ac:spMkLst>
            <pc:docMk/>
            <pc:sldMk cId="3010960373" sldId="313"/>
            <ac:spMk id="3" creationId="{7CFE676C-C6C5-8969-F6A7-C5E06F6652F0}"/>
          </ac:spMkLst>
        </pc:spChg>
      </pc:sldChg>
      <pc:sldChg chg="modSp add mod setBg">
        <pc:chgData name="Jacob Mwitwa" userId="f201dfd6e0e63fcf" providerId="LiveId" clId="{46D2513E-30B7-430C-8105-D17846143803}" dt="2025-03-05T06:49:01.327" v="1863" actId="207"/>
        <pc:sldMkLst>
          <pc:docMk/>
          <pc:sldMk cId="1319691481" sldId="314"/>
        </pc:sldMkLst>
        <pc:spChg chg="mod">
          <ac:chgData name="Jacob Mwitwa" userId="f201dfd6e0e63fcf" providerId="LiveId" clId="{46D2513E-30B7-430C-8105-D17846143803}" dt="2025-03-05T06:49:01.327" v="1863" actId="207"/>
          <ac:spMkLst>
            <pc:docMk/>
            <pc:sldMk cId="1319691481" sldId="314"/>
            <ac:spMk id="2" creationId="{79AE8039-AB77-A473-F9DE-764A55C6DC6F}"/>
          </ac:spMkLst>
        </pc:spChg>
        <pc:spChg chg="mod">
          <ac:chgData name="Jacob Mwitwa" userId="f201dfd6e0e63fcf" providerId="LiveId" clId="{46D2513E-30B7-430C-8105-D17846143803}" dt="2025-03-05T06:49:01.327" v="1863" actId="207"/>
          <ac:spMkLst>
            <pc:docMk/>
            <pc:sldMk cId="1319691481" sldId="314"/>
            <ac:spMk id="3" creationId="{540C750F-9075-FF70-F4E0-B4E31ED491C6}"/>
          </ac:spMkLst>
        </pc:spChg>
      </pc:sldChg>
      <pc:sldChg chg="modSp add mod setBg">
        <pc:chgData name="Jacob Mwitwa" userId="f201dfd6e0e63fcf" providerId="LiveId" clId="{46D2513E-30B7-430C-8105-D17846143803}" dt="2025-03-05T06:48:34.005" v="1859" actId="207"/>
        <pc:sldMkLst>
          <pc:docMk/>
          <pc:sldMk cId="186446645" sldId="315"/>
        </pc:sldMkLst>
        <pc:spChg chg="mod">
          <ac:chgData name="Jacob Mwitwa" userId="f201dfd6e0e63fcf" providerId="LiveId" clId="{46D2513E-30B7-430C-8105-D17846143803}" dt="2025-03-05T06:48:34.005" v="1859" actId="207"/>
          <ac:spMkLst>
            <pc:docMk/>
            <pc:sldMk cId="186446645" sldId="315"/>
            <ac:spMk id="2" creationId="{6416E6C4-7485-742F-5AA5-478A34F3EFCD}"/>
          </ac:spMkLst>
        </pc:spChg>
        <pc:spChg chg="mod">
          <ac:chgData name="Jacob Mwitwa" userId="f201dfd6e0e63fcf" providerId="LiveId" clId="{46D2513E-30B7-430C-8105-D17846143803}" dt="2025-03-05T06:48:34.005" v="1859" actId="207"/>
          <ac:spMkLst>
            <pc:docMk/>
            <pc:sldMk cId="186446645" sldId="315"/>
            <ac:spMk id="3" creationId="{7C16E2C5-0622-A992-3124-7027331CAE34}"/>
          </ac:spMkLst>
        </pc:spChg>
      </pc:sldChg>
      <pc:sldChg chg="addSp delSp modSp add mod setBg">
        <pc:chgData name="Jacob Mwitwa" userId="f201dfd6e0e63fcf" providerId="LiveId" clId="{46D2513E-30B7-430C-8105-D17846143803}" dt="2025-03-03T14:53:55.777" v="502" actId="1035"/>
        <pc:sldMkLst>
          <pc:docMk/>
          <pc:sldMk cId="3324305827" sldId="316"/>
        </pc:sldMkLst>
        <pc:spChg chg="mod">
          <ac:chgData name="Jacob Mwitwa" userId="f201dfd6e0e63fcf" providerId="LiveId" clId="{46D2513E-30B7-430C-8105-D17846143803}" dt="2025-03-03T14:53:55.777" v="502" actId="1035"/>
          <ac:spMkLst>
            <pc:docMk/>
            <pc:sldMk cId="3324305827" sldId="316"/>
            <ac:spMk id="2" creationId="{00773A64-38F1-BB4C-A7D1-36722629E005}"/>
          </ac:spMkLst>
        </pc:spChg>
        <pc:graphicFrameChg chg="add mod modGraphic">
          <ac:chgData name="Jacob Mwitwa" userId="f201dfd6e0e63fcf" providerId="LiveId" clId="{46D2513E-30B7-430C-8105-D17846143803}" dt="2025-03-03T14:53:47.575" v="486" actId="1036"/>
          <ac:graphicFrameMkLst>
            <pc:docMk/>
            <pc:sldMk cId="3324305827" sldId="316"/>
            <ac:graphicFrameMk id="7" creationId="{571C9EB0-1103-3338-08D1-C0AD1A167E57}"/>
          </ac:graphicFrameMkLst>
        </pc:graphicFrameChg>
      </pc:sldChg>
      <pc:sldChg chg="addSp delSp modSp new mod setBg">
        <pc:chgData name="Jacob Mwitwa" userId="f201dfd6e0e63fcf" providerId="LiveId" clId="{46D2513E-30B7-430C-8105-D17846143803}" dt="2025-03-04T12:41:58.463" v="1026" actId="1076"/>
        <pc:sldMkLst>
          <pc:docMk/>
          <pc:sldMk cId="337385059" sldId="317"/>
        </pc:sldMkLst>
        <pc:spChg chg="mod">
          <ac:chgData name="Jacob Mwitwa" userId="f201dfd6e0e63fcf" providerId="LiveId" clId="{46D2513E-30B7-430C-8105-D17846143803}" dt="2025-03-04T12:41:58.463" v="1026" actId="1076"/>
          <ac:spMkLst>
            <pc:docMk/>
            <pc:sldMk cId="337385059" sldId="317"/>
            <ac:spMk id="3" creationId="{88BDEEBC-D4E7-F779-65E4-45071621D20A}"/>
          </ac:spMkLst>
        </pc:spChg>
        <pc:spChg chg="add mod">
          <ac:chgData name="Jacob Mwitwa" userId="f201dfd6e0e63fcf" providerId="LiveId" clId="{46D2513E-30B7-430C-8105-D17846143803}" dt="2025-03-04T12:36:37.832" v="998" actId="122"/>
          <ac:spMkLst>
            <pc:docMk/>
            <pc:sldMk cId="337385059" sldId="317"/>
            <ac:spMk id="5" creationId="{E3CA67A6-D638-FD0C-CBBF-A34BF73771D3}"/>
          </ac:spMkLst>
        </pc:spChg>
        <pc:picChg chg="add mod ord">
          <ac:chgData name="Jacob Mwitwa" userId="f201dfd6e0e63fcf" providerId="LiveId" clId="{46D2513E-30B7-430C-8105-D17846143803}" dt="2025-03-04T12:41:44.703" v="1024" actId="207"/>
          <ac:picMkLst>
            <pc:docMk/>
            <pc:sldMk cId="337385059" sldId="317"/>
            <ac:picMk id="7" creationId="{9E2A3FD6-20F2-A9DB-0DBA-3878513ECF5C}"/>
          </ac:picMkLst>
        </pc:picChg>
        <pc:picChg chg="add mod">
          <ac:chgData name="Jacob Mwitwa" userId="f201dfd6e0e63fcf" providerId="LiveId" clId="{46D2513E-30B7-430C-8105-D17846143803}" dt="2025-03-04T12:41:51.120" v="1025" actId="1076"/>
          <ac:picMkLst>
            <pc:docMk/>
            <pc:sldMk cId="337385059" sldId="317"/>
            <ac:picMk id="9" creationId="{DA769EA7-CA82-EDB6-F82B-0BE6493132B2}"/>
          </ac:picMkLst>
        </pc:picChg>
      </pc:sldChg>
      <pc:sldChg chg="addSp delSp modSp new mod ord modAnim">
        <pc:chgData name="Jacob Mwitwa" userId="f201dfd6e0e63fcf" providerId="LiveId" clId="{46D2513E-30B7-430C-8105-D17846143803}" dt="2025-03-04T12:23:56.647" v="978" actId="20577"/>
        <pc:sldMkLst>
          <pc:docMk/>
          <pc:sldMk cId="3408564471" sldId="318"/>
        </pc:sldMkLst>
        <pc:spChg chg="add mod">
          <ac:chgData name="Jacob Mwitwa" userId="f201dfd6e0e63fcf" providerId="LiveId" clId="{46D2513E-30B7-430C-8105-D17846143803}" dt="2025-03-04T12:23:56.647" v="978" actId="20577"/>
          <ac:spMkLst>
            <pc:docMk/>
            <pc:sldMk cId="3408564471" sldId="318"/>
            <ac:spMk id="3" creationId="{64521352-ED8F-5D29-17A1-596B1F6C77DC}"/>
          </ac:spMkLst>
        </pc:spChg>
        <pc:graphicFrameChg chg="add mod">
          <ac:chgData name="Jacob Mwitwa" userId="f201dfd6e0e63fcf" providerId="LiveId" clId="{46D2513E-30B7-430C-8105-D17846143803}" dt="2025-03-03T14:58:42.311" v="720" actId="14100"/>
          <ac:graphicFrameMkLst>
            <pc:docMk/>
            <pc:sldMk cId="3408564471" sldId="318"/>
            <ac:graphicFrameMk id="4" creationId="{A7C81476-E979-0123-B64F-CAF9DB98DE83}"/>
          </ac:graphicFrameMkLst>
        </pc:graphicFrameChg>
      </pc:sldChg>
      <pc:sldChg chg="modSp add mod">
        <pc:chgData name="Jacob Mwitwa" userId="f201dfd6e0e63fcf" providerId="LiveId" clId="{46D2513E-30B7-430C-8105-D17846143803}" dt="2025-03-05T06:49:24.869" v="1866" actId="207"/>
        <pc:sldMkLst>
          <pc:docMk/>
          <pc:sldMk cId="3769239217" sldId="319"/>
        </pc:sldMkLst>
        <pc:spChg chg="mod">
          <ac:chgData name="Jacob Mwitwa" userId="f201dfd6e0e63fcf" providerId="LiveId" clId="{46D2513E-30B7-430C-8105-D17846143803}" dt="2025-03-05T06:49:24.869" v="1866" actId="207"/>
          <ac:spMkLst>
            <pc:docMk/>
            <pc:sldMk cId="3769239217" sldId="319"/>
            <ac:spMk id="2" creationId="{3CC88533-CC85-95B6-6F75-760DA559CEF4}"/>
          </ac:spMkLst>
        </pc:spChg>
        <pc:spChg chg="mod">
          <ac:chgData name="Jacob Mwitwa" userId="f201dfd6e0e63fcf" providerId="LiveId" clId="{46D2513E-30B7-430C-8105-D17846143803}" dt="2025-03-05T06:49:24.869" v="1866" actId="207"/>
          <ac:spMkLst>
            <pc:docMk/>
            <pc:sldMk cId="3769239217" sldId="319"/>
            <ac:spMk id="3" creationId="{ACF7B620-FB42-E7B1-32F0-5C32C9B51991}"/>
          </ac:spMkLst>
        </pc:spChg>
      </pc:sldChg>
      <pc:sldChg chg="addSp delSp modSp add mod setBg">
        <pc:chgData name="Jacob Mwitwa" userId="f201dfd6e0e63fcf" providerId="LiveId" clId="{46D2513E-30B7-430C-8105-D17846143803}" dt="2025-03-05T06:49:57.623" v="1869" actId="207"/>
        <pc:sldMkLst>
          <pc:docMk/>
          <pc:sldMk cId="3483822980" sldId="320"/>
        </pc:sldMkLst>
        <pc:spChg chg="mod">
          <ac:chgData name="Jacob Mwitwa" userId="f201dfd6e0e63fcf" providerId="LiveId" clId="{46D2513E-30B7-430C-8105-D17846143803}" dt="2025-03-05T06:49:57.623" v="1869" actId="207"/>
          <ac:spMkLst>
            <pc:docMk/>
            <pc:sldMk cId="3483822980" sldId="320"/>
            <ac:spMk id="2" creationId="{BCAA1F3D-17C6-E301-117D-25FB37443E17}"/>
          </ac:spMkLst>
        </pc:spChg>
        <pc:graphicFrameChg chg="add mod modGraphic">
          <ac:chgData name="Jacob Mwitwa" userId="f201dfd6e0e63fcf" providerId="LiveId" clId="{46D2513E-30B7-430C-8105-D17846143803}" dt="2025-03-04T14:17:21.735" v="1780"/>
          <ac:graphicFrameMkLst>
            <pc:docMk/>
            <pc:sldMk cId="3483822980" sldId="320"/>
            <ac:graphicFrameMk id="4" creationId="{FB4F3014-2D64-4969-37CA-3842990B73A8}"/>
          </ac:graphicFrameMkLst>
        </pc:graphicFrameChg>
      </pc:sldChg>
      <pc:sldChg chg="addSp delSp modSp add mod setBg">
        <pc:chgData name="Jacob Mwitwa" userId="f201dfd6e0e63fcf" providerId="LiveId" clId="{46D2513E-30B7-430C-8105-D17846143803}" dt="2025-03-05T06:50:04.680" v="1870" actId="207"/>
        <pc:sldMkLst>
          <pc:docMk/>
          <pc:sldMk cId="2137757660" sldId="321"/>
        </pc:sldMkLst>
        <pc:spChg chg="mod">
          <ac:chgData name="Jacob Mwitwa" userId="f201dfd6e0e63fcf" providerId="LiveId" clId="{46D2513E-30B7-430C-8105-D17846143803}" dt="2025-03-05T06:50:04.680" v="1870" actId="207"/>
          <ac:spMkLst>
            <pc:docMk/>
            <pc:sldMk cId="2137757660" sldId="321"/>
            <ac:spMk id="2" creationId="{AA58E0E3-B958-3D44-5E70-4BD76FA08ECB}"/>
          </ac:spMkLst>
        </pc:spChg>
        <pc:spChg chg="add mod">
          <ac:chgData name="Jacob Mwitwa" userId="f201dfd6e0e63fcf" providerId="LiveId" clId="{46D2513E-30B7-430C-8105-D17846143803}" dt="2025-03-04T14:17:34.501" v="1781" actId="478"/>
          <ac:spMkLst>
            <pc:docMk/>
            <pc:sldMk cId="2137757660" sldId="321"/>
            <ac:spMk id="5" creationId="{68B06068-C099-D1DE-8426-F5A6460FF0A4}"/>
          </ac:spMkLst>
        </pc:spChg>
        <pc:graphicFrameChg chg="add mod modGraphic">
          <ac:chgData name="Jacob Mwitwa" userId="f201dfd6e0e63fcf" providerId="LiveId" clId="{46D2513E-30B7-430C-8105-D17846143803}" dt="2025-03-04T14:21:06.487" v="1794"/>
          <ac:graphicFrameMkLst>
            <pc:docMk/>
            <pc:sldMk cId="2137757660" sldId="321"/>
            <ac:graphicFrameMk id="6" creationId="{B6A83E30-2EFD-D283-1A08-7F2221558650}"/>
          </ac:graphicFrameMkLst>
        </pc:graphicFrameChg>
      </pc:sldChg>
      <pc:sldChg chg="addSp delSp modSp add mod setBg">
        <pc:chgData name="Jacob Mwitwa" userId="f201dfd6e0e63fcf" providerId="LiveId" clId="{46D2513E-30B7-430C-8105-D17846143803}" dt="2025-03-05T06:49:50.627" v="1868" actId="207"/>
        <pc:sldMkLst>
          <pc:docMk/>
          <pc:sldMk cId="4255025594" sldId="322"/>
        </pc:sldMkLst>
        <pc:spChg chg="mod">
          <ac:chgData name="Jacob Mwitwa" userId="f201dfd6e0e63fcf" providerId="LiveId" clId="{46D2513E-30B7-430C-8105-D17846143803}" dt="2025-03-05T06:49:50.627" v="1868" actId="207"/>
          <ac:spMkLst>
            <pc:docMk/>
            <pc:sldMk cId="4255025594" sldId="322"/>
            <ac:spMk id="2" creationId="{897C3F73-15DF-BC37-8972-A7722D6DC802}"/>
          </ac:spMkLst>
        </pc:spChg>
        <pc:spChg chg="add mod">
          <ac:chgData name="Jacob Mwitwa" userId="f201dfd6e0e63fcf" providerId="LiveId" clId="{46D2513E-30B7-430C-8105-D17846143803}" dt="2025-03-04T14:22:37.470" v="1795" actId="478"/>
          <ac:spMkLst>
            <pc:docMk/>
            <pc:sldMk cId="4255025594" sldId="322"/>
            <ac:spMk id="5" creationId="{D13AA0AA-7316-6CFD-ECD1-566087B4AF44}"/>
          </ac:spMkLst>
        </pc:spChg>
        <pc:graphicFrameChg chg="add mod modGraphic">
          <ac:chgData name="Jacob Mwitwa" userId="f201dfd6e0e63fcf" providerId="LiveId" clId="{46D2513E-30B7-430C-8105-D17846143803}" dt="2025-03-04T14:24:39.204" v="1807"/>
          <ac:graphicFrameMkLst>
            <pc:docMk/>
            <pc:sldMk cId="4255025594" sldId="322"/>
            <ac:graphicFrameMk id="6" creationId="{A3DE2290-1B5A-FE3B-1B9E-3AE3D4BDB62A}"/>
          </ac:graphicFrameMkLst>
        </pc:graphicFrameChg>
      </pc:sldChg>
      <pc:sldChg chg="modSp add del mod">
        <pc:chgData name="Jacob Mwitwa" userId="f201dfd6e0e63fcf" providerId="LiveId" clId="{46D2513E-30B7-430C-8105-D17846143803}" dt="2025-03-06T07:12:13.349" v="1874" actId="47"/>
        <pc:sldMkLst>
          <pc:docMk/>
          <pc:sldMk cId="1740097104" sldId="323"/>
        </pc:sldMkLst>
      </pc:sldChg>
      <pc:sldChg chg="modSp add mod ord setBg">
        <pc:chgData name="Jacob Mwitwa" userId="f201dfd6e0e63fcf" providerId="LiveId" clId="{46D2513E-30B7-430C-8105-D17846143803}" dt="2025-03-05T06:47:18.334" v="1854"/>
        <pc:sldMkLst>
          <pc:docMk/>
          <pc:sldMk cId="3358196625" sldId="324"/>
        </pc:sldMkLst>
        <pc:spChg chg="mod">
          <ac:chgData name="Jacob Mwitwa" userId="f201dfd6e0e63fcf" providerId="LiveId" clId="{46D2513E-30B7-430C-8105-D17846143803}" dt="2025-03-05T06:47:11.146" v="1853" actId="207"/>
          <ac:spMkLst>
            <pc:docMk/>
            <pc:sldMk cId="3358196625" sldId="324"/>
            <ac:spMk id="2" creationId="{710C8ADB-A720-7C9D-2608-D673B09DC279}"/>
          </ac:spMkLst>
        </pc:spChg>
        <pc:spChg chg="mod">
          <ac:chgData name="Jacob Mwitwa" userId="f201dfd6e0e63fcf" providerId="LiveId" clId="{46D2513E-30B7-430C-8105-D17846143803}" dt="2025-03-05T06:47:04.034" v="1852" actId="207"/>
          <ac:spMkLst>
            <pc:docMk/>
            <pc:sldMk cId="3358196625" sldId="324"/>
            <ac:spMk id="3" creationId="{EB2CF437-6404-013E-B8A4-2367F4407345}"/>
          </ac:spMkLst>
        </pc:spChg>
      </pc:sldChg>
      <pc:sldChg chg="addSp delSp modSp add mod setBg">
        <pc:chgData name="Jacob Mwitwa" userId="f201dfd6e0e63fcf" providerId="LiveId" clId="{46D2513E-30B7-430C-8105-D17846143803}" dt="2025-03-05T06:46:48.867" v="1851" actId="207"/>
        <pc:sldMkLst>
          <pc:docMk/>
          <pc:sldMk cId="4257429227" sldId="325"/>
        </pc:sldMkLst>
        <pc:spChg chg="mod">
          <ac:chgData name="Jacob Mwitwa" userId="f201dfd6e0e63fcf" providerId="LiveId" clId="{46D2513E-30B7-430C-8105-D17846143803}" dt="2025-03-05T06:46:40.211" v="1849" actId="207"/>
          <ac:spMkLst>
            <pc:docMk/>
            <pc:sldMk cId="4257429227" sldId="325"/>
            <ac:spMk id="2" creationId="{EB554018-6A48-0CCF-1EAA-B1F1BEA5DA88}"/>
          </ac:spMkLst>
        </pc:spChg>
        <pc:spChg chg="add del mod">
          <ac:chgData name="Jacob Mwitwa" userId="f201dfd6e0e63fcf" providerId="LiveId" clId="{46D2513E-30B7-430C-8105-D17846143803}" dt="2025-03-05T06:46:48.867" v="1851" actId="207"/>
          <ac:spMkLst>
            <pc:docMk/>
            <pc:sldMk cId="4257429227" sldId="325"/>
            <ac:spMk id="5" creationId="{8A2BFE6C-C489-6918-FA2C-33A805AC7BB3}"/>
          </ac:spMkLst>
        </pc:spChg>
        <pc:graphicFrameChg chg="add mod modGraphic">
          <ac:chgData name="Jacob Mwitwa" userId="f201dfd6e0e63fcf" providerId="LiveId" clId="{46D2513E-30B7-430C-8105-D17846143803}" dt="2025-03-04T13:14:39.998" v="1292" actId="1036"/>
          <ac:graphicFrameMkLst>
            <pc:docMk/>
            <pc:sldMk cId="4257429227" sldId="325"/>
            <ac:graphicFrameMk id="6" creationId="{1011B123-6E2D-79C7-88F7-4E10A258C78A}"/>
          </ac:graphicFrameMkLst>
        </pc:graphicFrameChg>
      </pc:sldChg>
      <pc:sldChg chg="addSp delSp modSp add mod setBg">
        <pc:chgData name="Jacob Mwitwa" userId="f201dfd6e0e63fcf" providerId="LiveId" clId="{46D2513E-30B7-430C-8105-D17846143803}" dt="2025-03-04T13:20:51.558" v="1382" actId="207"/>
        <pc:sldMkLst>
          <pc:docMk/>
          <pc:sldMk cId="985957642" sldId="326"/>
        </pc:sldMkLst>
        <pc:spChg chg="mod">
          <ac:chgData name="Jacob Mwitwa" userId="f201dfd6e0e63fcf" providerId="LiveId" clId="{46D2513E-30B7-430C-8105-D17846143803}" dt="2025-03-04T13:18:40.651" v="1368" actId="26606"/>
          <ac:spMkLst>
            <pc:docMk/>
            <pc:sldMk cId="985957642" sldId="326"/>
            <ac:spMk id="2" creationId="{0640E3B2-B45B-A7CF-A1BF-CCF094E35F12}"/>
          </ac:spMkLst>
        </pc:spChg>
        <pc:spChg chg="mod">
          <ac:chgData name="Jacob Mwitwa" userId="f201dfd6e0e63fcf" providerId="LiveId" clId="{46D2513E-30B7-430C-8105-D17846143803}" dt="2025-03-04T13:19:28.337" v="1375" actId="14100"/>
          <ac:spMkLst>
            <pc:docMk/>
            <pc:sldMk cId="985957642" sldId="326"/>
            <ac:spMk id="5" creationId="{A51FBA1B-1B8C-176B-FC2F-753B0E57BA83}"/>
          </ac:spMkLst>
        </pc:spChg>
        <pc:spChg chg="add">
          <ac:chgData name="Jacob Mwitwa" userId="f201dfd6e0e63fcf" providerId="LiveId" clId="{46D2513E-30B7-430C-8105-D17846143803}" dt="2025-03-04T13:18:40.651" v="1368" actId="26606"/>
          <ac:spMkLst>
            <pc:docMk/>
            <pc:sldMk cId="985957642" sldId="326"/>
            <ac:spMk id="10" creationId="{A8384FB5-9ADC-4DDC-881B-597D56F5B15D}"/>
          </ac:spMkLst>
        </pc:spChg>
        <pc:spChg chg="add">
          <ac:chgData name="Jacob Mwitwa" userId="f201dfd6e0e63fcf" providerId="LiveId" clId="{46D2513E-30B7-430C-8105-D17846143803}" dt="2025-03-04T13:18:40.651" v="1368" actId="26606"/>
          <ac:spMkLst>
            <pc:docMk/>
            <pc:sldMk cId="985957642" sldId="326"/>
            <ac:spMk id="12" creationId="{1199E1B1-A8C0-4FE8-A5A8-1CB41D69F857}"/>
          </ac:spMkLst>
        </pc:spChg>
        <pc:spChg chg="add">
          <ac:chgData name="Jacob Mwitwa" userId="f201dfd6e0e63fcf" providerId="LiveId" clId="{46D2513E-30B7-430C-8105-D17846143803}" dt="2025-03-04T13:18:40.651" v="1368" actId="26606"/>
          <ac:spMkLst>
            <pc:docMk/>
            <pc:sldMk cId="985957642" sldId="326"/>
            <ac:spMk id="14" creationId="{84A8DE83-DE75-4B41-9DB4-A7EC0B0DEC0B}"/>
          </ac:spMkLst>
        </pc:spChg>
        <pc:spChg chg="add">
          <ac:chgData name="Jacob Mwitwa" userId="f201dfd6e0e63fcf" providerId="LiveId" clId="{46D2513E-30B7-430C-8105-D17846143803}" dt="2025-03-04T13:18:40.651" v="1368" actId="26606"/>
          <ac:spMkLst>
            <pc:docMk/>
            <pc:sldMk cId="985957642" sldId="326"/>
            <ac:spMk id="16" creationId="{A7009A0A-BEF5-4EAC-AF15-E4F9F002E239}"/>
          </ac:spMkLst>
        </pc:spChg>
        <pc:graphicFrameChg chg="add mod modGraphic">
          <ac:chgData name="Jacob Mwitwa" userId="f201dfd6e0e63fcf" providerId="LiveId" clId="{46D2513E-30B7-430C-8105-D17846143803}" dt="2025-03-04T13:20:51.558" v="1382" actId="207"/>
          <ac:graphicFrameMkLst>
            <pc:docMk/>
            <pc:sldMk cId="985957642" sldId="326"/>
            <ac:graphicFrameMk id="3" creationId="{8A387156-1A64-56B1-93B1-7F9266EF223C}"/>
          </ac:graphicFrameMkLst>
        </pc:graphicFrameChg>
      </pc:sldChg>
      <pc:sldChg chg="addSp delSp modSp add mod ord">
        <pc:chgData name="Jacob Mwitwa" userId="f201dfd6e0e63fcf" providerId="LiveId" clId="{46D2513E-30B7-430C-8105-D17846143803}" dt="2025-03-04T13:27:22.704" v="1458" actId="255"/>
        <pc:sldMkLst>
          <pc:docMk/>
          <pc:sldMk cId="1938685812" sldId="327"/>
        </pc:sldMkLst>
        <pc:spChg chg="mod">
          <ac:chgData name="Jacob Mwitwa" userId="f201dfd6e0e63fcf" providerId="LiveId" clId="{46D2513E-30B7-430C-8105-D17846143803}" dt="2025-03-04T13:23:31.255" v="1437" actId="20577"/>
          <ac:spMkLst>
            <pc:docMk/>
            <pc:sldMk cId="1938685812" sldId="327"/>
            <ac:spMk id="2" creationId="{10ADFC00-BE2B-74A7-56CC-C91EA61ADDE8}"/>
          </ac:spMkLst>
        </pc:spChg>
        <pc:graphicFrameChg chg="add mod modGraphic">
          <ac:chgData name="Jacob Mwitwa" userId="f201dfd6e0e63fcf" providerId="LiveId" clId="{46D2513E-30B7-430C-8105-D17846143803}" dt="2025-03-04T13:27:22.704" v="1458" actId="255"/>
          <ac:graphicFrameMkLst>
            <pc:docMk/>
            <pc:sldMk cId="1938685812" sldId="327"/>
            <ac:graphicFrameMk id="7" creationId="{EFA55DB6-2F9D-A490-F623-5E835867E5AE}"/>
          </ac:graphicFrameMkLst>
        </pc:graphicFrameChg>
      </pc:sldChg>
      <pc:sldChg chg="addSp delSp modSp add mod setBg">
        <pc:chgData name="Jacob Mwitwa" userId="f201dfd6e0e63fcf" providerId="LiveId" clId="{46D2513E-30B7-430C-8105-D17846143803}" dt="2025-03-04T13:34:56.874" v="1573" actId="14100"/>
        <pc:sldMkLst>
          <pc:docMk/>
          <pc:sldMk cId="1461048259" sldId="328"/>
        </pc:sldMkLst>
        <pc:spChg chg="mod">
          <ac:chgData name="Jacob Mwitwa" userId="f201dfd6e0e63fcf" providerId="LiveId" clId="{46D2513E-30B7-430C-8105-D17846143803}" dt="2025-03-04T13:34:56.874" v="1573" actId="14100"/>
          <ac:spMkLst>
            <pc:docMk/>
            <pc:sldMk cId="1461048259" sldId="328"/>
            <ac:spMk id="2" creationId="{1A51CE30-5420-76E2-A965-C385562C555F}"/>
          </ac:spMkLst>
        </pc:spChg>
        <pc:spChg chg="add mod">
          <ac:chgData name="Jacob Mwitwa" userId="f201dfd6e0e63fcf" providerId="LiveId" clId="{46D2513E-30B7-430C-8105-D17846143803}" dt="2025-03-04T13:34:29.937" v="1570" actId="207"/>
          <ac:spMkLst>
            <pc:docMk/>
            <pc:sldMk cId="1461048259" sldId="328"/>
            <ac:spMk id="5" creationId="{6B8584D0-A7F5-E202-558D-36C4C482AE15}"/>
          </ac:spMkLst>
        </pc:spChg>
        <pc:spChg chg="add">
          <ac:chgData name="Jacob Mwitwa" userId="f201dfd6e0e63fcf" providerId="LiveId" clId="{46D2513E-30B7-430C-8105-D17846143803}" dt="2025-03-04T13:31:26.225" v="1555" actId="26606"/>
          <ac:spMkLst>
            <pc:docMk/>
            <pc:sldMk cId="1461048259" sldId="328"/>
            <ac:spMk id="9" creationId="{D4771268-CB57-404A-9271-370EB28F6090}"/>
          </ac:spMkLst>
        </pc:spChg>
        <pc:picChg chg="add mod">
          <ac:chgData name="Jacob Mwitwa" userId="f201dfd6e0e63fcf" providerId="LiveId" clId="{46D2513E-30B7-430C-8105-D17846143803}" dt="2025-03-04T13:31:56.017" v="1556" actId="14861"/>
          <ac:picMkLst>
            <pc:docMk/>
            <pc:sldMk cId="1461048259" sldId="328"/>
            <ac:picMk id="4" creationId="{87B96157-7D57-E087-F531-9C104E7B9A6F}"/>
          </ac:picMkLst>
        </pc:picChg>
      </pc:sldChg>
      <pc:sldChg chg="addSp delSp modSp add mod setBg">
        <pc:chgData name="Jacob Mwitwa" userId="f201dfd6e0e63fcf" providerId="LiveId" clId="{46D2513E-30B7-430C-8105-D17846143803}" dt="2025-03-05T06:50:10.153" v="1871" actId="207"/>
        <pc:sldMkLst>
          <pc:docMk/>
          <pc:sldMk cId="3177865097" sldId="329"/>
        </pc:sldMkLst>
        <pc:spChg chg="mod">
          <ac:chgData name="Jacob Mwitwa" userId="f201dfd6e0e63fcf" providerId="LiveId" clId="{46D2513E-30B7-430C-8105-D17846143803}" dt="2025-03-05T06:50:10.153" v="1871" actId="207"/>
          <ac:spMkLst>
            <pc:docMk/>
            <pc:sldMk cId="3177865097" sldId="329"/>
            <ac:spMk id="2" creationId="{2F92467A-9BA2-78C7-7FC3-8FBE29DE5807}"/>
          </ac:spMkLst>
        </pc:spChg>
        <pc:graphicFrameChg chg="add mod modGraphic">
          <ac:chgData name="Jacob Mwitwa" userId="f201dfd6e0e63fcf" providerId="LiveId" clId="{46D2513E-30B7-430C-8105-D17846143803}" dt="2025-03-04T14:13:45.253" v="1764"/>
          <ac:graphicFrameMkLst>
            <pc:docMk/>
            <pc:sldMk cId="3177865097" sldId="329"/>
            <ac:graphicFrameMk id="6" creationId="{824E5C00-27D6-EE8F-E89B-0E0A854A2690}"/>
          </ac:graphicFrameMkLst>
        </pc:graphicFrameChg>
      </pc:sldChg>
      <pc:sldChg chg="modSp mod">
        <pc:chgData name="Jacob Mwitwa" userId="f201dfd6e0e63fcf" providerId="LiveId" clId="{46D2513E-30B7-430C-8105-D17846143803}" dt="2025-03-04T14:26:23.985" v="1847" actId="20577"/>
        <pc:sldMkLst>
          <pc:docMk/>
          <pc:sldMk cId="325984799" sldId="330"/>
        </pc:sldMkLst>
        <pc:spChg chg="mod">
          <ac:chgData name="Jacob Mwitwa" userId="f201dfd6e0e63fcf" providerId="LiveId" clId="{46D2513E-30B7-430C-8105-D17846143803}" dt="2025-03-04T14:26:23.985" v="1847" actId="20577"/>
          <ac:spMkLst>
            <pc:docMk/>
            <pc:sldMk cId="325984799" sldId="330"/>
            <ac:spMk id="3" creationId="{82938CFD-260D-BED4-A3DE-7D953318703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M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21305-A178-404F-BA6C-49AD5942672A}" type="datetimeFigureOut">
              <a:rPr lang="en-ZM" smtClean="0"/>
              <a:t>06/03/2025</a:t>
            </a:fld>
            <a:endParaRPr lang="en-ZM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M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68010A-190F-49FB-AA66-BCEBBEBE413C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450452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M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010A-190F-49FB-AA66-BCEBBEBE413C}" type="slidenum">
              <a:rPr lang="en-ZM" smtClean="0"/>
              <a:t>3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918833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M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68010A-190F-49FB-AA66-BCEBBEBE413C}" type="slidenum">
              <a:rPr lang="en-ZM" smtClean="0"/>
              <a:t>17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118072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DEFAA-B203-A81A-EE4C-97FEE71DD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BF5B8-6C42-E0E6-0351-FB5DDAD07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12B6-B49C-E1C7-BAB7-10C110A1B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1C36-E5EA-4572-9F65-C26F7018AF79}" type="datetimeFigureOut">
              <a:rPr lang="en-ZM" smtClean="0"/>
              <a:t>06/03/2025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B31E0-AFEB-8DB9-4779-FCAD0CFC2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68D9E-DE7F-7B03-A4A7-FD6DF6F52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C134-7714-4DFB-8E18-E4CC28C1F3B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19948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1204E-4F82-3784-DDD3-98FC3DF8B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1C7AE-03CD-B27C-ED1D-E7C2FCF0B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64F23-F445-17AA-EBD4-A7AD26F12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1C36-E5EA-4572-9F65-C26F7018AF79}" type="datetimeFigureOut">
              <a:rPr lang="en-ZM" smtClean="0"/>
              <a:t>06/03/2025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CACCB-CFCC-89D5-E9EB-505778C17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5E702-28B5-63BA-B5DC-DC69175AC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C134-7714-4DFB-8E18-E4CC28C1F3B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914423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22C40-ABA5-DEE6-CA42-6E13379FB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51037-0D36-AC92-80E6-12DE8C2C9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CAD71-6C87-1569-64D5-56D06C00D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1C36-E5EA-4572-9F65-C26F7018AF79}" type="datetimeFigureOut">
              <a:rPr lang="en-ZM" smtClean="0"/>
              <a:t>06/03/2025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578E1-D483-CFF1-01E4-B71A9DA3E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5E3E3-875E-3E71-32F5-41634129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C134-7714-4DFB-8E18-E4CC28C1F3B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406346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A68DD-CF37-9142-5A04-8D896077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7A633-9F8B-A045-766B-A4A47BA4B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FCCC1C-8E3A-1D77-DFE4-A1B07D85C1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1C6BA-E141-E36B-31E9-AEA272951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1C36-E5EA-4572-9F65-C26F7018AF79}" type="datetimeFigureOut">
              <a:rPr lang="en-ZM" smtClean="0"/>
              <a:t>06/03/2025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78F0B-AD27-1F7D-4CC7-89E907773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E68F9-B812-68DD-8E23-130F1F6CD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C134-7714-4DFB-8E18-E4CC28C1F3B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60002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89D3B-6984-B980-2953-7F7EB4FC0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34D98-0CAB-94E4-9A8A-940F9C777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6221A-BBEB-DE72-3DD4-E859BE876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B55A55-62D7-0182-1B49-C35398816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B9CD53-85AF-4B92-81A7-81533095E5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3B8060-C6B8-974A-CD0E-691C4B232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1C36-E5EA-4572-9F65-C26F7018AF79}" type="datetimeFigureOut">
              <a:rPr lang="en-ZM" smtClean="0"/>
              <a:t>06/03/2025</a:t>
            </a:fld>
            <a:endParaRPr lang="en-Z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2D5E44-5BC4-050D-9C5D-F9100CBA9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93D7A4-168F-BBC4-A322-919EE744F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C134-7714-4DFB-8E18-E4CC28C1F3B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421321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43161-CF34-44FE-B48A-75A9C29C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7810E3-0D9B-496E-F2A1-AB60D4424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1C36-E5EA-4572-9F65-C26F7018AF79}" type="datetimeFigureOut">
              <a:rPr lang="en-ZM" smtClean="0"/>
              <a:t>06/03/2025</a:t>
            </a:fld>
            <a:endParaRPr lang="en-Z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9B0BE-A36E-CB09-BAD7-F78B4853A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E61DC2-13A2-B174-4919-68AFEF53F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C134-7714-4DFB-8E18-E4CC28C1F3B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716637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BC32BD-7EEF-884C-6AB1-441EA50EC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1C36-E5EA-4572-9F65-C26F7018AF79}" type="datetimeFigureOut">
              <a:rPr lang="en-ZM" smtClean="0"/>
              <a:t>06/03/2025</a:t>
            </a:fld>
            <a:endParaRPr lang="en-Z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199CAE-FF64-2B5F-E671-9E7B87EA3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562E4-9C20-EE2F-725E-6116D62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C134-7714-4DFB-8E18-E4CC28C1F3B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643341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9E601-5A14-4D23-C5CF-30FBCB88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E4DCC-3242-E4B6-E9C5-73CB0B80F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9ED5C-9D27-7C65-59D3-B29DE6A21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EDC8C-D830-3F30-D5AC-82D6EE15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1C36-E5EA-4572-9F65-C26F7018AF79}" type="datetimeFigureOut">
              <a:rPr lang="en-ZM" smtClean="0"/>
              <a:t>06/03/2025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3BBF2-7602-EF12-0465-9E0126E4E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8C42B-CFEF-92D5-98FE-0B10E267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C134-7714-4DFB-8E18-E4CC28C1F3B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853921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898E5-0E1F-8A13-0332-765066450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27945A-A6CB-B9BE-5166-BDFBB6418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6139E-B2BE-732D-3573-64B72082C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AD66C6-4C5E-F233-EA54-10BC5DF61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1C36-E5EA-4572-9F65-C26F7018AF79}" type="datetimeFigureOut">
              <a:rPr lang="en-ZM" smtClean="0"/>
              <a:t>06/03/2025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CC054-686E-C4AA-1812-D911DF607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93B74-557B-0B94-70CA-C8602B480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C134-7714-4DFB-8E18-E4CC28C1F3B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68586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E1333-A18B-DF51-DE14-03100A2DD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58A93-05EF-1763-31F1-D5D34BFB9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4F286-FBAC-66C8-7781-1A4128BF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1C36-E5EA-4572-9F65-C26F7018AF79}" type="datetimeFigureOut">
              <a:rPr lang="en-ZM" smtClean="0"/>
              <a:t>06/03/2025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5F97D-A290-AD69-0F49-569A036B4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B16B3-0140-7390-7AC9-D791D9A00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C134-7714-4DFB-8E18-E4CC28C1F3B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781207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93B7FE-548D-0493-2FFF-465E90C23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BE4411-41D6-1B3D-C5B9-7A395A30AE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F13D6-C0F7-EE94-7221-9B32D3419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F1C36-E5EA-4572-9F65-C26F7018AF79}" type="datetimeFigureOut">
              <a:rPr lang="en-ZM" smtClean="0"/>
              <a:t>06/03/2025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A0F35-D48F-4D6F-D794-3D326640C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3CF93-11FA-FC82-48B3-17FF2BD0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C134-7714-4DFB-8E18-E4CC28C1F3B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674823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6540FB-11E7-FE9F-8381-4B8DA21B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2F289-D26D-4311-4527-836F4DD98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085D2-6622-C8E0-031C-8DE189E07D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4F1C36-E5EA-4572-9F65-C26F7018AF79}" type="datetimeFigureOut">
              <a:rPr lang="en-ZM" smtClean="0"/>
              <a:t>06/03/2025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083EF-6A8E-79C8-9693-503D24ED1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E0279-603C-52FC-C418-C0C34C91F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DC134-7714-4DFB-8E18-E4CC28C1F3BD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598274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Z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7E91C84-F577-8755-B96B-1AA859E09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9F75F-0362-46EE-8CF2-58008C4A7096}" type="slidenum">
              <a:rPr lang="en-US" altLang="en-ZM"/>
              <a:pPr/>
              <a:t>1</a:t>
            </a:fld>
            <a:endParaRPr lang="en-US" altLang="en-ZM"/>
          </a:p>
        </p:txBody>
      </p:sp>
      <p:sp>
        <p:nvSpPr>
          <p:cNvPr id="55298" name="Freeform 2">
            <a:extLst>
              <a:ext uri="{FF2B5EF4-FFF2-40B4-BE49-F238E27FC236}">
                <a16:creationId xmlns:a16="http://schemas.microsoft.com/office/drawing/2014/main" id="{CA21B2C9-14FD-FAFE-EE6C-1FCAF78272C9}"/>
              </a:ext>
            </a:extLst>
          </p:cNvPr>
          <p:cNvSpPr>
            <a:spLocks/>
          </p:cNvSpPr>
          <p:nvPr/>
        </p:nvSpPr>
        <p:spPr bwMode="auto">
          <a:xfrm>
            <a:off x="6477001" y="4957763"/>
            <a:ext cx="720725" cy="920750"/>
          </a:xfrm>
          <a:custGeom>
            <a:avLst/>
            <a:gdLst>
              <a:gd name="T0" fmla="*/ 454 w 454"/>
              <a:gd name="T1" fmla="*/ 0 h 580"/>
              <a:gd name="T2" fmla="*/ 36 w 454"/>
              <a:gd name="T3" fmla="*/ 580 h 580"/>
              <a:gd name="T4" fmla="*/ 0 w 454"/>
              <a:gd name="T5" fmla="*/ 580 h 580"/>
              <a:gd name="T6" fmla="*/ 428 w 454"/>
              <a:gd name="T7" fmla="*/ 0 h 580"/>
              <a:gd name="T8" fmla="*/ 454 w 454"/>
              <a:gd name="T9" fmla="*/ 0 h 5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4" h="580">
                <a:moveTo>
                  <a:pt x="454" y="0"/>
                </a:moveTo>
                <a:lnTo>
                  <a:pt x="36" y="580"/>
                </a:lnTo>
                <a:lnTo>
                  <a:pt x="0" y="580"/>
                </a:lnTo>
                <a:lnTo>
                  <a:pt x="428" y="0"/>
                </a:lnTo>
                <a:lnTo>
                  <a:pt x="45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ZM"/>
          </a:p>
        </p:txBody>
      </p:sp>
      <p:grpSp>
        <p:nvGrpSpPr>
          <p:cNvPr id="55299" name="Group 3">
            <a:extLst>
              <a:ext uri="{FF2B5EF4-FFF2-40B4-BE49-F238E27FC236}">
                <a16:creationId xmlns:a16="http://schemas.microsoft.com/office/drawing/2014/main" id="{E3C6EA92-A3F8-04B9-7BAA-AE18D11D1CFC}"/>
              </a:ext>
            </a:extLst>
          </p:cNvPr>
          <p:cNvGrpSpPr>
            <a:grpSpLocks/>
          </p:cNvGrpSpPr>
          <p:nvPr/>
        </p:nvGrpSpPr>
        <p:grpSpPr bwMode="auto">
          <a:xfrm>
            <a:off x="4670427" y="5688012"/>
            <a:ext cx="2701925" cy="1017588"/>
            <a:chOff x="2281" y="2801"/>
            <a:chExt cx="1702" cy="641"/>
          </a:xfrm>
        </p:grpSpPr>
        <p:sp>
          <p:nvSpPr>
            <p:cNvPr id="55300" name="Freeform 4">
              <a:extLst>
                <a:ext uri="{FF2B5EF4-FFF2-40B4-BE49-F238E27FC236}">
                  <a16:creationId xmlns:a16="http://schemas.microsoft.com/office/drawing/2014/main" id="{ED34D338-7143-51B3-E98D-6D4EBC210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1" y="2858"/>
              <a:ext cx="1702" cy="584"/>
            </a:xfrm>
            <a:custGeom>
              <a:avLst/>
              <a:gdLst>
                <a:gd name="T0" fmla="*/ 1702 w 1702"/>
                <a:gd name="T1" fmla="*/ 0 h 584"/>
                <a:gd name="T2" fmla="*/ 423 w 1702"/>
                <a:gd name="T3" fmla="*/ 0 h 584"/>
                <a:gd name="T4" fmla="*/ 0 w 1702"/>
                <a:gd name="T5" fmla="*/ 584 h 584"/>
                <a:gd name="T6" fmla="*/ 1404 w 1702"/>
                <a:gd name="T7" fmla="*/ 584 h 584"/>
                <a:gd name="T8" fmla="*/ 1702 w 1702"/>
                <a:gd name="T9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2" h="584">
                  <a:moveTo>
                    <a:pt x="1702" y="0"/>
                  </a:moveTo>
                  <a:lnTo>
                    <a:pt x="423" y="0"/>
                  </a:lnTo>
                  <a:lnTo>
                    <a:pt x="0" y="584"/>
                  </a:lnTo>
                  <a:lnTo>
                    <a:pt x="1404" y="584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M"/>
            </a:p>
          </p:txBody>
        </p:sp>
        <p:sp>
          <p:nvSpPr>
            <p:cNvPr id="55301" name="Freeform 5">
              <a:extLst>
                <a:ext uri="{FF2B5EF4-FFF2-40B4-BE49-F238E27FC236}">
                  <a16:creationId xmlns:a16="http://schemas.microsoft.com/office/drawing/2014/main" id="{4B643FA1-A265-4F9D-D643-B31DB09C0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1" y="2801"/>
              <a:ext cx="1702" cy="579"/>
            </a:xfrm>
            <a:custGeom>
              <a:avLst/>
              <a:gdLst>
                <a:gd name="T0" fmla="*/ 1702 w 1702"/>
                <a:gd name="T1" fmla="*/ 0 h 579"/>
                <a:gd name="T2" fmla="*/ 423 w 1702"/>
                <a:gd name="T3" fmla="*/ 0 h 579"/>
                <a:gd name="T4" fmla="*/ 0 w 1702"/>
                <a:gd name="T5" fmla="*/ 579 h 579"/>
                <a:gd name="T6" fmla="*/ 1404 w 1702"/>
                <a:gd name="T7" fmla="*/ 579 h 579"/>
                <a:gd name="T8" fmla="*/ 1702 w 1702"/>
                <a:gd name="T9" fmla="*/ 0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02" h="579">
                  <a:moveTo>
                    <a:pt x="1702" y="0"/>
                  </a:moveTo>
                  <a:lnTo>
                    <a:pt x="423" y="0"/>
                  </a:lnTo>
                  <a:lnTo>
                    <a:pt x="0" y="579"/>
                  </a:lnTo>
                  <a:lnTo>
                    <a:pt x="1404" y="579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M"/>
            </a:p>
          </p:txBody>
        </p:sp>
      </p:grpSp>
      <p:grpSp>
        <p:nvGrpSpPr>
          <p:cNvPr id="55304" name="Group 8">
            <a:extLst>
              <a:ext uri="{FF2B5EF4-FFF2-40B4-BE49-F238E27FC236}">
                <a16:creationId xmlns:a16="http://schemas.microsoft.com/office/drawing/2014/main" id="{8539FA45-87C6-86DA-8BF5-826ABDC766E5}"/>
              </a:ext>
            </a:extLst>
          </p:cNvPr>
          <p:cNvGrpSpPr>
            <a:grpSpLocks/>
          </p:cNvGrpSpPr>
          <p:nvPr/>
        </p:nvGrpSpPr>
        <p:grpSpPr bwMode="auto">
          <a:xfrm>
            <a:off x="4591152" y="4396031"/>
            <a:ext cx="720725" cy="2220912"/>
            <a:chOff x="2208" y="2018"/>
            <a:chExt cx="454" cy="1399"/>
          </a:xfrm>
        </p:grpSpPr>
        <p:sp>
          <p:nvSpPr>
            <p:cNvPr id="55305" name="Rectangle 9">
              <a:extLst>
                <a:ext uri="{FF2B5EF4-FFF2-40B4-BE49-F238E27FC236}">
                  <a16:creationId xmlns:a16="http://schemas.microsoft.com/office/drawing/2014/main" id="{7E2DE13C-655B-E349-7955-021201DB6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503"/>
              <a:ext cx="36" cy="914"/>
            </a:xfrm>
            <a:prstGeom prst="rect">
              <a:avLst/>
            </a:prstGeom>
            <a:solidFill>
              <a:srgbClr val="1A781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M"/>
            </a:p>
          </p:txBody>
        </p:sp>
        <p:sp>
          <p:nvSpPr>
            <p:cNvPr id="55306" name="Freeform 10">
              <a:extLst>
                <a:ext uri="{FF2B5EF4-FFF2-40B4-BE49-F238E27FC236}">
                  <a16:creationId xmlns:a16="http://schemas.microsoft.com/office/drawing/2014/main" id="{ADCE7B72-8803-3CE0-31DF-1AE62A334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2018"/>
              <a:ext cx="418" cy="1399"/>
            </a:xfrm>
            <a:custGeom>
              <a:avLst/>
              <a:gdLst>
                <a:gd name="T0" fmla="*/ 0 w 418"/>
                <a:gd name="T1" fmla="*/ 485 h 1399"/>
                <a:gd name="T2" fmla="*/ 418 w 418"/>
                <a:gd name="T3" fmla="*/ 0 h 1399"/>
                <a:gd name="T4" fmla="*/ 418 w 418"/>
                <a:gd name="T5" fmla="*/ 814 h 1399"/>
                <a:gd name="T6" fmla="*/ 0 w 418"/>
                <a:gd name="T7" fmla="*/ 1399 h 1399"/>
                <a:gd name="T8" fmla="*/ 0 w 418"/>
                <a:gd name="T9" fmla="*/ 485 h 1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8" h="1399">
                  <a:moveTo>
                    <a:pt x="0" y="485"/>
                  </a:moveTo>
                  <a:lnTo>
                    <a:pt x="418" y="0"/>
                  </a:lnTo>
                  <a:lnTo>
                    <a:pt x="418" y="814"/>
                  </a:lnTo>
                  <a:lnTo>
                    <a:pt x="0" y="1399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4DC2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M"/>
            </a:p>
          </p:txBody>
        </p:sp>
        <p:sp>
          <p:nvSpPr>
            <p:cNvPr id="55307" name="Freeform 11">
              <a:extLst>
                <a:ext uri="{FF2B5EF4-FFF2-40B4-BE49-F238E27FC236}">
                  <a16:creationId xmlns:a16="http://schemas.microsoft.com/office/drawing/2014/main" id="{2CECB1A7-5F7D-C6F4-674D-BB44F920A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2018"/>
              <a:ext cx="454" cy="485"/>
            </a:xfrm>
            <a:custGeom>
              <a:avLst/>
              <a:gdLst>
                <a:gd name="T0" fmla="*/ 454 w 454"/>
                <a:gd name="T1" fmla="*/ 0 h 485"/>
                <a:gd name="T2" fmla="*/ 36 w 454"/>
                <a:gd name="T3" fmla="*/ 485 h 485"/>
                <a:gd name="T4" fmla="*/ 0 w 454"/>
                <a:gd name="T5" fmla="*/ 485 h 485"/>
                <a:gd name="T6" fmla="*/ 418 w 454"/>
                <a:gd name="T7" fmla="*/ 0 h 485"/>
                <a:gd name="T8" fmla="*/ 454 w 454"/>
                <a:gd name="T9" fmla="*/ 0 h 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4" h="485">
                  <a:moveTo>
                    <a:pt x="454" y="0"/>
                  </a:moveTo>
                  <a:lnTo>
                    <a:pt x="36" y="485"/>
                  </a:lnTo>
                  <a:lnTo>
                    <a:pt x="0" y="485"/>
                  </a:lnTo>
                  <a:lnTo>
                    <a:pt x="418" y="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rgbClr val="33F5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M"/>
            </a:p>
          </p:txBody>
        </p:sp>
      </p:grpSp>
      <p:sp>
        <p:nvSpPr>
          <p:cNvPr id="55308" name="Freeform 12">
            <a:extLst>
              <a:ext uri="{FF2B5EF4-FFF2-40B4-BE49-F238E27FC236}">
                <a16:creationId xmlns:a16="http://schemas.microsoft.com/office/drawing/2014/main" id="{EB27D4F3-F5D2-374E-CBED-37D50930792F}"/>
              </a:ext>
            </a:extLst>
          </p:cNvPr>
          <p:cNvSpPr>
            <a:spLocks/>
          </p:cNvSpPr>
          <p:nvPr/>
        </p:nvSpPr>
        <p:spPr bwMode="auto">
          <a:xfrm>
            <a:off x="6873876" y="5008563"/>
            <a:ext cx="92075" cy="347662"/>
          </a:xfrm>
          <a:custGeom>
            <a:avLst/>
            <a:gdLst>
              <a:gd name="T0" fmla="*/ 0 w 58"/>
              <a:gd name="T1" fmla="*/ 62 h 219"/>
              <a:gd name="T2" fmla="*/ 0 w 58"/>
              <a:gd name="T3" fmla="*/ 219 h 219"/>
              <a:gd name="T4" fmla="*/ 58 w 58"/>
              <a:gd name="T5" fmla="*/ 140 h 219"/>
              <a:gd name="T6" fmla="*/ 58 w 58"/>
              <a:gd name="T7" fmla="*/ 0 h 219"/>
              <a:gd name="T8" fmla="*/ 0 w 58"/>
              <a:gd name="T9" fmla="*/ 62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8" h="219">
                <a:moveTo>
                  <a:pt x="0" y="62"/>
                </a:moveTo>
                <a:lnTo>
                  <a:pt x="0" y="219"/>
                </a:lnTo>
                <a:lnTo>
                  <a:pt x="58" y="140"/>
                </a:lnTo>
                <a:lnTo>
                  <a:pt x="58" y="0"/>
                </a:lnTo>
                <a:lnTo>
                  <a:pt x="0" y="62"/>
                </a:lnTo>
                <a:close/>
              </a:path>
            </a:pathLst>
          </a:custGeom>
          <a:solidFill>
            <a:srgbClr val="1A781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ZM"/>
          </a:p>
        </p:txBody>
      </p:sp>
      <p:grpSp>
        <p:nvGrpSpPr>
          <p:cNvPr id="55309" name="Group 13">
            <a:extLst>
              <a:ext uri="{FF2B5EF4-FFF2-40B4-BE49-F238E27FC236}">
                <a16:creationId xmlns:a16="http://schemas.microsoft.com/office/drawing/2014/main" id="{3902A40D-4F7F-F46D-1EF1-1D166216E76C}"/>
              </a:ext>
            </a:extLst>
          </p:cNvPr>
          <p:cNvGrpSpPr>
            <a:grpSpLocks/>
          </p:cNvGrpSpPr>
          <p:nvPr/>
        </p:nvGrpSpPr>
        <p:grpSpPr bwMode="auto">
          <a:xfrm rot="20754258">
            <a:off x="4653521" y="4558506"/>
            <a:ext cx="1219200" cy="1371600"/>
            <a:chOff x="2976" y="2573"/>
            <a:chExt cx="1374" cy="1091"/>
          </a:xfrm>
        </p:grpSpPr>
        <p:sp>
          <p:nvSpPr>
            <p:cNvPr id="55310" name="Freeform 14">
              <a:extLst>
                <a:ext uri="{FF2B5EF4-FFF2-40B4-BE49-F238E27FC236}">
                  <a16:creationId xmlns:a16="http://schemas.microsoft.com/office/drawing/2014/main" id="{83FBCF93-6293-FF16-B68E-B73F84AA4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2582"/>
              <a:ext cx="1374" cy="970"/>
            </a:xfrm>
            <a:custGeom>
              <a:avLst/>
              <a:gdLst>
                <a:gd name="T0" fmla="*/ 1341 w 1374"/>
                <a:gd name="T1" fmla="*/ 48 h 970"/>
                <a:gd name="T2" fmla="*/ 1374 w 1374"/>
                <a:gd name="T3" fmla="*/ 0 h 970"/>
                <a:gd name="T4" fmla="*/ 48 w 1374"/>
                <a:gd name="T5" fmla="*/ 912 h 970"/>
                <a:gd name="T6" fmla="*/ 0 w 1374"/>
                <a:gd name="T7" fmla="*/ 970 h 970"/>
                <a:gd name="T8" fmla="*/ 1341 w 1374"/>
                <a:gd name="T9" fmla="*/ 48 h 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4" h="970">
                  <a:moveTo>
                    <a:pt x="1341" y="48"/>
                  </a:moveTo>
                  <a:lnTo>
                    <a:pt x="1374" y="0"/>
                  </a:lnTo>
                  <a:lnTo>
                    <a:pt x="48" y="912"/>
                  </a:lnTo>
                  <a:lnTo>
                    <a:pt x="0" y="970"/>
                  </a:lnTo>
                  <a:lnTo>
                    <a:pt x="1341" y="48"/>
                  </a:lnTo>
                  <a:close/>
                </a:path>
              </a:pathLst>
            </a:custGeom>
            <a:solidFill>
              <a:srgbClr val="CC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M"/>
            </a:p>
          </p:txBody>
        </p:sp>
        <p:grpSp>
          <p:nvGrpSpPr>
            <p:cNvPr id="55311" name="Group 15">
              <a:extLst>
                <a:ext uri="{FF2B5EF4-FFF2-40B4-BE49-F238E27FC236}">
                  <a16:creationId xmlns:a16="http://schemas.microsoft.com/office/drawing/2014/main" id="{7228E712-4C76-4EDF-24ED-2BB0FCF5C9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3" y="2573"/>
              <a:ext cx="1364" cy="1091"/>
              <a:chOff x="3592" y="2663"/>
              <a:chExt cx="1364" cy="1091"/>
            </a:xfrm>
          </p:grpSpPr>
          <p:sp>
            <p:nvSpPr>
              <p:cNvPr id="55312" name="Freeform 16">
                <a:extLst>
                  <a:ext uri="{FF2B5EF4-FFF2-40B4-BE49-F238E27FC236}">
                    <a16:creationId xmlns:a16="http://schemas.microsoft.com/office/drawing/2014/main" id="{5F147F87-4216-6D85-93AC-67453D13B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3" y="2663"/>
                <a:ext cx="33" cy="172"/>
              </a:xfrm>
              <a:custGeom>
                <a:avLst/>
                <a:gdLst>
                  <a:gd name="T0" fmla="*/ 0 w 33"/>
                  <a:gd name="T1" fmla="*/ 172 h 172"/>
                  <a:gd name="T2" fmla="*/ 33 w 33"/>
                  <a:gd name="T3" fmla="*/ 125 h 172"/>
                  <a:gd name="T4" fmla="*/ 33 w 33"/>
                  <a:gd name="T5" fmla="*/ 0 h 172"/>
                  <a:gd name="T6" fmla="*/ 0 w 33"/>
                  <a:gd name="T7" fmla="*/ 48 h 172"/>
                  <a:gd name="T8" fmla="*/ 0 w 33"/>
                  <a:gd name="T9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72">
                    <a:moveTo>
                      <a:pt x="0" y="172"/>
                    </a:moveTo>
                    <a:lnTo>
                      <a:pt x="33" y="125"/>
                    </a:lnTo>
                    <a:lnTo>
                      <a:pt x="33" y="0"/>
                    </a:lnTo>
                    <a:lnTo>
                      <a:pt x="0" y="48"/>
                    </a:lnTo>
                    <a:lnTo>
                      <a:pt x="0" y="172"/>
                    </a:lnTo>
                    <a:close/>
                  </a:path>
                </a:pathLst>
              </a:custGeom>
              <a:solidFill>
                <a:srgbClr val="99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M"/>
              </a:p>
            </p:txBody>
          </p:sp>
          <p:sp>
            <p:nvSpPr>
              <p:cNvPr id="55313" name="Freeform 17">
                <a:extLst>
                  <a:ext uri="{FF2B5EF4-FFF2-40B4-BE49-F238E27FC236}">
                    <a16:creationId xmlns:a16="http://schemas.microsoft.com/office/drawing/2014/main" id="{E344F883-E272-4363-E768-0DEDD8D72F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2" y="2706"/>
                <a:ext cx="1341" cy="1048"/>
              </a:xfrm>
              <a:custGeom>
                <a:avLst/>
                <a:gdLst>
                  <a:gd name="T0" fmla="*/ 1341 w 1341"/>
                  <a:gd name="T1" fmla="*/ 0 h 1048"/>
                  <a:gd name="T2" fmla="*/ 0 w 1341"/>
                  <a:gd name="T3" fmla="*/ 922 h 1048"/>
                  <a:gd name="T4" fmla="*/ 0 w 1341"/>
                  <a:gd name="T5" fmla="*/ 1048 h 1048"/>
                  <a:gd name="T6" fmla="*/ 1341 w 1341"/>
                  <a:gd name="T7" fmla="*/ 124 h 1048"/>
                  <a:gd name="T8" fmla="*/ 1341 w 1341"/>
                  <a:gd name="T9" fmla="*/ 0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41" h="1048">
                    <a:moveTo>
                      <a:pt x="1341" y="0"/>
                    </a:moveTo>
                    <a:lnTo>
                      <a:pt x="0" y="922"/>
                    </a:lnTo>
                    <a:lnTo>
                      <a:pt x="0" y="1048"/>
                    </a:lnTo>
                    <a:lnTo>
                      <a:pt x="1341" y="124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M"/>
              </a:p>
            </p:txBody>
          </p:sp>
        </p:grpSp>
      </p:grpSp>
      <p:grpSp>
        <p:nvGrpSpPr>
          <p:cNvPr id="55314" name="Group 18">
            <a:extLst>
              <a:ext uri="{FF2B5EF4-FFF2-40B4-BE49-F238E27FC236}">
                <a16:creationId xmlns:a16="http://schemas.microsoft.com/office/drawing/2014/main" id="{2DF87F13-0A73-2816-97DA-703F0ECC34A8}"/>
              </a:ext>
            </a:extLst>
          </p:cNvPr>
          <p:cNvGrpSpPr>
            <a:grpSpLocks/>
          </p:cNvGrpSpPr>
          <p:nvPr/>
        </p:nvGrpSpPr>
        <p:grpSpPr bwMode="auto">
          <a:xfrm rot="20944179" flipV="1">
            <a:off x="5785747" y="4314111"/>
            <a:ext cx="1219200" cy="1371600"/>
            <a:chOff x="2976" y="2573"/>
            <a:chExt cx="1374" cy="1091"/>
          </a:xfrm>
        </p:grpSpPr>
        <p:sp>
          <p:nvSpPr>
            <p:cNvPr id="55315" name="Freeform 19">
              <a:extLst>
                <a:ext uri="{FF2B5EF4-FFF2-40B4-BE49-F238E27FC236}">
                  <a16:creationId xmlns:a16="http://schemas.microsoft.com/office/drawing/2014/main" id="{A2A12407-5454-222A-0080-A0A305B89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2582"/>
              <a:ext cx="1374" cy="970"/>
            </a:xfrm>
            <a:custGeom>
              <a:avLst/>
              <a:gdLst>
                <a:gd name="T0" fmla="*/ 1341 w 1374"/>
                <a:gd name="T1" fmla="*/ 48 h 970"/>
                <a:gd name="T2" fmla="*/ 1374 w 1374"/>
                <a:gd name="T3" fmla="*/ 0 h 970"/>
                <a:gd name="T4" fmla="*/ 48 w 1374"/>
                <a:gd name="T5" fmla="*/ 912 h 970"/>
                <a:gd name="T6" fmla="*/ 0 w 1374"/>
                <a:gd name="T7" fmla="*/ 970 h 970"/>
                <a:gd name="T8" fmla="*/ 1341 w 1374"/>
                <a:gd name="T9" fmla="*/ 48 h 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4" h="970">
                  <a:moveTo>
                    <a:pt x="1341" y="48"/>
                  </a:moveTo>
                  <a:lnTo>
                    <a:pt x="1374" y="0"/>
                  </a:lnTo>
                  <a:lnTo>
                    <a:pt x="48" y="912"/>
                  </a:lnTo>
                  <a:lnTo>
                    <a:pt x="0" y="970"/>
                  </a:lnTo>
                  <a:lnTo>
                    <a:pt x="1341" y="48"/>
                  </a:lnTo>
                  <a:close/>
                </a:path>
              </a:pathLst>
            </a:custGeom>
            <a:solidFill>
              <a:srgbClr val="CC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M"/>
            </a:p>
          </p:txBody>
        </p:sp>
        <p:grpSp>
          <p:nvGrpSpPr>
            <p:cNvPr id="55316" name="Group 20">
              <a:extLst>
                <a:ext uri="{FF2B5EF4-FFF2-40B4-BE49-F238E27FC236}">
                  <a16:creationId xmlns:a16="http://schemas.microsoft.com/office/drawing/2014/main" id="{C6F9901B-37D1-6FA1-EBDE-8DBB10E428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3" y="2573"/>
              <a:ext cx="1364" cy="1091"/>
              <a:chOff x="3592" y="2663"/>
              <a:chExt cx="1364" cy="1091"/>
            </a:xfrm>
          </p:grpSpPr>
          <p:sp>
            <p:nvSpPr>
              <p:cNvPr id="55317" name="Freeform 21">
                <a:extLst>
                  <a:ext uri="{FF2B5EF4-FFF2-40B4-BE49-F238E27FC236}">
                    <a16:creationId xmlns:a16="http://schemas.microsoft.com/office/drawing/2014/main" id="{ACFFE7E0-A176-E9AE-0C40-72C834465C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3" y="2663"/>
                <a:ext cx="33" cy="172"/>
              </a:xfrm>
              <a:custGeom>
                <a:avLst/>
                <a:gdLst>
                  <a:gd name="T0" fmla="*/ 0 w 33"/>
                  <a:gd name="T1" fmla="*/ 172 h 172"/>
                  <a:gd name="T2" fmla="*/ 33 w 33"/>
                  <a:gd name="T3" fmla="*/ 125 h 172"/>
                  <a:gd name="T4" fmla="*/ 33 w 33"/>
                  <a:gd name="T5" fmla="*/ 0 h 172"/>
                  <a:gd name="T6" fmla="*/ 0 w 33"/>
                  <a:gd name="T7" fmla="*/ 48 h 172"/>
                  <a:gd name="T8" fmla="*/ 0 w 33"/>
                  <a:gd name="T9" fmla="*/ 172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172">
                    <a:moveTo>
                      <a:pt x="0" y="172"/>
                    </a:moveTo>
                    <a:lnTo>
                      <a:pt x="33" y="125"/>
                    </a:lnTo>
                    <a:lnTo>
                      <a:pt x="33" y="0"/>
                    </a:lnTo>
                    <a:lnTo>
                      <a:pt x="0" y="48"/>
                    </a:lnTo>
                    <a:lnTo>
                      <a:pt x="0" y="172"/>
                    </a:lnTo>
                    <a:close/>
                  </a:path>
                </a:pathLst>
              </a:custGeom>
              <a:solidFill>
                <a:srgbClr val="99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M"/>
              </a:p>
            </p:txBody>
          </p:sp>
          <p:sp>
            <p:nvSpPr>
              <p:cNvPr id="55318" name="Freeform 22">
                <a:extLst>
                  <a:ext uri="{FF2B5EF4-FFF2-40B4-BE49-F238E27FC236}">
                    <a16:creationId xmlns:a16="http://schemas.microsoft.com/office/drawing/2014/main" id="{A7E6EB45-E528-F615-F6C1-D7493A81F8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2" y="2706"/>
                <a:ext cx="1341" cy="1048"/>
              </a:xfrm>
              <a:custGeom>
                <a:avLst/>
                <a:gdLst>
                  <a:gd name="T0" fmla="*/ 1341 w 1341"/>
                  <a:gd name="T1" fmla="*/ 0 h 1048"/>
                  <a:gd name="T2" fmla="*/ 0 w 1341"/>
                  <a:gd name="T3" fmla="*/ 922 h 1048"/>
                  <a:gd name="T4" fmla="*/ 0 w 1341"/>
                  <a:gd name="T5" fmla="*/ 1048 h 1048"/>
                  <a:gd name="T6" fmla="*/ 1341 w 1341"/>
                  <a:gd name="T7" fmla="*/ 124 h 1048"/>
                  <a:gd name="T8" fmla="*/ 1341 w 1341"/>
                  <a:gd name="T9" fmla="*/ 0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41" h="1048">
                    <a:moveTo>
                      <a:pt x="1341" y="0"/>
                    </a:moveTo>
                    <a:lnTo>
                      <a:pt x="0" y="922"/>
                    </a:lnTo>
                    <a:lnTo>
                      <a:pt x="0" y="1048"/>
                    </a:lnTo>
                    <a:lnTo>
                      <a:pt x="1341" y="124"/>
                    </a:lnTo>
                    <a:lnTo>
                      <a:pt x="1341" y="0"/>
                    </a:lnTo>
                    <a:close/>
                  </a:path>
                </a:pathLst>
              </a:custGeom>
              <a:solidFill>
                <a:srgbClr val="6633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M"/>
              </a:p>
            </p:txBody>
          </p:sp>
        </p:grpSp>
      </p:grpSp>
      <p:pic>
        <p:nvPicPr>
          <p:cNvPr id="55319" name="Picture 23">
            <a:extLst>
              <a:ext uri="{FF2B5EF4-FFF2-40B4-BE49-F238E27FC236}">
                <a16:creationId xmlns:a16="http://schemas.microsoft.com/office/drawing/2014/main" id="{0A940D65-C90C-86CB-5045-40CED10BD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5244306"/>
            <a:ext cx="2209800" cy="128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21" name="Rectangle 25">
            <a:extLst>
              <a:ext uri="{FF2B5EF4-FFF2-40B4-BE49-F238E27FC236}">
                <a16:creationId xmlns:a16="http://schemas.microsoft.com/office/drawing/2014/main" id="{536713B5-6A93-CDEE-D8FA-2B8950771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536" y="1994960"/>
            <a:ext cx="8583488" cy="2795551"/>
          </a:xfrm>
          <a:prstGeom prst="rect">
            <a:avLst/>
          </a:prstGeom>
          <a:noFill/>
          <a:ln>
            <a:noFill/>
          </a:ln>
          <a:effectLst>
            <a:outerShdw dist="45791" dir="19578596" algn="ctr" rotWithShape="0">
              <a:srgbClr val="3399FF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44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  <a:lvl2pPr>
              <a:defRPr sz="4400">
                <a:solidFill>
                  <a:schemeClr val="tx2"/>
                </a:solidFill>
                <a:latin typeface="Arial Narrow" panose="020B0606020202030204" pitchFamily="34" charset="0"/>
              </a:defRPr>
            </a:lvl2pPr>
            <a:lvl3pPr>
              <a:defRPr sz="4400">
                <a:solidFill>
                  <a:schemeClr val="tx2"/>
                </a:solidFill>
                <a:latin typeface="Arial Narrow" panose="020B0606020202030204" pitchFamily="34" charset="0"/>
              </a:defRPr>
            </a:lvl3pPr>
            <a:lvl4pPr>
              <a:defRPr sz="4400">
                <a:solidFill>
                  <a:schemeClr val="tx2"/>
                </a:solidFill>
                <a:latin typeface="Arial Narrow" panose="020B0606020202030204" pitchFamily="34" charset="0"/>
              </a:defRPr>
            </a:lvl4pPr>
            <a:lvl5pPr>
              <a:defRPr sz="4400">
                <a:solidFill>
                  <a:schemeClr val="tx2"/>
                </a:solidFill>
                <a:latin typeface="Arial Narrow" panose="020B0606020202030204" pitchFamily="34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Narrow" panose="020B0606020202030204" pitchFamily="34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Narrow" panose="020B0606020202030204" pitchFamily="34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Narrow" panose="020B0606020202030204" pitchFamily="34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en-ZM" sz="8800" b="1" dirty="0"/>
              <a:t>EXPLANATION OF  Statistical Terms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DD557-8E62-1868-107F-98C18380A441}"/>
              </a:ext>
            </a:extLst>
          </p:cNvPr>
          <p:cNvSpPr txBox="1"/>
          <p:nvPr/>
        </p:nvSpPr>
        <p:spPr>
          <a:xfrm>
            <a:off x="2567608" y="476672"/>
            <a:ext cx="6696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rial Black" panose="020B0A04020102020204" pitchFamily="34" charset="0"/>
              </a:rPr>
              <a:t>AA 200 - BIOMETRY</a:t>
            </a:r>
            <a:endParaRPr lang="en-ZM" sz="4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5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5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21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ECAC-21B9-6A0C-7F9F-8238E11A54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3227"/>
            <a:ext cx="9144000" cy="1205899"/>
          </a:xfrm>
        </p:spPr>
        <p:txBody>
          <a:bodyPr/>
          <a:lstStyle/>
          <a:p>
            <a:r>
              <a:rPr lang="en-US" b="1" dirty="0"/>
              <a:t>STATISTICS</a:t>
            </a:r>
            <a:endParaRPr lang="en-ZM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AB99FA-D309-8B14-F1BF-2CD90F6EB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993" y="2126704"/>
            <a:ext cx="11741204" cy="1655762"/>
          </a:xfrm>
        </p:spPr>
        <p:txBody>
          <a:bodyPr>
            <a:noAutofit/>
          </a:bodyPr>
          <a:lstStyle/>
          <a:p>
            <a:pPr algn="just"/>
            <a:r>
              <a:rPr lang="en-US" sz="4400" dirty="0">
                <a:latin typeface="Arial Rounded MT Bold" panose="020F0704030504030204" pitchFamily="34" charset="0"/>
              </a:rPr>
              <a:t>Is a set of scientific principles and techniques that are useful in reaching conclusions about a population and processes when available information is both limited and variable – </a:t>
            </a:r>
            <a:r>
              <a:rPr lang="en-US" sz="4400" i="1" dirty="0">
                <a:latin typeface="Arial Rounded MT Bold" panose="020F0704030504030204" pitchFamily="34" charset="0"/>
              </a:rPr>
              <a:t>science of learning from data</a:t>
            </a:r>
            <a:endParaRPr lang="en-ZM" sz="44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048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8325B-696F-18A7-171D-D94130D67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D2315-6BF9-6111-9ED9-25F6E7A72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3227"/>
            <a:ext cx="9144000" cy="1205899"/>
          </a:xfrm>
        </p:spPr>
        <p:txBody>
          <a:bodyPr/>
          <a:lstStyle/>
          <a:p>
            <a:r>
              <a:rPr lang="en-US" b="1" dirty="0"/>
              <a:t>DESCRIPTIVE STATISTICS</a:t>
            </a:r>
            <a:endParaRPr lang="en-ZM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264EF-4755-A5A7-8921-19F43105C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993" y="2126704"/>
            <a:ext cx="11741204" cy="3713162"/>
          </a:xfrm>
        </p:spPr>
        <p:txBody>
          <a:bodyPr>
            <a:noAutofit/>
          </a:bodyPr>
          <a:lstStyle/>
          <a:p>
            <a:pPr algn="just"/>
            <a:r>
              <a:rPr lang="en-US" altLang="en-ZM" sz="4800" b="1" dirty="0">
                <a:latin typeface="Arial Rounded MT Bold" panose="020F0704030504030204" pitchFamily="34" charset="0"/>
              </a:rPr>
              <a:t>I</a:t>
            </a:r>
            <a:r>
              <a:rPr lang="en-US" altLang="en-ZM" sz="4800" dirty="0">
                <a:latin typeface="Arial Rounded MT Bold" panose="020F0704030504030204" pitchFamily="34" charset="0"/>
              </a:rPr>
              <a:t>nvolves the arrangement, summary, and presentation of data, to enable meaningful interpretation, and to support decision making.</a:t>
            </a:r>
          </a:p>
          <a:p>
            <a:pPr algn="just"/>
            <a:endParaRPr lang="en-ZM" sz="4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16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61B49-AD95-6C66-7F33-502B8280D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7DA37-A34B-751E-6F9B-18023B58A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3227"/>
            <a:ext cx="9144000" cy="1205899"/>
          </a:xfrm>
        </p:spPr>
        <p:txBody>
          <a:bodyPr/>
          <a:lstStyle/>
          <a:p>
            <a:r>
              <a:rPr lang="en-US" b="1" dirty="0"/>
              <a:t>INFERENTIAL STATISTICS</a:t>
            </a:r>
            <a:endParaRPr lang="en-ZM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6EAFC0-932C-5407-24B0-CB96513EB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398" y="2696702"/>
            <a:ext cx="11741204" cy="3551797"/>
          </a:xfrm>
        </p:spPr>
        <p:txBody>
          <a:bodyPr>
            <a:noAutofit/>
          </a:bodyPr>
          <a:lstStyle/>
          <a:p>
            <a:pPr algn="just"/>
            <a:r>
              <a:rPr lang="en-US" sz="4800" dirty="0"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B</a:t>
            </a:r>
            <a:r>
              <a:rPr lang="en-ZM" sz="4800" dirty="0"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ranch of statistics that focuses on using sample data to make generalizations, predictions, or inferences about a larger population. </a:t>
            </a:r>
            <a:endParaRPr lang="en-ZM" sz="4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446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45AE1-1993-5E57-45C6-9AD29748C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08B1F-F65C-1BA4-7C8D-5CD77EA1E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3227"/>
            <a:ext cx="9144000" cy="1205899"/>
          </a:xfrm>
        </p:spPr>
        <p:txBody>
          <a:bodyPr/>
          <a:lstStyle/>
          <a:p>
            <a:r>
              <a:rPr lang="en-US" b="1" dirty="0"/>
              <a:t>INFERENTIAL STATISTICS</a:t>
            </a:r>
            <a:endParaRPr lang="en-ZM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23A07-6EC5-F2CC-691A-C17F6BD9D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398" y="2405104"/>
            <a:ext cx="11741204" cy="3843396"/>
          </a:xfrm>
        </p:spPr>
        <p:txBody>
          <a:bodyPr>
            <a:noAutofit/>
          </a:bodyPr>
          <a:lstStyle/>
          <a:p>
            <a:pPr algn="just"/>
            <a:r>
              <a:rPr lang="en-ZM" sz="4800" dirty="0"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Unlike descriptive statistics, which summarize and describe the characteristics of a dataset, inferential statistics aim to draw conclusions that extend beyond the immediate data. </a:t>
            </a:r>
            <a:endParaRPr lang="en-ZM" sz="4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404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8B56D-FE2A-01A1-0557-51FD5E519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B2A-BC8C-17BB-837D-9AF6F478A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3227"/>
            <a:ext cx="9144000" cy="1205899"/>
          </a:xfrm>
        </p:spPr>
        <p:txBody>
          <a:bodyPr/>
          <a:lstStyle/>
          <a:p>
            <a:r>
              <a:rPr lang="en-US" b="1" dirty="0"/>
              <a:t>INFERENTIAL STATISTICS</a:t>
            </a:r>
            <a:endParaRPr lang="en-ZM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7AAF18-C5D5-8E18-8D16-87E36A24E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398" y="2405104"/>
            <a:ext cx="11741204" cy="3843396"/>
          </a:xfrm>
        </p:spPr>
        <p:txBody>
          <a:bodyPr>
            <a:noAutofit/>
          </a:bodyPr>
          <a:lstStyle/>
          <a:p>
            <a:pPr algn="just"/>
            <a:r>
              <a:rPr lang="en-ZM" sz="4800" dirty="0"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This is particularly useful when it is impractical or impossible to collect data from an entire population.</a:t>
            </a:r>
            <a:endParaRPr lang="en-ZM" sz="4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418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4EE9F-7045-71E1-8E5D-3E6538F45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22620-412B-BDF8-B53D-C61666116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56" y="140776"/>
            <a:ext cx="12122844" cy="919626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latin typeface="Arial Rounded MT Bold" panose="020F0704030504030204" pitchFamily="34" charset="0"/>
              </a:rPr>
              <a:t>IMPORTANCE OF INFERENTIAL STATISTICS</a:t>
            </a:r>
            <a:endParaRPr lang="en-ZM" sz="48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A9D98F-2D10-E1F2-92C6-59F101D44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55" y="1444598"/>
            <a:ext cx="12048565" cy="5272626"/>
          </a:xfrm>
        </p:spPr>
        <p:txBody>
          <a:bodyPr>
            <a:no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en-ZM" sz="40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Generalization</a:t>
            </a:r>
            <a:r>
              <a:rPr lang="en-ZM" sz="4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: Allows researchers to make broad conclusions from limited data.</a:t>
            </a:r>
            <a:endParaRPr lang="en-US" sz="4000" kern="1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en-ZM" sz="40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en-ZM" sz="40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Decision-Making</a:t>
            </a:r>
            <a:r>
              <a:rPr lang="en-ZM" sz="4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: Provides a basis for making informed decisions in fields like medicine, 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agriculture, </a:t>
            </a:r>
            <a:r>
              <a:rPr lang="en-ZM" sz="4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economics, and social sciences.</a:t>
            </a:r>
            <a:endParaRPr lang="en-US" sz="4000" kern="1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ZM" sz="40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en-ZM" sz="40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Prediction</a:t>
            </a:r>
            <a:r>
              <a:rPr lang="en-ZM" sz="40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: Enables the prediction of future trends or outcomes based on current data.</a:t>
            </a:r>
            <a:endParaRPr lang="en-ZM" sz="40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379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910B6-73AA-2E4B-481A-7AECDA01D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E2C9C-E14A-F471-677D-E86B43DDC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4419"/>
            <a:ext cx="9144000" cy="952823"/>
          </a:xfrm>
        </p:spPr>
        <p:txBody>
          <a:bodyPr/>
          <a:lstStyle/>
          <a:p>
            <a:r>
              <a:rPr lang="en-US" b="1" dirty="0"/>
              <a:t>POPULATION</a:t>
            </a:r>
            <a:endParaRPr lang="en-ZM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D25BFE-9C54-1E9F-91E3-CB751676E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993" y="2126703"/>
            <a:ext cx="11741204" cy="4466198"/>
          </a:xfrm>
        </p:spPr>
        <p:txBody>
          <a:bodyPr>
            <a:noAutofit/>
          </a:bodyPr>
          <a:lstStyle/>
          <a:p>
            <a:pPr algn="just"/>
            <a:r>
              <a:rPr lang="en-US" sz="4800" dirty="0">
                <a:latin typeface="Arial Rounded MT Bold" panose="020F0704030504030204" pitchFamily="34" charset="0"/>
                <a:ea typeface="DengXian" panose="02010600030101010101" pitchFamily="2" charset="-122"/>
              </a:rPr>
              <a:t>E</a:t>
            </a:r>
            <a:r>
              <a:rPr lang="en-ZM" sz="4800" dirty="0" err="1"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ntire</a:t>
            </a:r>
            <a:r>
              <a:rPr lang="en-ZM" sz="4800" dirty="0"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 set of individuals, items, or data points that are of interest in a particular study. </a:t>
            </a:r>
            <a:endParaRPr lang="en-US" sz="4800" dirty="0">
              <a:effectLst/>
              <a:latin typeface="Arial Rounded MT Bold" panose="020F0704030504030204" pitchFamily="34" charset="0"/>
              <a:ea typeface="DengXian" panose="02010600030101010101" pitchFamily="2" charset="-122"/>
            </a:endParaRPr>
          </a:p>
          <a:p>
            <a:pPr algn="just"/>
            <a:endParaRPr lang="en-US" sz="4800" dirty="0">
              <a:latin typeface="Arial Rounded MT Bold" panose="020F0704030504030204" pitchFamily="34" charset="0"/>
              <a:ea typeface="DengXian" panose="02010600030101010101" pitchFamily="2" charset="-122"/>
            </a:endParaRPr>
          </a:p>
          <a:p>
            <a:pPr algn="just"/>
            <a:r>
              <a:rPr lang="en-ZM" sz="4800" dirty="0"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It includes every possible member of the group being studied.</a:t>
            </a:r>
            <a:endParaRPr lang="en-ZM" sz="4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562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79DC2-69F6-8343-8142-7FCFE916A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041CD-50B2-7217-1C6D-AD37510501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993" y="184419"/>
            <a:ext cx="11656679" cy="95282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CHARACTERISTICS OF A POPULATION</a:t>
            </a:r>
            <a:endParaRPr lang="en-ZM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F1758-27F9-46D0-B47D-1EEB93CA2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993" y="1590595"/>
            <a:ext cx="11741204" cy="5002306"/>
          </a:xfrm>
        </p:spPr>
        <p:txBody>
          <a:bodyPr>
            <a:noAutofit/>
          </a:bodyPr>
          <a:lstStyle/>
          <a:p>
            <a:pPr marL="1200150" lvl="1" indent="-742950" algn="l">
              <a:buSzPct val="44000"/>
              <a:buFont typeface="+mj-lt"/>
              <a:buAutoNum type="arabicPeriod"/>
              <a:tabLst>
                <a:tab pos="914400" algn="l"/>
              </a:tabLst>
            </a:pPr>
            <a:r>
              <a:rPr lang="en-US" sz="4400" kern="100" dirty="0">
                <a:latin typeface="Arial Rounded MT Bold" panose="020F07040305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ZM" sz="4400" kern="100" dirty="0" err="1">
                <a:effectLst/>
                <a:latin typeface="Arial Rounded MT Bold" panose="020F07040305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omplete</a:t>
            </a:r>
            <a:r>
              <a:rPr lang="en-ZM" sz="4400" kern="100" dirty="0">
                <a:effectLst/>
                <a:latin typeface="Arial Rounded MT Bold" panose="020F07040305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group </a:t>
            </a:r>
            <a:r>
              <a:rPr lang="en-US" sz="4400" kern="100" dirty="0">
                <a:effectLst/>
                <a:latin typeface="Arial Rounded MT Bold" panose="020F07040305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from </a:t>
            </a:r>
            <a:r>
              <a:rPr lang="en-ZM" sz="4400" kern="100" dirty="0">
                <a:effectLst/>
                <a:latin typeface="Arial Rounded MT Bold" panose="020F07040305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which you want to draw conclusions.</a:t>
            </a:r>
          </a:p>
          <a:p>
            <a:pPr marL="1200150" lvl="1" indent="-742950" algn="l">
              <a:buSzPct val="44000"/>
              <a:buFont typeface="+mj-lt"/>
              <a:buAutoNum type="arabicPeriod"/>
              <a:tabLst>
                <a:tab pos="914400" algn="l"/>
              </a:tabLst>
            </a:pPr>
            <a:r>
              <a:rPr lang="en-ZM" sz="4400" kern="100" dirty="0">
                <a:effectLst/>
                <a:latin typeface="Arial Rounded MT Bold" panose="020F07040305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It can be finite (e.g., all students in a school) or infinite (e.g., all possible outcomes of a repeated experiment).</a:t>
            </a:r>
          </a:p>
          <a:p>
            <a:pPr marL="1200150" lvl="1" indent="-742950" algn="l">
              <a:buSzPct val="44000"/>
              <a:buFont typeface="+mj-lt"/>
              <a:buAutoNum type="arabicPeriod"/>
              <a:tabLst>
                <a:tab pos="914400" algn="l"/>
              </a:tabLst>
            </a:pPr>
            <a:r>
              <a:rPr lang="en-US" sz="4400" kern="100" dirty="0">
                <a:effectLst/>
                <a:latin typeface="Arial Rounded MT Bold" panose="020F07040305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ZM" sz="4400" kern="100" dirty="0" err="1">
                <a:effectLst/>
                <a:latin typeface="Arial Rounded MT Bold" panose="020F07040305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ften</a:t>
            </a:r>
            <a:r>
              <a:rPr lang="en-ZM" sz="4400" kern="100" dirty="0">
                <a:effectLst/>
                <a:latin typeface="Arial Rounded MT Bold" panose="020F07040305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too large or impractical to study in their entirety.</a:t>
            </a:r>
          </a:p>
        </p:txBody>
      </p:sp>
    </p:spTree>
    <p:extLst>
      <p:ext uri="{BB962C8B-B14F-4D97-AF65-F5344CB8AC3E}">
        <p14:creationId xmlns:p14="http://schemas.microsoft.com/office/powerpoint/2010/main" val="1858617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47409-4A7F-5DAA-807B-0C236231E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954C9-E8F5-6A6E-D9A4-B7BFB1F18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3227"/>
            <a:ext cx="9144000" cy="1205899"/>
          </a:xfrm>
        </p:spPr>
        <p:txBody>
          <a:bodyPr/>
          <a:lstStyle/>
          <a:p>
            <a:r>
              <a:rPr lang="en-US" b="1" dirty="0"/>
              <a:t>SAMPLE</a:t>
            </a:r>
            <a:endParaRPr lang="en-ZM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12E9E-DBDE-C2ED-D0B9-CAFABE16D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993" y="2126704"/>
            <a:ext cx="11741204" cy="3820738"/>
          </a:xfrm>
        </p:spPr>
        <p:txBody>
          <a:bodyPr>
            <a:noAutofit/>
          </a:bodyPr>
          <a:lstStyle/>
          <a:p>
            <a:pPr algn="just"/>
            <a:r>
              <a:rPr lang="en-US" sz="4400" dirty="0">
                <a:latin typeface="Arial Rounded MT Bold" panose="020F0704030504030204" pitchFamily="34" charset="0"/>
                <a:ea typeface="DengXian" panose="02010600030101010101" pitchFamily="2" charset="-122"/>
              </a:rPr>
              <a:t>1. S</a:t>
            </a:r>
            <a:r>
              <a:rPr lang="en-ZM" sz="4400" dirty="0" err="1"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ubset</a:t>
            </a:r>
            <a:r>
              <a:rPr lang="en-ZM" sz="4400" dirty="0"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 of the population that is selected for analysis. </a:t>
            </a:r>
            <a:endParaRPr lang="en-US" sz="4400" dirty="0">
              <a:effectLst/>
              <a:latin typeface="Arial Rounded MT Bold" panose="020F0704030504030204" pitchFamily="34" charset="0"/>
              <a:ea typeface="DengXian" panose="02010600030101010101" pitchFamily="2" charset="-122"/>
            </a:endParaRPr>
          </a:p>
          <a:p>
            <a:pPr algn="just"/>
            <a:endParaRPr lang="en-US" sz="4400" dirty="0">
              <a:latin typeface="Arial Rounded MT Bold" panose="020F0704030504030204" pitchFamily="34" charset="0"/>
              <a:ea typeface="DengXian" panose="02010600030101010101" pitchFamily="2" charset="-122"/>
            </a:endParaRPr>
          </a:p>
          <a:p>
            <a:pPr algn="just"/>
            <a:r>
              <a:rPr lang="en-US" sz="4400" dirty="0">
                <a:latin typeface="Arial Rounded MT Bold" panose="020F0704030504030204" pitchFamily="34" charset="0"/>
                <a:ea typeface="DengXian" panose="02010600030101010101" pitchFamily="2" charset="-122"/>
              </a:rPr>
              <a:t>2. U</a:t>
            </a:r>
            <a:r>
              <a:rPr lang="en-ZM" sz="4400" dirty="0"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sed to represent the population and make inferences about it.</a:t>
            </a:r>
            <a:endParaRPr lang="en-ZM" sz="44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218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E34C25-292B-4243-367B-E02FF6245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353EA-1A7F-E7E7-7A7A-4BB26B7A2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700" b="1">
                <a:solidFill>
                  <a:srgbClr val="FFFFFF"/>
                </a:solidFill>
              </a:rPr>
              <a:t>CHARACTERISTICS OF A </a:t>
            </a:r>
            <a:r>
              <a:rPr lang="en-US" sz="3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SAMPLE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B9C4648-0913-6084-00AD-6EE2591C5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246990"/>
              </p:ext>
            </p:extLst>
          </p:nvPr>
        </p:nvGraphicFramePr>
        <p:xfrm>
          <a:off x="176733" y="1966293"/>
          <a:ext cx="11917937" cy="4452162"/>
        </p:xfrm>
        <a:graphic>
          <a:graphicData uri="http://schemas.openxmlformats.org/drawingml/2006/table">
            <a:tbl>
              <a:tblPr firstRow="1" firstCol="1" bandRow="1"/>
              <a:tblGrid>
                <a:gridCol w="1706102">
                  <a:extLst>
                    <a:ext uri="{9D8B030D-6E8A-4147-A177-3AD203B41FA5}">
                      <a16:colId xmlns:a16="http://schemas.microsoft.com/office/drawing/2014/main" val="1502040331"/>
                    </a:ext>
                  </a:extLst>
                </a:gridCol>
                <a:gridCol w="5030240">
                  <a:extLst>
                    <a:ext uri="{9D8B030D-6E8A-4147-A177-3AD203B41FA5}">
                      <a16:colId xmlns:a16="http://schemas.microsoft.com/office/drawing/2014/main" val="778142955"/>
                    </a:ext>
                  </a:extLst>
                </a:gridCol>
                <a:gridCol w="5181595">
                  <a:extLst>
                    <a:ext uri="{9D8B030D-6E8A-4147-A177-3AD203B41FA5}">
                      <a16:colId xmlns:a16="http://schemas.microsoft.com/office/drawing/2014/main" val="3876292902"/>
                    </a:ext>
                  </a:extLst>
                </a:gridCol>
              </a:tblGrid>
              <a:tr h="518243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ZM" sz="2600" b="1" i="0" u="none" strike="noStrike" kern="1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Aspect</a:t>
                      </a:r>
                      <a:endParaRPr lang="en-ZM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58" marR="18658" marT="18658" marB="186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ZM" sz="2600" b="1" i="0" u="none" strike="noStrike" kern="1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Population</a:t>
                      </a:r>
                      <a:endParaRPr lang="en-ZM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58" marR="18658" marT="18658" marB="186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ZM" sz="2600" b="1" i="0" u="none" strike="noStrike" kern="1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Sample</a:t>
                      </a:r>
                      <a:endParaRPr lang="en-ZM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58" marR="18658" marT="18658" marB="18658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363766"/>
                  </a:ext>
                </a:extLst>
              </a:tr>
              <a:tr h="518243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ZM" sz="2600" b="1" i="0" u="none" strike="noStrike" kern="1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Definition</a:t>
                      </a:r>
                      <a:endParaRPr lang="en-ZM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58" marR="18658" marT="18658" marB="186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ZM" sz="2600" b="0" i="0" u="none" strike="noStrike" kern="1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The entire group of interest.</a:t>
                      </a:r>
                      <a:endParaRPr lang="en-ZM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58" marR="18658" marT="18658" marB="186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ZM" sz="2600" b="0" i="0" u="none" strike="noStrike" kern="1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A subset of the population.</a:t>
                      </a:r>
                      <a:endParaRPr lang="en-ZM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58" marR="18658" marT="18658" marB="186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925527"/>
                  </a:ext>
                </a:extLst>
              </a:tr>
              <a:tr h="518243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ZM" sz="2600" b="1" i="0" u="none" strike="noStrike" kern="1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Size</a:t>
                      </a:r>
                      <a:endParaRPr lang="en-ZM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58" marR="18658" marT="18658" marB="186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ZM" sz="2600" b="0" i="0" u="none" strike="noStrike" kern="1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Can be very large or infinite.</a:t>
                      </a:r>
                      <a:endParaRPr lang="en-ZM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58" marR="18658" marT="18658" marB="186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ZM" sz="2600" b="0" i="0" u="none" strike="noStrike" kern="1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Smaller and manageable.</a:t>
                      </a:r>
                      <a:endParaRPr lang="en-ZM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58" marR="18658" marT="18658" marB="186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666754"/>
                  </a:ext>
                </a:extLst>
              </a:tr>
              <a:tr h="965811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ZM" sz="2600" b="1" i="0" u="none" strike="noStrike" kern="1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Purpose</a:t>
                      </a:r>
                      <a:endParaRPr lang="en-ZM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58" marR="18658" marT="18658" marB="186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ZM" sz="2600" b="0" i="0" u="none" strike="noStrike" kern="1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To describe or analyze the whole group.</a:t>
                      </a:r>
                      <a:endParaRPr lang="en-ZM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58" marR="18658" marT="18658" marB="186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ZM" sz="2600" b="0" i="0" u="none" strike="noStrike" kern="1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To make inferences about the population.</a:t>
                      </a:r>
                      <a:endParaRPr lang="en-ZM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58" marR="18658" marT="18658" marB="186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182683"/>
                  </a:ext>
                </a:extLst>
              </a:tr>
              <a:tr h="965811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ZM" sz="2400" b="1" i="0" u="none" strike="noStrike" kern="1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Feasibility</a:t>
                      </a:r>
                      <a:endParaRPr lang="en-ZM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58" marR="18658" marT="18658" marB="186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ZM" sz="2600" b="0" i="0" u="none" strike="noStrike" kern="1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Often impractical to study entirely.</a:t>
                      </a:r>
                      <a:endParaRPr lang="en-ZM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58" marR="18658" marT="18658" marB="186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ZM" sz="2600" b="0" i="0" u="none" strike="noStrike" kern="1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Practical and cost-effective to study.</a:t>
                      </a:r>
                      <a:endParaRPr lang="en-ZM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58" marR="18658" marT="18658" marB="186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334136"/>
                  </a:ext>
                </a:extLst>
              </a:tr>
              <a:tr h="965811"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ZM" sz="2600" b="1" i="0" u="none" strike="noStrike" kern="1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Example</a:t>
                      </a:r>
                      <a:endParaRPr lang="en-ZM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58" marR="18658" marT="18658" marB="186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ZM" sz="2600" b="0" i="0" u="none" strike="noStrike" kern="10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All students in a university.</a:t>
                      </a:r>
                      <a:endParaRPr lang="en-ZM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58" marR="18658" marT="18658" marB="186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15000"/>
                        </a:lnSpc>
                        <a:buNone/>
                      </a:pPr>
                      <a:r>
                        <a:rPr lang="en-ZM" sz="2600" b="0" i="0" u="none" strike="noStrike" kern="100" dirty="0"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200 students randomly selected from the university.</a:t>
                      </a:r>
                      <a:endParaRPr lang="en-ZM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8658" marR="18658" marT="18658" marB="18658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37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9993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632B2-9CE1-3686-F848-655F71A1B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8AB09-26BD-D8D2-3A86-13CAC83E5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3227"/>
            <a:ext cx="9144000" cy="1205899"/>
          </a:xfrm>
        </p:spPr>
        <p:txBody>
          <a:bodyPr/>
          <a:lstStyle/>
          <a:p>
            <a:r>
              <a:rPr lang="en-US" b="1" dirty="0"/>
              <a:t>WHY USE A SAMPLE</a:t>
            </a:r>
            <a:endParaRPr lang="en-ZM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2F1AF1-91B3-B0DD-839B-54AFEDFC3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967113"/>
            <a:ext cx="12409714" cy="4787153"/>
          </a:xfrm>
        </p:spPr>
        <p:txBody>
          <a:bodyPr>
            <a:noAutofit/>
          </a:bodyPr>
          <a:lstStyle/>
          <a:p>
            <a:pPr marL="342900" lvl="0" indent="-342900">
              <a:tabLst>
                <a:tab pos="457200" algn="l"/>
              </a:tabLst>
            </a:pPr>
            <a:r>
              <a:rPr lang="en-ZM" sz="44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Practicality</a:t>
            </a:r>
            <a:r>
              <a:rPr lang="en-ZM" sz="44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: It is often impossible or too costly to collect data from an entire population.</a:t>
            </a:r>
            <a:endParaRPr lang="en-ZM" sz="4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ZM" sz="4400" b="1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Efficiency</a:t>
            </a:r>
            <a:r>
              <a:rPr lang="en-ZM" sz="4400" kern="100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: Samples allow researchers to gather data quickly and efficiently.</a:t>
            </a:r>
            <a:endParaRPr lang="en-ZM" sz="4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ZM" sz="44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Accuracy</a:t>
            </a:r>
            <a:r>
              <a:rPr lang="en-ZM" sz="44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: With proper sampling techniques, a sample can provide highly accurate estimates of population parameter</a:t>
            </a:r>
            <a:endParaRPr lang="en-ZM" sz="44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583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46596-4C09-BF22-EA1D-EAE8A6C51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21739-F149-5380-980A-DC3ED44AF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3227"/>
            <a:ext cx="9144000" cy="1205899"/>
          </a:xfrm>
        </p:spPr>
        <p:txBody>
          <a:bodyPr/>
          <a:lstStyle/>
          <a:p>
            <a:r>
              <a:rPr lang="en-US" b="1" dirty="0"/>
              <a:t>STATISTIC</a:t>
            </a:r>
            <a:endParaRPr lang="en-ZM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7395B1-86BC-CF3D-CEB2-DCD60B407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454" y="2895107"/>
            <a:ext cx="11987092" cy="2383824"/>
          </a:xfrm>
        </p:spPr>
        <p:txBody>
          <a:bodyPr>
            <a:noAutofit/>
          </a:bodyPr>
          <a:lstStyle/>
          <a:p>
            <a:pPr algn="just"/>
            <a:r>
              <a:rPr lang="en-ZM" sz="5400" dirty="0"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A numerical characteristic of a sample (e.g., sample mean, sample proportion).</a:t>
            </a:r>
            <a:endParaRPr lang="en-ZM" sz="54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940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0AD27-A258-C66E-4A2E-D58496251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AF30E-5DBA-7D04-76AF-EF192E707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3227"/>
            <a:ext cx="9144000" cy="1205899"/>
          </a:xfrm>
        </p:spPr>
        <p:txBody>
          <a:bodyPr/>
          <a:lstStyle/>
          <a:p>
            <a:r>
              <a:rPr lang="en-US" b="1" dirty="0"/>
              <a:t>PARAMETER</a:t>
            </a:r>
            <a:endParaRPr lang="en-ZM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454A4-7F95-E15D-EF72-682380B53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398" y="2749109"/>
            <a:ext cx="11741204" cy="3067703"/>
          </a:xfrm>
        </p:spPr>
        <p:txBody>
          <a:bodyPr>
            <a:noAutofit/>
          </a:bodyPr>
          <a:lstStyle/>
          <a:p>
            <a:pPr algn="just"/>
            <a:r>
              <a:rPr lang="en-ZM" sz="6000" dirty="0"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A numerical characteristic of a population (e.g., population mean, population proportion).</a:t>
            </a:r>
            <a:endParaRPr lang="en-ZM" sz="60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322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7F451-0B23-D724-6C79-C5CF55C37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C59BA-384E-B038-EAE8-C802F6A7C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811"/>
            <a:ext cx="9144000" cy="1205899"/>
          </a:xfrm>
        </p:spPr>
        <p:txBody>
          <a:bodyPr/>
          <a:lstStyle/>
          <a:p>
            <a:r>
              <a:rPr lang="en-US" b="1" dirty="0"/>
              <a:t>VARIABLE</a:t>
            </a:r>
            <a:endParaRPr lang="en-ZM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3D381-F93A-B7FA-F51D-529B332DE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993" y="2088284"/>
            <a:ext cx="11741204" cy="1655762"/>
          </a:xfrm>
        </p:spPr>
        <p:txBody>
          <a:bodyPr>
            <a:noAutofit/>
          </a:bodyPr>
          <a:lstStyle/>
          <a:p>
            <a:pPr algn="l"/>
            <a:r>
              <a:rPr lang="en-US" altLang="en-ZM" sz="4800" dirty="0">
                <a:latin typeface="Arial Rounded MT Bold" panose="020F0704030504030204" pitchFamily="34" charset="0"/>
              </a:rPr>
              <a:t>A variable - a characteristic of population or sample that is of interest for us.</a:t>
            </a:r>
          </a:p>
          <a:p>
            <a:pPr marL="1371600" lvl="1" indent="-914400" algn="l">
              <a:buFont typeface="+mj-lt"/>
              <a:buAutoNum type="arabicPeriod"/>
            </a:pPr>
            <a:r>
              <a:rPr lang="en-US" altLang="en-ZM" sz="4800" dirty="0">
                <a:latin typeface="Arial Rounded MT Bold" panose="020F0704030504030204" pitchFamily="34" charset="0"/>
              </a:rPr>
              <a:t>Cereal choice </a:t>
            </a:r>
          </a:p>
          <a:p>
            <a:pPr marL="1371600" lvl="1" indent="-914400" algn="l">
              <a:buFont typeface="+mj-lt"/>
              <a:buAutoNum type="arabicPeriod"/>
            </a:pPr>
            <a:r>
              <a:rPr lang="en-US" altLang="en-ZM" sz="4800" dirty="0">
                <a:latin typeface="Arial Rounded MT Bold" panose="020F0704030504030204" pitchFamily="34" charset="0"/>
              </a:rPr>
              <a:t>Capital expenditure</a:t>
            </a:r>
          </a:p>
          <a:p>
            <a:pPr marL="1371600" lvl="1" indent="-914400" algn="l">
              <a:buFont typeface="+mj-lt"/>
              <a:buAutoNum type="arabicPeriod"/>
            </a:pPr>
            <a:r>
              <a:rPr lang="en-US" altLang="en-ZM" sz="4800" dirty="0">
                <a:latin typeface="Arial Rounded MT Bold" panose="020F0704030504030204" pitchFamily="34" charset="0"/>
              </a:rPr>
              <a:t>The waiting time for medical services</a:t>
            </a:r>
          </a:p>
          <a:p>
            <a:pPr algn="l"/>
            <a:endParaRPr lang="en-ZM" sz="4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274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4BE8D-8895-74CB-2482-CC8CF0789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1A686-B2B7-10C0-0EC7-9AD7E2AAA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3227"/>
            <a:ext cx="9144000" cy="1205899"/>
          </a:xfrm>
        </p:spPr>
        <p:txBody>
          <a:bodyPr/>
          <a:lstStyle/>
          <a:p>
            <a:r>
              <a:rPr lang="en-US" b="1" dirty="0"/>
              <a:t>DATA</a:t>
            </a:r>
            <a:endParaRPr lang="en-ZM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87107D-0764-44B4-FF93-CC1FBC4B6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993" y="2126703"/>
            <a:ext cx="11741204" cy="4408069"/>
          </a:xfrm>
        </p:spPr>
        <p:txBody>
          <a:bodyPr>
            <a:noAutofit/>
          </a:bodyPr>
          <a:lstStyle/>
          <a:p>
            <a:pPr algn="l"/>
            <a:r>
              <a:rPr lang="en-US" altLang="en-ZM" sz="4800" dirty="0">
                <a:latin typeface="Arial Rounded MT Bold" panose="020F0704030504030204" pitchFamily="34" charset="0"/>
              </a:rPr>
              <a:t>Data - the actual values of variables</a:t>
            </a:r>
          </a:p>
          <a:p>
            <a:pPr algn="l"/>
            <a:r>
              <a:rPr lang="en-US" altLang="en-ZM" sz="4800" dirty="0">
                <a:latin typeface="Arial Rounded MT Bold" panose="020F0704030504030204" pitchFamily="34" charset="0"/>
              </a:rPr>
              <a:t> </a:t>
            </a:r>
          </a:p>
          <a:p>
            <a:pPr marL="1371600" lvl="1" indent="-914400" algn="l">
              <a:buFont typeface="+mj-lt"/>
              <a:buAutoNum type="arabicPeriod"/>
            </a:pPr>
            <a:r>
              <a:rPr lang="en-US" altLang="en-ZM" sz="4800" dirty="0">
                <a:latin typeface="Arial Rounded MT Bold" panose="020F0704030504030204" pitchFamily="34" charset="0"/>
              </a:rPr>
              <a:t>Quantitative data are numerical observations</a:t>
            </a:r>
          </a:p>
          <a:p>
            <a:pPr marL="1371600" lvl="1" indent="-914400" algn="l">
              <a:buFont typeface="+mj-lt"/>
              <a:buAutoNum type="arabicPeriod"/>
            </a:pPr>
            <a:r>
              <a:rPr lang="en-US" altLang="en-ZM" sz="4800" dirty="0">
                <a:latin typeface="Arial Rounded MT Bold" panose="020F0704030504030204" pitchFamily="34" charset="0"/>
              </a:rPr>
              <a:t>Qualitative data are categorical observations</a:t>
            </a:r>
          </a:p>
          <a:p>
            <a:pPr algn="l"/>
            <a:endParaRPr lang="en-ZM" sz="48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938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391A597-FF17-F259-C3B2-E4263F75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EB9C2-FBBF-4C8B-A3E0-5ABE627A6DBC}" type="slidenum">
              <a:rPr lang="en-US" altLang="en-ZM"/>
              <a:pPr/>
              <a:t>17</a:t>
            </a:fld>
            <a:endParaRPr lang="en-US" altLang="en-ZM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FB7632CA-5057-0BEB-8293-92122973E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04656" y="73134"/>
            <a:ext cx="4755776" cy="987264"/>
          </a:xfrm>
        </p:spPr>
        <p:txBody>
          <a:bodyPr>
            <a:normAutofit/>
          </a:bodyPr>
          <a:lstStyle/>
          <a:p>
            <a:pPr algn="l"/>
            <a:r>
              <a:rPr lang="en-US" altLang="en-ZM" sz="6000" b="1" dirty="0">
                <a:solidFill>
                  <a:schemeClr val="bg1"/>
                </a:solidFill>
              </a:rPr>
              <a:t>Types of data	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C4E8E14-38A4-A338-E022-45FE19B0D3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9049" y="1398494"/>
            <a:ext cx="11933304" cy="53229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ZM" sz="4000" dirty="0">
                <a:solidFill>
                  <a:schemeClr val="bg1"/>
                </a:solidFill>
              </a:rPr>
              <a:t>1. A variable - a characteristic of population or sample that is of interest for us.</a:t>
            </a:r>
          </a:p>
          <a:p>
            <a:pPr lvl="1"/>
            <a:r>
              <a:rPr lang="en-US" altLang="en-ZM" sz="4000" dirty="0">
                <a:solidFill>
                  <a:schemeClr val="bg1"/>
                </a:solidFill>
              </a:rPr>
              <a:t>Cereal choice </a:t>
            </a:r>
          </a:p>
          <a:p>
            <a:pPr lvl="1"/>
            <a:r>
              <a:rPr lang="en-US" altLang="en-ZM" sz="4000" dirty="0">
                <a:solidFill>
                  <a:schemeClr val="bg1"/>
                </a:solidFill>
              </a:rPr>
              <a:t>Capital expenditure</a:t>
            </a:r>
          </a:p>
          <a:p>
            <a:pPr lvl="1"/>
            <a:r>
              <a:rPr lang="en-US" altLang="en-ZM" sz="4000" dirty="0">
                <a:solidFill>
                  <a:schemeClr val="bg1"/>
                </a:solidFill>
              </a:rPr>
              <a:t>The waiting time for medical services</a:t>
            </a:r>
          </a:p>
          <a:p>
            <a:pPr marL="457200" lvl="1" indent="0">
              <a:buNone/>
            </a:pPr>
            <a:endParaRPr lang="en-US" altLang="en-ZM" sz="4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ZM" sz="4000" dirty="0">
                <a:solidFill>
                  <a:schemeClr val="bg1"/>
                </a:solidFill>
              </a:rPr>
              <a:t>2. Data - the actual values of variables </a:t>
            </a:r>
          </a:p>
          <a:p>
            <a:pPr lvl="1"/>
            <a:r>
              <a:rPr lang="en-US" altLang="en-ZM" sz="4000" dirty="0">
                <a:solidFill>
                  <a:schemeClr val="bg1"/>
                </a:solidFill>
              </a:rPr>
              <a:t>Quantitative data are numerical observations</a:t>
            </a:r>
          </a:p>
          <a:p>
            <a:pPr lvl="1"/>
            <a:r>
              <a:rPr lang="en-US" altLang="en-ZM" sz="4000" dirty="0">
                <a:solidFill>
                  <a:schemeClr val="bg1"/>
                </a:solidFill>
              </a:rPr>
              <a:t>Qualitative data are categorical observations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 bldLvl="2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A7C81476-E979-0123-B64F-CAF9DB98DE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122137"/>
              </p:ext>
            </p:extLst>
          </p:nvPr>
        </p:nvGraphicFramePr>
        <p:xfrm>
          <a:off x="3824768" y="1724024"/>
          <a:ext cx="5903219" cy="5060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352499" imgH="3409606" progId="Paint.Picture">
                  <p:embed/>
                </p:oleObj>
              </mc:Choice>
              <mc:Fallback>
                <p:oleObj name="Bitmap Image" r:id="rId2" imgW="4352499" imgH="3409606" progId="Paint.Picture">
                  <p:embed/>
                  <p:pic>
                    <p:nvPicPr>
                      <p:cNvPr id="4" name="Object 7">
                        <a:extLst>
                          <a:ext uri="{FF2B5EF4-FFF2-40B4-BE49-F238E27FC236}">
                            <a16:creationId xmlns:a16="http://schemas.microsoft.com/office/drawing/2014/main" id="{A7C81476-E979-0123-B64F-CAF9DB98DE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768" y="1724024"/>
                        <a:ext cx="5903219" cy="50609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64521352-ED8F-5D29-17A1-596B1F6C77DC}"/>
              </a:ext>
            </a:extLst>
          </p:cNvPr>
          <p:cNvSpPr/>
          <p:nvPr/>
        </p:nvSpPr>
        <p:spPr>
          <a:xfrm>
            <a:off x="2464012" y="153681"/>
            <a:ext cx="4036679" cy="2159214"/>
          </a:xfrm>
          <a:prstGeom prst="cloudCallout">
            <a:avLst>
              <a:gd name="adj1" fmla="val 71159"/>
              <a:gd name="adj2" fmla="val 76735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 Rounded MT Bold" panose="020F0704030504030204" pitchFamily="34" charset="0"/>
              </a:rPr>
              <a:t>Statistics….eish</a:t>
            </a:r>
          </a:p>
          <a:p>
            <a:pPr algn="ctr"/>
            <a:endParaRPr lang="en-US" sz="2800" dirty="0">
              <a:latin typeface="Arial Rounded MT Bold" panose="020F0704030504030204" pitchFamily="34" charset="0"/>
            </a:endParaRPr>
          </a:p>
          <a:p>
            <a:pPr algn="ctr"/>
            <a:r>
              <a:rPr lang="en-US" sz="2800" dirty="0">
                <a:latin typeface="Arial Rounded MT Bold" panose="020F0704030504030204" pitchFamily="34" charset="0"/>
              </a:rPr>
              <a:t>Thank You Day 1</a:t>
            </a:r>
            <a:endParaRPr lang="en-ZM" sz="2800" dirty="0"/>
          </a:p>
        </p:txBody>
      </p:sp>
    </p:spTree>
    <p:extLst>
      <p:ext uri="{BB962C8B-B14F-4D97-AF65-F5344CB8AC3E}">
        <p14:creationId xmlns:p14="http://schemas.microsoft.com/office/powerpoint/2010/main" val="340856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8A396B-1437-A1C4-98EC-538F5F2C0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8ADB-A720-7C9D-2608-D673B09DC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422"/>
            <a:ext cx="9144000" cy="9067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VARIABLES (continued)</a:t>
            </a:r>
            <a:endParaRPr lang="en-ZM" sz="48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2CF437-6404-013E-B8A4-2367F4407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993" y="1160289"/>
            <a:ext cx="11741204" cy="5578607"/>
          </a:xfrm>
        </p:spPr>
        <p:txBody>
          <a:bodyPr>
            <a:noAutofit/>
          </a:bodyPr>
          <a:lstStyle/>
          <a:p>
            <a:pPr marL="742950" indent="-742950" algn="l">
              <a:buAutoNum type="arabicPeriod"/>
            </a:pPr>
            <a:r>
              <a:rPr lang="en-US" sz="40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ZM" sz="4000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haracteristics</a:t>
            </a:r>
            <a:r>
              <a:rPr lang="en-ZM" sz="40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or attributes that can assume different values. </a:t>
            </a:r>
            <a:endParaRPr lang="en-US" sz="40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742950" indent="-742950" algn="l">
              <a:buAutoNum type="arabicPeriod"/>
            </a:pPr>
            <a:endParaRPr lang="en-US" sz="18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742950" indent="-742950" algn="l">
              <a:buAutoNum type="arabicPeriod"/>
            </a:pPr>
            <a:r>
              <a:rPr lang="en-US" sz="40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ZM" sz="4000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lassified</a:t>
            </a:r>
            <a:r>
              <a:rPr lang="en-ZM" sz="40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into different types based on their nature and level of measurement. </a:t>
            </a:r>
            <a:endParaRPr lang="en-US" sz="40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742950" indent="-742950" algn="l">
              <a:buAutoNum type="arabicPeriod"/>
            </a:pPr>
            <a:endParaRPr lang="en-US" sz="18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742950" indent="-742950" algn="l">
              <a:buAutoNum type="arabicPeriod"/>
            </a:pPr>
            <a:r>
              <a:rPr lang="en-US" sz="4000" kern="100" dirty="0">
                <a:solidFill>
                  <a:schemeClr val="bg1"/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ZM" sz="40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 the building blocks </a:t>
            </a:r>
            <a:r>
              <a:rPr lang="en-US" sz="4000" kern="100" dirty="0">
                <a:solidFill>
                  <a:schemeClr val="bg1"/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ZM" sz="40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data analysis</a:t>
            </a:r>
            <a:r>
              <a:rPr lang="en-US" sz="40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742950" indent="-742950" algn="l">
              <a:buAutoNum type="arabicPeriod"/>
            </a:pPr>
            <a:endParaRPr lang="en-US" sz="18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742950" indent="-742950" algn="l">
              <a:buAutoNum type="arabicPeriod"/>
            </a:pPr>
            <a:r>
              <a:rPr lang="en-US" sz="40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ZM" sz="40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 classified into different types based on their nature and the level of measurement.</a:t>
            </a:r>
          </a:p>
        </p:txBody>
      </p:sp>
    </p:spTree>
    <p:extLst>
      <p:ext uri="{BB962C8B-B14F-4D97-AF65-F5344CB8AC3E}">
        <p14:creationId xmlns:p14="http://schemas.microsoft.com/office/powerpoint/2010/main" val="3358196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71E950-A62A-9CD9-084F-A42EE5090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54018-6A48-0CCF-1EAA-B1F1BEA5D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422"/>
            <a:ext cx="9144000" cy="90672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VARIABLES (continued)</a:t>
            </a:r>
            <a:endParaRPr lang="en-ZM" sz="4800" b="1" dirty="0">
              <a:solidFill>
                <a:schemeClr val="bg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A2BFE6C-C489-6918-FA2C-33A805AC7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840" y="1212303"/>
            <a:ext cx="11971725" cy="1461737"/>
          </a:xfrm>
        </p:spPr>
        <p:txBody>
          <a:bodyPr>
            <a:normAutofit fontScale="40000" lnSpcReduction="20000"/>
          </a:bodyPr>
          <a:lstStyle/>
          <a:p>
            <a:pPr algn="l"/>
            <a:r>
              <a:rPr lang="en-ZM" sz="18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9800" b="1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Categorical Variables (Qualitative)</a:t>
            </a:r>
          </a:p>
          <a:p>
            <a:pPr algn="l"/>
            <a:endParaRPr lang="en-US" sz="76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sz="76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ZM" sz="76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epresent</a:t>
            </a:r>
            <a:r>
              <a:rPr lang="en-ZM" sz="76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categories or groups</a:t>
            </a:r>
            <a:r>
              <a:rPr lang="en-US" sz="76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ZM" sz="76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are non-numeric</a:t>
            </a:r>
            <a:endParaRPr lang="en-ZM" sz="7600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11B123-6E2D-79C7-88F7-4E10A258C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975019"/>
              </p:ext>
            </p:extLst>
          </p:nvPr>
        </p:nvGraphicFramePr>
        <p:xfrm>
          <a:off x="76840" y="2674040"/>
          <a:ext cx="11971725" cy="40955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73184">
                  <a:extLst>
                    <a:ext uri="{9D8B030D-6E8A-4147-A177-3AD203B41FA5}">
                      <a16:colId xmlns:a16="http://schemas.microsoft.com/office/drawing/2014/main" val="475980373"/>
                    </a:ext>
                  </a:extLst>
                </a:gridCol>
                <a:gridCol w="3557707">
                  <a:extLst>
                    <a:ext uri="{9D8B030D-6E8A-4147-A177-3AD203B41FA5}">
                      <a16:colId xmlns:a16="http://schemas.microsoft.com/office/drawing/2014/main" val="3405919458"/>
                    </a:ext>
                  </a:extLst>
                </a:gridCol>
                <a:gridCol w="4940834">
                  <a:extLst>
                    <a:ext uri="{9D8B030D-6E8A-4147-A177-3AD203B41FA5}">
                      <a16:colId xmlns:a16="http://schemas.microsoft.com/office/drawing/2014/main" val="250029132"/>
                    </a:ext>
                  </a:extLst>
                </a:gridCol>
              </a:tblGrid>
              <a:tr h="455066">
                <a:tc>
                  <a:txBody>
                    <a:bodyPr/>
                    <a:lstStyle/>
                    <a:p>
                      <a:r>
                        <a:rPr lang="en-ZM" sz="2800" kern="100">
                          <a:effectLst/>
                        </a:rPr>
                        <a:t>Categorical Variable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What it is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Example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526666"/>
                  </a:ext>
                </a:extLst>
              </a:tr>
              <a:tr h="1820262">
                <a:tc>
                  <a:txBody>
                    <a:bodyPr/>
                    <a:lstStyle/>
                    <a:p>
                      <a:r>
                        <a:rPr lang="en-ZM" sz="2800" kern="100">
                          <a:effectLst/>
                        </a:rPr>
                        <a:t>1. Nominal variable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no inherent order or ranking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Gender (Male, Female), Marital Status (Single, Married, Divorced, Widowed)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6794402"/>
                  </a:ext>
                </a:extLst>
              </a:tr>
              <a:tr h="1820262"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2. Ordinal Variable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>
                          <a:effectLst/>
                        </a:rPr>
                        <a:t>with a natural order or ranking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Level of Education attained (Kindergarten, High School, Bachelor’s, Master’s, PhD)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1838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7429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56ECD-5416-DDC0-4591-011CE76E2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40E3B2-B45B-A7CF-A1BF-CCF094E35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</a:rPr>
              <a:t>Numerical Variables</a:t>
            </a:r>
            <a:endParaRPr lang="en-ZM" sz="4000" b="1" dirty="0">
              <a:solidFill>
                <a:srgbClr val="FFFFFF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51FBA1B-1B8C-176B-FC2F-753B0E57B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8857" y="55659"/>
            <a:ext cx="4063142" cy="1256306"/>
          </a:xfrm>
        </p:spPr>
        <p:txBody>
          <a:bodyPr anchor="ctr">
            <a:noAutofit/>
          </a:bodyPr>
          <a:lstStyle/>
          <a:p>
            <a:pPr algn="l"/>
            <a:r>
              <a:rPr lang="en-ZM" sz="28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sz="2800" dirty="0">
              <a:solidFill>
                <a:srgbClr val="FFFFFF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ZM" sz="28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Represent measurable quantities and can be expressed as numbers</a:t>
            </a:r>
            <a:endParaRPr lang="en-ZM" sz="2800" dirty="0">
              <a:solidFill>
                <a:srgbClr val="FFFFFF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A387156-1A64-56B1-93B1-7F9266EF2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813080"/>
              </p:ext>
            </p:extLst>
          </p:nvPr>
        </p:nvGraphicFramePr>
        <p:xfrm>
          <a:off x="87464" y="1966293"/>
          <a:ext cx="11982616" cy="48391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73950">
                  <a:extLst>
                    <a:ext uri="{9D8B030D-6E8A-4147-A177-3AD203B41FA5}">
                      <a16:colId xmlns:a16="http://schemas.microsoft.com/office/drawing/2014/main" val="9174482"/>
                    </a:ext>
                  </a:extLst>
                </a:gridCol>
                <a:gridCol w="3867560">
                  <a:extLst>
                    <a:ext uri="{9D8B030D-6E8A-4147-A177-3AD203B41FA5}">
                      <a16:colId xmlns:a16="http://schemas.microsoft.com/office/drawing/2014/main" val="1142012499"/>
                    </a:ext>
                  </a:extLst>
                </a:gridCol>
                <a:gridCol w="4041106">
                  <a:extLst>
                    <a:ext uri="{9D8B030D-6E8A-4147-A177-3AD203B41FA5}">
                      <a16:colId xmlns:a16="http://schemas.microsoft.com/office/drawing/2014/main" val="1788743838"/>
                    </a:ext>
                  </a:extLst>
                </a:gridCol>
              </a:tblGrid>
              <a:tr h="547478">
                <a:tc>
                  <a:txBody>
                    <a:bodyPr/>
                    <a:lstStyle/>
                    <a:p>
                      <a:r>
                        <a:rPr lang="en-ZM" sz="3200" kern="100">
                          <a:effectLst/>
                        </a:rPr>
                        <a:t>Numerical Variable</a:t>
                      </a:r>
                      <a:endParaRPr lang="en-ZM" sz="3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7506" marR="157506" marT="0" marB="0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3200" kern="100" dirty="0">
                          <a:effectLst/>
                        </a:rPr>
                        <a:t>What it is</a:t>
                      </a:r>
                      <a:endParaRPr lang="en-ZM" sz="3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7506" marR="157506" marT="0" marB="0"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3200" kern="100" dirty="0">
                          <a:effectLst/>
                        </a:rPr>
                        <a:t>Example</a:t>
                      </a:r>
                      <a:endParaRPr lang="en-ZM" sz="3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7506" marR="157506" marT="0" marB="0"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044133"/>
                  </a:ext>
                </a:extLst>
              </a:tr>
              <a:tr h="1459939">
                <a:tc>
                  <a:txBody>
                    <a:bodyPr/>
                    <a:lstStyle/>
                    <a:p>
                      <a:r>
                        <a:rPr lang="en-ZM" sz="3200" kern="100" dirty="0">
                          <a:effectLst/>
                        </a:rPr>
                        <a:t>1. Discrete Variable</a:t>
                      </a:r>
                      <a:endParaRPr lang="en-ZM" sz="3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7506" marR="157506" marT="0" marB="0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3200" kern="100">
                          <a:effectLst/>
                        </a:rPr>
                        <a:t>take on distinct, separate values (often counts)</a:t>
                      </a:r>
                      <a:endParaRPr lang="en-ZM" sz="3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7506" marR="157506" marT="0" marB="0"/>
                </a:tc>
                <a:tc>
                  <a:txBody>
                    <a:bodyPr/>
                    <a:lstStyle/>
                    <a:p>
                      <a:r>
                        <a:rPr lang="en-ZM" sz="3200" kern="100">
                          <a:effectLst/>
                        </a:rPr>
                        <a:t>Number of cattle owned (1,2,3,4 etc)</a:t>
                      </a:r>
                      <a:endParaRPr lang="en-ZM" sz="3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7506" marR="157506" marT="0" marB="0"/>
                </a:tc>
                <a:extLst>
                  <a:ext uri="{0D108BD9-81ED-4DB2-BD59-A6C34878D82A}">
                    <a16:rowId xmlns:a16="http://schemas.microsoft.com/office/drawing/2014/main" val="3575477853"/>
                  </a:ext>
                </a:extLst>
              </a:tr>
              <a:tr h="2828631">
                <a:tc>
                  <a:txBody>
                    <a:bodyPr/>
                    <a:lstStyle/>
                    <a:p>
                      <a:r>
                        <a:rPr lang="en-ZM" sz="3200" kern="100" dirty="0">
                          <a:effectLst/>
                        </a:rPr>
                        <a:t>2. Continuous Variable</a:t>
                      </a:r>
                      <a:endParaRPr lang="en-ZM" sz="3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7506" marR="157506" marT="0" marB="0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3200" kern="100" dirty="0">
                          <a:effectLst/>
                        </a:rPr>
                        <a:t>Take on any value within a range (often measurements)</a:t>
                      </a:r>
                      <a:endParaRPr lang="en-ZM" sz="3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7506" marR="157506" marT="0" marB="0"/>
                </a:tc>
                <a:tc>
                  <a:txBody>
                    <a:bodyPr/>
                    <a:lstStyle/>
                    <a:p>
                      <a:r>
                        <a:rPr lang="en-ZM" sz="3200" kern="100" dirty="0">
                          <a:effectLst/>
                        </a:rPr>
                        <a:t>Height (range of men’s height is 1.4m to 1.9m; any value from 1.4m to 1.9m) Weight, Temperature</a:t>
                      </a:r>
                      <a:endParaRPr lang="en-ZM" sz="3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7506" marR="157506" marT="0" marB="0"/>
                </a:tc>
                <a:extLst>
                  <a:ext uri="{0D108BD9-81ED-4DB2-BD59-A6C34878D82A}">
                    <a16:rowId xmlns:a16="http://schemas.microsoft.com/office/drawing/2014/main" val="3658236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5957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FEF72-126F-A77D-08EF-41337F98A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FC00-BE2B-74A7-56CC-C91EA61AD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422"/>
            <a:ext cx="9144000" cy="906720"/>
          </a:xfrm>
        </p:spPr>
        <p:txBody>
          <a:bodyPr>
            <a:normAutofit/>
          </a:bodyPr>
          <a:lstStyle/>
          <a:p>
            <a:r>
              <a:rPr lang="en-US" sz="4800" b="1" dirty="0"/>
              <a:t>Other Types of Variables</a:t>
            </a:r>
            <a:endParaRPr lang="en-ZM" sz="4800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A55DB6-2F9D-A490-F623-5E835867E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765387"/>
              </p:ext>
            </p:extLst>
          </p:nvPr>
        </p:nvGraphicFramePr>
        <p:xfrm>
          <a:off x="55658" y="945142"/>
          <a:ext cx="12020077" cy="58744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0282">
                  <a:extLst>
                    <a:ext uri="{9D8B030D-6E8A-4147-A177-3AD203B41FA5}">
                      <a16:colId xmlns:a16="http://schemas.microsoft.com/office/drawing/2014/main" val="3415981012"/>
                    </a:ext>
                  </a:extLst>
                </a:gridCol>
                <a:gridCol w="2246210">
                  <a:extLst>
                    <a:ext uri="{9D8B030D-6E8A-4147-A177-3AD203B41FA5}">
                      <a16:colId xmlns:a16="http://schemas.microsoft.com/office/drawing/2014/main" val="638339144"/>
                    </a:ext>
                  </a:extLst>
                </a:gridCol>
                <a:gridCol w="5287041">
                  <a:extLst>
                    <a:ext uri="{9D8B030D-6E8A-4147-A177-3AD203B41FA5}">
                      <a16:colId xmlns:a16="http://schemas.microsoft.com/office/drawing/2014/main" val="3075271235"/>
                    </a:ext>
                  </a:extLst>
                </a:gridCol>
                <a:gridCol w="3466544">
                  <a:extLst>
                    <a:ext uri="{9D8B030D-6E8A-4147-A177-3AD203B41FA5}">
                      <a16:colId xmlns:a16="http://schemas.microsoft.com/office/drawing/2014/main" val="300815788"/>
                    </a:ext>
                  </a:extLst>
                </a:gridCol>
              </a:tblGrid>
              <a:tr h="7300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 dirty="0">
                          <a:effectLst/>
                        </a:rPr>
                        <a:t>Type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Subtype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Description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Example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90538516"/>
                  </a:ext>
                </a:extLst>
              </a:tr>
              <a:tr h="1471442">
                <a:tc row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Other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Dependent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 dirty="0">
                          <a:effectLst/>
                        </a:rPr>
                        <a:t>Outcome or response variable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 dirty="0">
                          <a:effectLst/>
                        </a:rPr>
                        <a:t>Test scores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04335720"/>
                  </a:ext>
                </a:extLst>
              </a:tr>
              <a:tr h="1471442">
                <a:tc vMerge="1">
                  <a:txBody>
                    <a:bodyPr/>
                    <a:lstStyle/>
                    <a:p>
                      <a:endParaRPr lang="en-ZM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Independent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 dirty="0">
                          <a:effectLst/>
                        </a:rPr>
                        <a:t>Manipulated or predictor variable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 dirty="0">
                          <a:effectLst/>
                        </a:rPr>
                        <a:t>Study time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68237721"/>
                  </a:ext>
                </a:extLst>
              </a:tr>
              <a:tr h="1471442">
                <a:tc vMerge="1">
                  <a:txBody>
                    <a:bodyPr/>
                    <a:lstStyle/>
                    <a:p>
                      <a:endParaRPr lang="en-ZM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Confounding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Influences both dependent and independent variables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 dirty="0">
                          <a:effectLst/>
                        </a:rPr>
                        <a:t>Age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9824771"/>
                  </a:ext>
                </a:extLst>
              </a:tr>
              <a:tr h="730055">
                <a:tc vMerge="1">
                  <a:txBody>
                    <a:bodyPr/>
                    <a:lstStyle/>
                    <a:p>
                      <a:endParaRPr lang="en-ZM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Latent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Inferred from other variables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 dirty="0">
                          <a:effectLst/>
                        </a:rPr>
                        <a:t>Intelligence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15287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8685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5E2F7-D5BD-BF4E-3104-9F01137E2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1CE30-5420-76E2-A965-C385562C5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985" y="1967266"/>
            <a:ext cx="28751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Importance of Understanding Variables</a:t>
            </a:r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87B96157-7D57-E087-F531-9C104E7B9A6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7316" y="1520764"/>
            <a:ext cx="6780700" cy="381414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8584D0-A7F5-E202-558D-36C4C482AE15}"/>
              </a:ext>
            </a:extLst>
          </p:cNvPr>
          <p:cNvSpPr txBox="1"/>
          <p:nvPr/>
        </p:nvSpPr>
        <p:spPr>
          <a:xfrm>
            <a:off x="103696" y="5439266"/>
            <a:ext cx="11953186" cy="1200329"/>
          </a:xfrm>
          <a:prstGeom prst="rect">
            <a:avLst/>
          </a:prstGeom>
          <a:solidFill>
            <a:schemeClr val="accent6">
              <a:lumMod val="5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3600" kern="100" dirty="0">
                <a:solidFill>
                  <a:schemeClr val="bg1"/>
                </a:solidFill>
                <a:latin typeface="Arial Rounded MT Bold" panose="020F07040305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ZM" sz="3600" kern="100" dirty="0" err="1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rucial</a:t>
            </a:r>
            <a:r>
              <a:rPr lang="en-ZM" sz="3600" kern="100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for selecting the appropriate statistical methods and tools for analysis.</a:t>
            </a:r>
          </a:p>
        </p:txBody>
      </p:sp>
    </p:spTree>
    <p:extLst>
      <p:ext uri="{BB962C8B-B14F-4D97-AF65-F5344CB8AC3E}">
        <p14:creationId xmlns:p14="http://schemas.microsoft.com/office/powerpoint/2010/main" val="1461048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B7F646-3D89-9BF0-F211-F67E5BDE5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31083-7C29-F1CE-4FF2-4D4673A68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71" y="122945"/>
            <a:ext cx="12056249" cy="1406181"/>
          </a:xfrm>
          <a:ln w="28575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PARAMETRIC AND NON-PARAMETRIC STATISTICS</a:t>
            </a:r>
            <a:endParaRPr lang="en-ZM" sz="48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1EF1B-0043-A6D1-0CA5-51738267C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993" y="2126703"/>
            <a:ext cx="11741204" cy="4608351"/>
          </a:xfrm>
        </p:spPr>
        <p:txBody>
          <a:bodyPr>
            <a:noAutofit/>
          </a:bodyPr>
          <a:lstStyle/>
          <a:p>
            <a:pPr algn="just"/>
            <a:r>
              <a:rPr lang="en-US" sz="4000" b="1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1. </a:t>
            </a:r>
            <a:r>
              <a:rPr lang="en-ZM" sz="4000" b="1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Parametric</a:t>
            </a:r>
            <a:r>
              <a:rPr lang="en-ZM" sz="4000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 and </a:t>
            </a:r>
            <a:r>
              <a:rPr lang="en-ZM" sz="4000" b="1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non-parametric statistics</a:t>
            </a:r>
            <a:r>
              <a:rPr lang="en-ZM" sz="4000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 are two broad categories of statistical methods used for data analysis. </a:t>
            </a:r>
            <a:endParaRPr lang="en-US" sz="4000" dirty="0">
              <a:solidFill>
                <a:schemeClr val="bg1"/>
              </a:solidFill>
              <a:effectLst/>
              <a:latin typeface="Arial Rounded MT Bold" panose="020F0704030504030204" pitchFamily="34" charset="0"/>
              <a:ea typeface="DengXian" panose="02010600030101010101" pitchFamily="2" charset="-122"/>
            </a:endParaRPr>
          </a:p>
          <a:p>
            <a:pPr algn="just"/>
            <a:endParaRPr lang="en-US" sz="4000" dirty="0">
              <a:solidFill>
                <a:schemeClr val="bg1"/>
              </a:solidFill>
              <a:effectLst/>
              <a:latin typeface="Arial Rounded MT Bold" panose="020F0704030504030204" pitchFamily="34" charset="0"/>
              <a:ea typeface="DengXian" panose="02010600030101010101" pitchFamily="2" charset="-122"/>
            </a:endParaRPr>
          </a:p>
          <a:p>
            <a:pPr algn="just"/>
            <a:r>
              <a:rPr lang="en-US" sz="4000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2. </a:t>
            </a:r>
            <a:r>
              <a:rPr lang="en-ZM" sz="4000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The choice between them depends on the nature of the data and the assumptions that can be made about the population from which the </a:t>
            </a:r>
            <a:r>
              <a:rPr lang="en-US" sz="4000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sample (</a:t>
            </a:r>
            <a:r>
              <a:rPr lang="en-ZM" sz="4000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data</a:t>
            </a:r>
            <a:r>
              <a:rPr lang="en-US" sz="4000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)</a:t>
            </a:r>
            <a:r>
              <a:rPr lang="en-ZM" sz="4000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</a:rPr>
              <a:t> is drawn.</a:t>
            </a:r>
            <a:endParaRPr lang="en-ZM" sz="4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386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56FE2C-EF1A-7AD3-9516-66440BEFB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268EE-1F0F-DF66-9173-20FC06001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71" y="46107"/>
            <a:ext cx="12056249" cy="922087"/>
          </a:xfrm>
          <a:ln w="28575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PARAMETRIC STATISTICS</a:t>
            </a:r>
            <a:endParaRPr lang="en-ZM" sz="48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7B90AF-7287-5465-EA0F-47847EA19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70" y="1544491"/>
            <a:ext cx="12056249" cy="5190563"/>
          </a:xfrm>
        </p:spPr>
        <p:txBody>
          <a:bodyPr>
            <a:noAutofit/>
          </a:bodyPr>
          <a:lstStyle/>
          <a:p>
            <a:r>
              <a:rPr lang="en-ZM" sz="4000" b="1" u="sng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Key Assumptions</a:t>
            </a:r>
            <a:endParaRPr lang="en-ZM" sz="4000" u="sng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endParaRPr lang="en-US" sz="3200" b="1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342900" lvl="0" indent="-342900">
              <a:tabLst>
                <a:tab pos="457200" algn="l"/>
              </a:tabLst>
            </a:pPr>
            <a:r>
              <a:rPr lang="en-ZM" sz="32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Normality</a:t>
            </a:r>
            <a:r>
              <a:rPr lang="en-ZM" sz="3200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: The data is normally distributed (or approximately normal).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ZM" sz="32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Homogeneity of Variance</a:t>
            </a:r>
            <a:r>
              <a:rPr lang="en-ZM" sz="3200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: The variance within groups is similar (for tests comparing groups).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ZM" sz="32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Interval or Ratio Scale</a:t>
            </a:r>
            <a:r>
              <a:rPr lang="en-ZM" sz="3200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: The data is measured on an interval or ratio scale (e.g., temperature, height).</a:t>
            </a:r>
          </a:p>
          <a:p>
            <a:pPr marL="342900" lvl="0" indent="-342900">
              <a:tabLst>
                <a:tab pos="457200" algn="l"/>
              </a:tabLst>
            </a:pPr>
            <a:r>
              <a:rPr lang="en-ZM" sz="32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Independence</a:t>
            </a:r>
            <a:r>
              <a:rPr lang="en-ZM" sz="3200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: Observations are independent of each other.</a:t>
            </a:r>
          </a:p>
          <a:p>
            <a:pPr algn="just"/>
            <a:endParaRPr lang="en-ZM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100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D684AEC-B417-54CE-5431-76A3DBAC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03D7C-0FB8-4144-BCB1-D232E3B183FD}" type="slidenum">
              <a:rPr lang="en-US" altLang="en-ZM"/>
              <a:pPr/>
              <a:t>26</a:t>
            </a:fld>
            <a:endParaRPr lang="en-US" altLang="en-ZM"/>
          </a:p>
        </p:txBody>
      </p:sp>
      <p:sp>
        <p:nvSpPr>
          <p:cNvPr id="17454" name="Rectangle 46">
            <a:extLst>
              <a:ext uri="{FF2B5EF4-FFF2-40B4-BE49-F238E27FC236}">
                <a16:creationId xmlns:a16="http://schemas.microsoft.com/office/drawing/2014/main" id="{C4D1E033-7219-C277-FEE1-2BB94B984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124200"/>
            <a:ext cx="304800" cy="28956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53" name="Rectangle 45">
            <a:extLst>
              <a:ext uri="{FF2B5EF4-FFF2-40B4-BE49-F238E27FC236}">
                <a16:creationId xmlns:a16="http://schemas.microsoft.com/office/drawing/2014/main" id="{1AF327EC-9462-CCF5-42D9-721C407E0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5486400"/>
            <a:ext cx="304800" cy="5334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52" name="Rectangle 44">
            <a:extLst>
              <a:ext uri="{FF2B5EF4-FFF2-40B4-BE49-F238E27FC236}">
                <a16:creationId xmlns:a16="http://schemas.microsoft.com/office/drawing/2014/main" id="{908979CB-12AD-9D97-94FE-07A18B5D5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5410200"/>
            <a:ext cx="304800" cy="6096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20" name="Rectangle 12">
            <a:extLst>
              <a:ext uri="{FF2B5EF4-FFF2-40B4-BE49-F238E27FC236}">
                <a16:creationId xmlns:a16="http://schemas.microsoft.com/office/drawing/2014/main" id="{91F0C4B8-2D9F-3DDF-5733-3153770B1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038600"/>
            <a:ext cx="304800" cy="19812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21" name="Rectangle 13">
            <a:extLst>
              <a:ext uri="{FF2B5EF4-FFF2-40B4-BE49-F238E27FC236}">
                <a16:creationId xmlns:a16="http://schemas.microsoft.com/office/drawing/2014/main" id="{21B6E819-1C9B-9277-A8EC-3A4A874B5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4191000"/>
            <a:ext cx="304800" cy="18288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22" name="Rectangle 14">
            <a:extLst>
              <a:ext uri="{FF2B5EF4-FFF2-40B4-BE49-F238E27FC236}">
                <a16:creationId xmlns:a16="http://schemas.microsoft.com/office/drawing/2014/main" id="{43DF8454-3B3A-6658-748A-37C8C3340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648200"/>
            <a:ext cx="304800" cy="13716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23" name="Rectangle 15">
            <a:extLst>
              <a:ext uri="{FF2B5EF4-FFF2-40B4-BE49-F238E27FC236}">
                <a16:creationId xmlns:a16="http://schemas.microsoft.com/office/drawing/2014/main" id="{7494625C-3CD7-2806-73BB-63617849F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486400"/>
            <a:ext cx="304800" cy="5334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24" name="Rectangle 16">
            <a:extLst>
              <a:ext uri="{FF2B5EF4-FFF2-40B4-BE49-F238E27FC236}">
                <a16:creationId xmlns:a16="http://schemas.microsoft.com/office/drawing/2014/main" id="{0B9622D8-F73F-2AB4-084F-C013B5B71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5105400"/>
            <a:ext cx="304800" cy="9144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25" name="Rectangle 17">
            <a:extLst>
              <a:ext uri="{FF2B5EF4-FFF2-40B4-BE49-F238E27FC236}">
                <a16:creationId xmlns:a16="http://schemas.microsoft.com/office/drawing/2014/main" id="{A1E1A47D-58AD-CF40-D462-04456C744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486400"/>
            <a:ext cx="304800" cy="5334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26" name="Rectangle 18">
            <a:extLst>
              <a:ext uri="{FF2B5EF4-FFF2-40B4-BE49-F238E27FC236}">
                <a16:creationId xmlns:a16="http://schemas.microsoft.com/office/drawing/2014/main" id="{0C6FD895-742A-6F36-75B2-E1DC3361C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581400"/>
            <a:ext cx="304800" cy="24384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27" name="Rectangle 19">
            <a:extLst>
              <a:ext uri="{FF2B5EF4-FFF2-40B4-BE49-F238E27FC236}">
                <a16:creationId xmlns:a16="http://schemas.microsoft.com/office/drawing/2014/main" id="{1B94F300-F1E7-B0ED-C0CC-F66DB03DD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3810000"/>
            <a:ext cx="304800" cy="22098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28" name="Rectangle 20">
            <a:extLst>
              <a:ext uri="{FF2B5EF4-FFF2-40B4-BE49-F238E27FC236}">
                <a16:creationId xmlns:a16="http://schemas.microsoft.com/office/drawing/2014/main" id="{09C9032C-E764-0345-294F-1534FA3E1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495800"/>
            <a:ext cx="304800" cy="15240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29" name="Rectangle 21">
            <a:extLst>
              <a:ext uri="{FF2B5EF4-FFF2-40B4-BE49-F238E27FC236}">
                <a16:creationId xmlns:a16="http://schemas.microsoft.com/office/drawing/2014/main" id="{7E8F5450-628C-70EC-24B7-88EEE3F73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343400"/>
            <a:ext cx="304800" cy="16764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31" name="Rectangle 23">
            <a:extLst>
              <a:ext uri="{FF2B5EF4-FFF2-40B4-BE49-F238E27FC236}">
                <a16:creationId xmlns:a16="http://schemas.microsoft.com/office/drawing/2014/main" id="{0682E0EF-63D4-29B2-085C-929EFD677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4953000"/>
            <a:ext cx="304800" cy="10668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32" name="Rectangle 24">
            <a:extLst>
              <a:ext uri="{FF2B5EF4-FFF2-40B4-BE49-F238E27FC236}">
                <a16:creationId xmlns:a16="http://schemas.microsoft.com/office/drawing/2014/main" id="{659BE6BD-0CA8-8C15-21B1-5EDC6A92D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4800600"/>
            <a:ext cx="304800" cy="12192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33" name="Rectangle 25">
            <a:extLst>
              <a:ext uri="{FF2B5EF4-FFF2-40B4-BE49-F238E27FC236}">
                <a16:creationId xmlns:a16="http://schemas.microsoft.com/office/drawing/2014/main" id="{8807CA22-FAA1-0D66-D8B6-741561937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4953000"/>
            <a:ext cx="304800" cy="10668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34" name="Rectangle 26">
            <a:extLst>
              <a:ext uri="{FF2B5EF4-FFF2-40B4-BE49-F238E27FC236}">
                <a16:creationId xmlns:a16="http://schemas.microsoft.com/office/drawing/2014/main" id="{C3BC5F04-A29C-BDD1-08B4-D9EF7CDC2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5486400"/>
            <a:ext cx="304800" cy="5334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36" name="Rectangle 28">
            <a:extLst>
              <a:ext uri="{FF2B5EF4-FFF2-40B4-BE49-F238E27FC236}">
                <a16:creationId xmlns:a16="http://schemas.microsoft.com/office/drawing/2014/main" id="{6912B7C6-DDE4-1F5F-D048-64D452F3C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5334000"/>
            <a:ext cx="304800" cy="6858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37" name="Rectangle 29">
            <a:extLst>
              <a:ext uri="{FF2B5EF4-FFF2-40B4-BE49-F238E27FC236}">
                <a16:creationId xmlns:a16="http://schemas.microsoft.com/office/drawing/2014/main" id="{C8724273-D4A9-4401-2764-58234A19C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5486400"/>
            <a:ext cx="304800" cy="533400"/>
          </a:xfrm>
          <a:prstGeom prst="rect">
            <a:avLst/>
          </a:prstGeom>
          <a:gradFill rotWithShape="0">
            <a:gsLst>
              <a:gs pos="0">
                <a:srgbClr val="FF5831"/>
              </a:gs>
              <a:gs pos="100000">
                <a:srgbClr val="E8D6BA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grpSp>
        <p:nvGrpSpPr>
          <p:cNvPr id="17448" name="Group 40">
            <a:extLst>
              <a:ext uri="{FF2B5EF4-FFF2-40B4-BE49-F238E27FC236}">
                <a16:creationId xmlns:a16="http://schemas.microsoft.com/office/drawing/2014/main" id="{402E7C0D-EC5A-E1CD-222D-F745E15FCC4C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3581401"/>
            <a:ext cx="6319838" cy="2270125"/>
            <a:chOff x="1008" y="1546"/>
            <a:chExt cx="3981" cy="1430"/>
          </a:xfrm>
        </p:grpSpPr>
        <p:sp>
          <p:nvSpPr>
            <p:cNvPr id="17449" name="Freeform 41">
              <a:extLst>
                <a:ext uri="{FF2B5EF4-FFF2-40B4-BE49-F238E27FC236}">
                  <a16:creationId xmlns:a16="http://schemas.microsoft.com/office/drawing/2014/main" id="{C5420545-2998-75EF-52AD-488B438B2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1552"/>
              <a:ext cx="2064" cy="1424"/>
            </a:xfrm>
            <a:custGeom>
              <a:avLst/>
              <a:gdLst>
                <a:gd name="T0" fmla="*/ 0 w 2064"/>
                <a:gd name="T1" fmla="*/ 1424 h 1424"/>
                <a:gd name="T2" fmla="*/ 912 w 2064"/>
                <a:gd name="T3" fmla="*/ 1088 h 1424"/>
                <a:gd name="T4" fmla="*/ 1680 w 2064"/>
                <a:gd name="T5" fmla="*/ 176 h 1424"/>
                <a:gd name="T6" fmla="*/ 2064 w 2064"/>
                <a:gd name="T7" fmla="*/ 32 h 1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4" h="1424">
                  <a:moveTo>
                    <a:pt x="0" y="1424"/>
                  </a:moveTo>
                  <a:cubicBezTo>
                    <a:pt x="316" y="1360"/>
                    <a:pt x="632" y="1296"/>
                    <a:pt x="912" y="1088"/>
                  </a:cubicBezTo>
                  <a:cubicBezTo>
                    <a:pt x="1192" y="880"/>
                    <a:pt x="1488" y="352"/>
                    <a:pt x="1680" y="176"/>
                  </a:cubicBezTo>
                  <a:cubicBezTo>
                    <a:pt x="1872" y="0"/>
                    <a:pt x="1968" y="16"/>
                    <a:pt x="2064" y="32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ZM"/>
            </a:p>
          </p:txBody>
        </p:sp>
        <p:sp>
          <p:nvSpPr>
            <p:cNvPr id="17450" name="Freeform 42">
              <a:extLst>
                <a:ext uri="{FF2B5EF4-FFF2-40B4-BE49-F238E27FC236}">
                  <a16:creationId xmlns:a16="http://schemas.microsoft.com/office/drawing/2014/main" id="{B0980A5E-E93F-5144-4B50-39196516623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925" y="1546"/>
              <a:ext cx="2064" cy="1424"/>
            </a:xfrm>
            <a:custGeom>
              <a:avLst/>
              <a:gdLst>
                <a:gd name="T0" fmla="*/ 0 w 2064"/>
                <a:gd name="T1" fmla="*/ 1424 h 1424"/>
                <a:gd name="T2" fmla="*/ 912 w 2064"/>
                <a:gd name="T3" fmla="*/ 1088 h 1424"/>
                <a:gd name="T4" fmla="*/ 1680 w 2064"/>
                <a:gd name="T5" fmla="*/ 176 h 1424"/>
                <a:gd name="T6" fmla="*/ 2064 w 2064"/>
                <a:gd name="T7" fmla="*/ 32 h 1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64" h="1424">
                  <a:moveTo>
                    <a:pt x="0" y="1424"/>
                  </a:moveTo>
                  <a:cubicBezTo>
                    <a:pt x="316" y="1360"/>
                    <a:pt x="632" y="1296"/>
                    <a:pt x="912" y="1088"/>
                  </a:cubicBezTo>
                  <a:cubicBezTo>
                    <a:pt x="1192" y="880"/>
                    <a:pt x="1488" y="352"/>
                    <a:pt x="1680" y="176"/>
                  </a:cubicBezTo>
                  <a:cubicBezTo>
                    <a:pt x="1872" y="0"/>
                    <a:pt x="1968" y="16"/>
                    <a:pt x="2064" y="32"/>
                  </a:cubicBez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ZM"/>
            </a:p>
          </p:txBody>
        </p:sp>
      </p:grpSp>
      <p:sp>
        <p:nvSpPr>
          <p:cNvPr id="17451" name="Line 43">
            <a:extLst>
              <a:ext uri="{FF2B5EF4-FFF2-40B4-BE49-F238E27FC236}">
                <a16:creationId xmlns:a16="http://schemas.microsoft.com/office/drawing/2014/main" id="{6C04E29F-62E4-1AC4-D3BB-8061F81B16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60198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7455" name="Rectangle 47">
            <a:extLst>
              <a:ext uri="{FF2B5EF4-FFF2-40B4-BE49-F238E27FC236}">
                <a16:creationId xmlns:a16="http://schemas.microsoft.com/office/drawing/2014/main" id="{AC7121A4-07A2-DB65-EC42-3A0DFE4D3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762000"/>
            <a:ext cx="74676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lvl="2">
              <a:buFontTx/>
              <a:buNone/>
            </a:pPr>
            <a:r>
              <a:rPr lang="en-US" altLang="en-ZM" sz="3200" b="1"/>
              <a:t>Bell shaped histogram</a:t>
            </a:r>
          </a:p>
          <a:p>
            <a:pPr lvl="2">
              <a:lnSpc>
                <a:spcPct val="60000"/>
              </a:lnSpc>
            </a:pPr>
            <a:endParaRPr lang="en-US" altLang="en-ZM"/>
          </a:p>
          <a:p>
            <a:pPr lvl="3"/>
            <a:r>
              <a:rPr lang="en-US" altLang="en-ZM"/>
              <a:t>Many statistical techniques require that the population be </a:t>
            </a:r>
            <a:br>
              <a:rPr lang="en-US" altLang="en-ZM"/>
            </a:br>
            <a:r>
              <a:rPr lang="en-US" altLang="en-ZM"/>
              <a:t>bell shaped.</a:t>
            </a:r>
          </a:p>
          <a:p>
            <a:pPr lvl="3"/>
            <a:r>
              <a:rPr lang="en-US" altLang="en-ZM"/>
              <a:t>Drawing the histogram helps verify the shape of the population in question </a:t>
            </a:r>
          </a:p>
        </p:txBody>
      </p:sp>
      <p:pic>
        <p:nvPicPr>
          <p:cNvPr id="17456" name="Picture 48">
            <a:extLst>
              <a:ext uri="{FF2B5EF4-FFF2-40B4-BE49-F238E27FC236}">
                <a16:creationId xmlns:a16="http://schemas.microsoft.com/office/drawing/2014/main" id="{F39AAF35-2E5C-6A6F-D9E9-81B75DB7E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4019" y="2587625"/>
            <a:ext cx="1981200" cy="175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D21DAB4-263E-A008-3865-17635CA1B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A0460-81FF-4828-92FC-39C01BC73B88}" type="slidenum">
              <a:rPr lang="en-US" altLang="en-ZM"/>
              <a:pPr/>
              <a:t>27</a:t>
            </a:fld>
            <a:endParaRPr lang="en-US" altLang="en-ZM"/>
          </a:p>
        </p:txBody>
      </p:sp>
      <p:sp>
        <p:nvSpPr>
          <p:cNvPr id="16388" name="Line 4">
            <a:extLst>
              <a:ext uri="{FF2B5EF4-FFF2-40B4-BE49-F238E27FC236}">
                <a16:creationId xmlns:a16="http://schemas.microsoft.com/office/drawing/2014/main" id="{355C7508-A792-8A2F-1E0B-A2E804CF45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1148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624FD75B-B3C1-475F-756F-A3756B863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267200"/>
            <a:ext cx="304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DBF099F2-8684-B750-6184-3CA4A05E2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2746376"/>
            <a:ext cx="304800" cy="2206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87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0BD36E66-ABC4-3CB2-89A7-BDADD109E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057400"/>
            <a:ext cx="304800" cy="2895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6A3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392" name="Rectangle 8">
            <a:extLst>
              <a:ext uri="{FF2B5EF4-FFF2-40B4-BE49-F238E27FC236}">
                <a16:creationId xmlns:a16="http://schemas.microsoft.com/office/drawing/2014/main" id="{325FE7EA-1285-2724-46F9-FB457A902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276600"/>
            <a:ext cx="3048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393" name="Rectangle 9">
            <a:extLst>
              <a:ext uri="{FF2B5EF4-FFF2-40B4-BE49-F238E27FC236}">
                <a16:creationId xmlns:a16="http://schemas.microsoft.com/office/drawing/2014/main" id="{A2DC0060-02E5-B5FC-B125-CD04A4C67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895600"/>
            <a:ext cx="304800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6A3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394" name="Rectangle 10">
            <a:extLst>
              <a:ext uri="{FF2B5EF4-FFF2-40B4-BE49-F238E27FC236}">
                <a16:creationId xmlns:a16="http://schemas.microsoft.com/office/drawing/2014/main" id="{66AE5730-8054-AF5C-F235-C1957AAC1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276600"/>
            <a:ext cx="3048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395" name="Rectangle 11">
            <a:extLst>
              <a:ext uri="{FF2B5EF4-FFF2-40B4-BE49-F238E27FC236}">
                <a16:creationId xmlns:a16="http://schemas.microsoft.com/office/drawing/2014/main" id="{BC2E03B0-8641-00E9-F762-C2DA95FB1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429000"/>
            <a:ext cx="3048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396" name="Rectangle 12">
            <a:extLst>
              <a:ext uri="{FF2B5EF4-FFF2-40B4-BE49-F238E27FC236}">
                <a16:creationId xmlns:a16="http://schemas.microsoft.com/office/drawing/2014/main" id="{A3605599-15A2-BED1-3185-DA11E2075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3810000"/>
            <a:ext cx="3048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397" name="Rectangle 13">
            <a:extLst>
              <a:ext uri="{FF2B5EF4-FFF2-40B4-BE49-F238E27FC236}">
                <a16:creationId xmlns:a16="http://schemas.microsoft.com/office/drawing/2014/main" id="{C82D6626-4D36-0F7C-75B6-AE727F691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343400"/>
            <a:ext cx="304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398" name="Rectangle 14">
            <a:extLst>
              <a:ext uri="{FF2B5EF4-FFF2-40B4-BE49-F238E27FC236}">
                <a16:creationId xmlns:a16="http://schemas.microsoft.com/office/drawing/2014/main" id="{6F09E3B1-8838-B77A-C88C-F2C5F1CD7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343400"/>
            <a:ext cx="304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399" name="Rectangle 15">
            <a:extLst>
              <a:ext uri="{FF2B5EF4-FFF2-40B4-BE49-F238E27FC236}">
                <a16:creationId xmlns:a16="http://schemas.microsoft.com/office/drawing/2014/main" id="{E4792AB2-9BBB-DBED-7592-B0C6F00BB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4572000"/>
            <a:ext cx="304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77EDD365-1700-0F70-822F-6606C66A3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8800" y="3429000"/>
            <a:ext cx="3048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401" name="Rectangle 17">
            <a:extLst>
              <a:ext uri="{FF2B5EF4-FFF2-40B4-BE49-F238E27FC236}">
                <a16:creationId xmlns:a16="http://schemas.microsoft.com/office/drawing/2014/main" id="{AE0E5D89-5690-D8AD-818B-7C049C1F2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1908176"/>
            <a:ext cx="304800" cy="2206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87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402" name="Rectangle 18">
            <a:extLst>
              <a:ext uri="{FF2B5EF4-FFF2-40B4-BE49-F238E27FC236}">
                <a16:creationId xmlns:a16="http://schemas.microsoft.com/office/drawing/2014/main" id="{FF7183B2-0A69-62D2-E77D-2309500A8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0" y="1219200"/>
            <a:ext cx="304800" cy="2895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6A3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403" name="Rectangle 19">
            <a:extLst>
              <a:ext uri="{FF2B5EF4-FFF2-40B4-BE49-F238E27FC236}">
                <a16:creationId xmlns:a16="http://schemas.microsoft.com/office/drawing/2014/main" id="{76D82773-D953-3034-934A-EBC931E23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438400"/>
            <a:ext cx="3048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404" name="Rectangle 20">
            <a:extLst>
              <a:ext uri="{FF2B5EF4-FFF2-40B4-BE49-F238E27FC236}">
                <a16:creationId xmlns:a16="http://schemas.microsoft.com/office/drawing/2014/main" id="{B342BCC3-CB84-72D7-F5E5-40360F2A5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2057400"/>
            <a:ext cx="304800" cy="2057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1C6A3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405" name="Rectangle 21">
            <a:extLst>
              <a:ext uri="{FF2B5EF4-FFF2-40B4-BE49-F238E27FC236}">
                <a16:creationId xmlns:a16="http://schemas.microsoft.com/office/drawing/2014/main" id="{DFDE652E-55CD-DE8F-CDA2-D16D64238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2438400"/>
            <a:ext cx="3048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406" name="Rectangle 22">
            <a:extLst>
              <a:ext uri="{FF2B5EF4-FFF2-40B4-BE49-F238E27FC236}">
                <a16:creationId xmlns:a16="http://schemas.microsoft.com/office/drawing/2014/main" id="{5289DFA3-5D0E-E983-744A-44A457351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2590800"/>
            <a:ext cx="3048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407" name="Rectangle 23">
            <a:extLst>
              <a:ext uri="{FF2B5EF4-FFF2-40B4-BE49-F238E27FC236}">
                <a16:creationId xmlns:a16="http://schemas.microsoft.com/office/drawing/2014/main" id="{4E62DF81-23AF-B245-0873-A325B8BFD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971800"/>
            <a:ext cx="3048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408" name="Rectangle 24">
            <a:extLst>
              <a:ext uri="{FF2B5EF4-FFF2-40B4-BE49-F238E27FC236}">
                <a16:creationId xmlns:a16="http://schemas.microsoft.com/office/drawing/2014/main" id="{DFDC4C27-8484-5A51-FA13-7AD4980B3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3505200"/>
            <a:ext cx="304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409" name="Rectangle 25">
            <a:extLst>
              <a:ext uri="{FF2B5EF4-FFF2-40B4-BE49-F238E27FC236}">
                <a16:creationId xmlns:a16="http://schemas.microsoft.com/office/drawing/2014/main" id="{064195CA-1840-B870-C586-5F62B397C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505200"/>
            <a:ext cx="304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410" name="Rectangle 26">
            <a:extLst>
              <a:ext uri="{FF2B5EF4-FFF2-40B4-BE49-F238E27FC236}">
                <a16:creationId xmlns:a16="http://schemas.microsoft.com/office/drawing/2014/main" id="{B077B940-3A70-C50C-0EEC-4568113F9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733800"/>
            <a:ext cx="304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sp>
        <p:nvSpPr>
          <p:cNvPr id="16412" name="Text Box 28">
            <a:extLst>
              <a:ext uri="{FF2B5EF4-FFF2-40B4-BE49-F238E27FC236}">
                <a16:creationId xmlns:a16="http://schemas.microsoft.com/office/drawing/2014/main" id="{BA320D42-5CB4-06D1-A836-20DE79574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326" y="5218114"/>
            <a:ext cx="25029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ZM" sz="2400"/>
              <a:t>Positively skewed</a:t>
            </a:r>
          </a:p>
        </p:txBody>
      </p:sp>
      <p:sp>
        <p:nvSpPr>
          <p:cNvPr id="16413" name="Text Box 29">
            <a:extLst>
              <a:ext uri="{FF2B5EF4-FFF2-40B4-BE49-F238E27FC236}">
                <a16:creationId xmlns:a16="http://schemas.microsoft.com/office/drawing/2014/main" id="{C89C8038-BA70-B9C4-8DF7-4BC0D3A41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925" y="4151314"/>
            <a:ext cx="26314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en-ZM" sz="2400"/>
              <a:t>Negatively skewed</a:t>
            </a:r>
          </a:p>
        </p:txBody>
      </p:sp>
      <p:sp>
        <p:nvSpPr>
          <p:cNvPr id="16414" name="Line 30">
            <a:extLst>
              <a:ext uri="{FF2B5EF4-FFF2-40B4-BE49-F238E27FC236}">
                <a16:creationId xmlns:a16="http://schemas.microsoft.com/office/drawing/2014/main" id="{808FA0D5-987C-DB71-9C5A-87C83E07C6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4953000"/>
            <a:ext cx="396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ZM"/>
          </a:p>
        </p:txBody>
      </p:sp>
      <p:graphicFrame>
        <p:nvGraphicFramePr>
          <p:cNvPr id="16415" name="Object 31">
            <a:extLst>
              <a:ext uri="{FF2B5EF4-FFF2-40B4-BE49-F238E27FC236}">
                <a16:creationId xmlns:a16="http://schemas.microsoft.com/office/drawing/2014/main" id="{91C9BB9F-BED9-7A8C-FCF7-55D47F4CFD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2514600"/>
          <a:ext cx="19812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2153520" imgH="2286360" progId="MS_ClipArt_Gallery.2">
                  <p:embed/>
                </p:oleObj>
              </mc:Choice>
              <mc:Fallback>
                <p:oleObj name="Clip" r:id="rId2" imgW="2153520" imgH="2286360" progId="MS_ClipArt_Gallery.2">
                  <p:embed/>
                  <p:pic>
                    <p:nvPicPr>
                      <p:cNvPr id="16415" name="Object 31">
                        <a:extLst>
                          <a:ext uri="{FF2B5EF4-FFF2-40B4-BE49-F238E27FC236}">
                            <a16:creationId xmlns:a16="http://schemas.microsoft.com/office/drawing/2014/main" id="{91C9BB9F-BED9-7A8C-FCF7-55D47F4CFD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514600"/>
                        <a:ext cx="19812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20" name="WordArt 36">
            <a:extLst>
              <a:ext uri="{FF2B5EF4-FFF2-40B4-BE49-F238E27FC236}">
                <a16:creationId xmlns:a16="http://schemas.microsoft.com/office/drawing/2014/main" id="{AFE51C22-89DC-4858-700A-BA4AFE5BCB6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3399" y="94770"/>
            <a:ext cx="3400825" cy="1488135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r>
              <a:rPr lang="en-US" sz="3600" b="1" kern="10" dirty="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pattFill prst="dashHorz">
                  <a:fgClr>
                    <a:srgbClr val="808080"/>
                  </a:fgClr>
                  <a:bgClr>
                    <a:srgbClr val="FFFF00"/>
                  </a:bgClr>
                </a:pattFill>
                <a:effectLst>
                  <a:outerShdw dist="45791" dir="2021404" algn="ctr" rotWithShape="0">
                    <a:srgbClr val="808080"/>
                  </a:outerShdw>
                </a:effectLst>
              </a:rPr>
              <a:t>Skewness</a:t>
            </a:r>
            <a:endParaRPr lang="en-ZM" sz="3600" b="1" kern="10" dirty="0">
              <a:ln w="12700">
                <a:solidFill>
                  <a:srgbClr val="000000"/>
                </a:solidFill>
                <a:round/>
                <a:headEnd/>
                <a:tailEnd/>
              </a:ln>
              <a:pattFill prst="dashHorz">
                <a:fgClr>
                  <a:srgbClr val="808080"/>
                </a:fgClr>
                <a:bgClr>
                  <a:srgbClr val="FFFF00"/>
                </a:bgClr>
              </a:pattFill>
              <a:effectLst>
                <a:outerShdw dist="45791" dir="2021404" algn="ctr" rotWithShape="0">
                  <a:srgbClr val="80808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6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3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7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64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71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78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92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99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6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13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27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34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4100"/>
                            </p:stCondLst>
                            <p:childTnLst>
                              <p:par>
                                <p:cTn id="75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480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62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6900"/>
                            </p:stCondLst>
                            <p:childTnLst>
                              <p:par>
                                <p:cTn id="87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6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6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7900"/>
                            </p:stCondLst>
                            <p:childTnLst>
                              <p:par>
                                <p:cTn id="92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8900"/>
                            </p:stCondLst>
                            <p:childTnLst>
                              <p:par>
                                <p:cTn id="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12" grpId="0" autoUpdateAnimBg="0"/>
      <p:bldP spid="16413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90E0B1-D35B-FA86-564F-06CC75041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2B0DF-A883-F160-D9CE-593FCC348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9983" y="76841"/>
            <a:ext cx="9938017" cy="93745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PARAMETRIC STATISTICS</a:t>
            </a:r>
            <a:endParaRPr lang="en-ZM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BBBAA-63CA-E43F-AD76-A64D0C381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993" y="1191025"/>
            <a:ext cx="11741204" cy="5666975"/>
          </a:xfrm>
        </p:spPr>
        <p:txBody>
          <a:bodyPr>
            <a:noAutofit/>
          </a:bodyPr>
          <a:lstStyle/>
          <a:p>
            <a:r>
              <a:rPr lang="en-ZM" sz="3600" b="1" u="sng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Advantages</a:t>
            </a:r>
            <a:endParaRPr lang="en-US" sz="3600" b="1" u="sng" kern="100" dirty="0">
              <a:solidFill>
                <a:schemeClr val="bg1"/>
              </a:solidFill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742950" indent="-742950">
              <a:buAutoNum type="arabicPeriod"/>
            </a:pPr>
            <a:r>
              <a:rPr lang="en-ZM" sz="3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More </a:t>
            </a:r>
            <a:r>
              <a:rPr lang="en-ZM" sz="36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statistical power</a:t>
            </a:r>
            <a:r>
              <a:rPr lang="en-ZM" sz="3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(higher likelihood of detecting true effects).</a:t>
            </a:r>
            <a:endParaRPr lang="en-US" sz="3600" kern="100" dirty="0">
              <a:solidFill>
                <a:schemeClr val="bg1"/>
              </a:solidFill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742950" indent="-742950">
              <a:buAutoNum type="arabicPeriod"/>
            </a:pPr>
            <a:r>
              <a:rPr lang="en-ZM" sz="3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Can provide more </a:t>
            </a:r>
            <a:r>
              <a:rPr lang="en-ZM" sz="36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precise estimates</a:t>
            </a:r>
            <a:r>
              <a:rPr lang="en-ZM" sz="3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 when assumptions are met.</a:t>
            </a:r>
            <a:endParaRPr lang="en-US" sz="36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ZM" sz="36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ZM" sz="3600" b="1" u="sng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Disadvantages</a:t>
            </a:r>
            <a:endParaRPr lang="en-ZM" sz="3600" u="sng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>
              <a:buSzPts val="1000"/>
              <a:tabLst>
                <a:tab pos="457200" algn="l"/>
              </a:tabLst>
            </a:pPr>
            <a:r>
              <a:rPr lang="en-US" sz="3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en-ZM" sz="3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Sensitive to violations of assumptions (e.g., non-normality, unequal variances).</a:t>
            </a:r>
            <a:endParaRPr lang="en-ZM" sz="36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>
              <a:buSzPts val="1000"/>
              <a:tabLst>
                <a:tab pos="457200" algn="l"/>
              </a:tabLst>
            </a:pPr>
            <a:r>
              <a:rPr lang="en-US" sz="3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en-ZM" sz="3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Not suitable for small sample sizes or non-normal data.</a:t>
            </a:r>
            <a:endParaRPr lang="en-ZM" sz="36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5104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60C50B-C24B-425C-28A4-090182D13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5ADE8-2945-7601-F759-20CA6359B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027" y="53791"/>
            <a:ext cx="9938017" cy="87598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NON-PARAMETRIC STATISTICS</a:t>
            </a:r>
            <a:endParaRPr lang="en-ZM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FE676C-C6C5-8969-F6A7-C5E06F665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993" y="1352391"/>
            <a:ext cx="11741204" cy="5271246"/>
          </a:xfrm>
        </p:spPr>
        <p:txBody>
          <a:bodyPr>
            <a:noAutofit/>
          </a:bodyPr>
          <a:lstStyle/>
          <a:p>
            <a:pPr marL="742950" indent="-742950" algn="just">
              <a:buAutoNum type="arabicPeriod"/>
            </a:pPr>
            <a:r>
              <a:rPr lang="en-ZM" sz="4000" kern="100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Non-parametric statistics are </a:t>
            </a:r>
            <a:r>
              <a:rPr lang="en-ZM" sz="4000" u="sng" kern="100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methods that do not rely on assumptions </a:t>
            </a:r>
            <a:r>
              <a:rPr lang="en-ZM" sz="4000" kern="100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about the population distribution or parameters. </a:t>
            </a:r>
            <a:endParaRPr lang="en-US" sz="4000" kern="100" dirty="0">
              <a:solidFill>
                <a:schemeClr val="bg1"/>
              </a:solidFill>
              <a:effectLst/>
              <a:latin typeface="Arial Rounded MT Bold" panose="020F07040305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742950" indent="-742950" algn="just">
              <a:buAutoNum type="arabicPeriod"/>
            </a:pPr>
            <a:endParaRPr lang="en-US" sz="4000" kern="100" dirty="0">
              <a:solidFill>
                <a:schemeClr val="bg1"/>
              </a:solidFill>
              <a:effectLst/>
              <a:latin typeface="Arial Rounded MT Bold" panose="020F07040305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742950" indent="-742950" algn="just">
              <a:buAutoNum type="arabicPeriod"/>
            </a:pPr>
            <a:endParaRPr lang="en-US" sz="4000" kern="100" dirty="0">
              <a:solidFill>
                <a:schemeClr val="bg1"/>
              </a:solidFill>
              <a:effectLst/>
              <a:latin typeface="Arial Rounded MT Bold" panose="020F07040305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742950" indent="-742950" algn="just">
              <a:buAutoNum type="arabicPeriod"/>
            </a:pPr>
            <a:r>
              <a:rPr lang="en-ZM" sz="4000" kern="100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They are often referred to as </a:t>
            </a:r>
            <a:r>
              <a:rPr lang="en-ZM" sz="4000" b="1" u="sng" kern="100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distribution-free</a:t>
            </a:r>
            <a:r>
              <a:rPr lang="en-ZM" sz="4000" kern="100" dirty="0">
                <a:solidFill>
                  <a:schemeClr val="bg1"/>
                </a:solidFill>
                <a:effectLst/>
                <a:latin typeface="Arial Rounded MT Bold" panose="020F07040305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tests and are used when data does not meet the assumptions required for parametric tests.</a:t>
            </a:r>
          </a:p>
        </p:txBody>
      </p:sp>
    </p:spTree>
    <p:extLst>
      <p:ext uri="{BB962C8B-B14F-4D97-AF65-F5344CB8AC3E}">
        <p14:creationId xmlns:p14="http://schemas.microsoft.com/office/powerpoint/2010/main" val="30109603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780A0-E0A1-04F4-9DEF-8C3FEBCD8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8039-AB77-A473-F9DE-764A55C6D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945" y="53792"/>
            <a:ext cx="12069055" cy="737664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CHARACTERISTICS OF NON-PARAMETRIC STATISTICS</a:t>
            </a:r>
            <a:endParaRPr lang="en-ZM" sz="36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0C750F-9075-FF70-F4E0-B4E31ED49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993" y="1352391"/>
            <a:ext cx="11741204" cy="5271246"/>
          </a:xfrm>
        </p:spPr>
        <p:txBody>
          <a:bodyPr>
            <a:noAutofit/>
          </a:bodyPr>
          <a:lstStyle/>
          <a:p>
            <a:pPr marL="514350" lvl="0" indent="-514350" algn="l">
              <a:buAutoNum type="arabicPeriod"/>
              <a:tabLst>
                <a:tab pos="457200" algn="l"/>
              </a:tabLst>
            </a:pPr>
            <a:r>
              <a:rPr lang="en-ZM" sz="32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No Assumption of Normality</a:t>
            </a:r>
            <a:r>
              <a:rPr lang="en-ZM" sz="32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: Suitable for non-normal or skewed data.</a:t>
            </a:r>
            <a:endParaRPr lang="en-US" sz="32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514350" lvl="0" indent="-514350" algn="l">
              <a:buAutoNum type="arabicPeriod"/>
              <a:tabLst>
                <a:tab pos="457200" algn="l"/>
              </a:tabLst>
            </a:pPr>
            <a:endParaRPr lang="en-ZM" sz="32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tabLst>
                <a:tab pos="457200" algn="l"/>
              </a:tabLst>
            </a:pPr>
            <a:r>
              <a:rPr lang="en-US" sz="32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en-ZM" sz="32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Ordinal or Nominal Scale</a:t>
            </a:r>
            <a:r>
              <a:rPr lang="en-ZM" sz="32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: Can be used with data measured on ordinal (e.g., rankings) or nominal (e.g., categories) scales.</a:t>
            </a:r>
            <a:endParaRPr lang="en-US" sz="32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tabLst>
                <a:tab pos="457200" algn="l"/>
              </a:tabLst>
            </a:pPr>
            <a:endParaRPr lang="en-ZM" sz="32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tabLst>
                <a:tab pos="457200" algn="l"/>
              </a:tabLst>
            </a:pPr>
            <a:r>
              <a:rPr lang="en-US" sz="32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en-ZM" sz="32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Small Sample Sizes</a:t>
            </a:r>
            <a:r>
              <a:rPr lang="en-ZM" sz="32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: Often used when sample sizes are small.</a:t>
            </a:r>
            <a:endParaRPr lang="en-US" sz="32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tabLst>
                <a:tab pos="457200" algn="l"/>
              </a:tabLst>
            </a:pPr>
            <a:endParaRPr lang="en-ZM" sz="32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tabLst>
                <a:tab pos="457200" algn="l"/>
              </a:tabLst>
            </a:pPr>
            <a:r>
              <a:rPr lang="en-US" sz="32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4. </a:t>
            </a:r>
            <a:r>
              <a:rPr lang="en-ZM" sz="32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Robustness</a:t>
            </a:r>
            <a:r>
              <a:rPr lang="en-ZM" sz="32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: Less sensitive to outliers and extreme values.</a:t>
            </a:r>
            <a:endParaRPr lang="en-ZM" sz="32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6914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74C854-754B-B953-D43C-B33FAD3EC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6E6C4-7485-742F-5AA5-478A34F3EF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945" y="53792"/>
            <a:ext cx="12069055" cy="737664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CHARACTERISTICS OF NON-PARAMETRIC STATISTICS</a:t>
            </a:r>
            <a:endParaRPr lang="en-ZM" sz="36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6E2C5-0622-A992-3124-7027331CA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993" y="1175659"/>
            <a:ext cx="11741204" cy="5271246"/>
          </a:xfrm>
        </p:spPr>
        <p:txBody>
          <a:bodyPr>
            <a:noAutofit/>
          </a:bodyPr>
          <a:lstStyle/>
          <a:p>
            <a:r>
              <a:rPr lang="en-ZM" sz="2800" b="1" u="sng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Advantages</a:t>
            </a:r>
            <a:endParaRPr lang="en-ZM" sz="2800" u="sng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en-US" sz="2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en-ZM" sz="2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Flexible</a:t>
            </a:r>
            <a:r>
              <a:rPr lang="en-ZM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: Can be used with data that does not meet parametric assumptions.</a:t>
            </a:r>
            <a:endParaRPr lang="en-ZM" sz="28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en-US" sz="2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en-ZM" sz="2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Robust</a:t>
            </a:r>
            <a:r>
              <a:rPr lang="en-ZM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: Less affected by outliers or non-normal distributions.</a:t>
            </a:r>
            <a:endParaRPr lang="en-ZM" sz="28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en-US" sz="2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3. </a:t>
            </a:r>
            <a:r>
              <a:rPr lang="en-ZM" sz="2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Applicable to Small Samples</a:t>
            </a:r>
            <a:r>
              <a:rPr lang="en-ZM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: Suitable for small or unevenly distributed datasets.</a:t>
            </a:r>
            <a:endParaRPr lang="en-US" sz="28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l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ZM" sz="28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ZM" sz="2800" b="1" u="sng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Disadvantages</a:t>
            </a:r>
            <a:endParaRPr lang="en-ZM" sz="2800" u="sng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en-US" sz="2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lang="en-ZM" sz="2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Less Statistical Power</a:t>
            </a:r>
            <a:r>
              <a:rPr lang="en-ZM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: May fail to detect true effects when compared to parametric tests.</a:t>
            </a:r>
            <a:endParaRPr lang="en-ZM" sz="28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en-US" sz="2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2. </a:t>
            </a:r>
            <a:r>
              <a:rPr lang="en-ZM" sz="28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Less Informative</a:t>
            </a:r>
            <a:r>
              <a:rPr lang="en-ZM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: Do not provide estimates of population parameters (e.g., mean, variance).</a:t>
            </a:r>
            <a:endParaRPr lang="en-ZM" sz="28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 algn="l">
              <a:tabLst>
                <a:tab pos="457200" algn="l"/>
              </a:tabLst>
            </a:pPr>
            <a:endParaRPr lang="en-ZM" sz="28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466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59404-D1BE-7890-986F-A4B3B37C8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73A64-38F1-BB4C-A7D1-36722629E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945" y="69159"/>
            <a:ext cx="12069055" cy="1029657"/>
          </a:xfrm>
        </p:spPr>
        <p:txBody>
          <a:bodyPr>
            <a:noAutofit/>
          </a:bodyPr>
          <a:lstStyle/>
          <a:p>
            <a:r>
              <a:rPr lang="en-US" sz="3600" b="1" dirty="0"/>
              <a:t>DIFFERENCES BETWEEN PARAMETRIC AND NON-PARAMETRIC STATISTICS</a:t>
            </a:r>
            <a:endParaRPr lang="en-ZM" sz="3600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71C9EB0-1103-3338-08D1-C0AD1A167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653297"/>
              </p:ext>
            </p:extLst>
          </p:nvPr>
        </p:nvGraphicFramePr>
        <p:xfrm>
          <a:off x="0" y="1075764"/>
          <a:ext cx="12192001" cy="577739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38769">
                  <a:extLst>
                    <a:ext uri="{9D8B030D-6E8A-4147-A177-3AD203B41FA5}">
                      <a16:colId xmlns:a16="http://schemas.microsoft.com/office/drawing/2014/main" val="3722044058"/>
                    </a:ext>
                  </a:extLst>
                </a:gridCol>
                <a:gridCol w="4376616">
                  <a:extLst>
                    <a:ext uri="{9D8B030D-6E8A-4147-A177-3AD203B41FA5}">
                      <a16:colId xmlns:a16="http://schemas.microsoft.com/office/drawing/2014/main" val="2769788718"/>
                    </a:ext>
                  </a:extLst>
                </a:gridCol>
                <a:gridCol w="4376616">
                  <a:extLst>
                    <a:ext uri="{9D8B030D-6E8A-4147-A177-3AD203B41FA5}">
                      <a16:colId xmlns:a16="http://schemas.microsoft.com/office/drawing/2014/main" val="1976463515"/>
                    </a:ext>
                  </a:extLst>
                </a:gridCol>
              </a:tblGrid>
              <a:tr h="8958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Aspect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 dirty="0">
                          <a:effectLst/>
                        </a:rPr>
                        <a:t>Parametric Statistics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Non-Parametric Statistics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745722"/>
                  </a:ext>
                </a:extLst>
              </a:tr>
              <a:tr h="8958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Assumptions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Assumes normality, homogeneity, etc.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No assumptions about population distribution.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08651514"/>
                  </a:ext>
                </a:extLst>
              </a:tr>
              <a:tr h="8958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Data Scale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Interval or ratio scale.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Ordinal, nominal, or non-normal data.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43710437"/>
                  </a:ext>
                </a:extLst>
              </a:tr>
              <a:tr h="8958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Statistical Power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Higher power when assumptions are met.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Lower power compared to parametric tests.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13546"/>
                  </a:ext>
                </a:extLst>
              </a:tr>
              <a:tr h="8958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Sensitivity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Sensitive to outliers and violations.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Robust to outliers and non-normality.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92854657"/>
                  </a:ext>
                </a:extLst>
              </a:tr>
              <a:tr h="89583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Examples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>
                          <a:effectLst/>
                        </a:rPr>
                        <a:t>T-tests, ANOVA, Pearson correlation.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ZM" sz="2800" kern="100" dirty="0">
                          <a:effectLst/>
                        </a:rPr>
                        <a:t>Mann-Whitney U, Wilcoxon, Chi-square.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48438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3058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DEEBC-D4E7-F779-65E4-45071621D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3400" y="2674045"/>
            <a:ext cx="4418318" cy="3073613"/>
          </a:xfrm>
        </p:spPr>
        <p:txBody>
          <a:bodyPr>
            <a:noAutofit/>
          </a:bodyPr>
          <a:lstStyle/>
          <a:p>
            <a:pPr marL="1200150" lvl="1" indent="-742950">
              <a:buAutoNum type="arabicPeriod"/>
            </a:pPr>
            <a:r>
              <a:rPr lang="en-US" sz="4800" b="1" dirty="0">
                <a:solidFill>
                  <a:schemeClr val="bg1"/>
                </a:solidFill>
                <a:latin typeface="Aptos ExtraBold" panose="020F0502020204030204" pitchFamily="34" charset="0"/>
                <a:cs typeface="Arial" panose="020B0604020202020204" pitchFamily="34" charset="0"/>
              </a:rPr>
              <a:t>NOMINAL</a:t>
            </a:r>
          </a:p>
          <a:p>
            <a:pPr marL="1200150" lvl="1" indent="-742950">
              <a:buAutoNum type="arabicPeriod"/>
            </a:pPr>
            <a:r>
              <a:rPr lang="en-US" sz="4800" b="1" dirty="0">
                <a:solidFill>
                  <a:schemeClr val="bg1"/>
                </a:solidFill>
                <a:latin typeface="Aptos ExtraBold" panose="020F0502020204030204" pitchFamily="34" charset="0"/>
                <a:cs typeface="Arial" panose="020B0604020202020204" pitchFamily="34" charset="0"/>
              </a:rPr>
              <a:t>ORDINAL</a:t>
            </a:r>
          </a:p>
          <a:p>
            <a:pPr marL="1200150" lvl="1" indent="-742950">
              <a:buAutoNum type="arabicPeriod"/>
            </a:pPr>
            <a:r>
              <a:rPr lang="en-US" sz="4800" b="1" dirty="0">
                <a:solidFill>
                  <a:schemeClr val="bg1"/>
                </a:solidFill>
                <a:latin typeface="Aptos ExtraBold" panose="020F0502020204030204" pitchFamily="34" charset="0"/>
                <a:cs typeface="Arial" panose="020B0604020202020204" pitchFamily="34" charset="0"/>
              </a:rPr>
              <a:t>INTERVAL</a:t>
            </a:r>
          </a:p>
          <a:p>
            <a:pPr marL="1200150" lvl="1" indent="-742950">
              <a:buAutoNum type="arabicPeriod"/>
            </a:pPr>
            <a:r>
              <a:rPr lang="en-US" sz="4800" b="1" dirty="0">
                <a:solidFill>
                  <a:schemeClr val="bg1"/>
                </a:solidFill>
                <a:latin typeface="Aptos ExtraBold" panose="020F0502020204030204" pitchFamily="34" charset="0"/>
                <a:cs typeface="Arial" panose="020B0604020202020204" pitchFamily="34" charset="0"/>
              </a:rPr>
              <a:t>RATIO</a:t>
            </a:r>
            <a:endParaRPr lang="en-ZM" sz="4800" b="1" dirty="0">
              <a:solidFill>
                <a:schemeClr val="bg1"/>
              </a:solidFill>
              <a:latin typeface="Aptos ExtraBold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CA67A6-D638-FD0C-CBBF-A34BF737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SCALES OF MEASUREMENT</a:t>
            </a:r>
            <a:endParaRPr lang="en-ZM" dirty="0">
              <a:solidFill>
                <a:schemeClr val="bg1"/>
              </a:solidFill>
            </a:endParaRPr>
          </a:p>
        </p:txBody>
      </p:sp>
      <p:pic>
        <p:nvPicPr>
          <p:cNvPr id="7" name="Graphic 6" descr="Triangle Ruler outline">
            <a:extLst>
              <a:ext uri="{FF2B5EF4-FFF2-40B4-BE49-F238E27FC236}">
                <a16:creationId xmlns:a16="http://schemas.microsoft.com/office/drawing/2014/main" id="{9E2A3FD6-20F2-A9DB-0DBA-3878513EC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1752" y="482173"/>
            <a:ext cx="914400" cy="914400"/>
          </a:xfrm>
          <a:prstGeom prst="rect">
            <a:avLst/>
          </a:prstGeom>
        </p:spPr>
      </p:pic>
      <p:pic>
        <p:nvPicPr>
          <p:cNvPr id="9" name="Graphic 8" descr="Ruler outline">
            <a:extLst>
              <a:ext uri="{FF2B5EF4-FFF2-40B4-BE49-F238E27FC236}">
                <a16:creationId xmlns:a16="http://schemas.microsoft.com/office/drawing/2014/main" id="{DA769EA7-CA82-EDB6-F82B-0BE6493132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9852" y="48217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850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97488-6606-79DD-D9D8-4670FAE0E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88533-CC85-95B6-6F75-760DA559C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9983" y="76841"/>
            <a:ext cx="9938017" cy="937457"/>
          </a:xfrm>
          <a:solidFill>
            <a:srgbClr val="002060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SCALE OF MEASUREMENT</a:t>
            </a:r>
            <a:endParaRPr lang="en-ZM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7B620-FB42-E7B1-32F0-5C32C9B51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88" y="1414019"/>
            <a:ext cx="12038028" cy="4854805"/>
          </a:xfrm>
          <a:solidFill>
            <a:srgbClr val="002060"/>
          </a:solidFill>
        </p:spPr>
        <p:txBody>
          <a:bodyPr>
            <a:noAutofit/>
          </a:bodyPr>
          <a:lstStyle/>
          <a:p>
            <a:pPr algn="l"/>
            <a:r>
              <a:rPr lang="en-ZM" sz="60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Scale of measurement are ways in which a variable is measured or categorized</a:t>
            </a:r>
            <a:r>
              <a:rPr lang="en-US" sz="60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to</a:t>
            </a:r>
            <a:r>
              <a:rPr lang="en-ZM" sz="60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determine the type of statistical analysis that can be performed on </a:t>
            </a:r>
            <a:r>
              <a:rPr lang="en-US" sz="6000" dirty="0">
                <a:solidFill>
                  <a:schemeClr val="bg1"/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collected/available </a:t>
            </a:r>
            <a:r>
              <a:rPr lang="en-ZM" sz="60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data. </a:t>
            </a:r>
            <a:endParaRPr lang="en-ZM" sz="6000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2392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5E8308-8A7D-4179-4188-AF0B68182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2467A-9BA2-78C7-7FC3-8FBE29DE5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9983" y="76841"/>
            <a:ext cx="9938017" cy="93745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NOMINAL SCALE</a:t>
            </a:r>
            <a:endParaRPr lang="en-ZM" b="1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24E5C00-27D6-EE8F-E89B-0E0A854A2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565386"/>
              </p:ext>
            </p:extLst>
          </p:nvPr>
        </p:nvGraphicFramePr>
        <p:xfrm>
          <a:off x="141402" y="1234911"/>
          <a:ext cx="11934333" cy="55462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52305">
                  <a:extLst>
                    <a:ext uri="{9D8B030D-6E8A-4147-A177-3AD203B41FA5}">
                      <a16:colId xmlns:a16="http://schemas.microsoft.com/office/drawing/2014/main" val="2220290375"/>
                    </a:ext>
                  </a:extLst>
                </a:gridCol>
                <a:gridCol w="3437088">
                  <a:extLst>
                    <a:ext uri="{9D8B030D-6E8A-4147-A177-3AD203B41FA5}">
                      <a16:colId xmlns:a16="http://schemas.microsoft.com/office/drawing/2014/main" val="309476561"/>
                    </a:ext>
                  </a:extLst>
                </a:gridCol>
                <a:gridCol w="2826050">
                  <a:extLst>
                    <a:ext uri="{9D8B030D-6E8A-4147-A177-3AD203B41FA5}">
                      <a16:colId xmlns:a16="http://schemas.microsoft.com/office/drawing/2014/main" val="1877938299"/>
                    </a:ext>
                  </a:extLst>
                </a:gridCol>
                <a:gridCol w="2818890">
                  <a:extLst>
                    <a:ext uri="{9D8B030D-6E8A-4147-A177-3AD203B41FA5}">
                      <a16:colId xmlns:a16="http://schemas.microsoft.com/office/drawing/2014/main" val="2784976912"/>
                    </a:ext>
                  </a:extLst>
                </a:gridCol>
              </a:tblGrid>
              <a:tr h="924375">
                <a:tc>
                  <a:txBody>
                    <a:bodyPr/>
                    <a:lstStyle/>
                    <a:p>
                      <a:r>
                        <a:rPr lang="en-ZM" sz="2800" kern="100">
                          <a:effectLst/>
                        </a:rPr>
                        <a:t>Description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Main Characteristics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Statistical Operation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Examples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28574"/>
                  </a:ext>
                </a:extLst>
              </a:tr>
              <a:tr h="4621873"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Simplest level of measurement. 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 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Categorizes data into distinct groups or categories with no inherent order or ranking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1. Categories are mutually exclusive (no overlap).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 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2. No mathematical operations (e.g., addition, subtraction) can be performed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Frequency counts, mode, and Chi-square tests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Gender (Male, Female)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 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 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Marital Status (Single, Married, Divorced, Widowed)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942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8650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D81906-5962-E68C-E425-68C1BED1E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A1F3D-17C6-E301-117D-25FB37443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9983" y="76841"/>
            <a:ext cx="9938017" cy="93745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ORDINAL SCALE</a:t>
            </a:r>
            <a:endParaRPr lang="en-ZM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4F3014-2D64-4969-37CA-3842990B7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541806"/>
              </p:ext>
            </p:extLst>
          </p:nvPr>
        </p:nvGraphicFramePr>
        <p:xfrm>
          <a:off x="103695" y="1014297"/>
          <a:ext cx="11962613" cy="57668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64336">
                  <a:extLst>
                    <a:ext uri="{9D8B030D-6E8A-4147-A177-3AD203B41FA5}">
                      <a16:colId xmlns:a16="http://schemas.microsoft.com/office/drawing/2014/main" val="1094771358"/>
                    </a:ext>
                  </a:extLst>
                </a:gridCol>
                <a:gridCol w="3572036">
                  <a:extLst>
                    <a:ext uri="{9D8B030D-6E8A-4147-A177-3AD203B41FA5}">
                      <a16:colId xmlns:a16="http://schemas.microsoft.com/office/drawing/2014/main" val="2252914183"/>
                    </a:ext>
                  </a:extLst>
                </a:gridCol>
                <a:gridCol w="2818391">
                  <a:extLst>
                    <a:ext uri="{9D8B030D-6E8A-4147-A177-3AD203B41FA5}">
                      <a16:colId xmlns:a16="http://schemas.microsoft.com/office/drawing/2014/main" val="940168134"/>
                    </a:ext>
                  </a:extLst>
                </a:gridCol>
                <a:gridCol w="2607850">
                  <a:extLst>
                    <a:ext uri="{9D8B030D-6E8A-4147-A177-3AD203B41FA5}">
                      <a16:colId xmlns:a16="http://schemas.microsoft.com/office/drawing/2014/main" val="118597374"/>
                    </a:ext>
                  </a:extLst>
                </a:gridCol>
              </a:tblGrid>
              <a:tr h="961144">
                <a:tc>
                  <a:txBody>
                    <a:bodyPr/>
                    <a:lstStyle/>
                    <a:p>
                      <a:r>
                        <a:rPr lang="en-ZM" sz="2800" kern="100">
                          <a:effectLst/>
                        </a:rPr>
                        <a:t>Description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>
                          <a:effectLst/>
                        </a:rPr>
                        <a:t>Main Characteristics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>
                          <a:effectLst/>
                        </a:rPr>
                        <a:t>Statistical Operation</a:t>
                      </a:r>
                      <a:endParaRPr lang="en-ZM" sz="2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Examples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164269"/>
                  </a:ext>
                </a:extLst>
              </a:tr>
              <a:tr h="4805717"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Categorizes data into groups with a meaningful order or ranking. 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 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Differences between categories are not quantifiable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Categories have a logical order.</a:t>
                      </a:r>
                    </a:p>
                    <a:p>
                      <a:pPr marL="685800"/>
                      <a:r>
                        <a:rPr lang="en-ZM" sz="2800" kern="100" dirty="0">
                          <a:effectLst/>
                        </a:rPr>
                        <a:t> 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Intervals between categories are not equal or known.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 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Median, Percentile, &amp; Non-parametric tests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Education Level (Baby Class, Primary School, High School, Bachelor’s, Master’s, PhD/DSc)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 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4841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38229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CFA8C1-17EE-11F3-20AD-85CAD23B4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8E0E3-B958-3D44-5E70-4BD76FA0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9983" y="76841"/>
            <a:ext cx="9938017" cy="93745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INTERVAL SCALE</a:t>
            </a:r>
            <a:endParaRPr lang="en-ZM" b="1" dirty="0">
              <a:solidFill>
                <a:schemeClr val="bg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8B06068-C099-D1DE-8426-F5A6460FF0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M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A83E30-2EFD-D283-1A08-7F2221558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768204"/>
              </p:ext>
            </p:extLst>
          </p:nvPr>
        </p:nvGraphicFramePr>
        <p:xfrm>
          <a:off x="84841" y="1014298"/>
          <a:ext cx="12000321" cy="57964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3680">
                  <a:extLst>
                    <a:ext uri="{9D8B030D-6E8A-4147-A177-3AD203B41FA5}">
                      <a16:colId xmlns:a16="http://schemas.microsoft.com/office/drawing/2014/main" val="1954539566"/>
                    </a:ext>
                  </a:extLst>
                </a:gridCol>
                <a:gridCol w="3583296">
                  <a:extLst>
                    <a:ext uri="{9D8B030D-6E8A-4147-A177-3AD203B41FA5}">
                      <a16:colId xmlns:a16="http://schemas.microsoft.com/office/drawing/2014/main" val="526591078"/>
                    </a:ext>
                  </a:extLst>
                </a:gridCol>
                <a:gridCol w="2827275">
                  <a:extLst>
                    <a:ext uri="{9D8B030D-6E8A-4147-A177-3AD203B41FA5}">
                      <a16:colId xmlns:a16="http://schemas.microsoft.com/office/drawing/2014/main" val="151068369"/>
                    </a:ext>
                  </a:extLst>
                </a:gridCol>
                <a:gridCol w="2616070">
                  <a:extLst>
                    <a:ext uri="{9D8B030D-6E8A-4147-A177-3AD203B41FA5}">
                      <a16:colId xmlns:a16="http://schemas.microsoft.com/office/drawing/2014/main" val="1080446835"/>
                    </a:ext>
                  </a:extLst>
                </a:gridCol>
              </a:tblGrid>
              <a:tr h="823838"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Description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Main Characteristics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M" sz="2800" kern="100" dirty="0">
                          <a:effectLst/>
                        </a:rPr>
                        <a:t>Statistical Operation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Examples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061386"/>
                  </a:ext>
                </a:extLst>
              </a:tr>
              <a:tr h="4943023"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Categorises data with a meaningful order and equal intervals between values, but it does not have a true zero point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Equal differences between values are meaningful.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 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No true zero (zero does not indicate the absence of the attribute).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 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Mean, Standard deviation, Correlation &amp; Parametric tests (e.g., t-test, ANOVA).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Temperature in Celsius or Fahrenheit (0°C does not mean "no temperature").</a:t>
                      </a:r>
                    </a:p>
                    <a:p>
                      <a:pPr marL="685800"/>
                      <a:r>
                        <a:rPr lang="en-ZM" sz="2800" kern="100" dirty="0">
                          <a:effectLst/>
                        </a:rPr>
                        <a:t> 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IQ Scores (a score of 0 does not mean "no intelligence").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661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7576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39634-0F1E-D7AC-DFB6-A692CE8FA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C3F73-15DF-BC37-8972-A7722D6DC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9983" y="76841"/>
            <a:ext cx="9938017" cy="93745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RATIO SCALE</a:t>
            </a:r>
            <a:endParaRPr lang="en-ZM" b="1" dirty="0">
              <a:solidFill>
                <a:schemeClr val="bg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13AA0AA-7316-6CFD-ECD1-566087B4AF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M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DE2290-1B5A-FE3B-1B9E-3AE3D4BDB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917705"/>
              </p:ext>
            </p:extLst>
          </p:nvPr>
        </p:nvGraphicFramePr>
        <p:xfrm>
          <a:off x="94268" y="1014297"/>
          <a:ext cx="12009747" cy="579646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33394">
                  <a:extLst>
                    <a:ext uri="{9D8B030D-6E8A-4147-A177-3AD203B41FA5}">
                      <a16:colId xmlns:a16="http://schemas.microsoft.com/office/drawing/2014/main" val="1061989072"/>
                    </a:ext>
                  </a:extLst>
                </a:gridCol>
                <a:gridCol w="3328732">
                  <a:extLst>
                    <a:ext uri="{9D8B030D-6E8A-4147-A177-3AD203B41FA5}">
                      <a16:colId xmlns:a16="http://schemas.microsoft.com/office/drawing/2014/main" val="3466510391"/>
                    </a:ext>
                  </a:extLst>
                </a:gridCol>
                <a:gridCol w="3090921">
                  <a:extLst>
                    <a:ext uri="{9D8B030D-6E8A-4147-A177-3AD203B41FA5}">
                      <a16:colId xmlns:a16="http://schemas.microsoft.com/office/drawing/2014/main" val="3668566210"/>
                    </a:ext>
                  </a:extLst>
                </a:gridCol>
                <a:gridCol w="2356700">
                  <a:extLst>
                    <a:ext uri="{9D8B030D-6E8A-4147-A177-3AD203B41FA5}">
                      <a16:colId xmlns:a16="http://schemas.microsoft.com/office/drawing/2014/main" val="4179781836"/>
                    </a:ext>
                  </a:extLst>
                </a:gridCol>
              </a:tblGrid>
              <a:tr h="823838"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Description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Main Characteristics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Statistical Operation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Examples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886862"/>
                  </a:ext>
                </a:extLst>
              </a:tr>
              <a:tr h="4943023"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Most advanced level of measurement with all the properties of the interval scale, plus a true zero point, which allows for the comparison of absolute magnitudes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Equal intervals between values.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 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True zero point (zero indicates the absence of the attribute).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 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Ratios of values are meaningful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All statistical operations, including geometric mean, coefficient of variation, and advanced parametric tests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M" sz="2800" kern="100" dirty="0">
                          <a:effectLst/>
                        </a:rPr>
                        <a:t>Height, Weight, Age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 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Income (0 means no income)</a:t>
                      </a:r>
                    </a:p>
                    <a:p>
                      <a:r>
                        <a:rPr lang="en-ZM" sz="2800" kern="100" dirty="0">
                          <a:effectLst/>
                        </a:rPr>
                        <a:t> </a:t>
                      </a:r>
                      <a:endParaRPr lang="en-ZM" sz="2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53" marR="68553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94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0255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D61A3-E71E-1A23-153C-21F21B561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C615E648-5E28-D602-7F6E-E89637AB3F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4768" y="1724024"/>
          <a:ext cx="5903219" cy="5060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352499" imgH="3409606" progId="Paint.Picture">
                  <p:embed/>
                </p:oleObj>
              </mc:Choice>
              <mc:Fallback>
                <p:oleObj name="Bitmap Image" r:id="rId2" imgW="4352499" imgH="3409606" progId="Paint.Picture">
                  <p:embed/>
                  <p:pic>
                    <p:nvPicPr>
                      <p:cNvPr id="4" name="Object 7">
                        <a:extLst>
                          <a:ext uri="{FF2B5EF4-FFF2-40B4-BE49-F238E27FC236}">
                            <a16:creationId xmlns:a16="http://schemas.microsoft.com/office/drawing/2014/main" id="{C615E648-5E28-D602-7F6E-E89637AB3F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4768" y="1724024"/>
                        <a:ext cx="5903219" cy="50609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82938CFD-260D-BED4-A3DE-7D953318703E}"/>
              </a:ext>
            </a:extLst>
          </p:cNvPr>
          <p:cNvSpPr/>
          <p:nvPr/>
        </p:nvSpPr>
        <p:spPr>
          <a:xfrm>
            <a:off x="2464012" y="153681"/>
            <a:ext cx="4036679" cy="2159214"/>
          </a:xfrm>
          <a:prstGeom prst="cloudCallout">
            <a:avLst>
              <a:gd name="adj1" fmla="val 71159"/>
              <a:gd name="adj2" fmla="val 76735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200" dirty="0">
                <a:latin typeface="Arial Rounded MT Bold" panose="020F0704030504030204" pitchFamily="34" charset="0"/>
              </a:rPr>
              <a:t>When is it ending</a:t>
            </a:r>
          </a:p>
          <a:p>
            <a:pPr algn="ctr"/>
            <a:endParaRPr lang="en-US" sz="2800" dirty="0">
              <a:latin typeface="Arial Rounded MT Bold" panose="020F0704030504030204" pitchFamily="34" charset="0"/>
            </a:endParaRPr>
          </a:p>
          <a:p>
            <a:pPr algn="ctr"/>
            <a:r>
              <a:rPr lang="en-US" sz="2800" dirty="0">
                <a:latin typeface="Arial Rounded MT Bold" panose="020F0704030504030204" pitchFamily="34" charset="0"/>
              </a:rPr>
              <a:t>Thank You Day 2</a:t>
            </a:r>
            <a:endParaRPr lang="en-ZM" sz="2800" dirty="0"/>
          </a:p>
        </p:txBody>
      </p:sp>
    </p:spTree>
    <p:extLst>
      <p:ext uri="{BB962C8B-B14F-4D97-AF65-F5344CB8AC3E}">
        <p14:creationId xmlns:p14="http://schemas.microsoft.com/office/powerpoint/2010/main" val="32598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1734</Words>
  <Application>Microsoft Office PowerPoint</Application>
  <PresentationFormat>Widescreen</PresentationFormat>
  <Paragraphs>277</Paragraphs>
  <Slides>39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Aptos</vt:lpstr>
      <vt:lpstr>Aptos Display</vt:lpstr>
      <vt:lpstr>Aptos ExtraBold</vt:lpstr>
      <vt:lpstr>Arial</vt:lpstr>
      <vt:lpstr>Arial Black</vt:lpstr>
      <vt:lpstr>Arial Rounded MT Bold</vt:lpstr>
      <vt:lpstr>Symbol</vt:lpstr>
      <vt:lpstr>Times New Roman</vt:lpstr>
      <vt:lpstr>Office Theme</vt:lpstr>
      <vt:lpstr>Bitmap Image</vt:lpstr>
      <vt:lpstr>Clip</vt:lpstr>
      <vt:lpstr>PowerPoint Presentation</vt:lpstr>
      <vt:lpstr>STATISTICS</vt:lpstr>
      <vt:lpstr>DESCRIPTIVE STATISTICS</vt:lpstr>
      <vt:lpstr>INFERENTIAL STATISTICS</vt:lpstr>
      <vt:lpstr>INFERENTIAL STATISTICS</vt:lpstr>
      <vt:lpstr>INFERENTIAL STATISTICS</vt:lpstr>
      <vt:lpstr>IMPORTANCE OF INFERENTIAL STATISTICS</vt:lpstr>
      <vt:lpstr>POPULATION</vt:lpstr>
      <vt:lpstr>CHARACTERISTICS OF A POPULATION</vt:lpstr>
      <vt:lpstr>SAMPLE</vt:lpstr>
      <vt:lpstr>CHARACTERISTICS OF A SAMPLE</vt:lpstr>
      <vt:lpstr>WHY USE A SAMPLE</vt:lpstr>
      <vt:lpstr>STATISTIC</vt:lpstr>
      <vt:lpstr>PARAMETER</vt:lpstr>
      <vt:lpstr>VARIABLE</vt:lpstr>
      <vt:lpstr>DATA</vt:lpstr>
      <vt:lpstr>Types of data </vt:lpstr>
      <vt:lpstr>PowerPoint Presentation</vt:lpstr>
      <vt:lpstr>VARIABLES (continued)</vt:lpstr>
      <vt:lpstr>VARIABLES (continued)</vt:lpstr>
      <vt:lpstr>Numerical Variables</vt:lpstr>
      <vt:lpstr>Other Types of Variables</vt:lpstr>
      <vt:lpstr>Importance of Understanding Variables</vt:lpstr>
      <vt:lpstr>PARAMETRIC AND NON-PARAMETRIC STATISTICS</vt:lpstr>
      <vt:lpstr>PARAMETRIC STATISTICS</vt:lpstr>
      <vt:lpstr>PowerPoint Presentation</vt:lpstr>
      <vt:lpstr>PowerPoint Presentation</vt:lpstr>
      <vt:lpstr>PARAMETRIC STATISTICS</vt:lpstr>
      <vt:lpstr>NON-PARAMETRIC STATISTICS</vt:lpstr>
      <vt:lpstr>CHARACTERISTICS OF NON-PARAMETRIC STATISTICS</vt:lpstr>
      <vt:lpstr>CHARACTERISTICS OF NON-PARAMETRIC STATISTICS</vt:lpstr>
      <vt:lpstr>DIFFERENCES BETWEEN PARAMETRIC AND NON-PARAMETRIC STATISTICS</vt:lpstr>
      <vt:lpstr>SCALES OF MEASUREMENT</vt:lpstr>
      <vt:lpstr>SCALE OF MEASUREMENT</vt:lpstr>
      <vt:lpstr>NOMINAL SCALE</vt:lpstr>
      <vt:lpstr>ORDINAL SCALE</vt:lpstr>
      <vt:lpstr>INTERVAL SCALE</vt:lpstr>
      <vt:lpstr>RATIO SCALE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Mwitwa</dc:creator>
  <cp:lastModifiedBy>Jacob Mwitwa</cp:lastModifiedBy>
  <cp:revision>1</cp:revision>
  <dcterms:created xsi:type="dcterms:W3CDTF">2025-03-03T13:29:08Z</dcterms:created>
  <dcterms:modified xsi:type="dcterms:W3CDTF">2025-03-06T07:12:22Z</dcterms:modified>
</cp:coreProperties>
</file>