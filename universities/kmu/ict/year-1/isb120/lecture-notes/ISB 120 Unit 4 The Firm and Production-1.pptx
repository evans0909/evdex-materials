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9" r:id="rId29"/>
    <p:sldId id="290" r:id="rId30"/>
    <p:sldId id="291" r:id="rId31"/>
    <p:sldId id="292" r:id="rId32"/>
    <p:sldId id="293" r:id="rId33"/>
    <p:sldId id="294" r:id="rId34"/>
    <p:sldId id="295" r:id="rId35"/>
    <p:sldId id="296" r:id="rId36"/>
    <p:sldId id="297" r:id="rId37"/>
    <p:sldId id="298" r:id="rId38"/>
    <p:sldId id="283" r:id="rId39"/>
    <p:sldId id="284" r:id="rId40"/>
    <p:sldId id="285" r:id="rId41"/>
    <p:sldId id="286" r:id="rId42"/>
    <p:sldId id="287" r:id="rId43"/>
    <p:sldId id="288" r:id="rId44"/>
    <p:sldId id="299" r:id="rId45"/>
    <p:sldId id="314" r:id="rId46"/>
    <p:sldId id="300" r:id="rId47"/>
    <p:sldId id="310" r:id="rId48"/>
    <p:sldId id="313" r:id="rId49"/>
    <p:sldId id="311" r:id="rId50"/>
    <p:sldId id="312" r:id="rId51"/>
    <p:sldId id="315" r:id="rId52"/>
    <p:sldId id="316" r:id="rId53"/>
    <p:sldId id="317" r:id="rId54"/>
    <p:sldId id="318" r:id="rId55"/>
    <p:sldId id="328" r:id="rId56"/>
    <p:sldId id="329" r:id="rId57"/>
    <p:sldId id="301" r:id="rId58"/>
    <p:sldId id="319" r:id="rId59"/>
    <p:sldId id="320" r:id="rId60"/>
    <p:sldId id="321" r:id="rId61"/>
    <p:sldId id="322" r:id="rId62"/>
    <p:sldId id="323" r:id="rId63"/>
    <p:sldId id="302" r:id="rId64"/>
    <p:sldId id="335" r:id="rId65"/>
    <p:sldId id="303" r:id="rId66"/>
    <p:sldId id="330" r:id="rId67"/>
    <p:sldId id="331" r:id="rId68"/>
    <p:sldId id="332" r:id="rId69"/>
    <p:sldId id="333" r:id="rId70"/>
    <p:sldId id="334" r:id="rId71"/>
    <p:sldId id="304" r:id="rId72"/>
    <p:sldId id="324" r:id="rId73"/>
    <p:sldId id="325" r:id="rId74"/>
    <p:sldId id="326" r:id="rId75"/>
    <p:sldId id="327" r:id="rId76"/>
    <p:sldId id="305" r:id="rId77"/>
    <p:sldId id="336" r:id="rId78"/>
    <p:sldId id="337" r:id="rId79"/>
    <p:sldId id="338" r:id="rId80"/>
    <p:sldId id="339" r:id="rId81"/>
    <p:sldId id="340" r:id="rId82"/>
    <p:sldId id="341" r:id="rId83"/>
    <p:sldId id="342" r:id="rId84"/>
    <p:sldId id="343" r:id="rId85"/>
    <p:sldId id="344" r:id="rId86"/>
    <p:sldId id="345" r:id="rId87"/>
    <p:sldId id="306" r:id="rId8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A289601-2B8A-49AE-9E79-EB5C7110A15A}" type="datetimeFigureOut">
              <a:rPr lang="en-US" smtClean="0"/>
              <a:t>6/18/2025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A28DAB-1541-48ED-BA24-2F2BCECFA72F}" type="slidenum">
              <a:rPr lang="en-US" smtClean="0"/>
              <a:t>‹#›</a:t>
            </a:fld>
            <a:endParaRPr lang="en-US"/>
          </a:p>
        </p:txBody>
      </p:sp>
    </p:spTree>
    <p:extLst>
      <p:ext uri="{BB962C8B-B14F-4D97-AF65-F5344CB8AC3E}">
        <p14:creationId xmlns:p14="http://schemas.microsoft.com/office/powerpoint/2010/main" val="5133146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A289601-2B8A-49AE-9E79-EB5C7110A15A}" type="datetimeFigureOut">
              <a:rPr lang="en-US" smtClean="0"/>
              <a:t>6/18/2025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A28DAB-1541-48ED-BA24-2F2BCECFA72F}" type="slidenum">
              <a:rPr lang="en-US" smtClean="0"/>
              <a:t>‹#›</a:t>
            </a:fld>
            <a:endParaRPr lang="en-US"/>
          </a:p>
        </p:txBody>
      </p:sp>
    </p:spTree>
    <p:extLst>
      <p:ext uri="{BB962C8B-B14F-4D97-AF65-F5344CB8AC3E}">
        <p14:creationId xmlns:p14="http://schemas.microsoft.com/office/powerpoint/2010/main" val="29724194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A289601-2B8A-49AE-9E79-EB5C7110A15A}" type="datetimeFigureOut">
              <a:rPr lang="en-US" smtClean="0"/>
              <a:t>6/18/2025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A28DAB-1541-48ED-BA24-2F2BCECFA72F}" type="slidenum">
              <a:rPr lang="en-US" smtClean="0"/>
              <a:t>‹#›</a:t>
            </a:fld>
            <a:endParaRPr lang="en-US"/>
          </a:p>
        </p:txBody>
      </p:sp>
    </p:spTree>
    <p:extLst>
      <p:ext uri="{BB962C8B-B14F-4D97-AF65-F5344CB8AC3E}">
        <p14:creationId xmlns:p14="http://schemas.microsoft.com/office/powerpoint/2010/main" val="2864046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A289601-2B8A-49AE-9E79-EB5C7110A15A}" type="datetimeFigureOut">
              <a:rPr lang="en-US" smtClean="0"/>
              <a:t>6/18/2025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A28DAB-1541-48ED-BA24-2F2BCECFA72F}" type="slidenum">
              <a:rPr lang="en-US" smtClean="0"/>
              <a:t>‹#›</a:t>
            </a:fld>
            <a:endParaRPr lang="en-US"/>
          </a:p>
        </p:txBody>
      </p:sp>
    </p:spTree>
    <p:extLst>
      <p:ext uri="{BB962C8B-B14F-4D97-AF65-F5344CB8AC3E}">
        <p14:creationId xmlns:p14="http://schemas.microsoft.com/office/powerpoint/2010/main" val="4236318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A289601-2B8A-49AE-9E79-EB5C7110A15A}" type="datetimeFigureOut">
              <a:rPr lang="en-US" smtClean="0"/>
              <a:t>6/18/2025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0A28DAB-1541-48ED-BA24-2F2BCECFA72F}" type="slidenum">
              <a:rPr lang="en-US" smtClean="0"/>
              <a:t>‹#›</a:t>
            </a:fld>
            <a:endParaRPr lang="en-US"/>
          </a:p>
        </p:txBody>
      </p:sp>
    </p:spTree>
    <p:extLst>
      <p:ext uri="{BB962C8B-B14F-4D97-AF65-F5344CB8AC3E}">
        <p14:creationId xmlns:p14="http://schemas.microsoft.com/office/powerpoint/2010/main" val="36215008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A289601-2B8A-49AE-9E79-EB5C7110A15A}" type="datetimeFigureOut">
              <a:rPr lang="en-US" smtClean="0"/>
              <a:t>6/18/2025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0A28DAB-1541-48ED-BA24-2F2BCECFA72F}" type="slidenum">
              <a:rPr lang="en-US" smtClean="0"/>
              <a:t>‹#›</a:t>
            </a:fld>
            <a:endParaRPr lang="en-US"/>
          </a:p>
        </p:txBody>
      </p:sp>
    </p:spTree>
    <p:extLst>
      <p:ext uri="{BB962C8B-B14F-4D97-AF65-F5344CB8AC3E}">
        <p14:creationId xmlns:p14="http://schemas.microsoft.com/office/powerpoint/2010/main" val="1929308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289601-2B8A-49AE-9E79-EB5C7110A15A}" type="datetimeFigureOut">
              <a:rPr lang="en-US" smtClean="0"/>
              <a:t>6/18/2025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0A28DAB-1541-48ED-BA24-2F2BCECFA72F}" type="slidenum">
              <a:rPr lang="en-US" smtClean="0"/>
              <a:t>‹#›</a:t>
            </a:fld>
            <a:endParaRPr lang="en-US"/>
          </a:p>
        </p:txBody>
      </p:sp>
    </p:spTree>
    <p:extLst>
      <p:ext uri="{BB962C8B-B14F-4D97-AF65-F5344CB8AC3E}">
        <p14:creationId xmlns:p14="http://schemas.microsoft.com/office/powerpoint/2010/main" val="30350078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A289601-2B8A-49AE-9E79-EB5C7110A15A}" type="datetimeFigureOut">
              <a:rPr lang="en-US" smtClean="0"/>
              <a:t>6/18/2025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A28DAB-1541-48ED-BA24-2F2BCECFA72F}" type="slidenum">
              <a:rPr lang="en-US" smtClean="0"/>
              <a:t>‹#›</a:t>
            </a:fld>
            <a:endParaRPr lang="en-US"/>
          </a:p>
        </p:txBody>
      </p:sp>
    </p:spTree>
    <p:extLst>
      <p:ext uri="{BB962C8B-B14F-4D97-AF65-F5344CB8AC3E}">
        <p14:creationId xmlns:p14="http://schemas.microsoft.com/office/powerpoint/2010/main" val="2554355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A289601-2B8A-49AE-9E79-EB5C7110A15A}" type="datetimeFigureOut">
              <a:rPr lang="en-US" smtClean="0"/>
              <a:t>6/18/2025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A28DAB-1541-48ED-BA24-2F2BCECFA72F}" type="slidenum">
              <a:rPr lang="en-US" smtClean="0"/>
              <a:t>‹#›</a:t>
            </a:fld>
            <a:endParaRPr lang="en-US"/>
          </a:p>
        </p:txBody>
      </p:sp>
    </p:spTree>
    <p:extLst>
      <p:ext uri="{BB962C8B-B14F-4D97-AF65-F5344CB8AC3E}">
        <p14:creationId xmlns:p14="http://schemas.microsoft.com/office/powerpoint/2010/main" val="28476371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A289601-2B8A-49AE-9E79-EB5C7110A15A}" type="datetimeFigureOut">
              <a:rPr lang="en-US" smtClean="0"/>
              <a:t>6/18/2025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A28DAB-1541-48ED-BA24-2F2BCECFA72F}" type="slidenum">
              <a:rPr lang="en-US" smtClean="0"/>
              <a:t>‹#›</a:t>
            </a:fld>
            <a:endParaRPr lang="en-US"/>
          </a:p>
        </p:txBody>
      </p:sp>
    </p:spTree>
    <p:extLst>
      <p:ext uri="{BB962C8B-B14F-4D97-AF65-F5344CB8AC3E}">
        <p14:creationId xmlns:p14="http://schemas.microsoft.com/office/powerpoint/2010/main" val="24572812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A289601-2B8A-49AE-9E79-EB5C7110A15A}" type="datetimeFigureOut">
              <a:rPr lang="en-US" smtClean="0"/>
              <a:t>6/18/2025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A28DAB-1541-48ED-BA24-2F2BCECFA72F}" type="slidenum">
              <a:rPr lang="en-US" smtClean="0"/>
              <a:t>‹#›</a:t>
            </a:fld>
            <a:endParaRPr lang="en-US"/>
          </a:p>
        </p:txBody>
      </p:sp>
    </p:spTree>
    <p:extLst>
      <p:ext uri="{BB962C8B-B14F-4D97-AF65-F5344CB8AC3E}">
        <p14:creationId xmlns:p14="http://schemas.microsoft.com/office/powerpoint/2010/main" val="17989929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289601-2B8A-49AE-9E79-EB5C7110A15A}" type="datetimeFigureOut">
              <a:rPr lang="en-US" smtClean="0"/>
              <a:t>6/18/2025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A28DAB-1541-48ED-BA24-2F2BCECFA72F}" type="slidenum">
              <a:rPr lang="en-US" smtClean="0"/>
              <a:t>‹#›</a:t>
            </a:fld>
            <a:endParaRPr lang="en-US"/>
          </a:p>
        </p:txBody>
      </p:sp>
    </p:spTree>
    <p:extLst>
      <p:ext uri="{BB962C8B-B14F-4D97-AF65-F5344CB8AC3E}">
        <p14:creationId xmlns:p14="http://schemas.microsoft.com/office/powerpoint/2010/main" val="5453932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214437"/>
            <a:ext cx="9144000" cy="2387600"/>
          </a:xfrm>
        </p:spPr>
        <p:txBody>
          <a:bodyPr/>
          <a:lstStyle/>
          <a:p>
            <a:r>
              <a:rPr lang="en-US" b="1" dirty="0">
                <a:effectLst>
                  <a:outerShdw blurRad="38100" dist="38100" dir="2700000" algn="tl">
                    <a:srgbClr val="000000">
                      <a:alpha val="43137"/>
                    </a:srgbClr>
                  </a:outerShdw>
                </a:effectLst>
              </a:rPr>
              <a:t>ISB 120</a:t>
            </a:r>
            <a:endParaRPr lang="en-US" dirty="0"/>
          </a:p>
        </p:txBody>
      </p:sp>
      <p:sp>
        <p:nvSpPr>
          <p:cNvPr id="3" name="Subtitle 2"/>
          <p:cNvSpPr>
            <a:spLocks noGrp="1"/>
          </p:cNvSpPr>
          <p:nvPr>
            <p:ph type="subTitle" idx="1"/>
          </p:nvPr>
        </p:nvSpPr>
        <p:spPr>
          <a:xfrm>
            <a:off x="1524000" y="3602037"/>
            <a:ext cx="9144000" cy="2014991"/>
          </a:xfrm>
        </p:spPr>
        <p:txBody>
          <a:bodyPr>
            <a:normAutofit fontScale="92500" lnSpcReduction="10000"/>
          </a:bodyPr>
          <a:lstStyle/>
          <a:p>
            <a:r>
              <a:rPr lang="en-US" sz="6000" b="1" dirty="0" smtClean="0">
                <a:effectLst>
                  <a:outerShdw blurRad="38100" dist="38100" dir="2700000" algn="tl">
                    <a:srgbClr val="000000">
                      <a:alpha val="43137"/>
                    </a:srgbClr>
                  </a:outerShdw>
                </a:effectLst>
              </a:rPr>
              <a:t>LECTURER </a:t>
            </a:r>
            <a:r>
              <a:rPr lang="en-US" sz="6000" b="1" dirty="0">
                <a:effectLst>
                  <a:outerShdw blurRad="38100" dist="38100" dir="2700000" algn="tl">
                    <a:srgbClr val="000000">
                      <a:alpha val="43137"/>
                    </a:srgbClr>
                  </a:outerShdw>
                </a:effectLst>
              </a:rPr>
              <a:t>NAME:</a:t>
            </a:r>
          </a:p>
          <a:p>
            <a:r>
              <a:rPr lang="en-US" sz="6000" b="1" dirty="0">
                <a:effectLst>
                  <a:outerShdw blurRad="38100" dist="38100" dir="2700000" algn="tl">
                    <a:srgbClr val="000000">
                      <a:alpha val="43137"/>
                    </a:srgbClr>
                  </a:outerShdw>
                </a:effectLst>
              </a:rPr>
              <a:t>MULENGA MPOLOKOSO</a:t>
            </a:r>
          </a:p>
          <a:p>
            <a:r>
              <a:rPr lang="en-US" i="1" dirty="0">
                <a:effectLst>
                  <a:outerShdw blurRad="38100" dist="38100" dir="2700000" algn="tl">
                    <a:srgbClr val="000000">
                      <a:alpha val="43137"/>
                    </a:srgbClr>
                  </a:outerShdw>
                </a:effectLst>
              </a:rPr>
              <a:t>(</a:t>
            </a:r>
            <a:r>
              <a:rPr lang="en-US" i="1" dirty="0" err="1">
                <a:effectLst>
                  <a:outerShdw blurRad="38100" dist="38100" dir="2700000" algn="tl">
                    <a:srgbClr val="000000">
                      <a:alpha val="43137"/>
                    </a:srgbClr>
                  </a:outerShdw>
                </a:effectLst>
              </a:rPr>
              <a:t>Ph.D_WIP</a:t>
            </a:r>
            <a:r>
              <a:rPr lang="en-US" i="1" dirty="0">
                <a:effectLst>
                  <a:outerShdw blurRad="38100" dist="38100" dir="2700000" algn="tl">
                    <a:srgbClr val="000000">
                      <a:alpha val="43137"/>
                    </a:srgbClr>
                  </a:outerShdw>
                </a:effectLst>
              </a:rPr>
              <a:t>, MBA, BBA, BICTED, BSCFO, TM, ISP, CMP)</a:t>
            </a:r>
          </a:p>
          <a:p>
            <a:endParaRPr lang="en-US" dirty="0"/>
          </a:p>
        </p:txBody>
      </p:sp>
    </p:spTree>
    <p:extLst>
      <p:ext uri="{BB962C8B-B14F-4D97-AF65-F5344CB8AC3E}">
        <p14:creationId xmlns:p14="http://schemas.microsoft.com/office/powerpoint/2010/main" val="229752578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Unit 4: The Firm and Production </a:t>
            </a:r>
            <a:br>
              <a:rPr lang="en-US" b="1" dirty="0" smtClean="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92500" lnSpcReduction="20000"/>
          </a:bodyPr>
          <a:lstStyle/>
          <a:p>
            <a:pPr marL="0" indent="0">
              <a:buNone/>
            </a:pPr>
            <a:r>
              <a:rPr lang="en-US" dirty="0" smtClean="0"/>
              <a:t>⦁ </a:t>
            </a:r>
            <a:r>
              <a:rPr lang="en-US" dirty="0"/>
              <a:t>Production functions: short-run versus long-run considerations </a:t>
            </a:r>
          </a:p>
          <a:p>
            <a:pPr marL="0" indent="0">
              <a:buNone/>
            </a:pPr>
            <a:r>
              <a:rPr lang="en-US" dirty="0"/>
              <a:t>⦁ Cost analysis: fixed costs, variable costs, and total costs </a:t>
            </a:r>
          </a:p>
          <a:p>
            <a:pPr marL="0" indent="0">
              <a:buNone/>
            </a:pPr>
            <a:r>
              <a:rPr lang="en-US" dirty="0"/>
              <a:t>⦁ Profit maximization and the relationship between costs and revenue </a:t>
            </a:r>
          </a:p>
          <a:p>
            <a:pPr marL="0" indent="0">
              <a:buNone/>
            </a:pPr>
            <a:r>
              <a:rPr lang="en-US" dirty="0"/>
              <a:t>⦁ Market structures: perfect competition and monopoly </a:t>
            </a:r>
          </a:p>
          <a:p>
            <a:pPr marL="0" indent="0">
              <a:buNone/>
            </a:pPr>
            <a:r>
              <a:rPr lang="en-US" dirty="0"/>
              <a:t>⦁ Pricing strategies and the impact of market power </a:t>
            </a:r>
          </a:p>
          <a:p>
            <a:pPr marL="0" indent="0">
              <a:buNone/>
            </a:pPr>
            <a:r>
              <a:rPr lang="en-US" dirty="0"/>
              <a:t>⦁ Profit and revenue in different market structures </a:t>
            </a:r>
          </a:p>
          <a:p>
            <a:pPr marL="0" indent="0">
              <a:buNone/>
            </a:pPr>
            <a:r>
              <a:rPr lang="en-US" dirty="0"/>
              <a:t>⦁ Economies of scale and scope in production </a:t>
            </a:r>
          </a:p>
          <a:p>
            <a:pPr marL="0" indent="0">
              <a:buNone/>
            </a:pPr>
            <a:r>
              <a:rPr lang="en-US" dirty="0"/>
              <a:t>⦁ Technological advancements and their influence on production </a:t>
            </a:r>
          </a:p>
          <a:p>
            <a:pPr marL="0" indent="0">
              <a:buNone/>
            </a:pPr>
            <a:r>
              <a:rPr lang="en-US" dirty="0"/>
              <a:t>⦁ Innovations and their role in business strategies </a:t>
            </a:r>
          </a:p>
          <a:p>
            <a:pPr marL="0" indent="0">
              <a:buNone/>
            </a:pPr>
            <a:r>
              <a:rPr lang="en-US" dirty="0"/>
              <a:t>⦁ Labor markets and the economic implications of wage differentials </a:t>
            </a:r>
          </a:p>
          <a:p>
            <a:endParaRPr lang="en-US" dirty="0"/>
          </a:p>
        </p:txBody>
      </p:sp>
    </p:spTree>
    <p:extLst>
      <p:ext uri="{BB962C8B-B14F-4D97-AF65-F5344CB8AC3E}">
        <p14:creationId xmlns:p14="http://schemas.microsoft.com/office/powerpoint/2010/main" val="55597252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Production functions: short-run versus long-run considerations</a:t>
            </a:r>
          </a:p>
        </p:txBody>
      </p:sp>
      <p:sp>
        <p:nvSpPr>
          <p:cNvPr id="3" name="Content Placeholder 2"/>
          <p:cNvSpPr>
            <a:spLocks noGrp="1"/>
          </p:cNvSpPr>
          <p:nvPr>
            <p:ph idx="1"/>
          </p:nvPr>
        </p:nvSpPr>
        <p:spPr/>
        <p:txBody>
          <a:bodyPr/>
          <a:lstStyle/>
          <a:p>
            <a:r>
              <a:rPr lang="en-US" dirty="0"/>
              <a:t>In this lecture we look at </a:t>
            </a:r>
            <a:r>
              <a:rPr lang="en-US" dirty="0" smtClean="0"/>
              <a:t>firms </a:t>
            </a:r>
            <a:r>
              <a:rPr lang="en-US" dirty="0"/>
              <a:t>and production.</a:t>
            </a:r>
          </a:p>
          <a:p>
            <a:r>
              <a:rPr lang="en-US" dirty="0"/>
              <a:t>A </a:t>
            </a:r>
            <a:r>
              <a:rPr lang="en-US" dirty="0" smtClean="0"/>
              <a:t>firm </a:t>
            </a:r>
            <a:r>
              <a:rPr lang="en-US" dirty="0"/>
              <a:t>is simply some organization that takes inputs and turns it into</a:t>
            </a:r>
          </a:p>
          <a:p>
            <a:r>
              <a:rPr lang="en-US" dirty="0"/>
              <a:t>outputs.</a:t>
            </a:r>
          </a:p>
          <a:p>
            <a:r>
              <a:rPr lang="en-US" dirty="0"/>
              <a:t>We can roughly divide these </a:t>
            </a:r>
            <a:r>
              <a:rPr lang="en-US" dirty="0" smtClean="0"/>
              <a:t>firms </a:t>
            </a:r>
            <a:r>
              <a:rPr lang="en-US" dirty="0"/>
              <a:t>into</a:t>
            </a:r>
          </a:p>
          <a:p>
            <a:r>
              <a:rPr lang="en-US" dirty="0"/>
              <a:t>private sector</a:t>
            </a:r>
          </a:p>
          <a:p>
            <a:r>
              <a:rPr lang="en-US" dirty="0"/>
              <a:t>public</a:t>
            </a:r>
          </a:p>
          <a:p>
            <a:r>
              <a:rPr lang="en-US" dirty="0" smtClean="0"/>
              <a:t>non-profit firms</a:t>
            </a:r>
            <a:endParaRPr lang="en-US" dirty="0"/>
          </a:p>
        </p:txBody>
      </p:sp>
    </p:spTree>
    <p:extLst>
      <p:ext uri="{BB962C8B-B14F-4D97-AF65-F5344CB8AC3E}">
        <p14:creationId xmlns:p14="http://schemas.microsoft.com/office/powerpoint/2010/main" val="37475482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Ownership and Management of Firm</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pPr marL="0" indent="0">
              <a:buNone/>
            </a:pPr>
            <a:r>
              <a:rPr lang="en-US" dirty="0" smtClean="0"/>
              <a:t>1. </a:t>
            </a:r>
            <a:r>
              <a:rPr lang="en-US" b="1" dirty="0" smtClean="0"/>
              <a:t>Sole </a:t>
            </a:r>
            <a:r>
              <a:rPr lang="en-US" b="1" dirty="0"/>
              <a:t>proprietorship</a:t>
            </a:r>
          </a:p>
          <a:p>
            <a:r>
              <a:rPr lang="en-US" dirty="0"/>
              <a:t>owned by an individual who is responsible for all debts.</a:t>
            </a:r>
          </a:p>
          <a:p>
            <a:r>
              <a:rPr lang="en-US" dirty="0"/>
              <a:t>Example: A freelance writer or a bookkeeper</a:t>
            </a:r>
            <a:r>
              <a:rPr lang="en-US" dirty="0" smtClean="0"/>
              <a:t>.</a:t>
            </a:r>
          </a:p>
          <a:p>
            <a:pPr marL="0" indent="0">
              <a:buNone/>
            </a:pPr>
            <a:r>
              <a:rPr lang="en-US" dirty="0" smtClean="0"/>
              <a:t>2. </a:t>
            </a:r>
            <a:r>
              <a:rPr lang="en-US" b="1" dirty="0" smtClean="0"/>
              <a:t>General </a:t>
            </a:r>
            <a:r>
              <a:rPr lang="en-US" b="1" dirty="0"/>
              <a:t>partnership</a:t>
            </a:r>
          </a:p>
          <a:p>
            <a:r>
              <a:rPr lang="en-US" dirty="0"/>
              <a:t>Jointly owned by multiple people who are together responsible for</a:t>
            </a:r>
          </a:p>
          <a:p>
            <a:r>
              <a:rPr lang="en-US" dirty="0"/>
              <a:t>debts.</a:t>
            </a:r>
          </a:p>
          <a:p>
            <a:r>
              <a:rPr lang="en-US" dirty="0"/>
              <a:t>Example: Law </a:t>
            </a:r>
            <a:r>
              <a:rPr lang="en-US" dirty="0" smtClean="0"/>
              <a:t>office with </a:t>
            </a:r>
            <a:r>
              <a:rPr lang="en-US" dirty="0"/>
              <a:t>multiple partners.</a:t>
            </a:r>
          </a:p>
        </p:txBody>
      </p:sp>
    </p:spTree>
    <p:extLst>
      <p:ext uri="{BB962C8B-B14F-4D97-AF65-F5344CB8AC3E}">
        <p14:creationId xmlns:p14="http://schemas.microsoft.com/office/powerpoint/2010/main" val="127053215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Ownership and Management of Firm</a:t>
            </a:r>
            <a:endParaRPr lang="en-US" dirty="0"/>
          </a:p>
        </p:txBody>
      </p:sp>
      <p:sp>
        <p:nvSpPr>
          <p:cNvPr id="3" name="Content Placeholder 2"/>
          <p:cNvSpPr>
            <a:spLocks noGrp="1"/>
          </p:cNvSpPr>
          <p:nvPr>
            <p:ph idx="1"/>
          </p:nvPr>
        </p:nvSpPr>
        <p:spPr/>
        <p:txBody>
          <a:bodyPr/>
          <a:lstStyle/>
          <a:p>
            <a:pPr marL="0" indent="0">
              <a:buNone/>
            </a:pPr>
            <a:r>
              <a:rPr lang="en-US" dirty="0" smtClean="0"/>
              <a:t>3. Corporations</a:t>
            </a:r>
            <a:endParaRPr lang="en-US" dirty="0"/>
          </a:p>
          <a:p>
            <a:r>
              <a:rPr lang="en-US" dirty="0"/>
              <a:t>Owned by shareholders in proportion to the amount of stock they </a:t>
            </a:r>
            <a:r>
              <a:rPr lang="en-US" dirty="0" smtClean="0"/>
              <a:t>own.</a:t>
            </a:r>
          </a:p>
          <a:p>
            <a:r>
              <a:rPr lang="en-US" dirty="0"/>
              <a:t>l</a:t>
            </a:r>
            <a:r>
              <a:rPr lang="en-US" dirty="0" smtClean="0"/>
              <a:t>imited </a:t>
            </a:r>
            <a:r>
              <a:rPr lang="en-US" dirty="0"/>
              <a:t>liability.</a:t>
            </a:r>
          </a:p>
          <a:p>
            <a:r>
              <a:rPr lang="en-US" dirty="0"/>
              <a:t>Example: Microsoft, recently Facebook.</a:t>
            </a:r>
          </a:p>
        </p:txBody>
      </p:sp>
    </p:spTree>
    <p:extLst>
      <p:ext uri="{BB962C8B-B14F-4D97-AF65-F5344CB8AC3E}">
        <p14:creationId xmlns:p14="http://schemas.microsoft.com/office/powerpoint/2010/main" val="30517291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Ownership and Management of Firm</a:t>
            </a:r>
            <a:endParaRPr lang="en-US" dirty="0"/>
          </a:p>
        </p:txBody>
      </p:sp>
      <p:sp>
        <p:nvSpPr>
          <p:cNvPr id="3" name="Content Placeholder 2"/>
          <p:cNvSpPr>
            <a:spLocks noGrp="1"/>
          </p:cNvSpPr>
          <p:nvPr>
            <p:ph idx="1"/>
          </p:nvPr>
        </p:nvSpPr>
        <p:spPr/>
        <p:txBody>
          <a:bodyPr>
            <a:normAutofit/>
          </a:bodyPr>
          <a:lstStyle/>
          <a:p>
            <a:r>
              <a:rPr lang="en-US" dirty="0"/>
              <a:t>Private </a:t>
            </a:r>
            <a:r>
              <a:rPr lang="en-US" dirty="0" smtClean="0"/>
              <a:t>firms </a:t>
            </a:r>
            <a:r>
              <a:rPr lang="en-US" dirty="0"/>
              <a:t>have the single goal of maximizing </a:t>
            </a:r>
            <a:r>
              <a:rPr lang="en-US" dirty="0" smtClean="0"/>
              <a:t>profits</a:t>
            </a:r>
            <a:r>
              <a:rPr lang="en-US" dirty="0"/>
              <a:t>.</a:t>
            </a:r>
          </a:p>
          <a:p>
            <a:r>
              <a:rPr lang="en-US" dirty="0" smtClean="0"/>
              <a:t>Profit </a:t>
            </a:r>
            <a:r>
              <a:rPr lang="en-US" dirty="0"/>
              <a:t>(</a:t>
            </a:r>
            <a:r>
              <a:rPr lang="en-US" i="1" dirty="0"/>
              <a:t>p</a:t>
            </a:r>
            <a:r>
              <a:rPr lang="en-US" dirty="0"/>
              <a:t>) is </a:t>
            </a:r>
            <a:r>
              <a:rPr lang="en-US" dirty="0" smtClean="0"/>
              <a:t>defined </a:t>
            </a:r>
            <a:r>
              <a:rPr lang="en-US" dirty="0"/>
              <a:t>as total revenue (TR) minus total cost (TC).</a:t>
            </a:r>
          </a:p>
          <a:p>
            <a:r>
              <a:rPr lang="en-US" i="1" dirty="0"/>
              <a:t>p </a:t>
            </a:r>
            <a:r>
              <a:rPr lang="en-US" dirty="0"/>
              <a:t>= TR </a:t>
            </a:r>
            <a:r>
              <a:rPr lang="en-US" dirty="0" smtClean="0"/>
              <a:t>- </a:t>
            </a:r>
            <a:r>
              <a:rPr lang="en-US" dirty="0"/>
              <a:t>TC</a:t>
            </a:r>
          </a:p>
          <a:p>
            <a:r>
              <a:rPr lang="en-US" dirty="0"/>
              <a:t>TR = p *</a:t>
            </a:r>
            <a:r>
              <a:rPr lang="en-US" dirty="0" smtClean="0"/>
              <a:t>q</a:t>
            </a:r>
            <a:endParaRPr lang="en-US" dirty="0"/>
          </a:p>
          <a:p>
            <a:r>
              <a:rPr lang="en-US" dirty="0"/>
              <a:t>A </a:t>
            </a:r>
            <a:r>
              <a:rPr lang="en-US" dirty="0" smtClean="0"/>
              <a:t>firm </a:t>
            </a:r>
            <a:r>
              <a:rPr lang="en-US" dirty="0"/>
              <a:t>can only maximize pro.t if it achieves technical </a:t>
            </a:r>
            <a:r>
              <a:rPr lang="en-US" dirty="0" smtClean="0"/>
              <a:t>efficiency</a:t>
            </a:r>
            <a:r>
              <a:rPr lang="en-US" dirty="0"/>
              <a:t>.</a:t>
            </a:r>
          </a:p>
          <a:p>
            <a:r>
              <a:rPr lang="en-US" dirty="0"/>
              <a:t>Technical </a:t>
            </a:r>
            <a:r>
              <a:rPr lang="en-US" dirty="0" smtClean="0"/>
              <a:t>efficiency </a:t>
            </a:r>
            <a:r>
              <a:rPr lang="en-US" dirty="0"/>
              <a:t>means they get the most output they possibly can</a:t>
            </a:r>
          </a:p>
          <a:p>
            <a:r>
              <a:rPr lang="en-US" dirty="0"/>
              <a:t>from their set of inputs and technology.</a:t>
            </a:r>
          </a:p>
          <a:p>
            <a:pPr marL="0" indent="0">
              <a:buNone/>
            </a:pPr>
            <a:r>
              <a:rPr lang="en-US" b="1" dirty="0" smtClean="0"/>
              <a:t>Note: * Implies Multiplication</a:t>
            </a:r>
            <a:endParaRPr lang="en-US" b="1" dirty="0"/>
          </a:p>
        </p:txBody>
      </p:sp>
    </p:spTree>
    <p:extLst>
      <p:ext uri="{BB962C8B-B14F-4D97-AF65-F5344CB8AC3E}">
        <p14:creationId xmlns:p14="http://schemas.microsoft.com/office/powerpoint/2010/main" val="63130866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Production</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85000" lnSpcReduction="20000"/>
          </a:bodyPr>
          <a:lstStyle/>
          <a:p>
            <a:r>
              <a:rPr lang="en-US" dirty="0"/>
              <a:t>A </a:t>
            </a:r>
            <a:r>
              <a:rPr lang="en-US" dirty="0" smtClean="0"/>
              <a:t>firm </a:t>
            </a:r>
            <a:r>
              <a:rPr lang="en-US" dirty="0"/>
              <a:t>takes inputs (factors of production) and turns it into output</a:t>
            </a:r>
          </a:p>
          <a:p>
            <a:r>
              <a:rPr lang="en-US" dirty="0"/>
              <a:t>according to its technology.</a:t>
            </a:r>
          </a:p>
          <a:p>
            <a:r>
              <a:rPr lang="en-US" dirty="0"/>
              <a:t>We can broadly classify these inputs into capital (K), labour (L) and</a:t>
            </a:r>
          </a:p>
          <a:p>
            <a:r>
              <a:rPr lang="en-US" dirty="0"/>
              <a:t>materials (M) (which we usually ignore for simplicity</a:t>
            </a:r>
            <a:r>
              <a:rPr lang="en-US" dirty="0" smtClean="0"/>
              <a:t>).</a:t>
            </a:r>
          </a:p>
          <a:p>
            <a:pPr marL="0" indent="0">
              <a:buNone/>
            </a:pPr>
            <a:endParaRPr lang="en-US" dirty="0" smtClean="0"/>
          </a:p>
          <a:p>
            <a:r>
              <a:rPr lang="en-US" dirty="0"/>
              <a:t>The production function summarizes this process, and tells us</a:t>
            </a:r>
          </a:p>
          <a:p>
            <a:r>
              <a:rPr lang="en-US" dirty="0"/>
              <a:t>exactly how much output the </a:t>
            </a:r>
            <a:r>
              <a:rPr lang="en-US" dirty="0" smtClean="0"/>
              <a:t>firm </a:t>
            </a:r>
            <a:r>
              <a:rPr lang="en-US" dirty="0"/>
              <a:t>can get from their inputs.</a:t>
            </a:r>
          </a:p>
          <a:p>
            <a:r>
              <a:rPr lang="en-US" dirty="0"/>
              <a:t>For example suppose our production function is</a:t>
            </a:r>
          </a:p>
          <a:p>
            <a:r>
              <a:rPr lang="nn-NO" dirty="0"/>
              <a:t>q = f (L,K) = 2 </a:t>
            </a:r>
            <a:r>
              <a:rPr lang="nn-NO" dirty="0" smtClean="0"/>
              <a:t>* L*  </a:t>
            </a:r>
            <a:r>
              <a:rPr lang="nn-NO" dirty="0"/>
              <a:t>K</a:t>
            </a:r>
          </a:p>
          <a:p>
            <a:r>
              <a:rPr lang="en-US" dirty="0"/>
              <a:t>If the </a:t>
            </a:r>
            <a:r>
              <a:rPr lang="en-US" dirty="0" smtClean="0"/>
              <a:t>firm </a:t>
            </a:r>
            <a:r>
              <a:rPr lang="en-US" dirty="0"/>
              <a:t>employs two units labour and 4 units of capital it gets 16</a:t>
            </a:r>
          </a:p>
          <a:p>
            <a:r>
              <a:rPr lang="en-US" dirty="0"/>
              <a:t>units of output (it could produce less, but that would not be </a:t>
            </a:r>
            <a:r>
              <a:rPr lang="en-US" dirty="0" smtClean="0"/>
              <a:t>efficient</a:t>
            </a:r>
            <a:r>
              <a:rPr lang="en-US" dirty="0"/>
              <a:t>).</a:t>
            </a:r>
          </a:p>
        </p:txBody>
      </p:sp>
    </p:spTree>
    <p:extLst>
      <p:ext uri="{BB962C8B-B14F-4D97-AF65-F5344CB8AC3E}">
        <p14:creationId xmlns:p14="http://schemas.microsoft.com/office/powerpoint/2010/main" val="362660995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EXAMPLE</a:t>
            </a:r>
            <a:br>
              <a:rPr lang="en-US"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92500" lnSpcReduction="20000"/>
          </a:bodyPr>
          <a:lstStyle/>
          <a:p>
            <a:r>
              <a:rPr lang="en-US" dirty="0" smtClean="0"/>
              <a:t>Suppose </a:t>
            </a:r>
            <a:r>
              <a:rPr lang="en-US" dirty="0"/>
              <a:t>a </a:t>
            </a:r>
            <a:r>
              <a:rPr lang="en-US" dirty="0" smtClean="0"/>
              <a:t>firm </a:t>
            </a:r>
            <a:r>
              <a:rPr lang="en-US" dirty="0"/>
              <a:t>produces output using only labour according to the</a:t>
            </a:r>
          </a:p>
          <a:p>
            <a:r>
              <a:rPr lang="en-US" dirty="0"/>
              <a:t>production function q = </a:t>
            </a:r>
            <a:r>
              <a:rPr lang="en-US" dirty="0" smtClean="0"/>
              <a:t>L^2.</a:t>
            </a:r>
            <a:endParaRPr lang="en-US" dirty="0"/>
          </a:p>
          <a:p>
            <a:r>
              <a:rPr lang="en-US" dirty="0"/>
              <a:t>Sketch this production function and identify two production plans,</a:t>
            </a:r>
          </a:p>
          <a:p>
            <a:r>
              <a:rPr lang="en-US" dirty="0"/>
              <a:t>one that is </a:t>
            </a:r>
            <a:r>
              <a:rPr lang="en-US" dirty="0" smtClean="0"/>
              <a:t>technically efficient </a:t>
            </a:r>
            <a:r>
              <a:rPr lang="en-US" dirty="0"/>
              <a:t>and one that is not</a:t>
            </a:r>
            <a:r>
              <a:rPr lang="en-US" dirty="0" smtClean="0"/>
              <a:t>.</a:t>
            </a:r>
          </a:p>
          <a:p>
            <a:r>
              <a:rPr lang="en-US" dirty="0"/>
              <a:t>The short run is the period of time that at least one factor of</a:t>
            </a:r>
          </a:p>
          <a:p>
            <a:r>
              <a:rPr lang="en-US" dirty="0"/>
              <a:t>production cannot be changed.</a:t>
            </a:r>
          </a:p>
          <a:p>
            <a:r>
              <a:rPr lang="en-US" dirty="0"/>
              <a:t>For example, dominoes can decide how many delivery drivers it hires</a:t>
            </a:r>
          </a:p>
          <a:p>
            <a:r>
              <a:rPr lang="en-US" dirty="0"/>
              <a:t>in a month, but can.t decide how many stores to build in this time</a:t>
            </a:r>
          </a:p>
          <a:p>
            <a:r>
              <a:rPr lang="en-US" dirty="0"/>
              <a:t>frame.</a:t>
            </a:r>
          </a:p>
          <a:p>
            <a:r>
              <a:rPr lang="en-US" dirty="0"/>
              <a:t>12</a:t>
            </a:r>
          </a:p>
        </p:txBody>
      </p:sp>
    </p:spTree>
    <p:extLst>
      <p:ext uri="{BB962C8B-B14F-4D97-AF65-F5344CB8AC3E}">
        <p14:creationId xmlns:p14="http://schemas.microsoft.com/office/powerpoint/2010/main" val="6360141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Production</a:t>
            </a:r>
            <a:endParaRPr lang="en-US" dirty="0"/>
          </a:p>
        </p:txBody>
      </p:sp>
      <p:sp>
        <p:nvSpPr>
          <p:cNvPr id="3" name="Content Placeholder 2"/>
          <p:cNvSpPr>
            <a:spLocks noGrp="1"/>
          </p:cNvSpPr>
          <p:nvPr>
            <p:ph idx="1"/>
          </p:nvPr>
        </p:nvSpPr>
        <p:spPr/>
        <p:txBody>
          <a:bodyPr/>
          <a:lstStyle/>
          <a:p>
            <a:r>
              <a:rPr lang="en-US" dirty="0"/>
              <a:t>The long run is a period of time in which all inputs can be varied.</a:t>
            </a:r>
          </a:p>
          <a:p>
            <a:r>
              <a:rPr lang="en-US" dirty="0"/>
              <a:t>The </a:t>
            </a:r>
            <a:r>
              <a:rPr lang="en-US" dirty="0" smtClean="0"/>
              <a:t>difference </a:t>
            </a:r>
            <a:r>
              <a:rPr lang="en-US" dirty="0"/>
              <a:t>between short and long run varies by industry.</a:t>
            </a:r>
          </a:p>
          <a:p>
            <a:r>
              <a:rPr lang="en-US" dirty="0"/>
              <a:t>We call inputs that can.t be changed </a:t>
            </a:r>
            <a:r>
              <a:rPr lang="en-US" dirty="0" smtClean="0"/>
              <a:t>fixed </a:t>
            </a:r>
            <a:r>
              <a:rPr lang="en-US" dirty="0"/>
              <a:t>inputs, and ones that can</a:t>
            </a:r>
          </a:p>
          <a:p>
            <a:r>
              <a:rPr lang="en-US" dirty="0"/>
              <a:t>be changed variable inputs</a:t>
            </a:r>
            <a:r>
              <a:rPr lang="en-US" dirty="0" smtClean="0"/>
              <a:t>.</a:t>
            </a:r>
          </a:p>
          <a:p>
            <a:r>
              <a:rPr lang="en-US" dirty="0"/>
              <a:t>Lets say capital is </a:t>
            </a:r>
            <a:r>
              <a:rPr lang="en-US" dirty="0" smtClean="0"/>
              <a:t>fixed </a:t>
            </a:r>
            <a:r>
              <a:rPr lang="en-US" dirty="0"/>
              <a:t>in the short run, our production function is</a:t>
            </a:r>
          </a:p>
          <a:p>
            <a:r>
              <a:rPr lang="en-US" dirty="0"/>
              <a:t>then</a:t>
            </a:r>
          </a:p>
          <a:p>
            <a:r>
              <a:rPr lang="en-US" dirty="0"/>
              <a:t>q = f (</a:t>
            </a:r>
            <a:r>
              <a:rPr lang="en-US" b="1" dirty="0"/>
              <a:t>K</a:t>
            </a:r>
            <a:r>
              <a:rPr lang="en-US" dirty="0"/>
              <a:t>, L)</a:t>
            </a:r>
          </a:p>
        </p:txBody>
      </p:sp>
    </p:spTree>
    <p:extLst>
      <p:ext uri="{BB962C8B-B14F-4D97-AF65-F5344CB8AC3E}">
        <p14:creationId xmlns:p14="http://schemas.microsoft.com/office/powerpoint/2010/main" val="301840035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Production</a:t>
            </a:r>
            <a:endParaRPr lang="en-US" dirty="0"/>
          </a:p>
        </p:txBody>
      </p:sp>
      <p:sp>
        <p:nvSpPr>
          <p:cNvPr id="3" name="Content Placeholder 2"/>
          <p:cNvSpPr>
            <a:spLocks noGrp="1"/>
          </p:cNvSpPr>
          <p:nvPr>
            <p:ph idx="1"/>
          </p:nvPr>
        </p:nvSpPr>
        <p:spPr/>
        <p:txBody>
          <a:bodyPr/>
          <a:lstStyle/>
          <a:p>
            <a:r>
              <a:rPr lang="en-US" dirty="0"/>
              <a:t>Suppose our production function is q = 2KL, but capital is </a:t>
            </a:r>
            <a:r>
              <a:rPr lang="en-US" dirty="0" smtClean="0"/>
              <a:t>fixed </a:t>
            </a:r>
            <a:r>
              <a:rPr lang="en-US" dirty="0"/>
              <a:t>at</a:t>
            </a:r>
          </a:p>
          <a:p>
            <a:r>
              <a:rPr lang="en-US" dirty="0"/>
              <a:t>K = 4 in the short-run.</a:t>
            </a:r>
          </a:p>
          <a:p>
            <a:r>
              <a:rPr lang="en-US" dirty="0"/>
              <a:t>Our short-run production function becomes q = 8L.</a:t>
            </a:r>
          </a:p>
          <a:p>
            <a:r>
              <a:rPr lang="en-US" dirty="0"/>
              <a:t>We can summarize the relationship between output and the amount</a:t>
            </a:r>
          </a:p>
          <a:p>
            <a:r>
              <a:rPr lang="en-US" dirty="0"/>
              <a:t>of labour used by the total product of labour, the average</a:t>
            </a:r>
          </a:p>
          <a:p>
            <a:r>
              <a:rPr lang="en-US" dirty="0"/>
              <a:t>product of labour and the marginal product of labour.</a:t>
            </a:r>
          </a:p>
        </p:txBody>
      </p:sp>
    </p:spTree>
    <p:extLst>
      <p:ext uri="{BB962C8B-B14F-4D97-AF65-F5344CB8AC3E}">
        <p14:creationId xmlns:p14="http://schemas.microsoft.com/office/powerpoint/2010/main" val="302270322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Short-Run Production</a:t>
            </a:r>
          </a:p>
        </p:txBody>
      </p:sp>
      <p:sp>
        <p:nvSpPr>
          <p:cNvPr id="3" name="Content Placeholder 2"/>
          <p:cNvSpPr>
            <a:spLocks noGrp="1"/>
          </p:cNvSpPr>
          <p:nvPr>
            <p:ph idx="1"/>
          </p:nvPr>
        </p:nvSpPr>
        <p:spPr/>
        <p:txBody>
          <a:bodyPr>
            <a:normAutofit/>
          </a:bodyPr>
          <a:lstStyle/>
          <a:p>
            <a:r>
              <a:rPr lang="en-US" dirty="0"/>
              <a:t>Total product of labour is the amount of output that a given</a:t>
            </a:r>
          </a:p>
          <a:p>
            <a:r>
              <a:rPr lang="en-US" dirty="0"/>
              <a:t>amount of labour can produce holding other inputs </a:t>
            </a:r>
            <a:r>
              <a:rPr lang="en-US" dirty="0" smtClean="0"/>
              <a:t>fixed</a:t>
            </a:r>
            <a:endParaRPr lang="en-US" dirty="0"/>
          </a:p>
          <a:p>
            <a:r>
              <a:rPr lang="en-US" dirty="0"/>
              <a:t>Marginal product of labour is the extra output you get from</a:t>
            </a:r>
          </a:p>
          <a:p>
            <a:r>
              <a:rPr lang="en-US" dirty="0"/>
              <a:t>increasing labour by some </a:t>
            </a:r>
            <a:r>
              <a:rPr lang="en-US" dirty="0" smtClean="0"/>
              <a:t>infinitesimally </a:t>
            </a:r>
            <a:r>
              <a:rPr lang="en-US" dirty="0"/>
              <a:t>small amount</a:t>
            </a:r>
          </a:p>
          <a:p>
            <a:r>
              <a:rPr lang="en-US" dirty="0"/>
              <a:t>MPL </a:t>
            </a:r>
            <a:r>
              <a:rPr lang="en-US" dirty="0" smtClean="0"/>
              <a:t>=</a:t>
            </a:r>
            <a:r>
              <a:rPr lang="en-US" i="1" dirty="0" err="1"/>
              <a:t>d</a:t>
            </a:r>
            <a:r>
              <a:rPr lang="en-US" dirty="0" err="1" smtClean="0"/>
              <a:t>q</a:t>
            </a:r>
            <a:r>
              <a:rPr lang="en-US" dirty="0" smtClean="0"/>
              <a:t>/</a:t>
            </a:r>
            <a:r>
              <a:rPr lang="en-US" i="1" dirty="0" err="1" smtClean="0"/>
              <a:t>d</a:t>
            </a:r>
            <a:r>
              <a:rPr lang="en-US" dirty="0" err="1" smtClean="0"/>
              <a:t>L</a:t>
            </a:r>
            <a:endParaRPr lang="en-US" dirty="0"/>
          </a:p>
          <a:p>
            <a:r>
              <a:rPr lang="en-US" dirty="0"/>
              <a:t>Average product of labour is the amount of output produced per</a:t>
            </a:r>
          </a:p>
          <a:p>
            <a:r>
              <a:rPr lang="en-US" dirty="0"/>
              <a:t>worker</a:t>
            </a:r>
          </a:p>
          <a:p>
            <a:r>
              <a:rPr lang="en-US" dirty="0"/>
              <a:t>APL </a:t>
            </a:r>
            <a:r>
              <a:rPr lang="en-US" dirty="0" smtClean="0"/>
              <a:t>=q/L</a:t>
            </a:r>
            <a:endParaRPr lang="en-US" dirty="0"/>
          </a:p>
        </p:txBody>
      </p:sp>
    </p:spTree>
    <p:extLst>
      <p:ext uri="{BB962C8B-B14F-4D97-AF65-F5344CB8AC3E}">
        <p14:creationId xmlns:p14="http://schemas.microsoft.com/office/powerpoint/2010/main" val="51217305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EXAMPLE</a:t>
            </a:r>
            <a:br>
              <a:rPr lang="en-US"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Suppose </a:t>
            </a:r>
            <a:r>
              <a:rPr lang="en-US" dirty="0"/>
              <a:t>our production function is</a:t>
            </a:r>
          </a:p>
          <a:p>
            <a:r>
              <a:rPr lang="en-US" dirty="0"/>
              <a:t>Q = </a:t>
            </a:r>
            <a:r>
              <a:rPr lang="en-US" dirty="0" smtClean="0"/>
              <a:t>K*L^2</a:t>
            </a:r>
            <a:endParaRPr lang="en-US" dirty="0"/>
          </a:p>
          <a:p>
            <a:r>
              <a:rPr lang="en-US" dirty="0"/>
              <a:t>What is the total product of labour, marginal product of labour and</a:t>
            </a:r>
          </a:p>
          <a:p>
            <a:r>
              <a:rPr lang="en-US" dirty="0"/>
              <a:t>average product of labour if capital is </a:t>
            </a:r>
            <a:r>
              <a:rPr lang="en-US" dirty="0" smtClean="0"/>
              <a:t>fixed </a:t>
            </a:r>
            <a:r>
              <a:rPr lang="en-US" dirty="0"/>
              <a:t>at 50</a:t>
            </a:r>
            <a:r>
              <a:rPr lang="en-US" dirty="0" smtClean="0"/>
              <a:t>?</a:t>
            </a:r>
          </a:p>
          <a:p>
            <a:r>
              <a:rPr lang="en-US" dirty="0"/>
              <a:t>If our short run production function is q = L + </a:t>
            </a:r>
            <a:r>
              <a:rPr lang="en-US" dirty="0" smtClean="0"/>
              <a:t>30L^2 – L^3</a:t>
            </a:r>
          </a:p>
          <a:p>
            <a:r>
              <a:rPr lang="en-US" dirty="0" smtClean="0"/>
              <a:t>See graph in Next Slide</a:t>
            </a:r>
            <a:endParaRPr lang="en-US" dirty="0"/>
          </a:p>
          <a:p>
            <a:endParaRPr lang="en-US" dirty="0"/>
          </a:p>
        </p:txBody>
      </p:sp>
    </p:spTree>
    <p:extLst>
      <p:ext uri="{BB962C8B-B14F-4D97-AF65-F5344CB8AC3E}">
        <p14:creationId xmlns:p14="http://schemas.microsoft.com/office/powerpoint/2010/main" val="319009962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Short-Run Production</a:t>
            </a:r>
            <a:endParaRPr lang="en-US" dirty="0"/>
          </a:p>
        </p:txBody>
      </p:sp>
      <p:pic>
        <p:nvPicPr>
          <p:cNvPr id="4" name="Content Placeholder 3"/>
          <p:cNvPicPr>
            <a:picLocks noGrp="1" noChangeAspect="1"/>
          </p:cNvPicPr>
          <p:nvPr>
            <p:ph idx="1"/>
          </p:nvPr>
        </p:nvPicPr>
        <p:blipFill>
          <a:blip r:embed="rId2"/>
          <a:stretch>
            <a:fillRect/>
          </a:stretch>
        </p:blipFill>
        <p:spPr>
          <a:xfrm>
            <a:off x="2821577" y="1825624"/>
            <a:ext cx="6740434" cy="4940935"/>
          </a:xfrm>
          <a:prstGeom prst="rect">
            <a:avLst/>
          </a:prstGeom>
        </p:spPr>
      </p:pic>
    </p:spTree>
    <p:extLst>
      <p:ext uri="{BB962C8B-B14F-4D97-AF65-F5344CB8AC3E}">
        <p14:creationId xmlns:p14="http://schemas.microsoft.com/office/powerpoint/2010/main" val="402350641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Short-Run Production</a:t>
            </a:r>
          </a:p>
        </p:txBody>
      </p:sp>
      <p:sp>
        <p:nvSpPr>
          <p:cNvPr id="3" name="Content Placeholder 2"/>
          <p:cNvSpPr>
            <a:spLocks noGrp="1"/>
          </p:cNvSpPr>
          <p:nvPr>
            <p:ph idx="1"/>
          </p:nvPr>
        </p:nvSpPr>
        <p:spPr/>
        <p:txBody>
          <a:bodyPr/>
          <a:lstStyle/>
          <a:p>
            <a:r>
              <a:rPr lang="en-US" dirty="0"/>
              <a:t>We assume the </a:t>
            </a:r>
            <a:r>
              <a:rPr lang="en-US" dirty="0" smtClean="0"/>
              <a:t>firm </a:t>
            </a:r>
            <a:r>
              <a:rPr lang="en-US" dirty="0"/>
              <a:t>can hire fractions of workers (which is why this is</a:t>
            </a:r>
          </a:p>
          <a:p>
            <a:r>
              <a:rPr lang="en-US" dirty="0"/>
              <a:t>smooth)</a:t>
            </a:r>
          </a:p>
          <a:p>
            <a:r>
              <a:rPr lang="en-US" dirty="0"/>
              <a:t>The MPL is the slope of the production function</a:t>
            </a:r>
          </a:p>
          <a:p>
            <a:r>
              <a:rPr lang="en-US" dirty="0"/>
              <a:t>The APL is the slope of the chord from the </a:t>
            </a:r>
            <a:r>
              <a:rPr lang="en-US" dirty="0" smtClean="0"/>
              <a:t>origin</a:t>
            </a:r>
          </a:p>
          <a:p>
            <a:r>
              <a:rPr lang="en-US" dirty="0"/>
              <a:t>The previous production function is typical</a:t>
            </a:r>
          </a:p>
          <a:p>
            <a:r>
              <a:rPr lang="en-US" dirty="0"/>
              <a:t>APL initially rises because of gains from specialization, but it declines</a:t>
            </a:r>
          </a:p>
          <a:p>
            <a:r>
              <a:rPr lang="en-US" dirty="0"/>
              <a:t>because capital is held constant.</a:t>
            </a:r>
          </a:p>
        </p:txBody>
      </p:sp>
    </p:spTree>
    <p:extLst>
      <p:ext uri="{BB962C8B-B14F-4D97-AF65-F5344CB8AC3E}">
        <p14:creationId xmlns:p14="http://schemas.microsoft.com/office/powerpoint/2010/main" val="30793177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Short-Run Production</a:t>
            </a:r>
            <a:endParaRPr lang="en-US" dirty="0"/>
          </a:p>
        </p:txBody>
      </p:sp>
      <p:sp>
        <p:nvSpPr>
          <p:cNvPr id="3" name="Content Placeholder 2"/>
          <p:cNvSpPr>
            <a:spLocks noGrp="1"/>
          </p:cNvSpPr>
          <p:nvPr>
            <p:ph idx="1"/>
          </p:nvPr>
        </p:nvSpPr>
        <p:spPr/>
        <p:txBody>
          <a:bodyPr/>
          <a:lstStyle/>
          <a:p>
            <a:r>
              <a:rPr lang="en-US" dirty="0"/>
              <a:t>The MPL always intersects the APL at the maximum of the APL</a:t>
            </a:r>
          </a:p>
          <a:p>
            <a:r>
              <a:rPr lang="en-US" dirty="0"/>
              <a:t>curve.</a:t>
            </a:r>
          </a:p>
          <a:p>
            <a:r>
              <a:rPr lang="en-US" dirty="0"/>
              <a:t>When MPL &gt; APL, the average is pulled up.</a:t>
            </a:r>
          </a:p>
          <a:p>
            <a:r>
              <a:rPr lang="en-US" dirty="0"/>
              <a:t>When MPL &lt; APL, the average is pulled down</a:t>
            </a:r>
            <a:r>
              <a:rPr lang="en-US" dirty="0" smtClean="0"/>
              <a:t>.</a:t>
            </a:r>
          </a:p>
          <a:p>
            <a:r>
              <a:rPr lang="en-US" dirty="0"/>
              <a:t>EXAMPLE</a:t>
            </a:r>
          </a:p>
          <a:p>
            <a:r>
              <a:rPr lang="en-US" dirty="0" smtClean="0"/>
              <a:t>Lets </a:t>
            </a:r>
            <a:r>
              <a:rPr lang="en-US" dirty="0"/>
              <a:t>prove together that MPL = APL at the maximum of APL for</a:t>
            </a:r>
          </a:p>
          <a:p>
            <a:r>
              <a:rPr lang="en-US" dirty="0"/>
              <a:t>the production function q = L + </a:t>
            </a:r>
            <a:r>
              <a:rPr lang="en-US" dirty="0" smtClean="0"/>
              <a:t>30L^2 – L^3</a:t>
            </a:r>
            <a:r>
              <a:rPr lang="en-US" dirty="0"/>
              <a:t>.</a:t>
            </a:r>
          </a:p>
        </p:txBody>
      </p:sp>
    </p:spTree>
    <p:extLst>
      <p:ext uri="{BB962C8B-B14F-4D97-AF65-F5344CB8AC3E}">
        <p14:creationId xmlns:p14="http://schemas.microsoft.com/office/powerpoint/2010/main" val="3012561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Short-Run Production</a:t>
            </a:r>
            <a:endParaRPr lang="en-US" dirty="0"/>
          </a:p>
        </p:txBody>
      </p:sp>
      <p:sp>
        <p:nvSpPr>
          <p:cNvPr id="3" name="Content Placeholder 2"/>
          <p:cNvSpPr>
            <a:spLocks noGrp="1"/>
          </p:cNvSpPr>
          <p:nvPr>
            <p:ph idx="1"/>
          </p:nvPr>
        </p:nvSpPr>
        <p:spPr/>
        <p:txBody>
          <a:bodyPr/>
          <a:lstStyle/>
          <a:p>
            <a:r>
              <a:rPr lang="en-US" dirty="0"/>
              <a:t>The law of diminishing marginal returns is huge in economics.</a:t>
            </a:r>
          </a:p>
          <a:p>
            <a:r>
              <a:rPr lang="en-US" dirty="0"/>
              <a:t>As you increase one input, holding all other inputs and technology</a:t>
            </a:r>
          </a:p>
          <a:p>
            <a:r>
              <a:rPr lang="en-US" dirty="0"/>
              <a:t>constant, the marginal returns to that input will decrease eventually.</a:t>
            </a:r>
          </a:p>
          <a:p>
            <a:r>
              <a:rPr lang="en-US" dirty="0"/>
              <a:t>The second derivative will become negative.</a:t>
            </a:r>
          </a:p>
          <a:p>
            <a:r>
              <a:rPr lang="en-US" dirty="0"/>
              <a:t>You can.t grow the </a:t>
            </a:r>
            <a:r>
              <a:rPr lang="en-US" dirty="0" smtClean="0"/>
              <a:t>worlds </a:t>
            </a:r>
            <a:r>
              <a:rPr lang="en-US" dirty="0"/>
              <a:t>food supply in a </a:t>
            </a:r>
            <a:r>
              <a:rPr lang="en-US" dirty="0" smtClean="0"/>
              <a:t>flower </a:t>
            </a:r>
            <a:r>
              <a:rPr lang="en-US" dirty="0"/>
              <a:t>pot.</a:t>
            </a:r>
          </a:p>
          <a:p>
            <a:r>
              <a:rPr lang="en-US" dirty="0"/>
              <a:t>This is why Malthus predicted mass starvation (one input -land- is</a:t>
            </a:r>
          </a:p>
          <a:p>
            <a:r>
              <a:rPr lang="en-US" dirty="0" smtClean="0"/>
              <a:t>fixed</a:t>
            </a:r>
            <a:r>
              <a:rPr lang="en-US" dirty="0"/>
              <a:t>).</a:t>
            </a:r>
          </a:p>
          <a:p>
            <a:pPr marL="0" indent="0">
              <a:buNone/>
            </a:pPr>
            <a:endParaRPr lang="en-US" dirty="0"/>
          </a:p>
        </p:txBody>
      </p:sp>
    </p:spTree>
    <p:extLst>
      <p:ext uri="{BB962C8B-B14F-4D97-AF65-F5344CB8AC3E}">
        <p14:creationId xmlns:p14="http://schemas.microsoft.com/office/powerpoint/2010/main" val="1090010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Short-Run Production</a:t>
            </a:r>
            <a:endParaRPr lang="en-US" dirty="0"/>
          </a:p>
        </p:txBody>
      </p:sp>
      <p:sp>
        <p:nvSpPr>
          <p:cNvPr id="3" name="Content Placeholder 2"/>
          <p:cNvSpPr>
            <a:spLocks noGrp="1"/>
          </p:cNvSpPr>
          <p:nvPr>
            <p:ph idx="1"/>
          </p:nvPr>
        </p:nvSpPr>
        <p:spPr/>
        <p:txBody>
          <a:bodyPr>
            <a:normAutofit fontScale="92500" lnSpcReduction="20000"/>
          </a:bodyPr>
          <a:lstStyle/>
          <a:p>
            <a:r>
              <a:rPr lang="en-US" dirty="0"/>
              <a:t>For the production function</a:t>
            </a:r>
          </a:p>
          <a:p>
            <a:r>
              <a:rPr lang="fr-FR" dirty="0"/>
              <a:t>q = L + </a:t>
            </a:r>
            <a:r>
              <a:rPr lang="fr-FR" dirty="0" smtClean="0"/>
              <a:t>30L^2 – L^3</a:t>
            </a:r>
            <a:endParaRPr lang="fr-FR" dirty="0"/>
          </a:p>
          <a:p>
            <a:r>
              <a:rPr lang="en-US" dirty="0"/>
              <a:t>MPL </a:t>
            </a:r>
            <a:r>
              <a:rPr lang="en-US" dirty="0" smtClean="0"/>
              <a:t>=</a:t>
            </a:r>
            <a:r>
              <a:rPr lang="en-US" dirty="0" err="1" smtClean="0"/>
              <a:t>dq</a:t>
            </a:r>
            <a:r>
              <a:rPr lang="en-US" dirty="0"/>
              <a:t>/</a:t>
            </a:r>
            <a:r>
              <a:rPr lang="en-US" dirty="0" err="1" smtClean="0"/>
              <a:t>dL</a:t>
            </a:r>
            <a:endParaRPr lang="en-US" dirty="0"/>
          </a:p>
          <a:p>
            <a:r>
              <a:rPr lang="en-US" dirty="0" smtClean="0"/>
              <a:t>q= </a:t>
            </a:r>
            <a:r>
              <a:rPr lang="en-US" dirty="0"/>
              <a:t>1 + 60L </a:t>
            </a:r>
            <a:r>
              <a:rPr lang="en-US" dirty="0" smtClean="0"/>
              <a:t>- 3L^2</a:t>
            </a:r>
          </a:p>
          <a:p>
            <a:r>
              <a:rPr lang="en-US" dirty="0"/>
              <a:t>The marginal product of labour is increasing for low levels of output</a:t>
            </a:r>
          </a:p>
          <a:p>
            <a:r>
              <a:rPr lang="en-US" dirty="0"/>
              <a:t>because of gains from specialization.</a:t>
            </a:r>
          </a:p>
          <a:p>
            <a:r>
              <a:rPr lang="en-US" dirty="0"/>
              <a:t>Eventually, the marginal product of labour starts to decrease.</a:t>
            </a:r>
          </a:p>
          <a:p>
            <a:r>
              <a:rPr lang="en-US" dirty="0" err="1" smtClean="0"/>
              <a:t>dMPL</a:t>
            </a:r>
            <a:r>
              <a:rPr lang="en-US" dirty="0" smtClean="0"/>
              <a:t>/</a:t>
            </a:r>
            <a:r>
              <a:rPr lang="en-US" dirty="0" err="1" smtClean="0"/>
              <a:t>dL</a:t>
            </a:r>
            <a:r>
              <a:rPr lang="en-US" dirty="0"/>
              <a:t> </a:t>
            </a:r>
            <a:r>
              <a:rPr lang="en-US" dirty="0" smtClean="0"/>
              <a:t>= </a:t>
            </a:r>
            <a:r>
              <a:rPr lang="en-US" dirty="0"/>
              <a:t>60 </a:t>
            </a:r>
            <a:r>
              <a:rPr lang="en-US" dirty="0" smtClean="0"/>
              <a:t>- </a:t>
            </a:r>
            <a:r>
              <a:rPr lang="en-US" dirty="0"/>
              <a:t>6L</a:t>
            </a:r>
          </a:p>
          <a:p>
            <a:r>
              <a:rPr lang="en-US" dirty="0"/>
              <a:t>L &lt; 10 MPL increases</a:t>
            </a:r>
          </a:p>
          <a:p>
            <a:r>
              <a:rPr lang="en-US" dirty="0"/>
              <a:t>L &gt; 10 MPL decreases</a:t>
            </a:r>
          </a:p>
        </p:txBody>
      </p:sp>
    </p:spTree>
    <p:extLst>
      <p:ext uri="{BB962C8B-B14F-4D97-AF65-F5344CB8AC3E}">
        <p14:creationId xmlns:p14="http://schemas.microsoft.com/office/powerpoint/2010/main" val="29297629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Short-Run Production</a:t>
            </a:r>
            <a:endParaRPr lang="en-US" dirty="0"/>
          </a:p>
        </p:txBody>
      </p:sp>
      <p:sp>
        <p:nvSpPr>
          <p:cNvPr id="3" name="Content Placeholder 2"/>
          <p:cNvSpPr>
            <a:spLocks noGrp="1"/>
          </p:cNvSpPr>
          <p:nvPr>
            <p:ph idx="1"/>
          </p:nvPr>
        </p:nvSpPr>
        <p:spPr/>
        <p:txBody>
          <a:bodyPr>
            <a:normAutofit/>
          </a:bodyPr>
          <a:lstStyle/>
          <a:p>
            <a:r>
              <a:rPr lang="en-US" dirty="0"/>
              <a:t>EXAMPLE</a:t>
            </a:r>
          </a:p>
          <a:p>
            <a:r>
              <a:rPr lang="en-US" dirty="0"/>
              <a:t>Suppose the </a:t>
            </a:r>
            <a:r>
              <a:rPr lang="en-US" dirty="0" smtClean="0"/>
              <a:t>worlds </a:t>
            </a:r>
            <a:r>
              <a:rPr lang="en-US" dirty="0"/>
              <a:t>supply of food is determined by the production</a:t>
            </a:r>
          </a:p>
          <a:p>
            <a:r>
              <a:rPr lang="en-US" dirty="0"/>
              <a:t>function</a:t>
            </a:r>
          </a:p>
          <a:p>
            <a:r>
              <a:rPr lang="en-US" dirty="0"/>
              <a:t>F = </a:t>
            </a:r>
            <a:r>
              <a:rPr lang="en-US" dirty="0" smtClean="0"/>
              <a:t>M^1/2 *L^1/2</a:t>
            </a:r>
            <a:endParaRPr lang="en-US" dirty="0"/>
          </a:p>
          <a:p>
            <a:r>
              <a:rPr lang="en-US" dirty="0"/>
              <a:t>M is land and is </a:t>
            </a:r>
            <a:r>
              <a:rPr lang="en-US" dirty="0" smtClean="0"/>
              <a:t>fixed </a:t>
            </a:r>
            <a:r>
              <a:rPr lang="en-US" dirty="0"/>
              <a:t>at 3600.</a:t>
            </a:r>
          </a:p>
          <a:p>
            <a:r>
              <a:rPr lang="en-US" dirty="0"/>
              <a:t>L is labour.</a:t>
            </a:r>
          </a:p>
          <a:p>
            <a:r>
              <a:rPr lang="en-US" dirty="0"/>
              <a:t>At what point does this production function exhibit diminishing</a:t>
            </a:r>
          </a:p>
          <a:p>
            <a:r>
              <a:rPr lang="en-US" dirty="0"/>
              <a:t>marginal returns to labour?</a:t>
            </a:r>
          </a:p>
          <a:p>
            <a:endParaRPr lang="en-US" dirty="0"/>
          </a:p>
        </p:txBody>
      </p:sp>
    </p:spTree>
    <p:extLst>
      <p:ext uri="{BB962C8B-B14F-4D97-AF65-F5344CB8AC3E}">
        <p14:creationId xmlns:p14="http://schemas.microsoft.com/office/powerpoint/2010/main" val="38883466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Long-Run Production</a:t>
            </a:r>
          </a:p>
        </p:txBody>
      </p:sp>
      <p:sp>
        <p:nvSpPr>
          <p:cNvPr id="3" name="Content Placeholder 2"/>
          <p:cNvSpPr>
            <a:spLocks noGrp="1"/>
          </p:cNvSpPr>
          <p:nvPr>
            <p:ph idx="1"/>
          </p:nvPr>
        </p:nvSpPr>
        <p:spPr/>
        <p:txBody>
          <a:bodyPr>
            <a:normAutofit lnSpcReduction="10000"/>
          </a:bodyPr>
          <a:lstStyle/>
          <a:p>
            <a:r>
              <a:rPr lang="en-US" dirty="0"/>
              <a:t>In the long run, </a:t>
            </a:r>
            <a:r>
              <a:rPr lang="en-US" dirty="0" smtClean="0"/>
              <a:t>the firm </a:t>
            </a:r>
            <a:r>
              <a:rPr lang="en-US" dirty="0"/>
              <a:t>is free to select as much of any input...</a:t>
            </a:r>
          </a:p>
          <a:p>
            <a:r>
              <a:rPr lang="en-US" dirty="0"/>
              <a:t>nothing is </a:t>
            </a:r>
            <a:r>
              <a:rPr lang="en-US" dirty="0" smtClean="0"/>
              <a:t>fixed</a:t>
            </a:r>
            <a:r>
              <a:rPr lang="en-US" dirty="0"/>
              <a:t>.</a:t>
            </a:r>
          </a:p>
          <a:p>
            <a:r>
              <a:rPr lang="en-US" dirty="0"/>
              <a:t>Lets suppose our production function is Cobb-Douglas</a:t>
            </a:r>
          </a:p>
          <a:p>
            <a:r>
              <a:rPr lang="en-US" dirty="0"/>
              <a:t>q = </a:t>
            </a:r>
            <a:r>
              <a:rPr lang="en-US" dirty="0" smtClean="0"/>
              <a:t>3L^1/2*K^1/2</a:t>
            </a:r>
            <a:endParaRPr lang="en-US" dirty="0"/>
          </a:p>
          <a:p>
            <a:r>
              <a:rPr lang="en-US" dirty="0"/>
              <a:t>Try to graph this.</a:t>
            </a:r>
          </a:p>
          <a:p>
            <a:r>
              <a:rPr lang="en-US" dirty="0"/>
              <a:t>Now that we have multiple variable inputs, our production function</a:t>
            </a:r>
          </a:p>
          <a:p>
            <a:r>
              <a:rPr lang="en-US" dirty="0"/>
              <a:t>has multiple dimensions.</a:t>
            </a:r>
          </a:p>
          <a:p>
            <a:r>
              <a:rPr lang="en-US" dirty="0"/>
              <a:t>Can.t really deal with it graphically.</a:t>
            </a:r>
          </a:p>
          <a:p>
            <a:r>
              <a:rPr lang="en-US" dirty="0"/>
              <a:t>We can summarize this production function in 2 dimensions.</a:t>
            </a:r>
          </a:p>
        </p:txBody>
      </p:sp>
    </p:spTree>
    <p:extLst>
      <p:ext uri="{BB962C8B-B14F-4D97-AF65-F5344CB8AC3E}">
        <p14:creationId xmlns:p14="http://schemas.microsoft.com/office/powerpoint/2010/main" val="34065407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Long-Run Production</a:t>
            </a:r>
            <a:endParaRPr lang="en-US" dirty="0"/>
          </a:p>
        </p:txBody>
      </p:sp>
      <p:sp>
        <p:nvSpPr>
          <p:cNvPr id="3" name="Content Placeholder 2"/>
          <p:cNvSpPr>
            <a:spLocks noGrp="1"/>
          </p:cNvSpPr>
          <p:nvPr>
            <p:ph idx="1"/>
          </p:nvPr>
        </p:nvSpPr>
        <p:spPr/>
        <p:txBody>
          <a:bodyPr/>
          <a:lstStyle/>
          <a:p>
            <a:r>
              <a:rPr lang="en-US" dirty="0"/>
              <a:t>An isoquant is a curve that shows the </a:t>
            </a:r>
            <a:r>
              <a:rPr lang="en-US" dirty="0" smtClean="0"/>
              <a:t>efficient </a:t>
            </a:r>
            <a:r>
              <a:rPr lang="en-US" dirty="0"/>
              <a:t>combinations of</a:t>
            </a:r>
          </a:p>
          <a:p>
            <a:r>
              <a:rPr lang="en-US" dirty="0"/>
              <a:t>inputs that produce a single level of output</a:t>
            </a:r>
          </a:p>
          <a:p>
            <a:r>
              <a:rPr lang="en-US" dirty="0"/>
              <a:t>This has a very similar interpretation to </a:t>
            </a:r>
            <a:r>
              <a:rPr lang="en-US" dirty="0" smtClean="0"/>
              <a:t>indifference </a:t>
            </a:r>
            <a:r>
              <a:rPr lang="en-US" dirty="0"/>
              <a:t>curves.</a:t>
            </a:r>
          </a:p>
          <a:p>
            <a:r>
              <a:rPr lang="en-US" dirty="0"/>
              <a:t>Every combination of labour and capital on the same isoquant will</a:t>
            </a:r>
          </a:p>
          <a:p>
            <a:r>
              <a:rPr lang="en-US" dirty="0"/>
              <a:t>produce the same amount of output.</a:t>
            </a:r>
          </a:p>
        </p:txBody>
      </p:sp>
    </p:spTree>
    <p:extLst>
      <p:ext uri="{BB962C8B-B14F-4D97-AF65-F5344CB8AC3E}">
        <p14:creationId xmlns:p14="http://schemas.microsoft.com/office/powerpoint/2010/main" val="41719726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Long-Run Production</a:t>
            </a:r>
            <a:endParaRPr lang="en-US" dirty="0"/>
          </a:p>
        </p:txBody>
      </p:sp>
      <p:pic>
        <p:nvPicPr>
          <p:cNvPr id="4" name="Content Placeholder 3"/>
          <p:cNvPicPr>
            <a:picLocks noGrp="1" noChangeAspect="1"/>
          </p:cNvPicPr>
          <p:nvPr>
            <p:ph idx="1"/>
          </p:nvPr>
        </p:nvPicPr>
        <p:blipFill>
          <a:blip r:embed="rId2"/>
          <a:stretch>
            <a:fillRect/>
          </a:stretch>
        </p:blipFill>
        <p:spPr>
          <a:xfrm>
            <a:off x="2481943" y="1851751"/>
            <a:ext cx="5950617" cy="4836432"/>
          </a:xfrm>
          <a:prstGeom prst="rect">
            <a:avLst/>
          </a:prstGeom>
        </p:spPr>
      </p:pic>
    </p:spTree>
    <p:extLst>
      <p:ext uri="{BB962C8B-B14F-4D97-AF65-F5344CB8AC3E}">
        <p14:creationId xmlns:p14="http://schemas.microsoft.com/office/powerpoint/2010/main" val="1756026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Long-Run Production</a:t>
            </a:r>
            <a:endParaRPr lang="en-US" dirty="0"/>
          </a:p>
        </p:txBody>
      </p:sp>
      <p:sp>
        <p:nvSpPr>
          <p:cNvPr id="3" name="Content Placeholder 2"/>
          <p:cNvSpPr>
            <a:spLocks noGrp="1"/>
          </p:cNvSpPr>
          <p:nvPr>
            <p:ph idx="1"/>
          </p:nvPr>
        </p:nvSpPr>
        <p:spPr/>
        <p:txBody>
          <a:bodyPr/>
          <a:lstStyle/>
          <a:p>
            <a:r>
              <a:rPr lang="en-US" dirty="0"/>
              <a:t>Say our production function is</a:t>
            </a:r>
          </a:p>
          <a:p>
            <a:r>
              <a:rPr lang="en-US" dirty="0"/>
              <a:t>Q = </a:t>
            </a:r>
            <a:r>
              <a:rPr lang="en-US" dirty="0" smtClean="0"/>
              <a:t>10*K*L</a:t>
            </a:r>
            <a:endParaRPr lang="en-US" dirty="0"/>
          </a:p>
          <a:p>
            <a:r>
              <a:rPr lang="en-US" dirty="0"/>
              <a:t>Draw the isoquant for Q = 10 and Q = 20</a:t>
            </a:r>
            <a:r>
              <a:rPr lang="en-US" dirty="0" smtClean="0"/>
              <a:t>.</a:t>
            </a:r>
          </a:p>
          <a:p>
            <a:r>
              <a:rPr lang="en-US" dirty="0"/>
              <a:t>Lets now discuss the properties of isoquants.</a:t>
            </a:r>
          </a:p>
          <a:p>
            <a:r>
              <a:rPr lang="en-US" dirty="0"/>
              <a:t>1. Further from the origin, the greater the output</a:t>
            </a:r>
          </a:p>
          <a:p>
            <a:r>
              <a:rPr lang="en-US" dirty="0"/>
              <a:t>The more inputs you use, the more output you get if you are</a:t>
            </a:r>
          </a:p>
          <a:p>
            <a:r>
              <a:rPr lang="en-US" dirty="0"/>
              <a:t>producing </a:t>
            </a:r>
            <a:r>
              <a:rPr lang="en-US" dirty="0" smtClean="0"/>
              <a:t>efficiently</a:t>
            </a:r>
            <a:endParaRPr lang="en-US" dirty="0"/>
          </a:p>
        </p:txBody>
      </p:sp>
    </p:spTree>
    <p:extLst>
      <p:ext uri="{BB962C8B-B14F-4D97-AF65-F5344CB8AC3E}">
        <p14:creationId xmlns:p14="http://schemas.microsoft.com/office/powerpoint/2010/main" val="35981986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Long-Run Production</a:t>
            </a:r>
            <a:endParaRPr lang="en-US" dirty="0"/>
          </a:p>
        </p:txBody>
      </p:sp>
      <p:sp>
        <p:nvSpPr>
          <p:cNvPr id="3" name="Content Placeholder 2"/>
          <p:cNvSpPr>
            <a:spLocks noGrp="1"/>
          </p:cNvSpPr>
          <p:nvPr>
            <p:ph idx="1"/>
          </p:nvPr>
        </p:nvSpPr>
        <p:spPr>
          <a:xfrm>
            <a:off x="838200" y="1838688"/>
            <a:ext cx="10515600" cy="4351338"/>
          </a:xfrm>
        </p:spPr>
        <p:txBody>
          <a:bodyPr/>
          <a:lstStyle/>
          <a:p>
            <a:r>
              <a:rPr lang="en-US" dirty="0"/>
              <a:t>They cannot cross</a:t>
            </a:r>
          </a:p>
          <a:p>
            <a:r>
              <a:rPr lang="en-US" dirty="0"/>
              <a:t>Suppose the isoquant where Q = 20 and Q = 15 cross.</a:t>
            </a:r>
          </a:p>
          <a:p>
            <a:r>
              <a:rPr lang="en-US" dirty="0"/>
              <a:t>The </a:t>
            </a:r>
            <a:r>
              <a:rPr lang="en-US" dirty="0" smtClean="0"/>
              <a:t>firm </a:t>
            </a:r>
            <a:r>
              <a:rPr lang="en-US" dirty="0"/>
              <a:t>could produce 15 or 20 units of output for the same input</a:t>
            </a:r>
          </a:p>
          <a:p>
            <a:r>
              <a:rPr lang="en-US" dirty="0"/>
              <a:t>combination.</a:t>
            </a:r>
          </a:p>
          <a:p>
            <a:r>
              <a:rPr lang="en-US" dirty="0"/>
              <a:t>The </a:t>
            </a:r>
            <a:r>
              <a:rPr lang="en-US" dirty="0" smtClean="0"/>
              <a:t>firm </a:t>
            </a:r>
            <a:r>
              <a:rPr lang="en-US" dirty="0"/>
              <a:t>would not be </a:t>
            </a:r>
            <a:r>
              <a:rPr lang="en-US" dirty="0" smtClean="0"/>
              <a:t>efficient </a:t>
            </a:r>
            <a:r>
              <a:rPr lang="en-US" dirty="0"/>
              <a:t>if it produced 15 for that input</a:t>
            </a:r>
          </a:p>
          <a:p>
            <a:r>
              <a:rPr lang="en-US" dirty="0"/>
              <a:t>combination.</a:t>
            </a:r>
          </a:p>
        </p:txBody>
      </p:sp>
    </p:spTree>
    <p:extLst>
      <p:ext uri="{BB962C8B-B14F-4D97-AF65-F5344CB8AC3E}">
        <p14:creationId xmlns:p14="http://schemas.microsoft.com/office/powerpoint/2010/main" val="18970102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Long-Run Production</a:t>
            </a:r>
            <a:endParaRPr lang="en-US" dirty="0"/>
          </a:p>
        </p:txBody>
      </p:sp>
      <p:sp>
        <p:nvSpPr>
          <p:cNvPr id="3" name="Content Placeholder 2"/>
          <p:cNvSpPr>
            <a:spLocks noGrp="1"/>
          </p:cNvSpPr>
          <p:nvPr>
            <p:ph idx="1"/>
          </p:nvPr>
        </p:nvSpPr>
        <p:spPr/>
        <p:txBody>
          <a:bodyPr/>
          <a:lstStyle/>
          <a:p>
            <a:r>
              <a:rPr lang="en-US" dirty="0"/>
              <a:t>They slope downward</a:t>
            </a:r>
          </a:p>
          <a:p>
            <a:r>
              <a:rPr lang="en-US" dirty="0"/>
              <a:t>If they sloped upward, the </a:t>
            </a:r>
            <a:r>
              <a:rPr lang="en-US" dirty="0" smtClean="0"/>
              <a:t>firm </a:t>
            </a:r>
            <a:r>
              <a:rPr lang="en-US" dirty="0"/>
              <a:t>could produce the same level of</a:t>
            </a:r>
          </a:p>
          <a:p>
            <a:r>
              <a:rPr lang="en-US" dirty="0"/>
              <a:t>output with fewer inputs</a:t>
            </a:r>
            <a:r>
              <a:rPr lang="en-US" dirty="0" smtClean="0"/>
              <a:t>.</a:t>
            </a:r>
          </a:p>
          <a:p>
            <a:r>
              <a:rPr lang="en-US" dirty="0"/>
              <a:t>They are thin</a:t>
            </a:r>
          </a:p>
          <a:p>
            <a:r>
              <a:rPr lang="en-US" dirty="0"/>
              <a:t>If they were thick, the </a:t>
            </a:r>
            <a:r>
              <a:rPr lang="en-US" dirty="0" smtClean="0"/>
              <a:t>firm </a:t>
            </a:r>
            <a:r>
              <a:rPr lang="en-US" dirty="0"/>
              <a:t>could decrease its input use and get the</a:t>
            </a:r>
          </a:p>
          <a:p>
            <a:r>
              <a:rPr lang="en-US" dirty="0"/>
              <a:t>same level of </a:t>
            </a:r>
            <a:r>
              <a:rPr lang="en-US" dirty="0" smtClean="0"/>
              <a:t>output</a:t>
            </a:r>
          </a:p>
          <a:p>
            <a:r>
              <a:rPr lang="en-US" dirty="0"/>
              <a:t>UNLIKE </a:t>
            </a:r>
            <a:r>
              <a:rPr lang="en-US" dirty="0" smtClean="0"/>
              <a:t>indifference </a:t>
            </a:r>
            <a:r>
              <a:rPr lang="en-US" dirty="0"/>
              <a:t>curves, isoquants are a cardinal measure.</a:t>
            </a:r>
          </a:p>
          <a:p>
            <a:r>
              <a:rPr lang="en-US" dirty="0"/>
              <a:t>Output is objective, it is not some abstract thing like utility.</a:t>
            </a:r>
          </a:p>
        </p:txBody>
      </p:sp>
    </p:spTree>
    <p:extLst>
      <p:ext uri="{BB962C8B-B14F-4D97-AF65-F5344CB8AC3E}">
        <p14:creationId xmlns:p14="http://schemas.microsoft.com/office/powerpoint/2010/main" val="17409610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Long-Run Production</a:t>
            </a:r>
            <a:endParaRPr lang="en-US" dirty="0"/>
          </a:p>
        </p:txBody>
      </p:sp>
      <p:sp>
        <p:nvSpPr>
          <p:cNvPr id="3" name="Content Placeholder 2"/>
          <p:cNvSpPr>
            <a:spLocks noGrp="1"/>
          </p:cNvSpPr>
          <p:nvPr>
            <p:ph idx="1"/>
          </p:nvPr>
        </p:nvSpPr>
        <p:spPr/>
        <p:txBody>
          <a:bodyPr>
            <a:normAutofit lnSpcReduction="10000"/>
          </a:bodyPr>
          <a:lstStyle/>
          <a:p>
            <a:r>
              <a:rPr lang="en-US" dirty="0"/>
              <a:t>The curvature of the isoquant tells us how</a:t>
            </a:r>
          </a:p>
          <a:p>
            <a:r>
              <a:rPr lang="en-US" dirty="0"/>
              <a:t>substitutable/complementary the inputs are in the production process.</a:t>
            </a:r>
          </a:p>
          <a:p>
            <a:r>
              <a:rPr lang="en-US" dirty="0"/>
              <a:t>The more "curvy" the isoquant, the greater degree of</a:t>
            </a:r>
          </a:p>
          <a:p>
            <a:r>
              <a:rPr lang="en-US" dirty="0"/>
              <a:t>complementarity there is between </a:t>
            </a:r>
            <a:r>
              <a:rPr lang="en-US" dirty="0" smtClean="0"/>
              <a:t>inputs</a:t>
            </a:r>
          </a:p>
          <a:p>
            <a:r>
              <a:rPr lang="en-US" dirty="0"/>
              <a:t>If they are straight lines, the inputs are perfectly </a:t>
            </a:r>
            <a:r>
              <a:rPr lang="en-US" dirty="0" err="1"/>
              <a:t>susbstitutable</a:t>
            </a:r>
            <a:endParaRPr lang="en-US" dirty="0"/>
          </a:p>
          <a:p>
            <a:r>
              <a:rPr lang="en-US" dirty="0"/>
              <a:t>(apples from Oregon or Washington). This would come from a linear</a:t>
            </a:r>
          </a:p>
          <a:p>
            <a:r>
              <a:rPr lang="en-US" dirty="0"/>
              <a:t>production function</a:t>
            </a:r>
          </a:p>
          <a:p>
            <a:r>
              <a:rPr lang="en-US" dirty="0"/>
              <a:t>q = x + y</a:t>
            </a:r>
          </a:p>
        </p:txBody>
      </p:sp>
    </p:spTree>
    <p:extLst>
      <p:ext uri="{BB962C8B-B14F-4D97-AF65-F5344CB8AC3E}">
        <p14:creationId xmlns:p14="http://schemas.microsoft.com/office/powerpoint/2010/main" val="32376776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Long-Run </a:t>
            </a:r>
            <a:r>
              <a:rPr lang="en-US" b="1" dirty="0" smtClean="0">
                <a:effectLst>
                  <a:outerShdw blurRad="38100" dist="38100" dir="2700000" algn="tl">
                    <a:srgbClr val="000000">
                      <a:alpha val="43137"/>
                    </a:srgbClr>
                  </a:outerShdw>
                </a:effectLst>
              </a:rPr>
              <a:t>Production-SUBSTITUTABILTY OF INPUT</a:t>
            </a:r>
            <a:endParaRPr lang="en-US" dirty="0"/>
          </a:p>
        </p:txBody>
      </p:sp>
      <p:sp>
        <p:nvSpPr>
          <p:cNvPr id="3" name="Content Placeholder 2"/>
          <p:cNvSpPr>
            <a:spLocks noGrp="1"/>
          </p:cNvSpPr>
          <p:nvPr>
            <p:ph idx="1"/>
          </p:nvPr>
        </p:nvSpPr>
        <p:spPr/>
        <p:txBody>
          <a:bodyPr/>
          <a:lstStyle/>
          <a:p>
            <a:r>
              <a:rPr lang="en-US" dirty="0"/>
              <a:t>If they are right angles, inputs must be used in </a:t>
            </a:r>
            <a:r>
              <a:rPr lang="en-US" dirty="0" smtClean="0"/>
              <a:t>fixed </a:t>
            </a:r>
            <a:r>
              <a:rPr lang="en-US" dirty="0"/>
              <a:t>proportions (one</a:t>
            </a:r>
          </a:p>
          <a:p>
            <a:r>
              <a:rPr lang="en-US" dirty="0"/>
              <a:t>secretary per phone). this comes from a </a:t>
            </a:r>
            <a:r>
              <a:rPr lang="en-US" dirty="0" smtClean="0"/>
              <a:t>fixed-proportions </a:t>
            </a:r>
            <a:r>
              <a:rPr lang="en-US" dirty="0"/>
              <a:t>production</a:t>
            </a:r>
          </a:p>
          <a:p>
            <a:r>
              <a:rPr lang="en-US" dirty="0"/>
              <a:t>function</a:t>
            </a:r>
          </a:p>
          <a:p>
            <a:r>
              <a:rPr lang="en-US" dirty="0"/>
              <a:t>q = </a:t>
            </a:r>
            <a:r>
              <a:rPr lang="en-US" dirty="0" smtClean="0"/>
              <a:t>min(x</a:t>
            </a:r>
            <a:r>
              <a:rPr lang="en-US" dirty="0"/>
              <a:t>, </a:t>
            </a:r>
            <a:r>
              <a:rPr lang="en-US" dirty="0" smtClean="0"/>
              <a:t>y)</a:t>
            </a:r>
          </a:p>
          <a:p>
            <a:endParaRPr lang="en-US" dirty="0"/>
          </a:p>
          <a:p>
            <a:pPr marL="0" indent="0">
              <a:buNone/>
            </a:pPr>
            <a:endParaRPr lang="en-US" dirty="0"/>
          </a:p>
        </p:txBody>
      </p:sp>
      <p:pic>
        <p:nvPicPr>
          <p:cNvPr id="4" name="Picture 3"/>
          <p:cNvPicPr>
            <a:picLocks noChangeAspect="1"/>
          </p:cNvPicPr>
          <p:nvPr/>
        </p:nvPicPr>
        <p:blipFill>
          <a:blip r:embed="rId2"/>
          <a:stretch>
            <a:fillRect/>
          </a:stretch>
        </p:blipFill>
        <p:spPr>
          <a:xfrm>
            <a:off x="838200" y="3907278"/>
            <a:ext cx="3191192" cy="2831672"/>
          </a:xfrm>
          <a:prstGeom prst="rect">
            <a:avLst/>
          </a:prstGeom>
        </p:spPr>
      </p:pic>
      <p:pic>
        <p:nvPicPr>
          <p:cNvPr id="5" name="Picture 4"/>
          <p:cNvPicPr>
            <a:picLocks noChangeAspect="1"/>
          </p:cNvPicPr>
          <p:nvPr/>
        </p:nvPicPr>
        <p:blipFill>
          <a:blip r:embed="rId3"/>
          <a:stretch>
            <a:fillRect/>
          </a:stretch>
        </p:blipFill>
        <p:spPr>
          <a:xfrm>
            <a:off x="4147342" y="3755047"/>
            <a:ext cx="6745020" cy="2822625"/>
          </a:xfrm>
          <a:prstGeom prst="rect">
            <a:avLst/>
          </a:prstGeom>
        </p:spPr>
      </p:pic>
    </p:spTree>
    <p:extLst>
      <p:ext uri="{BB962C8B-B14F-4D97-AF65-F5344CB8AC3E}">
        <p14:creationId xmlns:p14="http://schemas.microsoft.com/office/powerpoint/2010/main" val="27747116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Long-Run Production</a:t>
            </a:r>
            <a:endParaRPr lang="en-US" dirty="0"/>
          </a:p>
        </p:txBody>
      </p:sp>
      <p:sp>
        <p:nvSpPr>
          <p:cNvPr id="3" name="Content Placeholder 2"/>
          <p:cNvSpPr>
            <a:spLocks noGrp="1"/>
          </p:cNvSpPr>
          <p:nvPr>
            <p:ph idx="1"/>
          </p:nvPr>
        </p:nvSpPr>
        <p:spPr/>
        <p:txBody>
          <a:bodyPr/>
          <a:lstStyle/>
          <a:p>
            <a:r>
              <a:rPr lang="en-US" dirty="0"/>
              <a:t>The slope of the isoquant shows the </a:t>
            </a:r>
            <a:r>
              <a:rPr lang="en-US" dirty="0" smtClean="0"/>
              <a:t>firms </a:t>
            </a:r>
            <a:r>
              <a:rPr lang="en-US" dirty="0"/>
              <a:t>ability to replace one input</a:t>
            </a:r>
          </a:p>
          <a:p>
            <a:r>
              <a:rPr lang="en-US" dirty="0"/>
              <a:t>with another holding output constant.</a:t>
            </a:r>
          </a:p>
          <a:p>
            <a:r>
              <a:rPr lang="en-US" dirty="0"/>
              <a:t>This is called the marginal rate of technical substitution (MRTS) .</a:t>
            </a:r>
          </a:p>
          <a:p>
            <a:r>
              <a:rPr lang="en-US" dirty="0"/>
              <a:t>How much K can we give up for another unit of L holding output</a:t>
            </a:r>
          </a:p>
          <a:p>
            <a:r>
              <a:rPr lang="en-US" dirty="0"/>
              <a:t>constant.</a:t>
            </a:r>
          </a:p>
          <a:p>
            <a:endParaRPr lang="en-US" dirty="0"/>
          </a:p>
        </p:txBody>
      </p:sp>
    </p:spTree>
    <p:extLst>
      <p:ext uri="{BB962C8B-B14F-4D97-AF65-F5344CB8AC3E}">
        <p14:creationId xmlns:p14="http://schemas.microsoft.com/office/powerpoint/2010/main" val="25824031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Long-Run Production</a:t>
            </a:r>
            <a:endParaRPr lang="en-US" dirty="0"/>
          </a:p>
        </p:txBody>
      </p:sp>
      <p:sp>
        <p:nvSpPr>
          <p:cNvPr id="3" name="Content Placeholder 2"/>
          <p:cNvSpPr>
            <a:spLocks noGrp="1"/>
          </p:cNvSpPr>
          <p:nvPr>
            <p:ph idx="1"/>
          </p:nvPr>
        </p:nvSpPr>
        <p:spPr/>
        <p:txBody>
          <a:bodyPr>
            <a:normAutofit/>
          </a:bodyPr>
          <a:lstStyle/>
          <a:p>
            <a:r>
              <a:rPr lang="en-US" dirty="0"/>
              <a:t>Remember that the slope of an </a:t>
            </a:r>
            <a:r>
              <a:rPr lang="en-US" dirty="0" smtClean="0"/>
              <a:t>indifference </a:t>
            </a:r>
            <a:r>
              <a:rPr lang="en-US" dirty="0"/>
              <a:t>curve is the negative ratio</a:t>
            </a:r>
          </a:p>
          <a:p>
            <a:r>
              <a:rPr lang="en-US" dirty="0"/>
              <a:t>of marginal utilities.</a:t>
            </a:r>
          </a:p>
          <a:p>
            <a:r>
              <a:rPr lang="en-US" dirty="0"/>
              <a:t>The slope of the isoquant (MRTS) is the ratio of marginal products.</a:t>
            </a:r>
          </a:p>
          <a:p>
            <a:r>
              <a:rPr lang="en-US" dirty="0"/>
              <a:t>MRTS </a:t>
            </a:r>
            <a:r>
              <a:rPr lang="en-US" dirty="0" smtClean="0"/>
              <a:t>=(</a:t>
            </a:r>
            <a:r>
              <a:rPr lang="en-US" dirty="0" err="1" smtClean="0"/>
              <a:t>dq</a:t>
            </a:r>
            <a:r>
              <a:rPr lang="en-US" dirty="0" smtClean="0"/>
              <a:t>/</a:t>
            </a:r>
            <a:r>
              <a:rPr lang="en-US" dirty="0" err="1" smtClean="0"/>
              <a:t>dL</a:t>
            </a:r>
            <a:r>
              <a:rPr lang="en-US" dirty="0" smtClean="0"/>
              <a:t>)/(</a:t>
            </a:r>
            <a:r>
              <a:rPr lang="en-US" dirty="0" err="1" smtClean="0"/>
              <a:t>dq</a:t>
            </a:r>
            <a:r>
              <a:rPr lang="en-US" dirty="0" smtClean="0"/>
              <a:t>/</a:t>
            </a:r>
            <a:r>
              <a:rPr lang="en-US" dirty="0" err="1" smtClean="0"/>
              <a:t>dK</a:t>
            </a:r>
            <a:r>
              <a:rPr lang="en-US" dirty="0" smtClean="0"/>
              <a:t>)= -MPL</a:t>
            </a:r>
            <a:r>
              <a:rPr lang="en-US" dirty="0"/>
              <a:t>/</a:t>
            </a:r>
            <a:r>
              <a:rPr lang="en-US" dirty="0" smtClean="0"/>
              <a:t>MPK</a:t>
            </a:r>
            <a:endParaRPr lang="en-US" dirty="0"/>
          </a:p>
          <a:p>
            <a:endParaRPr lang="en-US" dirty="0"/>
          </a:p>
        </p:txBody>
      </p:sp>
    </p:spTree>
    <p:extLst>
      <p:ext uri="{BB962C8B-B14F-4D97-AF65-F5344CB8AC3E}">
        <p14:creationId xmlns:p14="http://schemas.microsoft.com/office/powerpoint/2010/main" val="35510106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Long-Run Production</a:t>
            </a:r>
            <a:endParaRPr lang="en-US" dirty="0"/>
          </a:p>
        </p:txBody>
      </p:sp>
      <p:sp>
        <p:nvSpPr>
          <p:cNvPr id="3" name="Content Placeholder 2"/>
          <p:cNvSpPr>
            <a:spLocks noGrp="1"/>
          </p:cNvSpPr>
          <p:nvPr>
            <p:ph idx="1"/>
          </p:nvPr>
        </p:nvSpPr>
        <p:spPr/>
        <p:txBody>
          <a:bodyPr>
            <a:normAutofit lnSpcReduction="10000"/>
          </a:bodyPr>
          <a:lstStyle/>
          <a:p>
            <a:r>
              <a:rPr lang="en-US" dirty="0"/>
              <a:t>EXAMPLE</a:t>
            </a:r>
          </a:p>
          <a:p>
            <a:r>
              <a:rPr lang="en-US" dirty="0"/>
              <a:t>Lets </a:t>
            </a:r>
            <a:r>
              <a:rPr lang="en-US" dirty="0" smtClean="0"/>
              <a:t>find </a:t>
            </a:r>
            <a:r>
              <a:rPr lang="en-US" dirty="0"/>
              <a:t>the MRTS of</a:t>
            </a:r>
          </a:p>
          <a:p>
            <a:r>
              <a:rPr lang="en-US" dirty="0"/>
              <a:t>q = </a:t>
            </a:r>
            <a:r>
              <a:rPr lang="en-US" dirty="0" err="1" smtClean="0"/>
              <a:t>AL^</a:t>
            </a:r>
            <a:r>
              <a:rPr lang="en-US" i="1" dirty="0" err="1" smtClean="0"/>
              <a:t>a</a:t>
            </a:r>
            <a:r>
              <a:rPr lang="en-US" i="1" dirty="0" smtClean="0"/>
              <a:t>*</a:t>
            </a:r>
            <a:r>
              <a:rPr lang="en-US" dirty="0" smtClean="0"/>
              <a:t>K^(1-</a:t>
            </a:r>
            <a:r>
              <a:rPr lang="en-US" i="1" dirty="0" smtClean="0"/>
              <a:t>a)</a:t>
            </a:r>
            <a:endParaRPr lang="en-US" i="1" dirty="0"/>
          </a:p>
          <a:p>
            <a:r>
              <a:rPr lang="en-US" dirty="0"/>
              <a:t>Is the MRTS constant for this production function</a:t>
            </a:r>
            <a:r>
              <a:rPr lang="en-US" dirty="0" smtClean="0"/>
              <a:t>?</a:t>
            </a:r>
          </a:p>
          <a:p>
            <a:r>
              <a:rPr lang="en-US" dirty="0"/>
              <a:t>If we have normal convex isoquants, we have a diminishing marginal</a:t>
            </a:r>
          </a:p>
          <a:p>
            <a:r>
              <a:rPr lang="en-US" dirty="0"/>
              <a:t>rate of substitution</a:t>
            </a:r>
          </a:p>
          <a:p>
            <a:r>
              <a:rPr lang="en-US" dirty="0"/>
              <a:t>That is, when a lot of capital and little labour is used, the MRTS is</a:t>
            </a:r>
          </a:p>
          <a:p>
            <a:r>
              <a:rPr lang="en-US" dirty="0"/>
              <a:t>really high. When a lot of labour and a little capital is used, it is</a:t>
            </a:r>
          </a:p>
          <a:p>
            <a:r>
              <a:rPr lang="en-US" dirty="0"/>
              <a:t>really low.</a:t>
            </a:r>
          </a:p>
          <a:p>
            <a:endParaRPr lang="en-US" dirty="0"/>
          </a:p>
        </p:txBody>
      </p:sp>
    </p:spTree>
    <p:extLst>
      <p:ext uri="{BB962C8B-B14F-4D97-AF65-F5344CB8AC3E}">
        <p14:creationId xmlns:p14="http://schemas.microsoft.com/office/powerpoint/2010/main" val="39029891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Long-Run Production</a:t>
            </a:r>
            <a:endParaRPr lang="en-US" dirty="0"/>
          </a:p>
        </p:txBody>
      </p:sp>
      <p:sp>
        <p:nvSpPr>
          <p:cNvPr id="3" name="Content Placeholder 2"/>
          <p:cNvSpPr>
            <a:spLocks noGrp="1"/>
          </p:cNvSpPr>
          <p:nvPr>
            <p:ph idx="1"/>
          </p:nvPr>
        </p:nvSpPr>
        <p:spPr/>
        <p:txBody>
          <a:bodyPr/>
          <a:lstStyle/>
          <a:p>
            <a:r>
              <a:rPr lang="en-US" dirty="0"/>
              <a:t>Suppose we have a factory with 1,000,000 workers and only one</a:t>
            </a:r>
          </a:p>
          <a:p>
            <a:r>
              <a:rPr lang="en-US" dirty="0"/>
              <a:t>machine.</a:t>
            </a:r>
          </a:p>
          <a:p>
            <a:r>
              <a:rPr lang="en-US" dirty="0"/>
              <a:t>To keep output constant, we could trade one machine for a ton of</a:t>
            </a:r>
          </a:p>
          <a:p>
            <a:r>
              <a:rPr lang="en-US" dirty="0"/>
              <a:t>workers (because workers need machines)</a:t>
            </a:r>
          </a:p>
          <a:p>
            <a:r>
              <a:rPr lang="en-US" dirty="0"/>
              <a:t>As we get more machines, the number of workers we can trade for</a:t>
            </a:r>
          </a:p>
          <a:p>
            <a:r>
              <a:rPr lang="en-US" dirty="0"/>
              <a:t>one more machine will decrease.</a:t>
            </a:r>
          </a:p>
        </p:txBody>
      </p:sp>
    </p:spTree>
    <p:extLst>
      <p:ext uri="{BB962C8B-B14F-4D97-AF65-F5344CB8AC3E}">
        <p14:creationId xmlns:p14="http://schemas.microsoft.com/office/powerpoint/2010/main" val="37640334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Long-Run Production</a:t>
            </a:r>
            <a:endParaRPr lang="en-US" dirty="0"/>
          </a:p>
        </p:txBody>
      </p:sp>
      <p:pic>
        <p:nvPicPr>
          <p:cNvPr id="4" name="Content Placeholder 3"/>
          <p:cNvPicPr>
            <a:picLocks noGrp="1" noChangeAspect="1"/>
          </p:cNvPicPr>
          <p:nvPr>
            <p:ph idx="1"/>
          </p:nvPr>
        </p:nvPicPr>
        <p:blipFill>
          <a:blip r:embed="rId2"/>
          <a:stretch>
            <a:fillRect/>
          </a:stretch>
        </p:blipFill>
        <p:spPr>
          <a:xfrm>
            <a:off x="2638697" y="1825624"/>
            <a:ext cx="6061165" cy="4849495"/>
          </a:xfrm>
          <a:prstGeom prst="rect">
            <a:avLst/>
          </a:prstGeom>
        </p:spPr>
      </p:pic>
    </p:spTree>
    <p:extLst>
      <p:ext uri="{BB962C8B-B14F-4D97-AF65-F5344CB8AC3E}">
        <p14:creationId xmlns:p14="http://schemas.microsoft.com/office/powerpoint/2010/main" val="37680393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Long-Run Production</a:t>
            </a:r>
            <a:endParaRPr lang="en-US" dirty="0"/>
          </a:p>
        </p:txBody>
      </p:sp>
      <p:sp>
        <p:nvSpPr>
          <p:cNvPr id="3" name="Content Placeholder 2"/>
          <p:cNvSpPr>
            <a:spLocks noGrp="1"/>
          </p:cNvSpPr>
          <p:nvPr>
            <p:ph idx="1"/>
          </p:nvPr>
        </p:nvSpPr>
        <p:spPr/>
        <p:txBody>
          <a:bodyPr/>
          <a:lstStyle/>
          <a:p>
            <a:r>
              <a:rPr lang="en-US" dirty="0"/>
              <a:t>For most isoquants, the MRTS is not constant.</a:t>
            </a:r>
          </a:p>
          <a:p>
            <a:r>
              <a:rPr lang="en-US" dirty="0"/>
              <a:t>As we increase capital and decrease labour, at what rate does the</a:t>
            </a:r>
          </a:p>
          <a:p>
            <a:r>
              <a:rPr lang="en-US" dirty="0"/>
              <a:t>MRTS change?</a:t>
            </a:r>
          </a:p>
          <a:p>
            <a:r>
              <a:rPr lang="en-US" dirty="0"/>
              <a:t>This is the elasticity of substitution... A measure of how "curvy"</a:t>
            </a:r>
          </a:p>
          <a:p>
            <a:r>
              <a:rPr lang="en-US" dirty="0"/>
              <a:t>our isoquants are</a:t>
            </a:r>
          </a:p>
          <a:p>
            <a:endParaRPr lang="en-US" dirty="0"/>
          </a:p>
        </p:txBody>
      </p:sp>
    </p:spTree>
    <p:extLst>
      <p:ext uri="{BB962C8B-B14F-4D97-AF65-F5344CB8AC3E}">
        <p14:creationId xmlns:p14="http://schemas.microsoft.com/office/powerpoint/2010/main" val="17683742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Returns to Scale</a:t>
            </a:r>
            <a:br>
              <a:rPr lang="en-US" b="1" dirty="0" smtClean="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r>
              <a:rPr lang="en-US" dirty="0"/>
              <a:t>If we increase our inputs proportionately, what happens to our output?</a:t>
            </a:r>
          </a:p>
          <a:p>
            <a:r>
              <a:rPr lang="en-US" dirty="0"/>
              <a:t>This is called returns to scale</a:t>
            </a:r>
          </a:p>
          <a:p>
            <a:r>
              <a:rPr lang="en-US" dirty="0"/>
              <a:t>We can have increasing, decreasing or constant returns to scale.</a:t>
            </a:r>
          </a:p>
          <a:p>
            <a:r>
              <a:rPr lang="en-US" dirty="0"/>
              <a:t>If doubling our inputs leads to exactly double the output, we have</a:t>
            </a:r>
          </a:p>
          <a:p>
            <a:r>
              <a:rPr lang="en-US" dirty="0"/>
              <a:t>constant returns to scale</a:t>
            </a:r>
          </a:p>
          <a:p>
            <a:r>
              <a:rPr lang="en-US" dirty="0"/>
              <a:t>2f (L,K) = f (2L, 2K)</a:t>
            </a:r>
          </a:p>
        </p:txBody>
      </p:sp>
    </p:spTree>
    <p:extLst>
      <p:ext uri="{BB962C8B-B14F-4D97-AF65-F5344CB8AC3E}">
        <p14:creationId xmlns:p14="http://schemas.microsoft.com/office/powerpoint/2010/main" val="23812355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Returns to Scale</a:t>
            </a:r>
            <a:br>
              <a:rPr lang="en-US" b="1" dirty="0">
                <a:effectLst>
                  <a:outerShdw blurRad="38100" dist="38100" dir="2700000" algn="tl">
                    <a:srgbClr val="000000">
                      <a:alpha val="43137"/>
                    </a:srgbClr>
                  </a:outerShdw>
                </a:effectLst>
              </a:rPr>
            </a:br>
            <a:endParaRPr lang="en-US" dirty="0"/>
          </a:p>
        </p:txBody>
      </p:sp>
      <p:sp>
        <p:nvSpPr>
          <p:cNvPr id="3" name="Content Placeholder 2"/>
          <p:cNvSpPr>
            <a:spLocks noGrp="1"/>
          </p:cNvSpPr>
          <p:nvPr>
            <p:ph idx="1"/>
          </p:nvPr>
        </p:nvSpPr>
        <p:spPr/>
        <p:txBody>
          <a:bodyPr/>
          <a:lstStyle/>
          <a:p>
            <a:r>
              <a:rPr lang="en-US" dirty="0"/>
              <a:t>If doubling our inputs leads to more than double the output, we have</a:t>
            </a:r>
          </a:p>
          <a:p>
            <a:r>
              <a:rPr lang="en-US" dirty="0"/>
              <a:t>increasing returns to scale</a:t>
            </a:r>
          </a:p>
          <a:p>
            <a:r>
              <a:rPr lang="en-US" dirty="0"/>
              <a:t>2f (L,K) &lt; f (2L, 2K)</a:t>
            </a:r>
          </a:p>
          <a:p>
            <a:r>
              <a:rPr lang="en-US" dirty="0"/>
              <a:t>Could be caused by greater specialization</a:t>
            </a:r>
          </a:p>
        </p:txBody>
      </p:sp>
    </p:spTree>
    <p:extLst>
      <p:ext uri="{BB962C8B-B14F-4D97-AF65-F5344CB8AC3E}">
        <p14:creationId xmlns:p14="http://schemas.microsoft.com/office/powerpoint/2010/main" val="10143235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smtClean="0">
                <a:effectLst>
                  <a:outerShdw blurRad="38100" dist="38100" dir="2700000" algn="tl">
                    <a:srgbClr val="000000">
                      <a:alpha val="43137"/>
                    </a:srgbClr>
                  </a:outerShdw>
                </a:effectLst>
                <a:ea typeface="ヒラギノ角ゴ Pro W3" pitchFamily="-1" charset="-128"/>
              </a:rPr>
              <a:t>Returns </a:t>
            </a:r>
            <a:r>
              <a:rPr lang="en-US" altLang="en-US" b="1" dirty="0">
                <a:effectLst>
                  <a:outerShdw blurRad="38100" dist="38100" dir="2700000" algn="tl">
                    <a:srgbClr val="000000">
                      <a:alpha val="43137"/>
                    </a:srgbClr>
                  </a:outerShdw>
                </a:effectLst>
                <a:ea typeface="ヒラギノ角ゴ Pro W3" pitchFamily="-1" charset="-128"/>
              </a:rPr>
              <a:t>to Scale</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463040"/>
            <a:ext cx="10515600" cy="5107577"/>
          </a:xfrm>
        </p:spPr>
        <p:txBody>
          <a:bodyPr>
            <a:noAutofit/>
          </a:bodyPr>
          <a:lstStyle/>
          <a:p>
            <a:r>
              <a:rPr lang="en-US" altLang="en-US" sz="2400" dirty="0">
                <a:ea typeface="ヒラギノ角ゴ Pro W3" pitchFamily="-1" charset="-128"/>
              </a:rPr>
              <a:t>Constant Returns to Scale (</a:t>
            </a:r>
            <a:r>
              <a:rPr lang="en-US" altLang="en-US" sz="2400" i="1" dirty="0">
                <a:ea typeface="ヒラギノ角ゴ Pro W3" pitchFamily="-1" charset="-128"/>
              </a:rPr>
              <a:t>CRS</a:t>
            </a:r>
            <a:r>
              <a:rPr lang="en-US" altLang="en-US" sz="2400" dirty="0">
                <a:ea typeface="ヒラギノ角ゴ Pro W3" pitchFamily="-1" charset="-128"/>
              </a:rPr>
              <a:t>): </a:t>
            </a:r>
            <a:r>
              <a:rPr lang="en-US" altLang="en-US" sz="2400" i="1" dirty="0">
                <a:ea typeface="ヒラギノ角ゴ Pro W3" pitchFamily="-1" charset="-128"/>
              </a:rPr>
              <a:t>f</a:t>
            </a:r>
            <a:r>
              <a:rPr lang="en-US" altLang="en-US" sz="2400" dirty="0">
                <a:ea typeface="ヒラギノ角ゴ Pro W3" pitchFamily="-1" charset="-128"/>
              </a:rPr>
              <a:t>(2</a:t>
            </a:r>
            <a:r>
              <a:rPr lang="en-US" altLang="en-US" sz="2400" i="1" dirty="0">
                <a:ea typeface="ヒラギノ角ゴ Pro W3" pitchFamily="-1" charset="-128"/>
              </a:rPr>
              <a:t>L</a:t>
            </a:r>
            <a:r>
              <a:rPr lang="en-US" altLang="en-US" sz="2400" dirty="0">
                <a:ea typeface="ヒラギノ角ゴ Pro W3" pitchFamily="-1" charset="-128"/>
              </a:rPr>
              <a:t>, 2</a:t>
            </a:r>
            <a:r>
              <a:rPr lang="en-US" altLang="en-US" sz="2400" i="1" dirty="0">
                <a:ea typeface="ヒラギノ角ゴ Pro W3" pitchFamily="-1" charset="-128"/>
              </a:rPr>
              <a:t>K</a:t>
            </a:r>
            <a:r>
              <a:rPr lang="en-US" altLang="en-US" sz="2400" dirty="0">
                <a:ea typeface="ヒラギノ角ゴ Pro W3" pitchFamily="-1" charset="-128"/>
              </a:rPr>
              <a:t>) = 2</a:t>
            </a:r>
            <a:r>
              <a:rPr lang="en-US" altLang="en-US" sz="2400" i="1" dirty="0">
                <a:ea typeface="ヒラギノ角ゴ Pro W3" pitchFamily="-1" charset="-128"/>
              </a:rPr>
              <a:t>f</a:t>
            </a:r>
            <a:r>
              <a:rPr lang="en-US" altLang="en-US" sz="2400" dirty="0">
                <a:ea typeface="ヒラギノ角ゴ Pro W3" pitchFamily="-1" charset="-128"/>
              </a:rPr>
              <a:t>(</a:t>
            </a:r>
            <a:r>
              <a:rPr lang="en-US" altLang="en-US" sz="2400" i="1" dirty="0">
                <a:ea typeface="ヒラギノ角ゴ Pro W3" pitchFamily="-1" charset="-128"/>
              </a:rPr>
              <a:t>L</a:t>
            </a:r>
            <a:r>
              <a:rPr lang="en-US" altLang="en-US" sz="2400" dirty="0">
                <a:ea typeface="ヒラギノ角ゴ Pro W3" pitchFamily="-1" charset="-128"/>
              </a:rPr>
              <a:t>,</a:t>
            </a:r>
            <a:r>
              <a:rPr lang="en-US" altLang="en-US" sz="2400" i="1" dirty="0">
                <a:ea typeface="ヒラギノ角ゴ Pro W3" pitchFamily="-1" charset="-128"/>
              </a:rPr>
              <a:t>K</a:t>
            </a:r>
            <a:r>
              <a:rPr lang="en-US" altLang="en-US" sz="2400" dirty="0">
                <a:ea typeface="ヒラギノ角ゴ Pro W3" pitchFamily="-1" charset="-128"/>
              </a:rPr>
              <a:t>) = 2</a:t>
            </a:r>
            <a:r>
              <a:rPr lang="en-US" altLang="en-US" sz="2400" i="1" dirty="0">
                <a:ea typeface="ヒラギノ角ゴ Pro W3" pitchFamily="-1" charset="-128"/>
              </a:rPr>
              <a:t>q</a:t>
            </a:r>
          </a:p>
          <a:p>
            <a:pPr lvl="1"/>
            <a:r>
              <a:rPr lang="en-US" altLang="en-US" dirty="0">
                <a:ea typeface="ヒラギノ角ゴ Pro W3" pitchFamily="-1" charset="-128"/>
              </a:rPr>
              <a:t>A technology exhibits constant returns to scale if doubling inputs exactly doubles the output. The firm builds an identical second plant and uses the same amount of labor and equipment as in the first plant.</a:t>
            </a:r>
          </a:p>
          <a:p>
            <a:r>
              <a:rPr lang="en-US" altLang="en-US" sz="2400" dirty="0">
                <a:ea typeface="ヒラギノ角ゴ Pro W3" pitchFamily="-1" charset="-128"/>
              </a:rPr>
              <a:t>Increasing Returns to Scale (</a:t>
            </a:r>
            <a:r>
              <a:rPr lang="en-US" altLang="en-US" sz="2400" i="1" dirty="0">
                <a:ea typeface="ヒラギノ角ゴ Pro W3" pitchFamily="-1" charset="-128"/>
              </a:rPr>
              <a:t>IRS</a:t>
            </a:r>
            <a:r>
              <a:rPr lang="en-US" altLang="en-US" sz="2400" dirty="0">
                <a:ea typeface="ヒラギノ角ゴ Pro W3" pitchFamily="-1" charset="-128"/>
              </a:rPr>
              <a:t>):  </a:t>
            </a:r>
            <a:r>
              <a:rPr lang="en-US" altLang="en-US" sz="2400" i="1" dirty="0">
                <a:ea typeface="ヒラギノ角ゴ Pro W3" pitchFamily="-1" charset="-128"/>
              </a:rPr>
              <a:t>f</a:t>
            </a:r>
            <a:r>
              <a:rPr lang="en-US" altLang="en-US" sz="2400" dirty="0">
                <a:ea typeface="ヒラギノ角ゴ Pro W3" pitchFamily="-1" charset="-128"/>
              </a:rPr>
              <a:t>(2</a:t>
            </a:r>
            <a:r>
              <a:rPr lang="en-US" altLang="en-US" sz="2400" i="1" dirty="0">
                <a:ea typeface="ヒラギノ角ゴ Pro W3" pitchFamily="-1" charset="-128"/>
              </a:rPr>
              <a:t>L</a:t>
            </a:r>
            <a:r>
              <a:rPr lang="en-US" altLang="en-US" sz="2400" dirty="0">
                <a:ea typeface="ヒラギノ角ゴ Pro W3" pitchFamily="-1" charset="-128"/>
              </a:rPr>
              <a:t>, 2</a:t>
            </a:r>
            <a:r>
              <a:rPr lang="en-US" altLang="en-US" sz="2400" i="1" dirty="0">
                <a:ea typeface="ヒラギノ角ゴ Pro W3" pitchFamily="-1" charset="-128"/>
              </a:rPr>
              <a:t>K</a:t>
            </a:r>
            <a:r>
              <a:rPr lang="en-US" altLang="en-US" sz="2400" dirty="0">
                <a:ea typeface="ヒラギノ角ゴ Pro W3" pitchFamily="-1" charset="-128"/>
              </a:rPr>
              <a:t>) &gt; 2</a:t>
            </a:r>
            <a:r>
              <a:rPr lang="en-US" altLang="en-US" sz="2400" i="1" dirty="0">
                <a:ea typeface="ヒラギノ角ゴ Pro W3" pitchFamily="-1" charset="-128"/>
              </a:rPr>
              <a:t>f</a:t>
            </a:r>
            <a:r>
              <a:rPr lang="en-US" altLang="en-US" sz="2400" dirty="0">
                <a:ea typeface="ヒラギノ角ゴ Pro W3" pitchFamily="-1" charset="-128"/>
              </a:rPr>
              <a:t>(</a:t>
            </a:r>
            <a:r>
              <a:rPr lang="en-US" altLang="en-US" sz="2400" i="1" dirty="0">
                <a:ea typeface="ヒラギノ角ゴ Pro W3" pitchFamily="-1" charset="-128"/>
              </a:rPr>
              <a:t>L</a:t>
            </a:r>
            <a:r>
              <a:rPr lang="en-US" altLang="en-US" sz="2400" dirty="0">
                <a:ea typeface="ヒラギノ角ゴ Pro W3" pitchFamily="-1" charset="-128"/>
              </a:rPr>
              <a:t>,</a:t>
            </a:r>
            <a:r>
              <a:rPr lang="en-US" altLang="en-US" sz="2400" i="1" dirty="0">
                <a:ea typeface="ヒラギノ角ゴ Pro W3" pitchFamily="-1" charset="-128"/>
              </a:rPr>
              <a:t>K</a:t>
            </a:r>
            <a:r>
              <a:rPr lang="en-US" altLang="en-US" sz="2400" dirty="0">
                <a:ea typeface="ヒラギノ角ゴ Pro W3" pitchFamily="-1" charset="-128"/>
              </a:rPr>
              <a:t>) = 2</a:t>
            </a:r>
            <a:r>
              <a:rPr lang="en-US" altLang="en-US" sz="2400" i="1" dirty="0">
                <a:ea typeface="ヒラギノ角ゴ Pro W3" pitchFamily="-1" charset="-128"/>
              </a:rPr>
              <a:t>q</a:t>
            </a:r>
          </a:p>
          <a:p>
            <a:pPr lvl="1"/>
            <a:r>
              <a:rPr lang="en-US" altLang="en-US" dirty="0">
                <a:ea typeface="ヒラギノ角ゴ Pro W3" pitchFamily="-1" charset="-128"/>
              </a:rPr>
              <a:t>A technology exhibits increasing returns to scale if doubling inputs more than doubles the output. Instead of building two small plants, the firm decides to build a single larger plant with greater specialization of labor and capital.</a:t>
            </a:r>
          </a:p>
          <a:p>
            <a:r>
              <a:rPr lang="en-US" altLang="en-US" sz="2400" dirty="0">
                <a:ea typeface="ヒラギノ角ゴ Pro W3" pitchFamily="-1" charset="-128"/>
              </a:rPr>
              <a:t>Decreasing Returns to Scale (</a:t>
            </a:r>
            <a:r>
              <a:rPr lang="en-US" altLang="en-US" sz="2400" i="1" dirty="0">
                <a:ea typeface="ヒラギノ角ゴ Pro W3" pitchFamily="-1" charset="-128"/>
              </a:rPr>
              <a:t>DRS</a:t>
            </a:r>
            <a:r>
              <a:rPr lang="en-US" altLang="en-US" sz="2400" dirty="0">
                <a:ea typeface="ヒラギノ角ゴ Pro W3" pitchFamily="-1" charset="-128"/>
              </a:rPr>
              <a:t>): </a:t>
            </a:r>
            <a:r>
              <a:rPr lang="en-US" altLang="en-US" sz="2400" i="1" dirty="0">
                <a:ea typeface="ヒラギノ角ゴ Pro W3" pitchFamily="-1" charset="-128"/>
              </a:rPr>
              <a:t>f</a:t>
            </a:r>
            <a:r>
              <a:rPr lang="en-US" altLang="en-US" sz="2400" dirty="0">
                <a:ea typeface="ヒラギノ角ゴ Pro W3" pitchFamily="-1" charset="-128"/>
              </a:rPr>
              <a:t>(2</a:t>
            </a:r>
            <a:r>
              <a:rPr lang="en-US" altLang="en-US" sz="2400" i="1" dirty="0">
                <a:ea typeface="ヒラギノ角ゴ Pro W3" pitchFamily="-1" charset="-128"/>
              </a:rPr>
              <a:t>L</a:t>
            </a:r>
            <a:r>
              <a:rPr lang="en-US" altLang="en-US" sz="2400" dirty="0">
                <a:ea typeface="ヒラギノ角ゴ Pro W3" pitchFamily="-1" charset="-128"/>
              </a:rPr>
              <a:t>, 2</a:t>
            </a:r>
            <a:r>
              <a:rPr lang="en-US" altLang="en-US" sz="2400" i="1" dirty="0">
                <a:ea typeface="ヒラギノ角ゴ Pro W3" pitchFamily="-1" charset="-128"/>
              </a:rPr>
              <a:t>K</a:t>
            </a:r>
            <a:r>
              <a:rPr lang="en-US" altLang="en-US" sz="2400" dirty="0">
                <a:ea typeface="ヒラギノ角ゴ Pro W3" pitchFamily="-1" charset="-128"/>
              </a:rPr>
              <a:t>) &lt; 2</a:t>
            </a:r>
            <a:r>
              <a:rPr lang="en-US" altLang="en-US" sz="2400" i="1" dirty="0">
                <a:ea typeface="ヒラギノ角ゴ Pro W3" pitchFamily="-1" charset="-128"/>
              </a:rPr>
              <a:t>f</a:t>
            </a:r>
            <a:r>
              <a:rPr lang="en-US" altLang="en-US" sz="2400" dirty="0">
                <a:ea typeface="ヒラギノ角ゴ Pro W3" pitchFamily="-1" charset="-128"/>
              </a:rPr>
              <a:t>(</a:t>
            </a:r>
            <a:r>
              <a:rPr lang="en-US" altLang="en-US" sz="2400" i="1" dirty="0">
                <a:ea typeface="ヒラギノ角ゴ Pro W3" pitchFamily="-1" charset="-128"/>
              </a:rPr>
              <a:t>L</a:t>
            </a:r>
            <a:r>
              <a:rPr lang="en-US" altLang="en-US" sz="2400" dirty="0">
                <a:ea typeface="ヒラギノ角ゴ Pro W3" pitchFamily="-1" charset="-128"/>
              </a:rPr>
              <a:t>,</a:t>
            </a:r>
            <a:r>
              <a:rPr lang="en-US" altLang="en-US" sz="2400" i="1" dirty="0">
                <a:ea typeface="ヒラギノ角ゴ Pro W3" pitchFamily="-1" charset="-128"/>
              </a:rPr>
              <a:t>K</a:t>
            </a:r>
            <a:r>
              <a:rPr lang="en-US" altLang="en-US" sz="2400" dirty="0">
                <a:ea typeface="ヒラギノ角ゴ Pro W3" pitchFamily="-1" charset="-128"/>
              </a:rPr>
              <a:t>) = 2</a:t>
            </a:r>
            <a:r>
              <a:rPr lang="en-US" altLang="en-US" sz="2400" i="1" dirty="0">
                <a:ea typeface="ヒラギノ角ゴ Pro W3" pitchFamily="-1" charset="-128"/>
              </a:rPr>
              <a:t>q</a:t>
            </a:r>
          </a:p>
          <a:p>
            <a:pPr lvl="1"/>
            <a:r>
              <a:rPr lang="en-US" altLang="en-US" dirty="0">
                <a:ea typeface="ヒラギノ角ゴ Pro W3" pitchFamily="-1" charset="-128"/>
              </a:rPr>
              <a:t>A technology exhibits decreasing returns to scale if doubling inputs less than doubles output. An owner may be able to manage one plant well but may have trouble organizing, coordinating, and integrating activities in two plants.</a:t>
            </a:r>
          </a:p>
          <a:p>
            <a:endParaRPr lang="en-US" altLang="en-US" dirty="0">
              <a:ea typeface="ヒラギノ角ゴ Pro W3" pitchFamily="-1" charset="-128"/>
            </a:endParaRPr>
          </a:p>
          <a:p>
            <a:endParaRPr lang="en-US" sz="4800" dirty="0"/>
          </a:p>
        </p:txBody>
      </p:sp>
    </p:spTree>
    <p:extLst>
      <p:ext uri="{BB962C8B-B14F-4D97-AF65-F5344CB8AC3E}">
        <p14:creationId xmlns:p14="http://schemas.microsoft.com/office/powerpoint/2010/main" val="3537409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smtClean="0">
                <a:effectLst>
                  <a:outerShdw blurRad="38100" dist="38100" dir="2700000" algn="tl">
                    <a:srgbClr val="000000">
                      <a:alpha val="43137"/>
                    </a:srgbClr>
                  </a:outerShdw>
                </a:effectLst>
                <a:ea typeface="ヒラギノ角ゴ Pro W3" pitchFamily="-1" charset="-128"/>
              </a:rPr>
              <a:t>Returns </a:t>
            </a:r>
            <a:r>
              <a:rPr lang="en-US" altLang="en-US" b="1" dirty="0">
                <a:effectLst>
                  <a:outerShdw blurRad="38100" dist="38100" dir="2700000" algn="tl">
                    <a:srgbClr val="000000">
                      <a:alpha val="43137"/>
                    </a:srgbClr>
                  </a:outerShdw>
                </a:effectLst>
                <a:ea typeface="ヒラギノ角ゴ Pro W3" pitchFamily="-1" charset="-128"/>
              </a:rPr>
              <a:t>to Scale</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r>
              <a:rPr lang="en-US" altLang="en-US" dirty="0">
                <a:ea typeface="ヒラギノ角ゴ Pro W3" pitchFamily="-1" charset="-128"/>
              </a:rPr>
              <a:t>Varying Returns to Scale</a:t>
            </a:r>
          </a:p>
          <a:p>
            <a:pPr lvl="1"/>
            <a:r>
              <a:rPr lang="en-US" altLang="en-US" sz="2000" dirty="0">
                <a:ea typeface="ヒラギノ角ゴ Pro W3" pitchFamily="-1" charset="-128"/>
              </a:rPr>
              <a:t>Many production functions have increasing returns to scale for small amounts of output, constant returns for moderate amounts of output, and decreasing returns for large amounts of output. </a:t>
            </a:r>
          </a:p>
          <a:p>
            <a:r>
              <a:rPr lang="en-US" altLang="en-US" dirty="0">
                <a:ea typeface="ヒラギノ角ゴ Pro W3" pitchFamily="-1" charset="-128"/>
              </a:rPr>
              <a:t>Graphical Analysis</a:t>
            </a:r>
          </a:p>
          <a:p>
            <a:pPr lvl="1"/>
            <a:r>
              <a:rPr lang="en-US" altLang="en-US" sz="2000" dirty="0">
                <a:ea typeface="ヒラギノ角ゴ Pro W3" pitchFamily="-1" charset="-128"/>
              </a:rPr>
              <a:t>Figure </a:t>
            </a:r>
            <a:r>
              <a:rPr lang="en-US" altLang="en-US" sz="2000" dirty="0" smtClean="0">
                <a:ea typeface="ヒラギノ角ゴ Pro W3" pitchFamily="-1" charset="-128"/>
              </a:rPr>
              <a:t>next slide shows, </a:t>
            </a:r>
            <a:r>
              <a:rPr lang="en-US" altLang="en-US" sz="2000" i="1" dirty="0">
                <a:ea typeface="ヒラギノ角ゴ Pro W3" pitchFamily="-1" charset="-128"/>
              </a:rPr>
              <a:t>a</a:t>
            </a:r>
            <a:r>
              <a:rPr lang="en-US" altLang="en-US" sz="2000" dirty="0">
                <a:ea typeface="ヒラギノ角ゴ Pro W3" pitchFamily="-1" charset="-128"/>
              </a:rPr>
              <a:t> to </a:t>
            </a:r>
            <a:r>
              <a:rPr lang="en-US" altLang="en-US" sz="2000" i="1" dirty="0">
                <a:ea typeface="ヒラギノ角ゴ Pro W3" pitchFamily="-1" charset="-128"/>
              </a:rPr>
              <a:t>b</a:t>
            </a:r>
            <a:r>
              <a:rPr lang="en-US" altLang="en-US" sz="2000" dirty="0">
                <a:ea typeface="ヒラギノ角ゴ Pro W3" pitchFamily="-1" charset="-128"/>
              </a:rPr>
              <a:t>: When a firm is small, increasing labor and capital allows for gains from cooperation between workers and greater specialization of workers and equipment, so there are increasing returns to scale</a:t>
            </a:r>
          </a:p>
          <a:p>
            <a:pPr lvl="1"/>
            <a:r>
              <a:rPr lang="en-US" altLang="en-US" sz="2000" dirty="0">
                <a:ea typeface="ヒラギノ角ゴ Pro W3" pitchFamily="-1" charset="-128"/>
              </a:rPr>
              <a:t>Figure next slide shows</a:t>
            </a:r>
            <a:r>
              <a:rPr lang="en-US" altLang="en-US" sz="2000" dirty="0" smtClean="0">
                <a:ea typeface="ヒラギノ角ゴ Pro W3" pitchFamily="-1" charset="-128"/>
              </a:rPr>
              <a:t>, </a:t>
            </a:r>
            <a:r>
              <a:rPr lang="en-US" altLang="en-US" sz="2000" i="1" dirty="0">
                <a:ea typeface="ヒラギノ角ゴ Pro W3" pitchFamily="-1" charset="-128"/>
              </a:rPr>
              <a:t>b</a:t>
            </a:r>
            <a:r>
              <a:rPr lang="en-US" altLang="en-US" sz="2000" dirty="0">
                <a:ea typeface="ヒラギノ角ゴ Pro W3" pitchFamily="-1" charset="-128"/>
              </a:rPr>
              <a:t> to </a:t>
            </a:r>
            <a:r>
              <a:rPr lang="en-US" altLang="en-US" sz="2000" i="1" dirty="0">
                <a:ea typeface="ヒラギノ角ゴ Pro W3" pitchFamily="-1" charset="-128"/>
              </a:rPr>
              <a:t>c</a:t>
            </a:r>
            <a:r>
              <a:rPr lang="en-US" altLang="en-US" sz="2000" dirty="0">
                <a:ea typeface="ヒラギノ角ゴ Pro W3" pitchFamily="-1" charset="-128"/>
              </a:rPr>
              <a:t>: As the firm grows, returns to scale are eventually exhausted. There are no more returns to specialization, so the production process has constant returns to scale. </a:t>
            </a:r>
          </a:p>
          <a:p>
            <a:pPr lvl="1"/>
            <a:r>
              <a:rPr lang="en-US" altLang="en-US" sz="2000" dirty="0">
                <a:ea typeface="ヒラギノ角ゴ Pro W3" pitchFamily="-1" charset="-128"/>
              </a:rPr>
              <a:t>Figure next slide shows</a:t>
            </a:r>
            <a:r>
              <a:rPr lang="en-US" altLang="en-US" sz="2000" dirty="0" smtClean="0">
                <a:ea typeface="ヒラギノ角ゴ Pro W3" pitchFamily="-1" charset="-128"/>
              </a:rPr>
              <a:t>, </a:t>
            </a:r>
            <a:r>
              <a:rPr lang="en-US" altLang="en-US" sz="2000" i="1" dirty="0">
                <a:ea typeface="ヒラギノ角ゴ Pro W3" pitchFamily="-1" charset="-128"/>
              </a:rPr>
              <a:t>c</a:t>
            </a:r>
            <a:r>
              <a:rPr lang="en-US" altLang="en-US" sz="2000" dirty="0">
                <a:ea typeface="ヒラギノ角ゴ Pro W3" pitchFamily="-1" charset="-128"/>
              </a:rPr>
              <a:t> to </a:t>
            </a:r>
            <a:r>
              <a:rPr lang="en-US" altLang="en-US" sz="2000" i="1" dirty="0">
                <a:ea typeface="ヒラギノ角ゴ Pro W3" pitchFamily="-1" charset="-128"/>
              </a:rPr>
              <a:t>d</a:t>
            </a:r>
            <a:r>
              <a:rPr lang="en-US" altLang="en-US" sz="2000" dirty="0">
                <a:ea typeface="ヒラギノ角ゴ Pro W3" pitchFamily="-1" charset="-128"/>
              </a:rPr>
              <a:t>: If the firm continues to grow, the owner starts having difficulty managing everyone, so the firm suffers from decreasing returns to scale</a:t>
            </a:r>
            <a:r>
              <a:rPr lang="en-US" altLang="en-US" sz="1800" dirty="0">
                <a:ea typeface="ヒラギノ角ゴ Pro W3" pitchFamily="-1" charset="-128"/>
              </a:rPr>
              <a:t>.</a:t>
            </a:r>
          </a:p>
          <a:p>
            <a:endParaRPr lang="en-US" sz="3600" dirty="0"/>
          </a:p>
        </p:txBody>
      </p:sp>
    </p:spTree>
    <p:extLst>
      <p:ext uri="{BB962C8B-B14F-4D97-AF65-F5344CB8AC3E}">
        <p14:creationId xmlns:p14="http://schemas.microsoft.com/office/powerpoint/2010/main" val="10309623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0000"/>
                </a:solidFill>
                <a:effectLst>
                  <a:outerShdw blurRad="38100" dist="38100" dir="2700000" algn="tl">
                    <a:srgbClr val="000000">
                      <a:alpha val="43137"/>
                    </a:srgbClr>
                  </a:outerShdw>
                </a:effectLst>
                <a:ea typeface="ヒラギノ角ゴ Pro W3" pitchFamily="-84" charset="-128"/>
                <a:cs typeface="ヒラギノ角ゴ Pro W3" pitchFamily="-84" charset="-128"/>
              </a:rPr>
              <a:t>Varying </a:t>
            </a:r>
            <a:r>
              <a:rPr lang="en-US" b="1" dirty="0">
                <a:solidFill>
                  <a:srgbClr val="000000"/>
                </a:solidFill>
                <a:effectLst>
                  <a:outerShdw blurRad="38100" dist="38100" dir="2700000" algn="tl">
                    <a:srgbClr val="000000">
                      <a:alpha val="43137"/>
                    </a:srgbClr>
                  </a:outerShdw>
                </a:effectLst>
                <a:ea typeface="ヒラギノ角ゴ Pro W3" pitchFamily="-84" charset="-128"/>
                <a:cs typeface="ヒラギノ角ゴ Pro W3" pitchFamily="-84" charset="-128"/>
              </a:rPr>
              <a:t>Scale Economies</a:t>
            </a:r>
            <a:br>
              <a:rPr lang="en-US" b="1" dirty="0">
                <a:solidFill>
                  <a:srgbClr val="000000"/>
                </a:solidFill>
                <a:effectLst>
                  <a:outerShdw blurRad="38100" dist="38100" dir="2700000" algn="tl">
                    <a:srgbClr val="000000">
                      <a:alpha val="43137"/>
                    </a:srgbClr>
                  </a:outerShdw>
                </a:effectLst>
                <a:ea typeface="ヒラギノ角ゴ Pro W3" pitchFamily="-84" charset="-128"/>
                <a:cs typeface="ヒラギノ角ゴ Pro W3" pitchFamily="-84" charset="-128"/>
              </a:rPr>
            </a:br>
            <a:endParaRPr lang="en-US" dirty="0">
              <a:effectLst>
                <a:outerShdw blurRad="38100" dist="38100" dir="2700000" algn="tl">
                  <a:srgbClr val="000000">
                    <a:alpha val="43137"/>
                  </a:srgbClr>
                </a:outerShdw>
              </a:effectLst>
            </a:endParaRPr>
          </a:p>
        </p:txBody>
      </p:sp>
      <p:pic>
        <p:nvPicPr>
          <p:cNvPr id="4" name="Content Placeholder 3" descr="fig05_05.gif"/>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05112" y="1891371"/>
            <a:ext cx="6581775" cy="432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738428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Marginal</a:t>
            </a:r>
            <a:r>
              <a:rPr lang="en-US" b="1" dirty="0"/>
              <a:t>, Average and Total Product </a:t>
            </a:r>
            <a:endParaRPr lang="en-US" dirty="0"/>
          </a:p>
        </p:txBody>
      </p:sp>
      <p:sp>
        <p:nvSpPr>
          <p:cNvPr id="3" name="Content Placeholder 2"/>
          <p:cNvSpPr>
            <a:spLocks noGrp="1"/>
          </p:cNvSpPr>
          <p:nvPr>
            <p:ph idx="1"/>
          </p:nvPr>
        </p:nvSpPr>
        <p:spPr/>
        <p:txBody>
          <a:bodyPr>
            <a:normAutofit fontScale="92500" lnSpcReduction="10000"/>
          </a:bodyPr>
          <a:lstStyle/>
          <a:p>
            <a:r>
              <a:rPr lang="en-US" b="1" dirty="0"/>
              <a:t>Example </a:t>
            </a:r>
            <a:endParaRPr lang="en-US" dirty="0"/>
          </a:p>
          <a:p>
            <a:r>
              <a:rPr lang="en-US" dirty="0"/>
              <a:t>Consider a production function as follows: Q = </a:t>
            </a:r>
            <a:r>
              <a:rPr lang="en-US" dirty="0" smtClean="0"/>
              <a:t>6*𝐾^2*𝐿^2 </a:t>
            </a:r>
            <a:r>
              <a:rPr lang="en-US" dirty="0"/>
              <a:t>− </a:t>
            </a:r>
            <a:r>
              <a:rPr lang="en-US" dirty="0" smtClean="0"/>
              <a:t>0.10*𝐾^3*𝐿^3</a:t>
            </a:r>
            <a:r>
              <a:rPr lang="en-US" dirty="0"/>
              <a:t>, where Q is the total output produced, and K and L the two factors of production. With factor K fixed at 10 units, </a:t>
            </a:r>
            <a:r>
              <a:rPr lang="en-US" dirty="0" smtClean="0"/>
              <a:t>determine</a:t>
            </a:r>
          </a:p>
          <a:p>
            <a:r>
              <a:rPr lang="en-US" dirty="0"/>
              <a:t>a) The total product function for factor L (TPL) </a:t>
            </a:r>
          </a:p>
          <a:p>
            <a:r>
              <a:rPr lang="en-US" b="1" dirty="0"/>
              <a:t>Solution </a:t>
            </a:r>
            <a:endParaRPr lang="en-US" dirty="0"/>
          </a:p>
          <a:p>
            <a:r>
              <a:rPr lang="en-US" dirty="0"/>
              <a:t>TPL = </a:t>
            </a:r>
            <a:r>
              <a:rPr lang="en-US" dirty="0" smtClean="0"/>
              <a:t>6*(10)^2*𝐿^2 </a:t>
            </a:r>
            <a:r>
              <a:rPr lang="en-US" dirty="0"/>
              <a:t>− </a:t>
            </a:r>
            <a:r>
              <a:rPr lang="en-US" dirty="0" smtClean="0"/>
              <a:t>0.10*(</a:t>
            </a:r>
            <a:r>
              <a:rPr lang="en-US" dirty="0"/>
              <a:t>10</a:t>
            </a:r>
            <a:r>
              <a:rPr lang="en-US" dirty="0" smtClean="0"/>
              <a:t>)^3*𝐿^3</a:t>
            </a:r>
            <a:r>
              <a:rPr lang="en-US" dirty="0"/>
              <a:t>, = </a:t>
            </a:r>
            <a:r>
              <a:rPr lang="en-US" dirty="0" smtClean="0"/>
              <a:t>600*L^2 </a:t>
            </a:r>
            <a:r>
              <a:rPr lang="en-US" dirty="0"/>
              <a:t>− </a:t>
            </a:r>
            <a:r>
              <a:rPr lang="en-US" dirty="0" smtClean="0"/>
              <a:t>100*L^3 </a:t>
            </a:r>
            <a:endParaRPr lang="en-US" dirty="0"/>
          </a:p>
          <a:p>
            <a:r>
              <a:rPr lang="en-US" dirty="0"/>
              <a:t>b) The marginal product function for factor L (MPL) </a:t>
            </a:r>
          </a:p>
          <a:p>
            <a:r>
              <a:rPr lang="en-US" b="1" dirty="0"/>
              <a:t>Solution </a:t>
            </a:r>
            <a:endParaRPr lang="en-US" dirty="0"/>
          </a:p>
          <a:p>
            <a:r>
              <a:rPr lang="en-US" dirty="0"/>
              <a:t>MPL = 𝑑 </a:t>
            </a:r>
            <a:r>
              <a:rPr lang="en-US" dirty="0" smtClean="0"/>
              <a:t>𝑇𝑃𝐿-𝑑𝐿 </a:t>
            </a:r>
            <a:r>
              <a:rPr lang="en-US" dirty="0"/>
              <a:t>= 1200L – </a:t>
            </a:r>
            <a:r>
              <a:rPr lang="en-US" dirty="0" smtClean="0"/>
              <a:t>300L^2  </a:t>
            </a:r>
            <a:endParaRPr lang="en-US" dirty="0"/>
          </a:p>
        </p:txBody>
      </p:sp>
    </p:spTree>
    <p:extLst>
      <p:ext uri="{BB962C8B-B14F-4D97-AF65-F5344CB8AC3E}">
        <p14:creationId xmlns:p14="http://schemas.microsoft.com/office/powerpoint/2010/main" val="4307902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Marginal</a:t>
            </a:r>
            <a:r>
              <a:rPr lang="en-US" b="1" dirty="0">
                <a:effectLst>
                  <a:outerShdw blurRad="38100" dist="38100" dir="2700000" algn="tl">
                    <a:srgbClr val="000000">
                      <a:alpha val="43137"/>
                    </a:srgbClr>
                  </a:outerShdw>
                </a:effectLst>
              </a:rPr>
              <a:t>, Average and Total Product </a:t>
            </a:r>
          </a:p>
        </p:txBody>
      </p:sp>
      <p:sp>
        <p:nvSpPr>
          <p:cNvPr id="3" name="Content Placeholder 2"/>
          <p:cNvSpPr>
            <a:spLocks noGrp="1"/>
          </p:cNvSpPr>
          <p:nvPr>
            <p:ph idx="1"/>
          </p:nvPr>
        </p:nvSpPr>
        <p:spPr/>
        <p:txBody>
          <a:bodyPr/>
          <a:lstStyle/>
          <a:p>
            <a:r>
              <a:rPr lang="en-US" dirty="0"/>
              <a:t>c) The average product function for factor L (APL) </a:t>
            </a:r>
          </a:p>
          <a:p>
            <a:r>
              <a:rPr lang="en-US" b="1" dirty="0"/>
              <a:t>Solution </a:t>
            </a:r>
            <a:endParaRPr lang="en-US" dirty="0"/>
          </a:p>
          <a:p>
            <a:r>
              <a:rPr lang="en-US" dirty="0"/>
              <a:t>APL = 𝑇𝑃𝐿 </a:t>
            </a:r>
            <a:r>
              <a:rPr lang="en-US" dirty="0" smtClean="0"/>
              <a:t>/𝐿 </a:t>
            </a:r>
            <a:r>
              <a:rPr lang="en-US" dirty="0"/>
              <a:t>= 600</a:t>
            </a:r>
            <a:r>
              <a:rPr lang="en-US" dirty="0" smtClean="0"/>
              <a:t>𝐿^2</a:t>
            </a:r>
            <a:r>
              <a:rPr lang="en-US" dirty="0"/>
              <a:t>− 100</a:t>
            </a:r>
            <a:r>
              <a:rPr lang="en-US" dirty="0" smtClean="0"/>
              <a:t>𝐿^3/𝐿 </a:t>
            </a:r>
            <a:r>
              <a:rPr lang="en-US" dirty="0"/>
              <a:t>= 600𝐿− 100𝐿2 </a:t>
            </a:r>
            <a:endParaRPr lang="en-US" dirty="0" smtClean="0"/>
          </a:p>
          <a:p>
            <a:r>
              <a:rPr lang="en-US" dirty="0"/>
              <a:t>d) Number of units of input L that </a:t>
            </a:r>
            <a:r>
              <a:rPr lang="en-US" dirty="0" smtClean="0"/>
              <a:t>maximizes </a:t>
            </a:r>
            <a:r>
              <a:rPr lang="en-US" dirty="0"/>
              <a:t>TPL </a:t>
            </a:r>
          </a:p>
          <a:p>
            <a:r>
              <a:rPr lang="en-US" b="1" dirty="0"/>
              <a:t>Solution </a:t>
            </a:r>
            <a:endParaRPr lang="en-US" dirty="0"/>
          </a:p>
          <a:p>
            <a:r>
              <a:rPr lang="en-US" dirty="0"/>
              <a:t>𝑑 𝑇𝑃𝐿 </a:t>
            </a:r>
            <a:r>
              <a:rPr lang="en-US" dirty="0" smtClean="0"/>
              <a:t>/𝑑𝐿 </a:t>
            </a:r>
            <a:r>
              <a:rPr lang="en-US" dirty="0"/>
              <a:t>= 0 </a:t>
            </a:r>
          </a:p>
          <a:p>
            <a:r>
              <a:rPr lang="en-US" dirty="0"/>
              <a:t>1200𝐿− 300𝐿2 = 0 </a:t>
            </a:r>
          </a:p>
          <a:p>
            <a:r>
              <a:rPr lang="en-US" dirty="0"/>
              <a:t>L (1200 - 300L) = 0 (Its also true that 1200 – 300L = 0 and L = 0) </a:t>
            </a:r>
          </a:p>
        </p:txBody>
      </p:sp>
    </p:spTree>
    <p:extLst>
      <p:ext uri="{BB962C8B-B14F-4D97-AF65-F5344CB8AC3E}">
        <p14:creationId xmlns:p14="http://schemas.microsoft.com/office/powerpoint/2010/main" val="39699931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Marginal, Average and Total Product </a:t>
            </a:r>
            <a:endParaRPr lang="en-US" dirty="0"/>
          </a:p>
        </p:txBody>
      </p:sp>
      <p:sp>
        <p:nvSpPr>
          <p:cNvPr id="3" name="Content Placeholder 2"/>
          <p:cNvSpPr>
            <a:spLocks noGrp="1"/>
          </p:cNvSpPr>
          <p:nvPr>
            <p:ph idx="1"/>
          </p:nvPr>
        </p:nvSpPr>
        <p:spPr/>
        <p:txBody>
          <a:bodyPr/>
          <a:lstStyle/>
          <a:p>
            <a:r>
              <a:rPr lang="en-US" dirty="0"/>
              <a:t>Therefore L is 0 and 4 </a:t>
            </a:r>
          </a:p>
          <a:p>
            <a:r>
              <a:rPr lang="en-US" dirty="0"/>
              <a:t>Checking for second order condition for maximisation, i.e., </a:t>
            </a:r>
            <a:r>
              <a:rPr lang="en-US" dirty="0" smtClean="0"/>
              <a:t>𝑑^2 </a:t>
            </a:r>
            <a:r>
              <a:rPr lang="en-US" dirty="0"/>
              <a:t>𝑇𝑃𝐿 </a:t>
            </a:r>
            <a:r>
              <a:rPr lang="en-US" dirty="0" smtClean="0"/>
              <a:t>/𝑑𝐿^2 </a:t>
            </a:r>
            <a:r>
              <a:rPr lang="en-US" dirty="0"/>
              <a:t>&gt; 0 we get L = 4 that </a:t>
            </a:r>
            <a:r>
              <a:rPr lang="en-US" dirty="0" smtClean="0"/>
              <a:t>maximizes </a:t>
            </a:r>
            <a:r>
              <a:rPr lang="en-US" dirty="0"/>
              <a:t>TPL. </a:t>
            </a:r>
          </a:p>
          <a:p>
            <a:r>
              <a:rPr lang="en-US" b="1" dirty="0" smtClean="0"/>
              <a:t>600L^2 </a:t>
            </a:r>
            <a:r>
              <a:rPr lang="en-US" b="1" dirty="0"/>
              <a:t>− </a:t>
            </a:r>
            <a:r>
              <a:rPr lang="en-US" b="1" dirty="0" smtClean="0"/>
              <a:t>100L^3 </a:t>
            </a:r>
            <a:r>
              <a:rPr lang="en-US" b="1" dirty="0"/>
              <a:t>= 1200L – </a:t>
            </a:r>
            <a:r>
              <a:rPr lang="en-US" b="1" dirty="0" smtClean="0"/>
              <a:t>300L^2 </a:t>
            </a:r>
            <a:r>
              <a:rPr lang="en-US" b="1" dirty="0"/>
              <a:t>=1200 – 600L (1200 – 600L = 0, the </a:t>
            </a:r>
            <a:r>
              <a:rPr lang="en-US" b="1" dirty="0" err="1"/>
              <a:t>ans</a:t>
            </a:r>
            <a:r>
              <a:rPr lang="en-US" b="1" dirty="0"/>
              <a:t> is L = 2) </a:t>
            </a:r>
            <a:endParaRPr lang="en-US" b="1" dirty="0" smtClean="0"/>
          </a:p>
          <a:p>
            <a:endParaRPr lang="en-US" dirty="0"/>
          </a:p>
        </p:txBody>
      </p:sp>
    </p:spTree>
    <p:extLst>
      <p:ext uri="{BB962C8B-B14F-4D97-AF65-F5344CB8AC3E}">
        <p14:creationId xmlns:p14="http://schemas.microsoft.com/office/powerpoint/2010/main" val="32595445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Marginal, Average and Total Product </a:t>
            </a:r>
            <a:endParaRPr lang="en-US" dirty="0"/>
          </a:p>
        </p:txBody>
      </p:sp>
      <p:sp>
        <p:nvSpPr>
          <p:cNvPr id="3" name="Content Placeholder 2"/>
          <p:cNvSpPr>
            <a:spLocks noGrp="1"/>
          </p:cNvSpPr>
          <p:nvPr>
            <p:ph idx="1"/>
          </p:nvPr>
        </p:nvSpPr>
        <p:spPr/>
        <p:txBody>
          <a:bodyPr/>
          <a:lstStyle/>
          <a:p>
            <a:r>
              <a:rPr lang="en-US" dirty="0"/>
              <a:t>e) Number of units of input L that </a:t>
            </a:r>
            <a:r>
              <a:rPr lang="en-US" dirty="0" err="1"/>
              <a:t>maximises</a:t>
            </a:r>
            <a:r>
              <a:rPr lang="en-US" dirty="0"/>
              <a:t> MPL </a:t>
            </a:r>
          </a:p>
          <a:p>
            <a:r>
              <a:rPr lang="en-US" b="1" dirty="0"/>
              <a:t>Solution </a:t>
            </a:r>
            <a:endParaRPr lang="en-US" dirty="0"/>
          </a:p>
          <a:p>
            <a:r>
              <a:rPr lang="en-US" dirty="0"/>
              <a:t>𝑑 𝑀𝑃𝐿 </a:t>
            </a:r>
            <a:r>
              <a:rPr lang="en-US" dirty="0" smtClean="0"/>
              <a:t>/𝑑𝐿^2 </a:t>
            </a:r>
            <a:r>
              <a:rPr lang="en-US" dirty="0"/>
              <a:t>= 0 </a:t>
            </a:r>
          </a:p>
          <a:p>
            <a:r>
              <a:rPr lang="fr-FR" dirty="0"/>
              <a:t>1200 – 600 L = 0 ⇒ L = 2 maximises MPL </a:t>
            </a:r>
          </a:p>
          <a:p>
            <a:r>
              <a:rPr lang="en-US" dirty="0"/>
              <a:t>f) Number of units of input L that </a:t>
            </a:r>
            <a:r>
              <a:rPr lang="en-US" dirty="0" err="1"/>
              <a:t>maximises</a:t>
            </a:r>
            <a:r>
              <a:rPr lang="en-US" dirty="0"/>
              <a:t> APL </a:t>
            </a:r>
          </a:p>
          <a:p>
            <a:r>
              <a:rPr lang="en-US" b="1" dirty="0"/>
              <a:t>Solution </a:t>
            </a:r>
            <a:endParaRPr lang="en-US" dirty="0"/>
          </a:p>
          <a:p>
            <a:r>
              <a:rPr lang="en-US" dirty="0"/>
              <a:t>𝑑 </a:t>
            </a:r>
            <a:r>
              <a:rPr lang="en-US" dirty="0" smtClean="0"/>
              <a:t>𝐴𝑃𝐿/ </a:t>
            </a:r>
            <a:r>
              <a:rPr lang="en-US" dirty="0"/>
              <a:t>𝑑𝐿 = 0 </a:t>
            </a:r>
          </a:p>
          <a:p>
            <a:r>
              <a:rPr lang="en-US" dirty="0"/>
              <a:t>600 – 200 L = 0 ⇒ L = 3 </a:t>
            </a:r>
            <a:r>
              <a:rPr lang="en-US" dirty="0" err="1"/>
              <a:t>maximises</a:t>
            </a:r>
            <a:r>
              <a:rPr lang="en-US" dirty="0"/>
              <a:t> APL </a:t>
            </a:r>
          </a:p>
        </p:txBody>
      </p:sp>
    </p:spTree>
    <p:extLst>
      <p:ext uri="{BB962C8B-B14F-4D97-AF65-F5344CB8AC3E}">
        <p14:creationId xmlns:p14="http://schemas.microsoft.com/office/powerpoint/2010/main" val="1936801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Marginal, Average and Total Product </a:t>
            </a:r>
            <a:endParaRPr lang="en-US" dirty="0"/>
          </a:p>
        </p:txBody>
      </p:sp>
      <p:sp>
        <p:nvSpPr>
          <p:cNvPr id="3" name="Content Placeholder 2"/>
          <p:cNvSpPr>
            <a:spLocks noGrp="1"/>
          </p:cNvSpPr>
          <p:nvPr>
            <p:ph idx="1"/>
          </p:nvPr>
        </p:nvSpPr>
        <p:spPr/>
        <p:txBody>
          <a:bodyPr/>
          <a:lstStyle/>
          <a:p>
            <a:r>
              <a:rPr lang="en-US" dirty="0"/>
              <a:t>g) The boundaries for the three stages of production. </a:t>
            </a:r>
          </a:p>
          <a:p>
            <a:r>
              <a:rPr lang="en-US" b="1" dirty="0"/>
              <a:t>Solution </a:t>
            </a:r>
            <a:endParaRPr lang="en-US" dirty="0"/>
          </a:p>
          <a:p>
            <a:r>
              <a:rPr lang="en-US" dirty="0"/>
              <a:t>Stage I: Labour units 0 - 3, Begins from origin till the point where APL reaches its maximum. </a:t>
            </a:r>
          </a:p>
          <a:p>
            <a:r>
              <a:rPr lang="en-US" dirty="0"/>
              <a:t>Stage II: Labour units 3 - 4, begins at point where APL reaches its maximum till the point when MPL reduces to 0 with TPL reaching its maximum. </a:t>
            </a:r>
          </a:p>
          <a:p>
            <a:r>
              <a:rPr lang="en-US" dirty="0"/>
              <a:t>Stage III: Labour units 4 - ∞, begins at point where MPL = 0 till the point where MPL &lt; 0 </a:t>
            </a:r>
          </a:p>
        </p:txBody>
      </p:sp>
    </p:spTree>
    <p:extLst>
      <p:ext uri="{BB962C8B-B14F-4D97-AF65-F5344CB8AC3E}">
        <p14:creationId xmlns:p14="http://schemas.microsoft.com/office/powerpoint/2010/main" val="7199908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Marginal, Average and Total Product </a:t>
            </a:r>
            <a:endParaRPr lang="en-US" dirty="0"/>
          </a:p>
        </p:txBody>
      </p:sp>
      <p:sp>
        <p:nvSpPr>
          <p:cNvPr id="3" name="Content Placeholder 2"/>
          <p:cNvSpPr>
            <a:spLocks noGrp="1"/>
          </p:cNvSpPr>
          <p:nvPr>
            <p:ph idx="1"/>
          </p:nvPr>
        </p:nvSpPr>
        <p:spPr/>
        <p:txBody>
          <a:bodyPr>
            <a:normAutofit fontScale="62500" lnSpcReduction="20000"/>
          </a:bodyPr>
          <a:lstStyle/>
          <a:p>
            <a:r>
              <a:rPr lang="en-US" dirty="0"/>
              <a:t>h) The point at which MPL = APL is given by </a:t>
            </a:r>
          </a:p>
          <a:p>
            <a:r>
              <a:rPr lang="en-US" dirty="0"/>
              <a:t>1200L – </a:t>
            </a:r>
            <a:r>
              <a:rPr lang="en-US" dirty="0" smtClean="0"/>
              <a:t>300L^3 </a:t>
            </a:r>
            <a:r>
              <a:rPr lang="en-US" dirty="0"/>
              <a:t>= 600𝐿+100</a:t>
            </a:r>
            <a:r>
              <a:rPr lang="en-US" dirty="0" smtClean="0"/>
              <a:t>𝐿^2 </a:t>
            </a:r>
            <a:endParaRPr lang="en-US" dirty="0"/>
          </a:p>
          <a:p>
            <a:r>
              <a:rPr lang="en-US" dirty="0"/>
              <a:t>600L - 100</a:t>
            </a:r>
            <a:r>
              <a:rPr lang="en-US" dirty="0" smtClean="0"/>
              <a:t>𝐿^2 </a:t>
            </a:r>
            <a:r>
              <a:rPr lang="en-US" dirty="0"/>
              <a:t>- </a:t>
            </a:r>
            <a:r>
              <a:rPr lang="en-US" dirty="0" smtClean="0"/>
              <a:t>300L^3 </a:t>
            </a:r>
            <a:r>
              <a:rPr lang="en-US" dirty="0"/>
              <a:t>= 0 </a:t>
            </a:r>
          </a:p>
          <a:p>
            <a:r>
              <a:rPr lang="en-US" dirty="0"/>
              <a:t>L (600 – 100L - </a:t>
            </a:r>
            <a:r>
              <a:rPr lang="en-US" dirty="0" smtClean="0"/>
              <a:t>300L^2</a:t>
            </a:r>
            <a:r>
              <a:rPr lang="en-US" dirty="0"/>
              <a:t>) = 0 </a:t>
            </a:r>
          </a:p>
          <a:p>
            <a:r>
              <a:rPr lang="en-US" dirty="0"/>
              <a:t>- 300L2 – 100L + 600 = 0 </a:t>
            </a:r>
          </a:p>
          <a:p>
            <a:r>
              <a:rPr lang="en-US" dirty="0"/>
              <a:t>𝐿</a:t>
            </a:r>
            <a:r>
              <a:rPr lang="en-US" dirty="0" smtClean="0"/>
              <a:t>=[−</a:t>
            </a:r>
            <a:r>
              <a:rPr lang="en-US" dirty="0"/>
              <a:t>𝑏± </a:t>
            </a:r>
            <a:r>
              <a:rPr lang="en-US" dirty="0" err="1" smtClean="0"/>
              <a:t>Sqr</a:t>
            </a:r>
            <a:r>
              <a:rPr lang="en-US" dirty="0" smtClean="0"/>
              <a:t>(𝑏^2</a:t>
            </a:r>
            <a:r>
              <a:rPr lang="en-US" dirty="0"/>
              <a:t>−4</a:t>
            </a:r>
            <a:r>
              <a:rPr lang="en-US" dirty="0" smtClean="0"/>
              <a:t>𝑎𝑐)]/2</a:t>
            </a:r>
            <a:r>
              <a:rPr lang="en-US" dirty="0"/>
              <a:t>𝑎 </a:t>
            </a:r>
          </a:p>
          <a:p>
            <a:r>
              <a:rPr lang="en-US" dirty="0"/>
              <a:t>L = </a:t>
            </a:r>
            <a:r>
              <a:rPr lang="en-US" dirty="0" smtClean="0"/>
              <a:t>[−</a:t>
            </a:r>
            <a:r>
              <a:rPr lang="en-US" dirty="0"/>
              <a:t>(−100) ± </a:t>
            </a:r>
            <a:r>
              <a:rPr lang="en-US" dirty="0" err="1" smtClean="0"/>
              <a:t>Sqr</a:t>
            </a:r>
            <a:r>
              <a:rPr lang="en-US" dirty="0" smtClean="0"/>
              <a:t>(−100^2 </a:t>
            </a:r>
            <a:r>
              <a:rPr lang="en-US" dirty="0"/>
              <a:t>− 4 (−300)(600</a:t>
            </a:r>
            <a:r>
              <a:rPr lang="en-US" dirty="0" smtClean="0"/>
              <a:t>)]/2 </a:t>
            </a:r>
            <a:r>
              <a:rPr lang="en-US" dirty="0"/>
              <a:t>(−300) </a:t>
            </a:r>
          </a:p>
          <a:p>
            <a:r>
              <a:rPr lang="en-US" dirty="0"/>
              <a:t>L = </a:t>
            </a:r>
            <a:r>
              <a:rPr lang="en-US" dirty="0" smtClean="0"/>
              <a:t>[− </a:t>
            </a:r>
            <a:r>
              <a:rPr lang="en-US" dirty="0"/>
              <a:t>(−100) ± </a:t>
            </a:r>
            <a:r>
              <a:rPr lang="en-US" dirty="0" smtClean="0"/>
              <a:t>10,000+720,000]/2 </a:t>
            </a:r>
            <a:r>
              <a:rPr lang="en-US" dirty="0"/>
              <a:t>(−300) </a:t>
            </a:r>
          </a:p>
          <a:p>
            <a:r>
              <a:rPr lang="en-US" dirty="0"/>
              <a:t>L = </a:t>
            </a:r>
            <a:r>
              <a:rPr lang="en-US" dirty="0" smtClean="0"/>
              <a:t>[− </a:t>
            </a:r>
            <a:r>
              <a:rPr lang="en-US" dirty="0"/>
              <a:t>(−100) ± </a:t>
            </a:r>
            <a:r>
              <a:rPr lang="en-US" dirty="0" smtClean="0"/>
              <a:t>10,000+720,000]/2 </a:t>
            </a:r>
            <a:r>
              <a:rPr lang="en-US" dirty="0"/>
              <a:t>(−300) </a:t>
            </a:r>
          </a:p>
          <a:p>
            <a:r>
              <a:rPr lang="en-US" dirty="0"/>
              <a:t>L = </a:t>
            </a:r>
            <a:r>
              <a:rPr lang="en-US" dirty="0" smtClean="0"/>
              <a:t>[100 </a:t>
            </a:r>
            <a:r>
              <a:rPr lang="en-US" dirty="0"/>
              <a:t>± </a:t>
            </a:r>
            <a:r>
              <a:rPr lang="en-US" dirty="0" smtClean="0"/>
              <a:t>730,000]/−</a:t>
            </a:r>
            <a:r>
              <a:rPr lang="en-US" dirty="0"/>
              <a:t>600 </a:t>
            </a:r>
          </a:p>
          <a:p>
            <a:r>
              <a:rPr lang="en-US" dirty="0"/>
              <a:t>L = </a:t>
            </a:r>
            <a:r>
              <a:rPr lang="en-US" dirty="0" smtClean="0"/>
              <a:t>[100 </a:t>
            </a:r>
            <a:r>
              <a:rPr lang="en-US" dirty="0"/>
              <a:t>± </a:t>
            </a:r>
            <a:r>
              <a:rPr lang="en-US" dirty="0" smtClean="0"/>
              <a:t>854.4003]/−</a:t>
            </a:r>
            <a:r>
              <a:rPr lang="en-US" dirty="0"/>
              <a:t>600 </a:t>
            </a:r>
          </a:p>
          <a:p>
            <a:r>
              <a:rPr lang="en-US" dirty="0"/>
              <a:t>L = − 954.4003−600 or − 754.4003−600 </a:t>
            </a:r>
          </a:p>
          <a:p>
            <a:r>
              <a:rPr lang="en-US" b="1" dirty="0"/>
              <a:t>L = 1.591 or 1.257 </a:t>
            </a:r>
            <a:endParaRPr lang="en-US" dirty="0"/>
          </a:p>
        </p:txBody>
      </p:sp>
    </p:spTree>
    <p:extLst>
      <p:ext uri="{BB962C8B-B14F-4D97-AF65-F5344CB8AC3E}">
        <p14:creationId xmlns:p14="http://schemas.microsoft.com/office/powerpoint/2010/main" val="7968367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87829"/>
            <a:ext cx="10515600" cy="1658982"/>
          </a:xfrm>
        </p:spPr>
        <p:txBody>
          <a:bodyPr>
            <a:normAutofit fontScale="90000"/>
          </a:bodyPr>
          <a:lstStyle/>
          <a:p>
            <a:r>
              <a:rPr lang="en-US" b="1" dirty="0">
                <a:effectLst>
                  <a:outerShdw blurRad="38100" dist="38100" dir="2700000" algn="tl">
                    <a:srgbClr val="000000">
                      <a:alpha val="43137"/>
                    </a:srgbClr>
                  </a:outerShdw>
                </a:effectLst>
              </a:rPr>
              <a:t>Cost analysis: fixed costs, variable costs, and total costs </a:t>
            </a:r>
            <a:br>
              <a:rPr lang="en-US"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92500" lnSpcReduction="20000"/>
          </a:bodyPr>
          <a:lstStyle/>
          <a:p>
            <a:pPr marL="0" indent="0">
              <a:buNone/>
            </a:pPr>
            <a:r>
              <a:rPr lang="en-US" b="1" dirty="0" smtClean="0"/>
              <a:t>Formulas to Use</a:t>
            </a:r>
          </a:p>
          <a:p>
            <a:r>
              <a:rPr lang="en-US" dirty="0" smtClean="0"/>
              <a:t>Total </a:t>
            </a:r>
            <a:r>
              <a:rPr lang="en-US" dirty="0"/>
              <a:t>Revenue (TR) = P (Price) x (quantity) Q </a:t>
            </a:r>
          </a:p>
          <a:p>
            <a:r>
              <a:rPr lang="en-US" dirty="0"/>
              <a:t>Marginal Revenue (MR) = Δ</a:t>
            </a:r>
            <a:r>
              <a:rPr lang="en-US" dirty="0" smtClean="0"/>
              <a:t>𝑇𝑅/Δ</a:t>
            </a:r>
            <a:r>
              <a:rPr lang="en-US" dirty="0"/>
              <a:t>𝑄 = </a:t>
            </a:r>
            <a:r>
              <a:rPr lang="en-US" dirty="0" smtClean="0"/>
              <a:t>𝑑𝑇𝑅/𝑑𝑄 </a:t>
            </a:r>
            <a:endParaRPr lang="en-US" dirty="0"/>
          </a:p>
          <a:p>
            <a:r>
              <a:rPr lang="en-US" dirty="0"/>
              <a:t>Average Revenue (AR) = 𝑇𝑅𝑄 </a:t>
            </a:r>
          </a:p>
          <a:p>
            <a:r>
              <a:rPr lang="en-US" dirty="0"/>
              <a:t>Total Cost (TC) = FC + VC </a:t>
            </a:r>
          </a:p>
          <a:p>
            <a:r>
              <a:rPr lang="en-US" dirty="0"/>
              <a:t>Average Total Cost (ATC) = 𝑇𝐶𝑄 </a:t>
            </a:r>
          </a:p>
          <a:p>
            <a:r>
              <a:rPr lang="en-US" dirty="0"/>
              <a:t>Average Fixed Cost (AFC) = 𝐹𝐶𝑄 </a:t>
            </a:r>
          </a:p>
          <a:p>
            <a:r>
              <a:rPr lang="en-US" dirty="0"/>
              <a:t>Average Variable Cost (AVC) = 𝑉𝐶𝑄 </a:t>
            </a:r>
          </a:p>
          <a:p>
            <a:r>
              <a:rPr lang="en-US" dirty="0"/>
              <a:t>Marginal Cost (MC) = </a:t>
            </a:r>
            <a:r>
              <a:rPr lang="el-GR" dirty="0"/>
              <a:t>Δ</a:t>
            </a:r>
            <a:r>
              <a:rPr lang="el-GR" dirty="0" smtClean="0"/>
              <a:t>𝑇𝐶</a:t>
            </a:r>
            <a:r>
              <a:rPr lang="en-US" dirty="0" smtClean="0"/>
              <a:t>/</a:t>
            </a:r>
            <a:r>
              <a:rPr lang="el-GR" dirty="0" smtClean="0"/>
              <a:t>Δ</a:t>
            </a:r>
            <a:r>
              <a:rPr lang="el-GR" dirty="0"/>
              <a:t>𝑄 = </a:t>
            </a:r>
            <a:r>
              <a:rPr lang="el-GR" dirty="0" smtClean="0"/>
              <a:t>𝑑𝑇𝐶</a:t>
            </a:r>
            <a:r>
              <a:rPr lang="en-US" dirty="0" smtClean="0"/>
              <a:t>/</a:t>
            </a:r>
            <a:r>
              <a:rPr lang="el-GR" dirty="0" smtClean="0"/>
              <a:t>𝑑𝑄 </a:t>
            </a:r>
            <a:endParaRPr lang="el-GR" dirty="0"/>
          </a:p>
          <a:p>
            <a:r>
              <a:rPr lang="en-US" dirty="0"/>
              <a:t>Profit (</a:t>
            </a:r>
            <a:r>
              <a:rPr lang="el-GR" dirty="0"/>
              <a:t>λ) = </a:t>
            </a:r>
            <a:r>
              <a:rPr lang="en-US" dirty="0"/>
              <a:t>TR - TC </a:t>
            </a:r>
          </a:p>
        </p:txBody>
      </p:sp>
    </p:spTree>
    <p:extLst>
      <p:ext uri="{BB962C8B-B14F-4D97-AF65-F5344CB8AC3E}">
        <p14:creationId xmlns:p14="http://schemas.microsoft.com/office/powerpoint/2010/main" val="42351208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Table with solved answers</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pPr marL="0" indent="0">
              <a:buNone/>
            </a:pPr>
            <a:r>
              <a:rPr lang="en-US" sz="1800" b="1" dirty="0" smtClean="0"/>
              <a:t>Output </a:t>
            </a:r>
            <a:r>
              <a:rPr lang="en-US" sz="1800" b="1" dirty="0"/>
              <a:t>(Q</a:t>
            </a:r>
            <a:r>
              <a:rPr lang="en-US" sz="1800" b="1" dirty="0" smtClean="0"/>
              <a:t>) Price </a:t>
            </a:r>
            <a:r>
              <a:rPr lang="en-US" sz="1800" b="1" dirty="0"/>
              <a:t>(P) </a:t>
            </a:r>
            <a:r>
              <a:rPr lang="en-US" sz="1800" dirty="0" smtClean="0"/>
              <a:t>TR </a:t>
            </a:r>
            <a:r>
              <a:rPr lang="en-US" sz="1800" dirty="0"/>
              <a:t>= PQ 	MR = </a:t>
            </a:r>
            <a:r>
              <a:rPr lang="el-GR" sz="1800" dirty="0"/>
              <a:t>Δ</a:t>
            </a:r>
            <a:r>
              <a:rPr lang="el-GR" sz="1800" dirty="0" smtClean="0"/>
              <a:t>𝑇𝑅</a:t>
            </a:r>
            <a:r>
              <a:rPr lang="en-US" sz="1800" dirty="0" smtClean="0"/>
              <a:t>/</a:t>
            </a:r>
            <a:r>
              <a:rPr lang="el-GR" sz="1800" dirty="0" smtClean="0"/>
              <a:t>Δ</a:t>
            </a:r>
            <a:r>
              <a:rPr lang="el-GR" sz="1800" dirty="0"/>
              <a:t>𝑄 </a:t>
            </a:r>
            <a:r>
              <a:rPr lang="en-US" sz="1800" b="1" dirty="0" smtClean="0"/>
              <a:t>TC </a:t>
            </a:r>
            <a:r>
              <a:rPr lang="en-US" sz="1800" b="1" dirty="0"/>
              <a:t>= FC + VC </a:t>
            </a:r>
            <a:r>
              <a:rPr lang="en-US" sz="1800" dirty="0"/>
              <a:t>	ATC = </a:t>
            </a:r>
            <a:r>
              <a:rPr lang="en-US" sz="1800" dirty="0" smtClean="0"/>
              <a:t>𝑇𝐶/𝑄    MC </a:t>
            </a:r>
            <a:r>
              <a:rPr lang="en-US" sz="1800" dirty="0"/>
              <a:t>= </a:t>
            </a:r>
            <a:r>
              <a:rPr lang="el-GR" sz="1800" dirty="0"/>
              <a:t>Δ</a:t>
            </a:r>
            <a:r>
              <a:rPr lang="el-GR" sz="1800" dirty="0" smtClean="0"/>
              <a:t>𝑇𝐶</a:t>
            </a:r>
            <a:r>
              <a:rPr lang="en-US" sz="1800" dirty="0" smtClean="0"/>
              <a:t>/</a:t>
            </a:r>
            <a:r>
              <a:rPr lang="el-GR" sz="1800" dirty="0" smtClean="0"/>
              <a:t>Δ𝑄</a:t>
            </a:r>
            <a:r>
              <a:rPr lang="en-US" sz="1800" dirty="0" smtClean="0"/>
              <a:t>      </a:t>
            </a:r>
            <a:r>
              <a:rPr lang="el-GR" sz="1800" dirty="0" smtClean="0"/>
              <a:t> </a:t>
            </a:r>
            <a:r>
              <a:rPr lang="en-US" sz="1800" dirty="0" smtClean="0"/>
              <a:t>Profit </a:t>
            </a:r>
            <a:r>
              <a:rPr lang="en-US" sz="1800" dirty="0"/>
              <a:t> </a:t>
            </a:r>
            <a:r>
              <a:rPr lang="el-GR" sz="1800" dirty="0" smtClean="0"/>
              <a:t>λ </a:t>
            </a:r>
            <a:r>
              <a:rPr lang="el-GR" sz="1800" dirty="0"/>
              <a:t>= </a:t>
            </a:r>
            <a:r>
              <a:rPr lang="en-US" sz="1800" dirty="0"/>
              <a:t>TR - TC 	</a:t>
            </a:r>
          </a:p>
          <a:p>
            <a:pPr marL="0" indent="0">
              <a:buNone/>
            </a:pPr>
            <a:r>
              <a:rPr lang="en-US" b="1" dirty="0"/>
              <a:t>0 </a:t>
            </a:r>
            <a:r>
              <a:rPr lang="en-US" dirty="0"/>
              <a:t>	</a:t>
            </a:r>
            <a:r>
              <a:rPr lang="en-US" dirty="0" smtClean="0"/>
              <a:t> </a:t>
            </a:r>
            <a:r>
              <a:rPr lang="en-US" b="1" dirty="0" smtClean="0"/>
              <a:t>14 </a:t>
            </a:r>
            <a:r>
              <a:rPr lang="en-US" dirty="0"/>
              <a:t>	</a:t>
            </a:r>
            <a:r>
              <a:rPr lang="en-US" dirty="0" smtClean="0"/>
              <a:t>  0 </a:t>
            </a:r>
            <a:r>
              <a:rPr lang="en-US" dirty="0"/>
              <a:t>	</a:t>
            </a:r>
            <a:r>
              <a:rPr lang="en-US" dirty="0" smtClean="0"/>
              <a:t>     - </a:t>
            </a:r>
            <a:r>
              <a:rPr lang="en-US" dirty="0"/>
              <a:t>	</a:t>
            </a:r>
            <a:r>
              <a:rPr lang="en-US" dirty="0" smtClean="0"/>
              <a:t>         </a:t>
            </a:r>
            <a:r>
              <a:rPr lang="en-US" b="1" dirty="0" smtClean="0"/>
              <a:t>2 </a:t>
            </a:r>
            <a:r>
              <a:rPr lang="en-US" dirty="0"/>
              <a:t>	</a:t>
            </a:r>
            <a:r>
              <a:rPr lang="en-US" dirty="0" smtClean="0"/>
              <a:t>         - </a:t>
            </a:r>
            <a:r>
              <a:rPr lang="en-US" dirty="0"/>
              <a:t>	- 	</a:t>
            </a:r>
            <a:r>
              <a:rPr lang="en-US" dirty="0" smtClean="0"/>
              <a:t>        -</a:t>
            </a:r>
            <a:r>
              <a:rPr lang="en-US" dirty="0"/>
              <a:t>2 	</a:t>
            </a:r>
          </a:p>
          <a:p>
            <a:pPr marL="0" indent="0">
              <a:buNone/>
            </a:pPr>
            <a:r>
              <a:rPr lang="en-US" b="1" dirty="0" smtClean="0"/>
              <a:t>1 </a:t>
            </a:r>
            <a:r>
              <a:rPr lang="en-US" dirty="0"/>
              <a:t>	</a:t>
            </a:r>
            <a:r>
              <a:rPr lang="en-US" dirty="0" smtClean="0"/>
              <a:t> </a:t>
            </a:r>
            <a:r>
              <a:rPr lang="en-US" b="1" dirty="0" smtClean="0"/>
              <a:t>12 </a:t>
            </a:r>
            <a:r>
              <a:rPr lang="en-US" dirty="0"/>
              <a:t>	</a:t>
            </a:r>
            <a:r>
              <a:rPr lang="en-US" dirty="0" smtClean="0"/>
              <a:t> 12 </a:t>
            </a:r>
            <a:r>
              <a:rPr lang="en-US" dirty="0"/>
              <a:t>	</a:t>
            </a:r>
            <a:r>
              <a:rPr lang="en-US" dirty="0" smtClean="0"/>
              <a:t>    12 </a:t>
            </a:r>
            <a:r>
              <a:rPr lang="en-US" dirty="0"/>
              <a:t>	</a:t>
            </a:r>
            <a:r>
              <a:rPr lang="en-US" dirty="0" smtClean="0"/>
              <a:t>         </a:t>
            </a:r>
            <a:r>
              <a:rPr lang="en-US" b="1" dirty="0" smtClean="0"/>
              <a:t>6 </a:t>
            </a:r>
            <a:r>
              <a:rPr lang="en-US" dirty="0"/>
              <a:t>	</a:t>
            </a:r>
            <a:r>
              <a:rPr lang="en-US" dirty="0" smtClean="0"/>
              <a:t>         6 </a:t>
            </a:r>
            <a:r>
              <a:rPr lang="en-US" dirty="0"/>
              <a:t>	4 	</a:t>
            </a:r>
            <a:r>
              <a:rPr lang="en-US" dirty="0" smtClean="0"/>
              <a:t>         6 </a:t>
            </a:r>
            <a:r>
              <a:rPr lang="en-US" dirty="0"/>
              <a:t>	</a:t>
            </a:r>
          </a:p>
          <a:p>
            <a:pPr marL="0" indent="0">
              <a:buNone/>
            </a:pPr>
            <a:r>
              <a:rPr lang="en-US" b="1" dirty="0"/>
              <a:t>2 </a:t>
            </a:r>
            <a:r>
              <a:rPr lang="en-US" b="1" dirty="0" smtClean="0"/>
              <a:t>        </a:t>
            </a:r>
            <a:r>
              <a:rPr lang="en-US" dirty="0"/>
              <a:t>	</a:t>
            </a:r>
            <a:r>
              <a:rPr lang="en-US" b="1" dirty="0"/>
              <a:t>10 </a:t>
            </a:r>
            <a:r>
              <a:rPr lang="en-US" dirty="0"/>
              <a:t>	</a:t>
            </a:r>
            <a:r>
              <a:rPr lang="en-US" dirty="0" smtClean="0"/>
              <a:t> 20 </a:t>
            </a:r>
            <a:r>
              <a:rPr lang="en-US" dirty="0"/>
              <a:t>	</a:t>
            </a:r>
            <a:r>
              <a:rPr lang="en-US" dirty="0" smtClean="0"/>
              <a:t>     8 </a:t>
            </a:r>
            <a:r>
              <a:rPr lang="en-US" dirty="0"/>
              <a:t>	</a:t>
            </a:r>
            <a:r>
              <a:rPr lang="en-US" dirty="0" smtClean="0"/>
              <a:t>         </a:t>
            </a:r>
            <a:r>
              <a:rPr lang="en-US" b="1" dirty="0" smtClean="0"/>
              <a:t>8 </a:t>
            </a:r>
            <a:r>
              <a:rPr lang="en-US" dirty="0"/>
              <a:t>	</a:t>
            </a:r>
            <a:r>
              <a:rPr lang="en-US" dirty="0" smtClean="0"/>
              <a:t>         4 </a:t>
            </a:r>
            <a:r>
              <a:rPr lang="en-US" dirty="0"/>
              <a:t>	2 	</a:t>
            </a:r>
            <a:r>
              <a:rPr lang="en-US" dirty="0" smtClean="0"/>
              <a:t>        12 </a:t>
            </a:r>
            <a:r>
              <a:rPr lang="en-US" dirty="0"/>
              <a:t>	</a:t>
            </a:r>
          </a:p>
          <a:p>
            <a:pPr marL="0" indent="0">
              <a:buNone/>
            </a:pPr>
            <a:r>
              <a:rPr lang="en-US" b="1" dirty="0"/>
              <a:t>3 </a:t>
            </a:r>
            <a:r>
              <a:rPr lang="en-US" dirty="0"/>
              <a:t>	</a:t>
            </a:r>
            <a:r>
              <a:rPr lang="en-US" dirty="0" smtClean="0"/>
              <a:t> </a:t>
            </a:r>
            <a:r>
              <a:rPr lang="en-US" b="1" dirty="0" smtClean="0"/>
              <a:t>8 </a:t>
            </a:r>
            <a:r>
              <a:rPr lang="en-US" dirty="0"/>
              <a:t>	</a:t>
            </a:r>
            <a:r>
              <a:rPr lang="en-US" dirty="0" smtClean="0"/>
              <a:t> 24 </a:t>
            </a:r>
            <a:r>
              <a:rPr lang="en-US" dirty="0"/>
              <a:t>	</a:t>
            </a:r>
            <a:r>
              <a:rPr lang="en-US" dirty="0" smtClean="0"/>
              <a:t>     4 </a:t>
            </a:r>
            <a:r>
              <a:rPr lang="en-US" dirty="0"/>
              <a:t>	</a:t>
            </a:r>
            <a:r>
              <a:rPr lang="en-US" dirty="0" smtClean="0"/>
              <a:t>         </a:t>
            </a:r>
            <a:r>
              <a:rPr lang="en-US" b="1" dirty="0" smtClean="0"/>
              <a:t>12 </a:t>
            </a:r>
            <a:r>
              <a:rPr lang="en-US" dirty="0"/>
              <a:t>	</a:t>
            </a:r>
            <a:r>
              <a:rPr lang="en-US" dirty="0" smtClean="0"/>
              <a:t>         4 </a:t>
            </a:r>
            <a:r>
              <a:rPr lang="en-US" dirty="0"/>
              <a:t>	4 	</a:t>
            </a:r>
            <a:r>
              <a:rPr lang="en-US" dirty="0" smtClean="0"/>
              <a:t>        12 </a:t>
            </a:r>
            <a:r>
              <a:rPr lang="en-US" dirty="0"/>
              <a:t>	</a:t>
            </a:r>
          </a:p>
          <a:p>
            <a:pPr marL="0" indent="0">
              <a:buNone/>
            </a:pPr>
            <a:r>
              <a:rPr lang="en-US" b="1" dirty="0"/>
              <a:t>4 </a:t>
            </a:r>
            <a:r>
              <a:rPr lang="en-US" dirty="0"/>
              <a:t>	</a:t>
            </a:r>
            <a:r>
              <a:rPr lang="en-US" dirty="0" smtClean="0"/>
              <a:t> </a:t>
            </a:r>
            <a:r>
              <a:rPr lang="en-US" b="1" dirty="0" smtClean="0"/>
              <a:t>6 </a:t>
            </a:r>
            <a:r>
              <a:rPr lang="en-US" dirty="0"/>
              <a:t>	</a:t>
            </a:r>
            <a:r>
              <a:rPr lang="en-US" dirty="0" smtClean="0"/>
              <a:t> 24 </a:t>
            </a:r>
            <a:r>
              <a:rPr lang="en-US" dirty="0"/>
              <a:t>	</a:t>
            </a:r>
            <a:r>
              <a:rPr lang="en-US" dirty="0" smtClean="0"/>
              <a:t>     0 </a:t>
            </a:r>
            <a:r>
              <a:rPr lang="en-US" dirty="0"/>
              <a:t>	</a:t>
            </a:r>
            <a:r>
              <a:rPr lang="en-US" dirty="0" smtClean="0"/>
              <a:t>         </a:t>
            </a:r>
            <a:r>
              <a:rPr lang="en-US" b="1" dirty="0" smtClean="0"/>
              <a:t>20 </a:t>
            </a:r>
            <a:r>
              <a:rPr lang="en-US" dirty="0"/>
              <a:t>	</a:t>
            </a:r>
            <a:r>
              <a:rPr lang="en-US" dirty="0" smtClean="0"/>
              <a:t>         5 </a:t>
            </a:r>
            <a:r>
              <a:rPr lang="en-US" dirty="0"/>
              <a:t>	8 	</a:t>
            </a:r>
            <a:r>
              <a:rPr lang="en-US" dirty="0" smtClean="0"/>
              <a:t>         4 </a:t>
            </a:r>
            <a:r>
              <a:rPr lang="en-US" dirty="0"/>
              <a:t>	</a:t>
            </a:r>
          </a:p>
          <a:p>
            <a:pPr marL="0" indent="0">
              <a:buNone/>
            </a:pPr>
            <a:r>
              <a:rPr lang="en-US" b="1" dirty="0"/>
              <a:t>5 </a:t>
            </a:r>
            <a:r>
              <a:rPr lang="en-US" b="1" dirty="0" smtClean="0"/>
              <a:t>  </a:t>
            </a:r>
            <a:r>
              <a:rPr lang="en-US" dirty="0"/>
              <a:t>	</a:t>
            </a:r>
            <a:r>
              <a:rPr lang="en-US" dirty="0" smtClean="0"/>
              <a:t> </a:t>
            </a:r>
            <a:r>
              <a:rPr lang="en-US" b="1" dirty="0" smtClean="0"/>
              <a:t>4 </a:t>
            </a:r>
            <a:r>
              <a:rPr lang="en-US" dirty="0"/>
              <a:t>	</a:t>
            </a:r>
            <a:r>
              <a:rPr lang="en-US" dirty="0" smtClean="0"/>
              <a:t> 20 </a:t>
            </a:r>
            <a:r>
              <a:rPr lang="en-US" dirty="0"/>
              <a:t>	</a:t>
            </a:r>
            <a:r>
              <a:rPr lang="en-US" dirty="0" smtClean="0"/>
              <a:t>    -</a:t>
            </a:r>
            <a:r>
              <a:rPr lang="en-US" dirty="0"/>
              <a:t>4 	</a:t>
            </a:r>
            <a:r>
              <a:rPr lang="en-US" dirty="0" smtClean="0"/>
              <a:t>         </a:t>
            </a:r>
            <a:r>
              <a:rPr lang="en-US" b="1" dirty="0" smtClean="0"/>
              <a:t>35 </a:t>
            </a:r>
            <a:r>
              <a:rPr lang="en-US" dirty="0"/>
              <a:t>	</a:t>
            </a:r>
            <a:r>
              <a:rPr lang="en-US" dirty="0" smtClean="0"/>
              <a:t>          7 </a:t>
            </a:r>
            <a:r>
              <a:rPr lang="en-US" dirty="0"/>
              <a:t>	15 	</a:t>
            </a:r>
            <a:r>
              <a:rPr lang="en-US" dirty="0" smtClean="0"/>
              <a:t>        -</a:t>
            </a:r>
            <a:r>
              <a:rPr lang="en-US" dirty="0"/>
              <a:t>15 	</a:t>
            </a:r>
          </a:p>
          <a:p>
            <a:endParaRPr lang="en-US" dirty="0"/>
          </a:p>
        </p:txBody>
      </p:sp>
    </p:spTree>
    <p:extLst>
      <p:ext uri="{BB962C8B-B14F-4D97-AF65-F5344CB8AC3E}">
        <p14:creationId xmlns:p14="http://schemas.microsoft.com/office/powerpoint/2010/main" val="25170107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2069"/>
            <a:ext cx="10515600" cy="1468619"/>
          </a:xfrm>
        </p:spPr>
        <p:txBody>
          <a:bodyPr>
            <a:normAutofit fontScale="90000"/>
          </a:bodyPr>
          <a:lstStyle/>
          <a:p>
            <a:r>
              <a:rPr lang="en-US" b="1" dirty="0">
                <a:effectLst>
                  <a:outerShdw blurRad="38100" dist="38100" dir="2700000" algn="tl">
                    <a:srgbClr val="000000">
                      <a:alpha val="43137"/>
                    </a:srgbClr>
                  </a:outerShdw>
                </a:effectLst>
              </a:rPr>
              <a:t>Profit maximization and the relationship between costs and revenue </a:t>
            </a:r>
            <a:br>
              <a:rPr lang="en-US"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a:t>The Profit Maximization Rule states that if a firm chooses to maximize its profits, it must choose that level of output where Marginal Cost (MC) is equal to Marginal Revenue (MR) and the Marginal Cost curve is rising. In other words, it must produce at a level where MC = MR. </a:t>
            </a:r>
          </a:p>
          <a:p>
            <a:r>
              <a:rPr lang="en-US" dirty="0"/>
              <a:t>The profit maximization rule formula is </a:t>
            </a:r>
          </a:p>
          <a:p>
            <a:r>
              <a:rPr lang="en-US" b="1" dirty="0"/>
              <a:t>MC = MR </a:t>
            </a:r>
            <a:endParaRPr lang="en-US" dirty="0"/>
          </a:p>
        </p:txBody>
      </p:sp>
    </p:spTree>
    <p:extLst>
      <p:ext uri="{BB962C8B-B14F-4D97-AF65-F5344CB8AC3E}">
        <p14:creationId xmlns:p14="http://schemas.microsoft.com/office/powerpoint/2010/main" val="34494417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effectLst>
                  <a:outerShdw blurRad="38100" dist="38100" dir="2700000" algn="tl">
                    <a:srgbClr val="000000">
                      <a:alpha val="43137"/>
                    </a:srgbClr>
                  </a:outerShdw>
                </a:effectLst>
              </a:rPr>
              <a:t>Profit maximization and the relationship between costs and revenue </a:t>
            </a:r>
            <a:br>
              <a:rPr lang="en-US" b="1" dirty="0">
                <a:effectLst>
                  <a:outerShdw blurRad="38100" dist="38100" dir="2700000" algn="tl">
                    <a:srgbClr val="000000">
                      <a:alpha val="43137"/>
                    </a:srgbClr>
                  </a:outerShdw>
                </a:effectLst>
              </a:rPr>
            </a:br>
            <a:endParaRPr lang="en-US" dirty="0"/>
          </a:p>
        </p:txBody>
      </p:sp>
      <p:sp>
        <p:nvSpPr>
          <p:cNvPr id="3" name="Content Placeholder 2"/>
          <p:cNvSpPr>
            <a:spLocks noGrp="1"/>
          </p:cNvSpPr>
          <p:nvPr>
            <p:ph idx="1"/>
          </p:nvPr>
        </p:nvSpPr>
        <p:spPr/>
        <p:txBody>
          <a:bodyPr/>
          <a:lstStyle/>
          <a:p>
            <a:r>
              <a:rPr lang="en-US" b="1" dirty="0"/>
              <a:t>Marginal Cost </a:t>
            </a:r>
            <a:r>
              <a:rPr lang="en-US" dirty="0"/>
              <a:t>is the increase in cost by producing one more unit of the good. </a:t>
            </a:r>
          </a:p>
          <a:p>
            <a:r>
              <a:rPr lang="en-US" b="1" dirty="0"/>
              <a:t>Marginal Revenue </a:t>
            </a:r>
            <a:r>
              <a:rPr lang="en-US" dirty="0"/>
              <a:t>is the change in total revenue as a result of changing the rate of sales by one unit. Marginal Revenue is also the slope of Total Revenue. </a:t>
            </a:r>
          </a:p>
          <a:p>
            <a:r>
              <a:rPr lang="en-US" dirty="0"/>
              <a:t>Profit = Total Revenue – Total Costs </a:t>
            </a:r>
          </a:p>
          <a:p>
            <a:r>
              <a:rPr lang="en-US" dirty="0"/>
              <a:t>Therefore, profit maximization occurs at the most significant gap or the biggest difference between the total revenue and the total cost. </a:t>
            </a:r>
          </a:p>
          <a:p>
            <a:r>
              <a:rPr lang="en-US" dirty="0"/>
              <a:t>Why is the output chosen at MC = MR? </a:t>
            </a:r>
          </a:p>
        </p:txBody>
      </p:sp>
    </p:spTree>
    <p:extLst>
      <p:ext uri="{BB962C8B-B14F-4D97-AF65-F5344CB8AC3E}">
        <p14:creationId xmlns:p14="http://schemas.microsoft.com/office/powerpoint/2010/main" val="13091812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9817"/>
            <a:ext cx="10515600" cy="1655808"/>
          </a:xfrm>
        </p:spPr>
        <p:txBody>
          <a:bodyPr>
            <a:normAutofit fontScale="90000"/>
          </a:bodyPr>
          <a:lstStyle/>
          <a:p>
            <a:r>
              <a:rPr lang="en-US" dirty="0">
                <a:effectLst>
                  <a:outerShdw blurRad="38100" dist="38100" dir="2700000" algn="tl">
                    <a:srgbClr val="000000">
                      <a:alpha val="43137"/>
                    </a:srgbClr>
                  </a:outerShdw>
                </a:effectLst>
              </a:rPr>
              <a:t>Why does profit maximisation occur where MC = MR </a:t>
            </a:r>
            <a:br>
              <a:rPr lang="en-US" dirty="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92500"/>
          </a:bodyPr>
          <a:lstStyle/>
          <a:p>
            <a:pPr marL="0" indent="0">
              <a:buNone/>
            </a:pPr>
            <a:r>
              <a:rPr lang="en-US" dirty="0" smtClean="0"/>
              <a:t>1</a:t>
            </a:r>
            <a:r>
              <a:rPr lang="en-US" dirty="0"/>
              <a:t>. Profit = revenue - cost </a:t>
            </a:r>
          </a:p>
          <a:p>
            <a:pPr marL="0" indent="0">
              <a:buNone/>
            </a:pPr>
            <a:r>
              <a:rPr lang="en-US" dirty="0"/>
              <a:t>2. As you sell more, profit will grow as long as the extra revenue obtained is greater than the extra cost incurred (extra revenue = MR, extra cost = MC). </a:t>
            </a:r>
          </a:p>
          <a:p>
            <a:pPr marL="0" indent="0">
              <a:buNone/>
            </a:pPr>
            <a:r>
              <a:rPr lang="en-US" dirty="0"/>
              <a:t>3. MR is constant or falls, and MC may fall initially but quickly rises. </a:t>
            </a:r>
          </a:p>
          <a:p>
            <a:pPr marL="0" indent="0">
              <a:buNone/>
            </a:pPr>
            <a:r>
              <a:rPr lang="en-US" dirty="0"/>
              <a:t>4. This means that they will soon cross if plotted on the same graph. </a:t>
            </a:r>
          </a:p>
          <a:p>
            <a:pPr marL="0" indent="0">
              <a:buNone/>
            </a:pPr>
            <a:r>
              <a:rPr lang="en-US" dirty="0"/>
              <a:t>5. Before they cross MR is greater than MC and each extra unit will increase total revenue. However, once they have crossed MC is greater than MR and then each unit will reduce total profit (as more is being added to cost than revenue). </a:t>
            </a:r>
          </a:p>
          <a:p>
            <a:pPr marL="0" indent="0">
              <a:buNone/>
            </a:pPr>
            <a:r>
              <a:rPr lang="en-US" dirty="0"/>
              <a:t>6. Therefore maximum profit is where MR and MC cross</a:t>
            </a:r>
            <a:r>
              <a:rPr lang="en-US" b="1" dirty="0"/>
              <a:t>. </a:t>
            </a:r>
            <a:endParaRPr lang="en-US" dirty="0"/>
          </a:p>
          <a:p>
            <a:endParaRPr lang="en-US" dirty="0"/>
          </a:p>
        </p:txBody>
      </p:sp>
    </p:spTree>
    <p:extLst>
      <p:ext uri="{BB962C8B-B14F-4D97-AF65-F5344CB8AC3E}">
        <p14:creationId xmlns:p14="http://schemas.microsoft.com/office/powerpoint/2010/main" val="3093489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effectLst>
                  <a:outerShdw blurRad="38100" dist="38100" dir="2700000" algn="tl">
                    <a:srgbClr val="000000">
                      <a:alpha val="43137"/>
                    </a:srgbClr>
                  </a:outerShdw>
                </a:effectLst>
              </a:rPr>
              <a:t>Profit maximization and the relationship between costs and revenue </a:t>
            </a:r>
            <a:br>
              <a:rPr lang="en-US" b="1" dirty="0">
                <a:effectLst>
                  <a:outerShdw blurRad="38100" dist="38100" dir="2700000" algn="tl">
                    <a:srgbClr val="000000">
                      <a:alpha val="43137"/>
                    </a:srgbClr>
                  </a:outerShdw>
                </a:effectLst>
              </a:rPr>
            </a:br>
            <a:endParaRPr lang="en-US" dirty="0"/>
          </a:p>
        </p:txBody>
      </p:sp>
      <p:pic>
        <p:nvPicPr>
          <p:cNvPr id="4" name="Content Placeholder 3"/>
          <p:cNvPicPr>
            <a:picLocks noGrp="1" noChangeAspect="1"/>
          </p:cNvPicPr>
          <p:nvPr>
            <p:ph idx="1"/>
          </p:nvPr>
        </p:nvPicPr>
        <p:blipFill>
          <a:blip r:embed="rId2"/>
          <a:stretch>
            <a:fillRect/>
          </a:stretch>
        </p:blipFill>
        <p:spPr>
          <a:xfrm>
            <a:off x="1822410" y="1834378"/>
            <a:ext cx="7073396" cy="4723175"/>
          </a:xfrm>
          <a:prstGeom prst="rect">
            <a:avLst/>
          </a:prstGeom>
        </p:spPr>
      </p:pic>
    </p:spTree>
    <p:extLst>
      <p:ext uri="{BB962C8B-B14F-4D97-AF65-F5344CB8AC3E}">
        <p14:creationId xmlns:p14="http://schemas.microsoft.com/office/powerpoint/2010/main" val="4398270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effectLst>
                  <a:outerShdw blurRad="38100" dist="38100" dir="2700000" algn="tl">
                    <a:srgbClr val="000000">
                      <a:alpha val="43137"/>
                    </a:srgbClr>
                  </a:outerShdw>
                </a:effectLst>
              </a:rPr>
              <a:t>Profit maximization and the relationship between costs and revenue </a:t>
            </a:r>
            <a:br>
              <a:rPr lang="en-US" b="1" dirty="0">
                <a:effectLst>
                  <a:outerShdw blurRad="38100" dist="38100" dir="2700000" algn="tl">
                    <a:srgbClr val="000000">
                      <a:alpha val="43137"/>
                    </a:srgbClr>
                  </a:outerShdw>
                </a:effectLst>
              </a:rPr>
            </a:br>
            <a:endParaRPr lang="en-US" dirty="0"/>
          </a:p>
        </p:txBody>
      </p:sp>
      <p:sp>
        <p:nvSpPr>
          <p:cNvPr id="3" name="Content Placeholder 2"/>
          <p:cNvSpPr>
            <a:spLocks noGrp="1"/>
          </p:cNvSpPr>
          <p:nvPr>
            <p:ph idx="1"/>
          </p:nvPr>
        </p:nvSpPr>
        <p:spPr/>
        <p:txBody>
          <a:bodyPr/>
          <a:lstStyle/>
          <a:p>
            <a:r>
              <a:rPr lang="en-US" dirty="0"/>
              <a:t>At A, Marginal Cost &lt; Marginal Revenue, then for each additional unit produced, revenue will be higher than the cost so that you will generate more. </a:t>
            </a:r>
          </a:p>
          <a:p>
            <a:r>
              <a:rPr lang="en-US" dirty="0"/>
              <a:t>At B, Marginal Cost &gt; Marginal Revenue, then for each extra unit produced, the cost will be higher than revenue so that you will create less. </a:t>
            </a:r>
          </a:p>
          <a:p>
            <a:r>
              <a:rPr lang="en-US" dirty="0"/>
              <a:t>Thus, optimal quantity produced should be at MC = MR Distinction between Short and Long-Term. </a:t>
            </a:r>
          </a:p>
        </p:txBody>
      </p:sp>
    </p:spTree>
    <p:extLst>
      <p:ext uri="{BB962C8B-B14F-4D97-AF65-F5344CB8AC3E}">
        <p14:creationId xmlns:p14="http://schemas.microsoft.com/office/powerpoint/2010/main" val="374324200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Example </a:t>
            </a:r>
            <a:br>
              <a:rPr lang="en-US"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James </a:t>
            </a:r>
            <a:r>
              <a:rPr lang="en-US" dirty="0"/>
              <a:t>owns a small, perfectly competitive, fast-food restaurant in downtown Kabwe. The market price of the </a:t>
            </a:r>
            <a:r>
              <a:rPr lang="en-US" dirty="0" smtClean="0"/>
              <a:t>food </a:t>
            </a:r>
            <a:r>
              <a:rPr lang="en-US" dirty="0"/>
              <a:t>is ZMW20. </a:t>
            </a:r>
            <a:r>
              <a:rPr lang="en-US" dirty="0" err="1"/>
              <a:t>James‟s</a:t>
            </a:r>
            <a:r>
              <a:rPr lang="en-US" dirty="0"/>
              <a:t> total cost is as follows: </a:t>
            </a:r>
          </a:p>
          <a:p>
            <a:r>
              <a:rPr lang="en-US" dirty="0"/>
              <a:t>TC = 1500 + </a:t>
            </a:r>
            <a:r>
              <a:rPr lang="en-US" dirty="0" smtClean="0"/>
              <a:t>0.0025Q^2 </a:t>
            </a:r>
            <a:endParaRPr lang="en-US" dirty="0"/>
          </a:p>
          <a:p>
            <a:r>
              <a:rPr lang="en-US" dirty="0"/>
              <a:t>Assume that the local government decides to impose a per-unit tax of ZMW2.50 Only on </a:t>
            </a:r>
            <a:r>
              <a:rPr lang="en-US" dirty="0" err="1"/>
              <a:t>James‟s</a:t>
            </a:r>
            <a:r>
              <a:rPr lang="en-US" dirty="0"/>
              <a:t> restaurant. </a:t>
            </a:r>
            <a:endParaRPr lang="en-US" dirty="0" smtClean="0"/>
          </a:p>
          <a:p>
            <a:r>
              <a:rPr lang="en-US" dirty="0" smtClean="0"/>
              <a:t>Find James’s </a:t>
            </a:r>
            <a:r>
              <a:rPr lang="en-US" dirty="0"/>
              <a:t>after-tax output and profit</a:t>
            </a:r>
            <a:r>
              <a:rPr lang="en-US" dirty="0" smtClean="0"/>
              <a:t>.</a:t>
            </a:r>
          </a:p>
          <a:p>
            <a:r>
              <a:rPr lang="en-US" dirty="0" smtClean="0"/>
              <a:t>Find James’ without tax output and profit</a:t>
            </a:r>
            <a:endParaRPr lang="en-US" dirty="0"/>
          </a:p>
        </p:txBody>
      </p:sp>
    </p:spTree>
    <p:extLst>
      <p:ext uri="{BB962C8B-B14F-4D97-AF65-F5344CB8AC3E}">
        <p14:creationId xmlns:p14="http://schemas.microsoft.com/office/powerpoint/2010/main" val="28083810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75846"/>
          </a:xfrm>
        </p:spPr>
        <p:txBody>
          <a:bodyPr>
            <a:normAutofit fontScale="90000"/>
          </a:bodyPr>
          <a:lstStyle/>
          <a:p>
            <a:r>
              <a:rPr lang="en-US" b="1" dirty="0">
                <a:effectLst>
                  <a:outerShdw blurRad="38100" dist="38100" dir="2700000" algn="tl">
                    <a:srgbClr val="000000">
                      <a:alpha val="43137"/>
                    </a:srgbClr>
                  </a:outerShdw>
                </a:effectLst>
              </a:rPr>
              <a:t>Solution </a:t>
            </a:r>
            <a:r>
              <a:rPr lang="en-US" dirty="0">
                <a:effectLst>
                  <a:outerShdw blurRad="38100" dist="38100" dir="2700000" algn="tl">
                    <a:srgbClr val="000000">
                      <a:alpha val="43137"/>
                    </a:srgbClr>
                  </a:outerShdw>
                </a:effectLst>
              </a:rPr>
              <a:t/>
            </a:r>
            <a:br>
              <a:rPr lang="en-US" dirty="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240971"/>
            <a:ext cx="10515600" cy="5512526"/>
          </a:xfrm>
        </p:spPr>
        <p:txBody>
          <a:bodyPr>
            <a:normAutofit fontScale="92500" lnSpcReduction="20000"/>
          </a:bodyPr>
          <a:lstStyle/>
          <a:p>
            <a:r>
              <a:rPr lang="en-US" dirty="0" smtClean="0"/>
              <a:t>The </a:t>
            </a:r>
            <a:r>
              <a:rPr lang="en-US" dirty="0"/>
              <a:t>total cost function and total revenue function </a:t>
            </a:r>
          </a:p>
          <a:p>
            <a:r>
              <a:rPr lang="en-US" dirty="0"/>
              <a:t>TC = 1500 + </a:t>
            </a:r>
            <a:r>
              <a:rPr lang="en-US" dirty="0" smtClean="0"/>
              <a:t>0.0025Q^2 </a:t>
            </a:r>
            <a:r>
              <a:rPr lang="en-US" dirty="0"/>
              <a:t>and TR = 20Q </a:t>
            </a:r>
          </a:p>
          <a:p>
            <a:r>
              <a:rPr lang="en-US" dirty="0"/>
              <a:t>The marginal cost function and marginal revenue function </a:t>
            </a:r>
          </a:p>
          <a:p>
            <a:r>
              <a:rPr lang="en-US" dirty="0"/>
              <a:t>MC = 0.005Q and MR = 20 </a:t>
            </a:r>
          </a:p>
          <a:p>
            <a:r>
              <a:rPr lang="en-US" dirty="0"/>
              <a:t>The after-tax total cost function: </a:t>
            </a:r>
          </a:p>
          <a:p>
            <a:r>
              <a:rPr lang="en-US" dirty="0"/>
              <a:t>TC = 1500 + </a:t>
            </a:r>
            <a:r>
              <a:rPr lang="en-US" dirty="0" smtClean="0"/>
              <a:t>0.0025Q^2 </a:t>
            </a:r>
            <a:r>
              <a:rPr lang="en-US" dirty="0"/>
              <a:t>+ 2.5Q </a:t>
            </a:r>
          </a:p>
          <a:p>
            <a:r>
              <a:rPr lang="en-US" dirty="0"/>
              <a:t>The after-tax marginal cost function: </a:t>
            </a:r>
          </a:p>
          <a:p>
            <a:r>
              <a:rPr lang="en-US" dirty="0"/>
              <a:t>MC = 0.005Q + 2.5 </a:t>
            </a:r>
          </a:p>
          <a:p>
            <a:r>
              <a:rPr lang="en-US" dirty="0"/>
              <a:t>Profit is maximized at the point where “</a:t>
            </a:r>
            <a:r>
              <a:rPr lang="en-US" b="1" dirty="0"/>
              <a:t>MR = MC</a:t>
            </a:r>
            <a:r>
              <a:rPr lang="en-US" dirty="0"/>
              <a:t>” </a:t>
            </a:r>
          </a:p>
          <a:p>
            <a:r>
              <a:rPr lang="en-US" dirty="0"/>
              <a:t>20 = 0.005Q + 2.5 </a:t>
            </a:r>
          </a:p>
          <a:p>
            <a:r>
              <a:rPr lang="en-US" dirty="0"/>
              <a:t>20 – 2.5 = 0.005Q </a:t>
            </a:r>
          </a:p>
          <a:p>
            <a:r>
              <a:rPr lang="en-US" dirty="0"/>
              <a:t>17.5 = 0.005Q </a:t>
            </a:r>
          </a:p>
          <a:p>
            <a:r>
              <a:rPr lang="en-US" dirty="0"/>
              <a:t>Q = 3,500 </a:t>
            </a:r>
          </a:p>
        </p:txBody>
      </p:sp>
    </p:spTree>
    <p:extLst>
      <p:ext uri="{BB962C8B-B14F-4D97-AF65-F5344CB8AC3E}">
        <p14:creationId xmlns:p14="http://schemas.microsoft.com/office/powerpoint/2010/main" val="11619380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Solution</a:t>
            </a:r>
            <a:endParaRPr lang="en-US" dirty="0"/>
          </a:p>
        </p:txBody>
      </p:sp>
      <p:sp>
        <p:nvSpPr>
          <p:cNvPr id="3" name="Content Placeholder 2"/>
          <p:cNvSpPr>
            <a:spLocks noGrp="1"/>
          </p:cNvSpPr>
          <p:nvPr>
            <p:ph idx="1"/>
          </p:nvPr>
        </p:nvSpPr>
        <p:spPr/>
        <p:txBody>
          <a:bodyPr/>
          <a:lstStyle/>
          <a:p>
            <a:r>
              <a:rPr lang="en-US" dirty="0"/>
              <a:t>Profit = TR – TC </a:t>
            </a:r>
          </a:p>
          <a:p>
            <a:r>
              <a:rPr lang="en-US" dirty="0"/>
              <a:t>TR = P × Q = 20 × 3,500 = </a:t>
            </a:r>
            <a:r>
              <a:rPr lang="en-US" b="1" dirty="0"/>
              <a:t>ZMW 70,000 </a:t>
            </a:r>
            <a:endParaRPr lang="en-US" dirty="0"/>
          </a:p>
          <a:p>
            <a:r>
              <a:rPr lang="pl-PL" dirty="0"/>
              <a:t>TC = 1500 + 0.0025(3500</a:t>
            </a:r>
            <a:r>
              <a:rPr lang="pl-PL" dirty="0" smtClean="0"/>
              <a:t>)</a:t>
            </a:r>
            <a:r>
              <a:rPr lang="en-US" dirty="0" smtClean="0"/>
              <a:t>^</a:t>
            </a:r>
            <a:r>
              <a:rPr lang="pl-PL" dirty="0" smtClean="0"/>
              <a:t>2 </a:t>
            </a:r>
            <a:r>
              <a:rPr lang="pl-PL" dirty="0"/>
              <a:t>+ 2.5(3500) = 1500 + 30625 + 8750 = </a:t>
            </a:r>
            <a:r>
              <a:rPr lang="pl-PL" b="1" dirty="0"/>
              <a:t>ZMW 40,875 </a:t>
            </a:r>
            <a:endParaRPr lang="pl-PL" dirty="0"/>
          </a:p>
          <a:p>
            <a:r>
              <a:rPr lang="fr-FR" dirty="0"/>
              <a:t>Profit = TR – TC = 70,000 – 40,875 = </a:t>
            </a:r>
            <a:r>
              <a:rPr lang="fr-FR" b="1" dirty="0"/>
              <a:t>ZMW 29,125 </a:t>
            </a:r>
            <a:endParaRPr lang="en-US" dirty="0"/>
          </a:p>
        </p:txBody>
      </p:sp>
    </p:spTree>
    <p:extLst>
      <p:ext uri="{BB962C8B-B14F-4D97-AF65-F5344CB8AC3E}">
        <p14:creationId xmlns:p14="http://schemas.microsoft.com/office/powerpoint/2010/main" val="23636149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Find </a:t>
            </a:r>
            <a:r>
              <a:rPr lang="en-US" b="1" dirty="0" err="1">
                <a:effectLst>
                  <a:outerShdw blurRad="38100" dist="38100" dir="2700000" algn="tl">
                    <a:srgbClr val="000000">
                      <a:alpha val="43137"/>
                    </a:srgbClr>
                  </a:outerShdw>
                </a:effectLst>
              </a:rPr>
              <a:t>James‟s</a:t>
            </a:r>
            <a:r>
              <a:rPr lang="en-US" b="1" dirty="0">
                <a:effectLst>
                  <a:outerShdw blurRad="38100" dist="38100" dir="2700000" algn="tl">
                    <a:srgbClr val="000000">
                      <a:alpha val="43137"/>
                    </a:srgbClr>
                  </a:outerShdw>
                </a:effectLst>
              </a:rPr>
              <a:t> output and profit without tax. </a:t>
            </a:r>
            <a:br>
              <a:rPr lang="en-US"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293223"/>
            <a:ext cx="10515600" cy="4883740"/>
          </a:xfrm>
        </p:spPr>
        <p:txBody>
          <a:bodyPr>
            <a:normAutofit fontScale="85000" lnSpcReduction="20000"/>
          </a:bodyPr>
          <a:lstStyle/>
          <a:p>
            <a:r>
              <a:rPr lang="en-US" dirty="0" smtClean="0"/>
              <a:t>TC </a:t>
            </a:r>
            <a:r>
              <a:rPr lang="en-US" dirty="0"/>
              <a:t>= 1500 + </a:t>
            </a:r>
            <a:r>
              <a:rPr lang="en-US" dirty="0" smtClean="0"/>
              <a:t>0.0025Q^2 </a:t>
            </a:r>
            <a:endParaRPr lang="en-US" dirty="0"/>
          </a:p>
          <a:p>
            <a:r>
              <a:rPr lang="en-US" dirty="0"/>
              <a:t>Price (P) = 20 </a:t>
            </a:r>
          </a:p>
          <a:p>
            <a:r>
              <a:rPr lang="en-US" dirty="0"/>
              <a:t>Mc = 0.005Q </a:t>
            </a:r>
          </a:p>
          <a:p>
            <a:r>
              <a:rPr lang="en-US" dirty="0"/>
              <a:t>TR = PQ = 20Q </a:t>
            </a:r>
          </a:p>
          <a:p>
            <a:r>
              <a:rPr lang="en-US" dirty="0"/>
              <a:t>MR = 20 </a:t>
            </a:r>
          </a:p>
          <a:p>
            <a:r>
              <a:rPr lang="en-US" dirty="0"/>
              <a:t>MC = MR </a:t>
            </a:r>
          </a:p>
          <a:p>
            <a:r>
              <a:rPr lang="en-US" dirty="0"/>
              <a:t>0.005Q = 20 </a:t>
            </a:r>
          </a:p>
          <a:p>
            <a:r>
              <a:rPr lang="en-US" dirty="0"/>
              <a:t>Q = 200.005 = 4000 </a:t>
            </a:r>
          </a:p>
          <a:p>
            <a:r>
              <a:rPr lang="en-US" dirty="0"/>
              <a:t>Profit = TR –TC </a:t>
            </a:r>
          </a:p>
          <a:p>
            <a:r>
              <a:rPr lang="en-US" dirty="0"/>
              <a:t>Profit = PQ – (1500 +</a:t>
            </a:r>
            <a:r>
              <a:rPr lang="en-US" dirty="0" smtClean="0"/>
              <a:t>0.0025Q^2</a:t>
            </a:r>
            <a:r>
              <a:rPr lang="en-US" dirty="0"/>
              <a:t>) </a:t>
            </a:r>
          </a:p>
          <a:p>
            <a:r>
              <a:rPr lang="fr-FR" dirty="0"/>
              <a:t>Profit = (20 x 4000) – (1500 +0.0025(4000</a:t>
            </a:r>
            <a:r>
              <a:rPr lang="fr-FR" dirty="0" smtClean="0"/>
              <a:t>)^2 </a:t>
            </a:r>
            <a:endParaRPr lang="fr-FR" dirty="0"/>
          </a:p>
          <a:p>
            <a:r>
              <a:rPr lang="fr-FR" dirty="0"/>
              <a:t>Profit = 80,000 – 41500 = </a:t>
            </a:r>
            <a:r>
              <a:rPr lang="fr-FR" b="1" dirty="0"/>
              <a:t>38, 500 </a:t>
            </a:r>
            <a:endParaRPr lang="en-US" b="1" dirty="0"/>
          </a:p>
        </p:txBody>
      </p:sp>
    </p:spTree>
    <p:extLst>
      <p:ext uri="{BB962C8B-B14F-4D97-AF65-F5344CB8AC3E}">
        <p14:creationId xmlns:p14="http://schemas.microsoft.com/office/powerpoint/2010/main" val="147222835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effectLst>
                  <a:outerShdw blurRad="38100" dist="38100" dir="2700000" algn="tl">
                    <a:srgbClr val="000000">
                      <a:alpha val="43137"/>
                    </a:srgbClr>
                  </a:outerShdw>
                </a:effectLst>
              </a:rPr>
              <a:t>Market structures: perfect competition and </a:t>
            </a:r>
            <a:r>
              <a:rPr lang="en-US" b="1" dirty="0" smtClean="0">
                <a:effectLst>
                  <a:outerShdw blurRad="38100" dist="38100" dir="2700000" algn="tl">
                    <a:srgbClr val="000000">
                      <a:alpha val="43137"/>
                    </a:srgbClr>
                  </a:outerShdw>
                </a:effectLst>
              </a:rPr>
              <a:t>monopoly</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pPr marL="0" indent="0">
              <a:buNone/>
            </a:pPr>
            <a:r>
              <a:rPr lang="en-US" b="1" dirty="0" smtClean="0">
                <a:effectLst>
                  <a:outerShdw blurRad="38100" dist="38100" dir="2700000" algn="tl">
                    <a:srgbClr val="000000">
                      <a:alpha val="43137"/>
                    </a:srgbClr>
                  </a:outerShdw>
                </a:effectLst>
              </a:rPr>
              <a:t>FEATURES </a:t>
            </a:r>
            <a:r>
              <a:rPr lang="en-US" b="1" dirty="0">
                <a:effectLst>
                  <a:outerShdw blurRad="38100" dist="38100" dir="2700000" algn="tl">
                    <a:srgbClr val="000000">
                      <a:alpha val="43137"/>
                    </a:srgbClr>
                  </a:outerShdw>
                </a:effectLst>
              </a:rPr>
              <a:t>OF PERFECT COMPETITION MARKET </a:t>
            </a:r>
            <a:endParaRPr lang="en-US" b="1" dirty="0" smtClean="0">
              <a:effectLst>
                <a:outerShdw blurRad="38100" dist="38100" dir="2700000" algn="tl">
                  <a:srgbClr val="000000">
                    <a:alpha val="43137"/>
                  </a:srgbClr>
                </a:outerShdw>
              </a:effectLst>
            </a:endParaRPr>
          </a:p>
          <a:p>
            <a:r>
              <a:rPr lang="en-US" b="1" dirty="0" smtClean="0"/>
              <a:t>Large </a:t>
            </a:r>
            <a:r>
              <a:rPr lang="en-US" b="1" dirty="0"/>
              <a:t>Number of Buyers and Sellers: </a:t>
            </a:r>
            <a:endParaRPr lang="en-US" b="1" dirty="0" smtClean="0"/>
          </a:p>
          <a:p>
            <a:r>
              <a:rPr lang="en-US" b="1" dirty="0"/>
              <a:t>Homogeneous Product and Uniform Price: </a:t>
            </a:r>
            <a:endParaRPr lang="en-US" b="1" dirty="0" smtClean="0"/>
          </a:p>
          <a:p>
            <a:r>
              <a:rPr lang="en-US" b="1" dirty="0"/>
              <a:t>Perfect knowledge about market conditions </a:t>
            </a:r>
            <a:endParaRPr lang="en-US" b="1" dirty="0" smtClean="0"/>
          </a:p>
          <a:p>
            <a:r>
              <a:rPr lang="en-US" b="1" dirty="0"/>
              <a:t>Free entry and Free exit : </a:t>
            </a:r>
            <a:endParaRPr lang="en-US" b="1" dirty="0" smtClean="0"/>
          </a:p>
          <a:p>
            <a:r>
              <a:rPr lang="en-US" b="1" dirty="0"/>
              <a:t>Perfect mobility of factors of production: </a:t>
            </a:r>
            <a:endParaRPr lang="en-US" b="1" dirty="0" smtClean="0"/>
          </a:p>
          <a:p>
            <a:r>
              <a:rPr lang="en-US" b="1" dirty="0"/>
              <a:t>Absence of transport cost: </a:t>
            </a:r>
            <a:endParaRPr lang="en-US" b="1" dirty="0" smtClean="0"/>
          </a:p>
          <a:p>
            <a:r>
              <a:rPr lang="en-US" b="1" dirty="0"/>
              <a:t>Absence of Government intervention: </a:t>
            </a:r>
            <a:endParaRPr lang="en-US" dirty="0"/>
          </a:p>
        </p:txBody>
      </p:sp>
    </p:spTree>
    <p:extLst>
      <p:ext uri="{BB962C8B-B14F-4D97-AF65-F5344CB8AC3E}">
        <p14:creationId xmlns:p14="http://schemas.microsoft.com/office/powerpoint/2010/main" val="26768701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MONOPOLY </a:t>
            </a:r>
            <a:endParaRPr lang="en-US" dirty="0"/>
          </a:p>
        </p:txBody>
      </p:sp>
      <p:sp>
        <p:nvSpPr>
          <p:cNvPr id="3" name="Content Placeholder 2"/>
          <p:cNvSpPr>
            <a:spLocks noGrp="1"/>
          </p:cNvSpPr>
          <p:nvPr>
            <p:ph idx="1"/>
          </p:nvPr>
        </p:nvSpPr>
        <p:spPr/>
        <p:txBody>
          <a:bodyPr/>
          <a:lstStyle/>
          <a:p>
            <a:r>
              <a:rPr lang="en-US" dirty="0" smtClean="0"/>
              <a:t>Monopoly </a:t>
            </a:r>
            <a:r>
              <a:rPr lang="en-US" dirty="0"/>
              <a:t>is a market structure characterized by a single seller, selling the unique product with the restriction for a new firm to enter the market </a:t>
            </a:r>
            <a:endParaRPr lang="en-US" dirty="0" smtClean="0"/>
          </a:p>
          <a:p>
            <a:pPr marL="0" indent="0">
              <a:buNone/>
            </a:pPr>
            <a:r>
              <a:rPr lang="en-US" b="1" dirty="0"/>
              <a:t>FEATURES OF MONOPOLY MARKET </a:t>
            </a:r>
            <a:endParaRPr lang="en-US" b="1" dirty="0" smtClean="0"/>
          </a:p>
          <a:p>
            <a:r>
              <a:rPr lang="en-US" b="1" dirty="0"/>
              <a:t>Single Seller: </a:t>
            </a:r>
            <a:endParaRPr lang="en-US" b="1" dirty="0" smtClean="0"/>
          </a:p>
          <a:p>
            <a:r>
              <a:rPr lang="en-US" b="1" dirty="0" smtClean="0"/>
              <a:t>No </a:t>
            </a:r>
            <a:r>
              <a:rPr lang="en-US" b="1" dirty="0"/>
              <a:t>close Substitutes: </a:t>
            </a:r>
            <a:endParaRPr lang="en-US" b="1" dirty="0" smtClean="0"/>
          </a:p>
          <a:p>
            <a:r>
              <a:rPr lang="en-US" b="1" dirty="0"/>
              <a:t>Price: </a:t>
            </a:r>
            <a:endParaRPr lang="en-US" b="1" dirty="0" smtClean="0"/>
          </a:p>
          <a:p>
            <a:r>
              <a:rPr lang="en-US" b="1" dirty="0"/>
              <a:t>N o Entry: </a:t>
            </a:r>
            <a:endParaRPr lang="en-US" b="1" dirty="0" smtClean="0"/>
          </a:p>
          <a:p>
            <a:r>
              <a:rPr lang="en-US" b="1" dirty="0"/>
              <a:t>Firm and Industry: </a:t>
            </a:r>
            <a:endParaRPr lang="en-US" dirty="0"/>
          </a:p>
        </p:txBody>
      </p:sp>
    </p:spTree>
    <p:extLst>
      <p:ext uri="{BB962C8B-B14F-4D97-AF65-F5344CB8AC3E}">
        <p14:creationId xmlns:p14="http://schemas.microsoft.com/office/powerpoint/2010/main" val="17169983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effectLst>
                  <a:outerShdw blurRad="38100" dist="38100" dir="2700000" algn="tl">
                    <a:srgbClr val="000000">
                      <a:alpha val="43137"/>
                    </a:srgbClr>
                  </a:outerShdw>
                </a:effectLst>
              </a:rPr>
              <a:t>Market structures: perfect competition and monopoly </a:t>
            </a:r>
            <a:br>
              <a:rPr lang="en-US"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31521" y="1345474"/>
            <a:ext cx="9966960" cy="5042263"/>
          </a:xfrm>
        </p:spPr>
      </p:pic>
    </p:spTree>
    <p:extLst>
      <p:ext uri="{BB962C8B-B14F-4D97-AF65-F5344CB8AC3E}">
        <p14:creationId xmlns:p14="http://schemas.microsoft.com/office/powerpoint/2010/main" val="93658914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Market structures: perfect competition and monopoly</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75657" y="1690688"/>
            <a:ext cx="10450286" cy="4814615"/>
          </a:xfrm>
        </p:spPr>
      </p:pic>
    </p:spTree>
    <p:extLst>
      <p:ext uri="{BB962C8B-B14F-4D97-AF65-F5344CB8AC3E}">
        <p14:creationId xmlns:p14="http://schemas.microsoft.com/office/powerpoint/2010/main" val="9086853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Market structures: perfect competition and monopoly</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93669" y="1690688"/>
            <a:ext cx="8347166" cy="5062809"/>
          </a:xfrm>
        </p:spPr>
      </p:pic>
    </p:spTree>
    <p:extLst>
      <p:ext uri="{BB962C8B-B14F-4D97-AF65-F5344CB8AC3E}">
        <p14:creationId xmlns:p14="http://schemas.microsoft.com/office/powerpoint/2010/main" val="366093267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Market structures: perfect competition and monopoly</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75657" y="1690688"/>
            <a:ext cx="9993086" cy="5023621"/>
          </a:xfrm>
        </p:spPr>
      </p:pic>
    </p:spTree>
    <p:extLst>
      <p:ext uri="{BB962C8B-B14F-4D97-AF65-F5344CB8AC3E}">
        <p14:creationId xmlns:p14="http://schemas.microsoft.com/office/powerpoint/2010/main" val="363949432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Market structures: perfect competition and monopoly</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67097" y="1690688"/>
            <a:ext cx="10489474" cy="5062809"/>
          </a:xfrm>
        </p:spPr>
      </p:pic>
    </p:spTree>
    <p:extLst>
      <p:ext uri="{BB962C8B-B14F-4D97-AF65-F5344CB8AC3E}">
        <p14:creationId xmlns:p14="http://schemas.microsoft.com/office/powerpoint/2010/main" val="306745608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Market structures: perfect competition and monopoly</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71153" y="1894115"/>
            <a:ext cx="10411097" cy="4663440"/>
          </a:xfrm>
        </p:spPr>
      </p:pic>
    </p:spTree>
    <p:extLst>
      <p:ext uri="{BB962C8B-B14F-4D97-AF65-F5344CB8AC3E}">
        <p14:creationId xmlns:p14="http://schemas.microsoft.com/office/powerpoint/2010/main" val="241585501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effectLst>
                  <a:outerShdw blurRad="38100" dist="38100" dir="2700000" algn="tl">
                    <a:srgbClr val="000000">
                      <a:alpha val="43137"/>
                    </a:srgbClr>
                  </a:outerShdw>
                </a:effectLst>
              </a:rPr>
              <a:t>Pricing strategies and the impact of market power </a:t>
            </a:r>
            <a:br>
              <a:rPr lang="en-US" dirty="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pPr marL="0" indent="0">
              <a:buNone/>
            </a:pPr>
            <a:endParaRPr lang="en-US" dirty="0"/>
          </a:p>
          <a:p>
            <a:endParaRPr lang="en-US" dirty="0"/>
          </a:p>
          <a:p>
            <a:endParaRPr lang="en-US" dirty="0"/>
          </a:p>
        </p:txBody>
      </p:sp>
      <p:sp>
        <p:nvSpPr>
          <p:cNvPr id="4" name="Rectangle 3"/>
          <p:cNvSpPr/>
          <p:nvPr/>
        </p:nvSpPr>
        <p:spPr>
          <a:xfrm>
            <a:off x="1097279" y="1375649"/>
            <a:ext cx="9888583" cy="3970318"/>
          </a:xfrm>
          <a:prstGeom prst="rect">
            <a:avLst/>
          </a:prstGeom>
        </p:spPr>
        <p:txBody>
          <a:bodyPr wrap="square">
            <a:spAutoFit/>
          </a:bodyPr>
          <a:lstStyle/>
          <a:p>
            <a:pPr marR="0" algn="just"/>
            <a:r>
              <a:rPr lang="en-US" b="1" dirty="0">
                <a:solidFill>
                  <a:srgbClr val="000000"/>
                </a:solidFill>
                <a:latin typeface="Times New Roman" panose="02020603050405020304" pitchFamily="18" charset="0"/>
              </a:rPr>
              <a:t>PRICE DISCRIMINATION UNDER MONOPOLY </a:t>
            </a:r>
            <a:endParaRPr lang="en-US" dirty="0">
              <a:solidFill>
                <a:srgbClr val="000000"/>
              </a:solidFill>
              <a:latin typeface="Times New Roman" panose="02020603050405020304" pitchFamily="18" charset="0"/>
            </a:endParaRPr>
          </a:p>
          <a:p>
            <a:pPr marR="0" algn="just"/>
            <a:r>
              <a:rPr lang="en-US" dirty="0">
                <a:solidFill>
                  <a:srgbClr val="000000"/>
                </a:solidFill>
                <a:latin typeface="Times New Roman" panose="02020603050405020304" pitchFamily="18" charset="0"/>
              </a:rPr>
              <a:t>This is called price discrimination practiced by the monopolist. Under this, the monopolist will charge different prices from different class of customers. The idea is to get from each customer whatever profits could be squeezed out of him depending on his purse and intensity of demand. </a:t>
            </a:r>
          </a:p>
          <a:p>
            <a:pPr marR="0" algn="just"/>
            <a:r>
              <a:rPr lang="en-US" b="1" dirty="0">
                <a:solidFill>
                  <a:srgbClr val="000000"/>
                </a:solidFill>
                <a:latin typeface="Times New Roman" panose="02020603050405020304" pitchFamily="18" charset="0"/>
              </a:rPr>
              <a:t>Types of Price Discrimination </a:t>
            </a:r>
            <a:endParaRPr lang="en-US" dirty="0">
              <a:solidFill>
                <a:srgbClr val="000000"/>
              </a:solidFill>
              <a:latin typeface="Times New Roman" panose="02020603050405020304" pitchFamily="18" charset="0"/>
            </a:endParaRPr>
          </a:p>
          <a:p>
            <a:pPr marR="0" algn="just"/>
            <a:r>
              <a:rPr lang="en-US" b="1" dirty="0">
                <a:solidFill>
                  <a:srgbClr val="000000"/>
                </a:solidFill>
                <a:latin typeface="Times New Roman" panose="02020603050405020304" pitchFamily="18" charset="0"/>
              </a:rPr>
              <a:t>1. Personal Discrimination: </a:t>
            </a:r>
            <a:r>
              <a:rPr lang="en-US" dirty="0">
                <a:solidFill>
                  <a:srgbClr val="000000"/>
                </a:solidFill>
                <a:latin typeface="Times New Roman" panose="02020603050405020304" pitchFamily="18" charset="0"/>
              </a:rPr>
              <a:t>The monopolist will charge different prices from different customers on the basis of their ability to pay. Rich customers will be asked to pay more and poor customers to pay less. This is possible in specialized services of doctors and lawyers. </a:t>
            </a:r>
          </a:p>
          <a:p>
            <a:pPr marR="0" algn="just"/>
            <a:r>
              <a:rPr lang="en-US" b="1" dirty="0">
                <a:solidFill>
                  <a:srgbClr val="000000"/>
                </a:solidFill>
                <a:latin typeface="Times New Roman" panose="02020603050405020304" pitchFamily="18" charset="0"/>
              </a:rPr>
              <a:t>2. Place Discrimination: </a:t>
            </a:r>
            <a:r>
              <a:rPr lang="en-US" dirty="0">
                <a:solidFill>
                  <a:srgbClr val="000000"/>
                </a:solidFill>
                <a:latin typeface="Times New Roman" panose="02020603050405020304" pitchFamily="18" charset="0"/>
              </a:rPr>
              <a:t>It is adopted by the monopolist having markets in different places for the same commodity. The locality in which the market is situated will be the criterion in fixing up the price. </a:t>
            </a:r>
          </a:p>
          <a:p>
            <a:pPr marR="0" algn="just"/>
            <a:r>
              <a:rPr lang="en-US" b="1" dirty="0">
                <a:solidFill>
                  <a:srgbClr val="000000"/>
                </a:solidFill>
                <a:latin typeface="Times New Roman" panose="02020603050405020304" pitchFamily="18" charset="0"/>
              </a:rPr>
              <a:t>3. Trade discrimination: </a:t>
            </a:r>
            <a:r>
              <a:rPr lang="en-US" dirty="0">
                <a:solidFill>
                  <a:srgbClr val="000000"/>
                </a:solidFill>
                <a:latin typeface="Times New Roman" panose="02020603050405020304" pitchFamily="18" charset="0"/>
              </a:rPr>
              <a:t>It can also be called </a:t>
            </a:r>
            <a:r>
              <a:rPr lang="en-US" b="1" i="1" dirty="0">
                <a:solidFill>
                  <a:srgbClr val="000000"/>
                </a:solidFill>
                <a:latin typeface="Times New Roman" panose="02020603050405020304" pitchFamily="18" charset="0"/>
              </a:rPr>
              <a:t>use discrimination</a:t>
            </a:r>
            <a:r>
              <a:rPr lang="en-US" dirty="0">
                <a:solidFill>
                  <a:srgbClr val="000000"/>
                </a:solidFill>
                <a:latin typeface="Times New Roman" panose="02020603050405020304" pitchFamily="18" charset="0"/>
              </a:rPr>
              <a:t>. By this, the monopolist will charge different prices for different types of uses of the same commodity. For example, electricity will be sold at a cheaper rate for industrial establishment, while it will be charged at a higher rate for domestic consumption </a:t>
            </a:r>
            <a:endParaRPr lang="en-US" dirty="0"/>
          </a:p>
        </p:txBody>
      </p:sp>
    </p:spTree>
    <p:extLst>
      <p:ext uri="{BB962C8B-B14F-4D97-AF65-F5344CB8AC3E}">
        <p14:creationId xmlns:p14="http://schemas.microsoft.com/office/powerpoint/2010/main" val="98885757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effectLst>
                  <a:outerShdw blurRad="38100" dist="38100" dir="2700000" algn="tl">
                    <a:srgbClr val="000000">
                      <a:alpha val="43137"/>
                    </a:srgbClr>
                  </a:outerShdw>
                </a:effectLst>
              </a:rPr>
              <a:t>Pricing strategies and the impact of market power </a:t>
            </a:r>
            <a:br>
              <a:rPr lang="en-US" dirty="0">
                <a:effectLst>
                  <a:outerShdw blurRad="38100" dist="38100" dir="2700000" algn="tl">
                    <a:srgbClr val="000000">
                      <a:alpha val="43137"/>
                    </a:srgbClr>
                  </a:outerShdw>
                </a:effectLst>
              </a:rPr>
            </a:br>
            <a:endParaRPr lang="en-US" dirty="0"/>
          </a:p>
        </p:txBody>
      </p:sp>
      <p:sp>
        <p:nvSpPr>
          <p:cNvPr id="3" name="Content Placeholder 2"/>
          <p:cNvSpPr>
            <a:spLocks noGrp="1"/>
          </p:cNvSpPr>
          <p:nvPr>
            <p:ph idx="1"/>
          </p:nvPr>
        </p:nvSpPr>
        <p:spPr/>
        <p:txBody>
          <a:bodyPr/>
          <a:lstStyle/>
          <a:p>
            <a:r>
              <a:rPr lang="en-GB" dirty="0" smtClean="0"/>
              <a:t>In Perfect Competition Market: Strategy </a:t>
            </a:r>
            <a:r>
              <a:rPr lang="en-GB" dirty="0"/>
              <a:t>Firms are price-takers, meaning they have no control over the market </a:t>
            </a:r>
            <a:r>
              <a:rPr lang="en-GB" dirty="0" smtClean="0"/>
              <a:t>price</a:t>
            </a:r>
          </a:p>
          <a:p>
            <a:r>
              <a:rPr lang="en-GB" dirty="0"/>
              <a:t>Price Determination: Price is determined by the intersection of the market demand and supply </a:t>
            </a:r>
            <a:r>
              <a:rPr lang="en-GB" dirty="0" smtClean="0"/>
              <a:t>curves</a:t>
            </a:r>
          </a:p>
          <a:p>
            <a:r>
              <a:rPr lang="en-GB" dirty="0"/>
              <a:t>Price Determination: Price is determined by the monopolist's profit-maximizing output level</a:t>
            </a:r>
            <a:endParaRPr lang="en-US" dirty="0"/>
          </a:p>
          <a:p>
            <a:r>
              <a:rPr lang="en-GB" dirty="0"/>
              <a:t>Strategy: Monopolist can set the price, but is limited by the demand curve</a:t>
            </a:r>
            <a:endParaRPr lang="en-US" dirty="0"/>
          </a:p>
          <a:p>
            <a:endParaRPr lang="en-US" dirty="0"/>
          </a:p>
          <a:p>
            <a:endParaRPr lang="en-US" dirty="0"/>
          </a:p>
        </p:txBody>
      </p:sp>
    </p:spTree>
    <p:extLst>
      <p:ext uri="{BB962C8B-B14F-4D97-AF65-F5344CB8AC3E}">
        <p14:creationId xmlns:p14="http://schemas.microsoft.com/office/powerpoint/2010/main" val="162057037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effectLst>
                  <a:outerShdw blurRad="38100" dist="38100" dir="2700000" algn="tl">
                    <a:srgbClr val="000000">
                      <a:alpha val="43137"/>
                    </a:srgbClr>
                  </a:outerShdw>
                </a:effectLst>
              </a:rPr>
              <a:t>Profit and revenue in different market structures </a:t>
            </a:r>
            <a:br>
              <a:rPr lang="en-US"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pic>
        <p:nvPicPr>
          <p:cNvPr id="4" name="Content Placeholder 3"/>
          <p:cNvPicPr>
            <a:picLocks noGrp="1" noChangeAspect="1"/>
          </p:cNvPicPr>
          <p:nvPr>
            <p:ph idx="1"/>
          </p:nvPr>
        </p:nvPicPr>
        <p:blipFill>
          <a:blip r:embed="rId2"/>
          <a:stretch>
            <a:fillRect/>
          </a:stretch>
        </p:blipFill>
        <p:spPr>
          <a:xfrm>
            <a:off x="1254417" y="2053759"/>
            <a:ext cx="7746275" cy="4252912"/>
          </a:xfrm>
          <a:prstGeom prst="rect">
            <a:avLst/>
          </a:prstGeom>
        </p:spPr>
      </p:pic>
      <p:sp>
        <p:nvSpPr>
          <p:cNvPr id="5" name="Rectangle 4"/>
          <p:cNvSpPr/>
          <p:nvPr/>
        </p:nvSpPr>
        <p:spPr>
          <a:xfrm>
            <a:off x="838200" y="1090523"/>
            <a:ext cx="6096000" cy="1200329"/>
          </a:xfrm>
          <a:prstGeom prst="rect">
            <a:avLst/>
          </a:prstGeom>
        </p:spPr>
        <p:txBody>
          <a:bodyPr>
            <a:spAutoFit/>
          </a:bodyPr>
          <a:lstStyle/>
          <a:p>
            <a:pPr marR="0" algn="just"/>
            <a:r>
              <a:rPr lang="en-US" b="1" dirty="0">
                <a:solidFill>
                  <a:srgbClr val="000000"/>
                </a:solidFill>
                <a:latin typeface="Times New Roman" panose="02020603050405020304" pitchFamily="18" charset="0"/>
              </a:rPr>
              <a:t>SUPER-NORMAL PROFIT </a:t>
            </a:r>
            <a:endParaRPr lang="en-US" dirty="0">
              <a:solidFill>
                <a:srgbClr val="000000"/>
              </a:solidFill>
              <a:latin typeface="Times New Roman" panose="02020603050405020304" pitchFamily="18" charset="0"/>
            </a:endParaRPr>
          </a:p>
          <a:p>
            <a:pPr marR="0" algn="just"/>
            <a:r>
              <a:rPr lang="en-US" dirty="0">
                <a:solidFill>
                  <a:srgbClr val="000000"/>
                </a:solidFill>
                <a:latin typeface="Times New Roman" panose="02020603050405020304" pitchFamily="18" charset="0"/>
              </a:rPr>
              <a:t>When the average revenue of the firm is greater than its average cost, the firm is earning super-normal profit. </a:t>
            </a:r>
          </a:p>
          <a:p>
            <a:pPr marR="0" algn="just"/>
            <a:r>
              <a:rPr lang="en-US" dirty="0">
                <a:solidFill>
                  <a:srgbClr val="000000"/>
                </a:solidFill>
                <a:latin typeface="Times New Roman" panose="02020603050405020304" pitchFamily="18" charset="0"/>
              </a:rPr>
              <a:t>In </a:t>
            </a:r>
            <a:endParaRPr lang="en-US" dirty="0"/>
          </a:p>
        </p:txBody>
      </p:sp>
    </p:spTree>
    <p:extLst>
      <p:ext uri="{BB962C8B-B14F-4D97-AF65-F5344CB8AC3E}">
        <p14:creationId xmlns:p14="http://schemas.microsoft.com/office/powerpoint/2010/main" val="143505892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effectLst>
                  <a:outerShdw blurRad="38100" dist="38100" dir="2700000" algn="tl">
                    <a:srgbClr val="000000">
                      <a:alpha val="43137"/>
                    </a:srgbClr>
                  </a:outerShdw>
                </a:effectLst>
              </a:rPr>
              <a:t>Profit and revenue in different market structures </a:t>
            </a:r>
            <a:br>
              <a:rPr lang="en-US" b="1" dirty="0">
                <a:effectLst>
                  <a:outerShdw blurRad="38100" dist="38100" dir="2700000" algn="tl">
                    <a:srgbClr val="000000">
                      <a:alpha val="43137"/>
                    </a:srgbClr>
                  </a:outerShdw>
                </a:effectLst>
              </a:rPr>
            </a:br>
            <a:endParaRPr lang="en-US" dirty="0"/>
          </a:p>
        </p:txBody>
      </p:sp>
      <p:sp>
        <p:nvSpPr>
          <p:cNvPr id="3" name="Content Placeholder 2"/>
          <p:cNvSpPr>
            <a:spLocks noGrp="1"/>
          </p:cNvSpPr>
          <p:nvPr>
            <p:ph idx="1"/>
          </p:nvPr>
        </p:nvSpPr>
        <p:spPr>
          <a:xfrm>
            <a:off x="838200" y="1306286"/>
            <a:ext cx="10515600" cy="5290457"/>
          </a:xfrm>
        </p:spPr>
        <p:txBody>
          <a:bodyPr>
            <a:normAutofit lnSpcReduction="10000"/>
          </a:bodyPr>
          <a:lstStyle/>
          <a:p>
            <a:r>
              <a:rPr lang="en-US" dirty="0"/>
              <a:t>In above figure, output is measured along the x-axis and price, revenue and cost along the y-axis. </a:t>
            </a:r>
            <a:endParaRPr lang="en-US" dirty="0" smtClean="0"/>
          </a:p>
          <a:p>
            <a:r>
              <a:rPr lang="en-US" dirty="0" smtClean="0"/>
              <a:t>OP </a:t>
            </a:r>
            <a:r>
              <a:rPr lang="en-US" dirty="0"/>
              <a:t>is the prevailing price in the market. PL is the demand curve or average and the marginal revenue curve. SAC and SMC are the short run average and marginal cost curves. </a:t>
            </a:r>
            <a:endParaRPr lang="en-US" dirty="0" smtClean="0"/>
          </a:p>
          <a:p>
            <a:r>
              <a:rPr lang="en-US" dirty="0" smtClean="0"/>
              <a:t>The </a:t>
            </a:r>
            <a:r>
              <a:rPr lang="en-US" dirty="0"/>
              <a:t>firm is in equilibrium at point ‘E’ where MR = MC and MC curve cuts MR curve from below at the point of equilibrium. Therefore the firm will be producing OM level of output. At the OM level of output ME is the AR and MF is the average cost. </a:t>
            </a:r>
            <a:endParaRPr lang="en-US" dirty="0" smtClean="0"/>
          </a:p>
          <a:p>
            <a:r>
              <a:rPr lang="en-US" dirty="0" smtClean="0"/>
              <a:t>The </a:t>
            </a:r>
            <a:r>
              <a:rPr lang="en-US" dirty="0"/>
              <a:t>profit per unit of output is EF (the difference between ME and MF). The total profits earned by the firm will be equal to EF (profit per unit) multiplied by OM or HF (total output). Thus the total profits will be equal to the area HFEP. HFEP is the supernormal profits earned by the firm </a:t>
            </a:r>
          </a:p>
        </p:txBody>
      </p:sp>
    </p:spTree>
    <p:extLst>
      <p:ext uri="{BB962C8B-B14F-4D97-AF65-F5344CB8AC3E}">
        <p14:creationId xmlns:p14="http://schemas.microsoft.com/office/powerpoint/2010/main" val="114157080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LONG RUN EQUILIBRIUM, PRICE AND OUTPUT DETERMINATION UNDER PERFECT COMPETITION </a:t>
            </a:r>
            <a:endParaRPr lang="en-US" dirty="0"/>
          </a:p>
        </p:txBody>
      </p:sp>
      <p:pic>
        <p:nvPicPr>
          <p:cNvPr id="4" name="Content Placeholder 3"/>
          <p:cNvPicPr>
            <a:picLocks noGrp="1" noChangeAspect="1"/>
          </p:cNvPicPr>
          <p:nvPr>
            <p:ph idx="1"/>
          </p:nvPr>
        </p:nvPicPr>
        <p:blipFill>
          <a:blip r:embed="rId2"/>
          <a:stretch>
            <a:fillRect/>
          </a:stretch>
        </p:blipFill>
        <p:spPr>
          <a:xfrm>
            <a:off x="2116183" y="1907176"/>
            <a:ext cx="8321040" cy="4428309"/>
          </a:xfrm>
          <a:prstGeom prst="rect">
            <a:avLst/>
          </a:prstGeom>
        </p:spPr>
      </p:pic>
    </p:spTree>
    <p:extLst>
      <p:ext uri="{BB962C8B-B14F-4D97-AF65-F5344CB8AC3E}">
        <p14:creationId xmlns:p14="http://schemas.microsoft.com/office/powerpoint/2010/main" val="403345829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effectLst>
                  <a:outerShdw blurRad="38100" dist="38100" dir="2700000" algn="tl">
                    <a:srgbClr val="000000">
                      <a:alpha val="43137"/>
                    </a:srgbClr>
                  </a:outerShdw>
                </a:effectLst>
              </a:rPr>
              <a:t>LONG RUN EQUILIBRIUM, PRICE AND OUTPUT DETERMINATION UNDER PERFECT COMPETITION </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92500" lnSpcReduction="20000"/>
          </a:bodyPr>
          <a:lstStyle/>
          <a:p>
            <a:r>
              <a:rPr lang="en-US" dirty="0"/>
              <a:t>Above figure represents long run equilibrium of firm under perfect competition. The firm is in equilibrium at point S where LMC = MR = AR = LAC. The long run equilibrium output is ON. </a:t>
            </a:r>
            <a:endParaRPr lang="en-US" dirty="0" smtClean="0"/>
          </a:p>
          <a:p>
            <a:r>
              <a:rPr lang="en-US" dirty="0" smtClean="0"/>
              <a:t>The </a:t>
            </a:r>
            <a:r>
              <a:rPr lang="en-US" dirty="0"/>
              <a:t>firm is earning just the normal profit. The equilibrium price is OP. If the price rises above OP, the firm will earn abnormal profit, which will attract new firms into the industry. If the price is less than OP, there will be loss and the tendency will be to exit. </a:t>
            </a:r>
            <a:endParaRPr lang="en-US" dirty="0" smtClean="0"/>
          </a:p>
          <a:p>
            <a:r>
              <a:rPr lang="en-US" dirty="0" smtClean="0"/>
              <a:t>So </a:t>
            </a:r>
            <a:r>
              <a:rPr lang="en-US" dirty="0"/>
              <a:t>in the long run equilibrium, OP will be the price and marginal cost will be equal to average cost and average revenue. Thus the firm in the long run will earn only normal profit. </a:t>
            </a:r>
            <a:endParaRPr lang="en-US" dirty="0" smtClean="0"/>
          </a:p>
          <a:p>
            <a:r>
              <a:rPr lang="en-US" dirty="0" smtClean="0"/>
              <a:t>Competitive </a:t>
            </a:r>
            <a:r>
              <a:rPr lang="en-US" dirty="0"/>
              <a:t>firms are in equilibrium at the minimum point of LAC curve. Operating at the minimum point of LAC curve signifies that the firm is of optimum size i.e. producing output at the lowest possible average cost. </a:t>
            </a:r>
          </a:p>
        </p:txBody>
      </p:sp>
    </p:spTree>
    <p:extLst>
      <p:ext uri="{BB962C8B-B14F-4D97-AF65-F5344CB8AC3E}">
        <p14:creationId xmlns:p14="http://schemas.microsoft.com/office/powerpoint/2010/main" val="36197305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MONOPOLY </a:t>
            </a:r>
            <a:endParaRPr lang="en-US" dirty="0">
              <a:effectLst>
                <a:outerShdw blurRad="38100" dist="38100" dir="2700000" algn="tl">
                  <a:srgbClr val="000000">
                    <a:alpha val="43137"/>
                  </a:srgbClr>
                </a:outerShdw>
              </a:effectLst>
            </a:endParaRPr>
          </a:p>
        </p:txBody>
      </p:sp>
      <p:pic>
        <p:nvPicPr>
          <p:cNvPr id="4" name="Content Placeholder 3"/>
          <p:cNvPicPr>
            <a:picLocks noGrp="1" noChangeAspect="1"/>
          </p:cNvPicPr>
          <p:nvPr>
            <p:ph idx="1"/>
          </p:nvPr>
        </p:nvPicPr>
        <p:blipFill>
          <a:blip r:embed="rId2"/>
          <a:stretch>
            <a:fillRect/>
          </a:stretch>
        </p:blipFill>
        <p:spPr>
          <a:xfrm>
            <a:off x="2442754" y="2909449"/>
            <a:ext cx="6609805" cy="3621980"/>
          </a:xfrm>
          <a:prstGeom prst="rect">
            <a:avLst/>
          </a:prstGeom>
        </p:spPr>
      </p:pic>
      <p:sp>
        <p:nvSpPr>
          <p:cNvPr id="5" name="Rectangle 4"/>
          <p:cNvSpPr/>
          <p:nvPr/>
        </p:nvSpPr>
        <p:spPr>
          <a:xfrm>
            <a:off x="672737" y="1432121"/>
            <a:ext cx="6096000" cy="1477328"/>
          </a:xfrm>
          <a:prstGeom prst="rect">
            <a:avLst/>
          </a:prstGeom>
        </p:spPr>
        <p:txBody>
          <a:bodyPr>
            <a:spAutoFit/>
          </a:bodyPr>
          <a:lstStyle/>
          <a:p>
            <a:r>
              <a:rPr lang="en-US" dirty="0">
                <a:solidFill>
                  <a:srgbClr val="000000"/>
                </a:solidFill>
                <a:latin typeface="Times New Roman" panose="02020603050405020304" pitchFamily="18" charset="0"/>
              </a:rPr>
              <a:t>A monopolist like a perfectly competitive firm tries to maximize his profits. A monopoly firm faces a downward sloping demand curve, that is, its average revenue curve. The downward sloping demand curve implies that larger output can be sold only by reducing the price </a:t>
            </a:r>
            <a:endParaRPr lang="en-US" dirty="0"/>
          </a:p>
        </p:txBody>
      </p:sp>
    </p:spTree>
    <p:extLst>
      <p:ext uri="{BB962C8B-B14F-4D97-AF65-F5344CB8AC3E}">
        <p14:creationId xmlns:p14="http://schemas.microsoft.com/office/powerpoint/2010/main" val="396422029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MONOPOLY</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a:t>In the above figure, AR is the Average Revenue Curve and MR is the Marginal revenue curve. AR curve is falling and MR curve lies below AR. The monopolist is in equilibrium at E where MR = MC. He produces OM units of output and fixes price at OP. At OM output, the average revenue is MS and average cost MT. Therefore the profit per unit is MS-MT = TS. Total profit is average profit (TS) multiplied by output (OM), which is equal to HTSP. The monopolist is in equilibrium at point E and produces OM output at which he is earning maximum profit. The monopoly price is higher than the marginal revenue and marginal cost </a:t>
            </a:r>
          </a:p>
        </p:txBody>
      </p:sp>
    </p:spTree>
    <p:extLst>
      <p:ext uri="{BB962C8B-B14F-4D97-AF65-F5344CB8AC3E}">
        <p14:creationId xmlns:p14="http://schemas.microsoft.com/office/powerpoint/2010/main" val="249857976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Economies of scale and scope in production </a:t>
            </a:r>
            <a:br>
              <a:rPr lang="en-US" b="1" dirty="0"/>
            </a:br>
            <a:endParaRPr lang="en-US" b="1" dirty="0"/>
          </a:p>
        </p:txBody>
      </p:sp>
      <p:sp>
        <p:nvSpPr>
          <p:cNvPr id="3" name="Content Placeholder 2"/>
          <p:cNvSpPr>
            <a:spLocks noGrp="1"/>
          </p:cNvSpPr>
          <p:nvPr>
            <p:ph idx="1"/>
          </p:nvPr>
        </p:nvSpPr>
        <p:spPr/>
        <p:txBody>
          <a:bodyPr/>
          <a:lstStyle/>
          <a:p>
            <a:r>
              <a:rPr lang="en-US" dirty="0"/>
              <a:t>Economies’ mean advantages. Scale refers to the size of unit. ‘Economies of Scale’ refers to the cost advantages due to the larger size of production. </a:t>
            </a:r>
            <a:endParaRPr lang="en-US" dirty="0" smtClean="0"/>
          </a:p>
          <a:p>
            <a:r>
              <a:rPr lang="en-US" dirty="0" smtClean="0"/>
              <a:t>As </a:t>
            </a:r>
            <a:r>
              <a:rPr lang="en-US" dirty="0"/>
              <a:t>the volume of production increases, the overhead cost will come down. The bulk purchase of inputs will give a better bargaining power to the producer which will reduce the average variable cost too</a:t>
            </a:r>
            <a:r>
              <a:rPr lang="en-US" dirty="0" smtClean="0"/>
              <a:t>.</a:t>
            </a:r>
          </a:p>
          <a:p>
            <a:r>
              <a:rPr lang="en-US" dirty="0" smtClean="0"/>
              <a:t> </a:t>
            </a:r>
            <a:r>
              <a:rPr lang="en-US" dirty="0"/>
              <a:t>All these advantages are due to the large scale production and these advantages are called economies of scale. </a:t>
            </a:r>
          </a:p>
        </p:txBody>
      </p:sp>
    </p:spTree>
    <p:extLst>
      <p:ext uri="{BB962C8B-B14F-4D97-AF65-F5344CB8AC3E}">
        <p14:creationId xmlns:p14="http://schemas.microsoft.com/office/powerpoint/2010/main" val="76862057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Types of Economies of Scale</a:t>
            </a:r>
            <a:br>
              <a:rPr lang="en-US" b="1"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pPr marL="514350" indent="-514350">
              <a:buAutoNum type="arabicPeriod"/>
            </a:pPr>
            <a:r>
              <a:rPr lang="en-US" b="1" dirty="0" smtClean="0"/>
              <a:t>Internal </a:t>
            </a:r>
            <a:r>
              <a:rPr lang="en-US" b="1" dirty="0"/>
              <a:t>Economies of </a:t>
            </a:r>
            <a:r>
              <a:rPr lang="en-US" b="1" dirty="0" smtClean="0"/>
              <a:t>Scale</a:t>
            </a:r>
          </a:p>
          <a:p>
            <a:r>
              <a:rPr lang="en-US" b="1" i="1" dirty="0" smtClean="0"/>
              <a:t> </a:t>
            </a:r>
            <a:r>
              <a:rPr lang="en-US" b="1" i="1" dirty="0"/>
              <a:t>Technical Economies: </a:t>
            </a:r>
            <a:r>
              <a:rPr lang="en-US" dirty="0"/>
              <a:t>As the size of the firm is large, the availability of capital is more. Due to this, a firm can introduce up- to-date </a:t>
            </a:r>
            <a:r>
              <a:rPr lang="en-US" dirty="0" smtClean="0"/>
              <a:t>technologies.</a:t>
            </a:r>
          </a:p>
          <a:p>
            <a:r>
              <a:rPr lang="en-US" b="1" i="1" dirty="0"/>
              <a:t>Financial Economies: </a:t>
            </a:r>
            <a:r>
              <a:rPr lang="en-US" dirty="0"/>
              <a:t>It is possible for big firms to float shares in the market for capital formation. Small firms have to borrow capital whereas large firms can buy capital</a:t>
            </a:r>
            <a:r>
              <a:rPr lang="en-US" dirty="0" smtClean="0"/>
              <a:t>.</a:t>
            </a:r>
          </a:p>
          <a:p>
            <a:r>
              <a:rPr lang="en-US" b="1" i="1" dirty="0"/>
              <a:t>Managerial Economies: </a:t>
            </a:r>
            <a:r>
              <a:rPr lang="en-US" dirty="0"/>
              <a:t>Division of labour is the result of large scale production. Right person can be employed in the right department only if there is division of labour</a:t>
            </a:r>
            <a:r>
              <a:rPr lang="en-US" dirty="0" smtClean="0"/>
              <a:t>.</a:t>
            </a:r>
          </a:p>
          <a:p>
            <a:endParaRPr lang="en-US" dirty="0"/>
          </a:p>
        </p:txBody>
      </p:sp>
    </p:spTree>
    <p:extLst>
      <p:ext uri="{BB962C8B-B14F-4D97-AF65-F5344CB8AC3E}">
        <p14:creationId xmlns:p14="http://schemas.microsoft.com/office/powerpoint/2010/main" val="163567031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Types of Economies of Scale</a:t>
            </a:r>
            <a:br>
              <a:rPr lang="en-US" b="1" dirty="0">
                <a:effectLst>
                  <a:outerShdw blurRad="38100" dist="38100" dir="2700000" algn="tl">
                    <a:srgbClr val="000000">
                      <a:alpha val="43137"/>
                    </a:srgbClr>
                  </a:outerShdw>
                </a:effectLst>
              </a:rPr>
            </a:br>
            <a:endParaRPr lang="en-US" dirty="0"/>
          </a:p>
        </p:txBody>
      </p:sp>
      <p:sp>
        <p:nvSpPr>
          <p:cNvPr id="3" name="Content Placeholder 2"/>
          <p:cNvSpPr>
            <a:spLocks noGrp="1"/>
          </p:cNvSpPr>
          <p:nvPr>
            <p:ph idx="1"/>
          </p:nvPr>
        </p:nvSpPr>
        <p:spPr/>
        <p:txBody>
          <a:bodyPr/>
          <a:lstStyle/>
          <a:p>
            <a:r>
              <a:rPr lang="en-US" b="1" i="1" dirty="0"/>
              <a:t>Labour Economies: </a:t>
            </a:r>
            <a:r>
              <a:rPr lang="en-US" dirty="0"/>
              <a:t>Large Scale production paves the way for division of labour. This is also known as specialization of labour. The specialization will increase the quality and ability of the labour. As a result, the productivity of the firm </a:t>
            </a:r>
            <a:r>
              <a:rPr lang="en-US" dirty="0" smtClean="0"/>
              <a:t>increases</a:t>
            </a:r>
          </a:p>
          <a:p>
            <a:r>
              <a:rPr lang="en-US" b="1" i="1" dirty="0"/>
              <a:t>Marketing Economies: </a:t>
            </a:r>
            <a:r>
              <a:rPr lang="en-US" dirty="0"/>
              <a:t>In production, the first buyer is the producer who buys the raw materials. As the size is large, the quantity bought is larger. This gives the producer a better bargaining power</a:t>
            </a:r>
            <a:r>
              <a:rPr lang="en-US" dirty="0" smtClean="0"/>
              <a:t>.</a:t>
            </a:r>
          </a:p>
          <a:p>
            <a:r>
              <a:rPr lang="en-US" b="1" i="1" dirty="0"/>
              <a:t>Economies of survival: </a:t>
            </a:r>
            <a:r>
              <a:rPr lang="en-US" dirty="0"/>
              <a:t>A large firm can have many products. Even if one product fails in the market, the loss incurred in that product can be managed by the profit earned from the other products.</a:t>
            </a:r>
          </a:p>
        </p:txBody>
      </p:sp>
    </p:spTree>
    <p:extLst>
      <p:ext uri="{BB962C8B-B14F-4D97-AF65-F5344CB8AC3E}">
        <p14:creationId xmlns:p14="http://schemas.microsoft.com/office/powerpoint/2010/main" val="373538031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Types of Economies of Scale</a:t>
            </a:r>
            <a:br>
              <a:rPr lang="en-US" b="1" dirty="0">
                <a:effectLst>
                  <a:outerShdw blurRad="38100" dist="38100" dir="2700000" algn="tl">
                    <a:srgbClr val="000000">
                      <a:alpha val="43137"/>
                    </a:srgbClr>
                  </a:outerShdw>
                </a:effectLst>
              </a:rPr>
            </a:b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en-US" b="1" dirty="0" smtClean="0"/>
              <a:t>2. </a:t>
            </a:r>
            <a:r>
              <a:rPr lang="en-US" b="1" dirty="0"/>
              <a:t>External economies of scale</a:t>
            </a:r>
            <a:r>
              <a:rPr lang="en-US" b="1" dirty="0" smtClean="0"/>
              <a:t>:</a:t>
            </a:r>
          </a:p>
          <a:p>
            <a:r>
              <a:rPr lang="en-US" dirty="0"/>
              <a:t>When many firms expand in a particular area – i.e., when the industry grows – they enjoy a number of advantages which are known as external economies of scale. This is not the advantage enjoyed by a single firm but by all the firms in the industry due to the structural growth. They are </a:t>
            </a:r>
          </a:p>
          <a:p>
            <a:r>
              <a:rPr lang="en-US" dirty="0"/>
              <a:t>a) Increased transport facilities </a:t>
            </a:r>
          </a:p>
          <a:p>
            <a:r>
              <a:rPr lang="en-US" dirty="0"/>
              <a:t>b) Banking facilities </a:t>
            </a:r>
          </a:p>
          <a:p>
            <a:r>
              <a:rPr lang="en-US" dirty="0"/>
              <a:t>c) Development of townships </a:t>
            </a:r>
          </a:p>
          <a:p>
            <a:r>
              <a:rPr lang="en-US" dirty="0"/>
              <a:t>d) Information and communication development </a:t>
            </a:r>
          </a:p>
          <a:p>
            <a:r>
              <a:rPr lang="en-US" dirty="0"/>
              <a:t>All these facilities are available to all firms in an industrial region.</a:t>
            </a:r>
          </a:p>
        </p:txBody>
      </p:sp>
    </p:spTree>
    <p:extLst>
      <p:ext uri="{BB962C8B-B14F-4D97-AF65-F5344CB8AC3E}">
        <p14:creationId xmlns:p14="http://schemas.microsoft.com/office/powerpoint/2010/main" val="349334096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DISECONOMIES OF SCALE</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a:t>These diseconomies are of two types: </a:t>
            </a:r>
          </a:p>
          <a:p>
            <a:r>
              <a:rPr lang="en-US" i="1" dirty="0"/>
              <a:t>a) Internal Diseconomies of Scale: and </a:t>
            </a:r>
            <a:endParaRPr lang="en-US" dirty="0"/>
          </a:p>
          <a:p>
            <a:r>
              <a:rPr lang="en-US" i="1" dirty="0"/>
              <a:t>b) External Diseconomies of Scale</a:t>
            </a:r>
            <a:endParaRPr lang="en-US" dirty="0"/>
          </a:p>
        </p:txBody>
      </p:sp>
    </p:spTree>
    <p:extLst>
      <p:ext uri="{BB962C8B-B14F-4D97-AF65-F5344CB8AC3E}">
        <p14:creationId xmlns:p14="http://schemas.microsoft.com/office/powerpoint/2010/main" val="396316619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effectLst>
                  <a:outerShdw blurRad="38100" dist="38100" dir="2700000" algn="tl">
                    <a:srgbClr val="000000">
                      <a:alpha val="43137"/>
                    </a:srgbClr>
                  </a:outerShdw>
                </a:effectLst>
              </a:rPr>
              <a:t>Technological advancements and their influence on production </a:t>
            </a:r>
            <a:br>
              <a:rPr lang="en-US"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332411"/>
            <a:ext cx="10515600" cy="5421086"/>
          </a:xfrm>
        </p:spPr>
        <p:txBody>
          <a:bodyPr>
            <a:noAutofit/>
          </a:bodyPr>
          <a:lstStyle/>
          <a:p>
            <a:r>
              <a:rPr lang="en-US" altLang="en-US" dirty="0">
                <a:ea typeface="ヒラギノ角ゴ Pro W3" pitchFamily="-1" charset="-128"/>
              </a:rPr>
              <a:t>Relative Productivity</a:t>
            </a:r>
          </a:p>
          <a:p>
            <a:pPr lvl="1"/>
            <a:r>
              <a:rPr lang="en-US" altLang="en-US" sz="2000" dirty="0">
                <a:ea typeface="ヒラギノ角ゴ Pro W3" pitchFamily="-1" charset="-128"/>
              </a:rPr>
              <a:t>Firms are not necessarily equally </a:t>
            </a:r>
            <a:r>
              <a:rPr lang="en-US" altLang="en-US" sz="2000" u="sng" dirty="0">
                <a:ea typeface="ヒラギノ角ゴ Pro W3" pitchFamily="-1" charset="-128"/>
              </a:rPr>
              <a:t>productive</a:t>
            </a:r>
          </a:p>
          <a:p>
            <a:pPr lvl="1"/>
            <a:r>
              <a:rPr lang="en-US" altLang="en-US" sz="2000" dirty="0">
                <a:ea typeface="ヒラギノ角ゴ Pro W3" pitchFamily="-1" charset="-128"/>
              </a:rPr>
              <a:t>A firm may be more productive than others if: a manager knows a better way to organize production; it’s the only firm with access to a new invention;  union-mandated work rules, government regulations, or other institutional restrictions affect only competitors.</a:t>
            </a:r>
          </a:p>
          <a:p>
            <a:pPr lvl="1"/>
            <a:r>
              <a:rPr lang="en-US" altLang="en-US" sz="2000" dirty="0">
                <a:ea typeface="ヒラギノ角ゴ Pro W3" pitchFamily="-1" charset="-128"/>
              </a:rPr>
              <a:t>Firms are equally productive in competitive markets, not in oligopoly markets </a:t>
            </a:r>
          </a:p>
          <a:p>
            <a:r>
              <a:rPr lang="en-US" b="1" dirty="0">
                <a:effectLst>
                  <a:outerShdw blurRad="38100" dist="38100" dir="2700000" algn="tl">
                    <a:srgbClr val="000000">
                      <a:alpha val="43137"/>
                    </a:srgbClr>
                  </a:outerShdw>
                </a:effectLst>
              </a:rPr>
              <a:t>Innovations and their role in business strategies</a:t>
            </a:r>
            <a:r>
              <a:rPr lang="en-US" altLang="en-US" sz="2000" dirty="0" smtClean="0">
                <a:ea typeface="ヒラギノ角ゴ Pro W3" pitchFamily="-1" charset="-128"/>
              </a:rPr>
              <a:t> </a:t>
            </a:r>
            <a:endParaRPr lang="en-US" altLang="en-US" sz="2000" dirty="0">
              <a:ea typeface="ヒラギノ角ゴ Pro W3" pitchFamily="-1" charset="-128"/>
            </a:endParaRPr>
          </a:p>
          <a:p>
            <a:pPr lvl="1"/>
            <a:r>
              <a:rPr lang="en-US" altLang="en-US" sz="2000" dirty="0">
                <a:ea typeface="ヒラギノ角ゴ Pro W3" pitchFamily="-1" charset="-128"/>
              </a:rPr>
              <a:t>An advance in knowledge that allows more output to be produced with the same level of inputs is called </a:t>
            </a:r>
            <a:r>
              <a:rPr lang="en-US" altLang="en-US" sz="2000" u="sng" dirty="0">
                <a:ea typeface="ヒラギノ角ゴ Pro W3" pitchFamily="-1" charset="-128"/>
              </a:rPr>
              <a:t>technological progress</a:t>
            </a:r>
            <a:r>
              <a:rPr lang="en-US" altLang="en-US" sz="2000" dirty="0">
                <a:ea typeface="ヒラギノ角ゴ Pro W3" pitchFamily="-1" charset="-128"/>
              </a:rPr>
              <a:t>.</a:t>
            </a:r>
          </a:p>
          <a:p>
            <a:pPr lvl="1"/>
            <a:r>
              <a:rPr lang="en-US" altLang="en-US" sz="2000" dirty="0">
                <a:ea typeface="ヒラギノ角ゴ Pro W3" pitchFamily="-1" charset="-128"/>
              </a:rPr>
              <a:t>Technological progress is </a:t>
            </a:r>
            <a:r>
              <a:rPr lang="en-US" altLang="en-US" sz="2000" u="sng" dirty="0">
                <a:ea typeface="ヒラギノ角ゴ Pro W3" pitchFamily="-1" charset="-128"/>
              </a:rPr>
              <a:t>neutral</a:t>
            </a:r>
            <a:r>
              <a:rPr lang="en-US" altLang="en-US" sz="2000" dirty="0">
                <a:ea typeface="ヒラギノ角ゴ Pro W3" pitchFamily="-1" charset="-128"/>
              </a:rPr>
              <a:t> if more output is produced using the same ratio of inputs. It is </a:t>
            </a:r>
            <a:r>
              <a:rPr lang="en-US" altLang="en-US" sz="2000" u="sng" dirty="0" err="1">
                <a:ea typeface="ヒラギノ角ゴ Pro W3" pitchFamily="-1" charset="-128"/>
              </a:rPr>
              <a:t>nonneutra</a:t>
            </a:r>
            <a:r>
              <a:rPr lang="en-US" altLang="en-US" sz="2000" dirty="0" err="1">
                <a:ea typeface="ヒラギノ角ゴ Pro W3" pitchFamily="-1" charset="-128"/>
              </a:rPr>
              <a:t>l</a:t>
            </a:r>
            <a:r>
              <a:rPr lang="en-US" altLang="en-US" sz="2000" dirty="0">
                <a:ea typeface="ヒラギノ角ゴ Pro W3" pitchFamily="-1" charset="-128"/>
              </a:rPr>
              <a:t> if it is capital saving or labor saving.</a:t>
            </a:r>
          </a:p>
          <a:p>
            <a:pPr lvl="1"/>
            <a:r>
              <a:rPr lang="en-US" altLang="en-US" sz="2000" dirty="0">
                <a:ea typeface="ヒラギノ角ゴ Pro W3" pitchFamily="-1" charset="-128"/>
              </a:rPr>
              <a:t>Organizational changes may also alter the production function and increase the amount of output produced by a given amount of inputs. In the early 1900s, Henry Ford revolutionized mass production of automobiles through interchangeable parts and the assembly line.</a:t>
            </a:r>
          </a:p>
          <a:p>
            <a:endParaRPr lang="en-US" altLang="en-US" sz="2400" dirty="0">
              <a:ea typeface="ヒラギノ角ゴ Pro W3" pitchFamily="-1" charset="-128"/>
            </a:endParaRPr>
          </a:p>
          <a:p>
            <a:endParaRPr lang="en-US" sz="3600" dirty="0"/>
          </a:p>
        </p:txBody>
      </p:sp>
    </p:spTree>
    <p:extLst>
      <p:ext uri="{BB962C8B-B14F-4D97-AF65-F5344CB8AC3E}">
        <p14:creationId xmlns:p14="http://schemas.microsoft.com/office/powerpoint/2010/main" val="142888031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Labor markets and the economic implications of wage differentials</a:t>
            </a:r>
            <a:endParaRPr lang="en-US" dirty="0"/>
          </a:p>
        </p:txBody>
      </p:sp>
      <p:sp>
        <p:nvSpPr>
          <p:cNvPr id="3" name="Content Placeholder 2"/>
          <p:cNvSpPr>
            <a:spLocks noGrp="1"/>
          </p:cNvSpPr>
          <p:nvPr>
            <p:ph idx="1"/>
          </p:nvPr>
        </p:nvSpPr>
        <p:spPr/>
        <p:txBody>
          <a:bodyPr/>
          <a:lstStyle/>
          <a:p>
            <a:r>
              <a:rPr lang="en-US" dirty="0"/>
              <a:t>Wages are a payment for the services of labour, whether intellectual or physical. Wage may be paid daily, weekly, fortnightly, monthly or yearly and partly at the end of the year in the form of bonus. </a:t>
            </a:r>
          </a:p>
          <a:p>
            <a:r>
              <a:rPr lang="en-US" dirty="0"/>
              <a:t>Wage is the price paid to the </a:t>
            </a:r>
            <a:r>
              <a:rPr lang="en-US" dirty="0" err="1"/>
              <a:t>labourer</a:t>
            </a:r>
            <a:r>
              <a:rPr lang="en-US" dirty="0"/>
              <a:t> for the services rendered. According to </a:t>
            </a:r>
            <a:r>
              <a:rPr lang="en-US" dirty="0" err="1"/>
              <a:t>Benham</a:t>
            </a:r>
            <a:r>
              <a:rPr lang="en-US" dirty="0"/>
              <a:t>, wage is “A sum of money paid under contract by an employer to a worker for the services rendered”. </a:t>
            </a:r>
          </a:p>
        </p:txBody>
      </p:sp>
    </p:spTree>
    <p:extLst>
      <p:ext uri="{BB962C8B-B14F-4D97-AF65-F5344CB8AC3E}">
        <p14:creationId xmlns:p14="http://schemas.microsoft.com/office/powerpoint/2010/main" val="62824237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KINDS OF WAGES </a:t>
            </a:r>
            <a:br>
              <a:rPr lang="en-US" dirty="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r>
              <a:rPr lang="en-US" b="1" dirty="0" smtClean="0"/>
              <a:t>1</a:t>
            </a:r>
            <a:r>
              <a:rPr lang="en-US" b="1" dirty="0"/>
              <a:t>. Nominal Wages or Money Wages: </a:t>
            </a:r>
            <a:r>
              <a:rPr lang="en-US" dirty="0"/>
              <a:t>Nominal wages are referred to the wages paid in terms of money. </a:t>
            </a:r>
          </a:p>
          <a:p>
            <a:r>
              <a:rPr lang="en-US" b="1" dirty="0"/>
              <a:t>2. Real Wages: </a:t>
            </a:r>
            <a:r>
              <a:rPr lang="en-US" dirty="0"/>
              <a:t>Real wages are the wages paid in terms of goods and services. Hence, real wages are the purchasing power of money wages. </a:t>
            </a:r>
          </a:p>
          <a:p>
            <a:r>
              <a:rPr lang="en-US" b="1" dirty="0"/>
              <a:t>3. Piece Wages: </a:t>
            </a:r>
            <a:r>
              <a:rPr lang="en-US" dirty="0"/>
              <a:t>Wages that are paid on the basis of quantum of work done. </a:t>
            </a:r>
          </a:p>
          <a:p>
            <a:r>
              <a:rPr lang="en-US" b="1" dirty="0"/>
              <a:t>4. Time Wages: </a:t>
            </a:r>
            <a:r>
              <a:rPr lang="en-US" dirty="0"/>
              <a:t>Wages that are paid on the basis of the amount of time that the worker </a:t>
            </a:r>
            <a:r>
              <a:rPr lang="en-US" dirty="0" smtClean="0"/>
              <a:t>works firms </a:t>
            </a:r>
            <a:r>
              <a:rPr lang="en-US" dirty="0"/>
              <a:t>of money. </a:t>
            </a:r>
          </a:p>
        </p:txBody>
      </p:sp>
    </p:spTree>
    <p:extLst>
      <p:ext uri="{BB962C8B-B14F-4D97-AF65-F5344CB8AC3E}">
        <p14:creationId xmlns:p14="http://schemas.microsoft.com/office/powerpoint/2010/main" val="170036067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THE SUBSISTENCE THEORY OF WAGES </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85000" lnSpcReduction="10000"/>
          </a:bodyPr>
          <a:lstStyle/>
          <a:p>
            <a:r>
              <a:rPr lang="en-US" dirty="0"/>
              <a:t>Subsistence theory is one of the oldest theories of wages. It was first explained by </a:t>
            </a:r>
            <a:r>
              <a:rPr lang="en-US" dirty="0" err="1"/>
              <a:t>Physiocrats</a:t>
            </a:r>
            <a:r>
              <a:rPr lang="en-US" dirty="0"/>
              <a:t>, a group of French economists and restated by Ricardo. </a:t>
            </a:r>
          </a:p>
          <a:p>
            <a:r>
              <a:rPr lang="en-US" dirty="0"/>
              <a:t>According to this theory, wage must be equal to the subsistence level of the </a:t>
            </a:r>
            <a:r>
              <a:rPr lang="en-US" dirty="0" err="1"/>
              <a:t>labourer</a:t>
            </a:r>
            <a:r>
              <a:rPr lang="en-US" dirty="0"/>
              <a:t> and his family. Subsistence means the minimum amount of food, clothing and shelter which workers and their family require for existence. </a:t>
            </a:r>
          </a:p>
          <a:p>
            <a:r>
              <a:rPr lang="en-US" dirty="0"/>
              <a:t>If workers are paid higher wages than the subsistence level, the workers would be better off and they will have large families. Hence, the population would increase. When the population increases, the supply of </a:t>
            </a:r>
            <a:r>
              <a:rPr lang="en-US" dirty="0" err="1"/>
              <a:t>labourer</a:t>
            </a:r>
            <a:r>
              <a:rPr lang="en-US" dirty="0"/>
              <a:t> would increase and therefore, wages will come down. </a:t>
            </a:r>
          </a:p>
          <a:p>
            <a:r>
              <a:rPr lang="en-US" dirty="0"/>
              <a:t>On the other hand, if wages are lower than the subsistence level, there would be a reduction in population and thereby the supply of labour falls and wages increase to the subsistence level. So this theory is closely associated with Malthusian Theory of Population </a:t>
            </a:r>
          </a:p>
        </p:txBody>
      </p:sp>
    </p:spTree>
    <p:extLst>
      <p:ext uri="{BB962C8B-B14F-4D97-AF65-F5344CB8AC3E}">
        <p14:creationId xmlns:p14="http://schemas.microsoft.com/office/powerpoint/2010/main" val="106294700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STANDARD OF LIVING THEORY OF WAGES </a:t>
            </a:r>
            <a:br>
              <a:rPr lang="en-US"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The </a:t>
            </a:r>
            <a:r>
              <a:rPr lang="en-US" dirty="0"/>
              <a:t>Standard of Living Theory of Wages developed by Torrance is an improved and refined version of the Subsistence Theory of Wage. </a:t>
            </a:r>
          </a:p>
          <a:p>
            <a:r>
              <a:rPr lang="en-US" dirty="0"/>
              <a:t>According to this theory, wage is equal to the standard of living of the workers. If standard of living is high, wages will be high and vice versa. </a:t>
            </a:r>
          </a:p>
          <a:p>
            <a:r>
              <a:rPr lang="en-US" dirty="0"/>
              <a:t>Standard of living wage means the amount necessary to maintain the </a:t>
            </a:r>
            <a:r>
              <a:rPr lang="en-US" dirty="0" err="1"/>
              <a:t>labourer</a:t>
            </a:r>
            <a:r>
              <a:rPr lang="en-US" dirty="0"/>
              <a:t> in the standard of life to which he is accustomed</a:t>
            </a:r>
          </a:p>
        </p:txBody>
      </p:sp>
    </p:spTree>
    <p:extLst>
      <p:ext uri="{BB962C8B-B14F-4D97-AF65-F5344CB8AC3E}">
        <p14:creationId xmlns:p14="http://schemas.microsoft.com/office/powerpoint/2010/main" val="221745563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THE WAGE FUND THEORY OF WAGES </a:t>
            </a:r>
            <a:r>
              <a:rPr lang="en-US" dirty="0">
                <a:effectLst>
                  <a:outerShdw blurRad="38100" dist="38100" dir="2700000" algn="tl">
                    <a:srgbClr val="000000">
                      <a:alpha val="43137"/>
                    </a:srgbClr>
                  </a:outerShdw>
                </a:effectLst>
              </a:rPr>
              <a:t/>
            </a:r>
            <a:br>
              <a:rPr lang="en-US" dirty="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This </a:t>
            </a:r>
            <a:r>
              <a:rPr lang="en-US" dirty="0"/>
              <a:t>theory was first propounded by Adam Smith. But the credit goes to </a:t>
            </a:r>
            <a:r>
              <a:rPr lang="en-US" dirty="0" err="1"/>
              <a:t>J.S.Mill</a:t>
            </a:r>
            <a:r>
              <a:rPr lang="en-US" dirty="0"/>
              <a:t> who perfected this theory. </a:t>
            </a:r>
          </a:p>
          <a:p>
            <a:r>
              <a:rPr lang="en-US" dirty="0"/>
              <a:t>According to Wages Fund Theory, “wages depend upon the proportion between population and capital”. The term “capital” in the context refers to the fund set apart for payment of wages. And the word ‘population’ refers to workers. </a:t>
            </a:r>
            <a:endParaRPr lang="en-US" dirty="0" smtClean="0"/>
          </a:p>
          <a:p>
            <a:r>
              <a:rPr lang="en-US" dirty="0" smtClean="0"/>
              <a:t>Implication economy :If </a:t>
            </a:r>
            <a:r>
              <a:rPr lang="en-US" dirty="0"/>
              <a:t>the supply of workers increases, wages will fall and vice versa. </a:t>
            </a:r>
          </a:p>
        </p:txBody>
      </p:sp>
    </p:spTree>
    <p:extLst>
      <p:ext uri="{BB962C8B-B14F-4D97-AF65-F5344CB8AC3E}">
        <p14:creationId xmlns:p14="http://schemas.microsoft.com/office/powerpoint/2010/main" val="418920812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THE RESIDUAL CLAIMANT THEORY OF WAGE </a:t>
            </a:r>
            <a:br>
              <a:rPr lang="en-US"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This </a:t>
            </a:r>
            <a:r>
              <a:rPr lang="en-US" dirty="0"/>
              <a:t>theory was propounded by the American economist </a:t>
            </a:r>
            <a:r>
              <a:rPr lang="en-US" dirty="0" err="1"/>
              <a:t>F.A.Walkar</a:t>
            </a:r>
            <a:r>
              <a:rPr lang="en-US" dirty="0"/>
              <a:t> in 1875, in his book Political Economy. </a:t>
            </a:r>
          </a:p>
          <a:p>
            <a:r>
              <a:rPr lang="en-US" dirty="0"/>
              <a:t>According to this theory, wages “equal the whole product minus rent, interest and profits” (Walker). In other words, the theory tells that wages are paid out of the residue that is left over after making payment for rent, interest and profits. </a:t>
            </a:r>
          </a:p>
        </p:txBody>
      </p:sp>
    </p:spTree>
    <p:extLst>
      <p:ext uri="{BB962C8B-B14F-4D97-AF65-F5344CB8AC3E}">
        <p14:creationId xmlns:p14="http://schemas.microsoft.com/office/powerpoint/2010/main" val="401586312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MARGINAL PRODUCTIVITY THEORY OF WAGE </a:t>
            </a:r>
            <a:r>
              <a:rPr lang="en-US" dirty="0">
                <a:effectLst>
                  <a:outerShdw blurRad="38100" dist="38100" dir="2700000" algn="tl">
                    <a:srgbClr val="000000">
                      <a:alpha val="43137"/>
                    </a:srgbClr>
                  </a:outerShdw>
                </a:effectLst>
              </a:rPr>
              <a:t/>
            </a:r>
            <a:br>
              <a:rPr lang="en-US" dirty="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The </a:t>
            </a:r>
            <a:r>
              <a:rPr lang="en-US" dirty="0"/>
              <a:t>application of general theory of distribution to wage fixation is the marginal productivity theory of wages. </a:t>
            </a:r>
          </a:p>
          <a:p>
            <a:r>
              <a:rPr lang="en-US" dirty="0"/>
              <a:t>According to the theory wages are determined by the marginal productivity of labour and equal to it at the point of equilibrium. </a:t>
            </a:r>
          </a:p>
          <a:p>
            <a:r>
              <a:rPr lang="en-US" dirty="0"/>
              <a:t>Under perfect competition wage is paid equal to marginal product of labour (wage = MPL) But in real world where there is imperfect competition, there is exploitation of labour and wage is less than MPL. </a:t>
            </a:r>
          </a:p>
        </p:txBody>
      </p:sp>
    </p:spTree>
    <p:extLst>
      <p:ext uri="{BB962C8B-B14F-4D97-AF65-F5344CB8AC3E}">
        <p14:creationId xmlns:p14="http://schemas.microsoft.com/office/powerpoint/2010/main" val="95079621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THE BARGAINING THEORY OF WAGES </a:t>
            </a:r>
            <a:br>
              <a:rPr lang="en-US"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The </a:t>
            </a:r>
            <a:r>
              <a:rPr lang="en-US" dirty="0"/>
              <a:t>bargaining theory of wages takes note of the influence of trade unions on wages through collective bargaining. </a:t>
            </a:r>
            <a:endParaRPr lang="en-US" dirty="0" smtClean="0"/>
          </a:p>
          <a:p>
            <a:r>
              <a:rPr lang="en-US" dirty="0" smtClean="0"/>
              <a:t>According </a:t>
            </a:r>
            <a:r>
              <a:rPr lang="en-US" dirty="0"/>
              <a:t>to the theory, the level of wages in an industry depends on the bargaining strength of the trade union concerned. </a:t>
            </a:r>
            <a:endParaRPr lang="en-US" dirty="0" smtClean="0"/>
          </a:p>
          <a:p>
            <a:r>
              <a:rPr lang="en-US" dirty="0" smtClean="0"/>
              <a:t>The </a:t>
            </a:r>
            <a:r>
              <a:rPr lang="en-US" dirty="0"/>
              <a:t>strength of a trade union depends upon many things like the size of its membership, the size of its “fighting fund”, and its ability to cause dislocation in the industry and the economy through strike sacrifice their earnings. </a:t>
            </a:r>
            <a:endParaRPr lang="en-US" dirty="0" smtClean="0"/>
          </a:p>
          <a:p>
            <a:r>
              <a:rPr lang="en-US" dirty="0" smtClean="0"/>
              <a:t>We </a:t>
            </a:r>
            <a:r>
              <a:rPr lang="en-US" dirty="0"/>
              <a:t>have to take note of the foregone earnings while estimating the cost of labour which determines its supply </a:t>
            </a:r>
          </a:p>
        </p:txBody>
      </p:sp>
    </p:spTree>
    <p:extLst>
      <p:ext uri="{BB962C8B-B14F-4D97-AF65-F5344CB8AC3E}">
        <p14:creationId xmlns:p14="http://schemas.microsoft.com/office/powerpoint/2010/main" val="230060672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THE MARKET THEORY OF WAGES </a:t>
            </a:r>
            <a:br>
              <a:rPr lang="en-US"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The </a:t>
            </a:r>
            <a:r>
              <a:rPr lang="en-US" dirty="0"/>
              <a:t>market theory looks at wages as the price of labour. Like all other prices, wages are determined by the market forces of supply and demand. </a:t>
            </a:r>
          </a:p>
          <a:p>
            <a:r>
              <a:rPr lang="en-US" dirty="0"/>
              <a:t>The supply of labour generally refers to the total number of people available for employment. Some types of labour require long periods of training. During that long period, workers have to </a:t>
            </a:r>
          </a:p>
        </p:txBody>
      </p:sp>
    </p:spTree>
    <p:extLst>
      <p:ext uri="{BB962C8B-B14F-4D97-AF65-F5344CB8AC3E}">
        <p14:creationId xmlns:p14="http://schemas.microsoft.com/office/powerpoint/2010/main" val="106317643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Diagram of determination of wages in a market </a:t>
            </a:r>
            <a:endParaRPr lang="en-US" dirty="0">
              <a:effectLst>
                <a:outerShdw blurRad="38100" dist="38100" dir="2700000" algn="tl">
                  <a:srgbClr val="000000">
                    <a:alpha val="43137"/>
                  </a:srgbClr>
                </a:outerShdw>
              </a:effectLst>
            </a:endParaRPr>
          </a:p>
        </p:txBody>
      </p:sp>
      <p:pic>
        <p:nvPicPr>
          <p:cNvPr id="4" name="Content Placeholder 3"/>
          <p:cNvPicPr>
            <a:picLocks noGrp="1" noChangeAspect="1"/>
          </p:cNvPicPr>
          <p:nvPr>
            <p:ph idx="1"/>
          </p:nvPr>
        </p:nvPicPr>
        <p:blipFill>
          <a:blip r:embed="rId2"/>
          <a:stretch>
            <a:fillRect/>
          </a:stretch>
        </p:blipFill>
        <p:spPr>
          <a:xfrm>
            <a:off x="2429691" y="2115020"/>
            <a:ext cx="6936378" cy="4573163"/>
          </a:xfrm>
          <a:prstGeom prst="rect">
            <a:avLst/>
          </a:prstGeom>
        </p:spPr>
      </p:pic>
    </p:spTree>
    <p:extLst>
      <p:ext uri="{BB962C8B-B14F-4D97-AF65-F5344CB8AC3E}">
        <p14:creationId xmlns:p14="http://schemas.microsoft.com/office/powerpoint/2010/main" val="414020882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effectLst>
                  <a:outerShdw blurRad="38100" dist="38100" dir="2700000" algn="tl">
                    <a:srgbClr val="000000">
                      <a:alpha val="43137"/>
                    </a:srgbClr>
                  </a:outerShdw>
                </a:effectLst>
              </a:rPr>
              <a:t/>
            </a:r>
            <a:br>
              <a:rPr lang="en-US" b="1" dirty="0">
                <a:effectLst>
                  <a:outerShdw blurRad="38100" dist="38100" dir="2700000" algn="tl">
                    <a:srgbClr val="000000">
                      <a:alpha val="43137"/>
                    </a:srgbClr>
                  </a:outerShdw>
                </a:effectLst>
              </a:rPr>
            </a:br>
            <a:r>
              <a:rPr lang="en-US" b="1" dirty="0" smtClean="0">
                <a:effectLst>
                  <a:outerShdw blurRad="38100" dist="38100" dir="2700000" algn="tl">
                    <a:srgbClr val="000000">
                      <a:alpha val="43137"/>
                    </a:srgbClr>
                  </a:outerShdw>
                </a:effectLst>
              </a:rPr>
              <a:t/>
            </a:r>
            <a:br>
              <a:rPr lang="en-US" b="1" dirty="0" smtClean="0">
                <a:effectLst>
                  <a:outerShdw blurRad="38100" dist="38100" dir="2700000" algn="tl">
                    <a:srgbClr val="000000">
                      <a:alpha val="43137"/>
                    </a:srgbClr>
                  </a:outerShdw>
                </a:effectLst>
              </a:rPr>
            </a:br>
            <a:r>
              <a:rPr lang="en-US" altLang="en-US" b="1" dirty="0" smtClean="0">
                <a:effectLst>
                  <a:outerShdw blurRad="38100" dist="38100" dir="2700000" algn="tl">
                    <a:srgbClr val="000000">
                      <a:alpha val="43137"/>
                    </a:srgbClr>
                  </a:outerShdw>
                </a:effectLst>
                <a:ea typeface="ヒラギノ角ゴ Pro W3" pitchFamily="-1" charset="-128"/>
              </a:rPr>
              <a:t>Managerial Problem &amp; Solution</a:t>
            </a:r>
            <a:r>
              <a:rPr lang="en-US" b="1" dirty="0">
                <a:effectLst>
                  <a:outerShdw blurRad="38100" dist="38100" dir="2700000" algn="tl">
                    <a:srgbClr val="000000">
                      <a:alpha val="43137"/>
                    </a:srgbClr>
                  </a:outerShdw>
                </a:effectLst>
              </a:rPr>
              <a:t/>
            </a:r>
            <a:br>
              <a:rPr lang="en-US"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Autofit/>
          </a:bodyPr>
          <a:lstStyle/>
          <a:p>
            <a:r>
              <a:rPr lang="en-US" altLang="en-US" sz="3200" dirty="0">
                <a:ea typeface="ヒラギノ角ゴ Pro W3" pitchFamily="-1" charset="-128"/>
              </a:rPr>
              <a:t>Managerial Problem</a:t>
            </a:r>
          </a:p>
          <a:p>
            <a:pPr lvl="1"/>
            <a:r>
              <a:rPr lang="en-US" altLang="en-US" sz="2000" dirty="0">
                <a:ea typeface="ヒラギノ角ゴ Pro W3" pitchFamily="-1" charset="-128"/>
              </a:rPr>
              <a:t>Labor productivity during recessions</a:t>
            </a:r>
          </a:p>
          <a:p>
            <a:pPr lvl="1"/>
            <a:r>
              <a:rPr lang="en-US" altLang="en-US" sz="2000" dirty="0">
                <a:ea typeface="ヒラギノ角ゴ Pro W3" pitchFamily="-1" charset="-128"/>
              </a:rPr>
              <a:t>How much will the output produced per worker rise or fall with each additional layoff?</a:t>
            </a:r>
          </a:p>
          <a:p>
            <a:r>
              <a:rPr lang="en-US" altLang="en-US" sz="3200" dirty="0">
                <a:ea typeface="ヒラギノ角ゴ Pro W3" pitchFamily="-1" charset="-128"/>
              </a:rPr>
              <a:t>Solution</a:t>
            </a:r>
          </a:p>
          <a:p>
            <a:pPr lvl="1"/>
            <a:r>
              <a:rPr lang="en-US" altLang="en-US" sz="2000" dirty="0">
                <a:ea typeface="ヒラギノ角ゴ Pro W3" pitchFamily="-1" charset="-128"/>
              </a:rPr>
              <a:t>Layoffs have the positive effect of freeing up machines to be used by remaining workers. However, if layoffs force the remaining workers to perform a wide variety of tasks, the firm will lose the benefits from specialization. </a:t>
            </a:r>
          </a:p>
          <a:p>
            <a:pPr lvl="1"/>
            <a:r>
              <a:rPr lang="en-US" altLang="en-US" sz="2000" dirty="0">
                <a:ea typeface="ヒラギノ角ゴ Pro W3" pitchFamily="-1" charset="-128"/>
              </a:rPr>
              <a:t>Holding capital constant, a change in the number of workers affects a firm’s average product of labor. Labor productivity could rise or fall.</a:t>
            </a:r>
          </a:p>
          <a:p>
            <a:pPr lvl="1"/>
            <a:r>
              <a:rPr lang="en-US" altLang="en-US" sz="2000" dirty="0">
                <a:ea typeface="ヒラギノ角ゴ Pro W3" pitchFamily="-1" charset="-128"/>
              </a:rPr>
              <a:t>For some production functions layoffs always raise labor productivity because the </a:t>
            </a:r>
            <a:r>
              <a:rPr lang="en-US" altLang="en-US" sz="2000" i="1" dirty="0">
                <a:ea typeface="ヒラギノ角ゴ Pro W3" pitchFamily="-1" charset="-128"/>
              </a:rPr>
              <a:t>AP</a:t>
            </a:r>
            <a:r>
              <a:rPr lang="en-US" altLang="en-US" sz="2000" i="1" baseline="-25000" dirty="0">
                <a:ea typeface="ヒラギノ角ゴ Pro W3" pitchFamily="-1" charset="-128"/>
              </a:rPr>
              <a:t>L</a:t>
            </a:r>
            <a:r>
              <a:rPr lang="en-US" altLang="en-US" sz="2000" dirty="0">
                <a:ea typeface="ヒラギノ角ゴ Pro W3" pitchFamily="-1" charset="-128"/>
              </a:rPr>
              <a:t> curve is everywhere downward sloping, for instance the Cobb-Douglass production function.</a:t>
            </a:r>
          </a:p>
          <a:p>
            <a:endParaRPr lang="en-US" altLang="en-US" sz="3600" dirty="0">
              <a:ea typeface="ヒラギノ角ゴ Pro W3" pitchFamily="-1" charset="-128"/>
            </a:endParaRPr>
          </a:p>
          <a:p>
            <a:pPr marL="0" indent="0">
              <a:buNone/>
            </a:pPr>
            <a:endParaRPr lang="en-US" sz="3600" dirty="0"/>
          </a:p>
        </p:txBody>
      </p:sp>
    </p:spTree>
    <p:extLst>
      <p:ext uri="{BB962C8B-B14F-4D97-AF65-F5344CB8AC3E}">
        <p14:creationId xmlns:p14="http://schemas.microsoft.com/office/powerpoint/2010/main" val="13020298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2006</TotalTime>
  <Words>6237</Words>
  <Application>Microsoft Office PowerPoint</Application>
  <PresentationFormat>Widescreen</PresentationFormat>
  <Paragraphs>525</Paragraphs>
  <Slides>87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87</vt:i4>
      </vt:variant>
    </vt:vector>
  </HeadingPairs>
  <TitlesOfParts>
    <vt:vector size="93" baseType="lpstr">
      <vt:lpstr>Arial</vt:lpstr>
      <vt:lpstr>Calibri</vt:lpstr>
      <vt:lpstr>Calibri Light</vt:lpstr>
      <vt:lpstr>Times New Roman</vt:lpstr>
      <vt:lpstr>ヒラギノ角ゴ Pro W3</vt:lpstr>
      <vt:lpstr>Office Theme</vt:lpstr>
      <vt:lpstr>ISB 120</vt:lpstr>
      <vt:lpstr>Unit 4: The Firm and Production  </vt:lpstr>
      <vt:lpstr>Production functions: short-run versus long-run considerations</vt:lpstr>
      <vt:lpstr>Ownership and Management of Firm</vt:lpstr>
      <vt:lpstr>Ownership and Management of Firm</vt:lpstr>
      <vt:lpstr>Ownership and Management of Firm</vt:lpstr>
      <vt:lpstr>Production</vt:lpstr>
      <vt:lpstr>EXAMPLE </vt:lpstr>
      <vt:lpstr>Production</vt:lpstr>
      <vt:lpstr>Production</vt:lpstr>
      <vt:lpstr>Short-Run Production</vt:lpstr>
      <vt:lpstr>EXAMPLE </vt:lpstr>
      <vt:lpstr>Short-Run Production</vt:lpstr>
      <vt:lpstr>Short-Run Production</vt:lpstr>
      <vt:lpstr>Short-Run Production</vt:lpstr>
      <vt:lpstr>Short-Run Production</vt:lpstr>
      <vt:lpstr>Short-Run Production</vt:lpstr>
      <vt:lpstr>Short-Run Production</vt:lpstr>
      <vt:lpstr>Long-Run Production</vt:lpstr>
      <vt:lpstr>Long-Run Production</vt:lpstr>
      <vt:lpstr>Long-Run Production</vt:lpstr>
      <vt:lpstr>Long-Run Production</vt:lpstr>
      <vt:lpstr>Long-Run Production</vt:lpstr>
      <vt:lpstr>Long-Run Production</vt:lpstr>
      <vt:lpstr>Long-Run Production</vt:lpstr>
      <vt:lpstr>Long-Run Production-SUBSTITUTABILTY OF INPUT</vt:lpstr>
      <vt:lpstr>Long-Run Production</vt:lpstr>
      <vt:lpstr>Long-Run Production</vt:lpstr>
      <vt:lpstr>Long-Run Production</vt:lpstr>
      <vt:lpstr>Long-Run Production</vt:lpstr>
      <vt:lpstr>Long-Run Production</vt:lpstr>
      <vt:lpstr>Long-Run Production</vt:lpstr>
      <vt:lpstr>Returns to Scale </vt:lpstr>
      <vt:lpstr>Returns to Scale </vt:lpstr>
      <vt:lpstr>Returns to Scale</vt:lpstr>
      <vt:lpstr>Returns to Scale</vt:lpstr>
      <vt:lpstr>Varying Scale Economies </vt:lpstr>
      <vt:lpstr>Marginal, Average and Total Product </vt:lpstr>
      <vt:lpstr>Marginal, Average and Total Product </vt:lpstr>
      <vt:lpstr>Marginal, Average and Total Product </vt:lpstr>
      <vt:lpstr>Marginal, Average and Total Product </vt:lpstr>
      <vt:lpstr>Marginal, Average and Total Product </vt:lpstr>
      <vt:lpstr>Marginal, Average and Total Product </vt:lpstr>
      <vt:lpstr>Cost analysis: fixed costs, variable costs, and total costs  </vt:lpstr>
      <vt:lpstr>Table with solved answers</vt:lpstr>
      <vt:lpstr>Profit maximization and the relationship between costs and revenue  </vt:lpstr>
      <vt:lpstr>Profit maximization and the relationship between costs and revenue  </vt:lpstr>
      <vt:lpstr>Why does profit maximisation occur where MC = MR  </vt:lpstr>
      <vt:lpstr>Profit maximization and the relationship between costs and revenue  </vt:lpstr>
      <vt:lpstr>Profit maximization and the relationship between costs and revenue  </vt:lpstr>
      <vt:lpstr>Example  </vt:lpstr>
      <vt:lpstr>Solution  </vt:lpstr>
      <vt:lpstr>Solution</vt:lpstr>
      <vt:lpstr>Find James‟s output and profit without tax.  </vt:lpstr>
      <vt:lpstr>Market structures: perfect competition and monopoly</vt:lpstr>
      <vt:lpstr>MONOPOLY </vt:lpstr>
      <vt:lpstr>Market structures: perfect competition and monopoly  </vt:lpstr>
      <vt:lpstr>Market structures: perfect competition and monopoly</vt:lpstr>
      <vt:lpstr>Market structures: perfect competition and monopoly</vt:lpstr>
      <vt:lpstr>Market structures: perfect competition and monopoly</vt:lpstr>
      <vt:lpstr>Market structures: perfect competition and monopoly</vt:lpstr>
      <vt:lpstr>Market structures: perfect competition and monopoly</vt:lpstr>
      <vt:lpstr>Pricing strategies and the impact of market power  </vt:lpstr>
      <vt:lpstr>Pricing strategies and the impact of market power  </vt:lpstr>
      <vt:lpstr>Profit and revenue in different market structures  </vt:lpstr>
      <vt:lpstr>Profit and revenue in different market structures  </vt:lpstr>
      <vt:lpstr>LONG RUN EQUILIBRIUM, PRICE AND OUTPUT DETERMINATION UNDER PERFECT COMPETITION </vt:lpstr>
      <vt:lpstr>LONG RUN EQUILIBRIUM, PRICE AND OUTPUT DETERMINATION UNDER PERFECT COMPETITION </vt:lpstr>
      <vt:lpstr>MONOPOLY </vt:lpstr>
      <vt:lpstr>MONOPOLY</vt:lpstr>
      <vt:lpstr>Economies of scale and scope in production  </vt:lpstr>
      <vt:lpstr>Types of Economies of Scale </vt:lpstr>
      <vt:lpstr>Types of Economies of Scale </vt:lpstr>
      <vt:lpstr>Types of Economies of Scale </vt:lpstr>
      <vt:lpstr>DISECONOMIES OF SCALE</vt:lpstr>
      <vt:lpstr>Technological advancements and their influence on production  </vt:lpstr>
      <vt:lpstr>Labor markets and the economic implications of wage differentials</vt:lpstr>
      <vt:lpstr>KINDS OF WAGES  </vt:lpstr>
      <vt:lpstr>THE SUBSISTENCE THEORY OF WAGES </vt:lpstr>
      <vt:lpstr>STANDARD OF LIVING THEORY OF WAGES  </vt:lpstr>
      <vt:lpstr>THE WAGE FUND THEORY OF WAGES  </vt:lpstr>
      <vt:lpstr>THE RESIDUAL CLAIMANT THEORY OF WAGE  </vt:lpstr>
      <vt:lpstr>MARGINAL PRODUCTIVITY THEORY OF WAGE  </vt:lpstr>
      <vt:lpstr>THE BARGAINING THEORY OF WAGES  </vt:lpstr>
      <vt:lpstr>THE MARKET THEORY OF WAGES  </vt:lpstr>
      <vt:lpstr>Diagram of determination of wages in a market </vt:lpstr>
      <vt:lpstr>  Managerial Problem &amp; Solution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Martha</dc:creator>
  <cp:lastModifiedBy>Martha</cp:lastModifiedBy>
  <cp:revision>94</cp:revision>
  <dcterms:created xsi:type="dcterms:W3CDTF">2025-06-12T03:54:40Z</dcterms:created>
  <dcterms:modified xsi:type="dcterms:W3CDTF">2025-06-18T07:18:52Z</dcterms:modified>
</cp:coreProperties>
</file>