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01" r:id="rId63"/>
    <p:sldId id="30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73" d="100"/>
          <a:sy n="73" d="100"/>
        </p:scale>
        <p:origin x="6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5261BA-00BD-489B-8B67-5D758171BC2A}"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541332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5261BA-00BD-489B-8B67-5D758171BC2A}"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26042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064400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5261BA-00BD-489B-8B67-5D758171BC2A}"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199345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5261BA-00BD-489B-8B67-5D758171BC2A}" type="datetimeFigureOut">
              <a:rPr lang="en-US" smtClean="0"/>
              <a:t>6/10/2025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2971683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5261BA-00BD-489B-8B67-5D758171BC2A}" type="datetimeFigureOut">
              <a:rPr lang="en-US" smtClean="0"/>
              <a:t>6/10/2025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971030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261BA-00BD-489B-8B67-5D758171BC2A}" type="datetimeFigureOut">
              <a:rPr lang="en-US" smtClean="0"/>
              <a:t>6/10/2025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414770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5261BA-00BD-489B-8B67-5D758171BC2A}"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493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5261BA-00BD-489B-8B67-5D758171BC2A}"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238928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5261BA-00BD-489B-8B67-5D758171BC2A}"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939299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5261BA-00BD-489B-8B67-5D758171BC2A}"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21497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261BA-00BD-489B-8B67-5D758171BC2A}" type="datetimeFigureOut">
              <a:rPr lang="en-US" smtClean="0"/>
              <a:t>6/10/2025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3E332C-E3DB-46E0-800C-3B344F8A61A8}" type="slidenum">
              <a:rPr lang="en-US" smtClean="0"/>
              <a:t>‹#›</a:t>
            </a:fld>
            <a:endParaRPr lang="en-US"/>
          </a:p>
        </p:txBody>
      </p:sp>
    </p:spTree>
    <p:extLst>
      <p:ext uri="{BB962C8B-B14F-4D97-AF65-F5344CB8AC3E}">
        <p14:creationId xmlns:p14="http://schemas.microsoft.com/office/powerpoint/2010/main" val="56891870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68433" y="1293222"/>
            <a:ext cx="5434149" cy="2429691"/>
          </a:xfrm>
        </p:spPr>
        <p:txBody>
          <a:bodyPr>
            <a:normAutofit/>
          </a:bodyPr>
          <a:lstStyle/>
          <a:p>
            <a:r>
              <a:rPr lang="en-US" sz="7300" b="1" dirty="0" smtClean="0">
                <a:effectLst>
                  <a:outerShdw blurRad="38100" dist="38100" dir="2700000" algn="tl">
                    <a:srgbClr val="000000">
                      <a:alpha val="43137"/>
                    </a:srgbClr>
                  </a:outerShdw>
                </a:effectLst>
              </a:rPr>
              <a:t>ISB 120</a:t>
            </a:r>
            <a:r>
              <a:rPr lang="en-US" sz="3100" dirty="0"/>
              <a:t/>
            </a:r>
            <a:br>
              <a:rPr lang="en-US" sz="3100" dirty="0"/>
            </a:br>
            <a:r>
              <a:rPr lang="en-US" dirty="0"/>
              <a:t> </a:t>
            </a:r>
          </a:p>
        </p:txBody>
      </p:sp>
      <p:sp>
        <p:nvSpPr>
          <p:cNvPr id="3" name="Subtitle 2"/>
          <p:cNvSpPr>
            <a:spLocks noGrp="1"/>
          </p:cNvSpPr>
          <p:nvPr>
            <p:ph type="subTitle" idx="1"/>
          </p:nvPr>
        </p:nvSpPr>
        <p:spPr>
          <a:xfrm>
            <a:off x="1524000" y="3602037"/>
            <a:ext cx="9144000" cy="1923552"/>
          </a:xfrm>
        </p:spPr>
        <p:txBody>
          <a:bodyPr>
            <a:normAutofit/>
          </a:bodyPr>
          <a:lstStyle/>
          <a:p>
            <a:r>
              <a:rPr lang="en-US" sz="4000" b="1" dirty="0" smtClean="0">
                <a:effectLst>
                  <a:outerShdw blurRad="38100" dist="38100" dir="2700000" algn="tl">
                    <a:srgbClr val="000000">
                      <a:alpha val="43137"/>
                    </a:srgbClr>
                  </a:outerShdw>
                </a:effectLst>
              </a:rPr>
              <a:t>(</a:t>
            </a:r>
            <a:r>
              <a:rPr lang="en-US" sz="4000" b="1" dirty="0" err="1" smtClean="0">
                <a:effectLst>
                  <a:outerShdw blurRad="38100" dist="38100" dir="2700000" algn="tl">
                    <a:srgbClr val="000000">
                      <a:alpha val="43137"/>
                    </a:srgbClr>
                  </a:outerShdw>
                </a:effectLst>
              </a:rPr>
              <a:t>Ph.D</a:t>
            </a:r>
            <a:r>
              <a:rPr lang="en-US" sz="4000" b="1" smtClean="0">
                <a:effectLst>
                  <a:outerShdw blurRad="38100" dist="38100" dir="2700000" algn="tl">
                    <a:srgbClr val="000000">
                      <a:alpha val="43137"/>
                    </a:srgbClr>
                  </a:outerShdw>
                </a:effectLst>
              </a:rPr>
              <a:t> WIP, LECTURER </a:t>
            </a:r>
            <a:r>
              <a:rPr lang="en-US" sz="4000" b="1" dirty="0">
                <a:effectLst>
                  <a:outerShdw blurRad="38100" dist="38100" dir="2700000" algn="tl">
                    <a:srgbClr val="000000">
                      <a:alpha val="43137"/>
                    </a:srgbClr>
                  </a:outerShdw>
                </a:effectLst>
              </a:rPr>
              <a:t>NAME:</a:t>
            </a:r>
          </a:p>
          <a:p>
            <a:r>
              <a:rPr lang="en-US" sz="4000" b="1" dirty="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endParaRPr lang="en-US"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37544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61617" cy="1254669"/>
          </a:xfrm>
        </p:spPr>
        <p:txBody>
          <a:bodyPr/>
          <a:lstStyle/>
          <a:p>
            <a:r>
              <a:rPr lang="en-US" b="1" i="1" dirty="0" smtClean="0"/>
              <a:t>UNIT 1: INTRODUCTION TO MICROECONOMICS</a:t>
            </a:r>
            <a:endParaRPr lang="en-US" b="1" i="1" dirty="0"/>
          </a:p>
        </p:txBody>
      </p:sp>
      <p:sp>
        <p:nvSpPr>
          <p:cNvPr id="3" name="Content Placeholder 2"/>
          <p:cNvSpPr>
            <a:spLocks noGrp="1"/>
          </p:cNvSpPr>
          <p:nvPr>
            <p:ph idx="1"/>
          </p:nvPr>
        </p:nvSpPr>
        <p:spPr>
          <a:xfrm>
            <a:off x="838199" y="1159420"/>
            <a:ext cx="10515600" cy="4351338"/>
          </a:xfrm>
        </p:spPr>
        <p:txBody>
          <a:bodyPr>
            <a:noAutofit/>
          </a:bodyPr>
          <a:lstStyle/>
          <a:p>
            <a:pPr>
              <a:buFont typeface="Wingdings" panose="05000000000000000000" pitchFamily="2" charset="2"/>
              <a:buChar char="q"/>
            </a:pPr>
            <a:endParaRPr lang="en-US" sz="2400" dirty="0"/>
          </a:p>
          <a:p>
            <a:pPr>
              <a:buFont typeface="Wingdings" panose="05000000000000000000" pitchFamily="2" charset="2"/>
              <a:buChar char="q"/>
            </a:pPr>
            <a:r>
              <a:rPr lang="en-US" sz="2400" dirty="0"/>
              <a:t> </a:t>
            </a:r>
            <a:r>
              <a:rPr lang="en-US" sz="2400" dirty="0" smtClean="0"/>
              <a:t> </a:t>
            </a:r>
            <a:r>
              <a:rPr lang="en-US" sz="2400" dirty="0"/>
              <a:t>Definition and scope of microeconomics </a:t>
            </a:r>
          </a:p>
          <a:p>
            <a:pPr>
              <a:buFont typeface="Wingdings" panose="05000000000000000000" pitchFamily="2" charset="2"/>
              <a:buChar char="q"/>
            </a:pPr>
            <a:r>
              <a:rPr lang="en-US" sz="2400" dirty="0"/>
              <a:t> </a:t>
            </a:r>
            <a:r>
              <a:rPr lang="en-US" sz="2400" dirty="0" smtClean="0"/>
              <a:t> Distinction </a:t>
            </a:r>
            <a:r>
              <a:rPr lang="en-US" sz="2400" dirty="0"/>
              <a:t>between microeconomics and macroeconomics </a:t>
            </a:r>
          </a:p>
          <a:p>
            <a:pPr>
              <a:buFont typeface="Wingdings" panose="05000000000000000000" pitchFamily="2" charset="2"/>
              <a:buChar char="q"/>
            </a:pPr>
            <a:r>
              <a:rPr lang="en-US" sz="2400" dirty="0" smtClean="0"/>
              <a:t>  </a:t>
            </a:r>
            <a:r>
              <a:rPr lang="en-US" sz="2400" dirty="0"/>
              <a:t>Key microeconomic concepts: opportunity cost, scarcity, rational decision-making </a:t>
            </a:r>
          </a:p>
          <a:p>
            <a:pPr>
              <a:buFont typeface="Wingdings" panose="05000000000000000000" pitchFamily="2" charset="2"/>
              <a:buChar char="q"/>
            </a:pPr>
            <a:r>
              <a:rPr lang="en-US" sz="2400" dirty="0" smtClean="0"/>
              <a:t> </a:t>
            </a:r>
            <a:r>
              <a:rPr lang="en-US" sz="2400" dirty="0"/>
              <a:t>The role of microeconomics in shaping economic policy and decision-making </a:t>
            </a:r>
          </a:p>
          <a:p>
            <a:pPr>
              <a:buFont typeface="Wingdings" panose="05000000000000000000" pitchFamily="2" charset="2"/>
              <a:buChar char="q"/>
            </a:pPr>
            <a:r>
              <a:rPr lang="en-US" sz="2400" dirty="0" smtClean="0"/>
              <a:t> </a:t>
            </a:r>
            <a:r>
              <a:rPr lang="en-US" sz="2400" dirty="0"/>
              <a:t>Historical perspectives and the evolution of microeconomic thought </a:t>
            </a:r>
          </a:p>
          <a:p>
            <a:pPr>
              <a:buFont typeface="Wingdings" panose="05000000000000000000" pitchFamily="2" charset="2"/>
              <a:buChar char="q"/>
            </a:pPr>
            <a:r>
              <a:rPr lang="en-US" sz="2400" dirty="0" smtClean="0"/>
              <a:t> </a:t>
            </a:r>
            <a:r>
              <a:rPr lang="en-US" sz="2400" dirty="0"/>
              <a:t>The scientific method and economic research </a:t>
            </a:r>
          </a:p>
          <a:p>
            <a:pPr>
              <a:buFont typeface="Wingdings" panose="05000000000000000000" pitchFamily="2" charset="2"/>
              <a:buChar char="q"/>
            </a:pPr>
            <a:r>
              <a:rPr lang="en-US" sz="2400" dirty="0" smtClean="0"/>
              <a:t> </a:t>
            </a:r>
            <a:r>
              <a:rPr lang="en-US" sz="2400" dirty="0"/>
              <a:t>Microeconomics and interdisciplinary connections (e.g., psychology, sociology) </a:t>
            </a:r>
          </a:p>
          <a:p>
            <a:pPr>
              <a:buFont typeface="Wingdings" panose="05000000000000000000" pitchFamily="2" charset="2"/>
              <a:buChar char="q"/>
            </a:pPr>
            <a:r>
              <a:rPr lang="en-US" sz="2400" dirty="0" smtClean="0"/>
              <a:t> </a:t>
            </a:r>
            <a:r>
              <a:rPr lang="en-US" sz="2400" dirty="0"/>
              <a:t>Practical applications of microeconomics in daily life </a:t>
            </a:r>
          </a:p>
          <a:p>
            <a:pPr>
              <a:buFont typeface="Wingdings" panose="05000000000000000000" pitchFamily="2" charset="2"/>
              <a:buChar char="q"/>
            </a:pPr>
            <a:r>
              <a:rPr lang="en-US" sz="2400" dirty="0" smtClean="0"/>
              <a:t> </a:t>
            </a:r>
            <a:r>
              <a:rPr lang="en-US" sz="2400" dirty="0"/>
              <a:t>The importance of economic literacy for informed citizenship </a:t>
            </a:r>
          </a:p>
          <a:p>
            <a:pPr>
              <a:buFont typeface="Wingdings" panose="05000000000000000000" pitchFamily="2" charset="2"/>
              <a:buChar char="q"/>
            </a:pPr>
            <a:r>
              <a:rPr lang="en-US" sz="2400" dirty="0" smtClean="0"/>
              <a:t> </a:t>
            </a:r>
            <a:r>
              <a:rPr lang="en-US" sz="2400" dirty="0"/>
              <a:t>Role of microeconomic analysis in addressing global challenges (e.g., poverty, climate change) </a:t>
            </a:r>
          </a:p>
        </p:txBody>
      </p:sp>
    </p:spTree>
    <p:extLst>
      <p:ext uri="{BB962C8B-B14F-4D97-AF65-F5344CB8AC3E}">
        <p14:creationId xmlns:p14="http://schemas.microsoft.com/office/powerpoint/2010/main" val="1204810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DEFINITIONS OF ECONOMICS: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Several </a:t>
            </a:r>
            <a:r>
              <a:rPr lang="en-US" dirty="0"/>
              <a:t>definitions of Economics have been given. For the sake of convenience let us classify the various definitions into four groups: </a:t>
            </a:r>
          </a:p>
          <a:p>
            <a:r>
              <a:rPr lang="en-US" dirty="0"/>
              <a:t>1. Science of wealth </a:t>
            </a:r>
          </a:p>
          <a:p>
            <a:r>
              <a:rPr lang="en-US" dirty="0"/>
              <a:t>2. Science of material well-being </a:t>
            </a:r>
          </a:p>
          <a:p>
            <a:r>
              <a:rPr lang="en-US" dirty="0"/>
              <a:t>3. Science of choice making and </a:t>
            </a:r>
          </a:p>
          <a:p>
            <a:r>
              <a:rPr lang="en-US" dirty="0"/>
              <a:t>4. Science of dynamic growth </a:t>
            </a:r>
            <a:r>
              <a:rPr lang="en-US" dirty="0" smtClean="0"/>
              <a:t>and </a:t>
            </a:r>
            <a:r>
              <a:rPr lang="en-US" dirty="0"/>
              <a:t>development </a:t>
            </a:r>
            <a:endParaRPr lang="en-US" dirty="0" smtClean="0"/>
          </a:p>
          <a:p>
            <a:r>
              <a:rPr lang="en-US" dirty="0" smtClean="0"/>
              <a:t>We shall examine each one of these briefly</a:t>
            </a:r>
            <a:endParaRPr lang="en-US" dirty="0"/>
          </a:p>
        </p:txBody>
      </p:sp>
    </p:spTree>
    <p:extLst>
      <p:ext uri="{BB962C8B-B14F-4D97-AF65-F5344CB8AC3E}">
        <p14:creationId xmlns:p14="http://schemas.microsoft.com/office/powerpoint/2010/main" val="16665166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effectLst>
                  <a:outerShdw blurRad="38100" dist="38100" dir="2700000" algn="tl">
                    <a:srgbClr val="000000">
                      <a:alpha val="43137"/>
                    </a:srgbClr>
                  </a:outerShdw>
                </a:effectLst>
              </a:rPr>
              <a:t/>
            </a:r>
            <a:br>
              <a:rPr lang="en-US" b="1" i="1" dirty="0" smtClean="0">
                <a:effectLst>
                  <a:outerShdw blurRad="38100" dist="38100" dir="2700000" algn="tl">
                    <a:srgbClr val="000000">
                      <a:alpha val="43137"/>
                    </a:srgbClr>
                  </a:outerShdw>
                </a:effectLst>
              </a:rPr>
            </a:br>
            <a:r>
              <a:rPr lang="en-US" b="1" i="1" dirty="0" smtClean="0">
                <a:effectLst>
                  <a:outerShdw blurRad="38100" dist="38100" dir="2700000" algn="tl">
                    <a:srgbClr val="000000">
                      <a:alpha val="43137"/>
                    </a:srgbClr>
                  </a:outerShdw>
                </a:effectLst>
              </a:rPr>
              <a:t>WEALTH DEFINITION – Adam Smith </a:t>
            </a:r>
            <a:br>
              <a:rPr lang="en-US" b="1" i="1" dirty="0" smtClean="0">
                <a:effectLst>
                  <a:outerShdw blurRad="38100" dist="38100" dir="2700000" algn="tl">
                    <a:srgbClr val="000000">
                      <a:alpha val="43137"/>
                    </a:srgbClr>
                  </a:outerShdw>
                </a:effectLst>
              </a:rPr>
            </a:br>
            <a:r>
              <a:rPr lang="en-US" b="1" i="1" dirty="0" smtClean="0">
                <a:effectLst>
                  <a:outerShdw blurRad="38100" dist="38100" dir="2700000" algn="tl">
                    <a:srgbClr val="000000">
                      <a:alpha val="43137"/>
                    </a:srgbClr>
                  </a:outerShdw>
                </a:effectLst>
              </a:rPr>
              <a:t/>
            </a:r>
            <a:br>
              <a:rPr lang="en-US" b="1" i="1" dirty="0" smtClean="0">
                <a:effectLst>
                  <a:outerShdw blurRad="38100" dist="38100" dir="2700000" algn="tl">
                    <a:srgbClr val="000000">
                      <a:alpha val="43137"/>
                    </a:srgbClr>
                  </a:outerShdw>
                </a:effectLst>
              </a:rPr>
            </a:br>
            <a:endParaRPr lang="en-US" b="1" i="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4713923"/>
          </a:xfrm>
        </p:spPr>
        <p:txBody>
          <a:bodyPr>
            <a:normAutofit fontScale="70000" lnSpcReduction="20000"/>
          </a:bodyPr>
          <a:lstStyle/>
          <a:p>
            <a:r>
              <a:rPr lang="en-US" dirty="0" smtClean="0"/>
              <a:t>Economics </a:t>
            </a:r>
            <a:r>
              <a:rPr lang="en-US" dirty="0"/>
              <a:t>as “an enquiry into the nature and causes of wealth” </a:t>
            </a:r>
          </a:p>
          <a:p>
            <a:r>
              <a:rPr lang="en-US" b="1" dirty="0"/>
              <a:t>MAIN FEATURES OF WEALTH DEFINITION </a:t>
            </a:r>
            <a:endParaRPr lang="en-US" dirty="0"/>
          </a:p>
          <a:p>
            <a:r>
              <a:rPr lang="en-US" dirty="0"/>
              <a:t>Economics is concerned with the study of wealth only </a:t>
            </a:r>
          </a:p>
          <a:p>
            <a:r>
              <a:rPr lang="en-US" dirty="0"/>
              <a:t>The term wealth denotes only material goods. Non-material goods like services and free goods are excluded </a:t>
            </a:r>
          </a:p>
          <a:p>
            <a:r>
              <a:rPr lang="en-US" dirty="0"/>
              <a:t>Economics studies the causes of wealth changes which means economic development </a:t>
            </a:r>
          </a:p>
          <a:p>
            <a:endParaRPr lang="en-US" dirty="0"/>
          </a:p>
          <a:p>
            <a:r>
              <a:rPr lang="en-US" b="1" dirty="0"/>
              <a:t>CRITICISM OF THE DEFINITION </a:t>
            </a:r>
            <a:endParaRPr lang="en-US" dirty="0"/>
          </a:p>
          <a:p>
            <a:r>
              <a:rPr lang="en-US" b="1" dirty="0"/>
              <a:t>1. Too much emphasis on wealth: </a:t>
            </a:r>
            <a:r>
              <a:rPr lang="en-US" dirty="0"/>
              <a:t>Adam smith treated economics as political economy and therefore </a:t>
            </a:r>
            <a:r>
              <a:rPr lang="en-US" dirty="0" err="1" smtClean="0"/>
              <a:t>emphasised</a:t>
            </a:r>
            <a:r>
              <a:rPr lang="en-US" dirty="0" smtClean="0"/>
              <a:t> </a:t>
            </a:r>
            <a:r>
              <a:rPr lang="en-US" dirty="0"/>
              <a:t>the importance of wealth from a national angle. If wealth is looked upon as money alone, it will give wrong pictures. </a:t>
            </a:r>
          </a:p>
          <a:p>
            <a:r>
              <a:rPr lang="en-US" b="1" dirty="0"/>
              <a:t>2. Restricted Meaning of Wealth: </a:t>
            </a:r>
            <a:r>
              <a:rPr lang="en-US" dirty="0"/>
              <a:t>He defined wealth is material goods only, like table, radio, sweets etc. Non-material services of teacher, doctors are not taken as wealth. </a:t>
            </a:r>
          </a:p>
          <a:p>
            <a:r>
              <a:rPr lang="en-US" b="1" dirty="0"/>
              <a:t>3. Concept of Economic Man: </a:t>
            </a:r>
            <a:r>
              <a:rPr lang="en-US" dirty="0"/>
              <a:t>Wealth definition was based mainly on an economic man who was supposed to give attention to economic activities only. But in reality </a:t>
            </a:r>
          </a:p>
        </p:txBody>
      </p:sp>
    </p:spTree>
    <p:extLst>
      <p:ext uri="{BB962C8B-B14F-4D97-AF65-F5344CB8AC3E}">
        <p14:creationId xmlns:p14="http://schemas.microsoft.com/office/powerpoint/2010/main" val="2166642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a:t>behavior cannot be properly understood and analysed unless the other motives such as love, affection, sympathy are also given due weightage. </a:t>
            </a:r>
          </a:p>
          <a:p>
            <a:r>
              <a:rPr lang="en-US" b="1" dirty="0"/>
              <a:t>4. No Mention of Man’s Welfare: </a:t>
            </a:r>
            <a:r>
              <a:rPr lang="en-US" dirty="0"/>
              <a:t>Wealth definition explains the wealth-getting and wealth-spending activities of man alone. It pays to attention to the importance of the welfare of the society. </a:t>
            </a:r>
          </a:p>
          <a:p>
            <a:r>
              <a:rPr lang="en-US" b="1" dirty="0"/>
              <a:t>5. Economic Problem: </a:t>
            </a:r>
            <a:r>
              <a:rPr lang="en-US" dirty="0"/>
              <a:t>He considered the basic economic problems of meeting unlimited wants with scare means. But the central problem of economics is not at all touched by his definition. </a:t>
            </a:r>
          </a:p>
        </p:txBody>
      </p:sp>
    </p:spTree>
    <p:extLst>
      <p:ext uri="{BB962C8B-B14F-4D97-AF65-F5344CB8AC3E}">
        <p14:creationId xmlns:p14="http://schemas.microsoft.com/office/powerpoint/2010/main" val="3916258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effectLst>
                  <a:outerShdw blurRad="38100" dist="38100" dir="2700000" algn="tl">
                    <a:srgbClr val="000000">
                      <a:alpha val="43137"/>
                    </a:srgbClr>
                  </a:outerShdw>
                </a:effectLst>
              </a:rPr>
              <a:t>WELFARE DEFINITION – ALFRED MARSHALL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Economics </a:t>
            </a:r>
            <a:r>
              <a:rPr lang="en-US" dirty="0"/>
              <a:t>is a study of mankind in the ordinary business of life. It examines that part of individual and social action which is most closely connected with the attainment and with the use of the material requisites of well being”. </a:t>
            </a:r>
          </a:p>
          <a:p>
            <a:r>
              <a:rPr lang="en-US" dirty="0"/>
              <a:t>Economics is on the one side a study of wealth and the other important side is a part of the study of man. </a:t>
            </a:r>
          </a:p>
        </p:txBody>
      </p:sp>
    </p:spTree>
    <p:extLst>
      <p:ext uri="{BB962C8B-B14F-4D97-AF65-F5344CB8AC3E}">
        <p14:creationId xmlns:p14="http://schemas.microsoft.com/office/powerpoint/2010/main" val="3343945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FEATURES OF WELFARE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1</a:t>
            </a:r>
            <a:r>
              <a:rPr lang="en-US" b="1" dirty="0"/>
              <a:t>. A study of mankind: </a:t>
            </a:r>
            <a:r>
              <a:rPr lang="en-US" dirty="0"/>
              <a:t>Economics is study of mankind in the ordinary business of life that means man’s activities in the market as a producer and as a consumer of wealth. </a:t>
            </a:r>
          </a:p>
          <a:p>
            <a:r>
              <a:rPr lang="en-US" b="1" dirty="0"/>
              <a:t>2. A study of social actions: </a:t>
            </a:r>
            <a:r>
              <a:rPr lang="en-US" dirty="0"/>
              <a:t>According to him, economics is a social science which covers the activities of an ordinary man. </a:t>
            </a:r>
          </a:p>
          <a:p>
            <a:r>
              <a:rPr lang="en-US" b="1" dirty="0"/>
              <a:t>3. Study of Material Welfare: </a:t>
            </a:r>
            <a:r>
              <a:rPr lang="en-US" dirty="0"/>
              <a:t>He gave the primary place to man and secondary place to wealth. Moreover it does not study the whole of human welfare, but only a part of its economic or material welfare. </a:t>
            </a:r>
          </a:p>
          <a:p>
            <a:r>
              <a:rPr lang="en-US" b="1" dirty="0"/>
              <a:t>4. Normative Science: </a:t>
            </a:r>
            <a:r>
              <a:rPr lang="en-US" dirty="0"/>
              <a:t>Welfare definition is the study of the causes affecting the material welfare. Moreover it studies the related activities concerned with wealth. Therefore he made economics as a normative study. </a:t>
            </a:r>
          </a:p>
          <a:p>
            <a:endParaRPr lang="en-US" dirty="0"/>
          </a:p>
        </p:txBody>
      </p:sp>
    </p:spTree>
    <p:extLst>
      <p:ext uri="{BB962C8B-B14F-4D97-AF65-F5344CB8AC3E}">
        <p14:creationId xmlns:p14="http://schemas.microsoft.com/office/powerpoint/2010/main" val="470832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CRITICISM OF WELFARE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1. Material and Non-Material Welfare: </a:t>
            </a:r>
            <a:r>
              <a:rPr lang="en-US" dirty="0" smtClean="0"/>
              <a:t>Marshall has given more attention to the study of material welfare alone. The services of teacher, lawyers, singers </a:t>
            </a:r>
            <a:r>
              <a:rPr lang="en-US" dirty="0" err="1" smtClean="0"/>
              <a:t>etc</a:t>
            </a:r>
            <a:r>
              <a:rPr lang="en-US" dirty="0" smtClean="0"/>
              <a:t>, do promote welfare and such welfare may be termer as non-material welfare. </a:t>
            </a:r>
          </a:p>
          <a:p>
            <a:r>
              <a:rPr lang="en-US" b="1" dirty="0" smtClean="0"/>
              <a:t>2. Objection to welfare: </a:t>
            </a:r>
            <a:r>
              <a:rPr lang="en-US" dirty="0" smtClean="0"/>
              <a:t>According to Robbins, there are certain material activities which do not promote welfare. The manufacture of wine and opium are certainly economic activities, but they are not conductive to human welfare. </a:t>
            </a:r>
          </a:p>
          <a:p>
            <a:r>
              <a:rPr lang="en-US" b="1" dirty="0" smtClean="0"/>
              <a:t>3. Classificatory Definition: </a:t>
            </a:r>
            <a:r>
              <a:rPr lang="en-US" dirty="0" smtClean="0"/>
              <a:t>According to Robbins, the materialist definition is classificatory rather than analytical. Marshall definition classifies human activities into ‘economic’ and ‘non-economic’, ‘productive’ and ‘unproductive’, ‘material welfare’ and ‘non-material welfare’. And they considered only those human activities which are undertaken to promote material welfare. </a:t>
            </a:r>
          </a:p>
          <a:p>
            <a:r>
              <a:rPr lang="en-US" b="1" dirty="0" smtClean="0"/>
              <a:t>4. Welfare cannot be measured: </a:t>
            </a:r>
            <a:r>
              <a:rPr lang="en-US" dirty="0" smtClean="0"/>
              <a:t>Marshall’s idea of welfare is based on cardinal utility. But utility is a psychological entity which cannot be measured.</a:t>
            </a:r>
          </a:p>
          <a:p>
            <a:endParaRPr lang="en-US" dirty="0"/>
          </a:p>
        </p:txBody>
      </p:sp>
    </p:spTree>
    <p:extLst>
      <p:ext uri="{BB962C8B-B14F-4D97-AF65-F5344CB8AC3E}">
        <p14:creationId xmlns:p14="http://schemas.microsoft.com/office/powerpoint/2010/main" val="3897292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SCARCITY DEFINITION – LIONEL ROBBINS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a:t>
            </a:r>
            <a:r>
              <a:rPr lang="en-US" dirty="0"/>
              <a:t>Economics is the science which studies human behavior as a relationship between ends and scarce which have alternative uses”. </a:t>
            </a:r>
          </a:p>
        </p:txBody>
      </p:sp>
    </p:spTree>
    <p:extLst>
      <p:ext uri="{BB962C8B-B14F-4D97-AF65-F5344CB8AC3E}">
        <p14:creationId xmlns:p14="http://schemas.microsoft.com/office/powerpoint/2010/main" val="28308562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FUNDAMENTAL CHARACTERISTICS OF SCARCITY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1. Human wants are unlimited: </a:t>
            </a:r>
            <a:r>
              <a:rPr lang="en-US" dirty="0" smtClean="0"/>
              <a:t>“Ends” refers to human wants which are unlimited but the resources available to satisfy these wants are limited. </a:t>
            </a:r>
          </a:p>
          <a:p>
            <a:r>
              <a:rPr lang="en-US" b="1" dirty="0" smtClean="0"/>
              <a:t>2. Scarcity: </a:t>
            </a:r>
            <a:r>
              <a:rPr lang="en-US" dirty="0" smtClean="0"/>
              <a:t>The scarcities of means resources (time or money) at the disposal of a person to satisfy his wants are limited. </a:t>
            </a:r>
          </a:p>
          <a:p>
            <a:r>
              <a:rPr lang="en-US" b="1" dirty="0" smtClean="0"/>
              <a:t>3. Alternative use of scare means: </a:t>
            </a:r>
            <a:r>
              <a:rPr lang="en-US" dirty="0" smtClean="0"/>
              <a:t>Economic resources are not only scare but are also put to alternative uses that means various choice. We may use land for raising crops or for building houses. </a:t>
            </a:r>
          </a:p>
          <a:p>
            <a:r>
              <a:rPr lang="en-US" b="1" dirty="0"/>
              <a:t>4. The economic problem: </a:t>
            </a:r>
            <a:r>
              <a:rPr lang="en-US" dirty="0"/>
              <a:t>According to him, resources are limited and it have alternative use. The choosing of one is at the cost of another. </a:t>
            </a:r>
          </a:p>
        </p:txBody>
      </p:sp>
    </p:spTree>
    <p:extLst>
      <p:ext uri="{BB962C8B-B14F-4D97-AF65-F5344CB8AC3E}">
        <p14:creationId xmlns:p14="http://schemas.microsoft.com/office/powerpoint/2010/main" val="24839689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CRITICISM OF SCARCITY DEFINITION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r>
              <a:rPr lang="en-US" b="1" dirty="0" smtClean="0"/>
              <a:t>1</a:t>
            </a:r>
            <a:r>
              <a:rPr lang="en-US" b="1" dirty="0"/>
              <a:t>. It is too narrow and too wide: </a:t>
            </a:r>
            <a:r>
              <a:rPr lang="en-US" dirty="0"/>
              <a:t>It is too narrow because it excludes such topics as defects of economic organization which lead to idle resources. It is to wide to admit with allocation of scarce means which have alternative uses. </a:t>
            </a:r>
          </a:p>
          <a:p>
            <a:r>
              <a:rPr lang="en-US" b="1" dirty="0"/>
              <a:t>2. It study only positive science: </a:t>
            </a:r>
            <a:r>
              <a:rPr lang="en-US" dirty="0"/>
              <a:t>Robbins study explain only about positive science which means what is it but not about what should be. </a:t>
            </a:r>
          </a:p>
          <a:p>
            <a:r>
              <a:rPr lang="en-US" b="1" dirty="0"/>
              <a:t>3. It confines micro analysis: </a:t>
            </a:r>
            <a:r>
              <a:rPr lang="en-US" dirty="0"/>
              <a:t>It is concerned with how as individual faces unlimited ends with scare means. But economic problems are mostly social in character rater than individual. </a:t>
            </a:r>
          </a:p>
          <a:p>
            <a:r>
              <a:rPr lang="en-US" b="1" dirty="0"/>
              <a:t>4. Ignores growth Economics: </a:t>
            </a:r>
            <a:r>
              <a:rPr lang="en-US" dirty="0"/>
              <a:t>Economics of growth and development is integral part of economics. But he does not pay any attention to these aspects of economics. </a:t>
            </a:r>
          </a:p>
          <a:p>
            <a:r>
              <a:rPr lang="en-US" b="1" dirty="0"/>
              <a:t>5. Not applicable to under developed countries: </a:t>
            </a:r>
            <a:r>
              <a:rPr lang="en-US" dirty="0"/>
              <a:t>A peculiar feature of many under developed countries is that the resources are not scarce, but they are either underutilized or unutilized or </a:t>
            </a:r>
            <a:r>
              <a:rPr lang="en-US" dirty="0" err="1"/>
              <a:t>misutilized</a:t>
            </a:r>
            <a:r>
              <a:rPr lang="en-US" dirty="0"/>
              <a:t>. </a:t>
            </a:r>
          </a:p>
          <a:p>
            <a:pPr marL="0" indent="0">
              <a:buNone/>
            </a:pPr>
            <a:endParaRPr lang="en-US" dirty="0"/>
          </a:p>
        </p:txBody>
      </p:sp>
    </p:spTree>
    <p:extLst>
      <p:ext uri="{BB962C8B-B14F-4D97-AF65-F5344CB8AC3E}">
        <p14:creationId xmlns:p14="http://schemas.microsoft.com/office/powerpoint/2010/main" val="453387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GROWTH DEFINITION – SAMUELSON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Economics </a:t>
            </a:r>
            <a:r>
              <a:rPr lang="en-US" dirty="0"/>
              <a:t>is a social science mainly concerned with the way how society employs its limited resources which have alternative uses, to produce goods and services for present and future consumption of various people or groups. </a:t>
            </a:r>
          </a:p>
        </p:txBody>
      </p:sp>
    </p:spTree>
    <p:extLst>
      <p:ext uri="{BB962C8B-B14F-4D97-AF65-F5344CB8AC3E}">
        <p14:creationId xmlns:p14="http://schemas.microsoft.com/office/powerpoint/2010/main" val="260658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MAIN FEATURES OF GROWTH DEFINITION: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1. It is applicable even in a batter economy where money measurement is not possible. </a:t>
            </a:r>
          </a:p>
          <a:p>
            <a:r>
              <a:rPr lang="en-US" dirty="0" smtClean="0"/>
              <a:t>2. The inclusion of time element makes the scope of economics dynamics </a:t>
            </a:r>
          </a:p>
          <a:p>
            <a:r>
              <a:rPr lang="en-US" dirty="0" smtClean="0"/>
              <a:t>3. This definition possesses universality in its applications. </a:t>
            </a:r>
          </a:p>
          <a:p>
            <a:r>
              <a:rPr lang="en-US" b="1" dirty="0" smtClean="0"/>
              <a:t>Note: </a:t>
            </a:r>
            <a:r>
              <a:rPr lang="en-US" dirty="0" smtClean="0"/>
              <a:t>Growth definition is similar to scarcity definition and it is an improvement over the scarcity definition. </a:t>
            </a:r>
          </a:p>
          <a:p>
            <a:pPr marL="0" indent="0">
              <a:buNone/>
            </a:pPr>
            <a:endParaRPr lang="en-US" dirty="0" smtClean="0"/>
          </a:p>
          <a:p>
            <a:endParaRPr lang="en-US" dirty="0"/>
          </a:p>
        </p:txBody>
      </p:sp>
    </p:spTree>
    <p:extLst>
      <p:ext uri="{BB962C8B-B14F-4D97-AF65-F5344CB8AC3E}">
        <p14:creationId xmlns:p14="http://schemas.microsoft.com/office/powerpoint/2010/main" val="42615072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DIVISION OF ECONOMICS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 </a:t>
            </a:r>
            <a:r>
              <a:rPr lang="en-US" dirty="0"/>
              <a:t>Consumption </a:t>
            </a:r>
          </a:p>
          <a:p>
            <a:pPr>
              <a:buFont typeface="Wingdings" panose="05000000000000000000" pitchFamily="2" charset="2"/>
              <a:buChar char="q"/>
            </a:pPr>
            <a:r>
              <a:rPr lang="en-US" dirty="0" smtClean="0"/>
              <a:t> </a:t>
            </a:r>
            <a:r>
              <a:rPr lang="en-US" dirty="0"/>
              <a:t>Production </a:t>
            </a:r>
          </a:p>
          <a:p>
            <a:pPr>
              <a:buFont typeface="Wingdings" panose="05000000000000000000" pitchFamily="2" charset="2"/>
              <a:buChar char="q"/>
            </a:pPr>
            <a:r>
              <a:rPr lang="en-US" dirty="0" smtClean="0"/>
              <a:t> </a:t>
            </a:r>
            <a:r>
              <a:rPr lang="en-US" dirty="0"/>
              <a:t>Exchange </a:t>
            </a:r>
          </a:p>
          <a:p>
            <a:pPr>
              <a:buFont typeface="Wingdings" panose="05000000000000000000" pitchFamily="2" charset="2"/>
              <a:buChar char="q"/>
            </a:pPr>
            <a:r>
              <a:rPr lang="en-US" dirty="0" smtClean="0"/>
              <a:t> </a:t>
            </a:r>
            <a:r>
              <a:rPr lang="en-US" dirty="0"/>
              <a:t>Distribution </a:t>
            </a:r>
          </a:p>
          <a:p>
            <a:pPr>
              <a:buFont typeface="Wingdings" panose="05000000000000000000" pitchFamily="2" charset="2"/>
              <a:buChar char="q"/>
            </a:pPr>
            <a:r>
              <a:rPr lang="en-US" dirty="0" smtClean="0"/>
              <a:t> </a:t>
            </a:r>
            <a:r>
              <a:rPr lang="en-US" dirty="0"/>
              <a:t>Public Finance </a:t>
            </a:r>
          </a:p>
          <a:p>
            <a:endParaRPr lang="en-US" dirty="0"/>
          </a:p>
        </p:txBody>
      </p:sp>
    </p:spTree>
    <p:extLst>
      <p:ext uri="{BB962C8B-B14F-4D97-AF65-F5344CB8AC3E}">
        <p14:creationId xmlns:p14="http://schemas.microsoft.com/office/powerpoint/2010/main" val="6429313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CONSUMPTION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Consumption </a:t>
            </a:r>
            <a:r>
              <a:rPr lang="en-US" dirty="0"/>
              <a:t>deals with the satisfaction of human wants. There is economic activity in the world because there are wants. </a:t>
            </a:r>
            <a:endParaRPr lang="en-US" dirty="0" smtClean="0"/>
          </a:p>
          <a:p>
            <a:r>
              <a:rPr lang="en-US" dirty="0" smtClean="0"/>
              <a:t>When </a:t>
            </a:r>
            <a:r>
              <a:rPr lang="en-US" dirty="0"/>
              <a:t>a want is satisfied</a:t>
            </a:r>
            <a:r>
              <a:rPr lang="en-US" dirty="0" smtClean="0"/>
              <a:t>, </a:t>
            </a:r>
            <a:r>
              <a:rPr lang="en-US" dirty="0"/>
              <a:t>the process is known as consumption. </a:t>
            </a:r>
            <a:endParaRPr lang="en-US" dirty="0" smtClean="0"/>
          </a:p>
          <a:p>
            <a:r>
              <a:rPr lang="en-US" dirty="0"/>
              <a:t>In this section, we study about the nature of wants, the classification of wants and some of the laws dealing with consumption such as the </a:t>
            </a:r>
            <a:endParaRPr lang="en-US" dirty="0" smtClean="0"/>
          </a:p>
          <a:p>
            <a:r>
              <a:rPr lang="en-US" dirty="0" smtClean="0"/>
              <a:t>law </a:t>
            </a:r>
            <a:r>
              <a:rPr lang="en-US" dirty="0"/>
              <a:t>of diminishing marginal utility, </a:t>
            </a:r>
            <a:endParaRPr lang="en-US" dirty="0" smtClean="0"/>
          </a:p>
          <a:p>
            <a:r>
              <a:rPr lang="en-US" dirty="0" smtClean="0"/>
              <a:t>Engel’s </a:t>
            </a:r>
            <a:r>
              <a:rPr lang="en-US" dirty="0"/>
              <a:t>law of family expenditure and </a:t>
            </a:r>
            <a:endParaRPr lang="en-US" dirty="0" smtClean="0"/>
          </a:p>
          <a:p>
            <a:r>
              <a:rPr lang="en-US" dirty="0" smtClean="0"/>
              <a:t>The </a:t>
            </a:r>
            <a:r>
              <a:rPr lang="en-US" dirty="0"/>
              <a:t>law of demand. </a:t>
            </a:r>
          </a:p>
        </p:txBody>
      </p:sp>
    </p:spTree>
    <p:extLst>
      <p:ext uri="{BB962C8B-B14F-4D97-AF65-F5344CB8AC3E}">
        <p14:creationId xmlns:p14="http://schemas.microsoft.com/office/powerpoint/2010/main" val="3926155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PRODUCTION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Production </a:t>
            </a:r>
            <a:r>
              <a:rPr lang="en-US" dirty="0"/>
              <a:t>refers to the creation of wealth. Strictly speaking, it refers to the creation of utilities. </a:t>
            </a:r>
            <a:endParaRPr lang="en-US" dirty="0" smtClean="0"/>
          </a:p>
          <a:p>
            <a:r>
              <a:rPr lang="en-US" dirty="0" smtClean="0"/>
              <a:t>And </a:t>
            </a:r>
            <a:r>
              <a:rPr lang="en-US" dirty="0"/>
              <a:t>utility refers to the ability of a good to satisfy a want. </a:t>
            </a:r>
            <a:endParaRPr lang="en-US" dirty="0" smtClean="0"/>
          </a:p>
          <a:p>
            <a:r>
              <a:rPr lang="en-US" dirty="0" smtClean="0"/>
              <a:t>There </a:t>
            </a:r>
            <a:r>
              <a:rPr lang="en-US" dirty="0"/>
              <a:t>are three kinds of utility. They are form utility, place utility and time utility. </a:t>
            </a:r>
            <a:endParaRPr lang="en-US" dirty="0" smtClean="0"/>
          </a:p>
          <a:p>
            <a:r>
              <a:rPr lang="en-US" dirty="0" smtClean="0"/>
              <a:t>Production </a:t>
            </a:r>
            <a:r>
              <a:rPr lang="en-US" dirty="0"/>
              <a:t>refers to all activities which are undertaken to produce goods which satisfy human wants. </a:t>
            </a:r>
            <a:endParaRPr lang="en-US" dirty="0" smtClean="0"/>
          </a:p>
          <a:p>
            <a:r>
              <a:rPr lang="en-US" dirty="0" smtClean="0"/>
              <a:t>Land</a:t>
            </a:r>
            <a:r>
              <a:rPr lang="en-US" dirty="0"/>
              <a:t>, labour, capital and organization are the four factors of production. </a:t>
            </a:r>
          </a:p>
        </p:txBody>
      </p:sp>
    </p:spTree>
    <p:extLst>
      <p:ext uri="{BB962C8B-B14F-4D97-AF65-F5344CB8AC3E}">
        <p14:creationId xmlns:p14="http://schemas.microsoft.com/office/powerpoint/2010/main" val="39582436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In the sub- division dealing with production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W</a:t>
            </a:r>
            <a:r>
              <a:rPr lang="en-US" dirty="0" smtClean="0"/>
              <a:t>e study about the laws which govern the factors of production. </a:t>
            </a:r>
          </a:p>
          <a:p>
            <a:r>
              <a:rPr lang="en-US" dirty="0" smtClean="0"/>
              <a:t>They include Malthusian Theory of population</a:t>
            </a:r>
          </a:p>
          <a:p>
            <a:r>
              <a:rPr lang="en-US" dirty="0" smtClean="0"/>
              <a:t> </a:t>
            </a:r>
            <a:r>
              <a:rPr lang="en-US" dirty="0"/>
              <a:t>T</a:t>
            </a:r>
            <a:r>
              <a:rPr lang="en-US" dirty="0" smtClean="0"/>
              <a:t>he laws of returns. </a:t>
            </a:r>
          </a:p>
          <a:p>
            <a:r>
              <a:rPr lang="en-US" dirty="0" smtClean="0"/>
              <a:t>We also study about the localization of industries and,</a:t>
            </a:r>
          </a:p>
          <a:p>
            <a:r>
              <a:rPr lang="en-US" dirty="0" smtClean="0"/>
              <a:t>Industrial organization. </a:t>
            </a:r>
          </a:p>
          <a:p>
            <a:endParaRPr lang="en-US" dirty="0"/>
          </a:p>
        </p:txBody>
      </p:sp>
    </p:spTree>
    <p:extLst>
      <p:ext uri="{BB962C8B-B14F-4D97-AF65-F5344CB8AC3E}">
        <p14:creationId xmlns:p14="http://schemas.microsoft.com/office/powerpoint/2010/main" val="2186164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EXCHANGE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t>In </a:t>
            </a:r>
            <a:r>
              <a:rPr lang="en-US" dirty="0"/>
              <a:t>modern times, no one person or country can be self-sufficient</a:t>
            </a:r>
            <a:r>
              <a:rPr lang="en-US" dirty="0" smtClean="0"/>
              <a:t>.</a:t>
            </a:r>
          </a:p>
          <a:p>
            <a:r>
              <a:rPr lang="en-US" dirty="0" smtClean="0"/>
              <a:t>This </a:t>
            </a:r>
            <a:r>
              <a:rPr lang="en-US" dirty="0"/>
              <a:t>gives rise to exchange. In exchange, we give one thing and take another. </a:t>
            </a:r>
            <a:endParaRPr lang="en-US" dirty="0" smtClean="0"/>
          </a:p>
          <a:p>
            <a:r>
              <a:rPr lang="en-US" dirty="0" smtClean="0"/>
              <a:t>Goods </a:t>
            </a:r>
            <a:r>
              <a:rPr lang="en-US" dirty="0"/>
              <a:t>maybe exchanged for goods or for money. </a:t>
            </a:r>
            <a:endParaRPr lang="en-US" dirty="0" smtClean="0"/>
          </a:p>
          <a:p>
            <a:r>
              <a:rPr lang="en-US" dirty="0" smtClean="0"/>
              <a:t>If </a:t>
            </a:r>
            <a:r>
              <a:rPr lang="en-US" dirty="0"/>
              <a:t>goods are exchanged for goods, we call it barter. </a:t>
            </a:r>
            <a:endParaRPr lang="en-US" dirty="0" smtClean="0"/>
          </a:p>
          <a:p>
            <a:r>
              <a:rPr lang="en-US" dirty="0" smtClean="0"/>
              <a:t>Modern </a:t>
            </a:r>
            <a:r>
              <a:rPr lang="en-US" dirty="0"/>
              <a:t>economy is a money economy. </a:t>
            </a:r>
            <a:endParaRPr lang="en-US" dirty="0" smtClean="0"/>
          </a:p>
          <a:p>
            <a:r>
              <a:rPr lang="en-US" dirty="0" smtClean="0"/>
              <a:t>As </a:t>
            </a:r>
            <a:r>
              <a:rPr lang="en-US" dirty="0"/>
              <a:t>goods are exchanged for money, we study in economics about the functions of money, </a:t>
            </a:r>
            <a:endParaRPr lang="en-US" dirty="0" smtClean="0"/>
          </a:p>
          <a:p>
            <a:r>
              <a:rPr lang="en-US" dirty="0" smtClean="0"/>
              <a:t>The </a:t>
            </a:r>
            <a:r>
              <a:rPr lang="en-US" dirty="0"/>
              <a:t>role of banks and we also study how prices are determined. We also discuss various aspects of international trade.</a:t>
            </a:r>
          </a:p>
        </p:txBody>
      </p:sp>
    </p:spTree>
    <p:extLst>
      <p:ext uri="{BB962C8B-B14F-4D97-AF65-F5344CB8AC3E}">
        <p14:creationId xmlns:p14="http://schemas.microsoft.com/office/powerpoint/2010/main" val="2938149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DISTRIBUTION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Wealth </a:t>
            </a:r>
            <a:r>
              <a:rPr lang="en-US" dirty="0"/>
              <a:t>is produced by the combination of land, labour, capital and organization. And it is distributed in the form rent, wages, interest and profits. In economics, we are not much interested in personal distribution. That is, we do not analyse how it is distributed among different persons in the society. But we are interested in functional distribution. As the four factors or agents of production perform different functions in production, we have to reward them. </a:t>
            </a:r>
          </a:p>
        </p:txBody>
      </p:sp>
    </p:spTree>
    <p:extLst>
      <p:ext uri="{BB962C8B-B14F-4D97-AF65-F5344CB8AC3E}">
        <p14:creationId xmlns:p14="http://schemas.microsoft.com/office/powerpoint/2010/main" val="4038684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PUBLIC FINANCE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Public finance deals with the economics of government. </a:t>
            </a:r>
          </a:p>
          <a:p>
            <a:r>
              <a:rPr lang="en-US" dirty="0" smtClean="0"/>
              <a:t>It studies mainly about the income and expenditure of government. So we have to study about different aspects relating to </a:t>
            </a:r>
          </a:p>
          <a:p>
            <a:r>
              <a:rPr lang="en-US" dirty="0" smtClean="0"/>
              <a:t>Taxation, </a:t>
            </a:r>
          </a:p>
          <a:p>
            <a:r>
              <a:rPr lang="en-US" dirty="0"/>
              <a:t>P</a:t>
            </a:r>
            <a:r>
              <a:rPr lang="en-US" dirty="0" smtClean="0"/>
              <a:t>ublic expenditure, </a:t>
            </a:r>
          </a:p>
          <a:p>
            <a:r>
              <a:rPr lang="en-US" dirty="0" smtClean="0"/>
              <a:t>Public debt and so on.</a:t>
            </a:r>
          </a:p>
          <a:p>
            <a:endParaRPr lang="en-US" dirty="0"/>
          </a:p>
        </p:txBody>
      </p:sp>
    </p:spTree>
    <p:extLst>
      <p:ext uri="{BB962C8B-B14F-4D97-AF65-F5344CB8AC3E}">
        <p14:creationId xmlns:p14="http://schemas.microsoft.com/office/powerpoint/2010/main" val="4153871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NATURE OF ECONOMICS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nature of economics deals with the question that whether economics falls into the category of science or </a:t>
            </a:r>
            <a:r>
              <a:rPr lang="en-US" dirty="0" smtClean="0"/>
              <a:t>arts.</a:t>
            </a:r>
          </a:p>
          <a:p>
            <a:r>
              <a:rPr lang="en-US" dirty="0" smtClean="0"/>
              <a:t>Various </a:t>
            </a:r>
            <a:r>
              <a:rPr lang="en-US" dirty="0"/>
              <a:t>economists have given their arguments in favour of science while </a:t>
            </a:r>
            <a:endParaRPr lang="en-US" dirty="0" smtClean="0"/>
          </a:p>
          <a:p>
            <a:r>
              <a:rPr lang="en-US" dirty="0" smtClean="0"/>
              <a:t>Others </a:t>
            </a:r>
            <a:r>
              <a:rPr lang="en-US" dirty="0"/>
              <a:t>have their reservations for arts </a:t>
            </a:r>
          </a:p>
        </p:txBody>
      </p:sp>
    </p:spTree>
    <p:extLst>
      <p:ext uri="{BB962C8B-B14F-4D97-AF65-F5344CB8AC3E}">
        <p14:creationId xmlns:p14="http://schemas.microsoft.com/office/powerpoint/2010/main" val="2005726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257"/>
            <a:ext cx="10515600" cy="836023"/>
          </a:xfrm>
        </p:spPr>
        <p:txBody>
          <a:bodyPr>
            <a:normAutofit fontScale="90000"/>
          </a:bodyPr>
          <a:lstStyle/>
          <a:p>
            <a:r>
              <a:rPr lang="en-US" b="1" dirty="0"/>
              <a:t>ECONOMICS AS A SCIENCE </a:t>
            </a:r>
            <a:r>
              <a:rPr lang="en-US" dirty="0"/>
              <a:t/>
            </a:r>
            <a:br>
              <a:rPr lang="en-US" dirty="0"/>
            </a:br>
            <a:endParaRPr lang="en-US" dirty="0"/>
          </a:p>
        </p:txBody>
      </p:sp>
      <p:sp>
        <p:nvSpPr>
          <p:cNvPr id="3" name="Content Placeholder 2"/>
          <p:cNvSpPr>
            <a:spLocks noGrp="1"/>
          </p:cNvSpPr>
          <p:nvPr>
            <p:ph idx="1"/>
          </p:nvPr>
        </p:nvSpPr>
        <p:spPr>
          <a:xfrm>
            <a:off x="838200" y="862149"/>
            <a:ext cx="10515600" cy="5734594"/>
          </a:xfrm>
        </p:spPr>
        <p:txBody>
          <a:bodyPr>
            <a:normAutofit fontScale="92500" lnSpcReduction="20000"/>
          </a:bodyPr>
          <a:lstStyle/>
          <a:p>
            <a:r>
              <a:rPr lang="en-US" dirty="0" smtClean="0"/>
              <a:t>Science </a:t>
            </a:r>
            <a:r>
              <a:rPr lang="en-US" dirty="0"/>
              <a:t>is a systematized body of knowledge which trades the relationship between cause and effect. </a:t>
            </a:r>
            <a:endParaRPr lang="en-US" dirty="0" smtClean="0"/>
          </a:p>
          <a:p>
            <a:r>
              <a:rPr lang="en-US" dirty="0" smtClean="0"/>
              <a:t>Robbins </a:t>
            </a:r>
            <a:r>
              <a:rPr lang="en-US" dirty="0"/>
              <a:t>considered economics as a science and he explains that the last three words of </a:t>
            </a:r>
            <a:r>
              <a:rPr lang="en-US" dirty="0" smtClean="0"/>
              <a:t>economics</a:t>
            </a:r>
            <a:r>
              <a:rPr lang="en-US" dirty="0"/>
              <a:t>’ indicate a clear proof that it is a science like Physics, Mathematics and Dynamics. </a:t>
            </a:r>
          </a:p>
          <a:p>
            <a:r>
              <a:rPr lang="en-US" b="1" dirty="0"/>
              <a:t>ARGUMENT IN FAVOUR OF ECONOMICS AS A SCIENCE </a:t>
            </a:r>
            <a:endParaRPr lang="en-US" dirty="0"/>
          </a:p>
          <a:p>
            <a:r>
              <a:rPr lang="en-US" dirty="0"/>
              <a:t>The following arguments are advanced to consider economics as a science </a:t>
            </a:r>
          </a:p>
          <a:p>
            <a:r>
              <a:rPr lang="en-US" b="1" dirty="0"/>
              <a:t>1. Systematized study: </a:t>
            </a:r>
            <a:r>
              <a:rPr lang="en-US" dirty="0"/>
              <a:t>The scientific method of study consists of three important steps </a:t>
            </a:r>
          </a:p>
          <a:p>
            <a:r>
              <a:rPr lang="en-US" dirty="0"/>
              <a:t>Observation </a:t>
            </a:r>
          </a:p>
          <a:p>
            <a:r>
              <a:rPr lang="en-US" dirty="0"/>
              <a:t>Reasoning, and </a:t>
            </a:r>
          </a:p>
          <a:p>
            <a:r>
              <a:rPr lang="en-US" dirty="0"/>
              <a:t>Verification </a:t>
            </a:r>
          </a:p>
          <a:p>
            <a:r>
              <a:rPr lang="en-US" dirty="0"/>
              <a:t>Likewise in economics also theories have been formulated after the relevant matters are systematically collected, classified and studied. </a:t>
            </a:r>
            <a:endParaRPr lang="en-US" dirty="0" smtClean="0"/>
          </a:p>
          <a:p>
            <a:r>
              <a:rPr lang="en-US" dirty="0" smtClean="0"/>
              <a:t>Economics </a:t>
            </a:r>
            <a:r>
              <a:rPr lang="en-US" dirty="0"/>
              <a:t>systematically divided into consumption, Production, Exchange, Distribution and Public Finance </a:t>
            </a:r>
          </a:p>
        </p:txBody>
      </p:sp>
    </p:spTree>
    <p:extLst>
      <p:ext uri="{BB962C8B-B14F-4D97-AF65-F5344CB8AC3E}">
        <p14:creationId xmlns:p14="http://schemas.microsoft.com/office/powerpoint/2010/main" val="16599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862149"/>
          </a:xfrm>
        </p:spPr>
        <p:txBody>
          <a:bodyPr>
            <a:normAutofit fontScale="90000"/>
          </a:bodyPr>
          <a:lstStyle/>
          <a:p>
            <a:r>
              <a:rPr lang="en-US" sz="2700" b="1" dirty="0"/>
              <a:t>ARGUMENT IN FAVOUR OF ECONOMICS AS A </a:t>
            </a:r>
            <a:r>
              <a:rPr lang="en-US" sz="2700" b="1" dirty="0" smtClean="0"/>
              <a:t>SCIENCE … </a:t>
            </a:r>
            <a:r>
              <a:rPr lang="en-US" dirty="0"/>
              <a:t/>
            </a:r>
            <a:br>
              <a:rPr lang="en-US" dirty="0"/>
            </a:br>
            <a:endParaRPr lang="en-US" dirty="0"/>
          </a:p>
        </p:txBody>
      </p:sp>
      <p:sp>
        <p:nvSpPr>
          <p:cNvPr id="3" name="Content Placeholder 2"/>
          <p:cNvSpPr>
            <a:spLocks noGrp="1"/>
          </p:cNvSpPr>
          <p:nvPr>
            <p:ph idx="1"/>
          </p:nvPr>
        </p:nvSpPr>
        <p:spPr>
          <a:xfrm>
            <a:off x="838200" y="1084218"/>
            <a:ext cx="10515600" cy="5092745"/>
          </a:xfrm>
        </p:spPr>
        <p:txBody>
          <a:bodyPr/>
          <a:lstStyle/>
          <a:p>
            <a:pPr marL="0" indent="0">
              <a:buNone/>
            </a:pPr>
            <a:r>
              <a:rPr lang="en-US" b="1" dirty="0" smtClean="0"/>
              <a:t>2. Scientific Law: </a:t>
            </a:r>
            <a:r>
              <a:rPr lang="en-US" dirty="0" smtClean="0"/>
              <a:t>A </a:t>
            </a:r>
            <a:r>
              <a:rPr lang="en-US" dirty="0"/>
              <a:t>science is not a mere collection of facts, but establishes a relationship between causes and effect. </a:t>
            </a:r>
            <a:endParaRPr lang="en-US" dirty="0" smtClean="0"/>
          </a:p>
          <a:p>
            <a:r>
              <a:rPr lang="en-US" dirty="0" smtClean="0"/>
              <a:t>Like </a:t>
            </a:r>
            <a:r>
              <a:rPr lang="en-US" dirty="0"/>
              <a:t>wise, in economics, the law of demand states that other things being equal, a fall in price of a commodity leads to an increase in demand and vice versa. </a:t>
            </a:r>
          </a:p>
          <a:p>
            <a:pPr marL="0" indent="0">
              <a:buNone/>
            </a:pPr>
            <a:r>
              <a:rPr lang="en-US" b="1" dirty="0"/>
              <a:t>3. Experiments: </a:t>
            </a:r>
            <a:r>
              <a:rPr lang="en-US" dirty="0"/>
              <a:t>In physical sciences, experiments can be conducted in laboratories, </a:t>
            </a:r>
            <a:endParaRPr lang="en-US" dirty="0" smtClean="0"/>
          </a:p>
          <a:p>
            <a:pPr marL="0" indent="0">
              <a:buNone/>
            </a:pPr>
            <a:r>
              <a:rPr lang="en-US" dirty="0" smtClean="0"/>
              <a:t>In </a:t>
            </a:r>
            <a:r>
              <a:rPr lang="en-US" dirty="0"/>
              <a:t>economics, </a:t>
            </a:r>
            <a:r>
              <a:rPr lang="en-US" dirty="0" smtClean="0"/>
              <a:t>laboratory </a:t>
            </a:r>
            <a:r>
              <a:rPr lang="en-US" dirty="0"/>
              <a:t>is the economy/society in which several laws and theories can be tested. </a:t>
            </a:r>
          </a:p>
        </p:txBody>
      </p:sp>
    </p:spTree>
    <p:extLst>
      <p:ext uri="{BB962C8B-B14F-4D97-AF65-F5344CB8AC3E}">
        <p14:creationId xmlns:p14="http://schemas.microsoft.com/office/powerpoint/2010/main" val="1650824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normAutofit fontScale="90000"/>
          </a:bodyPr>
          <a:lstStyle/>
          <a:p>
            <a:r>
              <a:rPr lang="en-US" sz="3100" b="1" dirty="0"/>
              <a:t>ARGUMENT IN FAVOUR OF ECONOMICS AS A SCIENCE … </a:t>
            </a:r>
            <a:r>
              <a:rPr lang="en-US" dirty="0"/>
              <a:t/>
            </a:r>
            <a:br>
              <a:rPr lang="en-US" dirty="0"/>
            </a:br>
            <a:endParaRPr lang="en-US" dirty="0"/>
          </a:p>
        </p:txBody>
      </p:sp>
      <p:sp>
        <p:nvSpPr>
          <p:cNvPr id="3" name="Content Placeholder 2"/>
          <p:cNvSpPr>
            <a:spLocks noGrp="1"/>
          </p:cNvSpPr>
          <p:nvPr>
            <p:ph idx="1"/>
          </p:nvPr>
        </p:nvSpPr>
        <p:spPr>
          <a:xfrm>
            <a:off x="838200" y="783771"/>
            <a:ext cx="10515600" cy="5393192"/>
          </a:xfrm>
        </p:spPr>
        <p:txBody>
          <a:bodyPr/>
          <a:lstStyle/>
          <a:p>
            <a:pPr marL="0" indent="0">
              <a:buNone/>
            </a:pPr>
            <a:r>
              <a:rPr lang="en-US" b="1" dirty="0" smtClean="0"/>
              <a:t>4. Measuring </a:t>
            </a:r>
            <a:r>
              <a:rPr lang="en-US" b="1" dirty="0"/>
              <a:t>Rod of Money: </a:t>
            </a:r>
            <a:r>
              <a:rPr lang="en-US" dirty="0"/>
              <a:t>According to Marshall, the measuring rod of money has conferred a special status to economics like other physical sciences. </a:t>
            </a:r>
            <a:endParaRPr lang="en-US" dirty="0" smtClean="0"/>
          </a:p>
          <a:p>
            <a:r>
              <a:rPr lang="en-US" dirty="0" smtClean="0"/>
              <a:t>Just </a:t>
            </a:r>
            <a:r>
              <a:rPr lang="en-US" dirty="0"/>
              <a:t>as the chemist’s fine balance has made chemistry more exact than most of other physical sciences; so economics balance (money) rough and imperfect as it is, has made economics more exact than any other branch of social science’. </a:t>
            </a:r>
          </a:p>
          <a:p>
            <a:r>
              <a:rPr lang="en-US" b="1" dirty="0"/>
              <a:t>5. Universal: </a:t>
            </a:r>
            <a:r>
              <a:rPr lang="en-US" dirty="0"/>
              <a:t>The last requirement for a science is that its laws should be universal. </a:t>
            </a:r>
            <a:endParaRPr lang="en-US" dirty="0" smtClean="0"/>
          </a:p>
          <a:p>
            <a:r>
              <a:rPr lang="en-US" dirty="0" smtClean="0"/>
              <a:t>In </a:t>
            </a:r>
            <a:r>
              <a:rPr lang="en-US" dirty="0"/>
              <a:t>economics also, the law of demand, law of diminishing returns etc. are universal in nature. </a:t>
            </a:r>
          </a:p>
          <a:p>
            <a:endParaRPr lang="en-US" dirty="0"/>
          </a:p>
          <a:p>
            <a:endParaRPr lang="en-US" dirty="0"/>
          </a:p>
        </p:txBody>
      </p:sp>
    </p:spTree>
    <p:extLst>
      <p:ext uri="{BB962C8B-B14F-4D97-AF65-F5344CB8AC3E}">
        <p14:creationId xmlns:p14="http://schemas.microsoft.com/office/powerpoint/2010/main" val="91210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ECONOMICS AS AN ART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Science </a:t>
            </a:r>
            <a:r>
              <a:rPr lang="en-US" dirty="0"/>
              <a:t>is quantitative but the basis of art is qualitative. </a:t>
            </a:r>
            <a:endParaRPr lang="en-US" dirty="0" smtClean="0"/>
          </a:p>
          <a:p>
            <a:r>
              <a:rPr lang="en-US" dirty="0" smtClean="0"/>
              <a:t>Science </a:t>
            </a:r>
            <a:r>
              <a:rPr lang="en-US" dirty="0"/>
              <a:t>is descriptive while art is suggestive. </a:t>
            </a:r>
            <a:endParaRPr lang="en-US" dirty="0" smtClean="0"/>
          </a:p>
          <a:p>
            <a:r>
              <a:rPr lang="en-US" dirty="0" smtClean="0"/>
              <a:t>Scientific </a:t>
            </a:r>
            <a:r>
              <a:rPr lang="en-US" dirty="0"/>
              <a:t>study is impersonal and objective while art is deeply personal and subjective. </a:t>
            </a:r>
          </a:p>
          <a:p>
            <a:r>
              <a:rPr lang="en-US" dirty="0"/>
              <a:t>According to J.N. </a:t>
            </a:r>
            <a:r>
              <a:rPr lang="en-US" dirty="0" err="1"/>
              <a:t>Keyne’s</a:t>
            </a:r>
            <a:r>
              <a:rPr lang="en-US" dirty="0"/>
              <a:t> “An art is a system of rules for the attainment of given end’. </a:t>
            </a:r>
          </a:p>
          <a:p>
            <a:r>
              <a:rPr lang="en-US" dirty="0"/>
              <a:t>A science teaches us to know, an art teaches us to do – Luigi </a:t>
            </a:r>
            <a:r>
              <a:rPr lang="en-US" dirty="0" err="1"/>
              <a:t>Cossa</a:t>
            </a:r>
            <a:r>
              <a:rPr lang="en-US" dirty="0"/>
              <a:t>. </a:t>
            </a:r>
          </a:p>
          <a:p>
            <a:r>
              <a:rPr lang="en-US" dirty="0"/>
              <a:t>The systematic application of scientific principles is an art. </a:t>
            </a:r>
          </a:p>
          <a:p>
            <a:endParaRPr lang="en-US" dirty="0"/>
          </a:p>
          <a:p>
            <a:pPr marL="0" indent="0">
              <a:buNone/>
            </a:pPr>
            <a:endParaRPr lang="en-US" dirty="0"/>
          </a:p>
        </p:txBody>
      </p:sp>
    </p:spTree>
    <p:extLst>
      <p:ext uri="{BB962C8B-B14F-4D97-AF65-F5344CB8AC3E}">
        <p14:creationId xmlns:p14="http://schemas.microsoft.com/office/powerpoint/2010/main" val="123876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ECONOMICS AS AN </a:t>
            </a:r>
            <a:r>
              <a:rPr lang="en-US" b="1" dirty="0" smtClean="0"/>
              <a:t>ART…</a:t>
            </a: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this view, economics is an </a:t>
            </a:r>
            <a:r>
              <a:rPr lang="en-US" dirty="0" smtClean="0"/>
              <a:t>art.</a:t>
            </a:r>
          </a:p>
          <a:p>
            <a:r>
              <a:rPr lang="en-US" dirty="0" smtClean="0"/>
              <a:t> </a:t>
            </a:r>
            <a:r>
              <a:rPr lang="en-US" dirty="0"/>
              <a:t>Economics provides solutions to many of the problems</a:t>
            </a:r>
            <a:r>
              <a:rPr lang="en-US" dirty="0" smtClean="0"/>
              <a:t>.</a:t>
            </a:r>
          </a:p>
          <a:p>
            <a:r>
              <a:rPr lang="en-US" dirty="0" smtClean="0"/>
              <a:t> </a:t>
            </a:r>
            <a:r>
              <a:rPr lang="en-US" dirty="0"/>
              <a:t>Example: the law of </a:t>
            </a:r>
            <a:r>
              <a:rPr lang="en-US" dirty="0" err="1"/>
              <a:t>equi</a:t>
            </a:r>
            <a:r>
              <a:rPr lang="en-US" dirty="0"/>
              <a:t>-marginal utility helps a consumer to solve his problem of getting maximum satisfaction with limited means. </a:t>
            </a:r>
            <a:endParaRPr lang="en-US" dirty="0" smtClean="0"/>
          </a:p>
          <a:p>
            <a:r>
              <a:rPr lang="en-US" dirty="0" smtClean="0"/>
              <a:t>The </a:t>
            </a:r>
            <a:r>
              <a:rPr lang="en-US" dirty="0"/>
              <a:t>consumer surplus analysis helps a finance minister in the field of taxation. </a:t>
            </a:r>
            <a:endParaRPr lang="en-US" dirty="0" smtClean="0"/>
          </a:p>
          <a:p>
            <a:r>
              <a:rPr lang="en-US" dirty="0" err="1" smtClean="0"/>
              <a:t>Keyne’s</a:t>
            </a:r>
            <a:r>
              <a:rPr lang="en-US" dirty="0" smtClean="0"/>
              <a:t> </a:t>
            </a:r>
            <a:r>
              <a:rPr lang="en-US" dirty="0"/>
              <a:t>Theory of employment provides a solution to unemployment. </a:t>
            </a:r>
          </a:p>
          <a:p>
            <a:r>
              <a:rPr lang="en-US" dirty="0" smtClean="0"/>
              <a:t>Science </a:t>
            </a:r>
            <a:r>
              <a:rPr lang="en-US" dirty="0"/>
              <a:t>requires art; art requires science, each being complementary to the other. Thus economics is both a science and an art </a:t>
            </a:r>
          </a:p>
          <a:p>
            <a:endParaRPr lang="en-US" dirty="0"/>
          </a:p>
        </p:txBody>
      </p:sp>
    </p:spTree>
    <p:extLst>
      <p:ext uri="{BB962C8B-B14F-4D97-AF65-F5344CB8AC3E}">
        <p14:creationId xmlns:p14="http://schemas.microsoft.com/office/powerpoint/2010/main" val="2128875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POSITIVE AND NORMATIVE APPROACHES</a:t>
            </a:r>
            <a:endParaRPr lang="en-US" dirty="0"/>
          </a:p>
        </p:txBody>
      </p:sp>
      <p:sp>
        <p:nvSpPr>
          <p:cNvPr id="3" name="Text Placeholder 2"/>
          <p:cNvSpPr>
            <a:spLocks noGrp="1"/>
          </p:cNvSpPr>
          <p:nvPr>
            <p:ph type="body" idx="1"/>
          </p:nvPr>
        </p:nvSpPr>
        <p:spPr>
          <a:xfrm>
            <a:off x="839788" y="1681163"/>
            <a:ext cx="5157787" cy="408894"/>
          </a:xfrm>
        </p:spPr>
        <p:txBody>
          <a:bodyPr>
            <a:normAutofit lnSpcReduction="10000"/>
          </a:bodyPr>
          <a:lstStyle/>
          <a:p>
            <a:r>
              <a:rPr lang="en-US" dirty="0" smtClean="0"/>
              <a:t>POSITIVE</a:t>
            </a:r>
            <a:r>
              <a:rPr lang="en-US" dirty="0"/>
              <a:t> </a:t>
            </a:r>
            <a:r>
              <a:rPr lang="en-US" dirty="0" smtClean="0"/>
              <a:t>APPROACHES</a:t>
            </a:r>
            <a:endParaRPr lang="en-US" dirty="0"/>
          </a:p>
        </p:txBody>
      </p:sp>
      <p:sp>
        <p:nvSpPr>
          <p:cNvPr id="4" name="Content Placeholder 3"/>
          <p:cNvSpPr>
            <a:spLocks noGrp="1"/>
          </p:cNvSpPr>
          <p:nvPr>
            <p:ph sz="half" idx="2"/>
          </p:nvPr>
        </p:nvSpPr>
        <p:spPr>
          <a:xfrm>
            <a:off x="839788" y="1985554"/>
            <a:ext cx="5157787" cy="4611189"/>
          </a:xfrm>
        </p:spPr>
        <p:txBody>
          <a:bodyPr>
            <a:normAutofit fontScale="92500" lnSpcReduction="10000"/>
          </a:bodyPr>
          <a:lstStyle/>
          <a:p>
            <a:r>
              <a:rPr lang="en-US" dirty="0"/>
              <a:t>A positive science is concerned with ‘what is’. </a:t>
            </a:r>
            <a:endParaRPr lang="en-US" dirty="0" smtClean="0"/>
          </a:p>
          <a:p>
            <a:r>
              <a:rPr lang="en-US" dirty="0" smtClean="0"/>
              <a:t>It </a:t>
            </a:r>
            <a:r>
              <a:rPr lang="en-US" dirty="0"/>
              <a:t>explains what it is, </a:t>
            </a:r>
            <a:endParaRPr lang="en-US" dirty="0" smtClean="0"/>
          </a:p>
          <a:p>
            <a:r>
              <a:rPr lang="en-US" dirty="0" smtClean="0"/>
              <a:t>How </a:t>
            </a:r>
            <a:r>
              <a:rPr lang="en-US" dirty="0"/>
              <a:t>it works and what its effects are. </a:t>
            </a:r>
            <a:endParaRPr lang="en-US" dirty="0" smtClean="0"/>
          </a:p>
          <a:p>
            <a:r>
              <a:rPr lang="en-US" dirty="0" smtClean="0"/>
              <a:t>According </a:t>
            </a:r>
            <a:r>
              <a:rPr lang="en-US" dirty="0"/>
              <a:t>to Milton Friedman, positive economics deals as to how an economic problem is solved. </a:t>
            </a:r>
            <a:endParaRPr lang="en-US" dirty="0" smtClean="0"/>
          </a:p>
          <a:p>
            <a:r>
              <a:rPr lang="en-US" dirty="0" smtClean="0"/>
              <a:t>Robbins</a:t>
            </a:r>
            <a:r>
              <a:rPr lang="en-US" dirty="0"/>
              <a:t>, Senior and Friedman are the main champions of positivism</a:t>
            </a:r>
            <a:r>
              <a:rPr lang="en-US" dirty="0" smtClean="0"/>
              <a:t>.</a:t>
            </a:r>
          </a:p>
          <a:p>
            <a:r>
              <a:rPr lang="en-US" dirty="0" smtClean="0"/>
              <a:t>It </a:t>
            </a:r>
            <a:r>
              <a:rPr lang="en-US" dirty="0"/>
              <a:t>simply explained cause and effect relationship.</a:t>
            </a:r>
          </a:p>
        </p:txBody>
      </p:sp>
      <p:sp>
        <p:nvSpPr>
          <p:cNvPr id="5" name="Text Placeholder 4"/>
          <p:cNvSpPr>
            <a:spLocks noGrp="1"/>
          </p:cNvSpPr>
          <p:nvPr>
            <p:ph type="body" sz="quarter" idx="3"/>
          </p:nvPr>
        </p:nvSpPr>
        <p:spPr>
          <a:xfrm>
            <a:off x="6172200" y="1681163"/>
            <a:ext cx="5183188" cy="513397"/>
          </a:xfrm>
        </p:spPr>
        <p:txBody>
          <a:bodyPr/>
          <a:lstStyle/>
          <a:p>
            <a:r>
              <a:rPr lang="en-US" dirty="0"/>
              <a:t>NORMATIVE APPROACHES</a:t>
            </a:r>
          </a:p>
        </p:txBody>
      </p:sp>
      <p:sp>
        <p:nvSpPr>
          <p:cNvPr id="6" name="Content Placeholder 5"/>
          <p:cNvSpPr>
            <a:spLocks noGrp="1"/>
          </p:cNvSpPr>
          <p:nvPr>
            <p:ph sz="quarter" idx="4"/>
          </p:nvPr>
        </p:nvSpPr>
        <p:spPr>
          <a:xfrm>
            <a:off x="6172200" y="2194560"/>
            <a:ext cx="5183188" cy="4532811"/>
          </a:xfrm>
        </p:spPr>
        <p:txBody>
          <a:bodyPr>
            <a:normAutofit fontScale="92500" lnSpcReduction="20000"/>
          </a:bodyPr>
          <a:lstStyle/>
          <a:p>
            <a:r>
              <a:rPr lang="en-US" dirty="0"/>
              <a:t>Marshall, Fraser, wolf and Paul </a:t>
            </a:r>
            <a:r>
              <a:rPr lang="en-US" dirty="0" err="1"/>
              <a:t>streeten</a:t>
            </a:r>
            <a:r>
              <a:rPr lang="en-US" dirty="0"/>
              <a:t> are the main advocates of Normative science. </a:t>
            </a:r>
            <a:endParaRPr lang="en-US" dirty="0" smtClean="0"/>
          </a:p>
          <a:p>
            <a:r>
              <a:rPr lang="en-US" dirty="0" smtClean="0"/>
              <a:t>Normative </a:t>
            </a:r>
            <a:r>
              <a:rPr lang="en-US" dirty="0"/>
              <a:t>science concerned with “what should be” or “What ought to be” </a:t>
            </a:r>
            <a:endParaRPr lang="en-US" dirty="0" smtClean="0"/>
          </a:p>
          <a:p>
            <a:r>
              <a:rPr lang="en-US" dirty="0" smtClean="0"/>
              <a:t>Normative </a:t>
            </a:r>
            <a:r>
              <a:rPr lang="en-US" dirty="0"/>
              <a:t>science evaluates</a:t>
            </a:r>
            <a:r>
              <a:rPr lang="en-US" dirty="0" smtClean="0"/>
              <a:t>.</a:t>
            </a:r>
          </a:p>
          <a:p>
            <a:r>
              <a:rPr lang="en-US" dirty="0" smtClean="0"/>
              <a:t>According </a:t>
            </a:r>
            <a:r>
              <a:rPr lang="en-US" dirty="0"/>
              <a:t>to Milton Friedman, normative science deals with how economic problem should be solved. </a:t>
            </a:r>
            <a:endParaRPr lang="en-US" dirty="0" smtClean="0"/>
          </a:p>
          <a:p>
            <a:r>
              <a:rPr lang="en-US" dirty="0" smtClean="0"/>
              <a:t>Normative </a:t>
            </a:r>
            <a:r>
              <a:rPr lang="en-US" dirty="0"/>
              <a:t>economics depends on value judgment</a:t>
            </a:r>
          </a:p>
        </p:txBody>
      </p:sp>
    </p:spTree>
    <p:extLst>
      <p:ext uri="{BB962C8B-B14F-4D97-AF65-F5344CB8AC3E}">
        <p14:creationId xmlns:p14="http://schemas.microsoft.com/office/powerpoint/2010/main" val="2496835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257"/>
            <a:ext cx="11220994" cy="1429431"/>
          </a:xfrm>
        </p:spPr>
        <p:txBody>
          <a:bodyPr>
            <a:normAutofit/>
          </a:bodyPr>
          <a:lstStyle/>
          <a:p>
            <a:r>
              <a:rPr lang="en-US" sz="3200" b="1" dirty="0">
                <a:effectLst>
                  <a:outerShdw blurRad="38100" dist="38100" dir="2700000" algn="tl">
                    <a:srgbClr val="000000">
                      <a:alpha val="43137"/>
                    </a:srgbClr>
                  </a:outerShdw>
                </a:effectLst>
              </a:rPr>
              <a:t>ECONOMICS IS BOTH A POSITIVE AND A NORMATIVE SCIENCE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modern economists accept that economics is both a positive science and a normative science. </a:t>
            </a:r>
            <a:endParaRPr lang="en-US" dirty="0" smtClean="0"/>
          </a:p>
          <a:p>
            <a:r>
              <a:rPr lang="en-US" dirty="0" smtClean="0"/>
              <a:t>They </a:t>
            </a:r>
            <a:r>
              <a:rPr lang="en-US" dirty="0"/>
              <a:t>argue that optimum utilization of the resources would not be the only aim </a:t>
            </a:r>
            <a:endParaRPr lang="en-US" dirty="0" smtClean="0"/>
          </a:p>
          <a:p>
            <a:r>
              <a:rPr lang="en-US" dirty="0" smtClean="0"/>
              <a:t>But </a:t>
            </a:r>
            <a:r>
              <a:rPr lang="en-US" dirty="0"/>
              <a:t>also the achievement of some desirable objective such as more and just distribution of economic power and opportunities</a:t>
            </a:r>
          </a:p>
        </p:txBody>
      </p:sp>
    </p:spTree>
    <p:extLst>
      <p:ext uri="{BB962C8B-B14F-4D97-AF65-F5344CB8AC3E}">
        <p14:creationId xmlns:p14="http://schemas.microsoft.com/office/powerpoint/2010/main" val="3044898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 OF ECONOMICS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Economists </a:t>
            </a:r>
            <a:r>
              <a:rPr lang="en-US" dirty="0"/>
              <a:t>use different economic theories to solve various economic problems in society. </a:t>
            </a:r>
            <a:endParaRPr lang="en-US" dirty="0" smtClean="0"/>
          </a:p>
          <a:p>
            <a:r>
              <a:rPr lang="en-US" dirty="0" smtClean="0"/>
              <a:t>Its </a:t>
            </a:r>
            <a:r>
              <a:rPr lang="en-US" dirty="0"/>
              <a:t>applicability is very vast. </a:t>
            </a:r>
            <a:endParaRPr lang="en-US" dirty="0" smtClean="0"/>
          </a:p>
          <a:p>
            <a:r>
              <a:rPr lang="en-US" dirty="0" smtClean="0"/>
              <a:t>From </a:t>
            </a:r>
            <a:r>
              <a:rPr lang="en-US" dirty="0"/>
              <a:t>a small organization to a multinational firm, </a:t>
            </a:r>
            <a:endParaRPr lang="en-US" dirty="0" smtClean="0"/>
          </a:p>
          <a:p>
            <a:r>
              <a:rPr lang="en-US" dirty="0" smtClean="0"/>
              <a:t>Economic </a:t>
            </a:r>
            <a:r>
              <a:rPr lang="en-US" dirty="0"/>
              <a:t>laws come into play. </a:t>
            </a:r>
            <a:endParaRPr lang="en-US" dirty="0" smtClean="0"/>
          </a:p>
          <a:p>
            <a:r>
              <a:rPr lang="en-US" dirty="0" smtClean="0"/>
              <a:t>The </a:t>
            </a:r>
            <a:r>
              <a:rPr lang="en-US" dirty="0"/>
              <a:t>scope of economics can be understood under two subheads: </a:t>
            </a:r>
            <a:endParaRPr lang="en-US" dirty="0" smtClean="0"/>
          </a:p>
          <a:p>
            <a:r>
              <a:rPr lang="en-US" dirty="0" smtClean="0"/>
              <a:t>Microeconomics </a:t>
            </a:r>
            <a:r>
              <a:rPr lang="en-US" dirty="0"/>
              <a:t>and </a:t>
            </a:r>
            <a:endParaRPr lang="en-US" dirty="0" smtClean="0"/>
          </a:p>
          <a:p>
            <a:r>
              <a:rPr lang="en-US" dirty="0" smtClean="0"/>
              <a:t>Macroeconomics</a:t>
            </a:r>
            <a:r>
              <a:rPr lang="en-US" dirty="0"/>
              <a:t>. </a:t>
            </a:r>
          </a:p>
        </p:txBody>
      </p:sp>
    </p:spTree>
    <p:extLst>
      <p:ext uri="{BB962C8B-B14F-4D97-AF65-F5344CB8AC3E}">
        <p14:creationId xmlns:p14="http://schemas.microsoft.com/office/powerpoint/2010/main" val="2628543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r>
              <a:rPr lang="en-US" b="1" dirty="0"/>
              <a:t>Microeconomics </a:t>
            </a:r>
            <a:r>
              <a:rPr lang="en-US" dirty="0"/>
              <a:t/>
            </a:r>
            <a:br>
              <a:rPr lang="en-US" dirty="0"/>
            </a:br>
            <a:endParaRPr lang="en-US" dirty="0"/>
          </a:p>
        </p:txBody>
      </p:sp>
      <p:sp>
        <p:nvSpPr>
          <p:cNvPr id="3" name="Content Placeholder 2"/>
          <p:cNvSpPr>
            <a:spLocks noGrp="1"/>
          </p:cNvSpPr>
          <p:nvPr>
            <p:ph idx="1"/>
          </p:nvPr>
        </p:nvSpPr>
        <p:spPr>
          <a:xfrm>
            <a:off x="838200" y="1254034"/>
            <a:ext cx="10515600" cy="5355772"/>
          </a:xfrm>
        </p:spPr>
        <p:txBody>
          <a:bodyPr>
            <a:normAutofit fontScale="92500"/>
          </a:bodyPr>
          <a:lstStyle/>
          <a:p>
            <a:r>
              <a:rPr lang="en-US" dirty="0" smtClean="0"/>
              <a:t>Microeconomics </a:t>
            </a:r>
            <a:r>
              <a:rPr lang="en-US" dirty="0"/>
              <a:t>examines individual economic activity, industries, and their interaction. It has the following characteristics: </a:t>
            </a:r>
          </a:p>
          <a:p>
            <a:r>
              <a:rPr lang="en-US" b="1" dirty="0"/>
              <a:t>Elasticity: </a:t>
            </a:r>
            <a:r>
              <a:rPr lang="en-US" dirty="0"/>
              <a:t>It determines the ratio of change in the proportion of one variable to another variable. For example- the income elasticity of demand, the price elasticity of demand, the price elasticity of supply, etc. </a:t>
            </a:r>
          </a:p>
          <a:p>
            <a:r>
              <a:rPr lang="en-US" b="1" dirty="0"/>
              <a:t>Theory of Production: </a:t>
            </a:r>
            <a:r>
              <a:rPr lang="en-US" dirty="0"/>
              <a:t>It involves an efficient conversion of input into output. For example- packaging, shipping, storing, and manufacturing. </a:t>
            </a:r>
          </a:p>
          <a:p>
            <a:r>
              <a:rPr lang="en-US" b="1" dirty="0"/>
              <a:t>Cost of Production: </a:t>
            </a:r>
            <a:r>
              <a:rPr lang="en-US" dirty="0"/>
              <a:t>With the help of this theory, the object price is evaluated by the price of resources. </a:t>
            </a:r>
          </a:p>
          <a:p>
            <a:r>
              <a:rPr lang="en-US" b="1" dirty="0"/>
              <a:t>Monopoly: </a:t>
            </a:r>
            <a:r>
              <a:rPr lang="en-US" dirty="0"/>
              <a:t>Under this theory, the dominance of a single entity is studied in a particular field. </a:t>
            </a:r>
          </a:p>
          <a:p>
            <a:r>
              <a:rPr lang="en-US" b="1" dirty="0"/>
              <a:t>Oligopoly: </a:t>
            </a:r>
            <a:r>
              <a:rPr lang="en-US" dirty="0"/>
              <a:t>It corresponds to the dominance of small entities in a market </a:t>
            </a:r>
          </a:p>
          <a:p>
            <a:endParaRPr lang="en-US" dirty="0"/>
          </a:p>
        </p:txBody>
      </p:sp>
    </p:spTree>
    <p:extLst>
      <p:ext uri="{BB962C8B-B14F-4D97-AF65-F5344CB8AC3E}">
        <p14:creationId xmlns:p14="http://schemas.microsoft.com/office/powerpoint/2010/main" val="428857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Macroeconomics </a:t>
            </a:r>
            <a:r>
              <a:rPr lang="en-US" dirty="0"/>
              <a:t/>
            </a:r>
            <a:br>
              <a:rPr lang="en-US" dirty="0"/>
            </a:br>
            <a:endParaRPr lang="en-US" dirty="0"/>
          </a:p>
        </p:txBody>
      </p:sp>
      <p:sp>
        <p:nvSpPr>
          <p:cNvPr id="3" name="Content Placeholder 2"/>
          <p:cNvSpPr>
            <a:spLocks noGrp="1"/>
          </p:cNvSpPr>
          <p:nvPr>
            <p:ph idx="1"/>
          </p:nvPr>
        </p:nvSpPr>
        <p:spPr>
          <a:xfrm>
            <a:off x="838200" y="1188720"/>
            <a:ext cx="10515600" cy="5394960"/>
          </a:xfrm>
        </p:spPr>
        <p:txBody>
          <a:bodyPr>
            <a:normAutofit fontScale="92500" lnSpcReduction="10000"/>
          </a:bodyPr>
          <a:lstStyle/>
          <a:p>
            <a:r>
              <a:rPr lang="en-US" dirty="0" smtClean="0"/>
              <a:t>It </a:t>
            </a:r>
            <a:r>
              <a:rPr lang="en-US" dirty="0"/>
              <a:t>is the study of an economy as a whole. It explains broad aggregates and their interactions “top down.” Macroeconomics has the following characteristics: </a:t>
            </a:r>
          </a:p>
          <a:p>
            <a:r>
              <a:rPr lang="en-US" b="1" dirty="0"/>
              <a:t>Growth: </a:t>
            </a:r>
            <a:r>
              <a:rPr lang="en-US" dirty="0"/>
              <a:t>It studies the factors which explain economic growth such as the increase in output per capita of a country over a long period of time. </a:t>
            </a:r>
          </a:p>
          <a:p>
            <a:r>
              <a:rPr lang="en-US" b="1" dirty="0"/>
              <a:t>Business Cycle: </a:t>
            </a:r>
            <a:r>
              <a:rPr lang="en-US" dirty="0"/>
              <a:t>This theory emerged after the Great Depression of the 1930s. It advocates the involvement of the central bank and the government to formulate monetary and fiscal policies to monitor the output over the business cycle. </a:t>
            </a:r>
          </a:p>
          <a:p>
            <a:r>
              <a:rPr lang="en-US" b="1" dirty="0"/>
              <a:t>Unemployment: </a:t>
            </a:r>
            <a:r>
              <a:rPr lang="en-US" dirty="0"/>
              <a:t>It is measured by the unemployment rate. It is caused by various factors like rising in wages, a shortfall in vacancies, and more. </a:t>
            </a:r>
          </a:p>
          <a:p>
            <a:r>
              <a:rPr lang="en-US" b="1" dirty="0"/>
              <a:t>Inflation and Deflation: </a:t>
            </a:r>
            <a:r>
              <a:rPr lang="en-US" dirty="0"/>
              <a:t>Inflation corresponds to an increase in the price of a commodity, while deflation corresponds to a decrease in the price of a commodity. These indicators are valuable to evaluate the status of the economy of a country </a:t>
            </a:r>
          </a:p>
          <a:p>
            <a:endParaRPr lang="en-US" dirty="0"/>
          </a:p>
        </p:txBody>
      </p:sp>
    </p:spTree>
    <p:extLst>
      <p:ext uri="{BB962C8B-B14F-4D97-AF65-F5344CB8AC3E}">
        <p14:creationId xmlns:p14="http://schemas.microsoft.com/office/powerpoint/2010/main" val="582799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BRANCHES OF ECONOMICS </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Microeconomics </a:t>
            </a:r>
            <a:r>
              <a:rPr lang="en-US" dirty="0"/>
              <a:t>– concerned with individual markets and small aspects of the economy. </a:t>
            </a:r>
          </a:p>
          <a:p>
            <a:r>
              <a:rPr lang="en-US" b="1" dirty="0"/>
              <a:t>Macroeconomics </a:t>
            </a:r>
            <a:r>
              <a:rPr lang="en-US" dirty="0"/>
              <a:t>– concerned with the whole aggregate economy. Issues such as inflation, economic growth and trade. </a:t>
            </a:r>
          </a:p>
        </p:txBody>
      </p:sp>
    </p:spTree>
    <p:extLst>
      <p:ext uri="{BB962C8B-B14F-4D97-AF65-F5344CB8AC3E}">
        <p14:creationId xmlns:p14="http://schemas.microsoft.com/office/powerpoint/2010/main" val="1779602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 </a:t>
            </a:r>
            <a:r>
              <a:rPr lang="en-US" b="1" dirty="0"/>
              <a:t>MICRO ECONOMICS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1</a:t>
            </a:r>
            <a:r>
              <a:rPr lang="en-US" b="1" dirty="0"/>
              <a:t>. Neo-classical economics: </a:t>
            </a:r>
            <a:r>
              <a:rPr lang="en-US" dirty="0"/>
              <a:t>Key people: Leon Walrus, William Jevons, John Hicks, George Stigler and Alfred Marshall. </a:t>
            </a:r>
          </a:p>
          <a:p>
            <a:r>
              <a:rPr lang="en-US" dirty="0"/>
              <a:t>Neo-classical economics built on the foundations of free-market based classical economics. </a:t>
            </a:r>
            <a:endParaRPr lang="en-US" dirty="0" smtClean="0"/>
          </a:p>
          <a:p>
            <a:r>
              <a:rPr lang="en-US" dirty="0" smtClean="0"/>
              <a:t>It </a:t>
            </a:r>
            <a:r>
              <a:rPr lang="en-US" dirty="0"/>
              <a:t>included new ideas such as Utility maximization, Rational choice theory, Marginal analysis. </a:t>
            </a:r>
          </a:p>
          <a:p>
            <a:r>
              <a:rPr lang="en-US" dirty="0"/>
              <a:t>Neo-classical economics is often considered to be orthodox economics. </a:t>
            </a:r>
            <a:endParaRPr lang="en-US" dirty="0" smtClean="0"/>
          </a:p>
          <a:p>
            <a:r>
              <a:rPr lang="en-US" dirty="0" smtClean="0"/>
              <a:t>It </a:t>
            </a:r>
            <a:r>
              <a:rPr lang="en-US" dirty="0"/>
              <a:t>is the economics taught in most text-books as the starting point for economics teaching. </a:t>
            </a:r>
            <a:endParaRPr lang="en-US" dirty="0" smtClean="0"/>
          </a:p>
          <a:p>
            <a:r>
              <a:rPr lang="en-US" dirty="0" smtClean="0"/>
              <a:t>The </a:t>
            </a:r>
            <a:r>
              <a:rPr lang="en-US" dirty="0"/>
              <a:t>tools of neo-classical economics (supply and demand, rational choice, utility </a:t>
            </a:r>
            <a:r>
              <a:rPr lang="en-US" dirty="0" smtClean="0"/>
              <a:t>maximization) </a:t>
            </a:r>
            <a:r>
              <a:rPr lang="en-US" dirty="0"/>
              <a:t>can be used in new fields and also for critiques. </a:t>
            </a:r>
          </a:p>
        </p:txBody>
      </p:sp>
    </p:spTree>
    <p:extLst>
      <p:ext uri="{BB962C8B-B14F-4D97-AF65-F5344CB8AC3E}">
        <p14:creationId xmlns:p14="http://schemas.microsoft.com/office/powerpoint/2010/main" val="88036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2. Development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89166"/>
            <a:ext cx="10515600" cy="5172891"/>
          </a:xfrm>
        </p:spPr>
        <p:txBody>
          <a:bodyPr>
            <a:normAutofit/>
          </a:bodyPr>
          <a:lstStyle/>
          <a:p>
            <a:r>
              <a:rPr lang="en-US" dirty="0" smtClean="0"/>
              <a:t>Key </a:t>
            </a:r>
            <a:r>
              <a:rPr lang="en-US" dirty="0"/>
              <a:t>people: Simon Kuznets and W. Arthur Lewis, Amartya Sen and Muhammad </a:t>
            </a:r>
            <a:r>
              <a:rPr lang="en-US" dirty="0" err="1"/>
              <a:t>Yunus</a:t>
            </a:r>
            <a:r>
              <a:rPr lang="en-US" dirty="0"/>
              <a:t>. </a:t>
            </a:r>
          </a:p>
          <a:p>
            <a:r>
              <a:rPr lang="en-US" dirty="0"/>
              <a:t>Concerned with issues of poverty and under-development in poorer countries of the world. </a:t>
            </a:r>
            <a:endParaRPr lang="en-US" dirty="0" smtClean="0"/>
          </a:p>
          <a:p>
            <a:r>
              <a:rPr lang="en-US" dirty="0" smtClean="0"/>
              <a:t>Development </a:t>
            </a:r>
            <a:r>
              <a:rPr lang="en-US" dirty="0"/>
              <a:t>economics is concerned with both micro and macro aspects of economic development. </a:t>
            </a:r>
            <a:endParaRPr lang="en-US" dirty="0" smtClean="0"/>
          </a:p>
          <a:p>
            <a:r>
              <a:rPr lang="en-US" dirty="0" smtClean="0"/>
              <a:t>Issues </a:t>
            </a:r>
            <a:r>
              <a:rPr lang="en-US" dirty="0"/>
              <a:t>include Trade vs aid, </a:t>
            </a:r>
            <a:endParaRPr lang="en-US" dirty="0" smtClean="0"/>
          </a:p>
          <a:p>
            <a:r>
              <a:rPr lang="en-US" dirty="0" smtClean="0"/>
              <a:t>Increasing </a:t>
            </a:r>
            <a:r>
              <a:rPr lang="en-US" dirty="0"/>
              <a:t>capital investment, </a:t>
            </a:r>
            <a:endParaRPr lang="en-US" dirty="0" smtClean="0"/>
          </a:p>
          <a:p>
            <a:r>
              <a:rPr lang="en-US" dirty="0" smtClean="0"/>
              <a:t>Best </a:t>
            </a:r>
            <a:r>
              <a:rPr lang="en-US" dirty="0"/>
              <a:t>ways to promote economic development, </a:t>
            </a:r>
            <a:endParaRPr lang="en-US" dirty="0" smtClean="0"/>
          </a:p>
          <a:p>
            <a:r>
              <a:rPr lang="en-US" dirty="0" smtClean="0"/>
              <a:t>Third </a:t>
            </a:r>
            <a:r>
              <a:rPr lang="en-US" dirty="0"/>
              <a:t>World debt </a:t>
            </a:r>
          </a:p>
        </p:txBody>
      </p:sp>
    </p:spTree>
    <p:extLst>
      <p:ext uri="{BB962C8B-B14F-4D97-AF65-F5344CB8AC3E}">
        <p14:creationId xmlns:p14="http://schemas.microsoft.com/office/powerpoint/2010/main" val="4045323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Environmental economics/welfare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Garrett Hardin, E.F. Schumacher, Arthur Pigou. </a:t>
            </a:r>
          </a:p>
          <a:p>
            <a:r>
              <a:rPr lang="en-US" dirty="0"/>
              <a:t>This places greater emphasis on the environment. </a:t>
            </a:r>
            <a:endParaRPr lang="en-US" dirty="0" smtClean="0"/>
          </a:p>
          <a:p>
            <a:r>
              <a:rPr lang="en-US" dirty="0" smtClean="0"/>
              <a:t>This </a:t>
            </a:r>
            <a:r>
              <a:rPr lang="en-US" dirty="0"/>
              <a:t>can include: Neo-classical analysis of external costs and external benefits. </a:t>
            </a:r>
            <a:endParaRPr lang="en-US" dirty="0" smtClean="0"/>
          </a:p>
          <a:p>
            <a:r>
              <a:rPr lang="en-US" dirty="0" smtClean="0"/>
              <a:t>From </a:t>
            </a:r>
            <a:r>
              <a:rPr lang="en-US" dirty="0"/>
              <a:t>this perspective, it is rational for man to reduce pollution, </a:t>
            </a:r>
            <a:endParaRPr lang="en-US" dirty="0" smtClean="0"/>
          </a:p>
          <a:p>
            <a:r>
              <a:rPr lang="en-US" dirty="0" smtClean="0"/>
              <a:t>Market </a:t>
            </a:r>
            <a:r>
              <a:rPr lang="en-US" dirty="0"/>
              <a:t>failures – tragedy of the commons, Public goods, external costs, external benefits, </a:t>
            </a:r>
            <a:endParaRPr lang="en-US" dirty="0" smtClean="0"/>
          </a:p>
          <a:p>
            <a:r>
              <a:rPr lang="en-US" dirty="0" smtClean="0"/>
              <a:t>Environmental </a:t>
            </a:r>
            <a:r>
              <a:rPr lang="en-US" dirty="0"/>
              <a:t>economics can take a more radical approach – questioning whether economic growth is actually desirable.</a:t>
            </a:r>
          </a:p>
        </p:txBody>
      </p:sp>
    </p:spTree>
    <p:extLst>
      <p:ext uri="{BB962C8B-B14F-4D97-AF65-F5344CB8AC3E}">
        <p14:creationId xmlns:p14="http://schemas.microsoft.com/office/powerpoint/2010/main" val="3451579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4. </a:t>
            </a:r>
            <a:r>
              <a:rPr lang="en-US" b="1" dirty="0" smtClean="0">
                <a:effectLst>
                  <a:outerShdw blurRad="38100" dist="38100" dir="2700000" algn="tl">
                    <a:srgbClr val="000000">
                      <a:alpha val="43137"/>
                    </a:srgbClr>
                  </a:outerShdw>
                </a:effectLst>
              </a:rPr>
              <a:t>Behavioral </a:t>
            </a:r>
            <a:r>
              <a:rPr lang="en-US" b="1" dirty="0">
                <a:effectLst>
                  <a:outerShdw blurRad="38100" dist="38100" dir="2700000" algn="tl">
                    <a:srgbClr val="000000">
                      <a:alpha val="43137"/>
                    </a:srgbClr>
                  </a:outerShdw>
                </a:effectLst>
              </a:rPr>
              <a:t>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120640"/>
          </a:xfrm>
        </p:spPr>
        <p:txBody>
          <a:bodyPr>
            <a:normAutofit/>
          </a:bodyPr>
          <a:lstStyle/>
          <a:p>
            <a:r>
              <a:rPr lang="en-US" dirty="0" smtClean="0"/>
              <a:t>Key </a:t>
            </a:r>
            <a:r>
              <a:rPr lang="en-US" dirty="0"/>
              <a:t>people: Gary Becker, Amos </a:t>
            </a:r>
            <a:r>
              <a:rPr lang="en-US" dirty="0" err="1"/>
              <a:t>Tversky</a:t>
            </a:r>
            <a:r>
              <a:rPr lang="en-US" dirty="0"/>
              <a:t>, Daniel </a:t>
            </a:r>
            <a:r>
              <a:rPr lang="en-US" dirty="0" err="1"/>
              <a:t>Kahneman</a:t>
            </a:r>
            <a:r>
              <a:rPr lang="en-US" dirty="0"/>
              <a:t>, Richard </a:t>
            </a:r>
            <a:r>
              <a:rPr lang="en-US" dirty="0" err="1"/>
              <a:t>Thaler</a:t>
            </a:r>
            <a:r>
              <a:rPr lang="en-US" dirty="0"/>
              <a:t>, Robert J. Shiller, </a:t>
            </a:r>
          </a:p>
          <a:p>
            <a:r>
              <a:rPr lang="en-US" dirty="0" smtClean="0"/>
              <a:t>Behavioral </a:t>
            </a:r>
            <a:r>
              <a:rPr lang="en-US" dirty="0"/>
              <a:t>economics examines the psychology behind economic decision making and economic activity. </a:t>
            </a:r>
            <a:endParaRPr lang="en-US" dirty="0" smtClean="0"/>
          </a:p>
          <a:p>
            <a:r>
              <a:rPr lang="en-US" dirty="0" smtClean="0"/>
              <a:t>Behavioral </a:t>
            </a:r>
            <a:r>
              <a:rPr lang="en-US" dirty="0"/>
              <a:t>economics examines the limitation of the assumption individuals are perfectly rational. </a:t>
            </a:r>
            <a:endParaRPr lang="en-US" dirty="0" smtClean="0"/>
          </a:p>
          <a:p>
            <a:r>
              <a:rPr lang="en-US" dirty="0" smtClean="0"/>
              <a:t>It </a:t>
            </a:r>
            <a:r>
              <a:rPr lang="en-US" dirty="0"/>
              <a:t>includes Bounded rationality – people make choices by rules of thumb, </a:t>
            </a:r>
            <a:endParaRPr lang="en-US" dirty="0" smtClean="0"/>
          </a:p>
          <a:p>
            <a:r>
              <a:rPr lang="en-US" dirty="0" smtClean="0"/>
              <a:t>Irrational </a:t>
            </a:r>
            <a:r>
              <a:rPr lang="en-US" dirty="0"/>
              <a:t>exuberance – People get carried away by asset bubbles, </a:t>
            </a:r>
            <a:endParaRPr lang="en-US" dirty="0" smtClean="0"/>
          </a:p>
          <a:p>
            <a:r>
              <a:rPr lang="en-US" dirty="0" smtClean="0"/>
              <a:t>Nudges/Choice </a:t>
            </a:r>
            <a:r>
              <a:rPr lang="en-US" dirty="0"/>
              <a:t>architecture – how the framing of decisions affects the outcome</a:t>
            </a:r>
          </a:p>
        </p:txBody>
      </p:sp>
    </p:spTree>
    <p:extLst>
      <p:ext uri="{BB962C8B-B14F-4D97-AF65-F5344CB8AC3E}">
        <p14:creationId xmlns:p14="http://schemas.microsoft.com/office/powerpoint/2010/main" val="2272823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Econometrics: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Jan Tinbergen </a:t>
            </a:r>
          </a:p>
          <a:p>
            <a:r>
              <a:rPr lang="en-US" dirty="0"/>
              <a:t>Use of data to find simple relationships. </a:t>
            </a:r>
            <a:endParaRPr lang="en-US" dirty="0" smtClean="0"/>
          </a:p>
          <a:p>
            <a:r>
              <a:rPr lang="en-US" dirty="0" smtClean="0"/>
              <a:t>Econometrics </a:t>
            </a:r>
            <a:r>
              <a:rPr lang="en-US" dirty="0"/>
              <a:t>uses statistical methods, </a:t>
            </a:r>
            <a:endParaRPr lang="en-US" dirty="0" smtClean="0"/>
          </a:p>
          <a:p>
            <a:r>
              <a:rPr lang="en-US" dirty="0" smtClean="0"/>
              <a:t>Regression </a:t>
            </a:r>
            <a:r>
              <a:rPr lang="en-US" dirty="0"/>
              <a:t>models and data to predict the outcome of economic policies. </a:t>
            </a:r>
            <a:endParaRPr lang="en-US" dirty="0" smtClean="0"/>
          </a:p>
          <a:p>
            <a:r>
              <a:rPr lang="en-US" dirty="0" smtClean="0"/>
              <a:t>For </a:t>
            </a:r>
            <a:r>
              <a:rPr lang="en-US" dirty="0"/>
              <a:t>example, </a:t>
            </a:r>
            <a:r>
              <a:rPr lang="en-US" dirty="0" err="1"/>
              <a:t>Okun’s</a:t>
            </a:r>
            <a:r>
              <a:rPr lang="en-US" dirty="0"/>
              <a:t> law suggests a relationship between economic growth and unemployment</a:t>
            </a:r>
          </a:p>
        </p:txBody>
      </p:sp>
    </p:spTree>
    <p:extLst>
      <p:ext uri="{BB962C8B-B14F-4D97-AF65-F5344CB8AC3E}">
        <p14:creationId xmlns:p14="http://schemas.microsoft.com/office/powerpoint/2010/main" val="2826481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6. Labour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Knut Wicksell </a:t>
            </a:r>
          </a:p>
          <a:p>
            <a:r>
              <a:rPr lang="en-US" dirty="0"/>
              <a:t>Concentration on wages, labour employment and labour markets</a:t>
            </a:r>
            <a:r>
              <a:rPr lang="en-US" dirty="0" smtClean="0"/>
              <a:t>.</a:t>
            </a:r>
          </a:p>
          <a:p>
            <a:r>
              <a:rPr lang="en-US" dirty="0" smtClean="0"/>
              <a:t>Labour </a:t>
            </a:r>
            <a:r>
              <a:rPr lang="en-US" dirty="0"/>
              <a:t>economics starts from neo-classical premise of labour supply and marginal revenue product of labour. </a:t>
            </a:r>
          </a:p>
          <a:p>
            <a:r>
              <a:rPr lang="en-US" dirty="0"/>
              <a:t>Recent developments in labour economics have placed greater emphasis on non-monetary factors, such as </a:t>
            </a:r>
            <a:endParaRPr lang="en-US" dirty="0" smtClean="0"/>
          </a:p>
          <a:p>
            <a:r>
              <a:rPr lang="en-US" dirty="0" smtClean="0"/>
              <a:t>Motivation</a:t>
            </a:r>
            <a:r>
              <a:rPr lang="en-US" dirty="0"/>
              <a:t>, enjoyment and labour market imperfections.</a:t>
            </a:r>
          </a:p>
        </p:txBody>
      </p:sp>
    </p:spTree>
    <p:extLst>
      <p:ext uri="{BB962C8B-B14F-4D97-AF65-F5344CB8AC3E}">
        <p14:creationId xmlns:p14="http://schemas.microsoft.com/office/powerpoint/2010/main" val="18409006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MACRO ECONOMICS </a:t>
            </a:r>
            <a:r>
              <a:rPr lang="en-US" dirty="0"/>
              <a:t/>
            </a:r>
            <a:br>
              <a:rPr lang="en-US" dirty="0"/>
            </a:br>
            <a:endParaRPr lang="en-US" dirty="0"/>
          </a:p>
        </p:txBody>
      </p:sp>
      <p:sp>
        <p:nvSpPr>
          <p:cNvPr id="3" name="Content Placeholder 2"/>
          <p:cNvSpPr>
            <a:spLocks noGrp="1"/>
          </p:cNvSpPr>
          <p:nvPr>
            <p:ph idx="1"/>
          </p:nvPr>
        </p:nvSpPr>
        <p:spPr>
          <a:xfrm>
            <a:off x="838200" y="1123406"/>
            <a:ext cx="10515600" cy="5564777"/>
          </a:xfrm>
        </p:spPr>
        <p:txBody>
          <a:bodyPr>
            <a:normAutofit fontScale="92500"/>
          </a:bodyPr>
          <a:lstStyle/>
          <a:p>
            <a:r>
              <a:rPr lang="en-US" b="1" dirty="0" smtClean="0"/>
              <a:t>1</a:t>
            </a:r>
            <a:r>
              <a:rPr lang="en-US" b="1" dirty="0"/>
              <a:t>. Classical economics: </a:t>
            </a:r>
            <a:r>
              <a:rPr lang="en-US" dirty="0"/>
              <a:t>Classical economics is often considered the foundation of modern economics. </a:t>
            </a:r>
            <a:endParaRPr lang="en-US" dirty="0" smtClean="0"/>
          </a:p>
          <a:p>
            <a:r>
              <a:rPr lang="en-US" dirty="0" smtClean="0"/>
              <a:t>It </a:t>
            </a:r>
            <a:r>
              <a:rPr lang="en-US" dirty="0"/>
              <a:t>was developed by Adam Smith, David Ricardo, Jean-Baptiste Say. Classical economics is based on </a:t>
            </a:r>
          </a:p>
          <a:p>
            <a:r>
              <a:rPr lang="en-US" dirty="0"/>
              <a:t>Operation of free markets. How the invisible hand and market mechanism can enable an efficient allocation of resources</a:t>
            </a:r>
            <a:r>
              <a:rPr lang="en-US" dirty="0" smtClean="0"/>
              <a:t>. </a:t>
            </a:r>
            <a:endParaRPr lang="en-US" dirty="0"/>
          </a:p>
          <a:p>
            <a:r>
              <a:rPr lang="en-US" dirty="0"/>
              <a:t>Classical economics suggests that generally, economies work most efficiently when government intervention is minimal and concerned with the protection of private property, </a:t>
            </a:r>
            <a:endParaRPr lang="en-US" dirty="0" smtClean="0"/>
          </a:p>
          <a:p>
            <a:r>
              <a:rPr lang="en-US" dirty="0" smtClean="0"/>
              <a:t>Promotion </a:t>
            </a:r>
            <a:r>
              <a:rPr lang="en-US" dirty="0"/>
              <a:t>of free trade and limited government spending. </a:t>
            </a:r>
          </a:p>
          <a:p>
            <a:r>
              <a:rPr lang="en-US" dirty="0"/>
              <a:t>Classical economics does recognise that a government is needed for providing public goods, such as </a:t>
            </a:r>
            <a:r>
              <a:rPr lang="en-US" dirty="0" smtClean="0"/>
              <a:t>defense &amp; </a:t>
            </a:r>
            <a:r>
              <a:rPr lang="en-US" dirty="0" err="1" smtClean="0"/>
              <a:t>security</a:t>
            </a:r>
            <a:r>
              <a:rPr lang="en-US" b="1" dirty="0" err="1"/>
              <a:t>II</a:t>
            </a:r>
            <a:r>
              <a:rPr lang="en-US" b="1" dirty="0"/>
              <a:t> MACRO ECONOMICS </a:t>
            </a:r>
            <a:endParaRPr lang="en-US" dirty="0"/>
          </a:p>
          <a:p>
            <a:r>
              <a:rPr lang="en-US" dirty="0" smtClean="0"/>
              <a:t>, </a:t>
            </a:r>
            <a:r>
              <a:rPr lang="en-US" dirty="0"/>
              <a:t>law and order and education. </a:t>
            </a:r>
          </a:p>
          <a:p>
            <a:endParaRPr lang="en-US" dirty="0"/>
          </a:p>
        </p:txBody>
      </p:sp>
    </p:spTree>
    <p:extLst>
      <p:ext uri="{BB962C8B-B14F-4D97-AF65-F5344CB8AC3E}">
        <p14:creationId xmlns:p14="http://schemas.microsoft.com/office/powerpoint/2010/main" val="658070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2. Keynesian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Key </a:t>
            </a:r>
            <a:r>
              <a:rPr lang="en-US" dirty="0"/>
              <a:t>people: John Maynard Keynes, Paul Samuelson. </a:t>
            </a:r>
          </a:p>
          <a:p>
            <a:r>
              <a:rPr lang="en-US" dirty="0"/>
              <a:t>Keynesian economics was developed in the 1930s against a backdrop of the Great Depression. </a:t>
            </a:r>
            <a:endParaRPr lang="en-US" dirty="0" smtClean="0"/>
          </a:p>
          <a:p>
            <a:r>
              <a:rPr lang="en-US" dirty="0" smtClean="0"/>
              <a:t>The </a:t>
            </a:r>
            <a:r>
              <a:rPr lang="en-US" dirty="0"/>
              <a:t>existing economic orthodoxy was at a loss to explain the persistent economic depression and mass unemployment. Keynes suggested that markets failed to clear </a:t>
            </a:r>
          </a:p>
          <a:p>
            <a:r>
              <a:rPr lang="en-US" dirty="0" smtClean="0"/>
              <a:t>For </a:t>
            </a:r>
            <a:r>
              <a:rPr lang="en-US" dirty="0"/>
              <a:t>many reasons (e.g. paradox of thrift, negative multiplier, low confidence). Therefore, Keynes advocated government intervention to kick-start the economy. </a:t>
            </a:r>
          </a:p>
        </p:txBody>
      </p:sp>
    </p:spTree>
    <p:extLst>
      <p:ext uri="{BB962C8B-B14F-4D97-AF65-F5344CB8AC3E}">
        <p14:creationId xmlns:p14="http://schemas.microsoft.com/office/powerpoint/2010/main" val="193767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Marxist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Key </a:t>
            </a:r>
            <a:r>
              <a:rPr lang="en-US" dirty="0"/>
              <a:t>people: Karl Marx </a:t>
            </a:r>
          </a:p>
          <a:p>
            <a:r>
              <a:rPr lang="en-US" dirty="0"/>
              <a:t>Emphasises unequal and unstable nature of capitalism. </a:t>
            </a:r>
            <a:endParaRPr lang="en-US" dirty="0" smtClean="0"/>
          </a:p>
          <a:p>
            <a:r>
              <a:rPr lang="en-US" dirty="0" smtClean="0"/>
              <a:t>Seeks </a:t>
            </a:r>
            <a:r>
              <a:rPr lang="en-US" dirty="0"/>
              <a:t>a radically different approach to basic economic questions. </a:t>
            </a:r>
            <a:endParaRPr lang="en-US" dirty="0" smtClean="0"/>
          </a:p>
          <a:p>
            <a:r>
              <a:rPr lang="en-US" dirty="0" smtClean="0"/>
              <a:t>Rather </a:t>
            </a:r>
            <a:r>
              <a:rPr lang="en-US" dirty="0"/>
              <a:t>than relying on free-market advocate state intervention in ownership, planning and distribution of resources. </a:t>
            </a:r>
          </a:p>
        </p:txBody>
      </p:sp>
    </p:spTree>
    <p:extLst>
      <p:ext uri="{BB962C8B-B14F-4D97-AF65-F5344CB8AC3E}">
        <p14:creationId xmlns:p14="http://schemas.microsoft.com/office/powerpoint/2010/main" val="31314837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4. Austrian economics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Key </a:t>
            </a:r>
            <a:r>
              <a:rPr lang="en-US" dirty="0"/>
              <a:t>people: Ludwig Von Mises, Carl </a:t>
            </a:r>
            <a:r>
              <a:rPr lang="en-US" dirty="0" err="1"/>
              <a:t>Menger</a:t>
            </a:r>
            <a:r>
              <a:rPr lang="en-US" dirty="0"/>
              <a:t> </a:t>
            </a:r>
          </a:p>
          <a:p>
            <a:r>
              <a:rPr lang="en-US" dirty="0"/>
              <a:t>This is another school of economics that was critical of state intervention, price controls. It is broadly free-market. </a:t>
            </a:r>
            <a:endParaRPr lang="en-US" dirty="0" smtClean="0"/>
          </a:p>
          <a:p>
            <a:r>
              <a:rPr lang="en-US" dirty="0" smtClean="0"/>
              <a:t>However</a:t>
            </a:r>
            <a:r>
              <a:rPr lang="en-US" dirty="0"/>
              <a:t>, it </a:t>
            </a:r>
            <a:r>
              <a:rPr lang="en-US" dirty="0" err="1"/>
              <a:t>criticised</a:t>
            </a:r>
            <a:r>
              <a:rPr lang="en-US" dirty="0"/>
              <a:t> elements of classical school – placing greater emphasis on the individual value and actions of an individual. </a:t>
            </a:r>
            <a:endParaRPr lang="en-US" dirty="0" smtClean="0"/>
          </a:p>
          <a:p>
            <a:r>
              <a:rPr lang="en-US" dirty="0" smtClean="0"/>
              <a:t>For </a:t>
            </a:r>
            <a:r>
              <a:rPr lang="en-US" dirty="0"/>
              <a:t>example, Austrian economists argue the value of a good reflects the marginal utility of the good – rather than the labour inputs.</a:t>
            </a:r>
          </a:p>
          <a:p>
            <a:endParaRPr lang="en-US" dirty="0"/>
          </a:p>
        </p:txBody>
      </p:sp>
    </p:spTree>
    <p:extLst>
      <p:ext uri="{BB962C8B-B14F-4D97-AF65-F5344CB8AC3E}">
        <p14:creationId xmlns:p14="http://schemas.microsoft.com/office/powerpoint/2010/main" val="665630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Mercantilism</a:t>
            </a:r>
            <a:r>
              <a:rPr lang="en-US" dirty="0"/>
              <a:t>:</a:t>
            </a:r>
          </a:p>
        </p:txBody>
      </p:sp>
      <p:sp>
        <p:nvSpPr>
          <p:cNvPr id="3" name="Content Placeholder 2"/>
          <p:cNvSpPr>
            <a:spLocks noGrp="1"/>
          </p:cNvSpPr>
          <p:nvPr>
            <p:ph idx="1"/>
          </p:nvPr>
        </p:nvSpPr>
        <p:spPr/>
        <p:txBody>
          <a:bodyPr>
            <a:normAutofit/>
          </a:bodyPr>
          <a:lstStyle/>
          <a:p>
            <a:r>
              <a:rPr lang="en-US" dirty="0" smtClean="0"/>
              <a:t>Early </a:t>
            </a:r>
            <a:r>
              <a:rPr lang="en-US" dirty="0"/>
              <a:t>model of economics </a:t>
            </a:r>
            <a:r>
              <a:rPr lang="en-US" dirty="0" err="1"/>
              <a:t>emphasising</a:t>
            </a:r>
            <a:r>
              <a:rPr lang="en-US" dirty="0"/>
              <a:t> tariff barriers and accumulation of gold reserves. Mercantilism </a:t>
            </a:r>
          </a:p>
          <a:p>
            <a:r>
              <a:rPr lang="en-US" b="1" dirty="0"/>
              <a:t>6. Monetarist economics: </a:t>
            </a:r>
            <a:r>
              <a:rPr lang="en-US" dirty="0"/>
              <a:t>Key people: Milton Friedman, Anna Schwartz. </a:t>
            </a:r>
          </a:p>
          <a:p>
            <a:r>
              <a:rPr lang="en-US" dirty="0"/>
              <a:t>Monetarism was partly a reaction to the dominance of Keynesian economics in the post-war period. </a:t>
            </a:r>
            <a:endParaRPr lang="en-US" dirty="0" smtClean="0"/>
          </a:p>
          <a:p>
            <a:r>
              <a:rPr lang="en-US" dirty="0" smtClean="0"/>
              <a:t>Monetarists</a:t>
            </a:r>
            <a:r>
              <a:rPr lang="en-US" dirty="0"/>
              <a:t>, led by Milton Friedman argued that Keynesian fiscal policy was much less effective than Keynesians suggested. </a:t>
            </a:r>
            <a:endParaRPr lang="en-US" dirty="0" smtClean="0"/>
          </a:p>
        </p:txBody>
      </p:sp>
    </p:spTree>
    <p:extLst>
      <p:ext uri="{BB962C8B-B14F-4D97-AF65-F5344CB8AC3E}">
        <p14:creationId xmlns:p14="http://schemas.microsoft.com/office/powerpoint/2010/main" val="1883859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Monetarists</a:t>
            </a:r>
          </a:p>
        </p:txBody>
      </p:sp>
      <p:sp>
        <p:nvSpPr>
          <p:cNvPr id="3" name="Content Placeholder 2"/>
          <p:cNvSpPr>
            <a:spLocks noGrp="1"/>
          </p:cNvSpPr>
          <p:nvPr>
            <p:ph idx="1"/>
          </p:nvPr>
        </p:nvSpPr>
        <p:spPr/>
        <p:txBody>
          <a:bodyPr/>
          <a:lstStyle/>
          <a:p>
            <a:r>
              <a:rPr lang="en-US" dirty="0" smtClean="0"/>
              <a:t>Promoted </a:t>
            </a:r>
            <a:r>
              <a:rPr lang="en-US" dirty="0"/>
              <a:t>previous classical ideals, such as </a:t>
            </a:r>
            <a:endParaRPr lang="en-US" dirty="0" smtClean="0"/>
          </a:p>
          <a:p>
            <a:r>
              <a:rPr lang="en-US" dirty="0" smtClean="0"/>
              <a:t>Belief </a:t>
            </a:r>
            <a:r>
              <a:rPr lang="en-US" dirty="0"/>
              <a:t>in the efficiency of markets. </a:t>
            </a:r>
            <a:endParaRPr lang="en-US" dirty="0" smtClean="0"/>
          </a:p>
          <a:p>
            <a:r>
              <a:rPr lang="en-US" dirty="0" smtClean="0"/>
              <a:t>They </a:t>
            </a:r>
            <a:r>
              <a:rPr lang="en-US" dirty="0"/>
              <a:t>also placed emphasis on the control of the money supply as a way to control inflation. </a:t>
            </a:r>
            <a:endParaRPr lang="en-US" dirty="0" smtClean="0"/>
          </a:p>
          <a:p>
            <a:r>
              <a:rPr lang="en-US" dirty="0" smtClean="0"/>
              <a:t>Monetarist </a:t>
            </a:r>
            <a:r>
              <a:rPr lang="en-US" dirty="0"/>
              <a:t>economics became influential in the 1970s and 1980s, in a period of high inflation – </a:t>
            </a:r>
            <a:endParaRPr lang="en-US" dirty="0" smtClean="0"/>
          </a:p>
          <a:p>
            <a:r>
              <a:rPr lang="en-US" dirty="0" smtClean="0"/>
              <a:t>Which </a:t>
            </a:r>
            <a:r>
              <a:rPr lang="en-US" dirty="0"/>
              <a:t>appeared to illustrate the breakdown of the post-war consensus.</a:t>
            </a:r>
          </a:p>
          <a:p>
            <a:endParaRPr lang="en-US" dirty="0"/>
          </a:p>
        </p:txBody>
      </p:sp>
    </p:spTree>
    <p:extLst>
      <p:ext uri="{BB962C8B-B14F-4D97-AF65-F5344CB8AC3E}">
        <p14:creationId xmlns:p14="http://schemas.microsoft.com/office/powerpoint/2010/main" val="3402655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75954"/>
          </a:xfrm>
        </p:spPr>
        <p:txBody>
          <a:bodyPr>
            <a:normAutofit fontScale="90000"/>
          </a:bodyPr>
          <a:lstStyle/>
          <a:p>
            <a:r>
              <a:rPr lang="en-US" b="1" dirty="0" smtClean="0"/>
              <a:t>Basic </a:t>
            </a:r>
            <a:r>
              <a:rPr lang="en-US" b="1" dirty="0"/>
              <a:t>concepts: scarcity, rationality, Choice, opportunity costs, PPF, marginal concepts, sunk costs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Scarcity </a:t>
            </a:r>
            <a:endParaRPr lang="en-US" dirty="0"/>
          </a:p>
          <a:p>
            <a:r>
              <a:rPr lang="en-US" dirty="0"/>
              <a:t>Scarcity means that resources are limited. Scarcity is sometimes considered the basic problem of economics. </a:t>
            </a:r>
            <a:endParaRPr lang="en-US" dirty="0" smtClean="0"/>
          </a:p>
          <a:p>
            <a:r>
              <a:rPr lang="en-US" dirty="0" smtClean="0"/>
              <a:t>Resources </a:t>
            </a:r>
            <a:r>
              <a:rPr lang="en-US" dirty="0"/>
              <a:t>are scarce (limited) because we live in a world in which humans‟ wants are infinite (unlimited) but the land, labor, and capital required to satisfy those wants are limited. </a:t>
            </a:r>
            <a:endParaRPr lang="en-US" dirty="0" smtClean="0"/>
          </a:p>
          <a:p>
            <a:r>
              <a:rPr lang="en-US" dirty="0" smtClean="0"/>
              <a:t>This </a:t>
            </a:r>
            <a:r>
              <a:rPr lang="en-US" dirty="0"/>
              <a:t>conflict between </a:t>
            </a:r>
            <a:r>
              <a:rPr lang="en-US" dirty="0" err="1"/>
              <a:t>society‟s</a:t>
            </a:r>
            <a:r>
              <a:rPr lang="en-US" dirty="0"/>
              <a:t> unlimited wants and our limited resources means choices must be made when deciding how to allocate scarce resources. </a:t>
            </a:r>
            <a:endParaRPr lang="en-US" dirty="0" smtClean="0"/>
          </a:p>
          <a:p>
            <a:r>
              <a:rPr lang="en-US" dirty="0" smtClean="0"/>
              <a:t>Scarcity </a:t>
            </a:r>
            <a:r>
              <a:rPr lang="en-US" dirty="0"/>
              <a:t>is the fundamental economic problem of having seemingly unlimited human wants and needs in a world of limited resources. </a:t>
            </a:r>
            <a:endParaRPr lang="en-US" dirty="0"/>
          </a:p>
        </p:txBody>
      </p:sp>
    </p:spTree>
    <p:extLst>
      <p:ext uri="{BB962C8B-B14F-4D97-AF65-F5344CB8AC3E}">
        <p14:creationId xmlns:p14="http://schemas.microsoft.com/office/powerpoint/2010/main" val="2748289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8754"/>
          </a:xfrm>
        </p:spPr>
        <p:txBody>
          <a:bodyPr>
            <a:normAutofit fontScale="90000"/>
          </a:bodyPr>
          <a:lstStyle/>
          <a:p>
            <a:r>
              <a:rPr lang="en-US" dirty="0">
                <a:effectLst>
                  <a:outerShdw blurRad="38100" dist="38100" dir="2700000" algn="tl">
                    <a:srgbClr val="000000">
                      <a:alpha val="43137"/>
                    </a:srgbClr>
                  </a:outerShdw>
                </a:effectLst>
              </a:rPr>
              <a:t>Rationality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332412"/>
            <a:ext cx="8596668" cy="5525588"/>
          </a:xfrm>
        </p:spPr>
        <p:txBody>
          <a:bodyPr>
            <a:noAutofit/>
          </a:bodyPr>
          <a:lstStyle/>
          <a:p>
            <a:r>
              <a:rPr lang="en-US" sz="2400" dirty="0" smtClean="0"/>
              <a:t>Rational </a:t>
            </a:r>
            <a:r>
              <a:rPr lang="en-US" sz="2400" dirty="0"/>
              <a:t>behavior is the cornerstone of rational choice theory, a theory of economics that assumes that individuals always make decisions that provide them with the highest amount of personal utility. </a:t>
            </a:r>
            <a:endParaRPr lang="en-US" sz="2400" dirty="0" smtClean="0"/>
          </a:p>
          <a:p>
            <a:r>
              <a:rPr lang="en-US" sz="2400" dirty="0" smtClean="0"/>
              <a:t>These </a:t>
            </a:r>
            <a:r>
              <a:rPr lang="en-US" sz="2400" dirty="0"/>
              <a:t>decisions provide people with the greatest benefit or satisfaction given the choices available. </a:t>
            </a:r>
            <a:endParaRPr lang="en-US" sz="2400" dirty="0" smtClean="0"/>
          </a:p>
          <a:p>
            <a:r>
              <a:rPr lang="en-US" sz="2400" dirty="0" smtClean="0"/>
              <a:t>A </a:t>
            </a:r>
            <a:r>
              <a:rPr lang="en-US" sz="2400" dirty="0"/>
              <a:t>rational decision is not just a decision made by evaluating all choices, it is a decision that takes into account the reason for making the decision. </a:t>
            </a:r>
            <a:endParaRPr lang="en-US" sz="2400" dirty="0" smtClean="0"/>
          </a:p>
          <a:p>
            <a:r>
              <a:rPr lang="en-US" sz="2400" dirty="0" smtClean="0"/>
              <a:t>Decisions </a:t>
            </a:r>
            <a:r>
              <a:rPr lang="en-US" sz="2400" dirty="0"/>
              <a:t>should be made taking individual and national goals into account because of scarcity. </a:t>
            </a:r>
            <a:endParaRPr lang="en-US" sz="2400" dirty="0" smtClean="0"/>
          </a:p>
          <a:p>
            <a:r>
              <a:rPr lang="en-US" sz="2400" dirty="0" smtClean="0"/>
              <a:t>For </a:t>
            </a:r>
            <a:r>
              <a:rPr lang="en-US" sz="2400" dirty="0"/>
              <a:t>example, if a person chooses a job with a profile of his liking instead of a high paying job, then it would be also termed as rational behaviour. </a:t>
            </a:r>
            <a:endParaRPr lang="en-US" sz="2400" dirty="0"/>
          </a:p>
        </p:txBody>
      </p:sp>
    </p:spTree>
    <p:extLst>
      <p:ext uri="{BB962C8B-B14F-4D97-AF65-F5344CB8AC3E}">
        <p14:creationId xmlns:p14="http://schemas.microsoft.com/office/powerpoint/2010/main" val="2309467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Choices </a:t>
            </a:r>
            <a:r>
              <a:rPr lang="en-US" dirty="0" smtClean="0"/>
              <a:t/>
            </a:r>
            <a:br>
              <a:rPr lang="en-US" dirty="0" smtClean="0"/>
            </a:br>
            <a:endParaRPr lang="en-US" dirty="0"/>
          </a:p>
        </p:txBody>
      </p:sp>
      <p:sp>
        <p:nvSpPr>
          <p:cNvPr id="3" name="Content Placeholder 2"/>
          <p:cNvSpPr>
            <a:spLocks noGrp="1"/>
          </p:cNvSpPr>
          <p:nvPr>
            <p:ph idx="1"/>
          </p:nvPr>
        </p:nvSpPr>
        <p:spPr>
          <a:xfrm>
            <a:off x="838200" y="1084217"/>
            <a:ext cx="10515600" cy="5577840"/>
          </a:xfrm>
        </p:spPr>
        <p:txBody>
          <a:bodyPr>
            <a:normAutofit fontScale="92500" lnSpcReduction="10000"/>
          </a:bodyPr>
          <a:lstStyle/>
          <a:p>
            <a:r>
              <a:rPr lang="en-US" dirty="0" smtClean="0"/>
              <a:t>Scarcity </a:t>
            </a:r>
            <a:r>
              <a:rPr lang="en-US" dirty="0"/>
              <a:t>refers to the finite nature and availability of resources while choice refers to people's decisions about sharing and using those resources. </a:t>
            </a:r>
            <a:endParaRPr lang="en-US" dirty="0" smtClean="0"/>
          </a:p>
          <a:p>
            <a:r>
              <a:rPr lang="en-US" dirty="0" smtClean="0"/>
              <a:t>The </a:t>
            </a:r>
            <a:r>
              <a:rPr lang="en-US" dirty="0"/>
              <a:t>problem of scarcity and choice lies at the very heart of economics, which is the study of how individuals and society choose to allocate scarce resources. </a:t>
            </a:r>
            <a:endParaRPr lang="en-US" dirty="0" smtClean="0"/>
          </a:p>
          <a:p>
            <a:r>
              <a:rPr lang="en-US" dirty="0" smtClean="0"/>
              <a:t>The </a:t>
            </a:r>
            <a:r>
              <a:rPr lang="en-US" dirty="0"/>
              <a:t>scarcity of a resource in a particular context can be quantified and hence judged objectively. </a:t>
            </a:r>
            <a:endParaRPr lang="en-US" dirty="0" smtClean="0"/>
          </a:p>
          <a:p>
            <a:r>
              <a:rPr lang="en-US" dirty="0" smtClean="0"/>
              <a:t>Traditionally</a:t>
            </a:r>
            <a:r>
              <a:rPr lang="en-US" dirty="0"/>
              <a:t>, economists have also studied </a:t>
            </a:r>
            <a:r>
              <a:rPr lang="en-US" dirty="0" smtClean="0"/>
              <a:t>people's </a:t>
            </a:r>
            <a:r>
              <a:rPr lang="en-US" dirty="0"/>
              <a:t>choices over scarce resources as though they were taken through simple, objective and rational calculation. </a:t>
            </a:r>
            <a:endParaRPr lang="en-US" dirty="0" smtClean="0"/>
          </a:p>
          <a:p>
            <a:r>
              <a:rPr lang="en-US" dirty="0" smtClean="0"/>
              <a:t>Of </a:t>
            </a:r>
            <a:r>
              <a:rPr lang="en-US" dirty="0"/>
              <a:t>course, </a:t>
            </a:r>
            <a:r>
              <a:rPr lang="en-US" dirty="0" smtClean="0"/>
              <a:t>people's </a:t>
            </a:r>
            <a:r>
              <a:rPr lang="en-US" dirty="0"/>
              <a:t>decision-making is not purely rational; it is affected by emotion too. The fast-developing subfield of behavioral economics applies insights from human psychology to enrich economists‟ understanding of choice at a more subjective level </a:t>
            </a:r>
          </a:p>
        </p:txBody>
      </p:sp>
    </p:spTree>
    <p:extLst>
      <p:ext uri="{BB962C8B-B14F-4D97-AF65-F5344CB8AC3E}">
        <p14:creationId xmlns:p14="http://schemas.microsoft.com/office/powerpoint/2010/main" val="23952385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Opportunity Cost </a:t>
            </a:r>
            <a:r>
              <a:rPr lang="en-US" dirty="0" smtClean="0"/>
              <a:t/>
            </a:r>
            <a:br>
              <a:rPr lang="en-US" dirty="0" smtClean="0"/>
            </a:br>
            <a:endParaRPr lang="en-US" dirty="0"/>
          </a:p>
        </p:txBody>
      </p:sp>
      <p:sp>
        <p:nvSpPr>
          <p:cNvPr id="3" name="Content Placeholder 2"/>
          <p:cNvSpPr>
            <a:spLocks noGrp="1"/>
          </p:cNvSpPr>
          <p:nvPr>
            <p:ph idx="1"/>
          </p:nvPr>
        </p:nvSpPr>
        <p:spPr>
          <a:xfrm>
            <a:off x="838200" y="992778"/>
            <a:ext cx="10515600" cy="5590902"/>
          </a:xfrm>
        </p:spPr>
        <p:txBody>
          <a:bodyPr>
            <a:noAutofit/>
          </a:bodyPr>
          <a:lstStyle/>
          <a:p>
            <a:r>
              <a:rPr lang="en-US" sz="3200" dirty="0" smtClean="0"/>
              <a:t>This </a:t>
            </a:r>
            <a:r>
              <a:rPr lang="en-US" sz="3200" dirty="0"/>
              <a:t>concept of scarcity leads to the idea of opportunity cost. Opportunity cost is the cost of next best alternative foregone or the value of the best alternative forgone in making any choice. In </a:t>
            </a:r>
          </a:p>
          <a:p>
            <a:r>
              <a:rPr lang="en-US" sz="3200" dirty="0"/>
              <a:t>simple terms, it is what you give up when you choose to do something else. </a:t>
            </a:r>
            <a:endParaRPr lang="en-US" sz="3200" dirty="0" smtClean="0"/>
          </a:p>
          <a:p>
            <a:r>
              <a:rPr lang="en-US" sz="3200" dirty="0" smtClean="0"/>
              <a:t>Every </a:t>
            </a:r>
            <a:r>
              <a:rPr lang="en-US" sz="3200" dirty="0"/>
              <a:t>choice is a trade-off. Tradeoffs imply costs – when a decision is made, something is forgone. </a:t>
            </a:r>
            <a:endParaRPr lang="en-US" sz="3200" dirty="0" smtClean="0"/>
          </a:p>
          <a:p>
            <a:r>
              <a:rPr lang="en-US" sz="3200" dirty="0" smtClean="0"/>
              <a:t>For </a:t>
            </a:r>
            <a:r>
              <a:rPr lang="en-US" sz="3200" dirty="0"/>
              <a:t>example, at university, a student may forgo the alternative uses of time spent studying and attending class instead of using the time in some other endeavor such as clubbing and playing soccer. </a:t>
            </a:r>
          </a:p>
        </p:txBody>
      </p:sp>
    </p:spTree>
    <p:extLst>
      <p:ext uri="{BB962C8B-B14F-4D97-AF65-F5344CB8AC3E}">
        <p14:creationId xmlns:p14="http://schemas.microsoft.com/office/powerpoint/2010/main" val="3410941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DIAGRAMATIC REPRESENTATION OF OPPORTUNITY COST</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946366" y="1894114"/>
            <a:ext cx="7522144" cy="4349932"/>
          </a:xfrm>
          <a:prstGeom prst="rect">
            <a:avLst/>
          </a:prstGeom>
        </p:spPr>
      </p:pic>
    </p:spTree>
    <p:extLst>
      <p:ext uri="{BB962C8B-B14F-4D97-AF65-F5344CB8AC3E}">
        <p14:creationId xmlns:p14="http://schemas.microsoft.com/office/powerpoint/2010/main" val="41066027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Production Possibilities Frontier (PPF)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Production Possibilities Frontier (PPF) is a graph that shows all the different combinations of output of two goods that can be produced using available resources and technology. </a:t>
            </a:r>
            <a:endParaRPr lang="en-US" dirty="0" smtClean="0"/>
          </a:p>
          <a:p>
            <a:r>
              <a:rPr lang="en-US" dirty="0" smtClean="0"/>
              <a:t>A </a:t>
            </a:r>
            <a:r>
              <a:rPr lang="en-US" dirty="0"/>
              <a:t>production possibility frontier shows how much an economy can produce given existing resources. </a:t>
            </a:r>
            <a:endParaRPr lang="en-US" dirty="0" smtClean="0"/>
          </a:p>
          <a:p>
            <a:r>
              <a:rPr lang="en-US" dirty="0" smtClean="0"/>
              <a:t>A </a:t>
            </a:r>
            <a:r>
              <a:rPr lang="en-US" dirty="0"/>
              <a:t>production possibility can show the different choices that an economy faces. </a:t>
            </a:r>
          </a:p>
        </p:txBody>
      </p:sp>
    </p:spTree>
    <p:extLst>
      <p:ext uri="{BB962C8B-B14F-4D97-AF65-F5344CB8AC3E}">
        <p14:creationId xmlns:p14="http://schemas.microsoft.com/office/powerpoint/2010/main" val="1035692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Production Possibilities Frontier (PPF) </a:t>
            </a:r>
            <a:br>
              <a:rPr lang="en-US" b="1" dirty="0" smtClean="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802674" y="2090056"/>
            <a:ext cx="8895806" cy="4010297"/>
          </a:xfrm>
          <a:prstGeom prst="rect">
            <a:avLst/>
          </a:prstGeom>
        </p:spPr>
      </p:pic>
    </p:spTree>
    <p:extLst>
      <p:ext uri="{BB962C8B-B14F-4D97-AF65-F5344CB8AC3E}">
        <p14:creationId xmlns:p14="http://schemas.microsoft.com/office/powerpoint/2010/main" val="10043375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endParaRPr lang="en-US" dirty="0"/>
          </a:p>
          <a:p>
            <a:r>
              <a:rPr lang="en-US" dirty="0" smtClean="0"/>
              <a:t>At </a:t>
            </a:r>
            <a:r>
              <a:rPr lang="en-US" dirty="0"/>
              <a:t>point D, the economy is inefficient. At point D, we can increase both goods and services without any opportunity cost. </a:t>
            </a:r>
          </a:p>
          <a:p>
            <a:r>
              <a:rPr lang="en-US" dirty="0" smtClean="0"/>
              <a:t>Pareto </a:t>
            </a:r>
            <a:r>
              <a:rPr lang="en-US" dirty="0"/>
              <a:t>efficiency is any point on the PPF curve. On the PPF curve, it is impossible to increase one choice, without causing less production of the other. </a:t>
            </a:r>
          </a:p>
          <a:p>
            <a:r>
              <a:rPr lang="en-US" b="1" dirty="0"/>
              <a:t>Assumptions for PPF </a:t>
            </a:r>
            <a:endParaRPr lang="en-US" dirty="0"/>
          </a:p>
          <a:p>
            <a:r>
              <a:rPr lang="en-US" dirty="0" smtClean="0"/>
              <a:t>Resources </a:t>
            </a:r>
            <a:r>
              <a:rPr lang="en-US" dirty="0"/>
              <a:t>in an economy are fixed, but these resources can be transferred from one use to another. </a:t>
            </a:r>
          </a:p>
          <a:p>
            <a:endParaRPr lang="en-US" dirty="0"/>
          </a:p>
        </p:txBody>
      </p:sp>
    </p:spTree>
    <p:extLst>
      <p:ext uri="{BB962C8B-B14F-4D97-AF65-F5344CB8AC3E}">
        <p14:creationId xmlns:p14="http://schemas.microsoft.com/office/powerpoint/2010/main" val="98980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endParaRPr lang="en-US" dirty="0"/>
          </a:p>
          <a:p>
            <a:r>
              <a:rPr lang="en-US" dirty="0"/>
              <a:t>With the help of given resources, only two goods can be produced. </a:t>
            </a:r>
          </a:p>
          <a:p>
            <a:r>
              <a:rPr lang="en-US" dirty="0" smtClean="0"/>
              <a:t>The </a:t>
            </a:r>
            <a:r>
              <a:rPr lang="en-US" dirty="0"/>
              <a:t>resources are fully and efficiently utilized. </a:t>
            </a:r>
          </a:p>
          <a:p>
            <a:r>
              <a:rPr lang="en-US" dirty="0" smtClean="0"/>
              <a:t>Resources </a:t>
            </a:r>
            <a:r>
              <a:rPr lang="en-US" dirty="0"/>
              <a:t>are not equally efficient in production of all products. So, when resources are transferred from production of one good to another, the productivity decreases. </a:t>
            </a:r>
          </a:p>
          <a:p>
            <a:r>
              <a:rPr lang="en-US" b="1" dirty="0"/>
              <a:t>Marginal Concept </a:t>
            </a:r>
            <a:endParaRPr lang="en-US" dirty="0"/>
          </a:p>
          <a:p>
            <a:r>
              <a:rPr lang="en-US" dirty="0"/>
              <a:t>Marginal analysis is used in allocating scarce resources to maximize the benefit of the output produced by simply getting the most value for the resources used. The analysis of the benefits and costs of the marginal unit of a good or input (Marginal = the next unit). In any situation, people want to maximize net benefits. </a:t>
            </a:r>
          </a:p>
          <a:p>
            <a:r>
              <a:rPr lang="en-US" dirty="0"/>
              <a:t>Net Benefits = Total Benefits - Total Costs </a:t>
            </a:r>
          </a:p>
        </p:txBody>
      </p:sp>
    </p:spTree>
    <p:extLst>
      <p:ext uri="{BB962C8B-B14F-4D97-AF65-F5344CB8AC3E}">
        <p14:creationId xmlns:p14="http://schemas.microsoft.com/office/powerpoint/2010/main" val="4069841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Actors </a:t>
            </a:r>
            <a:r>
              <a:rPr lang="en-US" b="1" dirty="0" smtClean="0"/>
              <a:t>in a Market Economy: Households, Firms, Government, External Sector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b="1" dirty="0"/>
              <a:t>T</a:t>
            </a:r>
            <a:r>
              <a:rPr lang="en-US" b="1" dirty="0" smtClean="0"/>
              <a:t>he </a:t>
            </a:r>
            <a:r>
              <a:rPr lang="en-US" b="1" dirty="0"/>
              <a:t>Circular Flow Model </a:t>
            </a:r>
            <a:endParaRPr lang="en-US" dirty="0"/>
          </a:p>
          <a:p>
            <a:r>
              <a:rPr lang="en-US" dirty="0"/>
              <a:t>In the products market, or the goods market, firms are the suppliers while households are the buyers. </a:t>
            </a:r>
            <a:endParaRPr lang="en-US" dirty="0" smtClean="0"/>
          </a:p>
          <a:p>
            <a:r>
              <a:rPr lang="en-US" dirty="0" smtClean="0"/>
              <a:t>However</a:t>
            </a:r>
            <a:r>
              <a:rPr lang="en-US" dirty="0"/>
              <a:t>, in the markets for factors of production, this relationship reverses, and households become the suppliers while the firm becomes the buyer. </a:t>
            </a:r>
            <a:endParaRPr lang="en-US" dirty="0" smtClean="0"/>
          </a:p>
          <a:p>
            <a:r>
              <a:rPr lang="en-US" dirty="0" smtClean="0"/>
              <a:t>This </a:t>
            </a:r>
            <a:r>
              <a:rPr lang="en-US" dirty="0"/>
              <a:t>relationship is illustrated in the </a:t>
            </a:r>
            <a:r>
              <a:rPr lang="en-US" b="1" dirty="0"/>
              <a:t>circular flow diagram </a:t>
            </a:r>
            <a:r>
              <a:rPr lang="en-US" dirty="0"/>
              <a:t>shown below. </a:t>
            </a:r>
          </a:p>
        </p:txBody>
      </p:sp>
    </p:spTree>
    <p:extLst>
      <p:ext uri="{BB962C8B-B14F-4D97-AF65-F5344CB8AC3E}">
        <p14:creationId xmlns:p14="http://schemas.microsoft.com/office/powerpoint/2010/main" val="14513255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CIRCULAR FLOW DIAGRAM</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959203" y="2006458"/>
            <a:ext cx="6273594" cy="3989672"/>
          </a:xfrm>
          <a:prstGeom prst="rect">
            <a:avLst/>
          </a:prstGeom>
        </p:spPr>
      </p:pic>
    </p:spTree>
    <p:extLst>
      <p:ext uri="{BB962C8B-B14F-4D97-AF65-F5344CB8AC3E}">
        <p14:creationId xmlns:p14="http://schemas.microsoft.com/office/powerpoint/2010/main" val="3633001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Complete Model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45474"/>
            <a:ext cx="10515600" cy="5251269"/>
          </a:xfrm>
        </p:spPr>
        <p:txBody>
          <a:bodyPr>
            <a:normAutofit/>
          </a:bodyPr>
          <a:lstStyle/>
          <a:p>
            <a:r>
              <a:rPr lang="en-US" dirty="0" smtClean="0"/>
              <a:t>A </a:t>
            </a:r>
            <a:r>
              <a:rPr lang="en-US" dirty="0"/>
              <a:t>good model to start with in economics is the circular flow diagram. Four sector model studies the circular flow in an open economy which comprises of the household sector, business sector, government sector, and foreign sector. </a:t>
            </a:r>
            <a:endParaRPr lang="en-US" dirty="0" smtClean="0"/>
          </a:p>
          <a:p>
            <a:r>
              <a:rPr lang="en-US" dirty="0" smtClean="0"/>
              <a:t>The </a:t>
            </a:r>
            <a:r>
              <a:rPr lang="en-US" dirty="0"/>
              <a:t>foreign sector has an important role in the economy. When the domestic business firms export goods and services to the foreign markets, injections are made into the circular flow model. </a:t>
            </a:r>
            <a:endParaRPr lang="en-US" dirty="0" smtClean="0"/>
          </a:p>
          <a:p>
            <a:r>
              <a:rPr lang="en-US" dirty="0" smtClean="0"/>
              <a:t>On </a:t>
            </a:r>
            <a:r>
              <a:rPr lang="en-US" dirty="0"/>
              <a:t>the other hand, when the domestic households, firms or the government imports something from the foreign sector, leakage occurs in the circular flow model. </a:t>
            </a:r>
          </a:p>
          <a:p>
            <a:endParaRPr lang="en-US" dirty="0"/>
          </a:p>
        </p:txBody>
      </p:sp>
    </p:spTree>
    <p:extLst>
      <p:ext uri="{BB962C8B-B14F-4D97-AF65-F5344CB8AC3E}">
        <p14:creationId xmlns:p14="http://schemas.microsoft.com/office/powerpoint/2010/main" val="9218405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Complete Model </a:t>
            </a:r>
            <a:br>
              <a:rPr lang="en-US" b="1" dirty="0" smtClean="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489166" y="1911465"/>
            <a:ext cx="9052560" cy="4659151"/>
          </a:xfrm>
          <a:prstGeom prst="rect">
            <a:avLst/>
          </a:prstGeom>
        </p:spPr>
      </p:pic>
    </p:spTree>
    <p:extLst>
      <p:ext uri="{BB962C8B-B14F-4D97-AF65-F5344CB8AC3E}">
        <p14:creationId xmlns:p14="http://schemas.microsoft.com/office/powerpoint/2010/main" val="2502189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CIRCULAR FLOW OF INCOME IN DIFFERENT SECTORS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a:t>From the viewpoint of the circular flow of income, each sector has dual roles to play in the economy; while a sector receives certain payments from other sectors, it pays back to those sectors as well. The circular flow of income in different sectors can be expressed as follows: </a:t>
            </a:r>
          </a:p>
          <a:p>
            <a:r>
              <a:rPr lang="en-US" b="1" dirty="0"/>
              <a:t>Household Sector </a:t>
            </a:r>
            <a:endParaRPr lang="en-US" dirty="0"/>
          </a:p>
          <a:p>
            <a:r>
              <a:rPr lang="en-US" b="1" dirty="0"/>
              <a:t>Receipts: </a:t>
            </a:r>
            <a:r>
              <a:rPr lang="en-US" dirty="0"/>
              <a:t>The household sector receives factor income in the form of rent, wages, interest, and profit from the business sector. It also receives transfer payments from the government sector. </a:t>
            </a:r>
          </a:p>
          <a:p>
            <a:r>
              <a:rPr lang="en-US" b="1" dirty="0"/>
              <a:t>Payments: </a:t>
            </a:r>
            <a:r>
              <a:rPr lang="en-US" dirty="0"/>
              <a:t>The income of the household sector flows into the business sector, government sector and capital markets in the form of consumption expenditure, taxes and savings respectively.</a:t>
            </a:r>
          </a:p>
        </p:txBody>
      </p:sp>
    </p:spTree>
    <p:extLst>
      <p:ext uri="{BB962C8B-B14F-4D97-AF65-F5344CB8AC3E}">
        <p14:creationId xmlns:p14="http://schemas.microsoft.com/office/powerpoint/2010/main" val="12996660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BUSINESS SECTOR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b="1" dirty="0" smtClean="0"/>
              <a:t>Receipts</a:t>
            </a:r>
            <a:r>
              <a:rPr lang="en-US" b="1" dirty="0"/>
              <a:t>: </a:t>
            </a:r>
            <a:r>
              <a:rPr lang="en-US" dirty="0"/>
              <a:t>The principle receipts of the business sector constitute of income from the sale of goods and services, income from exports, subsidies from the government sector, and borrowings from the capital market. </a:t>
            </a:r>
          </a:p>
          <a:p>
            <a:r>
              <a:rPr lang="en-US" b="1" dirty="0"/>
              <a:t>Payments: </a:t>
            </a:r>
            <a:r>
              <a:rPr lang="en-US" dirty="0"/>
              <a:t>Factor payments, import payments, and savings constitute the principal payments from the business sector to the household sector, government sector, foreign sector and the capital market. </a:t>
            </a:r>
          </a:p>
          <a:p>
            <a:r>
              <a:rPr lang="en-US" b="1" dirty="0"/>
              <a:t>Government Sector </a:t>
            </a:r>
            <a:endParaRPr lang="en-US" dirty="0"/>
          </a:p>
          <a:p>
            <a:r>
              <a:rPr lang="en-US" b="1" dirty="0"/>
              <a:t>Receipts: </a:t>
            </a:r>
            <a:r>
              <a:rPr lang="en-US" dirty="0"/>
              <a:t>The major source of income for the government sector includes the taxes paid by household and business sector. Besides this, it also receives interests and dividends for the investments made.</a:t>
            </a:r>
          </a:p>
        </p:txBody>
      </p:sp>
    </p:spTree>
    <p:extLst>
      <p:ext uri="{BB962C8B-B14F-4D97-AF65-F5344CB8AC3E}">
        <p14:creationId xmlns:p14="http://schemas.microsoft.com/office/powerpoint/2010/main" val="1325713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GOVERNMENT SECTOR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979714"/>
            <a:ext cx="10515600" cy="5473337"/>
          </a:xfrm>
        </p:spPr>
        <p:txBody>
          <a:bodyPr>
            <a:normAutofit/>
          </a:bodyPr>
          <a:lstStyle/>
          <a:p>
            <a:r>
              <a:rPr lang="en-US" b="1" dirty="0" smtClean="0"/>
              <a:t>Receipts</a:t>
            </a:r>
            <a:r>
              <a:rPr lang="en-US" b="1" dirty="0"/>
              <a:t>: </a:t>
            </a:r>
            <a:r>
              <a:rPr lang="en-US" dirty="0"/>
              <a:t>The major source of income for the government sector includes the taxes paid by household and business sector. Besides this, it also receives interests and dividends for the investments made. </a:t>
            </a:r>
          </a:p>
          <a:p>
            <a:r>
              <a:rPr lang="en-US" b="1" dirty="0"/>
              <a:t>Payments: </a:t>
            </a:r>
            <a:r>
              <a:rPr lang="en-US" dirty="0"/>
              <a:t>The government sectors make payments to different sectors in the form of transfer payments, subsidies, grants, etc</a:t>
            </a:r>
            <a:r>
              <a:rPr lang="en-US" dirty="0" smtClean="0"/>
              <a:t>.</a:t>
            </a:r>
          </a:p>
          <a:p>
            <a:r>
              <a:rPr lang="en-US" dirty="0" smtClean="0"/>
              <a:t>It </a:t>
            </a:r>
            <a:r>
              <a:rPr lang="en-US" dirty="0"/>
              <a:t>pays to the business sector in return for the goods purchased, makes transfer payments like pension funds, scholarships, etc. to the household sector. If the government receipts are greater than the expenses, the surplus goes to capital market. </a:t>
            </a:r>
            <a:endParaRPr lang="en-US" dirty="0" smtClean="0"/>
          </a:p>
          <a:p>
            <a:r>
              <a:rPr lang="en-US" dirty="0" smtClean="0"/>
              <a:t>In </a:t>
            </a:r>
            <a:r>
              <a:rPr lang="en-US" dirty="0"/>
              <a:t>case of cash deficit, the government borrows from the capital market to maintain a balance in the economy. </a:t>
            </a:r>
          </a:p>
        </p:txBody>
      </p:sp>
    </p:spTree>
    <p:extLst>
      <p:ext uri="{BB962C8B-B14F-4D97-AF65-F5344CB8AC3E}">
        <p14:creationId xmlns:p14="http://schemas.microsoft.com/office/powerpoint/2010/main" val="32216859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FOREIGN SECTOR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06286"/>
            <a:ext cx="10515600" cy="5212080"/>
          </a:xfrm>
        </p:spPr>
        <p:txBody>
          <a:bodyPr>
            <a:normAutofit/>
          </a:bodyPr>
          <a:lstStyle/>
          <a:p>
            <a:r>
              <a:rPr lang="en-US" b="1" dirty="0" smtClean="0"/>
              <a:t>Receipts: </a:t>
            </a:r>
            <a:r>
              <a:rPr lang="en-US" dirty="0" smtClean="0"/>
              <a:t>The foreign sector receives income from the business sector in return for the goods and services imported by the latter. </a:t>
            </a:r>
          </a:p>
          <a:p>
            <a:r>
              <a:rPr lang="en-US" b="1" dirty="0" smtClean="0"/>
              <a:t>Payments: </a:t>
            </a:r>
            <a:r>
              <a:rPr lang="en-US" dirty="0" smtClean="0"/>
              <a:t>Foreign sectors need to make payment to the business sector from where imports have been made. </a:t>
            </a:r>
          </a:p>
          <a:p>
            <a:r>
              <a:rPr lang="en-US" dirty="0" smtClean="0"/>
              <a:t>If exports exceed imports, the economy has a surplus balance of payment. </a:t>
            </a:r>
          </a:p>
          <a:p>
            <a:r>
              <a:rPr lang="en-US" dirty="0" smtClean="0"/>
              <a:t>In case exports exceed imports, the economy faces a deficit balance of payment. </a:t>
            </a:r>
          </a:p>
          <a:p>
            <a:r>
              <a:rPr lang="en-US" dirty="0" smtClean="0"/>
              <a:t>Depending on the trade policies, the economy tries to maintain a balance between imports and exports. </a:t>
            </a:r>
          </a:p>
          <a:p>
            <a:endParaRPr lang="en-US" dirty="0"/>
          </a:p>
        </p:txBody>
      </p:sp>
    </p:spTree>
    <p:extLst>
      <p:ext uri="{BB962C8B-B14F-4D97-AF65-F5344CB8AC3E}">
        <p14:creationId xmlns:p14="http://schemas.microsoft.com/office/powerpoint/2010/main" val="23421433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Practical applications of microeconomics in daily life</a:t>
            </a:r>
          </a:p>
        </p:txBody>
      </p:sp>
      <p:sp>
        <p:nvSpPr>
          <p:cNvPr id="3" name="Content Placeholder 2"/>
          <p:cNvSpPr>
            <a:spLocks noGrp="1"/>
          </p:cNvSpPr>
          <p:nvPr>
            <p:ph idx="1"/>
          </p:nvPr>
        </p:nvSpPr>
        <p:spPr/>
        <p:txBody>
          <a:bodyPr>
            <a:normAutofit fontScale="92500" lnSpcReduction="10000"/>
          </a:bodyPr>
          <a:lstStyle/>
          <a:p>
            <a:r>
              <a:rPr lang="en-US" dirty="0" smtClean="0"/>
              <a:t>Price Fixation-Demand &amp; Supply</a:t>
            </a:r>
          </a:p>
          <a:p>
            <a:r>
              <a:rPr lang="en-US" dirty="0" smtClean="0"/>
              <a:t>Look at Maize Yield of 2024 and 2025</a:t>
            </a:r>
          </a:p>
          <a:p>
            <a:r>
              <a:rPr lang="en-US" dirty="0" smtClean="0"/>
              <a:t>In Zambia due to drought Maize yield was low in 2024 affecting production of mealie meal and demand was still high for mealie meal hence price of a 25kg bag was too high going up-to K340 per bag </a:t>
            </a:r>
          </a:p>
          <a:p>
            <a:r>
              <a:rPr lang="en-US" dirty="0" smtClean="0"/>
              <a:t>In 2025, there was plenty rain and the effect is high yield in maze, high production of mealie meal, local people have maize and stop buying mealie meal, low demand for mealie meal, low price.</a:t>
            </a:r>
          </a:p>
          <a:p>
            <a:r>
              <a:rPr lang="en-US" dirty="0" smtClean="0"/>
              <a:t>War in Russia &amp; Ukraine Have Affected Price of Major commodities like fuel, Low income countries like Zambia have been affected by increased price of fuel, unstable pricing methods, low fuel supply yet high demand.</a:t>
            </a:r>
            <a:endParaRPr lang="en-US" dirty="0"/>
          </a:p>
        </p:txBody>
      </p:sp>
    </p:spTree>
    <p:extLst>
      <p:ext uri="{BB962C8B-B14F-4D97-AF65-F5344CB8AC3E}">
        <p14:creationId xmlns:p14="http://schemas.microsoft.com/office/powerpoint/2010/main" val="1357611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Assignment Questions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1. Write on the </a:t>
            </a:r>
            <a:r>
              <a:rPr lang="en-US" dirty="0"/>
              <a:t>importance of economic literacy for informed </a:t>
            </a:r>
            <a:r>
              <a:rPr lang="en-US" dirty="0" smtClean="0"/>
              <a:t>citizenship.</a:t>
            </a:r>
            <a:endParaRPr lang="en-US" dirty="0"/>
          </a:p>
          <a:p>
            <a:pPr marL="0" indent="0">
              <a:buNone/>
            </a:pPr>
            <a:r>
              <a:rPr lang="en-US" dirty="0" smtClean="0"/>
              <a:t>2. Explain The role </a:t>
            </a:r>
            <a:r>
              <a:rPr lang="en-US" dirty="0"/>
              <a:t>of microeconomic analysis in addressing global challenges (e.g., poverty, climate change) </a:t>
            </a:r>
            <a:endParaRPr lang="en-US" dirty="0" smtClean="0"/>
          </a:p>
          <a:p>
            <a:pPr marL="0" indent="0">
              <a:buNone/>
            </a:pPr>
            <a:r>
              <a:rPr lang="en-US" b="1" dirty="0" smtClean="0"/>
              <a:t>Assignment Instructions</a:t>
            </a:r>
          </a:p>
          <a:p>
            <a:pPr marL="0" indent="0">
              <a:buNone/>
            </a:pPr>
            <a:r>
              <a:rPr lang="en-US" b="1" dirty="0" smtClean="0"/>
              <a:t>Font &amp; Font Size: Verdana &amp; 12 respectively</a:t>
            </a:r>
          </a:p>
          <a:p>
            <a:pPr marL="0" indent="0">
              <a:buNone/>
            </a:pPr>
            <a:r>
              <a:rPr lang="en-US" b="1" dirty="0" smtClean="0"/>
              <a:t>Total No. of Pages 4. Including cover page &amp; References</a:t>
            </a:r>
          </a:p>
          <a:p>
            <a:pPr marL="0" indent="0">
              <a:buNone/>
            </a:pPr>
            <a:r>
              <a:rPr lang="en-US" b="1" dirty="0" smtClean="0"/>
              <a:t>References: APA or Harvard Style</a:t>
            </a:r>
          </a:p>
          <a:p>
            <a:pPr marL="0" indent="0">
              <a:buNone/>
            </a:pPr>
            <a:r>
              <a:rPr lang="en-US" b="1" dirty="0" smtClean="0"/>
              <a:t>Due Date: 13</a:t>
            </a:r>
            <a:r>
              <a:rPr lang="en-US" b="1" baseline="30000" dirty="0" smtClean="0"/>
              <a:t>th</a:t>
            </a:r>
            <a:r>
              <a:rPr lang="en-US" b="1" dirty="0" smtClean="0"/>
              <a:t> June, 2025.</a:t>
            </a:r>
          </a:p>
          <a:p>
            <a:pPr marL="0" indent="0">
              <a:buNone/>
            </a:pPr>
            <a:endParaRPr lang="en-US" dirty="0"/>
          </a:p>
          <a:p>
            <a:endParaRPr lang="en-US" dirty="0"/>
          </a:p>
        </p:txBody>
      </p:sp>
    </p:spTree>
    <p:extLst>
      <p:ext uri="{BB962C8B-B14F-4D97-AF65-F5344CB8AC3E}">
        <p14:creationId xmlns:p14="http://schemas.microsoft.com/office/powerpoint/2010/main" val="1690663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1712</TotalTime>
  <Words>5405</Words>
  <Application>Microsoft Office PowerPoint</Application>
  <PresentationFormat>Widescreen</PresentationFormat>
  <Paragraphs>357</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Calibri Light</vt:lpstr>
      <vt:lpstr>Wingdings</vt:lpstr>
      <vt:lpstr>Office Theme</vt:lpstr>
      <vt:lpstr>ISB 120  </vt:lpstr>
      <vt:lpstr>UNIT 1: INTRODUCTION TO MICROECONOMICS</vt:lpstr>
      <vt:lpstr>DEFINITIONS OF ECONOMICS:  </vt:lpstr>
      <vt:lpstr> WEALTH DEFINITION – Adam Smith   </vt:lpstr>
      <vt:lpstr>CONT…</vt:lpstr>
      <vt:lpstr>WELFARE DEFINITION – ALFRED MARSHALL  </vt:lpstr>
      <vt:lpstr>FEATURES OF WELFARE DEFINITION  </vt:lpstr>
      <vt:lpstr>CRITICISM OF WELFARE DEFINITION  </vt:lpstr>
      <vt:lpstr>SCARCITY DEFINITION – LIONEL ROBBINS  </vt:lpstr>
      <vt:lpstr>FUNDAMENTAL CHARACTERISTICS OF SCARCITY DEFINITION  </vt:lpstr>
      <vt:lpstr>CRITICISM OF SCARCITY DEFINITION  </vt:lpstr>
      <vt:lpstr>GROWTH DEFINITION – SAMUELSON  </vt:lpstr>
      <vt:lpstr>MAIN FEATURES OF GROWTH DEFINITION:  </vt:lpstr>
      <vt:lpstr>DIVISION OF ECONOMICS  </vt:lpstr>
      <vt:lpstr>CONSUMPTION  </vt:lpstr>
      <vt:lpstr>PRODUCTION  </vt:lpstr>
      <vt:lpstr>In the sub- division dealing with production</vt:lpstr>
      <vt:lpstr>EXCHANGE</vt:lpstr>
      <vt:lpstr>DISTRIBUTION  </vt:lpstr>
      <vt:lpstr>PUBLIC FINANCE  </vt:lpstr>
      <vt:lpstr>NATURE OF ECONOMICS  </vt:lpstr>
      <vt:lpstr>ECONOMICS AS A SCIENCE  </vt:lpstr>
      <vt:lpstr>ARGUMENT IN FAVOUR OF ECONOMICS AS A SCIENCE …  </vt:lpstr>
      <vt:lpstr>ARGUMENT IN FAVOUR OF ECONOMICS AS A SCIENCE …  </vt:lpstr>
      <vt:lpstr>ECONOMICS AS AN ART  </vt:lpstr>
      <vt:lpstr>ECONOMICS AS AN ART…</vt:lpstr>
      <vt:lpstr>POSITIVE AND NORMATIVE APPROACHES</vt:lpstr>
      <vt:lpstr>ECONOMICS IS BOTH A POSITIVE AND A NORMATIVE SCIENCE  </vt:lpstr>
      <vt:lpstr>SCOPE OF ECONOMICS  </vt:lpstr>
      <vt:lpstr>Microeconomics  </vt:lpstr>
      <vt:lpstr>Macroeconomics  </vt:lpstr>
      <vt:lpstr>BRANCHES OF ECONOMICS  </vt:lpstr>
      <vt:lpstr>I MICRO ECONOMICS  </vt:lpstr>
      <vt:lpstr>2. Development economics:</vt:lpstr>
      <vt:lpstr>3. Environmental economics/welfare economics:</vt:lpstr>
      <vt:lpstr>4. Behavioral economics:</vt:lpstr>
      <vt:lpstr>Econometrics:</vt:lpstr>
      <vt:lpstr>6. Labour economics:</vt:lpstr>
      <vt:lpstr>II MACRO ECONOMICS  </vt:lpstr>
      <vt:lpstr>2. Keynesian economics:</vt:lpstr>
      <vt:lpstr>3. Marxist economics:</vt:lpstr>
      <vt:lpstr>4. Austrian economics :</vt:lpstr>
      <vt:lpstr>5. Mercantilism:</vt:lpstr>
      <vt:lpstr>Monetarists</vt:lpstr>
      <vt:lpstr>Basic concepts: scarcity, rationality, Choice, opportunity costs, PPF, marginal concepts, sunk costs  </vt:lpstr>
      <vt:lpstr>Rationality  </vt:lpstr>
      <vt:lpstr>Choices  </vt:lpstr>
      <vt:lpstr>Opportunity Cost  </vt:lpstr>
      <vt:lpstr>DIAGRAMATIC REPRESENTATION OF OPPORTUNITY COST</vt:lpstr>
      <vt:lpstr>Production Possibilities Frontier (PPF)  </vt:lpstr>
      <vt:lpstr>Production Possibilities Frontier (PPF)  </vt:lpstr>
      <vt:lpstr>CONT…</vt:lpstr>
      <vt:lpstr>CONT…</vt:lpstr>
      <vt:lpstr>Actors in a Market Economy: Households, Firms, Government, External Sector  </vt:lpstr>
      <vt:lpstr>CIRCULAR FLOW DIAGRAM</vt:lpstr>
      <vt:lpstr>The Complete Model  </vt:lpstr>
      <vt:lpstr>The Complete Model  </vt:lpstr>
      <vt:lpstr>THE CIRCULAR FLOW OF INCOME IN DIFFERENT SECTORS</vt:lpstr>
      <vt:lpstr>BUSINESS SECTOR  </vt:lpstr>
      <vt:lpstr>GOVERNMENT SECTOR  </vt:lpstr>
      <vt:lpstr>FOREIGN SECTOR  </vt:lpstr>
      <vt:lpstr>Practical applications of microeconomics in daily life</vt:lpstr>
      <vt:lpstr>Assignment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Unit 1: Introduction to Microeconomics </dc:title>
  <dc:creator>Martha</dc:creator>
  <cp:lastModifiedBy>Martha</cp:lastModifiedBy>
  <cp:revision>52</cp:revision>
  <dcterms:created xsi:type="dcterms:W3CDTF">2025-06-09T04:40:04Z</dcterms:created>
  <dcterms:modified xsi:type="dcterms:W3CDTF">2025-06-10T12:09:51Z</dcterms:modified>
</cp:coreProperties>
</file>