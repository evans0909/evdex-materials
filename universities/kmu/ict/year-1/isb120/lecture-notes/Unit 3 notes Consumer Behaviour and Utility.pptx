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89" r:id="rId10"/>
    <p:sldId id="290" r:id="rId11"/>
    <p:sldId id="291" r:id="rId12"/>
    <p:sldId id="292"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93" r:id="rId39"/>
    <p:sldId id="299" r:id="rId40"/>
    <p:sldId id="294" r:id="rId41"/>
    <p:sldId id="300" r:id="rId42"/>
    <p:sldId id="306" r:id="rId43"/>
    <p:sldId id="307" r:id="rId44"/>
    <p:sldId id="295" r:id="rId45"/>
    <p:sldId id="303" r:id="rId46"/>
    <p:sldId id="304" r:id="rId47"/>
    <p:sldId id="305" r:id="rId48"/>
    <p:sldId id="296" r:id="rId49"/>
    <p:sldId id="301" r:id="rId50"/>
    <p:sldId id="297" r:id="rId51"/>
    <p:sldId id="302" r:id="rId52"/>
    <p:sldId id="298"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E879D7-CE87-4AA9-A82D-A2BFA26145A9}" type="datetimeFigureOut">
              <a:rPr lang="en-US" smtClean="0"/>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F41129-BFEF-4A40-BE6B-36C1366EE69F}" type="slidenum">
              <a:rPr lang="en-US" smtClean="0"/>
              <a:t>‹#›</a:t>
            </a:fld>
            <a:endParaRPr lang="en-US"/>
          </a:p>
        </p:txBody>
      </p:sp>
    </p:spTree>
    <p:extLst>
      <p:ext uri="{BB962C8B-B14F-4D97-AF65-F5344CB8AC3E}">
        <p14:creationId xmlns:p14="http://schemas.microsoft.com/office/powerpoint/2010/main" val="835789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E879D7-CE87-4AA9-A82D-A2BFA26145A9}" type="datetimeFigureOut">
              <a:rPr lang="en-US" smtClean="0"/>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F41129-BFEF-4A40-BE6B-36C1366EE69F}" type="slidenum">
              <a:rPr lang="en-US" smtClean="0"/>
              <a:t>‹#›</a:t>
            </a:fld>
            <a:endParaRPr lang="en-US"/>
          </a:p>
        </p:txBody>
      </p:sp>
    </p:spTree>
    <p:extLst>
      <p:ext uri="{BB962C8B-B14F-4D97-AF65-F5344CB8AC3E}">
        <p14:creationId xmlns:p14="http://schemas.microsoft.com/office/powerpoint/2010/main" val="1832231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3E879D7-CE87-4AA9-A82D-A2BFA26145A9}" type="datetimeFigureOut">
              <a:rPr lang="en-US" smtClean="0"/>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F41129-BFEF-4A40-BE6B-36C1366EE69F}" type="slidenum">
              <a:rPr lang="en-US" smtClean="0"/>
              <a:t>‹#›</a:t>
            </a:fld>
            <a:endParaRPr lang="en-US"/>
          </a:p>
        </p:txBody>
      </p:sp>
    </p:spTree>
    <p:extLst>
      <p:ext uri="{BB962C8B-B14F-4D97-AF65-F5344CB8AC3E}">
        <p14:creationId xmlns:p14="http://schemas.microsoft.com/office/powerpoint/2010/main" val="524148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E879D7-CE87-4AA9-A82D-A2BFA26145A9}" type="datetimeFigureOut">
              <a:rPr lang="en-US" smtClean="0"/>
              <a:t>6/12/2025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F41129-BFEF-4A40-BE6B-36C1366EE69F}" type="slidenum">
              <a:rPr lang="en-US" smtClean="0"/>
              <a:t>‹#›</a:t>
            </a:fld>
            <a:endParaRPr lang="en-US"/>
          </a:p>
        </p:txBody>
      </p:sp>
    </p:spTree>
    <p:extLst>
      <p:ext uri="{BB962C8B-B14F-4D97-AF65-F5344CB8AC3E}">
        <p14:creationId xmlns:p14="http://schemas.microsoft.com/office/powerpoint/2010/main" val="256811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E879D7-CE87-4AA9-A82D-A2BFA26145A9}" type="datetimeFigureOut">
              <a:rPr lang="en-US" smtClean="0"/>
              <a:t>6/12/2025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F41129-BFEF-4A40-BE6B-36C1366EE69F}" type="slidenum">
              <a:rPr lang="en-US" smtClean="0"/>
              <a:t>‹#›</a:t>
            </a:fld>
            <a:endParaRPr lang="en-US"/>
          </a:p>
        </p:txBody>
      </p:sp>
    </p:spTree>
    <p:extLst>
      <p:ext uri="{BB962C8B-B14F-4D97-AF65-F5344CB8AC3E}">
        <p14:creationId xmlns:p14="http://schemas.microsoft.com/office/powerpoint/2010/main" val="1636889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E879D7-CE87-4AA9-A82D-A2BFA26145A9}" type="datetimeFigureOut">
              <a:rPr lang="en-US" smtClean="0"/>
              <a:t>6/12/2025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F41129-BFEF-4A40-BE6B-36C1366EE69F}" type="slidenum">
              <a:rPr lang="en-US" smtClean="0"/>
              <a:t>‹#›</a:t>
            </a:fld>
            <a:endParaRPr lang="en-US"/>
          </a:p>
        </p:txBody>
      </p:sp>
    </p:spTree>
    <p:extLst>
      <p:ext uri="{BB962C8B-B14F-4D97-AF65-F5344CB8AC3E}">
        <p14:creationId xmlns:p14="http://schemas.microsoft.com/office/powerpoint/2010/main" val="2490719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E879D7-CE87-4AA9-A82D-A2BFA26145A9}" type="datetimeFigureOut">
              <a:rPr lang="en-US" smtClean="0"/>
              <a:t>6/12/2025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F41129-BFEF-4A40-BE6B-36C1366EE69F}" type="slidenum">
              <a:rPr lang="en-US" smtClean="0"/>
              <a:t>‹#›</a:t>
            </a:fld>
            <a:endParaRPr lang="en-US"/>
          </a:p>
        </p:txBody>
      </p:sp>
    </p:spTree>
    <p:extLst>
      <p:ext uri="{BB962C8B-B14F-4D97-AF65-F5344CB8AC3E}">
        <p14:creationId xmlns:p14="http://schemas.microsoft.com/office/powerpoint/2010/main" val="821674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3E879D7-CE87-4AA9-A82D-A2BFA26145A9}" type="datetimeFigureOut">
              <a:rPr lang="en-US" smtClean="0"/>
              <a:t>6/12/2025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F41129-BFEF-4A40-BE6B-36C1366EE69F}" type="slidenum">
              <a:rPr lang="en-US" smtClean="0"/>
              <a:t>‹#›</a:t>
            </a:fld>
            <a:endParaRPr lang="en-US"/>
          </a:p>
        </p:txBody>
      </p:sp>
    </p:spTree>
    <p:extLst>
      <p:ext uri="{BB962C8B-B14F-4D97-AF65-F5344CB8AC3E}">
        <p14:creationId xmlns:p14="http://schemas.microsoft.com/office/powerpoint/2010/main" val="1141951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3E879D7-CE87-4AA9-A82D-A2BFA26145A9}" type="datetimeFigureOut">
              <a:rPr lang="en-US" smtClean="0"/>
              <a:t>6/12/2025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F41129-BFEF-4A40-BE6B-36C1366EE69F}" type="slidenum">
              <a:rPr lang="en-US" smtClean="0"/>
              <a:t>‹#›</a:t>
            </a:fld>
            <a:endParaRPr lang="en-US"/>
          </a:p>
        </p:txBody>
      </p:sp>
    </p:spTree>
    <p:extLst>
      <p:ext uri="{BB962C8B-B14F-4D97-AF65-F5344CB8AC3E}">
        <p14:creationId xmlns:p14="http://schemas.microsoft.com/office/powerpoint/2010/main" val="755372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E879D7-CE87-4AA9-A82D-A2BFA26145A9}" type="datetimeFigureOut">
              <a:rPr lang="en-US" smtClean="0"/>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F41129-BFEF-4A40-BE6B-36C1366EE69F}" type="slidenum">
              <a:rPr lang="en-US" smtClean="0"/>
              <a:t>‹#›</a:t>
            </a:fld>
            <a:endParaRPr lang="en-US"/>
          </a:p>
        </p:txBody>
      </p:sp>
    </p:spTree>
    <p:extLst>
      <p:ext uri="{BB962C8B-B14F-4D97-AF65-F5344CB8AC3E}">
        <p14:creationId xmlns:p14="http://schemas.microsoft.com/office/powerpoint/2010/main" val="3691929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E879D7-CE87-4AA9-A82D-A2BFA26145A9}" type="datetimeFigureOut">
              <a:rPr lang="en-US" smtClean="0"/>
              <a:t>6/12/2025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F41129-BFEF-4A40-BE6B-36C1366EE69F}" type="slidenum">
              <a:rPr lang="en-US" smtClean="0"/>
              <a:t>‹#›</a:t>
            </a:fld>
            <a:endParaRPr lang="en-US"/>
          </a:p>
        </p:txBody>
      </p:sp>
    </p:spTree>
    <p:extLst>
      <p:ext uri="{BB962C8B-B14F-4D97-AF65-F5344CB8AC3E}">
        <p14:creationId xmlns:p14="http://schemas.microsoft.com/office/powerpoint/2010/main" val="4174378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E879D7-CE87-4AA9-A82D-A2BFA26145A9}" type="datetimeFigureOut">
              <a:rPr lang="en-US" smtClean="0"/>
              <a:t>6/12/2025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F41129-BFEF-4A40-BE6B-36C1366EE69F}" type="slidenum">
              <a:rPr lang="en-US" smtClean="0"/>
              <a:t>‹#›</a:t>
            </a:fld>
            <a:endParaRPr lang="en-US"/>
          </a:p>
        </p:txBody>
      </p:sp>
    </p:spTree>
    <p:extLst>
      <p:ext uri="{BB962C8B-B14F-4D97-AF65-F5344CB8AC3E}">
        <p14:creationId xmlns:p14="http://schemas.microsoft.com/office/powerpoint/2010/main" val="1480429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effectLst>
                  <a:outerShdw blurRad="38100" dist="38100" dir="2700000" algn="tl">
                    <a:srgbClr val="000000">
                      <a:alpha val="43137"/>
                    </a:srgbClr>
                  </a:outerShdw>
                </a:effectLst>
              </a:rPr>
              <a:t>ISB 120</a:t>
            </a:r>
            <a:endParaRPr lang="en-US" dirty="0"/>
          </a:p>
        </p:txBody>
      </p:sp>
      <p:sp>
        <p:nvSpPr>
          <p:cNvPr id="3" name="Subtitle 2"/>
          <p:cNvSpPr>
            <a:spLocks noGrp="1"/>
          </p:cNvSpPr>
          <p:nvPr>
            <p:ph type="subTitle" idx="1"/>
          </p:nvPr>
        </p:nvSpPr>
        <p:spPr/>
        <p:txBody>
          <a:bodyPr>
            <a:normAutofit fontScale="85000" lnSpcReduction="20000"/>
          </a:bodyPr>
          <a:lstStyle/>
          <a:p>
            <a:r>
              <a:rPr lang="en-US" sz="6000" b="1" dirty="0" smtClean="0">
                <a:effectLst>
                  <a:outerShdw blurRad="38100" dist="38100" dir="2700000" algn="tl">
                    <a:srgbClr val="000000">
                      <a:alpha val="43137"/>
                    </a:srgbClr>
                  </a:outerShdw>
                </a:effectLst>
              </a:rPr>
              <a:t>(</a:t>
            </a:r>
            <a:r>
              <a:rPr lang="en-US" sz="6000" b="1" dirty="0" err="1" smtClean="0">
                <a:effectLst>
                  <a:outerShdw blurRad="38100" dist="38100" dir="2700000" algn="tl">
                    <a:srgbClr val="000000">
                      <a:alpha val="43137"/>
                    </a:srgbClr>
                  </a:outerShdw>
                </a:effectLst>
              </a:rPr>
              <a:t>Ph.D</a:t>
            </a:r>
            <a:r>
              <a:rPr lang="en-US" sz="6000" b="1" dirty="0" smtClean="0">
                <a:effectLst>
                  <a:outerShdw blurRad="38100" dist="38100" dir="2700000" algn="tl">
                    <a:srgbClr val="000000">
                      <a:alpha val="43137"/>
                    </a:srgbClr>
                  </a:outerShdw>
                </a:effectLst>
              </a:rPr>
              <a:t> WIP, LECTURER NAME:</a:t>
            </a:r>
          </a:p>
          <a:p>
            <a:r>
              <a:rPr lang="en-US" sz="6000" b="1" dirty="0" smtClean="0">
                <a:effectLst>
                  <a:outerShdw blurRad="38100" dist="38100" dir="2700000" algn="tl">
                    <a:srgbClr val="000000">
                      <a:alpha val="43137"/>
                    </a:srgbClr>
                  </a:outerShdw>
                </a:effectLst>
              </a:rPr>
              <a:t>MULENGA MPOLOKOSO</a:t>
            </a:r>
          </a:p>
          <a:p>
            <a:r>
              <a:rPr lang="en-US" i="1" dirty="0" smtClean="0">
                <a:effectLst>
                  <a:outerShdw blurRad="38100" dist="38100" dir="2700000" algn="tl">
                    <a:srgbClr val="000000">
                      <a:alpha val="43137"/>
                    </a:srgbClr>
                  </a:outerShdw>
                </a:effectLst>
              </a:rPr>
              <a:t>(</a:t>
            </a:r>
            <a:r>
              <a:rPr lang="en-US" i="1" dirty="0" err="1" smtClean="0">
                <a:effectLst>
                  <a:outerShdw blurRad="38100" dist="38100" dir="2700000" algn="tl">
                    <a:srgbClr val="000000">
                      <a:alpha val="43137"/>
                    </a:srgbClr>
                  </a:outerShdw>
                </a:effectLst>
              </a:rPr>
              <a:t>Ph.D_WIP</a:t>
            </a:r>
            <a:r>
              <a:rPr lang="en-US" i="1" dirty="0" smtClean="0">
                <a:effectLst>
                  <a:outerShdw blurRad="38100" dist="38100" dir="2700000" algn="tl">
                    <a:srgbClr val="000000">
                      <a:alpha val="43137"/>
                    </a:srgbClr>
                  </a:outerShdw>
                </a:effectLst>
              </a:rPr>
              <a:t>, MBA, BBA, BICTED, BSCFO, TM, ISP, CMP)</a:t>
            </a:r>
          </a:p>
          <a:p>
            <a:endParaRPr lang="en-US" dirty="0"/>
          </a:p>
        </p:txBody>
      </p:sp>
    </p:spTree>
    <p:extLst>
      <p:ext uri="{BB962C8B-B14F-4D97-AF65-F5344CB8AC3E}">
        <p14:creationId xmlns:p14="http://schemas.microsoft.com/office/powerpoint/2010/main" val="715391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Unit 3: Consumer Behavior and Utility Analysis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20000"/>
          </a:bodyPr>
          <a:lstStyle/>
          <a:p>
            <a:pPr marL="0" indent="0">
              <a:buNone/>
            </a:pPr>
            <a:r>
              <a:rPr lang="en-US" dirty="0" smtClean="0"/>
              <a:t>⦁ </a:t>
            </a:r>
            <a:r>
              <a:rPr lang="en-US" dirty="0"/>
              <a:t>Utility and preferences: understanding consumer choices </a:t>
            </a:r>
            <a:endParaRPr lang="en-US" dirty="0" smtClean="0"/>
          </a:p>
          <a:p>
            <a:pPr marL="0" indent="0">
              <a:buNone/>
            </a:pPr>
            <a:r>
              <a:rPr lang="en-US" dirty="0" smtClean="0"/>
              <a:t>⦁ </a:t>
            </a:r>
            <a:r>
              <a:rPr lang="en-US" dirty="0"/>
              <a:t>Budget constraints and consumer choice </a:t>
            </a:r>
          </a:p>
          <a:p>
            <a:pPr marL="0" indent="0">
              <a:buNone/>
            </a:pPr>
            <a:r>
              <a:rPr lang="en-US" dirty="0"/>
              <a:t>⦁ The concept of consumer surplus: its significance and calculation </a:t>
            </a:r>
          </a:p>
          <a:p>
            <a:pPr marL="0" indent="0">
              <a:buNone/>
            </a:pPr>
            <a:r>
              <a:rPr lang="en-US" dirty="0"/>
              <a:t>⦁ Income and substitution effects in response to price changes </a:t>
            </a:r>
          </a:p>
          <a:p>
            <a:pPr marL="0" indent="0">
              <a:buNone/>
            </a:pPr>
            <a:r>
              <a:rPr lang="en-US" dirty="0"/>
              <a:t>⦁ Applications of elasticity in consumer behavior analysis </a:t>
            </a:r>
          </a:p>
          <a:p>
            <a:pPr marL="0" indent="0">
              <a:buNone/>
            </a:pPr>
            <a:r>
              <a:rPr lang="en-US" dirty="0"/>
              <a:t>⦁ Revealed preference theory and consumer demand </a:t>
            </a:r>
          </a:p>
          <a:p>
            <a:pPr marL="0" indent="0">
              <a:buNone/>
            </a:pPr>
            <a:r>
              <a:rPr lang="en-US" dirty="0"/>
              <a:t>⦁ Behavioral economics insights into consumer decision-making </a:t>
            </a:r>
          </a:p>
          <a:p>
            <a:pPr marL="0" indent="0">
              <a:buNone/>
            </a:pPr>
            <a:r>
              <a:rPr lang="en-US" dirty="0"/>
              <a:t>⦁ Ethical considerations in advertising and consumer choices </a:t>
            </a:r>
          </a:p>
          <a:p>
            <a:pPr marL="0" indent="0">
              <a:buNone/>
            </a:pPr>
            <a:r>
              <a:rPr lang="en-US" dirty="0"/>
              <a:t>⦁ The role of consumer psychology in marketing strategies </a:t>
            </a:r>
          </a:p>
          <a:p>
            <a:pPr marL="0" indent="0">
              <a:buNone/>
            </a:pPr>
            <a:r>
              <a:rPr lang="en-US" dirty="0"/>
              <a:t>⦁ The impact of technological advancements on consumer behavior </a:t>
            </a:r>
          </a:p>
        </p:txBody>
      </p:sp>
    </p:spTree>
    <p:extLst>
      <p:ext uri="{BB962C8B-B14F-4D97-AF65-F5344CB8AC3E}">
        <p14:creationId xmlns:p14="http://schemas.microsoft.com/office/powerpoint/2010/main" val="518547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Total Utility, Marginal Utility, Law of Diminishing Marginal Utility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 </a:t>
            </a:r>
            <a:r>
              <a:rPr lang="en-US" dirty="0"/>
              <a:t>term </a:t>
            </a:r>
            <a:r>
              <a:rPr lang="en-US" b="1" dirty="0"/>
              <a:t>“utility” </a:t>
            </a:r>
            <a:r>
              <a:rPr lang="en-US" dirty="0"/>
              <a:t>refer to the satisfaction or benefit that a consumer derives consumption of the commodity. The utility can be measured in </a:t>
            </a:r>
            <a:r>
              <a:rPr lang="en-US" dirty="0" err="1"/>
              <a:t>utils</a:t>
            </a:r>
            <a:r>
              <a:rPr lang="en-US" dirty="0"/>
              <a:t>. </a:t>
            </a:r>
          </a:p>
          <a:p>
            <a:r>
              <a:rPr lang="en-US" dirty="0"/>
              <a:t>Utility analysis, attempts to explain consumer behaviour, on the basis of satisfaction derived from the consumption of commodities. </a:t>
            </a:r>
            <a:endParaRPr lang="en-US" dirty="0" smtClean="0"/>
          </a:p>
          <a:p>
            <a:r>
              <a:rPr lang="en-US" dirty="0" err="1" smtClean="0"/>
              <a:t>Ofcourse</a:t>
            </a:r>
            <a:r>
              <a:rPr lang="en-US" dirty="0"/>
              <a:t>, the utility derived from the consumption affects the </a:t>
            </a:r>
            <a:r>
              <a:rPr lang="en-US" dirty="0" smtClean="0"/>
              <a:t>consumer's </a:t>
            </a:r>
            <a:r>
              <a:rPr lang="en-US" dirty="0"/>
              <a:t>purchase and consumption decision. </a:t>
            </a:r>
          </a:p>
        </p:txBody>
      </p:sp>
    </p:spTree>
    <p:extLst>
      <p:ext uri="{BB962C8B-B14F-4D97-AF65-F5344CB8AC3E}">
        <p14:creationId xmlns:p14="http://schemas.microsoft.com/office/powerpoint/2010/main" val="1321453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TYPES OF UTILITY</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85000" lnSpcReduction="20000"/>
          </a:bodyPr>
          <a:lstStyle/>
          <a:p>
            <a:r>
              <a:rPr lang="en-US" dirty="0" smtClean="0"/>
              <a:t>Generally</a:t>
            </a:r>
            <a:r>
              <a:rPr lang="en-US" dirty="0"/>
              <a:t>, Utility means “Usefulness</a:t>
            </a:r>
            <a:r>
              <a:rPr lang="en-US" dirty="0" smtClean="0"/>
              <a:t>”.</a:t>
            </a:r>
          </a:p>
          <a:p>
            <a:r>
              <a:rPr lang="en-US" dirty="0" smtClean="0"/>
              <a:t> </a:t>
            </a:r>
            <a:r>
              <a:rPr lang="en-US" dirty="0"/>
              <a:t>In Economics, Utility is defined as the power of a commodity or a service to satisfy the human wants. </a:t>
            </a:r>
          </a:p>
          <a:p>
            <a:r>
              <a:rPr lang="en-US" b="1" dirty="0" smtClean="0"/>
              <a:t>1. TOTAL </a:t>
            </a:r>
            <a:r>
              <a:rPr lang="en-US" b="1" dirty="0"/>
              <a:t>UTILITY: </a:t>
            </a:r>
            <a:endParaRPr lang="en-US" b="1" dirty="0" smtClean="0"/>
          </a:p>
          <a:p>
            <a:r>
              <a:rPr lang="en-US" dirty="0" smtClean="0"/>
              <a:t>It </a:t>
            </a:r>
            <a:r>
              <a:rPr lang="en-US" dirty="0"/>
              <a:t>refers to the sum of utilities of all units of a commodity consumed. For example, if a person consumes ten apple, then the total utility is the sum of satisfaction of consuming all the ten apple. </a:t>
            </a:r>
          </a:p>
          <a:p>
            <a:r>
              <a:rPr lang="en-US" b="1" dirty="0" smtClean="0"/>
              <a:t>2. MARGINAL UTILITY:</a:t>
            </a:r>
          </a:p>
          <a:p>
            <a:r>
              <a:rPr lang="en-US" dirty="0" smtClean="0"/>
              <a:t>Marginal </a:t>
            </a:r>
            <a:r>
              <a:rPr lang="en-US" dirty="0"/>
              <a:t>Utility is addition made to the total utility by consuming one more unit of a commodity. </a:t>
            </a:r>
            <a:endParaRPr lang="en-US" dirty="0" smtClean="0"/>
          </a:p>
          <a:p>
            <a:r>
              <a:rPr lang="en-US" dirty="0" smtClean="0"/>
              <a:t>Example</a:t>
            </a:r>
            <a:r>
              <a:rPr lang="en-US" dirty="0"/>
              <a:t>: if a person consuming 10 apples, the marginal utility is the utility derived from the 10th unit (or) last unit. </a:t>
            </a:r>
          </a:p>
          <a:p>
            <a:r>
              <a:rPr lang="en-US" b="1" dirty="0" err="1"/>
              <a:t>MUn</a:t>
            </a:r>
            <a:r>
              <a:rPr lang="en-US" b="1" dirty="0"/>
              <a:t>=TUn-TUn-1 </a:t>
            </a:r>
            <a:endParaRPr lang="en-US" dirty="0"/>
          </a:p>
        </p:txBody>
      </p:sp>
    </p:spTree>
    <p:extLst>
      <p:ext uri="{BB962C8B-B14F-4D97-AF65-F5344CB8AC3E}">
        <p14:creationId xmlns:p14="http://schemas.microsoft.com/office/powerpoint/2010/main" val="909432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FORMULA</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a:t>Total Utility (TU</a:t>
            </a:r>
            <a:r>
              <a:rPr lang="en-US" b="1" dirty="0" smtClean="0"/>
              <a:t>)</a:t>
            </a:r>
            <a:r>
              <a:rPr lang="en-US" dirty="0" smtClean="0"/>
              <a:t>. = </a:t>
            </a:r>
            <a:r>
              <a:rPr lang="en-US" dirty="0"/>
              <a:t>U1 + U2 +U3 + ------- + Un </a:t>
            </a:r>
          </a:p>
          <a:p>
            <a:r>
              <a:rPr lang="en-US" dirty="0" smtClean="0"/>
              <a:t>Marginal </a:t>
            </a:r>
            <a:r>
              <a:rPr lang="en-US" dirty="0"/>
              <a:t>Utility = </a:t>
            </a:r>
            <a:r>
              <a:rPr lang="el-GR" dirty="0"/>
              <a:t>Δ 𝑖𝑛 𝑇𝑜𝑡𝑎𝑙 </a:t>
            </a:r>
            <a:r>
              <a:rPr lang="el-GR" dirty="0" smtClean="0"/>
              <a:t>𝑈𝑡𝑖𝑙𝑖𝑡𝑦</a:t>
            </a:r>
            <a:r>
              <a:rPr lang="en-US" dirty="0" smtClean="0"/>
              <a:t>/</a:t>
            </a:r>
            <a:r>
              <a:rPr lang="el-GR" dirty="0" smtClean="0"/>
              <a:t>Δ </a:t>
            </a:r>
            <a:r>
              <a:rPr lang="el-GR" dirty="0"/>
              <a:t>𝑖𝑛 𝑄𝑢𝑎𝑛𝑡𝑖𝑡𝑦 </a:t>
            </a:r>
            <a:r>
              <a:rPr lang="el-GR" dirty="0" smtClean="0"/>
              <a:t>𝐶𝑜𝑛𝑠𝑢𝑚𝑒𝑑</a:t>
            </a:r>
            <a:endParaRPr lang="en-US" dirty="0" smtClean="0"/>
          </a:p>
          <a:p>
            <a:r>
              <a:rPr lang="en-US" b="1" dirty="0"/>
              <a:t>Relationship between Total Utility and Marginal Utility </a:t>
            </a:r>
            <a:endParaRPr lang="en-US" dirty="0"/>
          </a:p>
          <a:p>
            <a:pPr marL="0" indent="0">
              <a:buNone/>
            </a:pPr>
            <a:r>
              <a:rPr lang="en-US" dirty="0" err="1"/>
              <a:t>i</a:t>
            </a:r>
            <a:r>
              <a:rPr lang="en-US" dirty="0"/>
              <a:t>. </a:t>
            </a:r>
            <a:r>
              <a:rPr lang="en-US" dirty="0" smtClean="0"/>
              <a:t>When marginal </a:t>
            </a:r>
            <a:r>
              <a:rPr lang="en-US" dirty="0"/>
              <a:t>utility is positive, total utility increases. </a:t>
            </a:r>
          </a:p>
          <a:p>
            <a:pPr marL="0" indent="0">
              <a:buNone/>
            </a:pPr>
            <a:r>
              <a:rPr lang="en-US" dirty="0"/>
              <a:t>ii. When marginal utility is zero, total utility reaches maximum. </a:t>
            </a:r>
            <a:endParaRPr lang="en-US" dirty="0" smtClean="0"/>
          </a:p>
          <a:p>
            <a:pPr marL="0" indent="0">
              <a:buNone/>
            </a:pPr>
            <a:r>
              <a:rPr lang="en-US" dirty="0" smtClean="0"/>
              <a:t>This </a:t>
            </a:r>
            <a:r>
              <a:rPr lang="en-US" dirty="0"/>
              <a:t>is called point of satiety. </a:t>
            </a:r>
          </a:p>
          <a:p>
            <a:pPr marL="0" indent="0">
              <a:buNone/>
            </a:pPr>
            <a:r>
              <a:rPr lang="en-US" dirty="0"/>
              <a:t>iii. When marginal utility is negative, total utility declines</a:t>
            </a:r>
          </a:p>
        </p:txBody>
      </p:sp>
    </p:spTree>
    <p:extLst>
      <p:ext uri="{BB962C8B-B14F-4D97-AF65-F5344CB8AC3E}">
        <p14:creationId xmlns:p14="http://schemas.microsoft.com/office/powerpoint/2010/main" val="3592944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DIAGRAM SHOWING RELATIONSHIP BETWEEN TU, MU AND UNITS CONSUMED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94084196"/>
              </p:ext>
            </p:extLst>
          </p:nvPr>
        </p:nvGraphicFramePr>
        <p:xfrm>
          <a:off x="838200" y="1825625"/>
          <a:ext cx="10515600" cy="2763520"/>
        </p:xfrm>
        <a:graphic>
          <a:graphicData uri="http://schemas.openxmlformats.org/drawingml/2006/table">
            <a:tbl>
              <a:tblPr firstRow="1" bandRow="1">
                <a:tableStyleId>{F5AB1C69-6EDB-4FF4-983F-18BD219EF322}</a:tableStyleId>
              </a:tblPr>
              <a:tblGrid>
                <a:gridCol w="3505200">
                  <a:extLst>
                    <a:ext uri="{9D8B030D-6E8A-4147-A177-3AD203B41FA5}">
                      <a16:colId xmlns:a16="http://schemas.microsoft.com/office/drawing/2014/main" val="826329392"/>
                    </a:ext>
                  </a:extLst>
                </a:gridCol>
                <a:gridCol w="3505200">
                  <a:extLst>
                    <a:ext uri="{9D8B030D-6E8A-4147-A177-3AD203B41FA5}">
                      <a16:colId xmlns:a16="http://schemas.microsoft.com/office/drawing/2014/main" val="1854569088"/>
                    </a:ext>
                  </a:extLst>
                </a:gridCol>
                <a:gridCol w="3505200">
                  <a:extLst>
                    <a:ext uri="{9D8B030D-6E8A-4147-A177-3AD203B41FA5}">
                      <a16:colId xmlns:a16="http://schemas.microsoft.com/office/drawing/2014/main" val="2130459158"/>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u="none" strike="noStrike" kern="1200" baseline="0" dirty="0" smtClean="0"/>
                        <a:t>Units of Goods Consumed 	</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u="none" strike="noStrike" kern="1200" baseline="0" dirty="0" smtClean="0"/>
                        <a:t>Total Utility (TU) 	</a:t>
                      </a:r>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u="none" strike="noStrike" kern="1200" baseline="0" dirty="0" smtClean="0"/>
                        <a:t>Marginal Utility (MU) 	</a:t>
                      </a:r>
                    </a:p>
                    <a:p>
                      <a:endParaRPr lang="en-US" dirty="0"/>
                    </a:p>
                  </a:txBody>
                  <a:tcPr/>
                </a:tc>
                <a:extLst>
                  <a:ext uri="{0D108BD9-81ED-4DB2-BD59-A6C34878D82A}">
                    <a16:rowId xmlns:a16="http://schemas.microsoft.com/office/drawing/2014/main" val="991816074"/>
                  </a:ext>
                </a:extLst>
              </a:tr>
              <a:tr h="370840">
                <a:tc>
                  <a:txBody>
                    <a:bodyPr/>
                    <a:lstStyle/>
                    <a:p>
                      <a:r>
                        <a:rPr lang="en-US" dirty="0" smtClean="0"/>
                        <a:t>1</a:t>
                      </a:r>
                      <a:endParaRPr lang="en-US" dirty="0"/>
                    </a:p>
                  </a:txBody>
                  <a:tcPr/>
                </a:tc>
                <a:tc>
                  <a:txBody>
                    <a:bodyPr/>
                    <a:lstStyle/>
                    <a:p>
                      <a:r>
                        <a:rPr lang="en-US" dirty="0" smtClean="0"/>
                        <a:t>6</a:t>
                      </a:r>
                      <a:endParaRPr lang="en-US" dirty="0"/>
                    </a:p>
                  </a:txBody>
                  <a:tcPr/>
                </a:tc>
                <a:tc>
                  <a:txBody>
                    <a:bodyPr/>
                    <a:lstStyle/>
                    <a:p>
                      <a:r>
                        <a:rPr lang="en-US" dirty="0" smtClean="0"/>
                        <a:t>6</a:t>
                      </a:r>
                      <a:endParaRPr lang="en-US" dirty="0"/>
                    </a:p>
                  </a:txBody>
                  <a:tcPr/>
                </a:tc>
                <a:extLst>
                  <a:ext uri="{0D108BD9-81ED-4DB2-BD59-A6C34878D82A}">
                    <a16:rowId xmlns:a16="http://schemas.microsoft.com/office/drawing/2014/main" val="2553265565"/>
                  </a:ext>
                </a:extLst>
              </a:tr>
              <a:tr h="370840">
                <a:tc>
                  <a:txBody>
                    <a:bodyPr/>
                    <a:lstStyle/>
                    <a:p>
                      <a:r>
                        <a:rPr lang="en-US" dirty="0" smtClean="0"/>
                        <a:t>2</a:t>
                      </a:r>
                      <a:endParaRPr lang="en-US" dirty="0"/>
                    </a:p>
                  </a:txBody>
                  <a:tcPr/>
                </a:tc>
                <a:tc>
                  <a:txBody>
                    <a:bodyPr/>
                    <a:lstStyle/>
                    <a:p>
                      <a:r>
                        <a:rPr lang="en-US" dirty="0" smtClean="0"/>
                        <a:t>10</a:t>
                      </a:r>
                      <a:endParaRPr lang="en-US" dirty="0"/>
                    </a:p>
                  </a:txBody>
                  <a:tcPr/>
                </a:tc>
                <a:tc>
                  <a:txBody>
                    <a:bodyPr/>
                    <a:lstStyle/>
                    <a:p>
                      <a:r>
                        <a:rPr lang="en-US" dirty="0" smtClean="0"/>
                        <a:t>4</a:t>
                      </a:r>
                      <a:endParaRPr lang="en-US" dirty="0"/>
                    </a:p>
                  </a:txBody>
                  <a:tcPr/>
                </a:tc>
                <a:extLst>
                  <a:ext uri="{0D108BD9-81ED-4DB2-BD59-A6C34878D82A}">
                    <a16:rowId xmlns:a16="http://schemas.microsoft.com/office/drawing/2014/main" val="2453815282"/>
                  </a:ext>
                </a:extLst>
              </a:tr>
              <a:tr h="370840">
                <a:tc>
                  <a:txBody>
                    <a:bodyPr/>
                    <a:lstStyle/>
                    <a:p>
                      <a:r>
                        <a:rPr lang="en-US" dirty="0" smtClean="0"/>
                        <a:t>3</a:t>
                      </a:r>
                      <a:endParaRPr lang="en-US" dirty="0"/>
                    </a:p>
                  </a:txBody>
                  <a:tcPr/>
                </a:tc>
                <a:tc>
                  <a:txBody>
                    <a:bodyPr/>
                    <a:lstStyle/>
                    <a:p>
                      <a:r>
                        <a:rPr lang="en-US" dirty="0" smtClean="0"/>
                        <a:t>12</a:t>
                      </a:r>
                      <a:endParaRPr lang="en-US" dirty="0"/>
                    </a:p>
                  </a:txBody>
                  <a:tcPr/>
                </a:tc>
                <a:tc>
                  <a:txBody>
                    <a:bodyPr/>
                    <a:lstStyle/>
                    <a:p>
                      <a:r>
                        <a:rPr lang="en-US" dirty="0" smtClean="0"/>
                        <a:t>2</a:t>
                      </a:r>
                      <a:endParaRPr lang="en-US" dirty="0"/>
                    </a:p>
                  </a:txBody>
                  <a:tcPr/>
                </a:tc>
                <a:extLst>
                  <a:ext uri="{0D108BD9-81ED-4DB2-BD59-A6C34878D82A}">
                    <a16:rowId xmlns:a16="http://schemas.microsoft.com/office/drawing/2014/main" val="3208567413"/>
                  </a:ext>
                </a:extLst>
              </a:tr>
              <a:tr h="370840">
                <a:tc>
                  <a:txBody>
                    <a:bodyPr/>
                    <a:lstStyle/>
                    <a:p>
                      <a:r>
                        <a:rPr lang="en-US" dirty="0" smtClean="0"/>
                        <a:t>4</a:t>
                      </a:r>
                      <a:endParaRPr lang="en-US" dirty="0"/>
                    </a:p>
                  </a:txBody>
                  <a:tcPr/>
                </a:tc>
                <a:tc>
                  <a:txBody>
                    <a:bodyPr/>
                    <a:lstStyle/>
                    <a:p>
                      <a:r>
                        <a:rPr lang="en-US" dirty="0" smtClean="0"/>
                        <a:t>12</a:t>
                      </a:r>
                      <a:endParaRPr lang="en-US" dirty="0"/>
                    </a:p>
                  </a:txBody>
                  <a:tcPr/>
                </a:tc>
                <a:tc>
                  <a:txBody>
                    <a:bodyPr/>
                    <a:lstStyle/>
                    <a:p>
                      <a:r>
                        <a:rPr lang="en-US" dirty="0" smtClean="0"/>
                        <a:t>0</a:t>
                      </a:r>
                    </a:p>
                  </a:txBody>
                  <a:tcPr/>
                </a:tc>
                <a:extLst>
                  <a:ext uri="{0D108BD9-81ED-4DB2-BD59-A6C34878D82A}">
                    <a16:rowId xmlns:a16="http://schemas.microsoft.com/office/drawing/2014/main" val="2545070440"/>
                  </a:ext>
                </a:extLst>
              </a:tr>
              <a:tr h="370840">
                <a:tc>
                  <a:txBody>
                    <a:bodyPr/>
                    <a:lstStyle/>
                    <a:p>
                      <a:r>
                        <a:rPr lang="en-US" dirty="0" smtClean="0"/>
                        <a:t>5</a:t>
                      </a:r>
                    </a:p>
                    <a:p>
                      <a:r>
                        <a:rPr lang="en-US" dirty="0" smtClean="0"/>
                        <a:t>6</a:t>
                      </a:r>
                      <a:endParaRPr lang="en-US" dirty="0"/>
                    </a:p>
                  </a:txBody>
                  <a:tcPr/>
                </a:tc>
                <a:tc>
                  <a:txBody>
                    <a:bodyPr/>
                    <a:lstStyle/>
                    <a:p>
                      <a:r>
                        <a:rPr lang="en-US" dirty="0" smtClean="0"/>
                        <a:t>10</a:t>
                      </a:r>
                    </a:p>
                    <a:p>
                      <a:r>
                        <a:rPr lang="en-US" dirty="0" smtClean="0"/>
                        <a:t>6</a:t>
                      </a:r>
                      <a:endParaRPr lang="en-US" dirty="0"/>
                    </a:p>
                  </a:txBody>
                  <a:tcPr/>
                </a:tc>
                <a:tc>
                  <a:txBody>
                    <a:bodyPr/>
                    <a:lstStyle/>
                    <a:p>
                      <a:r>
                        <a:rPr lang="en-US" dirty="0" smtClean="0"/>
                        <a:t>-2</a:t>
                      </a:r>
                    </a:p>
                    <a:p>
                      <a:r>
                        <a:rPr lang="en-US" dirty="0" smtClean="0"/>
                        <a:t>-4</a:t>
                      </a:r>
                      <a:endParaRPr lang="en-US" dirty="0"/>
                    </a:p>
                  </a:txBody>
                  <a:tcPr/>
                </a:tc>
                <a:extLst>
                  <a:ext uri="{0D108BD9-81ED-4DB2-BD59-A6C34878D82A}">
                    <a16:rowId xmlns:a16="http://schemas.microsoft.com/office/drawing/2014/main" val="3517988649"/>
                  </a:ext>
                </a:extLst>
              </a:tr>
            </a:tbl>
          </a:graphicData>
        </a:graphic>
      </p:graphicFrame>
    </p:spTree>
    <p:extLst>
      <p:ext uri="{BB962C8B-B14F-4D97-AF65-F5344CB8AC3E}">
        <p14:creationId xmlns:p14="http://schemas.microsoft.com/office/powerpoint/2010/main" val="3259147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DIAGRAM SHOWING RELATIONSHIP BETWEEN TU, MU AND UNITS CONSUMED</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1136468" y="1690689"/>
            <a:ext cx="9588137" cy="4762362"/>
          </a:xfrm>
          <a:prstGeom prst="rect">
            <a:avLst/>
          </a:prstGeom>
        </p:spPr>
      </p:pic>
    </p:spTree>
    <p:extLst>
      <p:ext uri="{BB962C8B-B14F-4D97-AF65-F5344CB8AC3E}">
        <p14:creationId xmlns:p14="http://schemas.microsoft.com/office/powerpoint/2010/main" val="1561653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LAW OF DIMINISHING MARGINAL UTILITY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 </a:t>
            </a:r>
            <a:r>
              <a:rPr lang="en-US" dirty="0"/>
              <a:t>law of diminishing marginal utility explains an ordinary experience of a consumer. </a:t>
            </a:r>
            <a:endParaRPr lang="en-US" dirty="0" smtClean="0"/>
          </a:p>
          <a:p>
            <a:r>
              <a:rPr lang="en-US" dirty="0" smtClean="0"/>
              <a:t>“</a:t>
            </a:r>
            <a:r>
              <a:rPr lang="en-US" dirty="0"/>
              <a:t>If a consumer takes more and more units of a same commodity, the additional utility he derives from an extra unit of the commodity goes on falling”. </a:t>
            </a:r>
          </a:p>
        </p:txBody>
      </p:sp>
    </p:spTree>
    <p:extLst>
      <p:ext uri="{BB962C8B-B14F-4D97-AF65-F5344CB8AC3E}">
        <p14:creationId xmlns:p14="http://schemas.microsoft.com/office/powerpoint/2010/main" val="2509866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LAW OF DIMINISHING MARGINAL UTILITY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r>
              <a:rPr lang="en-US" dirty="0"/>
              <a:t>According to this law, as a person purchases more and more units of a commodity, its marginal utility declines. As a consumer increases the consumption of any one commodity, keeping constant the consumption of all other commodities, the marginal utility of variable commodity must decline.” </a:t>
            </a:r>
            <a:endParaRPr lang="en-US" dirty="0" smtClean="0"/>
          </a:p>
          <a:p>
            <a:r>
              <a:rPr lang="en-US" dirty="0" smtClean="0"/>
              <a:t>Thus </a:t>
            </a:r>
            <a:r>
              <a:rPr lang="en-US" dirty="0"/>
              <a:t>the law says that as a consumer takes more units of a good, the extra utility or satisfaction that he derives from an extra unit of the good (marginal utility) goes on falling. Total utility increases but at a decreasing rate</a:t>
            </a:r>
          </a:p>
        </p:txBody>
      </p:sp>
    </p:spTree>
    <p:extLst>
      <p:ext uri="{BB962C8B-B14F-4D97-AF65-F5344CB8AC3E}">
        <p14:creationId xmlns:p14="http://schemas.microsoft.com/office/powerpoint/2010/main" val="3550146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Consumer's Equilibrium</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May </a:t>
            </a:r>
            <a:r>
              <a:rPr lang="en-US" dirty="0"/>
              <a:t>be defined as the situation when a consumer derives maximum satisfaction with his limited income and </a:t>
            </a:r>
            <a:r>
              <a:rPr lang="en-US" dirty="0" smtClean="0"/>
              <a:t>doesn't </a:t>
            </a:r>
            <a:r>
              <a:rPr lang="en-US" dirty="0"/>
              <a:t>want to make any change in his pattern of expenditure. Since the consumer has to pay a price for the commodity he is going to purchase. </a:t>
            </a:r>
            <a:endParaRPr lang="en-US" dirty="0" smtClean="0"/>
          </a:p>
          <a:p>
            <a:r>
              <a:rPr lang="en-US" dirty="0" smtClean="0"/>
              <a:t>Therefore </a:t>
            </a:r>
            <a:r>
              <a:rPr lang="en-US" dirty="0"/>
              <a:t>he cannot consume unlimited quantity. </a:t>
            </a:r>
            <a:endParaRPr lang="en-US" dirty="0" smtClean="0"/>
          </a:p>
          <a:p>
            <a:r>
              <a:rPr lang="en-US" dirty="0" smtClean="0"/>
              <a:t>According </a:t>
            </a:r>
            <a:r>
              <a:rPr lang="en-US" dirty="0"/>
              <a:t>to the </a:t>
            </a:r>
            <a:r>
              <a:rPr lang="en-US" b="1" dirty="0"/>
              <a:t>Law of Diminishing Marginal Utility</a:t>
            </a:r>
            <a:r>
              <a:rPr lang="en-US" dirty="0"/>
              <a:t>, utility derived from each additional unit goes on falling and his income is also limited. </a:t>
            </a:r>
            <a:endParaRPr lang="en-US" dirty="0" smtClean="0"/>
          </a:p>
        </p:txBody>
      </p:sp>
    </p:spTree>
    <p:extLst>
      <p:ext uri="{BB962C8B-B14F-4D97-AF65-F5344CB8AC3E}">
        <p14:creationId xmlns:p14="http://schemas.microsoft.com/office/powerpoint/2010/main" val="2318887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Consumer's Equilibrium</a:t>
            </a:r>
            <a:endParaRPr lang="en-US" dirty="0"/>
          </a:p>
        </p:txBody>
      </p:sp>
      <p:sp>
        <p:nvSpPr>
          <p:cNvPr id="3" name="Content Placeholder 2"/>
          <p:cNvSpPr>
            <a:spLocks noGrp="1"/>
          </p:cNvSpPr>
          <p:nvPr>
            <p:ph idx="1"/>
          </p:nvPr>
        </p:nvSpPr>
        <p:spPr/>
        <p:txBody>
          <a:bodyPr/>
          <a:lstStyle/>
          <a:p>
            <a:r>
              <a:rPr lang="en-US" dirty="0" smtClean="0"/>
              <a:t>Therefore a rational consumer will try to have that consumption patter on which offers him maximum satisfaction with limited income. The position that achieves is called the position of equilibrium. </a:t>
            </a:r>
          </a:p>
          <a:p>
            <a:r>
              <a:rPr lang="en-US" dirty="0" smtClean="0"/>
              <a:t>At the point of equilibrium, consumer does not intend to make any change in it. A consumer is in equilibrium when he regards his actual behaviour as the best possible under the circumstances and feels no urge to change his behaviour as long as circumstance remains unchanged. </a:t>
            </a:r>
          </a:p>
          <a:p>
            <a:endParaRPr lang="en-US" dirty="0"/>
          </a:p>
        </p:txBody>
      </p:sp>
    </p:spTree>
    <p:extLst>
      <p:ext uri="{BB962C8B-B14F-4D97-AF65-F5344CB8AC3E}">
        <p14:creationId xmlns:p14="http://schemas.microsoft.com/office/powerpoint/2010/main" val="521650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Assumptions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a:t>
            </a:r>
            <a:r>
              <a:rPr lang="en-US" dirty="0"/>
              <a:t>various assumptions to explain concept of consumer equilibrium trough utility analysis are as follows: </a:t>
            </a:r>
          </a:p>
          <a:p>
            <a:r>
              <a:rPr lang="en-US" dirty="0"/>
              <a:t>1. Cardinal measurement of utility </a:t>
            </a:r>
          </a:p>
          <a:p>
            <a:r>
              <a:rPr lang="en-US" dirty="0"/>
              <a:t>2. Monetary measurement of utility </a:t>
            </a:r>
          </a:p>
          <a:p>
            <a:r>
              <a:rPr lang="en-US" dirty="0"/>
              <a:t>3. Continuous consumption </a:t>
            </a:r>
          </a:p>
          <a:p>
            <a:r>
              <a:rPr lang="it-IT" dirty="0"/>
              <a:t>4. No change in Quality </a:t>
            </a:r>
          </a:p>
          <a:p>
            <a:r>
              <a:rPr lang="en-US" dirty="0"/>
              <a:t>5. Rational consumer </a:t>
            </a:r>
          </a:p>
          <a:p>
            <a:r>
              <a:rPr lang="en-US" dirty="0"/>
              <a:t>6. MU of money remains constant </a:t>
            </a:r>
          </a:p>
          <a:p>
            <a:r>
              <a:rPr lang="en-US" dirty="0"/>
              <a:t>7. Goods are divisible </a:t>
            </a:r>
          </a:p>
          <a:p>
            <a:r>
              <a:rPr lang="en-US" dirty="0"/>
              <a:t>8. Fixed Income and prices </a:t>
            </a:r>
          </a:p>
          <a:p>
            <a:r>
              <a:rPr lang="en-US" dirty="0"/>
              <a:t>9. Homogeneity </a:t>
            </a:r>
          </a:p>
        </p:txBody>
      </p:sp>
    </p:spTree>
    <p:extLst>
      <p:ext uri="{BB962C8B-B14F-4D97-AF65-F5344CB8AC3E}">
        <p14:creationId xmlns:p14="http://schemas.microsoft.com/office/powerpoint/2010/main" val="2700686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Budget constraints and consumer choice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The budget constraint is an economist's way of saying what the consumer can afford. </a:t>
            </a:r>
            <a:endParaRPr lang="en-US" dirty="0" smtClean="0"/>
          </a:p>
          <a:p>
            <a:r>
              <a:rPr lang="en-US" dirty="0" smtClean="0"/>
              <a:t>By </a:t>
            </a:r>
            <a:r>
              <a:rPr lang="en-US" dirty="0"/>
              <a:t>assuming that there is a budget constraint we imply that people want to spend more than they have, but their budget constraint forces them to consume less than they want to. </a:t>
            </a:r>
            <a:endParaRPr lang="en-US" dirty="0" smtClean="0"/>
          </a:p>
          <a:p>
            <a:r>
              <a:rPr lang="en-US" dirty="0" smtClean="0"/>
              <a:t>When </a:t>
            </a:r>
            <a:r>
              <a:rPr lang="en-US" dirty="0"/>
              <a:t>a consumer is on a budget, they have a set amount of money to spend so they must choose between the goods they want to spend it on.</a:t>
            </a:r>
          </a:p>
        </p:txBody>
      </p:sp>
    </p:spTree>
    <p:extLst>
      <p:ext uri="{BB962C8B-B14F-4D97-AF65-F5344CB8AC3E}">
        <p14:creationId xmlns:p14="http://schemas.microsoft.com/office/powerpoint/2010/main" val="3500564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Budget Line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a:bodyPr>
          <a:lstStyle/>
          <a:p>
            <a:r>
              <a:rPr lang="en-US" dirty="0" smtClean="0"/>
              <a:t>A </a:t>
            </a:r>
            <a:r>
              <a:rPr lang="en-US" dirty="0"/>
              <a:t>Budget Line is a graphical representation of all possible combinations of two goods that a consumer can purchase within a given amount. </a:t>
            </a:r>
            <a:endParaRPr lang="en-US" dirty="0" smtClean="0"/>
          </a:p>
          <a:p>
            <a:r>
              <a:rPr lang="en-US" dirty="0" smtClean="0"/>
              <a:t>The </a:t>
            </a:r>
            <a:r>
              <a:rPr lang="en-US" dirty="0"/>
              <a:t>purchasing power of a consumer and the market value of these two products determine the ratio in which one buys these two commodities. </a:t>
            </a:r>
            <a:endParaRPr lang="en-US" dirty="0" smtClean="0"/>
          </a:p>
          <a:p>
            <a:r>
              <a:rPr lang="en-US" dirty="0" smtClean="0"/>
              <a:t>This </a:t>
            </a:r>
            <a:r>
              <a:rPr lang="en-US" b="1" dirty="0"/>
              <a:t>budget line </a:t>
            </a:r>
            <a:r>
              <a:rPr lang="en-US" dirty="0"/>
              <a:t>is a straight line with a negative slope depicting the reverse correlation between the two commodities. </a:t>
            </a:r>
            <a:endParaRPr lang="en-US" dirty="0" smtClean="0"/>
          </a:p>
          <a:p>
            <a:r>
              <a:rPr lang="en-US" dirty="0" smtClean="0"/>
              <a:t>It </a:t>
            </a:r>
            <a:r>
              <a:rPr lang="en-US" dirty="0"/>
              <a:t>can shift one way or the other depending on one of these two things: </a:t>
            </a:r>
          </a:p>
          <a:p>
            <a:r>
              <a:rPr lang="en-US" dirty="0" smtClean="0"/>
              <a:t>Change </a:t>
            </a:r>
            <a:r>
              <a:rPr lang="en-US" dirty="0"/>
              <a:t>in the income of the consumer. </a:t>
            </a:r>
          </a:p>
          <a:p>
            <a:r>
              <a:rPr lang="en-US" dirty="0" smtClean="0"/>
              <a:t>Change </a:t>
            </a:r>
            <a:r>
              <a:rPr lang="en-US" dirty="0"/>
              <a:t>in price of one or both goods </a:t>
            </a:r>
          </a:p>
          <a:p>
            <a:endParaRPr lang="en-US" dirty="0"/>
          </a:p>
        </p:txBody>
      </p:sp>
    </p:spTree>
    <p:extLst>
      <p:ext uri="{BB962C8B-B14F-4D97-AF65-F5344CB8AC3E}">
        <p14:creationId xmlns:p14="http://schemas.microsoft.com/office/powerpoint/2010/main" val="433002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Budget Set </a:t>
            </a:r>
            <a:r>
              <a:rPr lang="en-US" dirty="0" smtClean="0"/>
              <a:t/>
            </a:r>
            <a:br>
              <a:rPr lang="en-US" dirty="0" smtClean="0"/>
            </a:br>
            <a:endParaRPr lang="en-US" dirty="0"/>
          </a:p>
        </p:txBody>
      </p:sp>
      <p:sp>
        <p:nvSpPr>
          <p:cNvPr id="3" name="Content Placeholder 2"/>
          <p:cNvSpPr>
            <a:spLocks noGrp="1"/>
          </p:cNvSpPr>
          <p:nvPr>
            <p:ph idx="1"/>
          </p:nvPr>
        </p:nvSpPr>
        <p:spPr>
          <a:xfrm>
            <a:off x="838200" y="1214846"/>
            <a:ext cx="10515600" cy="5172891"/>
          </a:xfrm>
        </p:spPr>
        <p:txBody>
          <a:bodyPr>
            <a:normAutofit fontScale="85000" lnSpcReduction="20000"/>
          </a:bodyPr>
          <a:lstStyle/>
          <a:p>
            <a:r>
              <a:rPr lang="en-US" b="1" dirty="0" smtClean="0"/>
              <a:t>Budget </a:t>
            </a:r>
            <a:r>
              <a:rPr lang="en-US" b="1" dirty="0"/>
              <a:t>Set </a:t>
            </a:r>
            <a:r>
              <a:rPr lang="en-US" dirty="0"/>
              <a:t>is a bundle of the combination of two commodities that the Budget Line represents. It lies below the Budget Line, and it helps determine the possible quantities of each item that a consumer can buy given their income and the market value of those two goods. </a:t>
            </a:r>
          </a:p>
          <a:p>
            <a:r>
              <a:rPr lang="en-US" b="1" dirty="0"/>
              <a:t>Equation of a Budget Line </a:t>
            </a:r>
            <a:endParaRPr lang="en-US" dirty="0"/>
          </a:p>
          <a:p>
            <a:r>
              <a:rPr lang="en-US" dirty="0"/>
              <a:t>To understand the concept of a budget line in a detailed manner, it is important to understand the mentioned equation. The equation of the budget line equation can be represented as follows: </a:t>
            </a:r>
          </a:p>
          <a:p>
            <a:r>
              <a:rPr lang="en-US" dirty="0"/>
              <a:t>M = [Px × Qx] + [Py × Qy] </a:t>
            </a:r>
          </a:p>
          <a:p>
            <a:r>
              <a:rPr lang="en-US" dirty="0"/>
              <a:t>Where, </a:t>
            </a:r>
          </a:p>
          <a:p>
            <a:r>
              <a:rPr lang="en-US" dirty="0"/>
              <a:t>Px is the cost of product X. </a:t>
            </a:r>
          </a:p>
          <a:p>
            <a:r>
              <a:rPr lang="en-US" dirty="0"/>
              <a:t>Qx is the quantity of product X. </a:t>
            </a:r>
          </a:p>
          <a:p>
            <a:r>
              <a:rPr lang="en-US" dirty="0"/>
              <a:t>Py is the cost of product Y. </a:t>
            </a:r>
          </a:p>
          <a:p>
            <a:r>
              <a:rPr lang="en-US" dirty="0"/>
              <a:t>Qy is the quantity of product Y. </a:t>
            </a:r>
          </a:p>
          <a:p>
            <a:r>
              <a:rPr lang="en-US" dirty="0"/>
              <a:t>M is the </a:t>
            </a:r>
            <a:r>
              <a:rPr lang="en-US" dirty="0" smtClean="0"/>
              <a:t>consumer's </a:t>
            </a:r>
            <a:r>
              <a:rPr lang="en-US" dirty="0"/>
              <a:t>income. </a:t>
            </a:r>
          </a:p>
        </p:txBody>
      </p:sp>
    </p:spTree>
    <p:extLst>
      <p:ext uri="{BB962C8B-B14F-4D97-AF65-F5344CB8AC3E}">
        <p14:creationId xmlns:p14="http://schemas.microsoft.com/office/powerpoint/2010/main" val="3096976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Maggie </a:t>
            </a:r>
            <a:r>
              <a:rPr lang="en-US" dirty="0"/>
              <a:t>has ZMW 300 as income. She wants to buy Mangoes and Oranges. This is considered her bundle of goods. There are several bundle </a:t>
            </a:r>
            <a:r>
              <a:rPr lang="en-US" dirty="0" smtClean="0"/>
              <a:t>combinations </a:t>
            </a:r>
            <a:r>
              <a:rPr lang="en-US" dirty="0"/>
              <a:t>she can choose that fit her budget: </a:t>
            </a:r>
            <a:endParaRPr lang="en-US" dirty="0" smtClean="0"/>
          </a:p>
          <a:p>
            <a:r>
              <a:rPr lang="en-US" sz="1200" b="1" dirty="0"/>
              <a:t>S/N </a:t>
            </a:r>
            <a:r>
              <a:rPr lang="en-US" sz="1200" dirty="0"/>
              <a:t>	</a:t>
            </a:r>
            <a:r>
              <a:rPr lang="en-US" sz="1200" b="1" dirty="0"/>
              <a:t>Price (Mango) </a:t>
            </a:r>
            <a:r>
              <a:rPr lang="en-US" sz="1200" dirty="0"/>
              <a:t>	</a:t>
            </a:r>
            <a:r>
              <a:rPr lang="en-US" sz="1200" b="1" dirty="0"/>
              <a:t>Quantity (Mango) </a:t>
            </a:r>
            <a:r>
              <a:rPr lang="en-US" sz="1200" dirty="0"/>
              <a:t>	</a:t>
            </a:r>
            <a:r>
              <a:rPr lang="en-US" sz="1200" b="1" dirty="0"/>
              <a:t>Price (Orange</a:t>
            </a:r>
            <a:r>
              <a:rPr lang="en-US" sz="1200" b="1" dirty="0" smtClean="0"/>
              <a:t>)</a:t>
            </a:r>
            <a:r>
              <a:rPr lang="en-US" sz="1200" dirty="0" smtClean="0"/>
              <a:t>		</a:t>
            </a:r>
            <a:r>
              <a:rPr lang="en-US" sz="1200" b="1" dirty="0" smtClean="0"/>
              <a:t>Quantity </a:t>
            </a:r>
            <a:r>
              <a:rPr lang="en-US" sz="1200" b="1" dirty="0"/>
              <a:t>(Orange) </a:t>
            </a:r>
            <a:r>
              <a:rPr lang="en-US" sz="1200" dirty="0"/>
              <a:t>	</a:t>
            </a:r>
            <a:r>
              <a:rPr lang="en-US" sz="1200" b="1" dirty="0"/>
              <a:t>Total Spending </a:t>
            </a:r>
            <a:r>
              <a:rPr lang="en-US" sz="4000" dirty="0"/>
              <a:t>	</a:t>
            </a:r>
          </a:p>
          <a:p>
            <a:r>
              <a:rPr lang="en-US" dirty="0"/>
              <a:t>1 	100 </a:t>
            </a:r>
            <a:r>
              <a:rPr lang="en-US" dirty="0" smtClean="0"/>
              <a:t>		3 </a:t>
            </a:r>
            <a:r>
              <a:rPr lang="en-US" dirty="0"/>
              <a:t>	</a:t>
            </a:r>
            <a:r>
              <a:rPr lang="en-US" dirty="0" smtClean="0"/>
              <a:t>	50 </a:t>
            </a:r>
            <a:r>
              <a:rPr lang="en-US" dirty="0"/>
              <a:t>	</a:t>
            </a:r>
            <a:r>
              <a:rPr lang="en-US" dirty="0" smtClean="0"/>
              <a:t>	0 </a:t>
            </a:r>
            <a:r>
              <a:rPr lang="en-US" dirty="0"/>
              <a:t>	</a:t>
            </a:r>
            <a:r>
              <a:rPr lang="en-US" dirty="0" smtClean="0"/>
              <a:t>	300 </a:t>
            </a:r>
            <a:r>
              <a:rPr lang="en-US" dirty="0"/>
              <a:t>	</a:t>
            </a:r>
          </a:p>
          <a:p>
            <a:r>
              <a:rPr lang="en-US" dirty="0"/>
              <a:t>2 	100 	</a:t>
            </a:r>
            <a:r>
              <a:rPr lang="en-US" dirty="0" smtClean="0"/>
              <a:t>	2 </a:t>
            </a:r>
            <a:r>
              <a:rPr lang="en-US" dirty="0"/>
              <a:t>	</a:t>
            </a:r>
            <a:r>
              <a:rPr lang="en-US" dirty="0" smtClean="0"/>
              <a:t>	50 </a:t>
            </a:r>
            <a:r>
              <a:rPr lang="en-US" dirty="0"/>
              <a:t>	</a:t>
            </a:r>
            <a:r>
              <a:rPr lang="en-US" dirty="0" smtClean="0"/>
              <a:t>	2 </a:t>
            </a:r>
            <a:r>
              <a:rPr lang="en-US" dirty="0"/>
              <a:t>	</a:t>
            </a:r>
            <a:r>
              <a:rPr lang="en-US" dirty="0" smtClean="0"/>
              <a:t>	300 </a:t>
            </a:r>
            <a:r>
              <a:rPr lang="en-US" dirty="0"/>
              <a:t>	</a:t>
            </a:r>
          </a:p>
          <a:p>
            <a:r>
              <a:rPr lang="en-US" dirty="0"/>
              <a:t>3 	100 	</a:t>
            </a:r>
            <a:r>
              <a:rPr lang="en-US" dirty="0" smtClean="0"/>
              <a:t>	1 </a:t>
            </a:r>
            <a:r>
              <a:rPr lang="en-US" dirty="0"/>
              <a:t>	</a:t>
            </a:r>
            <a:r>
              <a:rPr lang="en-US" dirty="0" smtClean="0"/>
              <a:t>	50 </a:t>
            </a:r>
            <a:r>
              <a:rPr lang="en-US" dirty="0"/>
              <a:t>	</a:t>
            </a:r>
            <a:r>
              <a:rPr lang="en-US" dirty="0" smtClean="0"/>
              <a:t>	4 </a:t>
            </a:r>
            <a:r>
              <a:rPr lang="en-US" dirty="0"/>
              <a:t>	</a:t>
            </a:r>
            <a:r>
              <a:rPr lang="en-US" dirty="0" smtClean="0"/>
              <a:t>	300 </a:t>
            </a:r>
            <a:r>
              <a:rPr lang="en-US" dirty="0"/>
              <a:t>	</a:t>
            </a:r>
          </a:p>
          <a:p>
            <a:r>
              <a:rPr lang="en-US" dirty="0"/>
              <a:t>4 	100 	</a:t>
            </a:r>
            <a:r>
              <a:rPr lang="en-US" dirty="0" smtClean="0"/>
              <a:t>	0 </a:t>
            </a:r>
            <a:r>
              <a:rPr lang="en-US" dirty="0"/>
              <a:t>	</a:t>
            </a:r>
            <a:r>
              <a:rPr lang="en-US" dirty="0" smtClean="0"/>
              <a:t>	50 </a:t>
            </a:r>
            <a:r>
              <a:rPr lang="en-US" dirty="0"/>
              <a:t>	</a:t>
            </a:r>
            <a:r>
              <a:rPr lang="en-US" dirty="0" smtClean="0"/>
              <a:t>	6 </a:t>
            </a:r>
            <a:r>
              <a:rPr lang="en-US" dirty="0"/>
              <a:t>	</a:t>
            </a:r>
            <a:r>
              <a:rPr lang="en-US" dirty="0" smtClean="0"/>
              <a:t>	300 </a:t>
            </a:r>
            <a:r>
              <a:rPr lang="en-US" dirty="0"/>
              <a:t>	</a:t>
            </a:r>
          </a:p>
          <a:p>
            <a:endParaRPr lang="en-US" dirty="0"/>
          </a:p>
        </p:txBody>
      </p:sp>
    </p:spTree>
    <p:extLst>
      <p:ext uri="{BB962C8B-B14F-4D97-AF65-F5344CB8AC3E}">
        <p14:creationId xmlns:p14="http://schemas.microsoft.com/office/powerpoint/2010/main" val="3266680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BUDGET LINE</a:t>
            </a:r>
            <a:endParaRPr lang="en-US"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a:stretch>
            <a:fillRect/>
          </a:stretch>
        </p:blipFill>
        <p:spPr>
          <a:xfrm>
            <a:off x="1763486" y="1690687"/>
            <a:ext cx="8438605" cy="4945243"/>
          </a:xfrm>
          <a:prstGeom prst="rect">
            <a:avLst/>
          </a:prstGeom>
        </p:spPr>
      </p:pic>
    </p:spTree>
    <p:extLst>
      <p:ext uri="{BB962C8B-B14F-4D97-AF65-F5344CB8AC3E}">
        <p14:creationId xmlns:p14="http://schemas.microsoft.com/office/powerpoint/2010/main" val="1268367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Budget line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Budget </a:t>
            </a:r>
            <a:r>
              <a:rPr lang="en-US" dirty="0"/>
              <a:t>= (Px1Qx2) + (Py1Qy2) </a:t>
            </a:r>
          </a:p>
          <a:p>
            <a:r>
              <a:rPr lang="en-US" dirty="0"/>
              <a:t>Let P be Price and Q be Quantity </a:t>
            </a:r>
          </a:p>
          <a:p>
            <a:r>
              <a:rPr lang="en-US" dirty="0"/>
              <a:t>X1,2 be Mangoes and Y1,2 be Oranges </a:t>
            </a:r>
          </a:p>
          <a:p>
            <a:r>
              <a:rPr lang="en-US" b="1" dirty="0"/>
              <a:t>Mangoes </a:t>
            </a:r>
            <a:endParaRPr lang="en-US" dirty="0"/>
          </a:p>
          <a:p>
            <a:r>
              <a:rPr lang="en-US" dirty="0"/>
              <a:t>Let X1 be Quantity of Mangoes and X2 be Price of Mangoes </a:t>
            </a:r>
          </a:p>
          <a:p>
            <a:r>
              <a:rPr lang="en-US" dirty="0"/>
              <a:t>Using S/N 1 </a:t>
            </a:r>
          </a:p>
          <a:p>
            <a:r>
              <a:rPr lang="en-US" dirty="0"/>
              <a:t>X1 X2 = (100)(3) = 300</a:t>
            </a:r>
          </a:p>
        </p:txBody>
      </p:sp>
    </p:spTree>
    <p:extLst>
      <p:ext uri="{BB962C8B-B14F-4D97-AF65-F5344CB8AC3E}">
        <p14:creationId xmlns:p14="http://schemas.microsoft.com/office/powerpoint/2010/main" val="3639690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Oranges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Let </a:t>
            </a:r>
            <a:r>
              <a:rPr lang="en-US" dirty="0"/>
              <a:t>Y1 be Quantity of Oranges and Y2 be Price of Oranges </a:t>
            </a:r>
          </a:p>
          <a:p>
            <a:r>
              <a:rPr lang="en-US" dirty="0"/>
              <a:t>Using S/N 1 </a:t>
            </a:r>
          </a:p>
          <a:p>
            <a:r>
              <a:rPr lang="es-ES" dirty="0"/>
              <a:t>Y1 Y2 = (0)(50) = 0 </a:t>
            </a:r>
          </a:p>
          <a:p>
            <a:r>
              <a:rPr lang="es-ES" dirty="0"/>
              <a:t>Z = X1 X2 + Y1 Y2 </a:t>
            </a:r>
          </a:p>
          <a:p>
            <a:r>
              <a:rPr lang="pl-PL" dirty="0"/>
              <a:t>Z = (3)(100) + (0)(50) </a:t>
            </a:r>
          </a:p>
          <a:p>
            <a:r>
              <a:rPr lang="en-US" dirty="0"/>
              <a:t>300 = Income </a:t>
            </a:r>
          </a:p>
        </p:txBody>
      </p:sp>
    </p:spTree>
    <p:extLst>
      <p:ext uri="{BB962C8B-B14F-4D97-AF65-F5344CB8AC3E}">
        <p14:creationId xmlns:p14="http://schemas.microsoft.com/office/powerpoint/2010/main" val="1420458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CALCULATIONS CONT..</a:t>
            </a:r>
            <a:endParaRPr lang="en-US" b="1" dirty="0"/>
          </a:p>
        </p:txBody>
      </p:sp>
      <p:sp>
        <p:nvSpPr>
          <p:cNvPr id="3" name="Content Placeholder 2"/>
          <p:cNvSpPr>
            <a:spLocks noGrp="1"/>
          </p:cNvSpPr>
          <p:nvPr>
            <p:ph idx="1"/>
          </p:nvPr>
        </p:nvSpPr>
        <p:spPr>
          <a:xfrm>
            <a:off x="838200" y="1436914"/>
            <a:ext cx="10515600" cy="5120639"/>
          </a:xfrm>
        </p:spPr>
        <p:txBody>
          <a:bodyPr>
            <a:normAutofit fontScale="85000" lnSpcReduction="20000"/>
          </a:bodyPr>
          <a:lstStyle/>
          <a:p>
            <a:r>
              <a:rPr lang="en-US" dirty="0" smtClean="0"/>
              <a:t>Price for mangoes =100 (Q) (30) </a:t>
            </a:r>
          </a:p>
          <a:p>
            <a:r>
              <a:rPr lang="en-US" dirty="0" smtClean="0"/>
              <a:t>Price for oranges = 50 (Y) (0) </a:t>
            </a:r>
          </a:p>
          <a:p>
            <a:r>
              <a:rPr lang="en-US" dirty="0" smtClean="0"/>
              <a:t>300 = 100Q + 50Y </a:t>
            </a:r>
          </a:p>
          <a:p>
            <a:r>
              <a:rPr lang="en-US" dirty="0" smtClean="0"/>
              <a:t>6 </a:t>
            </a:r>
            <a:r>
              <a:rPr lang="en-US" dirty="0" smtClean="0"/>
              <a:t>= 2Q + Y </a:t>
            </a:r>
          </a:p>
          <a:p>
            <a:r>
              <a:rPr lang="en-US" b="1" dirty="0" smtClean="0"/>
              <a:t>Y = 0 , Q = </a:t>
            </a:r>
            <a:r>
              <a:rPr lang="en-US" b="1" dirty="0" smtClean="0"/>
              <a:t>3 </a:t>
            </a:r>
            <a:endParaRPr lang="en-US" dirty="0" smtClean="0"/>
          </a:p>
          <a:p>
            <a:r>
              <a:rPr lang="en-US" dirty="0" smtClean="0"/>
              <a:t>6 </a:t>
            </a:r>
            <a:r>
              <a:rPr lang="en-US" dirty="0" smtClean="0"/>
              <a:t>=2Q + 0 </a:t>
            </a:r>
          </a:p>
          <a:p>
            <a:r>
              <a:rPr lang="en-US" dirty="0" smtClean="0"/>
              <a:t>6 </a:t>
            </a:r>
            <a:r>
              <a:rPr lang="en-US" dirty="0" smtClean="0"/>
              <a:t>= 2Q </a:t>
            </a:r>
          </a:p>
          <a:p>
            <a:r>
              <a:rPr lang="en-US" dirty="0" smtClean="0"/>
              <a:t>Q =</a:t>
            </a:r>
            <a:r>
              <a:rPr lang="en-US" dirty="0" smtClean="0"/>
              <a:t>3 </a:t>
            </a:r>
            <a:endParaRPr lang="en-US" dirty="0" smtClean="0"/>
          </a:p>
          <a:p>
            <a:r>
              <a:rPr lang="en-US" b="1" dirty="0" smtClean="0"/>
              <a:t>Q =0 </a:t>
            </a:r>
            <a:r>
              <a:rPr lang="en-US" b="1" dirty="0" smtClean="0"/>
              <a:t>Y=6 </a:t>
            </a:r>
            <a:endParaRPr lang="en-US" dirty="0" smtClean="0"/>
          </a:p>
          <a:p>
            <a:r>
              <a:rPr lang="es-ES" b="1" dirty="0" smtClean="0"/>
              <a:t>6 </a:t>
            </a:r>
            <a:r>
              <a:rPr lang="es-ES" b="1" dirty="0" smtClean="0"/>
              <a:t>= 2(0) + Y and </a:t>
            </a:r>
            <a:r>
              <a:rPr lang="es-ES" b="1" dirty="0" smtClean="0"/>
              <a:t>6 </a:t>
            </a:r>
            <a:r>
              <a:rPr lang="es-ES" b="1" dirty="0" smtClean="0"/>
              <a:t>= Y </a:t>
            </a:r>
            <a:endParaRPr lang="es-ES" dirty="0" smtClean="0"/>
          </a:p>
          <a:p>
            <a:r>
              <a:rPr lang="en-US" b="1" dirty="0" smtClean="0"/>
              <a:t>Y = </a:t>
            </a:r>
            <a:r>
              <a:rPr lang="en-US" b="1" dirty="0" smtClean="0"/>
              <a:t>6</a:t>
            </a:r>
            <a:endParaRPr lang="en-US" b="1" dirty="0" smtClean="0"/>
          </a:p>
          <a:p>
            <a:r>
              <a:rPr lang="en-US" b="1" dirty="0" smtClean="0"/>
              <a:t>Q =</a:t>
            </a:r>
            <a:r>
              <a:rPr lang="en-US" b="1" dirty="0" smtClean="0"/>
              <a:t>3</a:t>
            </a:r>
            <a:endParaRPr lang="en-US" b="1" dirty="0" smtClean="0"/>
          </a:p>
          <a:p>
            <a:r>
              <a:rPr lang="en-US" b="1" dirty="0" smtClean="0"/>
              <a:t>Z = 300 </a:t>
            </a:r>
            <a:endParaRPr lang="en-US" dirty="0" smtClean="0"/>
          </a:p>
          <a:p>
            <a:pPr marL="0" indent="0">
              <a:buNone/>
            </a:pPr>
            <a:endParaRPr lang="en-US" dirty="0" smtClean="0"/>
          </a:p>
          <a:p>
            <a:endParaRPr lang="en-US" dirty="0"/>
          </a:p>
        </p:txBody>
      </p:sp>
    </p:spTree>
    <p:extLst>
      <p:ext uri="{BB962C8B-B14F-4D97-AF65-F5344CB8AC3E}">
        <p14:creationId xmlns:p14="http://schemas.microsoft.com/office/powerpoint/2010/main" val="3369455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M </a:t>
            </a:r>
            <a:r>
              <a:rPr lang="en-US" b="1" dirty="0"/>
              <a:t>= PX.QX + PY.QY </a:t>
            </a:r>
            <a:endParaRPr lang="en-US" dirty="0"/>
          </a:p>
          <a:p>
            <a:r>
              <a:rPr lang="en-US" b="1" dirty="0"/>
              <a:t>P = Price and Q = Quantity </a:t>
            </a:r>
            <a:endParaRPr lang="en-US" dirty="0"/>
          </a:p>
          <a:p>
            <a:r>
              <a:rPr lang="en-US" b="1" dirty="0"/>
              <a:t>X = Commodity X and Y = Commodity Y </a:t>
            </a:r>
            <a:endParaRPr lang="en-US" dirty="0"/>
          </a:p>
          <a:p>
            <a:r>
              <a:rPr lang="en-US" b="1" dirty="0"/>
              <a:t>M = Income </a:t>
            </a:r>
            <a:endParaRPr lang="en-US" dirty="0"/>
          </a:p>
        </p:txBody>
      </p:sp>
    </p:spTree>
    <p:extLst>
      <p:ext uri="{BB962C8B-B14F-4D97-AF65-F5344CB8AC3E}">
        <p14:creationId xmlns:p14="http://schemas.microsoft.com/office/powerpoint/2010/main" val="3274323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The Effects of Changes in Income and Prices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384664"/>
            <a:ext cx="10515600" cy="4792300"/>
          </a:xfrm>
        </p:spPr>
        <p:txBody>
          <a:bodyPr>
            <a:normAutofit fontScale="92500"/>
          </a:bodyPr>
          <a:lstStyle/>
          <a:p>
            <a:r>
              <a:rPr lang="en-US" dirty="0" smtClean="0"/>
              <a:t>The </a:t>
            </a:r>
            <a:r>
              <a:rPr lang="en-US" dirty="0"/>
              <a:t>Budget Line can shift in a particular direction in certain circumstances. </a:t>
            </a:r>
            <a:endParaRPr lang="en-US" dirty="0" smtClean="0"/>
          </a:p>
          <a:p>
            <a:r>
              <a:rPr lang="en-US" dirty="0" smtClean="0"/>
              <a:t>The </a:t>
            </a:r>
            <a:r>
              <a:rPr lang="en-US" dirty="0"/>
              <a:t>two circumstances that can influence this line are a change in the </a:t>
            </a:r>
            <a:r>
              <a:rPr lang="en-US" dirty="0" smtClean="0"/>
              <a:t>consumer's </a:t>
            </a:r>
            <a:r>
              <a:rPr lang="en-US" dirty="0"/>
              <a:t>income and a change in the price of one/both goods. </a:t>
            </a:r>
            <a:endParaRPr lang="en-US" dirty="0" smtClean="0"/>
          </a:p>
          <a:p>
            <a:pPr marL="0" indent="0">
              <a:buNone/>
            </a:pPr>
            <a:r>
              <a:rPr lang="en-US" b="1" dirty="0" smtClean="0">
                <a:solidFill>
                  <a:srgbClr val="FF0000"/>
                </a:solidFill>
              </a:rPr>
              <a:t>Let </a:t>
            </a:r>
            <a:r>
              <a:rPr lang="en-US" b="1" dirty="0">
                <a:solidFill>
                  <a:srgbClr val="FF0000"/>
                </a:solidFill>
              </a:rPr>
              <a:t>us analyse both of these factors in greater detail below: </a:t>
            </a:r>
          </a:p>
          <a:p>
            <a:r>
              <a:rPr lang="en-US" b="1" dirty="0" smtClean="0"/>
              <a:t>Increase </a:t>
            </a:r>
            <a:r>
              <a:rPr lang="en-US" b="1" dirty="0"/>
              <a:t>in income – </a:t>
            </a:r>
            <a:r>
              <a:rPr lang="en-US" dirty="0"/>
              <a:t>Suppose there is an increase in the </a:t>
            </a:r>
            <a:r>
              <a:rPr lang="en-US" dirty="0" smtClean="0"/>
              <a:t>consumer's </a:t>
            </a:r>
            <a:r>
              <a:rPr lang="en-US" dirty="0"/>
              <a:t>income, but the prices of goods remain unchanged. </a:t>
            </a:r>
            <a:endParaRPr lang="en-US" dirty="0" smtClean="0"/>
          </a:p>
          <a:p>
            <a:r>
              <a:rPr lang="en-US" dirty="0" smtClean="0"/>
              <a:t>It </a:t>
            </a:r>
            <a:r>
              <a:rPr lang="en-US" dirty="0"/>
              <a:t>will increase their capacity to buy more goods and the consumer has the option to purchase a greater quantity of the same commodity. </a:t>
            </a:r>
            <a:endParaRPr lang="en-US" dirty="0" smtClean="0"/>
          </a:p>
          <a:p>
            <a:r>
              <a:rPr lang="en-US" dirty="0" smtClean="0"/>
              <a:t>This </a:t>
            </a:r>
            <a:r>
              <a:rPr lang="en-US" dirty="0"/>
              <a:t>increase in a </a:t>
            </a:r>
            <a:r>
              <a:rPr lang="en-US" dirty="0" smtClean="0"/>
              <a:t>consumer's </a:t>
            </a:r>
            <a:r>
              <a:rPr lang="en-US" dirty="0"/>
              <a:t>income will shift the Budget Line in a rightward direction. </a:t>
            </a:r>
          </a:p>
          <a:p>
            <a:r>
              <a:rPr lang="en-US" dirty="0" smtClean="0"/>
              <a:t>. </a:t>
            </a:r>
            <a:endParaRPr lang="en-US" dirty="0"/>
          </a:p>
          <a:p>
            <a:endParaRPr lang="en-US" dirty="0"/>
          </a:p>
        </p:txBody>
      </p:sp>
    </p:spTree>
    <p:extLst>
      <p:ext uri="{BB962C8B-B14F-4D97-AF65-F5344CB8AC3E}">
        <p14:creationId xmlns:p14="http://schemas.microsoft.com/office/powerpoint/2010/main" val="3262037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Let us analyse both of these factors in greater detail below</a:t>
            </a:r>
            <a:endParaRPr lang="en-US" b="1" dirty="0"/>
          </a:p>
        </p:txBody>
      </p:sp>
      <p:sp>
        <p:nvSpPr>
          <p:cNvPr id="3" name="Content Placeholder 2"/>
          <p:cNvSpPr>
            <a:spLocks noGrp="1"/>
          </p:cNvSpPr>
          <p:nvPr>
            <p:ph idx="1"/>
          </p:nvPr>
        </p:nvSpPr>
        <p:spPr/>
        <p:txBody>
          <a:bodyPr/>
          <a:lstStyle/>
          <a:p>
            <a:r>
              <a:rPr lang="en-US" b="1" dirty="0" smtClean="0"/>
              <a:t>Decrease in income – </a:t>
            </a:r>
            <a:r>
              <a:rPr lang="en-US" dirty="0" smtClean="0"/>
              <a:t>Suppose there is a decrease in a consumer's income, but the prices of goods remain unchanged.</a:t>
            </a:r>
          </a:p>
          <a:p>
            <a:r>
              <a:rPr lang="en-US" dirty="0" smtClean="0"/>
              <a:t>It will decrease their capacity to buy more goods, and they will also have to contend with buying a lesser quantity of the same commodity. </a:t>
            </a:r>
          </a:p>
          <a:p>
            <a:r>
              <a:rPr lang="en-US" dirty="0" smtClean="0"/>
              <a:t>This decrease in a consumer's income will shift the Budget Line in a leftward direction</a:t>
            </a:r>
            <a:endParaRPr lang="en-US" dirty="0"/>
          </a:p>
        </p:txBody>
      </p:sp>
    </p:spTree>
    <p:extLst>
      <p:ext uri="{BB962C8B-B14F-4D97-AF65-F5344CB8AC3E}">
        <p14:creationId xmlns:p14="http://schemas.microsoft.com/office/powerpoint/2010/main" val="29326996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CHANGE IN PRICE OF ONE COMMODITY</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If </a:t>
            </a:r>
            <a:r>
              <a:rPr lang="en-US" dirty="0"/>
              <a:t>the price of one product changes but everything else stays the same, it will also impact the Budget Line. </a:t>
            </a:r>
            <a:endParaRPr lang="en-US" dirty="0" smtClean="0"/>
          </a:p>
          <a:p>
            <a:r>
              <a:rPr lang="en-US" dirty="0" smtClean="0"/>
              <a:t>If </a:t>
            </a:r>
            <a:r>
              <a:rPr lang="en-US" dirty="0"/>
              <a:t>the price of one product falls, the consumer will have the option to purchase more units of that product. </a:t>
            </a:r>
            <a:endParaRPr lang="en-US" dirty="0" smtClean="0"/>
          </a:p>
          <a:p>
            <a:r>
              <a:rPr lang="en-US" dirty="0" smtClean="0"/>
              <a:t>And </a:t>
            </a:r>
            <a:r>
              <a:rPr lang="en-US" dirty="0"/>
              <a:t>if the market price of that same product goes up, the consumer will have to contend with buying fewer units of that product. </a:t>
            </a:r>
          </a:p>
          <a:p>
            <a:endParaRPr lang="en-US" dirty="0"/>
          </a:p>
        </p:txBody>
      </p:sp>
    </p:spTree>
    <p:extLst>
      <p:ext uri="{BB962C8B-B14F-4D97-AF65-F5344CB8AC3E}">
        <p14:creationId xmlns:p14="http://schemas.microsoft.com/office/powerpoint/2010/main" val="6798129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Change in price of both commodities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dirty="0" smtClean="0"/>
              <a:t>If </a:t>
            </a:r>
            <a:r>
              <a:rPr lang="en-US" dirty="0"/>
              <a:t>the market price of both products decreases simultaneously, the consumer will be able to purchase more units for both items and the Budget Line will shift towards the right. </a:t>
            </a:r>
            <a:endParaRPr lang="en-US" dirty="0" smtClean="0"/>
          </a:p>
          <a:p>
            <a:r>
              <a:rPr lang="en-US" dirty="0" smtClean="0"/>
              <a:t>But </a:t>
            </a:r>
            <a:r>
              <a:rPr lang="en-US" dirty="0"/>
              <a:t>if the prices of both products increase together, the consumer will have to purchase less of both commodities and the Budget Line will shift leftwards. </a:t>
            </a:r>
            <a:endParaRPr lang="en-US" dirty="0" smtClean="0"/>
          </a:p>
          <a:p>
            <a:r>
              <a:rPr lang="en-US" dirty="0" smtClean="0"/>
              <a:t>If </a:t>
            </a:r>
            <a:r>
              <a:rPr lang="en-US" dirty="0"/>
              <a:t>the price of one commodity rises but the other one falls, the buyer can purchase more of the first product but will have to reduce the quantity of the second product. </a:t>
            </a:r>
            <a:endParaRPr lang="en-US" dirty="0" smtClean="0"/>
          </a:p>
          <a:p>
            <a:r>
              <a:rPr lang="en-US" dirty="0" smtClean="0"/>
              <a:t>This </a:t>
            </a:r>
            <a:r>
              <a:rPr lang="en-US" dirty="0"/>
              <a:t>scenario will further affect the Budget Line. </a:t>
            </a:r>
          </a:p>
          <a:p>
            <a:endParaRPr lang="en-US" dirty="0"/>
          </a:p>
        </p:txBody>
      </p:sp>
    </p:spTree>
    <p:extLst>
      <p:ext uri="{BB962C8B-B14F-4D97-AF65-F5344CB8AC3E}">
        <p14:creationId xmlns:p14="http://schemas.microsoft.com/office/powerpoint/2010/main" val="147773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2784"/>
          </a:xfrm>
        </p:spPr>
        <p:txBody>
          <a:bodyPr>
            <a:normAutofit fontScale="90000"/>
          </a:bodyPr>
          <a:lstStyle/>
          <a:p>
            <a:r>
              <a:rPr lang="en-US" b="1" dirty="0" smtClean="0">
                <a:effectLst>
                  <a:outerShdw blurRad="38100" dist="38100" dir="2700000" algn="tl">
                    <a:srgbClr val="000000">
                      <a:alpha val="43137"/>
                    </a:srgbClr>
                  </a:outerShdw>
                </a:effectLst>
              </a:rPr>
              <a:t>Slope of the Budget Line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227909"/>
            <a:ext cx="10515600" cy="5225141"/>
          </a:xfrm>
        </p:spPr>
        <p:txBody>
          <a:bodyPr>
            <a:normAutofit/>
          </a:bodyPr>
          <a:lstStyle/>
          <a:p>
            <a:r>
              <a:rPr lang="en-US" dirty="0" smtClean="0"/>
              <a:t>Chanda's </a:t>
            </a:r>
            <a:r>
              <a:rPr lang="en-US" dirty="0"/>
              <a:t>income: K12, 000 </a:t>
            </a:r>
          </a:p>
          <a:p>
            <a:r>
              <a:rPr lang="en-US" dirty="0"/>
              <a:t>Prices: Price for Fish = K40 per Fish, Price for Mango = K10 per mango </a:t>
            </a:r>
          </a:p>
          <a:p>
            <a:r>
              <a:rPr lang="en-US" dirty="0"/>
              <a:t>Let Fish be “X” and Mango be “Y” and Budget Equation is </a:t>
            </a:r>
            <a:r>
              <a:rPr lang="en-US" b="1" dirty="0"/>
              <a:t>40X + 10Y ≤ 12, 000 </a:t>
            </a:r>
            <a:endParaRPr lang="en-US" dirty="0"/>
          </a:p>
          <a:p>
            <a:r>
              <a:rPr lang="en-US" dirty="0"/>
              <a:t>A. If Chanda spends all his income on fish, how many fish does he buy? </a:t>
            </a:r>
          </a:p>
          <a:p>
            <a:r>
              <a:rPr lang="en-US" dirty="0" smtClean="0"/>
              <a:t>K12000/K40 </a:t>
            </a:r>
            <a:r>
              <a:rPr lang="en-US" dirty="0"/>
              <a:t>= </a:t>
            </a:r>
            <a:r>
              <a:rPr lang="en-US" b="1" dirty="0"/>
              <a:t>300 Fish </a:t>
            </a:r>
            <a:endParaRPr lang="en-US" dirty="0"/>
          </a:p>
          <a:p>
            <a:r>
              <a:rPr lang="en-US" dirty="0"/>
              <a:t>B. If Chanda spends all his income on mangos, how many mangos does he buy? </a:t>
            </a:r>
          </a:p>
          <a:p>
            <a:r>
              <a:rPr lang="en-US" dirty="0" smtClean="0"/>
              <a:t>K12000/K10 </a:t>
            </a:r>
            <a:r>
              <a:rPr lang="en-US" dirty="0"/>
              <a:t>= </a:t>
            </a:r>
            <a:r>
              <a:rPr lang="en-US" b="1" dirty="0"/>
              <a:t>1200 Mangos</a:t>
            </a:r>
            <a:endParaRPr lang="en-US" dirty="0"/>
          </a:p>
        </p:txBody>
      </p:sp>
    </p:spTree>
    <p:extLst>
      <p:ext uri="{BB962C8B-B14F-4D97-AF65-F5344CB8AC3E}">
        <p14:creationId xmlns:p14="http://schemas.microsoft.com/office/powerpoint/2010/main" val="22787968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Slope of the Budget Line</a:t>
            </a:r>
            <a:endParaRPr lang="en-US" dirty="0"/>
          </a:p>
        </p:txBody>
      </p:sp>
      <p:sp>
        <p:nvSpPr>
          <p:cNvPr id="3" name="Content Placeholder 2"/>
          <p:cNvSpPr>
            <a:spLocks noGrp="1"/>
          </p:cNvSpPr>
          <p:nvPr>
            <p:ph idx="1"/>
          </p:nvPr>
        </p:nvSpPr>
        <p:spPr/>
        <p:txBody>
          <a:bodyPr/>
          <a:lstStyle/>
          <a:p>
            <a:r>
              <a:rPr lang="en-US" dirty="0"/>
              <a:t>C. If Chanda buys 100 fish, how many mangos can he buy? </a:t>
            </a:r>
          </a:p>
          <a:p>
            <a:r>
              <a:rPr lang="en-US" dirty="0"/>
              <a:t>Fish cost K40 (K40 X 100) = K4000 </a:t>
            </a:r>
          </a:p>
          <a:p>
            <a:r>
              <a:rPr lang="en-US" dirty="0"/>
              <a:t>Meaning K8000 has remained and it will buy 800 mangos (</a:t>
            </a:r>
            <a:r>
              <a:rPr lang="en-US" dirty="0" smtClean="0"/>
              <a:t>8000/10 </a:t>
            </a:r>
            <a:r>
              <a:rPr lang="en-US" dirty="0"/>
              <a:t>) = </a:t>
            </a:r>
            <a:r>
              <a:rPr lang="en-US" b="1" dirty="0"/>
              <a:t>800 Mangos </a:t>
            </a:r>
            <a:endParaRPr lang="en-US" dirty="0"/>
          </a:p>
          <a:p>
            <a:r>
              <a:rPr lang="en-US" dirty="0"/>
              <a:t>D. Plot each of the bundles from parts A to C on a graph that measures fish on the horizontal axis (X-axis) and mangos on the vertical (Y-axis) connect the dots. </a:t>
            </a:r>
          </a:p>
        </p:txBody>
      </p:sp>
    </p:spTree>
    <p:extLst>
      <p:ext uri="{BB962C8B-B14F-4D97-AF65-F5344CB8AC3E}">
        <p14:creationId xmlns:p14="http://schemas.microsoft.com/office/powerpoint/2010/main" val="15842142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Slope of the Budget Line</a:t>
            </a:r>
            <a:endParaRPr lang="en-US" dirty="0"/>
          </a:p>
        </p:txBody>
      </p:sp>
      <p:pic>
        <p:nvPicPr>
          <p:cNvPr id="4" name="Content Placeholder 3"/>
          <p:cNvPicPr>
            <a:picLocks noGrp="1" noChangeAspect="1"/>
          </p:cNvPicPr>
          <p:nvPr>
            <p:ph idx="1"/>
          </p:nvPr>
        </p:nvPicPr>
        <p:blipFill>
          <a:blip r:embed="rId2"/>
          <a:stretch>
            <a:fillRect/>
          </a:stretch>
        </p:blipFill>
        <p:spPr>
          <a:xfrm>
            <a:off x="1489166" y="1861707"/>
            <a:ext cx="9864634" cy="4839539"/>
          </a:xfrm>
          <a:prstGeom prst="rect">
            <a:avLst/>
          </a:prstGeom>
        </p:spPr>
      </p:pic>
    </p:spTree>
    <p:extLst>
      <p:ext uri="{BB962C8B-B14F-4D97-AF65-F5344CB8AC3E}">
        <p14:creationId xmlns:p14="http://schemas.microsoft.com/office/powerpoint/2010/main" val="28148272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The Slope of the Budget Line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825624"/>
            <a:ext cx="10515600" cy="4823369"/>
          </a:xfrm>
        </p:spPr>
        <p:txBody>
          <a:bodyPr/>
          <a:lstStyle/>
          <a:p>
            <a:r>
              <a:rPr lang="en-US" dirty="0" smtClean="0"/>
              <a:t>Slope </a:t>
            </a:r>
            <a:r>
              <a:rPr lang="en-US" dirty="0"/>
              <a:t>= </a:t>
            </a:r>
            <a:r>
              <a:rPr lang="en-US" dirty="0" smtClean="0"/>
              <a:t>(600 </a:t>
            </a:r>
            <a:r>
              <a:rPr lang="en-US" dirty="0"/>
              <a:t>−</a:t>
            </a:r>
            <a:r>
              <a:rPr lang="en-US" dirty="0" smtClean="0"/>
              <a:t>800) / (150</a:t>
            </a:r>
            <a:r>
              <a:rPr lang="en-US" dirty="0"/>
              <a:t>−</a:t>
            </a:r>
            <a:r>
              <a:rPr lang="en-US" dirty="0" smtClean="0"/>
              <a:t>100) </a:t>
            </a:r>
            <a:r>
              <a:rPr lang="en-US" dirty="0"/>
              <a:t>= − </a:t>
            </a:r>
            <a:r>
              <a:rPr lang="en-US" dirty="0" smtClean="0"/>
              <a:t>200 / 50 </a:t>
            </a:r>
            <a:r>
              <a:rPr lang="en-US" dirty="0"/>
              <a:t>= - 4 </a:t>
            </a:r>
            <a:endParaRPr lang="en-US" dirty="0" smtClean="0"/>
          </a:p>
          <a:p>
            <a:endParaRPr lang="en-US" dirty="0"/>
          </a:p>
        </p:txBody>
      </p:sp>
      <p:pic>
        <p:nvPicPr>
          <p:cNvPr id="4" name="Picture 3"/>
          <p:cNvPicPr>
            <a:picLocks noChangeAspect="1"/>
          </p:cNvPicPr>
          <p:nvPr/>
        </p:nvPicPr>
        <p:blipFill>
          <a:blip r:embed="rId2"/>
          <a:stretch>
            <a:fillRect/>
          </a:stretch>
        </p:blipFill>
        <p:spPr>
          <a:xfrm>
            <a:off x="2137207" y="2567631"/>
            <a:ext cx="4677998" cy="3917297"/>
          </a:xfrm>
          <a:prstGeom prst="rect">
            <a:avLst/>
          </a:prstGeom>
        </p:spPr>
      </p:pic>
    </p:spTree>
    <p:extLst>
      <p:ext uri="{BB962C8B-B14F-4D97-AF65-F5344CB8AC3E}">
        <p14:creationId xmlns:p14="http://schemas.microsoft.com/office/powerpoint/2010/main" val="3342843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Consumers Equilibrium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825625"/>
            <a:ext cx="10515600" cy="4522924"/>
          </a:xfrm>
        </p:spPr>
        <p:txBody>
          <a:bodyPr>
            <a:normAutofit fontScale="92500"/>
          </a:bodyPr>
          <a:lstStyle/>
          <a:p>
            <a:r>
              <a:rPr lang="en-US" dirty="0" smtClean="0"/>
              <a:t>Consumer </a:t>
            </a:r>
            <a:r>
              <a:rPr lang="en-US" dirty="0"/>
              <a:t>equilibrium refers to a situation, in which a consumer derives maximum satisfaction, with no intention to change it and subject to given prices and his given income. The point of maximum satisfaction is achieved by studying indifference map and budget line together. </a:t>
            </a:r>
          </a:p>
          <a:p>
            <a:r>
              <a:rPr lang="en-US" dirty="0"/>
              <a:t>In order to display the combination of two goods X and Y, that the consumer buys to be in equilibrium, </a:t>
            </a:r>
            <a:r>
              <a:rPr lang="en-US" dirty="0" smtClean="0"/>
              <a:t>let's </a:t>
            </a:r>
            <a:r>
              <a:rPr lang="en-US" dirty="0"/>
              <a:t>bring his indifference curves and budget line together. </a:t>
            </a:r>
          </a:p>
          <a:p>
            <a:r>
              <a:rPr lang="en-US" b="1" dirty="0" smtClean="0"/>
              <a:t>Indifference </a:t>
            </a:r>
            <a:r>
              <a:rPr lang="en-US" b="1" dirty="0"/>
              <a:t>Map: </a:t>
            </a:r>
            <a:r>
              <a:rPr lang="en-US" dirty="0"/>
              <a:t>shows the </a:t>
            </a:r>
            <a:r>
              <a:rPr lang="en-US" dirty="0" smtClean="0"/>
              <a:t>consumer's </a:t>
            </a:r>
            <a:r>
              <a:rPr lang="en-US" dirty="0"/>
              <a:t>preference scale between various combinations of two goods </a:t>
            </a:r>
          </a:p>
          <a:p>
            <a:r>
              <a:rPr lang="en-US" b="1" dirty="0" smtClean="0"/>
              <a:t>Budget </a:t>
            </a:r>
            <a:r>
              <a:rPr lang="en-US" b="1" dirty="0"/>
              <a:t>Line: </a:t>
            </a:r>
            <a:r>
              <a:rPr lang="en-US" dirty="0"/>
              <a:t>depicts various combinations that he can afford to buy with his money income and prices of both the goods. </a:t>
            </a:r>
          </a:p>
          <a:p>
            <a:endParaRPr lang="en-US" dirty="0"/>
          </a:p>
        </p:txBody>
      </p:sp>
    </p:spTree>
    <p:extLst>
      <p:ext uri="{BB962C8B-B14F-4D97-AF65-F5344CB8AC3E}">
        <p14:creationId xmlns:p14="http://schemas.microsoft.com/office/powerpoint/2010/main" val="3377556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Consumers Equilibrium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p:txBody>
          <a:bodyPr/>
          <a:lstStyle/>
          <a:p>
            <a:r>
              <a:rPr lang="en-US" dirty="0"/>
              <a:t>In the following figure, we depict an indifference map with five indifference curves IC1, IC2, IC3, IC4, and IC5 along with the budget line for good X and good Y. </a:t>
            </a:r>
            <a:endParaRPr lang="en-US" dirty="0" smtClean="0"/>
          </a:p>
          <a:p>
            <a:endParaRPr lang="en-US" dirty="0"/>
          </a:p>
        </p:txBody>
      </p:sp>
      <p:pic>
        <p:nvPicPr>
          <p:cNvPr id="4" name="Picture 3"/>
          <p:cNvPicPr>
            <a:picLocks noChangeAspect="1"/>
          </p:cNvPicPr>
          <p:nvPr/>
        </p:nvPicPr>
        <p:blipFill>
          <a:blip r:embed="rId2"/>
          <a:stretch>
            <a:fillRect/>
          </a:stretch>
        </p:blipFill>
        <p:spPr>
          <a:xfrm>
            <a:off x="1528354" y="2978332"/>
            <a:ext cx="7106195" cy="3879668"/>
          </a:xfrm>
          <a:prstGeom prst="rect">
            <a:avLst/>
          </a:prstGeom>
        </p:spPr>
      </p:pic>
    </p:spTree>
    <p:extLst>
      <p:ext uri="{BB962C8B-B14F-4D97-AF65-F5344CB8AC3E}">
        <p14:creationId xmlns:p14="http://schemas.microsoft.com/office/powerpoint/2010/main" val="17194954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Consumers Equilibrium </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1332411"/>
            <a:ext cx="10515600" cy="5107578"/>
          </a:xfrm>
        </p:spPr>
        <p:txBody>
          <a:bodyPr/>
          <a:lstStyle/>
          <a:p>
            <a:r>
              <a:rPr lang="en-US" dirty="0"/>
              <a:t>The combinations R, S, Q, T, and H cost the same to the consumer. In order to maximize his level of satisfaction, the consumer needs to reach the highest indifference curve. </a:t>
            </a:r>
            <a:endParaRPr lang="en-US" dirty="0" smtClean="0"/>
          </a:p>
          <a:p>
            <a:r>
              <a:rPr lang="en-US" dirty="0" smtClean="0"/>
              <a:t>Since </a:t>
            </a:r>
            <a:r>
              <a:rPr lang="en-US" dirty="0"/>
              <a:t>the consumer has assumed a budget constraint, he will be forced to remain on the budget line. </a:t>
            </a:r>
          </a:p>
          <a:p>
            <a:r>
              <a:rPr lang="en-US" dirty="0"/>
              <a:t>On an indifference map, higher indifference curve represents a higher level of satisfaction than any lower indifference curve. </a:t>
            </a:r>
            <a:endParaRPr lang="en-US" dirty="0" smtClean="0"/>
          </a:p>
          <a:p>
            <a:r>
              <a:rPr lang="en-US" dirty="0" smtClean="0"/>
              <a:t>So</a:t>
            </a:r>
            <a:r>
              <a:rPr lang="en-US" dirty="0"/>
              <a:t>, a consumer always tries to remain at the highest possible indifference curve, subject to his budget constraint. </a:t>
            </a:r>
          </a:p>
        </p:txBody>
      </p:sp>
    </p:spTree>
    <p:extLst>
      <p:ext uri="{BB962C8B-B14F-4D97-AF65-F5344CB8AC3E}">
        <p14:creationId xmlns:p14="http://schemas.microsoft.com/office/powerpoint/2010/main" val="965249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a:t/>
            </a:r>
            <a:br>
              <a:rPr lang="en-US" b="1" dirty="0"/>
            </a:br>
            <a:r>
              <a:rPr lang="en-US" b="1" dirty="0" smtClean="0"/>
              <a:t>Let say, a consumer chooses the combination at point Q </a:t>
            </a:r>
            <a:r>
              <a:rPr lang="en-US" dirty="0" smtClean="0"/>
              <a:t/>
            </a:r>
            <a:br>
              <a:rPr lang="en-US" dirty="0" smtClean="0"/>
            </a:b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838200" y="1690687"/>
            <a:ext cx="10515600" cy="4486275"/>
          </a:xfrm>
        </p:spPr>
        <p:txBody>
          <a:bodyPr>
            <a:normAutofit fontScale="92500"/>
          </a:bodyPr>
          <a:lstStyle/>
          <a:p>
            <a:r>
              <a:rPr lang="en-US" dirty="0" smtClean="0"/>
              <a:t>This </a:t>
            </a:r>
            <a:r>
              <a:rPr lang="en-US" dirty="0"/>
              <a:t>is the best choice since Q lies on his budget line and puts the consumer on the highest possible indifference curve, IC3. While there are higher curves, IC4 and IC5, they are beyond his budget. Therefore, he reaches the equilibrium at point Q on curve IC3. </a:t>
            </a:r>
          </a:p>
          <a:p>
            <a:r>
              <a:rPr lang="en-US" dirty="0"/>
              <a:t>Notice that at this point, the budget line PL is tangential to the indifference curve IC3. Also, in this position, the consumer buys OM quantity of X and ON quantity of Y. </a:t>
            </a:r>
          </a:p>
          <a:p>
            <a:r>
              <a:rPr lang="en-US" dirty="0"/>
              <a:t>Since point Q is the tangent point, the slopes of line PL and curve IC3 are equal at this point. Further, the slope of the indifference curve shows a marginal rate of substitution of X for Y (MRSxy) equal to </a:t>
            </a:r>
            <a:r>
              <a:rPr lang="en-US" dirty="0" smtClean="0"/>
              <a:t>𝑀𝑈x /𝑀𝑈𝑦</a:t>
            </a:r>
            <a:r>
              <a:rPr lang="en-US" dirty="0"/>
              <a:t>. </a:t>
            </a:r>
            <a:endParaRPr lang="en-US" dirty="0" smtClean="0"/>
          </a:p>
          <a:p>
            <a:r>
              <a:rPr lang="en-US" dirty="0" smtClean="0"/>
              <a:t>Also</a:t>
            </a:r>
            <a:r>
              <a:rPr lang="en-US" dirty="0"/>
              <a:t>, the slope of the price line (PL) indicates the ratio between </a:t>
            </a:r>
          </a:p>
        </p:txBody>
      </p:sp>
    </p:spTree>
    <p:extLst>
      <p:ext uri="{BB962C8B-B14F-4D97-AF65-F5344CB8AC3E}">
        <p14:creationId xmlns:p14="http://schemas.microsoft.com/office/powerpoint/2010/main" val="42362503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Conditions of Consumer's Equilibrium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567543"/>
            <a:ext cx="10515600" cy="4609420"/>
          </a:xfrm>
        </p:spPr>
        <p:txBody>
          <a:bodyPr>
            <a:normAutofit lnSpcReduction="10000"/>
          </a:bodyPr>
          <a:lstStyle/>
          <a:p>
            <a:r>
              <a:rPr lang="en-US" dirty="0" smtClean="0"/>
              <a:t>The consumer's </a:t>
            </a:r>
            <a:r>
              <a:rPr lang="en-US" dirty="0"/>
              <a:t>equilibrium under the indifference curve theory must meet the following two conditions: </a:t>
            </a:r>
          </a:p>
          <a:p>
            <a:r>
              <a:rPr lang="en-US" b="1" dirty="0"/>
              <a:t>(</a:t>
            </a:r>
            <a:r>
              <a:rPr lang="en-US" b="1" dirty="0" err="1"/>
              <a:t>i</a:t>
            </a:r>
            <a:r>
              <a:rPr lang="en-US" b="1" dirty="0"/>
              <a:t>) MRS (Marginal Rate of Substitution) XY = Ratio of prices or </a:t>
            </a:r>
            <a:r>
              <a:rPr lang="en-US" dirty="0" smtClean="0"/>
              <a:t>𝑷𝑿/𝑷𝒀 </a:t>
            </a:r>
            <a:endParaRPr lang="en-US" dirty="0"/>
          </a:p>
          <a:p>
            <a:r>
              <a:rPr lang="en-US" dirty="0"/>
              <a:t>Let the two goods be X and Y. The first condition for </a:t>
            </a:r>
            <a:r>
              <a:rPr lang="en-US" dirty="0" smtClean="0"/>
              <a:t>consumer's </a:t>
            </a:r>
            <a:r>
              <a:rPr lang="en-US" dirty="0"/>
              <a:t>equilibrium is that </a:t>
            </a:r>
          </a:p>
          <a:p>
            <a:r>
              <a:rPr lang="en-US" dirty="0"/>
              <a:t>MRSXY = PX/PY </a:t>
            </a:r>
          </a:p>
          <a:p>
            <a:r>
              <a:rPr lang="en-US" dirty="0"/>
              <a:t>a. If MRSXY &gt; </a:t>
            </a:r>
            <a:r>
              <a:rPr lang="en-US" dirty="0" smtClean="0"/>
              <a:t>𝑷𝑿/𝑷𝒀</a:t>
            </a:r>
            <a:r>
              <a:rPr lang="en-US" dirty="0"/>
              <a:t>, it means that the consumer is willing to pay more for X than the price prevailing in the market. As a result, the consumer buys more of X. As a result, MRS falls till it becomes equal to the ratio of prices and the equilibrium is established. </a:t>
            </a:r>
          </a:p>
        </p:txBody>
      </p:sp>
    </p:spTree>
    <p:extLst>
      <p:ext uri="{BB962C8B-B14F-4D97-AF65-F5344CB8AC3E}">
        <p14:creationId xmlns:p14="http://schemas.microsoft.com/office/powerpoint/2010/main" val="15689015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r>
              <a:rPr lang="en-US" dirty="0"/>
              <a:t>b. If MRSXY &lt; </a:t>
            </a:r>
            <a:r>
              <a:rPr lang="en-US" dirty="0" smtClean="0"/>
              <a:t>𝑷𝑿/𝑷𝒀</a:t>
            </a:r>
            <a:r>
              <a:rPr lang="en-US" dirty="0"/>
              <a:t>, it means that the consumer is willing to pay less for X than the price prevailing in the market. It induces the consumer to buys less of X and more of Y. As a result, MRS rises till it becomes equal to the ratio of prices and the equilibrium is established. </a:t>
            </a:r>
          </a:p>
          <a:p>
            <a:r>
              <a:rPr lang="en-US" b="1" dirty="0"/>
              <a:t>(ii) MRS continuously falls </a:t>
            </a:r>
            <a:endParaRPr lang="en-US" dirty="0"/>
          </a:p>
          <a:p>
            <a:r>
              <a:rPr lang="en-US" dirty="0"/>
              <a:t>The second condition for </a:t>
            </a:r>
            <a:r>
              <a:rPr lang="en-US" dirty="0" err="1"/>
              <a:t>consumer‟s</a:t>
            </a:r>
            <a:r>
              <a:rPr lang="en-US" dirty="0"/>
              <a:t> equilibrium is that MRS must be diminishing at the point of equilibrium, i.e. the indifference curve must be convex to the origin at the point of equilibrium. Unless MRS continuously falls, the equilibrium cannot be established. </a:t>
            </a:r>
          </a:p>
          <a:p>
            <a:r>
              <a:rPr lang="en-US" dirty="0"/>
              <a:t>Thus, both the conditions need to be fulfilled for a consumer to be in equilibrium. </a:t>
            </a:r>
          </a:p>
        </p:txBody>
      </p:sp>
    </p:spTree>
    <p:extLst>
      <p:ext uri="{BB962C8B-B14F-4D97-AF65-F5344CB8AC3E}">
        <p14:creationId xmlns:p14="http://schemas.microsoft.com/office/powerpoint/2010/main" val="13715403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5846"/>
          </a:xfrm>
        </p:spPr>
        <p:txBody>
          <a:bodyPr>
            <a:normAutofit fontScale="90000"/>
          </a:bodyPr>
          <a:lstStyle/>
          <a:p>
            <a:r>
              <a:rPr lang="en-US" b="1" dirty="0" smtClean="0"/>
              <a:t>Example </a:t>
            </a:r>
            <a:r>
              <a:rPr lang="en-US" dirty="0" smtClean="0"/>
              <a:t/>
            </a:r>
            <a:br>
              <a:rPr lang="en-US" dirty="0" smtClean="0"/>
            </a:br>
            <a:endParaRPr lang="en-US" dirty="0"/>
          </a:p>
        </p:txBody>
      </p:sp>
      <p:sp>
        <p:nvSpPr>
          <p:cNvPr id="3" name="Content Placeholder 2"/>
          <p:cNvSpPr>
            <a:spLocks noGrp="1"/>
          </p:cNvSpPr>
          <p:nvPr>
            <p:ph idx="1"/>
          </p:nvPr>
        </p:nvSpPr>
        <p:spPr>
          <a:xfrm>
            <a:off x="838200" y="1240972"/>
            <a:ext cx="10515600" cy="4935991"/>
          </a:xfrm>
        </p:spPr>
        <p:txBody>
          <a:bodyPr/>
          <a:lstStyle/>
          <a:p>
            <a:r>
              <a:rPr lang="en-US" dirty="0" smtClean="0"/>
              <a:t>The </a:t>
            </a:r>
            <a:r>
              <a:rPr lang="en-US" dirty="0"/>
              <a:t>table given below is an example of expenditure plan and the graph that follows is its presentation on graph. Given: Budget of the consumer is K10, Price of good X is K1 each and Price of good Y is K2 each. </a:t>
            </a:r>
            <a:endParaRPr lang="en-US" dirty="0" smtClean="0"/>
          </a:p>
          <a:p>
            <a:r>
              <a:rPr lang="en-US" dirty="0"/>
              <a:t>Combination 	Units of good Y (K2) 	Units of good X (K1) 	</a:t>
            </a:r>
          </a:p>
          <a:p>
            <a:pPr marL="0" indent="0">
              <a:buNone/>
            </a:pPr>
            <a:r>
              <a:rPr lang="en-US" dirty="0" smtClean="0"/>
              <a:t>	A </a:t>
            </a:r>
            <a:r>
              <a:rPr lang="en-US" dirty="0"/>
              <a:t>	</a:t>
            </a:r>
            <a:r>
              <a:rPr lang="en-US" dirty="0" smtClean="0"/>
              <a:t>		5 </a:t>
            </a:r>
            <a:r>
              <a:rPr lang="en-US" dirty="0"/>
              <a:t>	</a:t>
            </a:r>
            <a:r>
              <a:rPr lang="en-US" dirty="0" smtClean="0"/>
              <a:t>			0 </a:t>
            </a:r>
            <a:r>
              <a:rPr lang="en-US" dirty="0"/>
              <a:t>	</a:t>
            </a:r>
          </a:p>
          <a:p>
            <a:pPr marL="0" indent="0">
              <a:buNone/>
            </a:pPr>
            <a:r>
              <a:rPr lang="en-US" dirty="0" smtClean="0"/>
              <a:t>	C 		</a:t>
            </a:r>
            <a:r>
              <a:rPr lang="en-US" dirty="0"/>
              <a:t>	4.5 </a:t>
            </a:r>
            <a:r>
              <a:rPr lang="en-US" dirty="0" smtClean="0"/>
              <a:t>			</a:t>
            </a:r>
            <a:r>
              <a:rPr lang="en-US" dirty="0"/>
              <a:t>	1 	</a:t>
            </a:r>
          </a:p>
          <a:p>
            <a:pPr marL="0" indent="0">
              <a:buNone/>
            </a:pPr>
            <a:r>
              <a:rPr lang="en-US" dirty="0" smtClean="0"/>
              <a:t>	E </a:t>
            </a:r>
            <a:r>
              <a:rPr lang="en-US" dirty="0"/>
              <a:t>	</a:t>
            </a:r>
            <a:r>
              <a:rPr lang="en-US" dirty="0" smtClean="0"/>
              <a:t>		3 </a:t>
            </a:r>
            <a:r>
              <a:rPr lang="en-US" dirty="0"/>
              <a:t>	</a:t>
            </a:r>
            <a:r>
              <a:rPr lang="en-US" dirty="0" smtClean="0"/>
              <a:t>			4 </a:t>
            </a:r>
            <a:r>
              <a:rPr lang="en-US" dirty="0"/>
              <a:t>	</a:t>
            </a:r>
          </a:p>
          <a:p>
            <a:pPr marL="0" indent="0">
              <a:buNone/>
            </a:pPr>
            <a:r>
              <a:rPr lang="en-US" dirty="0" smtClean="0"/>
              <a:t>	D </a:t>
            </a:r>
            <a:r>
              <a:rPr lang="en-US" dirty="0"/>
              <a:t>	</a:t>
            </a:r>
            <a:r>
              <a:rPr lang="en-US" dirty="0" smtClean="0"/>
              <a:t>		1.5 </a:t>
            </a:r>
            <a:r>
              <a:rPr lang="en-US" dirty="0"/>
              <a:t>	</a:t>
            </a:r>
            <a:r>
              <a:rPr lang="en-US" dirty="0" smtClean="0"/>
              <a:t>			7 </a:t>
            </a:r>
            <a:r>
              <a:rPr lang="en-US" dirty="0"/>
              <a:t>	</a:t>
            </a:r>
          </a:p>
          <a:p>
            <a:pPr marL="0" indent="0">
              <a:buNone/>
            </a:pPr>
            <a:r>
              <a:rPr lang="en-US" dirty="0" smtClean="0"/>
              <a:t>	B 			0 </a:t>
            </a:r>
            <a:r>
              <a:rPr lang="en-US" dirty="0"/>
              <a:t>	</a:t>
            </a:r>
            <a:r>
              <a:rPr lang="en-US" dirty="0" smtClean="0"/>
              <a:t>			10 </a:t>
            </a:r>
            <a:r>
              <a:rPr lang="en-US" dirty="0"/>
              <a:t>	</a:t>
            </a:r>
          </a:p>
          <a:p>
            <a:endParaRPr lang="en-US" dirty="0"/>
          </a:p>
        </p:txBody>
      </p:sp>
    </p:spTree>
    <p:extLst>
      <p:ext uri="{BB962C8B-B14F-4D97-AF65-F5344CB8AC3E}">
        <p14:creationId xmlns:p14="http://schemas.microsoft.com/office/powerpoint/2010/main" val="33172684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4406"/>
          </a:xfrm>
        </p:spPr>
        <p:txBody>
          <a:bodyPr/>
          <a:lstStyle/>
          <a:p>
            <a:r>
              <a:rPr lang="en-US" b="1" dirty="0">
                <a:effectLst>
                  <a:outerShdw blurRad="38100" dist="38100" dir="2700000" algn="tl">
                    <a:srgbClr val="000000">
                      <a:alpha val="43137"/>
                    </a:srgbClr>
                  </a:outerShdw>
                </a:effectLst>
              </a:rPr>
              <a:t>P</a:t>
            </a:r>
            <a:r>
              <a:rPr lang="en-US" b="1" dirty="0" smtClean="0">
                <a:effectLst>
                  <a:outerShdw blurRad="38100" dist="38100" dir="2700000" algn="tl">
                    <a:srgbClr val="000000">
                      <a:alpha val="43137"/>
                    </a:srgbClr>
                  </a:outerShdw>
                </a:effectLst>
              </a:rPr>
              <a:t>resentation on graph</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endParaRPr lang="en-US" dirty="0" smtClean="0"/>
          </a:p>
          <a:p>
            <a:endParaRPr lang="en-US" dirty="0"/>
          </a:p>
          <a:p>
            <a:endParaRPr lang="en-US" dirty="0" smtClean="0"/>
          </a:p>
          <a:p>
            <a:endParaRPr lang="en-US" dirty="0"/>
          </a:p>
          <a:p>
            <a:endParaRPr lang="en-US" dirty="0" smtClean="0"/>
          </a:p>
          <a:p>
            <a:r>
              <a:rPr lang="en-US" dirty="0" smtClean="0"/>
              <a:t>In </a:t>
            </a:r>
            <a:r>
              <a:rPr lang="en-US" dirty="0"/>
              <a:t>the given diagram, we can see IC1, IC2 and IC3 are three different indifference curves and AB is a budget line. A consumer can only consume such combinations of goods which lie upon the budget line at a given income level and constant price of goods X and Y. </a:t>
            </a:r>
          </a:p>
        </p:txBody>
      </p:sp>
      <p:pic>
        <p:nvPicPr>
          <p:cNvPr id="5" name="Picture 4"/>
          <p:cNvPicPr>
            <a:picLocks noChangeAspect="1"/>
          </p:cNvPicPr>
          <p:nvPr/>
        </p:nvPicPr>
        <p:blipFill>
          <a:blip r:embed="rId2"/>
          <a:stretch>
            <a:fillRect/>
          </a:stretch>
        </p:blipFill>
        <p:spPr>
          <a:xfrm>
            <a:off x="1661160" y="1149531"/>
            <a:ext cx="8057606" cy="3135085"/>
          </a:xfrm>
          <a:prstGeom prst="rect">
            <a:avLst/>
          </a:prstGeom>
        </p:spPr>
      </p:pic>
    </p:spTree>
    <p:extLst>
      <p:ext uri="{BB962C8B-B14F-4D97-AF65-F5344CB8AC3E}">
        <p14:creationId xmlns:p14="http://schemas.microsoft.com/office/powerpoint/2010/main" val="25336734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Applications of elasticity in consumer behavior analysis</a:t>
            </a:r>
          </a:p>
        </p:txBody>
      </p:sp>
      <p:sp>
        <p:nvSpPr>
          <p:cNvPr id="3" name="Content Placeholder 2"/>
          <p:cNvSpPr>
            <a:spLocks noGrp="1"/>
          </p:cNvSpPr>
          <p:nvPr>
            <p:ph idx="1"/>
          </p:nvPr>
        </p:nvSpPr>
        <p:spPr>
          <a:xfrm>
            <a:off x="838200" y="1532964"/>
            <a:ext cx="10515600" cy="5177117"/>
          </a:xfrm>
        </p:spPr>
        <p:txBody>
          <a:bodyPr>
            <a:normAutofit fontScale="92500" lnSpcReduction="10000"/>
          </a:bodyPr>
          <a:lstStyle/>
          <a:p>
            <a:pPr marL="0" indent="0">
              <a:buNone/>
            </a:pPr>
            <a:r>
              <a:rPr lang="en-GB" dirty="0" smtClean="0"/>
              <a:t>1.Pricing Strategies</a:t>
            </a:r>
          </a:p>
          <a:p>
            <a:r>
              <a:rPr lang="en-GB" dirty="0" smtClean="0"/>
              <a:t> </a:t>
            </a:r>
            <a:r>
              <a:rPr lang="en-GB" dirty="0"/>
              <a:t>Businesses use PED to determine optimal prices for their products. If PED is high, a price increase will lead to a significant decrease in demand.</a:t>
            </a:r>
            <a:endParaRPr lang="en-US" dirty="0"/>
          </a:p>
          <a:p>
            <a:pPr marL="0" indent="0">
              <a:buNone/>
            </a:pPr>
            <a:r>
              <a:rPr lang="en-GB" dirty="0"/>
              <a:t>2. </a:t>
            </a:r>
            <a:r>
              <a:rPr lang="en-GB" dirty="0" smtClean="0"/>
              <a:t>Demand Forecasting</a:t>
            </a:r>
            <a:endParaRPr lang="en-GB" dirty="0"/>
          </a:p>
          <a:p>
            <a:r>
              <a:rPr lang="en-GB" dirty="0" smtClean="0"/>
              <a:t> </a:t>
            </a:r>
            <a:r>
              <a:rPr lang="en-GB" dirty="0"/>
              <a:t>Elasticity helps businesses predict how changes in price, income, or other factors will affect demand.</a:t>
            </a:r>
            <a:endParaRPr lang="en-US" dirty="0"/>
          </a:p>
          <a:p>
            <a:pPr marL="0" indent="0">
              <a:buNone/>
            </a:pPr>
            <a:r>
              <a:rPr lang="en-GB" dirty="0" smtClean="0"/>
              <a:t>3. Advertising </a:t>
            </a:r>
            <a:r>
              <a:rPr lang="en-GB" dirty="0"/>
              <a:t>and </a:t>
            </a:r>
            <a:r>
              <a:rPr lang="en-GB" dirty="0" smtClean="0"/>
              <a:t>Marketing</a:t>
            </a:r>
            <a:endParaRPr lang="en-GB" dirty="0"/>
          </a:p>
          <a:p>
            <a:r>
              <a:rPr lang="en-GB" dirty="0" smtClean="0"/>
              <a:t> </a:t>
            </a:r>
            <a:r>
              <a:rPr lang="en-GB" dirty="0"/>
              <a:t>By understanding the elasticity of demand, businesses can tailor their advertising and marketing efforts to specific consumer groups.</a:t>
            </a:r>
            <a:endParaRPr lang="en-US" dirty="0"/>
          </a:p>
          <a:p>
            <a:pPr marL="0" indent="0">
              <a:buNone/>
            </a:pPr>
            <a:r>
              <a:rPr lang="en-GB" dirty="0"/>
              <a:t>4. </a:t>
            </a:r>
            <a:r>
              <a:rPr lang="en-GB" dirty="0" smtClean="0"/>
              <a:t>Public Policy</a:t>
            </a:r>
          </a:p>
          <a:p>
            <a:r>
              <a:rPr lang="en-GB" dirty="0" smtClean="0"/>
              <a:t>Policymakers </a:t>
            </a:r>
            <a:r>
              <a:rPr lang="en-GB" dirty="0"/>
              <a:t>use elasticity to evaluate the impact of taxes, subsidies, and other policies on consumer </a:t>
            </a:r>
            <a:r>
              <a:rPr lang="en-GB" dirty="0" smtClean="0"/>
              <a:t>behaviour.</a:t>
            </a:r>
            <a:endParaRPr lang="en-US" dirty="0"/>
          </a:p>
          <a:p>
            <a:pPr marL="0" indent="0">
              <a:buNone/>
            </a:pPr>
            <a:endParaRPr lang="en-US" dirty="0"/>
          </a:p>
        </p:txBody>
      </p:sp>
    </p:spTree>
    <p:extLst>
      <p:ext uri="{BB962C8B-B14F-4D97-AF65-F5344CB8AC3E}">
        <p14:creationId xmlns:p14="http://schemas.microsoft.com/office/powerpoint/2010/main" val="11957249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Real-World Examples:</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GB" dirty="0" smtClean="0"/>
              <a:t>1</a:t>
            </a:r>
            <a:r>
              <a:rPr lang="en-GB" dirty="0"/>
              <a:t>. Tobacco Taxation</a:t>
            </a:r>
          </a:p>
          <a:p>
            <a:r>
              <a:rPr lang="en-GB" dirty="0"/>
              <a:t> Studies have shown that increasing tobacco taxes leads to a significant decrease in demand, particularly among low-income smokers (PED = -0.4) </a:t>
            </a:r>
            <a:endParaRPr lang="en-US" dirty="0"/>
          </a:p>
          <a:p>
            <a:r>
              <a:rPr lang="en-GB" dirty="0"/>
              <a:t>2. Electric Vehicle Adoption: Research has found that the demand for electric vehicles is highly elastic with respect to income (income elasticity = 2.5) </a:t>
            </a:r>
            <a:endParaRPr lang="en-US" dirty="0"/>
          </a:p>
          <a:p>
            <a:endParaRPr lang="en-US" dirty="0"/>
          </a:p>
        </p:txBody>
      </p:sp>
    </p:spTree>
    <p:extLst>
      <p:ext uri="{BB962C8B-B14F-4D97-AF65-F5344CB8AC3E}">
        <p14:creationId xmlns:p14="http://schemas.microsoft.com/office/powerpoint/2010/main" val="25249580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Revealed preference theory and consumer demand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pPr marL="0" indent="0">
              <a:buNone/>
            </a:pPr>
            <a:r>
              <a:rPr lang="en-GB" dirty="0"/>
              <a:t>This theory, developed by Paul Samuelson, states that a consumer's preferences can be revealed through their purchasing decisions. By observing a consumer's choices, we can infer their preferences</a:t>
            </a:r>
            <a:r>
              <a:rPr lang="en-GB" dirty="0" smtClean="0"/>
              <a:t>.</a:t>
            </a:r>
            <a:endParaRPr lang="en-US" dirty="0"/>
          </a:p>
          <a:p>
            <a:pPr marL="0" indent="0">
              <a:buNone/>
            </a:pPr>
            <a:r>
              <a:rPr lang="en-GB" b="1" dirty="0"/>
              <a:t>Key </a:t>
            </a:r>
            <a:r>
              <a:rPr lang="en-GB" b="1" dirty="0" smtClean="0"/>
              <a:t>Assumptions</a:t>
            </a:r>
            <a:endParaRPr lang="en-US" b="1" dirty="0"/>
          </a:p>
          <a:p>
            <a:pPr marL="514350" indent="-514350">
              <a:buAutoNum type="arabicPeriod"/>
            </a:pPr>
            <a:r>
              <a:rPr lang="en-GB" dirty="0" smtClean="0"/>
              <a:t>Consistency</a:t>
            </a:r>
          </a:p>
          <a:p>
            <a:r>
              <a:rPr lang="en-GB" dirty="0" smtClean="0"/>
              <a:t> </a:t>
            </a:r>
            <a:r>
              <a:rPr lang="en-GB" dirty="0"/>
              <a:t>Consumers make consistent choices.</a:t>
            </a:r>
            <a:endParaRPr lang="en-US" dirty="0"/>
          </a:p>
          <a:p>
            <a:pPr marL="0" indent="0">
              <a:buNone/>
            </a:pPr>
            <a:r>
              <a:rPr lang="en-GB" dirty="0"/>
              <a:t>2. </a:t>
            </a:r>
            <a:r>
              <a:rPr lang="en-GB" dirty="0" smtClean="0"/>
              <a:t>Rationality</a:t>
            </a:r>
          </a:p>
          <a:p>
            <a:r>
              <a:rPr lang="en-GB" dirty="0" smtClean="0"/>
              <a:t>Consumers </a:t>
            </a:r>
            <a:r>
              <a:rPr lang="en-GB" dirty="0"/>
              <a:t>make rational decisions based on their preferences.</a:t>
            </a:r>
            <a:endParaRPr lang="en-US" dirty="0"/>
          </a:p>
          <a:p>
            <a:pPr marL="0" indent="0">
              <a:buNone/>
            </a:pPr>
            <a:r>
              <a:rPr lang="en-GB" dirty="0"/>
              <a:t>3. </a:t>
            </a:r>
            <a:r>
              <a:rPr lang="en-GB" dirty="0" smtClean="0"/>
              <a:t>Transitivity</a:t>
            </a:r>
          </a:p>
          <a:p>
            <a:r>
              <a:rPr lang="en-GB" dirty="0" smtClean="0"/>
              <a:t> </a:t>
            </a:r>
            <a:r>
              <a:rPr lang="en-GB" dirty="0"/>
              <a:t>If a consumer prefers A over B and B over C, they will prefer A over </a:t>
            </a:r>
            <a:endParaRPr lang="en-US" dirty="0"/>
          </a:p>
        </p:txBody>
      </p:sp>
    </p:spTree>
    <p:extLst>
      <p:ext uri="{BB962C8B-B14F-4D97-AF65-F5344CB8AC3E}">
        <p14:creationId xmlns:p14="http://schemas.microsoft.com/office/powerpoint/2010/main" val="1623199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Revealed Preference and Demand</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825625"/>
            <a:ext cx="10515600" cy="4897904"/>
          </a:xfrm>
        </p:spPr>
        <p:txBody>
          <a:bodyPr>
            <a:normAutofit fontScale="70000" lnSpcReduction="20000"/>
          </a:bodyPr>
          <a:lstStyle/>
          <a:p>
            <a:r>
              <a:rPr lang="en-GB" dirty="0" smtClean="0"/>
              <a:t>By analysing </a:t>
            </a:r>
            <a:r>
              <a:rPr lang="en-GB" dirty="0"/>
              <a:t>a consumer's revealed preferences, we can:</a:t>
            </a:r>
            <a:endParaRPr lang="en-US" dirty="0"/>
          </a:p>
          <a:p>
            <a:pPr marL="0" indent="0">
              <a:buNone/>
            </a:pPr>
            <a:r>
              <a:rPr lang="en-GB" b="1" dirty="0" smtClean="0">
                <a:solidFill>
                  <a:srgbClr val="FF0000"/>
                </a:solidFill>
              </a:rPr>
              <a:t>1</a:t>
            </a:r>
            <a:r>
              <a:rPr lang="en-GB" b="1" dirty="0">
                <a:solidFill>
                  <a:srgbClr val="FF0000"/>
                </a:solidFill>
              </a:rPr>
              <a:t>. </a:t>
            </a:r>
            <a:r>
              <a:rPr lang="en-GB" b="1" dirty="0" smtClean="0">
                <a:solidFill>
                  <a:srgbClr val="FF0000"/>
                </a:solidFill>
              </a:rPr>
              <a:t>Derive </a:t>
            </a:r>
            <a:r>
              <a:rPr lang="en-GB" b="1" dirty="0">
                <a:solidFill>
                  <a:srgbClr val="FF0000"/>
                </a:solidFill>
              </a:rPr>
              <a:t>Demand </a:t>
            </a:r>
            <a:r>
              <a:rPr lang="en-GB" b="1" dirty="0" smtClean="0">
                <a:solidFill>
                  <a:srgbClr val="FF0000"/>
                </a:solidFill>
              </a:rPr>
              <a:t>Curve</a:t>
            </a:r>
            <a:endParaRPr lang="en-GB" b="1" dirty="0">
              <a:solidFill>
                <a:srgbClr val="FF0000"/>
              </a:solidFill>
            </a:endParaRPr>
          </a:p>
          <a:p>
            <a:r>
              <a:rPr lang="en-GB" dirty="0" smtClean="0"/>
              <a:t> </a:t>
            </a:r>
            <a:r>
              <a:rPr lang="en-GB" dirty="0"/>
              <a:t>Plot the consumer's choices to derive their demand curve.</a:t>
            </a:r>
            <a:endParaRPr lang="en-US" dirty="0"/>
          </a:p>
          <a:p>
            <a:pPr marL="0" indent="0">
              <a:buNone/>
            </a:pPr>
            <a:r>
              <a:rPr lang="en-GB" dirty="0">
                <a:solidFill>
                  <a:srgbClr val="FF0000"/>
                </a:solidFill>
              </a:rPr>
              <a:t>2</a:t>
            </a:r>
            <a:r>
              <a:rPr lang="en-GB" b="1" dirty="0">
                <a:solidFill>
                  <a:srgbClr val="FF0000"/>
                </a:solidFill>
              </a:rPr>
              <a:t>. </a:t>
            </a:r>
            <a:r>
              <a:rPr lang="en-GB" b="1" dirty="0" smtClean="0">
                <a:solidFill>
                  <a:srgbClr val="FF0000"/>
                </a:solidFill>
              </a:rPr>
              <a:t>Analyse </a:t>
            </a:r>
            <a:r>
              <a:rPr lang="en-GB" b="1" dirty="0">
                <a:solidFill>
                  <a:srgbClr val="FF0000"/>
                </a:solidFill>
              </a:rPr>
              <a:t>Demand </a:t>
            </a:r>
            <a:r>
              <a:rPr lang="en-GB" b="1" dirty="0" smtClean="0">
                <a:solidFill>
                  <a:srgbClr val="FF0000"/>
                </a:solidFill>
              </a:rPr>
              <a:t>Elasticity</a:t>
            </a:r>
          </a:p>
          <a:p>
            <a:r>
              <a:rPr lang="en-GB" dirty="0" smtClean="0"/>
              <a:t> </a:t>
            </a:r>
            <a:r>
              <a:rPr lang="en-GB" dirty="0"/>
              <a:t>Measure how responsive demand is to changes in price or other factors.</a:t>
            </a:r>
            <a:endParaRPr lang="en-US" dirty="0"/>
          </a:p>
          <a:p>
            <a:pPr marL="0" indent="0">
              <a:buNone/>
            </a:pPr>
            <a:r>
              <a:rPr lang="en-GB" b="1" dirty="0">
                <a:solidFill>
                  <a:srgbClr val="FF0000"/>
                </a:solidFill>
              </a:rPr>
              <a:t>3. </a:t>
            </a:r>
            <a:r>
              <a:rPr lang="en-GB" b="1" dirty="0" smtClean="0">
                <a:solidFill>
                  <a:srgbClr val="FF0000"/>
                </a:solidFill>
              </a:rPr>
              <a:t>Understand </a:t>
            </a:r>
            <a:r>
              <a:rPr lang="en-GB" b="1" dirty="0">
                <a:solidFill>
                  <a:srgbClr val="FF0000"/>
                </a:solidFill>
              </a:rPr>
              <a:t>Consumer </a:t>
            </a:r>
            <a:r>
              <a:rPr lang="en-GB" b="1" dirty="0" smtClean="0">
                <a:solidFill>
                  <a:srgbClr val="FF0000"/>
                </a:solidFill>
              </a:rPr>
              <a:t>Behaviour</a:t>
            </a:r>
          </a:p>
          <a:p>
            <a:r>
              <a:rPr lang="en-GB" dirty="0" smtClean="0"/>
              <a:t> </a:t>
            </a:r>
            <a:r>
              <a:rPr lang="en-GB" dirty="0"/>
              <a:t>Gain insights into consumer preferences and decision-making processes</a:t>
            </a:r>
            <a:r>
              <a:rPr lang="en-GB" dirty="0" smtClean="0"/>
              <a:t>.</a:t>
            </a:r>
            <a:endParaRPr lang="en-US" dirty="0"/>
          </a:p>
          <a:p>
            <a:r>
              <a:rPr lang="en-GB" dirty="0" smtClean="0"/>
              <a:t>Example: Suppose </a:t>
            </a:r>
            <a:r>
              <a:rPr lang="en-GB" dirty="0"/>
              <a:t>we observe a consumer's purchases:</a:t>
            </a:r>
            <a:endParaRPr lang="en-US" dirty="0"/>
          </a:p>
          <a:p>
            <a:r>
              <a:rPr lang="en-GB" b="1" dirty="0"/>
              <a:t>Price	Quantity Demanded</a:t>
            </a:r>
            <a:endParaRPr lang="en-US" b="1" dirty="0"/>
          </a:p>
          <a:p>
            <a:r>
              <a:rPr lang="en-GB" b="1" dirty="0"/>
              <a:t>$10	2 units</a:t>
            </a:r>
            <a:endParaRPr lang="en-US" b="1" dirty="0"/>
          </a:p>
          <a:p>
            <a:r>
              <a:rPr lang="en-GB" b="1" dirty="0"/>
              <a:t>$8	3 units</a:t>
            </a:r>
            <a:endParaRPr lang="en-US" b="1" dirty="0"/>
          </a:p>
          <a:p>
            <a:r>
              <a:rPr lang="en-GB" b="1" dirty="0"/>
              <a:t>$12	1 unit</a:t>
            </a:r>
            <a:endParaRPr lang="en-US" b="1" dirty="0"/>
          </a:p>
          <a:p>
            <a:r>
              <a:rPr lang="en-GB" dirty="0"/>
              <a:t>By </a:t>
            </a:r>
            <a:r>
              <a:rPr lang="en-GB" dirty="0" smtClean="0"/>
              <a:t>analysing </a:t>
            </a:r>
            <a:r>
              <a:rPr lang="en-GB" dirty="0"/>
              <a:t>these choices, we can derive the consumer's demand curve and understand their </a:t>
            </a:r>
            <a:r>
              <a:rPr lang="en-GB" dirty="0" smtClean="0"/>
              <a:t>preferences and </a:t>
            </a:r>
            <a:r>
              <a:rPr lang="en-GB" dirty="0"/>
              <a:t>decision-making processes</a:t>
            </a:r>
            <a:endParaRPr lang="en-US" dirty="0"/>
          </a:p>
          <a:p>
            <a:pPr marL="0" indent="0">
              <a:buNone/>
            </a:pPr>
            <a:endParaRPr lang="en-US" dirty="0"/>
          </a:p>
          <a:p>
            <a:endParaRPr lang="en-US" dirty="0"/>
          </a:p>
        </p:txBody>
      </p:sp>
    </p:spTree>
    <p:extLst>
      <p:ext uri="{BB962C8B-B14F-4D97-AF65-F5344CB8AC3E}">
        <p14:creationId xmlns:p14="http://schemas.microsoft.com/office/powerpoint/2010/main" val="26527181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1161"/>
          </a:xfrm>
        </p:spPr>
        <p:txBody>
          <a:bodyPr>
            <a:normAutofit fontScale="90000"/>
          </a:bodyPr>
          <a:lstStyle/>
          <a:p>
            <a:r>
              <a:rPr lang="en-GB" b="1" dirty="0">
                <a:effectLst>
                  <a:outerShdw blurRad="38100" dist="38100" dir="2700000" algn="tl">
                    <a:srgbClr val="000000">
                      <a:alpha val="43137"/>
                    </a:srgbClr>
                  </a:outerShdw>
                </a:effectLst>
              </a:rPr>
              <a:t>Demand </a:t>
            </a:r>
            <a:r>
              <a:rPr lang="en-GB" b="1" dirty="0" smtClean="0">
                <a:effectLst>
                  <a:outerShdw blurRad="38100" dist="38100" dir="2700000" algn="tl">
                    <a:srgbClr val="000000">
                      <a:alpha val="43137"/>
                    </a:srgbClr>
                  </a:outerShdw>
                </a:effectLst>
              </a:rPr>
              <a:t>Curve</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306286"/>
            <a:ext cx="10515600" cy="5277394"/>
          </a:xfrm>
        </p:spPr>
        <p:txBody>
          <a:bodyPr>
            <a:normAutofit fontScale="85000" lnSpcReduction="10000"/>
          </a:bodyPr>
          <a:lstStyle/>
          <a:p>
            <a:r>
              <a:rPr lang="en-GB" dirty="0" smtClean="0"/>
              <a:t>Plotting </a:t>
            </a:r>
            <a:r>
              <a:rPr lang="en-GB" dirty="0"/>
              <a:t>the data points on a graph, we can derive the demand curve</a:t>
            </a:r>
            <a:r>
              <a:rPr lang="en-GB" dirty="0" smtClean="0"/>
              <a:t>:</a:t>
            </a:r>
            <a:endParaRPr lang="en-US" dirty="0"/>
          </a:p>
          <a:p>
            <a:r>
              <a:rPr lang="en-GB" dirty="0"/>
              <a:t>The demand curve shows the inverse relationship between price and quantity demanded. As the price increases, the quantity demanded decreases</a:t>
            </a:r>
            <a:r>
              <a:rPr lang="en-GB" dirty="0" smtClean="0"/>
              <a:t>.</a:t>
            </a:r>
            <a:endParaRPr lang="en-US" dirty="0"/>
          </a:p>
          <a:p>
            <a:r>
              <a:rPr lang="en-GB" dirty="0"/>
              <a:t>Preference and Decision Making:</a:t>
            </a:r>
            <a:endParaRPr lang="en-US" dirty="0"/>
          </a:p>
          <a:p>
            <a:r>
              <a:rPr lang="en-GB" dirty="0"/>
              <a:t>Based on the demand curve, we can infer the consumer's preferences and decision-making process</a:t>
            </a:r>
            <a:r>
              <a:rPr lang="en-GB" dirty="0" smtClean="0"/>
              <a:t>:</a:t>
            </a:r>
            <a:endParaRPr lang="en-US" dirty="0"/>
          </a:p>
          <a:p>
            <a:r>
              <a:rPr lang="en-GB" dirty="0" smtClean="0"/>
              <a:t>Diminishing </a:t>
            </a:r>
            <a:r>
              <a:rPr lang="en-GB" dirty="0"/>
              <a:t>Marginal </a:t>
            </a:r>
            <a:r>
              <a:rPr lang="en-GB" dirty="0" smtClean="0"/>
              <a:t>Utility: </a:t>
            </a:r>
            <a:r>
              <a:rPr lang="en-GB" dirty="0"/>
              <a:t>The consumer's marginal utility decreases as they consume more units. This is evident from the decreasing quantity demanded as the price increases.</a:t>
            </a:r>
            <a:endParaRPr lang="en-US" dirty="0"/>
          </a:p>
          <a:p>
            <a:r>
              <a:rPr lang="en-GB" dirty="0" smtClean="0"/>
              <a:t>Rational Choice: </a:t>
            </a:r>
            <a:r>
              <a:rPr lang="en-GB" dirty="0"/>
              <a:t>The consumer makes rational choices by purchasing more units when the price is lower ($8) and fewer units when the price is higher ($12).</a:t>
            </a:r>
            <a:endParaRPr lang="en-US" dirty="0"/>
          </a:p>
          <a:p>
            <a:r>
              <a:rPr lang="en-GB" dirty="0" smtClean="0"/>
              <a:t>Budget Constraint: </a:t>
            </a:r>
            <a:r>
              <a:rPr lang="en-GB" dirty="0"/>
              <a:t>The consumer's budget constraint is evident from the fact that they purchase more units at a lower price and fewer units at a higher price</a:t>
            </a:r>
            <a:r>
              <a:rPr lang="en-GB" dirty="0" smtClean="0"/>
              <a:t>.</a:t>
            </a:r>
            <a:endParaRPr lang="en-US" dirty="0"/>
          </a:p>
        </p:txBody>
      </p:sp>
    </p:spTree>
    <p:extLst>
      <p:ext uri="{BB962C8B-B14F-4D97-AF65-F5344CB8AC3E}">
        <p14:creationId xmlns:p14="http://schemas.microsoft.com/office/powerpoint/2010/main" val="15652984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4224"/>
          </a:xfrm>
        </p:spPr>
        <p:txBody>
          <a:bodyPr>
            <a:normAutofit fontScale="90000"/>
          </a:bodyPr>
          <a:lstStyle/>
          <a:p>
            <a:r>
              <a:rPr lang="en-GB" b="1" dirty="0">
                <a:effectLst>
                  <a:outerShdw blurRad="38100" dist="38100" dir="2700000" algn="tl">
                    <a:srgbClr val="000000">
                      <a:alpha val="43137"/>
                    </a:srgbClr>
                  </a:outerShdw>
                </a:effectLst>
              </a:rPr>
              <a:t>Indifference Curve Analysis:</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227909"/>
            <a:ext cx="10515600" cy="5277394"/>
          </a:xfrm>
        </p:spPr>
        <p:txBody>
          <a:bodyPr>
            <a:normAutofit/>
          </a:bodyPr>
          <a:lstStyle/>
          <a:p>
            <a:r>
              <a:rPr lang="en-GB" dirty="0" smtClean="0"/>
              <a:t>To </a:t>
            </a:r>
            <a:r>
              <a:rPr lang="en-GB" dirty="0"/>
              <a:t>further </a:t>
            </a:r>
            <a:r>
              <a:rPr lang="en-GB" dirty="0" smtClean="0"/>
              <a:t>analyse </a:t>
            </a:r>
            <a:r>
              <a:rPr lang="en-GB" dirty="0"/>
              <a:t>the consumer's preferences, we can draw indifference curves. Indifference curves represent the consumer's willingness to trade off one good for another</a:t>
            </a:r>
            <a:r>
              <a:rPr lang="en-GB" dirty="0" smtClean="0"/>
              <a:t>.</a:t>
            </a:r>
            <a:endParaRPr lang="en-US" dirty="0"/>
          </a:p>
          <a:p>
            <a:r>
              <a:rPr lang="en-GB" dirty="0"/>
              <a:t>Assuming the consumer's income is </a:t>
            </a:r>
            <a:r>
              <a:rPr lang="en-GB" dirty="0" smtClean="0"/>
              <a:t>$32 </a:t>
            </a:r>
            <a:r>
              <a:rPr lang="en-GB" dirty="0"/>
              <a:t>(2 units * $10 + 1 unit * $12), we can draw the following indifference curves</a:t>
            </a:r>
            <a:r>
              <a:rPr lang="en-GB" dirty="0" smtClean="0"/>
              <a:t>:</a:t>
            </a:r>
            <a:endParaRPr lang="en-US" dirty="0"/>
          </a:p>
          <a:p>
            <a:r>
              <a:rPr lang="en-GB" dirty="0"/>
              <a:t>The indifference curves show the consumer's willingness to trade off units of the good for other goods or services</a:t>
            </a:r>
            <a:r>
              <a:rPr lang="en-GB" dirty="0" smtClean="0"/>
              <a:t>.</a:t>
            </a:r>
            <a:endParaRPr lang="en-US" dirty="0"/>
          </a:p>
          <a:p>
            <a:r>
              <a:rPr lang="en-US" dirty="0" smtClean="0"/>
              <a:t>Therefore,</a:t>
            </a:r>
            <a:endParaRPr lang="en-US" dirty="0"/>
          </a:p>
          <a:p>
            <a:r>
              <a:rPr lang="en-GB" dirty="0"/>
              <a:t>By </a:t>
            </a:r>
            <a:r>
              <a:rPr lang="en-GB" dirty="0" smtClean="0"/>
              <a:t>analysing </a:t>
            </a:r>
            <a:r>
              <a:rPr lang="en-GB" dirty="0"/>
              <a:t>the demand curve and indifference curves, we can understand the consumer's preferences and decision-making process. The consumer makes rational choices based on their budget constraint and diminishing marginal utility</a:t>
            </a:r>
            <a:endParaRPr lang="en-US" dirty="0"/>
          </a:p>
          <a:p>
            <a:endParaRPr lang="en-US" dirty="0"/>
          </a:p>
        </p:txBody>
      </p:sp>
    </p:spTree>
    <p:extLst>
      <p:ext uri="{BB962C8B-B14F-4D97-AF65-F5344CB8AC3E}">
        <p14:creationId xmlns:p14="http://schemas.microsoft.com/office/powerpoint/2010/main" val="19519762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Behavioral economics insights into consumer decision-making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92624"/>
            <a:ext cx="10515600" cy="5204011"/>
          </a:xfrm>
        </p:spPr>
        <p:txBody>
          <a:bodyPr>
            <a:noAutofit/>
          </a:bodyPr>
          <a:lstStyle/>
          <a:p>
            <a:r>
              <a:rPr lang="en-US" dirty="0" smtClean="0"/>
              <a:t>A </a:t>
            </a:r>
            <a:r>
              <a:rPr lang="en-US" dirty="0"/>
              <a:t>vital area of study that connects conventional economic theory with the psychological facts of human decision-making is behavioral economics. </a:t>
            </a:r>
            <a:endParaRPr lang="en-US" dirty="0" smtClean="0"/>
          </a:p>
          <a:p>
            <a:r>
              <a:rPr lang="en-US" dirty="0" smtClean="0"/>
              <a:t>Behavioral </a:t>
            </a:r>
            <a:r>
              <a:rPr lang="en-US" dirty="0"/>
              <a:t>economics acknowledges that real-world decision-making is frequently influenced by </a:t>
            </a:r>
            <a:endParaRPr lang="en-US" dirty="0" smtClean="0"/>
          </a:p>
          <a:p>
            <a:r>
              <a:rPr lang="en-US" b="1" dirty="0" smtClean="0"/>
              <a:t>Cognitive biases, emotions, and social influences</a:t>
            </a:r>
            <a:r>
              <a:rPr lang="en-US" dirty="0" smtClean="0"/>
              <a:t>. </a:t>
            </a:r>
          </a:p>
          <a:p>
            <a:r>
              <a:rPr lang="en-US" dirty="0" smtClean="0"/>
              <a:t>This </a:t>
            </a:r>
            <a:r>
              <a:rPr lang="en-US" dirty="0"/>
              <a:t>is in contrast to classical </a:t>
            </a:r>
            <a:r>
              <a:rPr lang="en-US" dirty="0" smtClean="0"/>
              <a:t>economics</a:t>
            </a:r>
            <a:r>
              <a:rPr lang="en-US" dirty="0"/>
              <a:t>, which holds that consumers are perfectly rational actors who make decisions based only on objective utility maximization. </a:t>
            </a:r>
            <a:endParaRPr lang="en-US" dirty="0" smtClean="0"/>
          </a:p>
          <a:p>
            <a:r>
              <a:rPr lang="en-US" dirty="0" smtClean="0"/>
              <a:t>Understanding </a:t>
            </a:r>
            <a:r>
              <a:rPr lang="en-US" dirty="0"/>
              <a:t>consumer behavior from this perspective is crucial because it shows that decisions are not always made in the most rational or cost-effective ways. </a:t>
            </a:r>
            <a:endParaRPr lang="en-US" sz="2000" dirty="0"/>
          </a:p>
        </p:txBody>
      </p:sp>
    </p:spTree>
    <p:extLst>
      <p:ext uri="{BB962C8B-B14F-4D97-AF65-F5344CB8AC3E}">
        <p14:creationId xmlns:p14="http://schemas.microsoft.com/office/powerpoint/2010/main" val="34419012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effectLst>
                  <a:outerShdw blurRad="38100" dist="38100" dir="2700000" algn="tl">
                    <a:srgbClr val="000000">
                      <a:alpha val="43137"/>
                    </a:srgbClr>
                  </a:outerShdw>
                </a:effectLst>
              </a:rPr>
              <a:t>1. Cognitive </a:t>
            </a:r>
            <a:r>
              <a:rPr lang="en-US" b="1" i="1" dirty="0">
                <a:effectLst>
                  <a:outerShdw blurRad="38100" dist="38100" dir="2700000" algn="tl">
                    <a:srgbClr val="000000">
                      <a:alpha val="43137"/>
                    </a:srgbClr>
                  </a:outerShdw>
                </a:effectLst>
              </a:rPr>
              <a:t>Biases in the Making of Consumer Decisions </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US" dirty="0" smtClean="0"/>
              <a:t>Cognitive </a:t>
            </a:r>
            <a:r>
              <a:rPr lang="en-US" dirty="0"/>
              <a:t>biases are regular patterns of judgmental deviance from rationality that frequently result in consumers making less-than-ideal choices. These biases influence how consumers perceive information and make </a:t>
            </a:r>
            <a:r>
              <a:rPr lang="en-US" dirty="0" smtClean="0"/>
              <a:t>decisions</a:t>
            </a:r>
            <a:r>
              <a:rPr lang="en-US" dirty="0"/>
              <a:t>. </a:t>
            </a:r>
            <a:endParaRPr lang="en-US" dirty="0" smtClean="0"/>
          </a:p>
          <a:p>
            <a:r>
              <a:rPr lang="en-US" b="1" i="1" dirty="0" smtClean="0"/>
              <a:t>2. How </a:t>
            </a:r>
            <a:r>
              <a:rPr lang="en-US" b="1" i="1" dirty="0"/>
              <a:t>Emotions Affect Consumer Decisions </a:t>
            </a:r>
            <a:endParaRPr lang="en-US" b="1" dirty="0"/>
          </a:p>
          <a:p>
            <a:r>
              <a:rPr lang="en-US" dirty="0"/>
              <a:t>Consumer decision-making is heavily influenced by emotions, which can lead to decisions that contradict logical economic models. Behavioral economics recognizes the impact of emotions like fear, happiness, and regret in decision-making, in contrast to classic economic theories that presume decisions are made only on the basis of logic </a:t>
            </a:r>
          </a:p>
        </p:txBody>
      </p:sp>
    </p:spTree>
    <p:extLst>
      <p:ext uri="{BB962C8B-B14F-4D97-AF65-F5344CB8AC3E}">
        <p14:creationId xmlns:p14="http://schemas.microsoft.com/office/powerpoint/2010/main" val="23026273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smtClean="0">
                <a:effectLst>
                  <a:outerShdw blurRad="38100" dist="38100" dir="2700000" algn="tl">
                    <a:srgbClr val="000000">
                      <a:alpha val="43137"/>
                    </a:srgbClr>
                  </a:outerShdw>
                </a:effectLst>
              </a:rPr>
              <a:t>3. Consumer </a:t>
            </a:r>
            <a:r>
              <a:rPr lang="en-US" i="1" dirty="0">
                <a:effectLst>
                  <a:outerShdw blurRad="38100" dist="38100" dir="2700000" algn="tl">
                    <a:srgbClr val="000000">
                      <a:alpha val="43137"/>
                    </a:srgbClr>
                  </a:outerShdw>
                </a:effectLst>
              </a:rPr>
              <a:t>Behavior and the Effects of Framing </a:t>
            </a:r>
            <a:r>
              <a:rPr lang="en-US" dirty="0">
                <a:effectLst>
                  <a:outerShdw blurRad="38100" dist="38100" dir="2700000" algn="tl">
                    <a:srgbClr val="000000">
                      <a:alpha val="43137"/>
                    </a:srgbClr>
                  </a:outerShdw>
                </a:effectLst>
              </a:rPr>
              <a:t/>
            </a:r>
            <a:br>
              <a:rPr lang="en-US" dirty="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a:bodyPr>
          <a:lstStyle/>
          <a:p>
            <a:r>
              <a:rPr lang="en-US" dirty="0" smtClean="0"/>
              <a:t>The </a:t>
            </a:r>
            <a:r>
              <a:rPr lang="en-US" dirty="0"/>
              <a:t>phenomenon known as "framing effects" describes how the presentation of information affects the choices that people make. When two products have the same ingredients, but one is labeled "90% fat-free" and the other "10% fat," for instance, customers could react to them differently. This effect serves as an example of how minor adjustments to presentation can have a big impact on decisions and perceptions. </a:t>
            </a:r>
            <a:endParaRPr lang="en-US" dirty="0" smtClean="0"/>
          </a:p>
          <a:p>
            <a:pPr marL="0" indent="0">
              <a:buNone/>
            </a:pPr>
            <a:r>
              <a:rPr lang="en-US" b="1" i="1" dirty="0" smtClean="0"/>
              <a:t>4. Social </a:t>
            </a:r>
            <a:r>
              <a:rPr lang="en-US" b="1" i="1" dirty="0"/>
              <a:t>Factors Affecting Consumer Choice </a:t>
            </a:r>
            <a:endParaRPr lang="en-US" b="1" dirty="0"/>
          </a:p>
          <a:p>
            <a:r>
              <a:rPr lang="en-US" dirty="0"/>
              <a:t>Peer pressure, cultural standards, and other social variables are important in determining how consumers behave. When making judgments, people frequently turn to one another, particularly in ambiguous circumstances. This can result in phenomena like conformity or herd behavior. </a:t>
            </a:r>
          </a:p>
        </p:txBody>
      </p:sp>
    </p:spTree>
    <p:extLst>
      <p:ext uri="{BB962C8B-B14F-4D97-AF65-F5344CB8AC3E}">
        <p14:creationId xmlns:p14="http://schemas.microsoft.com/office/powerpoint/2010/main" val="35823487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smtClean="0">
                <a:effectLst>
                  <a:outerShdw blurRad="38100" dist="38100" dir="2700000" algn="tl">
                    <a:srgbClr val="000000">
                      <a:alpha val="43137"/>
                    </a:srgbClr>
                  </a:outerShdw>
                </a:effectLst>
              </a:rPr>
              <a:t>5. Consequences </a:t>
            </a:r>
            <a:r>
              <a:rPr lang="en-US" b="1" i="1" dirty="0">
                <a:effectLst>
                  <a:outerShdw blurRad="38100" dist="38100" dir="2700000" algn="tl">
                    <a:srgbClr val="000000">
                      <a:alpha val="43137"/>
                    </a:srgbClr>
                  </a:outerShdw>
                </a:effectLst>
              </a:rPr>
              <a:t>for Policy Design and Marketing </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Designing </a:t>
            </a:r>
            <a:r>
              <a:rPr lang="en-US" dirty="0"/>
              <a:t>policies and marketing tactics will be significantly impacted by the insights gleaned from behavioral economics. </a:t>
            </a:r>
            <a:endParaRPr lang="en-US" dirty="0" smtClean="0"/>
          </a:p>
          <a:p>
            <a:r>
              <a:rPr lang="en-US" dirty="0" smtClean="0"/>
              <a:t>By </a:t>
            </a:r>
            <a:r>
              <a:rPr lang="en-US" dirty="0"/>
              <a:t>presenting products in ways that play on consumer prejudices or exploiting loss aversion to induce timely purchases, marketers can create more effective campaigns that appeal to consumers' psychological proclivities. </a:t>
            </a:r>
            <a:endParaRPr lang="en-US" dirty="0" smtClean="0"/>
          </a:p>
          <a:p>
            <a:r>
              <a:rPr lang="en-US" dirty="0" smtClean="0"/>
              <a:t>Similarly</a:t>
            </a:r>
            <a:r>
              <a:rPr lang="en-US" dirty="0"/>
              <a:t>, by utilizing behavioral insights, governments can create programs that encourage consumers to make healthier or more environmentally friendly decisions. </a:t>
            </a:r>
          </a:p>
        </p:txBody>
      </p:sp>
    </p:spTree>
    <p:extLst>
      <p:ext uri="{BB962C8B-B14F-4D97-AF65-F5344CB8AC3E}">
        <p14:creationId xmlns:p14="http://schemas.microsoft.com/office/powerpoint/2010/main" val="10269008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Ethical considerations in advertising and consumer choices</a:t>
            </a:r>
          </a:p>
        </p:txBody>
      </p:sp>
      <p:sp>
        <p:nvSpPr>
          <p:cNvPr id="3" name="Content Placeholder 2"/>
          <p:cNvSpPr>
            <a:spLocks noGrp="1"/>
          </p:cNvSpPr>
          <p:nvPr>
            <p:ph idx="1"/>
          </p:nvPr>
        </p:nvSpPr>
        <p:spPr/>
        <p:txBody>
          <a:bodyPr>
            <a:normAutofit lnSpcReduction="10000"/>
          </a:bodyPr>
          <a:lstStyle/>
          <a:p>
            <a:pPr marL="514350" indent="-514350">
              <a:buAutoNum type="arabicPeriod"/>
            </a:pPr>
            <a:r>
              <a:rPr lang="en-GB" b="1" dirty="0">
                <a:solidFill>
                  <a:srgbClr val="FF0000"/>
                </a:solidFill>
              </a:rPr>
              <a:t>Deception</a:t>
            </a:r>
          </a:p>
          <a:p>
            <a:r>
              <a:rPr lang="en-GB" dirty="0"/>
              <a:t>Misleading or false claims about a product or service.</a:t>
            </a:r>
            <a:endParaRPr lang="en-US" dirty="0"/>
          </a:p>
          <a:p>
            <a:pPr marL="0" indent="0">
              <a:buNone/>
            </a:pPr>
            <a:r>
              <a:rPr lang="en-GB" b="1" dirty="0">
                <a:solidFill>
                  <a:srgbClr val="FF0000"/>
                </a:solidFill>
              </a:rPr>
              <a:t>2. Manipulation </a:t>
            </a:r>
          </a:p>
          <a:p>
            <a:r>
              <a:rPr lang="en-GB" dirty="0"/>
              <a:t>Using persuasive tactics to exploit consumers' emotions or vulnerabilities.</a:t>
            </a:r>
            <a:endParaRPr lang="en-US" dirty="0"/>
          </a:p>
          <a:p>
            <a:pPr marL="0" indent="0">
              <a:buNone/>
            </a:pPr>
            <a:r>
              <a:rPr lang="en-GB" b="1" dirty="0">
                <a:solidFill>
                  <a:srgbClr val="FF0000"/>
                </a:solidFill>
              </a:rPr>
              <a:t>3. Targeting vulnerable groups</a:t>
            </a:r>
          </a:p>
          <a:p>
            <a:r>
              <a:rPr lang="en-GB" dirty="0"/>
              <a:t>Advertising to children, the elderly, or other susceptible groups.</a:t>
            </a:r>
            <a:endParaRPr lang="en-US" dirty="0"/>
          </a:p>
          <a:p>
            <a:pPr marL="0" indent="0">
              <a:buNone/>
            </a:pPr>
            <a:r>
              <a:rPr lang="en-GB" b="1" dirty="0">
                <a:solidFill>
                  <a:srgbClr val="FF0000"/>
                </a:solidFill>
              </a:rPr>
              <a:t>4. Cultural sensitivity</a:t>
            </a:r>
          </a:p>
          <a:p>
            <a:r>
              <a:rPr lang="en-GB" dirty="0"/>
              <a:t> Using stereotypes, biases, or insensitive imagery.</a:t>
            </a:r>
            <a:endParaRPr lang="en-US" dirty="0"/>
          </a:p>
          <a:p>
            <a:endParaRPr lang="en-US" dirty="0"/>
          </a:p>
          <a:p>
            <a:endParaRPr lang="en-US" dirty="0"/>
          </a:p>
        </p:txBody>
      </p:sp>
    </p:spTree>
    <p:extLst>
      <p:ext uri="{BB962C8B-B14F-4D97-AF65-F5344CB8AC3E}">
        <p14:creationId xmlns:p14="http://schemas.microsoft.com/office/powerpoint/2010/main" val="33502628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4103"/>
            <a:ext cx="10515600" cy="818216"/>
          </a:xfrm>
        </p:spPr>
        <p:txBody>
          <a:bodyPr>
            <a:normAutofit fontScale="90000"/>
          </a:bodyPr>
          <a:lstStyle/>
          <a:p>
            <a:r>
              <a:rPr lang="en-GB" b="1" dirty="0">
                <a:effectLst>
                  <a:outerShdw blurRad="38100" dist="38100" dir="2700000" algn="tl">
                    <a:srgbClr val="000000">
                      <a:alpha val="43137"/>
                    </a:srgbClr>
                  </a:outerShdw>
                </a:effectLst>
              </a:rPr>
              <a:t>Ethical Considerations in Consumer Choice:</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954741"/>
            <a:ext cx="10515600" cy="5222222"/>
          </a:xfrm>
        </p:spPr>
        <p:txBody>
          <a:bodyPr>
            <a:normAutofit fontScale="70000" lnSpcReduction="20000"/>
          </a:bodyPr>
          <a:lstStyle/>
          <a:p>
            <a:r>
              <a:rPr lang="en-GB" b="1" dirty="0" smtClean="0">
                <a:solidFill>
                  <a:srgbClr val="FF0000"/>
                </a:solidFill>
              </a:rPr>
              <a:t>1</a:t>
            </a:r>
            <a:r>
              <a:rPr lang="en-GB" b="1" dirty="0">
                <a:solidFill>
                  <a:srgbClr val="FF0000"/>
                </a:solidFill>
              </a:rPr>
              <a:t>. </a:t>
            </a:r>
            <a:r>
              <a:rPr lang="en-GB" b="1" dirty="0" smtClean="0">
                <a:solidFill>
                  <a:srgbClr val="FF0000"/>
                </a:solidFill>
              </a:rPr>
              <a:t>Informed decision-making </a:t>
            </a:r>
          </a:p>
          <a:p>
            <a:r>
              <a:rPr lang="en-GB" dirty="0" smtClean="0"/>
              <a:t>Consumers</a:t>
            </a:r>
            <a:r>
              <a:rPr lang="en-GB" dirty="0"/>
              <a:t>' right to accurate and unbiased information.</a:t>
            </a:r>
            <a:endParaRPr lang="en-US" dirty="0"/>
          </a:p>
          <a:p>
            <a:r>
              <a:rPr lang="en-GB" b="1" dirty="0">
                <a:solidFill>
                  <a:srgbClr val="FF0000"/>
                </a:solidFill>
              </a:rPr>
              <a:t>2. </a:t>
            </a:r>
            <a:r>
              <a:rPr lang="en-GB" b="1" dirty="0" smtClean="0">
                <a:solidFill>
                  <a:srgbClr val="FF0000"/>
                </a:solidFill>
              </a:rPr>
              <a:t>Autonomy</a:t>
            </a:r>
          </a:p>
          <a:p>
            <a:r>
              <a:rPr lang="en-GB" dirty="0" smtClean="0"/>
              <a:t> </a:t>
            </a:r>
            <a:r>
              <a:rPr lang="en-GB" dirty="0"/>
              <a:t>Consumers' freedom to make choices without undue influence.</a:t>
            </a:r>
            <a:endParaRPr lang="en-US" dirty="0"/>
          </a:p>
          <a:p>
            <a:r>
              <a:rPr lang="en-GB" b="1" dirty="0">
                <a:solidFill>
                  <a:srgbClr val="FF0000"/>
                </a:solidFill>
              </a:rPr>
              <a:t>3. </a:t>
            </a:r>
            <a:r>
              <a:rPr lang="en-GB" b="1" dirty="0" smtClean="0">
                <a:solidFill>
                  <a:srgbClr val="FF0000"/>
                </a:solidFill>
              </a:rPr>
              <a:t>Privacy</a:t>
            </a:r>
            <a:endParaRPr lang="en-GB" b="1" dirty="0">
              <a:solidFill>
                <a:srgbClr val="FF0000"/>
              </a:solidFill>
            </a:endParaRPr>
          </a:p>
          <a:p>
            <a:r>
              <a:rPr lang="en-GB" dirty="0" smtClean="0"/>
              <a:t> </a:t>
            </a:r>
            <a:r>
              <a:rPr lang="en-GB" dirty="0"/>
              <a:t>Protection of consumers' personal data and online </a:t>
            </a:r>
            <a:r>
              <a:rPr lang="en-GB" dirty="0" smtClean="0"/>
              <a:t>behaviour.</a:t>
            </a:r>
            <a:endParaRPr lang="en-US" dirty="0"/>
          </a:p>
          <a:p>
            <a:r>
              <a:rPr lang="en-GB" b="1" dirty="0">
                <a:solidFill>
                  <a:srgbClr val="FF0000"/>
                </a:solidFill>
              </a:rPr>
              <a:t>4. </a:t>
            </a:r>
            <a:r>
              <a:rPr lang="en-GB" b="1" dirty="0" smtClean="0">
                <a:solidFill>
                  <a:srgbClr val="FF0000"/>
                </a:solidFill>
              </a:rPr>
              <a:t>Social responsibility</a:t>
            </a:r>
            <a:endParaRPr lang="en-GB" b="1" dirty="0">
              <a:solidFill>
                <a:srgbClr val="FF0000"/>
              </a:solidFill>
            </a:endParaRPr>
          </a:p>
          <a:p>
            <a:r>
              <a:rPr lang="en-GB" dirty="0" smtClean="0"/>
              <a:t> </a:t>
            </a:r>
            <a:r>
              <a:rPr lang="en-GB" dirty="0"/>
              <a:t>Considering the environmental, social, and ethical implications of purchasing decisions</a:t>
            </a:r>
            <a:r>
              <a:rPr lang="en-GB" dirty="0" smtClean="0"/>
              <a:t>.</a:t>
            </a:r>
            <a:endParaRPr lang="en-US" dirty="0"/>
          </a:p>
          <a:p>
            <a:pPr marL="0" indent="0">
              <a:buNone/>
            </a:pPr>
            <a:r>
              <a:rPr lang="en-GB" b="1" dirty="0"/>
              <a:t>Regulations and </a:t>
            </a:r>
            <a:r>
              <a:rPr lang="en-GB" b="1" dirty="0" smtClean="0"/>
              <a:t>Guidelines</a:t>
            </a:r>
            <a:endParaRPr lang="en-US" b="1" dirty="0"/>
          </a:p>
          <a:p>
            <a:pPr marL="0" indent="0">
              <a:buNone/>
            </a:pPr>
            <a:r>
              <a:rPr lang="en-GB" b="1" dirty="0">
                <a:solidFill>
                  <a:srgbClr val="FF0000"/>
                </a:solidFill>
              </a:rPr>
              <a:t>1. </a:t>
            </a:r>
            <a:r>
              <a:rPr lang="en-GB" b="1" dirty="0" smtClean="0">
                <a:solidFill>
                  <a:srgbClr val="FF0000"/>
                </a:solidFill>
              </a:rPr>
              <a:t>Federal </a:t>
            </a:r>
            <a:r>
              <a:rPr lang="en-GB" b="1" dirty="0">
                <a:solidFill>
                  <a:srgbClr val="FF0000"/>
                </a:solidFill>
              </a:rPr>
              <a:t>Trade Commission (FTC</a:t>
            </a:r>
            <a:r>
              <a:rPr lang="en-GB" b="1" dirty="0" smtClean="0">
                <a:solidFill>
                  <a:srgbClr val="FF0000"/>
                </a:solidFill>
              </a:rPr>
              <a:t>)</a:t>
            </a:r>
          </a:p>
          <a:p>
            <a:r>
              <a:rPr lang="en-GB" dirty="0" smtClean="0"/>
              <a:t> </a:t>
            </a:r>
            <a:r>
              <a:rPr lang="en-GB" dirty="0"/>
              <a:t>Regulates deceptive advertising practices in the United States.</a:t>
            </a:r>
            <a:endParaRPr lang="en-US" dirty="0"/>
          </a:p>
          <a:p>
            <a:pPr marL="0" indent="0">
              <a:buNone/>
            </a:pPr>
            <a:r>
              <a:rPr lang="en-GB" b="1" dirty="0">
                <a:solidFill>
                  <a:srgbClr val="FF0000"/>
                </a:solidFill>
              </a:rPr>
              <a:t>2. </a:t>
            </a:r>
            <a:r>
              <a:rPr lang="en-GB" b="1" dirty="0" smtClean="0">
                <a:solidFill>
                  <a:srgbClr val="FF0000"/>
                </a:solidFill>
              </a:rPr>
              <a:t>Advertising </a:t>
            </a:r>
            <a:r>
              <a:rPr lang="en-GB" b="1" dirty="0">
                <a:solidFill>
                  <a:srgbClr val="FF0000"/>
                </a:solidFill>
              </a:rPr>
              <a:t>Self-Regulatory Council (ASRC</a:t>
            </a:r>
            <a:r>
              <a:rPr lang="en-GB" b="1" dirty="0" smtClean="0">
                <a:solidFill>
                  <a:srgbClr val="FF0000"/>
                </a:solidFill>
              </a:rPr>
              <a:t>)</a:t>
            </a:r>
          </a:p>
          <a:p>
            <a:r>
              <a:rPr lang="en-GB" dirty="0" smtClean="0"/>
              <a:t> </a:t>
            </a:r>
            <a:r>
              <a:rPr lang="en-GB" dirty="0"/>
              <a:t>Promotes truthful and transparent advertising.</a:t>
            </a:r>
            <a:endParaRPr lang="en-US" dirty="0"/>
          </a:p>
          <a:p>
            <a:pPr marL="0" indent="0">
              <a:buNone/>
            </a:pPr>
            <a:r>
              <a:rPr lang="en-GB" b="1" dirty="0">
                <a:solidFill>
                  <a:srgbClr val="FF0000"/>
                </a:solidFill>
              </a:rPr>
              <a:t>3. </a:t>
            </a:r>
            <a:r>
              <a:rPr lang="en-GB" b="1" dirty="0" smtClean="0">
                <a:solidFill>
                  <a:srgbClr val="FF0000"/>
                </a:solidFill>
              </a:rPr>
              <a:t>International </a:t>
            </a:r>
            <a:r>
              <a:rPr lang="en-GB" b="1" dirty="0">
                <a:solidFill>
                  <a:srgbClr val="FF0000"/>
                </a:solidFill>
              </a:rPr>
              <a:t>Chamber of Commerce (</a:t>
            </a:r>
            <a:r>
              <a:rPr lang="en-GB" b="1" dirty="0" smtClean="0">
                <a:solidFill>
                  <a:srgbClr val="FF0000"/>
                </a:solidFill>
              </a:rPr>
              <a:t>ICC)</a:t>
            </a:r>
          </a:p>
          <a:p>
            <a:r>
              <a:rPr lang="en-GB" dirty="0" smtClean="0"/>
              <a:t>Develops </a:t>
            </a:r>
            <a:r>
              <a:rPr lang="en-GB" dirty="0"/>
              <a:t>global advertising standards</a:t>
            </a:r>
            <a:r>
              <a:rPr lang="en-GB" dirty="0" smtClean="0"/>
              <a:t>.</a:t>
            </a:r>
            <a:endParaRPr lang="en-US" dirty="0"/>
          </a:p>
        </p:txBody>
      </p:sp>
    </p:spTree>
    <p:extLst>
      <p:ext uri="{BB962C8B-B14F-4D97-AF65-F5344CB8AC3E}">
        <p14:creationId xmlns:p14="http://schemas.microsoft.com/office/powerpoint/2010/main" val="3597327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ffectLst>
                  <a:outerShdw blurRad="38100" dist="38100" dir="2700000" algn="tl">
                    <a:srgbClr val="000000">
                      <a:alpha val="43137"/>
                    </a:srgbClr>
                  </a:outerShdw>
                </a:effectLst>
              </a:rPr>
              <a:t>The role of consumer psychology in marketing strategies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690688"/>
            <a:ext cx="10515600" cy="4486275"/>
          </a:xfrm>
        </p:spPr>
        <p:txBody>
          <a:bodyPr>
            <a:normAutofit/>
          </a:bodyPr>
          <a:lstStyle/>
          <a:p>
            <a:r>
              <a:rPr lang="en-GB" b="1" dirty="0" smtClean="0"/>
              <a:t>Segmentation: </a:t>
            </a:r>
            <a:r>
              <a:rPr lang="en-GB" dirty="0"/>
              <a:t>Using consumer psychology to identify and target specific consumer groups.</a:t>
            </a:r>
            <a:endParaRPr lang="en-US" dirty="0"/>
          </a:p>
          <a:p>
            <a:r>
              <a:rPr lang="en-GB" b="1" dirty="0" smtClean="0"/>
              <a:t>Positioning: </a:t>
            </a:r>
            <a:r>
              <a:rPr lang="en-GB" dirty="0"/>
              <a:t>Creating a unique brand identity that resonates with consumers' values and attitudes.</a:t>
            </a:r>
            <a:endParaRPr lang="en-US" dirty="0"/>
          </a:p>
          <a:p>
            <a:r>
              <a:rPr lang="en-GB" b="1" dirty="0" smtClean="0"/>
              <a:t>Branding: </a:t>
            </a:r>
            <a:r>
              <a:rPr lang="en-GB" dirty="0"/>
              <a:t>Developing brand personalities that appeal to consumers' emotions and needs.</a:t>
            </a:r>
            <a:endParaRPr lang="en-US" dirty="0"/>
          </a:p>
          <a:p>
            <a:r>
              <a:rPr lang="en-GB" b="1" dirty="0" smtClean="0"/>
              <a:t>Advertising: </a:t>
            </a:r>
            <a:r>
              <a:rPr lang="en-GB" dirty="0"/>
              <a:t>Crafting persuasive messages that tap into consumers' motivations and desires.</a:t>
            </a:r>
            <a:endParaRPr lang="en-US" dirty="0"/>
          </a:p>
          <a:p>
            <a:r>
              <a:rPr lang="en-GB" b="1" dirty="0" smtClean="0"/>
              <a:t>Product Development: </a:t>
            </a:r>
            <a:r>
              <a:rPr lang="en-GB" dirty="0"/>
              <a:t>Designing products that meet consumers' needs, wants, and expectations.</a:t>
            </a:r>
            <a:endParaRPr lang="en-US" dirty="0"/>
          </a:p>
          <a:p>
            <a:pPr marL="0" indent="0">
              <a:buNone/>
            </a:pPr>
            <a:endParaRPr lang="en-US" dirty="0"/>
          </a:p>
          <a:p>
            <a:endParaRPr lang="en-US" dirty="0"/>
          </a:p>
        </p:txBody>
      </p:sp>
    </p:spTree>
    <p:extLst>
      <p:ext uri="{BB962C8B-B14F-4D97-AF65-F5344CB8AC3E}">
        <p14:creationId xmlns:p14="http://schemas.microsoft.com/office/powerpoint/2010/main" val="28435348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effectLst>
                  <a:outerShdw blurRad="38100" dist="38100" dir="2700000" algn="tl">
                    <a:srgbClr val="000000">
                      <a:alpha val="43137"/>
                    </a:srgbClr>
                  </a:outerShdw>
                </a:effectLst>
              </a:rPr>
              <a:t>Real-World </a:t>
            </a:r>
            <a:r>
              <a:rPr lang="en-GB" b="1" dirty="0" smtClean="0">
                <a:effectLst>
                  <a:outerShdw blurRad="38100" dist="38100" dir="2700000" algn="tl">
                    <a:srgbClr val="000000">
                      <a:alpha val="43137"/>
                    </a:srgbClr>
                  </a:outerShdw>
                </a:effectLst>
              </a:rPr>
              <a:t>Examples</a:t>
            </a:r>
            <a:r>
              <a:rPr lang="en-US" b="1" dirty="0">
                <a:effectLst>
                  <a:outerShdw blurRad="38100" dist="38100" dir="2700000" algn="tl">
                    <a:srgbClr val="000000">
                      <a:alpha val="43137"/>
                    </a:srgbClr>
                  </a:outerShdw>
                </a:effectLst>
              </a:rP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237129"/>
            <a:ext cx="10515600" cy="4939834"/>
          </a:xfrm>
        </p:spPr>
        <p:txBody>
          <a:bodyPr>
            <a:normAutofit fontScale="70000" lnSpcReduction="20000"/>
          </a:bodyPr>
          <a:lstStyle/>
          <a:p>
            <a:pPr marL="0" indent="0">
              <a:buNone/>
            </a:pPr>
            <a:r>
              <a:rPr lang="en-GB" b="1" dirty="0" smtClean="0"/>
              <a:t>Apple's </a:t>
            </a:r>
            <a:r>
              <a:rPr lang="en-GB" b="1" dirty="0"/>
              <a:t>Branding </a:t>
            </a:r>
            <a:r>
              <a:rPr lang="en-GB" b="1" dirty="0" smtClean="0"/>
              <a:t>Strategy</a:t>
            </a:r>
          </a:p>
          <a:p>
            <a:r>
              <a:rPr lang="en-GB" dirty="0" smtClean="0"/>
              <a:t>Apple's </a:t>
            </a:r>
            <a:r>
              <a:rPr lang="en-GB" dirty="0"/>
              <a:t>focus on innovation, design, and customer experience has created a loyal customer base.</a:t>
            </a:r>
            <a:endParaRPr lang="en-US" dirty="0"/>
          </a:p>
          <a:p>
            <a:pPr marL="0" indent="0">
              <a:buNone/>
            </a:pPr>
            <a:r>
              <a:rPr lang="en-GB" b="1" dirty="0" smtClean="0"/>
              <a:t>Coca-Cola's Advertising</a:t>
            </a:r>
          </a:p>
          <a:p>
            <a:r>
              <a:rPr lang="en-GB" dirty="0" smtClean="0"/>
              <a:t>Coca-Cola's </a:t>
            </a:r>
            <a:r>
              <a:rPr lang="en-GB" dirty="0"/>
              <a:t>"Share a Coke" campaign successfully tapped into consumers' desire for personalization and social connection</a:t>
            </a:r>
            <a:r>
              <a:rPr lang="en-GB" dirty="0" smtClean="0"/>
              <a:t>.</a:t>
            </a:r>
            <a:endParaRPr lang="en-US" dirty="0"/>
          </a:p>
          <a:p>
            <a:pPr marL="0" indent="0">
              <a:buNone/>
            </a:pPr>
            <a:r>
              <a:rPr lang="en-GB" b="1" dirty="0"/>
              <a:t>Benefits:</a:t>
            </a:r>
            <a:endParaRPr lang="en-US" b="1" dirty="0"/>
          </a:p>
          <a:p>
            <a:r>
              <a:rPr lang="en-GB" i="1" dirty="0" smtClean="0">
                <a:solidFill>
                  <a:srgbClr val="FF0000"/>
                </a:solidFill>
              </a:rPr>
              <a:t>Increased </a:t>
            </a:r>
            <a:r>
              <a:rPr lang="en-GB" i="1" dirty="0">
                <a:solidFill>
                  <a:srgbClr val="FF0000"/>
                </a:solidFill>
              </a:rPr>
              <a:t>Customer </a:t>
            </a:r>
            <a:r>
              <a:rPr lang="en-GB" i="1" dirty="0" smtClean="0">
                <a:solidFill>
                  <a:srgbClr val="FF0000"/>
                </a:solidFill>
              </a:rPr>
              <a:t>Loyalty</a:t>
            </a:r>
            <a:endParaRPr lang="en-GB" i="1" dirty="0">
              <a:solidFill>
                <a:srgbClr val="FF0000"/>
              </a:solidFill>
            </a:endParaRPr>
          </a:p>
          <a:p>
            <a:r>
              <a:rPr lang="en-GB" dirty="0" smtClean="0"/>
              <a:t> </a:t>
            </a:r>
            <a:r>
              <a:rPr lang="en-GB" dirty="0"/>
              <a:t>By understanding consumers' needs and desires, businesses can create loyal customer bases.</a:t>
            </a:r>
            <a:endParaRPr lang="en-US" dirty="0"/>
          </a:p>
          <a:p>
            <a:pPr marL="0" indent="0">
              <a:buNone/>
            </a:pPr>
            <a:endParaRPr lang="en-GB" i="1" dirty="0" smtClean="0"/>
          </a:p>
          <a:p>
            <a:pPr marL="0" indent="0">
              <a:buNone/>
            </a:pPr>
            <a:r>
              <a:rPr lang="en-GB" i="1" dirty="0" smtClean="0">
                <a:solidFill>
                  <a:srgbClr val="FF0000"/>
                </a:solidFill>
              </a:rPr>
              <a:t>Improved </a:t>
            </a:r>
            <a:r>
              <a:rPr lang="en-GB" i="1" dirty="0">
                <a:solidFill>
                  <a:srgbClr val="FF0000"/>
                </a:solidFill>
              </a:rPr>
              <a:t>Brand </a:t>
            </a:r>
            <a:r>
              <a:rPr lang="en-GB" i="1" dirty="0" smtClean="0">
                <a:solidFill>
                  <a:srgbClr val="FF0000"/>
                </a:solidFill>
              </a:rPr>
              <a:t>Reputation</a:t>
            </a:r>
          </a:p>
          <a:p>
            <a:r>
              <a:rPr lang="en-GB" dirty="0" smtClean="0"/>
              <a:t>Effective </a:t>
            </a:r>
            <a:r>
              <a:rPr lang="en-GB" dirty="0"/>
              <a:t>application of consumer psychology can enhance brand reputation and credibility.</a:t>
            </a:r>
            <a:endParaRPr lang="en-US" dirty="0"/>
          </a:p>
          <a:p>
            <a:pPr marL="0" indent="0">
              <a:buNone/>
            </a:pPr>
            <a:endParaRPr lang="en-GB" dirty="0"/>
          </a:p>
          <a:p>
            <a:pPr marL="0" indent="0">
              <a:buNone/>
            </a:pPr>
            <a:r>
              <a:rPr lang="en-GB" dirty="0" smtClean="0">
                <a:solidFill>
                  <a:srgbClr val="FF0000"/>
                </a:solidFill>
              </a:rPr>
              <a:t>Enhanced </a:t>
            </a:r>
            <a:r>
              <a:rPr lang="en-GB" dirty="0">
                <a:solidFill>
                  <a:srgbClr val="FF0000"/>
                </a:solidFill>
              </a:rPr>
              <a:t>Marketing </a:t>
            </a:r>
            <a:r>
              <a:rPr lang="en-GB" dirty="0" smtClean="0">
                <a:solidFill>
                  <a:srgbClr val="FF0000"/>
                </a:solidFill>
              </a:rPr>
              <a:t>Effectiveness</a:t>
            </a:r>
          </a:p>
          <a:p>
            <a:r>
              <a:rPr lang="en-GB" dirty="0" smtClean="0"/>
              <a:t> </a:t>
            </a:r>
            <a:r>
              <a:rPr lang="en-GB" dirty="0"/>
              <a:t>Consumer psychology helps businesses develop targeted and persuasive marketing strategies</a:t>
            </a:r>
            <a:r>
              <a:rPr lang="en-GB" dirty="0" smtClean="0"/>
              <a:t>.</a:t>
            </a:r>
            <a:endParaRPr lang="en-US" dirty="0"/>
          </a:p>
        </p:txBody>
      </p:sp>
    </p:spTree>
    <p:extLst>
      <p:ext uri="{BB962C8B-B14F-4D97-AF65-F5344CB8AC3E}">
        <p14:creationId xmlns:p14="http://schemas.microsoft.com/office/powerpoint/2010/main" val="19331396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indent="0"/>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The </a:t>
            </a:r>
            <a:r>
              <a:rPr lang="en-US" b="1" dirty="0">
                <a:effectLst>
                  <a:outerShdw blurRad="38100" dist="38100" dir="2700000" algn="tl">
                    <a:srgbClr val="000000">
                      <a:alpha val="43137"/>
                    </a:srgbClr>
                  </a:outerShdw>
                </a:effectLst>
              </a:rPr>
              <a:t>impact of technological advancements on consumer behavior </a:t>
            </a:r>
            <a:br>
              <a:rPr lang="en-US" b="1" dirty="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479176"/>
            <a:ext cx="10515600" cy="5284695"/>
          </a:xfrm>
        </p:spPr>
        <p:txBody>
          <a:bodyPr>
            <a:normAutofit fontScale="77500" lnSpcReduction="20000"/>
          </a:bodyPr>
          <a:lstStyle/>
          <a:p>
            <a:endParaRPr lang="en-GB" dirty="0" smtClean="0"/>
          </a:p>
          <a:p>
            <a:r>
              <a:rPr lang="en-GB" dirty="0" smtClean="0"/>
              <a:t>Technological </a:t>
            </a:r>
            <a:r>
              <a:rPr lang="en-GB" dirty="0"/>
              <a:t>advancements have significantly impacted consumer behaviour, transforming the way people shop, interact with brands, and make purchasing decisions.</a:t>
            </a:r>
            <a:endParaRPr lang="en-US" dirty="0"/>
          </a:p>
          <a:p>
            <a:pPr marL="0" indent="0">
              <a:buNone/>
            </a:pPr>
            <a:endParaRPr lang="en-US" b="1" dirty="0" smtClean="0"/>
          </a:p>
          <a:p>
            <a:pPr marL="0" indent="0">
              <a:buNone/>
            </a:pPr>
            <a:r>
              <a:rPr lang="en-US" b="1" dirty="0" smtClean="0"/>
              <a:t>KEY IMPACTS</a:t>
            </a:r>
            <a:endParaRPr lang="en-US" b="1" dirty="0"/>
          </a:p>
          <a:p>
            <a:r>
              <a:rPr lang="en-GB" b="1" dirty="0" smtClean="0"/>
              <a:t>Increased convenience: </a:t>
            </a:r>
            <a:r>
              <a:rPr lang="en-GB" dirty="0"/>
              <a:t>E-commerce, mobile shopping, and digital payment systems have made shopping more convenient and accessible.</a:t>
            </a:r>
            <a:endParaRPr lang="en-US" dirty="0"/>
          </a:p>
          <a:p>
            <a:r>
              <a:rPr lang="en-GB" b="1" dirty="0" smtClean="0"/>
              <a:t>Improved </a:t>
            </a:r>
            <a:r>
              <a:rPr lang="en-GB" b="1" dirty="0"/>
              <a:t>product </a:t>
            </a:r>
            <a:r>
              <a:rPr lang="en-GB" b="1" dirty="0" smtClean="0"/>
              <a:t>information: </a:t>
            </a:r>
            <a:r>
              <a:rPr lang="en-GB" dirty="0" smtClean="0"/>
              <a:t>Online </a:t>
            </a:r>
            <a:r>
              <a:rPr lang="en-GB" dirty="0"/>
              <a:t>reviews, ratings, and product comparisons have empowered consumers to make informed purchasing decisions.</a:t>
            </a:r>
            <a:endParaRPr lang="en-US" dirty="0"/>
          </a:p>
          <a:p>
            <a:r>
              <a:rPr lang="en-GB" b="1" dirty="0" smtClean="0"/>
              <a:t>Personalization: </a:t>
            </a:r>
            <a:r>
              <a:rPr lang="en-GB" dirty="0"/>
              <a:t>Data analytics and AI-powered recommendation engines enable businesses to offer personalized products, services, and experiences.</a:t>
            </a:r>
            <a:endParaRPr lang="en-US" dirty="0"/>
          </a:p>
          <a:p>
            <a:r>
              <a:rPr lang="en-GB" b="1" dirty="0" smtClean="0"/>
              <a:t>Social influence: </a:t>
            </a:r>
            <a:r>
              <a:rPr lang="en-GB" dirty="0"/>
              <a:t>Social media platforms have amplified the influence of peer recommendations, reviews, and user-generated content on consumer </a:t>
            </a:r>
            <a:r>
              <a:rPr lang="en-GB" dirty="0" smtClean="0"/>
              <a:t>behaviour.</a:t>
            </a:r>
            <a:endParaRPr lang="en-US" dirty="0"/>
          </a:p>
          <a:p>
            <a:r>
              <a:rPr lang="en-GB" b="1" dirty="0" smtClean="0"/>
              <a:t>Changing </a:t>
            </a:r>
            <a:r>
              <a:rPr lang="en-GB" b="1" dirty="0"/>
              <a:t>shopping </a:t>
            </a:r>
            <a:r>
              <a:rPr lang="en-GB" b="1" dirty="0" smtClean="0"/>
              <a:t>habits: </a:t>
            </a:r>
            <a:r>
              <a:rPr lang="en-GB" dirty="0"/>
              <a:t>Technological advancements have led to the rise of </a:t>
            </a:r>
            <a:r>
              <a:rPr lang="en-GB" dirty="0" smtClean="0"/>
              <a:t>Omni channel </a:t>
            </a:r>
            <a:r>
              <a:rPr lang="en-GB" dirty="0"/>
              <a:t>retailing, where consumers seamlessly shift between online and offline channels.</a:t>
            </a:r>
            <a:endParaRPr lang="en-US" dirty="0"/>
          </a:p>
          <a:p>
            <a:endParaRPr lang="en-US" dirty="0"/>
          </a:p>
        </p:txBody>
      </p:sp>
    </p:spTree>
    <p:extLst>
      <p:ext uri="{BB962C8B-B14F-4D97-AF65-F5344CB8AC3E}">
        <p14:creationId xmlns:p14="http://schemas.microsoft.com/office/powerpoint/2010/main" val="8967901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1210</TotalTime>
  <Words>4269</Words>
  <Application>Microsoft Office PowerPoint</Application>
  <PresentationFormat>Widescreen</PresentationFormat>
  <Paragraphs>350</Paragraphs>
  <Slides>52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Calibri</vt:lpstr>
      <vt:lpstr>Calibri Light</vt:lpstr>
      <vt:lpstr>Office Theme</vt:lpstr>
      <vt:lpstr>ISB 120</vt:lpstr>
      <vt:lpstr>Unit 3: Consumer Behavior and Utility Analysis  </vt:lpstr>
      <vt:lpstr>Total Utility, Marginal Utility, Law of Diminishing Marginal Utility  </vt:lpstr>
      <vt:lpstr>TYPES OF UTILITY</vt:lpstr>
      <vt:lpstr>FORMULA</vt:lpstr>
      <vt:lpstr>DIAGRAM SHOWING RELATIONSHIP BETWEEN TU, MU AND UNITS CONSUMED</vt:lpstr>
      <vt:lpstr>DIAGRAM SHOWING RELATIONSHIP BETWEEN TU, MU AND UNITS CONSUMED</vt:lpstr>
      <vt:lpstr>LAW OF DIMINISHING MARGINAL UTILITY  </vt:lpstr>
      <vt:lpstr>LAW OF DIMINISHING MARGINAL UTILITY  </vt:lpstr>
      <vt:lpstr>Consumer's Equilibrium</vt:lpstr>
      <vt:lpstr>Consumer's Equilibrium</vt:lpstr>
      <vt:lpstr>Assumptions  </vt:lpstr>
      <vt:lpstr>Budget constraints and consumer choice</vt:lpstr>
      <vt:lpstr>Budget Line  </vt:lpstr>
      <vt:lpstr>Budget Set  </vt:lpstr>
      <vt:lpstr>Example  </vt:lpstr>
      <vt:lpstr>BUDGET LINE</vt:lpstr>
      <vt:lpstr>Budget line  </vt:lpstr>
      <vt:lpstr>Oranges  </vt:lpstr>
      <vt:lpstr>CALCULATIONS CONT..</vt:lpstr>
      <vt:lpstr>CONT…</vt:lpstr>
      <vt:lpstr>The Effects of Changes in Income and Prices  </vt:lpstr>
      <vt:lpstr>Let us analyse both of these factors in greater detail below</vt:lpstr>
      <vt:lpstr>CHANGE IN PRICE OF ONE COMMODITY</vt:lpstr>
      <vt:lpstr>Change in price of both commodities</vt:lpstr>
      <vt:lpstr>Slope of the Budget Line  </vt:lpstr>
      <vt:lpstr>Slope of the Budget Line</vt:lpstr>
      <vt:lpstr>Slope of the Budget Line</vt:lpstr>
      <vt:lpstr>The Slope of the Budget Line  </vt:lpstr>
      <vt:lpstr>Consumers Equilibrium  </vt:lpstr>
      <vt:lpstr>Consumers Equilibrium  </vt:lpstr>
      <vt:lpstr>Consumers Equilibrium  </vt:lpstr>
      <vt:lpstr>  Let say, a consumer chooses the combination at point Q   </vt:lpstr>
      <vt:lpstr>Conditions of Consumer's Equilibrium  </vt:lpstr>
      <vt:lpstr>CONT…</vt:lpstr>
      <vt:lpstr>Example  </vt:lpstr>
      <vt:lpstr>Presentation on graph</vt:lpstr>
      <vt:lpstr>Applications of elasticity in consumer behavior analysis</vt:lpstr>
      <vt:lpstr>Real-World Examples: </vt:lpstr>
      <vt:lpstr>Revealed preference theory and consumer demand  </vt:lpstr>
      <vt:lpstr>Revealed Preference and Demand</vt:lpstr>
      <vt:lpstr>Demand Curve </vt:lpstr>
      <vt:lpstr>Indifference Curve Analysis: </vt:lpstr>
      <vt:lpstr>Behavioral economics insights into consumer decision-making  </vt:lpstr>
      <vt:lpstr>1. Cognitive Biases in the Making of Consumer Decisions  </vt:lpstr>
      <vt:lpstr>3. Consumer Behavior and the Effects of Framing  </vt:lpstr>
      <vt:lpstr>5. Consequences for Policy Design and Marketing  </vt:lpstr>
      <vt:lpstr>Ethical considerations in advertising and consumer choices</vt:lpstr>
      <vt:lpstr>Ethical Considerations in Consumer Choice: </vt:lpstr>
      <vt:lpstr>The role of consumer psychology in marketing strategies  </vt:lpstr>
      <vt:lpstr>Real-World Examples </vt:lpstr>
      <vt:lpstr> The impact of technological advancements on consumer behavior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Martha</dc:creator>
  <cp:lastModifiedBy>Martha</cp:lastModifiedBy>
  <cp:revision>57</cp:revision>
  <dcterms:created xsi:type="dcterms:W3CDTF">2025-06-11T05:01:17Z</dcterms:created>
  <dcterms:modified xsi:type="dcterms:W3CDTF">2025-06-12T09:54:36Z</dcterms:modified>
</cp:coreProperties>
</file>