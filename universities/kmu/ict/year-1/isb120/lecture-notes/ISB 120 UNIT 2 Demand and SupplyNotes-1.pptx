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304" r:id="rId37"/>
    <p:sldId id="305" r:id="rId38"/>
    <p:sldId id="291" r:id="rId39"/>
    <p:sldId id="292" r:id="rId40"/>
    <p:sldId id="293" r:id="rId41"/>
    <p:sldId id="294" r:id="rId42"/>
    <p:sldId id="321" r:id="rId43"/>
    <p:sldId id="322" r:id="rId44"/>
    <p:sldId id="323" r:id="rId45"/>
    <p:sldId id="295" r:id="rId46"/>
    <p:sldId id="296" r:id="rId47"/>
    <p:sldId id="297" r:id="rId48"/>
    <p:sldId id="298" r:id="rId49"/>
    <p:sldId id="299" r:id="rId50"/>
    <p:sldId id="300" r:id="rId51"/>
    <p:sldId id="301" r:id="rId52"/>
    <p:sldId id="302" r:id="rId53"/>
    <p:sldId id="303" r:id="rId54"/>
    <p:sldId id="306" r:id="rId55"/>
    <p:sldId id="307" r:id="rId56"/>
    <p:sldId id="308" r:id="rId57"/>
    <p:sldId id="309" r:id="rId58"/>
    <p:sldId id="310" r:id="rId59"/>
    <p:sldId id="311" r:id="rId60"/>
    <p:sldId id="312" r:id="rId61"/>
    <p:sldId id="313" r:id="rId62"/>
    <p:sldId id="320" r:id="rId63"/>
    <p:sldId id="314" r:id="rId64"/>
    <p:sldId id="315" r:id="rId65"/>
    <p:sldId id="316" r:id="rId66"/>
    <p:sldId id="317" r:id="rId67"/>
    <p:sldId id="318" r:id="rId68"/>
    <p:sldId id="319"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92BD01A-ABCF-4D26-A256-4D08F277F27D}" type="datetimeFigureOut">
              <a:rPr lang="en-US" smtClean="0"/>
              <a:t>6/17/2025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9321C6-87F1-450C-AC18-7B7A5B79E370}" type="slidenum">
              <a:rPr lang="en-US" smtClean="0"/>
              <a:t>‹#›</a:t>
            </a:fld>
            <a:endParaRPr lang="en-US"/>
          </a:p>
        </p:txBody>
      </p:sp>
    </p:spTree>
    <p:extLst>
      <p:ext uri="{BB962C8B-B14F-4D97-AF65-F5344CB8AC3E}">
        <p14:creationId xmlns:p14="http://schemas.microsoft.com/office/powerpoint/2010/main" val="2287234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92BD01A-ABCF-4D26-A256-4D08F277F27D}" type="datetimeFigureOut">
              <a:rPr lang="en-US" smtClean="0"/>
              <a:t>6/17/2025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9321C6-87F1-450C-AC18-7B7A5B79E370}" type="slidenum">
              <a:rPr lang="en-US" smtClean="0"/>
              <a:t>‹#›</a:t>
            </a:fld>
            <a:endParaRPr lang="en-US"/>
          </a:p>
        </p:txBody>
      </p:sp>
    </p:spTree>
    <p:extLst>
      <p:ext uri="{BB962C8B-B14F-4D97-AF65-F5344CB8AC3E}">
        <p14:creationId xmlns:p14="http://schemas.microsoft.com/office/powerpoint/2010/main" val="3831010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92BD01A-ABCF-4D26-A256-4D08F277F27D}" type="datetimeFigureOut">
              <a:rPr lang="en-US" smtClean="0"/>
              <a:t>6/17/2025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9321C6-87F1-450C-AC18-7B7A5B79E370}" type="slidenum">
              <a:rPr lang="en-US" smtClean="0"/>
              <a:t>‹#›</a:t>
            </a:fld>
            <a:endParaRPr lang="en-US"/>
          </a:p>
        </p:txBody>
      </p:sp>
    </p:spTree>
    <p:extLst>
      <p:ext uri="{BB962C8B-B14F-4D97-AF65-F5344CB8AC3E}">
        <p14:creationId xmlns:p14="http://schemas.microsoft.com/office/powerpoint/2010/main" val="1406713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92BD01A-ABCF-4D26-A256-4D08F277F27D}" type="datetimeFigureOut">
              <a:rPr lang="en-US" smtClean="0"/>
              <a:t>6/17/2025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9321C6-87F1-450C-AC18-7B7A5B79E370}" type="slidenum">
              <a:rPr lang="en-US" smtClean="0"/>
              <a:t>‹#›</a:t>
            </a:fld>
            <a:endParaRPr lang="en-US"/>
          </a:p>
        </p:txBody>
      </p:sp>
    </p:spTree>
    <p:extLst>
      <p:ext uri="{BB962C8B-B14F-4D97-AF65-F5344CB8AC3E}">
        <p14:creationId xmlns:p14="http://schemas.microsoft.com/office/powerpoint/2010/main" val="36988072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92BD01A-ABCF-4D26-A256-4D08F277F27D}" type="datetimeFigureOut">
              <a:rPr lang="en-US" smtClean="0"/>
              <a:t>6/17/2025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D9321C6-87F1-450C-AC18-7B7A5B79E370}" type="slidenum">
              <a:rPr lang="en-US" smtClean="0"/>
              <a:t>‹#›</a:t>
            </a:fld>
            <a:endParaRPr lang="en-US"/>
          </a:p>
        </p:txBody>
      </p:sp>
    </p:spTree>
    <p:extLst>
      <p:ext uri="{BB962C8B-B14F-4D97-AF65-F5344CB8AC3E}">
        <p14:creationId xmlns:p14="http://schemas.microsoft.com/office/powerpoint/2010/main" val="2884513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92BD01A-ABCF-4D26-A256-4D08F277F27D}" type="datetimeFigureOut">
              <a:rPr lang="en-US" smtClean="0"/>
              <a:t>6/17/2025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D9321C6-87F1-450C-AC18-7B7A5B79E370}" type="slidenum">
              <a:rPr lang="en-US" smtClean="0"/>
              <a:t>‹#›</a:t>
            </a:fld>
            <a:endParaRPr lang="en-US"/>
          </a:p>
        </p:txBody>
      </p:sp>
    </p:spTree>
    <p:extLst>
      <p:ext uri="{BB962C8B-B14F-4D97-AF65-F5344CB8AC3E}">
        <p14:creationId xmlns:p14="http://schemas.microsoft.com/office/powerpoint/2010/main" val="2895498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2BD01A-ABCF-4D26-A256-4D08F277F27D}" type="datetimeFigureOut">
              <a:rPr lang="en-US" smtClean="0"/>
              <a:t>6/17/2025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D9321C6-87F1-450C-AC18-7B7A5B79E370}" type="slidenum">
              <a:rPr lang="en-US" smtClean="0"/>
              <a:t>‹#›</a:t>
            </a:fld>
            <a:endParaRPr lang="en-US"/>
          </a:p>
        </p:txBody>
      </p:sp>
    </p:spTree>
    <p:extLst>
      <p:ext uri="{BB962C8B-B14F-4D97-AF65-F5344CB8AC3E}">
        <p14:creationId xmlns:p14="http://schemas.microsoft.com/office/powerpoint/2010/main" val="4565544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92BD01A-ABCF-4D26-A256-4D08F277F27D}" type="datetimeFigureOut">
              <a:rPr lang="en-US" smtClean="0"/>
              <a:t>6/17/2025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9321C6-87F1-450C-AC18-7B7A5B79E370}" type="slidenum">
              <a:rPr lang="en-US" smtClean="0"/>
              <a:t>‹#›</a:t>
            </a:fld>
            <a:endParaRPr lang="en-US"/>
          </a:p>
        </p:txBody>
      </p:sp>
    </p:spTree>
    <p:extLst>
      <p:ext uri="{BB962C8B-B14F-4D97-AF65-F5344CB8AC3E}">
        <p14:creationId xmlns:p14="http://schemas.microsoft.com/office/powerpoint/2010/main" val="1071079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C92BD01A-ABCF-4D26-A256-4D08F277F27D}" type="datetimeFigureOut">
              <a:rPr lang="en-US" smtClean="0"/>
              <a:t>6/17/2025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9321C6-87F1-450C-AC18-7B7A5B79E370}" type="slidenum">
              <a:rPr lang="en-US" smtClean="0"/>
              <a:t>‹#›</a:t>
            </a:fld>
            <a:endParaRPr lang="en-US"/>
          </a:p>
        </p:txBody>
      </p:sp>
    </p:spTree>
    <p:extLst>
      <p:ext uri="{BB962C8B-B14F-4D97-AF65-F5344CB8AC3E}">
        <p14:creationId xmlns:p14="http://schemas.microsoft.com/office/powerpoint/2010/main" val="1711758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92BD01A-ABCF-4D26-A256-4D08F277F27D}" type="datetimeFigureOut">
              <a:rPr lang="en-US" smtClean="0"/>
              <a:t>6/17/2025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9321C6-87F1-450C-AC18-7B7A5B79E370}" type="slidenum">
              <a:rPr lang="en-US" smtClean="0"/>
              <a:t>‹#›</a:t>
            </a:fld>
            <a:endParaRPr lang="en-US"/>
          </a:p>
        </p:txBody>
      </p:sp>
    </p:spTree>
    <p:extLst>
      <p:ext uri="{BB962C8B-B14F-4D97-AF65-F5344CB8AC3E}">
        <p14:creationId xmlns:p14="http://schemas.microsoft.com/office/powerpoint/2010/main" val="3469792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92BD01A-ABCF-4D26-A256-4D08F277F27D}" type="datetimeFigureOut">
              <a:rPr lang="en-US" smtClean="0"/>
              <a:t>6/17/2025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9321C6-87F1-450C-AC18-7B7A5B79E370}"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839253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92BD01A-ABCF-4D26-A256-4D08F277F27D}" type="datetimeFigureOut">
              <a:rPr lang="en-US" smtClean="0"/>
              <a:t>6/17/2025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9321C6-87F1-450C-AC18-7B7A5B79E370}" type="slidenum">
              <a:rPr lang="en-US" smtClean="0"/>
              <a:t>‹#›</a:t>
            </a:fld>
            <a:endParaRPr lang="en-US"/>
          </a:p>
        </p:txBody>
      </p:sp>
    </p:spTree>
    <p:extLst>
      <p:ext uri="{BB962C8B-B14F-4D97-AF65-F5344CB8AC3E}">
        <p14:creationId xmlns:p14="http://schemas.microsoft.com/office/powerpoint/2010/main" val="17881728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92BD01A-ABCF-4D26-A256-4D08F277F27D}" type="datetimeFigureOut">
              <a:rPr lang="en-US" smtClean="0"/>
              <a:t>6/17/2025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9321C6-87F1-450C-AC18-7B7A5B79E370}"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76880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92BD01A-ABCF-4D26-A256-4D08F277F27D}" type="datetimeFigureOut">
              <a:rPr lang="en-US" smtClean="0"/>
              <a:t>6/17/2025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9321C6-87F1-450C-AC18-7B7A5B79E370}" type="slidenum">
              <a:rPr lang="en-US" smtClean="0"/>
              <a:t>‹#›</a:t>
            </a:fld>
            <a:endParaRPr lang="en-US"/>
          </a:p>
        </p:txBody>
      </p:sp>
    </p:spTree>
    <p:extLst>
      <p:ext uri="{BB962C8B-B14F-4D97-AF65-F5344CB8AC3E}">
        <p14:creationId xmlns:p14="http://schemas.microsoft.com/office/powerpoint/2010/main" val="448149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92BD01A-ABCF-4D26-A256-4D08F277F27D}" type="datetimeFigureOut">
              <a:rPr lang="en-US" smtClean="0"/>
              <a:t>6/17/2025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9321C6-87F1-450C-AC18-7B7A5B79E370}" type="slidenum">
              <a:rPr lang="en-US" smtClean="0"/>
              <a:t>‹#›</a:t>
            </a:fld>
            <a:endParaRPr lang="en-US"/>
          </a:p>
        </p:txBody>
      </p:sp>
    </p:spTree>
    <p:extLst>
      <p:ext uri="{BB962C8B-B14F-4D97-AF65-F5344CB8AC3E}">
        <p14:creationId xmlns:p14="http://schemas.microsoft.com/office/powerpoint/2010/main" val="26445961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92BD01A-ABCF-4D26-A256-4D08F277F27D}" type="datetimeFigureOut">
              <a:rPr lang="en-US" smtClean="0"/>
              <a:t>6/17/2025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9321C6-87F1-450C-AC18-7B7A5B79E370}" type="slidenum">
              <a:rPr lang="en-US" smtClean="0"/>
              <a:t>‹#›</a:t>
            </a:fld>
            <a:endParaRPr lang="en-US"/>
          </a:p>
        </p:txBody>
      </p:sp>
    </p:spTree>
    <p:extLst>
      <p:ext uri="{BB962C8B-B14F-4D97-AF65-F5344CB8AC3E}">
        <p14:creationId xmlns:p14="http://schemas.microsoft.com/office/powerpoint/2010/main" val="28647150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92BD01A-ABCF-4D26-A256-4D08F277F27D}" type="datetimeFigureOut">
              <a:rPr lang="en-US" smtClean="0"/>
              <a:t>6/17/2025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D9321C6-87F1-450C-AC18-7B7A5B79E370}" type="slidenum">
              <a:rPr lang="en-US" smtClean="0"/>
              <a:t>‹#›</a:t>
            </a:fld>
            <a:endParaRPr lang="en-US"/>
          </a:p>
        </p:txBody>
      </p:sp>
    </p:spTree>
    <p:extLst>
      <p:ext uri="{BB962C8B-B14F-4D97-AF65-F5344CB8AC3E}">
        <p14:creationId xmlns:p14="http://schemas.microsoft.com/office/powerpoint/2010/main" val="26746624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image" Target="../media/image5.emf"/><Relationship Id="rId7" Type="http://schemas.openxmlformats.org/officeDocument/2006/relationships/image" Target="../media/image9.emf"/><Relationship Id="rId2" Type="http://schemas.openxmlformats.org/officeDocument/2006/relationships/image" Target="../media/image4.emf"/><Relationship Id="rId1" Type="http://schemas.openxmlformats.org/officeDocument/2006/relationships/slideLayout" Target="../slideLayouts/slideLayout2.xml"/><Relationship Id="rId6" Type="http://schemas.openxmlformats.org/officeDocument/2006/relationships/image" Target="../media/image8.emf"/><Relationship Id="rId5" Type="http://schemas.openxmlformats.org/officeDocument/2006/relationships/image" Target="../media/image7.emf"/><Relationship Id="rId4" Type="http://schemas.openxmlformats.org/officeDocument/2006/relationships/image" Target="../media/image6.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slideLayout" Target="../slideLayouts/slideLayout2.xml"/><Relationship Id="rId6" Type="http://schemas.openxmlformats.org/officeDocument/2006/relationships/image" Target="../media/image35.emf"/><Relationship Id="rId5" Type="http://schemas.openxmlformats.org/officeDocument/2006/relationships/image" Target="../media/image34.emf"/><Relationship Id="rId4" Type="http://schemas.openxmlformats.org/officeDocument/2006/relationships/image" Target="../media/image33.e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7067" y="1463040"/>
            <a:ext cx="7766936" cy="2587796"/>
          </a:xfrm>
        </p:spPr>
        <p:txBody>
          <a:bodyPr/>
          <a:lstStyle/>
          <a:p>
            <a:r>
              <a:rPr lang="en-US" sz="8800" b="1" dirty="0">
                <a:effectLst>
                  <a:outerShdw blurRad="38100" dist="38100" dir="2700000" algn="tl">
                    <a:srgbClr val="000000">
                      <a:alpha val="43137"/>
                    </a:srgbClr>
                  </a:outerShdw>
                </a:effectLst>
              </a:rPr>
              <a:t>ISB 120</a:t>
            </a:r>
            <a:endParaRPr lang="en-US" sz="8800" dirty="0"/>
          </a:p>
        </p:txBody>
      </p:sp>
      <p:sp>
        <p:nvSpPr>
          <p:cNvPr id="3" name="Subtitle 2"/>
          <p:cNvSpPr>
            <a:spLocks noGrp="1"/>
          </p:cNvSpPr>
          <p:nvPr>
            <p:ph type="subTitle" idx="1"/>
          </p:nvPr>
        </p:nvSpPr>
        <p:spPr>
          <a:xfrm>
            <a:off x="1507067" y="4050833"/>
            <a:ext cx="7766936" cy="1879704"/>
          </a:xfrm>
        </p:spPr>
        <p:txBody>
          <a:bodyPr>
            <a:normAutofit fontScale="92500" lnSpcReduction="10000"/>
          </a:bodyPr>
          <a:lstStyle/>
          <a:p>
            <a:r>
              <a:rPr lang="en-US" sz="4800" b="1" dirty="0" smtClean="0">
                <a:effectLst>
                  <a:outerShdw blurRad="38100" dist="38100" dir="2700000" algn="tl">
                    <a:srgbClr val="000000">
                      <a:alpha val="43137"/>
                    </a:srgbClr>
                  </a:outerShdw>
                </a:effectLst>
              </a:rPr>
              <a:t>(</a:t>
            </a:r>
            <a:r>
              <a:rPr lang="en-US" sz="4800" b="1" dirty="0" err="1" smtClean="0">
                <a:effectLst>
                  <a:outerShdw blurRad="38100" dist="38100" dir="2700000" algn="tl">
                    <a:srgbClr val="000000">
                      <a:alpha val="43137"/>
                    </a:srgbClr>
                  </a:outerShdw>
                </a:effectLst>
              </a:rPr>
              <a:t>Ph.D</a:t>
            </a:r>
            <a:r>
              <a:rPr lang="en-US" sz="4800" b="1" dirty="0" smtClean="0">
                <a:effectLst>
                  <a:outerShdw blurRad="38100" dist="38100" dir="2700000" algn="tl">
                    <a:srgbClr val="000000">
                      <a:alpha val="43137"/>
                    </a:srgbClr>
                  </a:outerShdw>
                </a:effectLst>
              </a:rPr>
              <a:t> WIP, LECTURER NAME:</a:t>
            </a:r>
          </a:p>
          <a:p>
            <a:r>
              <a:rPr lang="en-US" sz="4800" b="1" dirty="0" smtClean="0">
                <a:effectLst>
                  <a:outerShdw blurRad="38100" dist="38100" dir="2700000" algn="tl">
                    <a:srgbClr val="000000">
                      <a:alpha val="43137"/>
                    </a:srgbClr>
                  </a:outerShdw>
                </a:effectLst>
              </a:rPr>
              <a:t>MULENGA MPOLOKOSO</a:t>
            </a:r>
          </a:p>
          <a:p>
            <a:r>
              <a:rPr lang="en-US" i="1" dirty="0" smtClean="0">
                <a:effectLst>
                  <a:outerShdw blurRad="38100" dist="38100" dir="2700000" algn="tl">
                    <a:srgbClr val="000000">
                      <a:alpha val="43137"/>
                    </a:srgbClr>
                  </a:outerShdw>
                </a:effectLst>
              </a:rPr>
              <a:t>(</a:t>
            </a:r>
            <a:r>
              <a:rPr lang="en-US" i="1" dirty="0" err="1" smtClean="0">
                <a:effectLst>
                  <a:outerShdw blurRad="38100" dist="38100" dir="2700000" algn="tl">
                    <a:srgbClr val="000000">
                      <a:alpha val="43137"/>
                    </a:srgbClr>
                  </a:outerShdw>
                </a:effectLst>
              </a:rPr>
              <a:t>Ph.D_WIP</a:t>
            </a:r>
            <a:r>
              <a:rPr lang="en-US" i="1" dirty="0" smtClean="0">
                <a:effectLst>
                  <a:outerShdw blurRad="38100" dist="38100" dir="2700000" algn="tl">
                    <a:srgbClr val="000000">
                      <a:alpha val="43137"/>
                    </a:srgbClr>
                  </a:outerShdw>
                </a:effectLst>
              </a:rPr>
              <a:t>, MBA, BBA, BICTED, BSCFO, TM, ISP, CMP)</a:t>
            </a:r>
          </a:p>
          <a:p>
            <a:endParaRPr lang="en-US" dirty="0"/>
          </a:p>
        </p:txBody>
      </p:sp>
    </p:spTree>
    <p:extLst>
      <p:ext uri="{BB962C8B-B14F-4D97-AF65-F5344CB8AC3E}">
        <p14:creationId xmlns:p14="http://schemas.microsoft.com/office/powerpoint/2010/main" val="13923663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Unit 2: Supply and Demand Analysis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a:bodyPr>
          <a:lstStyle/>
          <a:p>
            <a:pPr marL="0" indent="0">
              <a:buNone/>
            </a:pPr>
            <a:r>
              <a:rPr lang="en-US" dirty="0" smtClean="0"/>
              <a:t>⦁ </a:t>
            </a:r>
            <a:r>
              <a:rPr lang="en-US" dirty="0"/>
              <a:t>The law of demand: factors influencing consumer demand </a:t>
            </a:r>
            <a:endParaRPr lang="en-US" dirty="0" smtClean="0"/>
          </a:p>
          <a:p>
            <a:pPr marL="0" indent="0">
              <a:buNone/>
            </a:pPr>
            <a:r>
              <a:rPr lang="en-US" dirty="0" smtClean="0"/>
              <a:t>⦁ </a:t>
            </a:r>
            <a:r>
              <a:rPr lang="en-US" dirty="0"/>
              <a:t>The law of supply: factors influencing producer supply </a:t>
            </a:r>
          </a:p>
          <a:p>
            <a:pPr marL="0" indent="0">
              <a:buNone/>
            </a:pPr>
            <a:r>
              <a:rPr lang="en-US" dirty="0"/>
              <a:t>⦁ Market equilibrium and price determination: the interplay of supply and demand </a:t>
            </a:r>
          </a:p>
          <a:p>
            <a:pPr marL="0" indent="0">
              <a:buNone/>
            </a:pPr>
            <a:r>
              <a:rPr lang="en-US" dirty="0"/>
              <a:t>⦁ Shifts in supply and demand curves: causes and consequences </a:t>
            </a:r>
          </a:p>
          <a:p>
            <a:pPr marL="0" indent="0">
              <a:buNone/>
            </a:pPr>
            <a:r>
              <a:rPr lang="en-US" dirty="0"/>
              <a:t>⦁ Price elasticity of demand and supply: measuring responsiveness to price changes </a:t>
            </a:r>
          </a:p>
          <a:p>
            <a:pPr marL="0" indent="0">
              <a:buNone/>
            </a:pPr>
            <a:r>
              <a:rPr lang="en-US" dirty="0"/>
              <a:t>⦁ Cross-price elasticity and income elasticity </a:t>
            </a:r>
          </a:p>
          <a:p>
            <a:pPr marL="0" indent="0">
              <a:buNone/>
            </a:pPr>
            <a:r>
              <a:rPr lang="en-US" dirty="0"/>
              <a:t>⦁ Price controls and their impacts on markets </a:t>
            </a:r>
          </a:p>
          <a:p>
            <a:pPr marL="0" indent="0">
              <a:buNone/>
            </a:pPr>
            <a:r>
              <a:rPr lang="en-US" dirty="0"/>
              <a:t>⦁ Case studies of supply and demand in specific industries </a:t>
            </a:r>
          </a:p>
          <a:p>
            <a:pPr marL="0" indent="0">
              <a:buNone/>
            </a:pPr>
            <a:r>
              <a:rPr lang="en-US" dirty="0"/>
              <a:t>⦁ Government intervention in markets and its effects </a:t>
            </a:r>
          </a:p>
          <a:p>
            <a:pPr marL="0" indent="0">
              <a:buNone/>
            </a:pPr>
            <a:r>
              <a:rPr lang="en-US" dirty="0"/>
              <a:t>⦁ Global supply and demand considerations and international trade implications</a:t>
            </a:r>
          </a:p>
        </p:txBody>
      </p:sp>
    </p:spTree>
    <p:extLst>
      <p:ext uri="{BB962C8B-B14F-4D97-AF65-F5344CB8AC3E}">
        <p14:creationId xmlns:p14="http://schemas.microsoft.com/office/powerpoint/2010/main" val="195822851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The law of demand: factors influencing consumer demand</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a:t>In general, Demand means desire by human</a:t>
            </a:r>
            <a:r>
              <a:rPr lang="en-US" dirty="0" smtClean="0"/>
              <a:t>.</a:t>
            </a:r>
          </a:p>
          <a:p>
            <a:r>
              <a:rPr lang="en-US" dirty="0" smtClean="0"/>
              <a:t> </a:t>
            </a:r>
            <a:r>
              <a:rPr lang="en-US" dirty="0"/>
              <a:t>In economics, Demand refers to the desire backed by ability to pay and willingness to buy it. </a:t>
            </a:r>
            <a:endParaRPr lang="en-US" dirty="0" smtClean="0"/>
          </a:p>
          <a:p>
            <a:r>
              <a:rPr lang="en-US" dirty="0" smtClean="0"/>
              <a:t>A </a:t>
            </a:r>
            <a:r>
              <a:rPr lang="en-US" dirty="0"/>
              <a:t>beggar may desire to have a car, but his desire is not going to affect its market price as he is not having the necessary purchasing power to buy a car. </a:t>
            </a:r>
            <a:endParaRPr lang="en-US" dirty="0" smtClean="0"/>
          </a:p>
          <a:p>
            <a:r>
              <a:rPr lang="en-US" dirty="0" smtClean="0"/>
              <a:t>Thus</a:t>
            </a:r>
            <a:r>
              <a:rPr lang="en-US" dirty="0"/>
              <a:t>, desire backed by purchasing power is called demand.</a:t>
            </a:r>
          </a:p>
        </p:txBody>
      </p:sp>
    </p:spTree>
    <p:extLst>
      <p:ext uri="{BB962C8B-B14F-4D97-AF65-F5344CB8AC3E}">
        <p14:creationId xmlns:p14="http://schemas.microsoft.com/office/powerpoint/2010/main" val="111920532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KINDS OF DEMAND </a:t>
            </a:r>
            <a:r>
              <a:rPr lang="en-US" dirty="0" smtClean="0"/>
              <a:t/>
            </a:r>
            <a:br>
              <a:rPr lang="en-US" dirty="0" smtClean="0"/>
            </a:br>
            <a:endParaRPr lang="en-US" dirty="0"/>
          </a:p>
        </p:txBody>
      </p:sp>
      <p:sp>
        <p:nvSpPr>
          <p:cNvPr id="3" name="Content Placeholder 2"/>
          <p:cNvSpPr>
            <a:spLocks noGrp="1"/>
          </p:cNvSpPr>
          <p:nvPr>
            <p:ph idx="1"/>
          </p:nvPr>
        </p:nvSpPr>
        <p:spPr>
          <a:xfrm>
            <a:off x="838200" y="1031966"/>
            <a:ext cx="10515600" cy="5826034"/>
          </a:xfrm>
        </p:spPr>
        <p:txBody>
          <a:bodyPr>
            <a:normAutofit/>
          </a:bodyPr>
          <a:lstStyle/>
          <a:p>
            <a:pPr marL="0" indent="0">
              <a:buNone/>
            </a:pPr>
            <a:r>
              <a:rPr lang="en-US" b="1" dirty="0" smtClean="0"/>
              <a:t>I</a:t>
            </a:r>
            <a:r>
              <a:rPr lang="en-US" b="1" dirty="0"/>
              <a:t>. Direct Demand: </a:t>
            </a:r>
            <a:r>
              <a:rPr lang="en-US" dirty="0"/>
              <a:t>It refers to demand for a commodity that is directly consumed to satisfy human wants, for example demand for bread, butter and fruits. </a:t>
            </a:r>
          </a:p>
          <a:p>
            <a:pPr marL="0" indent="0">
              <a:buNone/>
            </a:pPr>
            <a:r>
              <a:rPr lang="en-US" dirty="0"/>
              <a:t>a) </a:t>
            </a:r>
            <a:r>
              <a:rPr lang="en-US" b="1" dirty="0"/>
              <a:t>Price Demand: </a:t>
            </a:r>
            <a:r>
              <a:rPr lang="en-US" dirty="0"/>
              <a:t>it refers to the demand for a commodity at a particular price </a:t>
            </a:r>
          </a:p>
          <a:p>
            <a:pPr marL="0" indent="0">
              <a:buNone/>
            </a:pPr>
            <a:r>
              <a:rPr lang="en-US" dirty="0"/>
              <a:t>b) </a:t>
            </a:r>
            <a:r>
              <a:rPr lang="en-US" b="1" dirty="0"/>
              <a:t>Income Demand: </a:t>
            </a:r>
            <a:r>
              <a:rPr lang="en-US" dirty="0"/>
              <a:t>It refers to the demand for a commodity at a various levels of consumer’s income </a:t>
            </a:r>
          </a:p>
          <a:p>
            <a:pPr marL="0" indent="0">
              <a:buNone/>
            </a:pPr>
            <a:r>
              <a:rPr lang="en-US" dirty="0"/>
              <a:t>c) </a:t>
            </a:r>
            <a:r>
              <a:rPr lang="en-US" b="1" dirty="0"/>
              <a:t>Cross Demand: </a:t>
            </a:r>
            <a:r>
              <a:rPr lang="en-US" dirty="0"/>
              <a:t>It refers to quantity demanded of a commodity due to change in the price of other commodity </a:t>
            </a:r>
          </a:p>
          <a:p>
            <a:pPr marL="0" indent="0">
              <a:buNone/>
            </a:pPr>
            <a:r>
              <a:rPr lang="en-US" b="1" dirty="0"/>
              <a:t>II. Indirect Demand or Derived Demand: </a:t>
            </a:r>
            <a:endParaRPr lang="en-US" dirty="0"/>
          </a:p>
          <a:p>
            <a:r>
              <a:rPr lang="en-US" dirty="0"/>
              <a:t>Demand for factors of production is indirect because they help in the production of a commodity which is directly demanded by the consumer in the market. </a:t>
            </a:r>
          </a:p>
          <a:p>
            <a:pPr marL="0" indent="0">
              <a:buNone/>
            </a:pPr>
            <a:r>
              <a:rPr lang="en-US" b="1" dirty="0"/>
              <a:t>III. Complementary Demand/ Joint Demand: </a:t>
            </a:r>
            <a:endParaRPr lang="en-US" dirty="0"/>
          </a:p>
          <a:p>
            <a:r>
              <a:rPr lang="en-US" dirty="0"/>
              <a:t>It refers to the demand for those goods for a commodity which are always demanded jointly. Example: car and petrol. </a:t>
            </a:r>
          </a:p>
          <a:p>
            <a:pPr marL="0" indent="0">
              <a:buNone/>
            </a:pPr>
            <a:r>
              <a:rPr lang="en-US" b="1" dirty="0"/>
              <a:t>IV. Composite Demand: </a:t>
            </a:r>
            <a:endParaRPr lang="en-US" dirty="0"/>
          </a:p>
          <a:p>
            <a:r>
              <a:rPr lang="en-US" dirty="0"/>
              <a:t>It refers to the total demand for a commodity which can be used for various purposes.</a:t>
            </a:r>
          </a:p>
        </p:txBody>
      </p:sp>
    </p:spTree>
    <p:extLst>
      <p:ext uri="{BB962C8B-B14F-4D97-AF65-F5344CB8AC3E}">
        <p14:creationId xmlns:p14="http://schemas.microsoft.com/office/powerpoint/2010/main" val="32179594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LAW OF DEMAND – ALFRED MARSHALL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Definition</a:t>
            </a:r>
            <a:r>
              <a:rPr lang="en-US" dirty="0"/>
              <a:t>: The law of demand states that , other things remaining equal, </a:t>
            </a:r>
            <a:endParaRPr lang="en-US" dirty="0" smtClean="0"/>
          </a:p>
          <a:p>
            <a:r>
              <a:rPr lang="en-US" dirty="0"/>
              <a:t>T</a:t>
            </a:r>
            <a:r>
              <a:rPr lang="en-US" dirty="0" smtClean="0"/>
              <a:t>he </a:t>
            </a:r>
            <a:r>
              <a:rPr lang="en-US" dirty="0"/>
              <a:t>quantity demanded for a commodity increases when its price falls and </a:t>
            </a:r>
            <a:endParaRPr lang="en-US" dirty="0" smtClean="0"/>
          </a:p>
          <a:p>
            <a:r>
              <a:rPr lang="en-US" dirty="0" smtClean="0"/>
              <a:t>Decreases </a:t>
            </a:r>
            <a:r>
              <a:rPr lang="en-US" dirty="0"/>
              <a:t>when the price rises. </a:t>
            </a:r>
            <a:endParaRPr lang="en-US" dirty="0" smtClean="0"/>
          </a:p>
          <a:p>
            <a:r>
              <a:rPr lang="en-US" dirty="0" smtClean="0"/>
              <a:t>There </a:t>
            </a:r>
            <a:r>
              <a:rPr lang="en-US" dirty="0"/>
              <a:t>is a inverse relationship between the price of the good and the quantity demanded of that good. </a:t>
            </a:r>
          </a:p>
        </p:txBody>
      </p:sp>
    </p:spTree>
    <p:extLst>
      <p:ext uri="{BB962C8B-B14F-4D97-AF65-F5344CB8AC3E}">
        <p14:creationId xmlns:p14="http://schemas.microsoft.com/office/powerpoint/2010/main" val="46300337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3691"/>
            <a:ext cx="10515600" cy="1058093"/>
          </a:xfrm>
        </p:spPr>
        <p:txBody>
          <a:bodyPr>
            <a:normAutofit fontScale="90000"/>
          </a:bodyPr>
          <a:lstStyle/>
          <a:p>
            <a:r>
              <a:rPr lang="en-US" b="1" dirty="0" smtClean="0"/>
              <a:t>FACTOR AFFECTING THE DEMAND </a:t>
            </a:r>
            <a:r>
              <a:rPr lang="en-US" dirty="0" smtClean="0"/>
              <a:t/>
            </a:r>
            <a:br>
              <a:rPr lang="en-US" dirty="0" smtClean="0"/>
            </a:br>
            <a:endParaRPr lang="en-US" dirty="0"/>
          </a:p>
        </p:txBody>
      </p:sp>
      <p:sp>
        <p:nvSpPr>
          <p:cNvPr id="3" name="Content Placeholder 2"/>
          <p:cNvSpPr>
            <a:spLocks noGrp="1"/>
          </p:cNvSpPr>
          <p:nvPr>
            <p:ph idx="1"/>
          </p:nvPr>
        </p:nvSpPr>
        <p:spPr>
          <a:xfrm>
            <a:off x="838200" y="1058090"/>
            <a:ext cx="10515600" cy="5799909"/>
          </a:xfrm>
        </p:spPr>
        <p:txBody>
          <a:bodyPr>
            <a:normAutofit/>
          </a:bodyPr>
          <a:lstStyle/>
          <a:p>
            <a:pPr marL="0" indent="0">
              <a:buNone/>
            </a:pPr>
            <a:r>
              <a:rPr lang="en-US" b="1" dirty="0" smtClean="0"/>
              <a:t>1</a:t>
            </a:r>
            <a:r>
              <a:rPr lang="en-US" b="1" dirty="0"/>
              <a:t>. Price of the Given Commodity: </a:t>
            </a:r>
            <a:r>
              <a:rPr lang="en-US" dirty="0"/>
              <a:t>It is the most important factor affecting demand for the given commodity. Generally, there exists an inverse relationship between price and quantity demanded. </a:t>
            </a:r>
          </a:p>
          <a:p>
            <a:pPr marL="0" indent="0">
              <a:buNone/>
            </a:pPr>
            <a:r>
              <a:rPr lang="en-US" b="1" dirty="0"/>
              <a:t>2. Price of substitutes/related goods: </a:t>
            </a:r>
            <a:r>
              <a:rPr lang="en-US" dirty="0"/>
              <a:t>Some goods can be substituted for other goods. For example, tea and coffee are substitutes. If the price of coffee increases while the price of tea remains the same, there will be increase in the demand for tea and decrease in the demand for coffee. </a:t>
            </a:r>
          </a:p>
          <a:p>
            <a:pPr marL="0" indent="0">
              <a:buNone/>
            </a:pPr>
            <a:r>
              <a:rPr lang="en-US" b="1" dirty="0"/>
              <a:t>3. Income of the consumer: </a:t>
            </a:r>
            <a:r>
              <a:rPr lang="en-US" dirty="0"/>
              <a:t>When the income of the consumer increases, more will be demanded. Comforts and luxuries belong to this category </a:t>
            </a:r>
          </a:p>
          <a:p>
            <a:pPr marL="0" indent="0">
              <a:buNone/>
            </a:pPr>
            <a:r>
              <a:rPr lang="en-US" b="1" dirty="0"/>
              <a:t>4. Tastes and preferences of the consumer: </a:t>
            </a:r>
            <a:r>
              <a:rPr lang="en-US" dirty="0"/>
              <a:t>Demand for a commodity may change due to a change in tastes, preferences and fashion. </a:t>
            </a:r>
          </a:p>
          <a:p>
            <a:pPr marL="0" indent="0">
              <a:buNone/>
            </a:pPr>
            <a:r>
              <a:rPr lang="en-US" b="1" dirty="0"/>
              <a:t>5. Expectation of future price change: </a:t>
            </a:r>
            <a:r>
              <a:rPr lang="en-US" dirty="0"/>
              <a:t>If the consumer believes that the price of a commodity will rise in the future, he may buy a larger quantity in the present. Suppose he expects the price to fall, he may defer some of his purchases to a future date. </a:t>
            </a:r>
          </a:p>
        </p:txBody>
      </p:sp>
    </p:spTree>
    <p:extLst>
      <p:ext uri="{BB962C8B-B14F-4D97-AF65-F5344CB8AC3E}">
        <p14:creationId xmlns:p14="http://schemas.microsoft.com/office/powerpoint/2010/main" val="12707334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ASSUMPTIONS OF THE LAW OF DEMAND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dirty="0" smtClean="0"/>
              <a:t>The </a:t>
            </a:r>
            <a:r>
              <a:rPr lang="en-US" dirty="0"/>
              <a:t>price of the related goods remains the same </a:t>
            </a:r>
          </a:p>
          <a:p>
            <a:r>
              <a:rPr lang="en-US" dirty="0"/>
              <a:t>The income of the consumers remain unchanged </a:t>
            </a:r>
          </a:p>
          <a:p>
            <a:r>
              <a:rPr lang="en-US" dirty="0"/>
              <a:t>Tastes and preferences of the consumer remain the same </a:t>
            </a:r>
          </a:p>
          <a:p>
            <a:pPr marL="0" indent="0">
              <a:buNone/>
            </a:pPr>
            <a:r>
              <a:rPr lang="en-US" b="1" dirty="0"/>
              <a:t>DEMAND SCHEDULE FOR ORANGE </a:t>
            </a:r>
            <a:endParaRPr lang="en-US" b="1" dirty="0" smtClean="0"/>
          </a:p>
          <a:p>
            <a:pPr marL="0" indent="0">
              <a:buNone/>
            </a:pP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2461455826"/>
              </p:ext>
            </p:extLst>
          </p:nvPr>
        </p:nvGraphicFramePr>
        <p:xfrm>
          <a:off x="838200" y="4001294"/>
          <a:ext cx="7200900" cy="2691765"/>
        </p:xfrm>
        <a:graphic>
          <a:graphicData uri="http://schemas.openxmlformats.org/drawingml/2006/table">
            <a:tbl>
              <a:tblPr>
                <a:tableStyleId>{5C22544A-7EE6-4342-B048-85BDC9FD1C3A}</a:tableStyleId>
              </a:tblPr>
              <a:tblGrid>
                <a:gridCol w="4065383">
                  <a:extLst>
                    <a:ext uri="{9D8B030D-6E8A-4147-A177-3AD203B41FA5}">
                      <a16:colId xmlns:a16="http://schemas.microsoft.com/office/drawing/2014/main" val="264364009"/>
                    </a:ext>
                  </a:extLst>
                </a:gridCol>
                <a:gridCol w="3135517">
                  <a:extLst>
                    <a:ext uri="{9D8B030D-6E8A-4147-A177-3AD203B41FA5}">
                      <a16:colId xmlns:a16="http://schemas.microsoft.com/office/drawing/2014/main" val="2335053402"/>
                    </a:ext>
                  </a:extLst>
                </a:gridCol>
              </a:tblGrid>
              <a:tr h="457200">
                <a:tc>
                  <a:txBody>
                    <a:bodyPr/>
                    <a:lstStyle/>
                    <a:p>
                      <a:pPr algn="l" rtl="0" fontAlgn="ctr"/>
                      <a:r>
                        <a:rPr lang="en-US" sz="2800" u="none" strike="noStrike" dirty="0">
                          <a:effectLst/>
                        </a:rPr>
                        <a:t>Price of Oranges (Kwacha) </a:t>
                      </a:r>
                      <a:endParaRPr lang="en-US" sz="28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l" rtl="0" fontAlgn="ctr"/>
                      <a:r>
                        <a:rPr lang="en-US" sz="2800" u="none" strike="noStrike">
                          <a:effectLst/>
                        </a:rPr>
                        <a:t>Quantity of Oranges </a:t>
                      </a:r>
                      <a:endParaRPr lang="en-US" sz="2800" b="1"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532433274"/>
                  </a:ext>
                </a:extLst>
              </a:tr>
              <a:tr h="457200">
                <a:tc>
                  <a:txBody>
                    <a:bodyPr/>
                    <a:lstStyle/>
                    <a:p>
                      <a:pPr algn="l" rtl="0" fontAlgn="ctr"/>
                      <a:r>
                        <a:rPr lang="en-US" sz="2800" u="none" strike="noStrike" dirty="0">
                          <a:effectLst/>
                        </a:rPr>
                        <a:t>10</a:t>
                      </a:r>
                      <a:endParaRPr lang="en-US" sz="2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l" rtl="0" fontAlgn="ctr"/>
                      <a:r>
                        <a:rPr lang="en-US" sz="2800" u="none" strike="noStrike" dirty="0">
                          <a:effectLst/>
                        </a:rPr>
                        <a:t>2</a:t>
                      </a:r>
                      <a:endParaRPr lang="en-US" sz="2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76613520"/>
                  </a:ext>
                </a:extLst>
              </a:tr>
              <a:tr h="457200">
                <a:tc>
                  <a:txBody>
                    <a:bodyPr/>
                    <a:lstStyle/>
                    <a:p>
                      <a:pPr algn="l" rtl="0" fontAlgn="ctr"/>
                      <a:r>
                        <a:rPr lang="en-US" sz="2800" u="none" strike="noStrike">
                          <a:effectLst/>
                        </a:rPr>
                        <a:t>8</a:t>
                      </a:r>
                      <a:endParaRPr lang="en-US" sz="2800" b="0" i="0" u="none" strike="noStrike">
                        <a:solidFill>
                          <a:srgbClr val="000000"/>
                        </a:solidFill>
                        <a:effectLst/>
                        <a:latin typeface="Calibri" panose="020F0502020204030204" pitchFamily="34" charset="0"/>
                      </a:endParaRPr>
                    </a:p>
                  </a:txBody>
                  <a:tcPr marL="9525" marR="9525" marT="9525" marB="0" anchor="ctr"/>
                </a:tc>
                <a:tc>
                  <a:txBody>
                    <a:bodyPr/>
                    <a:lstStyle/>
                    <a:p>
                      <a:pPr algn="l" rtl="0" fontAlgn="ctr"/>
                      <a:r>
                        <a:rPr lang="en-US" sz="2800" u="none" strike="noStrike" dirty="0">
                          <a:effectLst/>
                        </a:rPr>
                        <a:t>5</a:t>
                      </a:r>
                      <a:endParaRPr lang="en-US" sz="2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972474761"/>
                  </a:ext>
                </a:extLst>
              </a:tr>
              <a:tr h="457200">
                <a:tc>
                  <a:txBody>
                    <a:bodyPr/>
                    <a:lstStyle/>
                    <a:p>
                      <a:pPr algn="l" rtl="0" fontAlgn="ctr"/>
                      <a:r>
                        <a:rPr lang="en-US" sz="2800" u="none" strike="noStrike">
                          <a:effectLst/>
                        </a:rPr>
                        <a:t>6</a:t>
                      </a:r>
                      <a:endParaRPr lang="en-US" sz="2800" b="0" i="0" u="none" strike="noStrike">
                        <a:solidFill>
                          <a:srgbClr val="000000"/>
                        </a:solidFill>
                        <a:effectLst/>
                        <a:latin typeface="Calibri" panose="020F0502020204030204" pitchFamily="34" charset="0"/>
                      </a:endParaRPr>
                    </a:p>
                  </a:txBody>
                  <a:tcPr marL="9525" marR="9525" marT="9525" marB="0" anchor="ctr"/>
                </a:tc>
                <a:tc>
                  <a:txBody>
                    <a:bodyPr/>
                    <a:lstStyle/>
                    <a:p>
                      <a:pPr algn="l" rtl="0" fontAlgn="ctr"/>
                      <a:r>
                        <a:rPr lang="en-US" sz="2800" u="none" strike="noStrike" dirty="0">
                          <a:effectLst/>
                        </a:rPr>
                        <a:t>8</a:t>
                      </a:r>
                      <a:endParaRPr lang="en-US" sz="2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432721884"/>
                  </a:ext>
                </a:extLst>
              </a:tr>
              <a:tr h="457200">
                <a:tc>
                  <a:txBody>
                    <a:bodyPr/>
                    <a:lstStyle/>
                    <a:p>
                      <a:pPr algn="l" rtl="0" fontAlgn="ctr"/>
                      <a:r>
                        <a:rPr lang="en-US" sz="2800" u="none" strike="noStrike">
                          <a:effectLst/>
                        </a:rPr>
                        <a:t>5</a:t>
                      </a:r>
                      <a:endParaRPr lang="en-US" sz="2800" b="0" i="0" u="none" strike="noStrike">
                        <a:solidFill>
                          <a:srgbClr val="000000"/>
                        </a:solidFill>
                        <a:effectLst/>
                        <a:latin typeface="Calibri" panose="020F0502020204030204" pitchFamily="34" charset="0"/>
                      </a:endParaRPr>
                    </a:p>
                  </a:txBody>
                  <a:tcPr marL="9525" marR="9525" marT="9525" marB="0" anchor="ctr"/>
                </a:tc>
                <a:tc>
                  <a:txBody>
                    <a:bodyPr/>
                    <a:lstStyle/>
                    <a:p>
                      <a:pPr algn="l" rtl="0" fontAlgn="ctr"/>
                      <a:r>
                        <a:rPr lang="en-US" sz="2800" u="none" strike="noStrike" dirty="0">
                          <a:effectLst/>
                        </a:rPr>
                        <a:t>10</a:t>
                      </a:r>
                      <a:endParaRPr lang="en-US" sz="2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891634376"/>
                  </a:ext>
                </a:extLst>
              </a:tr>
            </a:tbl>
          </a:graphicData>
        </a:graphic>
      </p:graphicFrame>
    </p:spTree>
    <p:extLst>
      <p:ext uri="{BB962C8B-B14F-4D97-AF65-F5344CB8AC3E}">
        <p14:creationId xmlns:p14="http://schemas.microsoft.com/office/powerpoint/2010/main" val="237850721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DEMAND CURVE </a:t>
            </a:r>
          </a:p>
        </p:txBody>
      </p:sp>
      <p:pic>
        <p:nvPicPr>
          <p:cNvPr id="4" name="Content Placeholder 3"/>
          <p:cNvPicPr>
            <a:picLocks noGrp="1" noChangeAspect="1"/>
          </p:cNvPicPr>
          <p:nvPr>
            <p:ph idx="1"/>
          </p:nvPr>
        </p:nvPicPr>
        <p:blipFill>
          <a:blip r:embed="rId2"/>
          <a:stretch>
            <a:fillRect/>
          </a:stretch>
        </p:blipFill>
        <p:spPr>
          <a:xfrm>
            <a:off x="3326027" y="2744275"/>
            <a:ext cx="3299983" cy="2714063"/>
          </a:xfrm>
          <a:prstGeom prst="rect">
            <a:avLst/>
          </a:prstGeom>
        </p:spPr>
      </p:pic>
    </p:spTree>
    <p:extLst>
      <p:ext uri="{BB962C8B-B14F-4D97-AF65-F5344CB8AC3E}">
        <p14:creationId xmlns:p14="http://schemas.microsoft.com/office/powerpoint/2010/main" val="34441936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MARKET DEMAND SCHEDULE </a:t>
            </a:r>
            <a:r>
              <a:rPr lang="en-US" dirty="0" smtClean="0">
                <a:effectLst>
                  <a:outerShdw blurRad="38100" dist="38100" dir="2700000" algn="tl">
                    <a:srgbClr val="000000">
                      <a:alpha val="43137"/>
                    </a:srgbClr>
                  </a:outerShdw>
                </a:effectLst>
              </a:rPr>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dirty="0" smtClean="0"/>
              <a:t>A </a:t>
            </a:r>
            <a:r>
              <a:rPr lang="en-US" dirty="0"/>
              <a:t>demand schedule for a market can be constructed by adding up demand schedules of the individual consumers in the market. </a:t>
            </a:r>
            <a:endParaRPr lang="en-US" dirty="0" smtClean="0"/>
          </a:p>
          <a:p>
            <a:r>
              <a:rPr lang="en-US" dirty="0" smtClean="0"/>
              <a:t>Suppose </a:t>
            </a:r>
            <a:r>
              <a:rPr lang="en-US" dirty="0"/>
              <a:t>that the market for Apple consists of 2 consumers. The market demand is calculated as follows. </a:t>
            </a:r>
          </a:p>
          <a:p>
            <a:pPr marL="0" indent="0">
              <a:buNone/>
            </a:pPr>
            <a:r>
              <a:rPr lang="en-US" dirty="0" smtClean="0">
                <a:solidFill>
                  <a:srgbClr val="000000"/>
                </a:solidFill>
                <a:latin typeface="Times New Roman" panose="02020603050405020304" pitchFamily="18" charset="0"/>
              </a:rPr>
              <a:t>		</a:t>
            </a:r>
          </a:p>
          <a:p>
            <a:pPr marL="0" indent="0">
              <a:buNone/>
            </a:pPr>
            <a:r>
              <a:rPr lang="en-US" dirty="0" smtClean="0">
                <a:solidFill>
                  <a:srgbClr val="000000"/>
                </a:solidFill>
                <a:latin typeface="Times New Roman" panose="02020603050405020304" pitchFamily="18" charset="0"/>
              </a:rPr>
              <a:t>	</a:t>
            </a:r>
          </a:p>
          <a:p>
            <a:pPr marL="0" indent="0">
              <a:buNone/>
            </a:pPr>
            <a:endParaRPr lang="en-US" dirty="0"/>
          </a:p>
        </p:txBody>
      </p:sp>
    </p:spTree>
    <p:extLst>
      <p:ext uri="{BB962C8B-B14F-4D97-AF65-F5344CB8AC3E}">
        <p14:creationId xmlns:p14="http://schemas.microsoft.com/office/powerpoint/2010/main" val="4846955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MARKET DEMAND SCHEDULE FOR APPLE</a:t>
            </a:r>
            <a:endParaRPr lang="en-US" dirty="0">
              <a:effectLst>
                <a:outerShdw blurRad="38100" dist="38100" dir="2700000" algn="tl">
                  <a:srgbClr val="000000">
                    <a:alpha val="43137"/>
                  </a:srgbClr>
                </a:outerShdw>
              </a:effectLst>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469465335"/>
              </p:ext>
            </p:extLst>
          </p:nvPr>
        </p:nvGraphicFramePr>
        <p:xfrm>
          <a:off x="838200" y="1825625"/>
          <a:ext cx="8412480" cy="259588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4289329"/>
                    </a:ext>
                  </a:extLst>
                </a:gridCol>
                <a:gridCol w="2103120">
                  <a:extLst>
                    <a:ext uri="{9D8B030D-6E8A-4147-A177-3AD203B41FA5}">
                      <a16:colId xmlns:a16="http://schemas.microsoft.com/office/drawing/2014/main" val="3967487298"/>
                    </a:ext>
                  </a:extLst>
                </a:gridCol>
                <a:gridCol w="2103120">
                  <a:extLst>
                    <a:ext uri="{9D8B030D-6E8A-4147-A177-3AD203B41FA5}">
                      <a16:colId xmlns:a16="http://schemas.microsoft.com/office/drawing/2014/main" val="1012592278"/>
                    </a:ext>
                  </a:extLst>
                </a:gridCol>
                <a:gridCol w="2103120">
                  <a:extLst>
                    <a:ext uri="{9D8B030D-6E8A-4147-A177-3AD203B41FA5}">
                      <a16:colId xmlns:a16="http://schemas.microsoft.com/office/drawing/2014/main" val="4097148651"/>
                    </a:ext>
                  </a:extLst>
                </a:gridCol>
              </a:tblGrid>
              <a:tr h="370840">
                <a:tc>
                  <a:txBody>
                    <a:bodyPr/>
                    <a:lstStyle/>
                    <a:p>
                      <a:r>
                        <a:rPr lang="en-US" b="1" dirty="0" smtClean="0">
                          <a:solidFill>
                            <a:srgbClr val="000000"/>
                          </a:solidFill>
                          <a:latin typeface="Times New Roman" panose="02020603050405020304" pitchFamily="18" charset="0"/>
                        </a:rPr>
                        <a:t>Price (Kwacha) </a:t>
                      </a:r>
                      <a:endParaRPr lang="en-US" dirty="0"/>
                    </a:p>
                  </a:txBody>
                  <a:tcPr/>
                </a:tc>
                <a:tc gridSpan="3">
                  <a:txBody>
                    <a:bodyPr/>
                    <a:lstStyle/>
                    <a:p>
                      <a:pPr algn="ctr"/>
                      <a:r>
                        <a:rPr lang="en-US" b="1" dirty="0" smtClean="0">
                          <a:solidFill>
                            <a:srgbClr val="000000"/>
                          </a:solidFill>
                          <a:latin typeface="Times New Roman" panose="02020603050405020304" pitchFamily="18" charset="0"/>
                        </a:rPr>
                        <a:t>Quantity Demanded</a:t>
                      </a:r>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2315814159"/>
                  </a:ext>
                </a:extLst>
              </a:tr>
              <a:tr h="370840">
                <a:tc>
                  <a:txBody>
                    <a:bodyPr/>
                    <a:lstStyle/>
                    <a:p>
                      <a:endParaRPr lang="en-US" dirty="0"/>
                    </a:p>
                  </a:txBody>
                  <a:tcPr/>
                </a:tc>
                <a:tc>
                  <a:txBody>
                    <a:bodyPr/>
                    <a:lstStyle/>
                    <a:p>
                      <a:r>
                        <a:rPr lang="en-US" b="1" dirty="0" smtClean="0">
                          <a:solidFill>
                            <a:srgbClr val="000000"/>
                          </a:solidFill>
                          <a:latin typeface="Times New Roman" panose="02020603050405020304" pitchFamily="18" charset="0"/>
                        </a:rPr>
                        <a:t>Quantity </a:t>
                      </a:r>
                      <a:r>
                        <a:rPr lang="en-US" sz="1800" b="1" i="0" u="none" strike="noStrike" baseline="0" dirty="0" smtClean="0">
                          <a:solidFill>
                            <a:srgbClr val="000000"/>
                          </a:solidFill>
                          <a:latin typeface="Times New Roman" panose="02020603050405020304" pitchFamily="18" charset="0"/>
                        </a:rPr>
                        <a:t>A </a:t>
                      </a:r>
                      <a:r>
                        <a:rPr lang="en-US" sz="1800" b="0" i="0" u="none" strike="noStrike" baseline="0" dirty="0" smtClean="0">
                          <a:solidFill>
                            <a:srgbClr val="000000"/>
                          </a:solidFill>
                          <a:latin typeface="Times New Roman" panose="02020603050405020304" pitchFamily="18" charset="0"/>
                        </a:rPr>
                        <a:t>		</a:t>
                      </a:r>
                      <a:endParaRPr lang="en-US" dirty="0"/>
                    </a:p>
                  </a:txBody>
                  <a:tcPr/>
                </a:tc>
                <a:tc>
                  <a:txBody>
                    <a:bodyPr/>
                    <a:lstStyle/>
                    <a:p>
                      <a:r>
                        <a:rPr lang="en-US" b="1" dirty="0" smtClean="0">
                          <a:solidFill>
                            <a:srgbClr val="000000"/>
                          </a:solidFill>
                          <a:latin typeface="Times New Roman" panose="02020603050405020304" pitchFamily="18" charset="0"/>
                        </a:rPr>
                        <a:t>Quantity </a:t>
                      </a:r>
                      <a:r>
                        <a:rPr lang="en-US" sz="1800" b="1" i="0" u="none" strike="noStrike" baseline="0" dirty="0" smtClean="0">
                          <a:solidFill>
                            <a:srgbClr val="000000"/>
                          </a:solidFill>
                          <a:latin typeface="Times New Roman" panose="02020603050405020304" pitchFamily="18" charset="0"/>
                        </a:rPr>
                        <a:t>B</a:t>
                      </a:r>
                      <a:endParaRPr lang="en-US" dirty="0"/>
                    </a:p>
                  </a:txBody>
                  <a:tcPr/>
                </a:tc>
                <a:tc>
                  <a:txBody>
                    <a:bodyPr/>
                    <a:lstStyle/>
                    <a:p>
                      <a:r>
                        <a:rPr lang="en-US" b="1" dirty="0" smtClean="0">
                          <a:solidFill>
                            <a:srgbClr val="000000"/>
                          </a:solidFill>
                          <a:latin typeface="Times New Roman" panose="02020603050405020304" pitchFamily="18" charset="0"/>
                        </a:rPr>
                        <a:t>Quantity </a:t>
                      </a:r>
                      <a:r>
                        <a:rPr lang="en-US" sz="1800" b="1" i="0" u="none" strike="noStrike" baseline="0" dirty="0" smtClean="0">
                          <a:solidFill>
                            <a:srgbClr val="000000"/>
                          </a:solidFill>
                          <a:latin typeface="Times New Roman" panose="02020603050405020304" pitchFamily="18" charset="0"/>
                        </a:rPr>
                        <a:t>A+B</a:t>
                      </a:r>
                      <a:endParaRPr lang="en-US" dirty="0"/>
                    </a:p>
                  </a:txBody>
                  <a:tcPr/>
                </a:tc>
                <a:extLst>
                  <a:ext uri="{0D108BD9-81ED-4DB2-BD59-A6C34878D82A}">
                    <a16:rowId xmlns:a16="http://schemas.microsoft.com/office/drawing/2014/main" val="279079654"/>
                  </a:ext>
                </a:extLst>
              </a:tr>
              <a:tr h="370840">
                <a:tc>
                  <a:txBody>
                    <a:bodyPr/>
                    <a:lstStyle/>
                    <a:p>
                      <a:r>
                        <a:rPr lang="en-US" dirty="0" smtClean="0"/>
                        <a:t>12</a:t>
                      </a:r>
                      <a:endParaRPr lang="en-US" dirty="0"/>
                    </a:p>
                  </a:txBody>
                  <a:tcPr/>
                </a:tc>
                <a:tc>
                  <a:txBody>
                    <a:bodyPr/>
                    <a:lstStyle/>
                    <a:p>
                      <a:r>
                        <a:rPr lang="en-US" dirty="0" smtClean="0"/>
                        <a:t>1</a:t>
                      </a:r>
                      <a:endParaRPr lang="en-US" dirty="0"/>
                    </a:p>
                  </a:txBody>
                  <a:tcPr/>
                </a:tc>
                <a:tc>
                  <a:txBody>
                    <a:bodyPr/>
                    <a:lstStyle/>
                    <a:p>
                      <a:r>
                        <a:rPr lang="en-US" dirty="0" smtClean="0"/>
                        <a:t>2</a:t>
                      </a:r>
                      <a:endParaRPr lang="en-US" dirty="0"/>
                    </a:p>
                  </a:txBody>
                  <a:tcPr/>
                </a:tc>
                <a:tc>
                  <a:txBody>
                    <a:bodyPr/>
                    <a:lstStyle/>
                    <a:p>
                      <a:r>
                        <a:rPr lang="en-US" dirty="0" smtClean="0"/>
                        <a:t>3</a:t>
                      </a:r>
                      <a:endParaRPr lang="en-US" dirty="0"/>
                    </a:p>
                  </a:txBody>
                  <a:tcPr/>
                </a:tc>
                <a:extLst>
                  <a:ext uri="{0D108BD9-81ED-4DB2-BD59-A6C34878D82A}">
                    <a16:rowId xmlns:a16="http://schemas.microsoft.com/office/drawing/2014/main" val="1135083527"/>
                  </a:ext>
                </a:extLst>
              </a:tr>
              <a:tr h="370840">
                <a:tc>
                  <a:txBody>
                    <a:bodyPr/>
                    <a:lstStyle/>
                    <a:p>
                      <a:r>
                        <a:rPr lang="en-US" dirty="0" smtClean="0"/>
                        <a:t>11</a:t>
                      </a:r>
                      <a:endParaRPr lang="en-US" dirty="0"/>
                    </a:p>
                  </a:txBody>
                  <a:tcPr/>
                </a:tc>
                <a:tc>
                  <a:txBody>
                    <a:bodyPr/>
                    <a:lstStyle/>
                    <a:p>
                      <a:r>
                        <a:rPr lang="en-US" dirty="0" smtClean="0"/>
                        <a:t>2</a:t>
                      </a:r>
                      <a:endParaRPr lang="en-US" dirty="0"/>
                    </a:p>
                  </a:txBody>
                  <a:tcPr/>
                </a:tc>
                <a:tc>
                  <a:txBody>
                    <a:bodyPr/>
                    <a:lstStyle/>
                    <a:p>
                      <a:r>
                        <a:rPr lang="en-US" dirty="0" smtClean="0"/>
                        <a:t>3</a:t>
                      </a:r>
                      <a:endParaRPr lang="en-US" dirty="0"/>
                    </a:p>
                  </a:txBody>
                  <a:tcPr/>
                </a:tc>
                <a:tc>
                  <a:txBody>
                    <a:bodyPr/>
                    <a:lstStyle/>
                    <a:p>
                      <a:r>
                        <a:rPr lang="en-US" dirty="0" smtClean="0"/>
                        <a:t>5</a:t>
                      </a:r>
                      <a:endParaRPr lang="en-US" dirty="0"/>
                    </a:p>
                  </a:txBody>
                  <a:tcPr/>
                </a:tc>
                <a:extLst>
                  <a:ext uri="{0D108BD9-81ED-4DB2-BD59-A6C34878D82A}">
                    <a16:rowId xmlns:a16="http://schemas.microsoft.com/office/drawing/2014/main" val="2877246190"/>
                  </a:ext>
                </a:extLst>
              </a:tr>
              <a:tr h="370840">
                <a:tc>
                  <a:txBody>
                    <a:bodyPr/>
                    <a:lstStyle/>
                    <a:p>
                      <a:r>
                        <a:rPr lang="en-US" dirty="0" smtClean="0"/>
                        <a:t>10</a:t>
                      </a:r>
                      <a:endParaRPr lang="en-US" dirty="0"/>
                    </a:p>
                  </a:txBody>
                  <a:tcPr/>
                </a:tc>
                <a:tc>
                  <a:txBody>
                    <a:bodyPr/>
                    <a:lstStyle/>
                    <a:p>
                      <a:r>
                        <a:rPr lang="en-US" dirty="0" smtClean="0"/>
                        <a:t>3</a:t>
                      </a:r>
                      <a:endParaRPr lang="en-US" dirty="0"/>
                    </a:p>
                  </a:txBody>
                  <a:tcPr/>
                </a:tc>
                <a:tc>
                  <a:txBody>
                    <a:bodyPr/>
                    <a:lstStyle/>
                    <a:p>
                      <a:r>
                        <a:rPr lang="en-US" dirty="0" smtClean="0"/>
                        <a:t>4</a:t>
                      </a:r>
                      <a:endParaRPr lang="en-US" dirty="0"/>
                    </a:p>
                  </a:txBody>
                  <a:tcPr/>
                </a:tc>
                <a:tc>
                  <a:txBody>
                    <a:bodyPr/>
                    <a:lstStyle/>
                    <a:p>
                      <a:r>
                        <a:rPr lang="en-US" dirty="0" smtClean="0"/>
                        <a:t>7</a:t>
                      </a:r>
                      <a:endParaRPr lang="en-US" dirty="0"/>
                    </a:p>
                  </a:txBody>
                  <a:tcPr/>
                </a:tc>
                <a:extLst>
                  <a:ext uri="{0D108BD9-81ED-4DB2-BD59-A6C34878D82A}">
                    <a16:rowId xmlns:a16="http://schemas.microsoft.com/office/drawing/2014/main" val="3960767270"/>
                  </a:ext>
                </a:extLst>
              </a:tr>
              <a:tr h="370840">
                <a:tc>
                  <a:txBody>
                    <a:bodyPr/>
                    <a:lstStyle/>
                    <a:p>
                      <a:r>
                        <a:rPr lang="en-US" dirty="0" smtClean="0"/>
                        <a:t>9</a:t>
                      </a:r>
                      <a:endParaRPr lang="en-US" dirty="0"/>
                    </a:p>
                  </a:txBody>
                  <a:tcPr/>
                </a:tc>
                <a:tc>
                  <a:txBody>
                    <a:bodyPr/>
                    <a:lstStyle/>
                    <a:p>
                      <a:r>
                        <a:rPr lang="en-US" dirty="0" smtClean="0"/>
                        <a:t>4</a:t>
                      </a:r>
                      <a:endParaRPr lang="en-US" dirty="0"/>
                    </a:p>
                  </a:txBody>
                  <a:tcPr/>
                </a:tc>
                <a:tc>
                  <a:txBody>
                    <a:bodyPr/>
                    <a:lstStyle/>
                    <a:p>
                      <a:r>
                        <a:rPr lang="en-US" dirty="0" smtClean="0"/>
                        <a:t>5</a:t>
                      </a:r>
                      <a:endParaRPr lang="en-US" dirty="0"/>
                    </a:p>
                  </a:txBody>
                  <a:tcPr/>
                </a:tc>
                <a:tc>
                  <a:txBody>
                    <a:bodyPr/>
                    <a:lstStyle/>
                    <a:p>
                      <a:r>
                        <a:rPr lang="en-US" dirty="0" smtClean="0"/>
                        <a:t>9</a:t>
                      </a:r>
                      <a:endParaRPr lang="en-US" dirty="0"/>
                    </a:p>
                  </a:txBody>
                  <a:tcPr/>
                </a:tc>
                <a:extLst>
                  <a:ext uri="{0D108BD9-81ED-4DB2-BD59-A6C34878D82A}">
                    <a16:rowId xmlns:a16="http://schemas.microsoft.com/office/drawing/2014/main" val="2734046650"/>
                  </a:ext>
                </a:extLst>
              </a:tr>
              <a:tr h="370840">
                <a:tc>
                  <a:txBody>
                    <a:bodyPr/>
                    <a:lstStyle/>
                    <a:p>
                      <a:r>
                        <a:rPr lang="en-US" dirty="0" smtClean="0"/>
                        <a:t>8</a:t>
                      </a:r>
                      <a:endParaRPr lang="en-US" dirty="0"/>
                    </a:p>
                  </a:txBody>
                  <a:tcPr/>
                </a:tc>
                <a:tc>
                  <a:txBody>
                    <a:bodyPr/>
                    <a:lstStyle/>
                    <a:p>
                      <a:r>
                        <a:rPr lang="en-US" dirty="0" smtClean="0"/>
                        <a:t>5</a:t>
                      </a:r>
                      <a:endParaRPr lang="en-US" dirty="0"/>
                    </a:p>
                  </a:txBody>
                  <a:tcPr/>
                </a:tc>
                <a:tc>
                  <a:txBody>
                    <a:bodyPr/>
                    <a:lstStyle/>
                    <a:p>
                      <a:r>
                        <a:rPr lang="en-US" dirty="0" smtClean="0"/>
                        <a:t>6</a:t>
                      </a:r>
                      <a:endParaRPr lang="en-US" dirty="0"/>
                    </a:p>
                  </a:txBody>
                  <a:tcPr/>
                </a:tc>
                <a:tc>
                  <a:txBody>
                    <a:bodyPr/>
                    <a:lstStyle/>
                    <a:p>
                      <a:r>
                        <a:rPr lang="en-US" dirty="0" smtClean="0"/>
                        <a:t>11</a:t>
                      </a:r>
                      <a:endParaRPr lang="en-US" dirty="0"/>
                    </a:p>
                  </a:txBody>
                  <a:tcPr/>
                </a:tc>
                <a:extLst>
                  <a:ext uri="{0D108BD9-81ED-4DB2-BD59-A6C34878D82A}">
                    <a16:rowId xmlns:a16="http://schemas.microsoft.com/office/drawing/2014/main" val="821519307"/>
                  </a:ext>
                </a:extLst>
              </a:tr>
            </a:tbl>
          </a:graphicData>
        </a:graphic>
      </p:graphicFrame>
    </p:spTree>
    <p:extLst>
      <p:ext uri="{BB962C8B-B14F-4D97-AF65-F5344CB8AC3E}">
        <p14:creationId xmlns:p14="http://schemas.microsoft.com/office/powerpoint/2010/main" val="7450082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DERIVATION OF MARKET DEMAND CURVE</a:t>
            </a:r>
          </a:p>
        </p:txBody>
      </p:sp>
      <p:pic>
        <p:nvPicPr>
          <p:cNvPr id="4" name="Content Placeholder 3"/>
          <p:cNvPicPr>
            <a:picLocks noGrp="1" noChangeAspect="1"/>
          </p:cNvPicPr>
          <p:nvPr>
            <p:ph idx="1"/>
          </p:nvPr>
        </p:nvPicPr>
        <p:blipFill>
          <a:blip r:embed="rId2"/>
          <a:stretch>
            <a:fillRect/>
          </a:stretch>
        </p:blipFill>
        <p:spPr>
          <a:xfrm>
            <a:off x="627017" y="1985554"/>
            <a:ext cx="10633166" cy="4728755"/>
          </a:xfrm>
          <a:prstGeom prst="rect">
            <a:avLst/>
          </a:prstGeom>
        </p:spPr>
      </p:pic>
    </p:spTree>
    <p:extLst>
      <p:ext uri="{BB962C8B-B14F-4D97-AF65-F5344CB8AC3E}">
        <p14:creationId xmlns:p14="http://schemas.microsoft.com/office/powerpoint/2010/main" val="758252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effectLst>
                  <a:outerShdw blurRad="38100" dist="38100" dir="2700000" algn="tl">
                    <a:srgbClr val="000000">
                      <a:alpha val="43137"/>
                    </a:srgbClr>
                  </a:outerShdw>
                </a:effectLst>
              </a:rPr>
              <a:t>REASONS BEHIND DOWNWARD SLOPE OF THE DEMAND CURVE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463040"/>
            <a:ext cx="10515600" cy="5146766"/>
          </a:xfrm>
        </p:spPr>
        <p:txBody>
          <a:bodyPr>
            <a:normAutofit/>
          </a:bodyPr>
          <a:lstStyle/>
          <a:p>
            <a:pPr marL="0" indent="0">
              <a:buNone/>
            </a:pPr>
            <a:r>
              <a:rPr lang="en-US" b="1" dirty="0" smtClean="0"/>
              <a:t>1</a:t>
            </a:r>
            <a:r>
              <a:rPr lang="en-US" b="1" dirty="0"/>
              <a:t>. Law of diminishing marginal utility: </a:t>
            </a:r>
            <a:r>
              <a:rPr lang="en-US" dirty="0"/>
              <a:t>The law of demand is based on the law of diminishing marginal utility which states that as the consumer purchases more and more units of a commodity, </a:t>
            </a:r>
            <a:endParaRPr lang="en-US" dirty="0" smtClean="0"/>
          </a:p>
          <a:p>
            <a:r>
              <a:rPr lang="en-US" dirty="0" smtClean="0"/>
              <a:t>The </a:t>
            </a:r>
            <a:r>
              <a:rPr lang="en-US" dirty="0"/>
              <a:t>utility derived from such successive unit goes on decreasing. </a:t>
            </a:r>
            <a:endParaRPr lang="en-US" dirty="0" smtClean="0"/>
          </a:p>
          <a:p>
            <a:r>
              <a:rPr lang="en-US" dirty="0" smtClean="0"/>
              <a:t>Like </a:t>
            </a:r>
            <a:r>
              <a:rPr lang="en-US" dirty="0"/>
              <a:t>that, consumer purchases more of the commodity so that his marginal utility from the commodity falls to be equal to the reduced price and vice‐ versa. </a:t>
            </a:r>
          </a:p>
          <a:p>
            <a:pPr marL="0" indent="0">
              <a:buNone/>
            </a:pPr>
            <a:r>
              <a:rPr lang="en-US" b="1" dirty="0"/>
              <a:t>2. Substitution Effect: </a:t>
            </a:r>
            <a:r>
              <a:rPr lang="en-US" dirty="0"/>
              <a:t>The substitution effect is the effect that a change in relative prices of substitute goods changes the quantity demanded. </a:t>
            </a:r>
            <a:endParaRPr lang="en-US" dirty="0" smtClean="0"/>
          </a:p>
          <a:p>
            <a:r>
              <a:rPr lang="en-US" dirty="0" smtClean="0"/>
              <a:t>When </a:t>
            </a:r>
            <a:r>
              <a:rPr lang="en-US" dirty="0"/>
              <a:t>the price of a good rises the consumer prefers to buy its substitute goods which have became relatively cheaper. </a:t>
            </a:r>
          </a:p>
        </p:txBody>
      </p:sp>
    </p:spTree>
    <p:extLst>
      <p:ext uri="{BB962C8B-B14F-4D97-AF65-F5344CB8AC3E}">
        <p14:creationId xmlns:p14="http://schemas.microsoft.com/office/powerpoint/2010/main" val="39665452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3. Income Effect: </a:t>
            </a:r>
            <a:r>
              <a:rPr lang="en-US" dirty="0" smtClean="0"/>
              <a:t>Change in demand on account of change in real income resulting from change in the price of a commodity is known as income effect. </a:t>
            </a:r>
          </a:p>
          <a:p>
            <a:r>
              <a:rPr lang="en-US" b="1" dirty="0" smtClean="0"/>
              <a:t>4. Several Uses. </a:t>
            </a:r>
            <a:r>
              <a:rPr lang="en-US" dirty="0" smtClean="0"/>
              <a:t>Some commodities can be put to several uses which lead to downward slope of the demand curve. </a:t>
            </a:r>
          </a:p>
          <a:p>
            <a:r>
              <a:rPr lang="en-US" dirty="0" smtClean="0"/>
              <a:t>When the price of such commodities goes up they will be used for important purposes, so their demand will be limited. </a:t>
            </a:r>
          </a:p>
          <a:p>
            <a:endParaRPr lang="en-US" dirty="0"/>
          </a:p>
        </p:txBody>
      </p:sp>
    </p:spTree>
    <p:extLst>
      <p:ext uri="{BB962C8B-B14F-4D97-AF65-F5344CB8AC3E}">
        <p14:creationId xmlns:p14="http://schemas.microsoft.com/office/powerpoint/2010/main" val="373952053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EXCEPTIONS TO THE LAW OF DEMAND </a:t>
            </a:r>
            <a:r>
              <a:rPr lang="en-US" dirty="0" smtClean="0">
                <a:effectLst>
                  <a:outerShdw blurRad="38100" dist="38100" dir="2700000" algn="tl">
                    <a:srgbClr val="000000">
                      <a:alpha val="43137"/>
                    </a:srgbClr>
                  </a:outerShdw>
                </a:effectLst>
              </a:rPr>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dirty="0" smtClean="0"/>
              <a:t>The </a:t>
            </a:r>
            <a:r>
              <a:rPr lang="en-US" dirty="0"/>
              <a:t>Law of demand is a general statement telling that prices and quantities of a commodity are inversely related. </a:t>
            </a:r>
            <a:endParaRPr lang="en-US" dirty="0" smtClean="0"/>
          </a:p>
          <a:p>
            <a:r>
              <a:rPr lang="en-US" dirty="0" smtClean="0"/>
              <a:t>There </a:t>
            </a:r>
            <a:r>
              <a:rPr lang="en-US" dirty="0"/>
              <a:t>are certain peculiar cases in which the law of demand will not hold good. </a:t>
            </a:r>
          </a:p>
          <a:p>
            <a:r>
              <a:rPr lang="en-US" b="1" dirty="0"/>
              <a:t>I. Veblen Effect: </a:t>
            </a:r>
            <a:r>
              <a:rPr lang="en-US" dirty="0"/>
              <a:t>Veblen has pointed out that there are some goods demanded by very rich people for their social prestige. </a:t>
            </a:r>
            <a:endParaRPr lang="en-US" dirty="0" smtClean="0"/>
          </a:p>
          <a:p>
            <a:r>
              <a:rPr lang="en-US" dirty="0" smtClean="0"/>
              <a:t>When </a:t>
            </a:r>
            <a:r>
              <a:rPr lang="en-US" dirty="0"/>
              <a:t>price of such goods rise, their use becomes more attractive and they are purchased in larger quantities. </a:t>
            </a:r>
            <a:endParaRPr lang="en-US" dirty="0" smtClean="0"/>
          </a:p>
          <a:p>
            <a:r>
              <a:rPr lang="en-US" dirty="0" smtClean="0"/>
              <a:t>Demand </a:t>
            </a:r>
            <a:r>
              <a:rPr lang="en-US" dirty="0"/>
              <a:t>for diamonds from the richer class will go up if there is increase in price. If such goods were cheaper, the rich would not even purchase. </a:t>
            </a:r>
          </a:p>
          <a:p>
            <a:pPr marL="0" indent="0">
              <a:buNone/>
            </a:pPr>
            <a:endParaRPr lang="en-US" dirty="0"/>
          </a:p>
        </p:txBody>
      </p:sp>
    </p:spTree>
    <p:extLst>
      <p:ext uri="{BB962C8B-B14F-4D97-AF65-F5344CB8AC3E}">
        <p14:creationId xmlns:p14="http://schemas.microsoft.com/office/powerpoint/2010/main" val="232377144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II. </a:t>
            </a:r>
            <a:r>
              <a:rPr lang="en-US" b="1" dirty="0" err="1" smtClean="0"/>
              <a:t>Giffen</a:t>
            </a:r>
            <a:r>
              <a:rPr lang="en-US" b="1" dirty="0" smtClean="0"/>
              <a:t> Paradox : </a:t>
            </a:r>
            <a:r>
              <a:rPr lang="en-US" dirty="0" smtClean="0"/>
              <a:t>Sir Robert </a:t>
            </a:r>
            <a:r>
              <a:rPr lang="en-US" dirty="0" err="1" smtClean="0"/>
              <a:t>Giffen</a:t>
            </a:r>
            <a:r>
              <a:rPr lang="en-US" dirty="0" smtClean="0"/>
              <a:t> discovered that the poor people will,</a:t>
            </a:r>
          </a:p>
          <a:p>
            <a:r>
              <a:rPr lang="en-US" dirty="0" smtClean="0"/>
              <a:t>Demand more of inferior goods if their prices rise and </a:t>
            </a:r>
          </a:p>
          <a:p>
            <a:r>
              <a:rPr lang="en-US" dirty="0" smtClean="0"/>
              <a:t>Demand less if their prices fall. </a:t>
            </a:r>
          </a:p>
          <a:p>
            <a:r>
              <a:rPr lang="en-US" dirty="0" smtClean="0"/>
              <a:t>For example, poor people spend the major part of their income on coarse grains (e.g. Maize ) and only a small part on rice. </a:t>
            </a:r>
          </a:p>
          <a:p>
            <a:endParaRPr lang="en-US" dirty="0"/>
          </a:p>
        </p:txBody>
      </p:sp>
    </p:spTree>
    <p:extLst>
      <p:ext uri="{BB962C8B-B14F-4D97-AF65-F5344CB8AC3E}">
        <p14:creationId xmlns:p14="http://schemas.microsoft.com/office/powerpoint/2010/main" val="59502277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effectLst>
                  <a:outerShdw blurRad="38100" dist="38100" dir="2700000" algn="tl">
                    <a:srgbClr val="000000">
                      <a:alpha val="43137"/>
                    </a:srgbClr>
                  </a:outerShdw>
                </a:effectLst>
              </a:rPr>
              <a:t>MOVEMENT IN DEMAND CURVE OR EXPANSION AND CONTRACTION OF DEMAND </a:t>
            </a:r>
            <a:br>
              <a:rPr lang="en-US" b="1" dirty="0" smtClean="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A </a:t>
            </a:r>
            <a:r>
              <a:rPr lang="en-US" dirty="0"/>
              <a:t>movement along the demand curve is caused by a change in the price of the goods only other things remaining constant. </a:t>
            </a:r>
          </a:p>
          <a:p>
            <a:pPr marL="0" indent="0">
              <a:buNone/>
            </a:pPr>
            <a:r>
              <a:rPr lang="en-US" b="1" dirty="0"/>
              <a:t>I. Expansion of Demand: </a:t>
            </a:r>
            <a:endParaRPr lang="en-US" dirty="0"/>
          </a:p>
          <a:p>
            <a:r>
              <a:rPr lang="en-US" dirty="0"/>
              <a:t>It refers to rise in demand due to fall in the price of the goods. </a:t>
            </a:r>
          </a:p>
          <a:p>
            <a:pPr marL="0" indent="0">
              <a:buNone/>
            </a:pPr>
            <a:r>
              <a:rPr lang="en-US" b="1" dirty="0"/>
              <a:t>II. Contraction of Demand: </a:t>
            </a:r>
            <a:endParaRPr lang="en-US" dirty="0"/>
          </a:p>
          <a:p>
            <a:r>
              <a:rPr lang="en-US" dirty="0"/>
              <a:t>It refers to fall in demand due to rise in the price of goods. </a:t>
            </a:r>
          </a:p>
        </p:txBody>
      </p:sp>
    </p:spTree>
    <p:extLst>
      <p:ext uri="{BB962C8B-B14F-4D97-AF65-F5344CB8AC3E}">
        <p14:creationId xmlns:p14="http://schemas.microsoft.com/office/powerpoint/2010/main" val="162873874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57201"/>
            <a:ext cx="10515600" cy="1233488"/>
          </a:xfrm>
        </p:spPr>
        <p:txBody>
          <a:bodyPr>
            <a:normAutofit fontScale="90000"/>
          </a:bodyPr>
          <a:lstStyle/>
          <a:p>
            <a:r>
              <a:rPr lang="en-US" b="1" dirty="0" smtClean="0">
                <a:effectLst>
                  <a:outerShdw blurRad="38100" dist="38100" dir="2700000" algn="tl">
                    <a:srgbClr val="000000">
                      <a:alpha val="43137"/>
                    </a:srgbClr>
                  </a:outerShdw>
                </a:effectLst>
              </a:rPr>
              <a:t>MOVEMENT IN DEMAND CURVE OR EXPANSION AND CONTRACTION OF DEMAND </a:t>
            </a:r>
            <a:br>
              <a:rPr lang="en-US" b="1" dirty="0" smtClean="0">
                <a:effectLst>
                  <a:outerShdw blurRad="38100" dist="38100" dir="2700000" algn="tl">
                    <a:srgbClr val="000000">
                      <a:alpha val="43137"/>
                    </a:srgbClr>
                  </a:outerShdw>
                </a:effectLst>
              </a:rPr>
            </a:br>
            <a:endParaRPr lang="en-US" dirty="0"/>
          </a:p>
        </p:txBody>
      </p:sp>
      <p:sp>
        <p:nvSpPr>
          <p:cNvPr id="5" name="Content Placeholder 4"/>
          <p:cNvSpPr>
            <a:spLocks noGrp="1"/>
          </p:cNvSpPr>
          <p:nvPr>
            <p:ph idx="1"/>
          </p:nvPr>
        </p:nvSpPr>
        <p:spPr>
          <a:xfrm>
            <a:off x="337700" y="1690689"/>
            <a:ext cx="8596668" cy="5454694"/>
          </a:xfrm>
        </p:spPr>
        <p:txBody>
          <a:bodyPr/>
          <a:lstStyle/>
          <a:p>
            <a:pPr marL="0" indent="0">
              <a:buNone/>
            </a:pPr>
            <a:r>
              <a:rPr lang="en-US" b="1" dirty="0"/>
              <a:t>Expansion in demand: </a:t>
            </a:r>
            <a:r>
              <a:rPr lang="en-US" dirty="0"/>
              <a:t>A fall in price from K16 to K12 leads to an expansion (increase) in demand. As price falls, there is a movement along the demand curve and more is bought. </a:t>
            </a:r>
            <a:endParaRPr lang="en-US" dirty="0" smtClean="0"/>
          </a:p>
          <a:p>
            <a:pPr marL="0" indent="0">
              <a:buNone/>
            </a:pPr>
            <a:r>
              <a:rPr lang="en-US" b="1" dirty="0"/>
              <a:t>Contraction in demand: </a:t>
            </a:r>
            <a:r>
              <a:rPr lang="en-US" dirty="0"/>
              <a:t>An increase in price from K12 to K16 causes a movement along the demand curve, and quantity demand falls from 80 to 60. We say this is a contraction in demand </a:t>
            </a:r>
          </a:p>
        </p:txBody>
      </p:sp>
      <p:pic>
        <p:nvPicPr>
          <p:cNvPr id="6" name="Picture 5"/>
          <p:cNvPicPr>
            <a:picLocks noChangeAspect="1"/>
          </p:cNvPicPr>
          <p:nvPr/>
        </p:nvPicPr>
        <p:blipFill>
          <a:blip r:embed="rId2"/>
          <a:stretch>
            <a:fillRect/>
          </a:stretch>
        </p:blipFill>
        <p:spPr>
          <a:xfrm>
            <a:off x="2306642" y="3814353"/>
            <a:ext cx="5802167" cy="3095845"/>
          </a:xfrm>
          <a:prstGeom prst="rect">
            <a:avLst/>
          </a:prstGeom>
        </p:spPr>
      </p:pic>
    </p:spTree>
    <p:extLst>
      <p:ext uri="{BB962C8B-B14F-4D97-AF65-F5344CB8AC3E}">
        <p14:creationId xmlns:p14="http://schemas.microsoft.com/office/powerpoint/2010/main" val="111691523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SHIFTS IN DEMAND OR INCREASE AND DECREASE IN DEMAND </a:t>
            </a:r>
            <a:r>
              <a:rPr lang="en-US" dirty="0" smtClean="0"/>
              <a:t/>
            </a:r>
            <a:br>
              <a:rPr lang="en-US" dirty="0" smtClean="0"/>
            </a:br>
            <a:endParaRPr lang="en-US" dirty="0"/>
          </a:p>
        </p:txBody>
      </p:sp>
      <p:sp>
        <p:nvSpPr>
          <p:cNvPr id="3" name="Content Placeholder 2"/>
          <p:cNvSpPr>
            <a:spLocks noGrp="1"/>
          </p:cNvSpPr>
          <p:nvPr>
            <p:ph idx="1"/>
          </p:nvPr>
        </p:nvSpPr>
        <p:spPr>
          <a:xfrm>
            <a:off x="838200" y="1463041"/>
            <a:ext cx="10515600" cy="5185954"/>
          </a:xfrm>
        </p:spPr>
        <p:txBody>
          <a:bodyPr>
            <a:normAutofit/>
          </a:bodyPr>
          <a:lstStyle/>
          <a:p>
            <a:pPr marL="0" indent="0">
              <a:buNone/>
            </a:pPr>
            <a:r>
              <a:rPr lang="en-US" dirty="0" smtClean="0"/>
              <a:t>The </a:t>
            </a:r>
            <a:r>
              <a:rPr lang="en-US" dirty="0"/>
              <a:t>shift of the demand curve is caused by changes in factors other than price of goods. These factors are </a:t>
            </a:r>
          </a:p>
          <a:p>
            <a:pPr marL="0" indent="0">
              <a:buNone/>
            </a:pPr>
            <a:r>
              <a:rPr lang="en-US" dirty="0"/>
              <a:t>A) Consumer’s income </a:t>
            </a:r>
          </a:p>
          <a:p>
            <a:pPr marL="0" indent="0">
              <a:buNone/>
            </a:pPr>
            <a:r>
              <a:rPr lang="en-US" dirty="0"/>
              <a:t>B) Price of relative or substitute goods </a:t>
            </a:r>
          </a:p>
          <a:p>
            <a:pPr marL="0" indent="0">
              <a:buNone/>
            </a:pPr>
            <a:r>
              <a:rPr lang="en-US" dirty="0"/>
              <a:t>C) Consumer’s taste and preferences </a:t>
            </a:r>
          </a:p>
          <a:p>
            <a:pPr marL="0" indent="0">
              <a:buNone/>
            </a:pPr>
            <a:r>
              <a:rPr lang="en-US" b="1" dirty="0"/>
              <a:t>I. Increase in Demand: </a:t>
            </a:r>
            <a:endParaRPr lang="en-US" dirty="0"/>
          </a:p>
          <a:p>
            <a:r>
              <a:rPr lang="en-US" dirty="0"/>
              <a:t>It refers to the situation when the consumers buy a large amount of commodity at the same price. </a:t>
            </a:r>
          </a:p>
          <a:p>
            <a:r>
              <a:rPr lang="en-US" dirty="0"/>
              <a:t>The reasons are; </a:t>
            </a:r>
          </a:p>
          <a:p>
            <a:r>
              <a:rPr lang="en-US" dirty="0"/>
              <a:t>Increases in the income of consumer </a:t>
            </a:r>
          </a:p>
          <a:p>
            <a:r>
              <a:rPr lang="en-US" dirty="0"/>
              <a:t>Increase in the price of substitute goods </a:t>
            </a:r>
          </a:p>
          <a:p>
            <a:r>
              <a:rPr lang="en-US" dirty="0"/>
              <a:t>Expectation of rise in price in future </a:t>
            </a:r>
          </a:p>
          <a:p>
            <a:r>
              <a:rPr lang="en-US" dirty="0"/>
              <a:t>Increase in population </a:t>
            </a:r>
          </a:p>
          <a:p>
            <a:endParaRPr lang="en-US" dirty="0"/>
          </a:p>
          <a:p>
            <a:pPr marL="0" indent="0">
              <a:buNone/>
            </a:pPr>
            <a:endParaRPr lang="en-US" dirty="0"/>
          </a:p>
        </p:txBody>
      </p:sp>
    </p:spTree>
    <p:extLst>
      <p:ext uri="{BB962C8B-B14F-4D97-AF65-F5344CB8AC3E}">
        <p14:creationId xmlns:p14="http://schemas.microsoft.com/office/powerpoint/2010/main" val="78858162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II. </a:t>
            </a:r>
            <a:r>
              <a:rPr lang="en-US" b="1" dirty="0" smtClean="0"/>
              <a:t>Decrease </a:t>
            </a:r>
            <a:r>
              <a:rPr lang="en-US" b="1" dirty="0"/>
              <a:t>in </a:t>
            </a:r>
            <a:r>
              <a:rPr lang="en-US" b="1" dirty="0" smtClean="0"/>
              <a:t>Demand</a:t>
            </a:r>
            <a:r>
              <a:rPr lang="en-US" b="1" dirty="0"/>
              <a:t>: </a:t>
            </a:r>
            <a:endParaRPr lang="en-US" dirty="0"/>
          </a:p>
        </p:txBody>
      </p:sp>
      <p:sp>
        <p:nvSpPr>
          <p:cNvPr id="3" name="Content Placeholder 2"/>
          <p:cNvSpPr>
            <a:spLocks noGrp="1"/>
          </p:cNvSpPr>
          <p:nvPr>
            <p:ph idx="1"/>
          </p:nvPr>
        </p:nvSpPr>
        <p:spPr/>
        <p:txBody>
          <a:bodyPr/>
          <a:lstStyle/>
          <a:p>
            <a:r>
              <a:rPr lang="en-US" dirty="0"/>
              <a:t>It </a:t>
            </a:r>
            <a:r>
              <a:rPr lang="en-US" dirty="0" smtClean="0"/>
              <a:t>refers to a situation </a:t>
            </a:r>
            <a:r>
              <a:rPr lang="en-US" dirty="0"/>
              <a:t>when </a:t>
            </a:r>
            <a:r>
              <a:rPr lang="en-US" dirty="0" smtClean="0"/>
              <a:t>the consumers </a:t>
            </a:r>
            <a:r>
              <a:rPr lang="en-US" dirty="0"/>
              <a:t>buy a </a:t>
            </a:r>
            <a:r>
              <a:rPr lang="en-US" dirty="0" smtClean="0"/>
              <a:t>smaller quantity </a:t>
            </a:r>
            <a:r>
              <a:rPr lang="en-US" dirty="0"/>
              <a:t>of thee </a:t>
            </a:r>
            <a:r>
              <a:rPr lang="en-US" dirty="0" smtClean="0"/>
              <a:t>commodity </a:t>
            </a:r>
            <a:r>
              <a:rPr lang="en-US" dirty="0"/>
              <a:t>at the </a:t>
            </a:r>
            <a:r>
              <a:rPr lang="en-US" dirty="0" smtClean="0"/>
              <a:t>same price.</a:t>
            </a:r>
            <a:endParaRPr lang="en-US" dirty="0"/>
          </a:p>
          <a:p>
            <a:r>
              <a:rPr lang="en-US" dirty="0"/>
              <a:t>The </a:t>
            </a:r>
            <a:r>
              <a:rPr lang="en-US" dirty="0" smtClean="0"/>
              <a:t>reasons </a:t>
            </a:r>
            <a:r>
              <a:rPr lang="en-US" dirty="0"/>
              <a:t>are; </a:t>
            </a:r>
          </a:p>
          <a:p>
            <a:r>
              <a:rPr lang="en-US" dirty="0" smtClean="0"/>
              <a:t>Fall </a:t>
            </a:r>
            <a:r>
              <a:rPr lang="en-US" dirty="0"/>
              <a:t>in the </a:t>
            </a:r>
            <a:r>
              <a:rPr lang="en-US" dirty="0" smtClean="0"/>
              <a:t>income </a:t>
            </a:r>
            <a:r>
              <a:rPr lang="en-US" dirty="0"/>
              <a:t>of thee </a:t>
            </a:r>
            <a:r>
              <a:rPr lang="en-US" dirty="0" smtClean="0"/>
              <a:t>consumers </a:t>
            </a:r>
            <a:endParaRPr lang="en-US" dirty="0"/>
          </a:p>
          <a:p>
            <a:r>
              <a:rPr lang="en-US" dirty="0" smtClean="0"/>
              <a:t>Fall </a:t>
            </a:r>
            <a:r>
              <a:rPr lang="en-US" dirty="0"/>
              <a:t>in the </a:t>
            </a:r>
            <a:r>
              <a:rPr lang="en-US" dirty="0" smtClean="0"/>
              <a:t>price </a:t>
            </a:r>
            <a:r>
              <a:rPr lang="en-US" dirty="0"/>
              <a:t>of the </a:t>
            </a:r>
            <a:r>
              <a:rPr lang="en-US" dirty="0" smtClean="0"/>
              <a:t>substitute goods </a:t>
            </a:r>
            <a:endParaRPr lang="en-US" dirty="0"/>
          </a:p>
          <a:p>
            <a:r>
              <a:rPr lang="en-US" dirty="0" smtClean="0"/>
              <a:t>Expectation of </a:t>
            </a:r>
            <a:r>
              <a:rPr lang="en-US" dirty="0"/>
              <a:t>fall in </a:t>
            </a:r>
            <a:r>
              <a:rPr lang="en-US" dirty="0" smtClean="0"/>
              <a:t>price </a:t>
            </a:r>
            <a:endParaRPr lang="en-US" dirty="0"/>
          </a:p>
          <a:p>
            <a:r>
              <a:rPr lang="en-US" dirty="0"/>
              <a:t>Decrease in </a:t>
            </a:r>
            <a:r>
              <a:rPr lang="en-US" dirty="0" smtClean="0"/>
              <a:t>Population </a:t>
            </a:r>
            <a:endParaRPr lang="en-US" dirty="0"/>
          </a:p>
          <a:p>
            <a:r>
              <a:rPr lang="en-US" dirty="0" smtClean="0"/>
              <a:t>Consumers’ taste becoming unfavorable towards </a:t>
            </a:r>
            <a:r>
              <a:rPr lang="en-US" dirty="0"/>
              <a:t>the </a:t>
            </a:r>
            <a:r>
              <a:rPr lang="en-US" dirty="0" smtClean="0"/>
              <a:t>goods </a:t>
            </a:r>
            <a:endParaRPr lang="en-US" dirty="0"/>
          </a:p>
          <a:p>
            <a:endParaRPr lang="en-US" dirty="0"/>
          </a:p>
        </p:txBody>
      </p:sp>
    </p:spTree>
    <p:extLst>
      <p:ext uri="{BB962C8B-B14F-4D97-AF65-F5344CB8AC3E}">
        <p14:creationId xmlns:p14="http://schemas.microsoft.com/office/powerpoint/2010/main" val="221388953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SHIFTTS IN DEMMAND OR IINCREASEE AND DECREASE IIN DEMANND </a:t>
            </a:r>
          </a:p>
        </p:txBody>
      </p:sp>
      <p:pic>
        <p:nvPicPr>
          <p:cNvPr id="4" name="Content Placeholder 3"/>
          <p:cNvPicPr>
            <a:picLocks noGrp="1" noChangeAspect="1"/>
          </p:cNvPicPr>
          <p:nvPr>
            <p:ph idx="1"/>
          </p:nvPr>
        </p:nvPicPr>
        <p:blipFill>
          <a:blip r:embed="rId2"/>
          <a:stretch>
            <a:fillRect/>
          </a:stretch>
        </p:blipFill>
        <p:spPr>
          <a:xfrm>
            <a:off x="2095441" y="2183037"/>
            <a:ext cx="685918" cy="4351338"/>
          </a:xfrm>
          <a:prstGeom prst="rect">
            <a:avLst/>
          </a:prstGeom>
        </p:spPr>
      </p:pic>
      <p:pic>
        <p:nvPicPr>
          <p:cNvPr id="5" name="Picture 4"/>
          <p:cNvPicPr>
            <a:picLocks noChangeAspect="1"/>
          </p:cNvPicPr>
          <p:nvPr/>
        </p:nvPicPr>
        <p:blipFill>
          <a:blip r:embed="rId3"/>
          <a:stretch>
            <a:fillRect/>
          </a:stretch>
        </p:blipFill>
        <p:spPr>
          <a:xfrm>
            <a:off x="2823243" y="2103973"/>
            <a:ext cx="1015379" cy="4792529"/>
          </a:xfrm>
          <a:prstGeom prst="rect">
            <a:avLst/>
          </a:prstGeom>
        </p:spPr>
      </p:pic>
      <p:pic>
        <p:nvPicPr>
          <p:cNvPr id="6" name="Picture 5"/>
          <p:cNvPicPr>
            <a:picLocks noChangeAspect="1"/>
          </p:cNvPicPr>
          <p:nvPr/>
        </p:nvPicPr>
        <p:blipFill>
          <a:blip r:embed="rId4"/>
          <a:stretch>
            <a:fillRect/>
          </a:stretch>
        </p:blipFill>
        <p:spPr>
          <a:xfrm>
            <a:off x="3796738" y="2065471"/>
            <a:ext cx="1051643" cy="4831031"/>
          </a:xfrm>
          <a:prstGeom prst="rect">
            <a:avLst/>
          </a:prstGeom>
        </p:spPr>
      </p:pic>
      <p:pic>
        <p:nvPicPr>
          <p:cNvPr id="7" name="Picture 6"/>
          <p:cNvPicPr>
            <a:picLocks noChangeAspect="1"/>
          </p:cNvPicPr>
          <p:nvPr/>
        </p:nvPicPr>
        <p:blipFill>
          <a:blip r:embed="rId5"/>
          <a:stretch>
            <a:fillRect/>
          </a:stretch>
        </p:blipFill>
        <p:spPr>
          <a:xfrm>
            <a:off x="4812117" y="2065471"/>
            <a:ext cx="1015379" cy="4831031"/>
          </a:xfrm>
          <a:prstGeom prst="rect">
            <a:avLst/>
          </a:prstGeom>
        </p:spPr>
      </p:pic>
      <p:pic>
        <p:nvPicPr>
          <p:cNvPr id="8" name="Picture 7"/>
          <p:cNvPicPr>
            <a:picLocks noChangeAspect="1"/>
          </p:cNvPicPr>
          <p:nvPr/>
        </p:nvPicPr>
        <p:blipFill>
          <a:blip r:embed="rId6"/>
          <a:stretch>
            <a:fillRect/>
          </a:stretch>
        </p:blipFill>
        <p:spPr>
          <a:xfrm>
            <a:off x="5791232" y="2065470"/>
            <a:ext cx="1051643" cy="4831031"/>
          </a:xfrm>
          <a:prstGeom prst="rect">
            <a:avLst/>
          </a:prstGeom>
        </p:spPr>
      </p:pic>
      <p:pic>
        <p:nvPicPr>
          <p:cNvPr id="9" name="Picture 8"/>
          <p:cNvPicPr>
            <a:picLocks noChangeAspect="1"/>
          </p:cNvPicPr>
          <p:nvPr/>
        </p:nvPicPr>
        <p:blipFill>
          <a:blip r:embed="rId7"/>
          <a:stretch>
            <a:fillRect/>
          </a:stretch>
        </p:blipFill>
        <p:spPr>
          <a:xfrm>
            <a:off x="6812231" y="2084721"/>
            <a:ext cx="1015379" cy="4831031"/>
          </a:xfrm>
          <a:prstGeom prst="rect">
            <a:avLst/>
          </a:prstGeom>
        </p:spPr>
      </p:pic>
      <p:pic>
        <p:nvPicPr>
          <p:cNvPr id="10" name="Picture 9"/>
          <p:cNvPicPr>
            <a:picLocks noChangeAspect="1"/>
          </p:cNvPicPr>
          <p:nvPr/>
        </p:nvPicPr>
        <p:blipFill>
          <a:blip r:embed="rId8"/>
          <a:stretch>
            <a:fillRect/>
          </a:stretch>
        </p:blipFill>
        <p:spPr>
          <a:xfrm>
            <a:off x="7821990" y="2065468"/>
            <a:ext cx="870325" cy="4831031"/>
          </a:xfrm>
          <a:prstGeom prst="rect">
            <a:avLst/>
          </a:prstGeom>
        </p:spPr>
      </p:pic>
    </p:spTree>
    <p:extLst>
      <p:ext uri="{BB962C8B-B14F-4D97-AF65-F5344CB8AC3E}">
        <p14:creationId xmlns:p14="http://schemas.microsoft.com/office/powerpoint/2010/main" val="401290062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ELASTICITY OF DEMAND - ALFRED MMARSHAALL </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r>
              <a:rPr lang="en-US" dirty="0"/>
              <a:t>The </a:t>
            </a:r>
            <a:r>
              <a:rPr lang="en-US" dirty="0" smtClean="0"/>
              <a:t>law of demand explains that demand will change due to the change in the price of the commodity</a:t>
            </a:r>
          </a:p>
          <a:p>
            <a:r>
              <a:rPr lang="en-US" dirty="0" smtClean="0"/>
              <a:t>But does not explain the rate at which demand changes due to changes in price, </a:t>
            </a:r>
          </a:p>
          <a:p>
            <a:r>
              <a:rPr lang="en-US" dirty="0" smtClean="0"/>
              <a:t>The concept of elasticity of demand measures the rate of change in demand </a:t>
            </a:r>
          </a:p>
          <a:p>
            <a:r>
              <a:rPr lang="en-US" b="1" dirty="0" smtClean="0"/>
              <a:t>DEFINITION </a:t>
            </a:r>
            <a:r>
              <a:rPr lang="en-US" b="1" dirty="0"/>
              <a:t>OF ELASTICITY OF DEMAND: </a:t>
            </a:r>
            <a:endParaRPr lang="en-US" dirty="0"/>
          </a:p>
          <a:p>
            <a:r>
              <a:rPr lang="en-US" dirty="0"/>
              <a:t>According to him “the elasticity (or responsiveness) of demand in a market is great or small according as the amount demanded increases much or little for a given fall in price, and diminishes much or little for a given rise in price”. </a:t>
            </a:r>
          </a:p>
        </p:txBody>
      </p:sp>
    </p:spTree>
    <p:extLst>
      <p:ext uri="{BB962C8B-B14F-4D97-AF65-F5344CB8AC3E}">
        <p14:creationId xmlns:p14="http://schemas.microsoft.com/office/powerpoint/2010/main" val="40449311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effectLst>
                  <a:outerShdw blurRad="38100" dist="38100" dir="2700000" algn="tl">
                    <a:srgbClr val="000000">
                      <a:alpha val="43137"/>
                    </a:srgbClr>
                  </a:outerShdw>
                </a:effectLst>
              </a:rPr>
              <a:t>FACTORS DETERMINING THE PRICE ELASTICITY OF DEMAND </a:t>
            </a:r>
            <a:br>
              <a:rPr lang="en-US" b="1" dirty="0" smtClean="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554480"/>
            <a:ext cx="10515600" cy="4885509"/>
          </a:xfrm>
        </p:spPr>
        <p:txBody>
          <a:bodyPr>
            <a:normAutofit/>
          </a:bodyPr>
          <a:lstStyle/>
          <a:p>
            <a:r>
              <a:rPr lang="en-US" b="1" dirty="0" smtClean="0"/>
              <a:t>1</a:t>
            </a:r>
            <a:r>
              <a:rPr lang="en-US" b="1" dirty="0"/>
              <a:t>. Availability of Substitute: </a:t>
            </a:r>
            <a:r>
              <a:rPr lang="en-US" dirty="0"/>
              <a:t>Goods having close substitutes will have an elastic demand and goods with no close substitutes will have an inelastic demand. Commodities such as Pen, Pepsi, </a:t>
            </a:r>
            <a:r>
              <a:rPr lang="en-US" dirty="0" err="1"/>
              <a:t>Maruti</a:t>
            </a:r>
            <a:r>
              <a:rPr lang="en-US" dirty="0"/>
              <a:t> car have close substitutes and hence have an elastic demand. </a:t>
            </a:r>
          </a:p>
          <a:p>
            <a:r>
              <a:rPr lang="en-US" b="1" dirty="0"/>
              <a:t>2. Income of the consumers: </a:t>
            </a:r>
            <a:r>
              <a:rPr lang="en-US" dirty="0"/>
              <a:t>If the income level of consumers is high, the elasticity of demand will be less. It is because change in the price will not affect the quantity demanded by greater proportion </a:t>
            </a:r>
          </a:p>
          <a:p>
            <a:r>
              <a:rPr lang="en-US" b="1" dirty="0"/>
              <a:t>3. Luxuries versus Necessities: </a:t>
            </a:r>
            <a:r>
              <a:rPr lang="en-US" dirty="0"/>
              <a:t>The price elasticity of demand is likely to be low for necessities and high for luxuries </a:t>
            </a:r>
          </a:p>
          <a:p>
            <a:r>
              <a:rPr lang="en-US" b="1" dirty="0"/>
              <a:t>4. Number of uses of the commodity: </a:t>
            </a:r>
            <a:r>
              <a:rPr lang="en-US" dirty="0"/>
              <a:t>The more the number of uses of a commodity has more elastic demand. If a commodity has few uses it has an inelastic demand. </a:t>
            </a:r>
          </a:p>
          <a:p>
            <a:r>
              <a:rPr lang="en-US" b="1" dirty="0"/>
              <a:t>5. Cost relative to total income: </a:t>
            </a:r>
            <a:r>
              <a:rPr lang="en-US" dirty="0"/>
              <a:t>higher the cost of the goods relative to total income of consumer more will be the price elasticity demand. </a:t>
            </a:r>
          </a:p>
          <a:p>
            <a:r>
              <a:rPr lang="en-US" b="1" dirty="0"/>
              <a:t>6. Level of price: </a:t>
            </a:r>
            <a:r>
              <a:rPr lang="en-US" dirty="0"/>
              <a:t>if the price of the commodity is high the price elasticity of demand is more and if it is low, its price elasticity of demand is less. </a:t>
            </a:r>
          </a:p>
          <a:p>
            <a:endParaRPr lang="en-US" dirty="0"/>
          </a:p>
        </p:txBody>
      </p:sp>
    </p:spTree>
    <p:extLst>
      <p:ext uri="{BB962C8B-B14F-4D97-AF65-F5344CB8AC3E}">
        <p14:creationId xmlns:p14="http://schemas.microsoft.com/office/powerpoint/2010/main" val="264199846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TYPES OF ELASTICITY OF DEMAND </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dirty="0" smtClean="0"/>
              <a:t>Price </a:t>
            </a:r>
            <a:r>
              <a:rPr lang="en-US" dirty="0"/>
              <a:t>Elasticity of Demand </a:t>
            </a:r>
          </a:p>
          <a:p>
            <a:r>
              <a:rPr lang="en-US" dirty="0"/>
              <a:t>Income Elasticity of Demand </a:t>
            </a:r>
          </a:p>
          <a:p>
            <a:r>
              <a:rPr lang="en-US" dirty="0"/>
              <a:t>Cross Elasticity of Demand </a:t>
            </a:r>
          </a:p>
          <a:p>
            <a:r>
              <a:rPr lang="en-US" dirty="0"/>
              <a:t>Advertising elasticity of Demand </a:t>
            </a:r>
          </a:p>
          <a:p>
            <a:r>
              <a:rPr lang="en-US" dirty="0"/>
              <a:t>Elasticity of Price Expectations </a:t>
            </a:r>
          </a:p>
          <a:p>
            <a:endParaRPr lang="en-US" dirty="0"/>
          </a:p>
        </p:txBody>
      </p:sp>
    </p:spTree>
    <p:extLst>
      <p:ext uri="{BB962C8B-B14F-4D97-AF65-F5344CB8AC3E}">
        <p14:creationId xmlns:p14="http://schemas.microsoft.com/office/powerpoint/2010/main" val="34028322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PRICE ELASTICITY OF DEMAND </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marL="0" indent="0">
              <a:buNone/>
            </a:pPr>
            <a:r>
              <a:rPr lang="en-US" dirty="0" smtClean="0"/>
              <a:t>“</a:t>
            </a:r>
            <a:r>
              <a:rPr lang="en-US" dirty="0"/>
              <a:t>The degree of responsiveness of quantity demanded to a change in price is called price elasticity </a:t>
            </a:r>
            <a:r>
              <a:rPr lang="en-US" dirty="0" smtClean="0"/>
              <a:t>of </a:t>
            </a:r>
            <a:r>
              <a:rPr lang="en-US" dirty="0"/>
              <a:t>demand” </a:t>
            </a:r>
            <a:endParaRPr lang="en-US" dirty="0" smtClean="0"/>
          </a:p>
          <a:p>
            <a:pPr marL="0" indent="0">
              <a:buNone/>
            </a:pPr>
            <a:endParaRPr lang="en-US" dirty="0"/>
          </a:p>
        </p:txBody>
      </p:sp>
      <p:pic>
        <p:nvPicPr>
          <p:cNvPr id="4" name="Picture 3"/>
          <p:cNvPicPr>
            <a:picLocks noChangeAspect="1"/>
          </p:cNvPicPr>
          <p:nvPr/>
        </p:nvPicPr>
        <p:blipFill>
          <a:blip r:embed="rId2"/>
          <a:stretch>
            <a:fillRect/>
          </a:stretch>
        </p:blipFill>
        <p:spPr>
          <a:xfrm>
            <a:off x="600892" y="3162117"/>
            <a:ext cx="10084526" cy="1814832"/>
          </a:xfrm>
          <a:prstGeom prst="rect">
            <a:avLst/>
          </a:prstGeom>
        </p:spPr>
      </p:pic>
    </p:spTree>
    <p:extLst>
      <p:ext uri="{BB962C8B-B14F-4D97-AF65-F5344CB8AC3E}">
        <p14:creationId xmlns:p14="http://schemas.microsoft.com/office/powerpoint/2010/main" val="270235515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effectLst>
                  <a:outerShdw blurRad="38100" dist="38100" dir="2700000" algn="tl">
                    <a:srgbClr val="000000">
                      <a:alpha val="43137"/>
                    </a:srgbClr>
                  </a:outerShdw>
                </a:effectLst>
              </a:rPr>
              <a:t>DIFFERENT TYPES OF PRICE ELASTICITY OF DEMAND </a:t>
            </a:r>
            <a:br>
              <a:rPr lang="en-US" b="1" dirty="0" smtClean="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1</a:t>
            </a:r>
            <a:r>
              <a:rPr lang="en-US" b="1" dirty="0"/>
              <a:t>. PERFECTLY INELASTIC DEMAND (EP = 0): </a:t>
            </a:r>
            <a:endParaRPr lang="en-US" dirty="0"/>
          </a:p>
          <a:p>
            <a:r>
              <a:rPr lang="en-US" b="1" dirty="0"/>
              <a:t>Description: </a:t>
            </a:r>
            <a:r>
              <a:rPr lang="en-US" dirty="0"/>
              <a:t>when to a percentage change in price there is no change in quantity demanded. </a:t>
            </a:r>
          </a:p>
          <a:p>
            <a:r>
              <a:rPr lang="en-US" b="1" dirty="0"/>
              <a:t>Types of Goods: </a:t>
            </a:r>
            <a:r>
              <a:rPr lang="en-US" dirty="0"/>
              <a:t>Essentials like life saving goods </a:t>
            </a:r>
            <a:endParaRPr lang="en-US" dirty="0" smtClean="0"/>
          </a:p>
          <a:p>
            <a:r>
              <a:rPr lang="en-US" dirty="0"/>
              <a:t>Changes in price yield no change in demand 	</a:t>
            </a:r>
          </a:p>
          <a:p>
            <a:endParaRPr lang="en-US" dirty="0"/>
          </a:p>
          <a:p>
            <a:pPr marL="0" indent="0">
              <a:buNone/>
            </a:pPr>
            <a:endParaRPr lang="en-US" dirty="0"/>
          </a:p>
        </p:txBody>
      </p:sp>
    </p:spTree>
    <p:extLst>
      <p:ext uri="{BB962C8B-B14F-4D97-AF65-F5344CB8AC3E}">
        <p14:creationId xmlns:p14="http://schemas.microsoft.com/office/powerpoint/2010/main" val="253607536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Shape of Demand curve: Vertical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a:stretch>
            <a:fillRect/>
          </a:stretch>
        </p:blipFill>
        <p:spPr>
          <a:xfrm>
            <a:off x="2782389" y="2076994"/>
            <a:ext cx="5499461" cy="4349932"/>
          </a:xfrm>
          <a:prstGeom prst="rect">
            <a:avLst/>
          </a:prstGeom>
        </p:spPr>
      </p:pic>
    </p:spTree>
    <p:extLst>
      <p:ext uri="{BB962C8B-B14F-4D97-AF65-F5344CB8AC3E}">
        <p14:creationId xmlns:p14="http://schemas.microsoft.com/office/powerpoint/2010/main" val="110645478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2. RELATIVELY INELASTIC DEMAND (EP&lt; 1 ) </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b="1" dirty="0" smtClean="0"/>
              <a:t>Description</a:t>
            </a:r>
            <a:r>
              <a:rPr lang="en-US" b="1" dirty="0"/>
              <a:t>: </a:t>
            </a:r>
            <a:r>
              <a:rPr lang="en-US" dirty="0"/>
              <a:t>when to a percentage change in price there is less than proportionate change in quantity demanded. </a:t>
            </a:r>
          </a:p>
          <a:p>
            <a:r>
              <a:rPr lang="en-US" b="1" dirty="0"/>
              <a:t>Types of Goods: </a:t>
            </a:r>
            <a:r>
              <a:rPr lang="en-US" dirty="0" smtClean="0"/>
              <a:t>Necessities </a:t>
            </a:r>
            <a:r>
              <a:rPr lang="en-US" dirty="0"/>
              <a:t>like food, fuel </a:t>
            </a:r>
            <a:endParaRPr lang="en-US" dirty="0" smtClean="0"/>
          </a:p>
          <a:p>
            <a:r>
              <a:rPr lang="en-US" b="1" dirty="0"/>
              <a:t>Shape of Demand curve: </a:t>
            </a:r>
            <a:r>
              <a:rPr lang="en-US" dirty="0"/>
              <a:t>Steeper </a:t>
            </a:r>
            <a:endParaRPr lang="en-US" dirty="0" smtClean="0"/>
          </a:p>
          <a:p>
            <a:r>
              <a:rPr lang="en-US" dirty="0"/>
              <a:t>Changes in price yield an insignificant change in demand 	</a:t>
            </a:r>
          </a:p>
          <a:p>
            <a:endParaRPr lang="en-US" dirty="0" smtClean="0"/>
          </a:p>
          <a:p>
            <a:endParaRPr lang="en-US" dirty="0"/>
          </a:p>
        </p:txBody>
      </p:sp>
      <p:pic>
        <p:nvPicPr>
          <p:cNvPr id="4" name="Picture 3"/>
          <p:cNvPicPr>
            <a:picLocks noChangeAspect="1"/>
          </p:cNvPicPr>
          <p:nvPr/>
        </p:nvPicPr>
        <p:blipFill>
          <a:blip r:embed="rId2"/>
          <a:stretch>
            <a:fillRect/>
          </a:stretch>
        </p:blipFill>
        <p:spPr>
          <a:xfrm>
            <a:off x="7093131" y="2705392"/>
            <a:ext cx="3474720" cy="3709851"/>
          </a:xfrm>
          <a:prstGeom prst="rect">
            <a:avLst/>
          </a:prstGeom>
        </p:spPr>
      </p:pic>
    </p:spTree>
    <p:extLst>
      <p:ext uri="{BB962C8B-B14F-4D97-AF65-F5344CB8AC3E}">
        <p14:creationId xmlns:p14="http://schemas.microsoft.com/office/powerpoint/2010/main" val="91921366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3. UNITARY ELASTIC DEMAND ( EP = 1) </a:t>
            </a:r>
            <a:r>
              <a:rPr lang="en-US" dirty="0" smtClean="0">
                <a:effectLst>
                  <a:outerShdw blurRad="38100" dist="38100" dir="2700000" algn="tl">
                    <a:srgbClr val="000000">
                      <a:alpha val="43137"/>
                    </a:srgbClr>
                  </a:outerShdw>
                </a:effectLst>
              </a:rPr>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825624"/>
            <a:ext cx="10515600" cy="5032375"/>
          </a:xfrm>
        </p:spPr>
        <p:txBody>
          <a:bodyPr/>
          <a:lstStyle/>
          <a:p>
            <a:r>
              <a:rPr lang="en-US" b="1" dirty="0" smtClean="0"/>
              <a:t>Description</a:t>
            </a:r>
            <a:r>
              <a:rPr lang="en-US" b="1" dirty="0"/>
              <a:t>: </a:t>
            </a:r>
            <a:r>
              <a:rPr lang="en-US" dirty="0"/>
              <a:t>when to a percentage change in price there is equal change in quantity demanded. </a:t>
            </a:r>
          </a:p>
          <a:p>
            <a:r>
              <a:rPr lang="en-US" b="1" dirty="0"/>
              <a:t>Types of Goods: </a:t>
            </a:r>
            <a:r>
              <a:rPr lang="en-US" dirty="0"/>
              <a:t>Normal goods </a:t>
            </a:r>
          </a:p>
          <a:p>
            <a:r>
              <a:rPr lang="en-US" b="1" dirty="0"/>
              <a:t>Shape of Demand curve: </a:t>
            </a:r>
            <a:r>
              <a:rPr lang="en-US" dirty="0"/>
              <a:t>the linear demand curve forming 45o angle both the axes </a:t>
            </a:r>
            <a:endParaRPr lang="en-US" dirty="0" smtClean="0"/>
          </a:p>
          <a:p>
            <a:r>
              <a:rPr lang="en-US" dirty="0" smtClean="0"/>
              <a:t>Changes </a:t>
            </a:r>
            <a:r>
              <a:rPr lang="en-US" dirty="0"/>
              <a:t>in price yield equivalent (%) changes in demand 	</a:t>
            </a:r>
          </a:p>
          <a:p>
            <a:endParaRPr lang="en-US" dirty="0"/>
          </a:p>
        </p:txBody>
      </p:sp>
      <p:pic>
        <p:nvPicPr>
          <p:cNvPr id="4" name="Picture 3"/>
          <p:cNvPicPr>
            <a:picLocks noChangeAspect="1"/>
          </p:cNvPicPr>
          <p:nvPr/>
        </p:nvPicPr>
        <p:blipFill>
          <a:blip r:embed="rId2"/>
          <a:stretch>
            <a:fillRect/>
          </a:stretch>
        </p:blipFill>
        <p:spPr>
          <a:xfrm>
            <a:off x="3971109" y="3644538"/>
            <a:ext cx="4715691" cy="3213462"/>
          </a:xfrm>
          <a:prstGeom prst="rect">
            <a:avLst/>
          </a:prstGeom>
        </p:spPr>
      </p:pic>
    </p:spTree>
    <p:extLst>
      <p:ext uri="{BB962C8B-B14F-4D97-AF65-F5344CB8AC3E}">
        <p14:creationId xmlns:p14="http://schemas.microsoft.com/office/powerpoint/2010/main" val="232560414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4. RELATIVELY ELASTIC DEMAND (EP&gt; 1) </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b="1" dirty="0" smtClean="0"/>
              <a:t>Description</a:t>
            </a:r>
            <a:r>
              <a:rPr lang="en-US" b="1" dirty="0"/>
              <a:t>: </a:t>
            </a:r>
            <a:r>
              <a:rPr lang="en-US" dirty="0"/>
              <a:t>when to a percentage change in price there is more than proportionate change in quantity demanded. </a:t>
            </a:r>
          </a:p>
          <a:p>
            <a:r>
              <a:rPr lang="en-US" b="1" dirty="0"/>
              <a:t>Types of Goods: </a:t>
            </a:r>
            <a:r>
              <a:rPr lang="en-US" dirty="0"/>
              <a:t>Luxuries </a:t>
            </a:r>
          </a:p>
          <a:p>
            <a:r>
              <a:rPr lang="en-US" b="1" dirty="0"/>
              <a:t>Shape of Demand curve: </a:t>
            </a:r>
            <a:r>
              <a:rPr lang="en-US" dirty="0"/>
              <a:t>Flatter </a:t>
            </a:r>
            <a:endParaRPr lang="en-US" dirty="0" smtClean="0"/>
          </a:p>
          <a:p>
            <a:r>
              <a:rPr lang="en-US" dirty="0"/>
              <a:t>Changes in price yield a significant change in demand 	</a:t>
            </a:r>
          </a:p>
          <a:p>
            <a:endParaRPr lang="en-US" dirty="0"/>
          </a:p>
          <a:p>
            <a:pPr marL="0" indent="0">
              <a:buNone/>
            </a:pPr>
            <a:endParaRPr lang="en-US" dirty="0"/>
          </a:p>
        </p:txBody>
      </p:sp>
      <p:pic>
        <p:nvPicPr>
          <p:cNvPr id="4" name="Picture 3"/>
          <p:cNvPicPr>
            <a:picLocks noChangeAspect="1"/>
          </p:cNvPicPr>
          <p:nvPr/>
        </p:nvPicPr>
        <p:blipFill>
          <a:blip r:embed="rId2"/>
          <a:stretch>
            <a:fillRect/>
          </a:stretch>
        </p:blipFill>
        <p:spPr>
          <a:xfrm>
            <a:off x="6818810" y="2821577"/>
            <a:ext cx="3657599" cy="3814354"/>
          </a:xfrm>
          <a:prstGeom prst="rect">
            <a:avLst/>
          </a:prstGeom>
        </p:spPr>
      </p:pic>
    </p:spTree>
    <p:extLst>
      <p:ext uri="{BB962C8B-B14F-4D97-AF65-F5344CB8AC3E}">
        <p14:creationId xmlns:p14="http://schemas.microsoft.com/office/powerpoint/2010/main" val="291300662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5. PERFECTLY ELASTIC DEMAND (EP = ∞) </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b="1" dirty="0" smtClean="0"/>
              <a:t>Description</a:t>
            </a:r>
            <a:r>
              <a:rPr lang="en-US" b="1" dirty="0"/>
              <a:t>: </a:t>
            </a:r>
            <a:r>
              <a:rPr lang="en-US" dirty="0"/>
              <a:t>when there is infinite change in quantity situation demanded without any changes in price </a:t>
            </a:r>
          </a:p>
          <a:p>
            <a:r>
              <a:rPr lang="en-US" b="1" dirty="0"/>
              <a:t>Types of Goods: </a:t>
            </a:r>
            <a:r>
              <a:rPr lang="en-US" dirty="0"/>
              <a:t>Imaginary </a:t>
            </a:r>
          </a:p>
          <a:p>
            <a:r>
              <a:rPr lang="en-US" b="1" dirty="0"/>
              <a:t>Shape of Demand curve: </a:t>
            </a:r>
            <a:r>
              <a:rPr lang="en-US" dirty="0" smtClean="0"/>
              <a:t>Horizontal </a:t>
            </a:r>
          </a:p>
          <a:p>
            <a:r>
              <a:rPr lang="en-US" dirty="0"/>
              <a:t>Changes in price result in demand declining to zero 	</a:t>
            </a:r>
          </a:p>
          <a:p>
            <a:endParaRPr lang="en-US" dirty="0" smtClean="0"/>
          </a:p>
          <a:p>
            <a:endParaRPr lang="en-US" dirty="0"/>
          </a:p>
        </p:txBody>
      </p:sp>
      <p:pic>
        <p:nvPicPr>
          <p:cNvPr id="4" name="Picture 3"/>
          <p:cNvPicPr>
            <a:picLocks noChangeAspect="1"/>
          </p:cNvPicPr>
          <p:nvPr/>
        </p:nvPicPr>
        <p:blipFill>
          <a:blip r:embed="rId2"/>
          <a:stretch>
            <a:fillRect/>
          </a:stretch>
        </p:blipFill>
        <p:spPr>
          <a:xfrm>
            <a:off x="6740434" y="2756263"/>
            <a:ext cx="3775165" cy="3420700"/>
          </a:xfrm>
          <a:prstGeom prst="rect">
            <a:avLst/>
          </a:prstGeom>
        </p:spPr>
      </p:pic>
    </p:spTree>
    <p:extLst>
      <p:ext uri="{BB962C8B-B14F-4D97-AF65-F5344CB8AC3E}">
        <p14:creationId xmlns:p14="http://schemas.microsoft.com/office/powerpoint/2010/main" val="11551024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effectLst>
                  <a:outerShdw blurRad="38100" dist="38100" dir="2700000" algn="tl">
                    <a:srgbClr val="000000">
                      <a:alpha val="43137"/>
                    </a:srgbClr>
                  </a:outerShdw>
                </a:effectLst>
              </a:rPr>
              <a:t>METHODS OF CALCULATING PRICE ELASTICITY OF DEMAND </a:t>
            </a:r>
            <a:br>
              <a:rPr lang="en-US" b="1" dirty="0" smtClean="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567543"/>
            <a:ext cx="10515600" cy="4609420"/>
          </a:xfrm>
        </p:spPr>
        <p:txBody>
          <a:bodyPr/>
          <a:lstStyle/>
          <a:p>
            <a:r>
              <a:rPr lang="en-US" b="1" dirty="0" smtClean="0"/>
              <a:t>1</a:t>
            </a:r>
            <a:r>
              <a:rPr lang="en-US" b="1" dirty="0"/>
              <a:t>. The Percentage Method: </a:t>
            </a:r>
            <a:endParaRPr lang="en-US" dirty="0"/>
          </a:p>
          <a:p>
            <a:r>
              <a:rPr lang="en-US" dirty="0"/>
              <a:t>The price elasticity of demand is measured by its coefficient (Ep). This coefficient (Ep) measures the percentage change in the quantity of a commodity demanded resulting from a given percentage change in its price. </a:t>
            </a:r>
            <a:endParaRPr lang="en-US" dirty="0" smtClean="0"/>
          </a:p>
          <a:p>
            <a:endParaRPr lang="en-US" dirty="0"/>
          </a:p>
        </p:txBody>
      </p:sp>
      <p:pic>
        <p:nvPicPr>
          <p:cNvPr id="4" name="Picture 3"/>
          <p:cNvPicPr>
            <a:picLocks noChangeAspect="1"/>
          </p:cNvPicPr>
          <p:nvPr/>
        </p:nvPicPr>
        <p:blipFill>
          <a:blip r:embed="rId2"/>
          <a:stretch>
            <a:fillRect/>
          </a:stretch>
        </p:blipFill>
        <p:spPr>
          <a:xfrm>
            <a:off x="1125583" y="3521392"/>
            <a:ext cx="8294913" cy="1254034"/>
          </a:xfrm>
          <a:prstGeom prst="rect">
            <a:avLst/>
          </a:prstGeom>
        </p:spPr>
      </p:pic>
      <p:sp>
        <p:nvSpPr>
          <p:cNvPr id="5" name="Rectangle 4"/>
          <p:cNvSpPr/>
          <p:nvPr/>
        </p:nvSpPr>
        <p:spPr>
          <a:xfrm>
            <a:off x="1232261" y="5014529"/>
            <a:ext cx="9048207" cy="646331"/>
          </a:xfrm>
          <a:prstGeom prst="rect">
            <a:avLst/>
          </a:prstGeom>
        </p:spPr>
        <p:txBody>
          <a:bodyPr wrap="square">
            <a:spAutoFit/>
          </a:bodyPr>
          <a:lstStyle/>
          <a:p>
            <a:r>
              <a:rPr lang="en-US" dirty="0">
                <a:solidFill>
                  <a:srgbClr val="000000"/>
                </a:solidFill>
                <a:latin typeface="Times New Roman" panose="02020603050405020304" pitchFamily="18" charset="0"/>
              </a:rPr>
              <a:t>Where q refers to quantity demanded, p to price and Δ to change. If E</a:t>
            </a:r>
            <a:r>
              <a:rPr lang="en-US" sz="1100" b="0" i="0" u="none" strike="noStrike" baseline="0" dirty="0" smtClean="0">
                <a:solidFill>
                  <a:srgbClr val="000000"/>
                </a:solidFill>
                <a:latin typeface="Times New Roman" panose="02020603050405020304" pitchFamily="18" charset="0"/>
              </a:rPr>
              <a:t>P</a:t>
            </a:r>
            <a:r>
              <a:rPr lang="en-US" dirty="0">
                <a:solidFill>
                  <a:srgbClr val="000000"/>
                </a:solidFill>
                <a:latin typeface="Times New Roman" panose="02020603050405020304" pitchFamily="18" charset="0"/>
              </a:rPr>
              <a:t>&gt;1, demand is elastic. If E</a:t>
            </a:r>
            <a:r>
              <a:rPr lang="en-US" sz="1100" b="0" i="0" u="none" strike="noStrike" baseline="0" dirty="0" smtClean="0">
                <a:solidFill>
                  <a:srgbClr val="000000"/>
                </a:solidFill>
                <a:latin typeface="Times New Roman" panose="02020603050405020304" pitchFamily="18" charset="0"/>
              </a:rPr>
              <a:t>P</a:t>
            </a:r>
            <a:r>
              <a:rPr lang="en-US" dirty="0">
                <a:solidFill>
                  <a:srgbClr val="000000"/>
                </a:solidFill>
                <a:latin typeface="Times New Roman" panose="02020603050405020304" pitchFamily="18" charset="0"/>
              </a:rPr>
              <a:t>&lt; 1, demand is inelastic, and E</a:t>
            </a:r>
            <a:r>
              <a:rPr lang="en-US" sz="1100" b="0" i="0" u="none" strike="noStrike" baseline="0" dirty="0" smtClean="0">
                <a:solidFill>
                  <a:srgbClr val="000000"/>
                </a:solidFill>
                <a:latin typeface="Times New Roman" panose="02020603050405020304" pitchFamily="18" charset="0"/>
              </a:rPr>
              <a:t>p</a:t>
            </a:r>
            <a:r>
              <a:rPr lang="en-US" dirty="0">
                <a:solidFill>
                  <a:srgbClr val="000000"/>
                </a:solidFill>
                <a:latin typeface="Times New Roman" panose="02020603050405020304" pitchFamily="18" charset="0"/>
              </a:rPr>
              <a:t>= 1, demand is unitary elastic. </a:t>
            </a:r>
            <a:endParaRPr lang="en-US" dirty="0"/>
          </a:p>
        </p:txBody>
      </p:sp>
    </p:spTree>
    <p:extLst>
      <p:ext uri="{BB962C8B-B14F-4D97-AF65-F5344CB8AC3E}">
        <p14:creationId xmlns:p14="http://schemas.microsoft.com/office/powerpoint/2010/main" val="207374913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effectLst>
                  <a:outerShdw blurRad="38100" dist="38100" dir="2700000" algn="tl">
                    <a:srgbClr val="000000">
                      <a:alpha val="43137"/>
                    </a:srgbClr>
                  </a:outerShdw>
                </a:effectLst>
              </a:rPr>
              <a:t>2. The Point Method or Geometrical or graphical method: </a:t>
            </a:r>
            <a:r>
              <a:rPr lang="en-US" dirty="0" smtClean="0">
                <a:effectLst>
                  <a:outerShdw blurRad="38100" dist="38100" dir="2700000" algn="tl">
                    <a:srgbClr val="000000">
                      <a:alpha val="43137"/>
                    </a:srgbClr>
                  </a:outerShdw>
                </a:effectLst>
              </a:rPr>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The point method of measuring elasticity of demand was developed by Alfred Marshall. Elasticity measures at a point on a demand curve is known as point elasticity of demand </a:t>
            </a:r>
          </a:p>
          <a:p>
            <a:r>
              <a:rPr lang="en-US" dirty="0"/>
              <a:t>Let RS be a straight line demand curve in Figure. If the price falls from PB ( = OA) to MD ( = OC), the quantity demanded increases from OB to OD. </a:t>
            </a:r>
            <a:endParaRPr lang="en-US" dirty="0" smtClean="0"/>
          </a:p>
          <a:p>
            <a:endParaRPr lang="en-US" dirty="0"/>
          </a:p>
        </p:txBody>
      </p:sp>
      <p:pic>
        <p:nvPicPr>
          <p:cNvPr id="4" name="Picture 3"/>
          <p:cNvPicPr>
            <a:picLocks noChangeAspect="1"/>
          </p:cNvPicPr>
          <p:nvPr/>
        </p:nvPicPr>
        <p:blipFill>
          <a:blip r:embed="rId2"/>
          <a:stretch>
            <a:fillRect/>
          </a:stretch>
        </p:blipFill>
        <p:spPr>
          <a:xfrm>
            <a:off x="6740434" y="3892731"/>
            <a:ext cx="3618411" cy="2873829"/>
          </a:xfrm>
          <a:prstGeom prst="rect">
            <a:avLst/>
          </a:prstGeom>
        </p:spPr>
      </p:pic>
    </p:spTree>
    <p:extLst>
      <p:ext uri="{BB962C8B-B14F-4D97-AF65-F5344CB8AC3E}">
        <p14:creationId xmlns:p14="http://schemas.microsoft.com/office/powerpoint/2010/main" val="210195847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15035"/>
          </a:xfrm>
        </p:spPr>
        <p:txBody>
          <a:bodyPr>
            <a:normAutofit fontScale="90000"/>
          </a:bodyPr>
          <a:lstStyle/>
          <a:p>
            <a:r>
              <a:rPr lang="en-US" b="1" dirty="0" smtClean="0"/>
              <a:t>3. The Arc Method: </a:t>
            </a:r>
            <a:r>
              <a:rPr lang="en-US" dirty="0" smtClean="0"/>
              <a:t/>
            </a:r>
            <a:br>
              <a:rPr lang="en-US" dirty="0" smtClean="0"/>
            </a:br>
            <a:endParaRPr lang="en-US" dirty="0"/>
          </a:p>
        </p:txBody>
      </p:sp>
      <p:sp>
        <p:nvSpPr>
          <p:cNvPr id="3" name="Content Placeholder 2"/>
          <p:cNvSpPr>
            <a:spLocks noGrp="1"/>
          </p:cNvSpPr>
          <p:nvPr>
            <p:ph idx="1"/>
          </p:nvPr>
        </p:nvSpPr>
        <p:spPr>
          <a:xfrm>
            <a:off x="838200" y="1280160"/>
            <a:ext cx="10515600" cy="4896803"/>
          </a:xfrm>
        </p:spPr>
        <p:txBody>
          <a:bodyPr/>
          <a:lstStyle/>
          <a:p>
            <a:r>
              <a:rPr lang="en-US" dirty="0" smtClean="0"/>
              <a:t>When </a:t>
            </a:r>
            <a:r>
              <a:rPr lang="en-US" dirty="0"/>
              <a:t>elasticity of demand is measured over a finite range or ‘arc’ of a demand curve, it is called arc elasticity of demand. when elasticity is measured between two points on the same demand curve, it is known as arc elasticity. </a:t>
            </a:r>
            <a:endParaRPr lang="en-US" dirty="0" smtClean="0"/>
          </a:p>
          <a:p>
            <a:endParaRPr lang="en-US" dirty="0"/>
          </a:p>
        </p:txBody>
      </p:sp>
      <p:pic>
        <p:nvPicPr>
          <p:cNvPr id="4" name="Picture 3"/>
          <p:cNvPicPr>
            <a:picLocks noChangeAspect="1"/>
          </p:cNvPicPr>
          <p:nvPr/>
        </p:nvPicPr>
        <p:blipFill>
          <a:blip r:embed="rId2"/>
          <a:stretch>
            <a:fillRect/>
          </a:stretch>
        </p:blipFill>
        <p:spPr>
          <a:xfrm>
            <a:off x="7670075" y="2559185"/>
            <a:ext cx="3853542" cy="3057844"/>
          </a:xfrm>
          <a:prstGeom prst="rect">
            <a:avLst/>
          </a:prstGeom>
        </p:spPr>
      </p:pic>
    </p:spTree>
    <p:extLst>
      <p:ext uri="{BB962C8B-B14F-4D97-AF65-F5344CB8AC3E}">
        <p14:creationId xmlns:p14="http://schemas.microsoft.com/office/powerpoint/2010/main" val="40392854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a:t>The area between P and M on the DD curve in Figure is an arc which measures elasticity over a certain range of price and quantities. </a:t>
            </a:r>
            <a:endParaRPr lang="en-US" dirty="0" smtClean="0"/>
          </a:p>
          <a:p>
            <a:r>
              <a:rPr lang="en-US" dirty="0" smtClean="0"/>
              <a:t>Elasticity </a:t>
            </a:r>
            <a:r>
              <a:rPr lang="en-US" dirty="0"/>
              <a:t>for the arc (PM in Figure ) is calculated by taking the average of the two prices [(p1 + p2 )½] and the average of the two quantities [(q, +q2 )½]. </a:t>
            </a:r>
            <a:endParaRPr lang="en-US" dirty="0" smtClean="0"/>
          </a:p>
          <a:p>
            <a:r>
              <a:rPr lang="en-US" dirty="0" smtClean="0"/>
              <a:t>The </a:t>
            </a:r>
            <a:r>
              <a:rPr lang="en-US" dirty="0"/>
              <a:t>formula for price elasticity of demand at the mid-point (C in Figure 4) of the arc on the demand curve. </a:t>
            </a:r>
          </a:p>
        </p:txBody>
      </p:sp>
    </p:spTree>
    <p:extLst>
      <p:ext uri="{BB962C8B-B14F-4D97-AF65-F5344CB8AC3E}">
        <p14:creationId xmlns:p14="http://schemas.microsoft.com/office/powerpoint/2010/main" val="22047066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Total Outlay Method: </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dirty="0" smtClean="0"/>
              <a:t>Marshall </a:t>
            </a:r>
            <a:r>
              <a:rPr lang="en-US" dirty="0"/>
              <a:t>evolved the total outlay, or total revenue or total expenditure method as a measure of elasticity. By comparing the total expenditure of a purchaser both before and after the change in price, it can be known whether his demand for a good is elastic, unity or less elastic. </a:t>
            </a:r>
          </a:p>
          <a:p>
            <a:r>
              <a:rPr lang="en-US" dirty="0"/>
              <a:t>Total outlay is price multiplied by the quantity of a good purchased: Total Outlay = Price x Quantity Demanded. </a:t>
            </a:r>
          </a:p>
          <a:p>
            <a:pPr marL="0" indent="0">
              <a:buNone/>
            </a:pPr>
            <a:endParaRPr lang="en-US" dirty="0"/>
          </a:p>
        </p:txBody>
      </p:sp>
    </p:spTree>
    <p:extLst>
      <p:ext uri="{BB962C8B-B14F-4D97-AF65-F5344CB8AC3E}">
        <p14:creationId xmlns:p14="http://schemas.microsoft.com/office/powerpoint/2010/main" val="21990026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a:t>
            </a:r>
            <a:endParaRPr lang="en-US" dirty="0"/>
          </a:p>
        </p:txBody>
      </p:sp>
      <p:sp>
        <p:nvSpPr>
          <p:cNvPr id="3" name="Content Placeholder 2"/>
          <p:cNvSpPr>
            <a:spLocks noGrp="1"/>
          </p:cNvSpPr>
          <p:nvPr>
            <p:ph idx="1"/>
          </p:nvPr>
        </p:nvSpPr>
        <p:spPr>
          <a:xfrm>
            <a:off x="677334" y="2160589"/>
            <a:ext cx="8596668" cy="4370840"/>
          </a:xfrm>
        </p:spPr>
        <p:txBody>
          <a:bodyPr/>
          <a:lstStyle/>
          <a:p>
            <a:r>
              <a:rPr lang="en-US" dirty="0" smtClean="0"/>
              <a:t>A dealer in deep freezers increased the price of his products from K450 to K500.</a:t>
            </a:r>
          </a:p>
          <a:p>
            <a:r>
              <a:rPr lang="en-US" dirty="0" smtClean="0"/>
              <a:t>And his sales dropped from 800 units to 600 units, </a:t>
            </a:r>
          </a:p>
          <a:p>
            <a:r>
              <a:rPr lang="en-US" dirty="0" smtClean="0"/>
              <a:t>Use the information above to answer the questions below:</a:t>
            </a:r>
          </a:p>
          <a:p>
            <a:r>
              <a:rPr lang="en-US" dirty="0" smtClean="0"/>
              <a:t>A) Calculate the price elasticity of demand</a:t>
            </a:r>
          </a:p>
          <a:p>
            <a:r>
              <a:rPr lang="en-US" dirty="0" smtClean="0"/>
              <a:t>B) What type of elasticity is this?</a:t>
            </a:r>
          </a:p>
          <a:p>
            <a:r>
              <a:rPr lang="en-US" dirty="0" smtClean="0"/>
              <a:t>C) Was the decision to increase price Okay for the business? Why?</a:t>
            </a:r>
          </a:p>
          <a:p>
            <a:r>
              <a:rPr lang="en-US" dirty="0" smtClean="0"/>
              <a:t>P1=K450, P2 = K500, Change in P, =50</a:t>
            </a:r>
          </a:p>
          <a:p>
            <a:r>
              <a:rPr lang="en-US" dirty="0" smtClean="0"/>
              <a:t>Q1 = 800 units, Q2 = 600 units Change in Q = -200 units</a:t>
            </a:r>
          </a:p>
          <a:p>
            <a:r>
              <a:rPr lang="en-US" dirty="0" smtClean="0"/>
              <a:t>Ep = (Change in Q)/Q x P/(Change in P) = -200/800 x 450/50 = -2.25</a:t>
            </a:r>
          </a:p>
          <a:p>
            <a:endParaRPr lang="en-US" dirty="0"/>
          </a:p>
        </p:txBody>
      </p:sp>
    </p:spTree>
    <p:extLst>
      <p:ext uri="{BB962C8B-B14F-4D97-AF65-F5344CB8AC3E}">
        <p14:creationId xmlns:p14="http://schemas.microsoft.com/office/powerpoint/2010/main" val="23400328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smtClean="0"/>
              <a:t>Or % Change in </a:t>
            </a:r>
            <a:r>
              <a:rPr lang="en-US" dirty="0" err="1" smtClean="0"/>
              <a:t>Qd</a:t>
            </a:r>
            <a:r>
              <a:rPr lang="en-US" dirty="0" smtClean="0"/>
              <a:t> /% Change in P = [((600-800)/800)x100]/[((500-450)/450)x100] = 25% /11.1% = 2.25</a:t>
            </a:r>
          </a:p>
          <a:p>
            <a:r>
              <a:rPr lang="en-US" dirty="0" smtClean="0"/>
              <a:t>The elasticity is Relative Elastic demand</a:t>
            </a:r>
          </a:p>
          <a:p>
            <a:endParaRPr lang="en-US" dirty="0" smtClean="0"/>
          </a:p>
          <a:p>
            <a:r>
              <a:rPr lang="en-US" dirty="0" smtClean="0"/>
              <a:t>Q2. Calculate the arc elasticity using the data below</a:t>
            </a:r>
          </a:p>
          <a:p>
            <a:r>
              <a:rPr lang="en-US" dirty="0" smtClean="0"/>
              <a:t>P1 = K1000, P2 = 800 Q1 = 200 UNITS , Q2 = 300 UNITS</a:t>
            </a:r>
          </a:p>
          <a:p>
            <a:r>
              <a:rPr lang="en-US" dirty="0" err="1" smtClean="0"/>
              <a:t>Pe</a:t>
            </a:r>
            <a:r>
              <a:rPr lang="en-US" dirty="0" smtClean="0"/>
              <a:t> = [(Q2 – Q1)/9(Q1+Q2)/2] / [(P2-P1)/(P1+P2)/2]</a:t>
            </a:r>
          </a:p>
          <a:p>
            <a:r>
              <a:rPr lang="en-US" dirty="0" err="1" smtClean="0"/>
              <a:t>Pe</a:t>
            </a:r>
            <a:r>
              <a:rPr lang="en-US" dirty="0" smtClean="0"/>
              <a:t> = - 1.8</a:t>
            </a:r>
            <a:endParaRPr lang="en-US" dirty="0"/>
          </a:p>
        </p:txBody>
      </p:sp>
    </p:spTree>
    <p:extLst>
      <p:ext uri="{BB962C8B-B14F-4D97-AF65-F5344CB8AC3E}">
        <p14:creationId xmlns:p14="http://schemas.microsoft.com/office/powerpoint/2010/main" val="36225632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INCOME ELASTICITY OF DEMAND </a:t>
            </a:r>
          </a:p>
        </p:txBody>
      </p:sp>
      <p:sp>
        <p:nvSpPr>
          <p:cNvPr id="3" name="Content Placeholder 2"/>
          <p:cNvSpPr>
            <a:spLocks noGrp="1"/>
          </p:cNvSpPr>
          <p:nvPr>
            <p:ph idx="1"/>
          </p:nvPr>
        </p:nvSpPr>
        <p:spPr>
          <a:xfrm>
            <a:off x="838200" y="1825625"/>
            <a:ext cx="10515600" cy="4771118"/>
          </a:xfrm>
        </p:spPr>
        <p:txBody>
          <a:bodyPr>
            <a:normAutofit/>
          </a:bodyPr>
          <a:lstStyle/>
          <a:p>
            <a:r>
              <a:rPr lang="en-US" dirty="0"/>
              <a:t>Income elasticity of demand is the degree of responsiveness of demand to the change in income. </a:t>
            </a:r>
            <a:endParaRPr lang="en-US" dirty="0" smtClean="0"/>
          </a:p>
          <a:p>
            <a:endParaRPr lang="en-US" dirty="0"/>
          </a:p>
          <a:p>
            <a:endParaRPr lang="en-US" dirty="0" smtClean="0"/>
          </a:p>
          <a:p>
            <a:endParaRPr lang="en-US" dirty="0"/>
          </a:p>
          <a:p>
            <a:endParaRPr lang="en-US" dirty="0" smtClean="0"/>
          </a:p>
          <a:p>
            <a:r>
              <a:rPr lang="en-US" dirty="0" smtClean="0"/>
              <a:t>Where</a:t>
            </a:r>
            <a:r>
              <a:rPr lang="en-US" dirty="0"/>
              <a:t>, </a:t>
            </a:r>
          </a:p>
          <a:p>
            <a:r>
              <a:rPr lang="en-US" dirty="0"/>
              <a:t>Q = Original quantity </a:t>
            </a:r>
          </a:p>
          <a:p>
            <a:r>
              <a:rPr lang="en-US" dirty="0"/>
              <a:t>Y = Original income </a:t>
            </a:r>
          </a:p>
          <a:p>
            <a:r>
              <a:rPr lang="el-GR" dirty="0"/>
              <a:t>Δ</a:t>
            </a:r>
            <a:r>
              <a:rPr lang="en-US" dirty="0"/>
              <a:t>Q = Changes in quantity </a:t>
            </a:r>
          </a:p>
          <a:p>
            <a:r>
              <a:rPr lang="el-GR" dirty="0"/>
              <a:t>Δ</a:t>
            </a:r>
            <a:r>
              <a:rPr lang="en-US" dirty="0"/>
              <a:t>Y = Changes in income </a:t>
            </a:r>
          </a:p>
          <a:p>
            <a:r>
              <a:rPr lang="en-US" dirty="0" err="1"/>
              <a:t>Ey</a:t>
            </a:r>
            <a:r>
              <a:rPr lang="en-US" dirty="0"/>
              <a:t> = Income elasticity of demand </a:t>
            </a:r>
            <a:endParaRPr lang="en-US" dirty="0" smtClean="0"/>
          </a:p>
          <a:p>
            <a:endParaRPr lang="en-US" dirty="0"/>
          </a:p>
        </p:txBody>
      </p:sp>
      <p:pic>
        <p:nvPicPr>
          <p:cNvPr id="4" name="Picture 3"/>
          <p:cNvPicPr>
            <a:picLocks noChangeAspect="1"/>
          </p:cNvPicPr>
          <p:nvPr/>
        </p:nvPicPr>
        <p:blipFill>
          <a:blip r:embed="rId2"/>
          <a:stretch>
            <a:fillRect/>
          </a:stretch>
        </p:blipFill>
        <p:spPr>
          <a:xfrm>
            <a:off x="926836" y="2166982"/>
            <a:ext cx="8347166" cy="1397726"/>
          </a:xfrm>
          <a:prstGeom prst="rect">
            <a:avLst/>
          </a:prstGeom>
        </p:spPr>
      </p:pic>
    </p:spTree>
    <p:extLst>
      <p:ext uri="{BB962C8B-B14F-4D97-AF65-F5344CB8AC3E}">
        <p14:creationId xmlns:p14="http://schemas.microsoft.com/office/powerpoint/2010/main" val="42238975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CONT…</a:t>
            </a:r>
            <a:endParaRPr lang="en-US" dirty="0">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a:stretch>
            <a:fillRect/>
          </a:stretch>
        </p:blipFill>
        <p:spPr>
          <a:xfrm>
            <a:off x="1188720" y="1528354"/>
            <a:ext cx="8085282" cy="5329646"/>
          </a:xfrm>
          <a:prstGeom prst="rect">
            <a:avLst/>
          </a:prstGeom>
        </p:spPr>
      </p:pic>
    </p:spTree>
    <p:extLst>
      <p:ext uri="{BB962C8B-B14F-4D97-AF65-F5344CB8AC3E}">
        <p14:creationId xmlns:p14="http://schemas.microsoft.com/office/powerpoint/2010/main" val="16870524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CROSS ELASTICITY </a:t>
            </a:r>
            <a:r>
              <a:rPr lang="en-US" b="1" dirty="0">
                <a:effectLst>
                  <a:outerShdw blurRad="38100" dist="38100" dir="2700000" algn="tl">
                    <a:srgbClr val="000000">
                      <a:alpha val="43137"/>
                    </a:srgbClr>
                  </a:outerShdw>
                </a:effectLst>
              </a:rPr>
              <a:t>OF </a:t>
            </a:r>
            <a:r>
              <a:rPr lang="en-US" b="1" dirty="0" smtClean="0">
                <a:effectLst>
                  <a:outerShdw blurRad="38100" dist="38100" dir="2700000" algn="tl">
                    <a:srgbClr val="000000">
                      <a:alpha val="43137"/>
                    </a:srgbClr>
                  </a:outerShdw>
                </a:effectLst>
              </a:rPr>
              <a:t>DEMAND</a:t>
            </a:r>
            <a:endParaRPr lang="en-US" dirty="0">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09897" y="1136469"/>
            <a:ext cx="8752114" cy="5394959"/>
          </a:xfrm>
        </p:spPr>
      </p:pic>
    </p:spTree>
    <p:extLst>
      <p:ext uri="{BB962C8B-B14F-4D97-AF65-F5344CB8AC3E}">
        <p14:creationId xmlns:p14="http://schemas.microsoft.com/office/powerpoint/2010/main" val="13606128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CONT…</a:t>
            </a:r>
            <a:endParaRPr lang="en-US" b="1" dirty="0">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1" y="1690688"/>
            <a:ext cx="9821090" cy="5062809"/>
          </a:xfrm>
        </p:spPr>
      </p:pic>
    </p:spTree>
    <p:extLst>
      <p:ext uri="{BB962C8B-B14F-4D97-AF65-F5344CB8AC3E}">
        <p14:creationId xmlns:p14="http://schemas.microsoft.com/office/powerpoint/2010/main" val="15514211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43692"/>
            <a:ext cx="8596668" cy="992778"/>
          </a:xfrm>
        </p:spPr>
        <p:txBody>
          <a:bodyPr>
            <a:normAutofit/>
          </a:bodyPr>
          <a:lstStyle/>
          <a:p>
            <a:r>
              <a:rPr lang="en-US" dirty="0" smtClean="0"/>
              <a:t>Example on Cross Elasticity</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333" y="1136470"/>
            <a:ext cx="9211249" cy="5590901"/>
          </a:xfrm>
        </p:spPr>
      </p:pic>
    </p:spTree>
    <p:extLst>
      <p:ext uri="{BB962C8B-B14F-4D97-AF65-F5344CB8AC3E}">
        <p14:creationId xmlns:p14="http://schemas.microsoft.com/office/powerpoint/2010/main" val="8239385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0"/>
            <a:ext cx="8596668" cy="1384663"/>
          </a:xfrm>
        </p:spPr>
        <p:txBody>
          <a:bodyPr>
            <a:normAutofit/>
          </a:bodyPr>
          <a:lstStyle/>
          <a:p>
            <a:r>
              <a:rPr lang="en-US" b="1" dirty="0" smtClean="0">
                <a:effectLst>
                  <a:outerShdw blurRad="38100" dist="38100" dir="2700000" algn="tl">
                    <a:srgbClr val="000000">
                      <a:alpha val="43137"/>
                    </a:srgbClr>
                  </a:outerShdw>
                </a:effectLst>
              </a:rPr>
              <a:t>Application Of Elasticity Of Demand</a:t>
            </a:r>
            <a:br>
              <a:rPr lang="en-US" b="1" dirty="0" smtClean="0">
                <a:effectLst>
                  <a:outerShdw blurRad="38100" dist="38100" dir="2700000" algn="tl">
                    <a:srgbClr val="000000">
                      <a:alpha val="43137"/>
                    </a:srgbClr>
                  </a:outerShdw>
                </a:effectLst>
              </a:rPr>
            </a:br>
            <a:r>
              <a:rPr lang="en-US" b="1" dirty="0" smtClean="0">
                <a:effectLst>
                  <a:outerShdw blurRad="38100" dist="38100" dir="2700000" algn="tl">
                    <a:srgbClr val="000000">
                      <a:alpha val="43137"/>
                    </a:srgbClr>
                  </a:outerShdw>
                </a:effectLst>
              </a:rPr>
              <a:t>T</a:t>
            </a:r>
            <a:r>
              <a:rPr lang="en-US" dirty="0" smtClean="0"/>
              <a:t>he Paradox of Poverty Amidst Plenty</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2880" y="1384663"/>
            <a:ext cx="9418320" cy="5355771"/>
          </a:xfrm>
        </p:spPr>
      </p:pic>
    </p:spTree>
    <p:extLst>
      <p:ext uri="{BB962C8B-B14F-4D97-AF65-F5344CB8AC3E}">
        <p14:creationId xmlns:p14="http://schemas.microsoft.com/office/powerpoint/2010/main" val="24901781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Application Of Elasticity Of Demand</a:t>
            </a:r>
            <a:br>
              <a:rPr lang="en-US" b="1" dirty="0">
                <a:effectLst>
                  <a:outerShdw blurRad="38100" dist="38100" dir="2700000" algn="tl">
                    <a:srgbClr val="000000">
                      <a:alpha val="43137"/>
                    </a:srgbClr>
                  </a:outerShdw>
                </a:effectLst>
              </a:rPr>
            </a:br>
            <a:r>
              <a:rPr lang="en-US" b="1" dirty="0">
                <a:effectLst>
                  <a:outerShdw blurRad="38100" dist="38100" dir="2700000" algn="tl">
                    <a:srgbClr val="000000">
                      <a:alpha val="43137"/>
                    </a:srgbClr>
                  </a:outerShdw>
                </a:effectLst>
              </a:rPr>
              <a:t>T</a:t>
            </a:r>
            <a:r>
              <a:rPr lang="en-US" dirty="0"/>
              <a:t>he Paradox of Poverty Amidst Plenty</a:t>
            </a:r>
            <a:endParaRPr lang="en-US" b="1" dirty="0">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334" y="1930401"/>
            <a:ext cx="9250437" cy="4744720"/>
          </a:xfrm>
        </p:spPr>
      </p:pic>
    </p:spTree>
    <p:extLst>
      <p:ext uri="{BB962C8B-B14F-4D97-AF65-F5344CB8AC3E}">
        <p14:creationId xmlns:p14="http://schemas.microsoft.com/office/powerpoint/2010/main" val="23187781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ADVERTISING ELASTICITY OF DEMAND </a:t>
            </a:r>
            <a:br>
              <a:rPr lang="en-US" b="1" dirty="0" smtClean="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358538"/>
            <a:ext cx="10515600" cy="5499462"/>
          </a:xfrm>
        </p:spPr>
        <p:txBody>
          <a:bodyPr/>
          <a:lstStyle/>
          <a:p>
            <a:r>
              <a:rPr lang="en-US" dirty="0" smtClean="0"/>
              <a:t>It </a:t>
            </a:r>
            <a:r>
              <a:rPr lang="en-US" dirty="0"/>
              <a:t>measures the response of quantity demanded due to change in advertising expenditure. It is also called promotional elasticity of demand </a:t>
            </a:r>
            <a:endParaRPr lang="en-US" dirty="0" smtClean="0"/>
          </a:p>
          <a:p>
            <a:endParaRPr lang="en-US" dirty="0"/>
          </a:p>
          <a:p>
            <a:endParaRPr lang="en-US" dirty="0" smtClean="0"/>
          </a:p>
          <a:p>
            <a:endParaRPr lang="en-US" dirty="0"/>
          </a:p>
        </p:txBody>
      </p:sp>
      <p:pic>
        <p:nvPicPr>
          <p:cNvPr id="4" name="Picture 3"/>
          <p:cNvPicPr>
            <a:picLocks noChangeAspect="1"/>
          </p:cNvPicPr>
          <p:nvPr/>
        </p:nvPicPr>
        <p:blipFill>
          <a:blip r:embed="rId2"/>
          <a:stretch>
            <a:fillRect/>
          </a:stretch>
        </p:blipFill>
        <p:spPr>
          <a:xfrm>
            <a:off x="1468346" y="2814407"/>
            <a:ext cx="6781047" cy="1118874"/>
          </a:xfrm>
          <a:prstGeom prst="rect">
            <a:avLst/>
          </a:prstGeom>
        </p:spPr>
      </p:pic>
      <p:pic>
        <p:nvPicPr>
          <p:cNvPr id="5" name="Picture 4"/>
          <p:cNvPicPr>
            <a:picLocks noChangeAspect="1"/>
          </p:cNvPicPr>
          <p:nvPr/>
        </p:nvPicPr>
        <p:blipFill>
          <a:blip r:embed="rId3"/>
          <a:stretch>
            <a:fillRect/>
          </a:stretch>
        </p:blipFill>
        <p:spPr>
          <a:xfrm>
            <a:off x="1363843" y="4057378"/>
            <a:ext cx="8105775" cy="2676525"/>
          </a:xfrm>
          <a:prstGeom prst="rect">
            <a:avLst/>
          </a:prstGeom>
        </p:spPr>
      </p:pic>
    </p:spTree>
    <p:extLst>
      <p:ext uri="{BB962C8B-B14F-4D97-AF65-F5344CB8AC3E}">
        <p14:creationId xmlns:p14="http://schemas.microsoft.com/office/powerpoint/2010/main" val="23260003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effectLst>
                  <a:outerShdw blurRad="38100" dist="38100" dir="2700000" algn="tl">
                    <a:srgbClr val="000000">
                      <a:alpha val="43137"/>
                    </a:srgbClr>
                  </a:outerShdw>
                </a:effectLst>
              </a:rPr>
              <a:t>DETERMINANTS OF ADVERTISING ELASTICITY OF DEMAND </a:t>
            </a:r>
            <a:r>
              <a:rPr lang="en-US" dirty="0" smtClean="0">
                <a:effectLst>
                  <a:outerShdw blurRad="38100" dist="38100" dir="2700000" algn="tl">
                    <a:srgbClr val="000000">
                      <a:alpha val="43137"/>
                    </a:srgbClr>
                  </a:outerShdw>
                </a:effectLst>
              </a:rPr>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pPr marL="0" indent="0">
              <a:buNone/>
            </a:pPr>
            <a:r>
              <a:rPr lang="en-US" dirty="0" smtClean="0"/>
              <a:t>The </a:t>
            </a:r>
            <a:r>
              <a:rPr lang="en-US" dirty="0"/>
              <a:t>Main factors affecting advertising elasticity of demand are: </a:t>
            </a:r>
          </a:p>
          <a:p>
            <a:pPr marL="514350" indent="-514350">
              <a:buAutoNum type="arabicPeriod"/>
            </a:pPr>
            <a:r>
              <a:rPr lang="en-US" dirty="0" smtClean="0"/>
              <a:t>Stage </a:t>
            </a:r>
            <a:r>
              <a:rPr lang="en-US" dirty="0"/>
              <a:t>of product market: Advertising elasticity is different for new products and for old products. </a:t>
            </a:r>
            <a:endParaRPr lang="en-US" dirty="0" smtClean="0"/>
          </a:p>
          <a:p>
            <a:r>
              <a:rPr lang="en-US" dirty="0" smtClean="0"/>
              <a:t>It </a:t>
            </a:r>
            <a:r>
              <a:rPr lang="en-US" dirty="0"/>
              <a:t>is also different for products with established market and a growing market. </a:t>
            </a:r>
          </a:p>
          <a:p>
            <a:pPr marL="0" indent="0">
              <a:buNone/>
            </a:pPr>
            <a:r>
              <a:rPr lang="en-US" dirty="0" smtClean="0"/>
              <a:t>2. Effect </a:t>
            </a:r>
            <a:r>
              <a:rPr lang="en-US" dirty="0"/>
              <a:t>of advertising by rivals: The effectiveness of advertising depends upon how the rivals react to the advertising campaign of this firm. </a:t>
            </a:r>
          </a:p>
          <a:p>
            <a:pPr marL="0" indent="0">
              <a:buNone/>
            </a:pPr>
            <a:r>
              <a:rPr lang="en-US" dirty="0"/>
              <a:t>3. Effect of advertising in terms of time: the time lag in response to advertisement differs. </a:t>
            </a:r>
            <a:endParaRPr lang="en-US" dirty="0" smtClean="0"/>
          </a:p>
          <a:p>
            <a:r>
              <a:rPr lang="en-US" dirty="0" smtClean="0"/>
              <a:t>It </a:t>
            </a:r>
            <a:r>
              <a:rPr lang="en-US" dirty="0"/>
              <a:t>depends upon the types of product. It takes longer in case of durable good because will buy durable goods only after the existing one has been used up. </a:t>
            </a:r>
          </a:p>
        </p:txBody>
      </p:sp>
    </p:spTree>
    <p:extLst>
      <p:ext uri="{BB962C8B-B14F-4D97-AF65-F5344CB8AC3E}">
        <p14:creationId xmlns:p14="http://schemas.microsoft.com/office/powerpoint/2010/main" val="428460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ELASTICITY OF PRICE EXPECTATIONS </a:t>
            </a:r>
            <a:r>
              <a:rPr lang="en-US" dirty="0" smtClean="0">
                <a:effectLst>
                  <a:outerShdw blurRad="38100" dist="38100" dir="2700000" algn="tl">
                    <a:srgbClr val="000000">
                      <a:alpha val="43137"/>
                    </a:srgbClr>
                  </a:outerShdw>
                </a:effectLst>
              </a:rPr>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The </a:t>
            </a:r>
            <a:r>
              <a:rPr lang="en-US" dirty="0"/>
              <a:t>concept of elasticity of price expectations was developed by </a:t>
            </a:r>
            <a:r>
              <a:rPr lang="en-US" dirty="0" err="1"/>
              <a:t>J.R.Hicks</a:t>
            </a:r>
            <a:r>
              <a:rPr lang="en-US" dirty="0"/>
              <a:t>. </a:t>
            </a:r>
          </a:p>
          <a:p>
            <a:r>
              <a:rPr lang="en-US" dirty="0"/>
              <a:t>Elasticity of price expectations is defined as the ratio of the relative change in expected future prices to the relative change in current price. </a:t>
            </a:r>
          </a:p>
          <a:p>
            <a:r>
              <a:rPr lang="en-US" dirty="0"/>
              <a:t>It is symbolically </a:t>
            </a:r>
            <a:endParaRPr lang="en-US" dirty="0" smtClean="0"/>
          </a:p>
          <a:p>
            <a:endParaRPr lang="en-US" dirty="0"/>
          </a:p>
          <a:p>
            <a:r>
              <a:rPr lang="en-US" dirty="0" smtClean="0"/>
              <a:t>                                                                   =</a:t>
            </a:r>
          </a:p>
          <a:p>
            <a:endParaRPr lang="en-US" dirty="0"/>
          </a:p>
          <a:p>
            <a:endParaRPr lang="en-US" dirty="0"/>
          </a:p>
        </p:txBody>
      </p:sp>
      <p:pic>
        <p:nvPicPr>
          <p:cNvPr id="4" name="Picture 3"/>
          <p:cNvPicPr>
            <a:picLocks noChangeAspect="1"/>
          </p:cNvPicPr>
          <p:nvPr/>
        </p:nvPicPr>
        <p:blipFill>
          <a:blip r:embed="rId2"/>
          <a:stretch>
            <a:fillRect/>
          </a:stretch>
        </p:blipFill>
        <p:spPr>
          <a:xfrm>
            <a:off x="838200" y="4694400"/>
            <a:ext cx="5475796" cy="1022297"/>
          </a:xfrm>
          <a:prstGeom prst="rect">
            <a:avLst/>
          </a:prstGeom>
        </p:spPr>
      </p:pic>
      <p:pic>
        <p:nvPicPr>
          <p:cNvPr id="5" name="Picture 4"/>
          <p:cNvPicPr>
            <a:picLocks noChangeAspect="1"/>
          </p:cNvPicPr>
          <p:nvPr/>
        </p:nvPicPr>
        <p:blipFill>
          <a:blip r:embed="rId3"/>
          <a:stretch>
            <a:fillRect/>
          </a:stretch>
        </p:blipFill>
        <p:spPr>
          <a:xfrm>
            <a:off x="6978058" y="4346095"/>
            <a:ext cx="3408773" cy="1718906"/>
          </a:xfrm>
          <a:prstGeom prst="rect">
            <a:avLst/>
          </a:prstGeom>
        </p:spPr>
      </p:pic>
    </p:spTree>
    <p:extLst>
      <p:ext uri="{BB962C8B-B14F-4D97-AF65-F5344CB8AC3E}">
        <p14:creationId xmlns:p14="http://schemas.microsoft.com/office/powerpoint/2010/main" val="35857788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LAW OF SUPPLY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463040"/>
            <a:ext cx="10515600" cy="5303520"/>
          </a:xfrm>
        </p:spPr>
        <p:txBody>
          <a:bodyPr>
            <a:noAutofit/>
          </a:bodyPr>
          <a:lstStyle/>
          <a:p>
            <a:r>
              <a:rPr lang="en-US" sz="2400" dirty="0" smtClean="0"/>
              <a:t>The </a:t>
            </a:r>
            <a:r>
              <a:rPr lang="en-US" sz="2400" dirty="0"/>
              <a:t>relationship between price and quantity supplied is usually a positive relationship. A rise in price is associated with a rise in quantity supplied. </a:t>
            </a:r>
          </a:p>
          <a:p>
            <a:r>
              <a:rPr lang="en-US" sz="2400" b="1" dirty="0"/>
              <a:t>Definitions </a:t>
            </a:r>
            <a:endParaRPr lang="en-US" sz="2400" dirty="0"/>
          </a:p>
          <a:p>
            <a:r>
              <a:rPr lang="en-US" sz="2400" b="1" dirty="0" smtClean="0"/>
              <a:t>Dooley says </a:t>
            </a:r>
            <a:r>
              <a:rPr lang="en-US" sz="2400" dirty="0"/>
              <a:t>"The law of supply states that other things being equal the higher the price, the greater the quantity supplied or the lower the price, the smaller the quantity supplied.“ </a:t>
            </a:r>
          </a:p>
          <a:p>
            <a:r>
              <a:rPr lang="en-US" sz="2400" b="1" dirty="0" err="1" smtClean="0"/>
              <a:t>Lipsey</a:t>
            </a:r>
            <a:r>
              <a:rPr lang="en-US" sz="2400" b="1" dirty="0"/>
              <a:t>, </a:t>
            </a:r>
            <a:r>
              <a:rPr lang="en-US" sz="2400" b="1" dirty="0" smtClean="0"/>
              <a:t>defines it as "The</a:t>
            </a:r>
            <a:r>
              <a:rPr lang="en-US" sz="2400" dirty="0" smtClean="0"/>
              <a:t> </a:t>
            </a:r>
            <a:r>
              <a:rPr lang="en-US" sz="2400" dirty="0"/>
              <a:t>law of supply states that other things being equal, the quantity of any commodity that firms will produce and offer for sale is positively related to the commodity's own price, rising when price rises and falling when price falls.“ </a:t>
            </a:r>
          </a:p>
          <a:p>
            <a:r>
              <a:rPr lang="en-US" sz="2400" dirty="0"/>
              <a:t>As the price of good increases, suppliers will attempt to maximize profits by increasing the quantity of the product sold. </a:t>
            </a:r>
          </a:p>
          <a:p>
            <a:pPr marL="0" indent="0">
              <a:buNone/>
            </a:pPr>
            <a:endParaRPr lang="en-US" sz="2400" dirty="0"/>
          </a:p>
        </p:txBody>
      </p:sp>
    </p:spTree>
    <p:extLst>
      <p:ext uri="{BB962C8B-B14F-4D97-AF65-F5344CB8AC3E}">
        <p14:creationId xmlns:p14="http://schemas.microsoft.com/office/powerpoint/2010/main" val="8687039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SUPPLY SCHEDULE</a:t>
            </a:r>
            <a:endParaRPr lang="en-US" dirty="0">
              <a:effectLst>
                <a:outerShdw blurRad="38100" dist="38100" dir="2700000" algn="tl">
                  <a:srgbClr val="000000">
                    <a:alpha val="43137"/>
                  </a:srgbClr>
                </a:outerShdw>
              </a:effectLst>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52810424"/>
              </p:ext>
            </p:extLst>
          </p:nvPr>
        </p:nvGraphicFramePr>
        <p:xfrm>
          <a:off x="677863" y="2160588"/>
          <a:ext cx="8596312" cy="1854200"/>
        </p:xfrm>
        <a:graphic>
          <a:graphicData uri="http://schemas.openxmlformats.org/drawingml/2006/table">
            <a:tbl>
              <a:tblPr firstRow="1" bandRow="1">
                <a:tableStyleId>{5C22544A-7EE6-4342-B048-85BDC9FD1C3A}</a:tableStyleId>
              </a:tblPr>
              <a:tblGrid>
                <a:gridCol w="4298156">
                  <a:extLst>
                    <a:ext uri="{9D8B030D-6E8A-4147-A177-3AD203B41FA5}">
                      <a16:colId xmlns:a16="http://schemas.microsoft.com/office/drawing/2014/main" val="1552790687"/>
                    </a:ext>
                  </a:extLst>
                </a:gridCol>
                <a:gridCol w="4298156">
                  <a:extLst>
                    <a:ext uri="{9D8B030D-6E8A-4147-A177-3AD203B41FA5}">
                      <a16:colId xmlns:a16="http://schemas.microsoft.com/office/drawing/2014/main" val="361490744"/>
                    </a:ext>
                  </a:extLst>
                </a:gridCol>
              </a:tblGrid>
              <a:tr h="370840">
                <a:tc>
                  <a:txBody>
                    <a:bodyPr/>
                    <a:lstStyle/>
                    <a:p>
                      <a:r>
                        <a:rPr lang="en-US" dirty="0" smtClean="0"/>
                        <a:t>PRICE</a:t>
                      </a:r>
                      <a:r>
                        <a:rPr lang="en-US" baseline="0" dirty="0" smtClean="0"/>
                        <a:t> OF APPLES</a:t>
                      </a:r>
                      <a:endParaRPr lang="en-US" dirty="0"/>
                    </a:p>
                  </a:txBody>
                  <a:tcPr marL="74751" marR="74751"/>
                </a:tc>
                <a:tc>
                  <a:txBody>
                    <a:bodyPr/>
                    <a:lstStyle/>
                    <a:p>
                      <a:r>
                        <a:rPr lang="en-US" dirty="0" smtClean="0"/>
                        <a:t>QUANTITY OF APPLES SUPPLIED</a:t>
                      </a:r>
                      <a:endParaRPr lang="en-US" dirty="0"/>
                    </a:p>
                  </a:txBody>
                  <a:tcPr marL="74751" marR="74751"/>
                </a:tc>
                <a:extLst>
                  <a:ext uri="{0D108BD9-81ED-4DB2-BD59-A6C34878D82A}">
                    <a16:rowId xmlns:a16="http://schemas.microsoft.com/office/drawing/2014/main" val="4031746519"/>
                  </a:ext>
                </a:extLst>
              </a:tr>
              <a:tr h="370840">
                <a:tc>
                  <a:txBody>
                    <a:bodyPr/>
                    <a:lstStyle/>
                    <a:p>
                      <a:r>
                        <a:rPr lang="en-US" dirty="0" smtClean="0"/>
                        <a:t>10</a:t>
                      </a:r>
                    </a:p>
                  </a:txBody>
                  <a:tcPr marL="74751" marR="74751"/>
                </a:tc>
                <a:tc>
                  <a:txBody>
                    <a:bodyPr/>
                    <a:lstStyle/>
                    <a:p>
                      <a:r>
                        <a:rPr lang="en-US" dirty="0" smtClean="0"/>
                        <a:t>100</a:t>
                      </a:r>
                      <a:endParaRPr lang="en-US" dirty="0"/>
                    </a:p>
                  </a:txBody>
                  <a:tcPr marL="74751" marR="74751"/>
                </a:tc>
                <a:extLst>
                  <a:ext uri="{0D108BD9-81ED-4DB2-BD59-A6C34878D82A}">
                    <a16:rowId xmlns:a16="http://schemas.microsoft.com/office/drawing/2014/main" val="2240458548"/>
                  </a:ext>
                </a:extLst>
              </a:tr>
              <a:tr h="370840">
                <a:tc>
                  <a:txBody>
                    <a:bodyPr/>
                    <a:lstStyle/>
                    <a:p>
                      <a:r>
                        <a:rPr lang="en-US" dirty="0" smtClean="0"/>
                        <a:t>11</a:t>
                      </a:r>
                      <a:endParaRPr lang="en-US" dirty="0"/>
                    </a:p>
                  </a:txBody>
                  <a:tcPr marL="74751" marR="74751"/>
                </a:tc>
                <a:tc>
                  <a:txBody>
                    <a:bodyPr/>
                    <a:lstStyle/>
                    <a:p>
                      <a:r>
                        <a:rPr lang="en-US" dirty="0" smtClean="0"/>
                        <a:t>150</a:t>
                      </a:r>
                      <a:endParaRPr lang="en-US" dirty="0"/>
                    </a:p>
                  </a:txBody>
                  <a:tcPr marL="74751" marR="74751"/>
                </a:tc>
                <a:extLst>
                  <a:ext uri="{0D108BD9-81ED-4DB2-BD59-A6C34878D82A}">
                    <a16:rowId xmlns:a16="http://schemas.microsoft.com/office/drawing/2014/main" val="2861288585"/>
                  </a:ext>
                </a:extLst>
              </a:tr>
              <a:tr h="370840">
                <a:tc>
                  <a:txBody>
                    <a:bodyPr/>
                    <a:lstStyle/>
                    <a:p>
                      <a:r>
                        <a:rPr lang="en-US" dirty="0" smtClean="0"/>
                        <a:t>12</a:t>
                      </a:r>
                      <a:endParaRPr lang="en-US" dirty="0"/>
                    </a:p>
                  </a:txBody>
                  <a:tcPr marL="74751" marR="74751"/>
                </a:tc>
                <a:tc>
                  <a:txBody>
                    <a:bodyPr/>
                    <a:lstStyle/>
                    <a:p>
                      <a:r>
                        <a:rPr lang="en-US" dirty="0" smtClean="0"/>
                        <a:t>200</a:t>
                      </a:r>
                      <a:endParaRPr lang="en-US" dirty="0"/>
                    </a:p>
                  </a:txBody>
                  <a:tcPr marL="74751" marR="74751"/>
                </a:tc>
                <a:extLst>
                  <a:ext uri="{0D108BD9-81ED-4DB2-BD59-A6C34878D82A}">
                    <a16:rowId xmlns:a16="http://schemas.microsoft.com/office/drawing/2014/main" val="2272524064"/>
                  </a:ext>
                </a:extLst>
              </a:tr>
              <a:tr h="370840">
                <a:tc>
                  <a:txBody>
                    <a:bodyPr/>
                    <a:lstStyle/>
                    <a:p>
                      <a:r>
                        <a:rPr lang="en-US" dirty="0" smtClean="0"/>
                        <a:t>13</a:t>
                      </a:r>
                      <a:endParaRPr lang="en-US" dirty="0"/>
                    </a:p>
                  </a:txBody>
                  <a:tcPr marL="74751" marR="74751"/>
                </a:tc>
                <a:tc>
                  <a:txBody>
                    <a:bodyPr/>
                    <a:lstStyle/>
                    <a:p>
                      <a:r>
                        <a:rPr lang="en-US" dirty="0" smtClean="0"/>
                        <a:t>250</a:t>
                      </a:r>
                      <a:endParaRPr lang="en-US" dirty="0"/>
                    </a:p>
                  </a:txBody>
                  <a:tcPr marL="74751" marR="74751"/>
                </a:tc>
                <a:extLst>
                  <a:ext uri="{0D108BD9-81ED-4DB2-BD59-A6C34878D82A}">
                    <a16:rowId xmlns:a16="http://schemas.microsoft.com/office/drawing/2014/main" val="2596065489"/>
                  </a:ext>
                </a:extLst>
              </a:tr>
            </a:tbl>
          </a:graphicData>
        </a:graphic>
      </p:graphicFrame>
    </p:spTree>
    <p:extLst>
      <p:ext uri="{BB962C8B-B14F-4D97-AF65-F5344CB8AC3E}">
        <p14:creationId xmlns:p14="http://schemas.microsoft.com/office/powerpoint/2010/main" val="24891179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SUPPLY CURVE</a:t>
            </a:r>
            <a:endParaRPr lang="en-US" b="1" dirty="0">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a:stretch>
            <a:fillRect/>
          </a:stretch>
        </p:blipFill>
        <p:spPr>
          <a:xfrm>
            <a:off x="1753481" y="2123271"/>
            <a:ext cx="1041970" cy="3402318"/>
          </a:xfrm>
          <a:prstGeom prst="rect">
            <a:avLst/>
          </a:prstGeom>
        </p:spPr>
      </p:pic>
      <p:pic>
        <p:nvPicPr>
          <p:cNvPr id="5" name="Picture 4"/>
          <p:cNvPicPr>
            <a:picLocks noChangeAspect="1"/>
          </p:cNvPicPr>
          <p:nvPr/>
        </p:nvPicPr>
        <p:blipFill>
          <a:blip r:embed="rId3"/>
          <a:stretch>
            <a:fillRect/>
          </a:stretch>
        </p:blipFill>
        <p:spPr>
          <a:xfrm>
            <a:off x="2795451" y="2123271"/>
            <a:ext cx="901338" cy="3402318"/>
          </a:xfrm>
          <a:prstGeom prst="rect">
            <a:avLst/>
          </a:prstGeom>
        </p:spPr>
      </p:pic>
      <p:pic>
        <p:nvPicPr>
          <p:cNvPr id="6" name="Picture 5"/>
          <p:cNvPicPr>
            <a:picLocks noChangeAspect="1"/>
          </p:cNvPicPr>
          <p:nvPr/>
        </p:nvPicPr>
        <p:blipFill>
          <a:blip r:embed="rId4"/>
          <a:stretch>
            <a:fillRect/>
          </a:stretch>
        </p:blipFill>
        <p:spPr>
          <a:xfrm>
            <a:off x="3696789" y="2112678"/>
            <a:ext cx="865208" cy="3412911"/>
          </a:xfrm>
          <a:prstGeom prst="rect">
            <a:avLst/>
          </a:prstGeom>
        </p:spPr>
      </p:pic>
      <p:pic>
        <p:nvPicPr>
          <p:cNvPr id="7" name="Picture 6"/>
          <p:cNvPicPr>
            <a:picLocks noChangeAspect="1"/>
          </p:cNvPicPr>
          <p:nvPr/>
        </p:nvPicPr>
        <p:blipFill>
          <a:blip r:embed="rId5"/>
          <a:stretch>
            <a:fillRect/>
          </a:stretch>
        </p:blipFill>
        <p:spPr>
          <a:xfrm>
            <a:off x="4561997" y="2112678"/>
            <a:ext cx="761534" cy="3412910"/>
          </a:xfrm>
          <a:prstGeom prst="rect">
            <a:avLst/>
          </a:prstGeom>
        </p:spPr>
      </p:pic>
      <p:pic>
        <p:nvPicPr>
          <p:cNvPr id="8" name="Picture 7"/>
          <p:cNvPicPr>
            <a:picLocks noChangeAspect="1"/>
          </p:cNvPicPr>
          <p:nvPr/>
        </p:nvPicPr>
        <p:blipFill>
          <a:blip r:embed="rId6"/>
          <a:stretch>
            <a:fillRect/>
          </a:stretch>
        </p:blipFill>
        <p:spPr>
          <a:xfrm>
            <a:off x="5323531" y="2123270"/>
            <a:ext cx="580217" cy="3402317"/>
          </a:xfrm>
          <a:prstGeom prst="rect">
            <a:avLst/>
          </a:prstGeom>
        </p:spPr>
      </p:pic>
    </p:spTree>
    <p:extLst>
      <p:ext uri="{BB962C8B-B14F-4D97-AF65-F5344CB8AC3E}">
        <p14:creationId xmlns:p14="http://schemas.microsoft.com/office/powerpoint/2010/main" val="41402099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DETERMINANTTS OF SUPPLY </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marL="0" indent="0">
              <a:buNone/>
            </a:pPr>
            <a:r>
              <a:rPr lang="en-US" b="1" dirty="0" smtClean="0"/>
              <a:t>1. Cost of factors of production</a:t>
            </a:r>
          </a:p>
          <a:p>
            <a:r>
              <a:rPr lang="en-US" dirty="0" smtClean="0"/>
              <a:t>Price of raw materials</a:t>
            </a:r>
          </a:p>
          <a:p>
            <a:r>
              <a:rPr lang="en-US" dirty="0" smtClean="0"/>
              <a:t>Rent and interest on Machinery </a:t>
            </a:r>
          </a:p>
          <a:p>
            <a:r>
              <a:rPr lang="en-US" dirty="0" smtClean="0"/>
              <a:t>Cost of Machinery</a:t>
            </a:r>
          </a:p>
          <a:p>
            <a:r>
              <a:rPr lang="en-US" dirty="0" smtClean="0"/>
              <a:t>Payments on Human Resources (wages &amp; Salaries)</a:t>
            </a:r>
          </a:p>
          <a:p>
            <a:r>
              <a:rPr lang="en-US" dirty="0" smtClean="0"/>
              <a:t>Payments on Transport</a:t>
            </a:r>
          </a:p>
          <a:p>
            <a:r>
              <a:rPr lang="en-US" dirty="0" smtClean="0"/>
              <a:t>If Production is high Supply will be low</a:t>
            </a:r>
            <a:endParaRPr lang="en-US" dirty="0"/>
          </a:p>
        </p:txBody>
      </p:sp>
    </p:spTree>
    <p:extLst>
      <p:ext uri="{BB962C8B-B14F-4D97-AF65-F5344CB8AC3E}">
        <p14:creationId xmlns:p14="http://schemas.microsoft.com/office/powerpoint/2010/main" val="7956815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2. State of technology </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Use of technology reduces cost of production</a:t>
            </a:r>
          </a:p>
          <a:p>
            <a:r>
              <a:rPr lang="en-US" dirty="0" smtClean="0"/>
              <a:t>Increases production capacity</a:t>
            </a:r>
          </a:p>
          <a:p>
            <a:r>
              <a:rPr lang="en-US" dirty="0" smtClean="0"/>
              <a:t>Which increases supply</a:t>
            </a:r>
          </a:p>
          <a:p>
            <a:r>
              <a:rPr lang="en-US" sz="3600" b="1" dirty="0" smtClean="0"/>
              <a:t>3. Factors outside the Economic Sphere.</a:t>
            </a:r>
          </a:p>
          <a:p>
            <a:r>
              <a:rPr lang="en-US" dirty="0" smtClean="0"/>
              <a:t>The factors below should not rise, if they rise they affect supply directly or indirectly.</a:t>
            </a:r>
          </a:p>
          <a:p>
            <a:r>
              <a:rPr lang="en-US" dirty="0" smtClean="0"/>
              <a:t>Weather conditions, </a:t>
            </a:r>
          </a:p>
          <a:p>
            <a:r>
              <a:rPr lang="en-US" dirty="0" smtClean="0"/>
              <a:t>Wars</a:t>
            </a:r>
          </a:p>
          <a:p>
            <a:r>
              <a:rPr lang="en-US" dirty="0" smtClean="0"/>
              <a:t>Unexpected situations like epidemics (COVID-19)</a:t>
            </a:r>
          </a:p>
          <a:p>
            <a:r>
              <a:rPr lang="en-US" dirty="0" smtClean="0"/>
              <a:t>Floods</a:t>
            </a:r>
            <a:endParaRPr lang="en-US" dirty="0"/>
          </a:p>
        </p:txBody>
      </p:sp>
    </p:spTree>
    <p:extLst>
      <p:ext uri="{BB962C8B-B14F-4D97-AF65-F5344CB8AC3E}">
        <p14:creationId xmlns:p14="http://schemas.microsoft.com/office/powerpoint/2010/main" val="7168700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5. TAX AND SUBSIDY</a:t>
            </a:r>
            <a:endParaRPr lang="en-US" dirty="0"/>
          </a:p>
        </p:txBody>
      </p:sp>
      <p:sp>
        <p:nvSpPr>
          <p:cNvPr id="3" name="Content Placeholder 2"/>
          <p:cNvSpPr>
            <a:spLocks noGrp="1"/>
          </p:cNvSpPr>
          <p:nvPr>
            <p:ph idx="1"/>
          </p:nvPr>
        </p:nvSpPr>
        <p:spPr/>
        <p:txBody>
          <a:bodyPr>
            <a:normAutofit lnSpcReduction="10000"/>
          </a:bodyPr>
          <a:lstStyle/>
          <a:p>
            <a:r>
              <a:rPr lang="en-US" dirty="0" smtClean="0"/>
              <a:t>If Tax subsidy (Charge less tax) is given by the government</a:t>
            </a:r>
          </a:p>
          <a:p>
            <a:r>
              <a:rPr lang="en-US" dirty="0" smtClean="0"/>
              <a:t>Cost of production is low but if not </a:t>
            </a:r>
          </a:p>
          <a:p>
            <a:r>
              <a:rPr lang="en-US" dirty="0" smtClean="0"/>
              <a:t>The cost of production rises </a:t>
            </a:r>
          </a:p>
          <a:p>
            <a:r>
              <a:rPr lang="en-US" dirty="0" smtClean="0"/>
              <a:t>Leading to low production which will effect decrease in supply.</a:t>
            </a:r>
          </a:p>
          <a:p>
            <a:r>
              <a:rPr lang="en-US" sz="3200" dirty="0" smtClean="0"/>
              <a:t>6. Goal of business firm</a:t>
            </a:r>
          </a:p>
          <a:p>
            <a:r>
              <a:rPr lang="en-US" sz="3200" dirty="0" smtClean="0"/>
              <a:t>7. Price of related goods</a:t>
            </a:r>
          </a:p>
          <a:p>
            <a:r>
              <a:rPr lang="en-US" sz="3200" dirty="0" smtClean="0"/>
              <a:t>8 Change in number of companies in the industry</a:t>
            </a:r>
          </a:p>
          <a:p>
            <a:endParaRPr lang="en-US" dirty="0"/>
          </a:p>
        </p:txBody>
      </p:sp>
    </p:spTree>
    <p:extLst>
      <p:ext uri="{BB962C8B-B14F-4D97-AF65-F5344CB8AC3E}">
        <p14:creationId xmlns:p14="http://schemas.microsoft.com/office/powerpoint/2010/main" val="6784914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Movement along the Supply Curve</a:t>
            </a:r>
            <a:endParaRPr lang="en-US" dirty="0"/>
          </a:p>
        </p:txBody>
      </p:sp>
      <p:sp>
        <p:nvSpPr>
          <p:cNvPr id="3" name="Content Placeholder 2"/>
          <p:cNvSpPr>
            <a:spLocks noGrp="1"/>
          </p:cNvSpPr>
          <p:nvPr>
            <p:ph idx="1"/>
          </p:nvPr>
        </p:nvSpPr>
        <p:spPr>
          <a:xfrm>
            <a:off x="677334" y="1332411"/>
            <a:ext cx="8596668" cy="5081452"/>
          </a:xfrm>
        </p:spPr>
        <p:txBody>
          <a:bodyPr>
            <a:noAutofit/>
          </a:bodyPr>
          <a:lstStyle/>
          <a:p>
            <a:r>
              <a:rPr lang="en-US" sz="2400" dirty="0"/>
              <a:t>A change in price causes a movement along the supply curve; such a movement is called a change in quantity supplied. </a:t>
            </a:r>
            <a:endParaRPr lang="en-US" sz="2400" dirty="0" smtClean="0"/>
          </a:p>
          <a:p>
            <a:r>
              <a:rPr lang="en-US" sz="2400" dirty="0" smtClean="0"/>
              <a:t>As </a:t>
            </a:r>
            <a:r>
              <a:rPr lang="en-US" sz="2400" dirty="0"/>
              <a:t>is the case with a change in quantity demanded, a change in quantity supplied does not shift the supply curve. By definition, it is a movement along the supply curve. </a:t>
            </a:r>
            <a:endParaRPr lang="en-US" sz="2400" dirty="0" smtClean="0"/>
          </a:p>
          <a:p>
            <a:r>
              <a:rPr lang="en-US" sz="2400" dirty="0" smtClean="0"/>
              <a:t>For </a:t>
            </a:r>
            <a:r>
              <a:rPr lang="en-US" sz="2400" dirty="0"/>
              <a:t>example, if the price rises from P1 to P3, the quantity supplied rises from Q1 to Q3 and that is an expansion in supply. </a:t>
            </a:r>
            <a:endParaRPr lang="en-US" sz="2400" dirty="0" smtClean="0"/>
          </a:p>
          <a:p>
            <a:r>
              <a:rPr lang="en-US" sz="2400" dirty="0" smtClean="0"/>
              <a:t>When </a:t>
            </a:r>
            <a:r>
              <a:rPr lang="en-US" sz="2400" dirty="0"/>
              <a:t>the price drops from P1 to P2, the quantity supplied drops from Q1 to Q2 and that is a contraction in supply. </a:t>
            </a:r>
          </a:p>
        </p:txBody>
      </p:sp>
    </p:spTree>
    <p:extLst>
      <p:ext uri="{BB962C8B-B14F-4D97-AF65-F5344CB8AC3E}">
        <p14:creationId xmlns:p14="http://schemas.microsoft.com/office/powerpoint/2010/main" val="40786143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SUPPLY CURVE</a:t>
            </a:r>
            <a:endParaRPr lang="en-US" b="1" dirty="0">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a:stretch>
            <a:fillRect/>
          </a:stretch>
        </p:blipFill>
        <p:spPr>
          <a:xfrm>
            <a:off x="1045028" y="1930400"/>
            <a:ext cx="8228973" cy="4548777"/>
          </a:xfrm>
          <a:prstGeom prst="rect">
            <a:avLst/>
          </a:prstGeom>
        </p:spPr>
      </p:pic>
    </p:spTree>
    <p:extLst>
      <p:ext uri="{BB962C8B-B14F-4D97-AF65-F5344CB8AC3E}">
        <p14:creationId xmlns:p14="http://schemas.microsoft.com/office/powerpoint/2010/main" val="10860223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905691"/>
          </a:xfrm>
        </p:spPr>
        <p:txBody>
          <a:bodyPr>
            <a:normAutofit fontScale="90000"/>
          </a:bodyPr>
          <a:lstStyle/>
          <a:p>
            <a:r>
              <a:rPr lang="en-US" b="1" dirty="0">
                <a:effectLst>
                  <a:outerShdw blurRad="38100" dist="38100" dir="2700000" algn="tl">
                    <a:srgbClr val="000000">
                      <a:alpha val="43137"/>
                    </a:srgbClr>
                  </a:outerShdw>
                </a:effectLst>
              </a:rPr>
              <a:t>Shifts in the Supply Curve </a:t>
            </a:r>
            <a:br>
              <a:rPr lang="en-US" b="1" dirty="0">
                <a:effectLst>
                  <a:outerShdw blurRad="38100" dist="38100" dir="2700000" algn="tl">
                    <a:srgbClr val="000000">
                      <a:alpha val="43137"/>
                    </a:srgbClr>
                  </a:outerShdw>
                </a:effectLst>
              </a:rPr>
            </a:br>
            <a:r>
              <a:rPr lang="en-US" b="1" dirty="0" smtClean="0">
                <a:effectLst>
                  <a:outerShdw blurRad="38100" dist="38100" dir="2700000" algn="tl">
                    <a:srgbClr val="000000">
                      <a:alpha val="43137"/>
                    </a:srgbClr>
                  </a:outerShdw>
                </a:effectLst>
              </a:rPr>
              <a:t/>
            </a:r>
            <a:br>
              <a:rPr lang="en-US" b="1" dirty="0" smtClean="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677334" y="1658983"/>
            <a:ext cx="8596668" cy="4898571"/>
          </a:xfrm>
        </p:spPr>
        <p:txBody>
          <a:bodyPr>
            <a:noAutofit/>
          </a:bodyPr>
          <a:lstStyle/>
          <a:p>
            <a:r>
              <a:rPr lang="en-US" sz="2400" dirty="0" smtClean="0"/>
              <a:t>Shifts </a:t>
            </a:r>
            <a:r>
              <a:rPr lang="en-US" sz="2400" dirty="0"/>
              <a:t>in supply curve arise from changes in the following </a:t>
            </a:r>
          </a:p>
          <a:p>
            <a:r>
              <a:rPr lang="en-US" sz="2400" b="1" dirty="0" smtClean="0"/>
              <a:t>The </a:t>
            </a:r>
            <a:r>
              <a:rPr lang="en-US" sz="2400" b="1" dirty="0"/>
              <a:t>cost of production for the </a:t>
            </a:r>
            <a:r>
              <a:rPr lang="en-US" sz="2400" b="1" dirty="0" smtClean="0"/>
              <a:t>firms:</a:t>
            </a:r>
          </a:p>
          <a:p>
            <a:r>
              <a:rPr lang="en-US" sz="2400" dirty="0" smtClean="0"/>
              <a:t>For </a:t>
            </a:r>
            <a:r>
              <a:rPr lang="en-US" sz="2400" dirty="0"/>
              <a:t>example, autoworkers in Zambia represented by a union might negotiate a new labour contract for higher wages. </a:t>
            </a:r>
            <a:endParaRPr lang="en-US" sz="2400" dirty="0" smtClean="0"/>
          </a:p>
          <a:p>
            <a:r>
              <a:rPr lang="en-US" sz="2400" dirty="0" smtClean="0"/>
              <a:t>This </a:t>
            </a:r>
            <a:r>
              <a:rPr lang="en-US" sz="2400" dirty="0"/>
              <a:t>represents a cost increase on the part of firms and will result in a leftward shift of the supply curve. </a:t>
            </a:r>
          </a:p>
          <a:p>
            <a:r>
              <a:rPr lang="en-US" sz="2400" b="1" dirty="0" smtClean="0"/>
              <a:t>Technology </a:t>
            </a:r>
            <a:r>
              <a:rPr lang="en-US" sz="2400" b="1" dirty="0"/>
              <a:t>that affects the production function: </a:t>
            </a:r>
            <a:endParaRPr lang="en-US" sz="2400" b="1" dirty="0" smtClean="0"/>
          </a:p>
          <a:p>
            <a:r>
              <a:rPr lang="en-US" sz="2400" dirty="0" smtClean="0"/>
              <a:t>For </a:t>
            </a:r>
            <a:r>
              <a:rPr lang="en-US" sz="2400" dirty="0"/>
              <a:t>example, a new robotic technology that aids in the assembly of automobiles in the factory could improve the efficiency of the plant, resulting in a rightward shift of the supply curve. </a:t>
            </a:r>
          </a:p>
          <a:p>
            <a:endParaRPr lang="en-US" sz="2400" dirty="0"/>
          </a:p>
        </p:txBody>
      </p:sp>
    </p:spTree>
    <p:extLst>
      <p:ext uri="{BB962C8B-B14F-4D97-AF65-F5344CB8AC3E}">
        <p14:creationId xmlns:p14="http://schemas.microsoft.com/office/powerpoint/2010/main" val="257261978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SHIFTS IN SUPPLY CURVE</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The </a:t>
            </a:r>
            <a:r>
              <a:rPr lang="en-US" b="1" dirty="0"/>
              <a:t>number of sellers in the market: </a:t>
            </a:r>
            <a:endParaRPr lang="en-US" b="1" dirty="0" smtClean="0"/>
          </a:p>
          <a:p>
            <a:r>
              <a:rPr lang="en-US" dirty="0" smtClean="0"/>
              <a:t>For </a:t>
            </a:r>
            <a:r>
              <a:rPr lang="en-US" dirty="0"/>
              <a:t>example, perhaps a new company, like Toyota decides to begin to manufacture cars in Zambia, the number of sellers has increased, and the number of cars for sale is likely to increase as well, leading to a rightward shift in the supply curve. </a:t>
            </a:r>
          </a:p>
          <a:p>
            <a:r>
              <a:rPr lang="en-US" dirty="0"/>
              <a:t> </a:t>
            </a:r>
            <a:r>
              <a:rPr lang="en-US" b="1" dirty="0"/>
              <a:t>The presence of alternative markets for sellers: </a:t>
            </a:r>
            <a:endParaRPr lang="en-US" b="1" dirty="0" smtClean="0"/>
          </a:p>
          <a:p>
            <a:r>
              <a:rPr lang="en-US" dirty="0" smtClean="0"/>
              <a:t>For </a:t>
            </a:r>
            <a:r>
              <a:rPr lang="en-US" dirty="0"/>
              <a:t>example, an economic boom in Zambia might cause South African manufacturers to send more of the cars they produce to Zambia instead of selling them in South African, leading to a lower supply of cars in the South African market represented by a leftward shift in the supply curve. </a:t>
            </a:r>
          </a:p>
          <a:p>
            <a:endParaRPr lang="en-US" dirty="0"/>
          </a:p>
        </p:txBody>
      </p:sp>
    </p:spTree>
    <p:extLst>
      <p:ext uri="{BB962C8B-B14F-4D97-AF65-F5344CB8AC3E}">
        <p14:creationId xmlns:p14="http://schemas.microsoft.com/office/powerpoint/2010/main" val="3107289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effectLst>
                  <a:outerShdw blurRad="38100" dist="38100" dir="2700000" algn="tl">
                    <a:srgbClr val="000000">
                      <a:alpha val="43137"/>
                    </a:srgbClr>
                  </a:outerShdw>
                </a:effectLst>
              </a:rPr>
              <a:t/>
            </a:r>
            <a:br>
              <a:rPr lang="en-US" sz="4000" b="1" dirty="0">
                <a:effectLst>
                  <a:outerShdw blurRad="38100" dist="38100" dir="2700000" algn="tl">
                    <a:srgbClr val="000000">
                      <a:alpha val="43137"/>
                    </a:srgbClr>
                  </a:outerShdw>
                </a:effectLst>
              </a:rPr>
            </a:br>
            <a:r>
              <a:rPr lang="en-US" sz="4000" b="1" dirty="0">
                <a:effectLst>
                  <a:outerShdw blurRad="38100" dist="38100" dir="2700000" algn="tl">
                    <a:srgbClr val="000000">
                      <a:alpha val="43137"/>
                    </a:srgbClr>
                  </a:outerShdw>
                </a:effectLst>
              </a:rPr>
              <a:t>Increase in Supply </a:t>
            </a:r>
            <a:br>
              <a:rPr lang="en-US" sz="4000" b="1" dirty="0">
                <a:effectLst>
                  <a:outerShdw blurRad="38100" dist="38100" dir="2700000" algn="tl">
                    <a:srgbClr val="000000">
                      <a:alpha val="43137"/>
                    </a:srgbClr>
                  </a:outerShdw>
                </a:effectLst>
              </a:rPr>
            </a:br>
            <a:endParaRPr lang="en-US" sz="4000" b="1" dirty="0">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a:stretch>
            <a:fillRect/>
          </a:stretch>
        </p:blipFill>
        <p:spPr>
          <a:xfrm>
            <a:off x="677334" y="2160588"/>
            <a:ext cx="8596668" cy="3881437"/>
          </a:xfrm>
          <a:prstGeom prst="rect">
            <a:avLst/>
          </a:prstGeom>
        </p:spPr>
      </p:pic>
    </p:spTree>
    <p:extLst>
      <p:ext uri="{BB962C8B-B14F-4D97-AF65-F5344CB8AC3E}">
        <p14:creationId xmlns:p14="http://schemas.microsoft.com/office/powerpoint/2010/main" val="145202809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effectLst>
                  <a:outerShdw blurRad="38100" dist="38100" dir="2700000" algn="tl">
                    <a:srgbClr val="000000">
                      <a:alpha val="43137"/>
                    </a:srgbClr>
                  </a:outerShdw>
                </a:effectLst>
              </a:rPr>
              <a:t/>
            </a:r>
            <a:br>
              <a:rPr lang="en-US" sz="4000" b="1" dirty="0">
                <a:effectLst>
                  <a:outerShdw blurRad="38100" dist="38100" dir="2700000" algn="tl">
                    <a:srgbClr val="000000">
                      <a:alpha val="43137"/>
                    </a:srgbClr>
                  </a:outerShdw>
                </a:effectLst>
              </a:rPr>
            </a:br>
            <a:r>
              <a:rPr lang="en-US" sz="4000" b="1" dirty="0">
                <a:effectLst>
                  <a:outerShdw blurRad="38100" dist="38100" dir="2700000" algn="tl">
                    <a:srgbClr val="000000">
                      <a:alpha val="43137"/>
                    </a:srgbClr>
                  </a:outerShdw>
                </a:effectLst>
              </a:rPr>
              <a:t>Decrease in Supply </a:t>
            </a:r>
            <a:br>
              <a:rPr lang="en-US" sz="4000" b="1" dirty="0">
                <a:effectLst>
                  <a:outerShdw blurRad="38100" dist="38100" dir="2700000" algn="tl">
                    <a:srgbClr val="000000">
                      <a:alpha val="43137"/>
                    </a:srgbClr>
                  </a:outerShdw>
                </a:effectLst>
              </a:rPr>
            </a:br>
            <a:endParaRPr lang="en-US" sz="4000" b="1" dirty="0">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a:stretch>
            <a:fillRect/>
          </a:stretch>
        </p:blipFill>
        <p:spPr>
          <a:xfrm>
            <a:off x="677334" y="2432158"/>
            <a:ext cx="7891899" cy="3338297"/>
          </a:xfrm>
          <a:prstGeom prst="rect">
            <a:avLst/>
          </a:prstGeom>
        </p:spPr>
      </p:pic>
    </p:spTree>
    <p:extLst>
      <p:ext uri="{BB962C8B-B14F-4D97-AF65-F5344CB8AC3E}">
        <p14:creationId xmlns:p14="http://schemas.microsoft.com/office/powerpoint/2010/main" val="369771485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91439"/>
            <a:ext cx="8596668" cy="1201783"/>
          </a:xfrm>
        </p:spPr>
        <p:txBody>
          <a:bodyPr>
            <a:noAutofit/>
          </a:bodyPr>
          <a:lstStyle/>
          <a:p>
            <a:r>
              <a:rPr lang="en-US" sz="3200" b="1" dirty="0">
                <a:effectLst>
                  <a:outerShdw blurRad="38100" dist="38100" dir="2700000" algn="tl">
                    <a:srgbClr val="000000">
                      <a:alpha val="43137"/>
                    </a:srgbClr>
                  </a:outerShdw>
                </a:effectLst>
              </a:rPr>
              <a:t>Equilibrium Demand and Supply, Consumer Surplus and Producer surplus </a:t>
            </a:r>
            <a:br>
              <a:rPr lang="en-US" sz="3200" b="1" dirty="0">
                <a:effectLst>
                  <a:outerShdw blurRad="38100" dist="38100" dir="2700000" algn="tl">
                    <a:srgbClr val="000000">
                      <a:alpha val="43137"/>
                    </a:srgbClr>
                  </a:outerShdw>
                </a:effectLst>
              </a:rPr>
            </a:br>
            <a:endParaRPr lang="en-US" sz="32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1293222"/>
            <a:ext cx="9666514" cy="5264332"/>
          </a:xfrm>
        </p:spPr>
        <p:txBody>
          <a:bodyPr>
            <a:noAutofit/>
          </a:bodyPr>
          <a:lstStyle/>
          <a:p>
            <a:r>
              <a:rPr lang="en-US" sz="2800" dirty="0" smtClean="0"/>
              <a:t>Market </a:t>
            </a:r>
            <a:r>
              <a:rPr lang="en-US" sz="2800" dirty="0"/>
              <a:t>equilibrium is the quantity-price point where supply and demand balance out in such a way that quantity demanded equals quantity supplied</a:t>
            </a:r>
            <a:r>
              <a:rPr lang="en-US" sz="2800" dirty="0" smtClean="0"/>
              <a:t>.</a:t>
            </a:r>
          </a:p>
          <a:p>
            <a:r>
              <a:rPr lang="en-US" sz="2800" dirty="0" smtClean="0"/>
              <a:t>The </a:t>
            </a:r>
            <a:r>
              <a:rPr lang="en-US" sz="2800" dirty="0"/>
              <a:t>market stabilizes at the price that corresponds to this quantity. When visualized on a graph, the economic equilibrium is the point of intersection between the demand and supply curves. </a:t>
            </a:r>
            <a:endParaRPr lang="en-US" sz="2800" dirty="0" smtClean="0"/>
          </a:p>
          <a:p>
            <a:r>
              <a:rPr lang="en-US" sz="2800" dirty="0" smtClean="0"/>
              <a:t>This </a:t>
            </a:r>
            <a:r>
              <a:rPr lang="en-US" sz="2800" dirty="0"/>
              <a:t>point of intersection reflects the compromising quantity that both consumers are willing to seek out and producers are willing to supply at a certain price. </a:t>
            </a:r>
          </a:p>
        </p:txBody>
      </p:sp>
    </p:spTree>
    <p:extLst>
      <p:ext uri="{BB962C8B-B14F-4D97-AF65-F5344CB8AC3E}">
        <p14:creationId xmlns:p14="http://schemas.microsoft.com/office/powerpoint/2010/main" val="14693982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EQUILIBRIUM CURVE</a:t>
            </a:r>
            <a:endParaRPr lang="en-US" b="1" dirty="0">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a:stretch>
            <a:fillRect/>
          </a:stretch>
        </p:blipFill>
        <p:spPr>
          <a:xfrm>
            <a:off x="1567543" y="2155372"/>
            <a:ext cx="7093131" cy="4219302"/>
          </a:xfrm>
          <a:prstGeom prst="rect">
            <a:avLst/>
          </a:prstGeom>
        </p:spPr>
      </p:pic>
    </p:spTree>
    <p:extLst>
      <p:ext uri="{BB962C8B-B14F-4D97-AF65-F5344CB8AC3E}">
        <p14:creationId xmlns:p14="http://schemas.microsoft.com/office/powerpoint/2010/main" val="33232042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Market Supply Schedule:</a:t>
            </a:r>
            <a:endParaRPr lang="en-US" dirty="0"/>
          </a:p>
        </p:txBody>
      </p:sp>
      <p:sp>
        <p:nvSpPr>
          <p:cNvPr id="3" name="Content Placeholder 2"/>
          <p:cNvSpPr>
            <a:spLocks noGrp="1"/>
          </p:cNvSpPr>
          <p:nvPr>
            <p:ph idx="1"/>
          </p:nvPr>
        </p:nvSpPr>
        <p:spPr/>
        <p:txBody>
          <a:bodyPr>
            <a:normAutofit/>
          </a:bodyPr>
          <a:lstStyle/>
          <a:p>
            <a:r>
              <a:rPr lang="en-US" dirty="0" smtClean="0"/>
              <a:t>It </a:t>
            </a:r>
            <a:r>
              <a:rPr lang="en-US" dirty="0"/>
              <a:t>is a summation of the individual supply schedules and depicts the supply of different customers for a commodity in relation to its price. Let us understand it with the help of an example. </a:t>
            </a:r>
          </a:p>
          <a:p>
            <a:r>
              <a:rPr lang="en-US" sz="1200" b="1" dirty="0"/>
              <a:t>Price per unit of Banana 	</a:t>
            </a:r>
            <a:r>
              <a:rPr lang="en-US" sz="1200" b="1" dirty="0" err="1" smtClean="0"/>
              <a:t>Qty</a:t>
            </a:r>
            <a:r>
              <a:rPr lang="en-US" sz="1200" b="1" dirty="0" smtClean="0"/>
              <a:t> </a:t>
            </a:r>
            <a:r>
              <a:rPr lang="en-US" sz="1200" b="1" dirty="0"/>
              <a:t>supplied by firm A (QA)  </a:t>
            </a:r>
            <a:r>
              <a:rPr lang="en-US" sz="1200" b="1" dirty="0" err="1" smtClean="0"/>
              <a:t>Qty</a:t>
            </a:r>
            <a:r>
              <a:rPr lang="en-US" sz="1200" b="1" dirty="0" smtClean="0"/>
              <a:t> </a:t>
            </a:r>
            <a:r>
              <a:rPr lang="en-US" sz="1200" b="1" dirty="0"/>
              <a:t>supplied by firm B (QB) </a:t>
            </a:r>
            <a:r>
              <a:rPr lang="en-US" sz="1200" b="1" dirty="0" smtClean="0"/>
              <a:t> Market Supply </a:t>
            </a:r>
            <a:r>
              <a:rPr lang="en-US" sz="1200" b="1" dirty="0"/>
              <a:t>QA + QB </a:t>
            </a:r>
            <a:r>
              <a:rPr lang="en-US" sz="1200" dirty="0"/>
              <a:t>	</a:t>
            </a:r>
          </a:p>
          <a:p>
            <a:r>
              <a:rPr lang="en-US" dirty="0"/>
              <a:t>100 	</a:t>
            </a:r>
            <a:r>
              <a:rPr lang="en-US" dirty="0" smtClean="0"/>
              <a:t>				40 </a:t>
            </a:r>
            <a:r>
              <a:rPr lang="en-US" dirty="0"/>
              <a:t>	</a:t>
            </a:r>
            <a:r>
              <a:rPr lang="en-US" dirty="0" smtClean="0"/>
              <a:t>					50 </a:t>
            </a:r>
            <a:r>
              <a:rPr lang="en-US" dirty="0"/>
              <a:t>	</a:t>
            </a:r>
            <a:r>
              <a:rPr lang="en-US" dirty="0" smtClean="0"/>
              <a:t>		40 </a:t>
            </a:r>
            <a:r>
              <a:rPr lang="en-US" dirty="0"/>
              <a:t>+ 50 =90 	</a:t>
            </a:r>
          </a:p>
          <a:p>
            <a:r>
              <a:rPr lang="en-US" dirty="0"/>
              <a:t>200 	</a:t>
            </a:r>
            <a:r>
              <a:rPr lang="en-US" dirty="0" smtClean="0"/>
              <a:t>				60					 </a:t>
            </a:r>
            <a:r>
              <a:rPr lang="en-US" dirty="0"/>
              <a:t>	70 </a:t>
            </a:r>
            <a:r>
              <a:rPr lang="en-US" dirty="0" smtClean="0"/>
              <a:t>		</a:t>
            </a:r>
            <a:r>
              <a:rPr lang="en-US" dirty="0"/>
              <a:t>	60 + 70 = 130 	</a:t>
            </a:r>
          </a:p>
          <a:p>
            <a:r>
              <a:rPr lang="en-US" dirty="0"/>
              <a:t>300 </a:t>
            </a:r>
            <a:r>
              <a:rPr lang="en-US" dirty="0" smtClean="0"/>
              <a:t>				</a:t>
            </a:r>
            <a:r>
              <a:rPr lang="en-US" dirty="0"/>
              <a:t>	65 	</a:t>
            </a:r>
            <a:r>
              <a:rPr lang="en-US" dirty="0" smtClean="0"/>
              <a:t>					80 </a:t>
            </a:r>
            <a:r>
              <a:rPr lang="en-US" dirty="0"/>
              <a:t>	</a:t>
            </a:r>
            <a:r>
              <a:rPr lang="en-US" dirty="0" smtClean="0"/>
              <a:t>		65 </a:t>
            </a:r>
            <a:r>
              <a:rPr lang="en-US" dirty="0"/>
              <a:t>+ 80 = 145 	</a:t>
            </a:r>
          </a:p>
          <a:p>
            <a:r>
              <a:rPr lang="en-US" dirty="0"/>
              <a:t>400 </a:t>
            </a:r>
            <a:r>
              <a:rPr lang="en-US" dirty="0" smtClean="0"/>
              <a:t>				</a:t>
            </a:r>
            <a:r>
              <a:rPr lang="en-US" dirty="0"/>
              <a:t>	80 	</a:t>
            </a:r>
            <a:r>
              <a:rPr lang="en-US" dirty="0" smtClean="0"/>
              <a:t>					100 </a:t>
            </a:r>
            <a:r>
              <a:rPr lang="en-US" dirty="0"/>
              <a:t>	</a:t>
            </a:r>
            <a:r>
              <a:rPr lang="en-US" dirty="0" smtClean="0"/>
              <a:t>		80 </a:t>
            </a:r>
            <a:r>
              <a:rPr lang="en-US" dirty="0"/>
              <a:t>+ 100 = 180 	</a:t>
            </a:r>
          </a:p>
          <a:p>
            <a:endParaRPr lang="en-US" dirty="0"/>
          </a:p>
        </p:txBody>
      </p:sp>
    </p:spTree>
    <p:extLst>
      <p:ext uri="{BB962C8B-B14F-4D97-AF65-F5344CB8AC3E}">
        <p14:creationId xmlns:p14="http://schemas.microsoft.com/office/powerpoint/2010/main" val="371900857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Consumer </a:t>
            </a:r>
            <a:r>
              <a:rPr lang="en-US" b="1" dirty="0" smtClean="0">
                <a:effectLst>
                  <a:outerShdw blurRad="38100" dist="38100" dir="2700000" algn="tl">
                    <a:srgbClr val="000000">
                      <a:alpha val="43137"/>
                    </a:srgbClr>
                  </a:outerShdw>
                </a:effectLst>
              </a:rPr>
              <a:t>surplus &amp; </a:t>
            </a:r>
            <a:r>
              <a:rPr lang="en-US" b="1" dirty="0">
                <a:effectLst>
                  <a:outerShdw blurRad="38100" dist="38100" dir="2700000" algn="tl">
                    <a:srgbClr val="000000">
                      <a:alpha val="43137"/>
                    </a:srgbClr>
                  </a:outerShdw>
                </a:effectLst>
              </a:rPr>
              <a:t>Producer surplus </a:t>
            </a:r>
          </a:p>
        </p:txBody>
      </p:sp>
      <p:sp>
        <p:nvSpPr>
          <p:cNvPr id="3" name="Content Placeholder 2"/>
          <p:cNvSpPr>
            <a:spLocks noGrp="1"/>
          </p:cNvSpPr>
          <p:nvPr>
            <p:ph idx="1"/>
          </p:nvPr>
        </p:nvSpPr>
        <p:spPr>
          <a:xfrm>
            <a:off x="677334" y="1619794"/>
            <a:ext cx="8596668" cy="4767943"/>
          </a:xfrm>
        </p:spPr>
        <p:txBody>
          <a:bodyPr>
            <a:noAutofit/>
          </a:bodyPr>
          <a:lstStyle/>
          <a:p>
            <a:r>
              <a:rPr lang="en-US" sz="2800" dirty="0"/>
              <a:t>Consumer surplus is the difference that the consumer has to pay for a good or service and the price they would be willing to pay rather than forego that good or service. </a:t>
            </a:r>
            <a:endParaRPr lang="en-US" sz="2800" dirty="0" smtClean="0"/>
          </a:p>
          <a:p>
            <a:r>
              <a:rPr lang="en-US" sz="2800" dirty="0" smtClean="0"/>
              <a:t>Producer </a:t>
            </a:r>
            <a:r>
              <a:rPr lang="en-US" sz="2800" dirty="0"/>
              <a:t>surplus is the difference between how much a supplier would be willing to receive for a given quantity of good or service and how much they can actually receive for that quantity based on the market price. </a:t>
            </a:r>
          </a:p>
        </p:txBody>
      </p:sp>
    </p:spTree>
    <p:extLst>
      <p:ext uri="{BB962C8B-B14F-4D97-AF65-F5344CB8AC3E}">
        <p14:creationId xmlns:p14="http://schemas.microsoft.com/office/powerpoint/2010/main" val="138583325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Consumer surplus &amp; Producer surplus </a:t>
            </a:r>
            <a:endParaRPr lang="en-US" dirty="0"/>
          </a:p>
        </p:txBody>
      </p:sp>
      <p:pic>
        <p:nvPicPr>
          <p:cNvPr id="4" name="Content Placeholder 3"/>
          <p:cNvPicPr>
            <a:picLocks noGrp="1" noChangeAspect="1"/>
          </p:cNvPicPr>
          <p:nvPr>
            <p:ph idx="1"/>
          </p:nvPr>
        </p:nvPicPr>
        <p:blipFill>
          <a:blip r:embed="rId2"/>
          <a:stretch>
            <a:fillRect/>
          </a:stretch>
        </p:blipFill>
        <p:spPr>
          <a:xfrm>
            <a:off x="1345731" y="2160588"/>
            <a:ext cx="7260575" cy="3881437"/>
          </a:xfrm>
          <a:prstGeom prst="rect">
            <a:avLst/>
          </a:prstGeom>
        </p:spPr>
      </p:pic>
    </p:spTree>
    <p:extLst>
      <p:ext uri="{BB962C8B-B14F-4D97-AF65-F5344CB8AC3E}">
        <p14:creationId xmlns:p14="http://schemas.microsoft.com/office/powerpoint/2010/main" val="30726706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Price Floor and Ceiling </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677334" y="1306287"/>
            <a:ext cx="8596668" cy="5199016"/>
          </a:xfrm>
        </p:spPr>
        <p:txBody>
          <a:bodyPr>
            <a:normAutofit/>
          </a:bodyPr>
          <a:lstStyle/>
          <a:p>
            <a:r>
              <a:rPr lang="en-US" sz="2000" dirty="0" smtClean="0"/>
              <a:t>Laws </a:t>
            </a:r>
            <a:r>
              <a:rPr lang="en-US" sz="2000" dirty="0"/>
              <a:t>that government enacts to regulate prices are called Price controls. Price controls come in two flavors. A price ceiling keeps a price from rising above a certain level (the “ceiling”), while a price floor keeps a price from falling below a certain level (the “floor”). </a:t>
            </a:r>
          </a:p>
          <a:p>
            <a:r>
              <a:rPr lang="en-US" sz="2000" b="1" dirty="0"/>
              <a:t>Price ceiling: </a:t>
            </a:r>
            <a:r>
              <a:rPr lang="en-US" sz="2000" dirty="0"/>
              <a:t>is a maximum price that can be charged for a product or service. A price ceiling is non-binding when it doesn't have an effect on the market price. A non-binding price ceiling occurs when the price level is greater than or equal to the market equilibrium price. For example, rent control and gasoline. </a:t>
            </a:r>
          </a:p>
          <a:p>
            <a:r>
              <a:rPr lang="en-US" sz="2000" b="1" dirty="0"/>
              <a:t>Price floor: </a:t>
            </a:r>
            <a:r>
              <a:rPr lang="en-US" sz="2000" dirty="0"/>
              <a:t>is a minimum price at which a product or service is permitted to sell. A price floor is non-binding when it doesn't have an effect on the market price. A non-binding price floor occurs when the price level is less than or equal to the market equilibrium price. For example, agricultural products and minimum wage </a:t>
            </a:r>
          </a:p>
        </p:txBody>
      </p:sp>
    </p:spTree>
    <p:extLst>
      <p:ext uri="{BB962C8B-B14F-4D97-AF65-F5344CB8AC3E}">
        <p14:creationId xmlns:p14="http://schemas.microsoft.com/office/powerpoint/2010/main" val="152465413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Price Ceiling &amp; Price Floor</a:t>
            </a:r>
            <a:endParaRPr lang="en-US" b="1" dirty="0">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a:stretch>
            <a:fillRect/>
          </a:stretch>
        </p:blipFill>
        <p:spPr>
          <a:xfrm>
            <a:off x="1201783" y="1930400"/>
            <a:ext cx="8072219" cy="4627154"/>
          </a:xfrm>
          <a:prstGeom prst="rect">
            <a:avLst/>
          </a:prstGeom>
        </p:spPr>
      </p:pic>
    </p:spTree>
    <p:extLst>
      <p:ext uri="{BB962C8B-B14F-4D97-AF65-F5344CB8AC3E}">
        <p14:creationId xmlns:p14="http://schemas.microsoft.com/office/powerpoint/2010/main" val="373673080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At Market Equilibrium </a:t>
            </a:r>
            <a:br>
              <a:rPr lang="en-US" b="1" dirty="0"/>
            </a:br>
            <a:endParaRPr lang="en-US" b="1" dirty="0"/>
          </a:p>
        </p:txBody>
      </p:sp>
      <p:sp>
        <p:nvSpPr>
          <p:cNvPr id="3" name="Content Placeholder 2"/>
          <p:cNvSpPr>
            <a:spLocks noGrp="1"/>
          </p:cNvSpPr>
          <p:nvPr>
            <p:ph idx="1"/>
          </p:nvPr>
        </p:nvSpPr>
        <p:spPr>
          <a:xfrm>
            <a:off x="677334" y="1632857"/>
            <a:ext cx="8596668" cy="4689566"/>
          </a:xfrm>
        </p:spPr>
        <p:txBody>
          <a:bodyPr>
            <a:noAutofit/>
          </a:bodyPr>
          <a:lstStyle/>
          <a:p>
            <a:r>
              <a:rPr lang="en-US" sz="2400" dirty="0" smtClean="0"/>
              <a:t>Price </a:t>
            </a:r>
            <a:r>
              <a:rPr lang="en-US" sz="2400" dirty="0"/>
              <a:t>= $2.50 and Quantity = 12 </a:t>
            </a:r>
          </a:p>
          <a:p>
            <a:r>
              <a:rPr lang="en-US" sz="2400" dirty="0"/>
              <a:t>The point is also the allocative efficient quantity because at Quantity = 12, Marginal Social Benefit = Marginal Social Cost </a:t>
            </a:r>
          </a:p>
          <a:p>
            <a:r>
              <a:rPr lang="en-US" sz="2400" b="1" dirty="0"/>
              <a:t>Price Ceiling </a:t>
            </a:r>
            <a:endParaRPr lang="en-US" sz="2400" dirty="0"/>
          </a:p>
          <a:p>
            <a:r>
              <a:rPr lang="en-US" sz="2400" dirty="0"/>
              <a:t>Ceiling Price = $ 2.00 Quantity Demand = 14 while Quantity Supply 10 </a:t>
            </a:r>
          </a:p>
          <a:p>
            <a:r>
              <a:rPr lang="en-US" sz="2400" dirty="0"/>
              <a:t>Therefore, the shortage is equal to 4 and this shows that, there is an allocative inefficiency: at the quantity of 10, Marginal Social Benefit &gt; Marginal Social Cost, so there is an </a:t>
            </a:r>
            <a:r>
              <a:rPr lang="en-US" sz="2400" b="1" dirty="0"/>
              <a:t>under </a:t>
            </a:r>
            <a:r>
              <a:rPr lang="en-US" sz="2400" dirty="0"/>
              <a:t>allocation of resources. </a:t>
            </a:r>
          </a:p>
        </p:txBody>
      </p:sp>
    </p:spTree>
    <p:extLst>
      <p:ext uri="{BB962C8B-B14F-4D97-AF65-F5344CB8AC3E}">
        <p14:creationId xmlns:p14="http://schemas.microsoft.com/office/powerpoint/2010/main" val="383987632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Price Floor </a:t>
            </a:r>
            <a:r>
              <a:rPr lang="en-US" dirty="0"/>
              <a:t/>
            </a:r>
            <a:br>
              <a:rPr lang="en-US" dirty="0"/>
            </a:br>
            <a:endParaRPr lang="en-US" dirty="0"/>
          </a:p>
        </p:txBody>
      </p:sp>
      <p:sp>
        <p:nvSpPr>
          <p:cNvPr id="3" name="Content Placeholder 2"/>
          <p:cNvSpPr>
            <a:spLocks noGrp="1"/>
          </p:cNvSpPr>
          <p:nvPr>
            <p:ph idx="1"/>
          </p:nvPr>
        </p:nvSpPr>
        <p:spPr>
          <a:xfrm>
            <a:off x="677334" y="1489167"/>
            <a:ext cx="8596668" cy="4552196"/>
          </a:xfrm>
        </p:spPr>
        <p:txBody>
          <a:bodyPr>
            <a:normAutofit/>
          </a:bodyPr>
          <a:lstStyle/>
          <a:p>
            <a:r>
              <a:rPr lang="en-US" sz="2800" dirty="0" smtClean="0"/>
              <a:t>Floor </a:t>
            </a:r>
            <a:r>
              <a:rPr lang="en-US" sz="2800" dirty="0"/>
              <a:t>Price = $ 3.00 Quantity Demand = 10 while Quantity Supply 14 </a:t>
            </a:r>
          </a:p>
          <a:p>
            <a:r>
              <a:rPr lang="en-US" sz="2800" dirty="0"/>
              <a:t>Therefore, the </a:t>
            </a:r>
            <a:r>
              <a:rPr lang="en-US" sz="2800" dirty="0" smtClean="0"/>
              <a:t>surplus </a:t>
            </a:r>
            <a:r>
              <a:rPr lang="en-US" sz="2800" dirty="0"/>
              <a:t>is equal to 4 and this shows that, there is an </a:t>
            </a:r>
            <a:r>
              <a:rPr lang="en-US" sz="2800" dirty="0" smtClean="0"/>
              <a:t>more efficiency</a:t>
            </a:r>
            <a:r>
              <a:rPr lang="en-US" sz="2800" dirty="0"/>
              <a:t>: at the quantity of 14, </a:t>
            </a:r>
            <a:endParaRPr lang="en-US" sz="2800" dirty="0" smtClean="0"/>
          </a:p>
          <a:p>
            <a:r>
              <a:rPr lang="en-US" sz="2800" dirty="0" smtClean="0"/>
              <a:t>Marginal </a:t>
            </a:r>
            <a:r>
              <a:rPr lang="en-US" sz="2800" dirty="0"/>
              <a:t>Social Benefit &lt;</a:t>
            </a:r>
            <a:r>
              <a:rPr lang="en-US" sz="2800" dirty="0" smtClean="0"/>
              <a:t> </a:t>
            </a:r>
            <a:r>
              <a:rPr lang="en-US" sz="2800" dirty="0"/>
              <a:t>Marginal Social Cost, </a:t>
            </a:r>
            <a:endParaRPr lang="en-US" sz="2800" dirty="0" smtClean="0"/>
          </a:p>
          <a:p>
            <a:r>
              <a:rPr lang="en-US" sz="2800" dirty="0" smtClean="0"/>
              <a:t>so </a:t>
            </a:r>
            <a:r>
              <a:rPr lang="en-US" sz="2800" dirty="0"/>
              <a:t>there is an </a:t>
            </a:r>
            <a:r>
              <a:rPr lang="en-US" sz="2800" b="1" dirty="0"/>
              <a:t>over </a:t>
            </a:r>
            <a:r>
              <a:rPr lang="en-US" sz="2800" dirty="0"/>
              <a:t>allocation of resources. </a:t>
            </a:r>
          </a:p>
        </p:txBody>
      </p:sp>
    </p:spTree>
    <p:extLst>
      <p:ext uri="{BB962C8B-B14F-4D97-AF65-F5344CB8AC3E}">
        <p14:creationId xmlns:p14="http://schemas.microsoft.com/office/powerpoint/2010/main" val="63869802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1786</TotalTime>
  <Words>4229</Words>
  <Application>Microsoft Office PowerPoint</Application>
  <PresentationFormat>Widescreen</PresentationFormat>
  <Paragraphs>352</Paragraphs>
  <Slides>68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68</vt:i4>
      </vt:variant>
    </vt:vector>
  </HeadingPairs>
  <TitlesOfParts>
    <vt:vector size="74" baseType="lpstr">
      <vt:lpstr>Arial</vt:lpstr>
      <vt:lpstr>Calibri</vt:lpstr>
      <vt:lpstr>Times New Roman</vt:lpstr>
      <vt:lpstr>Trebuchet MS</vt:lpstr>
      <vt:lpstr>Wingdings 3</vt:lpstr>
      <vt:lpstr>Facet</vt:lpstr>
      <vt:lpstr>ISB 120</vt:lpstr>
      <vt:lpstr>Unit 2: Supply and Demand Analysis  </vt:lpstr>
      <vt:lpstr>The law of demand: factors influencing consumer demand</vt:lpstr>
      <vt:lpstr>KINDS OF DEMAND  </vt:lpstr>
      <vt:lpstr>LAW OF DEMAND – ALFRED MARSHALL  </vt:lpstr>
      <vt:lpstr>FACTOR AFFECTING THE DEMAND  </vt:lpstr>
      <vt:lpstr>ASSUMPTIONS OF THE LAW OF DEMAND  </vt:lpstr>
      <vt:lpstr>DEMAND CURVE </vt:lpstr>
      <vt:lpstr>MARKET DEMAND SCHEDULE  </vt:lpstr>
      <vt:lpstr>MARKET DEMAND SCHEDULE FOR APPLE</vt:lpstr>
      <vt:lpstr>DERIVATION OF MARKET DEMAND CURVE</vt:lpstr>
      <vt:lpstr>REASONS BEHIND DOWNWARD SLOPE OF THE DEMAND CURVE  </vt:lpstr>
      <vt:lpstr>CONT…</vt:lpstr>
      <vt:lpstr>EXCEPTIONS TO THE LAW OF DEMAND  </vt:lpstr>
      <vt:lpstr>CONT…</vt:lpstr>
      <vt:lpstr>MOVEMENT IN DEMAND CURVE OR EXPANSION AND CONTRACTION OF DEMAND  </vt:lpstr>
      <vt:lpstr>MOVEMENT IN DEMAND CURVE OR EXPANSION AND CONTRACTION OF DEMAND  </vt:lpstr>
      <vt:lpstr>SHIFTS IN DEMAND OR INCREASE AND DECREASE IN DEMAND  </vt:lpstr>
      <vt:lpstr>II. Decrease in Demand: </vt:lpstr>
      <vt:lpstr>SHIFTTS IN DEMMAND OR IINCREASEE AND DECREASE IIN DEMANND </vt:lpstr>
      <vt:lpstr>ELASTICITY OF DEMAND - ALFRED MMARSHAALL  </vt:lpstr>
      <vt:lpstr>FACTORS DETERMINING THE PRICE ELASTICITY OF DEMAND  </vt:lpstr>
      <vt:lpstr>TYPES OF ELASTICITY OF DEMAND  </vt:lpstr>
      <vt:lpstr>PRICE ELASTICITY OF DEMAND  </vt:lpstr>
      <vt:lpstr>DIFFERENT TYPES OF PRICE ELASTICITY OF DEMAND  </vt:lpstr>
      <vt:lpstr>Shape of Demand curve: Vertical  </vt:lpstr>
      <vt:lpstr>2. RELATIVELY INELASTIC DEMAND (EP&lt; 1 )  </vt:lpstr>
      <vt:lpstr>3. UNITARY ELASTIC DEMAND ( EP = 1)  </vt:lpstr>
      <vt:lpstr>4. RELATIVELY ELASTIC DEMAND (EP&gt; 1)  </vt:lpstr>
      <vt:lpstr>5. PERFECTLY ELASTIC DEMAND (EP = ∞)  </vt:lpstr>
      <vt:lpstr>METHODS OF CALCULATING PRICE ELASTICITY OF DEMAND  </vt:lpstr>
      <vt:lpstr>2. The Point Method or Geometrical or graphical method:  </vt:lpstr>
      <vt:lpstr>3. The Arc Method:  </vt:lpstr>
      <vt:lpstr>CONT…</vt:lpstr>
      <vt:lpstr>The Total Outlay Method:  </vt:lpstr>
      <vt:lpstr>EXAMPLES</vt:lpstr>
      <vt:lpstr>CONT…</vt:lpstr>
      <vt:lpstr>INCOME ELASTICITY OF DEMAND </vt:lpstr>
      <vt:lpstr>CONT…</vt:lpstr>
      <vt:lpstr>CROSS ELASTICITY OF DEMAND</vt:lpstr>
      <vt:lpstr>CONT…</vt:lpstr>
      <vt:lpstr>Example on Cross Elasticity</vt:lpstr>
      <vt:lpstr>Application Of Elasticity Of Demand The Paradox of Poverty Amidst Plenty</vt:lpstr>
      <vt:lpstr>Application Of Elasticity Of Demand The Paradox of Poverty Amidst Plenty</vt:lpstr>
      <vt:lpstr>ADVERTISING ELASTICITY OF DEMAND  </vt:lpstr>
      <vt:lpstr>DETERMINANTS OF ADVERTISING ELASTICITY OF DEMAND  </vt:lpstr>
      <vt:lpstr>ELASTICITY OF PRICE EXPECTATIONS  </vt:lpstr>
      <vt:lpstr>LAW OF SUPPLY  </vt:lpstr>
      <vt:lpstr>SUPPLY SCHEDULE</vt:lpstr>
      <vt:lpstr>SUPPLY CURVE</vt:lpstr>
      <vt:lpstr>DETERMINANTTS OF SUPPLY  </vt:lpstr>
      <vt:lpstr>2. State of technology  </vt:lpstr>
      <vt:lpstr>5. TAX AND SUBSIDY</vt:lpstr>
      <vt:lpstr>Movement along the Supply Curve</vt:lpstr>
      <vt:lpstr>SUPPLY CURVE</vt:lpstr>
      <vt:lpstr>Shifts in the Supply Curve   </vt:lpstr>
      <vt:lpstr>SHIFTS IN SUPPLY CURVE</vt:lpstr>
      <vt:lpstr> Increase in Supply  </vt:lpstr>
      <vt:lpstr> Decrease in Supply  </vt:lpstr>
      <vt:lpstr>Equilibrium Demand and Supply, Consumer Surplus and Producer surplus  </vt:lpstr>
      <vt:lpstr>EQUILIBRIUM CURVE</vt:lpstr>
      <vt:lpstr>Market Supply Schedule:</vt:lpstr>
      <vt:lpstr>Consumer surplus &amp; Producer surplus </vt:lpstr>
      <vt:lpstr>Consumer surplus &amp; Producer surplus </vt:lpstr>
      <vt:lpstr>Price Floor and Ceiling  </vt:lpstr>
      <vt:lpstr>Price Ceiling &amp; Price Floor</vt:lpstr>
      <vt:lpstr>At Market Equilibrium  </vt:lpstr>
      <vt:lpstr>Price Floor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Martha</dc:creator>
  <cp:lastModifiedBy>Martha</cp:lastModifiedBy>
  <cp:revision>79</cp:revision>
  <dcterms:created xsi:type="dcterms:W3CDTF">2025-06-10T04:22:37Z</dcterms:created>
  <dcterms:modified xsi:type="dcterms:W3CDTF">2025-06-17T05:17:22Z</dcterms:modified>
</cp:coreProperties>
</file>