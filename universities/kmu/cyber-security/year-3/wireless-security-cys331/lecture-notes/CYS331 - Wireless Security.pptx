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4" r:id="rId1"/>
  </p:sldMasterIdLst>
  <p:notesMasterIdLst>
    <p:notesMasterId r:id="rId111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42" r:id="rId52"/>
    <p:sldId id="343" r:id="rId53"/>
    <p:sldId id="344" r:id="rId54"/>
    <p:sldId id="345" r:id="rId55"/>
    <p:sldId id="346" r:id="rId56"/>
    <p:sldId id="347" r:id="rId57"/>
    <p:sldId id="348" r:id="rId58"/>
    <p:sldId id="349" r:id="rId59"/>
    <p:sldId id="350" r:id="rId60"/>
    <p:sldId id="352" r:id="rId61"/>
    <p:sldId id="351" r:id="rId62"/>
    <p:sldId id="353" r:id="rId63"/>
    <p:sldId id="354" r:id="rId64"/>
    <p:sldId id="355" r:id="rId65"/>
    <p:sldId id="356" r:id="rId66"/>
    <p:sldId id="357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319" r:id="rId81"/>
    <p:sldId id="320" r:id="rId82"/>
    <p:sldId id="321" r:id="rId83"/>
    <p:sldId id="322" r:id="rId84"/>
    <p:sldId id="323" r:id="rId85"/>
    <p:sldId id="324" r:id="rId86"/>
    <p:sldId id="325" r:id="rId87"/>
    <p:sldId id="326" r:id="rId88"/>
    <p:sldId id="327" r:id="rId89"/>
    <p:sldId id="328" r:id="rId90"/>
    <p:sldId id="329" r:id="rId91"/>
    <p:sldId id="330" r:id="rId92"/>
    <p:sldId id="331" r:id="rId93"/>
    <p:sldId id="332" r:id="rId94"/>
    <p:sldId id="333" r:id="rId95"/>
    <p:sldId id="334" r:id="rId96"/>
    <p:sldId id="335" r:id="rId97"/>
    <p:sldId id="336" r:id="rId98"/>
    <p:sldId id="337" r:id="rId99"/>
    <p:sldId id="338" r:id="rId100"/>
    <p:sldId id="339" r:id="rId101"/>
    <p:sldId id="340" r:id="rId102"/>
    <p:sldId id="341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15529-95E1-4B00-8C1B-54B73F7FD22F}" type="datetimeFigureOut">
              <a:rPr lang="LID4096" smtClean="0"/>
              <a:t>11/02/2025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D6E64-34DA-4164-9E78-4F0480EDAAA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638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5DB4B3C-6060-4020-9ED9-DC9A954BCCEE}" type="datetime1">
              <a:rPr lang="LID4096" smtClean="0"/>
              <a:t>11/02/2025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935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EA1B-64ED-49BA-BCD1-448883A27C49}" type="datetime1">
              <a:rPr lang="LID4096" smtClean="0"/>
              <a:t>11/02/2025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305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EE702-36FC-453C-99EB-F10ED20FCA1F}" type="datetime1">
              <a:rPr lang="LID4096" smtClean="0"/>
              <a:t>11/02/2025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036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1D3B-8D91-4DC5-BE6A-185D2CF92E2B}" type="datetime1">
              <a:rPr lang="LID4096" smtClean="0"/>
              <a:t>11/02/2025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855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3EC0-CCC7-44F7-8B73-CBB6090DC19E}" type="datetime1">
              <a:rPr lang="LID4096" smtClean="0"/>
              <a:t>11/02/2025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429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C26F-980A-4DC8-8055-09CD6A28652F}" type="datetime1">
              <a:rPr lang="LID4096" smtClean="0"/>
              <a:t>11/02/2025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735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0548-0130-404B-93F6-F09F9FC0380C}" type="datetime1">
              <a:rPr lang="LID4096" smtClean="0"/>
              <a:t>11/02/2025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252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3901-CCA8-4A3C-BE04-C7682E21FD25}" type="datetime1">
              <a:rPr lang="LID4096" smtClean="0"/>
              <a:t>11/02/2025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0252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E051-62CC-475B-A2E2-68F41A43929F}" type="datetime1">
              <a:rPr lang="LID4096" smtClean="0"/>
              <a:t>11/02/2025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13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FF7AF-332E-4B28-B727-0F790B11AE76}" type="datetime1">
              <a:rPr lang="LID4096" smtClean="0"/>
              <a:t>11/02/2025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101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73E10-ED78-4070-B73E-C72ECEF0825C}" type="datetime1">
              <a:rPr lang="LID4096" smtClean="0"/>
              <a:t>11/02/2025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1191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AD9A-4B02-4A2F-B89E-F9606E23C0E7}" type="datetime1">
              <a:rPr lang="LID4096" smtClean="0"/>
              <a:t>11/02/2025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8436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C71F4-A3D4-4D38-8DC3-1820AC36E214}" type="datetime1">
              <a:rPr lang="LID4096" smtClean="0"/>
              <a:t>11/02/2025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6471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8E3D-7CF5-4823-9898-61EFF7B2DE09}" type="datetime1">
              <a:rPr lang="LID4096" smtClean="0"/>
              <a:t>11/02/2025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4119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84B3-BF84-4418-9007-7C33B5EE7764}" type="datetime1">
              <a:rPr lang="LID4096" smtClean="0"/>
              <a:t>11/02/2025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6675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D0DD-D640-4DC4-84E3-7E1E2F102C19}" type="datetime1">
              <a:rPr lang="LID4096" smtClean="0"/>
              <a:t>11/02/2025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4873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7CDF-1E79-4404-8225-43CA1E0F776A}" type="datetime1">
              <a:rPr lang="LID4096" smtClean="0"/>
              <a:t>11/02/2025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777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AD8AD-AE1B-4E37-9EE7-5136EEC028B9}" type="datetime1">
              <a:rPr lang="LID4096" smtClean="0"/>
              <a:t>11/02/2025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CBD77-CD2E-4B2C-9AD8-253F8A9F75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23065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2483-24DC-440A-BE75-B5C04D37D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Wireless Security </a:t>
            </a:r>
            <a:endParaRPr lang="LID4096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5F1F4-28B9-4E64-8A24-9906C0FB9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CYS331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734501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40BBA4-CCBC-48B6-ABBA-C94E4BDE1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 to wireless security </a:t>
            </a:r>
            <a:endParaRPr lang="LID4096" b="1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C53C8E0-241D-44F2-A393-A6455B0FBB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1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20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6AEB-4904-426B-A9AF-5E2421A49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C7821-AEE2-41A5-9DDC-63E1F8F4C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Wireless</a:t>
            </a:r>
            <a:r>
              <a:rPr lang="en-US" dirty="0"/>
              <a:t> is a term used to describe communications in which electromagnetic waves are used for communication purpose.</a:t>
            </a:r>
          </a:p>
          <a:p>
            <a:r>
              <a:rPr lang="en-US" dirty="0"/>
              <a:t> </a:t>
            </a:r>
            <a:r>
              <a:rPr lang="en-US" b="1" dirty="0"/>
              <a:t>Wireless security </a:t>
            </a:r>
            <a:r>
              <a:rPr lang="en-US" dirty="0"/>
              <a:t>refers to the measures and technologies used to protect wireless networks (Wi-Fi, Bluetooth, cellular networks, etc.) from unauthorized access, cyber threats, and data breaches.</a:t>
            </a:r>
          </a:p>
          <a:p>
            <a:r>
              <a:rPr lang="en-US" dirty="0"/>
              <a:t> The first wireless transmitters went on the air in the early 20th century using </a:t>
            </a:r>
            <a:r>
              <a:rPr lang="en-US" b="1" dirty="0"/>
              <a:t>radiotelegraphy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CAEC5-D586-4C0F-89E3-AEA576C39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F0247-E3B6-4645-B99C-BC33D878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3039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DBF7-525E-4002-83F3-82E644B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INTRODUCTION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D60C-87F9-4567-BF4B-0C981BED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Modulation</a:t>
            </a:r>
            <a:r>
              <a:rPr lang="en-US" dirty="0"/>
              <a:t> made it possible to transmit voices and music via wireless.</a:t>
            </a:r>
          </a:p>
          <a:p>
            <a:r>
              <a:rPr lang="en-US" dirty="0"/>
              <a:t> </a:t>
            </a:r>
            <a:r>
              <a:rPr lang="en-US" b="1" dirty="0"/>
              <a:t>Modulating</a:t>
            </a:r>
            <a:r>
              <a:rPr lang="en-US" dirty="0"/>
              <a:t> a wave means changing one or more of its fundamental characteristics to encode information.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FF9F-45FC-4284-BDB1-CF4A33E9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12D93-AF39-4D4C-AA65-B9465F75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003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94B7-3979-4424-9BC2-39D73A0C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Example of Wireless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68698-AD5E-4C58-8FA5-49357F851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Fixed Wireless</a:t>
            </a:r>
          </a:p>
          <a:p>
            <a:r>
              <a:rPr lang="en-US" dirty="0"/>
              <a:t> Refers to a method of delivering high-speed internet or network connectivity using radio signals between fixed locations.</a:t>
            </a:r>
          </a:p>
          <a:p>
            <a:r>
              <a:rPr lang="en-US" dirty="0"/>
              <a:t> It connects buildings, homes, or businesses to the internet without the need for cables.</a:t>
            </a:r>
          </a:p>
          <a:p>
            <a:r>
              <a:rPr lang="en-US" dirty="0"/>
              <a:t> For example, </a:t>
            </a:r>
            <a:r>
              <a:rPr lang="en-US" b="1" dirty="0"/>
              <a:t>Cordless Computer Peripherals </a:t>
            </a:r>
            <a:r>
              <a:rPr lang="en-US" dirty="0"/>
              <a:t>(e.g., </a:t>
            </a:r>
            <a:r>
              <a:rPr lang="en-US" b="1" dirty="0"/>
              <a:t>Wireless Mouse</a:t>
            </a:r>
            <a:r>
              <a:rPr lang="en-US" dirty="0"/>
              <a:t>, </a:t>
            </a:r>
            <a:r>
              <a:rPr lang="en-US" b="1" dirty="0"/>
              <a:t>Keyboard</a:t>
            </a:r>
            <a:r>
              <a:rPr lang="en-US" dirty="0"/>
              <a:t>, </a:t>
            </a:r>
            <a:r>
              <a:rPr lang="en-US" b="1" dirty="0"/>
              <a:t>Printers</a:t>
            </a:r>
            <a:r>
              <a:rPr lang="en-US" dirty="0"/>
              <a:t>)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4E66-F38E-4DFA-A580-EDAC6239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57C30-726F-4A09-AD18-F90EB989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802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2EA4-678E-4553-8BA7-F3377E05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Example of Wireless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761E4-DFA2-4EDC-84AE-844A6A748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IR (Infrared) Wireless </a:t>
            </a:r>
          </a:p>
          <a:p>
            <a:r>
              <a:rPr lang="en-US" dirty="0"/>
              <a:t>Is a type of wireless communication that uses infrared light waves to transmit data between devices. </a:t>
            </a:r>
          </a:p>
          <a:p>
            <a:r>
              <a:rPr lang="en-US" dirty="0"/>
              <a:t>It is commonly used for short-range, line-of-sight communication and does not penetrate walls or obstacles.</a:t>
            </a:r>
          </a:p>
          <a:p>
            <a:r>
              <a:rPr lang="en-US" dirty="0"/>
              <a:t> For example, </a:t>
            </a:r>
            <a:r>
              <a:rPr lang="en-GB" b="1" dirty="0"/>
              <a:t>TV Remote Controls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GB" b="1" dirty="0"/>
              <a:t>Medical Devices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6E69B-A22D-4FD1-8AAB-E29AB93B3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B294F-8730-407F-ABCB-4E88B806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4325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9B81-F942-4A47-98B3-07B82FF1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Example of Wireless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E0113-CD56-4B79-B858-A7C1C1F88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Mobile Wireless </a:t>
            </a:r>
          </a:p>
          <a:p>
            <a:r>
              <a:rPr lang="en-US" dirty="0"/>
              <a:t> Refers to wireless communication technology that allows users to stay connected while moving. </a:t>
            </a:r>
          </a:p>
          <a:p>
            <a:r>
              <a:rPr lang="en-US" dirty="0"/>
              <a:t>It enables data transmission without the need for a fixed connection, making it ideal for </a:t>
            </a:r>
            <a:r>
              <a:rPr lang="en-US" b="1" dirty="0"/>
              <a:t>cell phones</a:t>
            </a:r>
            <a:r>
              <a:rPr lang="en-US" dirty="0"/>
              <a:t>, </a:t>
            </a:r>
            <a:r>
              <a:rPr lang="en-US" b="1" dirty="0"/>
              <a:t>tablets</a:t>
            </a:r>
            <a:r>
              <a:rPr lang="en-US" dirty="0"/>
              <a:t>, and other portable devices such as </a:t>
            </a:r>
            <a:r>
              <a:rPr lang="en-US" b="1" dirty="0"/>
              <a:t>pagers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9981CE-CB21-4EB4-ABFA-2EEE76F43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A33F1-FFAE-4130-922A-68D25EDE7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742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B97A-8B64-49A4-8A6B-846356BB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Example of Wireless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47131-6EE6-4B3A-8E5A-D7EC60905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Satellite Wireless</a:t>
            </a:r>
          </a:p>
          <a:p>
            <a:r>
              <a:rPr lang="en-US" dirty="0"/>
              <a:t> Is a communication technology that uses satellites in space to transmit data, voice, and video signals over long distances. </a:t>
            </a:r>
          </a:p>
          <a:p>
            <a:r>
              <a:rPr lang="en-US" dirty="0"/>
              <a:t>It provides connectivity in areas where traditional cellular or wired networks are unavailable, such as remote regions, oceans, and deserts.</a:t>
            </a:r>
          </a:p>
          <a:p>
            <a:r>
              <a:rPr lang="en-US" dirty="0"/>
              <a:t> For example, </a:t>
            </a:r>
            <a:r>
              <a:rPr lang="en-US" b="1" dirty="0"/>
              <a:t>Satellite Internet </a:t>
            </a:r>
            <a:r>
              <a:rPr lang="en-US" dirty="0"/>
              <a:t>(e.g., Starlink) and </a:t>
            </a:r>
            <a:r>
              <a:rPr lang="en-US" b="1" dirty="0"/>
              <a:t>Global Positioning System (GPS)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6CEB6-BBCF-49C1-BC68-CD3D0C07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17C97-2D11-4B59-B18A-6216C572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9809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9803-53CE-4D94-80DA-41D9DEDA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235440"/>
            <a:ext cx="9905998" cy="1478570"/>
          </a:xfrm>
        </p:spPr>
        <p:txBody>
          <a:bodyPr/>
          <a:lstStyle/>
          <a:p>
            <a:pPr algn="ctr"/>
            <a:r>
              <a:rPr lang="en-GB" b="1" dirty="0"/>
              <a:t>WIRED VS WIRELESS TECHNOLOGY</a:t>
            </a:r>
            <a:endParaRPr lang="LID4096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094DEA8-E6D7-4CDA-B8FD-0DA945B046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460342"/>
              </p:ext>
            </p:extLst>
          </p:nvPr>
        </p:nvGraphicFramePr>
        <p:xfrm>
          <a:off x="1141411" y="1501140"/>
          <a:ext cx="9906000" cy="43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932">
                  <a:extLst>
                    <a:ext uri="{9D8B030D-6E8A-4147-A177-3AD203B41FA5}">
                      <a16:colId xmlns:a16="http://schemas.microsoft.com/office/drawing/2014/main" val="1642674170"/>
                    </a:ext>
                  </a:extLst>
                </a:gridCol>
                <a:gridCol w="3972910">
                  <a:extLst>
                    <a:ext uri="{9D8B030D-6E8A-4147-A177-3AD203B41FA5}">
                      <a16:colId xmlns:a16="http://schemas.microsoft.com/office/drawing/2014/main" val="897631741"/>
                    </a:ext>
                  </a:extLst>
                </a:gridCol>
                <a:gridCol w="4184158">
                  <a:extLst>
                    <a:ext uri="{9D8B030D-6E8A-4147-A177-3AD203B41FA5}">
                      <a16:colId xmlns:a16="http://schemas.microsoft.com/office/drawing/2014/main" val="2221519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WIRED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WIRELESS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742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SPEED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Faster &amp; more stable (Ethernet, fiber optic)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Slower &amp; more variable (Wi-Fi, cellular networks)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51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INSTALLATION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More complex (requires cables, routers, switches)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Easier (just a router or access point)</a:t>
                      </a:r>
                    </a:p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Ad Hoc Mode 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– Direct device-to-device communication (No central access point)</a:t>
                      </a:r>
                    </a:p>
                    <a:p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Infrastructure Mode 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– Devices connect via a Wi-Fi router or access point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66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REALIABILITY 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Highly stable (less interference) and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More secure (physical access needed)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Less stable (affected by interference &amp; distance) and Less secure (susceptible to hacking)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134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MOBILITY 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Cannot provide mobile network and Limited (fixed location)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 (move freely within range)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956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 (cables, routers, switches, labor)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Lower (just a router or access point)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240298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547A7-2DCE-48F9-8656-E263D50D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28006-B7FF-48EC-98BC-EF0FB1D0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4685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8260E-DE85-4813-8B1A-497173B2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HOW WIRELESS TECHNOLOGY WORKS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8153C-0944-4352-9F5D-E40CA1690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Wireless technology </a:t>
            </a:r>
            <a:r>
              <a:rPr lang="en-US" dirty="0"/>
              <a:t>allows devices to communicate without physical cables by using radio waves, infrared, or satellite signals to transmit data.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Transmitter</a:t>
            </a:r>
            <a:r>
              <a:rPr lang="en-US" dirty="0"/>
              <a:t> – Sends signals (e.g., Wi-Fi router, cell tower, satellite).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Receiver</a:t>
            </a:r>
            <a:r>
              <a:rPr lang="en-US" dirty="0"/>
              <a:t> – Receives signals (e.g., smartphone, laptop, GPS device).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Medium</a:t>
            </a:r>
            <a:r>
              <a:rPr lang="en-US" dirty="0"/>
              <a:t> – The air (radio waves, infrared, microwave, etc.).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Protocols</a:t>
            </a:r>
            <a:r>
              <a:rPr lang="en-US" dirty="0"/>
              <a:t> – Rules for communication (Wi-Fi, Bluetooth, 4G/5G, etc.).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9E944-2DEB-4DF4-9460-4D29868A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BCD0D-9BC9-429A-A01A-C9CAD261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9178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B63B0-3C33-4EFF-AF7F-988156B0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TYPES OF TECHNOLOGIES</a:t>
            </a:r>
            <a:endParaRPr lang="LID4096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BA87C1-1097-436A-A4E9-E6DFE851F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Wi-Fi (Wireless Fidelity)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208E-3846-4413-9836-1991513BAB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Is a generic term that refers to the </a:t>
            </a:r>
            <a:r>
              <a:rPr lang="en-US" b="1" dirty="0"/>
              <a:t>IEEE 802.11 </a:t>
            </a:r>
            <a:r>
              <a:rPr lang="en-US" dirty="0"/>
              <a:t>communications standard for Wireless Local Area Networks (WLANs).</a:t>
            </a:r>
          </a:p>
          <a:p>
            <a:r>
              <a:rPr lang="en-US" dirty="0"/>
              <a:t> When Wi-Fi enabled device encounters a hotspot, the device can then connect to that network wirelessly.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D7EBB7-BD52-4F88-BDC6-78B0C6183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.</a:t>
            </a:r>
            <a:endParaRPr lang="LID4096" b="1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6F81B78-815E-4B87-9E5D-8FD0CB74EB0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379" y="2448910"/>
            <a:ext cx="3286942" cy="334229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FCC42-B7F5-4A80-A54F-777FAF969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BAAEA-A0E1-4E6A-A56A-87CE438B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528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553D-DD02-4827-AFAF-8DB4402E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TYPES OF TECHNOLOGIES (continues…)</a:t>
            </a:r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3510E4-A832-4999-834A-EB5F9E18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A2156-558C-440E-8E9B-E470D5A18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Bluetooth 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37E80-36F2-4255-B98E-1734EE7A55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 Is a wireless technology for transferring data between two devices that are in close proximity with each other.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A2C48-D735-42A6-9310-00366F565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.</a:t>
            </a:r>
            <a:endParaRPr lang="LID4096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7394BA8-CF55-42E8-B162-17EE21AE1C0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560" y="2074699"/>
            <a:ext cx="3983421" cy="3531476"/>
          </a:xfr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53CF3F-5F65-4CF1-9559-A708D71B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59061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3936-0395-47BE-91FD-16D642FA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ADVANTAGES &amp; disadvantages OF WIRELESS TECHNOLOGY</a:t>
            </a:r>
            <a:endParaRPr lang="LID4096" b="1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882D438F-028B-42C5-BEFD-DC5DA5D6B2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961122"/>
              </p:ext>
            </p:extLst>
          </p:nvPr>
        </p:nvGraphicFramePr>
        <p:xfrm>
          <a:off x="1141413" y="2249488"/>
          <a:ext cx="99060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580">
                  <a:extLst>
                    <a:ext uri="{9D8B030D-6E8A-4147-A177-3AD203B41FA5}">
                      <a16:colId xmlns:a16="http://schemas.microsoft.com/office/drawing/2014/main" val="3086225488"/>
                    </a:ext>
                  </a:extLst>
                </a:gridCol>
                <a:gridCol w="4014952">
                  <a:extLst>
                    <a:ext uri="{9D8B030D-6E8A-4147-A177-3AD203B41FA5}">
                      <a16:colId xmlns:a16="http://schemas.microsoft.com/office/drawing/2014/main" val="2560876832"/>
                    </a:ext>
                  </a:extLst>
                </a:gridCol>
                <a:gridCol w="4499468">
                  <a:extLst>
                    <a:ext uri="{9D8B030D-6E8A-4147-A177-3AD203B41FA5}">
                      <a16:colId xmlns:a16="http://schemas.microsoft.com/office/drawing/2014/main" val="3342692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ADVANTAGES (PROS)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DISADVANTAGES (CONS)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932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Mobility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Devices can connect anywhere within range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Signal weakens with distance &amp; obstacles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329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Installation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 cables, easy &amp; quick setup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Requires a router, access points, or mobile networks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183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 need for expensive cabling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Long-term costs (router upgrades, bandwidth fees) can add up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31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Speed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5G &amp; Wi-Fi 6 offer fast speeds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Generally slower than wired connections, especially under heavy usage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Security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Can use encryption (WPA3, VPNs) for protection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Susceptible to hacking, unauthorized access, and signal interception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918890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4FB486-8995-4CB5-8438-7196810B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A955B9-56D1-450B-80E5-BA6795E8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6970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5FFF9-F1FB-4CD9-A41F-9B7A347D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Applications Of Wireless Technology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D0499-0130-48AD-A690-B9B686AA9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Remote Control</a:t>
            </a:r>
          </a:p>
          <a:p>
            <a:r>
              <a:rPr lang="en-US" dirty="0"/>
              <a:t> Wireless technology enables remote operation of devices such as TVs, drones, garage doors, and industrial machinery. </a:t>
            </a:r>
          </a:p>
          <a:p>
            <a:r>
              <a:rPr lang="en-US" dirty="0"/>
              <a:t> Infrared (IR) and radio frequency (RF) signals are commonly used for this purpose.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5EAC8-26DA-4F3C-AE07-DEB7AA9C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4485F-35EA-4057-8DB5-B381C541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71655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21A2-23E8-4599-AC75-73D0485D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Applications Of Wireless Technology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D69D4-2226-44EA-8896-D1698D0D2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Item Tracking</a:t>
            </a:r>
          </a:p>
          <a:p>
            <a:r>
              <a:rPr lang="en-US" dirty="0"/>
              <a:t> Wireless tracking technologies like RFID (Radio-Frequency Identification) and GPS (Global Positioning System) help monitor the location of valuable assets, inventory, and personal belongings in real time.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08311-B030-479D-B6B8-A4E7531D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90CBB-3906-4ED0-91F0-AC2BEA22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6958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04E1-9011-48B4-9BD4-BF1AFB402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Applications Of Wireless Technology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0699-1B55-468D-8947-1E977A0A5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Navigation And Location</a:t>
            </a:r>
          </a:p>
          <a:p>
            <a:r>
              <a:rPr lang="en-US" dirty="0"/>
              <a:t> The Global Positioning System (GPS) is a space-based Global Navigation Satellite System (GNSS) that provides location and time information.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BE32D-7359-427F-9734-C33AB011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F620E-5DEC-4455-9E3B-EAA3254A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1163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AC7D-4793-4E1B-A744-845475DA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Applications Of Wireless Technology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50B2F-EDD9-48F2-B584-FB988CE55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Wireless Power Transfer</a:t>
            </a:r>
          </a:p>
          <a:p>
            <a:r>
              <a:rPr lang="en-US" dirty="0"/>
              <a:t> Is a technology that allows electrical energy to be transmitted from a power source to a device without using physical wires.</a:t>
            </a:r>
          </a:p>
          <a:p>
            <a:r>
              <a:rPr lang="en-US" dirty="0"/>
              <a:t> For example, </a:t>
            </a:r>
            <a:r>
              <a:rPr lang="en-GB" dirty="0"/>
              <a:t>Smartphone and Electric Vehicle (EV) Wireless Charging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32D42-BD4A-4C4F-817E-2D5A855B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0B584-8627-4454-8053-31C8B45D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3615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BA8C-00BC-420D-BEF0-34103ECFB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Applications Of Wireless Technology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46F15-CB50-4091-94BB-70A4AF1AA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5. </a:t>
            </a:r>
            <a:r>
              <a:rPr lang="en-US" b="1" dirty="0"/>
              <a:t>Remote Monitoring</a:t>
            </a:r>
          </a:p>
          <a:p>
            <a:r>
              <a:rPr lang="en-US" dirty="0"/>
              <a:t> Wireless sensors and IoT (Internet of Things) devices help monitor health (wearable devices), industrial machines, and smart homes for security, temperature control, and energy management.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F327E-C9EF-4139-85D7-22945CC30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3C16D-5682-4E09-B5CF-B25A0C34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47009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04EF-7E98-4238-B24F-2D6E6B93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Applications Of Wireless Technology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FDAC3-52FC-409A-88E1-9A8E7603E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6. </a:t>
            </a:r>
            <a:r>
              <a:rPr lang="en-US" b="1" dirty="0"/>
              <a:t>Risk Management</a:t>
            </a:r>
          </a:p>
          <a:p>
            <a:r>
              <a:rPr lang="en-US" dirty="0"/>
              <a:t> Wireless surveillance systems, fire alarms, and disaster monitoring networks help detect potential threats and mitigate risks in security, environmental protection, and industrial operations.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91861-3B51-4290-9E0A-CA20F1BB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E81FC-9982-4D76-988D-8DA94D01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7696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C3125B-E280-423D-90D9-FEC58385BC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Wireless data networks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4308DFC-7DA3-427A-B48D-EA02EF5A80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2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406328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27A2-53C8-42C9-9AD3-A168C7A6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51697-E1FB-43AE-9FBE-D9ADD33F6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We can say that </a:t>
            </a:r>
            <a:r>
              <a:rPr lang="en-US" b="1" dirty="0"/>
              <a:t>wireless networks </a:t>
            </a:r>
            <a:r>
              <a:rPr lang="en-US" dirty="0"/>
              <a:t>are those which are not connected by any type of cables and it uses different wireless connections between network nodes.</a:t>
            </a:r>
          </a:p>
          <a:p>
            <a:r>
              <a:rPr lang="en-US" dirty="0"/>
              <a:t> These networks allow devices like smartphones, laptops, and IoT devices to connect and exchange data over a distance.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E06A2-313D-426B-AB2E-5FE30A68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9C07E-8179-4021-ACBE-1A22BE79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2103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87B2-D390-4416-A51B-68EC6A0F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Need of wireless data networks</a:t>
            </a:r>
            <a:endParaRPr lang="LID4096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A069534-9825-4744-B3DA-E4185964E7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3368998"/>
              </p:ext>
            </p:extLst>
          </p:nvPr>
        </p:nvGraphicFramePr>
        <p:xfrm>
          <a:off x="1141413" y="2249488"/>
          <a:ext cx="99060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504">
                  <a:extLst>
                    <a:ext uri="{9D8B030D-6E8A-4147-A177-3AD203B41FA5}">
                      <a16:colId xmlns:a16="http://schemas.microsoft.com/office/drawing/2014/main" val="1516050280"/>
                    </a:ext>
                  </a:extLst>
                </a:gridCol>
                <a:gridCol w="6559496">
                  <a:extLst>
                    <a:ext uri="{9D8B030D-6E8A-4147-A177-3AD203B41FA5}">
                      <a16:colId xmlns:a16="http://schemas.microsoft.com/office/drawing/2014/main" val="568796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NEED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Mobility &amp; Convenience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Users can stay connected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without being tied to a physical cable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Ideal for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mobile devices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allowing access to the internet anywhere (home, office, public spaces).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49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Scalability &amp; Flexibility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Easy to expand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without adding new cables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87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Cost-Effective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Reduces costs related to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cabling, installation, and maintenance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8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Facilitates Public Wi-Fi &amp; Hotspots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Used in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cafés, airports, schools, and shopping malls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to provide internet access.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27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Connectivity in Remote Areas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Provides internet access where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wired infrastructure is unavailable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such as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rural areas, disaster zones, and mobile networks (3G, 4G, 5G, satellite internet)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95512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E8A67-B738-400E-8F5E-B05AE629E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7498B-B255-4256-A9D6-6CAEDA32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4741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EEF7-0686-4A0E-991E-743D3F2A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Benefits &amp; Disadvantages of wireless data networks</a:t>
            </a:r>
            <a:endParaRPr lang="LID4096" b="1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8D5EF18-56D1-46B1-BC4C-61A8A82B15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3604061"/>
              </p:ext>
            </p:extLst>
          </p:nvPr>
        </p:nvGraphicFramePr>
        <p:xfrm>
          <a:off x="1141413" y="2249488"/>
          <a:ext cx="9906000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942594416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00490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BENEFITS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DISADVANTAGES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922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Mobility &amp; Convenience 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Users can connect from anywhere without being tied to cables.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Security Risks 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Wireless networks are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more vulnerable to hacking, interception, and unauthorized access.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29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Cost-Effective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 –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Reduces costs associated with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cabling, installation, and maintenance.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Slower Speeds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Compared to Wired Networks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617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Limited Range 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Wi-Fi signals have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 limited coverage area.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07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Interference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 –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Signals can be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weakened by walls</a:t>
                      </a:r>
                      <a:endParaRPr lang="LID4096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725603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DB9B2-98B6-43BE-8BE3-4A0009BE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8F937-8091-4CDF-843C-82D5F8E1B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057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84114-CA74-4E0D-9B32-45234E03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wireless data networks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8C02A-78EF-49CE-8524-5760A0C90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Wireless Local Area Network (WLAN)</a:t>
            </a:r>
          </a:p>
          <a:p>
            <a:r>
              <a:rPr lang="en-US" dirty="0"/>
              <a:t> Used in homes, offices, and public places to connect multiple devices within a limited range.</a:t>
            </a:r>
          </a:p>
          <a:p>
            <a:r>
              <a:rPr lang="en-US" dirty="0"/>
              <a:t> For example Wi-Fi.</a:t>
            </a:r>
          </a:p>
          <a:p>
            <a:r>
              <a:rPr lang="en-US" dirty="0"/>
              <a:t> In a Local Area Network (LAN) a group of computers and other devices have a common wireless network within a distinct area.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7A9EA-190B-4C91-8B08-E6EEDD97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5B810-A4BA-4CAF-8F7E-5107E1B7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24</a:t>
            </a:fld>
            <a:endParaRPr lang="LID4096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899EF5-2F42-42A1-A7C0-15025A7C6843}"/>
              </a:ext>
            </a:extLst>
          </p:cNvPr>
          <p:cNvSpPr/>
          <p:nvPr/>
        </p:nvSpPr>
        <p:spPr>
          <a:xfrm>
            <a:off x="6274676" y="3615559"/>
            <a:ext cx="1208690" cy="6726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0A761352-B6F4-44B5-A50A-799CD44224B1}"/>
              </a:ext>
            </a:extLst>
          </p:cNvPr>
          <p:cNvSpPr/>
          <p:nvPr/>
        </p:nvSpPr>
        <p:spPr>
          <a:xfrm>
            <a:off x="6484883" y="3279228"/>
            <a:ext cx="294289" cy="336331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A29DBF56-9D58-4B26-B0AD-FCDA0D71546F}"/>
              </a:ext>
            </a:extLst>
          </p:cNvPr>
          <p:cNvSpPr/>
          <p:nvPr/>
        </p:nvSpPr>
        <p:spPr>
          <a:xfrm>
            <a:off x="6984124" y="3260834"/>
            <a:ext cx="294289" cy="336331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827DB9-3904-4B67-BEC6-C88992B1AA95}"/>
              </a:ext>
            </a:extLst>
          </p:cNvPr>
          <p:cNvSpPr/>
          <p:nvPr/>
        </p:nvSpPr>
        <p:spPr>
          <a:xfrm>
            <a:off x="4792717" y="3447393"/>
            <a:ext cx="777765" cy="3651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11ECCE-5524-44A8-A907-C4377F42D38B}"/>
              </a:ext>
            </a:extLst>
          </p:cNvPr>
          <p:cNvSpPr/>
          <p:nvPr/>
        </p:nvSpPr>
        <p:spPr>
          <a:xfrm>
            <a:off x="8397767" y="3447393"/>
            <a:ext cx="777765" cy="3651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4B44AED2-66B9-4E04-89F7-C351A377AA2D}"/>
              </a:ext>
            </a:extLst>
          </p:cNvPr>
          <p:cNvSpPr/>
          <p:nvPr/>
        </p:nvSpPr>
        <p:spPr>
          <a:xfrm>
            <a:off x="4550978" y="3829652"/>
            <a:ext cx="1019504" cy="244475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lowchart: Data 11">
            <a:extLst>
              <a:ext uri="{FF2B5EF4-FFF2-40B4-BE49-F238E27FC236}">
                <a16:creationId xmlns:a16="http://schemas.microsoft.com/office/drawing/2014/main" id="{E3A7B7B0-0164-40D4-B690-D0CD97DC99F0}"/>
              </a:ext>
            </a:extLst>
          </p:cNvPr>
          <p:cNvSpPr/>
          <p:nvPr/>
        </p:nvSpPr>
        <p:spPr>
          <a:xfrm>
            <a:off x="8156028" y="3829651"/>
            <a:ext cx="1019504" cy="244475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287221F0-36E8-4C53-B29F-22C9A43B4747}"/>
              </a:ext>
            </a:extLst>
          </p:cNvPr>
          <p:cNvSpPr/>
          <p:nvPr/>
        </p:nvSpPr>
        <p:spPr>
          <a:xfrm>
            <a:off x="7706713" y="3447393"/>
            <a:ext cx="415160" cy="672662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E9F51FEB-5F9A-498A-93E0-544D06BA7040}"/>
              </a:ext>
            </a:extLst>
          </p:cNvPr>
          <p:cNvSpPr/>
          <p:nvPr/>
        </p:nvSpPr>
        <p:spPr>
          <a:xfrm>
            <a:off x="7859112" y="3425112"/>
            <a:ext cx="415160" cy="672662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3063871-C160-4536-8472-64A3176AB511}"/>
              </a:ext>
            </a:extLst>
          </p:cNvPr>
          <p:cNvSpPr/>
          <p:nvPr/>
        </p:nvSpPr>
        <p:spPr>
          <a:xfrm>
            <a:off x="7556942" y="3493320"/>
            <a:ext cx="415160" cy="672662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1358AD89-FC72-4232-9982-E90FB42ECCD0}"/>
              </a:ext>
            </a:extLst>
          </p:cNvPr>
          <p:cNvSpPr/>
          <p:nvPr/>
        </p:nvSpPr>
        <p:spPr>
          <a:xfrm>
            <a:off x="7457091" y="3535141"/>
            <a:ext cx="415160" cy="672662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BE0A8D4-6D30-417D-904C-77DA9BBBE692}"/>
              </a:ext>
            </a:extLst>
          </p:cNvPr>
          <p:cNvSpPr/>
          <p:nvPr/>
        </p:nvSpPr>
        <p:spPr>
          <a:xfrm>
            <a:off x="7346734" y="3579922"/>
            <a:ext cx="415160" cy="672662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02255-8E29-49D3-B4FC-1E01BECDFB10}"/>
              </a:ext>
            </a:extLst>
          </p:cNvPr>
          <p:cNvSpPr/>
          <p:nvPr/>
        </p:nvSpPr>
        <p:spPr>
          <a:xfrm>
            <a:off x="6291179" y="3813388"/>
            <a:ext cx="116891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Wireless Router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B2CC87-6C66-46CF-BBC6-121EE5FF2840}"/>
              </a:ext>
            </a:extLst>
          </p:cNvPr>
          <p:cNvSpPr/>
          <p:nvPr/>
        </p:nvSpPr>
        <p:spPr>
          <a:xfrm>
            <a:off x="4631404" y="4020344"/>
            <a:ext cx="7633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Laptop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8ABFE7-75B2-4643-B8CE-08604ADF4772}"/>
              </a:ext>
            </a:extLst>
          </p:cNvPr>
          <p:cNvSpPr/>
          <p:nvPr/>
        </p:nvSpPr>
        <p:spPr>
          <a:xfrm>
            <a:off x="8257669" y="4038526"/>
            <a:ext cx="7633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Laptop</a:t>
            </a:r>
          </a:p>
        </p:txBody>
      </p:sp>
    </p:spTree>
    <p:extLst>
      <p:ext uri="{BB962C8B-B14F-4D97-AF65-F5344CB8AC3E}">
        <p14:creationId xmlns:p14="http://schemas.microsoft.com/office/powerpoint/2010/main" val="3208607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8D1E-6E34-48F1-9376-6E165087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wireless data networks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053F-87E3-4B22-A482-2C1EF301F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Types of WLANs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</a:t>
            </a:r>
            <a:r>
              <a:rPr lang="en-GB" b="1" dirty="0"/>
              <a:t>Infrastructure</a:t>
            </a:r>
            <a:r>
              <a:rPr lang="en-GB" dirty="0"/>
              <a:t> – </a:t>
            </a:r>
            <a:r>
              <a:rPr lang="fr-FR" dirty="0">
                <a:solidFill>
                  <a:schemeClr val="tx1"/>
                </a:solidFill>
              </a:rPr>
              <a:t>Devices connect via a Wi-Fi router or access point.</a:t>
            </a:r>
          </a:p>
          <a:p>
            <a:pPr marL="514350" indent="-514350">
              <a:buFont typeface="+mj-lt"/>
              <a:buAutoNum type="romanLcPeriod"/>
            </a:pPr>
            <a:r>
              <a:rPr lang="fr-FR" dirty="0"/>
              <a:t> </a:t>
            </a:r>
            <a:r>
              <a:rPr lang="fr-FR" b="1" dirty="0"/>
              <a:t>Peer-to-Peer</a:t>
            </a:r>
            <a:r>
              <a:rPr lang="fr-FR" dirty="0"/>
              <a:t> or </a:t>
            </a:r>
            <a:r>
              <a:rPr lang="en-GB" b="1" dirty="0">
                <a:solidFill>
                  <a:schemeClr val="tx1"/>
                </a:solidFill>
              </a:rPr>
              <a:t>Ad Hoc  </a:t>
            </a:r>
            <a:r>
              <a:rPr lang="en-GB" dirty="0">
                <a:solidFill>
                  <a:schemeClr val="tx1"/>
                </a:solidFill>
              </a:rPr>
              <a:t>– Direct device-to-device communication (No central access point).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 </a:t>
            </a:r>
            <a:r>
              <a:rPr lang="en-GB" b="1" dirty="0"/>
              <a:t>Wireless Distribution System </a:t>
            </a:r>
            <a:r>
              <a:rPr lang="en-GB" dirty="0"/>
              <a:t>– </a:t>
            </a:r>
            <a:r>
              <a:rPr lang="en-US" dirty="0"/>
              <a:t>Wireless is expanded using multiple access points without the need for wired backbone to link them.</a:t>
            </a:r>
            <a:endParaRPr lang="en-GB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romanL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C4AF1-1F33-4394-B706-D0677B4D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F3124-A645-4697-BCD2-04560C1C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236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7E87-ACAF-461E-AA30-548A0A8D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wireless data networks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80E0-FD2E-4184-B245-17A8E5252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Wireless Metropolitan Area Network (WMAN)</a:t>
            </a:r>
          </a:p>
          <a:p>
            <a:r>
              <a:rPr lang="en-US" dirty="0"/>
              <a:t> Covers a city or large campus, providing high-speed wireless internet over long distances.</a:t>
            </a:r>
          </a:p>
          <a:p>
            <a:r>
              <a:rPr lang="en-US" dirty="0"/>
              <a:t> This cover a wide area than Local Area Network (LAN) but less than the Wireless Wide Area Network (WWAN).</a:t>
            </a:r>
          </a:p>
          <a:p>
            <a:r>
              <a:rPr lang="en-US" dirty="0"/>
              <a:t> For example, WiMAX.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7A8B3-8085-4EAC-962F-67E7CE9E6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187070-44AB-42CB-9110-5B915935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0152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FF46-4FC2-4277-9B1D-F62158E4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wireless data networks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C2DFA-208E-4F4B-93A5-ADCF6D783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In this wireless network type, access points are placed on the poles or on the buildings through the area. </a:t>
            </a:r>
          </a:p>
          <a:p>
            <a:r>
              <a:rPr lang="en-US" dirty="0"/>
              <a:t>When users are connecting to their destination they are connected to the nearest access point.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6F019-675A-4109-87F0-991236474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0" y="6224860"/>
            <a:ext cx="6239309" cy="365125"/>
          </a:xfrm>
        </p:spPr>
        <p:txBody>
          <a:bodyPr/>
          <a:lstStyle/>
          <a:p>
            <a:r>
              <a:rPr lang="en-GB" dirty="0"/>
              <a:t>© </a:t>
            </a:r>
            <a:r>
              <a:rPr lang="en-GB" dirty="0" err="1"/>
              <a:t>Kapasa</a:t>
            </a:r>
            <a:r>
              <a:rPr lang="en-GB" dirty="0"/>
              <a:t> </a:t>
            </a:r>
            <a:r>
              <a:rPr lang="en-GB" dirty="0" err="1"/>
              <a:t>Makasa</a:t>
            </a:r>
            <a:r>
              <a:rPr lang="en-GB" dirty="0"/>
              <a:t> University ℗ James Soko | Prepared for Mr. </a:t>
            </a:r>
            <a:r>
              <a:rPr lang="en-GB" dirty="0" err="1"/>
              <a:t>Zilani</a:t>
            </a:r>
            <a:r>
              <a:rPr lang="en-GB" dirty="0"/>
              <a:t> </a:t>
            </a:r>
            <a:r>
              <a:rPr lang="en-GB" dirty="0" err="1"/>
              <a:t>Kaluba</a:t>
            </a:r>
            <a:r>
              <a:rPr lang="en-GB" dirty="0"/>
              <a:t>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D9A59-781F-43CA-BE93-F8FC2F2E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224860"/>
            <a:ext cx="771089" cy="365125"/>
          </a:xfrm>
        </p:spPr>
        <p:txBody>
          <a:bodyPr/>
          <a:lstStyle/>
          <a:p>
            <a:fld id="{F10CBD77-CD2E-4B2C-9AD8-253F8A9F7599}" type="slidenum">
              <a:rPr lang="LID4096" smtClean="0"/>
              <a:t>27</a:t>
            </a:fld>
            <a:endParaRPr lang="LID4096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27B91B9-DDA1-48F0-A67C-EA18E078AFBF}"/>
              </a:ext>
            </a:extLst>
          </p:cNvPr>
          <p:cNvSpPr/>
          <p:nvPr/>
        </p:nvSpPr>
        <p:spPr>
          <a:xfrm>
            <a:off x="3899338" y="4834759"/>
            <a:ext cx="220717" cy="79878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0612995-85E4-4AC1-AC92-FED19E9C8A89}"/>
              </a:ext>
            </a:extLst>
          </p:cNvPr>
          <p:cNvSpPr/>
          <p:nvPr/>
        </p:nvSpPr>
        <p:spPr>
          <a:xfrm>
            <a:off x="7380720" y="4035972"/>
            <a:ext cx="207749" cy="93542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39639A-0401-475A-B719-BC1A93CF9230}"/>
              </a:ext>
            </a:extLst>
          </p:cNvPr>
          <p:cNvSpPr/>
          <p:nvPr/>
        </p:nvSpPr>
        <p:spPr>
          <a:xfrm>
            <a:off x="3626069" y="5139558"/>
            <a:ext cx="3893913" cy="9329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017463-BD38-4FC9-8CB0-55D2A8DD04DA}"/>
              </a:ext>
            </a:extLst>
          </p:cNvPr>
          <p:cNvSpPr/>
          <p:nvPr/>
        </p:nvSpPr>
        <p:spPr>
          <a:xfrm>
            <a:off x="3209491" y="5063467"/>
            <a:ext cx="4788881" cy="1095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270DDA1-A6B2-40F8-879D-1767BE56882F}"/>
              </a:ext>
            </a:extLst>
          </p:cNvPr>
          <p:cNvSpPr/>
          <p:nvPr/>
        </p:nvSpPr>
        <p:spPr>
          <a:xfrm>
            <a:off x="5525814" y="4703379"/>
            <a:ext cx="3631324" cy="10878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27A813-DDF0-4A7A-9157-448C0F076C51}"/>
              </a:ext>
            </a:extLst>
          </p:cNvPr>
          <p:cNvSpPr/>
          <p:nvPr/>
        </p:nvSpPr>
        <p:spPr>
          <a:xfrm>
            <a:off x="5848837" y="4782206"/>
            <a:ext cx="3063765" cy="930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856FDD-5488-4CAB-B0C4-173CF44E6DD4}"/>
              </a:ext>
            </a:extLst>
          </p:cNvPr>
          <p:cNvSpPr/>
          <p:nvPr/>
        </p:nvSpPr>
        <p:spPr>
          <a:xfrm>
            <a:off x="6253655" y="4867082"/>
            <a:ext cx="2301765" cy="75811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4EFA9EB-5A8C-4B93-8DBC-ED69BFDE766D}"/>
              </a:ext>
            </a:extLst>
          </p:cNvPr>
          <p:cNvSpPr/>
          <p:nvPr/>
        </p:nvSpPr>
        <p:spPr>
          <a:xfrm>
            <a:off x="6383635" y="4987159"/>
            <a:ext cx="2019555" cy="49672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4D4D715-6CAD-460A-B3CD-9B374C3F8097}"/>
              </a:ext>
            </a:extLst>
          </p:cNvPr>
          <p:cNvSpPr/>
          <p:nvPr/>
        </p:nvSpPr>
        <p:spPr>
          <a:xfrm>
            <a:off x="6877981" y="5112024"/>
            <a:ext cx="868143" cy="2194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99115D-1491-455E-BF80-F4711EA9D8CA}"/>
              </a:ext>
            </a:extLst>
          </p:cNvPr>
          <p:cNvSpPr/>
          <p:nvPr/>
        </p:nvSpPr>
        <p:spPr>
          <a:xfrm>
            <a:off x="4693271" y="5405052"/>
            <a:ext cx="1312649" cy="3348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DBC5EE-DA9A-46E3-80B8-5BAC3B76F4CF}"/>
              </a:ext>
            </a:extLst>
          </p:cNvPr>
          <p:cNvSpPr/>
          <p:nvPr/>
        </p:nvSpPr>
        <p:spPr>
          <a:xfrm>
            <a:off x="3982381" y="5255172"/>
            <a:ext cx="3122612" cy="6859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38E22DB-1277-4986-9024-15E8B1F06745}"/>
              </a:ext>
            </a:extLst>
          </p:cNvPr>
          <p:cNvSpPr/>
          <p:nvPr/>
        </p:nvSpPr>
        <p:spPr>
          <a:xfrm>
            <a:off x="4215793" y="5363012"/>
            <a:ext cx="2469930" cy="4336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E9A798-C331-4BFF-9CEB-CF4AA8AB54D0}"/>
              </a:ext>
            </a:extLst>
          </p:cNvPr>
          <p:cNvSpPr/>
          <p:nvPr/>
        </p:nvSpPr>
        <p:spPr>
          <a:xfrm>
            <a:off x="5234152" y="4550979"/>
            <a:ext cx="4214648" cy="13926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Arrow: Left-Right-Up 22">
            <a:extLst>
              <a:ext uri="{FF2B5EF4-FFF2-40B4-BE49-F238E27FC236}">
                <a16:creationId xmlns:a16="http://schemas.microsoft.com/office/drawing/2014/main" id="{EE3BBEAB-8BEA-475F-B67C-57B4DD3CD0F7}"/>
              </a:ext>
            </a:extLst>
          </p:cNvPr>
          <p:cNvSpPr/>
          <p:nvPr/>
        </p:nvSpPr>
        <p:spPr>
          <a:xfrm>
            <a:off x="3818858" y="4708634"/>
            <a:ext cx="396935" cy="231227"/>
          </a:xfrm>
          <a:prstGeom prst="leftRight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Arrow: Left-Right-Up 23">
            <a:extLst>
              <a:ext uri="{FF2B5EF4-FFF2-40B4-BE49-F238E27FC236}">
                <a16:creationId xmlns:a16="http://schemas.microsoft.com/office/drawing/2014/main" id="{C566B4D6-12AF-4202-94BF-91FE64EA9EC3}"/>
              </a:ext>
            </a:extLst>
          </p:cNvPr>
          <p:cNvSpPr/>
          <p:nvPr/>
        </p:nvSpPr>
        <p:spPr>
          <a:xfrm>
            <a:off x="7286126" y="3914886"/>
            <a:ext cx="396935" cy="231227"/>
          </a:xfrm>
          <a:prstGeom prst="leftRight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467B4E-7E3C-4762-B0CB-59AF1DC85C16}"/>
              </a:ext>
            </a:extLst>
          </p:cNvPr>
          <p:cNvSpPr/>
          <p:nvPr/>
        </p:nvSpPr>
        <p:spPr>
          <a:xfrm>
            <a:off x="1556062" y="4939861"/>
            <a:ext cx="349993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WiMAX Tower</a:t>
            </a:r>
            <a:endParaRPr lang="en-US" sz="1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B908B4-1DB5-46D1-91AC-8FBCA0EB2C03}"/>
              </a:ext>
            </a:extLst>
          </p:cNvPr>
          <p:cNvSpPr/>
          <p:nvPr/>
        </p:nvSpPr>
        <p:spPr>
          <a:xfrm>
            <a:off x="6489747" y="4261727"/>
            <a:ext cx="349993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WiMAX Tower</a:t>
            </a:r>
            <a:endParaRPr lang="en-US" sz="1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144912D4-69B1-4EC1-92F3-3D9A91D20BCC}"/>
              </a:ext>
            </a:extLst>
          </p:cNvPr>
          <p:cNvSpPr/>
          <p:nvPr/>
        </p:nvSpPr>
        <p:spPr>
          <a:xfrm>
            <a:off x="3818858" y="4600281"/>
            <a:ext cx="448343" cy="24750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335D932-3877-4077-8BA4-9936EA64A7C8}"/>
              </a:ext>
            </a:extLst>
          </p:cNvPr>
          <p:cNvSpPr/>
          <p:nvPr/>
        </p:nvSpPr>
        <p:spPr>
          <a:xfrm>
            <a:off x="3876666" y="4541255"/>
            <a:ext cx="448343" cy="24750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26FF080-C79D-42DE-9A2A-07D508EBB43F}"/>
              </a:ext>
            </a:extLst>
          </p:cNvPr>
          <p:cNvSpPr/>
          <p:nvPr/>
        </p:nvSpPr>
        <p:spPr>
          <a:xfrm>
            <a:off x="3939097" y="4447015"/>
            <a:ext cx="448343" cy="24750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FF927716-6ECD-4BBE-BC9C-E57C72D841ED}"/>
              </a:ext>
            </a:extLst>
          </p:cNvPr>
          <p:cNvSpPr/>
          <p:nvPr/>
        </p:nvSpPr>
        <p:spPr>
          <a:xfrm>
            <a:off x="7312052" y="3820145"/>
            <a:ext cx="448343" cy="24750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EEF22A81-71D2-4E6F-9443-1C033DF29953}"/>
              </a:ext>
            </a:extLst>
          </p:cNvPr>
          <p:cNvSpPr/>
          <p:nvPr/>
        </p:nvSpPr>
        <p:spPr>
          <a:xfrm>
            <a:off x="7380719" y="3757075"/>
            <a:ext cx="448343" cy="24750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40905CEB-76D2-46E9-AF5C-7B9659DACD08}"/>
              </a:ext>
            </a:extLst>
          </p:cNvPr>
          <p:cNvSpPr/>
          <p:nvPr/>
        </p:nvSpPr>
        <p:spPr>
          <a:xfrm>
            <a:off x="7444133" y="3691129"/>
            <a:ext cx="448343" cy="24750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1680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AD14-4A77-4370-A5E5-1FB231AA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wireless data networks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0813B48-8545-4196-97A8-0A767D891A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683001"/>
              </p:ext>
            </p:extLst>
          </p:nvPr>
        </p:nvGraphicFramePr>
        <p:xfrm>
          <a:off x="1141413" y="2249488"/>
          <a:ext cx="9906000" cy="294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19647644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88815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ADVANTAGES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DISADVANTAGES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117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Sharing of connections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–  In metropolitan area network it is a combination of two or more LAN networks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Difficulty in managing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– It may be difficult to manage if number of lines are increased. This is due to the security purposes.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650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Security level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– It has high security than WAN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12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Cost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– It is less expensive with good data efficiency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871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High speed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– The speed in this network is fast because MAN uses fiber optics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Speed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– Of network may be slow due to high coverage</a:t>
                      </a:r>
                    </a:p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47162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E96153-2881-4B4F-AF0D-3F9C8568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20A2A-846F-4FDF-B1F0-92559793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4982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EC2A-41BC-468C-A3CA-052FB71A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wireless data networks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D51B-1392-47AF-9ADB-332ED4638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GB" b="1" dirty="0"/>
              <a:t>Wireless Personal Area Network (WPAN)</a:t>
            </a:r>
          </a:p>
          <a:p>
            <a:r>
              <a:rPr lang="en-GB" dirty="0"/>
              <a:t> </a:t>
            </a:r>
            <a:r>
              <a:rPr lang="en-US" dirty="0"/>
              <a:t>Covers a short range (a few meters e.g., 100) for connecting personal devices like phones, smartwatches, and wireless earbuds.</a:t>
            </a:r>
          </a:p>
          <a:p>
            <a:r>
              <a:rPr lang="en-US" dirty="0"/>
              <a:t> For example, </a:t>
            </a:r>
            <a:r>
              <a:rPr lang="en-GB" dirty="0"/>
              <a:t>Bluetooth, Zigbee, UWB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81321-3174-4183-B6D1-85F79180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30B57-DA39-4DA2-A5E7-41962C69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29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10935A-8751-4E12-A61F-586EA0D1F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065" y="3093983"/>
            <a:ext cx="3541714" cy="3541714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E545FE62-6731-4466-93D2-8485F1066B5E}"/>
              </a:ext>
            </a:extLst>
          </p:cNvPr>
          <p:cNvSpPr/>
          <p:nvPr/>
        </p:nvSpPr>
        <p:spPr>
          <a:xfrm>
            <a:off x="2448910" y="4657544"/>
            <a:ext cx="1812155" cy="492165"/>
          </a:xfrm>
          <a:prstGeom prst="lef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B28BBD7-805B-4EEA-A648-9BF1F23B80AA}"/>
              </a:ext>
            </a:extLst>
          </p:cNvPr>
          <p:cNvSpPr/>
          <p:nvPr/>
        </p:nvSpPr>
        <p:spPr>
          <a:xfrm>
            <a:off x="7802779" y="4594117"/>
            <a:ext cx="1755227" cy="49216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7E906CE0-4330-4B1F-A9C1-ABEE2AB9CBCA}"/>
              </a:ext>
            </a:extLst>
          </p:cNvPr>
          <p:cNvSpPr/>
          <p:nvPr/>
        </p:nvSpPr>
        <p:spPr>
          <a:xfrm>
            <a:off x="1586871" y="4426721"/>
            <a:ext cx="651260" cy="1008061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068A2D93-9147-4855-ACB3-B27448315411}"/>
              </a:ext>
            </a:extLst>
          </p:cNvPr>
          <p:cNvSpPr/>
          <p:nvPr/>
        </p:nvSpPr>
        <p:spPr>
          <a:xfrm>
            <a:off x="9845517" y="4263544"/>
            <a:ext cx="651260" cy="1008061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Action Button: Go Home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CCB36E7-537F-423A-84E8-D4F3D072F5CD}"/>
              </a:ext>
            </a:extLst>
          </p:cNvPr>
          <p:cNvSpPr/>
          <p:nvPr/>
        </p:nvSpPr>
        <p:spPr>
          <a:xfrm>
            <a:off x="1746246" y="5181818"/>
            <a:ext cx="208678" cy="179575"/>
          </a:xfrm>
          <a:prstGeom prst="actionButtonHom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Action Button: Go Home 1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F22C397-09E1-4FFB-AAB0-D70811C2E11A}"/>
              </a:ext>
            </a:extLst>
          </p:cNvPr>
          <p:cNvSpPr/>
          <p:nvPr/>
        </p:nvSpPr>
        <p:spPr>
          <a:xfrm>
            <a:off x="9962469" y="5002243"/>
            <a:ext cx="208678" cy="179575"/>
          </a:xfrm>
          <a:prstGeom prst="actionButtonHom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132867-4948-47F7-BD11-CBF52067AA6A}"/>
              </a:ext>
            </a:extLst>
          </p:cNvPr>
          <p:cNvSpPr/>
          <p:nvPr/>
        </p:nvSpPr>
        <p:spPr>
          <a:xfrm>
            <a:off x="1428290" y="5412643"/>
            <a:ext cx="71846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EAC890-8995-4B58-B0D7-95D2526758C5}"/>
              </a:ext>
            </a:extLst>
          </p:cNvPr>
          <p:cNvSpPr/>
          <p:nvPr/>
        </p:nvSpPr>
        <p:spPr>
          <a:xfrm>
            <a:off x="9727288" y="5243366"/>
            <a:ext cx="71846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Phone</a:t>
            </a:r>
          </a:p>
        </p:txBody>
      </p:sp>
    </p:spTree>
    <p:extLst>
      <p:ext uri="{BB962C8B-B14F-4D97-AF65-F5344CB8AC3E}">
        <p14:creationId xmlns:p14="http://schemas.microsoft.com/office/powerpoint/2010/main" val="3684183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E236-2B15-4FBE-9E0D-AE399F4B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wireless data networks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9C99E78-9D0B-4E73-9A9D-E357E3445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146994"/>
              </p:ext>
            </p:extLst>
          </p:nvPr>
        </p:nvGraphicFramePr>
        <p:xfrm>
          <a:off x="1141413" y="2249488"/>
          <a:ext cx="990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83177094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477869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BENEFITS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DISADVANTAGES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731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 need of data cables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Transferring of data may be slow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324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 can be transfer between multiple devices at a 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It can only be used in personal area limited coverage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57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Not much costly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98759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58780-6ED6-4ADC-90E9-0FD5DC4F0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EAFA6-A05E-4224-8D2F-F9074890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9745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1CEC-FF36-4819-9FBC-15A8D12EE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wireless data networks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FFB3-7331-4913-B8E6-75B29430F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Wireless Wide Area Network (WWAN)</a:t>
            </a:r>
          </a:p>
          <a:p>
            <a:r>
              <a:rPr lang="en-US" dirty="0"/>
              <a:t> It is different from the rest of the networks because it uses mobile telecommunications and other cellular technologies like 2G, 3G, 4G and 5G in transferring of data.</a:t>
            </a:r>
          </a:p>
          <a:p>
            <a:r>
              <a:rPr lang="en-US" dirty="0"/>
              <a:t> It basically covers a large geographical area.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49448-159F-43CE-838A-1A40DB28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5416D-A5DD-4A5A-8F39-06CE6B8E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31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DD63FF-9D7C-408F-ADDC-34B9F77DDFEA}"/>
              </a:ext>
            </a:extLst>
          </p:cNvPr>
          <p:cNvSpPr/>
          <p:nvPr/>
        </p:nvSpPr>
        <p:spPr>
          <a:xfrm>
            <a:off x="3552497" y="4876800"/>
            <a:ext cx="1608082" cy="704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B58100-0785-4674-9E82-B77CED608205}"/>
              </a:ext>
            </a:extLst>
          </p:cNvPr>
          <p:cNvSpPr/>
          <p:nvPr/>
        </p:nvSpPr>
        <p:spPr>
          <a:xfrm>
            <a:off x="7571664" y="4876800"/>
            <a:ext cx="1608082" cy="704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944DFD-9983-46FF-8DFF-B528E54E4065}"/>
              </a:ext>
            </a:extLst>
          </p:cNvPr>
          <p:cNvSpPr/>
          <p:nvPr/>
        </p:nvSpPr>
        <p:spPr>
          <a:xfrm>
            <a:off x="5644055" y="4868808"/>
            <a:ext cx="1387368" cy="70419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5FE5626E-ED22-465E-8C25-1ADFAF359EC4}"/>
              </a:ext>
            </a:extLst>
          </p:cNvPr>
          <p:cNvSpPr/>
          <p:nvPr/>
        </p:nvSpPr>
        <p:spPr>
          <a:xfrm>
            <a:off x="4906224" y="4924097"/>
            <a:ext cx="935421" cy="367862"/>
          </a:xfrm>
          <a:prstGeom prst="lightningBolt">
            <a:avLst/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Lightning Bolt 9">
            <a:extLst>
              <a:ext uri="{FF2B5EF4-FFF2-40B4-BE49-F238E27FC236}">
                <a16:creationId xmlns:a16="http://schemas.microsoft.com/office/drawing/2014/main" id="{FA572CBC-E905-4A61-80FA-C87D08BA72C6}"/>
              </a:ext>
            </a:extLst>
          </p:cNvPr>
          <p:cNvSpPr/>
          <p:nvPr/>
        </p:nvSpPr>
        <p:spPr>
          <a:xfrm>
            <a:off x="6636243" y="4924097"/>
            <a:ext cx="935421" cy="367862"/>
          </a:xfrm>
          <a:prstGeom prst="lightningBolt">
            <a:avLst/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106415-36A6-45CB-8628-40B974584FCE}"/>
              </a:ext>
            </a:extLst>
          </p:cNvPr>
          <p:cNvSpPr/>
          <p:nvPr/>
        </p:nvSpPr>
        <p:spPr>
          <a:xfrm>
            <a:off x="3641438" y="4876800"/>
            <a:ext cx="143019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Lusaka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E751C1-0A92-45BA-9CAE-1AFB197005DA}"/>
              </a:ext>
            </a:extLst>
          </p:cNvPr>
          <p:cNvSpPr/>
          <p:nvPr/>
        </p:nvSpPr>
        <p:spPr>
          <a:xfrm>
            <a:off x="7699252" y="4867741"/>
            <a:ext cx="133402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Ndola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284C9B-9A3B-4BAB-B91F-3FD57CEAFF39}"/>
              </a:ext>
            </a:extLst>
          </p:cNvPr>
          <p:cNvSpPr/>
          <p:nvPr/>
        </p:nvSpPr>
        <p:spPr>
          <a:xfrm>
            <a:off x="5658624" y="4959294"/>
            <a:ext cx="133299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WWAN</a:t>
            </a:r>
          </a:p>
        </p:txBody>
      </p:sp>
    </p:spTree>
    <p:extLst>
      <p:ext uri="{BB962C8B-B14F-4D97-AF65-F5344CB8AC3E}">
        <p14:creationId xmlns:p14="http://schemas.microsoft.com/office/powerpoint/2010/main" val="413746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BFDC81-6ACC-41E6-A3F7-A484B2346C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Wireless Personal Area Network (wpan)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68AEE60-876E-45CA-97DF-D228D1F4E7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3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9669943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2651-F70E-463C-A25D-AA15A26F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IEEE definition of WPAN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1840-C827-4311-B18D-303370841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Wireless Personal Area Networks (WPANs) </a:t>
            </a:r>
            <a:r>
              <a:rPr lang="en-US" dirty="0"/>
              <a:t>are used to convey information over short distances among a private, intimate group of participant devices.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BD9F7-A5A4-401F-B94C-986E578B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CB7A4-09D2-44CF-A64C-25707B42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8407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E45C-9CCF-4C54-8394-8133A7EA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02CDE-C3D3-45CE-88C6-0C72FC10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BLUETOOTH </a:t>
            </a:r>
          </a:p>
          <a:p>
            <a:r>
              <a:rPr lang="en-US" dirty="0"/>
              <a:t> Is a cable-replacement technology that can be used to connect almost any device to any other device.</a:t>
            </a:r>
          </a:p>
          <a:p>
            <a:r>
              <a:rPr lang="en-US" dirty="0"/>
              <a:t> It as a radio interface enabling electronic devices to communicate wirelessly via short range (</a:t>
            </a:r>
            <a:r>
              <a:rPr lang="en-US" b="1" dirty="0"/>
              <a:t>10 meters</a:t>
            </a:r>
            <a:r>
              <a:rPr lang="en-US" dirty="0"/>
              <a:t>) </a:t>
            </a:r>
            <a:r>
              <a:rPr lang="en-US" b="1" dirty="0"/>
              <a:t>ad-hoc radio connections</a:t>
            </a:r>
            <a:r>
              <a:rPr lang="en-US" dirty="0"/>
              <a:t>.</a:t>
            </a:r>
          </a:p>
          <a:p>
            <a:r>
              <a:rPr lang="en-US" dirty="0"/>
              <a:t> Uses the radio range of </a:t>
            </a:r>
            <a:r>
              <a:rPr lang="en-US" b="1" dirty="0"/>
              <a:t>2.45 GHz.</a:t>
            </a:r>
          </a:p>
          <a:p>
            <a:r>
              <a:rPr lang="en-US" b="1" dirty="0"/>
              <a:t> </a:t>
            </a:r>
            <a:r>
              <a:rPr lang="en-US" dirty="0"/>
              <a:t>Theoretical maximum </a:t>
            </a:r>
            <a:r>
              <a:rPr lang="en-US" b="1" dirty="0"/>
              <a:t>bandwidth </a:t>
            </a:r>
            <a:r>
              <a:rPr lang="en-US" dirty="0"/>
              <a:t>is 1</a:t>
            </a:r>
            <a:r>
              <a:rPr lang="en-US" b="1" dirty="0"/>
              <a:t> Mb/s.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C3855-E166-411F-AF0F-51B19868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D8792-1C9B-4DE1-946C-C4A6AB6C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1726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0FD5-9CA2-4E1A-82CA-1B52AE133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7441C-A341-4856-A77E-D0121303E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Bluetooth Products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Personal Computers (PCs)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Printers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Cell Phones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Headsets &amp; Speakers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Cameras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53F92-6450-4132-9F14-67F768D3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5AD75-597B-424D-B56C-7E84C357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35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319F5E-7E40-4F54-835C-65B52F34B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865" y="995854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259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611B-9BEF-41CA-A22C-0D31F6D9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B25D5-73AE-4A34-9B1E-B40154086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Bluetooth Architecture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 Piconet</a:t>
            </a:r>
          </a:p>
          <a:p>
            <a:r>
              <a:rPr lang="en-US" dirty="0"/>
              <a:t>Several Bluetooth devices can form an </a:t>
            </a:r>
            <a:r>
              <a:rPr lang="en-US" b="1" dirty="0"/>
              <a:t>ad hoc network </a:t>
            </a:r>
            <a:r>
              <a:rPr lang="en-US" dirty="0"/>
              <a:t>called a “</a:t>
            </a:r>
            <a:r>
              <a:rPr lang="en-US" b="1" dirty="0"/>
              <a:t>piconet</a:t>
            </a:r>
            <a:r>
              <a:rPr lang="en-US" dirty="0"/>
              <a:t>”.</a:t>
            </a:r>
          </a:p>
          <a:p>
            <a:r>
              <a:rPr lang="en-US" dirty="0"/>
              <a:t> Each piconet has one </a:t>
            </a:r>
            <a:r>
              <a:rPr lang="en-US" b="1" dirty="0"/>
              <a:t>master</a:t>
            </a:r>
            <a:r>
              <a:rPr lang="en-US" dirty="0"/>
              <a:t> and up to 7 simultaneous </a:t>
            </a:r>
            <a:r>
              <a:rPr lang="en-US" b="1" dirty="0"/>
              <a:t>slaves.</a:t>
            </a:r>
          </a:p>
          <a:p>
            <a:r>
              <a:rPr lang="en-US" b="1" dirty="0"/>
              <a:t> Master – </a:t>
            </a:r>
            <a:r>
              <a:rPr lang="en-US" dirty="0"/>
              <a:t>device that initiates a data exchange.</a:t>
            </a:r>
          </a:p>
          <a:p>
            <a:r>
              <a:rPr lang="en-US" dirty="0"/>
              <a:t> </a:t>
            </a:r>
            <a:r>
              <a:rPr lang="en-US" b="1" dirty="0"/>
              <a:t>Slave</a:t>
            </a:r>
            <a:r>
              <a:rPr lang="en-US" dirty="0"/>
              <a:t> – device that responds to the master.</a:t>
            </a:r>
          </a:p>
          <a:p>
            <a:r>
              <a:rPr lang="en-US" dirty="0"/>
              <a:t> All devices in a piconet hop together, master gives slaves its </a:t>
            </a:r>
            <a:r>
              <a:rPr lang="en-US" b="1" dirty="0"/>
              <a:t>clock</a:t>
            </a:r>
            <a:r>
              <a:rPr lang="en-US" dirty="0"/>
              <a:t> and device </a:t>
            </a:r>
            <a:r>
              <a:rPr lang="en-US" b="1" dirty="0"/>
              <a:t>ID</a:t>
            </a:r>
            <a:r>
              <a:rPr lang="en-US" dirty="0"/>
              <a:t>.</a:t>
            </a:r>
          </a:p>
          <a:p>
            <a:r>
              <a:rPr lang="en-US" dirty="0"/>
              <a:t> Non-piconet devices are in standby.</a:t>
            </a:r>
          </a:p>
          <a:p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C5412-68C0-44D7-985A-50515C96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2CDD4-0302-42B6-97AD-4BEB9FC1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65162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E1A1-B32D-48EE-A71A-2027250B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F4F97-2158-452B-9CF9-416BC3470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375" y="2385000"/>
            <a:ext cx="4434991" cy="354171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 </a:t>
            </a:r>
            <a:r>
              <a:rPr lang="en-US" dirty="0"/>
              <a:t>There can also be devices in a </a:t>
            </a:r>
            <a:r>
              <a:rPr lang="en-US" b="1" dirty="0"/>
              <a:t>non-active</a:t>
            </a:r>
            <a:r>
              <a:rPr lang="en-US" dirty="0"/>
              <a:t> state: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 </a:t>
            </a:r>
            <a:r>
              <a:rPr lang="en-US" b="1" dirty="0"/>
              <a:t>Standby Mode </a:t>
            </a:r>
            <a:r>
              <a:rPr lang="en-US" dirty="0"/>
              <a:t>– A Bluetooth device is not connected to any piconet but is waiting for connection requests.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 </a:t>
            </a:r>
            <a:r>
              <a:rPr lang="en-US" b="1" dirty="0"/>
              <a:t>Parked Mode </a:t>
            </a:r>
            <a:r>
              <a:rPr lang="en-US" dirty="0"/>
              <a:t>– A device is connected to the piconet but not actively participating in data exchange. Parked devices do not have an active address but can be reactivated by the master.</a:t>
            </a:r>
            <a:endParaRPr lang="LID4096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4878EBC-9ED1-410C-A559-0A5114BA1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1000" y="2354506"/>
            <a:ext cx="3294276" cy="354171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 A </a:t>
            </a:r>
            <a:r>
              <a:rPr lang="en-US" b="1" dirty="0"/>
              <a:t>Picone</a:t>
            </a:r>
            <a:r>
              <a:rPr lang="en-US" dirty="0"/>
              <a:t>t is a small Bluetooth network consisting of one master device and up to seven </a:t>
            </a:r>
            <a:r>
              <a:rPr lang="en-US" b="1" dirty="0"/>
              <a:t>active</a:t>
            </a:r>
            <a:r>
              <a:rPr lang="en-US" dirty="0"/>
              <a:t> slave devices.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D381D-AB93-4476-93BC-839D34FBB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10496-72BB-4835-A491-07345CD2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37</a:t>
            </a:fld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ACC1C4-DF57-45E7-9397-6B2C44144F36}"/>
              </a:ext>
            </a:extLst>
          </p:cNvPr>
          <p:cNvSpPr/>
          <p:nvPr/>
        </p:nvSpPr>
        <p:spPr>
          <a:xfrm>
            <a:off x="3888828" y="2383359"/>
            <a:ext cx="3668110" cy="32136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8FCD66-5EBF-4009-9EA3-0DD265078556}"/>
              </a:ext>
            </a:extLst>
          </p:cNvPr>
          <p:cNvSpPr/>
          <p:nvPr/>
        </p:nvSpPr>
        <p:spPr>
          <a:xfrm>
            <a:off x="5412828" y="3662668"/>
            <a:ext cx="620110" cy="61322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531CC3A-267D-43AA-97F2-7DADB27307CC}"/>
              </a:ext>
            </a:extLst>
          </p:cNvPr>
          <p:cNvSpPr/>
          <p:nvPr/>
        </p:nvSpPr>
        <p:spPr>
          <a:xfrm>
            <a:off x="5854261" y="2764221"/>
            <a:ext cx="630621" cy="654269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2E9EAC-382B-43B9-9F98-0222DC543409}"/>
              </a:ext>
            </a:extLst>
          </p:cNvPr>
          <p:cNvSpPr/>
          <p:nvPr/>
        </p:nvSpPr>
        <p:spPr>
          <a:xfrm>
            <a:off x="4876799" y="2732638"/>
            <a:ext cx="704193" cy="65426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2D7A52-7B82-41A2-885D-BD7999085852}"/>
              </a:ext>
            </a:extLst>
          </p:cNvPr>
          <p:cNvSpPr/>
          <p:nvPr/>
        </p:nvSpPr>
        <p:spPr>
          <a:xfrm>
            <a:off x="4203341" y="3471094"/>
            <a:ext cx="704193" cy="654269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4BF9B3-4737-49F1-AE0E-DABA13346CB2}"/>
              </a:ext>
            </a:extLst>
          </p:cNvPr>
          <p:cNvSpPr/>
          <p:nvPr/>
        </p:nvSpPr>
        <p:spPr>
          <a:xfrm>
            <a:off x="4261065" y="4275896"/>
            <a:ext cx="704193" cy="654269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A459E5-45FE-408A-ABEB-765B202A5D7B}"/>
              </a:ext>
            </a:extLst>
          </p:cNvPr>
          <p:cNvSpPr/>
          <p:nvPr/>
        </p:nvSpPr>
        <p:spPr>
          <a:xfrm>
            <a:off x="5348005" y="4666775"/>
            <a:ext cx="767255" cy="65426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6ACBD7-BAAF-45EE-9275-1E65851B14DB}"/>
              </a:ext>
            </a:extLst>
          </p:cNvPr>
          <p:cNvSpPr/>
          <p:nvPr/>
        </p:nvSpPr>
        <p:spPr>
          <a:xfrm>
            <a:off x="6600493" y="4150395"/>
            <a:ext cx="704193" cy="654269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61EF9C-F261-40E8-94DC-30CE92B50EC4}"/>
              </a:ext>
            </a:extLst>
          </p:cNvPr>
          <p:cNvSpPr/>
          <p:nvPr/>
        </p:nvSpPr>
        <p:spPr>
          <a:xfrm>
            <a:off x="6568963" y="3274465"/>
            <a:ext cx="698939" cy="668843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77150F-685A-408B-836A-16C40DC5F9C1}"/>
              </a:ext>
            </a:extLst>
          </p:cNvPr>
          <p:cNvCxnSpPr>
            <a:stCxn id="15" idx="6"/>
            <a:endCxn id="7" idx="2"/>
          </p:cNvCxnSpPr>
          <p:nvPr/>
        </p:nvCxnSpPr>
        <p:spPr>
          <a:xfrm>
            <a:off x="4907534" y="3798229"/>
            <a:ext cx="505294" cy="171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00DB98-5CCD-41DC-B022-6683D75DEB83}"/>
              </a:ext>
            </a:extLst>
          </p:cNvPr>
          <p:cNvCxnSpPr/>
          <p:nvPr/>
        </p:nvCxnSpPr>
        <p:spPr>
          <a:xfrm flipV="1">
            <a:off x="6048304" y="3608886"/>
            <a:ext cx="520659" cy="381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BD6B9E-0C92-47A4-8AB6-00DD62E9FCAA}"/>
              </a:ext>
            </a:extLst>
          </p:cNvPr>
          <p:cNvCxnSpPr>
            <a:endCxn id="18" idx="2"/>
          </p:cNvCxnSpPr>
          <p:nvPr/>
        </p:nvCxnSpPr>
        <p:spPr>
          <a:xfrm>
            <a:off x="6056386" y="3990182"/>
            <a:ext cx="544107" cy="4873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2BE35B1-502D-4C14-BD28-8595207CD41C}"/>
              </a:ext>
            </a:extLst>
          </p:cNvPr>
          <p:cNvSpPr/>
          <p:nvPr/>
        </p:nvSpPr>
        <p:spPr>
          <a:xfrm>
            <a:off x="5423477" y="3826155"/>
            <a:ext cx="609461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Master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1118AE-0115-4A62-A38B-1773AA201315}"/>
              </a:ext>
            </a:extLst>
          </p:cNvPr>
          <p:cNvSpPr/>
          <p:nvPr/>
        </p:nvSpPr>
        <p:spPr>
          <a:xfrm>
            <a:off x="4294725" y="3659728"/>
            <a:ext cx="521425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67FA6E-9CC1-449B-A1A3-83487A8D35DF}"/>
              </a:ext>
            </a:extLst>
          </p:cNvPr>
          <p:cNvSpPr/>
          <p:nvPr/>
        </p:nvSpPr>
        <p:spPr>
          <a:xfrm>
            <a:off x="6652283" y="3503887"/>
            <a:ext cx="521425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AA6945-82F4-41CF-B52C-610E3C1E0E65}"/>
              </a:ext>
            </a:extLst>
          </p:cNvPr>
          <p:cNvSpPr/>
          <p:nvPr/>
        </p:nvSpPr>
        <p:spPr>
          <a:xfrm>
            <a:off x="6691877" y="4339029"/>
            <a:ext cx="521425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Slave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459D49-2D6A-4DD8-940B-049755EC80C0}"/>
              </a:ext>
            </a:extLst>
          </p:cNvPr>
          <p:cNvSpPr/>
          <p:nvPr/>
        </p:nvSpPr>
        <p:spPr>
          <a:xfrm>
            <a:off x="5790823" y="2943329"/>
            <a:ext cx="736099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Stand By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411F45-5310-442F-8AC3-F1276C5006F9}"/>
              </a:ext>
            </a:extLst>
          </p:cNvPr>
          <p:cNvSpPr/>
          <p:nvPr/>
        </p:nvSpPr>
        <p:spPr>
          <a:xfrm>
            <a:off x="4261065" y="4475280"/>
            <a:ext cx="736099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Stand By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81A4A0-B505-4456-A255-AEC05772BDAD}"/>
              </a:ext>
            </a:extLst>
          </p:cNvPr>
          <p:cNvSpPr/>
          <p:nvPr/>
        </p:nvSpPr>
        <p:spPr>
          <a:xfrm>
            <a:off x="5429717" y="4878046"/>
            <a:ext cx="617861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Parked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192B7A-EF9A-42FA-B844-36F2447EAA56}"/>
              </a:ext>
            </a:extLst>
          </p:cNvPr>
          <p:cNvSpPr/>
          <p:nvPr/>
        </p:nvSpPr>
        <p:spPr>
          <a:xfrm>
            <a:off x="4912785" y="2933507"/>
            <a:ext cx="617861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Parked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6A73969-BCC9-4613-8648-5C7D0475F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388" y="4038751"/>
            <a:ext cx="725506" cy="72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9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A2E3-57A0-42F5-8E17-CA8F8FD6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557C5-711A-4006-83DB-95DE3EAA8F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ii. </a:t>
            </a:r>
            <a:r>
              <a:rPr lang="en-US" b="1" dirty="0"/>
              <a:t>Scatternet</a:t>
            </a:r>
          </a:p>
          <a:p>
            <a:r>
              <a:rPr lang="en-US" dirty="0"/>
              <a:t> Is the linking of multiple piconets through the master or slave devices.</a:t>
            </a:r>
          </a:p>
          <a:p>
            <a:r>
              <a:rPr lang="en-US" dirty="0"/>
              <a:t> Devices can be slave in one piconet and master of another.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5EBBF-00D6-42D0-9626-7F0113219A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            Scatternet 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BE689-B657-4EFC-9C3F-36CB4313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4C20-EB9F-47A0-B53F-6162FBB3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38</a:t>
            </a:fld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628EE5-B49A-4027-B5D2-2376850A1E9D}"/>
              </a:ext>
            </a:extLst>
          </p:cNvPr>
          <p:cNvSpPr/>
          <p:nvPr/>
        </p:nvSpPr>
        <p:spPr>
          <a:xfrm>
            <a:off x="6019799" y="2703758"/>
            <a:ext cx="3828394" cy="32056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A5788D-F517-4E9E-B50F-A53A6EF1402B}"/>
              </a:ext>
            </a:extLst>
          </p:cNvPr>
          <p:cNvSpPr/>
          <p:nvPr/>
        </p:nvSpPr>
        <p:spPr>
          <a:xfrm>
            <a:off x="8238798" y="2821972"/>
            <a:ext cx="3828394" cy="32056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B6262-18DD-4B47-B251-F315A2ECD662}"/>
              </a:ext>
            </a:extLst>
          </p:cNvPr>
          <p:cNvSpPr/>
          <p:nvPr/>
        </p:nvSpPr>
        <p:spPr>
          <a:xfrm>
            <a:off x="8744607" y="3668053"/>
            <a:ext cx="678955" cy="6385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AA9379-8CF1-483F-B250-C0770A580A7F}"/>
              </a:ext>
            </a:extLst>
          </p:cNvPr>
          <p:cNvSpPr/>
          <p:nvPr/>
        </p:nvSpPr>
        <p:spPr>
          <a:xfrm>
            <a:off x="8744607" y="4559805"/>
            <a:ext cx="678955" cy="63853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0F6CDE7-D660-4944-BD36-2741361849EC}"/>
              </a:ext>
            </a:extLst>
          </p:cNvPr>
          <p:cNvSpPr/>
          <p:nvPr/>
        </p:nvSpPr>
        <p:spPr>
          <a:xfrm>
            <a:off x="9768846" y="3109734"/>
            <a:ext cx="678955" cy="63853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19DA0C-B8AD-477A-B6B3-E6332E0CAB1A}"/>
              </a:ext>
            </a:extLst>
          </p:cNvPr>
          <p:cNvSpPr/>
          <p:nvPr/>
        </p:nvSpPr>
        <p:spPr>
          <a:xfrm>
            <a:off x="7812747" y="3059782"/>
            <a:ext cx="678955" cy="63853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953AC7-AB62-44F6-83BB-4200E152FC6C}"/>
              </a:ext>
            </a:extLst>
          </p:cNvPr>
          <p:cNvSpPr/>
          <p:nvPr/>
        </p:nvSpPr>
        <p:spPr>
          <a:xfrm>
            <a:off x="6789821" y="3112333"/>
            <a:ext cx="678955" cy="6385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C7BA8B-A832-431D-B374-B7C0DEBDB51C}"/>
              </a:ext>
            </a:extLst>
          </p:cNvPr>
          <p:cNvSpPr/>
          <p:nvPr/>
        </p:nvSpPr>
        <p:spPr>
          <a:xfrm>
            <a:off x="10785859" y="3218765"/>
            <a:ext cx="678955" cy="6385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D6281E-DD0E-4DD3-A879-6A63DFD2F0F6}"/>
              </a:ext>
            </a:extLst>
          </p:cNvPr>
          <p:cNvSpPr/>
          <p:nvPr/>
        </p:nvSpPr>
        <p:spPr>
          <a:xfrm>
            <a:off x="6172200" y="3784302"/>
            <a:ext cx="678955" cy="63853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304629-3708-4314-8197-7F0D99D690FD}"/>
              </a:ext>
            </a:extLst>
          </p:cNvPr>
          <p:cNvSpPr/>
          <p:nvPr/>
        </p:nvSpPr>
        <p:spPr>
          <a:xfrm>
            <a:off x="6360625" y="4622142"/>
            <a:ext cx="678955" cy="6385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F9BCE5-C60C-461D-9369-485CF8A91AD8}"/>
              </a:ext>
            </a:extLst>
          </p:cNvPr>
          <p:cNvSpPr/>
          <p:nvPr/>
        </p:nvSpPr>
        <p:spPr>
          <a:xfrm>
            <a:off x="7380720" y="4103568"/>
            <a:ext cx="678955" cy="6385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F6C3C1D-BD4D-4696-B7D6-ED4FCC647D69}"/>
              </a:ext>
            </a:extLst>
          </p:cNvPr>
          <p:cNvSpPr/>
          <p:nvPr/>
        </p:nvSpPr>
        <p:spPr>
          <a:xfrm>
            <a:off x="7407442" y="4996257"/>
            <a:ext cx="678955" cy="6385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9E7D15-A804-4B48-8249-6BC51DB359BA}"/>
              </a:ext>
            </a:extLst>
          </p:cNvPr>
          <p:cNvSpPr/>
          <p:nvPr/>
        </p:nvSpPr>
        <p:spPr>
          <a:xfrm>
            <a:off x="11047410" y="4056936"/>
            <a:ext cx="678955" cy="6385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B236C02-800F-42CB-91F5-D694D6C7EF6D}"/>
              </a:ext>
            </a:extLst>
          </p:cNvPr>
          <p:cNvSpPr/>
          <p:nvPr/>
        </p:nvSpPr>
        <p:spPr>
          <a:xfrm>
            <a:off x="10878346" y="4904290"/>
            <a:ext cx="678955" cy="6385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A31E7BA-CD21-43F2-BE63-3EBE36BBEEC6}"/>
              </a:ext>
            </a:extLst>
          </p:cNvPr>
          <p:cNvSpPr/>
          <p:nvPr/>
        </p:nvSpPr>
        <p:spPr>
          <a:xfrm>
            <a:off x="10038280" y="4240539"/>
            <a:ext cx="678955" cy="6385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BAE4CB3-7150-45B1-9667-B5B81CD5CCEC}"/>
              </a:ext>
            </a:extLst>
          </p:cNvPr>
          <p:cNvSpPr/>
          <p:nvPr/>
        </p:nvSpPr>
        <p:spPr>
          <a:xfrm>
            <a:off x="9763661" y="5215645"/>
            <a:ext cx="678955" cy="63853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45DC21-A35C-4D74-B163-BE5548592DF1}"/>
              </a:ext>
            </a:extLst>
          </p:cNvPr>
          <p:cNvCxnSpPr>
            <a:stCxn id="17" idx="6"/>
            <a:endCxn id="10" idx="2"/>
          </p:cNvCxnSpPr>
          <p:nvPr/>
        </p:nvCxnSpPr>
        <p:spPr>
          <a:xfrm>
            <a:off x="8059675" y="4422834"/>
            <a:ext cx="684932" cy="456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CE78192-C6C3-4367-ABCC-21A30B27AB22}"/>
              </a:ext>
            </a:extLst>
          </p:cNvPr>
          <p:cNvCxnSpPr>
            <a:stCxn id="15" idx="6"/>
            <a:endCxn id="17" idx="2"/>
          </p:cNvCxnSpPr>
          <p:nvPr/>
        </p:nvCxnSpPr>
        <p:spPr>
          <a:xfrm>
            <a:off x="6851155" y="4103568"/>
            <a:ext cx="529565" cy="3192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BBE627C-913B-4222-B834-9EE8214957F9}"/>
              </a:ext>
            </a:extLst>
          </p:cNvPr>
          <p:cNvCxnSpPr>
            <a:stCxn id="17" idx="7"/>
            <a:endCxn id="12" idx="3"/>
          </p:cNvCxnSpPr>
          <p:nvPr/>
        </p:nvCxnSpPr>
        <p:spPr>
          <a:xfrm flipH="1" flipV="1">
            <a:off x="7912178" y="3604803"/>
            <a:ext cx="48066" cy="592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A1CB730-936B-4841-A1E7-2838F14182FC}"/>
              </a:ext>
            </a:extLst>
          </p:cNvPr>
          <p:cNvCxnSpPr>
            <a:stCxn id="21" idx="2"/>
            <a:endCxn id="10" idx="6"/>
          </p:cNvCxnSpPr>
          <p:nvPr/>
        </p:nvCxnSpPr>
        <p:spPr>
          <a:xfrm flipH="1">
            <a:off x="9423562" y="4559805"/>
            <a:ext cx="614718" cy="3192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9D48CCD-F719-4C2B-8F26-CC6C76C545B7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10103139" y="4879071"/>
            <a:ext cx="274619" cy="336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A6A14C1-8F1F-4215-9CC4-134BD85B67B0}"/>
              </a:ext>
            </a:extLst>
          </p:cNvPr>
          <p:cNvCxnSpPr>
            <a:stCxn id="21" idx="0"/>
            <a:endCxn id="11" idx="4"/>
          </p:cNvCxnSpPr>
          <p:nvPr/>
        </p:nvCxnSpPr>
        <p:spPr>
          <a:xfrm flipH="1" flipV="1">
            <a:off x="10108324" y="3748266"/>
            <a:ext cx="269434" cy="4922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584C231A-8B85-459D-985E-D9D75AE38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128" y="4137896"/>
            <a:ext cx="626679" cy="62667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6D4C679-2A0E-4601-9CAA-6AAD47BE0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168" y="4242538"/>
            <a:ext cx="626679" cy="62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30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C2EED87-66DB-4F4F-BD23-D8578494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72F48C-92B0-432E-BBD1-E12DD77A4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Physical links </a:t>
            </a:r>
          </a:p>
          <a:p>
            <a:r>
              <a:rPr lang="en-GB" dirty="0"/>
              <a:t> </a:t>
            </a:r>
            <a:r>
              <a:rPr lang="en-US" dirty="0"/>
              <a:t>Between master and slave(s), different types of links can be established.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</a:t>
            </a:r>
            <a:r>
              <a:rPr lang="en-US" b="1" dirty="0"/>
              <a:t>Synchronous Connection Oriented (SCO)</a:t>
            </a:r>
          </a:p>
          <a:p>
            <a:r>
              <a:rPr lang="en-US" dirty="0"/>
              <a:t> Support </a:t>
            </a:r>
            <a:r>
              <a:rPr lang="en-US" b="1" dirty="0"/>
              <a:t>symmetrical</a:t>
            </a:r>
            <a:r>
              <a:rPr lang="en-US" dirty="0"/>
              <a:t>, </a:t>
            </a:r>
            <a:r>
              <a:rPr lang="en-US" b="1" dirty="0"/>
              <a:t>circuit-switched</a:t>
            </a:r>
            <a:r>
              <a:rPr lang="en-US" dirty="0"/>
              <a:t>, </a:t>
            </a:r>
            <a:r>
              <a:rPr lang="en-US" b="1" dirty="0"/>
              <a:t>point-to-point connections</a:t>
            </a:r>
            <a:r>
              <a:rPr lang="en-US" dirty="0"/>
              <a:t>.</a:t>
            </a:r>
          </a:p>
          <a:p>
            <a:r>
              <a:rPr lang="en-US" dirty="0"/>
              <a:t> Typically used for voice traffic.</a:t>
            </a:r>
          </a:p>
          <a:p>
            <a:r>
              <a:rPr lang="en-US" dirty="0"/>
              <a:t> Data rate is 64 kbit/s.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E92E8-E8E3-447F-B2B8-671BA3CF8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3F4F6-99F2-4076-BD44-84A1B165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45813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F044-37B4-44D1-BD07-429D689BF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24356-F85B-48D0-893E-B9FAD283B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ii. </a:t>
            </a:r>
            <a:r>
              <a:rPr lang="en-US" b="1" dirty="0"/>
              <a:t>Asynchronous Connection-Less (ACL)</a:t>
            </a:r>
          </a:p>
          <a:p>
            <a:r>
              <a:rPr lang="en-US" dirty="0"/>
              <a:t> Support </a:t>
            </a:r>
            <a:r>
              <a:rPr lang="en-US" b="1" dirty="0"/>
              <a:t>symmetrical</a:t>
            </a:r>
            <a:r>
              <a:rPr lang="en-US" dirty="0"/>
              <a:t> and </a:t>
            </a:r>
            <a:r>
              <a:rPr lang="en-US" b="1" dirty="0"/>
              <a:t>asymmetrical</a:t>
            </a:r>
            <a:r>
              <a:rPr lang="en-US" dirty="0"/>
              <a:t>, </a:t>
            </a:r>
            <a:r>
              <a:rPr lang="en-US" b="1" dirty="0"/>
              <a:t>packet-switched</a:t>
            </a:r>
            <a:r>
              <a:rPr lang="en-US" dirty="0"/>
              <a:t>, </a:t>
            </a:r>
            <a:r>
              <a:rPr lang="en-US" b="1" dirty="0"/>
              <a:t>point-to-multipoint connections</a:t>
            </a:r>
            <a:r>
              <a:rPr lang="en-US" dirty="0"/>
              <a:t>. </a:t>
            </a:r>
          </a:p>
          <a:p>
            <a:r>
              <a:rPr lang="en-US" dirty="0"/>
              <a:t> Typically used for data transmission.</a:t>
            </a:r>
          </a:p>
          <a:p>
            <a:r>
              <a:rPr lang="en-US" dirty="0"/>
              <a:t> Data rate is 433.9 kbit/s in symmetric or 723.2/57.6 kbit/s in asymmetric.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4E55D-7614-41DE-AAC1-96DF85953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E0D4D-2D34-4397-9508-127E3511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151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D8E1-8EB8-4F83-B32A-F7B6D2C7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985" y="114021"/>
            <a:ext cx="9905998" cy="1478570"/>
          </a:xfrm>
        </p:spPr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54F40D3-E34E-4459-A22D-B20F0E5D53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923968"/>
              </p:ext>
            </p:extLst>
          </p:nvPr>
        </p:nvGraphicFramePr>
        <p:xfrm>
          <a:off x="1214985" y="1671954"/>
          <a:ext cx="99060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2615">
                  <a:extLst>
                    <a:ext uri="{9D8B030D-6E8A-4147-A177-3AD203B41FA5}">
                      <a16:colId xmlns:a16="http://schemas.microsoft.com/office/drawing/2014/main" val="1102004349"/>
                    </a:ext>
                  </a:extLst>
                </a:gridCol>
                <a:gridCol w="7463385">
                  <a:extLst>
                    <a:ext uri="{9D8B030D-6E8A-4147-A177-3AD203B41FA5}">
                      <a16:colId xmlns:a16="http://schemas.microsoft.com/office/drawing/2014/main" val="1937552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BLUETOOTH SECURITY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922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Authentication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Ensures that devices communicating over Bluetooth are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legitimate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trusted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Uses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pairing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mutual authentication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verify the identity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of devices before establishing a connection.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Authentication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is performed using a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shared secret key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generated during the pairing process.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78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Confidentiality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Protects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Bluetooth communication from eavesdropping by encrypting transmitted data.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Uses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symmetric encryption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(such as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E0 stream cipher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 to prevent unauthorized access.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56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Authorization 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After authentication, the master device determines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which services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the slave device can access.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 example, a Bluetooth headset may be allowed to access audio functions but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transfer files from your phone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67475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F437B-9C86-424A-96CC-957EB31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9E5B0-611A-47ED-B90B-5C398133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49326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896C-BB25-4D64-B847-5C12718F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92DD-FA13-40F7-8680-5D59D6B42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ZigBee</a:t>
            </a:r>
          </a:p>
          <a:p>
            <a:r>
              <a:rPr lang="en-US" dirty="0"/>
              <a:t> Is a technological standard designed for control and sensor networks.</a:t>
            </a:r>
          </a:p>
          <a:p>
            <a:r>
              <a:rPr lang="en-US" dirty="0"/>
              <a:t> Based on the </a:t>
            </a:r>
            <a:r>
              <a:rPr lang="en-US" b="1" dirty="0"/>
              <a:t>IEEE 802.15.4 </a:t>
            </a:r>
            <a:r>
              <a:rPr lang="en-US" dirty="0"/>
              <a:t>Standard.</a:t>
            </a:r>
          </a:p>
          <a:p>
            <a:r>
              <a:rPr lang="en-US" dirty="0"/>
              <a:t> Created by the </a:t>
            </a:r>
            <a:r>
              <a:rPr lang="en-US" b="1" dirty="0"/>
              <a:t>ZigBee Alliance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243CA-BBFC-46D0-8A2B-83ED65B42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56CF5-576A-4288-B3F0-4056442E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71249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C781-D753-4036-ACFE-DE714E4D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97792-29BD-40D6-9618-6B78207B5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Low cost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Low power consumption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Low data rate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Scalability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Reliability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Flexibility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Relatively short transmission rate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E51D7-8240-41CA-8A69-FB14EDECB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6F98F-2F32-4385-9B72-FAEF0310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9518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F6B2-0E7C-4B37-84F3-19214F52D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8DA5729-5C2D-4273-B300-7C3C09895E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1231543"/>
              </p:ext>
            </p:extLst>
          </p:nvPr>
        </p:nvGraphicFramePr>
        <p:xfrm>
          <a:off x="1141413" y="2249488"/>
          <a:ext cx="9906000" cy="294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732">
                  <a:extLst>
                    <a:ext uri="{9D8B030D-6E8A-4147-A177-3AD203B41FA5}">
                      <a16:colId xmlns:a16="http://schemas.microsoft.com/office/drawing/2014/main" val="2363561352"/>
                    </a:ext>
                  </a:extLst>
                </a:gridCol>
                <a:gridCol w="7852268">
                  <a:extLst>
                    <a:ext uri="{9D8B030D-6E8A-4147-A177-3AD203B41FA5}">
                      <a16:colId xmlns:a16="http://schemas.microsoft.com/office/drawing/2014/main" val="862651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ZIGBEE SECURITY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354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Authentication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Ensures only trusted devices can join the network.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757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Encryption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Uses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AES-128 encryption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to protect data from eavesdropping.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CTR (Counter Mode)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– Used for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encryption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turning plaintext into ciphertext using a counter value.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54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Integrity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Prevents message tampering using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Message Integrity Codes (MIC).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CBC-MAC (Cipher Block Chaining – Message Authentication Code)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– Used for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data integrity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ensuring messages are not altered.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931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Access Control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Devices must have an authorized key to communicate.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968323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613CBB-0A12-44B6-AB53-07B26313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2CAC1-57CF-478F-B822-17CBBB46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63631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584D1-7200-44C1-A9E8-347C6C80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AFA15-77F6-45C2-BFBE-DFB1EDF98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ZigBee Applications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 </a:t>
            </a:r>
            <a:r>
              <a:rPr lang="en-GB" b="1" dirty="0"/>
              <a:t>Home Automation </a:t>
            </a:r>
            <a:r>
              <a:rPr lang="en-GB" dirty="0"/>
              <a:t>– Smart lighting and remote-controlled appliances.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 </a:t>
            </a:r>
            <a:r>
              <a:rPr lang="en-GB" b="1" dirty="0"/>
              <a:t>Industrial Automation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 </a:t>
            </a:r>
            <a:r>
              <a:rPr lang="en-GB" b="1" dirty="0"/>
              <a:t>Healthcare &amp; Medical Devices </a:t>
            </a:r>
            <a:r>
              <a:rPr lang="en-GB" dirty="0"/>
              <a:t>– </a:t>
            </a:r>
            <a:r>
              <a:rPr lang="en-US" dirty="0"/>
              <a:t>Patient monitoring systems and wearable health devices.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A8C96-8D4E-47A0-B897-73EA7FF99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91272-972B-4567-987C-30490C927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32630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AD42-30F1-42C1-B055-DFA1127E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25CF9-871E-4394-8343-1D68BD980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ZigBee Topologies</a:t>
            </a:r>
          </a:p>
          <a:p>
            <a:r>
              <a:rPr lang="en-US" dirty="0"/>
              <a:t> A </a:t>
            </a:r>
            <a:r>
              <a:rPr lang="en-US" b="1" dirty="0"/>
              <a:t>topology</a:t>
            </a:r>
            <a:r>
              <a:rPr lang="en-US" dirty="0"/>
              <a:t> is the arrangement or structure of a network, defining how devices are interconnected and communicate with each other.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Star </a:t>
            </a:r>
            <a:r>
              <a:rPr lang="en-US" dirty="0"/>
              <a:t>– is a network configuration where all devices are connected to a central hub or switch, which manages data transmission between them.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Mesh</a:t>
            </a:r>
            <a:r>
              <a:rPr lang="en-US" dirty="0"/>
              <a:t> – is a network configuration where each device is interconnected with multiple other devices, ensuring redundancy and reliable communication.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Cluster Tree </a:t>
            </a:r>
            <a:r>
              <a:rPr lang="en-US" dirty="0"/>
              <a:t>– is a network structure where devices are organized into hierarchical clusters, with a central coordinator managing communication and routing data between clusters.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25F95-8E85-4913-929B-7CBD109C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9360-10AA-4AD7-AA2A-260D07EC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742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E4F62-E02A-4DEE-A773-842802FA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E27C-90D2-4783-AC43-98324AFDA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ZigBee Topologies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60329-8ED2-4D2B-BA1F-AE3DB9FE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E5961-0D8E-4BA1-B6D6-62E4AF86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47</a:t>
            </a:fld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726DB4-3A36-4750-A18C-34ED4E4206EA}"/>
              </a:ext>
            </a:extLst>
          </p:cNvPr>
          <p:cNvSpPr/>
          <p:nvPr/>
        </p:nvSpPr>
        <p:spPr>
          <a:xfrm>
            <a:off x="1702676" y="3132083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7CF7EE-5BD8-492F-BA2F-BFFEFC40FC73}"/>
              </a:ext>
            </a:extLst>
          </p:cNvPr>
          <p:cNvSpPr/>
          <p:nvPr/>
        </p:nvSpPr>
        <p:spPr>
          <a:xfrm>
            <a:off x="2730610" y="3132082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ADB5512-5D63-4230-9F79-98B083678404}"/>
              </a:ext>
            </a:extLst>
          </p:cNvPr>
          <p:cNvSpPr/>
          <p:nvPr/>
        </p:nvSpPr>
        <p:spPr>
          <a:xfrm>
            <a:off x="2263940" y="4096517"/>
            <a:ext cx="409903" cy="36512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9214CA-E45F-4E68-A1B1-8CA9B92266C3}"/>
              </a:ext>
            </a:extLst>
          </p:cNvPr>
          <p:cNvSpPr/>
          <p:nvPr/>
        </p:nvSpPr>
        <p:spPr>
          <a:xfrm>
            <a:off x="1702675" y="4987159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E16662-E450-4F85-A6D1-94FBB36CF11A}"/>
              </a:ext>
            </a:extLst>
          </p:cNvPr>
          <p:cNvSpPr/>
          <p:nvPr/>
        </p:nvSpPr>
        <p:spPr>
          <a:xfrm>
            <a:off x="2730610" y="4987159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A50C04-3A1B-4224-8724-B4E5215E4DE4}"/>
              </a:ext>
            </a:extLst>
          </p:cNvPr>
          <p:cNvSpPr/>
          <p:nvPr/>
        </p:nvSpPr>
        <p:spPr>
          <a:xfrm>
            <a:off x="4319808" y="3132081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1EF061-A84E-486C-98B8-5D028DDFE2D7}"/>
              </a:ext>
            </a:extLst>
          </p:cNvPr>
          <p:cNvSpPr/>
          <p:nvPr/>
        </p:nvSpPr>
        <p:spPr>
          <a:xfrm>
            <a:off x="5050221" y="3730270"/>
            <a:ext cx="409903" cy="36512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2FD374E-3495-41E9-B742-CBFBA2C1EDFF}"/>
              </a:ext>
            </a:extLst>
          </p:cNvPr>
          <p:cNvSpPr/>
          <p:nvPr/>
        </p:nvSpPr>
        <p:spPr>
          <a:xfrm>
            <a:off x="5806965" y="4437993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F73165-1269-4C6E-8909-C13B3EBF4A19}"/>
              </a:ext>
            </a:extLst>
          </p:cNvPr>
          <p:cNvSpPr/>
          <p:nvPr/>
        </p:nvSpPr>
        <p:spPr>
          <a:xfrm>
            <a:off x="5397062" y="5393615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5902A0-3449-49B9-8ED3-8DED46D226F2}"/>
              </a:ext>
            </a:extLst>
          </p:cNvPr>
          <p:cNvSpPr/>
          <p:nvPr/>
        </p:nvSpPr>
        <p:spPr>
          <a:xfrm>
            <a:off x="5050221" y="2198510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6DA9975-F25F-4D6A-88A9-FB9B1946D3E2}"/>
              </a:ext>
            </a:extLst>
          </p:cNvPr>
          <p:cNvSpPr/>
          <p:nvPr/>
        </p:nvSpPr>
        <p:spPr>
          <a:xfrm>
            <a:off x="6385037" y="5412937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FCDD44-E638-457A-892C-6190E445DB05}"/>
              </a:ext>
            </a:extLst>
          </p:cNvPr>
          <p:cNvSpPr/>
          <p:nvPr/>
        </p:nvSpPr>
        <p:spPr>
          <a:xfrm>
            <a:off x="3715407" y="2201138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71A08BB-08B5-42B7-B379-B9AC7C3A6FAF}"/>
              </a:ext>
            </a:extLst>
          </p:cNvPr>
          <p:cNvSpPr/>
          <p:nvPr/>
        </p:nvSpPr>
        <p:spPr>
          <a:xfrm>
            <a:off x="10071369" y="2563635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8E9128-ECA8-4628-9853-1338CAC37586}"/>
              </a:ext>
            </a:extLst>
          </p:cNvPr>
          <p:cNvSpPr/>
          <p:nvPr/>
        </p:nvSpPr>
        <p:spPr>
          <a:xfrm>
            <a:off x="8101369" y="2563634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2CA29B-873F-4E5D-AFC6-5C76324A7432}"/>
              </a:ext>
            </a:extLst>
          </p:cNvPr>
          <p:cNvSpPr/>
          <p:nvPr/>
        </p:nvSpPr>
        <p:spPr>
          <a:xfrm>
            <a:off x="7273706" y="3327781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AEAE574-7CE5-4070-AD0E-1535B7E219E9}"/>
              </a:ext>
            </a:extLst>
          </p:cNvPr>
          <p:cNvSpPr/>
          <p:nvPr/>
        </p:nvSpPr>
        <p:spPr>
          <a:xfrm>
            <a:off x="7325218" y="4485290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2CF99E-BF30-4663-93A8-3B1D88CCF01B}"/>
              </a:ext>
            </a:extLst>
          </p:cNvPr>
          <p:cNvSpPr/>
          <p:nvPr/>
        </p:nvSpPr>
        <p:spPr>
          <a:xfrm>
            <a:off x="8121350" y="5352284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85B6911-A97A-49FB-842C-19D744DE1FC9}"/>
              </a:ext>
            </a:extLst>
          </p:cNvPr>
          <p:cNvSpPr/>
          <p:nvPr/>
        </p:nvSpPr>
        <p:spPr>
          <a:xfrm>
            <a:off x="10071369" y="5393614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F744D5-C47F-47B6-9315-33DEA37AD040}"/>
              </a:ext>
            </a:extLst>
          </p:cNvPr>
          <p:cNvSpPr/>
          <p:nvPr/>
        </p:nvSpPr>
        <p:spPr>
          <a:xfrm>
            <a:off x="10862005" y="3314643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D2AB9C7-C049-4CB1-968C-3B1066AB0081}"/>
              </a:ext>
            </a:extLst>
          </p:cNvPr>
          <p:cNvSpPr/>
          <p:nvPr/>
        </p:nvSpPr>
        <p:spPr>
          <a:xfrm>
            <a:off x="10902402" y="4403447"/>
            <a:ext cx="409903" cy="365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DE0628-2510-4C44-ADCC-6A00429BAC60}"/>
              </a:ext>
            </a:extLst>
          </p:cNvPr>
          <p:cNvCxnSpPr>
            <a:stCxn id="6" idx="5"/>
            <a:endCxn id="8" idx="0"/>
          </p:cNvCxnSpPr>
          <p:nvPr/>
        </p:nvCxnSpPr>
        <p:spPr>
          <a:xfrm>
            <a:off x="2052550" y="3443737"/>
            <a:ext cx="416342" cy="652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9874C2C-082A-433B-96D8-BCBD06C1030B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2468892" y="3497207"/>
            <a:ext cx="466670" cy="599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81C2C5-3325-4E84-8CD3-95810E7E4003}"/>
              </a:ext>
            </a:extLst>
          </p:cNvPr>
          <p:cNvCxnSpPr>
            <a:stCxn id="8" idx="4"/>
            <a:endCxn id="9" idx="7"/>
          </p:cNvCxnSpPr>
          <p:nvPr/>
        </p:nvCxnSpPr>
        <p:spPr>
          <a:xfrm flipH="1">
            <a:off x="2052549" y="4461642"/>
            <a:ext cx="416343" cy="5789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FF64F9D-3F76-4595-AAA5-29331EA1E07E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2468892" y="4461642"/>
            <a:ext cx="466670" cy="5255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E58B3B5-6C68-4A55-9A2B-9E9F8B2A164E}"/>
              </a:ext>
            </a:extLst>
          </p:cNvPr>
          <p:cNvCxnSpPr>
            <a:stCxn id="17" idx="5"/>
            <a:endCxn id="17" idx="5"/>
          </p:cNvCxnSpPr>
          <p:nvPr/>
        </p:nvCxnSpPr>
        <p:spPr>
          <a:xfrm>
            <a:off x="4065281" y="251279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BDC1586-EA47-4A27-B3D7-0954FD921A60}"/>
              </a:ext>
            </a:extLst>
          </p:cNvPr>
          <p:cNvCxnSpPr>
            <a:stCxn id="15" idx="3"/>
            <a:endCxn id="11" idx="0"/>
          </p:cNvCxnSpPr>
          <p:nvPr/>
        </p:nvCxnSpPr>
        <p:spPr>
          <a:xfrm flipH="1">
            <a:off x="4524760" y="2510164"/>
            <a:ext cx="585490" cy="6219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9EA035D-9220-4610-BE2D-1A57DD7BACB8}"/>
              </a:ext>
            </a:extLst>
          </p:cNvPr>
          <p:cNvCxnSpPr>
            <a:stCxn id="17" idx="4"/>
            <a:endCxn id="11" idx="0"/>
          </p:cNvCxnSpPr>
          <p:nvPr/>
        </p:nvCxnSpPr>
        <p:spPr>
          <a:xfrm>
            <a:off x="3920359" y="2566263"/>
            <a:ext cx="604401" cy="565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B1AD603-6157-4E94-8E49-915CE5C0B260}"/>
              </a:ext>
            </a:extLst>
          </p:cNvPr>
          <p:cNvCxnSpPr>
            <a:stCxn id="11" idx="4"/>
            <a:endCxn id="12" idx="1"/>
          </p:cNvCxnSpPr>
          <p:nvPr/>
        </p:nvCxnSpPr>
        <p:spPr>
          <a:xfrm>
            <a:off x="4524760" y="3497206"/>
            <a:ext cx="585490" cy="286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25934E-8C42-4FA4-A198-05C96744FFA3}"/>
              </a:ext>
            </a:extLst>
          </p:cNvPr>
          <p:cNvCxnSpPr>
            <a:stCxn id="12" idx="5"/>
            <a:endCxn id="13" idx="1"/>
          </p:cNvCxnSpPr>
          <p:nvPr/>
        </p:nvCxnSpPr>
        <p:spPr>
          <a:xfrm>
            <a:off x="5400095" y="4041924"/>
            <a:ext cx="466899" cy="449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D3D81C6-E8E6-47A2-8B16-ADC1732A07E6}"/>
              </a:ext>
            </a:extLst>
          </p:cNvPr>
          <p:cNvCxnSpPr>
            <a:stCxn id="13" idx="4"/>
            <a:endCxn id="14" idx="0"/>
          </p:cNvCxnSpPr>
          <p:nvPr/>
        </p:nvCxnSpPr>
        <p:spPr>
          <a:xfrm flipH="1">
            <a:off x="5602014" y="4803118"/>
            <a:ext cx="409903" cy="5904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C735AB-7FE3-4016-9917-5FCBDD7527B4}"/>
              </a:ext>
            </a:extLst>
          </p:cNvPr>
          <p:cNvCxnSpPr>
            <a:stCxn id="13" idx="4"/>
            <a:endCxn id="16" idx="0"/>
          </p:cNvCxnSpPr>
          <p:nvPr/>
        </p:nvCxnSpPr>
        <p:spPr>
          <a:xfrm>
            <a:off x="6011917" y="4803118"/>
            <a:ext cx="578072" cy="609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263AB39-B3F6-41B3-9F17-EECFCA7D83DD}"/>
              </a:ext>
            </a:extLst>
          </p:cNvPr>
          <p:cNvCxnSpPr>
            <a:stCxn id="19" idx="4"/>
            <a:endCxn id="20" idx="6"/>
          </p:cNvCxnSpPr>
          <p:nvPr/>
        </p:nvCxnSpPr>
        <p:spPr>
          <a:xfrm flipH="1">
            <a:off x="7683609" y="2928759"/>
            <a:ext cx="622712" cy="5815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4A27E5F-BB49-44F8-A371-DFEBF2A47051}"/>
              </a:ext>
            </a:extLst>
          </p:cNvPr>
          <p:cNvCxnSpPr>
            <a:stCxn id="20" idx="6"/>
            <a:endCxn id="21" idx="6"/>
          </p:cNvCxnSpPr>
          <p:nvPr/>
        </p:nvCxnSpPr>
        <p:spPr>
          <a:xfrm>
            <a:off x="7683609" y="3510344"/>
            <a:ext cx="51512" cy="11575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587391B-7AC8-4BF0-BBD2-C5954B4FA476}"/>
              </a:ext>
            </a:extLst>
          </p:cNvPr>
          <p:cNvCxnSpPr>
            <a:stCxn id="21" idx="6"/>
            <a:endCxn id="22" idx="7"/>
          </p:cNvCxnSpPr>
          <p:nvPr/>
        </p:nvCxnSpPr>
        <p:spPr>
          <a:xfrm>
            <a:off x="7735121" y="4667853"/>
            <a:ext cx="736103" cy="7379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DF64DF8-C0EE-4862-AABB-411F2A9C8589}"/>
              </a:ext>
            </a:extLst>
          </p:cNvPr>
          <p:cNvCxnSpPr>
            <a:stCxn id="22" idx="7"/>
            <a:endCxn id="23" idx="0"/>
          </p:cNvCxnSpPr>
          <p:nvPr/>
        </p:nvCxnSpPr>
        <p:spPr>
          <a:xfrm flipV="1">
            <a:off x="8471224" y="5393614"/>
            <a:ext cx="1805097" cy="12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F936CFA-7688-4AB1-B34E-DC8DE4A48AC7}"/>
              </a:ext>
            </a:extLst>
          </p:cNvPr>
          <p:cNvCxnSpPr>
            <a:stCxn id="23" idx="0"/>
            <a:endCxn id="25" idx="2"/>
          </p:cNvCxnSpPr>
          <p:nvPr/>
        </p:nvCxnSpPr>
        <p:spPr>
          <a:xfrm flipV="1">
            <a:off x="10276321" y="4586010"/>
            <a:ext cx="626081" cy="807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62FF7D5-BB15-42BE-A893-7AF1635C3FF7}"/>
              </a:ext>
            </a:extLst>
          </p:cNvPr>
          <p:cNvCxnSpPr>
            <a:stCxn id="25" idx="2"/>
            <a:endCxn id="24" idx="2"/>
          </p:cNvCxnSpPr>
          <p:nvPr/>
        </p:nvCxnSpPr>
        <p:spPr>
          <a:xfrm flipH="1" flipV="1">
            <a:off x="10862005" y="3497206"/>
            <a:ext cx="40397" cy="1088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52096C1-0CC3-4246-9602-E4D903ABCA48}"/>
              </a:ext>
            </a:extLst>
          </p:cNvPr>
          <p:cNvCxnSpPr>
            <a:stCxn id="24" idx="2"/>
            <a:endCxn id="18" idx="2"/>
          </p:cNvCxnSpPr>
          <p:nvPr/>
        </p:nvCxnSpPr>
        <p:spPr>
          <a:xfrm flipH="1" flipV="1">
            <a:off x="10071369" y="2746198"/>
            <a:ext cx="790636" cy="751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F78A7E6-A8F2-4356-BDD6-815FE5030A2B}"/>
              </a:ext>
            </a:extLst>
          </p:cNvPr>
          <p:cNvCxnSpPr>
            <a:stCxn id="19" idx="4"/>
            <a:endCxn id="18" idx="2"/>
          </p:cNvCxnSpPr>
          <p:nvPr/>
        </p:nvCxnSpPr>
        <p:spPr>
          <a:xfrm flipV="1">
            <a:off x="8306321" y="2746198"/>
            <a:ext cx="1765048" cy="1825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41569B6-61E7-42DF-9F80-E6843F49E829}"/>
              </a:ext>
            </a:extLst>
          </p:cNvPr>
          <p:cNvCxnSpPr>
            <a:stCxn id="19" idx="4"/>
            <a:endCxn id="21" idx="6"/>
          </p:cNvCxnSpPr>
          <p:nvPr/>
        </p:nvCxnSpPr>
        <p:spPr>
          <a:xfrm flipH="1">
            <a:off x="7735121" y="2928759"/>
            <a:ext cx="571200" cy="17390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A1F2EA3-3142-4ADF-96EC-DA5CB78E25FC}"/>
              </a:ext>
            </a:extLst>
          </p:cNvPr>
          <p:cNvCxnSpPr>
            <a:stCxn id="19" idx="4"/>
            <a:endCxn id="24" idx="2"/>
          </p:cNvCxnSpPr>
          <p:nvPr/>
        </p:nvCxnSpPr>
        <p:spPr>
          <a:xfrm>
            <a:off x="8306321" y="2928759"/>
            <a:ext cx="2555684" cy="5684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780049F-9207-4D9B-AEA0-9CD7BB1A91CD}"/>
              </a:ext>
            </a:extLst>
          </p:cNvPr>
          <p:cNvCxnSpPr>
            <a:stCxn id="19" idx="4"/>
            <a:endCxn id="22" idx="7"/>
          </p:cNvCxnSpPr>
          <p:nvPr/>
        </p:nvCxnSpPr>
        <p:spPr>
          <a:xfrm>
            <a:off x="8306321" y="2928759"/>
            <a:ext cx="164903" cy="24769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6F548BB-CDEE-40BD-B53D-11C2DD51549F}"/>
              </a:ext>
            </a:extLst>
          </p:cNvPr>
          <p:cNvCxnSpPr>
            <a:stCxn id="19" idx="4"/>
            <a:endCxn id="25" idx="2"/>
          </p:cNvCxnSpPr>
          <p:nvPr/>
        </p:nvCxnSpPr>
        <p:spPr>
          <a:xfrm>
            <a:off x="8306321" y="2928759"/>
            <a:ext cx="2596081" cy="1657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EDCDE96-162E-4648-B91C-B28C33488C71}"/>
              </a:ext>
            </a:extLst>
          </p:cNvPr>
          <p:cNvCxnSpPr>
            <a:stCxn id="19" idx="4"/>
            <a:endCxn id="23" idx="0"/>
          </p:cNvCxnSpPr>
          <p:nvPr/>
        </p:nvCxnSpPr>
        <p:spPr>
          <a:xfrm>
            <a:off x="8306321" y="2928759"/>
            <a:ext cx="1970000" cy="24648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8B3B65F-84C0-49B4-8D35-6895D152771E}"/>
              </a:ext>
            </a:extLst>
          </p:cNvPr>
          <p:cNvCxnSpPr>
            <a:stCxn id="20" idx="6"/>
            <a:endCxn id="18" idx="2"/>
          </p:cNvCxnSpPr>
          <p:nvPr/>
        </p:nvCxnSpPr>
        <p:spPr>
          <a:xfrm flipV="1">
            <a:off x="7683609" y="2746198"/>
            <a:ext cx="2387760" cy="7641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645666E-B2D8-43ED-8459-EE5BB3278AC9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7683609" y="3497206"/>
            <a:ext cx="3178396" cy="131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51E6076-889B-4D32-B106-84EF000CB6CE}"/>
              </a:ext>
            </a:extLst>
          </p:cNvPr>
          <p:cNvCxnSpPr>
            <a:stCxn id="20" idx="6"/>
            <a:endCxn id="25" idx="2"/>
          </p:cNvCxnSpPr>
          <p:nvPr/>
        </p:nvCxnSpPr>
        <p:spPr>
          <a:xfrm>
            <a:off x="7683609" y="3510344"/>
            <a:ext cx="3218793" cy="10756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968765E-B4D9-43EC-9BAF-1FA9CCCD411C}"/>
              </a:ext>
            </a:extLst>
          </p:cNvPr>
          <p:cNvCxnSpPr>
            <a:stCxn id="20" idx="6"/>
            <a:endCxn id="23" idx="0"/>
          </p:cNvCxnSpPr>
          <p:nvPr/>
        </p:nvCxnSpPr>
        <p:spPr>
          <a:xfrm>
            <a:off x="7683609" y="3510344"/>
            <a:ext cx="2592712" cy="1883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7478DA-90FB-4D88-8074-2D247049D892}"/>
              </a:ext>
            </a:extLst>
          </p:cNvPr>
          <p:cNvCxnSpPr>
            <a:stCxn id="20" idx="6"/>
            <a:endCxn id="22" idx="7"/>
          </p:cNvCxnSpPr>
          <p:nvPr/>
        </p:nvCxnSpPr>
        <p:spPr>
          <a:xfrm>
            <a:off x="7683609" y="3510344"/>
            <a:ext cx="787615" cy="18954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93103F0-B21A-4B0E-BC69-18375BAB5E0D}"/>
              </a:ext>
            </a:extLst>
          </p:cNvPr>
          <p:cNvCxnSpPr>
            <a:stCxn id="21" idx="6"/>
            <a:endCxn id="18" idx="2"/>
          </p:cNvCxnSpPr>
          <p:nvPr/>
        </p:nvCxnSpPr>
        <p:spPr>
          <a:xfrm flipV="1">
            <a:off x="7735121" y="2746198"/>
            <a:ext cx="2336248" cy="19216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EC56587-87BF-4592-A225-91142774315A}"/>
              </a:ext>
            </a:extLst>
          </p:cNvPr>
          <p:cNvCxnSpPr>
            <a:stCxn id="21" idx="6"/>
            <a:endCxn id="24" idx="2"/>
          </p:cNvCxnSpPr>
          <p:nvPr/>
        </p:nvCxnSpPr>
        <p:spPr>
          <a:xfrm flipV="1">
            <a:off x="7735121" y="3497206"/>
            <a:ext cx="3126884" cy="1170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A25AD63-3DFB-4AD2-86AC-B570EEDDD1F4}"/>
              </a:ext>
            </a:extLst>
          </p:cNvPr>
          <p:cNvCxnSpPr>
            <a:stCxn id="21" idx="6"/>
            <a:endCxn id="25" idx="2"/>
          </p:cNvCxnSpPr>
          <p:nvPr/>
        </p:nvCxnSpPr>
        <p:spPr>
          <a:xfrm flipV="1">
            <a:off x="7735121" y="4586010"/>
            <a:ext cx="3167281" cy="818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0E7639A-42D6-420E-A819-8D78643EDD25}"/>
              </a:ext>
            </a:extLst>
          </p:cNvPr>
          <p:cNvCxnSpPr>
            <a:stCxn id="21" idx="6"/>
            <a:endCxn id="23" idx="0"/>
          </p:cNvCxnSpPr>
          <p:nvPr/>
        </p:nvCxnSpPr>
        <p:spPr>
          <a:xfrm>
            <a:off x="7735121" y="4667853"/>
            <a:ext cx="2541200" cy="725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5179261-B1F1-4A29-AE9B-F78D887C702B}"/>
              </a:ext>
            </a:extLst>
          </p:cNvPr>
          <p:cNvCxnSpPr>
            <a:stCxn id="22" idx="7"/>
            <a:endCxn id="18" idx="2"/>
          </p:cNvCxnSpPr>
          <p:nvPr/>
        </p:nvCxnSpPr>
        <p:spPr>
          <a:xfrm flipV="1">
            <a:off x="8471224" y="2746198"/>
            <a:ext cx="1600145" cy="26595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189276C-24F9-4A29-ABC8-9847E8A82A09}"/>
              </a:ext>
            </a:extLst>
          </p:cNvPr>
          <p:cNvCxnSpPr>
            <a:stCxn id="22" idx="7"/>
            <a:endCxn id="24" idx="2"/>
          </p:cNvCxnSpPr>
          <p:nvPr/>
        </p:nvCxnSpPr>
        <p:spPr>
          <a:xfrm flipV="1">
            <a:off x="8471224" y="3497206"/>
            <a:ext cx="2390781" cy="19085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E7DF363-80D2-4DE7-B208-391CED60AE47}"/>
              </a:ext>
            </a:extLst>
          </p:cNvPr>
          <p:cNvCxnSpPr>
            <a:stCxn id="22" idx="7"/>
            <a:endCxn id="25" idx="2"/>
          </p:cNvCxnSpPr>
          <p:nvPr/>
        </p:nvCxnSpPr>
        <p:spPr>
          <a:xfrm flipV="1">
            <a:off x="8471224" y="4586010"/>
            <a:ext cx="2431178" cy="819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9AF5B84-9786-458E-A006-8DD4D3091CAE}"/>
              </a:ext>
            </a:extLst>
          </p:cNvPr>
          <p:cNvCxnSpPr>
            <a:stCxn id="23" idx="0"/>
            <a:endCxn id="24" idx="2"/>
          </p:cNvCxnSpPr>
          <p:nvPr/>
        </p:nvCxnSpPr>
        <p:spPr>
          <a:xfrm flipV="1">
            <a:off x="10276321" y="3497206"/>
            <a:ext cx="585684" cy="18964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6D1841F-D756-4169-AF50-C406FF86F7B7}"/>
              </a:ext>
            </a:extLst>
          </p:cNvPr>
          <p:cNvCxnSpPr>
            <a:stCxn id="23" idx="0"/>
            <a:endCxn id="18" idx="2"/>
          </p:cNvCxnSpPr>
          <p:nvPr/>
        </p:nvCxnSpPr>
        <p:spPr>
          <a:xfrm flipH="1" flipV="1">
            <a:off x="10071369" y="2746198"/>
            <a:ext cx="204952" cy="2647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DD51B01-3D54-444E-8348-D2B98844F760}"/>
              </a:ext>
            </a:extLst>
          </p:cNvPr>
          <p:cNvCxnSpPr>
            <a:stCxn id="25" idx="2"/>
            <a:endCxn id="18" idx="2"/>
          </p:cNvCxnSpPr>
          <p:nvPr/>
        </p:nvCxnSpPr>
        <p:spPr>
          <a:xfrm flipH="1" flipV="1">
            <a:off x="10071369" y="2746198"/>
            <a:ext cx="831033" cy="18398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EA36C6C-66F8-4F25-BACA-1147EC476162}"/>
              </a:ext>
            </a:extLst>
          </p:cNvPr>
          <p:cNvSpPr/>
          <p:nvPr/>
        </p:nvSpPr>
        <p:spPr>
          <a:xfrm>
            <a:off x="3287768" y="4951272"/>
            <a:ext cx="86273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3A61DA6-FBD9-417F-BF7D-0865809CD977}"/>
              </a:ext>
            </a:extLst>
          </p:cNvPr>
          <p:cNvSpPr/>
          <p:nvPr/>
        </p:nvSpPr>
        <p:spPr>
          <a:xfrm>
            <a:off x="4577554" y="1681738"/>
            <a:ext cx="343632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Cluster Tree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BACCB15-8F26-4FAA-B562-BE396F137A5D}"/>
              </a:ext>
            </a:extLst>
          </p:cNvPr>
          <p:cNvSpPr/>
          <p:nvPr/>
        </p:nvSpPr>
        <p:spPr>
          <a:xfrm>
            <a:off x="8678128" y="1880900"/>
            <a:ext cx="102143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Mesh</a:t>
            </a:r>
          </a:p>
        </p:txBody>
      </p:sp>
    </p:spTree>
    <p:extLst>
      <p:ext uri="{BB962C8B-B14F-4D97-AF65-F5344CB8AC3E}">
        <p14:creationId xmlns:p14="http://schemas.microsoft.com/office/powerpoint/2010/main" val="6820723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E6A5-F2F5-457D-94DA-EEDD424C6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E2B1D98-290B-4064-9761-C45606F3B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1911746"/>
              </p:ext>
            </p:extLst>
          </p:nvPr>
        </p:nvGraphicFramePr>
        <p:xfrm>
          <a:off x="1141413" y="2249488"/>
          <a:ext cx="990600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028">
                  <a:extLst>
                    <a:ext uri="{9D8B030D-6E8A-4147-A177-3AD203B41FA5}">
                      <a16:colId xmlns:a16="http://schemas.microsoft.com/office/drawing/2014/main" val="2632026769"/>
                    </a:ext>
                  </a:extLst>
                </a:gridCol>
                <a:gridCol w="4172607">
                  <a:extLst>
                    <a:ext uri="{9D8B030D-6E8A-4147-A177-3AD203B41FA5}">
                      <a16:colId xmlns:a16="http://schemas.microsoft.com/office/drawing/2014/main" val="3010028942"/>
                    </a:ext>
                  </a:extLst>
                </a:gridCol>
                <a:gridCol w="4394365">
                  <a:extLst>
                    <a:ext uri="{9D8B030D-6E8A-4147-A177-3AD203B41FA5}">
                      <a16:colId xmlns:a16="http://schemas.microsoft.com/office/drawing/2014/main" val="671402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ADVANTAGES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DISADVANTAGES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67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Star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Easy to install and manage.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 failure in one device does not affect the entire network.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Failure of the central hub disrupts the network.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More cabling is required, increasing cost.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65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Mesh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Provides redundancy and fault tolerance.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Expensive to implement due to high cabling and hardware costs.</a:t>
                      </a:r>
                    </a:p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Complex configuration and maintenance.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70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Cluster Tree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Scalable and supports large networks.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Efficient power consumption, making it suitable for wireless sensor networks.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Failure of a parent node can isolate entire clusters.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0559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BFBB-8589-4978-A519-CBC38464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E27C0-45D7-468C-9A09-D4FC3948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4683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1340-4BD8-4ADC-B81A-C99787C8E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79573"/>
            <a:ext cx="9905998" cy="1478570"/>
          </a:xfrm>
        </p:spPr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FED52-57E3-45DD-944B-1E3F20512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297" y="1658143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ZigBee and Bluetooth Comparison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B6D5B-553C-4B82-ACD8-13A4BCB3A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73E2D-EC28-490B-9EBB-50DE1B0B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49</a:t>
            </a:fld>
            <a:endParaRPr lang="LID4096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99EEF10-1BAD-4EFB-B48D-0C5C156D2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343273"/>
              </p:ext>
            </p:extLst>
          </p:nvPr>
        </p:nvGraphicFramePr>
        <p:xfrm>
          <a:off x="1222704" y="2375708"/>
          <a:ext cx="812799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213487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51979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86647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BLUETOOTH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ZIGBEE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147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Power Profile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Days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Years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34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Complexity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Complex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1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Nodes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64000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877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Latency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30ms – 1s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66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Range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10m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70m – 300m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17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Extendibility 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018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Data Rate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1Mb/s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250kb/s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70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Security</a:t>
                      </a:r>
                      <a:endParaRPr lang="LID4096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64-bit, 128-bit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128-bit AES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599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744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09B3-41CB-45F2-983A-D9E546FA2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WPAN TECHNOLOGIES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F62-ACF8-4E84-B920-22E3F7729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GB" b="1" dirty="0"/>
              <a:t>Ultra Wide Band (UWB)</a:t>
            </a:r>
          </a:p>
          <a:p>
            <a:r>
              <a:rPr lang="en-GB" dirty="0"/>
              <a:t> </a:t>
            </a:r>
            <a:r>
              <a:rPr lang="en-US" dirty="0"/>
              <a:t>Is a technology for short range Wireless radio communications.</a:t>
            </a:r>
          </a:p>
          <a:p>
            <a:r>
              <a:rPr lang="en-US" dirty="0"/>
              <a:t> It as a bandwidth more than 25% of a center frequency or more than 1.5 GHz.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A0AC0-4802-417A-94FF-CC3DD45D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DC041-BCD5-42AB-A1EF-85F60834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2740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30CB45-AEB2-43B2-BD3D-86B4391974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Wireless Transmission Media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4A1299B-D777-4592-952E-AEEDE538B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4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918884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99DC-36C0-4E90-A2E2-740DF6A1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Transmission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4D40B-067D-456C-BDDA-D813C750E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/>
              <a:t>Wireless transmission </a:t>
            </a:r>
            <a:r>
              <a:rPr lang="en-US" sz="1800" dirty="0"/>
              <a:t>is a form of unguided media.</a:t>
            </a:r>
          </a:p>
          <a:p>
            <a:r>
              <a:rPr lang="en-US" sz="1800" dirty="0"/>
              <a:t>Wireless signals are spread over in the air and are received and interpreted by appropriate antennas.</a:t>
            </a:r>
          </a:p>
          <a:p>
            <a:r>
              <a:rPr lang="en-US" sz="1800" dirty="0"/>
              <a:t>Some </a:t>
            </a:r>
            <a:r>
              <a:rPr lang="en-US" sz="1800" b="1" dirty="0"/>
              <a:t>generation of wireless communication </a:t>
            </a:r>
            <a:r>
              <a:rPr lang="en-US" sz="1800" dirty="0"/>
              <a:t>include;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1</a:t>
            </a:r>
            <a:r>
              <a:rPr lang="en-GB" sz="1800" baseline="30000" dirty="0"/>
              <a:t>st</a:t>
            </a:r>
            <a:r>
              <a:rPr lang="en-GB" sz="1800" dirty="0"/>
              <a:t> Generation (1G)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2</a:t>
            </a:r>
            <a:r>
              <a:rPr lang="en-GB" sz="1800" baseline="30000" dirty="0"/>
              <a:t>nd</a:t>
            </a:r>
            <a:r>
              <a:rPr lang="en-GB" sz="1800" dirty="0"/>
              <a:t> Generation (2G)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3</a:t>
            </a:r>
            <a:r>
              <a:rPr lang="en-GB" sz="1800" baseline="30000" dirty="0"/>
              <a:t>rd</a:t>
            </a:r>
            <a:r>
              <a:rPr lang="en-GB" sz="1800" dirty="0"/>
              <a:t> Generation (3G)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4</a:t>
            </a:r>
            <a:r>
              <a:rPr lang="en-GB" sz="1800" baseline="30000" dirty="0"/>
              <a:t>th</a:t>
            </a:r>
            <a:r>
              <a:rPr lang="en-GB" sz="1800" dirty="0"/>
              <a:t> Generation (4G)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5</a:t>
            </a:r>
            <a:r>
              <a:rPr lang="en-GB" sz="1800" baseline="30000" dirty="0"/>
              <a:t>th</a:t>
            </a:r>
            <a:r>
              <a:rPr lang="en-GB" sz="1800" dirty="0"/>
              <a:t> Generation (5G)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4B7E9-ED67-46AA-BFC5-06011CED3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97F62-9D31-4850-B4DE-CAFAE82C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9461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95CB-1937-4B38-9A9D-70BE34D4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Types of Wireless transmission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3FC98-6DF5-4380-983D-8C8BB1909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Radio Wave</a:t>
            </a:r>
          </a:p>
          <a:p>
            <a:r>
              <a:rPr lang="en-US" dirty="0"/>
              <a:t>Is an electromagnetic phenomenon which travels through space and through many non-magnetic materials.</a:t>
            </a:r>
          </a:p>
          <a:p>
            <a:r>
              <a:rPr lang="en-US" dirty="0"/>
              <a:t>They range from </a:t>
            </a:r>
            <a:r>
              <a:rPr lang="en-US" b="1" dirty="0"/>
              <a:t>3 KHz to 3000 GHz </a:t>
            </a:r>
            <a:r>
              <a:rPr lang="en-US" dirty="0"/>
              <a:t>and also </a:t>
            </a:r>
            <a:r>
              <a:rPr lang="en-US" b="1" dirty="0"/>
              <a:t>classified</a:t>
            </a:r>
            <a:r>
              <a:rPr lang="en-US" dirty="0"/>
              <a:t> as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Low Frequency </a:t>
            </a:r>
            <a:r>
              <a:rPr lang="en-US" dirty="0"/>
              <a:t>– 30 to 300 KHz.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Medium Frequency </a:t>
            </a:r>
            <a:r>
              <a:rPr lang="en-US" dirty="0"/>
              <a:t>– 300 to 3000 KHz.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High Frequency </a:t>
            </a:r>
            <a:r>
              <a:rPr lang="en-US" dirty="0"/>
              <a:t>– 300 to 3000 GHz.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79C49-21C9-437A-A8EF-B564FBFF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434E8-503C-45BD-9E3B-4921AF7F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75205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2321-AD6D-4CEE-A768-FA6E29D2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/>
              <a:t>Types of Wireless transmission (Continues…)   Advantages of Radio waves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D65F2-31E1-4ABC-A96F-575D01BA4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b="1" dirty="0"/>
              <a:t>Speed</a:t>
            </a:r>
            <a:r>
              <a:rPr lang="en-GB" dirty="0"/>
              <a:t> – </a:t>
            </a:r>
            <a:r>
              <a:rPr lang="en-US" dirty="0"/>
              <a:t>electromagnetic waves of any kind are the fastest things in the universe.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Penetration Power </a:t>
            </a:r>
            <a:r>
              <a:rPr lang="en-GB" dirty="0"/>
              <a:t>– can pass through obstacles.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Low Power Consumption </a:t>
            </a:r>
            <a:r>
              <a:rPr lang="en-GB" dirty="0"/>
              <a:t>– efficient for wireless devices.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Cost-Effective </a:t>
            </a:r>
            <a:r>
              <a:rPr lang="en-GB" dirty="0"/>
              <a:t>– low infrastructure costs.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58C25-A353-488C-917C-F23BB4E2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08BE3-5667-4C52-AA40-0236620B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320540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84DB-1E36-4C36-AC50-8876E7BB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/>
              <a:t>Types of Wireless transmission (Continues…) Disadvantages of Radio wave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07C5B-EF50-4F90-8B8A-31CBDFEB3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EF440-1B66-46D2-9071-DF031E740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168D6-0E44-4F62-BB26-2B3B011A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68472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F6A5-AC47-46F4-A8E6-51811DD6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/>
              <a:t>Types of Wireless transmission (Continues…) </a:t>
            </a:r>
            <a:r>
              <a:rPr lang="en-US" b="1" dirty="0"/>
              <a:t>Characteristics of a Radio wave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56F1C-D447-44AE-BFD8-7A4225166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dirty="0"/>
              <a:t>Radio wave is a method of transmitting intelligence from one location to another by means of </a:t>
            </a:r>
            <a:r>
              <a:rPr lang="en-US" b="1" dirty="0"/>
              <a:t>electromagnetic</a:t>
            </a:r>
            <a:r>
              <a:rPr lang="en-US" dirty="0"/>
              <a:t> radiation.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Radio waves can </a:t>
            </a:r>
            <a:r>
              <a:rPr lang="en-US" b="1" dirty="0"/>
              <a:t>travel through long distances </a:t>
            </a:r>
            <a:r>
              <a:rPr lang="en-US" dirty="0"/>
              <a:t>and </a:t>
            </a:r>
            <a:r>
              <a:rPr lang="en-US" b="1" dirty="0"/>
              <a:t>penetrate through materials</a:t>
            </a:r>
            <a:r>
              <a:rPr lang="en-US" dirty="0"/>
              <a:t> unlike light and heat waves.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Radio waves are </a:t>
            </a:r>
            <a:r>
              <a:rPr lang="en-GB" b="1" dirty="0"/>
              <a:t>invisible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Radio waves are normally </a:t>
            </a:r>
            <a:r>
              <a:rPr lang="en-US" b="1" dirty="0"/>
              <a:t>not felt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Radio waves have </a:t>
            </a:r>
            <a:r>
              <a:rPr lang="en-US" b="1" dirty="0"/>
              <a:t>frequencies</a:t>
            </a:r>
            <a:r>
              <a:rPr lang="en-US" dirty="0"/>
              <a:t> as high as 300 GHz to as low as 30 Hz.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92FBF-835F-4D39-AAB8-7C8A7592E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74E4E-EE43-43A1-AA59-DCD30A52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25869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51C9-2A75-4FC1-AEAC-B3DEF404E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/>
              <a:t>Types of Wireless transmission (Continues…)      Application of radio wave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1BDBA-591B-4412-B02E-7D3173C7A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 dirty="0"/>
              <a:t>Radio waves carry signal for </a:t>
            </a:r>
            <a:r>
              <a:rPr lang="en-US" b="1" dirty="0"/>
              <a:t>AM</a:t>
            </a:r>
            <a:r>
              <a:rPr lang="en-US" dirty="0"/>
              <a:t> and </a:t>
            </a:r>
            <a:r>
              <a:rPr lang="en-US" b="1" dirty="0"/>
              <a:t>FM radio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It is highly use in cellular </a:t>
            </a:r>
            <a:r>
              <a:rPr lang="en-US" b="1" dirty="0"/>
              <a:t>telephones</a:t>
            </a:r>
            <a:r>
              <a:rPr lang="en-US" dirty="0"/>
              <a:t> and </a:t>
            </a:r>
            <a:r>
              <a:rPr lang="en-US" b="1" dirty="0"/>
              <a:t>Television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Radio waves are useful for </a:t>
            </a:r>
            <a:r>
              <a:rPr lang="en-US" b="1" dirty="0"/>
              <a:t>Police</a:t>
            </a:r>
            <a:r>
              <a:rPr lang="en-US" dirty="0"/>
              <a:t>  and </a:t>
            </a:r>
            <a:r>
              <a:rPr lang="en-US" b="1" dirty="0"/>
              <a:t>Radar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EF36B-E93D-4342-A091-221BC5F0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6277628"/>
            <a:ext cx="6239309" cy="365125"/>
          </a:xfrm>
        </p:spPr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E89A8-D0D6-4610-8602-AA1346D3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277628"/>
            <a:ext cx="771089" cy="365125"/>
          </a:xfrm>
        </p:spPr>
        <p:txBody>
          <a:bodyPr/>
          <a:lstStyle/>
          <a:p>
            <a:fld id="{F10CBD77-CD2E-4B2C-9AD8-253F8A9F7599}" type="slidenum">
              <a:rPr lang="LID4096" smtClean="0"/>
              <a:t>57</a:t>
            </a:fld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8CEBBA-D5ED-4EA5-90F4-9482E026C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558" y="3970228"/>
            <a:ext cx="4102311" cy="20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917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4C03-93F1-4173-85DB-6B8A0F62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Types of Wireless transmission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18DFE-4AD4-4275-9CF2-A376FAB18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AutoNum type="arabicPeriod" startAt="2"/>
            </a:pPr>
            <a:r>
              <a:rPr lang="en-US" b="1" dirty="0"/>
              <a:t>Microwave </a:t>
            </a:r>
          </a:p>
          <a:p>
            <a:r>
              <a:rPr lang="en-US" dirty="0"/>
              <a:t>Travels in </a:t>
            </a:r>
            <a:r>
              <a:rPr lang="en-US" b="1" dirty="0"/>
              <a:t>straight lines</a:t>
            </a:r>
            <a:r>
              <a:rPr lang="en-US" dirty="0"/>
              <a:t>, both sender and receiver must be aligned to be strictly in line-of-sight.</a:t>
            </a:r>
          </a:p>
          <a:p>
            <a:r>
              <a:rPr lang="en-US" dirty="0"/>
              <a:t>Microwaves can have </a:t>
            </a:r>
            <a:r>
              <a:rPr lang="en-US" b="1" dirty="0"/>
              <a:t>wavelength</a:t>
            </a:r>
            <a:r>
              <a:rPr lang="en-US" dirty="0"/>
              <a:t> ranging from </a:t>
            </a:r>
            <a:r>
              <a:rPr lang="en-US" b="1" dirty="0"/>
              <a:t>1 mm – 1 meter </a:t>
            </a:r>
            <a:r>
              <a:rPr lang="en-US" dirty="0"/>
              <a:t>and </a:t>
            </a:r>
            <a:r>
              <a:rPr lang="en-US" b="1" dirty="0"/>
              <a:t>frequency</a:t>
            </a:r>
            <a:r>
              <a:rPr lang="en-US" dirty="0"/>
              <a:t> ranging from </a:t>
            </a:r>
            <a:r>
              <a:rPr lang="en-US" b="1" dirty="0"/>
              <a:t>300 MHz to 300 GHz</a:t>
            </a:r>
            <a:r>
              <a:rPr lang="en-US" dirty="0"/>
              <a:t>.</a:t>
            </a:r>
          </a:p>
          <a:p>
            <a:r>
              <a:rPr lang="en-US" dirty="0"/>
              <a:t>Microwave transmission depends highly upon the </a:t>
            </a:r>
            <a:r>
              <a:rPr lang="en-US" b="1" dirty="0"/>
              <a:t>weather conditions </a:t>
            </a:r>
            <a:r>
              <a:rPr lang="en-US" dirty="0"/>
              <a:t>and the frequency it is using.</a:t>
            </a:r>
          </a:p>
          <a:p>
            <a:r>
              <a:rPr lang="en-US" dirty="0"/>
              <a:t>Microwaves are used for </a:t>
            </a:r>
            <a:r>
              <a:rPr lang="en-US" b="1" dirty="0"/>
              <a:t>unicast communication </a:t>
            </a:r>
            <a:r>
              <a:rPr lang="en-US" dirty="0"/>
              <a:t>such as cellular telephones, satellite networks and WLANs.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9238D-240B-45DB-9E4B-C72B3631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22F03-E577-4BCC-BF82-3CB983FC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40688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E58C-6AD0-426F-A39C-4CB2277F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/>
              <a:t>Types of Wireless transmission (Continues…)                   types of Microwave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40D33-999F-4D05-A95A-DEC01CF8F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lphaLcParenR"/>
            </a:pPr>
            <a:r>
              <a:rPr lang="en-GB" b="1" dirty="0"/>
              <a:t>Terrestrial Microwave</a:t>
            </a:r>
          </a:p>
          <a:p>
            <a:r>
              <a:rPr lang="en-US" dirty="0"/>
              <a:t>Is a wireless microwave </a:t>
            </a:r>
            <a:r>
              <a:rPr lang="en-US" b="1" dirty="0"/>
              <a:t>networking technology </a:t>
            </a:r>
            <a:r>
              <a:rPr lang="en-US" dirty="0"/>
              <a:t>that uses line-of sight communications between pairs of </a:t>
            </a:r>
            <a:r>
              <a:rPr lang="en-US" b="1" dirty="0"/>
              <a:t>Earth-based transmitters and receivers </a:t>
            </a:r>
            <a:r>
              <a:rPr lang="en-US" dirty="0"/>
              <a:t>to relay information.</a:t>
            </a:r>
          </a:p>
          <a:p>
            <a:r>
              <a:rPr lang="en-US" dirty="0"/>
              <a:t>It is the most common form of long-distance communication.</a:t>
            </a:r>
          </a:p>
          <a:p>
            <a:r>
              <a:rPr lang="en-US" dirty="0"/>
              <a:t>Its </a:t>
            </a:r>
            <a:r>
              <a:rPr lang="en-US" b="1" dirty="0"/>
              <a:t>characteristics</a:t>
            </a:r>
            <a:r>
              <a:rPr lang="en-US" dirty="0"/>
              <a:t> include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Fewer Repeaters but requires </a:t>
            </a:r>
            <a:r>
              <a:rPr lang="en-US" b="1" dirty="0"/>
              <a:t>line of sight transmission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Main </a:t>
            </a:r>
            <a:r>
              <a:rPr lang="en-US" b="1" dirty="0"/>
              <a:t>source of loss </a:t>
            </a:r>
            <a:r>
              <a:rPr lang="en-US" dirty="0"/>
              <a:t>is attenuation caused mostly by </a:t>
            </a:r>
            <a:r>
              <a:rPr lang="en-US" b="1" dirty="0"/>
              <a:t>distance</a:t>
            </a:r>
            <a:r>
              <a:rPr lang="en-US" dirty="0"/>
              <a:t>, </a:t>
            </a:r>
            <a:r>
              <a:rPr lang="en-US" b="1" dirty="0"/>
              <a:t>rainfall</a:t>
            </a:r>
            <a:r>
              <a:rPr lang="en-US" dirty="0"/>
              <a:t> and </a:t>
            </a:r>
            <a:r>
              <a:rPr lang="en-US" b="1" dirty="0"/>
              <a:t>interference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Common </a:t>
            </a:r>
            <a:r>
              <a:rPr lang="en-US" b="1" dirty="0"/>
              <a:t>frequencies</a:t>
            </a:r>
            <a:r>
              <a:rPr lang="en-US" dirty="0"/>
              <a:t> used for  transmission are in the range </a:t>
            </a:r>
            <a:r>
              <a:rPr lang="en-US" b="1" dirty="0"/>
              <a:t>1 to 40 GHz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36E1B-E032-4888-A263-0EC635D63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E1541-A1EE-4240-9C72-36B72FD9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59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47058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92F6-CA35-40C2-8909-5FC42058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7460-A6AD-4097-93B9-9056574E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CA23C-2FA6-433A-B903-5743AF9E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AA3B3-E22D-4101-978D-35862827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0753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BA33-363F-4AC1-A337-FDEA7F1F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/>
              <a:t>Types of Wireless transmission (Continues…)                   types of Microwave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6153A-FECE-439A-AEB4-C0B726565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lphaLcParenR" startAt="2"/>
            </a:pPr>
            <a:r>
              <a:rPr lang="en-US" b="1" dirty="0"/>
              <a:t>Satellite Microwave</a:t>
            </a:r>
          </a:p>
          <a:p>
            <a:r>
              <a:rPr lang="en-US" dirty="0"/>
              <a:t>Uses </a:t>
            </a:r>
            <a:r>
              <a:rPr lang="en-US" b="1" dirty="0"/>
              <a:t>satellites</a:t>
            </a:r>
            <a:r>
              <a:rPr lang="en-US" dirty="0"/>
              <a:t> for broadcasting  and receiving of signals.</a:t>
            </a:r>
          </a:p>
          <a:p>
            <a:r>
              <a:rPr lang="en-US" dirty="0"/>
              <a:t>These systems need satellites which are in the geostationary orbit which is </a:t>
            </a:r>
            <a:r>
              <a:rPr lang="en-US" b="1" dirty="0"/>
              <a:t>3600 km </a:t>
            </a:r>
            <a:r>
              <a:rPr lang="en-US" dirty="0"/>
              <a:t>above the earth.</a:t>
            </a:r>
          </a:p>
          <a:p>
            <a:r>
              <a:rPr lang="en-US" dirty="0"/>
              <a:t>Its </a:t>
            </a:r>
            <a:r>
              <a:rPr lang="en-US" b="1" dirty="0"/>
              <a:t>advantages</a:t>
            </a:r>
            <a:r>
              <a:rPr lang="en-US" dirty="0"/>
              <a:t> include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No cables needed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Multiple channels available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Wide bandwidth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8B2C3-7150-4ABB-9E6F-00DF4447B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83B4B-5854-4A87-ADC3-96841E23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63263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AF14-7EE4-458B-9687-F2D0FA2D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/>
              <a:t>Types of Wireless transmission (Continues…)                   types of Microwave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62CA5-B22B-4C29-A967-069DDB6B0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Its </a:t>
            </a:r>
            <a:r>
              <a:rPr lang="en-US" b="1" dirty="0"/>
              <a:t>disadvantages </a:t>
            </a:r>
            <a:r>
              <a:rPr lang="en-US" dirty="0"/>
              <a:t>include – 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Expensive</a:t>
            </a:r>
            <a:r>
              <a:rPr lang="en-GB" dirty="0"/>
              <a:t> towers and repeaters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Subject to interference </a:t>
            </a:r>
            <a:r>
              <a:rPr lang="en-US" dirty="0"/>
              <a:t>such as passing airplanes and rain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Line of sight </a:t>
            </a:r>
            <a:r>
              <a:rPr lang="en-GB" dirty="0"/>
              <a:t>requirement</a:t>
            </a:r>
          </a:p>
          <a:p>
            <a:r>
              <a:rPr lang="en-GB" dirty="0"/>
              <a:t>Its major </a:t>
            </a:r>
            <a:r>
              <a:rPr lang="en-GB" b="1" dirty="0"/>
              <a:t>characteristic</a:t>
            </a:r>
            <a:r>
              <a:rPr lang="en-GB" dirty="0"/>
              <a:t> is </a:t>
            </a:r>
            <a:r>
              <a:rPr lang="en-US" dirty="0"/>
              <a:t>the optimum </a:t>
            </a:r>
            <a:r>
              <a:rPr lang="en-US" b="1" dirty="0"/>
              <a:t>frequency range </a:t>
            </a:r>
            <a:r>
              <a:rPr lang="en-US" dirty="0"/>
              <a:t>for satellite transmission is </a:t>
            </a:r>
            <a:r>
              <a:rPr lang="en-US" b="1" dirty="0"/>
              <a:t>1 to 10 GHz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9458C-ECDE-4192-8265-BE640C8AD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9F2E9-23E4-4965-B1E0-4DBF7EF0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55206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BE6BC-6FFC-4CF8-86C9-7C1E7F73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/>
              <a:t>Types of Wireless transmission (Continues…)                   types of Microwave (Continues…)     Applications of Satellite Microwave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4BBE8-B698-47AC-811F-9DECCD38B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Television distribution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Long distance telephone transmission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 Global  Positioning System (GPS)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7FF99-D7BE-455B-A153-8B0B9222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88FA1-3CE3-46FD-A1BB-2FB8AB1F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05946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763F-2E8E-4931-AD97-D266BE5F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Wireless transmission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31539-03B2-490A-8215-46CB2FEFD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 startAt="3"/>
            </a:pPr>
            <a:r>
              <a:rPr lang="en-US" b="1" dirty="0"/>
              <a:t>Infrared (IR)</a:t>
            </a:r>
          </a:p>
          <a:p>
            <a:r>
              <a:rPr lang="en-US" b="1" dirty="0"/>
              <a:t>Involves sending light signals </a:t>
            </a:r>
            <a:r>
              <a:rPr lang="en-US" dirty="0"/>
              <a:t>at a frequency between visible light and radio waves.</a:t>
            </a:r>
          </a:p>
          <a:p>
            <a:r>
              <a:rPr lang="en-US" dirty="0"/>
              <a:t> </a:t>
            </a:r>
            <a:r>
              <a:rPr lang="en-US" b="1" dirty="0"/>
              <a:t>Commonly used in TV remote controls</a:t>
            </a:r>
            <a:r>
              <a:rPr lang="en-US" dirty="0"/>
              <a:t>, now is used to provide LAN connections.</a:t>
            </a:r>
          </a:p>
          <a:p>
            <a:r>
              <a:rPr lang="en-US" dirty="0"/>
              <a:t>It is a </a:t>
            </a:r>
            <a:r>
              <a:rPr lang="en-US" b="1" dirty="0"/>
              <a:t>line-of-sight</a:t>
            </a:r>
            <a:r>
              <a:rPr lang="en-US" dirty="0"/>
              <a:t> transmission and has a maximum coverage of </a:t>
            </a:r>
            <a:r>
              <a:rPr lang="en-US" b="1" dirty="0"/>
              <a:t>30 to 80 feet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EBDB7-DE85-4994-94CC-68D9CED6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F5A15-C013-4B7A-99E2-C0AECF70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60149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F669-80CD-47BD-AFC2-9027B513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Types of Wireless transmission (Continues…)                          </a:t>
            </a:r>
            <a:r>
              <a:rPr lang="en-GB" b="1" dirty="0"/>
              <a:t>Characteristics of IR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84EEB-923B-4F47-BD24-C17A4DD7C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 dirty="0"/>
              <a:t>Sends signals through </a:t>
            </a:r>
            <a:r>
              <a:rPr lang="en-US" b="1" dirty="0"/>
              <a:t>infrared light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Sending a signal in a </a:t>
            </a:r>
            <a:r>
              <a:rPr lang="en-US" b="1" dirty="0"/>
              <a:t>straight line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Cannot penetrate </a:t>
            </a:r>
            <a:r>
              <a:rPr lang="en-US" dirty="0"/>
              <a:t>through the surface of the object.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It is generally </a:t>
            </a:r>
            <a:r>
              <a:rPr lang="en-US" b="1" dirty="0"/>
              <a:t>used for short distance </a:t>
            </a:r>
            <a:r>
              <a:rPr lang="en-US" dirty="0"/>
              <a:t>transmission such as a TV remote.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It does not require an antenna to operate.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CB56D-BF72-4DB8-9F07-1E850EB6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18778-19D0-4D92-84E4-A5209ABAC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62184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0FDC-A6A0-455B-9879-A3B23771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Types of Wireless transmission (Continues…)                          </a:t>
            </a:r>
            <a:r>
              <a:rPr lang="en-GB" b="1" dirty="0"/>
              <a:t>applications of IR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13D0-DB58-4BEE-8784-F087F1904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Remote controls for television.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Wireless LANs.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Intrusion Detection Systems (IDS).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49A27-3909-4979-A586-F4EAD93F4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CAF54-3DA6-435C-B3BB-EE91B8F2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6300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C591BE-B43C-4032-9FA0-84BB70E74B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THREATS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BE333C7-84B5-4FE6-AD6F-7CE16FDD82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5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7137311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6B8D-3011-4381-A345-6686B613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Security Treat &amp; Breach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7E331-4780-4E88-AD35-078F8FD4C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threat</a:t>
            </a:r>
            <a:r>
              <a:rPr lang="en-US" dirty="0"/>
              <a:t> is any potential danger that can exploit a vulnerability in a system or network to cause harm, damage, or unauthorized access to data, resources, or services.</a:t>
            </a:r>
          </a:p>
          <a:p>
            <a:r>
              <a:rPr lang="en-US" dirty="0"/>
              <a:t>In other words, it is anything that can compromise the confidentiality, integrity, or availability of information or systems.</a:t>
            </a:r>
          </a:p>
          <a:p>
            <a:r>
              <a:rPr lang="en-US" dirty="0"/>
              <a:t>A </a:t>
            </a:r>
            <a:r>
              <a:rPr lang="en-US" b="1" dirty="0"/>
              <a:t>security breach </a:t>
            </a:r>
            <a:r>
              <a:rPr lang="en-US" dirty="0"/>
              <a:t>is an incident where unauthorized individuals gain access to a system, network, or data, violating the system’s security policies.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F8887-9FFF-4D31-9F63-C7E1CFDE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C88B1-C3B6-4AF0-8162-8E90ACAF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88910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38F7-6BF6-4FF0-99DE-047AB58F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Security Treat &amp; Breach (Continues…) 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7A63304-E411-430B-B0A8-C1021349F3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436833"/>
              </p:ext>
            </p:extLst>
          </p:nvPr>
        </p:nvGraphicFramePr>
        <p:xfrm>
          <a:off x="1141413" y="2249488"/>
          <a:ext cx="9906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177">
                  <a:extLst>
                    <a:ext uri="{9D8B030D-6E8A-4147-A177-3AD203B41FA5}">
                      <a16:colId xmlns:a16="http://schemas.microsoft.com/office/drawing/2014/main" val="1488987246"/>
                    </a:ext>
                  </a:extLst>
                </a:gridCol>
                <a:gridCol w="3714161">
                  <a:extLst>
                    <a:ext uri="{9D8B030D-6E8A-4147-A177-3AD203B41FA5}">
                      <a16:colId xmlns:a16="http://schemas.microsoft.com/office/drawing/2014/main" val="1826460141"/>
                    </a:ext>
                  </a:extLst>
                </a:gridCol>
                <a:gridCol w="4382662">
                  <a:extLst>
                    <a:ext uri="{9D8B030D-6E8A-4147-A177-3AD203B41FA5}">
                      <a16:colId xmlns:a16="http://schemas.microsoft.com/office/drawing/2014/main" val="2598515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Aspect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Threat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Breach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737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Timing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Before the attack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After the attack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32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Potential attack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Successful attack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989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Impact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No damage yet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Actual damage/loss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717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Malware, phishing attempts, 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unpatched software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Data theft, system 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compromise, information leak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19799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E2F9D-A420-42CB-ADE8-FFE914D8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1D957-DA3D-4026-84BF-426E1848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69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5526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F43D-C78E-477D-8D74-1D6F21BC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CF147-1AC9-493F-B169-2C59D88DE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Eavesdropping</a:t>
            </a:r>
          </a:p>
          <a:p>
            <a:r>
              <a:rPr lang="en-US" dirty="0"/>
              <a:t>Is the act of secretly or stealthily listening to the private conversation or communications of others without their consent in order to gather information.</a:t>
            </a:r>
          </a:p>
          <a:p>
            <a:r>
              <a:rPr lang="en-US" dirty="0"/>
              <a:t>Eavesdropping is especially dangerous because wireless signals travel through the air and can be intercepted without physical access.</a:t>
            </a:r>
          </a:p>
          <a:p>
            <a:r>
              <a:rPr lang="en-US" dirty="0"/>
              <a:t>For example, using Wireshark to capture data from users connected to the public Wi-Fi to steal unencrypted data such as passwords, emails, or credit card numbers.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86CD4-BA65-454E-AE71-E78CE5712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B145B-2940-4CA4-9FC8-AD59BAD9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36647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78F42-07F8-4FC2-8C25-0FDB9D5A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EF7E87-93E6-4EDA-9656-650D2E86A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Types of Eavesdropping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3DA9B-7EC8-4194-972D-42FE18D14F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b="1" dirty="0"/>
              <a:t>Passive</a:t>
            </a:r>
            <a:r>
              <a:rPr lang="en-GB" dirty="0"/>
              <a:t> – </a:t>
            </a:r>
            <a:r>
              <a:rPr lang="en-US" dirty="0"/>
              <a:t>Just listens to data without altering it.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Active</a:t>
            </a:r>
            <a:r>
              <a:rPr lang="en-GB" dirty="0"/>
              <a:t> – </a:t>
            </a:r>
            <a:r>
              <a:rPr lang="en-US" dirty="0"/>
              <a:t>May inject queries or interfere to gather more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4ADB80-52AF-43B6-952A-799368006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Prevention of Eavesdropping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B37BF5-09D6-4FC1-917E-897BE2BE85E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b="1" dirty="0"/>
              <a:t>Encryption</a:t>
            </a:r>
            <a:r>
              <a:rPr lang="en-GB" dirty="0"/>
              <a:t> - </a:t>
            </a:r>
            <a:r>
              <a:rPr lang="en-US" dirty="0"/>
              <a:t>WPA3 for Wi-Fi, SSL/TLS for web.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VPNs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Avoid using public Wi-Fi for sensitive tasks.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D8EA3-E062-4F4D-80F6-A36482F87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7EA54-FA15-46B4-9B86-302A4B08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21422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57E1B47-9166-4165-A466-6A4C1639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254913D-0491-4955-BD43-08929718A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b="1" dirty="0"/>
              <a:t>Communication Jamming</a:t>
            </a:r>
          </a:p>
          <a:p>
            <a:r>
              <a:rPr lang="en-US" dirty="0"/>
              <a:t>Refers to the deliberate interference with wireless communications. </a:t>
            </a:r>
          </a:p>
          <a:p>
            <a:r>
              <a:rPr lang="en-US" dirty="0"/>
              <a:t>It is a form of Denial of Service (DoS) attack specifically aimed at wireless communication channels.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6D09F5-7A39-4595-98C5-3D2F7290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4ECC9C-7212-4681-8171-B79E13E7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97174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B194-A11C-4357-B11F-420F3545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7F25E-C4A7-468B-9A38-F47A79C3F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Types of Jamming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Spot</a:t>
            </a:r>
            <a:r>
              <a:rPr lang="en-GB" dirty="0"/>
              <a:t> – </a:t>
            </a:r>
            <a:r>
              <a:rPr lang="en-US" dirty="0"/>
              <a:t>Used to block a single communication channel.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Sweep</a:t>
            </a:r>
            <a:r>
              <a:rPr lang="en-US" dirty="0"/>
              <a:t> – Moves a jamming signal across multiple frequencies.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Barrage</a:t>
            </a:r>
            <a:r>
              <a:rPr lang="en-US" dirty="0"/>
              <a:t> – Jams a wide range of frequencies at once.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Deceptive</a:t>
            </a:r>
            <a:r>
              <a:rPr lang="en-US" dirty="0"/>
              <a:t> - Sends fake signals to mislead or confuse receivers.</a:t>
            </a:r>
          </a:p>
          <a:p>
            <a:pPr marL="514350" indent="-514350">
              <a:buFont typeface="+mj-lt"/>
              <a:buAutoNum type="romanL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C1CCE-8D2B-4CB8-B527-F780A44F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212CE-4538-4431-9B4D-8AFBC3E1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05019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D52B8-EACD-40E5-BFC3-8FA13EEB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4EC2D5-56B8-465C-BD30-6F8C6A3B4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Effects and Risks of Jamming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8AECC-68E9-4F39-87E0-67A49EA81C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Loss of communication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Interruption of Wi-Fi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Loss of service on commercial networks</a:t>
            </a:r>
            <a:endParaRPr lang="en-GB" dirty="0"/>
          </a:p>
          <a:p>
            <a:pPr marL="514350" indent="-514350">
              <a:buFont typeface="+mj-lt"/>
              <a:buAutoNum type="romanLcPeriod"/>
            </a:pP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20001A-231D-4E26-8B91-FF54FDC07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Countermeasures of Jamming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4F8D94-1514-4EF8-B04D-B3A020F1305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Frequency hopping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Spread spectrum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Shielding and filtering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Signal detection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3842D-97C7-4BF2-AA0F-7DC7F3CC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0E316-5DB3-4C27-A6CE-F80490F9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10CBD77-CD2E-4B2C-9AD8-253F8A9F7599}" type="slidenum">
              <a:rPr lang="LID4096" smtClean="0"/>
              <a:pPr algn="ctr"/>
              <a:t>74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58627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8007FCA-701E-49E4-B62A-6DD3DE12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303CA4-3197-4DF3-A73A-D950C0C77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b="1" dirty="0"/>
              <a:t>Radio Frequency (RF) Interference</a:t>
            </a:r>
          </a:p>
          <a:p>
            <a:r>
              <a:rPr lang="en-US" dirty="0"/>
              <a:t>RFI also known as </a:t>
            </a:r>
            <a:r>
              <a:rPr lang="en-US" b="1" dirty="0"/>
              <a:t>electromagnetic interference (EMI) </a:t>
            </a:r>
            <a:r>
              <a:rPr lang="en-US" dirty="0"/>
              <a:t>is when external signals mess with the wireless signals.</a:t>
            </a:r>
          </a:p>
          <a:p>
            <a:r>
              <a:rPr lang="en-US" dirty="0"/>
              <a:t>RF interference can be intentional (like jamming) or unintentional (accidental).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E44AE9-03ED-4511-B902-962BED3E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A3640F-5FF6-4B1E-9ABD-6B2AC8CF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03557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226A-DBE7-4B2E-95AC-F572AE28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AE0471-D9F8-4F6A-96DF-C8938AD21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6972" y="2184397"/>
            <a:ext cx="4649783" cy="82391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/>
              <a:t>Sources of RF Interference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E2C7-5F39-4C65-BFC3-2DD04B791D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.</a:t>
            </a:r>
            <a:endParaRPr lang="LID4096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1B3BF9-9496-4A77-8132-96B6101E8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Effects of RF Interference</a:t>
            </a:r>
            <a:endParaRPr lang="LID4096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7BCF9C-05CE-431F-9A72-BE7254D89C6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dirty="0"/>
              <a:t>Dropped calls in mobile networks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Poor Wi-Fi performance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Disrupted broadcast signals (TV, radio)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Errors in sensitive instruments (e.g., medical equipment)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960E4-CDC5-41D6-9C84-80E4A6C6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C8BFB-9B91-477E-968E-5CF5300A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76</a:t>
            </a:fld>
            <a:endParaRPr lang="LID4096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4F22845-2D5F-477A-A8B0-9B253CA08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243725"/>
              </p:ext>
            </p:extLst>
          </p:nvPr>
        </p:nvGraphicFramePr>
        <p:xfrm>
          <a:off x="423927" y="3165475"/>
          <a:ext cx="559587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626">
                  <a:extLst>
                    <a:ext uri="{9D8B030D-6E8A-4147-A177-3AD203B41FA5}">
                      <a16:colId xmlns:a16="http://schemas.microsoft.com/office/drawing/2014/main" val="3655513802"/>
                    </a:ext>
                  </a:extLst>
                </a:gridCol>
                <a:gridCol w="3252248">
                  <a:extLst>
                    <a:ext uri="{9D8B030D-6E8A-4147-A177-3AD203B41FA5}">
                      <a16:colId xmlns:a16="http://schemas.microsoft.com/office/drawing/2014/main" val="3886290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Natural 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Man-made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1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Lightning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Cell phones and towers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374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Solar flares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Wi-Fi routers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077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Cosmic radiation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Radios and TVs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741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1187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E5BD915-7B46-4FA1-8531-9387618E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D5B50E-3A6E-4A81-8066-065811F020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Types of RF Interference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Co-channel interference </a:t>
            </a:r>
            <a:r>
              <a:rPr lang="en-GB" dirty="0"/>
              <a:t>– </a:t>
            </a:r>
            <a:r>
              <a:rPr lang="en-US" dirty="0"/>
              <a:t>Occurs when two transmitters use the same frequency channel.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Adjacent-channel interference </a:t>
            </a:r>
            <a:r>
              <a:rPr lang="en-GB" dirty="0"/>
              <a:t>– </a:t>
            </a:r>
            <a:r>
              <a:rPr lang="en-US" dirty="0"/>
              <a:t>Happens when signals from nearby channels overlap.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97287FD-EC30-4ADD-9259-20234834B7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romanLcPeriod" startAt="3"/>
            </a:pPr>
            <a:r>
              <a:rPr lang="en-GB" b="1" dirty="0"/>
              <a:t>Intermodulation interference </a:t>
            </a:r>
            <a:r>
              <a:rPr lang="en-GB" dirty="0"/>
              <a:t>– </a:t>
            </a:r>
            <a:r>
              <a:rPr lang="en-US" dirty="0"/>
              <a:t>Caused when multiple RF signals mix together and produce unwanted frequencies.</a:t>
            </a:r>
          </a:p>
          <a:p>
            <a:pPr marL="514350" indent="-514350">
              <a:buAutoNum type="romanLcPeriod" startAt="3"/>
            </a:pPr>
            <a:r>
              <a:rPr lang="en-GB" b="1" dirty="0"/>
              <a:t>Harmonic interference </a:t>
            </a:r>
            <a:r>
              <a:rPr lang="en-GB" dirty="0"/>
              <a:t>– </a:t>
            </a:r>
            <a:r>
              <a:rPr lang="en-US" dirty="0"/>
              <a:t>Comes from signals that are multiples of a base frequency, unintentionally picked up by other devices.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158E77-C5E9-4A7D-99C1-62EACA38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D5A9F9-2F91-4DB9-9CAD-E96E0F43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34976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1726FB-2A6F-4C5E-A846-CF5E6BBC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1EFD9E-FB06-4E83-B143-CE93B06F2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Prevention &amp; Mitigation of RFI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Shielding &amp; Filtering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Spread Spectrum 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25A65-9ACF-4545-A647-CD5598A3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3BB00-5BEC-4D5E-9B51-9C29C685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29522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7099-4B37-4BA0-82C8-EA72E598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121C1-237B-44AB-9B40-B04497664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eriod" startAt="4"/>
            </a:pPr>
            <a:r>
              <a:rPr lang="en-US" b="1" dirty="0"/>
              <a:t>Structured Query Language Injection (SQLi) </a:t>
            </a:r>
          </a:p>
          <a:p>
            <a:r>
              <a:rPr lang="en-US" dirty="0"/>
              <a:t>Is a code injection attack where a malicious user inserts or "injects" harmful SQL code into input fields or parameters of an application allowing attackers to interfere with the queries an application makes to its database.</a:t>
            </a:r>
          </a:p>
          <a:p>
            <a:r>
              <a:rPr lang="en-US" dirty="0"/>
              <a:t>It’s effects include;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Unauthorized access to sensitive data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Modify or delete data in the database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Control the entire database by administrative privilege escalation 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2212E-97F7-40B1-A954-6DF1396C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F89C6-1626-4C15-892D-3D25822F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79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18303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745D-467C-4172-8962-6FBACB44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90C8C-BDB7-4859-B69B-2D94D1F47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How to Prevent SQL Injection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User input validation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Least privilege principle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Regularly update and patch software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D43FBB-31FD-44D1-A747-0167FECE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3D700-9540-4BF3-8ACA-26DC1B27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493333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6A12-BF68-447E-A2F1-50C9EA67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ECD46-659E-4093-AD32-959D4299F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5"/>
            </a:pPr>
            <a:r>
              <a:rPr lang="en-US" b="1" dirty="0"/>
              <a:t>Denial of Service (DoS)</a:t>
            </a:r>
          </a:p>
          <a:p>
            <a:r>
              <a:rPr lang="en-US" dirty="0"/>
              <a:t>Is a malicious attempt to make a computer, server, or network resource unavailable to its intended users either temporary or permanently by overwhelming it with a flood of fake traffic or requests.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DF574-3363-48C4-9D3D-83AC8EC29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3D656-63F5-449A-83E8-6CF3DBCA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07586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917C2B-48CD-46C7-896A-7E6D8EED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41FF-7B8A-4531-8D15-50EE285265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Types of DoS Attacks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Volume-Based Attacks </a:t>
            </a:r>
            <a:r>
              <a:rPr lang="en-GB" dirty="0"/>
              <a:t>– </a:t>
            </a:r>
            <a:r>
              <a:rPr lang="en-US" dirty="0"/>
              <a:t>Flood the target with huge amounts of traffic (e.g., UDP Flood, ICMP Flood)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Protocol Attacks </a:t>
            </a:r>
            <a:r>
              <a:rPr lang="en-GB" dirty="0"/>
              <a:t>– </a:t>
            </a:r>
            <a:r>
              <a:rPr lang="en-US" dirty="0"/>
              <a:t>Exploit weaknesses in network protocols (e.g. Ping of Death) so as to exhaust server resources like CPU or memory</a:t>
            </a:r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25B0CE-2AD0-48E1-9890-93DD4BE902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romanLcPeriod" startAt="3"/>
            </a:pPr>
            <a:r>
              <a:rPr lang="en-US" b="1" dirty="0"/>
              <a:t>Application Layer Attacks </a:t>
            </a:r>
            <a:r>
              <a:rPr lang="en-US" dirty="0"/>
              <a:t>– Target specific apps or services (e.g., HTTP Flood) so as to exhaust the application’s resources</a:t>
            </a:r>
          </a:p>
          <a:p>
            <a:r>
              <a:rPr lang="en-US" dirty="0"/>
              <a:t>Others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Buffer Overflow (Stack And Heap)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SYN Flood/ Half-open attack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Teardrop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Smurf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9E8B3-C13F-42B4-A4B4-FE300338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636B5D-A79E-4135-88D3-2848B142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16992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F03103-4685-441B-A4BE-64D032B63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8BF7D5-8BAA-453F-937D-367EE1676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AutoNum type="arabicPeriod" startAt="6"/>
            </a:pPr>
            <a:r>
              <a:rPr lang="en-US" b="1" dirty="0"/>
              <a:t>Spoofing</a:t>
            </a:r>
          </a:p>
          <a:p>
            <a:r>
              <a:rPr lang="en-US" dirty="0"/>
              <a:t> Is a cyberattack where an attacker pretends to be someone else by faking data to trick a system or user into trusting them.</a:t>
            </a:r>
          </a:p>
          <a:p>
            <a:r>
              <a:rPr lang="en-US" dirty="0"/>
              <a:t>This can be done on;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IP Address (IP Spoofing)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Email Address (Email Spoofing)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MAC Address (MAC Spoofing)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Caller ID (Caller ID Spoofing)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Website/URL (Website Spoofing)</a:t>
            </a:r>
          </a:p>
          <a:p>
            <a:pPr marL="457200" indent="-457200">
              <a:buFont typeface="+mj-lt"/>
              <a:buAutoNum type="alphaLcParenR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BD5A5-32A4-4F94-AB4C-7A7BC865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BF674-DA67-4A73-9241-7CB87964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52495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CE417CB-7CB9-4094-8C60-C480F73A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Security Threats (Continues…)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D5BEE2-D936-49A3-A437-7122E5DEF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Reasons for spoofing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9BB2E2-0148-4E2B-B5E1-4A9A1C8F08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dirty="0"/>
              <a:t>To bypass security controls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To steal data or credentials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To hide their true identity</a:t>
            </a:r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5FD6AB4-F40F-43DA-A42B-9C779772F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How to Protect Against Spoofing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8758B5-1EFE-4691-9B89-6EB012FE1C0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b="1" dirty="0"/>
              <a:t>Encryption</a:t>
            </a:r>
            <a:r>
              <a:rPr lang="en-GB" dirty="0"/>
              <a:t> – HTTPS and VPNs 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Email authentication </a:t>
            </a:r>
            <a:r>
              <a:rPr lang="en-GB" dirty="0"/>
              <a:t>– SPF, DKIM and  DMARC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Network security measures </a:t>
            </a:r>
            <a:r>
              <a:rPr lang="en-GB" dirty="0"/>
              <a:t>– Firewalls, honey pots, ACLs, IPS and IDS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Awareness</a:t>
            </a:r>
            <a:r>
              <a:rPr lang="en-GB" dirty="0"/>
              <a:t>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B271F-D3C6-4973-891B-520312781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460BA-3D4C-4E33-96F3-735F3B50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922179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25D7544-0969-4075-A29B-CA5A7C436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Traffic Analysis</a:t>
            </a:r>
            <a:endParaRPr lang="LID4096" b="1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B415C337-F230-4432-A9AE-8BD2C88B22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6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9462049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35ACC-1268-4EEA-B465-ACEF6F1F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Traffic Analysis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BF230-4DE7-4681-AFC2-DB2780324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Is the process of monitoring, capturing, and examining wireless network traffic to gather information about communication patterns, even if the actual content is encrypted.</a:t>
            </a:r>
          </a:p>
          <a:p>
            <a:r>
              <a:rPr lang="en-US" dirty="0"/>
              <a:t>It analyzes metadata and observable characteristics of network traffic flows, such as Source &amp; Destination Addresses/MACs and Packet Sizes &amp; Lengths.</a:t>
            </a:r>
          </a:p>
          <a:p>
            <a:r>
              <a:rPr lang="en-US" dirty="0"/>
              <a:t>Unlike eavesdropping which aims to decrypt content, TA infers, meaning from the context and pattern of the communication, it gather information even when content is encrypted.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D3EAD-0320-4306-9245-01DF0C6AF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525419-D6A9-4A06-AF7B-20651442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90562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6B51-F581-41C7-979C-C5B7C4E6D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Why is TA a Critical Threat in Wireless </a:t>
            </a:r>
            <a:br>
              <a:rPr lang="en-US" b="1" dirty="0"/>
            </a:br>
            <a:r>
              <a:rPr lang="en-US" b="1" dirty="0"/>
              <a:t>Networks?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C1BCB-BF3F-42E1-8F50-F4B4D05E4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Inherent Broadcast Medium/Security </a:t>
            </a:r>
            <a:r>
              <a:rPr lang="en-GB" dirty="0"/>
              <a:t>– </a:t>
            </a:r>
            <a:r>
              <a:rPr lang="en-US" dirty="0"/>
              <a:t> Wireless signals propagate through the air, making them inherently easier to intercept.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Metadata Exposure </a:t>
            </a:r>
            <a:r>
              <a:rPr lang="en-GB" dirty="0"/>
              <a:t>– While encryption (WPA2/WPA3) protects payload content, fundamental metadata (source, destination, size, timing) is often still visible in unencrypted frame headers or easily observable patterns.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Defeating Encryption </a:t>
            </a:r>
            <a:r>
              <a:rPr lang="en-GB" dirty="0"/>
              <a:t>–  TA bypasses strong encryption algorithms.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Stealth</a:t>
            </a:r>
            <a:r>
              <a:rPr lang="en-GB" dirty="0"/>
              <a:t> – </a:t>
            </a:r>
            <a:r>
              <a:rPr lang="en-US" dirty="0"/>
              <a:t>Passive TA is extremely difficult to detect.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A2380-95A0-4D65-B716-E5CCEC99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385B3-1CE1-4F3F-ADD5-1D9B8C8D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03779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BA54-B779-4544-88AD-7895E9387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Traffic Analysis Attacks</a:t>
            </a:r>
            <a:endParaRPr lang="LID4096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644C36-F88A-49F6-B339-0E7014662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Passive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D2E8D-797D-4129-B94B-1D7A3BC9AB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attacker only listens and doesn't inject traffic or disrupt communications.</a:t>
            </a:r>
          </a:p>
          <a:p>
            <a:r>
              <a:rPr lang="en-US" dirty="0"/>
              <a:t>It can be done through </a:t>
            </a:r>
            <a:r>
              <a:rPr lang="en-US" b="1" dirty="0"/>
              <a:t>monitoring</a:t>
            </a:r>
            <a:r>
              <a:rPr lang="en-US" dirty="0"/>
              <a:t>, </a:t>
            </a:r>
            <a:r>
              <a:rPr lang="en-US" b="1" dirty="0"/>
              <a:t>pattern recognition</a:t>
            </a:r>
            <a:r>
              <a:rPr lang="en-US" dirty="0"/>
              <a:t>, </a:t>
            </a:r>
            <a:r>
              <a:rPr lang="en-US" b="1" dirty="0"/>
              <a:t>correlation attacks </a:t>
            </a:r>
            <a:r>
              <a:rPr lang="en-US" dirty="0"/>
              <a:t>and </a:t>
            </a:r>
            <a:r>
              <a:rPr lang="en-US" b="1" dirty="0"/>
              <a:t>social network analysis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D21BA7-0DC2-45B7-B118-8A452382B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Active Attacks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465848-9970-4502-A4E1-B21EBE6EC8E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dirty="0" err="1"/>
              <a:t>attaker</a:t>
            </a:r>
            <a:r>
              <a:rPr lang="en-US" dirty="0"/>
              <a:t> inject traffic or disrupt communications.</a:t>
            </a:r>
          </a:p>
          <a:p>
            <a:r>
              <a:rPr lang="en-US" dirty="0"/>
              <a:t>It can be done through </a:t>
            </a:r>
            <a:r>
              <a:rPr lang="en-US" b="1" dirty="0"/>
              <a:t>packet injection</a:t>
            </a:r>
            <a:r>
              <a:rPr lang="en-US" dirty="0"/>
              <a:t>, </a:t>
            </a:r>
            <a:r>
              <a:rPr lang="en-GB" b="1" dirty="0"/>
              <a:t>traffic generation </a:t>
            </a:r>
            <a:r>
              <a:rPr lang="en-GB" dirty="0"/>
              <a:t>and </a:t>
            </a:r>
            <a:r>
              <a:rPr lang="en-GB" b="1" dirty="0"/>
              <a:t>selective jamming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86135-D1E1-4751-ABF2-65680FEA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9A9B9-4ADD-4452-A204-4F3BC445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01004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C9105E7-7143-49DB-9B8A-75712449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Common TA Techniques &amp; Tools</a:t>
            </a:r>
            <a:endParaRPr lang="LID4096" b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80FA601-3DB4-4188-9320-9B81C8323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Techniques</a:t>
            </a:r>
            <a:endParaRPr lang="LID4096" b="1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BBB47AC-2644-428B-825A-7A7EE10D5D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 Flow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Statistical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Time-Series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Website Fingerprinting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Entropy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Machine Learning (ML)</a:t>
            </a:r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EBEA5E-95E2-41C5-A396-918433EA0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Tools</a:t>
            </a:r>
            <a:endParaRPr lang="LID4096" b="1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F4BCAAB-D68F-4AC5-A84A-84103D5F03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Wireshark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 tcpdump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Aircrack-ng suite</a:t>
            </a:r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E3BA53-F097-4F1F-90B9-C2213364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9842A5-8CA0-4B2A-A6D5-93446485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89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11503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8DAFFB-790B-4619-BF12-42910FFCA8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</a:t>
            </a:r>
            <a:endParaRPr lang="LID4096" b="1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0E9EA82-152F-40EC-8669-EB4FB64089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7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1825334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D867B-B01E-4D74-9420-2CDC52C63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C348A-4C91-4606-8CBB-AA8EFEB81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Wireless security standards are protocols designed to protect wireless networks (Wi-Fi) from unauthorized access, data breaches, and interference.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b="1" dirty="0"/>
              <a:t>Wired Equivalent Privacy (WEP)</a:t>
            </a:r>
          </a:p>
          <a:p>
            <a:r>
              <a:rPr lang="en-US" sz="1600" dirty="0"/>
              <a:t>Introduced in 1997 as part of the original Institute of </a:t>
            </a:r>
            <a:r>
              <a:rPr lang="en-US" sz="1600" b="1" dirty="0"/>
              <a:t>Electrical and Electronics Engineers (IEEE) 802.11</a:t>
            </a:r>
            <a:r>
              <a:rPr lang="en-US" sz="1600" dirty="0"/>
              <a:t> standard.</a:t>
            </a:r>
          </a:p>
          <a:p>
            <a:r>
              <a:rPr lang="en-US" sz="1600" dirty="0"/>
              <a:t>The goal was to provide privacy similar to that of wired networks.</a:t>
            </a:r>
          </a:p>
          <a:p>
            <a:r>
              <a:rPr lang="en-US" sz="1600" dirty="0"/>
              <a:t>It uses </a:t>
            </a:r>
            <a:r>
              <a:rPr lang="en-US" sz="1600" b="1" dirty="0"/>
              <a:t>Rivest Cipher 4 (RC4) </a:t>
            </a:r>
            <a:r>
              <a:rPr lang="en-US" sz="1600" dirty="0"/>
              <a:t>stream cipher for encryption and an </a:t>
            </a:r>
            <a:r>
              <a:rPr lang="en-US" sz="1600" b="1" dirty="0"/>
              <a:t>Initialization Vector (IV) </a:t>
            </a:r>
            <a:r>
              <a:rPr lang="en-US" sz="1600" dirty="0"/>
              <a:t>24-bit field added to it.</a:t>
            </a:r>
          </a:p>
          <a:p>
            <a:r>
              <a:rPr lang="en-US" sz="1600" dirty="0"/>
              <a:t>Key length 64-bit (40-bit key + 24-bit IV) or 128-bit (104-bit key + 24-bit IV).</a:t>
            </a:r>
          </a:p>
          <a:p>
            <a:r>
              <a:rPr lang="en-GB" sz="1600" dirty="0"/>
              <a:t>Authentication methods include </a:t>
            </a:r>
            <a:r>
              <a:rPr lang="en-GB" sz="1600" b="1" dirty="0"/>
              <a:t>Open System </a:t>
            </a:r>
            <a:r>
              <a:rPr lang="en-GB" sz="1600" dirty="0"/>
              <a:t>(any device can authenticate) and </a:t>
            </a:r>
            <a:r>
              <a:rPr lang="en-GB" sz="1600" b="1" dirty="0"/>
              <a:t>Shared Key </a:t>
            </a:r>
            <a:r>
              <a:rPr lang="en-GB" sz="1600" dirty="0"/>
              <a:t>(</a:t>
            </a:r>
            <a:r>
              <a:rPr lang="en-US" sz="1600" dirty="0"/>
              <a:t>devices authenticate using a shared secret)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D99CA-77C9-4A29-82E8-DA7B3802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3EAB8-3CA4-4C21-84AB-A844B1A0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272104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06AAD-33FC-4807-A895-38FE5CC0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 (Continues…)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E80E49-76BF-4400-A6B7-FF9B20ED1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Weaknesses of WEP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7D56F-C7EF-491F-AB77-340EE6AFCA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dirty="0"/>
              <a:t>IVs are too short and frequently reused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RC4 is vulnerable to statistical attacks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Key reuse makes WEP vulnerable to replay attacks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D9762A-B6F1-4C55-8E70-F997DEA4D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Real-World Attack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2C0ABA-A41A-48E1-A2F1-102211DED45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Tools like Aircrack-ng can capture encrypted packets and use them to recover WEP keys.</a:t>
            </a:r>
          </a:p>
          <a:p>
            <a:r>
              <a:rPr lang="en-US" dirty="0"/>
              <a:t>Declared insecure by the Wi-Fi Alliance in 2004.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878E3-BF29-4593-BDAC-E9000C5B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DB8DD1-9176-4AE6-B452-65A17FFD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11274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CA55-9F6C-4EF3-BB80-CAF7DBC4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 (Continues…)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8D87BA6-427A-48E0-9DAF-F3CF7720E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 startAt="2"/>
            </a:pPr>
            <a:r>
              <a:rPr lang="en-US" b="1" dirty="0"/>
              <a:t>Wi-Fi Protected Access (WAP)</a:t>
            </a:r>
          </a:p>
          <a:p>
            <a:r>
              <a:rPr lang="en-US" dirty="0"/>
              <a:t>Introduced in 2003 by the </a:t>
            </a:r>
            <a:r>
              <a:rPr lang="en-US" b="1" dirty="0"/>
              <a:t>Wi-Fi Alliance</a:t>
            </a:r>
            <a:r>
              <a:rPr lang="en-US" dirty="0"/>
              <a:t>.</a:t>
            </a:r>
          </a:p>
          <a:p>
            <a:r>
              <a:rPr lang="en-US" dirty="0"/>
              <a:t>Interim solution to replace WEP until IEEE 802.11i was finalized.</a:t>
            </a:r>
          </a:p>
          <a:p>
            <a:r>
              <a:rPr lang="en-US" dirty="0"/>
              <a:t>It uses a </a:t>
            </a:r>
            <a:r>
              <a:rPr lang="en-US" b="1" dirty="0"/>
              <a:t>Temporal Key Integrity Protocol (TKIP) </a:t>
            </a:r>
            <a:r>
              <a:rPr lang="en-US" dirty="0"/>
              <a:t>which dynamically generates new keys for every packet and appends a </a:t>
            </a:r>
            <a:r>
              <a:rPr lang="en-GB" b="1" dirty="0"/>
              <a:t>Message Integrity Check (MIC) </a:t>
            </a:r>
            <a:r>
              <a:rPr lang="en-GB" dirty="0"/>
              <a:t>to detect tampering.</a:t>
            </a:r>
          </a:p>
          <a:p>
            <a:r>
              <a:rPr lang="en-US" dirty="0"/>
              <a:t>Still uses RC4 for encryption.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D56ED2-CFBF-46CB-92F0-FDA41748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0FF841-14E9-4EEC-8D0E-7666D10E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594469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84B2D0-803E-42B0-AF38-1B7E8482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 (Continues…)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AC78B7-F690-4A0B-9120-FDEF9B870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WPA modes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D22B18-802F-4E9A-84ED-150F98D7BA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b="1" dirty="0"/>
              <a:t>WPA-Pre-Shared Key (PSK) </a:t>
            </a:r>
            <a:r>
              <a:rPr lang="en-GB" dirty="0"/>
              <a:t>– For home users.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WPA-Enterprise</a:t>
            </a:r>
            <a:r>
              <a:rPr lang="en-GB" dirty="0"/>
              <a:t> – </a:t>
            </a:r>
            <a:r>
              <a:rPr lang="en-US" dirty="0"/>
              <a:t>Uses IEEE 802.1X authentication and a Remote Authentication Dial-In User Service (RADIUS) server.</a:t>
            </a:r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3D5EEB-0798-4D71-8168-685594B51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Weaknesses &amp; Real-World Attack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C8F3572-E671-41D3-813E-A107E037D4F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dirty="0"/>
              <a:t>TKIP still relies on RC4, inheriting many of its weaknesses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Vulnerable to replay attacks and MIC key recovery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Beck-Tews</a:t>
            </a:r>
            <a:r>
              <a:rPr lang="en-US" dirty="0"/>
              <a:t> attack allows packet injection by exploiting TKIP flaws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554AC-8C6E-4761-B842-4EC426F2E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9435A-874A-4612-A4B5-AB47EED1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683313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EAF6058-3F70-4C5C-8B90-9D0A74B70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 (Continues…)</a:t>
            </a:r>
            <a:endParaRPr lang="LID4096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6E95F7-7034-4475-892E-D26AABB0B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AutoNum type="arabicPeriod" startAt="3"/>
            </a:pPr>
            <a:r>
              <a:rPr lang="en-US" sz="1700" b="1" dirty="0"/>
              <a:t>Wi-Fi Protected Access II (WPA2)</a:t>
            </a:r>
          </a:p>
          <a:p>
            <a:r>
              <a:rPr lang="en-US" sz="1700" dirty="0"/>
              <a:t>Released in 2004, based on the </a:t>
            </a:r>
            <a:r>
              <a:rPr lang="en-US" sz="1700" b="1" dirty="0"/>
              <a:t>IEEE 802.11i </a:t>
            </a:r>
            <a:r>
              <a:rPr lang="en-US" sz="1700" dirty="0"/>
              <a:t>amendment.</a:t>
            </a:r>
          </a:p>
          <a:p>
            <a:r>
              <a:rPr lang="en-US" sz="1700" dirty="0"/>
              <a:t>Made mandatory for Wi-Fi certified devices by 2006.</a:t>
            </a:r>
          </a:p>
          <a:p>
            <a:r>
              <a:rPr lang="en-US" sz="1700" dirty="0"/>
              <a:t>It used </a:t>
            </a:r>
            <a:r>
              <a:rPr lang="en-US" sz="1700" b="1" dirty="0"/>
              <a:t>Advanced Encryption Standard (AES) </a:t>
            </a:r>
            <a:r>
              <a:rPr lang="en-US" sz="1700" dirty="0"/>
              <a:t>and </a:t>
            </a:r>
            <a:r>
              <a:rPr lang="en-US" sz="1700" b="1" dirty="0"/>
              <a:t>Counter Mode with Cipher Block Chaining Message Authentication Code Protocol (CCMP).</a:t>
            </a:r>
          </a:p>
          <a:p>
            <a:r>
              <a:rPr lang="en-US" sz="1700" dirty="0"/>
              <a:t>Provides both </a:t>
            </a:r>
            <a:r>
              <a:rPr lang="en-US" sz="1700" b="1" dirty="0"/>
              <a:t>encryption</a:t>
            </a:r>
            <a:r>
              <a:rPr lang="en-US" sz="1700" dirty="0"/>
              <a:t> and </a:t>
            </a:r>
            <a:r>
              <a:rPr lang="en-US" sz="1700" b="1" dirty="0"/>
              <a:t>message integrity</a:t>
            </a:r>
            <a:r>
              <a:rPr lang="en-US" sz="1700" dirty="0"/>
              <a:t>.</a:t>
            </a:r>
          </a:p>
          <a:p>
            <a:r>
              <a:rPr lang="en-US" sz="1700" dirty="0"/>
              <a:t>Uses a </a:t>
            </a:r>
            <a:r>
              <a:rPr lang="en-US" sz="1700" b="1" dirty="0"/>
              <a:t>4-way handshake </a:t>
            </a:r>
            <a:r>
              <a:rPr lang="en-US" sz="1700" dirty="0"/>
              <a:t>to establish encryption keys.</a:t>
            </a:r>
          </a:p>
          <a:p>
            <a:r>
              <a:rPr lang="en-GB" sz="1700" dirty="0"/>
              <a:t>Authentication Modes include </a:t>
            </a:r>
            <a:r>
              <a:rPr lang="en-GB" sz="1700" b="1" dirty="0"/>
              <a:t>WPA2-PSK</a:t>
            </a:r>
            <a:r>
              <a:rPr lang="en-GB" sz="1700" dirty="0"/>
              <a:t> and </a:t>
            </a:r>
            <a:r>
              <a:rPr lang="en-GB" sz="1700" b="1" dirty="0"/>
              <a:t>WPA2-Enterprise</a:t>
            </a:r>
            <a:r>
              <a:rPr lang="en-GB" sz="1700" dirty="0"/>
              <a:t>.</a:t>
            </a:r>
          </a:p>
          <a:p>
            <a:r>
              <a:rPr lang="en-US" sz="1700" dirty="0"/>
              <a:t> </a:t>
            </a:r>
            <a:r>
              <a:rPr lang="en-US" sz="1700" b="1" dirty="0"/>
              <a:t>Key Reinstallation Attack (KRACK</a:t>
            </a:r>
            <a:r>
              <a:rPr lang="en-US" sz="1700" dirty="0"/>
              <a:t>) vulnerability of  2017 exploits flaws in the 4-way handshake process to reinstall already-used keys.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6CF994-C313-4962-8D8F-46477894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6268201"/>
            <a:ext cx="6239309" cy="365125"/>
          </a:xfrm>
        </p:spPr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C54203-FA88-49E7-87D5-11528F84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007640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9962-1564-4781-AFDA-DAD94465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71ECB-086A-457A-BA20-7801125AE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 startAt="4"/>
            </a:pPr>
            <a:r>
              <a:rPr lang="en-US" b="1" dirty="0"/>
              <a:t>Wi-Fi Protected Access III (WPA3)</a:t>
            </a:r>
          </a:p>
          <a:p>
            <a:r>
              <a:rPr lang="en-US" dirty="0"/>
              <a:t>Introduced in 2018 to overcome WPA2 limitations.</a:t>
            </a:r>
          </a:p>
          <a:p>
            <a:r>
              <a:rPr lang="en-US" dirty="0"/>
              <a:t>Replaces WPA2’s PSK with </a:t>
            </a:r>
            <a:r>
              <a:rPr lang="en-US" b="1" dirty="0"/>
              <a:t>Simultaneous Authentication of Equals (SAE) </a:t>
            </a:r>
            <a:r>
              <a:rPr lang="en-US" dirty="0"/>
              <a:t>which is based on </a:t>
            </a:r>
            <a:r>
              <a:rPr lang="en-US" b="1" dirty="0"/>
              <a:t>Password-Authenticated Key Exchange (PAKE), </a:t>
            </a:r>
            <a:r>
              <a:rPr lang="en-US" dirty="0"/>
              <a:t>providing resistance to dictionary attacks.</a:t>
            </a:r>
          </a:p>
          <a:p>
            <a:r>
              <a:rPr lang="en-US" dirty="0"/>
              <a:t>Past session keys remain secure even if a current key is compromised (</a:t>
            </a:r>
            <a:r>
              <a:rPr lang="en-GB" b="1" dirty="0"/>
              <a:t>Forward Secrecy</a:t>
            </a:r>
            <a:r>
              <a:rPr lang="en-GB" dirty="0"/>
              <a:t>).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7D9B8-B184-4D28-A1CF-6B7459E51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59ADD-49F3-494A-8235-33A0D211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21132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6E8C791-03BD-4F10-90C6-CE36CE37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 (Continues…)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82280C-F76E-43E4-B08F-B74E7F1ED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Additional Features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27A1D9-F64E-4CD7-91F8-D141ABCA27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b="1" dirty="0"/>
              <a:t>Opportunistic Wireless Encryption (OWE) </a:t>
            </a:r>
            <a:r>
              <a:rPr lang="en-GB" dirty="0"/>
              <a:t>– </a:t>
            </a:r>
            <a:r>
              <a:rPr lang="en-US" dirty="0"/>
              <a:t>Provides encrypted communication in open networks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Wi-Fi Easy Connect</a:t>
            </a:r>
            <a:r>
              <a:rPr lang="en-GB" dirty="0"/>
              <a:t> – </a:t>
            </a:r>
            <a:r>
              <a:rPr lang="en-US" dirty="0"/>
              <a:t>Uses </a:t>
            </a:r>
            <a:r>
              <a:rPr lang="en-US" b="1" dirty="0"/>
              <a:t>Device Provisioning Protocol (DPP) </a:t>
            </a:r>
            <a:r>
              <a:rPr lang="en-US" dirty="0"/>
              <a:t>to connect IoT (Internet of Things) devices securely via QR codes</a:t>
            </a:r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AF89D6-6222-412E-A390-EC82C3A22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Vulnerability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1575518-DCBC-4160-A475-A28A7D1B287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b="1" dirty="0"/>
              <a:t>Dragonblood attacks (2019) </a:t>
            </a:r>
            <a:r>
              <a:rPr lang="en-GB" dirty="0"/>
              <a:t>– </a:t>
            </a:r>
            <a:r>
              <a:rPr lang="en-US" dirty="0"/>
              <a:t>Exploited implementation flaws in the SAE protocol, now mitigated in updates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F2791-2DA2-4B4A-B940-1104B25B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991BD-B9CD-4132-80A5-DBE8FE49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30069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6501-021E-49A5-B308-F9BB3C60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 (Continues…)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87AAA7-585F-49FB-AF16-6F1116CF5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 startAt="5"/>
            </a:pPr>
            <a:r>
              <a:rPr lang="en-US" b="1" dirty="0"/>
              <a:t>Wireless LAN Security (IEEE 802.11i) </a:t>
            </a:r>
          </a:p>
          <a:p>
            <a:r>
              <a:rPr lang="en-US" dirty="0"/>
              <a:t>Finalized in 2004 and introduced the </a:t>
            </a:r>
            <a:r>
              <a:rPr lang="en-US" b="1" dirty="0"/>
              <a:t>Robust Security Network (RSN) </a:t>
            </a:r>
            <a:r>
              <a:rPr lang="en-US" dirty="0"/>
              <a:t>concept.</a:t>
            </a:r>
          </a:p>
          <a:p>
            <a:r>
              <a:rPr lang="en-US" dirty="0"/>
              <a:t>It’s </a:t>
            </a:r>
            <a:r>
              <a:rPr lang="en-GB" b="1" dirty="0"/>
              <a:t>features</a:t>
            </a:r>
            <a:r>
              <a:rPr lang="en-US" dirty="0"/>
              <a:t> included;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AES-CCMP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802.1X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Key management, authentication, and data integrity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F5D679-5B42-40AE-8BF6-2653CBDCF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38E21F-D805-4A06-A55E-63C4372E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95590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919F-A150-48C9-BC20-50514BCF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23561-4445-421A-B2E6-EED7FAF46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 startAt="6"/>
            </a:pPr>
            <a:r>
              <a:rPr lang="en-US" b="1" dirty="0"/>
              <a:t>Port-Based Network Access Control (IEEE 802.1X)</a:t>
            </a:r>
          </a:p>
          <a:p>
            <a:r>
              <a:rPr lang="en-US" dirty="0"/>
              <a:t>Provides a framework for authenticating and authorizing devices on a network.</a:t>
            </a:r>
          </a:p>
          <a:p>
            <a:r>
              <a:rPr lang="en-US" dirty="0"/>
              <a:t>It’s </a:t>
            </a:r>
            <a:r>
              <a:rPr lang="en-US" b="1" dirty="0"/>
              <a:t>components</a:t>
            </a:r>
            <a:r>
              <a:rPr lang="en-US" dirty="0"/>
              <a:t> include;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Supplicant</a:t>
            </a:r>
            <a:r>
              <a:rPr lang="en-US" dirty="0"/>
              <a:t> - The client device requesting access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Authenticator</a:t>
            </a:r>
            <a:r>
              <a:rPr lang="en-US" dirty="0"/>
              <a:t> – Network device (e.g., Access Point or Switch)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Authentication Server </a:t>
            </a:r>
            <a:r>
              <a:rPr lang="en-US" dirty="0"/>
              <a:t>- Usually a RADIUS server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027B7-E197-4B68-A39F-70F00DA5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8AF54-9D91-4CAC-BC44-76D85DAE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99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136442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4BC2-84D8-4A59-A736-EEA5EA96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Wireless Security Standards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4977B-24AD-4D74-87CE-D693B7966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Extensible Authentication Protocol (EAP) Variants Used in IEEE 802.1X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EAP-Transport Layer Security (TLS) </a:t>
            </a:r>
            <a:r>
              <a:rPr lang="en-GB" dirty="0"/>
              <a:t>– Uses client and server certificates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Protected EAP (PEAP) </a:t>
            </a:r>
            <a:r>
              <a:rPr lang="en-GB" dirty="0"/>
              <a:t>– </a:t>
            </a:r>
            <a:r>
              <a:rPr lang="fr-FR" dirty="0"/>
              <a:t>Encapsulates EAP inside a TLS tunnel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EAP-</a:t>
            </a:r>
            <a:r>
              <a:rPr lang="en-GB" b="1" dirty="0" err="1"/>
              <a:t>Tunneled</a:t>
            </a:r>
            <a:r>
              <a:rPr lang="en-GB" b="1" dirty="0"/>
              <a:t> Transport Layer Security (TTLS)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813F4-F624-4A75-BF84-9E51C4F3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E6B22-C729-479E-9783-AA51394CC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84844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4C8AD-43F9-43E9-BF03-F043B6BF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4-way handshake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6E2C-E5D5-40AF-A08D-E757F2A44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100" dirty="0"/>
              <a:t>Is a process used in wireless security protocols, particularly Wi-Fi Protected Access protocols, to establish a secure connection between a Wi-Fi client (like your laptop or phone) and a Wi-Fi access point (router).</a:t>
            </a:r>
          </a:p>
          <a:p>
            <a:r>
              <a:rPr lang="en-US" sz="2100" dirty="0"/>
              <a:t>Its </a:t>
            </a:r>
            <a:r>
              <a:rPr lang="en-US" sz="2100" b="1" dirty="0"/>
              <a:t>purpose</a:t>
            </a:r>
            <a:r>
              <a:rPr lang="en-US" sz="2100" dirty="0"/>
              <a:t> is to;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dirty="0"/>
              <a:t>To confirm both the client and access point know the Pre-Shared Key (PSK) or use 802.1X authentication.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dirty="0"/>
              <a:t>To generate and exchange encryption keys (called Pairwise Transient Keys or PTKs).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100" dirty="0"/>
              <a:t>To protect against replay and man-in-the-middle attacks.</a:t>
            </a:r>
            <a:endParaRPr lang="LID4096" sz="21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7E5FC-3149-4FF8-9935-3F6F5FC8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44D10-F82D-4C06-B728-C3271F58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201154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5903-037F-4C90-91B9-96F031FC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4-way handshake (Continues…)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F7D540-1CBC-463F-BFC7-B0A60DA11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61A1D42-87DF-4120-88C0-800464B879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A3D42B-20D6-4154-897A-F483F8566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96B6AAF-50A0-4C7B-B75D-D47BC34D249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31075-E098-4B31-9D07-77901939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EC8BE-3654-43F7-826C-CCBD86EC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102</a:t>
            </a:fld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E907B4-FB85-424B-A01D-8B337372516C}"/>
              </a:ext>
            </a:extLst>
          </p:cNvPr>
          <p:cNvSpPr/>
          <p:nvPr/>
        </p:nvSpPr>
        <p:spPr>
          <a:xfrm>
            <a:off x="1272619" y="3429000"/>
            <a:ext cx="612742" cy="3556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DC9F4D-16B2-4030-B263-68B02993FB85}"/>
              </a:ext>
            </a:extLst>
          </p:cNvPr>
          <p:cNvCxnSpPr/>
          <p:nvPr/>
        </p:nvCxnSpPr>
        <p:spPr>
          <a:xfrm flipH="1">
            <a:off x="989011" y="3784603"/>
            <a:ext cx="283607" cy="1840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BBE1BE7-8D96-49DE-8CE8-905329855769}"/>
              </a:ext>
            </a:extLst>
          </p:cNvPr>
          <p:cNvCxnSpPr/>
          <p:nvPr/>
        </p:nvCxnSpPr>
        <p:spPr>
          <a:xfrm flipH="1">
            <a:off x="1425016" y="3784602"/>
            <a:ext cx="460345" cy="276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BAC860F-FE72-44FF-9AB3-B2F711DC03C0}"/>
              </a:ext>
            </a:extLst>
          </p:cNvPr>
          <p:cNvCxnSpPr/>
          <p:nvPr/>
        </p:nvCxnSpPr>
        <p:spPr>
          <a:xfrm>
            <a:off x="989010" y="3968684"/>
            <a:ext cx="414817" cy="92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CE4360-7C34-41A5-B4C8-0453144E49C0}"/>
              </a:ext>
            </a:extLst>
          </p:cNvPr>
          <p:cNvSpPr/>
          <p:nvPr/>
        </p:nvSpPr>
        <p:spPr>
          <a:xfrm>
            <a:off x="4401700" y="3592401"/>
            <a:ext cx="904973" cy="53968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03429828-D8C9-41E3-87DB-94C8D3CD4403}"/>
              </a:ext>
            </a:extLst>
          </p:cNvPr>
          <p:cNvSpPr/>
          <p:nvPr/>
        </p:nvSpPr>
        <p:spPr>
          <a:xfrm>
            <a:off x="4544962" y="3315790"/>
            <a:ext cx="179877" cy="263523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517C969A-112D-47B2-BD2E-6D15F2FBDBDB}"/>
              </a:ext>
            </a:extLst>
          </p:cNvPr>
          <p:cNvSpPr/>
          <p:nvPr/>
        </p:nvSpPr>
        <p:spPr>
          <a:xfrm>
            <a:off x="4985616" y="3332802"/>
            <a:ext cx="179877" cy="263523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D04979-1420-4452-BBF1-9228ED19ECF2}"/>
              </a:ext>
            </a:extLst>
          </p:cNvPr>
          <p:cNvSpPr/>
          <p:nvPr/>
        </p:nvSpPr>
        <p:spPr>
          <a:xfrm>
            <a:off x="754112" y="2993992"/>
            <a:ext cx="202651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 (Supplicant)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21B1DA-88CF-4170-80A7-3B70D7518E67}"/>
              </a:ext>
            </a:extLst>
          </p:cNvPr>
          <p:cNvSpPr/>
          <p:nvPr/>
        </p:nvSpPr>
        <p:spPr>
          <a:xfrm>
            <a:off x="3396536" y="2993992"/>
            <a:ext cx="287777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Authenticator (Access Pont)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1259D9-4CAE-45D4-AAB5-D39809BF4CB9}"/>
              </a:ext>
            </a:extLst>
          </p:cNvPr>
          <p:cNvSpPr/>
          <p:nvPr/>
        </p:nvSpPr>
        <p:spPr>
          <a:xfrm>
            <a:off x="2683310" y="3938553"/>
            <a:ext cx="92044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Anonce</a:t>
            </a:r>
          </a:p>
        </p:txBody>
      </p:sp>
      <p:sp>
        <p:nvSpPr>
          <p:cNvPr id="30" name="Arrow: Left 29">
            <a:extLst>
              <a:ext uri="{FF2B5EF4-FFF2-40B4-BE49-F238E27FC236}">
                <a16:creationId xmlns:a16="http://schemas.microsoft.com/office/drawing/2014/main" id="{DC29F81E-671E-46A2-9481-155EEF6521EE}"/>
              </a:ext>
            </a:extLst>
          </p:cNvPr>
          <p:cNvSpPr/>
          <p:nvPr/>
        </p:nvSpPr>
        <p:spPr>
          <a:xfrm>
            <a:off x="1037720" y="4405187"/>
            <a:ext cx="4308082" cy="138080"/>
          </a:xfrm>
          <a:prstGeom prst="lef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CD78C94-D3CA-4749-BA2D-76E9C732F632}"/>
              </a:ext>
            </a:extLst>
          </p:cNvPr>
          <p:cNvSpPr/>
          <p:nvPr/>
        </p:nvSpPr>
        <p:spPr>
          <a:xfrm>
            <a:off x="1087081" y="4825161"/>
            <a:ext cx="4268953" cy="15460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BF823D-C2C6-4B16-A438-3F31213C0352}"/>
              </a:ext>
            </a:extLst>
          </p:cNvPr>
          <p:cNvSpPr/>
          <p:nvPr/>
        </p:nvSpPr>
        <p:spPr>
          <a:xfrm>
            <a:off x="367760" y="4021303"/>
            <a:ext cx="65114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PMK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0FF2F5-E0CE-493F-B6C5-33EE994FCF6C}"/>
              </a:ext>
            </a:extLst>
          </p:cNvPr>
          <p:cNvSpPr/>
          <p:nvPr/>
        </p:nvSpPr>
        <p:spPr>
          <a:xfrm>
            <a:off x="5356034" y="4037892"/>
            <a:ext cx="65114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PMK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FC526D-550C-4585-AAA4-F2D9A98162A5}"/>
              </a:ext>
            </a:extLst>
          </p:cNvPr>
          <p:cNvSpPr/>
          <p:nvPr/>
        </p:nvSpPr>
        <p:spPr>
          <a:xfrm>
            <a:off x="2384488" y="4451219"/>
            <a:ext cx="161454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Snonce + MIC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DDF431F0-F848-432A-8146-192071CA88AF}"/>
              </a:ext>
            </a:extLst>
          </p:cNvPr>
          <p:cNvSpPr/>
          <p:nvPr/>
        </p:nvSpPr>
        <p:spPr>
          <a:xfrm>
            <a:off x="1067516" y="5247404"/>
            <a:ext cx="4308082" cy="138080"/>
          </a:xfrm>
          <a:prstGeom prst="lef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7B9052-0EF6-4136-B960-7AFBE0370CF5}"/>
              </a:ext>
            </a:extLst>
          </p:cNvPr>
          <p:cNvSpPr/>
          <p:nvPr/>
        </p:nvSpPr>
        <p:spPr>
          <a:xfrm>
            <a:off x="410239" y="4702410"/>
            <a:ext cx="56618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PTK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51F9A4-61C2-4CE0-B8C2-278D75777076}"/>
              </a:ext>
            </a:extLst>
          </p:cNvPr>
          <p:cNvSpPr/>
          <p:nvPr/>
        </p:nvSpPr>
        <p:spPr>
          <a:xfrm>
            <a:off x="5398513" y="4696843"/>
            <a:ext cx="56618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PTK</a:t>
            </a:r>
          </a:p>
        </p:txBody>
      </p:sp>
    </p:spTree>
    <p:extLst>
      <p:ext uri="{BB962C8B-B14F-4D97-AF65-F5344CB8AC3E}">
        <p14:creationId xmlns:p14="http://schemas.microsoft.com/office/powerpoint/2010/main" val="342858843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C32BF85-B830-4A50-9A3B-3D49E53B1E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WIRELESS TRANSPORT LAYER SECURITY(WTLS)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96EAA2C-7050-4E6E-A85E-5BED1085F6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8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EF741-E399-45E4-9D3B-B00B0A04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A4294-4EB8-4F9E-BFAF-C9E1C446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218381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F2EF-CA6E-4085-864D-A873D254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WIRELESS TRANSPORT LAYER SECURITY (WTLS)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21C03-8DF6-43B3-BF44-369355910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WTLS </a:t>
            </a:r>
            <a:r>
              <a:rPr lang="en-US" dirty="0"/>
              <a:t>is a security protocol specifically designed for wireless networks, particularly for devices using the </a:t>
            </a:r>
            <a:r>
              <a:rPr lang="en-US" b="1" dirty="0"/>
              <a:t>Wireless Application Protocol (WAP)</a:t>
            </a:r>
            <a:r>
              <a:rPr lang="en-US" dirty="0"/>
              <a:t>.</a:t>
            </a:r>
          </a:p>
          <a:p>
            <a:r>
              <a:rPr lang="en-US" b="1" dirty="0"/>
              <a:t>WTLS</a:t>
            </a:r>
            <a:r>
              <a:rPr lang="en-US" dirty="0"/>
              <a:t> is based on </a:t>
            </a:r>
            <a:r>
              <a:rPr lang="en-US" b="1" dirty="0"/>
              <a:t>TLS (Transport Layer Security)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but it's optimized for wireless environments where bandwidth, processing power, and memory are limited.</a:t>
            </a:r>
          </a:p>
          <a:p>
            <a:r>
              <a:rPr lang="en-US" dirty="0"/>
              <a:t>Below are some reasons </a:t>
            </a:r>
            <a:r>
              <a:rPr lang="en-US" b="1" dirty="0"/>
              <a:t>why we need WTLS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Communication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Using Internet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2ED2-7D6C-4E29-A932-E688D5DC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CA800-9F4C-4292-B5B0-7E2995D8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664318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25C9-3D61-4CDB-839F-DD1502A0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TRANSPORT LAYER SECURITY (TLS)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61CC8-A70E-49F7-ADCC-8E4A22A47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TLS (Transport Layer Security) </a:t>
            </a:r>
            <a:r>
              <a:rPr lang="en-US" dirty="0"/>
              <a:t>is a cryptographic protocol designed to provide secure communication over a computer network, such as the internet. </a:t>
            </a:r>
          </a:p>
          <a:p>
            <a:r>
              <a:rPr lang="en-US" dirty="0"/>
              <a:t>Transport Layer Security (TLS) is a slightly modified version of </a:t>
            </a:r>
            <a:r>
              <a:rPr lang="en-US" b="1" dirty="0"/>
              <a:t>SSL version 3</a:t>
            </a:r>
            <a:r>
              <a:rPr lang="en-US" dirty="0"/>
              <a:t>.</a:t>
            </a:r>
          </a:p>
          <a:p>
            <a:r>
              <a:rPr lang="en-US" b="1" dirty="0"/>
              <a:t>WTLS Functions </a:t>
            </a:r>
            <a:r>
              <a:rPr lang="en-US" dirty="0"/>
              <a:t>include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Integrity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Authentication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Privacy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38111-6379-4DF6-821C-E02AC8C3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32A81-934B-423F-87D3-21F79CF8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5748673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64A3-5CB8-40E9-813E-60E7DBD3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WTLS Specifications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08AAE-2D8F-4A81-B7DC-56442CD89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Full Handshaking</a:t>
            </a:r>
          </a:p>
          <a:p>
            <a:r>
              <a:rPr lang="en-US" dirty="0"/>
              <a:t>A Full Handshake is used when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The client and server </a:t>
            </a:r>
            <a:r>
              <a:rPr lang="en-US" b="1" dirty="0"/>
              <a:t>have no prior session </a:t>
            </a:r>
            <a:r>
              <a:rPr lang="en-US" dirty="0"/>
              <a:t>or session data (i.e., </a:t>
            </a:r>
            <a:r>
              <a:rPr lang="en-US" b="1" dirty="0"/>
              <a:t>first-time connection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The session must establish </a:t>
            </a:r>
            <a:r>
              <a:rPr lang="en-US" b="1" dirty="0"/>
              <a:t>new keys</a:t>
            </a:r>
            <a:r>
              <a:rPr lang="en-US" dirty="0"/>
              <a:t>, </a:t>
            </a:r>
            <a:r>
              <a:rPr lang="en-US" b="1" dirty="0"/>
              <a:t>perform certificate validation</a:t>
            </a:r>
            <a:r>
              <a:rPr lang="en-US" dirty="0"/>
              <a:t>, and </a:t>
            </a:r>
            <a:r>
              <a:rPr lang="en-US" b="1" dirty="0"/>
              <a:t>negotiate security parameters from scratch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C58BC5-D2A0-4AEF-9CFA-A11F0B36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6790C-705F-4E3F-9761-4CE79656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40203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7A8C-B9EF-4495-BF57-2C438C50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WTLS Specifications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9D6BB-97B2-4689-9C2D-FA3A33742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Features of a full handshake </a:t>
            </a:r>
            <a:r>
              <a:rPr lang="en-GB" dirty="0"/>
              <a:t>include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Exchange of client and server </a:t>
            </a:r>
            <a:r>
              <a:rPr lang="en-US" b="1" dirty="0"/>
              <a:t>certificates</a:t>
            </a:r>
            <a:r>
              <a:rPr lang="en-US" dirty="0"/>
              <a:t> (if required).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Generation of new </a:t>
            </a:r>
            <a:r>
              <a:rPr lang="en-US" b="1" dirty="0"/>
              <a:t>session keys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Longer time and processing </a:t>
            </a:r>
            <a:r>
              <a:rPr lang="en-US" dirty="0"/>
              <a:t>due to complete setup.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More secure</a:t>
            </a:r>
            <a:r>
              <a:rPr lang="en-US" dirty="0"/>
              <a:t>, especially when no trust has been previously established.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FED97-0B77-4CF5-94D0-0525F3B8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F70D7-14DC-4A3D-B3C6-47D9130DB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993910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2D87-4FDA-495A-B8F8-920E205E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WTLS Specifications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7078E-DBE7-452F-BDEC-5488EC1E5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AutoNum type="arabicPeriod" startAt="2"/>
            </a:pPr>
            <a:r>
              <a:rPr lang="en-US" b="1" dirty="0"/>
              <a:t>Abbreviated Handshaking</a:t>
            </a:r>
          </a:p>
          <a:p>
            <a:r>
              <a:rPr lang="en-US" dirty="0"/>
              <a:t>An Abbreviated Handshake is used when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The client and server have </a:t>
            </a:r>
            <a:r>
              <a:rPr lang="en-US" b="1" dirty="0"/>
              <a:t>previously communicated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They </a:t>
            </a:r>
            <a:r>
              <a:rPr lang="en-US" b="1" dirty="0"/>
              <a:t>use cached session data </a:t>
            </a:r>
            <a:r>
              <a:rPr lang="en-US" dirty="0"/>
              <a:t>to resume a previous secure connection.</a:t>
            </a:r>
          </a:p>
          <a:p>
            <a:r>
              <a:rPr lang="en-US" dirty="0"/>
              <a:t>Its </a:t>
            </a:r>
            <a:r>
              <a:rPr lang="en-US" b="1" dirty="0"/>
              <a:t>key features </a:t>
            </a:r>
            <a:r>
              <a:rPr lang="en-US" dirty="0"/>
              <a:t>include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Faster connection </a:t>
            </a:r>
            <a:r>
              <a:rPr lang="en-US" dirty="0"/>
              <a:t>setup.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Reuses previous session keys </a:t>
            </a:r>
            <a:r>
              <a:rPr lang="en-US" dirty="0"/>
              <a:t>or resumption secrets.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Saves on CPU</a:t>
            </a:r>
            <a:r>
              <a:rPr lang="en-US" dirty="0"/>
              <a:t>, memory, and bandwidth.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56F68-26CA-46AA-8240-CB35D6F8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CDC65-43BE-4C20-809D-B14C2AE4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05969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BDAD-64CA-4922-A29D-C56B00015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Full VS. ABBREVIATED HANDSHAKE </a:t>
            </a:r>
            <a:endParaRPr lang="LID4096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D29349-C9D2-445D-8942-3409F1006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Full</a:t>
            </a:r>
            <a:endParaRPr lang="LID4096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59CEFF7-BE6B-4D72-B308-0F46424DDB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41413" y="3092724"/>
            <a:ext cx="4878387" cy="267915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5AEB58-4266-4CC9-856F-B2811D660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Abbreviated </a:t>
            </a:r>
            <a:endParaRPr lang="LID4096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8D62FBD-474B-4A37-9F50-0212B216656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092724"/>
            <a:ext cx="4875213" cy="267915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00215-A460-4E7D-B9FE-C4EA7FA9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Kapasa Makasa University ℗ James Soko | Prepared for Mr. Zilani Kaluba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3B5EA-1B6A-420E-BCC5-2EBDCCE4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CBD77-CD2E-4B2C-9AD8-253F8A9F7599}" type="slidenum">
              <a:rPr lang="LID4096" smtClean="0"/>
              <a:t>109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6209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4582</TotalTime>
  <Words>7419</Words>
  <Application>Microsoft Office PowerPoint</Application>
  <PresentationFormat>Widescreen</PresentationFormat>
  <Paragraphs>913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4" baseType="lpstr">
      <vt:lpstr>Arial</vt:lpstr>
      <vt:lpstr>Calibri</vt:lpstr>
      <vt:lpstr>Tw Cen MT</vt:lpstr>
      <vt:lpstr>Wingdings</vt:lpstr>
      <vt:lpstr>Circuit</vt:lpstr>
      <vt:lpstr>Wireless Security </vt:lpstr>
      <vt:lpstr>Introduction to wireless security </vt:lpstr>
      <vt:lpstr>INTRODUCTION</vt:lpstr>
      <vt:lpstr>INTRODUCTION (Continues…)</vt:lpstr>
      <vt:lpstr>Example of Wireless</vt:lpstr>
      <vt:lpstr>Example of Wireless (continues…)</vt:lpstr>
      <vt:lpstr>Example of Wireless (continues…)</vt:lpstr>
      <vt:lpstr>Example of Wireless (continues…)</vt:lpstr>
      <vt:lpstr>WIRED VS WIRELESS TECHNOLOGY</vt:lpstr>
      <vt:lpstr>HOW WIRELESS TECHNOLOGY WORKS</vt:lpstr>
      <vt:lpstr>TYPES OF TECHNOLOGIES</vt:lpstr>
      <vt:lpstr>TYPES OF TECHNOLOGIES (continues…)</vt:lpstr>
      <vt:lpstr>ADVANTAGES &amp; disadvantages OF WIRELESS TECHNOLOGY</vt:lpstr>
      <vt:lpstr>Applications Of Wireless Technology</vt:lpstr>
      <vt:lpstr>Applications Of Wireless Technology (continues…)</vt:lpstr>
      <vt:lpstr>Applications Of Wireless Technology (continues…)</vt:lpstr>
      <vt:lpstr>Applications Of Wireless Technology (continues…)</vt:lpstr>
      <vt:lpstr>Applications Of Wireless Technology (continues…)</vt:lpstr>
      <vt:lpstr>Applications Of Wireless Technology (continues…)</vt:lpstr>
      <vt:lpstr>Wireless data networks</vt:lpstr>
      <vt:lpstr>introduction</vt:lpstr>
      <vt:lpstr>Need of wireless data networks</vt:lpstr>
      <vt:lpstr>Benefits &amp; Disadvantages of wireless data networks</vt:lpstr>
      <vt:lpstr>Types of wireless data networks</vt:lpstr>
      <vt:lpstr>Types of wireless data networks (Continues…)</vt:lpstr>
      <vt:lpstr>Types of wireless data networks (Continues…)</vt:lpstr>
      <vt:lpstr>Types of wireless data networks (Continues…)</vt:lpstr>
      <vt:lpstr>Types of wireless data networks (Continues…)</vt:lpstr>
      <vt:lpstr>Types of wireless data networks (Continues…)</vt:lpstr>
      <vt:lpstr>Types of wireless data networks (Continues…)</vt:lpstr>
      <vt:lpstr>Types of wireless data networks (Continues…)</vt:lpstr>
      <vt:lpstr>Wireless Personal Area Network (wpan)</vt:lpstr>
      <vt:lpstr>IEEE definition of WPAN </vt:lpstr>
      <vt:lpstr>WPAN TECHNOLOGIES 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WPAN TECHNOLOGIES  (continues…)</vt:lpstr>
      <vt:lpstr>Wireless Transmission Media</vt:lpstr>
      <vt:lpstr>Wireless Transmission</vt:lpstr>
      <vt:lpstr>Types of Wireless transmission</vt:lpstr>
      <vt:lpstr>Types of Wireless transmission (Continues…)   Advantages of Radio waves </vt:lpstr>
      <vt:lpstr>Types of Wireless transmission (Continues…) Disadvantages of Radio wave</vt:lpstr>
      <vt:lpstr>Types of Wireless transmission (Continues…) Characteristics of a Radio wave</vt:lpstr>
      <vt:lpstr>Types of Wireless transmission (Continues…)      Application of radio wave</vt:lpstr>
      <vt:lpstr>Types of Wireless transmission (Continues…)</vt:lpstr>
      <vt:lpstr>Types of Wireless transmission (Continues…)                   types of Microwave</vt:lpstr>
      <vt:lpstr>PowerPoint Presentation</vt:lpstr>
      <vt:lpstr>Types of Wireless transmission (Continues…)                   types of Microwave (Continues…)</vt:lpstr>
      <vt:lpstr>Types of Wireless transmission (Continues…)                   types of Microwave (Continues…)</vt:lpstr>
      <vt:lpstr>Types of Wireless transmission (Continues…)                   types of Microwave (Continues…)     Applications of Satellite Microwave</vt:lpstr>
      <vt:lpstr>Types of Wireless transmission (Continues…)</vt:lpstr>
      <vt:lpstr>Types of Wireless transmission (Continues…)                          Characteristics of IR</vt:lpstr>
      <vt:lpstr>Types of Wireless transmission (Continues…)                          applications of IR</vt:lpstr>
      <vt:lpstr>WIRELESS SECURITY THREATS</vt:lpstr>
      <vt:lpstr>Security Treat &amp; Breach </vt:lpstr>
      <vt:lpstr>Security Treat &amp; Breach (Continues…) </vt:lpstr>
      <vt:lpstr>Security Threats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Security Threats (Continues…)</vt:lpstr>
      <vt:lpstr>Traffic Analysis</vt:lpstr>
      <vt:lpstr>Traffic Analysis</vt:lpstr>
      <vt:lpstr>Why is TA a Critical Threat in Wireless  Networks?</vt:lpstr>
      <vt:lpstr>Types of Traffic Analysis Attacks</vt:lpstr>
      <vt:lpstr>Common TA Techniques &amp; Tools</vt:lpstr>
      <vt:lpstr>Wireless Security Standards</vt:lpstr>
      <vt:lpstr>Wireless Security Standards</vt:lpstr>
      <vt:lpstr>Wireless Security Standards (Continues…)</vt:lpstr>
      <vt:lpstr>Wireless Security Standards (Continues…)</vt:lpstr>
      <vt:lpstr>Wireless Security Standards (Continues…)</vt:lpstr>
      <vt:lpstr>Wireless Security Standards (Continues…)</vt:lpstr>
      <vt:lpstr>Wireless Security Standards (Continues…)</vt:lpstr>
      <vt:lpstr>Wireless Security Standards (Continues…)</vt:lpstr>
      <vt:lpstr>Wireless Security Standards (Continues…)</vt:lpstr>
      <vt:lpstr>Wireless Security Standards (Continues…)</vt:lpstr>
      <vt:lpstr>Wireless Security Standards (Continues…)</vt:lpstr>
      <vt:lpstr>4-way handshake</vt:lpstr>
      <vt:lpstr>4-way handshake (Continues…)</vt:lpstr>
      <vt:lpstr>WIRELESS TRANSPORT LAYER SECURITY(WTLS)</vt:lpstr>
      <vt:lpstr>WIRELESS TRANSPORT LAYER SECURITY (WTLS)</vt:lpstr>
      <vt:lpstr>TRANSPORT LAYER SECURITY (TLS)</vt:lpstr>
      <vt:lpstr>WTLS Specifications</vt:lpstr>
      <vt:lpstr>WTLS Specifications (Continues…)</vt:lpstr>
      <vt:lpstr>WTLS Specifications (Continues…)</vt:lpstr>
      <vt:lpstr>Full VS. ABBREVIATED HANDSHAKE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Security</dc:title>
  <dc:creator>James Soko</dc:creator>
  <cp:lastModifiedBy>James Soko</cp:lastModifiedBy>
  <cp:revision>378</cp:revision>
  <dcterms:created xsi:type="dcterms:W3CDTF">2025-02-12T11:35:09Z</dcterms:created>
  <dcterms:modified xsi:type="dcterms:W3CDTF">2025-11-02T17:57:16Z</dcterms:modified>
</cp:coreProperties>
</file>