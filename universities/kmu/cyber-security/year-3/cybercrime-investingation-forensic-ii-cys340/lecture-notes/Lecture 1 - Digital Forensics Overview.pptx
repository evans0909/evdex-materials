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48" d="100"/>
          <a:sy n="48" d="100"/>
        </p:scale>
        <p:origin x="67" y="8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F0ED7C-8B7D-4840-8F8F-E9209DB674B2}"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568C1C-4E28-43ED-9E33-885ABD378403}" type="slidenum">
              <a:rPr lang="en-US" smtClean="0"/>
              <a:t>‹#›</a:t>
            </a:fld>
            <a:endParaRPr lang="en-US"/>
          </a:p>
        </p:txBody>
      </p:sp>
    </p:spTree>
    <p:extLst>
      <p:ext uri="{BB962C8B-B14F-4D97-AF65-F5344CB8AC3E}">
        <p14:creationId xmlns:p14="http://schemas.microsoft.com/office/powerpoint/2010/main" val="3987732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1E3709-9FAE-485D-A4D2-FC4192F4680C}" type="slidenum">
              <a:rPr lang="en-US"/>
              <a:pPr/>
              <a:t>1</a:t>
            </a:fld>
            <a:endParaRPr lang="en-US" dirty="0"/>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p:txBody>
          <a:bodyPr/>
          <a:lstStyle/>
          <a:p>
            <a:endParaRPr lang="ru-RU"/>
          </a:p>
        </p:txBody>
      </p:sp>
    </p:spTree>
    <p:extLst>
      <p:ext uri="{BB962C8B-B14F-4D97-AF65-F5344CB8AC3E}">
        <p14:creationId xmlns:p14="http://schemas.microsoft.com/office/powerpoint/2010/main" val="3002776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BF5040E-095B-4969-9A24-021B99452725}"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3075788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F5040E-095B-4969-9A24-021B99452725}"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3166810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F5040E-095B-4969-9A24-021B99452725}"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4246377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BF5040E-095B-4969-9A24-021B99452725}"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3214107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F5040E-095B-4969-9A24-021B99452725}"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998356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F5040E-095B-4969-9A24-021B99452725}"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3447732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F5040E-095B-4969-9A24-021B99452725}"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649005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F5040E-095B-4969-9A24-021B99452725}"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543616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F5040E-095B-4969-9A24-021B99452725}"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3227143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F5040E-095B-4969-9A24-021B99452725}"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4211097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F5040E-095B-4969-9A24-021B99452725}"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D6FA761-617D-4F49-958C-2497CEC085DD}"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629170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BF5040E-095B-4969-9A24-021B99452725}"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29841484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BF5040E-095B-4969-9A24-021B99452725}"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D6FA761-617D-4F49-958C-2497CEC085DD}"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58439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BF5040E-095B-4969-9A24-021B99452725}"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38961012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F5040E-095B-4969-9A24-021B99452725}"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268211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F5040E-095B-4969-9A24-021B99452725}"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D6FA761-617D-4F49-958C-2497CEC085DD}" type="slidenum">
              <a:rPr lang="en-US" smtClean="0"/>
              <a:t>‹#›</a:t>
            </a:fld>
            <a:endParaRPr lang="en-US"/>
          </a:p>
        </p:txBody>
      </p:sp>
    </p:spTree>
    <p:extLst>
      <p:ext uri="{BB962C8B-B14F-4D97-AF65-F5344CB8AC3E}">
        <p14:creationId xmlns:p14="http://schemas.microsoft.com/office/powerpoint/2010/main" val="3189465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BF5040E-095B-4969-9A24-021B99452725}" type="datetimeFigureOut">
              <a:rPr lang="en-US" smtClean="0"/>
              <a:t>10/26/2026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D6FA761-617D-4F49-958C-2497CEC085DD}" type="slidenum">
              <a:rPr lang="en-US" smtClean="0"/>
              <a:t>‹#›</a:t>
            </a:fld>
            <a:endParaRPr lang="en-US"/>
          </a:p>
        </p:txBody>
      </p:sp>
    </p:spTree>
    <p:extLst>
      <p:ext uri="{BB962C8B-B14F-4D97-AF65-F5344CB8AC3E}">
        <p14:creationId xmlns:p14="http://schemas.microsoft.com/office/powerpoint/2010/main" val="41353628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Grp="1" noChangeArrowheads="1"/>
          </p:cNvSpPr>
          <p:nvPr>
            <p:ph type="ctrTitle"/>
          </p:nvPr>
        </p:nvSpPr>
        <p:spPr>
          <a:xfrm>
            <a:off x="1121021" y="750196"/>
            <a:ext cx="8915399" cy="2521038"/>
          </a:xfrm>
        </p:spPr>
        <p:txBody>
          <a:bodyPr>
            <a:normAutofit fontScale="90000"/>
          </a:bodyPr>
          <a:lstStyle/>
          <a:p>
            <a:r>
              <a:rPr lang="en-US" dirty="0"/>
              <a:t>Cyber crime investigation and Digital Forensics 2</a:t>
            </a:r>
            <a:br>
              <a:rPr lang="en-US" dirty="0"/>
            </a:br>
            <a:r>
              <a:rPr lang="en-US" b="1" dirty="0"/>
              <a:t>The ontology</a:t>
            </a:r>
            <a:endParaRPr lang="ru-RU" b="1" dirty="0"/>
          </a:p>
        </p:txBody>
      </p:sp>
      <p:sp>
        <p:nvSpPr>
          <p:cNvPr id="2053" name="Rectangle 5"/>
          <p:cNvSpPr>
            <a:spLocks noGrp="1" noChangeArrowheads="1"/>
          </p:cNvSpPr>
          <p:nvPr>
            <p:ph type="subTitle" idx="1"/>
          </p:nvPr>
        </p:nvSpPr>
        <p:spPr>
          <a:xfrm>
            <a:off x="5263166" y="4478629"/>
            <a:ext cx="6324600" cy="914400"/>
          </a:xfrm>
        </p:spPr>
        <p:txBody>
          <a:bodyPr>
            <a:normAutofit fontScale="25000" lnSpcReduction="20000"/>
          </a:bodyPr>
          <a:lstStyle/>
          <a:p>
            <a:pPr algn="ctr"/>
            <a:endParaRPr lang="en-US" b="1" dirty="0"/>
          </a:p>
          <a:p>
            <a:pPr algn="ctr"/>
            <a:endParaRPr lang="en-US" b="1" dirty="0"/>
          </a:p>
          <a:p>
            <a:pPr algn="ctr"/>
            <a:endParaRPr lang="en-US" b="1" dirty="0"/>
          </a:p>
          <a:p>
            <a:pPr algn="ctr"/>
            <a:endParaRPr lang="en-US" b="1" dirty="0"/>
          </a:p>
          <a:p>
            <a:pPr algn="ctr"/>
            <a:endParaRPr lang="en-US" b="1" dirty="0"/>
          </a:p>
          <a:p>
            <a:pPr algn="ctr"/>
            <a:r>
              <a:rPr lang="en-US" b="1" dirty="0"/>
              <a:t> </a:t>
            </a:r>
            <a:r>
              <a:rPr lang="en-US" sz="9600" b="1" dirty="0"/>
              <a:t>Eng. NGOSA GATHAM</a:t>
            </a:r>
            <a:r>
              <a:rPr lang="en-US" sz="9600" dirty="0"/>
              <a:t> </a:t>
            </a:r>
          </a:p>
          <a:p>
            <a:pPr algn="ctr"/>
            <a:r>
              <a:rPr lang="en-US" sz="9600" dirty="0" err="1"/>
              <a:t>Msc</a:t>
            </a:r>
            <a:r>
              <a:rPr lang="en-US" sz="9600" dirty="0"/>
              <a:t> cyber security</a:t>
            </a:r>
          </a:p>
          <a:p>
            <a:pPr algn="ctr"/>
            <a:r>
              <a:rPr lang="en-US" sz="9600" dirty="0" err="1"/>
              <a:t>Msc</a:t>
            </a:r>
            <a:r>
              <a:rPr lang="en-US" sz="9600" dirty="0"/>
              <a:t> Computer science and IT</a:t>
            </a:r>
          </a:p>
          <a:p>
            <a:pPr algn="ctr"/>
            <a:endParaRPr lang="en-US" sz="9600" dirty="0"/>
          </a:p>
          <a:p>
            <a:pPr algn="ctr"/>
            <a:endParaRPr lang="ru-RU" dirty="0"/>
          </a:p>
        </p:txBody>
      </p:sp>
    </p:spTree>
    <p:extLst>
      <p:ext uri="{BB962C8B-B14F-4D97-AF65-F5344CB8AC3E}">
        <p14:creationId xmlns:p14="http://schemas.microsoft.com/office/powerpoint/2010/main" val="623505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079" y="193183"/>
            <a:ext cx="10515600" cy="1043189"/>
          </a:xfrm>
        </p:spPr>
        <p:txBody>
          <a:bodyPr>
            <a:normAutofit fontScale="90000"/>
          </a:bodyPr>
          <a:lstStyle/>
          <a:p>
            <a:pPr algn="ctr"/>
            <a:r>
              <a:rPr lang="en-US" dirty="0">
                <a:latin typeface="Arial Black" panose="020B0A04020102020204" pitchFamily="34" charset="0"/>
              </a:rPr>
              <a:t>Cybercrime investigation and digital forensics 2 Course outline</a:t>
            </a:r>
          </a:p>
        </p:txBody>
      </p:sp>
      <p:sp>
        <p:nvSpPr>
          <p:cNvPr id="3" name="Content Placeholder 2"/>
          <p:cNvSpPr>
            <a:spLocks noGrp="1"/>
          </p:cNvSpPr>
          <p:nvPr>
            <p:ph idx="1"/>
          </p:nvPr>
        </p:nvSpPr>
        <p:spPr>
          <a:xfrm>
            <a:off x="618186" y="1378039"/>
            <a:ext cx="9504608" cy="5251361"/>
          </a:xfrm>
        </p:spPr>
        <p:txBody>
          <a:bodyPr>
            <a:normAutofit fontScale="92500" lnSpcReduction="20000"/>
          </a:bodyPr>
          <a:lstStyle/>
          <a:p>
            <a:r>
              <a:rPr lang="en-US" sz="4200" dirty="0"/>
              <a:t>Digital Forensics Ontology </a:t>
            </a:r>
            <a:endParaRPr lang="en-US" sz="3300" dirty="0"/>
          </a:p>
          <a:p>
            <a:r>
              <a:rPr lang="en-US" sz="3300" dirty="0"/>
              <a:t>File carving and reconstruction </a:t>
            </a:r>
          </a:p>
          <a:p>
            <a:r>
              <a:rPr lang="en-US" sz="3300" dirty="0"/>
              <a:t>Multi-media forensics </a:t>
            </a:r>
          </a:p>
          <a:p>
            <a:r>
              <a:rPr lang="en-US" sz="3300" dirty="0"/>
              <a:t>Malware Forensics: static, dynamic, content </a:t>
            </a:r>
          </a:p>
          <a:p>
            <a:r>
              <a:rPr lang="en-US" sz="3300" dirty="0"/>
              <a:t>Memory Forensics </a:t>
            </a:r>
          </a:p>
          <a:p>
            <a:r>
              <a:rPr lang="en-US" sz="3300" dirty="0"/>
              <a:t>Fraud detection and analysis </a:t>
            </a:r>
          </a:p>
          <a:p>
            <a:r>
              <a:rPr lang="en-US" sz="3300" dirty="0"/>
              <a:t>Open source Intelligence and Internet forensics </a:t>
            </a:r>
          </a:p>
          <a:p>
            <a:r>
              <a:rPr lang="en-US" sz="3300" dirty="0"/>
              <a:t>Cloud forensics </a:t>
            </a:r>
          </a:p>
          <a:p>
            <a:r>
              <a:rPr lang="en-US" sz="3300" dirty="0"/>
              <a:t>Search for digital evidence </a:t>
            </a:r>
          </a:p>
          <a:p>
            <a:endParaRPr lang="en-US" sz="1200" dirty="0"/>
          </a:p>
        </p:txBody>
      </p:sp>
    </p:spTree>
    <p:extLst>
      <p:ext uri="{BB962C8B-B14F-4D97-AF65-F5344CB8AC3E}">
        <p14:creationId xmlns:p14="http://schemas.microsoft.com/office/powerpoint/2010/main" val="13112766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 calcmode="lin" valueType="num">
                                      <p:cBhvr additive="base">
                                        <p:cTn id="2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barn(inVertical)">
                                      <p:cBhvr>
                                        <p:cTn id="41" dur="500"/>
                                        <p:tgtEl>
                                          <p:spTgt spid="3">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nodeType="clickEffect">
                                  <p:stCondLst>
                                    <p:cond delay="0"/>
                                  </p:stCondLst>
                                  <p:childTnLst>
                                    <p:set>
                                      <p:cBhvr>
                                        <p:cTn id="45" dur="1" fill="hold">
                                          <p:stCondLst>
                                            <p:cond delay="0"/>
                                          </p:stCondLst>
                                        </p:cTn>
                                        <p:tgtEl>
                                          <p:spTgt spid="3">
                                            <p:txEl>
                                              <p:pRg st="5" end="5"/>
                                            </p:txEl>
                                          </p:spTgt>
                                        </p:tgtEl>
                                        <p:attrNameLst>
                                          <p:attrName>style.visibility</p:attrName>
                                        </p:attrNameLst>
                                      </p:cBhvr>
                                      <p:to>
                                        <p:strVal val="visible"/>
                                      </p:to>
                                    </p:set>
                                    <p:animEffect transition="in" filter="circle(in)">
                                      <p:cBhvr>
                                        <p:cTn id="46" dur="2000"/>
                                        <p:tgtEl>
                                          <p:spTgt spid="3">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3">
                                            <p:txEl>
                                              <p:pRg st="6" end="6"/>
                                            </p:txEl>
                                          </p:spTgt>
                                        </p:tgtEl>
                                        <p:attrNameLst>
                                          <p:attrName>style.visibility</p:attrName>
                                        </p:attrNameLst>
                                      </p:cBhvr>
                                      <p:to>
                                        <p:strVal val="visible"/>
                                      </p:to>
                                    </p:set>
                                    <p:animEffect transition="in" filter="fade">
                                      <p:cBhvr>
                                        <p:cTn id="51" dur="1000"/>
                                        <p:tgtEl>
                                          <p:spTgt spid="3">
                                            <p:txEl>
                                              <p:pRg st="6" end="6"/>
                                            </p:txEl>
                                          </p:spTgt>
                                        </p:tgtEl>
                                      </p:cBhvr>
                                    </p:animEffect>
                                    <p:anim calcmode="lin" valueType="num">
                                      <p:cBhvr>
                                        <p:cTn id="5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3">
                                            <p:txEl>
                                              <p:pRg st="7" end="7"/>
                                            </p:txEl>
                                          </p:spTgt>
                                        </p:tgtEl>
                                        <p:attrNameLst>
                                          <p:attrName>style.visibility</p:attrName>
                                        </p:attrNameLst>
                                      </p:cBhvr>
                                      <p:to>
                                        <p:strVal val="visible"/>
                                      </p:to>
                                    </p:set>
                                    <p:anim calcmode="lin" valueType="num">
                                      <p:cBhvr additive="base">
                                        <p:cTn id="58"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3">
                                            <p:txEl>
                                              <p:pRg st="8" end="8"/>
                                            </p:txEl>
                                          </p:spTgt>
                                        </p:tgtEl>
                                        <p:attrNameLst>
                                          <p:attrName>style.visibility</p:attrName>
                                        </p:attrNameLst>
                                      </p:cBhvr>
                                      <p:to>
                                        <p:strVal val="visible"/>
                                      </p:to>
                                    </p:set>
                                    <p:animEffect transition="in" filter="fade">
                                      <p:cBhvr>
                                        <p:cTn id="64" dur="1000"/>
                                        <p:tgtEl>
                                          <p:spTgt spid="3">
                                            <p:txEl>
                                              <p:pRg st="8" end="8"/>
                                            </p:txEl>
                                          </p:spTgt>
                                        </p:tgtEl>
                                      </p:cBhvr>
                                    </p:animEffect>
                                    <p:anim calcmode="lin" valueType="num">
                                      <p:cBhvr>
                                        <p:cTn id="6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4891" y="211986"/>
            <a:ext cx="8911687" cy="1280890"/>
          </a:xfrm>
        </p:spPr>
        <p:txBody>
          <a:bodyPr/>
          <a:lstStyle/>
          <a:p>
            <a:r>
              <a:rPr lang="en-US" b="1" dirty="0"/>
              <a:t>Cybercrime Investigation Tools and Techniques</a:t>
            </a:r>
            <a:endParaRPr lang="en-US" dirty="0"/>
          </a:p>
        </p:txBody>
      </p:sp>
      <p:sp>
        <p:nvSpPr>
          <p:cNvPr id="3" name="Content Placeholder 2"/>
          <p:cNvSpPr>
            <a:spLocks noGrp="1"/>
          </p:cNvSpPr>
          <p:nvPr>
            <p:ph idx="1"/>
          </p:nvPr>
        </p:nvSpPr>
        <p:spPr>
          <a:xfrm>
            <a:off x="656822" y="1905000"/>
            <a:ext cx="10985679" cy="4572000"/>
          </a:xfrm>
        </p:spPr>
        <p:txBody>
          <a:bodyPr>
            <a:normAutofit/>
          </a:bodyPr>
          <a:lstStyle/>
          <a:p>
            <a:r>
              <a:rPr lang="en-US" sz="2800" dirty="0">
                <a:latin typeface="Times New Roman" panose="02020603050405020304" pitchFamily="18" charset="0"/>
                <a:cs typeface="Times New Roman" panose="02020603050405020304" pitchFamily="18" charset="0"/>
              </a:rPr>
              <a:t>Cybercrime is a growing threat that can have serious consequences for businesses and individuals alike. However, the complex process of investigating cybercrime can be intimidating and confusing, especially for those without a background in cyber security.</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Cybercrime investigators are law enforcement professionals who specialize in investigating computer-related crimes. They use their knowledge of computer science, law, and investigative techniques to gather evidence and identify suspects. </a:t>
            </a:r>
          </a:p>
        </p:txBody>
      </p:sp>
    </p:spTree>
    <p:extLst>
      <p:ext uri="{BB962C8B-B14F-4D97-AF65-F5344CB8AC3E}">
        <p14:creationId xmlns:p14="http://schemas.microsoft.com/office/powerpoint/2010/main" val="20413470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wipe(down)">
                                      <p:cBhvr>
                                        <p:cTn id="14" dur="580">
                                          <p:stCondLst>
                                            <p:cond delay="0"/>
                                          </p:stCondLst>
                                        </p:cTn>
                                        <p:tgtEl>
                                          <p:spTgt spid="3">
                                            <p:txEl>
                                              <p:pRg st="2" end="2"/>
                                            </p:txEl>
                                          </p:spTgt>
                                        </p:tgtEl>
                                      </p:cBhvr>
                                    </p:animEffect>
                                    <p:anim calcmode="lin" valueType="num">
                                      <p:cBhvr>
                                        <p:cTn id="15"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2" end="2"/>
                                            </p:txEl>
                                          </p:spTgt>
                                        </p:tgtEl>
                                      </p:cBhvr>
                                      <p:to x="100000" y="60000"/>
                                    </p:animScale>
                                    <p:animScale>
                                      <p:cBhvr>
                                        <p:cTn id="21" dur="166" decel="50000">
                                          <p:stCondLst>
                                            <p:cond delay="676"/>
                                          </p:stCondLst>
                                        </p:cTn>
                                        <p:tgtEl>
                                          <p:spTgt spid="3">
                                            <p:txEl>
                                              <p:pRg st="2" end="2"/>
                                            </p:txEl>
                                          </p:spTgt>
                                        </p:tgtEl>
                                      </p:cBhvr>
                                      <p:to x="100000" y="100000"/>
                                    </p:animScale>
                                    <p:animScale>
                                      <p:cBhvr>
                                        <p:cTn id="22" dur="26">
                                          <p:stCondLst>
                                            <p:cond delay="1312"/>
                                          </p:stCondLst>
                                        </p:cTn>
                                        <p:tgtEl>
                                          <p:spTgt spid="3">
                                            <p:txEl>
                                              <p:pRg st="2" end="2"/>
                                            </p:txEl>
                                          </p:spTgt>
                                        </p:tgtEl>
                                      </p:cBhvr>
                                      <p:to x="100000" y="80000"/>
                                    </p:animScale>
                                    <p:animScale>
                                      <p:cBhvr>
                                        <p:cTn id="23" dur="166" decel="50000">
                                          <p:stCondLst>
                                            <p:cond delay="1338"/>
                                          </p:stCondLst>
                                        </p:cTn>
                                        <p:tgtEl>
                                          <p:spTgt spid="3">
                                            <p:txEl>
                                              <p:pRg st="2" end="2"/>
                                            </p:txEl>
                                          </p:spTgt>
                                        </p:tgtEl>
                                      </p:cBhvr>
                                      <p:to x="100000" y="100000"/>
                                    </p:animScale>
                                    <p:animScale>
                                      <p:cBhvr>
                                        <p:cTn id="24" dur="26">
                                          <p:stCondLst>
                                            <p:cond delay="1642"/>
                                          </p:stCondLst>
                                        </p:cTn>
                                        <p:tgtEl>
                                          <p:spTgt spid="3">
                                            <p:txEl>
                                              <p:pRg st="2" end="2"/>
                                            </p:txEl>
                                          </p:spTgt>
                                        </p:tgtEl>
                                      </p:cBhvr>
                                      <p:to x="100000" y="90000"/>
                                    </p:animScale>
                                    <p:animScale>
                                      <p:cBhvr>
                                        <p:cTn id="25" dur="166" decel="50000">
                                          <p:stCondLst>
                                            <p:cond delay="1668"/>
                                          </p:stCondLst>
                                        </p:cTn>
                                        <p:tgtEl>
                                          <p:spTgt spid="3">
                                            <p:txEl>
                                              <p:pRg st="2" end="2"/>
                                            </p:txEl>
                                          </p:spTgt>
                                        </p:tgtEl>
                                      </p:cBhvr>
                                      <p:to x="100000" y="100000"/>
                                    </p:animScale>
                                    <p:animScale>
                                      <p:cBhvr>
                                        <p:cTn id="26" dur="26">
                                          <p:stCondLst>
                                            <p:cond delay="1808"/>
                                          </p:stCondLst>
                                        </p:cTn>
                                        <p:tgtEl>
                                          <p:spTgt spid="3">
                                            <p:txEl>
                                              <p:pRg st="2" end="2"/>
                                            </p:txEl>
                                          </p:spTgt>
                                        </p:tgtEl>
                                      </p:cBhvr>
                                      <p:to x="100000" y="95000"/>
                                    </p:animScale>
                                    <p:animScale>
                                      <p:cBhvr>
                                        <p:cTn id="27"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0344" y="199107"/>
            <a:ext cx="8911687" cy="1280890"/>
          </a:xfrm>
        </p:spPr>
        <p:txBody>
          <a:bodyPr/>
          <a:lstStyle/>
          <a:p>
            <a:r>
              <a:rPr lang="en-US" b="1" dirty="0"/>
              <a:t>Cybercrime Investigation Tools and Techniques</a:t>
            </a:r>
            <a:endParaRPr lang="en-US" dirty="0"/>
          </a:p>
        </p:txBody>
      </p:sp>
      <p:sp>
        <p:nvSpPr>
          <p:cNvPr id="3" name="Content Placeholder 2"/>
          <p:cNvSpPr>
            <a:spLocks noGrp="1"/>
          </p:cNvSpPr>
          <p:nvPr>
            <p:ph idx="1"/>
          </p:nvPr>
        </p:nvSpPr>
        <p:spPr>
          <a:xfrm>
            <a:off x="592428" y="1676400"/>
            <a:ext cx="10761372" cy="4572000"/>
          </a:xfrm>
        </p:spPr>
        <p:txBody>
          <a:bodyPr>
            <a:noAutofit/>
          </a:bodyPr>
          <a:lstStyle/>
          <a:p>
            <a:r>
              <a:rPr lang="en-US" sz="2400" dirty="0"/>
              <a:t>The goal of cyber crime investigation is to identify the source of the crime, gather evidence, and present that evidence in a way that can be used in court to prosecute the perpetrator. </a:t>
            </a:r>
          </a:p>
          <a:p>
            <a:r>
              <a:rPr lang="en-US" sz="2400" dirty="0"/>
              <a:t>Cybercrime investigators may work for law enforcement agencies, government agencies, or private companies, and their job duties may include conducting investigations, preparing reports, and providing testimony in court.</a:t>
            </a:r>
          </a:p>
          <a:p>
            <a:r>
              <a:rPr lang="en-US" sz="2400" dirty="0"/>
              <a:t>Cybercrime investigation is the process of identifying, analyzing, and mitigating computer-based crimes and other forms of malicious activity that occur in cyberspace. It involves the use of specialized tools and techniques to investigate various types of cyber crimes, such as </a:t>
            </a:r>
            <a:r>
              <a:rPr lang="en-US" sz="2400" dirty="0" err="1"/>
              <a:t>hacking,phishing</a:t>
            </a:r>
            <a:r>
              <a:rPr lang="en-US" sz="2400" dirty="0"/>
              <a:t>, malware, data breaches, and identity theft</a:t>
            </a:r>
          </a:p>
        </p:txBody>
      </p:sp>
    </p:spTree>
    <p:extLst>
      <p:ext uri="{BB962C8B-B14F-4D97-AF65-F5344CB8AC3E}">
        <p14:creationId xmlns:p14="http://schemas.microsoft.com/office/powerpoint/2010/main" val="391798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down)">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1000"/>
                                        <p:tgtEl>
                                          <p:spTgt spid="3">
                                            <p:txEl>
                                              <p:pRg st="2" end="2"/>
                                            </p:txEl>
                                          </p:spTgt>
                                        </p:tgtEl>
                                      </p:cBhvr>
                                    </p:animEffect>
                                    <p:anim calcmode="lin" valueType="num">
                                      <p:cBhvr>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927" y="159063"/>
            <a:ext cx="10515600" cy="958223"/>
          </a:xfrm>
        </p:spPr>
        <p:txBody>
          <a:bodyPr/>
          <a:lstStyle/>
          <a:p>
            <a:r>
              <a:rPr lang="en-US" b="1" dirty="0"/>
              <a:t>Top 5 Cybercrimes</a:t>
            </a:r>
            <a:endParaRPr lang="en-US" dirty="0"/>
          </a:p>
        </p:txBody>
      </p:sp>
      <p:sp>
        <p:nvSpPr>
          <p:cNvPr id="3" name="Content Placeholder 2"/>
          <p:cNvSpPr>
            <a:spLocks noGrp="1"/>
          </p:cNvSpPr>
          <p:nvPr>
            <p:ph idx="1"/>
          </p:nvPr>
        </p:nvSpPr>
        <p:spPr>
          <a:xfrm>
            <a:off x="567743" y="872588"/>
            <a:ext cx="11126273" cy="5721395"/>
          </a:xfrm>
        </p:spPr>
        <p:txBody>
          <a:bodyPr>
            <a:noAutofit/>
          </a:bodyPr>
          <a:lstStyle/>
          <a:p>
            <a:pPr algn="just"/>
            <a:r>
              <a:rPr lang="en-US" sz="2000" b="1" dirty="0"/>
              <a:t>1</a:t>
            </a:r>
            <a:r>
              <a:rPr lang="en-US" sz="2400" b="1" dirty="0"/>
              <a:t>. Phishing and Scam</a:t>
            </a:r>
          </a:p>
          <a:p>
            <a:pPr marL="0" indent="0" algn="just">
              <a:buNone/>
            </a:pPr>
            <a:r>
              <a:rPr lang="en-US" sz="2400" dirty="0"/>
              <a:t>Phishing is a type of social engineering attack that targets the user and tricks him by sending fake messages and emails to get sensitive information about the user or trying to download malicious software and exploit it on the target system.</a:t>
            </a:r>
          </a:p>
          <a:p>
            <a:pPr algn="just"/>
            <a:r>
              <a:rPr lang="en-US" sz="2400" b="1" dirty="0"/>
              <a:t>2. Identity Theft</a:t>
            </a:r>
          </a:p>
          <a:p>
            <a:pPr marL="0" indent="0" algn="just">
              <a:buNone/>
            </a:pPr>
            <a:r>
              <a:rPr lang="en-US" sz="2400" dirty="0"/>
              <a:t>Identity theft occurs when a cybercriminal uses another person’s data like credit card numbers and personal pictures without the permission of that person to commit fraud or a crime.</a:t>
            </a:r>
          </a:p>
          <a:p>
            <a:pPr algn="just"/>
            <a:r>
              <a:rPr lang="en-US" sz="2400" b="1" dirty="0"/>
              <a:t>3. </a:t>
            </a:r>
            <a:r>
              <a:rPr lang="en-US" sz="2400" b="1" dirty="0" err="1"/>
              <a:t>Ransomware</a:t>
            </a:r>
            <a:r>
              <a:rPr lang="en-US" sz="2400" b="1" dirty="0"/>
              <a:t> Attack</a:t>
            </a:r>
          </a:p>
          <a:p>
            <a:pPr marL="0" indent="0" algn="just">
              <a:buNone/>
            </a:pPr>
            <a:r>
              <a:rPr lang="en-US" sz="2400" dirty="0" err="1"/>
              <a:t>Ransomware</a:t>
            </a:r>
            <a:r>
              <a:rPr lang="en-US" sz="2400" dirty="0"/>
              <a:t> attacks are a very common type of cybercrime, ransom ware is a type of malware that has the capability to prevent users from accessing all of their personal data on the system by encrypting them, and then asking for a ransom in order to give access to the encrypted data.</a:t>
            </a:r>
          </a:p>
        </p:txBody>
      </p:sp>
    </p:spTree>
    <p:extLst>
      <p:ext uri="{BB962C8B-B14F-4D97-AF65-F5344CB8AC3E}">
        <p14:creationId xmlns:p14="http://schemas.microsoft.com/office/powerpoint/2010/main" val="2586246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wipe(down)">
                                      <p:cBhvr>
                                        <p:cTn id="23" dur="580">
                                          <p:stCondLst>
                                            <p:cond delay="0"/>
                                          </p:stCondLst>
                                        </p:cTn>
                                        <p:tgtEl>
                                          <p:spTgt spid="3">
                                            <p:txEl>
                                              <p:pRg st="1" end="1"/>
                                            </p:txEl>
                                          </p:spTgt>
                                        </p:tgtEl>
                                      </p:cBhvr>
                                    </p:animEffect>
                                    <p:anim calcmode="lin" valueType="num">
                                      <p:cBhvr>
                                        <p:cTn id="2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1" end="1"/>
                                            </p:txEl>
                                          </p:spTgt>
                                        </p:tgtEl>
                                      </p:cBhvr>
                                      <p:to x="100000" y="60000"/>
                                    </p:animScale>
                                    <p:animScale>
                                      <p:cBhvr>
                                        <p:cTn id="30" dur="166" decel="50000">
                                          <p:stCondLst>
                                            <p:cond delay="676"/>
                                          </p:stCondLst>
                                        </p:cTn>
                                        <p:tgtEl>
                                          <p:spTgt spid="3">
                                            <p:txEl>
                                              <p:pRg st="1" end="1"/>
                                            </p:txEl>
                                          </p:spTgt>
                                        </p:tgtEl>
                                      </p:cBhvr>
                                      <p:to x="100000" y="100000"/>
                                    </p:animScale>
                                    <p:animScale>
                                      <p:cBhvr>
                                        <p:cTn id="31" dur="26">
                                          <p:stCondLst>
                                            <p:cond delay="1312"/>
                                          </p:stCondLst>
                                        </p:cTn>
                                        <p:tgtEl>
                                          <p:spTgt spid="3">
                                            <p:txEl>
                                              <p:pRg st="1" end="1"/>
                                            </p:txEl>
                                          </p:spTgt>
                                        </p:tgtEl>
                                      </p:cBhvr>
                                      <p:to x="100000" y="80000"/>
                                    </p:animScale>
                                    <p:animScale>
                                      <p:cBhvr>
                                        <p:cTn id="32" dur="166" decel="50000">
                                          <p:stCondLst>
                                            <p:cond delay="1338"/>
                                          </p:stCondLst>
                                        </p:cTn>
                                        <p:tgtEl>
                                          <p:spTgt spid="3">
                                            <p:txEl>
                                              <p:pRg st="1" end="1"/>
                                            </p:txEl>
                                          </p:spTgt>
                                        </p:tgtEl>
                                      </p:cBhvr>
                                      <p:to x="100000" y="100000"/>
                                    </p:animScale>
                                    <p:animScale>
                                      <p:cBhvr>
                                        <p:cTn id="33" dur="26">
                                          <p:stCondLst>
                                            <p:cond delay="1642"/>
                                          </p:stCondLst>
                                        </p:cTn>
                                        <p:tgtEl>
                                          <p:spTgt spid="3">
                                            <p:txEl>
                                              <p:pRg st="1" end="1"/>
                                            </p:txEl>
                                          </p:spTgt>
                                        </p:tgtEl>
                                      </p:cBhvr>
                                      <p:to x="100000" y="90000"/>
                                    </p:animScale>
                                    <p:animScale>
                                      <p:cBhvr>
                                        <p:cTn id="34" dur="166" decel="50000">
                                          <p:stCondLst>
                                            <p:cond delay="1668"/>
                                          </p:stCondLst>
                                        </p:cTn>
                                        <p:tgtEl>
                                          <p:spTgt spid="3">
                                            <p:txEl>
                                              <p:pRg st="1" end="1"/>
                                            </p:txEl>
                                          </p:spTgt>
                                        </p:tgtEl>
                                      </p:cBhvr>
                                      <p:to x="100000" y="100000"/>
                                    </p:animScale>
                                    <p:animScale>
                                      <p:cBhvr>
                                        <p:cTn id="35" dur="26">
                                          <p:stCondLst>
                                            <p:cond delay="1808"/>
                                          </p:stCondLst>
                                        </p:cTn>
                                        <p:tgtEl>
                                          <p:spTgt spid="3">
                                            <p:txEl>
                                              <p:pRg st="1" end="1"/>
                                            </p:txEl>
                                          </p:spTgt>
                                        </p:tgtEl>
                                      </p:cBhvr>
                                      <p:to x="100000" y="95000"/>
                                    </p:animScale>
                                    <p:animScale>
                                      <p:cBhvr>
                                        <p:cTn id="36" dur="166" decel="50000">
                                          <p:stCondLst>
                                            <p:cond delay="1834"/>
                                          </p:stCondLst>
                                        </p:cTn>
                                        <p:tgtEl>
                                          <p:spTgt spid="3">
                                            <p:txEl>
                                              <p:pRg st="1" end="1"/>
                                            </p:txEl>
                                          </p:spTgt>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45" presetClass="entr" presetSubtype="0" fill="hold"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animEffect transition="in" filter="fade">
                                      <p:cBhvr>
                                        <p:cTn id="41" dur="2000"/>
                                        <p:tgtEl>
                                          <p:spTgt spid="3">
                                            <p:txEl>
                                              <p:pRg st="2" end="2"/>
                                            </p:txEl>
                                          </p:spTgt>
                                        </p:tgtEl>
                                      </p:cBhvr>
                                    </p:animEffect>
                                    <p:anim calcmode="lin" valueType="num">
                                      <p:cBhvr>
                                        <p:cTn id="42"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43" dur="2000" fill="hold"/>
                                        <p:tgtEl>
                                          <p:spTgt spid="3">
                                            <p:txEl>
                                              <p:pRg st="2" end="2"/>
                                            </p:txEl>
                                          </p:spTgt>
                                        </p:tgtEl>
                                        <p:attrNameLst>
                                          <p:attrName>ppt_h</p:attrName>
                                        </p:attrNameLst>
                                      </p:cBhvr>
                                      <p:tavLst>
                                        <p:tav tm="0">
                                          <p:val>
                                            <p:strVal val="#ppt_h"/>
                                          </p:val>
                                        </p:tav>
                                        <p:tav tm="100000">
                                          <p:val>
                                            <p:strVal val="#ppt_h"/>
                                          </p:val>
                                        </p:tav>
                                      </p:tavLst>
                                    </p:anim>
                                  </p:childTnLst>
                                </p:cTn>
                              </p:par>
                              <p:par>
                                <p:cTn id="44" presetID="45" presetClass="entr" presetSubtype="0" fill="hold" nodeType="withEffect">
                                  <p:stCondLst>
                                    <p:cond delay="0"/>
                                  </p:stCondLst>
                                  <p:childTnLst>
                                    <p:set>
                                      <p:cBhvr>
                                        <p:cTn id="45" dur="1" fill="hold">
                                          <p:stCondLst>
                                            <p:cond delay="0"/>
                                          </p:stCondLst>
                                        </p:cTn>
                                        <p:tgtEl>
                                          <p:spTgt spid="3">
                                            <p:txEl>
                                              <p:pRg st="3" end="3"/>
                                            </p:txEl>
                                          </p:spTgt>
                                        </p:tgtEl>
                                        <p:attrNameLst>
                                          <p:attrName>style.visibility</p:attrName>
                                        </p:attrNameLst>
                                      </p:cBhvr>
                                      <p:to>
                                        <p:strVal val="visible"/>
                                      </p:to>
                                    </p:set>
                                    <p:animEffect transition="in" filter="fade">
                                      <p:cBhvr>
                                        <p:cTn id="46" dur="2000"/>
                                        <p:tgtEl>
                                          <p:spTgt spid="3">
                                            <p:txEl>
                                              <p:pRg st="3" end="3"/>
                                            </p:txEl>
                                          </p:spTgt>
                                        </p:tgtEl>
                                      </p:cBhvr>
                                    </p:animEffect>
                                    <p:anim calcmode="lin" valueType="num">
                                      <p:cBhvr>
                                        <p:cTn id="47"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48" dur="20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nodeType="click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anim calcmode="lin" valueType="num">
                                      <p:cBhvr>
                                        <p:cTn id="53"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54"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55"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6" dur="1000"/>
                                        <p:tgtEl>
                                          <p:spTgt spid="3">
                                            <p:txEl>
                                              <p:pRg st="4" end="4"/>
                                            </p:txEl>
                                          </p:spTgt>
                                        </p:tgtEl>
                                      </p:cBhvr>
                                    </p:animEffect>
                                  </p:childTnLst>
                                </p:cTn>
                              </p:par>
                              <p:par>
                                <p:cTn id="57" presetID="31" presetClass="entr" presetSubtype="0" fill="hold" nodeType="withEffect">
                                  <p:stCondLst>
                                    <p:cond delay="0"/>
                                  </p:stCondLst>
                                  <p:childTnLst>
                                    <p:set>
                                      <p:cBhvr>
                                        <p:cTn id="58" dur="1" fill="hold">
                                          <p:stCondLst>
                                            <p:cond delay="0"/>
                                          </p:stCondLst>
                                        </p:cTn>
                                        <p:tgtEl>
                                          <p:spTgt spid="3">
                                            <p:txEl>
                                              <p:pRg st="5" end="5"/>
                                            </p:txEl>
                                          </p:spTgt>
                                        </p:tgtEl>
                                        <p:attrNameLst>
                                          <p:attrName>style.visibility</p:attrName>
                                        </p:attrNameLst>
                                      </p:cBhvr>
                                      <p:to>
                                        <p:strVal val="visible"/>
                                      </p:to>
                                    </p:set>
                                    <p:anim calcmode="lin" valueType="num">
                                      <p:cBhvr>
                                        <p:cTn id="59"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60"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61"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62"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93974"/>
          </a:xfrm>
        </p:spPr>
        <p:txBody>
          <a:bodyPr/>
          <a:lstStyle/>
          <a:p>
            <a:r>
              <a:rPr lang="en-US" b="1" dirty="0"/>
              <a:t>Top 5 Cybercrimes</a:t>
            </a:r>
            <a:endParaRPr lang="en-US" dirty="0"/>
          </a:p>
        </p:txBody>
      </p:sp>
      <p:sp>
        <p:nvSpPr>
          <p:cNvPr id="3" name="Content Placeholder 2"/>
          <p:cNvSpPr>
            <a:spLocks noGrp="1"/>
          </p:cNvSpPr>
          <p:nvPr>
            <p:ph idx="1"/>
          </p:nvPr>
        </p:nvSpPr>
        <p:spPr>
          <a:xfrm>
            <a:off x="477592" y="1323349"/>
            <a:ext cx="10876208" cy="5386544"/>
          </a:xfrm>
        </p:spPr>
        <p:txBody>
          <a:bodyPr>
            <a:noAutofit/>
          </a:bodyPr>
          <a:lstStyle/>
          <a:p>
            <a:r>
              <a:rPr lang="en-US" sz="2000" b="1" dirty="0"/>
              <a:t>4. Hacking/Misusing Computer Networks</a:t>
            </a:r>
          </a:p>
          <a:p>
            <a:pPr marL="0" indent="0">
              <a:buNone/>
            </a:pPr>
            <a:r>
              <a:rPr lang="en-US" sz="2000" dirty="0"/>
              <a:t>This term refers to the crime of unauthorized access to private computers or networks and misuse of it either by shutting it down or tampering with the data stored or other illegal approaches.</a:t>
            </a:r>
          </a:p>
          <a:p>
            <a:r>
              <a:rPr lang="en-US" sz="2000" b="1" dirty="0"/>
              <a:t>5. Internet Fraud</a:t>
            </a:r>
          </a:p>
          <a:p>
            <a:pPr marL="0" indent="0">
              <a:buNone/>
            </a:pPr>
            <a:r>
              <a:rPr lang="en-US" sz="2000" dirty="0"/>
              <a:t>Internet fraud is a type of cybercrime that makes use of the internet and it can be considered a general term that groups all of the crimes that happen over the internet like spam, banking fraud, theft of service, and so on.</a:t>
            </a:r>
          </a:p>
          <a:p>
            <a:pPr marL="0" indent="0">
              <a:buNone/>
            </a:pPr>
            <a:r>
              <a:rPr lang="en-US" sz="2000" dirty="0"/>
              <a:t>These cyber crimes can happen through a variety of methods, including social engineering, exploiting vulnerabilities in computer systems or networks, and using malware to gain access to sensitive information.</a:t>
            </a:r>
          </a:p>
          <a:p>
            <a:pPr marL="0" indent="0">
              <a:buNone/>
            </a:pPr>
            <a:r>
              <a:rPr lang="en-US" sz="2000" dirty="0"/>
              <a:t>It is important for businesses and individuals to take proactive measures to protect against these types of cyber crimes, such as implementing strong security measures and staying vigilant against suspicious activity.</a:t>
            </a:r>
          </a:p>
        </p:txBody>
      </p:sp>
    </p:spTree>
    <p:extLst>
      <p:ext uri="{BB962C8B-B14F-4D97-AF65-F5344CB8AC3E}">
        <p14:creationId xmlns:p14="http://schemas.microsoft.com/office/powerpoint/2010/main" val="3994284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heel(1)">
                                      <p:cBhvr>
                                        <p:cTn id="19" dur="2000"/>
                                        <p:tgtEl>
                                          <p:spTgt spid="3">
                                            <p:txEl>
                                              <p:pRg st="2" end="2"/>
                                            </p:txEl>
                                          </p:spTgt>
                                        </p:tgtEl>
                                      </p:cBhvr>
                                    </p:animEffect>
                                  </p:childTnLst>
                                </p:cTn>
                              </p:par>
                              <p:par>
                                <p:cTn id="20" presetID="21" presetClass="entr" presetSubtype="1"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heel(1)">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6"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wipe(down)">
                                      <p:cBhvr>
                                        <p:cTn id="33" dur="580">
                                          <p:stCondLst>
                                            <p:cond delay="0"/>
                                          </p:stCondLst>
                                        </p:cTn>
                                        <p:tgtEl>
                                          <p:spTgt spid="3">
                                            <p:txEl>
                                              <p:pRg st="5" end="5"/>
                                            </p:txEl>
                                          </p:spTgt>
                                        </p:tgtEl>
                                      </p:cBhvr>
                                    </p:animEffect>
                                    <p:anim calcmode="lin" valueType="num">
                                      <p:cBhvr>
                                        <p:cTn id="34"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39" dur="26">
                                          <p:stCondLst>
                                            <p:cond delay="650"/>
                                          </p:stCondLst>
                                        </p:cTn>
                                        <p:tgtEl>
                                          <p:spTgt spid="3">
                                            <p:txEl>
                                              <p:pRg st="5" end="5"/>
                                            </p:txEl>
                                          </p:spTgt>
                                        </p:tgtEl>
                                      </p:cBhvr>
                                      <p:to x="100000" y="60000"/>
                                    </p:animScale>
                                    <p:animScale>
                                      <p:cBhvr>
                                        <p:cTn id="40" dur="166" decel="50000">
                                          <p:stCondLst>
                                            <p:cond delay="676"/>
                                          </p:stCondLst>
                                        </p:cTn>
                                        <p:tgtEl>
                                          <p:spTgt spid="3">
                                            <p:txEl>
                                              <p:pRg st="5" end="5"/>
                                            </p:txEl>
                                          </p:spTgt>
                                        </p:tgtEl>
                                      </p:cBhvr>
                                      <p:to x="100000" y="100000"/>
                                    </p:animScale>
                                    <p:animScale>
                                      <p:cBhvr>
                                        <p:cTn id="41" dur="26">
                                          <p:stCondLst>
                                            <p:cond delay="1312"/>
                                          </p:stCondLst>
                                        </p:cTn>
                                        <p:tgtEl>
                                          <p:spTgt spid="3">
                                            <p:txEl>
                                              <p:pRg st="5" end="5"/>
                                            </p:txEl>
                                          </p:spTgt>
                                        </p:tgtEl>
                                      </p:cBhvr>
                                      <p:to x="100000" y="80000"/>
                                    </p:animScale>
                                    <p:animScale>
                                      <p:cBhvr>
                                        <p:cTn id="42" dur="166" decel="50000">
                                          <p:stCondLst>
                                            <p:cond delay="1338"/>
                                          </p:stCondLst>
                                        </p:cTn>
                                        <p:tgtEl>
                                          <p:spTgt spid="3">
                                            <p:txEl>
                                              <p:pRg st="5" end="5"/>
                                            </p:txEl>
                                          </p:spTgt>
                                        </p:tgtEl>
                                      </p:cBhvr>
                                      <p:to x="100000" y="100000"/>
                                    </p:animScale>
                                    <p:animScale>
                                      <p:cBhvr>
                                        <p:cTn id="43" dur="26">
                                          <p:stCondLst>
                                            <p:cond delay="1642"/>
                                          </p:stCondLst>
                                        </p:cTn>
                                        <p:tgtEl>
                                          <p:spTgt spid="3">
                                            <p:txEl>
                                              <p:pRg st="5" end="5"/>
                                            </p:txEl>
                                          </p:spTgt>
                                        </p:tgtEl>
                                      </p:cBhvr>
                                      <p:to x="100000" y="90000"/>
                                    </p:animScale>
                                    <p:animScale>
                                      <p:cBhvr>
                                        <p:cTn id="44" dur="166" decel="50000">
                                          <p:stCondLst>
                                            <p:cond delay="1668"/>
                                          </p:stCondLst>
                                        </p:cTn>
                                        <p:tgtEl>
                                          <p:spTgt spid="3">
                                            <p:txEl>
                                              <p:pRg st="5" end="5"/>
                                            </p:txEl>
                                          </p:spTgt>
                                        </p:tgtEl>
                                      </p:cBhvr>
                                      <p:to x="100000" y="100000"/>
                                    </p:animScale>
                                    <p:animScale>
                                      <p:cBhvr>
                                        <p:cTn id="45" dur="26">
                                          <p:stCondLst>
                                            <p:cond delay="1808"/>
                                          </p:stCondLst>
                                        </p:cTn>
                                        <p:tgtEl>
                                          <p:spTgt spid="3">
                                            <p:txEl>
                                              <p:pRg st="5" end="5"/>
                                            </p:txEl>
                                          </p:spTgt>
                                        </p:tgtEl>
                                      </p:cBhvr>
                                      <p:to x="100000" y="95000"/>
                                    </p:animScale>
                                    <p:animScale>
                                      <p:cBhvr>
                                        <p:cTn id="46"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8814" y="184822"/>
            <a:ext cx="8086859" cy="781093"/>
          </a:xfrm>
        </p:spPr>
        <p:txBody>
          <a:bodyPr>
            <a:normAutofit fontScale="90000"/>
          </a:bodyPr>
          <a:lstStyle/>
          <a:p>
            <a:r>
              <a:rPr lang="en-US" b="1" dirty="0"/>
              <a:t>Types of Cyber Criminals</a:t>
            </a:r>
            <a:br>
              <a:rPr lang="en-US" b="1" dirty="0"/>
            </a:br>
            <a:endParaRPr lang="en-US" dirty="0"/>
          </a:p>
        </p:txBody>
      </p:sp>
      <p:sp>
        <p:nvSpPr>
          <p:cNvPr id="3" name="Content Placeholder 2"/>
          <p:cNvSpPr>
            <a:spLocks noGrp="1"/>
          </p:cNvSpPr>
          <p:nvPr>
            <p:ph idx="1"/>
          </p:nvPr>
        </p:nvSpPr>
        <p:spPr>
          <a:xfrm>
            <a:off x="657896" y="1104408"/>
            <a:ext cx="10515600" cy="5528212"/>
          </a:xfrm>
        </p:spPr>
        <p:txBody>
          <a:bodyPr>
            <a:normAutofit/>
          </a:bodyPr>
          <a:lstStyle/>
          <a:p>
            <a:r>
              <a:rPr lang="en-US" b="1" dirty="0"/>
              <a:t>1. </a:t>
            </a:r>
            <a:r>
              <a:rPr lang="en-US" sz="2000" b="1" dirty="0"/>
              <a:t>Hackers /Attackers </a:t>
            </a:r>
          </a:p>
          <a:p>
            <a:pPr marL="0" indent="0">
              <a:buNone/>
            </a:pPr>
            <a:r>
              <a:rPr lang="en-US" sz="2000" dirty="0"/>
              <a:t>Individuals who use their expertise to gain unauthorized access to computer systems or networks for various reasons such as stealing data or causing damage. Hackers can be motivated by financial gain, political or social causes, or simply a desire to test their skills.</a:t>
            </a:r>
          </a:p>
          <a:p>
            <a:r>
              <a:rPr lang="en-US" sz="2000" b="1" dirty="0"/>
              <a:t>2. Insiders</a:t>
            </a:r>
          </a:p>
          <a:p>
            <a:pPr marL="0" indent="0">
              <a:buNone/>
            </a:pPr>
            <a:r>
              <a:rPr lang="en-US" sz="2000" dirty="0"/>
              <a:t>Individuals who have authorized access to computer systems or networks but misuse their access for personal gain or to harm the organization. Insiders can be employees, contractors, or other trusted individuals who use their access to steal data, disrupt systems, or engage in other criminal activities.</a:t>
            </a:r>
          </a:p>
          <a:p>
            <a:r>
              <a:rPr lang="en-US" sz="2000" b="1" dirty="0"/>
              <a:t>3. Organized Crime Groups</a:t>
            </a:r>
          </a:p>
          <a:p>
            <a:pPr marL="0" indent="0">
              <a:buNone/>
            </a:pPr>
            <a:r>
              <a:rPr lang="en-US" sz="2000" dirty="0"/>
              <a:t>Groups of individuals who engage in cybercrime for financial gain or other criminal activities. Organized crime groups can be highly sophisticated, using advanced techniques to evade detection and cover their tracks</a:t>
            </a:r>
            <a:r>
              <a:rPr lang="en-US" dirty="0"/>
              <a:t>.</a:t>
            </a:r>
          </a:p>
          <a:p>
            <a:pPr marL="0" indent="0">
              <a:buNone/>
            </a:pPr>
            <a:endParaRPr lang="en-US" dirty="0"/>
          </a:p>
        </p:txBody>
      </p:sp>
    </p:spTree>
    <p:extLst>
      <p:ext uri="{BB962C8B-B14F-4D97-AF65-F5344CB8AC3E}">
        <p14:creationId xmlns:p14="http://schemas.microsoft.com/office/powerpoint/2010/main" val="115966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barn(inVertical)">
                                      <p:cBhvr>
                                        <p:cTn id="19" dur="500"/>
                                        <p:tgtEl>
                                          <p:spTgt spid="3">
                                            <p:txEl>
                                              <p:pRg st="2" end="2"/>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5"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anim calcmode="lin" valueType="num">
                                      <p:cBhvr>
                                        <p:cTn id="28" dur="2000" fill="hold"/>
                                        <p:tgtEl>
                                          <p:spTgt spid="3">
                                            <p:txEl>
                                              <p:pRg st="4" end="4"/>
                                            </p:txEl>
                                          </p:spTgt>
                                        </p:tgtEl>
                                        <p:attrNameLst>
                                          <p:attrName>ppt_w</p:attrName>
                                        </p:attrNameLst>
                                      </p:cBhvr>
                                      <p:tavLst>
                                        <p:tav tm="0" fmla="#ppt_w*sin(2.5*pi*$)">
                                          <p:val>
                                            <p:fltVal val="0"/>
                                          </p:val>
                                        </p:tav>
                                        <p:tav tm="100000">
                                          <p:val>
                                            <p:fltVal val="1"/>
                                          </p:val>
                                        </p:tav>
                                      </p:tavLst>
                                    </p:anim>
                                    <p:anim calcmode="lin" valueType="num">
                                      <p:cBhvr>
                                        <p:cTn id="29" dur="2000" fill="hold"/>
                                        <p:tgtEl>
                                          <p:spTgt spid="3">
                                            <p:txEl>
                                              <p:pRg st="4" end="4"/>
                                            </p:txEl>
                                          </p:spTgt>
                                        </p:tgtEl>
                                        <p:attrNameLst>
                                          <p:attrName>ppt_h</p:attrName>
                                        </p:attrNameLst>
                                      </p:cBhvr>
                                      <p:tavLst>
                                        <p:tav tm="0">
                                          <p:val>
                                            <p:strVal val="#ppt_h"/>
                                          </p:val>
                                        </p:tav>
                                        <p:tav tm="100000">
                                          <p:val>
                                            <p:strVal val="#ppt_h"/>
                                          </p:val>
                                        </p:tav>
                                      </p:tavLst>
                                    </p:anim>
                                  </p:childTnLst>
                                </p:cTn>
                              </p:par>
                              <p:par>
                                <p:cTn id="30" presetID="45"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anim calcmode="lin" valueType="num">
                                      <p:cBhvr>
                                        <p:cTn id="33" dur="2000" fill="hold"/>
                                        <p:tgtEl>
                                          <p:spTgt spid="3">
                                            <p:txEl>
                                              <p:pRg st="5" end="5"/>
                                            </p:txEl>
                                          </p:spTgt>
                                        </p:tgtEl>
                                        <p:attrNameLst>
                                          <p:attrName>ppt_w</p:attrName>
                                        </p:attrNameLst>
                                      </p:cBhvr>
                                      <p:tavLst>
                                        <p:tav tm="0" fmla="#ppt_w*sin(2.5*pi*$)">
                                          <p:val>
                                            <p:fltVal val="0"/>
                                          </p:val>
                                        </p:tav>
                                        <p:tav tm="100000">
                                          <p:val>
                                            <p:fltVal val="1"/>
                                          </p:val>
                                        </p:tav>
                                      </p:tavLst>
                                    </p:anim>
                                    <p:anim calcmode="lin" valueType="num">
                                      <p:cBhvr>
                                        <p:cTn id="34" dur="2000" fill="hold"/>
                                        <p:tgtEl>
                                          <p:spTgt spid="3">
                                            <p:txEl>
                                              <p:pRg st="5" end="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84822"/>
            <a:ext cx="6759262" cy="781093"/>
          </a:xfrm>
        </p:spPr>
        <p:txBody>
          <a:bodyPr>
            <a:normAutofit fontScale="90000"/>
          </a:bodyPr>
          <a:lstStyle/>
          <a:p>
            <a:r>
              <a:rPr lang="en-US" b="1" dirty="0"/>
              <a:t>Types of Cyber Criminals</a:t>
            </a:r>
            <a:br>
              <a:rPr lang="en-US" b="1" dirty="0"/>
            </a:br>
            <a:endParaRPr lang="en-US" dirty="0"/>
          </a:p>
        </p:txBody>
      </p:sp>
      <p:sp>
        <p:nvSpPr>
          <p:cNvPr id="3" name="Content Placeholder 2"/>
          <p:cNvSpPr>
            <a:spLocks noGrp="1"/>
          </p:cNvSpPr>
          <p:nvPr>
            <p:ph idx="1"/>
          </p:nvPr>
        </p:nvSpPr>
        <p:spPr>
          <a:xfrm>
            <a:off x="657896" y="1329788"/>
            <a:ext cx="10515600" cy="5528212"/>
          </a:xfrm>
        </p:spPr>
        <p:txBody>
          <a:bodyPr>
            <a:normAutofit/>
          </a:bodyPr>
          <a:lstStyle/>
          <a:p>
            <a:r>
              <a:rPr lang="en-US" sz="2800" b="1" dirty="0"/>
              <a:t>4. National / States</a:t>
            </a:r>
          </a:p>
          <a:p>
            <a:pPr marL="0" indent="0">
              <a:buNone/>
            </a:pPr>
            <a:r>
              <a:rPr lang="en-US" sz="2800" dirty="0"/>
              <a:t>Governments or state-sponsored groups use cyber-attacks for political or military purposes. Nation-states can use cyber attacks to gather intelligence, disrupt systems, or gain a strategic advantage over other countries.</a:t>
            </a:r>
          </a:p>
          <a:p>
            <a:r>
              <a:rPr lang="en-US" sz="2800" b="1" dirty="0"/>
              <a:t>5. </a:t>
            </a:r>
            <a:r>
              <a:rPr lang="en-US" sz="2800" b="1" dirty="0" err="1"/>
              <a:t>Cyberterrorists</a:t>
            </a:r>
            <a:endParaRPr lang="en-US" sz="2800" b="1" dirty="0"/>
          </a:p>
          <a:p>
            <a:pPr marL="0" indent="0">
              <a:buNone/>
            </a:pPr>
            <a:r>
              <a:rPr lang="en-US" sz="2800" dirty="0"/>
              <a:t>Individuals or groups that use cyber attacks to cause fear, disrupt systems, or harm individuals or organizations. </a:t>
            </a:r>
            <a:r>
              <a:rPr lang="en-US" sz="2800" dirty="0" err="1"/>
              <a:t>Cyberterrorists</a:t>
            </a:r>
            <a:r>
              <a:rPr lang="en-US" sz="2800" dirty="0"/>
              <a:t> can be motivated by political or social causes and may use a variety of techniques to carry out their attacks.</a:t>
            </a:r>
          </a:p>
        </p:txBody>
      </p:sp>
    </p:spTree>
    <p:extLst>
      <p:ext uri="{BB962C8B-B14F-4D97-AF65-F5344CB8AC3E}">
        <p14:creationId xmlns:p14="http://schemas.microsoft.com/office/powerpoint/2010/main" val="41332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4718" y="146185"/>
            <a:ext cx="10515600" cy="948520"/>
          </a:xfrm>
        </p:spPr>
        <p:txBody>
          <a:bodyPr/>
          <a:lstStyle/>
          <a:p>
            <a:r>
              <a:rPr lang="en-US" b="1" dirty="0"/>
              <a:t>How to Become a Cyber Crime Investigator</a:t>
            </a:r>
            <a:endParaRPr lang="en-US" dirty="0"/>
          </a:p>
        </p:txBody>
      </p:sp>
      <p:sp>
        <p:nvSpPr>
          <p:cNvPr id="3" name="Content Placeholder 2"/>
          <p:cNvSpPr>
            <a:spLocks noGrp="1"/>
          </p:cNvSpPr>
          <p:nvPr>
            <p:ph idx="1"/>
          </p:nvPr>
        </p:nvSpPr>
        <p:spPr>
          <a:xfrm>
            <a:off x="426074" y="1336227"/>
            <a:ext cx="11023243" cy="5309271"/>
          </a:xfrm>
        </p:spPr>
        <p:txBody>
          <a:bodyPr>
            <a:noAutofit/>
          </a:bodyPr>
          <a:lstStyle/>
          <a:p>
            <a:r>
              <a:rPr lang="en-US" sz="2000" b="1" dirty="0"/>
              <a:t>1. Get the Right Education</a:t>
            </a:r>
          </a:p>
          <a:p>
            <a:pPr marL="0" indent="0">
              <a:buNone/>
            </a:pPr>
            <a:r>
              <a:rPr lang="en-US" sz="2000" dirty="0"/>
              <a:t>A degree in computer science, cyber security, or a related field is a good starting point for a career in cybercrime investigation. Some colleges and universities offer specialized programs in cyber crime investigation that can provide you with the knowledge and skills you need to succeed in this field.</a:t>
            </a:r>
          </a:p>
          <a:p>
            <a:r>
              <a:rPr lang="en-US" sz="2000" dirty="0"/>
              <a:t>2. </a:t>
            </a:r>
            <a:r>
              <a:rPr lang="en-US" sz="2000" b="1" dirty="0"/>
              <a:t>Develop the Necessary Skills</a:t>
            </a:r>
          </a:p>
          <a:p>
            <a:pPr marL="0" indent="0">
              <a:buNone/>
            </a:pPr>
            <a:r>
              <a:rPr lang="en-US" sz="2000" dirty="0"/>
              <a:t>Cybercrime investigators need a wide range of technical and non-technical skills, including knowledge of computer systems and networks, an understanding of cybercrime laws and regulations, critical thinking skills, and the ability to work well under pressure. You can develop these skills through courses, certifications, and on-the-job training.</a:t>
            </a:r>
          </a:p>
          <a:p>
            <a:r>
              <a:rPr lang="en-US" sz="2000" b="1" dirty="0"/>
              <a:t>3. Gain Experience</a:t>
            </a:r>
          </a:p>
          <a:p>
            <a:pPr marL="0" indent="0">
              <a:buNone/>
            </a:pPr>
            <a:r>
              <a:rPr lang="en-US" sz="2000" dirty="0"/>
              <a:t>Internships, volunteer work, or entry-level positions in cyber security or computer forensics can provide valuable experience and help you build a network of contacts in the field. Look for opportunities to work with law enforcement agencies, government agencies, or private companies that specialize in cyber security.</a:t>
            </a:r>
          </a:p>
        </p:txBody>
      </p:sp>
    </p:spTree>
    <p:extLst>
      <p:ext uri="{BB962C8B-B14F-4D97-AF65-F5344CB8AC3E}">
        <p14:creationId xmlns:p14="http://schemas.microsoft.com/office/powerpoint/2010/main" val="64322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down)">
                                      <p:cBhvr>
                                        <p:cTn id="19" dur="500"/>
                                        <p:tgtEl>
                                          <p:spTgt spid="3">
                                            <p:txEl>
                                              <p:pRg st="2" end="2"/>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p:cTn id="27"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4" end="4"/>
                                            </p:txEl>
                                          </p:spTgt>
                                        </p:tgtEl>
                                      </p:cBhvr>
                                    </p:animEffect>
                                  </p:childTnLst>
                                </p:cTn>
                              </p:par>
                              <p:par>
                                <p:cTn id="31" presetID="31" presetClass="entr" presetSubtype="0"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p:cTn id="33"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4"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35"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36"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501" y="223458"/>
            <a:ext cx="10515600" cy="948520"/>
          </a:xfrm>
        </p:spPr>
        <p:txBody>
          <a:bodyPr/>
          <a:lstStyle/>
          <a:p>
            <a:r>
              <a:rPr lang="en-US" b="1" dirty="0"/>
              <a:t>How to Become a Cyber Crime Investigator</a:t>
            </a:r>
            <a:endParaRPr lang="en-US" dirty="0"/>
          </a:p>
        </p:txBody>
      </p:sp>
      <p:sp>
        <p:nvSpPr>
          <p:cNvPr id="3" name="Content Placeholder 2"/>
          <p:cNvSpPr>
            <a:spLocks noGrp="1"/>
          </p:cNvSpPr>
          <p:nvPr>
            <p:ph idx="1"/>
          </p:nvPr>
        </p:nvSpPr>
        <p:spPr>
          <a:xfrm>
            <a:off x="339679" y="1171978"/>
            <a:ext cx="11023243" cy="5489575"/>
          </a:xfrm>
        </p:spPr>
        <p:txBody>
          <a:bodyPr>
            <a:noAutofit/>
          </a:bodyPr>
          <a:lstStyle/>
          <a:p>
            <a:r>
              <a:rPr lang="en-US" sz="2400" dirty="0"/>
              <a:t>4. </a:t>
            </a:r>
            <a:r>
              <a:rPr lang="en-US" sz="2400" b="1" dirty="0"/>
              <a:t>Stay Up-to-Date</a:t>
            </a:r>
          </a:p>
          <a:p>
            <a:pPr marL="0" indent="0">
              <a:buNone/>
            </a:pPr>
            <a:r>
              <a:rPr lang="en-US" sz="2400" dirty="0"/>
              <a:t>Cybercrime investigation is a constantly evolving field, and it's important to stay up-to-date with the latest trends, threats, and technologies. Attend conferences, read industry publications, and participate in online forums to stay informed and connected to the </a:t>
            </a:r>
            <a:r>
              <a:rPr lang="en-US" sz="2400" dirty="0" err="1"/>
              <a:t>cybersecurity</a:t>
            </a:r>
            <a:r>
              <a:rPr lang="en-US" sz="2400" dirty="0"/>
              <a:t> community.</a:t>
            </a:r>
          </a:p>
          <a:p>
            <a:r>
              <a:rPr lang="en-US" sz="2400" dirty="0"/>
              <a:t>5. </a:t>
            </a:r>
            <a:r>
              <a:rPr lang="en-US" sz="2400" b="1" dirty="0"/>
              <a:t>Consider Certification</a:t>
            </a:r>
          </a:p>
          <a:p>
            <a:pPr marL="0" indent="0">
              <a:buNone/>
            </a:pPr>
            <a:r>
              <a:rPr lang="en-US" sz="2400" dirty="0"/>
              <a:t>Professional certifications, such as the Certified Ethical Hacker (CEH), or Certified Information Systems Security Professional (CISSP) can demonstrate your expertise and help you stand out in a competitive job market.</a:t>
            </a:r>
          </a:p>
          <a:p>
            <a:pPr marL="0" indent="0">
              <a:buNone/>
            </a:pPr>
            <a:r>
              <a:rPr lang="en-US" sz="2400" dirty="0"/>
              <a:t>Becoming a cybercrime investigator requires dedication, hard and smart work, and a commitment to ongoing learning and professional development. By following these steps, you can position yourself for a successful career in this exciting and important field</a:t>
            </a:r>
          </a:p>
        </p:txBody>
      </p:sp>
    </p:spTree>
    <p:extLst>
      <p:ext uri="{BB962C8B-B14F-4D97-AF65-F5344CB8AC3E}">
        <p14:creationId xmlns:p14="http://schemas.microsoft.com/office/powerpoint/2010/main" val="1986789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wipe(down)">
                                      <p:cBhvr>
                                        <p:cTn id="3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59063"/>
            <a:ext cx="10515600" cy="781095"/>
          </a:xfrm>
        </p:spPr>
        <p:txBody>
          <a:bodyPr/>
          <a:lstStyle/>
          <a:p>
            <a:r>
              <a:rPr lang="en-US" b="1" dirty="0"/>
              <a:t>Cybercrime Investigation Techniques</a:t>
            </a:r>
            <a:endParaRPr lang="en-US" dirty="0"/>
          </a:p>
        </p:txBody>
      </p:sp>
      <p:sp>
        <p:nvSpPr>
          <p:cNvPr id="3" name="Content Placeholder 2"/>
          <p:cNvSpPr>
            <a:spLocks noGrp="1"/>
          </p:cNvSpPr>
          <p:nvPr>
            <p:ph idx="1"/>
          </p:nvPr>
        </p:nvSpPr>
        <p:spPr>
          <a:xfrm>
            <a:off x="257577" y="940158"/>
            <a:ext cx="11500834" cy="5231998"/>
          </a:xfrm>
        </p:spPr>
        <p:txBody>
          <a:bodyPr>
            <a:normAutofit lnSpcReduction="10000"/>
          </a:bodyPr>
          <a:lstStyle/>
          <a:p>
            <a:r>
              <a:rPr lang="en-US" dirty="0"/>
              <a:t>Cybercrime investigation techniques involve a combination of technical and non-technical methods for gathering evidence and identifying suspects. One of the most important techniques used in cybercrime investigation is digital forensics.</a:t>
            </a:r>
          </a:p>
          <a:p>
            <a:r>
              <a:rPr lang="en-US" dirty="0"/>
              <a:t>Digital forensics involves the collection, preservation, and analysis of digital evidence. Digital forensics can include the recovery of deleted files, analyzing metadata, and examining network traffic logs. Digital forensics tools can include software like </a:t>
            </a:r>
            <a:r>
              <a:rPr lang="en-US" dirty="0" err="1"/>
              <a:t>EnCase</a:t>
            </a:r>
            <a:r>
              <a:rPr lang="en-US" dirty="0"/>
              <a:t>, FTK, and Autopsy.</a:t>
            </a:r>
          </a:p>
          <a:p>
            <a:r>
              <a:rPr lang="en-US" dirty="0"/>
              <a:t>In addition to digital forensics, cybercrime investigators may use various other techniques to gather evidence and identify suspects. These techniques can include conducting interviews with witnesses, reviewing surveillance footage, and analyzing financial records to track the flow of money.</a:t>
            </a:r>
          </a:p>
          <a:p>
            <a:r>
              <a:rPr lang="en-US" dirty="0"/>
              <a:t>Investigators may also use social engineering techniques to gather information about suspects, such as posing as potential victims or using fake social media profiles to gain access to information.</a:t>
            </a:r>
          </a:p>
          <a:p>
            <a:r>
              <a:rPr lang="en-US" dirty="0"/>
              <a:t>Another important technique used in cybercrime investigation is collaboration. Cybercrime investigations often involve multiple agencies and organizations, and it's important for investigators to work together to share information and resources.</a:t>
            </a:r>
          </a:p>
          <a:p>
            <a:r>
              <a:rPr lang="en-US" dirty="0"/>
              <a:t>This can involve working with law enforcement agencies, government agencies, or private companies that specialize in cyber </a:t>
            </a:r>
            <a:r>
              <a:rPr lang="en-US" dirty="0" err="1"/>
              <a:t>security.Collaboration</a:t>
            </a:r>
            <a:r>
              <a:rPr lang="en-US" dirty="0"/>
              <a:t> can help investigators to identify patterns, track suspects, and share best practices.</a:t>
            </a:r>
          </a:p>
        </p:txBody>
      </p:sp>
    </p:spTree>
    <p:extLst>
      <p:ext uri="{BB962C8B-B14F-4D97-AF65-F5344CB8AC3E}">
        <p14:creationId xmlns:p14="http://schemas.microsoft.com/office/powerpoint/2010/main" val="2657515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down)">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circle(in)">
                                      <p:cBhvr>
                                        <p:cTn id="24" dur="20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6"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wipe(down)">
                                      <p:cBhvr>
                                        <p:cTn id="36" dur="580">
                                          <p:stCondLst>
                                            <p:cond delay="0"/>
                                          </p:stCondLst>
                                        </p:cTn>
                                        <p:tgtEl>
                                          <p:spTgt spid="3">
                                            <p:txEl>
                                              <p:pRg st="5" end="5"/>
                                            </p:txEl>
                                          </p:spTgt>
                                        </p:tgtEl>
                                      </p:cBhvr>
                                    </p:animEffect>
                                    <p:anim calcmode="lin" valueType="num">
                                      <p:cBhvr>
                                        <p:cTn id="37"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38"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39"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40"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41"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42" dur="26">
                                          <p:stCondLst>
                                            <p:cond delay="650"/>
                                          </p:stCondLst>
                                        </p:cTn>
                                        <p:tgtEl>
                                          <p:spTgt spid="3">
                                            <p:txEl>
                                              <p:pRg st="5" end="5"/>
                                            </p:txEl>
                                          </p:spTgt>
                                        </p:tgtEl>
                                      </p:cBhvr>
                                      <p:to x="100000" y="60000"/>
                                    </p:animScale>
                                    <p:animScale>
                                      <p:cBhvr>
                                        <p:cTn id="43" dur="166" decel="50000">
                                          <p:stCondLst>
                                            <p:cond delay="676"/>
                                          </p:stCondLst>
                                        </p:cTn>
                                        <p:tgtEl>
                                          <p:spTgt spid="3">
                                            <p:txEl>
                                              <p:pRg st="5" end="5"/>
                                            </p:txEl>
                                          </p:spTgt>
                                        </p:tgtEl>
                                      </p:cBhvr>
                                      <p:to x="100000" y="100000"/>
                                    </p:animScale>
                                    <p:animScale>
                                      <p:cBhvr>
                                        <p:cTn id="44" dur="26">
                                          <p:stCondLst>
                                            <p:cond delay="1312"/>
                                          </p:stCondLst>
                                        </p:cTn>
                                        <p:tgtEl>
                                          <p:spTgt spid="3">
                                            <p:txEl>
                                              <p:pRg st="5" end="5"/>
                                            </p:txEl>
                                          </p:spTgt>
                                        </p:tgtEl>
                                      </p:cBhvr>
                                      <p:to x="100000" y="80000"/>
                                    </p:animScale>
                                    <p:animScale>
                                      <p:cBhvr>
                                        <p:cTn id="45" dur="166" decel="50000">
                                          <p:stCondLst>
                                            <p:cond delay="1338"/>
                                          </p:stCondLst>
                                        </p:cTn>
                                        <p:tgtEl>
                                          <p:spTgt spid="3">
                                            <p:txEl>
                                              <p:pRg st="5" end="5"/>
                                            </p:txEl>
                                          </p:spTgt>
                                        </p:tgtEl>
                                      </p:cBhvr>
                                      <p:to x="100000" y="100000"/>
                                    </p:animScale>
                                    <p:animScale>
                                      <p:cBhvr>
                                        <p:cTn id="46" dur="26">
                                          <p:stCondLst>
                                            <p:cond delay="1642"/>
                                          </p:stCondLst>
                                        </p:cTn>
                                        <p:tgtEl>
                                          <p:spTgt spid="3">
                                            <p:txEl>
                                              <p:pRg st="5" end="5"/>
                                            </p:txEl>
                                          </p:spTgt>
                                        </p:tgtEl>
                                      </p:cBhvr>
                                      <p:to x="100000" y="90000"/>
                                    </p:animScale>
                                    <p:animScale>
                                      <p:cBhvr>
                                        <p:cTn id="47" dur="166" decel="50000">
                                          <p:stCondLst>
                                            <p:cond delay="1668"/>
                                          </p:stCondLst>
                                        </p:cTn>
                                        <p:tgtEl>
                                          <p:spTgt spid="3">
                                            <p:txEl>
                                              <p:pRg st="5" end="5"/>
                                            </p:txEl>
                                          </p:spTgt>
                                        </p:tgtEl>
                                      </p:cBhvr>
                                      <p:to x="100000" y="100000"/>
                                    </p:animScale>
                                    <p:animScale>
                                      <p:cBhvr>
                                        <p:cTn id="48" dur="26">
                                          <p:stCondLst>
                                            <p:cond delay="1808"/>
                                          </p:stCondLst>
                                        </p:cTn>
                                        <p:tgtEl>
                                          <p:spTgt spid="3">
                                            <p:txEl>
                                              <p:pRg st="5" end="5"/>
                                            </p:txEl>
                                          </p:spTgt>
                                        </p:tgtEl>
                                      </p:cBhvr>
                                      <p:to x="100000" y="95000"/>
                                    </p:animScale>
                                    <p:animScale>
                                      <p:cBhvr>
                                        <p:cTn id="49"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90152"/>
            <a:ext cx="10515600" cy="875763"/>
          </a:xfrm>
        </p:spPr>
        <p:txBody>
          <a:bodyPr/>
          <a:lstStyle/>
          <a:p>
            <a:r>
              <a:rPr lang="en-US" b="1" dirty="0"/>
              <a:t>Cybercrime Investigation Tools</a:t>
            </a:r>
            <a:endParaRPr lang="en-US" dirty="0"/>
          </a:p>
        </p:txBody>
      </p:sp>
      <p:sp>
        <p:nvSpPr>
          <p:cNvPr id="3" name="Content Placeholder 2"/>
          <p:cNvSpPr>
            <a:spLocks noGrp="1"/>
          </p:cNvSpPr>
          <p:nvPr>
            <p:ph idx="1"/>
          </p:nvPr>
        </p:nvSpPr>
        <p:spPr>
          <a:xfrm>
            <a:off x="773806" y="1065772"/>
            <a:ext cx="10515600" cy="5579726"/>
          </a:xfrm>
        </p:spPr>
        <p:txBody>
          <a:bodyPr>
            <a:normAutofit fontScale="92500"/>
          </a:bodyPr>
          <a:lstStyle/>
          <a:p>
            <a:pPr marL="0" indent="0">
              <a:buNone/>
            </a:pPr>
            <a:r>
              <a:rPr lang="en-US" sz="2800" dirty="0"/>
              <a:t>Cybercrime investigation requires the use of specialized tools and software to collect, preserve, and analyze digital evidence. These tools can be used to identify suspects, track their activities, and gather evidence to build a case against them.</a:t>
            </a:r>
          </a:p>
          <a:p>
            <a:r>
              <a:rPr lang="en-US" sz="2800" b="1" dirty="0"/>
              <a:t>1. Digital Forensics Software</a:t>
            </a:r>
          </a:p>
          <a:p>
            <a:pPr marL="0" indent="0">
              <a:buNone/>
            </a:pPr>
            <a:r>
              <a:rPr lang="en-US" sz="2800" dirty="0"/>
              <a:t>It is used to recover deleted files, analyze metadata, and examine network traffic logs. Popular digital forensics software includes tools like </a:t>
            </a:r>
            <a:r>
              <a:rPr lang="en-US" sz="2800" dirty="0" err="1"/>
              <a:t>EnCase</a:t>
            </a:r>
            <a:r>
              <a:rPr lang="en-US" sz="2800" dirty="0"/>
              <a:t>, FTK, and Autopsy.</a:t>
            </a:r>
          </a:p>
          <a:p>
            <a:r>
              <a:rPr lang="en-US" sz="2800" b="1" dirty="0"/>
              <a:t>2. Network Analysis Tools</a:t>
            </a:r>
          </a:p>
          <a:p>
            <a:pPr marL="0" indent="0">
              <a:buNone/>
            </a:pPr>
            <a:r>
              <a:rPr lang="en-US" sz="2800" dirty="0"/>
              <a:t>They are used to monitor network traffic, identify suspicious activity, and track the flow of data. Network analysis tools include tools like </a:t>
            </a:r>
            <a:r>
              <a:rPr lang="en-US" sz="2800" dirty="0" err="1"/>
              <a:t>Wireshark</a:t>
            </a:r>
            <a:r>
              <a:rPr lang="en-US" sz="2800" dirty="0"/>
              <a:t>, </a:t>
            </a:r>
            <a:r>
              <a:rPr lang="en-US" sz="2800" dirty="0" err="1"/>
              <a:t>tcpdump</a:t>
            </a:r>
            <a:r>
              <a:rPr lang="en-US" sz="2800" dirty="0"/>
              <a:t>, and </a:t>
            </a:r>
            <a:r>
              <a:rPr lang="en-US" sz="2800" dirty="0" err="1"/>
              <a:t>Netscout</a:t>
            </a:r>
            <a:r>
              <a:rPr lang="en-US" dirty="0"/>
              <a:t>.</a:t>
            </a:r>
          </a:p>
        </p:txBody>
      </p:sp>
    </p:spTree>
    <p:extLst>
      <p:ext uri="{BB962C8B-B14F-4D97-AF65-F5344CB8AC3E}">
        <p14:creationId xmlns:p14="http://schemas.microsoft.com/office/powerpoint/2010/main" val="300235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75763"/>
          </a:xfrm>
        </p:spPr>
        <p:txBody>
          <a:bodyPr/>
          <a:lstStyle/>
          <a:p>
            <a:r>
              <a:rPr lang="en-US" b="1" dirty="0"/>
              <a:t>Cybercrime Investigation Tools</a:t>
            </a:r>
            <a:endParaRPr lang="en-US" dirty="0"/>
          </a:p>
        </p:txBody>
      </p:sp>
      <p:sp>
        <p:nvSpPr>
          <p:cNvPr id="3" name="Content Placeholder 2"/>
          <p:cNvSpPr>
            <a:spLocks noGrp="1"/>
          </p:cNvSpPr>
          <p:nvPr>
            <p:ph idx="1"/>
          </p:nvPr>
        </p:nvSpPr>
        <p:spPr>
          <a:xfrm>
            <a:off x="606380" y="782437"/>
            <a:ext cx="10515600" cy="6075563"/>
          </a:xfrm>
        </p:spPr>
        <p:txBody>
          <a:bodyPr>
            <a:noAutofit/>
          </a:bodyPr>
          <a:lstStyle/>
          <a:p>
            <a:r>
              <a:rPr lang="en-US" sz="2800" b="1" dirty="0"/>
              <a:t>3. Malware Analysis Tools</a:t>
            </a:r>
          </a:p>
          <a:p>
            <a:pPr marL="0" indent="0">
              <a:buNone/>
            </a:pPr>
            <a:r>
              <a:rPr lang="en-US" sz="2800" dirty="0"/>
              <a:t>They are used to analyze and reverse engineer malware to understand its behavior and identify its source. Malware analysis tools include IDA Pro, </a:t>
            </a:r>
            <a:r>
              <a:rPr lang="en-US" sz="2800" dirty="0" err="1"/>
              <a:t>OllyDbg</a:t>
            </a:r>
            <a:r>
              <a:rPr lang="en-US" sz="2800" dirty="0"/>
              <a:t>, and Binary Ninja.</a:t>
            </a:r>
          </a:p>
          <a:p>
            <a:r>
              <a:rPr lang="en-US" sz="2800" b="1" dirty="0"/>
              <a:t>4. Password Recovery Tools</a:t>
            </a:r>
          </a:p>
          <a:p>
            <a:pPr marL="0" indent="0">
              <a:buNone/>
            </a:pPr>
            <a:r>
              <a:rPr lang="en-US" sz="2800" dirty="0"/>
              <a:t>They are used to recover passwords from encrypted files, databases, or other sources of digital evidence. Password recovery tools include tools like Cain and Abel, John the Ripper, and </a:t>
            </a:r>
            <a:r>
              <a:rPr lang="en-US" sz="2800" dirty="0" err="1"/>
              <a:t>Hashcat</a:t>
            </a:r>
            <a:r>
              <a:rPr lang="en-US" sz="2800" dirty="0"/>
              <a:t>.</a:t>
            </a:r>
          </a:p>
          <a:p>
            <a:r>
              <a:rPr lang="en-US" sz="2800" b="1" dirty="0"/>
              <a:t>5. Social Media Analysis Tools</a:t>
            </a:r>
          </a:p>
          <a:p>
            <a:pPr marL="0" indent="0">
              <a:buNone/>
            </a:pPr>
            <a:r>
              <a:rPr lang="en-US" sz="2800" dirty="0"/>
              <a:t>They are used to track suspects' activities and gather evidence from social media platforms. Social media </a:t>
            </a:r>
            <a:r>
              <a:rPr lang="en-US" sz="2400" dirty="0"/>
              <a:t>analysis tools include tools like </a:t>
            </a:r>
            <a:r>
              <a:rPr lang="en-US" sz="2400" dirty="0" err="1"/>
              <a:t>Hootsuite</a:t>
            </a:r>
            <a:r>
              <a:rPr lang="en-US" sz="2400" dirty="0"/>
              <a:t>, </a:t>
            </a:r>
            <a:r>
              <a:rPr lang="en-US" sz="2400" dirty="0" err="1"/>
              <a:t>Followerwonk</a:t>
            </a:r>
            <a:r>
              <a:rPr lang="en-US" sz="2400" dirty="0"/>
              <a:t>, and Mention.</a:t>
            </a:r>
            <a:endParaRPr lang="en-US" sz="2800" dirty="0"/>
          </a:p>
        </p:txBody>
      </p:sp>
    </p:spTree>
    <p:extLst>
      <p:ext uri="{BB962C8B-B14F-4D97-AF65-F5344CB8AC3E}">
        <p14:creationId xmlns:p14="http://schemas.microsoft.com/office/powerpoint/2010/main" val="1988461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arn(inVertical)">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down)">
                                      <p:cBhvr>
                                        <p:cTn id="25" dur="500"/>
                                        <p:tgtEl>
                                          <p:spTgt spid="3">
                                            <p:txEl>
                                              <p:pRg st="4" end="4"/>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down)">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4587" y="439513"/>
            <a:ext cx="8911687" cy="1280890"/>
          </a:xfrm>
        </p:spPr>
        <p:txBody>
          <a:bodyPr/>
          <a:lstStyle/>
          <a:p>
            <a:r>
              <a:rPr lang="en-US" dirty="0"/>
              <a:t>What then is covered under digital forensics?</a:t>
            </a:r>
          </a:p>
        </p:txBody>
      </p:sp>
      <p:sp>
        <p:nvSpPr>
          <p:cNvPr id="3" name="Content Placeholder 2"/>
          <p:cNvSpPr>
            <a:spLocks noGrp="1"/>
          </p:cNvSpPr>
          <p:nvPr>
            <p:ph idx="1"/>
          </p:nvPr>
        </p:nvSpPr>
        <p:spPr>
          <a:xfrm>
            <a:off x="1623296" y="2146479"/>
            <a:ext cx="8915400" cy="3777622"/>
          </a:xfrm>
        </p:spPr>
        <p:txBody>
          <a:bodyPr/>
          <a:lstStyle/>
          <a:p>
            <a:pPr marL="0" indent="0">
              <a:buNone/>
            </a:pPr>
            <a:r>
              <a:rPr lang="en-US" sz="3200" dirty="0"/>
              <a:t>The next lecture will address such</a:t>
            </a:r>
          </a:p>
          <a:p>
            <a:endParaRPr lang="en-US" dirty="0"/>
          </a:p>
          <a:p>
            <a:endParaRPr lang="en-US" dirty="0"/>
          </a:p>
          <a:p>
            <a:endParaRPr lang="en-US" dirty="0"/>
          </a:p>
          <a:p>
            <a:pPr marL="0" indent="0" algn="ctr">
              <a:buNone/>
            </a:pPr>
            <a:r>
              <a:rPr lang="en-US" sz="4000" dirty="0" err="1"/>
              <a:t>Thankyou</a:t>
            </a:r>
            <a:r>
              <a:rPr lang="en-US" sz="4000" dirty="0"/>
              <a:t>.</a:t>
            </a:r>
          </a:p>
        </p:txBody>
      </p:sp>
    </p:spTree>
    <p:extLst>
      <p:ext uri="{BB962C8B-B14F-4D97-AF65-F5344CB8AC3E}">
        <p14:creationId xmlns:p14="http://schemas.microsoft.com/office/powerpoint/2010/main" val="173116072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295</TotalTime>
  <Words>1616</Words>
  <Application>Microsoft Office PowerPoint</Application>
  <PresentationFormat>Widescreen</PresentationFormat>
  <Paragraphs>93</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Black</vt:lpstr>
      <vt:lpstr>Calibri</vt:lpstr>
      <vt:lpstr>Century Gothic</vt:lpstr>
      <vt:lpstr>Times New Roman</vt:lpstr>
      <vt:lpstr>Wingdings 3</vt:lpstr>
      <vt:lpstr>Wisp</vt:lpstr>
      <vt:lpstr>Cyber crime investigation and Digital Forensics 2 The ontology</vt:lpstr>
      <vt:lpstr>Cybercrime investigation and digital forensics 2 Course outline</vt:lpstr>
      <vt:lpstr>Cybercrime Investigation Tools and Techniques</vt:lpstr>
      <vt:lpstr>Cybercrime Investigation Tools and Techniques</vt:lpstr>
      <vt:lpstr>Top 5 Cybercrimes</vt:lpstr>
      <vt:lpstr>Top 5 Cybercrimes</vt:lpstr>
      <vt:lpstr>Types of Cyber Criminals </vt:lpstr>
      <vt:lpstr>Types of Cyber Criminals </vt:lpstr>
      <vt:lpstr>How to Become a Cyber Crime Investigator</vt:lpstr>
      <vt:lpstr>How to Become a Cyber Crime Investigator</vt:lpstr>
      <vt:lpstr>Cybercrime Investigation Techniques</vt:lpstr>
      <vt:lpstr>Cybercrime Investigation Tools</vt:lpstr>
      <vt:lpstr>Cybercrime Investigation Tools</vt:lpstr>
      <vt:lpstr>What then is covered under digital forensics?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Forensics Overview</dc:title>
  <dc:creator>Microsoft account</dc:creator>
  <cp:lastModifiedBy>Aaron Nyakapanda</cp:lastModifiedBy>
  <cp:revision>33</cp:revision>
  <dcterms:created xsi:type="dcterms:W3CDTF">2025-02-24T02:45:46Z</dcterms:created>
  <dcterms:modified xsi:type="dcterms:W3CDTF">2026-10-26T11:07:20Z</dcterms:modified>
</cp:coreProperties>
</file>