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341" r:id="rId5"/>
    <p:sldId id="339" r:id="rId6"/>
    <p:sldId id="340" r:id="rId7"/>
    <p:sldId id="336" r:id="rId8"/>
    <p:sldId id="335" r:id="rId9"/>
    <p:sldId id="328" r:id="rId10"/>
    <p:sldId id="327" r:id="rId11"/>
    <p:sldId id="342" r:id="rId12"/>
    <p:sldId id="343" r:id="rId13"/>
    <p:sldId id="344" r:id="rId14"/>
    <p:sldId id="345" r:id="rId15"/>
    <p:sldId id="329" r:id="rId16"/>
    <p:sldId id="331" r:id="rId17"/>
    <p:sldId id="332" r:id="rId18"/>
    <p:sldId id="337" r:id="rId19"/>
    <p:sldId id="338" r:id="rId20"/>
    <p:sldId id="333" r:id="rId21"/>
    <p:sldId id="261" r:id="rId22"/>
    <p:sldId id="263" r:id="rId23"/>
    <p:sldId id="264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5" r:id="rId32"/>
    <p:sldId id="367" r:id="rId33"/>
    <p:sldId id="368" r:id="rId34"/>
    <p:sldId id="369" r:id="rId35"/>
    <p:sldId id="370" r:id="rId36"/>
    <p:sldId id="265" r:id="rId37"/>
    <p:sldId id="268" r:id="rId38"/>
    <p:sldId id="269" r:id="rId39"/>
    <p:sldId id="270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46" r:id="rId48"/>
    <p:sldId id="271" r:id="rId49"/>
    <p:sldId id="272" r:id="rId50"/>
    <p:sldId id="273" r:id="rId51"/>
    <p:sldId id="274" r:id="rId52"/>
    <p:sldId id="275" r:id="rId53"/>
    <p:sldId id="276" r:id="rId54"/>
    <p:sldId id="277" r:id="rId55"/>
    <p:sldId id="278" r:id="rId56"/>
    <p:sldId id="279" r:id="rId57"/>
    <p:sldId id="280" r:id="rId58"/>
    <p:sldId id="281" r:id="rId59"/>
    <p:sldId id="282" r:id="rId60"/>
    <p:sldId id="283" r:id="rId61"/>
    <p:sldId id="284" r:id="rId62"/>
    <p:sldId id="285" r:id="rId63"/>
    <p:sldId id="286" r:id="rId64"/>
    <p:sldId id="287" r:id="rId65"/>
    <p:sldId id="288" r:id="rId66"/>
    <p:sldId id="289" r:id="rId67"/>
    <p:sldId id="290" r:id="rId68"/>
    <p:sldId id="291" r:id="rId69"/>
    <p:sldId id="292" r:id="rId70"/>
    <p:sldId id="293" r:id="rId71"/>
    <p:sldId id="294" r:id="rId72"/>
    <p:sldId id="295" r:id="rId73"/>
    <p:sldId id="296" r:id="rId74"/>
    <p:sldId id="297" r:id="rId75"/>
    <p:sldId id="298" r:id="rId76"/>
    <p:sldId id="299" r:id="rId77"/>
    <p:sldId id="300" r:id="rId78"/>
    <p:sldId id="301" r:id="rId79"/>
    <p:sldId id="302" r:id="rId80"/>
    <p:sldId id="303" r:id="rId81"/>
    <p:sldId id="304" r:id="rId82"/>
    <p:sldId id="305" r:id="rId83"/>
    <p:sldId id="306" r:id="rId84"/>
    <p:sldId id="307" r:id="rId85"/>
    <p:sldId id="308" r:id="rId86"/>
    <p:sldId id="309" r:id="rId87"/>
    <p:sldId id="310" r:id="rId88"/>
    <p:sldId id="311" r:id="rId89"/>
    <p:sldId id="312" r:id="rId90"/>
    <p:sldId id="313" r:id="rId91"/>
    <p:sldId id="314" r:id="rId92"/>
    <p:sldId id="315" r:id="rId93"/>
    <p:sldId id="267" r:id="rId94"/>
    <p:sldId id="354" r:id="rId95"/>
    <p:sldId id="326" r:id="rId9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010" autoAdjust="0"/>
  </p:normalViewPr>
  <p:slideViewPr>
    <p:cSldViewPr>
      <p:cViewPr varScale="1">
        <p:scale>
          <a:sx n="61" d="100"/>
          <a:sy n="61" d="100"/>
        </p:scale>
        <p:origin x="1626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1738630"/>
            <a:ext cx="8319770" cy="941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8425" y="159512"/>
            <a:ext cx="640715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1628" y="1313434"/>
            <a:ext cx="3691890" cy="441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3" Type="http://schemas.openxmlformats.org/officeDocument/2006/relationships/image" Target="../media/image47.png"/><Relationship Id="rId7" Type="http://schemas.openxmlformats.org/officeDocument/2006/relationships/image" Target="../media/image51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jpg"/><Relationship Id="rId5" Type="http://schemas.openxmlformats.org/officeDocument/2006/relationships/image" Target="../media/image49.jp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jpg"/><Relationship Id="rId5" Type="http://schemas.openxmlformats.org/officeDocument/2006/relationships/image" Target="../media/image73.jpg"/><Relationship Id="rId4" Type="http://schemas.openxmlformats.org/officeDocument/2006/relationships/image" Target="../media/image72.jp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5.jpg"/><Relationship Id="rId4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1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7.jpg"/><Relationship Id="rId4" Type="http://schemas.openxmlformats.org/officeDocument/2006/relationships/image" Target="../media/image96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4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jp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9.jp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5.jp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://cloudsecurity.org/blog/2009/08/31/cloud-cartography-side-channel-attacks.html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1.jpg"/><Relationship Id="rId4" Type="http://schemas.openxmlformats.org/officeDocument/2006/relationships/image" Target="../media/image120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5.jpg"/><Relationship Id="rId4" Type="http://schemas.openxmlformats.org/officeDocument/2006/relationships/image" Target="../media/image12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0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4.png"/><Relationship Id="rId4" Type="http://schemas.openxmlformats.org/officeDocument/2006/relationships/image" Target="../media/image133.jp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jp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3.jp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g"/><Relationship Id="rId7" Type="http://schemas.openxmlformats.org/officeDocument/2006/relationships/image" Target="../media/image169.jp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8.jpg"/><Relationship Id="rId5" Type="http://schemas.openxmlformats.org/officeDocument/2006/relationships/image" Target="../media/image167.jpg"/><Relationship Id="rId4" Type="http://schemas.openxmlformats.org/officeDocument/2006/relationships/image" Target="../media/image166.jp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6940" y="1804416"/>
            <a:ext cx="6462076" cy="18973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90409" y="4743069"/>
            <a:ext cx="188213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By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: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lang="en-US" sz="1800" b="1" i="1" spc="-30" dirty="0" smtClean="0">
                <a:latin typeface="Calibri"/>
                <a:cs typeface="Calibri"/>
              </a:rPr>
              <a:t>NGOSA GATHAMS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839216"/>
            <a:ext cx="2153920" cy="1090295"/>
          </a:xfrm>
          <a:custGeom>
            <a:avLst/>
            <a:gdLst/>
            <a:ahLst/>
            <a:cxnLst/>
            <a:rect l="l" t="t" r="r" b="b"/>
            <a:pathLst>
              <a:path w="2153920" h="1090295">
                <a:moveTo>
                  <a:pt x="2044445" y="0"/>
                </a:moveTo>
                <a:lnTo>
                  <a:pt x="108978" y="0"/>
                </a:lnTo>
                <a:lnTo>
                  <a:pt x="66560" y="8560"/>
                </a:lnTo>
                <a:lnTo>
                  <a:pt x="31919" y="31908"/>
                </a:lnTo>
                <a:lnTo>
                  <a:pt x="8564" y="66544"/>
                </a:lnTo>
                <a:lnTo>
                  <a:pt x="0" y="108966"/>
                </a:lnTo>
                <a:lnTo>
                  <a:pt x="0" y="980821"/>
                </a:lnTo>
                <a:lnTo>
                  <a:pt x="8564" y="1023242"/>
                </a:lnTo>
                <a:lnTo>
                  <a:pt x="31919" y="1057878"/>
                </a:lnTo>
                <a:lnTo>
                  <a:pt x="66560" y="1081226"/>
                </a:lnTo>
                <a:lnTo>
                  <a:pt x="108978" y="1089787"/>
                </a:lnTo>
                <a:lnTo>
                  <a:pt x="2044445" y="1089787"/>
                </a:lnTo>
                <a:lnTo>
                  <a:pt x="2086814" y="1081226"/>
                </a:lnTo>
                <a:lnTo>
                  <a:pt x="2121455" y="1057878"/>
                </a:lnTo>
                <a:lnTo>
                  <a:pt x="2144833" y="1023242"/>
                </a:lnTo>
                <a:lnTo>
                  <a:pt x="2153412" y="980821"/>
                </a:lnTo>
                <a:lnTo>
                  <a:pt x="2153412" y="108966"/>
                </a:lnTo>
                <a:lnTo>
                  <a:pt x="2144833" y="66544"/>
                </a:lnTo>
                <a:lnTo>
                  <a:pt x="2121455" y="31908"/>
                </a:lnTo>
                <a:lnTo>
                  <a:pt x="2086814" y="8560"/>
                </a:lnTo>
                <a:lnTo>
                  <a:pt x="2044445" y="0"/>
                </a:lnTo>
                <a:close/>
              </a:path>
            </a:pathLst>
          </a:custGeom>
          <a:solidFill>
            <a:srgbClr val="6224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5708" y="950468"/>
            <a:ext cx="189674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065" marR="5080" algn="ctr">
              <a:lnSpc>
                <a:spcPct val="91500"/>
              </a:lnSpc>
              <a:spcBef>
                <a:spcPts val="24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Background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knowledge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Computing,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Digital Forensics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&amp;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Forensics.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51377" y="1158875"/>
            <a:ext cx="385445" cy="450850"/>
          </a:xfrm>
          <a:custGeom>
            <a:avLst/>
            <a:gdLst/>
            <a:ahLst/>
            <a:cxnLst/>
            <a:rect l="l" t="t" r="r" b="b"/>
            <a:pathLst>
              <a:path w="385445" h="450850">
                <a:moveTo>
                  <a:pt x="192532" y="0"/>
                </a:moveTo>
                <a:lnTo>
                  <a:pt x="192532" y="90042"/>
                </a:lnTo>
                <a:lnTo>
                  <a:pt x="0" y="90042"/>
                </a:lnTo>
                <a:lnTo>
                  <a:pt x="0" y="360299"/>
                </a:lnTo>
                <a:lnTo>
                  <a:pt x="192532" y="360299"/>
                </a:lnTo>
                <a:lnTo>
                  <a:pt x="192532" y="450469"/>
                </a:lnTo>
                <a:lnTo>
                  <a:pt x="385063" y="225171"/>
                </a:lnTo>
                <a:lnTo>
                  <a:pt x="192532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18052" y="839216"/>
            <a:ext cx="1816735" cy="1090295"/>
          </a:xfrm>
          <a:custGeom>
            <a:avLst/>
            <a:gdLst/>
            <a:ahLst/>
            <a:cxnLst/>
            <a:rect l="l" t="t" r="r" b="b"/>
            <a:pathLst>
              <a:path w="1816735" h="1090295">
                <a:moveTo>
                  <a:pt x="1707388" y="0"/>
                </a:moveTo>
                <a:lnTo>
                  <a:pt x="108965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980821"/>
                </a:lnTo>
                <a:lnTo>
                  <a:pt x="8560" y="1023242"/>
                </a:lnTo>
                <a:lnTo>
                  <a:pt x="31908" y="1057878"/>
                </a:lnTo>
                <a:lnTo>
                  <a:pt x="66544" y="1081226"/>
                </a:lnTo>
                <a:lnTo>
                  <a:pt x="108965" y="1089787"/>
                </a:lnTo>
                <a:lnTo>
                  <a:pt x="1707388" y="1089787"/>
                </a:lnTo>
                <a:lnTo>
                  <a:pt x="1749809" y="1081226"/>
                </a:lnTo>
                <a:lnTo>
                  <a:pt x="1784445" y="1057878"/>
                </a:lnTo>
                <a:lnTo>
                  <a:pt x="1807793" y="1023242"/>
                </a:lnTo>
                <a:lnTo>
                  <a:pt x="1816353" y="980821"/>
                </a:lnTo>
                <a:lnTo>
                  <a:pt x="1816353" y="108966"/>
                </a:lnTo>
                <a:lnTo>
                  <a:pt x="1807793" y="66544"/>
                </a:lnTo>
                <a:lnTo>
                  <a:pt x="1784445" y="31908"/>
                </a:lnTo>
                <a:lnTo>
                  <a:pt x="1749809" y="8560"/>
                </a:lnTo>
                <a:lnTo>
                  <a:pt x="1707388" y="0"/>
                </a:lnTo>
                <a:close/>
              </a:path>
            </a:pathLst>
          </a:custGeom>
          <a:solidFill>
            <a:srgbClr val="4F61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10076" y="1145794"/>
            <a:ext cx="1433830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635" marR="5080" indent="-369570">
              <a:lnSpc>
                <a:spcPts val="1540"/>
              </a:lnSpc>
              <a:spcBef>
                <a:spcPts val="27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Cloud Forensics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94171" y="1158875"/>
            <a:ext cx="385445" cy="450850"/>
          </a:xfrm>
          <a:custGeom>
            <a:avLst/>
            <a:gdLst/>
            <a:ahLst/>
            <a:cxnLst/>
            <a:rect l="l" t="t" r="r" b="b"/>
            <a:pathLst>
              <a:path w="385445" h="450850">
                <a:moveTo>
                  <a:pt x="192531" y="0"/>
                </a:moveTo>
                <a:lnTo>
                  <a:pt x="192531" y="90042"/>
                </a:lnTo>
                <a:lnTo>
                  <a:pt x="0" y="90042"/>
                </a:lnTo>
                <a:lnTo>
                  <a:pt x="0" y="360299"/>
                </a:lnTo>
                <a:lnTo>
                  <a:pt x="192531" y="360299"/>
                </a:lnTo>
                <a:lnTo>
                  <a:pt x="192531" y="450469"/>
                </a:lnTo>
                <a:lnTo>
                  <a:pt x="385063" y="225171"/>
                </a:lnTo>
                <a:lnTo>
                  <a:pt x="192531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60846" y="839216"/>
            <a:ext cx="1816735" cy="1090295"/>
          </a:xfrm>
          <a:custGeom>
            <a:avLst/>
            <a:gdLst/>
            <a:ahLst/>
            <a:cxnLst/>
            <a:rect l="l" t="t" r="r" b="b"/>
            <a:pathLst>
              <a:path w="1816734" h="1090295">
                <a:moveTo>
                  <a:pt x="1707387" y="0"/>
                </a:moveTo>
                <a:lnTo>
                  <a:pt x="109092" y="0"/>
                </a:lnTo>
                <a:lnTo>
                  <a:pt x="66651" y="8560"/>
                </a:lnTo>
                <a:lnTo>
                  <a:pt x="31972" y="31908"/>
                </a:lnTo>
                <a:lnTo>
                  <a:pt x="8580" y="66544"/>
                </a:lnTo>
                <a:lnTo>
                  <a:pt x="0" y="108966"/>
                </a:lnTo>
                <a:lnTo>
                  <a:pt x="0" y="980821"/>
                </a:lnTo>
                <a:lnTo>
                  <a:pt x="8580" y="1023242"/>
                </a:lnTo>
                <a:lnTo>
                  <a:pt x="31972" y="1057878"/>
                </a:lnTo>
                <a:lnTo>
                  <a:pt x="66651" y="1081226"/>
                </a:lnTo>
                <a:lnTo>
                  <a:pt x="109092" y="1089787"/>
                </a:lnTo>
                <a:lnTo>
                  <a:pt x="1707387" y="1089787"/>
                </a:lnTo>
                <a:lnTo>
                  <a:pt x="1749809" y="1081226"/>
                </a:lnTo>
                <a:lnTo>
                  <a:pt x="1784445" y="1057878"/>
                </a:lnTo>
                <a:lnTo>
                  <a:pt x="1807793" y="1023242"/>
                </a:lnTo>
                <a:lnTo>
                  <a:pt x="1816353" y="980821"/>
                </a:lnTo>
                <a:lnTo>
                  <a:pt x="1816353" y="108966"/>
                </a:lnTo>
                <a:lnTo>
                  <a:pt x="1807793" y="66544"/>
                </a:lnTo>
                <a:lnTo>
                  <a:pt x="1784445" y="31908"/>
                </a:lnTo>
                <a:lnTo>
                  <a:pt x="1749809" y="8560"/>
                </a:lnTo>
                <a:lnTo>
                  <a:pt x="1707387" y="0"/>
                </a:lnTo>
                <a:close/>
              </a:path>
            </a:pathLst>
          </a:custGeom>
          <a:solidFill>
            <a:srgbClr val="403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20433" y="1145794"/>
            <a:ext cx="1299845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91465" marR="5080" indent="-279400">
              <a:lnSpc>
                <a:spcPts val="1540"/>
              </a:lnSpc>
              <a:spcBef>
                <a:spcPts val="27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Proposed Solutions.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43852" y="2088769"/>
            <a:ext cx="450850" cy="385445"/>
          </a:xfrm>
          <a:custGeom>
            <a:avLst/>
            <a:gdLst/>
            <a:ahLst/>
            <a:cxnLst/>
            <a:rect l="l" t="t" r="r" b="b"/>
            <a:pathLst>
              <a:path w="450850" h="385444">
                <a:moveTo>
                  <a:pt x="360299" y="0"/>
                </a:moveTo>
                <a:lnTo>
                  <a:pt x="90043" y="0"/>
                </a:lnTo>
                <a:lnTo>
                  <a:pt x="90043" y="192531"/>
                </a:lnTo>
                <a:lnTo>
                  <a:pt x="0" y="192531"/>
                </a:lnTo>
                <a:lnTo>
                  <a:pt x="225171" y="385063"/>
                </a:lnTo>
                <a:lnTo>
                  <a:pt x="450469" y="192531"/>
                </a:lnTo>
                <a:lnTo>
                  <a:pt x="360299" y="192531"/>
                </a:lnTo>
                <a:lnTo>
                  <a:pt x="360299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60846" y="2655570"/>
            <a:ext cx="1816735" cy="1089660"/>
          </a:xfrm>
          <a:custGeom>
            <a:avLst/>
            <a:gdLst/>
            <a:ahLst/>
            <a:cxnLst/>
            <a:rect l="l" t="t" r="r" b="b"/>
            <a:pathLst>
              <a:path w="1816734" h="1089660">
                <a:moveTo>
                  <a:pt x="1707387" y="0"/>
                </a:moveTo>
                <a:lnTo>
                  <a:pt x="109092" y="0"/>
                </a:lnTo>
                <a:lnTo>
                  <a:pt x="66651" y="8560"/>
                </a:lnTo>
                <a:lnTo>
                  <a:pt x="31972" y="31908"/>
                </a:lnTo>
                <a:lnTo>
                  <a:pt x="8580" y="66544"/>
                </a:lnTo>
                <a:lnTo>
                  <a:pt x="0" y="108965"/>
                </a:lnTo>
                <a:lnTo>
                  <a:pt x="0" y="980693"/>
                </a:lnTo>
                <a:lnTo>
                  <a:pt x="8580" y="1023115"/>
                </a:lnTo>
                <a:lnTo>
                  <a:pt x="31972" y="1057751"/>
                </a:lnTo>
                <a:lnTo>
                  <a:pt x="66651" y="1081099"/>
                </a:lnTo>
                <a:lnTo>
                  <a:pt x="109092" y="1089659"/>
                </a:lnTo>
                <a:lnTo>
                  <a:pt x="1707387" y="1089659"/>
                </a:lnTo>
                <a:lnTo>
                  <a:pt x="1749809" y="1081099"/>
                </a:lnTo>
                <a:lnTo>
                  <a:pt x="1784445" y="1057751"/>
                </a:lnTo>
                <a:lnTo>
                  <a:pt x="1807793" y="1023115"/>
                </a:lnTo>
                <a:lnTo>
                  <a:pt x="1816353" y="980693"/>
                </a:lnTo>
                <a:lnTo>
                  <a:pt x="1816353" y="108965"/>
                </a:lnTo>
                <a:lnTo>
                  <a:pt x="1807793" y="66544"/>
                </a:lnTo>
                <a:lnTo>
                  <a:pt x="1784445" y="31908"/>
                </a:lnTo>
                <a:lnTo>
                  <a:pt x="1749809" y="8560"/>
                </a:lnTo>
                <a:lnTo>
                  <a:pt x="1707387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75653" y="2767076"/>
            <a:ext cx="1587500" cy="82486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24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evaluation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digital forensics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6015" y="2975229"/>
            <a:ext cx="385445" cy="450850"/>
          </a:xfrm>
          <a:custGeom>
            <a:avLst/>
            <a:gdLst/>
            <a:ahLst/>
            <a:cxnLst/>
            <a:rect l="l" t="t" r="r" b="b"/>
            <a:pathLst>
              <a:path w="385445" h="450850">
                <a:moveTo>
                  <a:pt x="192532" y="0"/>
                </a:moveTo>
                <a:lnTo>
                  <a:pt x="0" y="225171"/>
                </a:lnTo>
                <a:lnTo>
                  <a:pt x="192532" y="450342"/>
                </a:lnTo>
                <a:lnTo>
                  <a:pt x="192532" y="360299"/>
                </a:lnTo>
                <a:lnTo>
                  <a:pt x="385063" y="360299"/>
                </a:lnTo>
                <a:lnTo>
                  <a:pt x="385063" y="90043"/>
                </a:lnTo>
                <a:lnTo>
                  <a:pt x="192532" y="90043"/>
                </a:lnTo>
                <a:lnTo>
                  <a:pt x="192532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18052" y="2655570"/>
            <a:ext cx="1816735" cy="1089660"/>
          </a:xfrm>
          <a:custGeom>
            <a:avLst/>
            <a:gdLst/>
            <a:ahLst/>
            <a:cxnLst/>
            <a:rect l="l" t="t" r="r" b="b"/>
            <a:pathLst>
              <a:path w="1816735" h="1089660">
                <a:moveTo>
                  <a:pt x="1707388" y="0"/>
                </a:moveTo>
                <a:lnTo>
                  <a:pt x="108965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5"/>
                </a:lnTo>
                <a:lnTo>
                  <a:pt x="0" y="980693"/>
                </a:lnTo>
                <a:lnTo>
                  <a:pt x="8560" y="1023115"/>
                </a:lnTo>
                <a:lnTo>
                  <a:pt x="31908" y="1057751"/>
                </a:lnTo>
                <a:lnTo>
                  <a:pt x="66544" y="1081099"/>
                </a:lnTo>
                <a:lnTo>
                  <a:pt x="108965" y="1089659"/>
                </a:lnTo>
                <a:lnTo>
                  <a:pt x="1707388" y="1089659"/>
                </a:lnTo>
                <a:lnTo>
                  <a:pt x="1749809" y="1081099"/>
                </a:lnTo>
                <a:lnTo>
                  <a:pt x="1784445" y="1057751"/>
                </a:lnTo>
                <a:lnTo>
                  <a:pt x="1807793" y="1023115"/>
                </a:lnTo>
                <a:lnTo>
                  <a:pt x="1816353" y="980693"/>
                </a:lnTo>
                <a:lnTo>
                  <a:pt x="1816353" y="108965"/>
                </a:lnTo>
                <a:lnTo>
                  <a:pt x="1807793" y="66544"/>
                </a:lnTo>
                <a:lnTo>
                  <a:pt x="1784445" y="31908"/>
                </a:lnTo>
                <a:lnTo>
                  <a:pt x="1749809" y="8560"/>
                </a:lnTo>
                <a:lnTo>
                  <a:pt x="1707388" y="0"/>
                </a:lnTo>
                <a:close/>
              </a:path>
            </a:pathLst>
          </a:custGeom>
          <a:solidFill>
            <a:srgbClr val="974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55211" y="2767076"/>
            <a:ext cx="1542415" cy="82486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indent="-635" algn="ctr">
              <a:lnSpc>
                <a:spcPct val="91500"/>
              </a:lnSpc>
              <a:spcBef>
                <a:spcPts val="245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forensics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over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traditional Computer Forensics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73222" y="2975229"/>
            <a:ext cx="385445" cy="450850"/>
          </a:xfrm>
          <a:custGeom>
            <a:avLst/>
            <a:gdLst/>
            <a:ahLst/>
            <a:cxnLst/>
            <a:rect l="l" t="t" r="r" b="b"/>
            <a:pathLst>
              <a:path w="385445" h="450850">
                <a:moveTo>
                  <a:pt x="192531" y="0"/>
                </a:moveTo>
                <a:lnTo>
                  <a:pt x="0" y="225171"/>
                </a:lnTo>
                <a:lnTo>
                  <a:pt x="192531" y="450342"/>
                </a:lnTo>
                <a:lnTo>
                  <a:pt x="192531" y="360299"/>
                </a:lnTo>
                <a:lnTo>
                  <a:pt x="385063" y="360299"/>
                </a:lnTo>
                <a:lnTo>
                  <a:pt x="385063" y="90043"/>
                </a:lnTo>
                <a:lnTo>
                  <a:pt x="192531" y="90043"/>
                </a:lnTo>
                <a:lnTo>
                  <a:pt x="192531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8200" y="2655570"/>
            <a:ext cx="2153920" cy="1089660"/>
          </a:xfrm>
          <a:custGeom>
            <a:avLst/>
            <a:gdLst/>
            <a:ahLst/>
            <a:cxnLst/>
            <a:rect l="l" t="t" r="r" b="b"/>
            <a:pathLst>
              <a:path w="2153920" h="1089660">
                <a:moveTo>
                  <a:pt x="2044445" y="0"/>
                </a:moveTo>
                <a:lnTo>
                  <a:pt x="108978" y="0"/>
                </a:lnTo>
                <a:lnTo>
                  <a:pt x="66560" y="8560"/>
                </a:lnTo>
                <a:lnTo>
                  <a:pt x="31919" y="31908"/>
                </a:lnTo>
                <a:lnTo>
                  <a:pt x="8564" y="66544"/>
                </a:lnTo>
                <a:lnTo>
                  <a:pt x="0" y="108965"/>
                </a:lnTo>
                <a:lnTo>
                  <a:pt x="0" y="980693"/>
                </a:lnTo>
                <a:lnTo>
                  <a:pt x="8564" y="1023115"/>
                </a:lnTo>
                <a:lnTo>
                  <a:pt x="31919" y="1057751"/>
                </a:lnTo>
                <a:lnTo>
                  <a:pt x="66560" y="1081099"/>
                </a:lnTo>
                <a:lnTo>
                  <a:pt x="108978" y="1089659"/>
                </a:lnTo>
                <a:lnTo>
                  <a:pt x="2044445" y="1089659"/>
                </a:lnTo>
                <a:lnTo>
                  <a:pt x="2086814" y="1081099"/>
                </a:lnTo>
                <a:lnTo>
                  <a:pt x="2121455" y="1057751"/>
                </a:lnTo>
                <a:lnTo>
                  <a:pt x="2144833" y="1023115"/>
                </a:lnTo>
                <a:lnTo>
                  <a:pt x="2153412" y="980693"/>
                </a:lnTo>
                <a:lnTo>
                  <a:pt x="2153412" y="108965"/>
                </a:lnTo>
                <a:lnTo>
                  <a:pt x="2144833" y="66544"/>
                </a:lnTo>
                <a:lnTo>
                  <a:pt x="2121455" y="31908"/>
                </a:lnTo>
                <a:lnTo>
                  <a:pt x="2086814" y="8560"/>
                </a:lnTo>
                <a:lnTo>
                  <a:pt x="204444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51052" y="2962401"/>
            <a:ext cx="1726564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603885" marR="5080" indent="-591820">
              <a:lnSpc>
                <a:spcPts val="1540"/>
              </a:lnSpc>
              <a:spcBef>
                <a:spcPts val="27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Storage Service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07311" y="3892677"/>
            <a:ext cx="448945" cy="397510"/>
          </a:xfrm>
          <a:custGeom>
            <a:avLst/>
            <a:gdLst/>
            <a:ahLst/>
            <a:cxnLst/>
            <a:rect l="l" t="t" r="r" b="b"/>
            <a:pathLst>
              <a:path w="448944" h="397510">
                <a:moveTo>
                  <a:pt x="107568" y="0"/>
                </a:moveTo>
                <a:lnTo>
                  <a:pt x="89788" y="192531"/>
                </a:lnTo>
                <a:lnTo>
                  <a:pt x="0" y="184150"/>
                </a:lnTo>
                <a:lnTo>
                  <a:pt x="206501" y="397510"/>
                </a:lnTo>
                <a:lnTo>
                  <a:pt x="448563" y="225806"/>
                </a:lnTo>
                <a:lnTo>
                  <a:pt x="358901" y="217424"/>
                </a:lnTo>
                <a:lnTo>
                  <a:pt x="376681" y="24892"/>
                </a:lnTo>
                <a:lnTo>
                  <a:pt x="107568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8200" y="4471796"/>
            <a:ext cx="1816735" cy="1090295"/>
          </a:xfrm>
          <a:custGeom>
            <a:avLst/>
            <a:gdLst/>
            <a:ahLst/>
            <a:cxnLst/>
            <a:rect l="l" t="t" r="r" b="b"/>
            <a:pathLst>
              <a:path w="1816735" h="1090295">
                <a:moveTo>
                  <a:pt x="1707261" y="0"/>
                </a:moveTo>
                <a:lnTo>
                  <a:pt x="108978" y="0"/>
                </a:lnTo>
                <a:lnTo>
                  <a:pt x="66560" y="8560"/>
                </a:lnTo>
                <a:lnTo>
                  <a:pt x="31919" y="31908"/>
                </a:lnTo>
                <a:lnTo>
                  <a:pt x="8564" y="66544"/>
                </a:lnTo>
                <a:lnTo>
                  <a:pt x="0" y="108965"/>
                </a:lnTo>
                <a:lnTo>
                  <a:pt x="0" y="980820"/>
                </a:lnTo>
                <a:lnTo>
                  <a:pt x="8564" y="1023242"/>
                </a:lnTo>
                <a:lnTo>
                  <a:pt x="31919" y="1057878"/>
                </a:lnTo>
                <a:lnTo>
                  <a:pt x="66560" y="1081226"/>
                </a:lnTo>
                <a:lnTo>
                  <a:pt x="108978" y="1089786"/>
                </a:lnTo>
                <a:lnTo>
                  <a:pt x="1707261" y="1089786"/>
                </a:lnTo>
                <a:lnTo>
                  <a:pt x="1749702" y="1081226"/>
                </a:lnTo>
                <a:lnTo>
                  <a:pt x="1784381" y="1057878"/>
                </a:lnTo>
                <a:lnTo>
                  <a:pt x="1807773" y="1023242"/>
                </a:lnTo>
                <a:lnTo>
                  <a:pt x="1816354" y="980820"/>
                </a:lnTo>
                <a:lnTo>
                  <a:pt x="1816354" y="108965"/>
                </a:lnTo>
                <a:lnTo>
                  <a:pt x="1807773" y="66544"/>
                </a:lnTo>
                <a:lnTo>
                  <a:pt x="1784381" y="31908"/>
                </a:lnTo>
                <a:lnTo>
                  <a:pt x="1749702" y="8560"/>
                </a:lnTo>
                <a:lnTo>
                  <a:pt x="170726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68983" y="4876927"/>
            <a:ext cx="95376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Khatamm!!!!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13956" y="3772915"/>
            <a:ext cx="5930265" cy="3085465"/>
            <a:chOff x="3213956" y="3772915"/>
            <a:chExt cx="5930265" cy="308546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956" y="6617178"/>
              <a:ext cx="3098667" cy="24082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4148" y="6155867"/>
              <a:ext cx="3081147" cy="4738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0091" y="6520649"/>
              <a:ext cx="107950" cy="1099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5024" y="6520649"/>
              <a:ext cx="107950" cy="1099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9576" y="6520649"/>
              <a:ext cx="108331" cy="1099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29402" y="6354559"/>
              <a:ext cx="157734" cy="21306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4729" y="6348196"/>
              <a:ext cx="132461" cy="8515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7661" y="6348196"/>
              <a:ext cx="132461" cy="8515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726306" y="6155867"/>
              <a:ext cx="2579370" cy="474345"/>
            </a:xfrm>
            <a:custGeom>
              <a:avLst/>
              <a:gdLst/>
              <a:ahLst/>
              <a:cxnLst/>
              <a:rect l="l" t="t" r="r" b="b"/>
              <a:pathLst>
                <a:path w="2579370" h="474345">
                  <a:moveTo>
                    <a:pt x="1777872" y="142646"/>
                  </a:moveTo>
                  <a:lnTo>
                    <a:pt x="1786127" y="142646"/>
                  </a:lnTo>
                  <a:lnTo>
                    <a:pt x="1792858" y="142925"/>
                  </a:lnTo>
                  <a:lnTo>
                    <a:pt x="1798065" y="143484"/>
                  </a:lnTo>
                  <a:lnTo>
                    <a:pt x="1803400" y="144043"/>
                  </a:lnTo>
                  <a:lnTo>
                    <a:pt x="1807464" y="144818"/>
                  </a:lnTo>
                  <a:lnTo>
                    <a:pt x="1810384" y="145834"/>
                  </a:lnTo>
                  <a:lnTo>
                    <a:pt x="1813305" y="146837"/>
                  </a:lnTo>
                  <a:lnTo>
                    <a:pt x="1815210" y="148170"/>
                  </a:lnTo>
                  <a:lnTo>
                    <a:pt x="1816227" y="149847"/>
                  </a:lnTo>
                  <a:lnTo>
                    <a:pt x="1817242" y="151523"/>
                  </a:lnTo>
                  <a:lnTo>
                    <a:pt x="1817496" y="153479"/>
                  </a:lnTo>
                  <a:lnTo>
                    <a:pt x="1816989" y="155701"/>
                  </a:lnTo>
                  <a:lnTo>
                    <a:pt x="1781555" y="335191"/>
                  </a:lnTo>
                  <a:lnTo>
                    <a:pt x="1778253" y="361086"/>
                  </a:lnTo>
                  <a:lnTo>
                    <a:pt x="1778253" y="366001"/>
                  </a:lnTo>
                  <a:lnTo>
                    <a:pt x="1778253" y="371360"/>
                  </a:lnTo>
                  <a:lnTo>
                    <a:pt x="1784603" y="391782"/>
                  </a:lnTo>
                  <a:lnTo>
                    <a:pt x="1786763" y="394906"/>
                  </a:lnTo>
                  <a:lnTo>
                    <a:pt x="1789683" y="397256"/>
                  </a:lnTo>
                  <a:lnTo>
                    <a:pt x="1793113" y="398818"/>
                  </a:lnTo>
                  <a:lnTo>
                    <a:pt x="1796541" y="400380"/>
                  </a:lnTo>
                  <a:lnTo>
                    <a:pt x="1800732" y="401167"/>
                  </a:lnTo>
                  <a:lnTo>
                    <a:pt x="1805685" y="401167"/>
                  </a:lnTo>
                  <a:lnTo>
                    <a:pt x="1841615" y="387432"/>
                  </a:lnTo>
                  <a:lnTo>
                    <a:pt x="1869082" y="359703"/>
                  </a:lnTo>
                  <a:lnTo>
                    <a:pt x="1891512" y="320156"/>
                  </a:lnTo>
                  <a:lnTo>
                    <a:pt x="1927859" y="155701"/>
                  </a:lnTo>
                  <a:lnTo>
                    <a:pt x="1928114" y="153479"/>
                  </a:lnTo>
                  <a:lnTo>
                    <a:pt x="1929129" y="151523"/>
                  </a:lnTo>
                  <a:lnTo>
                    <a:pt x="1930907" y="149847"/>
                  </a:lnTo>
                  <a:lnTo>
                    <a:pt x="1932685" y="148170"/>
                  </a:lnTo>
                  <a:lnTo>
                    <a:pt x="1935352" y="146837"/>
                  </a:lnTo>
                  <a:lnTo>
                    <a:pt x="1938781" y="145834"/>
                  </a:lnTo>
                  <a:lnTo>
                    <a:pt x="1942210" y="144818"/>
                  </a:lnTo>
                  <a:lnTo>
                    <a:pt x="1946782" y="144043"/>
                  </a:lnTo>
                  <a:lnTo>
                    <a:pt x="1952370" y="143484"/>
                  </a:lnTo>
                  <a:lnTo>
                    <a:pt x="1957958" y="142925"/>
                  </a:lnTo>
                  <a:lnTo>
                    <a:pt x="1964689" y="142646"/>
                  </a:lnTo>
                  <a:lnTo>
                    <a:pt x="1972817" y="142646"/>
                  </a:lnTo>
                  <a:lnTo>
                    <a:pt x="1981072" y="142646"/>
                  </a:lnTo>
                  <a:lnTo>
                    <a:pt x="1987803" y="142925"/>
                  </a:lnTo>
                  <a:lnTo>
                    <a:pt x="1993010" y="143484"/>
                  </a:lnTo>
                  <a:lnTo>
                    <a:pt x="1998217" y="144043"/>
                  </a:lnTo>
                  <a:lnTo>
                    <a:pt x="2011298" y="149847"/>
                  </a:lnTo>
                  <a:lnTo>
                    <a:pt x="2012188" y="151523"/>
                  </a:lnTo>
                  <a:lnTo>
                    <a:pt x="2012441" y="153479"/>
                  </a:lnTo>
                  <a:lnTo>
                    <a:pt x="2011933" y="155701"/>
                  </a:lnTo>
                  <a:lnTo>
                    <a:pt x="1951989" y="455079"/>
                  </a:lnTo>
                  <a:lnTo>
                    <a:pt x="1930907" y="467296"/>
                  </a:lnTo>
                  <a:lnTo>
                    <a:pt x="1926208" y="467855"/>
                  </a:lnTo>
                  <a:lnTo>
                    <a:pt x="1920366" y="468134"/>
                  </a:lnTo>
                  <a:lnTo>
                    <a:pt x="1913508" y="468134"/>
                  </a:lnTo>
                  <a:lnTo>
                    <a:pt x="1906523" y="468134"/>
                  </a:lnTo>
                  <a:lnTo>
                    <a:pt x="1900935" y="467855"/>
                  </a:lnTo>
                  <a:lnTo>
                    <a:pt x="1896617" y="467296"/>
                  </a:lnTo>
                  <a:lnTo>
                    <a:pt x="1892172" y="466737"/>
                  </a:lnTo>
                  <a:lnTo>
                    <a:pt x="1881504" y="460933"/>
                  </a:lnTo>
                  <a:lnTo>
                    <a:pt x="1880742" y="459257"/>
                  </a:lnTo>
                  <a:lnTo>
                    <a:pt x="1880615" y="457301"/>
                  </a:lnTo>
                  <a:lnTo>
                    <a:pt x="1881377" y="455079"/>
                  </a:lnTo>
                  <a:lnTo>
                    <a:pt x="1890394" y="406514"/>
                  </a:lnTo>
                  <a:lnTo>
                    <a:pt x="1865880" y="435942"/>
                  </a:lnTo>
                  <a:lnTo>
                    <a:pt x="1829165" y="460809"/>
                  </a:lnTo>
                  <a:lnTo>
                    <a:pt x="1784818" y="473448"/>
                  </a:lnTo>
                  <a:lnTo>
                    <a:pt x="1775459" y="473824"/>
                  </a:lnTo>
                  <a:lnTo>
                    <a:pt x="1764196" y="473416"/>
                  </a:lnTo>
                  <a:lnTo>
                    <a:pt x="1721183" y="459597"/>
                  </a:lnTo>
                  <a:lnTo>
                    <a:pt x="1695322" y="422592"/>
                  </a:lnTo>
                  <a:lnTo>
                    <a:pt x="1690751" y="388442"/>
                  </a:lnTo>
                  <a:lnTo>
                    <a:pt x="1690751" y="380847"/>
                  </a:lnTo>
                  <a:lnTo>
                    <a:pt x="1691258" y="373087"/>
                  </a:lnTo>
                  <a:lnTo>
                    <a:pt x="1692275" y="365163"/>
                  </a:lnTo>
                  <a:lnTo>
                    <a:pt x="1693290" y="357238"/>
                  </a:lnTo>
                  <a:lnTo>
                    <a:pt x="1694560" y="349148"/>
                  </a:lnTo>
                  <a:lnTo>
                    <a:pt x="1696212" y="340880"/>
                  </a:lnTo>
                  <a:lnTo>
                    <a:pt x="1733041" y="155701"/>
                  </a:lnTo>
                  <a:lnTo>
                    <a:pt x="1733422" y="153479"/>
                  </a:lnTo>
                  <a:lnTo>
                    <a:pt x="1734439" y="151523"/>
                  </a:lnTo>
                  <a:lnTo>
                    <a:pt x="1736216" y="149847"/>
                  </a:lnTo>
                  <a:lnTo>
                    <a:pt x="1737867" y="148170"/>
                  </a:lnTo>
                  <a:lnTo>
                    <a:pt x="1757426" y="143484"/>
                  </a:lnTo>
                  <a:lnTo>
                    <a:pt x="1763014" y="142925"/>
                  </a:lnTo>
                  <a:lnTo>
                    <a:pt x="1769871" y="142646"/>
                  </a:lnTo>
                  <a:lnTo>
                    <a:pt x="1777872" y="142646"/>
                  </a:lnTo>
                  <a:close/>
                </a:path>
                <a:path w="2579370" h="474345">
                  <a:moveTo>
                    <a:pt x="2462783" y="136956"/>
                  </a:moveTo>
                  <a:lnTo>
                    <a:pt x="2503735" y="141007"/>
                  </a:lnTo>
                  <a:lnTo>
                    <a:pt x="2543649" y="157595"/>
                  </a:lnTo>
                  <a:lnTo>
                    <a:pt x="2572130" y="190360"/>
                  </a:lnTo>
                  <a:lnTo>
                    <a:pt x="2578989" y="221678"/>
                  </a:lnTo>
                  <a:lnTo>
                    <a:pt x="2578300" y="233426"/>
                  </a:lnTo>
                  <a:lnTo>
                    <a:pt x="2561877" y="274330"/>
                  </a:lnTo>
                  <a:lnTo>
                    <a:pt x="2522069" y="304732"/>
                  </a:lnTo>
                  <a:lnTo>
                    <a:pt x="2475991" y="319455"/>
                  </a:lnTo>
                  <a:lnTo>
                    <a:pt x="2437320" y="324981"/>
                  </a:lnTo>
                  <a:lnTo>
                    <a:pt x="2391791" y="326821"/>
                  </a:lnTo>
                  <a:lnTo>
                    <a:pt x="2360929" y="326821"/>
                  </a:lnTo>
                  <a:lnTo>
                    <a:pt x="2360041" y="331952"/>
                  </a:lnTo>
                  <a:lnTo>
                    <a:pt x="2359405" y="337032"/>
                  </a:lnTo>
                  <a:lnTo>
                    <a:pt x="2359025" y="342061"/>
                  </a:lnTo>
                  <a:lnTo>
                    <a:pt x="2358516" y="347078"/>
                  </a:lnTo>
                  <a:lnTo>
                    <a:pt x="2358263" y="351713"/>
                  </a:lnTo>
                  <a:lnTo>
                    <a:pt x="2358263" y="355955"/>
                  </a:lnTo>
                  <a:lnTo>
                    <a:pt x="2372359" y="396811"/>
                  </a:lnTo>
                  <a:lnTo>
                    <a:pt x="2417571" y="410540"/>
                  </a:lnTo>
                  <a:lnTo>
                    <a:pt x="2428337" y="410340"/>
                  </a:lnTo>
                  <a:lnTo>
                    <a:pt x="2473785" y="404007"/>
                  </a:lnTo>
                  <a:lnTo>
                    <a:pt x="2515869" y="391172"/>
                  </a:lnTo>
                  <a:lnTo>
                    <a:pt x="2520060" y="390105"/>
                  </a:lnTo>
                  <a:lnTo>
                    <a:pt x="2522728" y="390105"/>
                  </a:lnTo>
                  <a:lnTo>
                    <a:pt x="2525394" y="390105"/>
                  </a:lnTo>
                  <a:lnTo>
                    <a:pt x="2527300" y="390893"/>
                  </a:lnTo>
                  <a:lnTo>
                    <a:pt x="2528442" y="392455"/>
                  </a:lnTo>
                  <a:lnTo>
                    <a:pt x="2529585" y="394017"/>
                  </a:lnTo>
                  <a:lnTo>
                    <a:pt x="2530093" y="396468"/>
                  </a:lnTo>
                  <a:lnTo>
                    <a:pt x="2530093" y="399821"/>
                  </a:lnTo>
                  <a:lnTo>
                    <a:pt x="2530093" y="403618"/>
                  </a:lnTo>
                  <a:lnTo>
                    <a:pt x="2529713" y="407974"/>
                  </a:lnTo>
                  <a:lnTo>
                    <a:pt x="2529078" y="412877"/>
                  </a:lnTo>
                  <a:lnTo>
                    <a:pt x="2528442" y="417791"/>
                  </a:lnTo>
                  <a:lnTo>
                    <a:pt x="2527427" y="422643"/>
                  </a:lnTo>
                  <a:lnTo>
                    <a:pt x="2526283" y="427443"/>
                  </a:lnTo>
                  <a:lnTo>
                    <a:pt x="2525014" y="432244"/>
                  </a:lnTo>
                  <a:lnTo>
                    <a:pt x="2523490" y="436765"/>
                  </a:lnTo>
                  <a:lnTo>
                    <a:pt x="2521584" y="441007"/>
                  </a:lnTo>
                  <a:lnTo>
                    <a:pt x="2519679" y="445249"/>
                  </a:lnTo>
                  <a:lnTo>
                    <a:pt x="2517520" y="448487"/>
                  </a:lnTo>
                  <a:lnTo>
                    <a:pt x="2514980" y="450723"/>
                  </a:lnTo>
                  <a:lnTo>
                    <a:pt x="2512314" y="453402"/>
                  </a:lnTo>
                  <a:lnTo>
                    <a:pt x="2474467" y="466128"/>
                  </a:lnTo>
                  <a:lnTo>
                    <a:pt x="2431284" y="472602"/>
                  </a:lnTo>
                  <a:lnTo>
                    <a:pt x="2402458" y="473824"/>
                  </a:lnTo>
                  <a:lnTo>
                    <a:pt x="2386939" y="473405"/>
                  </a:lnTo>
                  <a:lnTo>
                    <a:pt x="2346452" y="467131"/>
                  </a:lnTo>
                  <a:lnTo>
                    <a:pt x="2306446" y="446709"/>
                  </a:lnTo>
                  <a:lnTo>
                    <a:pt x="2282316" y="411708"/>
                  </a:lnTo>
                  <a:lnTo>
                    <a:pt x="2274316" y="361315"/>
                  </a:lnTo>
                  <a:lnTo>
                    <a:pt x="2274577" y="349896"/>
                  </a:lnTo>
                  <a:lnTo>
                    <a:pt x="2280860" y="300489"/>
                  </a:lnTo>
                  <a:lnTo>
                    <a:pt x="2291968" y="262699"/>
                  </a:lnTo>
                  <a:lnTo>
                    <a:pt x="2309096" y="226498"/>
                  </a:lnTo>
                  <a:lnTo>
                    <a:pt x="2332370" y="193589"/>
                  </a:lnTo>
                  <a:lnTo>
                    <a:pt x="2362668" y="166769"/>
                  </a:lnTo>
                  <a:lnTo>
                    <a:pt x="2400172" y="147332"/>
                  </a:lnTo>
                  <a:lnTo>
                    <a:pt x="2445660" y="137604"/>
                  </a:lnTo>
                  <a:lnTo>
                    <a:pt x="2462783" y="136956"/>
                  </a:lnTo>
                  <a:close/>
                </a:path>
                <a:path w="2579370" h="474345">
                  <a:moveTo>
                    <a:pt x="1511427" y="136956"/>
                  </a:moveTo>
                  <a:lnTo>
                    <a:pt x="1556986" y="141376"/>
                  </a:lnTo>
                  <a:lnTo>
                    <a:pt x="1602154" y="160773"/>
                  </a:lnTo>
                  <a:lnTo>
                    <a:pt x="1630834" y="194740"/>
                  </a:lnTo>
                  <a:lnTo>
                    <a:pt x="1642879" y="242509"/>
                  </a:lnTo>
                  <a:lnTo>
                    <a:pt x="1643379" y="256501"/>
                  </a:lnTo>
                  <a:lnTo>
                    <a:pt x="1643094" y="268641"/>
                  </a:lnTo>
                  <a:lnTo>
                    <a:pt x="1636264" y="318709"/>
                  </a:lnTo>
                  <a:lnTo>
                    <a:pt x="1624583" y="355790"/>
                  </a:lnTo>
                  <a:lnTo>
                    <a:pt x="1606956" y="390512"/>
                  </a:lnTo>
                  <a:lnTo>
                    <a:pt x="1582943" y="421336"/>
                  </a:lnTo>
                  <a:lnTo>
                    <a:pt x="1552193" y="446524"/>
                  </a:lnTo>
                  <a:lnTo>
                    <a:pt x="1514475" y="464451"/>
                  </a:lnTo>
                  <a:lnTo>
                    <a:pt x="1469308" y="473238"/>
                  </a:lnTo>
                  <a:lnTo>
                    <a:pt x="1452498" y="473824"/>
                  </a:lnTo>
                  <a:lnTo>
                    <a:pt x="1436191" y="473333"/>
                  </a:lnTo>
                  <a:lnTo>
                    <a:pt x="1394078" y="465963"/>
                  </a:lnTo>
                  <a:lnTo>
                    <a:pt x="1353057" y="442849"/>
                  </a:lnTo>
                  <a:lnTo>
                    <a:pt x="1328546" y="405345"/>
                  </a:lnTo>
                  <a:lnTo>
                    <a:pt x="1320545" y="354279"/>
                  </a:lnTo>
                  <a:lnTo>
                    <a:pt x="1320831" y="342144"/>
                  </a:lnTo>
                  <a:lnTo>
                    <a:pt x="1327715" y="292081"/>
                  </a:lnTo>
                  <a:lnTo>
                    <a:pt x="1339341" y="255155"/>
                  </a:lnTo>
                  <a:lnTo>
                    <a:pt x="1356969" y="220406"/>
                  </a:lnTo>
                  <a:lnTo>
                    <a:pt x="1380997" y="189237"/>
                  </a:lnTo>
                  <a:lnTo>
                    <a:pt x="1411785" y="164160"/>
                  </a:lnTo>
                  <a:lnTo>
                    <a:pt x="1449451" y="146329"/>
                  </a:lnTo>
                  <a:lnTo>
                    <a:pt x="1494617" y="137542"/>
                  </a:lnTo>
                  <a:lnTo>
                    <a:pt x="1511427" y="136956"/>
                  </a:lnTo>
                  <a:close/>
                </a:path>
                <a:path w="2579370" h="474345">
                  <a:moveTo>
                    <a:pt x="1285366" y="136956"/>
                  </a:moveTo>
                  <a:lnTo>
                    <a:pt x="1288795" y="136956"/>
                  </a:lnTo>
                  <a:lnTo>
                    <a:pt x="1292097" y="137172"/>
                  </a:lnTo>
                  <a:lnTo>
                    <a:pt x="1313306" y="141808"/>
                  </a:lnTo>
                  <a:lnTo>
                    <a:pt x="1315719" y="142811"/>
                  </a:lnTo>
                  <a:lnTo>
                    <a:pt x="1317497" y="143878"/>
                  </a:lnTo>
                  <a:lnTo>
                    <a:pt x="1318894" y="144995"/>
                  </a:lnTo>
                  <a:lnTo>
                    <a:pt x="1320164" y="146329"/>
                  </a:lnTo>
                  <a:lnTo>
                    <a:pt x="1320927" y="148450"/>
                  </a:lnTo>
                  <a:lnTo>
                    <a:pt x="1320927" y="151358"/>
                  </a:lnTo>
                  <a:lnTo>
                    <a:pt x="1320927" y="152920"/>
                  </a:lnTo>
                  <a:lnTo>
                    <a:pt x="1320672" y="155701"/>
                  </a:lnTo>
                  <a:lnTo>
                    <a:pt x="1320164" y="159727"/>
                  </a:lnTo>
                  <a:lnTo>
                    <a:pt x="1319783" y="163741"/>
                  </a:lnTo>
                  <a:lnTo>
                    <a:pt x="1314830" y="190360"/>
                  </a:lnTo>
                  <a:lnTo>
                    <a:pt x="1313560" y="196062"/>
                  </a:lnTo>
                  <a:lnTo>
                    <a:pt x="1300226" y="223012"/>
                  </a:lnTo>
                  <a:lnTo>
                    <a:pt x="1297813" y="223012"/>
                  </a:lnTo>
                  <a:lnTo>
                    <a:pt x="1295780" y="223012"/>
                  </a:lnTo>
                  <a:lnTo>
                    <a:pt x="1293748" y="222618"/>
                  </a:lnTo>
                  <a:lnTo>
                    <a:pt x="1291716" y="221843"/>
                  </a:lnTo>
                  <a:lnTo>
                    <a:pt x="1289684" y="221056"/>
                  </a:lnTo>
                  <a:lnTo>
                    <a:pt x="1287526" y="220281"/>
                  </a:lnTo>
                  <a:lnTo>
                    <a:pt x="1285113" y="219494"/>
                  </a:lnTo>
                  <a:lnTo>
                    <a:pt x="1282572" y="218719"/>
                  </a:lnTo>
                  <a:lnTo>
                    <a:pt x="1279905" y="217932"/>
                  </a:lnTo>
                  <a:lnTo>
                    <a:pt x="1276984" y="217157"/>
                  </a:lnTo>
                  <a:lnTo>
                    <a:pt x="1274064" y="216369"/>
                  </a:lnTo>
                  <a:lnTo>
                    <a:pt x="1270762" y="215988"/>
                  </a:lnTo>
                  <a:lnTo>
                    <a:pt x="1266952" y="215988"/>
                  </a:lnTo>
                  <a:lnTo>
                    <a:pt x="1230090" y="234775"/>
                  </a:lnTo>
                  <a:lnTo>
                    <a:pt x="1201912" y="271611"/>
                  </a:lnTo>
                  <a:lnTo>
                    <a:pt x="1186225" y="310193"/>
                  </a:lnTo>
                  <a:lnTo>
                    <a:pt x="1157096" y="454736"/>
                  </a:lnTo>
                  <a:lnTo>
                    <a:pt x="1156715" y="456971"/>
                  </a:lnTo>
                  <a:lnTo>
                    <a:pt x="1155572" y="458927"/>
                  </a:lnTo>
                  <a:lnTo>
                    <a:pt x="1153921" y="460603"/>
                  </a:lnTo>
                  <a:lnTo>
                    <a:pt x="1152270" y="462280"/>
                  </a:lnTo>
                  <a:lnTo>
                    <a:pt x="1149730" y="463664"/>
                  </a:lnTo>
                  <a:lnTo>
                    <a:pt x="1146302" y="464781"/>
                  </a:lnTo>
                  <a:lnTo>
                    <a:pt x="1142745" y="465899"/>
                  </a:lnTo>
                  <a:lnTo>
                    <a:pt x="1138301" y="466737"/>
                  </a:lnTo>
                  <a:lnTo>
                    <a:pt x="1132713" y="467296"/>
                  </a:lnTo>
                  <a:lnTo>
                    <a:pt x="1127125" y="467855"/>
                  </a:lnTo>
                  <a:lnTo>
                    <a:pt x="1120266" y="468134"/>
                  </a:lnTo>
                  <a:lnTo>
                    <a:pt x="1112265" y="468134"/>
                  </a:lnTo>
                  <a:lnTo>
                    <a:pt x="1104010" y="468134"/>
                  </a:lnTo>
                  <a:lnTo>
                    <a:pt x="1079627" y="464781"/>
                  </a:lnTo>
                  <a:lnTo>
                    <a:pt x="1076578" y="463664"/>
                  </a:lnTo>
                  <a:lnTo>
                    <a:pt x="1074673" y="462280"/>
                  </a:lnTo>
                  <a:lnTo>
                    <a:pt x="1073784" y="460603"/>
                  </a:lnTo>
                  <a:lnTo>
                    <a:pt x="1072895" y="458927"/>
                  </a:lnTo>
                  <a:lnTo>
                    <a:pt x="1072641" y="456971"/>
                  </a:lnTo>
                  <a:lnTo>
                    <a:pt x="1073022" y="454736"/>
                  </a:lnTo>
                  <a:lnTo>
                    <a:pt x="1132713" y="155701"/>
                  </a:lnTo>
                  <a:lnTo>
                    <a:pt x="1133093" y="153479"/>
                  </a:lnTo>
                  <a:lnTo>
                    <a:pt x="1134109" y="151523"/>
                  </a:lnTo>
                  <a:lnTo>
                    <a:pt x="1135760" y="149847"/>
                  </a:lnTo>
                  <a:lnTo>
                    <a:pt x="1137284" y="148170"/>
                  </a:lnTo>
                  <a:lnTo>
                    <a:pt x="1139570" y="146837"/>
                  </a:lnTo>
                  <a:lnTo>
                    <a:pt x="1142618" y="145834"/>
                  </a:lnTo>
                  <a:lnTo>
                    <a:pt x="1145539" y="144818"/>
                  </a:lnTo>
                  <a:lnTo>
                    <a:pt x="1149477" y="144043"/>
                  </a:lnTo>
                  <a:lnTo>
                    <a:pt x="1154302" y="143484"/>
                  </a:lnTo>
                  <a:lnTo>
                    <a:pt x="1159128" y="142925"/>
                  </a:lnTo>
                  <a:lnTo>
                    <a:pt x="1164843" y="142646"/>
                  </a:lnTo>
                  <a:lnTo>
                    <a:pt x="1171575" y="142646"/>
                  </a:lnTo>
                  <a:lnTo>
                    <a:pt x="1178432" y="142646"/>
                  </a:lnTo>
                  <a:lnTo>
                    <a:pt x="1198626" y="145834"/>
                  </a:lnTo>
                  <a:lnTo>
                    <a:pt x="1201165" y="146837"/>
                  </a:lnTo>
                  <a:lnTo>
                    <a:pt x="1202689" y="148170"/>
                  </a:lnTo>
                  <a:lnTo>
                    <a:pt x="1203452" y="149847"/>
                  </a:lnTo>
                  <a:lnTo>
                    <a:pt x="1204340" y="151523"/>
                  </a:lnTo>
                  <a:lnTo>
                    <a:pt x="1204467" y="153479"/>
                  </a:lnTo>
                  <a:lnTo>
                    <a:pt x="1203959" y="155701"/>
                  </a:lnTo>
                  <a:lnTo>
                    <a:pt x="1194689" y="203263"/>
                  </a:lnTo>
                  <a:lnTo>
                    <a:pt x="1218564" y="170978"/>
                  </a:lnTo>
                  <a:lnTo>
                    <a:pt x="1253962" y="144728"/>
                  </a:lnTo>
                  <a:lnTo>
                    <a:pt x="1279151" y="137270"/>
                  </a:lnTo>
                  <a:lnTo>
                    <a:pt x="1285366" y="136956"/>
                  </a:lnTo>
                  <a:close/>
                </a:path>
                <a:path w="2579370" h="474345">
                  <a:moveTo>
                    <a:pt x="775715" y="136956"/>
                  </a:moveTo>
                  <a:lnTo>
                    <a:pt x="816667" y="141007"/>
                  </a:lnTo>
                  <a:lnTo>
                    <a:pt x="856581" y="157595"/>
                  </a:lnTo>
                  <a:lnTo>
                    <a:pt x="885063" y="190360"/>
                  </a:lnTo>
                  <a:lnTo>
                    <a:pt x="891920" y="221678"/>
                  </a:lnTo>
                  <a:lnTo>
                    <a:pt x="891232" y="233426"/>
                  </a:lnTo>
                  <a:lnTo>
                    <a:pt x="874809" y="274330"/>
                  </a:lnTo>
                  <a:lnTo>
                    <a:pt x="835001" y="304732"/>
                  </a:lnTo>
                  <a:lnTo>
                    <a:pt x="788923" y="319455"/>
                  </a:lnTo>
                  <a:lnTo>
                    <a:pt x="750252" y="324981"/>
                  </a:lnTo>
                  <a:lnTo>
                    <a:pt x="704722" y="326821"/>
                  </a:lnTo>
                  <a:lnTo>
                    <a:pt x="673862" y="326821"/>
                  </a:lnTo>
                  <a:lnTo>
                    <a:pt x="672972" y="331952"/>
                  </a:lnTo>
                  <a:lnTo>
                    <a:pt x="672338" y="337032"/>
                  </a:lnTo>
                  <a:lnTo>
                    <a:pt x="671956" y="342061"/>
                  </a:lnTo>
                  <a:lnTo>
                    <a:pt x="671448" y="347078"/>
                  </a:lnTo>
                  <a:lnTo>
                    <a:pt x="671194" y="351713"/>
                  </a:lnTo>
                  <a:lnTo>
                    <a:pt x="671194" y="355955"/>
                  </a:lnTo>
                  <a:lnTo>
                    <a:pt x="685291" y="396811"/>
                  </a:lnTo>
                  <a:lnTo>
                    <a:pt x="730503" y="410540"/>
                  </a:lnTo>
                  <a:lnTo>
                    <a:pt x="741269" y="410340"/>
                  </a:lnTo>
                  <a:lnTo>
                    <a:pt x="786717" y="404007"/>
                  </a:lnTo>
                  <a:lnTo>
                    <a:pt x="822959" y="393293"/>
                  </a:lnTo>
                  <a:lnTo>
                    <a:pt x="828801" y="391172"/>
                  </a:lnTo>
                  <a:lnTo>
                    <a:pt x="832992" y="390105"/>
                  </a:lnTo>
                  <a:lnTo>
                    <a:pt x="835659" y="390105"/>
                  </a:lnTo>
                  <a:lnTo>
                    <a:pt x="838326" y="390105"/>
                  </a:lnTo>
                  <a:lnTo>
                    <a:pt x="840231" y="390893"/>
                  </a:lnTo>
                  <a:lnTo>
                    <a:pt x="841375" y="392455"/>
                  </a:lnTo>
                  <a:lnTo>
                    <a:pt x="842517" y="394017"/>
                  </a:lnTo>
                  <a:lnTo>
                    <a:pt x="843026" y="396468"/>
                  </a:lnTo>
                  <a:lnTo>
                    <a:pt x="843026" y="399821"/>
                  </a:lnTo>
                  <a:lnTo>
                    <a:pt x="843026" y="403618"/>
                  </a:lnTo>
                  <a:lnTo>
                    <a:pt x="842644" y="407974"/>
                  </a:lnTo>
                  <a:lnTo>
                    <a:pt x="842009" y="412877"/>
                  </a:lnTo>
                  <a:lnTo>
                    <a:pt x="841375" y="417791"/>
                  </a:lnTo>
                  <a:lnTo>
                    <a:pt x="834516" y="441007"/>
                  </a:lnTo>
                  <a:lnTo>
                    <a:pt x="832612" y="445249"/>
                  </a:lnTo>
                  <a:lnTo>
                    <a:pt x="830452" y="448487"/>
                  </a:lnTo>
                  <a:lnTo>
                    <a:pt x="827913" y="450723"/>
                  </a:lnTo>
                  <a:lnTo>
                    <a:pt x="825245" y="453402"/>
                  </a:lnTo>
                  <a:lnTo>
                    <a:pt x="787400" y="466128"/>
                  </a:lnTo>
                  <a:lnTo>
                    <a:pt x="744216" y="472602"/>
                  </a:lnTo>
                  <a:lnTo>
                    <a:pt x="715390" y="473824"/>
                  </a:lnTo>
                  <a:lnTo>
                    <a:pt x="699871" y="473405"/>
                  </a:lnTo>
                  <a:lnTo>
                    <a:pt x="659383" y="467131"/>
                  </a:lnTo>
                  <a:lnTo>
                    <a:pt x="619378" y="446709"/>
                  </a:lnTo>
                  <a:lnTo>
                    <a:pt x="595248" y="411708"/>
                  </a:lnTo>
                  <a:lnTo>
                    <a:pt x="587247" y="361315"/>
                  </a:lnTo>
                  <a:lnTo>
                    <a:pt x="587509" y="349896"/>
                  </a:lnTo>
                  <a:lnTo>
                    <a:pt x="593792" y="300489"/>
                  </a:lnTo>
                  <a:lnTo>
                    <a:pt x="604901" y="262699"/>
                  </a:lnTo>
                  <a:lnTo>
                    <a:pt x="622028" y="226498"/>
                  </a:lnTo>
                  <a:lnTo>
                    <a:pt x="645302" y="193589"/>
                  </a:lnTo>
                  <a:lnTo>
                    <a:pt x="675600" y="166769"/>
                  </a:lnTo>
                  <a:lnTo>
                    <a:pt x="713104" y="147332"/>
                  </a:lnTo>
                  <a:lnTo>
                    <a:pt x="758592" y="137604"/>
                  </a:lnTo>
                  <a:lnTo>
                    <a:pt x="775715" y="136956"/>
                  </a:lnTo>
                  <a:close/>
                </a:path>
                <a:path w="2579370" h="474345">
                  <a:moveTo>
                    <a:pt x="2170810" y="63957"/>
                  </a:moveTo>
                  <a:lnTo>
                    <a:pt x="2178939" y="63957"/>
                  </a:lnTo>
                  <a:lnTo>
                    <a:pt x="2185542" y="64236"/>
                  </a:lnTo>
                  <a:lnTo>
                    <a:pt x="2191004" y="64795"/>
                  </a:lnTo>
                  <a:lnTo>
                    <a:pt x="2196338" y="65354"/>
                  </a:lnTo>
                  <a:lnTo>
                    <a:pt x="2200402" y="66243"/>
                  </a:lnTo>
                  <a:lnTo>
                    <a:pt x="2203322" y="67475"/>
                  </a:lnTo>
                  <a:lnTo>
                    <a:pt x="2206243" y="68694"/>
                  </a:lnTo>
                  <a:lnTo>
                    <a:pt x="2208148" y="70205"/>
                  </a:lnTo>
                  <a:lnTo>
                    <a:pt x="2209165" y="71996"/>
                  </a:lnTo>
                  <a:lnTo>
                    <a:pt x="2210180" y="73774"/>
                  </a:lnTo>
                  <a:lnTo>
                    <a:pt x="2210434" y="75780"/>
                  </a:lnTo>
                  <a:lnTo>
                    <a:pt x="2210054" y="78016"/>
                  </a:lnTo>
                  <a:lnTo>
                    <a:pt x="2196591" y="144653"/>
                  </a:lnTo>
                  <a:lnTo>
                    <a:pt x="2261234" y="144653"/>
                  </a:lnTo>
                  <a:lnTo>
                    <a:pt x="2265044" y="144653"/>
                  </a:lnTo>
                  <a:lnTo>
                    <a:pt x="2267584" y="145884"/>
                  </a:lnTo>
                  <a:lnTo>
                    <a:pt x="2268981" y="148336"/>
                  </a:lnTo>
                  <a:lnTo>
                    <a:pt x="2270379" y="150799"/>
                  </a:lnTo>
                  <a:lnTo>
                    <a:pt x="2271014" y="154368"/>
                  </a:lnTo>
                  <a:lnTo>
                    <a:pt x="2271014" y="159054"/>
                  </a:lnTo>
                  <a:lnTo>
                    <a:pt x="2271014" y="161290"/>
                  </a:lnTo>
                  <a:lnTo>
                    <a:pt x="2265298" y="190868"/>
                  </a:lnTo>
                  <a:lnTo>
                    <a:pt x="2263902" y="194881"/>
                  </a:lnTo>
                  <a:lnTo>
                    <a:pt x="2262504" y="198513"/>
                  </a:lnTo>
                  <a:lnTo>
                    <a:pt x="2260727" y="201752"/>
                  </a:lnTo>
                  <a:lnTo>
                    <a:pt x="2259076" y="204990"/>
                  </a:lnTo>
                  <a:lnTo>
                    <a:pt x="2257170" y="207670"/>
                  </a:lnTo>
                  <a:lnTo>
                    <a:pt x="2255139" y="209791"/>
                  </a:lnTo>
                  <a:lnTo>
                    <a:pt x="2252979" y="211912"/>
                  </a:lnTo>
                  <a:lnTo>
                    <a:pt x="2250693" y="212966"/>
                  </a:lnTo>
                  <a:lnTo>
                    <a:pt x="2248280" y="212966"/>
                  </a:lnTo>
                  <a:lnTo>
                    <a:pt x="2182876" y="212966"/>
                  </a:lnTo>
                  <a:lnTo>
                    <a:pt x="2154808" y="353275"/>
                  </a:lnTo>
                  <a:lnTo>
                    <a:pt x="2152141" y="373481"/>
                  </a:lnTo>
                  <a:lnTo>
                    <a:pt x="2152141" y="376377"/>
                  </a:lnTo>
                  <a:lnTo>
                    <a:pt x="2152141" y="385318"/>
                  </a:lnTo>
                  <a:lnTo>
                    <a:pt x="2154173" y="391845"/>
                  </a:lnTo>
                  <a:lnTo>
                    <a:pt x="2158491" y="395973"/>
                  </a:lnTo>
                  <a:lnTo>
                    <a:pt x="2162682" y="400100"/>
                  </a:lnTo>
                  <a:lnTo>
                    <a:pt x="2169414" y="402170"/>
                  </a:lnTo>
                  <a:lnTo>
                    <a:pt x="2178557" y="402170"/>
                  </a:lnTo>
                  <a:lnTo>
                    <a:pt x="2183891" y="402170"/>
                  </a:lnTo>
                  <a:lnTo>
                    <a:pt x="2188464" y="401777"/>
                  </a:lnTo>
                  <a:lnTo>
                    <a:pt x="2192273" y="400989"/>
                  </a:lnTo>
                  <a:lnTo>
                    <a:pt x="2196083" y="400215"/>
                  </a:lnTo>
                  <a:lnTo>
                    <a:pt x="2199385" y="399326"/>
                  </a:lnTo>
                  <a:lnTo>
                    <a:pt x="2202179" y="398310"/>
                  </a:lnTo>
                  <a:lnTo>
                    <a:pt x="2204973" y="397306"/>
                  </a:lnTo>
                  <a:lnTo>
                    <a:pt x="2207387" y="396417"/>
                  </a:lnTo>
                  <a:lnTo>
                    <a:pt x="2209418" y="395643"/>
                  </a:lnTo>
                  <a:lnTo>
                    <a:pt x="2211323" y="394855"/>
                  </a:lnTo>
                  <a:lnTo>
                    <a:pt x="2213229" y="394462"/>
                  </a:lnTo>
                  <a:lnTo>
                    <a:pt x="2215006" y="394462"/>
                  </a:lnTo>
                  <a:lnTo>
                    <a:pt x="2216912" y="394462"/>
                  </a:lnTo>
                  <a:lnTo>
                    <a:pt x="2218308" y="395300"/>
                  </a:lnTo>
                  <a:lnTo>
                    <a:pt x="2219579" y="396976"/>
                  </a:lnTo>
                  <a:lnTo>
                    <a:pt x="2220848" y="398653"/>
                  </a:lnTo>
                  <a:lnTo>
                    <a:pt x="2221483" y="401383"/>
                  </a:lnTo>
                  <a:lnTo>
                    <a:pt x="2221483" y="405180"/>
                  </a:lnTo>
                  <a:lnTo>
                    <a:pt x="2221483" y="409422"/>
                  </a:lnTo>
                  <a:lnTo>
                    <a:pt x="2216530" y="435152"/>
                  </a:lnTo>
                  <a:lnTo>
                    <a:pt x="2215133" y="440169"/>
                  </a:lnTo>
                  <a:lnTo>
                    <a:pt x="2213482" y="444754"/>
                  </a:lnTo>
                  <a:lnTo>
                    <a:pt x="2211704" y="448881"/>
                  </a:lnTo>
                  <a:lnTo>
                    <a:pt x="2209927" y="453009"/>
                  </a:lnTo>
                  <a:lnTo>
                    <a:pt x="2196972" y="463778"/>
                  </a:lnTo>
                  <a:lnTo>
                    <a:pt x="2192908" y="465569"/>
                  </a:lnTo>
                  <a:lnTo>
                    <a:pt x="2188209" y="467131"/>
                  </a:lnTo>
                  <a:lnTo>
                    <a:pt x="2182748" y="468464"/>
                  </a:lnTo>
                  <a:lnTo>
                    <a:pt x="2177288" y="469811"/>
                  </a:lnTo>
                  <a:lnTo>
                    <a:pt x="2171445" y="470865"/>
                  </a:lnTo>
                  <a:lnTo>
                    <a:pt x="2165222" y="471652"/>
                  </a:lnTo>
                  <a:lnTo>
                    <a:pt x="2158872" y="472427"/>
                  </a:lnTo>
                  <a:lnTo>
                    <a:pt x="2152650" y="472821"/>
                  </a:lnTo>
                  <a:lnTo>
                    <a:pt x="2146427" y="472821"/>
                  </a:lnTo>
                  <a:lnTo>
                    <a:pt x="2103808" y="466244"/>
                  </a:lnTo>
                  <a:lnTo>
                    <a:pt x="2072822" y="439023"/>
                  </a:lnTo>
                  <a:lnTo>
                    <a:pt x="2064765" y="398145"/>
                  </a:lnTo>
                  <a:lnTo>
                    <a:pt x="2064765" y="395693"/>
                  </a:lnTo>
                  <a:lnTo>
                    <a:pt x="2064765" y="392849"/>
                  </a:lnTo>
                  <a:lnTo>
                    <a:pt x="2065019" y="389610"/>
                  </a:lnTo>
                  <a:lnTo>
                    <a:pt x="2065273" y="386372"/>
                  </a:lnTo>
                  <a:lnTo>
                    <a:pt x="2065654" y="382968"/>
                  </a:lnTo>
                  <a:lnTo>
                    <a:pt x="2066163" y="379399"/>
                  </a:lnTo>
                  <a:lnTo>
                    <a:pt x="2066797" y="375818"/>
                  </a:lnTo>
                  <a:lnTo>
                    <a:pt x="2067305" y="372198"/>
                  </a:lnTo>
                  <a:lnTo>
                    <a:pt x="2067940" y="368515"/>
                  </a:lnTo>
                  <a:lnTo>
                    <a:pt x="2068448" y="364832"/>
                  </a:lnTo>
                  <a:lnTo>
                    <a:pt x="2069083" y="361530"/>
                  </a:lnTo>
                  <a:lnTo>
                    <a:pt x="2069718" y="358635"/>
                  </a:lnTo>
                  <a:lnTo>
                    <a:pt x="2098929" y="212966"/>
                  </a:lnTo>
                  <a:lnTo>
                    <a:pt x="2062733" y="212966"/>
                  </a:lnTo>
                  <a:lnTo>
                    <a:pt x="2059813" y="212966"/>
                  </a:lnTo>
                  <a:lnTo>
                    <a:pt x="2057653" y="212026"/>
                  </a:lnTo>
                  <a:lnTo>
                    <a:pt x="2056383" y="210121"/>
                  </a:lnTo>
                  <a:lnTo>
                    <a:pt x="2054987" y="208229"/>
                  </a:lnTo>
                  <a:lnTo>
                    <a:pt x="2054352" y="204597"/>
                  </a:lnTo>
                  <a:lnTo>
                    <a:pt x="2054352" y="199237"/>
                  </a:lnTo>
                  <a:lnTo>
                    <a:pt x="2054352" y="195440"/>
                  </a:lnTo>
                  <a:lnTo>
                    <a:pt x="2054732" y="190474"/>
                  </a:lnTo>
                  <a:lnTo>
                    <a:pt x="2055494" y="184340"/>
                  </a:lnTo>
                  <a:lnTo>
                    <a:pt x="2056256" y="178193"/>
                  </a:lnTo>
                  <a:lnTo>
                    <a:pt x="2057527" y="172173"/>
                  </a:lnTo>
                  <a:lnTo>
                    <a:pt x="2059304" y="166255"/>
                  </a:lnTo>
                  <a:lnTo>
                    <a:pt x="2061082" y="160337"/>
                  </a:lnTo>
                  <a:lnTo>
                    <a:pt x="2063495" y="155257"/>
                  </a:lnTo>
                  <a:lnTo>
                    <a:pt x="2066416" y="151015"/>
                  </a:lnTo>
                  <a:lnTo>
                    <a:pt x="2069338" y="146773"/>
                  </a:lnTo>
                  <a:lnTo>
                    <a:pt x="2072766" y="144653"/>
                  </a:lnTo>
                  <a:lnTo>
                    <a:pt x="2076830" y="144653"/>
                  </a:lnTo>
                  <a:lnTo>
                    <a:pt x="2112644" y="144653"/>
                  </a:lnTo>
                  <a:lnTo>
                    <a:pt x="2125979" y="78016"/>
                  </a:lnTo>
                  <a:lnTo>
                    <a:pt x="2126488" y="75780"/>
                  </a:lnTo>
                  <a:lnTo>
                    <a:pt x="2127504" y="73774"/>
                  </a:lnTo>
                  <a:lnTo>
                    <a:pt x="2129154" y="71996"/>
                  </a:lnTo>
                  <a:lnTo>
                    <a:pt x="2130805" y="70205"/>
                  </a:lnTo>
                  <a:lnTo>
                    <a:pt x="2133472" y="68694"/>
                  </a:lnTo>
                  <a:lnTo>
                    <a:pt x="2136902" y="67475"/>
                  </a:lnTo>
                  <a:lnTo>
                    <a:pt x="2140330" y="66243"/>
                  </a:lnTo>
                  <a:lnTo>
                    <a:pt x="2144776" y="65354"/>
                  </a:lnTo>
                  <a:lnTo>
                    <a:pt x="2150237" y="64795"/>
                  </a:lnTo>
                  <a:lnTo>
                    <a:pt x="2155697" y="64236"/>
                  </a:lnTo>
                  <a:lnTo>
                    <a:pt x="2162555" y="63957"/>
                  </a:lnTo>
                  <a:lnTo>
                    <a:pt x="2170810" y="63957"/>
                  </a:lnTo>
                  <a:close/>
                </a:path>
                <a:path w="2579370" h="474345">
                  <a:moveTo>
                    <a:pt x="116458" y="63957"/>
                  </a:moveTo>
                  <a:lnTo>
                    <a:pt x="124587" y="63957"/>
                  </a:lnTo>
                  <a:lnTo>
                    <a:pt x="131190" y="64236"/>
                  </a:lnTo>
                  <a:lnTo>
                    <a:pt x="136651" y="64795"/>
                  </a:lnTo>
                  <a:lnTo>
                    <a:pt x="141985" y="65354"/>
                  </a:lnTo>
                  <a:lnTo>
                    <a:pt x="146050" y="66243"/>
                  </a:lnTo>
                  <a:lnTo>
                    <a:pt x="148970" y="67475"/>
                  </a:lnTo>
                  <a:lnTo>
                    <a:pt x="151891" y="68694"/>
                  </a:lnTo>
                  <a:lnTo>
                    <a:pt x="153796" y="70205"/>
                  </a:lnTo>
                  <a:lnTo>
                    <a:pt x="154812" y="71996"/>
                  </a:lnTo>
                  <a:lnTo>
                    <a:pt x="155828" y="73774"/>
                  </a:lnTo>
                  <a:lnTo>
                    <a:pt x="156082" y="75780"/>
                  </a:lnTo>
                  <a:lnTo>
                    <a:pt x="155701" y="78016"/>
                  </a:lnTo>
                  <a:lnTo>
                    <a:pt x="142239" y="144653"/>
                  </a:lnTo>
                  <a:lnTo>
                    <a:pt x="206882" y="144653"/>
                  </a:lnTo>
                  <a:lnTo>
                    <a:pt x="210692" y="144653"/>
                  </a:lnTo>
                  <a:lnTo>
                    <a:pt x="213232" y="145884"/>
                  </a:lnTo>
                  <a:lnTo>
                    <a:pt x="214629" y="148336"/>
                  </a:lnTo>
                  <a:lnTo>
                    <a:pt x="216026" y="150799"/>
                  </a:lnTo>
                  <a:lnTo>
                    <a:pt x="216662" y="154368"/>
                  </a:lnTo>
                  <a:lnTo>
                    <a:pt x="216662" y="159054"/>
                  </a:lnTo>
                  <a:lnTo>
                    <a:pt x="216662" y="161290"/>
                  </a:lnTo>
                  <a:lnTo>
                    <a:pt x="210946" y="190868"/>
                  </a:lnTo>
                  <a:lnTo>
                    <a:pt x="209550" y="194881"/>
                  </a:lnTo>
                  <a:lnTo>
                    <a:pt x="208152" y="198513"/>
                  </a:lnTo>
                  <a:lnTo>
                    <a:pt x="206375" y="201752"/>
                  </a:lnTo>
                  <a:lnTo>
                    <a:pt x="204723" y="204990"/>
                  </a:lnTo>
                  <a:lnTo>
                    <a:pt x="202818" y="207670"/>
                  </a:lnTo>
                  <a:lnTo>
                    <a:pt x="200787" y="209791"/>
                  </a:lnTo>
                  <a:lnTo>
                    <a:pt x="198627" y="211912"/>
                  </a:lnTo>
                  <a:lnTo>
                    <a:pt x="196341" y="212966"/>
                  </a:lnTo>
                  <a:lnTo>
                    <a:pt x="193928" y="212966"/>
                  </a:lnTo>
                  <a:lnTo>
                    <a:pt x="128523" y="212966"/>
                  </a:lnTo>
                  <a:lnTo>
                    <a:pt x="100456" y="353275"/>
                  </a:lnTo>
                  <a:lnTo>
                    <a:pt x="97789" y="373481"/>
                  </a:lnTo>
                  <a:lnTo>
                    <a:pt x="97789" y="376377"/>
                  </a:lnTo>
                  <a:lnTo>
                    <a:pt x="97789" y="385318"/>
                  </a:lnTo>
                  <a:lnTo>
                    <a:pt x="99821" y="391845"/>
                  </a:lnTo>
                  <a:lnTo>
                    <a:pt x="104139" y="395973"/>
                  </a:lnTo>
                  <a:lnTo>
                    <a:pt x="108330" y="400100"/>
                  </a:lnTo>
                  <a:lnTo>
                    <a:pt x="115062" y="402170"/>
                  </a:lnTo>
                  <a:lnTo>
                    <a:pt x="124205" y="402170"/>
                  </a:lnTo>
                  <a:lnTo>
                    <a:pt x="129539" y="402170"/>
                  </a:lnTo>
                  <a:lnTo>
                    <a:pt x="134112" y="401777"/>
                  </a:lnTo>
                  <a:lnTo>
                    <a:pt x="137921" y="400989"/>
                  </a:lnTo>
                  <a:lnTo>
                    <a:pt x="141731" y="400215"/>
                  </a:lnTo>
                  <a:lnTo>
                    <a:pt x="145033" y="399326"/>
                  </a:lnTo>
                  <a:lnTo>
                    <a:pt x="147827" y="398310"/>
                  </a:lnTo>
                  <a:lnTo>
                    <a:pt x="150621" y="397306"/>
                  </a:lnTo>
                  <a:lnTo>
                    <a:pt x="153034" y="396417"/>
                  </a:lnTo>
                  <a:lnTo>
                    <a:pt x="155066" y="395643"/>
                  </a:lnTo>
                  <a:lnTo>
                    <a:pt x="156971" y="394855"/>
                  </a:lnTo>
                  <a:lnTo>
                    <a:pt x="158876" y="394462"/>
                  </a:lnTo>
                  <a:lnTo>
                    <a:pt x="160654" y="394462"/>
                  </a:lnTo>
                  <a:lnTo>
                    <a:pt x="162559" y="394462"/>
                  </a:lnTo>
                  <a:lnTo>
                    <a:pt x="163956" y="395300"/>
                  </a:lnTo>
                  <a:lnTo>
                    <a:pt x="165226" y="396976"/>
                  </a:lnTo>
                  <a:lnTo>
                    <a:pt x="166496" y="398653"/>
                  </a:lnTo>
                  <a:lnTo>
                    <a:pt x="167131" y="401383"/>
                  </a:lnTo>
                  <a:lnTo>
                    <a:pt x="167131" y="405180"/>
                  </a:lnTo>
                  <a:lnTo>
                    <a:pt x="167131" y="409422"/>
                  </a:lnTo>
                  <a:lnTo>
                    <a:pt x="166623" y="414223"/>
                  </a:lnTo>
                  <a:lnTo>
                    <a:pt x="165734" y="419582"/>
                  </a:lnTo>
                  <a:lnTo>
                    <a:pt x="164845" y="424942"/>
                  </a:lnTo>
                  <a:lnTo>
                    <a:pt x="163702" y="430123"/>
                  </a:lnTo>
                  <a:lnTo>
                    <a:pt x="162178" y="435152"/>
                  </a:lnTo>
                  <a:lnTo>
                    <a:pt x="160781" y="440169"/>
                  </a:lnTo>
                  <a:lnTo>
                    <a:pt x="159130" y="444754"/>
                  </a:lnTo>
                  <a:lnTo>
                    <a:pt x="157352" y="448881"/>
                  </a:lnTo>
                  <a:lnTo>
                    <a:pt x="155575" y="453009"/>
                  </a:lnTo>
                  <a:lnTo>
                    <a:pt x="142620" y="463778"/>
                  </a:lnTo>
                  <a:lnTo>
                    <a:pt x="138556" y="465569"/>
                  </a:lnTo>
                  <a:lnTo>
                    <a:pt x="133857" y="467131"/>
                  </a:lnTo>
                  <a:lnTo>
                    <a:pt x="128396" y="468464"/>
                  </a:lnTo>
                  <a:lnTo>
                    <a:pt x="122935" y="469811"/>
                  </a:lnTo>
                  <a:lnTo>
                    <a:pt x="117093" y="470865"/>
                  </a:lnTo>
                  <a:lnTo>
                    <a:pt x="110870" y="471652"/>
                  </a:lnTo>
                  <a:lnTo>
                    <a:pt x="104520" y="472427"/>
                  </a:lnTo>
                  <a:lnTo>
                    <a:pt x="98297" y="472821"/>
                  </a:lnTo>
                  <a:lnTo>
                    <a:pt x="92075" y="472821"/>
                  </a:lnTo>
                  <a:lnTo>
                    <a:pt x="49456" y="466244"/>
                  </a:lnTo>
                  <a:lnTo>
                    <a:pt x="18470" y="439023"/>
                  </a:lnTo>
                  <a:lnTo>
                    <a:pt x="10413" y="398145"/>
                  </a:lnTo>
                  <a:lnTo>
                    <a:pt x="10413" y="395693"/>
                  </a:lnTo>
                  <a:lnTo>
                    <a:pt x="10413" y="392849"/>
                  </a:lnTo>
                  <a:lnTo>
                    <a:pt x="10667" y="389610"/>
                  </a:lnTo>
                  <a:lnTo>
                    <a:pt x="10921" y="386372"/>
                  </a:lnTo>
                  <a:lnTo>
                    <a:pt x="11302" y="382968"/>
                  </a:lnTo>
                  <a:lnTo>
                    <a:pt x="11810" y="379399"/>
                  </a:lnTo>
                  <a:lnTo>
                    <a:pt x="12445" y="375818"/>
                  </a:lnTo>
                  <a:lnTo>
                    <a:pt x="12953" y="372198"/>
                  </a:lnTo>
                  <a:lnTo>
                    <a:pt x="13588" y="368515"/>
                  </a:lnTo>
                  <a:lnTo>
                    <a:pt x="14096" y="364832"/>
                  </a:lnTo>
                  <a:lnTo>
                    <a:pt x="14731" y="361530"/>
                  </a:lnTo>
                  <a:lnTo>
                    <a:pt x="15366" y="358635"/>
                  </a:lnTo>
                  <a:lnTo>
                    <a:pt x="44576" y="212966"/>
                  </a:lnTo>
                  <a:lnTo>
                    <a:pt x="8381" y="212966"/>
                  </a:lnTo>
                  <a:lnTo>
                    <a:pt x="5460" y="212966"/>
                  </a:lnTo>
                  <a:lnTo>
                    <a:pt x="3301" y="212026"/>
                  </a:lnTo>
                  <a:lnTo>
                    <a:pt x="2031" y="210121"/>
                  </a:lnTo>
                  <a:lnTo>
                    <a:pt x="634" y="208229"/>
                  </a:lnTo>
                  <a:lnTo>
                    <a:pt x="0" y="204597"/>
                  </a:lnTo>
                  <a:lnTo>
                    <a:pt x="0" y="199237"/>
                  </a:lnTo>
                  <a:lnTo>
                    <a:pt x="0" y="195440"/>
                  </a:lnTo>
                  <a:lnTo>
                    <a:pt x="380" y="190474"/>
                  </a:lnTo>
                  <a:lnTo>
                    <a:pt x="1142" y="184340"/>
                  </a:lnTo>
                  <a:lnTo>
                    <a:pt x="1904" y="178193"/>
                  </a:lnTo>
                  <a:lnTo>
                    <a:pt x="3175" y="172173"/>
                  </a:lnTo>
                  <a:lnTo>
                    <a:pt x="4952" y="166255"/>
                  </a:lnTo>
                  <a:lnTo>
                    <a:pt x="6730" y="160337"/>
                  </a:lnTo>
                  <a:lnTo>
                    <a:pt x="9143" y="155257"/>
                  </a:lnTo>
                  <a:lnTo>
                    <a:pt x="12064" y="151015"/>
                  </a:lnTo>
                  <a:lnTo>
                    <a:pt x="14985" y="146773"/>
                  </a:lnTo>
                  <a:lnTo>
                    <a:pt x="18414" y="144653"/>
                  </a:lnTo>
                  <a:lnTo>
                    <a:pt x="22478" y="144653"/>
                  </a:lnTo>
                  <a:lnTo>
                    <a:pt x="58292" y="144653"/>
                  </a:lnTo>
                  <a:lnTo>
                    <a:pt x="71627" y="78016"/>
                  </a:lnTo>
                  <a:lnTo>
                    <a:pt x="72135" y="75780"/>
                  </a:lnTo>
                  <a:lnTo>
                    <a:pt x="73151" y="73774"/>
                  </a:lnTo>
                  <a:lnTo>
                    <a:pt x="74802" y="71996"/>
                  </a:lnTo>
                  <a:lnTo>
                    <a:pt x="76453" y="70205"/>
                  </a:lnTo>
                  <a:lnTo>
                    <a:pt x="79120" y="68694"/>
                  </a:lnTo>
                  <a:lnTo>
                    <a:pt x="82550" y="67475"/>
                  </a:lnTo>
                  <a:lnTo>
                    <a:pt x="85978" y="66243"/>
                  </a:lnTo>
                  <a:lnTo>
                    <a:pt x="90423" y="65354"/>
                  </a:lnTo>
                  <a:lnTo>
                    <a:pt x="95884" y="64795"/>
                  </a:lnTo>
                  <a:lnTo>
                    <a:pt x="101345" y="64236"/>
                  </a:lnTo>
                  <a:lnTo>
                    <a:pt x="108203" y="63957"/>
                  </a:lnTo>
                  <a:lnTo>
                    <a:pt x="116458" y="63957"/>
                  </a:lnTo>
                  <a:close/>
                </a:path>
                <a:path w="2579370" h="474345">
                  <a:moveTo>
                    <a:pt x="352551" y="0"/>
                  </a:moveTo>
                  <a:lnTo>
                    <a:pt x="360806" y="0"/>
                  </a:lnTo>
                  <a:lnTo>
                    <a:pt x="367538" y="330"/>
                  </a:lnTo>
                  <a:lnTo>
                    <a:pt x="390778" y="8369"/>
                  </a:lnTo>
                  <a:lnTo>
                    <a:pt x="391667" y="10147"/>
                  </a:lnTo>
                  <a:lnTo>
                    <a:pt x="391921" y="12166"/>
                  </a:lnTo>
                  <a:lnTo>
                    <a:pt x="391413" y="14389"/>
                  </a:lnTo>
                  <a:lnTo>
                    <a:pt x="367664" y="135610"/>
                  </a:lnTo>
                  <a:lnTo>
                    <a:pt x="366521" y="140525"/>
                  </a:lnTo>
                  <a:lnTo>
                    <a:pt x="365251" y="145770"/>
                  </a:lnTo>
                  <a:lnTo>
                    <a:pt x="363981" y="151358"/>
                  </a:lnTo>
                  <a:lnTo>
                    <a:pt x="354456" y="183832"/>
                  </a:lnTo>
                  <a:lnTo>
                    <a:pt x="352805" y="188976"/>
                  </a:lnTo>
                  <a:lnTo>
                    <a:pt x="351154" y="193548"/>
                  </a:lnTo>
                  <a:lnTo>
                    <a:pt x="349630" y="197561"/>
                  </a:lnTo>
                  <a:lnTo>
                    <a:pt x="353081" y="192206"/>
                  </a:lnTo>
                  <a:lnTo>
                    <a:pt x="385371" y="161195"/>
                  </a:lnTo>
                  <a:lnTo>
                    <a:pt x="423037" y="142481"/>
                  </a:lnTo>
                  <a:lnTo>
                    <a:pt x="457072" y="136956"/>
                  </a:lnTo>
                  <a:lnTo>
                    <a:pt x="467996" y="137354"/>
                  </a:lnTo>
                  <a:lnTo>
                    <a:pt x="509873" y="150937"/>
                  </a:lnTo>
                  <a:lnTo>
                    <a:pt x="535939" y="188188"/>
                  </a:lnTo>
                  <a:lnTo>
                    <a:pt x="540384" y="222681"/>
                  </a:lnTo>
                  <a:lnTo>
                    <a:pt x="540384" y="230720"/>
                  </a:lnTo>
                  <a:lnTo>
                    <a:pt x="535431" y="270230"/>
                  </a:lnTo>
                  <a:lnTo>
                    <a:pt x="498601" y="454736"/>
                  </a:lnTo>
                  <a:lnTo>
                    <a:pt x="495426" y="460603"/>
                  </a:lnTo>
                  <a:lnTo>
                    <a:pt x="493775" y="462280"/>
                  </a:lnTo>
                  <a:lnTo>
                    <a:pt x="491108" y="463664"/>
                  </a:lnTo>
                  <a:lnTo>
                    <a:pt x="487679" y="464781"/>
                  </a:lnTo>
                  <a:lnTo>
                    <a:pt x="484250" y="465899"/>
                  </a:lnTo>
                  <a:lnTo>
                    <a:pt x="479805" y="466737"/>
                  </a:lnTo>
                  <a:lnTo>
                    <a:pt x="474344" y="467296"/>
                  </a:lnTo>
                  <a:lnTo>
                    <a:pt x="468883" y="467855"/>
                  </a:lnTo>
                  <a:lnTo>
                    <a:pt x="461898" y="468134"/>
                  </a:lnTo>
                  <a:lnTo>
                    <a:pt x="453389" y="468134"/>
                  </a:lnTo>
                  <a:lnTo>
                    <a:pt x="445388" y="468134"/>
                  </a:lnTo>
                  <a:lnTo>
                    <a:pt x="438657" y="467855"/>
                  </a:lnTo>
                  <a:lnTo>
                    <a:pt x="433450" y="467296"/>
                  </a:lnTo>
                  <a:lnTo>
                    <a:pt x="428243" y="466737"/>
                  </a:lnTo>
                  <a:lnTo>
                    <a:pt x="415416" y="460603"/>
                  </a:lnTo>
                  <a:lnTo>
                    <a:pt x="414400" y="458927"/>
                  </a:lnTo>
                  <a:lnTo>
                    <a:pt x="414146" y="456971"/>
                  </a:lnTo>
                  <a:lnTo>
                    <a:pt x="414527" y="454736"/>
                  </a:lnTo>
                  <a:lnTo>
                    <a:pt x="450341" y="275590"/>
                  </a:lnTo>
                  <a:lnTo>
                    <a:pt x="451230" y="270903"/>
                  </a:lnTo>
                  <a:lnTo>
                    <a:pt x="451992" y="265595"/>
                  </a:lnTo>
                  <a:lnTo>
                    <a:pt x="452754" y="259676"/>
                  </a:lnTo>
                  <a:lnTo>
                    <a:pt x="453389" y="253771"/>
                  </a:lnTo>
                  <a:lnTo>
                    <a:pt x="453770" y="248462"/>
                  </a:lnTo>
                  <a:lnTo>
                    <a:pt x="453770" y="243776"/>
                  </a:lnTo>
                  <a:lnTo>
                    <a:pt x="453770" y="238861"/>
                  </a:lnTo>
                  <a:lnTo>
                    <a:pt x="453263" y="234340"/>
                  </a:lnTo>
                  <a:lnTo>
                    <a:pt x="452246" y="230212"/>
                  </a:lnTo>
                  <a:lnTo>
                    <a:pt x="451230" y="226085"/>
                  </a:lnTo>
                  <a:lnTo>
                    <a:pt x="449579" y="222516"/>
                  </a:lnTo>
                  <a:lnTo>
                    <a:pt x="447293" y="219494"/>
                  </a:lnTo>
                  <a:lnTo>
                    <a:pt x="445134" y="216484"/>
                  </a:lnTo>
                  <a:lnTo>
                    <a:pt x="442213" y="214147"/>
                  </a:lnTo>
                  <a:lnTo>
                    <a:pt x="438657" y="212471"/>
                  </a:lnTo>
                  <a:lnTo>
                    <a:pt x="435101" y="210794"/>
                  </a:lnTo>
                  <a:lnTo>
                    <a:pt x="430783" y="209956"/>
                  </a:lnTo>
                  <a:lnTo>
                    <a:pt x="425957" y="209956"/>
                  </a:lnTo>
                  <a:lnTo>
                    <a:pt x="389923" y="223408"/>
                  </a:lnTo>
                  <a:lnTo>
                    <a:pt x="362712" y="250289"/>
                  </a:lnTo>
                  <a:lnTo>
                    <a:pt x="340729" y="287790"/>
                  </a:lnTo>
                  <a:lnTo>
                    <a:pt x="303656" y="454736"/>
                  </a:lnTo>
                  <a:lnTo>
                    <a:pt x="303275" y="456971"/>
                  </a:lnTo>
                  <a:lnTo>
                    <a:pt x="302132" y="458927"/>
                  </a:lnTo>
                  <a:lnTo>
                    <a:pt x="300481" y="460603"/>
                  </a:lnTo>
                  <a:lnTo>
                    <a:pt x="298830" y="462280"/>
                  </a:lnTo>
                  <a:lnTo>
                    <a:pt x="296290" y="463664"/>
                  </a:lnTo>
                  <a:lnTo>
                    <a:pt x="292862" y="464781"/>
                  </a:lnTo>
                  <a:lnTo>
                    <a:pt x="289305" y="465899"/>
                  </a:lnTo>
                  <a:lnTo>
                    <a:pt x="284860" y="466737"/>
                  </a:lnTo>
                  <a:lnTo>
                    <a:pt x="279272" y="467296"/>
                  </a:lnTo>
                  <a:lnTo>
                    <a:pt x="273684" y="467855"/>
                  </a:lnTo>
                  <a:lnTo>
                    <a:pt x="266826" y="468134"/>
                  </a:lnTo>
                  <a:lnTo>
                    <a:pt x="258825" y="468134"/>
                  </a:lnTo>
                  <a:lnTo>
                    <a:pt x="250570" y="468134"/>
                  </a:lnTo>
                  <a:lnTo>
                    <a:pt x="226187" y="464781"/>
                  </a:lnTo>
                  <a:lnTo>
                    <a:pt x="223138" y="463664"/>
                  </a:lnTo>
                  <a:lnTo>
                    <a:pt x="221233" y="462280"/>
                  </a:lnTo>
                  <a:lnTo>
                    <a:pt x="220344" y="460603"/>
                  </a:lnTo>
                  <a:lnTo>
                    <a:pt x="219455" y="458927"/>
                  </a:lnTo>
                  <a:lnTo>
                    <a:pt x="219201" y="456971"/>
                  </a:lnTo>
                  <a:lnTo>
                    <a:pt x="219582" y="454736"/>
                  </a:lnTo>
                  <a:lnTo>
                    <a:pt x="307720" y="14389"/>
                  </a:lnTo>
                  <a:lnTo>
                    <a:pt x="308101" y="12166"/>
                  </a:lnTo>
                  <a:lnTo>
                    <a:pt x="309117" y="10147"/>
                  </a:lnTo>
                  <a:lnTo>
                    <a:pt x="310768" y="8369"/>
                  </a:lnTo>
                  <a:lnTo>
                    <a:pt x="312292" y="6578"/>
                  </a:lnTo>
                  <a:lnTo>
                    <a:pt x="314832" y="5079"/>
                  </a:lnTo>
                  <a:lnTo>
                    <a:pt x="318388" y="3848"/>
                  </a:lnTo>
                  <a:lnTo>
                    <a:pt x="321944" y="2616"/>
                  </a:lnTo>
                  <a:lnTo>
                    <a:pt x="326516" y="1676"/>
                  </a:lnTo>
                  <a:lnTo>
                    <a:pt x="331977" y="1003"/>
                  </a:lnTo>
                  <a:lnTo>
                    <a:pt x="337438" y="330"/>
                  </a:lnTo>
                  <a:lnTo>
                    <a:pt x="344296" y="0"/>
                  </a:lnTo>
                  <a:lnTo>
                    <a:pt x="352551" y="0"/>
                  </a:lnTo>
                  <a:close/>
                </a:path>
              </a:pathLst>
            </a:custGeom>
            <a:ln w="9144">
              <a:solidFill>
                <a:srgbClr val="5C43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45023" y="3772915"/>
              <a:ext cx="3998976" cy="3085084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9600" y="4343400"/>
            <a:ext cx="21336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6737" y="3518992"/>
            <a:ext cx="39954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latin typeface="Calibri"/>
                <a:cs typeface="Calibri"/>
              </a:rPr>
              <a:t>Background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knowledge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Cloud </a:t>
            </a:r>
            <a:r>
              <a:rPr sz="2400" i="1" dirty="0">
                <a:latin typeface="Calibri"/>
                <a:cs typeface="Calibri"/>
              </a:rPr>
              <a:t>Computing,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Digital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Forensics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&amp; </a:t>
            </a:r>
            <a:r>
              <a:rPr sz="2400" i="1" dirty="0">
                <a:latin typeface="Calibri"/>
                <a:cs typeface="Calibri"/>
              </a:rPr>
              <a:t>Cloud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Forensics.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0"/>
            <a:ext cx="2228850" cy="20574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0" y="0"/>
              <a:ext cx="2857500" cy="2857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1175" y="2760472"/>
              <a:ext cx="3552825" cy="2381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143500"/>
              <a:ext cx="9144000" cy="1714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800" y="1219200"/>
              <a:ext cx="3143250" cy="1676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8425" y="159512"/>
            <a:ext cx="6407150" cy="984885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2. CLOUD REFERENCE MODEL</a:t>
            </a:r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49105" y="1696921"/>
            <a:ext cx="7427742" cy="4124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1736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609600"/>
            <a:ext cx="6096000" cy="1219200"/>
          </a:xfrm>
        </p:spPr>
        <p:txBody>
          <a:bodyPr>
            <a:normAutofit/>
          </a:bodyPr>
          <a:lstStyle/>
          <a:p>
            <a:pPr algn="just"/>
            <a:r>
              <a:rPr lang="en-US" sz="4400" u="sng" dirty="0" smtClean="0">
                <a:latin typeface="Rockwell" pitchFamily="18" charset="0"/>
              </a:rPr>
              <a:t>Cloud computing</a:t>
            </a:r>
            <a:endParaRPr lang="en-US" sz="4400" u="sng" dirty="0">
              <a:latin typeface="Rockwell" pitchFamily="18" charset="0"/>
            </a:endParaRPr>
          </a:p>
        </p:txBody>
      </p:sp>
      <p:pic>
        <p:nvPicPr>
          <p:cNvPr id="1026" name="Picture 2" descr="C:\Users\VINAY\Downloads\cloud_1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209800"/>
            <a:ext cx="5674112" cy="3352800"/>
          </a:xfrm>
          <a:prstGeom prst="rect">
            <a:avLst/>
          </a:prstGeom>
          <a:ln w="190500" cap="sq">
            <a:solidFill>
              <a:schemeClr val="bg2">
                <a:lumMod val="9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8449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61722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Rockwell" pitchFamily="18" charset="0"/>
              </a:rPr>
              <a:t>DEFINITION</a:t>
            </a:r>
            <a:endParaRPr lang="en-US" sz="4000" dirty="0">
              <a:latin typeface="Rockwell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7251192" cy="32766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/>
              <a:t>Cloud computing is a technology that uses the internet and central remote servers to maintain data and applications.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Cloud computing allows consumers and businesses to use applications without installation and access their personal files at any computer with internet access.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447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1" y="1009651"/>
            <a:ext cx="8610835" cy="483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0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700" y="1162050"/>
            <a:ext cx="8626298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8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504950"/>
            <a:ext cx="8383191" cy="4389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494860" y="928021"/>
            <a:ext cx="3265639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3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Service Models</a:t>
            </a:r>
          </a:p>
        </p:txBody>
      </p:sp>
    </p:spTree>
    <p:extLst>
      <p:ext uri="{BB962C8B-B14F-4D97-AF65-F5344CB8AC3E}">
        <p14:creationId xmlns:p14="http://schemas.microsoft.com/office/powerpoint/2010/main" val="311617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The cloud computing reference model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	</a:t>
            </a:r>
          </a:p>
        </p:txBody>
      </p:sp>
      <p:pic>
        <p:nvPicPr>
          <p:cNvPr id="13315" name="Content Placeholder 3" descr="Cloud Computing reference model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6" t="6667" r="7860"/>
          <a:stretch>
            <a:fillRect/>
          </a:stretch>
        </p:blipFill>
        <p:spPr>
          <a:xfrm>
            <a:off x="228600" y="846138"/>
            <a:ext cx="8839200" cy="5986462"/>
          </a:xfrm>
        </p:spPr>
      </p:pic>
    </p:spTree>
    <p:extLst>
      <p:ext uri="{BB962C8B-B14F-4D97-AF65-F5344CB8AC3E}">
        <p14:creationId xmlns:p14="http://schemas.microsoft.com/office/powerpoint/2010/main" val="196807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8425" y="609600"/>
            <a:ext cx="6407150" cy="1015663"/>
          </a:xfrm>
        </p:spPr>
        <p:txBody>
          <a:bodyPr/>
          <a:lstStyle/>
          <a:p>
            <a:pPr algn="ctr"/>
            <a:r>
              <a:rPr lang="en-US" sz="6600" b="1" dirty="0" smtClean="0">
                <a:solidFill>
                  <a:srgbClr val="0070C0"/>
                </a:solidFill>
              </a:rPr>
              <a:t>TYPES </a:t>
            </a:r>
            <a:r>
              <a:rPr lang="en-US" sz="6600" b="1" dirty="0">
                <a:solidFill>
                  <a:srgbClr val="0070C0"/>
                </a:solidFill>
              </a:rPr>
              <a:t>OF CLOUDS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90800"/>
            <a:ext cx="7886700" cy="3803072"/>
          </a:xfrm>
        </p:spPr>
        <p:txBody>
          <a:bodyPr>
            <a:normAutofit/>
          </a:bodyPr>
          <a:lstStyle/>
          <a:p>
            <a:pPr marL="385763" indent="-385763" algn="just">
              <a:buFont typeface="+mj-lt"/>
              <a:buAutoNum type="arabicPeriod"/>
            </a:pPr>
            <a:r>
              <a:rPr lang="en-IN" sz="4400" b="1" dirty="0" smtClean="0">
                <a:solidFill>
                  <a:srgbClr val="00B050"/>
                </a:solidFill>
              </a:rPr>
              <a:t>Public clouds</a:t>
            </a:r>
          </a:p>
          <a:p>
            <a:pPr marL="385763" indent="-385763" algn="just">
              <a:buFont typeface="+mj-lt"/>
              <a:buAutoNum type="arabicPeriod"/>
            </a:pPr>
            <a:r>
              <a:rPr lang="en-IN" sz="4400" b="1" dirty="0">
                <a:solidFill>
                  <a:srgbClr val="00B050"/>
                </a:solidFill>
              </a:rPr>
              <a:t>Private clouds</a:t>
            </a:r>
            <a:r>
              <a:rPr lang="en-IN" sz="4400" b="1" dirty="0" smtClean="0">
                <a:solidFill>
                  <a:srgbClr val="00B050"/>
                </a:solidFill>
              </a:rPr>
              <a:t>.</a:t>
            </a:r>
          </a:p>
          <a:p>
            <a:pPr marL="385763" indent="-385763" algn="just">
              <a:buFont typeface="+mj-lt"/>
              <a:buAutoNum type="arabicPeriod"/>
            </a:pPr>
            <a:r>
              <a:rPr lang="en-IN" sz="4400" b="1" dirty="0">
                <a:solidFill>
                  <a:srgbClr val="00B050"/>
                </a:solidFill>
              </a:rPr>
              <a:t>Hybrid or heterogeneous clouds</a:t>
            </a:r>
            <a:r>
              <a:rPr lang="en-IN" sz="4400" b="1" dirty="0" smtClean="0">
                <a:solidFill>
                  <a:srgbClr val="00B050"/>
                </a:solidFill>
              </a:rPr>
              <a:t>.</a:t>
            </a:r>
          </a:p>
          <a:p>
            <a:pPr marL="385763" indent="-385763" algn="just">
              <a:buFont typeface="+mj-lt"/>
              <a:buAutoNum type="arabicPeriod"/>
            </a:pPr>
            <a:r>
              <a:rPr lang="en-IN" sz="4400" b="1" dirty="0">
                <a:solidFill>
                  <a:srgbClr val="00B050"/>
                </a:solidFill>
              </a:rPr>
              <a:t>Community clouds. </a:t>
            </a:r>
          </a:p>
        </p:txBody>
      </p:sp>
    </p:spTree>
    <p:extLst>
      <p:ext uri="{BB962C8B-B14F-4D97-AF65-F5344CB8AC3E}">
        <p14:creationId xmlns:p14="http://schemas.microsoft.com/office/powerpoint/2010/main" val="2750711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30012"/>
            <a:ext cx="8115300" cy="4722668"/>
          </a:xfrm>
        </p:spPr>
        <p:txBody>
          <a:bodyPr>
            <a:normAutofit/>
          </a:bodyPr>
          <a:lstStyle/>
          <a:p>
            <a:pPr marL="385763" indent="-385763" algn="just">
              <a:buFont typeface="+mj-lt"/>
              <a:buAutoNum type="arabicPeriod"/>
            </a:pPr>
            <a:r>
              <a:rPr lang="en-US" sz="2400" b="1" dirty="0">
                <a:solidFill>
                  <a:srgbClr val="00B050"/>
                </a:solidFill>
              </a:rPr>
              <a:t>Public clouds. </a:t>
            </a:r>
            <a:r>
              <a:rPr lang="en-US" sz="2400" dirty="0"/>
              <a:t>The cloud is open to the wider public.</a:t>
            </a:r>
          </a:p>
          <a:p>
            <a:pPr marL="385763" indent="-385763" algn="just">
              <a:buFont typeface="+mj-lt"/>
              <a:buAutoNum type="arabicPeriod"/>
            </a:pPr>
            <a:r>
              <a:rPr lang="en-US" sz="2400" b="1" dirty="0">
                <a:solidFill>
                  <a:srgbClr val="00B050"/>
                </a:solidFill>
              </a:rPr>
              <a:t>Private clouds. </a:t>
            </a:r>
            <a:r>
              <a:rPr lang="en-US" sz="2400" dirty="0"/>
              <a:t>The cloud is implemented within the private premises of an institution and generally made accessible to the members of the institution or a subset of them. </a:t>
            </a:r>
          </a:p>
          <a:p>
            <a:pPr marL="385763" indent="-385763" algn="just">
              <a:buFont typeface="+mj-lt"/>
              <a:buAutoNum type="arabicPeriod"/>
            </a:pPr>
            <a:r>
              <a:rPr lang="en-US" sz="2400" b="1" dirty="0">
                <a:solidFill>
                  <a:srgbClr val="00B050"/>
                </a:solidFill>
              </a:rPr>
              <a:t>Hybrid or heterogeneous clouds. </a:t>
            </a:r>
            <a:r>
              <a:rPr lang="en-US" sz="2400" dirty="0"/>
              <a:t>The cloud is a combination of the two previous solutions and most likely identifies a private cloud that has been augmented with resources or services hosted in a public cloud. </a:t>
            </a:r>
          </a:p>
          <a:p>
            <a:pPr marL="385763" indent="-385763" algn="just">
              <a:buFont typeface="+mj-lt"/>
              <a:buAutoNum type="arabicPeriod"/>
            </a:pPr>
            <a:r>
              <a:rPr lang="en-US" sz="2400" b="1" dirty="0">
                <a:solidFill>
                  <a:srgbClr val="00B050"/>
                </a:solidFill>
              </a:rPr>
              <a:t>Community clouds. </a:t>
            </a:r>
            <a:r>
              <a:rPr lang="en-US" sz="2400" dirty="0"/>
              <a:t>The cloud is characterized by a multi-administrative domain involving different deployment models (public, private, and hybrid), and it is specifically designed to address the needs of a specific industry.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9028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57251"/>
            <a:ext cx="7886700" cy="49244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Hybrid clouds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1" y="1349694"/>
            <a:ext cx="8458200" cy="522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16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Community clouds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779" y="1113590"/>
            <a:ext cx="861059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99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4" y="1735932"/>
            <a:ext cx="8567738" cy="394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96978" y="953691"/>
            <a:ext cx="5032148" cy="715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Locations &amp; Services</a:t>
            </a:r>
          </a:p>
        </p:txBody>
      </p:sp>
    </p:spTree>
    <p:extLst>
      <p:ext uri="{BB962C8B-B14F-4D97-AF65-F5344CB8AC3E}">
        <p14:creationId xmlns:p14="http://schemas.microsoft.com/office/powerpoint/2010/main" val="370620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492443"/>
          </a:xfrm>
        </p:spPr>
        <p:txBody>
          <a:bodyPr/>
          <a:lstStyle/>
          <a:p>
            <a:pPr algn="ctr"/>
            <a:r>
              <a:rPr lang="en-US" dirty="0" smtClean="0"/>
              <a:t>Deployment Models or cloud types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861774"/>
          </a:xfrm>
        </p:spPr>
        <p:txBody>
          <a:bodyPr/>
          <a:lstStyle/>
          <a:p>
            <a:r>
              <a:rPr lang="en-US" sz="2800" dirty="0" smtClean="0"/>
              <a:t>1. Public Cloud                                3. Private Cloud</a:t>
            </a:r>
          </a:p>
          <a:p>
            <a:r>
              <a:rPr lang="en-US" sz="2800" dirty="0" smtClean="0"/>
              <a:t>2. Community Cloud                      4. Hybrid Cloud</a:t>
            </a:r>
            <a:endParaRPr lang="en-US" sz="2800" dirty="0"/>
          </a:p>
        </p:txBody>
      </p:sp>
      <p:pic>
        <p:nvPicPr>
          <p:cNvPr id="5122" name="Picture 2" descr="C:\Documents and Settings\Ajay Porus\Desktop\untitle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362200"/>
            <a:ext cx="8610600" cy="41148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20106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Cloud Computing Framework</a:t>
            </a:r>
            <a:endParaRPr lang="en-US" dirty="0"/>
          </a:p>
        </p:txBody>
      </p:sp>
      <p:pic>
        <p:nvPicPr>
          <p:cNvPr id="1026" name="Picture 2" descr="E:\frame wr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95400"/>
            <a:ext cx="8229600" cy="52578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10349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8425" y="159512"/>
            <a:ext cx="6407150" cy="803616"/>
          </a:xfrm>
          <a:prstGeom prst="rect">
            <a:avLst/>
          </a:prstGeom>
        </p:spPr>
        <p:txBody>
          <a:bodyPr vert="horz" wrap="square" lIns="0" tIns="170369" rIns="0" bIns="0" rtlCol="0">
            <a:spAutoFit/>
          </a:bodyPr>
          <a:lstStyle/>
          <a:p>
            <a:pPr marL="1078375">
              <a:spcBef>
                <a:spcPts val="86"/>
              </a:spcBef>
            </a:pPr>
            <a:r>
              <a:rPr lang="en-US" sz="2052" i="1" dirty="0" smtClean="0">
                <a:latin typeface="Arial"/>
                <a:cs typeface="Arial"/>
              </a:rPr>
              <a:t>ESSENTIAL CHARACTERISTICS OF CLOUD</a:t>
            </a:r>
            <a:endParaRPr sz="2052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808" y="1730735"/>
            <a:ext cx="6578466" cy="39786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58493" y="5652013"/>
            <a:ext cx="2502111" cy="56496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Bandung</a:t>
            </a:r>
            <a:r>
              <a:rPr spc="-30" dirty="0"/>
              <a:t> </a:t>
            </a:r>
            <a:r>
              <a:rPr spc="-9" dirty="0"/>
              <a:t>-</a:t>
            </a:r>
            <a:r>
              <a:rPr dirty="0"/>
              <a:t>Indonesia</a:t>
            </a:r>
            <a:r>
              <a:rPr spc="-30" dirty="0"/>
              <a:t> </a:t>
            </a:r>
            <a:r>
              <a:rPr spc="-17" dirty="0"/>
              <a:t>2012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90955" y="5652013"/>
            <a:ext cx="1798392" cy="834287"/>
          </a:xfrm>
          <a:prstGeom prst="rect">
            <a:avLst/>
          </a:prstGeom>
        </p:spPr>
        <p:txBody>
          <a:bodyPr vert="horz" wrap="square" lIns="0" tIns="3258" rIns="0" bIns="0" rtlCol="0">
            <a:spAutoFit/>
          </a:bodyPr>
          <a:lstStyle/>
          <a:p>
            <a:pPr marL="10860">
              <a:spcBef>
                <a:spcPts val="26"/>
              </a:spcBef>
            </a:pPr>
            <a:r>
              <a:rPr spc="-90" dirty="0"/>
              <a:t>IEEE</a:t>
            </a:r>
            <a:r>
              <a:rPr spc="-21" dirty="0"/>
              <a:t> </a:t>
            </a:r>
            <a:r>
              <a:rPr spc="-90" dirty="0"/>
              <a:t>–</a:t>
            </a:r>
            <a:r>
              <a:rPr spc="-38" dirty="0"/>
              <a:t> </a:t>
            </a:r>
            <a:r>
              <a:rPr spc="-90" dirty="0"/>
              <a:t>Cloud</a:t>
            </a:r>
            <a:r>
              <a:rPr spc="-43" dirty="0"/>
              <a:t> </a:t>
            </a:r>
            <a:r>
              <a:rPr spc="-90" dirty="0"/>
              <a:t>Computing</a:t>
            </a:r>
            <a:r>
              <a:rPr spc="-47" dirty="0"/>
              <a:t> </a:t>
            </a:r>
            <a:r>
              <a:rPr spc="-73" dirty="0"/>
              <a:t>IT</a:t>
            </a:r>
            <a:r>
              <a:rPr spc="-34" dirty="0"/>
              <a:t> </a:t>
            </a:r>
            <a:r>
              <a:rPr spc="-68" dirty="0"/>
              <a:t>Telkom</a:t>
            </a:r>
          </a:p>
        </p:txBody>
      </p:sp>
    </p:spTree>
    <p:extLst>
      <p:ext uri="{BB962C8B-B14F-4D97-AF65-F5344CB8AC3E}">
        <p14:creationId xmlns:p14="http://schemas.microsoft.com/office/powerpoint/2010/main" val="3058452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5825" y="698614"/>
            <a:ext cx="7815296" cy="5528210"/>
            <a:chOff x="778645" y="585215"/>
            <a:chExt cx="9139555" cy="6464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5834" y="1263396"/>
              <a:ext cx="5317235" cy="57866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1271" y="4290059"/>
              <a:ext cx="2060448" cy="15453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8670" y="4379975"/>
              <a:ext cx="2686811" cy="150723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658493" y="5652013"/>
            <a:ext cx="2502111" cy="56496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Bandung</a:t>
            </a:r>
            <a:r>
              <a:rPr spc="-30" dirty="0"/>
              <a:t> </a:t>
            </a:r>
            <a:r>
              <a:rPr spc="-9" dirty="0"/>
              <a:t>-</a:t>
            </a:r>
            <a:r>
              <a:rPr dirty="0"/>
              <a:t>Indonesia</a:t>
            </a:r>
            <a:r>
              <a:rPr spc="-30" dirty="0"/>
              <a:t> </a:t>
            </a:r>
            <a:r>
              <a:rPr spc="-17" dirty="0"/>
              <a:t>2012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390955" y="5652013"/>
            <a:ext cx="1798392" cy="834287"/>
          </a:xfrm>
          <a:prstGeom prst="rect">
            <a:avLst/>
          </a:prstGeom>
        </p:spPr>
        <p:txBody>
          <a:bodyPr vert="horz" wrap="square" lIns="0" tIns="3258" rIns="0" bIns="0" rtlCol="0">
            <a:spAutoFit/>
          </a:bodyPr>
          <a:lstStyle/>
          <a:p>
            <a:pPr marL="10860">
              <a:spcBef>
                <a:spcPts val="26"/>
              </a:spcBef>
            </a:pPr>
            <a:r>
              <a:rPr spc="-90" dirty="0"/>
              <a:t>IEEE</a:t>
            </a:r>
            <a:r>
              <a:rPr spc="-21" dirty="0"/>
              <a:t> </a:t>
            </a:r>
            <a:r>
              <a:rPr spc="-90" dirty="0"/>
              <a:t>–</a:t>
            </a:r>
            <a:r>
              <a:rPr spc="-38" dirty="0"/>
              <a:t> </a:t>
            </a:r>
            <a:r>
              <a:rPr spc="-90" dirty="0"/>
              <a:t>Cloud</a:t>
            </a:r>
            <a:r>
              <a:rPr spc="-43" dirty="0"/>
              <a:t> </a:t>
            </a:r>
            <a:r>
              <a:rPr spc="-90" dirty="0"/>
              <a:t>Computing</a:t>
            </a:r>
            <a:r>
              <a:rPr spc="-47" dirty="0"/>
              <a:t> </a:t>
            </a:r>
            <a:r>
              <a:rPr spc="-73" dirty="0"/>
              <a:t>IT</a:t>
            </a:r>
            <a:r>
              <a:rPr spc="-34" dirty="0"/>
              <a:t> </a:t>
            </a:r>
            <a:r>
              <a:rPr spc="-68" dirty="0"/>
              <a:t>Telkom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404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UNDERSTANDING THE DIFERENCES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88943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Cloud Computing Framework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477000"/>
            <a:ext cx="457200" cy="228600"/>
          </a:xfrm>
          <a:prstGeom prst="rect">
            <a:avLst/>
          </a:prstGeom>
          <a:noFill/>
        </p:spPr>
        <p:txBody>
          <a:bodyPr/>
          <a:lstStyle/>
          <a:p>
            <a:fld id="{DD89BC0C-9ECF-461C-B1BC-ACAEB6B60A44}" type="slidenum">
              <a:rPr lang="en-US" smtClean="0"/>
              <a:pPr/>
              <a:t>20</a:t>
            </a:fld>
            <a:endParaRPr lang="en-US" smtClean="0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905000" y="2133600"/>
            <a:ext cx="7010400" cy="685800"/>
            <a:chOff x="1905000" y="2830286"/>
            <a:chExt cx="6934200" cy="914400"/>
          </a:xfrm>
        </p:grpSpPr>
        <p:sp>
          <p:nvSpPr>
            <p:cNvPr id="7" name="Cloud 6"/>
            <p:cNvSpPr/>
            <p:nvPr/>
          </p:nvSpPr>
          <p:spPr>
            <a:xfrm>
              <a:off x="3599294" y="2830286"/>
              <a:ext cx="2496689" cy="848784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ln w="12700">
                    <a:noFill/>
                    <a:prstDash val="solid"/>
                  </a:ln>
                  <a:solidFill>
                    <a:srgbClr val="1008A8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rPr>
                <a:t>Community</a:t>
              </a:r>
            </a:p>
            <a:p>
              <a:pPr algn="ctr">
                <a:defRPr/>
              </a:pPr>
              <a:r>
                <a:rPr lang="en-US" b="1" dirty="0">
                  <a:ln w="12700">
                    <a:noFill/>
                    <a:prstDash val="solid"/>
                  </a:ln>
                  <a:solidFill>
                    <a:srgbClr val="1008A8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rPr>
                <a:t>Cloud</a:t>
              </a:r>
            </a:p>
          </p:txBody>
        </p:sp>
        <p:sp>
          <p:nvSpPr>
            <p:cNvPr id="8" name="Cloud 7"/>
            <p:cNvSpPr/>
            <p:nvPr/>
          </p:nvSpPr>
          <p:spPr>
            <a:xfrm>
              <a:off x="1905000" y="2895903"/>
              <a:ext cx="1563964" cy="848783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ln w="12700">
                    <a:noFill/>
                    <a:prstDash val="solid"/>
                  </a:ln>
                  <a:solidFill>
                    <a:srgbClr val="1008A8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rPr>
                <a:t>Private Cloud</a:t>
              </a:r>
            </a:p>
          </p:txBody>
        </p:sp>
        <p:sp>
          <p:nvSpPr>
            <p:cNvPr id="9" name="Cloud 8"/>
            <p:cNvSpPr/>
            <p:nvPr/>
          </p:nvSpPr>
          <p:spPr>
            <a:xfrm>
              <a:off x="6248296" y="2830286"/>
              <a:ext cx="2590904" cy="848784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ln w="12700">
                    <a:noFill/>
                    <a:prstDash val="solid"/>
                  </a:ln>
                  <a:solidFill>
                    <a:srgbClr val="1008A8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rPr>
                <a:t>Public Cloud</a:t>
              </a: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2971800" y="1436688"/>
            <a:ext cx="4267200" cy="620712"/>
            <a:chOff x="2286000" y="1752600"/>
            <a:chExt cx="4191000" cy="838200"/>
          </a:xfrm>
        </p:grpSpPr>
        <p:sp>
          <p:nvSpPr>
            <p:cNvPr id="11" name="Cloud 10"/>
            <p:cNvSpPr/>
            <p:nvPr/>
          </p:nvSpPr>
          <p:spPr>
            <a:xfrm>
              <a:off x="4342522" y="1808337"/>
              <a:ext cx="2134478" cy="782463"/>
            </a:xfrm>
            <a:prstGeom prst="cloud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Cloud 11"/>
            <p:cNvSpPr/>
            <p:nvPr/>
          </p:nvSpPr>
          <p:spPr>
            <a:xfrm>
              <a:off x="2286000" y="1752600"/>
              <a:ext cx="2134479" cy="782463"/>
            </a:xfrm>
            <a:prstGeom prst="cloud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Cloud 12"/>
            <p:cNvSpPr/>
            <p:nvPr/>
          </p:nvSpPr>
          <p:spPr>
            <a:xfrm>
              <a:off x="2895629" y="1752600"/>
              <a:ext cx="2530503" cy="782463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Hybrid Clouds</a:t>
              </a:r>
            </a:p>
          </p:txBody>
        </p:sp>
      </p:grp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152400" y="1905000"/>
            <a:ext cx="14160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Deployment</a:t>
            </a:r>
          </a:p>
          <a:p>
            <a:r>
              <a:rPr lang="en-US"/>
              <a:t>Models</a:t>
            </a: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28600" y="2895600"/>
            <a:ext cx="9540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Service</a:t>
            </a:r>
          </a:p>
          <a:p>
            <a:r>
              <a:rPr lang="en-US"/>
              <a:t>Models</a:t>
            </a: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228600" y="3962400"/>
            <a:ext cx="17113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Essential</a:t>
            </a:r>
          </a:p>
          <a:p>
            <a:r>
              <a:rPr lang="en-US"/>
              <a:t>Characteristics</a:t>
            </a:r>
          </a:p>
        </p:txBody>
      </p:sp>
      <p:sp>
        <p:nvSpPr>
          <p:cNvPr id="17" name="TextBox 14"/>
          <p:cNvSpPr txBox="1">
            <a:spLocks noChangeArrowheads="1"/>
          </p:cNvSpPr>
          <p:nvPr/>
        </p:nvSpPr>
        <p:spPr bwMode="auto">
          <a:xfrm>
            <a:off x="228600" y="5638800"/>
            <a:ext cx="17113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Common </a:t>
            </a:r>
          </a:p>
          <a:p>
            <a:r>
              <a:rPr lang="en-US"/>
              <a:t>Characteristics</a:t>
            </a:r>
          </a:p>
        </p:txBody>
      </p:sp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1905000" y="2895600"/>
            <a:ext cx="6934200" cy="609600"/>
            <a:chOff x="2057400" y="4038600"/>
            <a:chExt cx="7086600" cy="762000"/>
          </a:xfrm>
        </p:grpSpPr>
        <p:sp>
          <p:nvSpPr>
            <p:cNvPr id="19" name="Rounded Rectangle 18"/>
            <p:cNvSpPr/>
            <p:nvPr/>
          </p:nvSpPr>
          <p:spPr>
            <a:xfrm>
              <a:off x="2057400" y="4038600"/>
              <a:ext cx="2209695" cy="762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Software as a Service (</a:t>
              </a:r>
              <a:r>
                <a:rPr lang="en-US" dirty="0" err="1"/>
                <a:t>SaaS</a:t>
              </a:r>
              <a:r>
                <a:rPr lang="en-US" dirty="0"/>
                <a:t>)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495853" y="4038600"/>
              <a:ext cx="2209695" cy="762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Platform as a Service (</a:t>
              </a:r>
              <a:r>
                <a:rPr lang="en-US" dirty="0" err="1"/>
                <a:t>PaaS</a:t>
              </a:r>
              <a:r>
                <a:rPr lang="en-US" dirty="0"/>
                <a:t>)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34305" y="4038600"/>
              <a:ext cx="2209695" cy="76200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Infrastructure as a Service (</a:t>
              </a:r>
              <a:r>
                <a:rPr lang="en-US" dirty="0" err="1"/>
                <a:t>IaaS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22" name="Group 31"/>
          <p:cNvGrpSpPr>
            <a:grpSpLocks/>
          </p:cNvGrpSpPr>
          <p:nvPr/>
        </p:nvGrpSpPr>
        <p:grpSpPr bwMode="auto">
          <a:xfrm>
            <a:off x="2133600" y="3657600"/>
            <a:ext cx="6553200" cy="1219200"/>
            <a:chOff x="1981200" y="5029200"/>
            <a:chExt cx="6400800" cy="1447800"/>
          </a:xfrm>
        </p:grpSpPr>
        <p:sp>
          <p:nvSpPr>
            <p:cNvPr id="23" name="Rectangle 22"/>
            <p:cNvSpPr/>
            <p:nvPr/>
          </p:nvSpPr>
          <p:spPr>
            <a:xfrm>
              <a:off x="1981200" y="5029200"/>
              <a:ext cx="6400800" cy="14478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133157" y="6018908"/>
              <a:ext cx="2972465" cy="38268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Resource Pooling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133157" y="5562700"/>
              <a:ext cx="2972465" cy="3808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Broad Network Access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257579" y="5562700"/>
              <a:ext cx="2972464" cy="3808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Rapid Elasticity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57579" y="6018908"/>
              <a:ext cx="2972464" cy="38268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Measured Service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133157" y="5104606"/>
              <a:ext cx="6096886" cy="382687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On Demand Self-Service</a:t>
              </a:r>
            </a:p>
          </p:txBody>
        </p:sp>
      </p:grpSp>
      <p:grpSp>
        <p:nvGrpSpPr>
          <p:cNvPr id="29" name="Group 44"/>
          <p:cNvGrpSpPr>
            <a:grpSpLocks/>
          </p:cNvGrpSpPr>
          <p:nvPr/>
        </p:nvGrpSpPr>
        <p:grpSpPr bwMode="auto">
          <a:xfrm>
            <a:off x="2133600" y="5029200"/>
            <a:ext cx="6553200" cy="1752600"/>
            <a:chOff x="2209800" y="4953000"/>
            <a:chExt cx="6553200" cy="1752600"/>
          </a:xfrm>
        </p:grpSpPr>
        <p:sp>
          <p:nvSpPr>
            <p:cNvPr id="30" name="Rectangle 29"/>
            <p:cNvSpPr/>
            <p:nvPr/>
          </p:nvSpPr>
          <p:spPr>
            <a:xfrm>
              <a:off x="2209800" y="4953000"/>
              <a:ext cx="6553200" cy="17526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362200" y="6253163"/>
              <a:ext cx="3043238" cy="320675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Low Cost Software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362200" y="5867400"/>
              <a:ext cx="3043238" cy="320675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Virtualization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561013" y="5867400"/>
              <a:ext cx="3041650" cy="320675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Service Orientation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5561013" y="6253163"/>
              <a:ext cx="3041650" cy="320675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Advanced Security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2286000" y="5567363"/>
            <a:ext cx="3043238" cy="3206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Homogeneity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5181600"/>
            <a:ext cx="3043238" cy="3206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Massive Scale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4813" y="5181600"/>
            <a:ext cx="3041650" cy="3206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Resilient Computing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4813" y="5567363"/>
            <a:ext cx="3041650" cy="3206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Geographic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7106767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9900" y="0"/>
            <a:ext cx="2295525" cy="21907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300" y="457200"/>
            <a:ext cx="1066800" cy="15203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5053" y="2356216"/>
            <a:ext cx="1246207" cy="17936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006" y="4758023"/>
            <a:ext cx="1573280" cy="16427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07794" y="1694434"/>
            <a:ext cx="1463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Service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Models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5428" y="3447364"/>
            <a:ext cx="1951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Deployment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Models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2594" y="5962599"/>
            <a:ext cx="1681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Essential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Services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4628" y="4620537"/>
            <a:ext cx="2284095" cy="14890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i="1" spc="-10" dirty="0">
                <a:latin typeface="Calibri"/>
                <a:cs typeface="Calibri"/>
              </a:rPr>
              <a:t>On-</a:t>
            </a:r>
            <a:r>
              <a:rPr sz="1600" i="1" dirty="0">
                <a:latin typeface="Calibri"/>
                <a:cs typeface="Calibri"/>
              </a:rPr>
              <a:t>demand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self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service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i="1" dirty="0">
                <a:latin typeface="Calibri"/>
                <a:cs typeface="Calibri"/>
              </a:rPr>
              <a:t>Broad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network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access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i="1" dirty="0">
                <a:latin typeface="Calibri"/>
                <a:cs typeface="Calibri"/>
              </a:rPr>
              <a:t>Resource</a:t>
            </a:r>
            <a:r>
              <a:rPr sz="1600" i="1" spc="-8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pooling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i="1" dirty="0">
                <a:latin typeface="Calibri"/>
                <a:cs typeface="Calibri"/>
              </a:rPr>
              <a:t>Rapid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elasticity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i="1" dirty="0">
                <a:latin typeface="Calibri"/>
                <a:cs typeface="Calibri"/>
              </a:rPr>
              <a:t>Measured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service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80621" y="4965455"/>
            <a:ext cx="1658178" cy="128294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17244" y="2612262"/>
            <a:ext cx="122428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68605" algn="l"/>
              </a:tabLst>
            </a:pPr>
            <a:r>
              <a:rPr sz="1600" i="1" spc="-10" dirty="0">
                <a:latin typeface="Calibri"/>
                <a:cs typeface="Calibri"/>
              </a:rPr>
              <a:t>Private</a:t>
            </a:r>
            <a:endParaRPr sz="16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Arial MT"/>
              <a:buChar char="•"/>
              <a:tabLst>
                <a:tab pos="268605" algn="l"/>
              </a:tabLst>
            </a:pPr>
            <a:r>
              <a:rPr sz="1600" i="1" spc="-10" dirty="0">
                <a:latin typeface="Calibri"/>
                <a:cs typeface="Calibri"/>
              </a:rPr>
              <a:t>Public</a:t>
            </a:r>
            <a:endParaRPr sz="16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Arial MT"/>
              <a:buChar char="•"/>
              <a:tabLst>
                <a:tab pos="268605" algn="l"/>
              </a:tabLst>
            </a:pPr>
            <a:r>
              <a:rPr sz="1600" i="1" spc="-10" dirty="0">
                <a:latin typeface="Calibri"/>
                <a:cs typeface="Calibri"/>
              </a:rPr>
              <a:t>Community</a:t>
            </a:r>
            <a:endParaRPr sz="16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Arial MT"/>
              <a:buChar char="•"/>
              <a:tabLst>
                <a:tab pos="268605" algn="l"/>
              </a:tabLst>
            </a:pPr>
            <a:r>
              <a:rPr sz="1600" i="1" spc="-10" dirty="0">
                <a:latin typeface="Calibri"/>
                <a:cs typeface="Calibri"/>
              </a:rPr>
              <a:t>Hybrid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7000" y="2528521"/>
            <a:ext cx="1853265" cy="143387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75821" y="393455"/>
            <a:ext cx="1658178" cy="128294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566028" y="276375"/>
            <a:ext cx="770255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i="1" spc="-20" dirty="0">
                <a:latin typeface="Calibri"/>
                <a:cs typeface="Calibri"/>
              </a:rPr>
              <a:t>SaaS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i="1" spc="-20" dirty="0">
                <a:latin typeface="Calibri"/>
                <a:cs typeface="Calibri"/>
              </a:rPr>
              <a:t>PaaS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i="1" spc="-20" dirty="0">
                <a:latin typeface="Calibri"/>
                <a:cs typeface="Calibri"/>
              </a:rPr>
              <a:t>IaaS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796922"/>
            <a:ext cx="845375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Definition</a:t>
            </a:r>
            <a:r>
              <a:rPr sz="18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Digital</a:t>
            </a:r>
            <a:r>
              <a:rPr sz="18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Forensics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“The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 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scientifically derived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methods toward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preservation,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collection, </a:t>
            </a:r>
            <a:r>
              <a:rPr sz="1800" dirty="0">
                <a:latin typeface="Calibri"/>
                <a:cs typeface="Calibri"/>
              </a:rPr>
              <a:t>validation,</a:t>
            </a:r>
            <a:r>
              <a:rPr sz="1800" spc="43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identification,</a:t>
            </a:r>
            <a:r>
              <a:rPr sz="1800" spc="4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analysis,</a:t>
            </a:r>
            <a:r>
              <a:rPr sz="1800" spc="4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interprétation,</a:t>
            </a:r>
            <a:r>
              <a:rPr sz="1800" spc="4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documentation,</a:t>
            </a:r>
            <a:r>
              <a:rPr sz="1800" spc="4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4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preservation</a:t>
            </a:r>
            <a:r>
              <a:rPr sz="1800" spc="434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derived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sources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purpose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facilitating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furthering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reconstruction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events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found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criminal,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helping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anticipate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unauthorized </a:t>
            </a:r>
            <a:r>
              <a:rPr sz="1800" dirty="0">
                <a:latin typeface="Calibri"/>
                <a:cs typeface="Calibri"/>
              </a:rPr>
              <a:t>actions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disruptive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planned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operations.”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---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DFRWS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2001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9621" y="461594"/>
            <a:ext cx="6069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</a:t>
            </a:r>
            <a:r>
              <a:rPr sz="4400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DF</a:t>
            </a:r>
            <a:r>
              <a:rPr sz="4400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as</a:t>
            </a:r>
            <a:r>
              <a:rPr sz="4400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Defined</a:t>
            </a:r>
            <a:r>
              <a:rPr sz="4400" u="sng" spc="-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by</a:t>
            </a:r>
            <a:r>
              <a:rPr sz="4400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NIST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0" y="5181637"/>
            <a:ext cx="9144000" cy="1676400"/>
            <a:chOff x="0" y="5181637"/>
            <a:chExt cx="9144000" cy="1676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333996"/>
              <a:ext cx="9144000" cy="15240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81637"/>
              <a:ext cx="9144000" cy="154305"/>
            </a:xfrm>
            <a:custGeom>
              <a:avLst/>
              <a:gdLst/>
              <a:ahLst/>
              <a:cxnLst/>
              <a:rect l="l" t="t" r="r" b="b"/>
              <a:pathLst>
                <a:path w="9144000" h="154304">
                  <a:moveTo>
                    <a:pt x="9144000" y="0"/>
                  </a:moveTo>
                  <a:lnTo>
                    <a:pt x="0" y="0"/>
                  </a:lnTo>
                  <a:lnTo>
                    <a:pt x="0" y="153885"/>
                  </a:lnTo>
                  <a:lnTo>
                    <a:pt x="9144000" y="15388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999310"/>
            <a:ext cx="860552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Definition</a:t>
            </a: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Cloud</a:t>
            </a:r>
            <a:r>
              <a:rPr sz="18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Forensics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i="1" dirty="0">
                <a:latin typeface="Calibri"/>
                <a:cs typeface="Calibri"/>
              </a:rPr>
              <a:t>Cloud</a:t>
            </a:r>
            <a:r>
              <a:rPr sz="1800" i="1" spc="229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forensics</a:t>
            </a:r>
            <a:r>
              <a:rPr sz="1800" i="1" spc="240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240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235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application</a:t>
            </a:r>
            <a:r>
              <a:rPr sz="1800" i="1" spc="240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240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digital</a:t>
            </a:r>
            <a:r>
              <a:rPr sz="1800" i="1" spc="235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forensics</a:t>
            </a:r>
            <a:r>
              <a:rPr sz="1800" i="1" spc="235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science</a:t>
            </a:r>
            <a:r>
              <a:rPr sz="1800" i="1" spc="240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in</a:t>
            </a:r>
            <a:r>
              <a:rPr sz="1800" i="1" spc="245" dirty="0">
                <a:latin typeface="Calibri"/>
                <a:cs typeface="Calibri"/>
              </a:rPr>
              <a:t>  </a:t>
            </a:r>
            <a:r>
              <a:rPr sz="1800" i="1" dirty="0">
                <a:latin typeface="Calibri"/>
                <a:cs typeface="Calibri"/>
              </a:rPr>
              <a:t>cloud</a:t>
            </a:r>
            <a:r>
              <a:rPr sz="1800" i="1" spc="240" dirty="0">
                <a:latin typeface="Calibri"/>
                <a:cs typeface="Calibri"/>
              </a:rPr>
              <a:t>  </a:t>
            </a:r>
            <a:r>
              <a:rPr sz="1800" i="1" spc="-10" dirty="0">
                <a:latin typeface="Calibri"/>
                <a:cs typeface="Calibri"/>
              </a:rPr>
              <a:t>computing </a:t>
            </a:r>
            <a:r>
              <a:rPr sz="1800" i="1" dirty="0">
                <a:latin typeface="Calibri"/>
                <a:cs typeface="Calibri"/>
              </a:rPr>
              <a:t>environments.</a:t>
            </a:r>
            <a:r>
              <a:rPr sz="1800" i="1" spc="25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Technically,</a:t>
            </a:r>
            <a:r>
              <a:rPr sz="1800" i="1" spc="26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it</a:t>
            </a:r>
            <a:r>
              <a:rPr sz="1800" i="1" spc="25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consists</a:t>
            </a:r>
            <a:r>
              <a:rPr sz="1800" i="1" spc="25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26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27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hybrid</a:t>
            </a:r>
            <a:r>
              <a:rPr sz="1800" i="1" spc="25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forensic</a:t>
            </a:r>
            <a:r>
              <a:rPr sz="1800" i="1" spc="25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approach</a:t>
            </a:r>
            <a:r>
              <a:rPr sz="1800" i="1" spc="27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(e.g.,</a:t>
            </a:r>
            <a:r>
              <a:rPr sz="1800" i="1" spc="2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remote,</a:t>
            </a:r>
            <a:r>
              <a:rPr sz="1800" i="1" spc="26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virtual, </a:t>
            </a:r>
            <a:r>
              <a:rPr sz="1800" i="1" dirty="0">
                <a:latin typeface="Calibri"/>
                <a:cs typeface="Calibri"/>
              </a:rPr>
              <a:t>network,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live,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large-scale,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thin-</a:t>
            </a:r>
            <a:r>
              <a:rPr sz="1800" i="1" dirty="0">
                <a:latin typeface="Calibri"/>
                <a:cs typeface="Calibri"/>
              </a:rPr>
              <a:t>client,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thick-</a:t>
            </a:r>
            <a:r>
              <a:rPr sz="1800" i="1" dirty="0">
                <a:latin typeface="Calibri"/>
                <a:cs typeface="Calibri"/>
              </a:rPr>
              <a:t>client)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towards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generation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digital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evidence. </a:t>
            </a:r>
            <a:r>
              <a:rPr sz="1800" i="1" dirty="0">
                <a:latin typeface="Calibri"/>
                <a:cs typeface="Calibri"/>
              </a:rPr>
              <a:t>Organizationally,</a:t>
            </a:r>
            <a:r>
              <a:rPr sz="1800" i="1" spc="47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it</a:t>
            </a:r>
            <a:r>
              <a:rPr sz="1800" i="1" spc="48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involves</a:t>
            </a:r>
            <a:r>
              <a:rPr sz="1800" i="1" spc="49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interactions</a:t>
            </a:r>
            <a:r>
              <a:rPr sz="1800" i="1" spc="48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among</a:t>
            </a:r>
            <a:r>
              <a:rPr sz="1800" i="1" spc="48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cloud</a:t>
            </a:r>
            <a:r>
              <a:rPr sz="1800" i="1" spc="47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actors</a:t>
            </a:r>
            <a:r>
              <a:rPr sz="1800" i="1" spc="484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(i.e.,cloud</a:t>
            </a:r>
            <a:r>
              <a:rPr sz="1800" i="1" spc="49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provider,</a:t>
            </a:r>
            <a:r>
              <a:rPr sz="1800" i="1" spc="47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cloud </a:t>
            </a:r>
            <a:r>
              <a:rPr sz="1800" i="1" dirty="0">
                <a:latin typeface="Calibri"/>
                <a:cs typeface="Calibri"/>
              </a:rPr>
              <a:t>consumer,</a:t>
            </a:r>
            <a:r>
              <a:rPr sz="1800" i="1" spc="28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cloud</a:t>
            </a:r>
            <a:r>
              <a:rPr sz="1800" i="1" spc="30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broker,</a:t>
            </a:r>
            <a:r>
              <a:rPr sz="1800" i="1" spc="28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cloud</a:t>
            </a:r>
            <a:r>
              <a:rPr sz="1800" i="1" spc="30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carrier,</a:t>
            </a:r>
            <a:r>
              <a:rPr sz="1800" i="1" spc="28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cloud</a:t>
            </a:r>
            <a:r>
              <a:rPr sz="1800" i="1" spc="29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auditor)</a:t>
            </a:r>
            <a:r>
              <a:rPr sz="1800" i="1" spc="28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for</a:t>
            </a:r>
            <a:r>
              <a:rPr sz="1800" i="1" spc="28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29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purpose</a:t>
            </a:r>
            <a:r>
              <a:rPr sz="1800" i="1" spc="28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29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facilitating</a:t>
            </a:r>
            <a:r>
              <a:rPr sz="1800" i="1" spc="29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both </a:t>
            </a:r>
            <a:r>
              <a:rPr sz="1800" i="1" dirty="0">
                <a:latin typeface="Calibri"/>
                <a:cs typeface="Calibri"/>
              </a:rPr>
              <a:t>internal</a:t>
            </a:r>
            <a:r>
              <a:rPr sz="1800" i="1" spc="2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229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external</a:t>
            </a:r>
            <a:r>
              <a:rPr sz="1800" i="1" spc="2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investigations.</a:t>
            </a:r>
            <a:r>
              <a:rPr sz="1800" i="1" spc="229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Legally</a:t>
            </a:r>
            <a:r>
              <a:rPr sz="1800" i="1" spc="2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it</a:t>
            </a:r>
            <a:r>
              <a:rPr sz="1800" i="1" spc="229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often</a:t>
            </a:r>
            <a:r>
              <a:rPr sz="1800" i="1" spc="2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implies</a:t>
            </a:r>
            <a:r>
              <a:rPr sz="1800" i="1" spc="24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multi-</a:t>
            </a:r>
            <a:r>
              <a:rPr sz="1800" i="1" dirty="0">
                <a:latin typeface="Calibri"/>
                <a:cs typeface="Calibri"/>
              </a:rPr>
              <a:t>jurisdictional</a:t>
            </a:r>
            <a:r>
              <a:rPr sz="1800" i="1" spc="2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229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multi- </a:t>
            </a:r>
            <a:r>
              <a:rPr sz="1800" i="1" dirty="0">
                <a:latin typeface="Calibri"/>
                <a:cs typeface="Calibri"/>
              </a:rPr>
              <a:t>tenant</a:t>
            </a:r>
            <a:r>
              <a:rPr sz="1800" i="1" spc="-10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situations.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841" y="496646"/>
            <a:ext cx="79775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CLOUD</a:t>
            </a:r>
            <a:r>
              <a:rPr sz="4000" u="sng" spc="-9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FORENSICS</a:t>
            </a:r>
            <a:r>
              <a:rPr sz="4000" u="sng" spc="-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as</a:t>
            </a:r>
            <a:r>
              <a:rPr sz="4000" u="sng" spc="-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Defined</a:t>
            </a:r>
            <a:r>
              <a:rPr sz="4000" u="sng" spc="-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by</a:t>
            </a:r>
            <a:r>
              <a:rPr sz="4000" u="sng" spc="-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000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NIST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0" y="5190274"/>
            <a:ext cx="9144000" cy="1668145"/>
            <a:chOff x="0" y="5190274"/>
            <a:chExt cx="9144000" cy="16681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342636"/>
              <a:ext cx="9144000" cy="15153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90274"/>
              <a:ext cx="9144000" cy="154305"/>
            </a:xfrm>
            <a:custGeom>
              <a:avLst/>
              <a:gdLst/>
              <a:ahLst/>
              <a:cxnLst/>
              <a:rect l="l" t="t" r="r" b="b"/>
              <a:pathLst>
                <a:path w="9144000" h="154304">
                  <a:moveTo>
                    <a:pt x="9144000" y="0"/>
                  </a:moveTo>
                  <a:lnTo>
                    <a:pt x="0" y="0"/>
                  </a:lnTo>
                  <a:lnTo>
                    <a:pt x="0" y="153885"/>
                  </a:lnTo>
                  <a:lnTo>
                    <a:pt x="9144000" y="15388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75571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130" dirty="0"/>
              <a:t> </a:t>
            </a:r>
            <a:r>
              <a:rPr dirty="0"/>
              <a:t>Conceptual</a:t>
            </a:r>
            <a:r>
              <a:rPr spc="-95" dirty="0"/>
              <a:t> </a:t>
            </a:r>
            <a:r>
              <a:rPr spc="-20" dirty="0"/>
              <a:t>Reference</a:t>
            </a:r>
            <a:r>
              <a:rPr spc="-8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64640"/>
            <a:ext cx="7373620" cy="3989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High-</a:t>
            </a:r>
            <a:r>
              <a:rPr sz="2200" dirty="0">
                <a:latin typeface="Perpetua"/>
                <a:cs typeface="Perpetua"/>
              </a:rPr>
              <a:t>level</a:t>
            </a:r>
            <a:r>
              <a:rPr sz="2200" spc="-5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architecture</a:t>
            </a:r>
            <a:endParaRPr sz="2200">
              <a:latin typeface="Perpetua"/>
              <a:cs typeface="Perpetua"/>
            </a:endParaRPr>
          </a:p>
          <a:p>
            <a:pPr marL="286385" marR="672465" indent="-27432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Five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major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actors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with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their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roles,</a:t>
            </a:r>
            <a:r>
              <a:rPr sz="2200" spc="-9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responsibilities,</a:t>
            </a:r>
            <a:r>
              <a:rPr sz="2200" spc="-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activities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and </a:t>
            </a:r>
            <a:r>
              <a:rPr sz="2200" dirty="0">
                <a:latin typeface="Perpetua"/>
                <a:cs typeface="Perpetua"/>
              </a:rPr>
              <a:t>functions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in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computing.</a:t>
            </a:r>
            <a:endParaRPr sz="22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Understanding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requirements,</a:t>
            </a:r>
            <a:r>
              <a:rPr sz="2200" spc="-8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uses,</a:t>
            </a:r>
            <a:r>
              <a:rPr sz="2200" spc="-114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characteristics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standards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computing.</a:t>
            </a:r>
            <a:endParaRPr sz="2200">
              <a:latin typeface="Perpetua"/>
              <a:cs typeface="Perpetua"/>
            </a:endParaRPr>
          </a:p>
          <a:p>
            <a:pPr marL="514984" indent="-45720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090"/>
              <a:buAutoNum type="arabicPeriod"/>
              <a:tabLst>
                <a:tab pos="514984" algn="l"/>
              </a:tabLst>
            </a:pPr>
            <a:r>
              <a:rPr sz="2200" i="1" dirty="0">
                <a:latin typeface="Perpetua"/>
                <a:cs typeface="Perpetua"/>
              </a:rPr>
              <a:t>Cloud</a:t>
            </a:r>
            <a:r>
              <a:rPr sz="2200" i="1" spc="-40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Consumer</a:t>
            </a:r>
            <a:endParaRPr sz="2200">
              <a:latin typeface="Perpetua"/>
              <a:cs typeface="Perpetua"/>
            </a:endParaRPr>
          </a:p>
          <a:p>
            <a:pPr marL="514984" indent="-457200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4090"/>
              <a:buAutoNum type="arabicPeriod"/>
              <a:tabLst>
                <a:tab pos="514984" algn="l"/>
              </a:tabLst>
            </a:pPr>
            <a:r>
              <a:rPr sz="2200" i="1" dirty="0">
                <a:latin typeface="Perpetua"/>
                <a:cs typeface="Perpetua"/>
              </a:rPr>
              <a:t>Cloud</a:t>
            </a:r>
            <a:r>
              <a:rPr sz="2200" i="1" spc="-40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Provider</a:t>
            </a:r>
            <a:endParaRPr sz="2200">
              <a:latin typeface="Perpetua"/>
              <a:cs typeface="Perpetua"/>
            </a:endParaRPr>
          </a:p>
          <a:p>
            <a:pPr marL="514984" indent="-45720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090"/>
              <a:buAutoNum type="arabicPeriod"/>
              <a:tabLst>
                <a:tab pos="514984" algn="l"/>
              </a:tabLst>
            </a:pPr>
            <a:r>
              <a:rPr sz="2200" i="1" dirty="0">
                <a:latin typeface="Perpetua"/>
                <a:cs typeface="Perpetua"/>
              </a:rPr>
              <a:t>Cloud</a:t>
            </a:r>
            <a:r>
              <a:rPr sz="2200" i="1" spc="-40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Broker</a:t>
            </a:r>
            <a:endParaRPr sz="2200">
              <a:latin typeface="Perpetua"/>
              <a:cs typeface="Perpetua"/>
            </a:endParaRPr>
          </a:p>
          <a:p>
            <a:pPr marL="514984" indent="-45720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090"/>
              <a:buAutoNum type="arabicPeriod"/>
              <a:tabLst>
                <a:tab pos="514984" algn="l"/>
              </a:tabLst>
            </a:pPr>
            <a:r>
              <a:rPr sz="2200" i="1" spc="-10" dirty="0">
                <a:latin typeface="Perpetua"/>
                <a:cs typeface="Perpetua"/>
              </a:rPr>
              <a:t>Cloud</a:t>
            </a:r>
            <a:r>
              <a:rPr sz="2200" i="1" spc="-114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Auditor</a:t>
            </a:r>
            <a:endParaRPr sz="2200">
              <a:latin typeface="Perpetua"/>
              <a:cs typeface="Perpetua"/>
            </a:endParaRPr>
          </a:p>
          <a:p>
            <a:pPr marL="514984" indent="-45720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090"/>
              <a:buAutoNum type="arabicPeriod"/>
              <a:tabLst>
                <a:tab pos="514984" algn="l"/>
              </a:tabLst>
            </a:pPr>
            <a:r>
              <a:rPr sz="2200" i="1" dirty="0">
                <a:latin typeface="Perpetua"/>
                <a:cs typeface="Perpetua"/>
              </a:rPr>
              <a:t>Cloud</a:t>
            </a:r>
            <a:r>
              <a:rPr sz="2200" i="1" spc="-40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Carrier</a:t>
            </a:r>
            <a:endParaRPr sz="2200">
              <a:latin typeface="Perpetua"/>
              <a:cs typeface="Perpet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1077" y="3171694"/>
            <a:ext cx="5586867" cy="32291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1965523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86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Actors</a:t>
            </a:r>
            <a:r>
              <a:rPr spc="-5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Cloud</a:t>
            </a:r>
            <a:r>
              <a:rPr spc="-3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4F81BC"/>
              </a:buClr>
              <a:buSzPct val="83333"/>
              <a:buFont typeface="Wingdings 2"/>
              <a:buChar char=""/>
              <a:tabLst>
                <a:tab pos="286385" algn="l"/>
              </a:tabLst>
            </a:pPr>
            <a:r>
              <a:rPr sz="1800" b="1" dirty="0">
                <a:latin typeface="Perpetua"/>
                <a:cs typeface="Perpetua"/>
              </a:rPr>
              <a:t>Cloud</a:t>
            </a:r>
            <a:r>
              <a:rPr sz="1800" b="1" spc="-25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Consumer</a:t>
            </a:r>
            <a:r>
              <a:rPr sz="1800" b="1" spc="-10" dirty="0">
                <a:latin typeface="Perpetua"/>
                <a:cs typeface="Perpetua"/>
              </a:rPr>
              <a:t> </a:t>
            </a:r>
            <a:r>
              <a:rPr sz="1800" dirty="0"/>
              <a:t>A</a:t>
            </a:r>
            <a:r>
              <a:rPr sz="1800" spc="-20" dirty="0"/>
              <a:t> </a:t>
            </a:r>
            <a:r>
              <a:rPr sz="1800" dirty="0"/>
              <a:t>person</a:t>
            </a:r>
            <a:r>
              <a:rPr sz="1800" spc="-30" dirty="0"/>
              <a:t> </a:t>
            </a:r>
            <a:r>
              <a:rPr sz="1800" dirty="0"/>
              <a:t>or</a:t>
            </a:r>
            <a:r>
              <a:rPr sz="1800" spc="-20" dirty="0"/>
              <a:t> </a:t>
            </a:r>
            <a:r>
              <a:rPr sz="1800" spc="-10" dirty="0"/>
              <a:t>organization</a:t>
            </a:r>
            <a:r>
              <a:rPr sz="1800" spc="-25" dirty="0"/>
              <a:t> </a:t>
            </a:r>
            <a:r>
              <a:rPr sz="1800" dirty="0"/>
              <a:t>that</a:t>
            </a:r>
            <a:r>
              <a:rPr sz="1800" spc="-35" dirty="0"/>
              <a:t> </a:t>
            </a:r>
            <a:r>
              <a:rPr sz="1800" dirty="0"/>
              <a:t>maintains</a:t>
            </a:r>
            <a:r>
              <a:rPr sz="1800" spc="-15" dirty="0"/>
              <a:t> </a:t>
            </a:r>
            <a:r>
              <a:rPr sz="1800" dirty="0"/>
              <a:t>a</a:t>
            </a:r>
            <a:r>
              <a:rPr sz="1800" spc="-25" dirty="0"/>
              <a:t> </a:t>
            </a:r>
            <a:r>
              <a:rPr sz="1800" dirty="0"/>
              <a:t>business</a:t>
            </a:r>
            <a:r>
              <a:rPr sz="1800" spc="-35" dirty="0"/>
              <a:t> </a:t>
            </a:r>
            <a:r>
              <a:rPr sz="1800" spc="-10" dirty="0"/>
              <a:t>relationship</a:t>
            </a:r>
            <a:r>
              <a:rPr sz="1800" spc="-35" dirty="0"/>
              <a:t> </a:t>
            </a:r>
            <a:r>
              <a:rPr sz="1800" spc="-10" dirty="0"/>
              <a:t>with, </a:t>
            </a:r>
            <a:r>
              <a:rPr sz="1800" dirty="0"/>
              <a:t>and</a:t>
            </a:r>
            <a:r>
              <a:rPr sz="1800" spc="-20" dirty="0"/>
              <a:t> </a:t>
            </a:r>
            <a:r>
              <a:rPr sz="1800" dirty="0"/>
              <a:t>uses</a:t>
            </a:r>
            <a:r>
              <a:rPr sz="1800" spc="-15" dirty="0"/>
              <a:t> </a:t>
            </a:r>
            <a:r>
              <a:rPr sz="1800" dirty="0"/>
              <a:t>service</a:t>
            </a:r>
            <a:r>
              <a:rPr sz="1800" spc="-15" dirty="0"/>
              <a:t> </a:t>
            </a:r>
            <a:r>
              <a:rPr sz="1800" spc="-10" dirty="0"/>
              <a:t>from,</a:t>
            </a:r>
            <a:r>
              <a:rPr sz="1800" spc="-70" dirty="0"/>
              <a:t> </a:t>
            </a:r>
            <a:r>
              <a:rPr sz="1800" i="1" dirty="0">
                <a:latin typeface="Perpetua"/>
                <a:cs typeface="Perpetua"/>
              </a:rPr>
              <a:t>Cloud </a:t>
            </a:r>
            <a:r>
              <a:rPr sz="1800" i="1" spc="-10" dirty="0">
                <a:latin typeface="Perpetua"/>
                <a:cs typeface="Perpetua"/>
              </a:rPr>
              <a:t>Providers</a:t>
            </a:r>
            <a:r>
              <a:rPr sz="1800" spc="-10" dirty="0"/>
              <a:t>.</a:t>
            </a:r>
            <a:endParaRPr sz="18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3333"/>
              <a:buFont typeface="Wingdings 2"/>
              <a:buChar char=""/>
              <a:tabLst>
                <a:tab pos="286385" algn="l"/>
              </a:tabLst>
            </a:pPr>
            <a:r>
              <a:rPr sz="1800" b="1" dirty="0">
                <a:latin typeface="Perpetua"/>
                <a:cs typeface="Perpetua"/>
              </a:rPr>
              <a:t>Cloud</a:t>
            </a:r>
            <a:r>
              <a:rPr sz="1800" b="1" spc="-30" dirty="0">
                <a:latin typeface="Perpetua"/>
                <a:cs typeface="Perpetua"/>
              </a:rPr>
              <a:t> </a:t>
            </a:r>
            <a:r>
              <a:rPr sz="1800" b="1" spc="-10" dirty="0">
                <a:latin typeface="Perpetua"/>
                <a:cs typeface="Perpetua"/>
              </a:rPr>
              <a:t>Provider</a:t>
            </a:r>
            <a:r>
              <a:rPr sz="1800" b="1" spc="-35" dirty="0">
                <a:latin typeface="Perpetua"/>
                <a:cs typeface="Perpetua"/>
              </a:rPr>
              <a:t> </a:t>
            </a:r>
            <a:r>
              <a:rPr sz="1800" dirty="0"/>
              <a:t>A</a:t>
            </a:r>
            <a:r>
              <a:rPr sz="1800" spc="-15" dirty="0"/>
              <a:t> </a:t>
            </a:r>
            <a:r>
              <a:rPr sz="1800" dirty="0"/>
              <a:t>person,</a:t>
            </a:r>
            <a:r>
              <a:rPr sz="1800" spc="-100" dirty="0"/>
              <a:t> </a:t>
            </a:r>
            <a:r>
              <a:rPr sz="1800" spc="-10" dirty="0"/>
              <a:t>organization,</a:t>
            </a:r>
            <a:r>
              <a:rPr sz="1800" spc="-90" dirty="0"/>
              <a:t> </a:t>
            </a:r>
            <a:r>
              <a:rPr sz="1800" dirty="0"/>
              <a:t>or</a:t>
            </a:r>
            <a:r>
              <a:rPr sz="1800" spc="-15" dirty="0"/>
              <a:t> </a:t>
            </a:r>
            <a:r>
              <a:rPr sz="1800" dirty="0"/>
              <a:t>entity</a:t>
            </a:r>
            <a:r>
              <a:rPr sz="1800" spc="-30" dirty="0"/>
              <a:t> </a:t>
            </a:r>
            <a:r>
              <a:rPr sz="1800" dirty="0"/>
              <a:t>responsible</a:t>
            </a:r>
            <a:r>
              <a:rPr sz="1800" spc="-45" dirty="0"/>
              <a:t> </a:t>
            </a:r>
            <a:r>
              <a:rPr sz="1800" dirty="0"/>
              <a:t>for</a:t>
            </a:r>
            <a:r>
              <a:rPr sz="1800" spc="-20" dirty="0"/>
              <a:t> </a:t>
            </a:r>
            <a:r>
              <a:rPr sz="1800" dirty="0"/>
              <a:t>making</a:t>
            </a:r>
            <a:r>
              <a:rPr sz="1800" spc="-15" dirty="0"/>
              <a:t> </a:t>
            </a:r>
            <a:r>
              <a:rPr sz="1800" dirty="0"/>
              <a:t>a</a:t>
            </a:r>
            <a:r>
              <a:rPr sz="1800" spc="-25" dirty="0"/>
              <a:t> </a:t>
            </a:r>
            <a:r>
              <a:rPr sz="1800" spc="-10" dirty="0"/>
              <a:t>service</a:t>
            </a:r>
            <a:endParaRPr sz="1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1800" spc="-10" dirty="0"/>
              <a:t>available</a:t>
            </a:r>
            <a:r>
              <a:rPr sz="1800" spc="-35" dirty="0"/>
              <a:t> </a:t>
            </a:r>
            <a:r>
              <a:rPr sz="1800" dirty="0"/>
              <a:t>to</a:t>
            </a:r>
            <a:r>
              <a:rPr sz="1800" spc="-25" dirty="0"/>
              <a:t> </a:t>
            </a:r>
            <a:r>
              <a:rPr sz="1800" dirty="0"/>
              <a:t>interested</a:t>
            </a:r>
            <a:r>
              <a:rPr sz="1800" spc="-55" dirty="0"/>
              <a:t> </a:t>
            </a:r>
            <a:r>
              <a:rPr sz="1800" spc="-10" dirty="0"/>
              <a:t>parties</a:t>
            </a:r>
            <a:r>
              <a:rPr sz="1800" i="1" spc="-10" dirty="0">
                <a:latin typeface="Perpetua"/>
                <a:cs typeface="Perpetua"/>
              </a:rPr>
              <a:t>.</a:t>
            </a:r>
            <a:endParaRPr sz="1800">
              <a:latin typeface="Perpetua"/>
              <a:cs typeface="Perpetua"/>
            </a:endParaRPr>
          </a:p>
          <a:p>
            <a:pPr marL="286385" marR="114300" indent="-27432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3333"/>
              <a:buFont typeface="Wingdings 2"/>
              <a:buChar char=""/>
              <a:tabLst>
                <a:tab pos="286385" algn="l"/>
              </a:tabLst>
            </a:pPr>
            <a:r>
              <a:rPr sz="1800" b="1" spc="-10" dirty="0">
                <a:latin typeface="Perpetua"/>
                <a:cs typeface="Perpetua"/>
              </a:rPr>
              <a:t>Cloud</a:t>
            </a:r>
            <a:r>
              <a:rPr sz="1800" b="1" spc="-9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Auditor</a:t>
            </a:r>
            <a:r>
              <a:rPr sz="1800" b="1" spc="-25" dirty="0">
                <a:latin typeface="Perpetua"/>
                <a:cs typeface="Perpetua"/>
              </a:rPr>
              <a:t> </a:t>
            </a:r>
            <a:r>
              <a:rPr sz="1800" dirty="0"/>
              <a:t>A</a:t>
            </a:r>
            <a:r>
              <a:rPr sz="1800" spc="-5" dirty="0"/>
              <a:t> </a:t>
            </a:r>
            <a:r>
              <a:rPr sz="1800" dirty="0"/>
              <a:t>party</a:t>
            </a:r>
            <a:r>
              <a:rPr sz="1800" spc="-10" dirty="0"/>
              <a:t> </a:t>
            </a:r>
            <a:r>
              <a:rPr sz="1800" dirty="0"/>
              <a:t>that</a:t>
            </a:r>
            <a:r>
              <a:rPr sz="1800" spc="-10" dirty="0"/>
              <a:t> </a:t>
            </a:r>
            <a:r>
              <a:rPr sz="1800" dirty="0"/>
              <a:t>can</a:t>
            </a:r>
            <a:r>
              <a:rPr sz="1800" spc="-25" dirty="0"/>
              <a:t> </a:t>
            </a:r>
            <a:r>
              <a:rPr sz="1800" dirty="0"/>
              <a:t>conduct</a:t>
            </a:r>
            <a:r>
              <a:rPr sz="1800" spc="-35" dirty="0"/>
              <a:t> </a:t>
            </a:r>
            <a:r>
              <a:rPr sz="1800" dirty="0"/>
              <a:t>independent</a:t>
            </a:r>
            <a:r>
              <a:rPr sz="1800" spc="-45" dirty="0"/>
              <a:t> </a:t>
            </a:r>
            <a:r>
              <a:rPr sz="1800" dirty="0"/>
              <a:t>assessment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25" dirty="0"/>
              <a:t> </a:t>
            </a:r>
            <a:r>
              <a:rPr sz="1800" dirty="0"/>
              <a:t>cloud</a:t>
            </a:r>
            <a:r>
              <a:rPr sz="1800" spc="-10" dirty="0"/>
              <a:t> services, </a:t>
            </a:r>
            <a:r>
              <a:rPr sz="1800" dirty="0"/>
              <a:t>information</a:t>
            </a:r>
            <a:r>
              <a:rPr sz="1800" spc="-40" dirty="0"/>
              <a:t> </a:t>
            </a:r>
            <a:r>
              <a:rPr sz="1800" dirty="0"/>
              <a:t>system</a:t>
            </a:r>
            <a:r>
              <a:rPr sz="1800" spc="-30" dirty="0"/>
              <a:t> </a:t>
            </a:r>
            <a:r>
              <a:rPr sz="1800" spc="-10" dirty="0"/>
              <a:t>operations,</a:t>
            </a:r>
            <a:r>
              <a:rPr sz="1800" spc="-105" dirty="0"/>
              <a:t> </a:t>
            </a:r>
            <a:r>
              <a:rPr sz="1800" dirty="0"/>
              <a:t>performance</a:t>
            </a:r>
            <a:r>
              <a:rPr sz="1800" spc="-30" dirty="0"/>
              <a:t> </a:t>
            </a:r>
            <a:r>
              <a:rPr sz="1800" dirty="0"/>
              <a:t>and</a:t>
            </a:r>
            <a:r>
              <a:rPr sz="1800" spc="-15" dirty="0"/>
              <a:t> </a:t>
            </a:r>
            <a:r>
              <a:rPr sz="1800" dirty="0"/>
              <a:t>security</a:t>
            </a:r>
            <a:r>
              <a:rPr sz="1800" spc="-35" dirty="0"/>
              <a:t> </a:t>
            </a:r>
            <a:r>
              <a:rPr sz="1800" dirty="0"/>
              <a:t>of</a:t>
            </a:r>
            <a:r>
              <a:rPr sz="1800" spc="-10" dirty="0"/>
              <a:t> </a:t>
            </a:r>
            <a:r>
              <a:rPr sz="1800" dirty="0"/>
              <a:t>the</a:t>
            </a:r>
            <a:r>
              <a:rPr sz="1800" spc="-30" dirty="0"/>
              <a:t> </a:t>
            </a:r>
            <a:r>
              <a:rPr sz="1800" dirty="0"/>
              <a:t>cloud</a:t>
            </a:r>
            <a:r>
              <a:rPr sz="1800" spc="-30" dirty="0"/>
              <a:t> </a:t>
            </a:r>
            <a:r>
              <a:rPr sz="1800" spc="-10" dirty="0"/>
              <a:t>implementation.</a:t>
            </a:r>
            <a:endParaRPr sz="18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3333"/>
              <a:buFont typeface="Wingdings 2"/>
              <a:buChar char=""/>
              <a:tabLst>
                <a:tab pos="286385" algn="l"/>
              </a:tabLst>
            </a:pPr>
            <a:r>
              <a:rPr sz="1800" b="1" dirty="0">
                <a:latin typeface="Perpetua"/>
                <a:cs typeface="Perpetua"/>
              </a:rPr>
              <a:t>Cloud</a:t>
            </a:r>
            <a:r>
              <a:rPr sz="1800" b="1" spc="-5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Broker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dirty="0"/>
              <a:t>An</a:t>
            </a:r>
            <a:r>
              <a:rPr sz="1800" spc="-20" dirty="0"/>
              <a:t> </a:t>
            </a:r>
            <a:r>
              <a:rPr sz="1800" dirty="0"/>
              <a:t>entity</a:t>
            </a:r>
            <a:r>
              <a:rPr sz="1800" spc="-40" dirty="0"/>
              <a:t> </a:t>
            </a:r>
            <a:r>
              <a:rPr sz="1800" dirty="0"/>
              <a:t>that</a:t>
            </a:r>
            <a:r>
              <a:rPr sz="1800" spc="-40" dirty="0"/>
              <a:t> </a:t>
            </a:r>
            <a:r>
              <a:rPr sz="1800" dirty="0"/>
              <a:t>manages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40" dirty="0"/>
              <a:t> </a:t>
            </a:r>
            <a:r>
              <a:rPr sz="1800" spc="-10" dirty="0"/>
              <a:t>use,</a:t>
            </a:r>
            <a:r>
              <a:rPr sz="1800" spc="-95" dirty="0"/>
              <a:t> </a:t>
            </a:r>
            <a:r>
              <a:rPr sz="1800" dirty="0"/>
              <a:t>performance</a:t>
            </a:r>
            <a:r>
              <a:rPr sz="1800" spc="-50" dirty="0"/>
              <a:t> </a:t>
            </a:r>
            <a:r>
              <a:rPr sz="1800" dirty="0"/>
              <a:t>and</a:t>
            </a:r>
            <a:r>
              <a:rPr sz="1800" spc="-25" dirty="0"/>
              <a:t> </a:t>
            </a:r>
            <a:r>
              <a:rPr sz="1800" dirty="0"/>
              <a:t>delivery</a:t>
            </a:r>
            <a:r>
              <a:rPr sz="1800" spc="-25" dirty="0"/>
              <a:t> </a:t>
            </a:r>
            <a:r>
              <a:rPr sz="1800" dirty="0"/>
              <a:t>of</a:t>
            </a:r>
            <a:r>
              <a:rPr sz="1800" spc="-45" dirty="0"/>
              <a:t> </a:t>
            </a:r>
            <a:r>
              <a:rPr sz="1800" spc="-10" dirty="0"/>
              <a:t>cloud</a:t>
            </a:r>
            <a:endParaRPr sz="1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800" dirty="0"/>
              <a:t>services,</a:t>
            </a:r>
            <a:r>
              <a:rPr sz="1800" spc="-114" dirty="0"/>
              <a:t> </a:t>
            </a:r>
            <a:r>
              <a:rPr sz="1800" dirty="0"/>
              <a:t>and</a:t>
            </a:r>
            <a:r>
              <a:rPr sz="1800" spc="-60" dirty="0"/>
              <a:t> </a:t>
            </a:r>
            <a:r>
              <a:rPr sz="1800" dirty="0"/>
              <a:t>negotiates</a:t>
            </a:r>
            <a:r>
              <a:rPr sz="1800" spc="-65" dirty="0"/>
              <a:t> </a:t>
            </a:r>
            <a:r>
              <a:rPr sz="1800" dirty="0"/>
              <a:t>relationships</a:t>
            </a:r>
            <a:r>
              <a:rPr sz="1800" spc="-65" dirty="0"/>
              <a:t> </a:t>
            </a:r>
            <a:r>
              <a:rPr sz="1800" dirty="0"/>
              <a:t>between</a:t>
            </a:r>
            <a:r>
              <a:rPr sz="1800" spc="-45" dirty="0"/>
              <a:t> </a:t>
            </a:r>
            <a:r>
              <a:rPr sz="1800" i="1" dirty="0">
                <a:latin typeface="Perpetua"/>
                <a:cs typeface="Perpetua"/>
              </a:rPr>
              <a:t>Cloud</a:t>
            </a:r>
            <a:r>
              <a:rPr sz="1800" i="1" spc="-30" dirty="0">
                <a:latin typeface="Perpetua"/>
                <a:cs typeface="Perpetua"/>
              </a:rPr>
              <a:t> </a:t>
            </a:r>
            <a:r>
              <a:rPr sz="1800" i="1" dirty="0">
                <a:latin typeface="Perpetua"/>
                <a:cs typeface="Perpetua"/>
              </a:rPr>
              <a:t>Providers</a:t>
            </a:r>
            <a:r>
              <a:rPr sz="1800" i="1" spc="-50" dirty="0">
                <a:latin typeface="Perpetua"/>
                <a:cs typeface="Perpetua"/>
              </a:rPr>
              <a:t> </a:t>
            </a:r>
            <a:r>
              <a:rPr sz="1800" dirty="0"/>
              <a:t>and</a:t>
            </a:r>
            <a:r>
              <a:rPr sz="1800" spc="-40" dirty="0"/>
              <a:t> </a:t>
            </a:r>
            <a:r>
              <a:rPr sz="1800" i="1" dirty="0">
                <a:latin typeface="Perpetua"/>
                <a:cs typeface="Perpetua"/>
              </a:rPr>
              <a:t>Cloud</a:t>
            </a:r>
            <a:r>
              <a:rPr sz="1800" i="1" spc="-30" dirty="0">
                <a:latin typeface="Perpetua"/>
                <a:cs typeface="Perpetua"/>
              </a:rPr>
              <a:t> </a:t>
            </a:r>
            <a:r>
              <a:rPr sz="1800" i="1" spc="-10" dirty="0">
                <a:latin typeface="Perpetua"/>
                <a:cs typeface="Perpetua"/>
              </a:rPr>
              <a:t>Consumers.</a:t>
            </a:r>
            <a:endParaRPr sz="1800">
              <a:latin typeface="Perpetua"/>
              <a:cs typeface="Perpetua"/>
            </a:endParaRPr>
          </a:p>
          <a:p>
            <a:pPr marL="286385" marR="465455" indent="-27432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3333"/>
              <a:buFont typeface="Wingdings 2"/>
              <a:buChar char=""/>
              <a:tabLst>
                <a:tab pos="286385" algn="l"/>
              </a:tabLst>
            </a:pPr>
            <a:r>
              <a:rPr sz="1800" b="1" dirty="0">
                <a:latin typeface="Perpetua"/>
                <a:cs typeface="Perpetua"/>
              </a:rPr>
              <a:t>Cloud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Carrier</a:t>
            </a:r>
            <a:r>
              <a:rPr sz="1800" b="1" spc="-15" dirty="0">
                <a:latin typeface="Perpetua"/>
                <a:cs typeface="Perpetua"/>
              </a:rPr>
              <a:t> </a:t>
            </a:r>
            <a:r>
              <a:rPr sz="1800" dirty="0"/>
              <a:t>An</a:t>
            </a:r>
            <a:r>
              <a:rPr sz="1800" spc="-5" dirty="0"/>
              <a:t> </a:t>
            </a:r>
            <a:r>
              <a:rPr sz="1800" dirty="0"/>
              <a:t>intermediary</a:t>
            </a:r>
            <a:r>
              <a:rPr sz="1800" spc="-10" dirty="0"/>
              <a:t> </a:t>
            </a:r>
            <a:r>
              <a:rPr sz="1800" dirty="0"/>
              <a:t>that</a:t>
            </a:r>
            <a:r>
              <a:rPr sz="1800" spc="-30" dirty="0"/>
              <a:t> </a:t>
            </a:r>
            <a:r>
              <a:rPr sz="1800" spc="-10" dirty="0"/>
              <a:t>provides</a:t>
            </a:r>
            <a:r>
              <a:rPr sz="1800" spc="-40" dirty="0"/>
              <a:t> </a:t>
            </a:r>
            <a:r>
              <a:rPr sz="1800" dirty="0"/>
              <a:t>connectivity</a:t>
            </a:r>
            <a:r>
              <a:rPr sz="1800" spc="-45" dirty="0"/>
              <a:t> </a:t>
            </a:r>
            <a:r>
              <a:rPr sz="1800" dirty="0"/>
              <a:t>and</a:t>
            </a:r>
            <a:r>
              <a:rPr sz="1800" spc="-10" dirty="0"/>
              <a:t> </a:t>
            </a:r>
            <a:r>
              <a:rPr sz="1800" dirty="0"/>
              <a:t>transport</a:t>
            </a:r>
            <a:r>
              <a:rPr sz="1800" spc="-15" dirty="0"/>
              <a:t> </a:t>
            </a:r>
            <a:r>
              <a:rPr sz="1800" dirty="0"/>
              <a:t>of</a:t>
            </a:r>
            <a:r>
              <a:rPr sz="1800" spc="-25" dirty="0"/>
              <a:t> </a:t>
            </a:r>
            <a:r>
              <a:rPr sz="1800" spc="-10" dirty="0"/>
              <a:t>cloud </a:t>
            </a:r>
            <a:r>
              <a:rPr sz="1800" dirty="0"/>
              <a:t>services</a:t>
            </a:r>
            <a:r>
              <a:rPr sz="1800" spc="-60" dirty="0"/>
              <a:t> </a:t>
            </a:r>
            <a:r>
              <a:rPr sz="1800" dirty="0"/>
              <a:t>from</a:t>
            </a:r>
            <a:r>
              <a:rPr sz="1800" spc="-15" dirty="0"/>
              <a:t> </a:t>
            </a:r>
            <a:r>
              <a:rPr sz="1800" i="1" dirty="0">
                <a:latin typeface="Perpetua"/>
                <a:cs typeface="Perpetua"/>
              </a:rPr>
              <a:t>Cloud</a:t>
            </a:r>
            <a:r>
              <a:rPr sz="1800" i="1" spc="-20" dirty="0">
                <a:latin typeface="Perpetua"/>
                <a:cs typeface="Perpetua"/>
              </a:rPr>
              <a:t> </a:t>
            </a:r>
            <a:r>
              <a:rPr sz="1800" i="1" dirty="0">
                <a:latin typeface="Perpetua"/>
                <a:cs typeface="Perpetua"/>
              </a:rPr>
              <a:t>Providers</a:t>
            </a:r>
            <a:r>
              <a:rPr sz="1800" i="1" spc="-25" dirty="0">
                <a:latin typeface="Perpetua"/>
                <a:cs typeface="Perpetua"/>
              </a:rPr>
              <a:t> </a:t>
            </a:r>
            <a:r>
              <a:rPr sz="1800" dirty="0"/>
              <a:t>to</a:t>
            </a:r>
            <a:r>
              <a:rPr sz="1800" spc="-25" dirty="0"/>
              <a:t> </a:t>
            </a:r>
            <a:r>
              <a:rPr sz="1800" i="1" dirty="0">
                <a:latin typeface="Perpetua"/>
                <a:cs typeface="Perpetua"/>
              </a:rPr>
              <a:t>Cloud</a:t>
            </a:r>
            <a:r>
              <a:rPr sz="1800" i="1" spc="-30" dirty="0">
                <a:latin typeface="Perpetua"/>
                <a:cs typeface="Perpetua"/>
              </a:rPr>
              <a:t> </a:t>
            </a:r>
            <a:r>
              <a:rPr sz="1800" i="1" spc="-10" dirty="0">
                <a:latin typeface="Perpetua"/>
                <a:cs typeface="Perpetua"/>
              </a:rPr>
              <a:t>Consumers</a:t>
            </a:r>
            <a:r>
              <a:rPr sz="1800" spc="-10" dirty="0"/>
              <a:t>.</a:t>
            </a:r>
            <a:endParaRPr sz="1800">
              <a:latin typeface="Perpetua"/>
              <a:cs typeface="Perpet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766" y="4442945"/>
            <a:ext cx="4343400" cy="2000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558050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57" y="137970"/>
            <a:ext cx="8229600" cy="1143000"/>
          </a:xfrm>
          <a:prstGeom prst="rect">
            <a:avLst/>
          </a:prstGeom>
        </p:spPr>
        <p:txBody>
          <a:bodyPr vert="horz" wrap="square" lIns="0" tIns="4986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Scenarios</a:t>
            </a:r>
            <a:r>
              <a:rPr spc="-3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Cloud:</a:t>
            </a:r>
            <a:r>
              <a:rPr spc="-2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44434" cy="2557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4610" indent="-515620" algn="just">
              <a:lnSpc>
                <a:spcPct val="100000"/>
              </a:lnSpc>
              <a:spcBef>
                <a:spcPts val="105"/>
              </a:spcBef>
              <a:buSzPct val="84615"/>
              <a:buAutoNum type="arabicPeriod"/>
              <a:tabLst>
                <a:tab pos="527685" algn="l"/>
                <a:tab pos="529590" algn="l"/>
              </a:tabLst>
            </a:pPr>
            <a:r>
              <a:rPr sz="2600" dirty="0">
                <a:solidFill>
                  <a:srgbClr val="4F81BC"/>
                </a:solidFill>
                <a:latin typeface="Perpetua"/>
                <a:cs typeface="Perpetua"/>
              </a:rPr>
              <a:t>	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consumer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interacts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broker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instead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contacting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provider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directly.</a:t>
            </a:r>
            <a:endParaRPr sz="2600" dirty="0">
              <a:latin typeface="Perpetua"/>
              <a:cs typeface="Perpetua"/>
            </a:endParaRPr>
          </a:p>
          <a:p>
            <a:pPr marL="527685" marR="288290" indent="-515620" algn="just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9590" algn="l"/>
              </a:tabLst>
            </a:pPr>
            <a:r>
              <a:rPr sz="2600" dirty="0">
                <a:solidFill>
                  <a:srgbClr val="4F81BC"/>
                </a:solidFill>
                <a:latin typeface="Perpetua"/>
                <a:cs typeface="Perpetua"/>
              </a:rPr>
              <a:t>	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broker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may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create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new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service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(mash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up)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combining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multiple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services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enhancing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existing service.</a:t>
            </a:r>
            <a:endParaRPr sz="2600" dirty="0">
              <a:latin typeface="Perpetua"/>
              <a:cs typeface="Perpetua"/>
            </a:endParaRPr>
          </a:p>
          <a:p>
            <a:pPr marL="530225" indent="-517525" algn="just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4615"/>
              <a:buAutoNum type="arabicPeriod"/>
              <a:tabLst>
                <a:tab pos="530225" algn="l"/>
              </a:tabLst>
            </a:pPr>
            <a:r>
              <a:rPr sz="2600" dirty="0">
                <a:latin typeface="Perpetua"/>
                <a:cs typeface="Perpetua"/>
              </a:rPr>
              <a:t>Actual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providers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invisible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consumer.</a:t>
            </a:r>
            <a:endParaRPr sz="2600" dirty="0">
              <a:latin typeface="Perpetua"/>
              <a:cs typeface="Perpet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463" y="4296696"/>
            <a:ext cx="6944073" cy="12978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1914202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186" y="-117825"/>
            <a:ext cx="8229600" cy="1143000"/>
          </a:xfrm>
          <a:prstGeom prst="rect">
            <a:avLst/>
          </a:prstGeom>
        </p:spPr>
        <p:txBody>
          <a:bodyPr vert="horz" wrap="square" lIns="0" tIns="4986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Scenarios</a:t>
            </a:r>
            <a:r>
              <a:rPr spc="-3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Cloud:</a:t>
            </a:r>
            <a:r>
              <a:rPr spc="-2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31734" cy="3348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232410" indent="-515620">
              <a:lnSpc>
                <a:spcPct val="100000"/>
              </a:lnSpc>
              <a:spcBef>
                <a:spcPts val="105"/>
              </a:spcBef>
              <a:buClr>
                <a:srgbClr val="4F81BC"/>
              </a:buClr>
              <a:buSzPct val="84615"/>
              <a:buAutoNum type="arabicPeriod"/>
              <a:tabLst>
                <a:tab pos="527685" algn="l"/>
              </a:tabLst>
            </a:pP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carriers provide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connectivity and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transport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services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from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providers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consumers.</a:t>
            </a:r>
            <a:endParaRPr sz="2600" dirty="0">
              <a:latin typeface="Perpetua"/>
              <a:cs typeface="Perpetua"/>
            </a:endParaRPr>
          </a:p>
          <a:p>
            <a:pPr marL="527685" marR="5080" indent="-51562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615"/>
              <a:buAutoNum type="arabicPeriod"/>
              <a:tabLst>
                <a:tab pos="527685" algn="l"/>
              </a:tabLst>
            </a:pP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provider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participates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arranges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two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unique </a:t>
            </a:r>
            <a:r>
              <a:rPr sz="2600" dirty="0">
                <a:latin typeface="Perpetua"/>
                <a:cs typeface="Perpetua"/>
              </a:rPr>
              <a:t>service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level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agreements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(SLAs),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carrier </a:t>
            </a:r>
            <a:r>
              <a:rPr sz="2600" spc="-65" dirty="0">
                <a:latin typeface="Perpetua"/>
                <a:cs typeface="Perpetua"/>
              </a:rPr>
              <a:t>(e.g.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SLA2)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consumer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65" dirty="0">
                <a:latin typeface="Perpetua"/>
                <a:cs typeface="Perpetua"/>
              </a:rPr>
              <a:t>(e.g.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SLA1).</a:t>
            </a:r>
            <a:endParaRPr sz="2600" dirty="0">
              <a:latin typeface="Perpetua"/>
              <a:cs typeface="Perpetua"/>
            </a:endParaRPr>
          </a:p>
          <a:p>
            <a:pPr marL="527685" marR="238125" indent="-515620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4615"/>
              <a:buAutoNum type="arabicPeriod"/>
              <a:tabLst>
                <a:tab pos="527685" algn="l"/>
                <a:tab pos="4205605" algn="l"/>
              </a:tabLst>
            </a:pPr>
            <a:r>
              <a:rPr sz="2600" dirty="0">
                <a:latin typeface="Perpetua"/>
                <a:cs typeface="Perpetua"/>
              </a:rPr>
              <a:t>A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provider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may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request</a:t>
            </a:r>
            <a:r>
              <a:rPr sz="2600" dirty="0">
                <a:latin typeface="Perpetua"/>
                <a:cs typeface="Perpetua"/>
              </a:rPr>
              <a:t>	cloud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carrier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provide </a:t>
            </a:r>
            <a:r>
              <a:rPr sz="2600" dirty="0">
                <a:latin typeface="Perpetua"/>
                <a:cs typeface="Perpetua"/>
              </a:rPr>
              <a:t>dedicated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encrypted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connections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ensure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cloud </a:t>
            </a:r>
            <a:r>
              <a:rPr sz="2600" dirty="0">
                <a:latin typeface="Perpetua"/>
                <a:cs typeface="Perpetua"/>
              </a:rPr>
              <a:t>services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(SLA’s).</a:t>
            </a:r>
            <a:endParaRPr sz="2600" dirty="0">
              <a:latin typeface="Perpetua"/>
              <a:cs typeface="Perpet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652" y="4800600"/>
            <a:ext cx="7430134" cy="838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1489044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59319"/>
            <a:ext cx="8229600" cy="1143000"/>
          </a:xfrm>
          <a:prstGeom prst="rect">
            <a:avLst/>
          </a:prstGeom>
        </p:spPr>
        <p:txBody>
          <a:bodyPr vert="horz" wrap="square" lIns="0" tIns="4986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Scenarios</a:t>
            </a:r>
            <a:r>
              <a:rPr spc="-3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Cloud:</a:t>
            </a:r>
            <a:r>
              <a:rPr spc="-20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232015" cy="168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buClr>
                <a:srgbClr val="4F81BC"/>
              </a:buClr>
              <a:buSzPct val="84615"/>
              <a:buAutoNum type="arabicPeriod"/>
              <a:tabLst>
                <a:tab pos="527685" algn="l"/>
              </a:tabLst>
            </a:pP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auditor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conducts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independent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assessments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operation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security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10" dirty="0">
                <a:latin typeface="Perpetua"/>
                <a:cs typeface="Perpetua"/>
              </a:rPr>
              <a:t> service.</a:t>
            </a:r>
            <a:endParaRPr sz="2600">
              <a:latin typeface="Perpetua"/>
              <a:cs typeface="Perpetua"/>
            </a:endParaRPr>
          </a:p>
          <a:p>
            <a:pPr marL="527685" marR="124460" indent="-515620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4615"/>
              <a:buAutoNum type="arabicPeriod"/>
              <a:tabLst>
                <a:tab pos="527685" algn="l"/>
              </a:tabLst>
            </a:pP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audit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may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involve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interactions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both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Cloud </a:t>
            </a:r>
            <a:r>
              <a:rPr sz="2600" dirty="0">
                <a:latin typeface="Perpetua"/>
                <a:cs typeface="Perpetua"/>
              </a:rPr>
              <a:t>Consumer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Provider.</a:t>
            </a:r>
            <a:endParaRPr sz="2600">
              <a:latin typeface="Perpetua"/>
              <a:cs typeface="Perpet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0159" y="3445379"/>
            <a:ext cx="5912999" cy="17362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3352080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503" y="193304"/>
            <a:ext cx="8229600" cy="1143000"/>
          </a:xfrm>
          <a:prstGeom prst="rect">
            <a:avLst/>
          </a:prstGeom>
        </p:spPr>
        <p:txBody>
          <a:bodyPr vert="horz" wrap="square" lIns="0" tIns="4986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Consumer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68907"/>
            <a:ext cx="7280275" cy="44831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385"/>
              </a:spcBef>
              <a:buClr>
                <a:srgbClr val="4F81BC"/>
              </a:buClr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consumer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browses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&amp;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uses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service.</a:t>
            </a:r>
            <a:endParaRPr sz="26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4F81BC"/>
              </a:buClr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consumer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sets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up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contracts with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provider.</a:t>
            </a:r>
            <a:endParaRPr sz="2600">
              <a:latin typeface="Perpetua"/>
              <a:cs typeface="Perpetua"/>
            </a:endParaRPr>
          </a:p>
          <a:p>
            <a:pPr marL="286385" marR="361315" indent="-274320">
              <a:lnSpc>
                <a:spcPts val="2810"/>
              </a:lnSpc>
              <a:spcBef>
                <a:spcPts val="640"/>
              </a:spcBef>
              <a:buClr>
                <a:srgbClr val="4F81BC"/>
              </a:buClr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consumers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need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SLAs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specify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technical </a:t>
            </a:r>
            <a:r>
              <a:rPr sz="2600" dirty="0">
                <a:latin typeface="Perpetua"/>
                <a:cs typeface="Perpetua"/>
              </a:rPr>
              <a:t>performance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requirements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fulfilled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provider.</a:t>
            </a:r>
            <a:endParaRPr sz="2600">
              <a:latin typeface="Perpetua"/>
              <a:cs typeface="Perpetua"/>
            </a:endParaRPr>
          </a:p>
          <a:p>
            <a:pPr marL="286385" marR="377825" indent="-274320">
              <a:lnSpc>
                <a:spcPts val="2810"/>
              </a:lnSpc>
              <a:spcBef>
                <a:spcPts val="600"/>
              </a:spcBef>
              <a:buClr>
                <a:srgbClr val="4F81BC"/>
              </a:buClr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SLAs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cover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quality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service,</a:t>
            </a:r>
            <a:r>
              <a:rPr sz="2600" spc="-15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security,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remedies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performance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failures.</a:t>
            </a:r>
            <a:endParaRPr sz="2600">
              <a:latin typeface="Perpetua"/>
              <a:cs typeface="Perpetua"/>
            </a:endParaRPr>
          </a:p>
          <a:p>
            <a:pPr marL="286385" marR="31115" indent="-274320">
              <a:lnSpc>
                <a:spcPts val="2810"/>
              </a:lnSpc>
              <a:spcBef>
                <a:spcPts val="595"/>
              </a:spcBef>
              <a:buClr>
                <a:srgbClr val="4F81BC"/>
              </a:buClr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A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provider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list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some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SLAs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limit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obligate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consumers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must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acceptance.</a:t>
            </a:r>
            <a:endParaRPr sz="2600">
              <a:latin typeface="Perpetua"/>
              <a:cs typeface="Perpetua"/>
            </a:endParaRPr>
          </a:p>
          <a:p>
            <a:pPr marL="286385" marR="264795" indent="-274320">
              <a:lnSpc>
                <a:spcPts val="2810"/>
              </a:lnSpc>
              <a:spcBef>
                <a:spcPts val="595"/>
              </a:spcBef>
              <a:buClr>
                <a:srgbClr val="4F81BC"/>
              </a:buClr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consumer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freely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choose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cloud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provider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with </a:t>
            </a:r>
            <a:r>
              <a:rPr sz="2600" dirty="0">
                <a:latin typeface="Perpetua"/>
                <a:cs typeface="Perpetua"/>
              </a:rPr>
              <a:t>better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pricing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favorable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conditions.</a:t>
            </a:r>
            <a:endParaRPr sz="26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250"/>
              </a:spcBef>
              <a:buClr>
                <a:srgbClr val="4F81BC"/>
              </a:buClr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Pricing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policy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SLAs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non-negotiable.</a:t>
            </a:r>
            <a:endParaRPr sz="26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493319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928" y="0"/>
            <a:ext cx="8305800" cy="1143000"/>
          </a:xfrm>
          <a:prstGeom prst="rect">
            <a:avLst/>
          </a:prstGeom>
        </p:spPr>
        <p:txBody>
          <a:bodyPr vert="horz" wrap="square" lIns="0" tIns="4986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Consumer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569" y="1447800"/>
            <a:ext cx="6792737" cy="4553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364465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119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Provider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417066"/>
            <a:ext cx="7543800" cy="451294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86385" marR="500380" indent="-274320">
              <a:lnSpc>
                <a:spcPct val="90000"/>
              </a:lnSpc>
              <a:spcBef>
                <a:spcPts val="359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Provider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acquires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manages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computing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infrastructure </a:t>
            </a:r>
            <a:r>
              <a:rPr sz="2200" dirty="0">
                <a:latin typeface="Perpetua"/>
                <a:cs typeface="Perpetua"/>
              </a:rPr>
              <a:t>required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for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providing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services,</a:t>
            </a:r>
            <a:r>
              <a:rPr sz="2200" spc="-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runs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software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that </a:t>
            </a:r>
            <a:r>
              <a:rPr sz="2200" spc="-10" dirty="0">
                <a:latin typeface="Perpetua"/>
                <a:cs typeface="Perpetua"/>
              </a:rPr>
              <a:t>provides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services,</a:t>
            </a:r>
            <a:r>
              <a:rPr sz="2200" spc="-9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makes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arrangement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deliver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cloud </a:t>
            </a:r>
            <a:r>
              <a:rPr sz="2200" dirty="0">
                <a:latin typeface="Perpetua"/>
                <a:cs typeface="Perpetua"/>
              </a:rPr>
              <a:t>services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Consumers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through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network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access.</a:t>
            </a:r>
            <a:endParaRPr sz="2200">
              <a:latin typeface="Perpetua"/>
              <a:cs typeface="Perpetua"/>
            </a:endParaRPr>
          </a:p>
          <a:p>
            <a:pPr marL="286385" marR="148590" indent="-274320">
              <a:lnSpc>
                <a:spcPts val="2380"/>
              </a:lnSpc>
              <a:spcBef>
                <a:spcPts val="630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SaaS</a:t>
            </a:r>
            <a:r>
              <a:rPr sz="2200" spc="-6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provider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deploys,</a:t>
            </a:r>
            <a:r>
              <a:rPr sz="2200" spc="-114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configures,</a:t>
            </a:r>
            <a:r>
              <a:rPr sz="2200" spc="-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maintains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updates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operation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software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applications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on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infrastructure.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SaaS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provider </a:t>
            </a:r>
            <a:r>
              <a:rPr sz="2200" dirty="0">
                <a:latin typeface="Perpetua"/>
                <a:cs typeface="Perpetua"/>
              </a:rPr>
              <a:t>maintains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expected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service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levels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consumers.</a:t>
            </a:r>
            <a:endParaRPr sz="2200">
              <a:latin typeface="Perpetua"/>
              <a:cs typeface="Perpetua"/>
            </a:endParaRPr>
          </a:p>
          <a:p>
            <a:pPr marL="286385" marR="289560" indent="-274320">
              <a:lnSpc>
                <a:spcPts val="2380"/>
              </a:lnSpc>
              <a:spcBef>
                <a:spcPts val="590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PaaS</a:t>
            </a:r>
            <a:r>
              <a:rPr sz="2200" spc="-6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Provider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manages</a:t>
            </a:r>
            <a:r>
              <a:rPr sz="2200" spc="-5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computing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infrastructure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for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5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platform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components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(runtime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software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execution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stack,</a:t>
            </a:r>
            <a:r>
              <a:rPr sz="2200" spc="-12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databases,</a:t>
            </a:r>
            <a:r>
              <a:rPr sz="2200" spc="-114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and </a:t>
            </a:r>
            <a:r>
              <a:rPr sz="2200" dirty="0">
                <a:latin typeface="Perpetua"/>
                <a:cs typeface="Perpetua"/>
              </a:rPr>
              <a:t>other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middleware).</a:t>
            </a:r>
            <a:endParaRPr sz="2200">
              <a:latin typeface="Perpetua"/>
              <a:cs typeface="Perpetua"/>
            </a:endParaRPr>
          </a:p>
          <a:p>
            <a:pPr marL="286385" marR="5080" indent="-274320">
              <a:lnSpc>
                <a:spcPct val="90000"/>
              </a:lnSpc>
              <a:spcBef>
                <a:spcPts val="555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IaaS</a:t>
            </a:r>
            <a:r>
              <a:rPr sz="2200" spc="-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Provider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provides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physical</a:t>
            </a:r>
            <a:r>
              <a:rPr sz="2200" spc="-6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hardware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software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that </a:t>
            </a:r>
            <a:r>
              <a:rPr sz="2200" dirty="0">
                <a:latin typeface="Perpetua"/>
                <a:cs typeface="Perpetua"/>
              </a:rPr>
              <a:t>makes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provisioning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these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infrastructure</a:t>
            </a:r>
            <a:r>
              <a:rPr sz="2200" spc="-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services,</a:t>
            </a:r>
            <a:r>
              <a:rPr sz="2200" spc="-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for</a:t>
            </a:r>
            <a:r>
              <a:rPr sz="2200" spc="-20" dirty="0">
                <a:latin typeface="Perpetua"/>
                <a:cs typeface="Perpetua"/>
              </a:rPr>
              <a:t> example,</a:t>
            </a:r>
            <a:r>
              <a:rPr sz="2200" spc="-105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the </a:t>
            </a:r>
            <a:r>
              <a:rPr sz="2200" dirty="0">
                <a:latin typeface="Perpetua"/>
                <a:cs typeface="Perpetua"/>
              </a:rPr>
              <a:t>physical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servers,</a:t>
            </a:r>
            <a:r>
              <a:rPr sz="2200" spc="-10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network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equipments,</a:t>
            </a:r>
            <a:r>
              <a:rPr sz="2200" spc="-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storage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devices,</a:t>
            </a:r>
            <a:r>
              <a:rPr sz="2200" spc="-10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host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OS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and </a:t>
            </a:r>
            <a:r>
              <a:rPr sz="2200" dirty="0">
                <a:latin typeface="Perpetua"/>
                <a:cs typeface="Perpetua"/>
              </a:rPr>
              <a:t>hypervisors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for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virtualization.</a:t>
            </a:r>
            <a:endParaRPr sz="22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163389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8784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Auditor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83538"/>
            <a:ext cx="7527290" cy="450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Audits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are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performed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verify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conformance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standards.</a:t>
            </a:r>
            <a:endParaRPr sz="2400">
              <a:latin typeface="Perpetua"/>
              <a:cs typeface="Perpetua"/>
            </a:endParaRPr>
          </a:p>
          <a:p>
            <a:pPr marL="286385" marR="1160145" indent="-274320">
              <a:lnSpc>
                <a:spcPts val="2310"/>
              </a:lnSpc>
              <a:spcBef>
                <a:spcPts val="575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Perpetua"/>
                <a:cs typeface="Perpetua"/>
              </a:rPr>
              <a:t>Auditor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evaluates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security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controls,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privacy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impact, </a:t>
            </a:r>
            <a:r>
              <a:rPr sz="2400" dirty="0">
                <a:latin typeface="Perpetua"/>
                <a:cs typeface="Perpetua"/>
              </a:rPr>
              <a:t>performance,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etc.</a:t>
            </a:r>
            <a:endParaRPr sz="24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40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Auditing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especially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important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federal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agencies.</a:t>
            </a:r>
            <a:endParaRPr sz="2400">
              <a:latin typeface="Perpetua"/>
              <a:cs typeface="Perpetua"/>
            </a:endParaRPr>
          </a:p>
          <a:p>
            <a:pPr marL="286385" marR="34925" indent="-274320">
              <a:lnSpc>
                <a:spcPct val="80000"/>
              </a:lnSpc>
              <a:spcBef>
                <a:spcPts val="600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Security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auditing,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make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assessment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security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controls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determine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extent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which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controls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are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implemented </a:t>
            </a:r>
            <a:r>
              <a:rPr sz="2400" spc="-35" dirty="0">
                <a:latin typeface="Perpetua"/>
                <a:cs typeface="Perpetua"/>
              </a:rPr>
              <a:t>correctly,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operating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intended,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producing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desired </a:t>
            </a:r>
            <a:r>
              <a:rPr sz="2400" dirty="0">
                <a:latin typeface="Perpetua"/>
                <a:cs typeface="Perpetua"/>
              </a:rPr>
              <a:t>outcome.This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done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by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verification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compliance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with </a:t>
            </a:r>
            <a:r>
              <a:rPr sz="2400" dirty="0">
                <a:latin typeface="Perpetua"/>
                <a:cs typeface="Perpetua"/>
              </a:rPr>
              <a:t>regulation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security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policy.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ct val="80000"/>
              </a:lnSpc>
              <a:spcBef>
                <a:spcPts val="600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Privacy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audit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helps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Federal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agencies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comply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with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applicable </a:t>
            </a:r>
            <a:r>
              <a:rPr sz="2400" dirty="0">
                <a:latin typeface="Perpetua"/>
                <a:cs typeface="Perpetua"/>
              </a:rPr>
              <a:t>privacy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laws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regulations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governing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individual's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privacy,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ensure</a:t>
            </a:r>
            <a:r>
              <a:rPr sz="2400" spc="-25" dirty="0">
                <a:latin typeface="Perpetua"/>
                <a:cs typeface="Perpetua"/>
              </a:rPr>
              <a:t> confidentiality,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integrity,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availability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an </a:t>
            </a:r>
            <a:r>
              <a:rPr sz="2400" dirty="0">
                <a:latin typeface="Perpetua"/>
                <a:cs typeface="Perpetua"/>
              </a:rPr>
              <a:t>individual's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personal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information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at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every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stage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development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operation.</a:t>
            </a:r>
            <a:endParaRPr sz="24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752299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778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20" dirty="0"/>
              <a:t> Broker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91158"/>
            <a:ext cx="7592059" cy="418020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6385" marR="514984" indent="-274320">
              <a:lnSpc>
                <a:spcPct val="80000"/>
              </a:lnSpc>
              <a:spcBef>
                <a:spcPts val="620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Integration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services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can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complex for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consumers.</a:t>
            </a:r>
            <a:r>
              <a:rPr sz="2200" spc="-7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Hence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spc="-45" dirty="0">
                <a:latin typeface="Perpetua"/>
                <a:cs typeface="Perpetua"/>
              </a:rPr>
              <a:t>broker,</a:t>
            </a:r>
            <a:r>
              <a:rPr sz="2200" spc="-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is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needed.</a:t>
            </a:r>
            <a:endParaRPr sz="2200">
              <a:latin typeface="Perpetua"/>
              <a:cs typeface="Perpetua"/>
            </a:endParaRPr>
          </a:p>
          <a:p>
            <a:pPr marL="286385" indent="-273685">
              <a:lnSpc>
                <a:spcPts val="2375"/>
              </a:lnSpc>
              <a:spcBef>
                <a:spcPts val="75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Perpetua"/>
                <a:cs typeface="Perpetua"/>
              </a:rPr>
              <a:t>Broker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manages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use,</a:t>
            </a:r>
            <a:r>
              <a:rPr sz="2200" spc="-10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performance and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delivery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services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and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375"/>
              </a:lnSpc>
            </a:pPr>
            <a:r>
              <a:rPr sz="2200" dirty="0">
                <a:latin typeface="Perpetua"/>
                <a:cs typeface="Perpetua"/>
              </a:rPr>
              <a:t>negotiates</a:t>
            </a:r>
            <a:r>
              <a:rPr sz="2200" spc="-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relationships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between</a:t>
            </a:r>
            <a:r>
              <a:rPr sz="2200" spc="-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5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providers</a:t>
            </a:r>
            <a:r>
              <a:rPr sz="2200" spc="-6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consumers.</a:t>
            </a:r>
            <a:endParaRPr sz="2200">
              <a:latin typeface="Perpetua"/>
              <a:cs typeface="Perpetua"/>
            </a:endParaRPr>
          </a:p>
          <a:p>
            <a:pPr marL="286385" indent="-273685">
              <a:lnSpc>
                <a:spcPts val="2610"/>
              </a:lnSpc>
              <a:spcBef>
                <a:spcPts val="75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In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general,</a:t>
            </a:r>
            <a:r>
              <a:rPr sz="2200" spc="-10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cloud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broker</a:t>
            </a:r>
            <a:r>
              <a:rPr sz="2200" spc="-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can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provide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services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in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three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categories:</a:t>
            </a:r>
            <a:endParaRPr sz="2200">
              <a:latin typeface="Perpetua"/>
              <a:cs typeface="Perpetua"/>
            </a:endParaRPr>
          </a:p>
          <a:p>
            <a:pPr marL="560705" marR="146685" lvl="1" indent="-228600">
              <a:lnSpc>
                <a:spcPct val="80000"/>
              </a:lnSpc>
              <a:spcBef>
                <a:spcPts val="445"/>
              </a:spcBef>
              <a:buClr>
                <a:srgbClr val="C0504D"/>
              </a:buClr>
              <a:buSzPct val="85000"/>
              <a:buFont typeface="Wingdings 2"/>
              <a:buChar char=""/>
              <a:tabLst>
                <a:tab pos="560705" algn="l"/>
              </a:tabLst>
            </a:pPr>
            <a:r>
              <a:rPr sz="2000" i="1" dirty="0">
                <a:latin typeface="Perpetua"/>
                <a:cs typeface="Perpetua"/>
              </a:rPr>
              <a:t>Service</a:t>
            </a:r>
            <a:r>
              <a:rPr sz="2000" i="1" spc="-70" dirty="0">
                <a:latin typeface="Perpetua"/>
                <a:cs typeface="Perpetua"/>
              </a:rPr>
              <a:t> </a:t>
            </a:r>
            <a:r>
              <a:rPr sz="2000" i="1" dirty="0">
                <a:latin typeface="Perpetua"/>
                <a:cs typeface="Perpetua"/>
              </a:rPr>
              <a:t>Intermediation</a:t>
            </a:r>
            <a:r>
              <a:rPr sz="2000" dirty="0">
                <a:latin typeface="Perpetua"/>
                <a:cs typeface="Perpetua"/>
              </a:rPr>
              <a:t>:</a:t>
            </a:r>
            <a:r>
              <a:rPr sz="2000" spc="-114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Broker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enhances</a:t>
            </a:r>
            <a:r>
              <a:rPr sz="2000" spc="-5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5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service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by</a:t>
            </a:r>
            <a:r>
              <a:rPr sz="2000" spc="-4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improving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capability</a:t>
            </a:r>
            <a:r>
              <a:rPr sz="2000" spc="-40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and </a:t>
            </a:r>
            <a:r>
              <a:rPr sz="2000" spc="-10" dirty="0">
                <a:latin typeface="Perpetua"/>
                <a:cs typeface="Perpetua"/>
              </a:rPr>
              <a:t>providing value-</a:t>
            </a:r>
            <a:r>
              <a:rPr sz="2000" dirty="0">
                <a:latin typeface="Perpetua"/>
                <a:cs typeface="Perpetua"/>
              </a:rPr>
              <a:t>added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services</a:t>
            </a:r>
            <a:r>
              <a:rPr sz="2000" spc="-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to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consumers.</a:t>
            </a:r>
            <a:r>
              <a:rPr sz="2000" spc="-30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improvement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can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be </a:t>
            </a:r>
            <a:r>
              <a:rPr sz="2000" dirty="0">
                <a:latin typeface="Perpetua"/>
                <a:cs typeface="Perpetua"/>
              </a:rPr>
              <a:t>managing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access to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cloud services,</a:t>
            </a:r>
            <a:r>
              <a:rPr sz="2000" spc="-8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identity</a:t>
            </a:r>
            <a:r>
              <a:rPr sz="2000" spc="1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management,</a:t>
            </a:r>
            <a:r>
              <a:rPr sz="2000" spc="-10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performance reporting,</a:t>
            </a:r>
            <a:r>
              <a:rPr sz="2000" spc="-7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enhanced </a:t>
            </a:r>
            <a:r>
              <a:rPr sz="2000" spc="-25" dirty="0">
                <a:latin typeface="Perpetua"/>
                <a:cs typeface="Perpetua"/>
              </a:rPr>
              <a:t>security,</a:t>
            </a:r>
            <a:r>
              <a:rPr sz="2000" spc="-40" dirty="0">
                <a:latin typeface="Perpetua"/>
                <a:cs typeface="Perpetua"/>
              </a:rPr>
              <a:t> </a:t>
            </a:r>
            <a:r>
              <a:rPr sz="2000" spc="-20" dirty="0">
                <a:latin typeface="Perpetua"/>
                <a:cs typeface="Perpetua"/>
              </a:rPr>
              <a:t>etc.</a:t>
            </a:r>
            <a:endParaRPr sz="2000">
              <a:latin typeface="Perpetua"/>
              <a:cs typeface="Perpetua"/>
            </a:endParaRPr>
          </a:p>
          <a:p>
            <a:pPr marL="560705" marR="5080" lvl="1" indent="-228600">
              <a:lnSpc>
                <a:spcPts val="1920"/>
              </a:lnSpc>
              <a:spcBef>
                <a:spcPts val="395"/>
              </a:spcBef>
              <a:buClr>
                <a:srgbClr val="C0504D"/>
              </a:buClr>
              <a:buSzPct val="85000"/>
              <a:buFont typeface="Wingdings 2"/>
              <a:buChar char=""/>
              <a:tabLst>
                <a:tab pos="560705" algn="l"/>
              </a:tabLst>
            </a:pPr>
            <a:r>
              <a:rPr sz="2000" i="1" spc="-10" dirty="0">
                <a:latin typeface="Perpetua"/>
                <a:cs typeface="Perpetua"/>
              </a:rPr>
              <a:t>Service</a:t>
            </a:r>
            <a:r>
              <a:rPr sz="2000" i="1" spc="-125" dirty="0">
                <a:latin typeface="Perpetua"/>
                <a:cs typeface="Perpetua"/>
              </a:rPr>
              <a:t> </a:t>
            </a:r>
            <a:r>
              <a:rPr sz="2000" i="1" spc="-10" dirty="0">
                <a:latin typeface="Perpetua"/>
                <a:cs typeface="Perpetua"/>
              </a:rPr>
              <a:t>Aggregation</a:t>
            </a:r>
            <a:r>
              <a:rPr sz="2000" spc="-10" dirty="0">
                <a:latin typeface="Perpetua"/>
                <a:cs typeface="Perpetua"/>
              </a:rPr>
              <a:t>:</a:t>
            </a:r>
            <a:r>
              <a:rPr sz="2000" spc="-10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Broker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combines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and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integrates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multiple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services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into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one </a:t>
            </a:r>
            <a:r>
              <a:rPr sz="2000" dirty="0">
                <a:latin typeface="Perpetua"/>
                <a:cs typeface="Perpetua"/>
              </a:rPr>
              <a:t>or</a:t>
            </a:r>
            <a:r>
              <a:rPr sz="2000" spc="-6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more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new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services.</a:t>
            </a:r>
            <a:r>
              <a:rPr sz="2000" spc="-3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4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broker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provides</a:t>
            </a:r>
            <a:r>
              <a:rPr sz="2000" spc="-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data</a:t>
            </a:r>
            <a:r>
              <a:rPr sz="2000" spc="-5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integration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and</a:t>
            </a:r>
            <a:r>
              <a:rPr sz="2000" spc="-5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ensures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the </a:t>
            </a:r>
            <a:r>
              <a:rPr sz="2000" dirty="0">
                <a:latin typeface="Perpetua"/>
                <a:cs typeface="Perpetua"/>
              </a:rPr>
              <a:t>secure</a:t>
            </a:r>
            <a:r>
              <a:rPr sz="2000" spc="-4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data</a:t>
            </a:r>
            <a:r>
              <a:rPr sz="2000" spc="-4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movement.</a:t>
            </a:r>
            <a:endParaRPr sz="2000">
              <a:latin typeface="Perpetua"/>
              <a:cs typeface="Perpetua"/>
            </a:endParaRPr>
          </a:p>
          <a:p>
            <a:pPr marL="560705" marR="478790" lvl="1" indent="-228600" algn="just">
              <a:lnSpc>
                <a:spcPct val="80100"/>
              </a:lnSpc>
              <a:spcBef>
                <a:spcPts val="409"/>
              </a:spcBef>
              <a:buClr>
                <a:srgbClr val="C0504D"/>
              </a:buClr>
              <a:buSzPct val="85000"/>
              <a:buFont typeface="Wingdings 2"/>
              <a:buChar char=""/>
              <a:tabLst>
                <a:tab pos="560705" algn="l"/>
              </a:tabLst>
            </a:pPr>
            <a:r>
              <a:rPr sz="2000" i="1" spc="-10" dirty="0">
                <a:latin typeface="Perpetua"/>
                <a:cs typeface="Perpetua"/>
              </a:rPr>
              <a:t>Service</a:t>
            </a:r>
            <a:r>
              <a:rPr sz="2000" i="1" spc="-105" dirty="0">
                <a:latin typeface="Perpetua"/>
                <a:cs typeface="Perpetua"/>
              </a:rPr>
              <a:t> </a:t>
            </a:r>
            <a:r>
              <a:rPr sz="2000" i="1" spc="-20" dirty="0">
                <a:latin typeface="Perpetua"/>
                <a:cs typeface="Perpetua"/>
              </a:rPr>
              <a:t>Arbitrage</a:t>
            </a:r>
            <a:r>
              <a:rPr sz="2000" spc="-20" dirty="0">
                <a:latin typeface="Perpetua"/>
                <a:cs typeface="Perpetua"/>
              </a:rPr>
              <a:t>:</a:t>
            </a:r>
            <a:r>
              <a:rPr sz="2000" spc="-9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It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is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similar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to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service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aggregation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with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flexibility</a:t>
            </a:r>
            <a:r>
              <a:rPr sz="2000" spc="10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to </a:t>
            </a:r>
            <a:r>
              <a:rPr sz="2000" dirty="0">
                <a:latin typeface="Perpetua"/>
                <a:cs typeface="Perpetua"/>
              </a:rPr>
              <a:t>choose</a:t>
            </a:r>
            <a:r>
              <a:rPr sz="2000" spc="-6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services</a:t>
            </a:r>
            <a:r>
              <a:rPr sz="2000" spc="-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from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multiple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agencies.</a:t>
            </a:r>
            <a:r>
              <a:rPr sz="2000" spc="-10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For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example,</a:t>
            </a:r>
            <a:r>
              <a:rPr sz="2000" spc="-10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broker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can</a:t>
            </a:r>
            <a:r>
              <a:rPr sz="2000" spc="-4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select </a:t>
            </a:r>
            <a:r>
              <a:rPr sz="2000" dirty="0">
                <a:latin typeface="Perpetua"/>
                <a:cs typeface="Perpetua"/>
              </a:rPr>
              <a:t>service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with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best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response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time.</a:t>
            </a:r>
            <a:endParaRPr sz="20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2966733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799" y="203007"/>
            <a:ext cx="8229600" cy="1143000"/>
          </a:xfrm>
          <a:prstGeom prst="rect">
            <a:avLst/>
          </a:prstGeom>
        </p:spPr>
        <p:txBody>
          <a:bodyPr vert="horz" wrap="square" lIns="0" tIns="4986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Carrier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83538"/>
            <a:ext cx="7473950" cy="413257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6385" marR="398780" indent="-274320">
              <a:lnSpc>
                <a:spcPts val="2300"/>
              </a:lnSpc>
              <a:spcBef>
                <a:spcPts val="660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Cloud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carriers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provide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access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consumers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through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network, telecommunication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other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access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devices.</a:t>
            </a:r>
            <a:endParaRPr sz="2400">
              <a:latin typeface="Perpetua"/>
              <a:cs typeface="Perpetua"/>
            </a:endParaRPr>
          </a:p>
          <a:p>
            <a:pPr marL="286385" marR="71120" indent="-274320">
              <a:lnSpc>
                <a:spcPts val="2300"/>
              </a:lnSpc>
              <a:spcBef>
                <a:spcPts val="610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For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example,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cloud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consumers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can obtain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cloud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services </a:t>
            </a:r>
            <a:r>
              <a:rPr sz="2400" spc="-10" dirty="0">
                <a:latin typeface="Perpetua"/>
                <a:cs typeface="Perpetua"/>
              </a:rPr>
              <a:t>through network</a:t>
            </a:r>
            <a:r>
              <a:rPr sz="2400" dirty="0">
                <a:latin typeface="Perpetua"/>
                <a:cs typeface="Perpetua"/>
              </a:rPr>
              <a:t> access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devices,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such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 </a:t>
            </a:r>
            <a:r>
              <a:rPr sz="2400" spc="-10" dirty="0">
                <a:latin typeface="Perpetua"/>
                <a:cs typeface="Perpetua"/>
              </a:rPr>
              <a:t>computers,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laptops,</a:t>
            </a:r>
            <a:r>
              <a:rPr sz="2400" spc="-9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mobile phones,</a:t>
            </a:r>
            <a:r>
              <a:rPr sz="2400" spc="-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mobile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internet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devices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(MIDs),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etc.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ct val="80000"/>
              </a:lnSpc>
              <a:spcBef>
                <a:spcPts val="630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distribution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cloud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services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normally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provided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network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telecommunication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carriers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transport</a:t>
            </a:r>
            <a:r>
              <a:rPr sz="2400" i="1" spc="-10" dirty="0">
                <a:latin typeface="Perpetua"/>
                <a:cs typeface="Perpetua"/>
              </a:rPr>
              <a:t> agent</a:t>
            </a:r>
            <a:r>
              <a:rPr sz="2400" spc="-10" dirty="0">
                <a:latin typeface="Perpetua"/>
                <a:cs typeface="Perpetua"/>
              </a:rPr>
              <a:t>, </a:t>
            </a:r>
            <a:r>
              <a:rPr sz="2400" dirty="0">
                <a:latin typeface="Perpetua"/>
                <a:cs typeface="Perpetua"/>
              </a:rPr>
              <a:t>where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transport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agent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refers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business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organization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that </a:t>
            </a:r>
            <a:r>
              <a:rPr sz="2400" spc="-10" dirty="0">
                <a:latin typeface="Perpetua"/>
                <a:cs typeface="Perpetua"/>
              </a:rPr>
              <a:t>provides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physical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transport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storage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media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such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high-</a:t>
            </a:r>
            <a:r>
              <a:rPr sz="2400" spc="-10" dirty="0">
                <a:latin typeface="Perpetua"/>
                <a:cs typeface="Perpetua"/>
              </a:rPr>
              <a:t>capacity </a:t>
            </a:r>
            <a:r>
              <a:rPr sz="2400" dirty="0">
                <a:latin typeface="Perpetua"/>
                <a:cs typeface="Perpetua"/>
              </a:rPr>
              <a:t>hard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drives.</a:t>
            </a:r>
            <a:endParaRPr sz="2400">
              <a:latin typeface="Perpetua"/>
              <a:cs typeface="Perpetua"/>
            </a:endParaRPr>
          </a:p>
          <a:p>
            <a:pPr marL="286385" marR="277495" indent="-274320">
              <a:lnSpc>
                <a:spcPct val="80100"/>
              </a:lnSpc>
              <a:spcBef>
                <a:spcPts val="595"/>
              </a:spcBef>
              <a:buClr>
                <a:srgbClr val="4F81BC"/>
              </a:buClr>
              <a:buSzPct val="85416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Cloud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provider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can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set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up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SLAs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with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cloud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carrier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provide </a:t>
            </a:r>
            <a:r>
              <a:rPr sz="2400" dirty="0">
                <a:latin typeface="Perpetua"/>
                <a:cs typeface="Perpetua"/>
              </a:rPr>
              <a:t>services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consistent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with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level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SLAs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offered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cloud consumers.</a:t>
            </a:r>
            <a:endParaRPr sz="24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3507514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796" y="76200"/>
            <a:ext cx="822960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Scope</a:t>
            </a:r>
            <a:r>
              <a:rPr sz="3600" spc="-155" dirty="0"/>
              <a:t> </a:t>
            </a:r>
            <a:r>
              <a:rPr sz="3600" dirty="0"/>
              <a:t>of</a:t>
            </a:r>
            <a:r>
              <a:rPr sz="3600" spc="-145" dirty="0"/>
              <a:t> </a:t>
            </a:r>
            <a:r>
              <a:rPr sz="3600" dirty="0"/>
              <a:t>Control</a:t>
            </a:r>
            <a:r>
              <a:rPr sz="3600" spc="-145" dirty="0"/>
              <a:t> </a:t>
            </a:r>
            <a:r>
              <a:rPr sz="3600" dirty="0"/>
              <a:t>between</a:t>
            </a:r>
            <a:r>
              <a:rPr sz="3600" spc="-140" dirty="0"/>
              <a:t> </a:t>
            </a:r>
            <a:r>
              <a:rPr sz="3600" dirty="0"/>
              <a:t>Provider</a:t>
            </a:r>
            <a:r>
              <a:rPr sz="3600" spc="-145" dirty="0"/>
              <a:t> </a:t>
            </a:r>
            <a:r>
              <a:rPr sz="3600" spc="-25" dirty="0"/>
              <a:t>and </a:t>
            </a:r>
            <a:r>
              <a:rPr sz="3600" spc="-10" dirty="0"/>
              <a:t>Consumer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41449"/>
            <a:ext cx="7449184" cy="2525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184785" indent="-274320">
              <a:lnSpc>
                <a:spcPct val="100000"/>
              </a:lnSpc>
              <a:spcBef>
                <a:spcPts val="95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Application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layer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are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used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by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SaaS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consumers,</a:t>
            </a:r>
            <a:r>
              <a:rPr sz="2200" spc="-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or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installed/managed/ </a:t>
            </a:r>
            <a:r>
              <a:rPr sz="2200" dirty="0">
                <a:latin typeface="Perpetua"/>
                <a:cs typeface="Perpetua"/>
              </a:rPr>
              <a:t>maintained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by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PaaS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consumers,</a:t>
            </a:r>
            <a:r>
              <a:rPr sz="2200" spc="-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IaaS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consumers,</a:t>
            </a:r>
            <a:r>
              <a:rPr sz="2200" spc="-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SaaS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providers.</a:t>
            </a:r>
            <a:endParaRPr sz="2200" dirty="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Perpetua"/>
                <a:cs typeface="Perpetua"/>
              </a:rPr>
              <a:t>Middleware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used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by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PaaS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consumers,</a:t>
            </a:r>
            <a:r>
              <a:rPr sz="2200" spc="-11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installed/managed/maintained </a:t>
            </a:r>
            <a:r>
              <a:rPr sz="2200" dirty="0">
                <a:latin typeface="Perpetua"/>
                <a:cs typeface="Perpetua"/>
              </a:rPr>
              <a:t>by</a:t>
            </a:r>
            <a:r>
              <a:rPr sz="2200" spc="-5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IaaS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consumers</a:t>
            </a:r>
            <a:r>
              <a:rPr sz="2200" spc="-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or</a:t>
            </a:r>
            <a:r>
              <a:rPr sz="2200" spc="-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PaaS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providers.</a:t>
            </a:r>
            <a:r>
              <a:rPr sz="2200" spc="-10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Middleware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is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hidden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from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SaaS </a:t>
            </a:r>
            <a:r>
              <a:rPr sz="2200" spc="-10" dirty="0">
                <a:latin typeface="Perpetua"/>
                <a:cs typeface="Perpetua"/>
              </a:rPr>
              <a:t>consumers.</a:t>
            </a:r>
            <a:endParaRPr sz="2200" dirty="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595"/>
              </a:spcBef>
              <a:buClr>
                <a:srgbClr val="4F81BC"/>
              </a:buClr>
              <a:buSzPct val="84090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Perpetua"/>
                <a:cs typeface="Perpetua"/>
              </a:rPr>
              <a:t>IaaS</a:t>
            </a:r>
            <a:r>
              <a:rPr sz="2200" spc="-6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layer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is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hidden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from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SaaS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consumers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PaaS</a:t>
            </a:r>
            <a:r>
              <a:rPr sz="2200" spc="-4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consumers.</a:t>
            </a:r>
            <a:endParaRPr sz="2200" dirty="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Perpetua"/>
                <a:cs typeface="Perpetua"/>
              </a:rPr>
              <a:t>Consumers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have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freedom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choose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OS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be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hosted.</a:t>
            </a:r>
            <a:endParaRPr sz="2200" dirty="0">
              <a:latin typeface="Perpetua"/>
              <a:cs typeface="Perpet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3962400"/>
            <a:ext cx="5209667" cy="2743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7828" y="6456110"/>
            <a:ext cx="397827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35"/>
              </a:lnSpc>
            </a:pPr>
            <a:r>
              <a:rPr sz="1800" dirty="0">
                <a:latin typeface="Perpetua"/>
                <a:cs typeface="Perpetua"/>
              </a:rPr>
              <a:t>NIST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Cloud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Computing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Reference</a:t>
            </a:r>
            <a:r>
              <a:rPr sz="1800" spc="-19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Architecture</a:t>
            </a:r>
            <a:endParaRPr sz="1800">
              <a:latin typeface="Perpetua"/>
              <a:cs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307776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83" y="1935622"/>
            <a:ext cx="8670471" cy="17358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" y="200946"/>
            <a:ext cx="5097780" cy="5982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5979" y="957072"/>
            <a:ext cx="7018020" cy="10576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733800"/>
            <a:ext cx="2286000" cy="28956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400" y="3733800"/>
            <a:ext cx="6520180" cy="2933700"/>
            <a:chOff x="152400" y="3733800"/>
            <a:chExt cx="6520180" cy="293370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3952875"/>
              <a:ext cx="2286000" cy="27146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38400" y="3733800"/>
              <a:ext cx="2068322" cy="2895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95800" y="3810000"/>
              <a:ext cx="2176272" cy="274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09" y="1447800"/>
            <a:ext cx="8201074" cy="518567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1424940"/>
            <a:chOff x="0" y="0"/>
            <a:chExt cx="9144000" cy="14249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0" y="0"/>
              <a:ext cx="1219200" cy="10363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023612" cy="990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9800" y="0"/>
              <a:ext cx="3124200" cy="142481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114800" y="3378834"/>
            <a:ext cx="381000" cy="2031364"/>
          </a:xfrm>
          <a:custGeom>
            <a:avLst/>
            <a:gdLst/>
            <a:ahLst/>
            <a:cxnLst/>
            <a:rect l="l" t="t" r="r" b="b"/>
            <a:pathLst>
              <a:path w="381000" h="2031364">
                <a:moveTo>
                  <a:pt x="381000" y="0"/>
                </a:moveTo>
                <a:lnTo>
                  <a:pt x="0" y="0"/>
                </a:lnTo>
                <a:lnTo>
                  <a:pt x="0" y="2031364"/>
                </a:lnTo>
                <a:lnTo>
                  <a:pt x="381000" y="2031364"/>
                </a:lnTo>
                <a:lnTo>
                  <a:pt x="381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72200" y="2616835"/>
            <a:ext cx="381000" cy="2031364"/>
          </a:xfrm>
          <a:custGeom>
            <a:avLst/>
            <a:gdLst/>
            <a:ahLst/>
            <a:cxnLst/>
            <a:rect l="l" t="t" r="r" b="b"/>
            <a:pathLst>
              <a:path w="381000" h="2031364">
                <a:moveTo>
                  <a:pt x="381000" y="0"/>
                </a:moveTo>
                <a:lnTo>
                  <a:pt x="0" y="0"/>
                </a:lnTo>
                <a:lnTo>
                  <a:pt x="0" y="2031364"/>
                </a:lnTo>
                <a:lnTo>
                  <a:pt x="381000" y="2031364"/>
                </a:lnTo>
                <a:lnTo>
                  <a:pt x="381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53400" y="2083435"/>
            <a:ext cx="381000" cy="2031364"/>
          </a:xfrm>
          <a:custGeom>
            <a:avLst/>
            <a:gdLst/>
            <a:ahLst/>
            <a:cxnLst/>
            <a:rect l="l" t="t" r="r" b="b"/>
            <a:pathLst>
              <a:path w="381000" h="2031364">
                <a:moveTo>
                  <a:pt x="381000" y="0"/>
                </a:moveTo>
                <a:lnTo>
                  <a:pt x="0" y="0"/>
                </a:lnTo>
                <a:lnTo>
                  <a:pt x="0" y="2031364"/>
                </a:lnTo>
                <a:lnTo>
                  <a:pt x="381000" y="2031364"/>
                </a:lnTo>
                <a:lnTo>
                  <a:pt x="381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349494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4352" y="1889760"/>
            <a:ext cx="2737518" cy="223570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304800"/>
            <a:ext cx="8971915" cy="604493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0"/>
            <a:ext cx="3124200" cy="16012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537413"/>
            <a:ext cx="41084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u="none" dirty="0">
                <a:solidFill>
                  <a:srgbClr val="000000"/>
                </a:solidFill>
                <a:latin typeface="Calibri"/>
                <a:cs typeface="Calibri"/>
              </a:rPr>
              <a:t>Polly</a:t>
            </a:r>
            <a:r>
              <a:rPr sz="3600" i="1" u="none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i="1" u="none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3600" i="1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i="1" u="none" dirty="0">
                <a:solidFill>
                  <a:srgbClr val="000000"/>
                </a:solidFill>
                <a:latin typeface="Calibri"/>
                <a:cs typeface="Calibri"/>
              </a:rPr>
              <a:t>back</a:t>
            </a:r>
            <a:r>
              <a:rPr sz="3600" i="1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i="1" u="none" spc="-10" dirty="0">
                <a:solidFill>
                  <a:srgbClr val="000000"/>
                </a:solidFill>
                <a:latin typeface="Calibri"/>
                <a:cs typeface="Calibri"/>
              </a:rPr>
              <a:t>again!!!!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5900" y="1815592"/>
            <a:ext cx="8559800" cy="744855"/>
            <a:chOff x="215900" y="1815592"/>
            <a:chExt cx="8559800" cy="744855"/>
          </a:xfrm>
        </p:grpSpPr>
        <p:sp>
          <p:nvSpPr>
            <p:cNvPr id="5" name="object 5"/>
            <p:cNvSpPr/>
            <p:nvPr/>
          </p:nvSpPr>
          <p:spPr>
            <a:xfrm>
              <a:off x="228600" y="2093887"/>
              <a:ext cx="8534400" cy="454025"/>
            </a:xfrm>
            <a:custGeom>
              <a:avLst/>
              <a:gdLst/>
              <a:ahLst/>
              <a:cxnLst/>
              <a:rect l="l" t="t" r="r" b="b"/>
              <a:pathLst>
                <a:path w="8534400" h="454025">
                  <a:moveTo>
                    <a:pt x="0" y="453605"/>
                  </a:moveTo>
                  <a:lnTo>
                    <a:pt x="8534400" y="453605"/>
                  </a:lnTo>
                  <a:lnTo>
                    <a:pt x="8534400" y="0"/>
                  </a:lnTo>
                  <a:lnTo>
                    <a:pt x="0" y="0"/>
                  </a:lnTo>
                  <a:lnTo>
                    <a:pt x="0" y="453605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5319" y="1828292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4">
                  <a:moveTo>
                    <a:pt x="7734681" y="0"/>
                  </a:moveTo>
                  <a:lnTo>
                    <a:pt x="88557" y="0"/>
                  </a:lnTo>
                  <a:lnTo>
                    <a:pt x="54087" y="6955"/>
                  </a:lnTo>
                  <a:lnTo>
                    <a:pt x="25938" y="25923"/>
                  </a:lnTo>
                  <a:lnTo>
                    <a:pt x="6959" y="54060"/>
                  </a:lnTo>
                  <a:lnTo>
                    <a:pt x="0" y="88519"/>
                  </a:lnTo>
                  <a:lnTo>
                    <a:pt x="0" y="442722"/>
                  </a:lnTo>
                  <a:lnTo>
                    <a:pt x="6959" y="477200"/>
                  </a:lnTo>
                  <a:lnTo>
                    <a:pt x="25938" y="505380"/>
                  </a:lnTo>
                  <a:lnTo>
                    <a:pt x="54087" y="524392"/>
                  </a:lnTo>
                  <a:lnTo>
                    <a:pt x="88557" y="531368"/>
                  </a:lnTo>
                  <a:lnTo>
                    <a:pt x="7734681" y="531368"/>
                  </a:lnTo>
                  <a:lnTo>
                    <a:pt x="7769139" y="524392"/>
                  </a:lnTo>
                  <a:lnTo>
                    <a:pt x="7797276" y="505380"/>
                  </a:lnTo>
                  <a:lnTo>
                    <a:pt x="7816244" y="477200"/>
                  </a:lnTo>
                  <a:lnTo>
                    <a:pt x="7823200" y="442722"/>
                  </a:lnTo>
                  <a:lnTo>
                    <a:pt x="7823200" y="88519"/>
                  </a:lnTo>
                  <a:lnTo>
                    <a:pt x="7816244" y="54060"/>
                  </a:lnTo>
                  <a:lnTo>
                    <a:pt x="7797276" y="25923"/>
                  </a:lnTo>
                  <a:lnTo>
                    <a:pt x="7769139" y="6955"/>
                  </a:lnTo>
                  <a:lnTo>
                    <a:pt x="773468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319" y="1828292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4">
                  <a:moveTo>
                    <a:pt x="0" y="88519"/>
                  </a:moveTo>
                  <a:lnTo>
                    <a:pt x="6959" y="54060"/>
                  </a:lnTo>
                  <a:lnTo>
                    <a:pt x="25938" y="25923"/>
                  </a:lnTo>
                  <a:lnTo>
                    <a:pt x="54087" y="6955"/>
                  </a:lnTo>
                  <a:lnTo>
                    <a:pt x="88557" y="0"/>
                  </a:lnTo>
                  <a:lnTo>
                    <a:pt x="7734681" y="0"/>
                  </a:lnTo>
                  <a:lnTo>
                    <a:pt x="7769139" y="6955"/>
                  </a:lnTo>
                  <a:lnTo>
                    <a:pt x="7797276" y="25923"/>
                  </a:lnTo>
                  <a:lnTo>
                    <a:pt x="7816244" y="54060"/>
                  </a:lnTo>
                  <a:lnTo>
                    <a:pt x="7823200" y="88519"/>
                  </a:lnTo>
                  <a:lnTo>
                    <a:pt x="7823200" y="442722"/>
                  </a:lnTo>
                  <a:lnTo>
                    <a:pt x="7816244" y="477200"/>
                  </a:lnTo>
                  <a:lnTo>
                    <a:pt x="7797276" y="505380"/>
                  </a:lnTo>
                  <a:lnTo>
                    <a:pt x="7769139" y="524392"/>
                  </a:lnTo>
                  <a:lnTo>
                    <a:pt x="7734681" y="531368"/>
                  </a:lnTo>
                  <a:lnTo>
                    <a:pt x="88557" y="531368"/>
                  </a:lnTo>
                  <a:lnTo>
                    <a:pt x="54087" y="524392"/>
                  </a:lnTo>
                  <a:lnTo>
                    <a:pt x="25938" y="505380"/>
                  </a:lnTo>
                  <a:lnTo>
                    <a:pt x="6959" y="477200"/>
                  </a:lnTo>
                  <a:lnTo>
                    <a:pt x="0" y="442722"/>
                  </a:lnTo>
                  <a:lnTo>
                    <a:pt x="0" y="8851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15900" y="2632075"/>
            <a:ext cx="8559800" cy="744855"/>
            <a:chOff x="215900" y="2632075"/>
            <a:chExt cx="8559800" cy="744855"/>
          </a:xfrm>
        </p:grpSpPr>
        <p:sp>
          <p:nvSpPr>
            <p:cNvPr id="9" name="object 9"/>
            <p:cNvSpPr/>
            <p:nvPr/>
          </p:nvSpPr>
          <p:spPr>
            <a:xfrm>
              <a:off x="228600" y="2910370"/>
              <a:ext cx="8534400" cy="454025"/>
            </a:xfrm>
            <a:custGeom>
              <a:avLst/>
              <a:gdLst/>
              <a:ahLst/>
              <a:cxnLst/>
              <a:rect l="l" t="t" r="r" b="b"/>
              <a:pathLst>
                <a:path w="8534400" h="454025">
                  <a:moveTo>
                    <a:pt x="0" y="453605"/>
                  </a:moveTo>
                  <a:lnTo>
                    <a:pt x="8534400" y="453605"/>
                  </a:lnTo>
                  <a:lnTo>
                    <a:pt x="8534400" y="0"/>
                  </a:lnTo>
                  <a:lnTo>
                    <a:pt x="0" y="0"/>
                  </a:lnTo>
                  <a:lnTo>
                    <a:pt x="0" y="453605"/>
                  </a:lnTo>
                  <a:close/>
                </a:path>
              </a:pathLst>
            </a:custGeom>
            <a:ln w="25400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5319" y="2644775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4">
                  <a:moveTo>
                    <a:pt x="7734681" y="0"/>
                  </a:moveTo>
                  <a:lnTo>
                    <a:pt x="88557" y="0"/>
                  </a:lnTo>
                  <a:lnTo>
                    <a:pt x="54087" y="6955"/>
                  </a:lnTo>
                  <a:lnTo>
                    <a:pt x="25938" y="25923"/>
                  </a:lnTo>
                  <a:lnTo>
                    <a:pt x="6959" y="54060"/>
                  </a:lnTo>
                  <a:lnTo>
                    <a:pt x="0" y="88519"/>
                  </a:lnTo>
                  <a:lnTo>
                    <a:pt x="0" y="442722"/>
                  </a:lnTo>
                  <a:lnTo>
                    <a:pt x="6959" y="477200"/>
                  </a:lnTo>
                  <a:lnTo>
                    <a:pt x="25938" y="505380"/>
                  </a:lnTo>
                  <a:lnTo>
                    <a:pt x="54087" y="524392"/>
                  </a:lnTo>
                  <a:lnTo>
                    <a:pt x="88557" y="531367"/>
                  </a:lnTo>
                  <a:lnTo>
                    <a:pt x="7734681" y="531367"/>
                  </a:lnTo>
                  <a:lnTo>
                    <a:pt x="7769139" y="524392"/>
                  </a:lnTo>
                  <a:lnTo>
                    <a:pt x="7797276" y="505380"/>
                  </a:lnTo>
                  <a:lnTo>
                    <a:pt x="7816244" y="477200"/>
                  </a:lnTo>
                  <a:lnTo>
                    <a:pt x="7823200" y="442722"/>
                  </a:lnTo>
                  <a:lnTo>
                    <a:pt x="7823200" y="88519"/>
                  </a:lnTo>
                  <a:lnTo>
                    <a:pt x="7816244" y="54060"/>
                  </a:lnTo>
                  <a:lnTo>
                    <a:pt x="7797276" y="25923"/>
                  </a:lnTo>
                  <a:lnTo>
                    <a:pt x="7769139" y="6955"/>
                  </a:lnTo>
                  <a:lnTo>
                    <a:pt x="7734681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5319" y="2644775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4">
                  <a:moveTo>
                    <a:pt x="0" y="88519"/>
                  </a:moveTo>
                  <a:lnTo>
                    <a:pt x="6959" y="54060"/>
                  </a:lnTo>
                  <a:lnTo>
                    <a:pt x="25938" y="25923"/>
                  </a:lnTo>
                  <a:lnTo>
                    <a:pt x="54087" y="6955"/>
                  </a:lnTo>
                  <a:lnTo>
                    <a:pt x="88557" y="0"/>
                  </a:lnTo>
                  <a:lnTo>
                    <a:pt x="7734681" y="0"/>
                  </a:lnTo>
                  <a:lnTo>
                    <a:pt x="7769139" y="6955"/>
                  </a:lnTo>
                  <a:lnTo>
                    <a:pt x="7797276" y="25923"/>
                  </a:lnTo>
                  <a:lnTo>
                    <a:pt x="7816244" y="54060"/>
                  </a:lnTo>
                  <a:lnTo>
                    <a:pt x="7823200" y="88519"/>
                  </a:lnTo>
                  <a:lnTo>
                    <a:pt x="7823200" y="442722"/>
                  </a:lnTo>
                  <a:lnTo>
                    <a:pt x="7816244" y="477200"/>
                  </a:lnTo>
                  <a:lnTo>
                    <a:pt x="7797276" y="505380"/>
                  </a:lnTo>
                  <a:lnTo>
                    <a:pt x="7769139" y="524392"/>
                  </a:lnTo>
                  <a:lnTo>
                    <a:pt x="7734681" y="531367"/>
                  </a:lnTo>
                  <a:lnTo>
                    <a:pt x="88557" y="531367"/>
                  </a:lnTo>
                  <a:lnTo>
                    <a:pt x="54087" y="524392"/>
                  </a:lnTo>
                  <a:lnTo>
                    <a:pt x="25938" y="505380"/>
                  </a:lnTo>
                  <a:lnTo>
                    <a:pt x="6959" y="477200"/>
                  </a:lnTo>
                  <a:lnTo>
                    <a:pt x="0" y="442722"/>
                  </a:lnTo>
                  <a:lnTo>
                    <a:pt x="0" y="8851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15900" y="3448558"/>
            <a:ext cx="8559800" cy="744855"/>
            <a:chOff x="215900" y="3448558"/>
            <a:chExt cx="8559800" cy="744855"/>
          </a:xfrm>
        </p:grpSpPr>
        <p:sp>
          <p:nvSpPr>
            <p:cNvPr id="13" name="object 13"/>
            <p:cNvSpPr/>
            <p:nvPr/>
          </p:nvSpPr>
          <p:spPr>
            <a:xfrm>
              <a:off x="228600" y="3726853"/>
              <a:ext cx="8534400" cy="454025"/>
            </a:xfrm>
            <a:custGeom>
              <a:avLst/>
              <a:gdLst/>
              <a:ahLst/>
              <a:cxnLst/>
              <a:rect l="l" t="t" r="r" b="b"/>
              <a:pathLst>
                <a:path w="8534400" h="454025">
                  <a:moveTo>
                    <a:pt x="0" y="453605"/>
                  </a:moveTo>
                  <a:lnTo>
                    <a:pt x="8534400" y="453605"/>
                  </a:lnTo>
                  <a:lnTo>
                    <a:pt x="8534400" y="0"/>
                  </a:lnTo>
                  <a:lnTo>
                    <a:pt x="0" y="0"/>
                  </a:lnTo>
                  <a:lnTo>
                    <a:pt x="0" y="453605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319" y="3461258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7734681" y="0"/>
                  </a:moveTo>
                  <a:lnTo>
                    <a:pt x="88557" y="0"/>
                  </a:lnTo>
                  <a:lnTo>
                    <a:pt x="54087" y="6955"/>
                  </a:lnTo>
                  <a:lnTo>
                    <a:pt x="25938" y="25923"/>
                  </a:lnTo>
                  <a:lnTo>
                    <a:pt x="6959" y="54060"/>
                  </a:lnTo>
                  <a:lnTo>
                    <a:pt x="0" y="88518"/>
                  </a:lnTo>
                  <a:lnTo>
                    <a:pt x="0" y="442721"/>
                  </a:lnTo>
                  <a:lnTo>
                    <a:pt x="6959" y="477200"/>
                  </a:lnTo>
                  <a:lnTo>
                    <a:pt x="25938" y="505380"/>
                  </a:lnTo>
                  <a:lnTo>
                    <a:pt x="54087" y="524392"/>
                  </a:lnTo>
                  <a:lnTo>
                    <a:pt x="88557" y="531367"/>
                  </a:lnTo>
                  <a:lnTo>
                    <a:pt x="7734681" y="531367"/>
                  </a:lnTo>
                  <a:lnTo>
                    <a:pt x="7769139" y="524392"/>
                  </a:lnTo>
                  <a:lnTo>
                    <a:pt x="7797276" y="505380"/>
                  </a:lnTo>
                  <a:lnTo>
                    <a:pt x="7816244" y="477200"/>
                  </a:lnTo>
                  <a:lnTo>
                    <a:pt x="7823200" y="442721"/>
                  </a:lnTo>
                  <a:lnTo>
                    <a:pt x="7823200" y="88518"/>
                  </a:lnTo>
                  <a:lnTo>
                    <a:pt x="7816244" y="54060"/>
                  </a:lnTo>
                  <a:lnTo>
                    <a:pt x="7797276" y="25923"/>
                  </a:lnTo>
                  <a:lnTo>
                    <a:pt x="7769139" y="6955"/>
                  </a:lnTo>
                  <a:lnTo>
                    <a:pt x="773468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5319" y="3461258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0" y="88518"/>
                  </a:moveTo>
                  <a:lnTo>
                    <a:pt x="6959" y="54060"/>
                  </a:lnTo>
                  <a:lnTo>
                    <a:pt x="25938" y="25923"/>
                  </a:lnTo>
                  <a:lnTo>
                    <a:pt x="54087" y="6955"/>
                  </a:lnTo>
                  <a:lnTo>
                    <a:pt x="88557" y="0"/>
                  </a:lnTo>
                  <a:lnTo>
                    <a:pt x="7734681" y="0"/>
                  </a:lnTo>
                  <a:lnTo>
                    <a:pt x="7769139" y="6955"/>
                  </a:lnTo>
                  <a:lnTo>
                    <a:pt x="7797276" y="25923"/>
                  </a:lnTo>
                  <a:lnTo>
                    <a:pt x="7816244" y="54060"/>
                  </a:lnTo>
                  <a:lnTo>
                    <a:pt x="7823200" y="88518"/>
                  </a:lnTo>
                  <a:lnTo>
                    <a:pt x="7823200" y="442721"/>
                  </a:lnTo>
                  <a:lnTo>
                    <a:pt x="7816244" y="477200"/>
                  </a:lnTo>
                  <a:lnTo>
                    <a:pt x="7797276" y="505380"/>
                  </a:lnTo>
                  <a:lnTo>
                    <a:pt x="7769139" y="524392"/>
                  </a:lnTo>
                  <a:lnTo>
                    <a:pt x="7734681" y="531367"/>
                  </a:lnTo>
                  <a:lnTo>
                    <a:pt x="88557" y="531367"/>
                  </a:lnTo>
                  <a:lnTo>
                    <a:pt x="54087" y="524392"/>
                  </a:lnTo>
                  <a:lnTo>
                    <a:pt x="25938" y="505380"/>
                  </a:lnTo>
                  <a:lnTo>
                    <a:pt x="6959" y="477200"/>
                  </a:lnTo>
                  <a:lnTo>
                    <a:pt x="0" y="442721"/>
                  </a:lnTo>
                  <a:lnTo>
                    <a:pt x="0" y="885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15900" y="4265040"/>
            <a:ext cx="8559800" cy="744855"/>
            <a:chOff x="215900" y="4265040"/>
            <a:chExt cx="8559800" cy="744855"/>
          </a:xfrm>
        </p:grpSpPr>
        <p:sp>
          <p:nvSpPr>
            <p:cNvPr id="17" name="object 17"/>
            <p:cNvSpPr/>
            <p:nvPr/>
          </p:nvSpPr>
          <p:spPr>
            <a:xfrm>
              <a:off x="228600" y="4543335"/>
              <a:ext cx="8534400" cy="454025"/>
            </a:xfrm>
            <a:custGeom>
              <a:avLst/>
              <a:gdLst/>
              <a:ahLst/>
              <a:cxnLst/>
              <a:rect l="l" t="t" r="r" b="b"/>
              <a:pathLst>
                <a:path w="8534400" h="454025">
                  <a:moveTo>
                    <a:pt x="0" y="453605"/>
                  </a:moveTo>
                  <a:lnTo>
                    <a:pt x="8534400" y="453605"/>
                  </a:lnTo>
                  <a:lnTo>
                    <a:pt x="8534400" y="0"/>
                  </a:lnTo>
                  <a:lnTo>
                    <a:pt x="0" y="0"/>
                  </a:lnTo>
                  <a:lnTo>
                    <a:pt x="0" y="453605"/>
                  </a:lnTo>
                  <a:close/>
                </a:path>
              </a:pathLst>
            </a:custGeom>
            <a:ln w="25400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5319" y="4277740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7734681" y="0"/>
                  </a:moveTo>
                  <a:lnTo>
                    <a:pt x="88557" y="0"/>
                  </a:lnTo>
                  <a:lnTo>
                    <a:pt x="54087" y="6955"/>
                  </a:lnTo>
                  <a:lnTo>
                    <a:pt x="25938" y="25923"/>
                  </a:lnTo>
                  <a:lnTo>
                    <a:pt x="6959" y="54060"/>
                  </a:lnTo>
                  <a:lnTo>
                    <a:pt x="0" y="88518"/>
                  </a:lnTo>
                  <a:lnTo>
                    <a:pt x="0" y="442721"/>
                  </a:lnTo>
                  <a:lnTo>
                    <a:pt x="6959" y="477200"/>
                  </a:lnTo>
                  <a:lnTo>
                    <a:pt x="25938" y="505380"/>
                  </a:lnTo>
                  <a:lnTo>
                    <a:pt x="54087" y="524392"/>
                  </a:lnTo>
                  <a:lnTo>
                    <a:pt x="88557" y="531367"/>
                  </a:lnTo>
                  <a:lnTo>
                    <a:pt x="7734681" y="531367"/>
                  </a:lnTo>
                  <a:lnTo>
                    <a:pt x="7769139" y="524392"/>
                  </a:lnTo>
                  <a:lnTo>
                    <a:pt x="7797276" y="505380"/>
                  </a:lnTo>
                  <a:lnTo>
                    <a:pt x="7816244" y="477200"/>
                  </a:lnTo>
                  <a:lnTo>
                    <a:pt x="7823200" y="442721"/>
                  </a:lnTo>
                  <a:lnTo>
                    <a:pt x="7823200" y="88518"/>
                  </a:lnTo>
                  <a:lnTo>
                    <a:pt x="7816244" y="54060"/>
                  </a:lnTo>
                  <a:lnTo>
                    <a:pt x="7797276" y="25923"/>
                  </a:lnTo>
                  <a:lnTo>
                    <a:pt x="7769139" y="6955"/>
                  </a:lnTo>
                  <a:lnTo>
                    <a:pt x="7734681" y="0"/>
                  </a:lnTo>
                  <a:close/>
                </a:path>
              </a:pathLst>
            </a:custGeom>
            <a:solidFill>
              <a:srgbClr val="403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5319" y="4277740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0" y="88518"/>
                  </a:moveTo>
                  <a:lnTo>
                    <a:pt x="6959" y="54060"/>
                  </a:lnTo>
                  <a:lnTo>
                    <a:pt x="25938" y="25923"/>
                  </a:lnTo>
                  <a:lnTo>
                    <a:pt x="54087" y="6955"/>
                  </a:lnTo>
                  <a:lnTo>
                    <a:pt x="88557" y="0"/>
                  </a:lnTo>
                  <a:lnTo>
                    <a:pt x="7734681" y="0"/>
                  </a:lnTo>
                  <a:lnTo>
                    <a:pt x="7769139" y="6955"/>
                  </a:lnTo>
                  <a:lnTo>
                    <a:pt x="7797276" y="25923"/>
                  </a:lnTo>
                  <a:lnTo>
                    <a:pt x="7816244" y="54060"/>
                  </a:lnTo>
                  <a:lnTo>
                    <a:pt x="7823200" y="88518"/>
                  </a:lnTo>
                  <a:lnTo>
                    <a:pt x="7823200" y="442721"/>
                  </a:lnTo>
                  <a:lnTo>
                    <a:pt x="7816244" y="477200"/>
                  </a:lnTo>
                  <a:lnTo>
                    <a:pt x="7797276" y="505380"/>
                  </a:lnTo>
                  <a:lnTo>
                    <a:pt x="7769139" y="524392"/>
                  </a:lnTo>
                  <a:lnTo>
                    <a:pt x="7734681" y="531367"/>
                  </a:lnTo>
                  <a:lnTo>
                    <a:pt x="88557" y="531367"/>
                  </a:lnTo>
                  <a:lnTo>
                    <a:pt x="54087" y="524392"/>
                  </a:lnTo>
                  <a:lnTo>
                    <a:pt x="25938" y="505380"/>
                  </a:lnTo>
                  <a:lnTo>
                    <a:pt x="6959" y="477200"/>
                  </a:lnTo>
                  <a:lnTo>
                    <a:pt x="0" y="442721"/>
                  </a:lnTo>
                  <a:lnTo>
                    <a:pt x="0" y="885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15900" y="5081523"/>
            <a:ext cx="8559800" cy="744855"/>
            <a:chOff x="215900" y="5081523"/>
            <a:chExt cx="8559800" cy="744855"/>
          </a:xfrm>
        </p:grpSpPr>
        <p:sp>
          <p:nvSpPr>
            <p:cNvPr id="21" name="object 21"/>
            <p:cNvSpPr/>
            <p:nvPr/>
          </p:nvSpPr>
          <p:spPr>
            <a:xfrm>
              <a:off x="228600" y="5359857"/>
              <a:ext cx="8534400" cy="454025"/>
            </a:xfrm>
            <a:custGeom>
              <a:avLst/>
              <a:gdLst/>
              <a:ahLst/>
              <a:cxnLst/>
              <a:rect l="l" t="t" r="r" b="b"/>
              <a:pathLst>
                <a:path w="8534400" h="454025">
                  <a:moveTo>
                    <a:pt x="0" y="453605"/>
                  </a:moveTo>
                  <a:lnTo>
                    <a:pt x="8534400" y="453605"/>
                  </a:lnTo>
                  <a:lnTo>
                    <a:pt x="8534400" y="0"/>
                  </a:lnTo>
                  <a:lnTo>
                    <a:pt x="0" y="0"/>
                  </a:lnTo>
                  <a:lnTo>
                    <a:pt x="0" y="453605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5319" y="5094223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7734681" y="0"/>
                  </a:moveTo>
                  <a:lnTo>
                    <a:pt x="88557" y="0"/>
                  </a:lnTo>
                  <a:lnTo>
                    <a:pt x="54087" y="6955"/>
                  </a:lnTo>
                  <a:lnTo>
                    <a:pt x="25938" y="25923"/>
                  </a:lnTo>
                  <a:lnTo>
                    <a:pt x="6959" y="54060"/>
                  </a:lnTo>
                  <a:lnTo>
                    <a:pt x="0" y="88518"/>
                  </a:lnTo>
                  <a:lnTo>
                    <a:pt x="0" y="442722"/>
                  </a:lnTo>
                  <a:lnTo>
                    <a:pt x="6959" y="477192"/>
                  </a:lnTo>
                  <a:lnTo>
                    <a:pt x="25938" y="505355"/>
                  </a:lnTo>
                  <a:lnTo>
                    <a:pt x="54087" y="524350"/>
                  </a:lnTo>
                  <a:lnTo>
                    <a:pt x="88557" y="531317"/>
                  </a:lnTo>
                  <a:lnTo>
                    <a:pt x="7734681" y="531317"/>
                  </a:lnTo>
                  <a:lnTo>
                    <a:pt x="7769139" y="524350"/>
                  </a:lnTo>
                  <a:lnTo>
                    <a:pt x="7797276" y="505355"/>
                  </a:lnTo>
                  <a:lnTo>
                    <a:pt x="7816244" y="477192"/>
                  </a:lnTo>
                  <a:lnTo>
                    <a:pt x="7823200" y="442722"/>
                  </a:lnTo>
                  <a:lnTo>
                    <a:pt x="7823200" y="88518"/>
                  </a:lnTo>
                  <a:lnTo>
                    <a:pt x="7816244" y="54060"/>
                  </a:lnTo>
                  <a:lnTo>
                    <a:pt x="7797276" y="25923"/>
                  </a:lnTo>
                  <a:lnTo>
                    <a:pt x="7769139" y="6955"/>
                  </a:lnTo>
                  <a:lnTo>
                    <a:pt x="7734681" y="0"/>
                  </a:lnTo>
                  <a:close/>
                </a:path>
              </a:pathLst>
            </a:custGeom>
            <a:solidFill>
              <a:srgbClr val="9747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5319" y="5094223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0" y="88518"/>
                  </a:moveTo>
                  <a:lnTo>
                    <a:pt x="6959" y="54060"/>
                  </a:lnTo>
                  <a:lnTo>
                    <a:pt x="25938" y="25923"/>
                  </a:lnTo>
                  <a:lnTo>
                    <a:pt x="54087" y="6955"/>
                  </a:lnTo>
                  <a:lnTo>
                    <a:pt x="88557" y="0"/>
                  </a:lnTo>
                  <a:lnTo>
                    <a:pt x="7734681" y="0"/>
                  </a:lnTo>
                  <a:lnTo>
                    <a:pt x="7769139" y="6955"/>
                  </a:lnTo>
                  <a:lnTo>
                    <a:pt x="7797276" y="25923"/>
                  </a:lnTo>
                  <a:lnTo>
                    <a:pt x="7816244" y="54060"/>
                  </a:lnTo>
                  <a:lnTo>
                    <a:pt x="7823200" y="88518"/>
                  </a:lnTo>
                  <a:lnTo>
                    <a:pt x="7823200" y="442722"/>
                  </a:lnTo>
                  <a:lnTo>
                    <a:pt x="7816244" y="477192"/>
                  </a:lnTo>
                  <a:lnTo>
                    <a:pt x="7797276" y="505355"/>
                  </a:lnTo>
                  <a:lnTo>
                    <a:pt x="7769139" y="524350"/>
                  </a:lnTo>
                  <a:lnTo>
                    <a:pt x="7734681" y="531317"/>
                  </a:lnTo>
                  <a:lnTo>
                    <a:pt x="88557" y="531317"/>
                  </a:lnTo>
                  <a:lnTo>
                    <a:pt x="54087" y="524350"/>
                  </a:lnTo>
                  <a:lnTo>
                    <a:pt x="25938" y="505355"/>
                  </a:lnTo>
                  <a:lnTo>
                    <a:pt x="6959" y="477192"/>
                  </a:lnTo>
                  <a:lnTo>
                    <a:pt x="0" y="442722"/>
                  </a:lnTo>
                  <a:lnTo>
                    <a:pt x="0" y="88518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15900" y="5897956"/>
            <a:ext cx="8559800" cy="744855"/>
            <a:chOff x="215900" y="5897956"/>
            <a:chExt cx="8559800" cy="744855"/>
          </a:xfrm>
        </p:grpSpPr>
        <p:sp>
          <p:nvSpPr>
            <p:cNvPr id="25" name="object 25"/>
            <p:cNvSpPr/>
            <p:nvPr/>
          </p:nvSpPr>
          <p:spPr>
            <a:xfrm>
              <a:off x="228600" y="6176327"/>
              <a:ext cx="8534400" cy="454025"/>
            </a:xfrm>
            <a:custGeom>
              <a:avLst/>
              <a:gdLst/>
              <a:ahLst/>
              <a:cxnLst/>
              <a:rect l="l" t="t" r="r" b="b"/>
              <a:pathLst>
                <a:path w="8534400" h="454025">
                  <a:moveTo>
                    <a:pt x="0" y="453605"/>
                  </a:moveTo>
                  <a:lnTo>
                    <a:pt x="8534400" y="453605"/>
                  </a:lnTo>
                  <a:lnTo>
                    <a:pt x="8534400" y="0"/>
                  </a:lnTo>
                  <a:lnTo>
                    <a:pt x="0" y="0"/>
                  </a:lnTo>
                  <a:lnTo>
                    <a:pt x="0" y="453605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5319" y="5910656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7734681" y="0"/>
                  </a:moveTo>
                  <a:lnTo>
                    <a:pt x="88557" y="0"/>
                  </a:lnTo>
                  <a:lnTo>
                    <a:pt x="54087" y="6959"/>
                  </a:lnTo>
                  <a:lnTo>
                    <a:pt x="25938" y="25939"/>
                  </a:lnTo>
                  <a:lnTo>
                    <a:pt x="6959" y="54092"/>
                  </a:lnTo>
                  <a:lnTo>
                    <a:pt x="0" y="88569"/>
                  </a:lnTo>
                  <a:lnTo>
                    <a:pt x="0" y="442798"/>
                  </a:lnTo>
                  <a:lnTo>
                    <a:pt x="6959" y="477275"/>
                  </a:lnTo>
                  <a:lnTo>
                    <a:pt x="25938" y="505428"/>
                  </a:lnTo>
                  <a:lnTo>
                    <a:pt x="54087" y="524408"/>
                  </a:lnTo>
                  <a:lnTo>
                    <a:pt x="88557" y="531368"/>
                  </a:lnTo>
                  <a:lnTo>
                    <a:pt x="7734681" y="531368"/>
                  </a:lnTo>
                  <a:lnTo>
                    <a:pt x="7769139" y="524408"/>
                  </a:lnTo>
                  <a:lnTo>
                    <a:pt x="7797276" y="505428"/>
                  </a:lnTo>
                  <a:lnTo>
                    <a:pt x="7816244" y="477275"/>
                  </a:lnTo>
                  <a:lnTo>
                    <a:pt x="7823200" y="442798"/>
                  </a:lnTo>
                  <a:lnTo>
                    <a:pt x="7823200" y="88569"/>
                  </a:lnTo>
                  <a:lnTo>
                    <a:pt x="7816244" y="54092"/>
                  </a:lnTo>
                  <a:lnTo>
                    <a:pt x="7797276" y="25939"/>
                  </a:lnTo>
                  <a:lnTo>
                    <a:pt x="7769139" y="6959"/>
                  </a:lnTo>
                  <a:lnTo>
                    <a:pt x="773468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5319" y="5910656"/>
              <a:ext cx="7823200" cy="531495"/>
            </a:xfrm>
            <a:custGeom>
              <a:avLst/>
              <a:gdLst/>
              <a:ahLst/>
              <a:cxnLst/>
              <a:rect l="l" t="t" r="r" b="b"/>
              <a:pathLst>
                <a:path w="7823200" h="531495">
                  <a:moveTo>
                    <a:pt x="0" y="88569"/>
                  </a:moveTo>
                  <a:lnTo>
                    <a:pt x="6959" y="54092"/>
                  </a:lnTo>
                  <a:lnTo>
                    <a:pt x="25938" y="25939"/>
                  </a:lnTo>
                  <a:lnTo>
                    <a:pt x="54087" y="6959"/>
                  </a:lnTo>
                  <a:lnTo>
                    <a:pt x="88557" y="0"/>
                  </a:lnTo>
                  <a:lnTo>
                    <a:pt x="7734681" y="0"/>
                  </a:lnTo>
                  <a:lnTo>
                    <a:pt x="7769139" y="6959"/>
                  </a:lnTo>
                  <a:lnTo>
                    <a:pt x="7797276" y="25939"/>
                  </a:lnTo>
                  <a:lnTo>
                    <a:pt x="7816244" y="54092"/>
                  </a:lnTo>
                  <a:lnTo>
                    <a:pt x="7823200" y="88569"/>
                  </a:lnTo>
                  <a:lnTo>
                    <a:pt x="7823200" y="442798"/>
                  </a:lnTo>
                  <a:lnTo>
                    <a:pt x="7816244" y="477275"/>
                  </a:lnTo>
                  <a:lnTo>
                    <a:pt x="7797276" y="505428"/>
                  </a:lnTo>
                  <a:lnTo>
                    <a:pt x="7769139" y="524408"/>
                  </a:lnTo>
                  <a:lnTo>
                    <a:pt x="7734681" y="531368"/>
                  </a:lnTo>
                  <a:lnTo>
                    <a:pt x="88557" y="531368"/>
                  </a:lnTo>
                  <a:lnTo>
                    <a:pt x="54087" y="524408"/>
                  </a:lnTo>
                  <a:lnTo>
                    <a:pt x="25938" y="505428"/>
                  </a:lnTo>
                  <a:lnTo>
                    <a:pt x="6959" y="477275"/>
                  </a:lnTo>
                  <a:lnTo>
                    <a:pt x="0" y="442798"/>
                  </a:lnTo>
                  <a:lnTo>
                    <a:pt x="0" y="8856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94384" y="1917953"/>
            <a:ext cx="7338059" cy="450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Polly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criminal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traffics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pornography.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contraband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video.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allows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upload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download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anonymously.</a:t>
            </a:r>
            <a:endParaRPr sz="1800">
              <a:latin typeface="Calibri"/>
              <a:cs typeface="Calibri"/>
            </a:endParaRPr>
          </a:p>
          <a:p>
            <a:pPr marL="12700" marR="45720">
              <a:lnSpc>
                <a:spcPct val="251900"/>
              </a:lnSpc>
              <a:spcBef>
                <a:spcPts val="99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pays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pre-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paid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purchased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cash.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Polly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encrypts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reverts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webserver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7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daily.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197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Law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enforcement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tipped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off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wishes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terminate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prosecute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criminal.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692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851661"/>
            <a:ext cx="875284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100"/>
              </a:spcBef>
              <a:buFont typeface="Calibri"/>
              <a:buChar char="-"/>
              <a:tabLst>
                <a:tab pos="172720" algn="l"/>
              </a:tabLst>
            </a:pPr>
            <a:r>
              <a:rPr sz="2400" b="1" dirty="0">
                <a:latin typeface="Calibri"/>
                <a:cs typeface="Calibri"/>
              </a:rPr>
              <a:t>IaaS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assumed</a:t>
            </a:r>
            <a:endParaRPr sz="2400">
              <a:latin typeface="Calibri"/>
              <a:cs typeface="Calibri"/>
            </a:endParaRPr>
          </a:p>
          <a:p>
            <a:pPr marL="12700" marR="5080" indent="229870">
              <a:lnSpc>
                <a:spcPct val="100000"/>
              </a:lnSpc>
              <a:spcBef>
                <a:spcPts val="2880"/>
              </a:spcBef>
              <a:buChar char="-"/>
              <a:tabLst>
                <a:tab pos="24257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provider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responsibility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physical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hardware,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storage,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servers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components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178435" indent="229870">
              <a:lnSpc>
                <a:spcPct val="100000"/>
              </a:lnSpc>
              <a:spcBef>
                <a:spcPts val="2880"/>
              </a:spcBef>
              <a:buChar char="-"/>
              <a:tabLst>
                <a:tab pos="24257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public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interest,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law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enforcement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contacts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cloud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provider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temporary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restraining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order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suspend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offending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preservation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letter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evidence </a:t>
            </a:r>
            <a:r>
              <a:rPr sz="2400" dirty="0">
                <a:latin typeface="Calibri"/>
                <a:cs typeface="Calibri"/>
              </a:rPr>
              <a:t>pending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warrant.</a:t>
            </a:r>
            <a:endParaRPr sz="2400">
              <a:latin typeface="Calibri"/>
              <a:cs typeface="Calibri"/>
            </a:endParaRPr>
          </a:p>
          <a:p>
            <a:pPr marL="12700" marR="488315" indent="227965" algn="just">
              <a:lnSpc>
                <a:spcPct val="100000"/>
              </a:lnSpc>
              <a:spcBef>
                <a:spcPts val="2885"/>
              </a:spcBef>
              <a:buClr>
                <a:srgbClr val="000000"/>
              </a:buClr>
              <a:buChar char="-"/>
              <a:tabLst>
                <a:tab pos="240665" algn="l"/>
              </a:tabLst>
            </a:pP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Tracking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down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difficult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task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onus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forensic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examiner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piece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together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circumstantial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0"/>
            <a:ext cx="3124200" cy="160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8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029200"/>
            <a:ext cx="9144000" cy="1828800"/>
            <a:chOff x="0" y="5029200"/>
            <a:chExt cx="9144000" cy="1828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62982"/>
              <a:ext cx="8153400" cy="179501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2192" y="5029200"/>
              <a:ext cx="1511807" cy="18288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9800" y="0"/>
            <a:ext cx="3124200" cy="16012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7340" y="699261"/>
            <a:ext cx="8186420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9870">
              <a:lnSpc>
                <a:spcPct val="100000"/>
              </a:lnSpc>
              <a:spcBef>
                <a:spcPts val="100"/>
              </a:spcBef>
              <a:buChar char="-"/>
              <a:tabLst>
                <a:tab pos="242570" algn="l"/>
                <a:tab pos="521843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examiner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way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image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virtual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remotely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expose</a:t>
            </a:r>
            <a:r>
              <a:rPr sz="2400" dirty="0">
                <a:latin typeface="Calibri"/>
                <a:cs typeface="Calibri"/>
              </a:rPr>
              <a:t>	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functionality</a:t>
            </a:r>
            <a:endParaRPr sz="24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880"/>
              </a:spcBef>
              <a:buChar char="-"/>
              <a:tabLst>
                <a:tab pos="242570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anyway.</a:t>
            </a:r>
            <a:endParaRPr sz="2400">
              <a:latin typeface="Calibri"/>
              <a:cs typeface="Calibri"/>
            </a:endParaRPr>
          </a:p>
          <a:p>
            <a:pPr marL="12700" marR="201295" indent="227965" algn="just">
              <a:lnSpc>
                <a:spcPct val="100000"/>
              </a:lnSpc>
              <a:spcBef>
                <a:spcPts val="2880"/>
              </a:spcBef>
              <a:buChar char="-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Deploying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forensic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agent,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Enterprise,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would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require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suspect's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credentials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remote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unknown.</a:t>
            </a:r>
            <a:endParaRPr sz="2400">
              <a:latin typeface="Calibri"/>
              <a:cs typeface="Calibri"/>
            </a:endParaRPr>
          </a:p>
          <a:p>
            <a:pPr marL="12700" marR="170180" algn="just">
              <a:lnSpc>
                <a:spcPct val="100000"/>
              </a:lnSpc>
              <a:spcBef>
                <a:spcPts val="2885"/>
              </a:spcBef>
            </a:pP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Simply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viewing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website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enough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confirm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content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illegal,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tells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nothing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there.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637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246379"/>
            <a:ext cx="8526780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case: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Credit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payment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subscriber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logs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NetFlow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logs,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machine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 marR="30924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Law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enforcement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issue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warrant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25" dirty="0">
                <a:latin typeface="Calibri"/>
                <a:cs typeface="Calibri"/>
              </a:rPr>
              <a:t> provider,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adequate</a:t>
            </a:r>
            <a:r>
              <a:rPr sz="1800" spc="-25" dirty="0">
                <a:latin typeface="Calibri"/>
                <a:cs typeface="Calibri"/>
              </a:rPr>
              <a:t> to </a:t>
            </a:r>
            <a:r>
              <a:rPr sz="1800" dirty="0">
                <a:latin typeface="Calibri"/>
                <a:cs typeface="Calibri"/>
              </a:rPr>
              <a:t>compel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possess.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warrant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specifies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returned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“exact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duplicate,”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bit!!!!!(But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How?)</a:t>
            </a:r>
            <a:endParaRPr sz="1800">
              <a:latin typeface="Calibri"/>
              <a:cs typeface="Calibri"/>
            </a:endParaRPr>
          </a:p>
          <a:p>
            <a:pPr marL="12700" marR="1079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technician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workstation,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copying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provider's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infrastructure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verifying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files.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Though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prosecution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technician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testify,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implicit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guarantees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trust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technician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complete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infrastructure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technician's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 </a:t>
            </a:r>
            <a:r>
              <a:rPr sz="1800" spc="-20" dirty="0">
                <a:latin typeface="Calibri"/>
                <a:cs typeface="Calibri"/>
              </a:rPr>
              <a:t>correctly.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Nonetheless,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provider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completes</a:t>
            </a:r>
            <a:r>
              <a:rPr sz="1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request,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delivers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law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enforcement.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8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215265"/>
            <a:ext cx="821880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Polly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had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two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terabytes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stored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 marR="505459">
              <a:lnSpc>
                <a:spcPct val="100000"/>
              </a:lnSpc>
              <a:spcBef>
                <a:spcPts val="2160"/>
              </a:spcBef>
            </a:pPr>
            <a:r>
              <a:rPr sz="1800" spc="-8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transfer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quantity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saves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external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delivers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enforcement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mail.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addition,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produce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2160"/>
              </a:spcBef>
              <a:buChar char="-"/>
              <a:tabLst>
                <a:tab pos="134620" algn="l"/>
              </a:tabLst>
            </a:pPr>
            <a:r>
              <a:rPr sz="1800" i="1" dirty="0">
                <a:latin typeface="Calibri"/>
                <a:cs typeface="Calibri"/>
              </a:rPr>
              <a:t>Account</a:t>
            </a:r>
            <a:r>
              <a:rPr sz="1800" i="1" spc="-10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buChar char="-"/>
              <a:tabLst>
                <a:tab pos="134620" algn="l"/>
              </a:tabLst>
            </a:pPr>
            <a:r>
              <a:rPr sz="1800" i="1" dirty="0">
                <a:latin typeface="Calibri"/>
                <a:cs typeface="Calibri"/>
              </a:rPr>
              <a:t>10MB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access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logs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buChar char="-"/>
              <a:tabLst>
                <a:tab pos="134620" algn="l"/>
              </a:tabLst>
            </a:pPr>
            <a:r>
              <a:rPr sz="1800" i="1" dirty="0">
                <a:latin typeface="Calibri"/>
                <a:cs typeface="Calibri"/>
              </a:rPr>
              <a:t>100MB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NetFlow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buChar char="-"/>
              <a:tabLst>
                <a:tab pos="134620" algn="l"/>
              </a:tabLst>
            </a:pPr>
            <a:r>
              <a:rPr sz="1800" i="1" dirty="0">
                <a:latin typeface="Calibri"/>
                <a:cs typeface="Calibri"/>
              </a:rPr>
              <a:t>20GB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virtual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machine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snapshot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480695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validating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examiner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charged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with </a:t>
            </a:r>
            <a:r>
              <a:rPr sz="1800" spc="-10" dirty="0">
                <a:latin typeface="Calibri"/>
                <a:cs typeface="Calibri"/>
              </a:rPr>
              <a:t>Analysis.</a:t>
            </a:r>
            <a:endParaRPr sz="1800">
              <a:latin typeface="Calibri"/>
              <a:cs typeface="Calibri"/>
            </a:endParaRPr>
          </a:p>
          <a:p>
            <a:pPr marL="12700" marR="89090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expect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expert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prosecution:</a:t>
            </a:r>
            <a:endParaRPr sz="1800">
              <a:latin typeface="Calibri"/>
              <a:cs typeface="Calibri"/>
            </a:endParaRPr>
          </a:p>
          <a:p>
            <a:pPr marL="12700" marR="5080" indent="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spc="-10" dirty="0">
                <a:latin typeface="Calibri"/>
                <a:cs typeface="Calibri"/>
              </a:rPr>
              <a:t>Understand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service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especially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encrypts/decrypts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from </a:t>
            </a:r>
            <a:r>
              <a:rPr sz="1800" spc="-10" dirty="0"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keys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decrypt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decrypt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Confirm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child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pornography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63485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2765" y="0"/>
            <a:ext cx="1840229" cy="18230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3540" y="1645411"/>
            <a:ext cx="8420100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analyze.</a:t>
            </a:r>
            <a:endParaRPr sz="1800">
              <a:latin typeface="Calibri"/>
              <a:cs typeface="Calibri"/>
            </a:endParaRPr>
          </a:p>
          <a:p>
            <a:pPr marL="12700" marR="331470" algn="just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AccessData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found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that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their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Forensic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Toolkit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(FTK)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product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took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5.5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hours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b="1" dirty="0">
                <a:latin typeface="Calibri"/>
                <a:cs typeface="Calibri"/>
              </a:rPr>
              <a:t>120GB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hard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drive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fully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top-of-the-</a:t>
            </a:r>
            <a:r>
              <a:rPr sz="1800" dirty="0">
                <a:latin typeface="Calibri"/>
                <a:cs typeface="Calibri"/>
              </a:rPr>
              <a:t>line</a:t>
            </a:r>
            <a:r>
              <a:rPr sz="1800" spc="-10" dirty="0">
                <a:latin typeface="Calibri"/>
                <a:cs typeface="Calibri"/>
              </a:rPr>
              <a:t> workstationand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38.25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hours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a </a:t>
            </a:r>
            <a:r>
              <a:rPr sz="1800" b="1" spc="-10" dirty="0">
                <a:latin typeface="Calibri"/>
                <a:cs typeface="Calibri"/>
              </a:rPr>
              <a:t>low-</a:t>
            </a:r>
            <a:r>
              <a:rPr sz="1800" b="1" dirty="0">
                <a:latin typeface="Calibri"/>
                <a:cs typeface="Calibri"/>
              </a:rPr>
              <a:t>end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workstation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2TB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could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take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85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hours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processing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time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17526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returned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individual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“blobs”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binary </a:t>
            </a:r>
            <a:r>
              <a:rPr sz="1800" dirty="0">
                <a:latin typeface="Calibri"/>
                <a:cs typeface="Calibri"/>
              </a:rPr>
              <a:t>data.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either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become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quickly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encrypted. </a:t>
            </a:r>
            <a:r>
              <a:rPr sz="1800" b="1" i="1" spc="-20" dirty="0">
                <a:latin typeface="Calibri"/>
                <a:cs typeface="Calibri"/>
              </a:rPr>
              <a:t>Tools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like </a:t>
            </a:r>
            <a:r>
              <a:rPr sz="1800" b="1" i="1" dirty="0">
                <a:latin typeface="Calibri"/>
                <a:cs typeface="Calibri"/>
              </a:rPr>
              <a:t>EnCase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and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Forensic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Toolkit</a:t>
            </a:r>
            <a:r>
              <a:rPr sz="1800" b="1" i="1" spc="-6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can</a:t>
            </a:r>
            <a:r>
              <a:rPr sz="1800" b="1" i="1" spc="-6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analyze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VMware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data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files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but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not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snapshots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which </a:t>
            </a:r>
            <a:r>
              <a:rPr sz="1800" b="1" i="1" dirty="0">
                <a:latin typeface="Calibri"/>
                <a:cs typeface="Calibri"/>
              </a:rPr>
              <a:t>include</a:t>
            </a:r>
            <a:r>
              <a:rPr sz="1800" b="1" i="1" spc="-7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suspended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memory.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already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aware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illegal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aware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owner.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Timestamps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useful,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accurate.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Evidence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owner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gleaned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NetFlow,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timestamp,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potentially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style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website.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safely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found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Polly. </a:t>
            </a:r>
            <a:r>
              <a:rPr sz="1800" b="1" dirty="0">
                <a:latin typeface="Calibri"/>
                <a:cs typeface="Calibri"/>
              </a:rPr>
              <a:t>All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the </a:t>
            </a:r>
            <a:r>
              <a:rPr sz="1800" b="1" spc="-10" dirty="0">
                <a:latin typeface="Calibri"/>
                <a:cs typeface="Calibri"/>
              </a:rPr>
              <a:t>forensic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analysis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documented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presented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counsel.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0"/>
            <a:ext cx="948309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397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680413"/>
            <a:ext cx="88296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Microsoft</a:t>
            </a:r>
            <a:r>
              <a:rPr sz="3600" b="0" u="none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3600" b="0" u="none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Amazon</a:t>
            </a:r>
            <a:r>
              <a:rPr sz="3600" b="0" u="none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declined</a:t>
            </a:r>
            <a:r>
              <a:rPr sz="3600" b="0" u="none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3600" b="0" u="none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spc="-10" dirty="0">
                <a:solidFill>
                  <a:srgbClr val="000000"/>
                </a:solidFill>
                <a:latin typeface="Calibri"/>
                <a:cs typeface="Calibri"/>
              </a:rPr>
              <a:t>comment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about</a:t>
            </a:r>
            <a:r>
              <a:rPr sz="3600"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their</a:t>
            </a:r>
            <a:r>
              <a:rPr sz="36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compliance</a:t>
            </a:r>
            <a:r>
              <a:rPr sz="3600" b="0" u="none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abilities</a:t>
            </a:r>
            <a:r>
              <a:rPr sz="36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3600" b="0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sz="36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u="none" spc="-10" dirty="0">
                <a:solidFill>
                  <a:srgbClr val="000000"/>
                </a:solidFill>
                <a:latin typeface="Calibri"/>
                <a:cs typeface="Calibri"/>
              </a:rPr>
              <a:t>situation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3352800"/>
            <a:ext cx="4476750" cy="3019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05" y="128847"/>
            <a:ext cx="6038302" cy="14464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600" y="3684313"/>
            <a:ext cx="4104513" cy="137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72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0"/>
            <a:ext cx="1981200" cy="20486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1140" y="1816353"/>
            <a:ext cx="827532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bit-</a:t>
            </a:r>
            <a:r>
              <a:rPr sz="1800" spc="-20" dirty="0">
                <a:latin typeface="Calibri"/>
                <a:cs typeface="Calibri"/>
              </a:rPr>
              <a:t>for-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copies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hard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complete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authentic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copy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data?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authenticity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trusted?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technician,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his/her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workstation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verifiably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trusted?</a:t>
            </a:r>
            <a:endParaRPr sz="1800">
              <a:latin typeface="Calibri"/>
              <a:cs typeface="Calibri"/>
            </a:endParaRPr>
          </a:p>
          <a:p>
            <a:pPr marL="12700" marR="107314" indent="176530">
              <a:lnSpc>
                <a:spcPct val="100000"/>
              </a:lnSpc>
              <a:spcBef>
                <a:spcPts val="2165"/>
              </a:spcBef>
              <a:buChar char="-"/>
              <a:tabLst>
                <a:tab pos="189230" algn="l"/>
              </a:tabLst>
            </a:pPr>
            <a:r>
              <a:rPr sz="1800" spc="-10" dirty="0">
                <a:latin typeface="Calibri"/>
                <a:cs typeface="Calibri"/>
              </a:rPr>
              <a:t>Were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many?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drives containing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physically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located?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-Who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enforced?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Were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co-</a:t>
            </a:r>
            <a:r>
              <a:rPr sz="1800" dirty="0">
                <a:latin typeface="Calibri"/>
                <a:cs typeface="Calibri"/>
              </a:rPr>
              <a:t>mingled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users'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data?</a:t>
            </a:r>
            <a:endParaRPr sz="1800">
              <a:latin typeface="Calibri"/>
              <a:cs typeface="Calibri"/>
            </a:endParaRPr>
          </a:p>
          <a:p>
            <a:pPr marL="12700" marR="268605" indent="121920">
              <a:lnSpc>
                <a:spcPct val="100000"/>
              </a:lnSpc>
              <a:spcBef>
                <a:spcPts val="2160"/>
              </a:spcBef>
              <a:buChar char="-"/>
              <a:tabLst>
                <a:tab pos="13462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timestamps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internally consistent?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stamps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trusted,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confidence?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70458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819" y="223781"/>
            <a:ext cx="5934456" cy="6941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500" y="3629025"/>
            <a:ext cx="4762500" cy="32289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295400"/>
            <a:ext cx="4114800" cy="5410200"/>
            <a:chOff x="0" y="1295400"/>
            <a:chExt cx="4114800" cy="54102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295400"/>
              <a:ext cx="2705100" cy="3124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19600"/>
              <a:ext cx="4114799" cy="22860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5666" y="990600"/>
            <a:ext cx="291833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91440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2585" y="4805629"/>
            <a:ext cx="252539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/>
                <a:cs typeface="Calibri"/>
              </a:rPr>
              <a:t>Challenges</a:t>
            </a:r>
            <a:r>
              <a:rPr sz="3600" b="1" spc="-110" dirty="0">
                <a:latin typeface="Calibri"/>
                <a:cs typeface="Calibri"/>
              </a:rPr>
              <a:t> </a:t>
            </a:r>
            <a:r>
              <a:rPr sz="3600" b="1" spc="-25" dirty="0">
                <a:latin typeface="Calibri"/>
                <a:cs typeface="Calibri"/>
              </a:rPr>
              <a:t>in </a:t>
            </a:r>
            <a:r>
              <a:rPr sz="3600" b="1" spc="-10" dirty="0">
                <a:latin typeface="Calibri"/>
                <a:cs typeface="Calibri"/>
              </a:rPr>
              <a:t>Cloud Forensics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04800"/>
            <a:ext cx="2484120" cy="2286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2400" y="0"/>
            <a:ext cx="8991600" cy="6858000"/>
            <a:chOff x="152400" y="0"/>
            <a:chExt cx="8991600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5800" y="0"/>
              <a:ext cx="4648200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400" y="3264130"/>
              <a:ext cx="1371600" cy="33857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7800" y="3505149"/>
              <a:ext cx="3018154" cy="11574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500" y="1086611"/>
            <a:ext cx="5588000" cy="984885"/>
            <a:chOff x="63500" y="1086611"/>
            <a:chExt cx="5588000" cy="984885"/>
          </a:xfrm>
        </p:grpSpPr>
        <p:sp>
          <p:nvSpPr>
            <p:cNvPr id="3" name="object 3"/>
            <p:cNvSpPr/>
            <p:nvPr/>
          </p:nvSpPr>
          <p:spPr>
            <a:xfrm>
              <a:off x="76200" y="1453616"/>
              <a:ext cx="5562600" cy="605155"/>
            </a:xfrm>
            <a:custGeom>
              <a:avLst/>
              <a:gdLst/>
              <a:ahLst/>
              <a:cxnLst/>
              <a:rect l="l" t="t" r="r" b="b"/>
              <a:pathLst>
                <a:path w="5562600" h="605155">
                  <a:moveTo>
                    <a:pt x="0" y="604799"/>
                  </a:moveTo>
                  <a:lnTo>
                    <a:pt x="5562600" y="604799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604799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8229" y="1099311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5166664" y="0"/>
                  </a:moveTo>
                  <a:lnTo>
                    <a:pt x="118084" y="0"/>
                  </a:lnTo>
                  <a:lnTo>
                    <a:pt x="72121" y="9274"/>
                  </a:lnTo>
                  <a:lnTo>
                    <a:pt x="34586" y="34575"/>
                  </a:lnTo>
                  <a:lnTo>
                    <a:pt x="9279" y="72116"/>
                  </a:lnTo>
                  <a:lnTo>
                    <a:pt x="0" y="118110"/>
                  </a:lnTo>
                  <a:lnTo>
                    <a:pt x="0" y="590423"/>
                  </a:lnTo>
                  <a:lnTo>
                    <a:pt x="9279" y="636363"/>
                  </a:lnTo>
                  <a:lnTo>
                    <a:pt x="34586" y="673909"/>
                  </a:lnTo>
                  <a:lnTo>
                    <a:pt x="72121" y="699240"/>
                  </a:lnTo>
                  <a:lnTo>
                    <a:pt x="118084" y="708533"/>
                  </a:lnTo>
                  <a:lnTo>
                    <a:pt x="5166664" y="708533"/>
                  </a:lnTo>
                  <a:lnTo>
                    <a:pt x="5212605" y="699240"/>
                  </a:lnTo>
                  <a:lnTo>
                    <a:pt x="5250151" y="673909"/>
                  </a:lnTo>
                  <a:lnTo>
                    <a:pt x="5275481" y="636363"/>
                  </a:lnTo>
                  <a:lnTo>
                    <a:pt x="5284774" y="590423"/>
                  </a:lnTo>
                  <a:lnTo>
                    <a:pt x="5284774" y="118110"/>
                  </a:lnTo>
                  <a:lnTo>
                    <a:pt x="5275481" y="72116"/>
                  </a:lnTo>
                  <a:lnTo>
                    <a:pt x="5250151" y="34575"/>
                  </a:lnTo>
                  <a:lnTo>
                    <a:pt x="5212605" y="9274"/>
                  </a:lnTo>
                  <a:lnTo>
                    <a:pt x="5166664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229" y="1099311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0" y="118110"/>
                  </a:moveTo>
                  <a:lnTo>
                    <a:pt x="9279" y="72116"/>
                  </a:lnTo>
                  <a:lnTo>
                    <a:pt x="34586" y="34575"/>
                  </a:lnTo>
                  <a:lnTo>
                    <a:pt x="72121" y="9274"/>
                  </a:lnTo>
                  <a:lnTo>
                    <a:pt x="118084" y="0"/>
                  </a:lnTo>
                  <a:lnTo>
                    <a:pt x="5166664" y="0"/>
                  </a:lnTo>
                  <a:lnTo>
                    <a:pt x="5212605" y="9274"/>
                  </a:lnTo>
                  <a:lnTo>
                    <a:pt x="5250151" y="34575"/>
                  </a:lnTo>
                  <a:lnTo>
                    <a:pt x="5275481" y="72116"/>
                  </a:lnTo>
                  <a:lnTo>
                    <a:pt x="5284774" y="118110"/>
                  </a:lnTo>
                  <a:lnTo>
                    <a:pt x="5284774" y="590423"/>
                  </a:lnTo>
                  <a:lnTo>
                    <a:pt x="5275481" y="636363"/>
                  </a:lnTo>
                  <a:lnTo>
                    <a:pt x="5250151" y="673909"/>
                  </a:lnTo>
                  <a:lnTo>
                    <a:pt x="5212605" y="699240"/>
                  </a:lnTo>
                  <a:lnTo>
                    <a:pt x="5166664" y="708533"/>
                  </a:lnTo>
                  <a:lnTo>
                    <a:pt x="118084" y="708533"/>
                  </a:lnTo>
                  <a:lnTo>
                    <a:pt x="72121" y="699240"/>
                  </a:lnTo>
                  <a:lnTo>
                    <a:pt x="34586" y="673909"/>
                  </a:lnTo>
                  <a:lnTo>
                    <a:pt x="9279" y="636363"/>
                  </a:lnTo>
                  <a:lnTo>
                    <a:pt x="0" y="590423"/>
                  </a:lnTo>
                  <a:lnTo>
                    <a:pt x="0" y="11811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7443" y="1277492"/>
            <a:ext cx="309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u="none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800" b="0" u="none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0" u="none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800" b="0" u="none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0" u="none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b="0" u="none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0" u="none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b="0" u="none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0" u="none" dirty="0">
                <a:solidFill>
                  <a:srgbClr val="FFFFFF"/>
                </a:solidFill>
                <a:latin typeface="Calibri"/>
                <a:cs typeface="Calibri"/>
              </a:rPr>
              <a:t>longer</a:t>
            </a:r>
            <a:r>
              <a:rPr sz="1800" b="0" u="none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0" u="none" spc="-10" dirty="0">
                <a:solidFill>
                  <a:srgbClr val="FFFFFF"/>
                </a:solidFill>
                <a:latin typeface="Calibri"/>
                <a:cs typeface="Calibri"/>
              </a:rPr>
              <a:t>local.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500" y="2175255"/>
            <a:ext cx="5588000" cy="984885"/>
            <a:chOff x="63500" y="2175255"/>
            <a:chExt cx="5588000" cy="984885"/>
          </a:xfrm>
        </p:grpSpPr>
        <p:sp>
          <p:nvSpPr>
            <p:cNvPr id="8" name="object 8"/>
            <p:cNvSpPr/>
            <p:nvPr/>
          </p:nvSpPr>
          <p:spPr>
            <a:xfrm>
              <a:off x="76200" y="2542260"/>
              <a:ext cx="5562600" cy="605155"/>
            </a:xfrm>
            <a:custGeom>
              <a:avLst/>
              <a:gdLst/>
              <a:ahLst/>
              <a:cxnLst/>
              <a:rect l="l" t="t" r="r" b="b"/>
              <a:pathLst>
                <a:path w="5562600" h="605155">
                  <a:moveTo>
                    <a:pt x="0" y="604799"/>
                  </a:moveTo>
                  <a:lnTo>
                    <a:pt x="5562600" y="604799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604799"/>
                  </a:lnTo>
                  <a:close/>
                </a:path>
              </a:pathLst>
            </a:custGeom>
            <a:ln w="25400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8229" y="2187955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5166664" y="0"/>
                  </a:moveTo>
                  <a:lnTo>
                    <a:pt x="118084" y="0"/>
                  </a:lnTo>
                  <a:lnTo>
                    <a:pt x="72121" y="9274"/>
                  </a:lnTo>
                  <a:lnTo>
                    <a:pt x="34586" y="34575"/>
                  </a:lnTo>
                  <a:lnTo>
                    <a:pt x="9279" y="72116"/>
                  </a:lnTo>
                  <a:lnTo>
                    <a:pt x="0" y="118110"/>
                  </a:lnTo>
                  <a:lnTo>
                    <a:pt x="0" y="590423"/>
                  </a:lnTo>
                  <a:lnTo>
                    <a:pt x="9279" y="636363"/>
                  </a:lnTo>
                  <a:lnTo>
                    <a:pt x="34586" y="673909"/>
                  </a:lnTo>
                  <a:lnTo>
                    <a:pt x="72121" y="699240"/>
                  </a:lnTo>
                  <a:lnTo>
                    <a:pt x="118084" y="708533"/>
                  </a:lnTo>
                  <a:lnTo>
                    <a:pt x="5166664" y="708533"/>
                  </a:lnTo>
                  <a:lnTo>
                    <a:pt x="5212605" y="699240"/>
                  </a:lnTo>
                  <a:lnTo>
                    <a:pt x="5250151" y="673909"/>
                  </a:lnTo>
                  <a:lnTo>
                    <a:pt x="5275481" y="636363"/>
                  </a:lnTo>
                  <a:lnTo>
                    <a:pt x="5284774" y="590423"/>
                  </a:lnTo>
                  <a:lnTo>
                    <a:pt x="5284774" y="118110"/>
                  </a:lnTo>
                  <a:lnTo>
                    <a:pt x="5275481" y="72116"/>
                  </a:lnTo>
                  <a:lnTo>
                    <a:pt x="5250151" y="34575"/>
                  </a:lnTo>
                  <a:lnTo>
                    <a:pt x="5212605" y="9274"/>
                  </a:lnTo>
                  <a:lnTo>
                    <a:pt x="5166664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8229" y="2187955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0" y="118110"/>
                  </a:moveTo>
                  <a:lnTo>
                    <a:pt x="9279" y="72116"/>
                  </a:lnTo>
                  <a:lnTo>
                    <a:pt x="34586" y="34575"/>
                  </a:lnTo>
                  <a:lnTo>
                    <a:pt x="72121" y="9274"/>
                  </a:lnTo>
                  <a:lnTo>
                    <a:pt x="118084" y="0"/>
                  </a:lnTo>
                  <a:lnTo>
                    <a:pt x="5166664" y="0"/>
                  </a:lnTo>
                  <a:lnTo>
                    <a:pt x="5212605" y="9274"/>
                  </a:lnTo>
                  <a:lnTo>
                    <a:pt x="5250151" y="34575"/>
                  </a:lnTo>
                  <a:lnTo>
                    <a:pt x="5275481" y="72116"/>
                  </a:lnTo>
                  <a:lnTo>
                    <a:pt x="5284774" y="118110"/>
                  </a:lnTo>
                  <a:lnTo>
                    <a:pt x="5284774" y="590423"/>
                  </a:lnTo>
                  <a:lnTo>
                    <a:pt x="5275481" y="636363"/>
                  </a:lnTo>
                  <a:lnTo>
                    <a:pt x="5250151" y="673909"/>
                  </a:lnTo>
                  <a:lnTo>
                    <a:pt x="5212605" y="699240"/>
                  </a:lnTo>
                  <a:lnTo>
                    <a:pt x="5166664" y="708533"/>
                  </a:lnTo>
                  <a:lnTo>
                    <a:pt x="118084" y="708533"/>
                  </a:lnTo>
                  <a:lnTo>
                    <a:pt x="72121" y="699240"/>
                  </a:lnTo>
                  <a:lnTo>
                    <a:pt x="34586" y="673909"/>
                  </a:lnTo>
                  <a:lnTo>
                    <a:pt x="9279" y="636363"/>
                  </a:lnTo>
                  <a:lnTo>
                    <a:pt x="0" y="590423"/>
                  </a:lnTo>
                  <a:lnTo>
                    <a:pt x="0" y="11811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500" y="3263900"/>
            <a:ext cx="5588000" cy="1117600"/>
            <a:chOff x="63500" y="3263900"/>
            <a:chExt cx="5588000" cy="1117600"/>
          </a:xfrm>
        </p:grpSpPr>
        <p:sp>
          <p:nvSpPr>
            <p:cNvPr id="12" name="object 12"/>
            <p:cNvSpPr/>
            <p:nvPr/>
          </p:nvSpPr>
          <p:spPr>
            <a:xfrm>
              <a:off x="76200" y="3764000"/>
              <a:ext cx="5562600" cy="605155"/>
            </a:xfrm>
            <a:custGeom>
              <a:avLst/>
              <a:gdLst/>
              <a:ahLst/>
              <a:cxnLst/>
              <a:rect l="l" t="t" r="r" b="b"/>
              <a:pathLst>
                <a:path w="5562600" h="605154">
                  <a:moveTo>
                    <a:pt x="0" y="604799"/>
                  </a:moveTo>
                  <a:lnTo>
                    <a:pt x="5562600" y="604799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604799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8229" y="3276600"/>
              <a:ext cx="5285105" cy="842010"/>
            </a:xfrm>
            <a:custGeom>
              <a:avLst/>
              <a:gdLst/>
              <a:ahLst/>
              <a:cxnLst/>
              <a:rect l="l" t="t" r="r" b="b"/>
              <a:pathLst>
                <a:path w="5285105" h="842010">
                  <a:moveTo>
                    <a:pt x="5144439" y="0"/>
                  </a:moveTo>
                  <a:lnTo>
                    <a:pt x="140271" y="0"/>
                  </a:lnTo>
                  <a:lnTo>
                    <a:pt x="95934" y="7157"/>
                  </a:lnTo>
                  <a:lnTo>
                    <a:pt x="57428" y="27086"/>
                  </a:lnTo>
                  <a:lnTo>
                    <a:pt x="27064" y="57470"/>
                  </a:lnTo>
                  <a:lnTo>
                    <a:pt x="7151" y="95991"/>
                  </a:lnTo>
                  <a:lnTo>
                    <a:pt x="0" y="140335"/>
                  </a:lnTo>
                  <a:lnTo>
                    <a:pt x="0" y="701420"/>
                  </a:lnTo>
                  <a:lnTo>
                    <a:pt x="7151" y="745751"/>
                  </a:lnTo>
                  <a:lnTo>
                    <a:pt x="27064" y="784241"/>
                  </a:lnTo>
                  <a:lnTo>
                    <a:pt x="57428" y="814587"/>
                  </a:lnTo>
                  <a:lnTo>
                    <a:pt x="95934" y="834484"/>
                  </a:lnTo>
                  <a:lnTo>
                    <a:pt x="140271" y="841629"/>
                  </a:lnTo>
                  <a:lnTo>
                    <a:pt x="5144439" y="841629"/>
                  </a:lnTo>
                  <a:lnTo>
                    <a:pt x="5188783" y="834484"/>
                  </a:lnTo>
                  <a:lnTo>
                    <a:pt x="5227304" y="814587"/>
                  </a:lnTo>
                  <a:lnTo>
                    <a:pt x="5257688" y="784241"/>
                  </a:lnTo>
                  <a:lnTo>
                    <a:pt x="5277617" y="745751"/>
                  </a:lnTo>
                  <a:lnTo>
                    <a:pt x="5284774" y="701420"/>
                  </a:lnTo>
                  <a:lnTo>
                    <a:pt x="5284774" y="140335"/>
                  </a:lnTo>
                  <a:lnTo>
                    <a:pt x="5277617" y="95991"/>
                  </a:lnTo>
                  <a:lnTo>
                    <a:pt x="5257688" y="57470"/>
                  </a:lnTo>
                  <a:lnTo>
                    <a:pt x="5227304" y="27086"/>
                  </a:lnTo>
                  <a:lnTo>
                    <a:pt x="5188783" y="7157"/>
                  </a:lnTo>
                  <a:lnTo>
                    <a:pt x="5144439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8229" y="3276600"/>
              <a:ext cx="5285105" cy="842010"/>
            </a:xfrm>
            <a:custGeom>
              <a:avLst/>
              <a:gdLst/>
              <a:ahLst/>
              <a:cxnLst/>
              <a:rect l="l" t="t" r="r" b="b"/>
              <a:pathLst>
                <a:path w="5285105" h="842010">
                  <a:moveTo>
                    <a:pt x="0" y="140335"/>
                  </a:moveTo>
                  <a:lnTo>
                    <a:pt x="7151" y="95991"/>
                  </a:lnTo>
                  <a:lnTo>
                    <a:pt x="27064" y="57470"/>
                  </a:lnTo>
                  <a:lnTo>
                    <a:pt x="57428" y="27086"/>
                  </a:lnTo>
                  <a:lnTo>
                    <a:pt x="95934" y="7157"/>
                  </a:lnTo>
                  <a:lnTo>
                    <a:pt x="140271" y="0"/>
                  </a:lnTo>
                  <a:lnTo>
                    <a:pt x="5144439" y="0"/>
                  </a:lnTo>
                  <a:lnTo>
                    <a:pt x="5188783" y="7157"/>
                  </a:lnTo>
                  <a:lnTo>
                    <a:pt x="5227304" y="27086"/>
                  </a:lnTo>
                  <a:lnTo>
                    <a:pt x="5257688" y="57470"/>
                  </a:lnTo>
                  <a:lnTo>
                    <a:pt x="5277617" y="95991"/>
                  </a:lnTo>
                  <a:lnTo>
                    <a:pt x="5284774" y="140335"/>
                  </a:lnTo>
                  <a:lnTo>
                    <a:pt x="5284774" y="701420"/>
                  </a:lnTo>
                  <a:lnTo>
                    <a:pt x="5277617" y="745751"/>
                  </a:lnTo>
                  <a:lnTo>
                    <a:pt x="5257688" y="784241"/>
                  </a:lnTo>
                  <a:lnTo>
                    <a:pt x="5227304" y="814587"/>
                  </a:lnTo>
                  <a:lnTo>
                    <a:pt x="5188783" y="834484"/>
                  </a:lnTo>
                  <a:lnTo>
                    <a:pt x="5144439" y="841629"/>
                  </a:lnTo>
                  <a:lnTo>
                    <a:pt x="140271" y="841629"/>
                  </a:lnTo>
                  <a:lnTo>
                    <a:pt x="95934" y="834484"/>
                  </a:lnTo>
                  <a:lnTo>
                    <a:pt x="57428" y="814587"/>
                  </a:lnTo>
                  <a:lnTo>
                    <a:pt x="27064" y="784241"/>
                  </a:lnTo>
                  <a:lnTo>
                    <a:pt x="7151" y="745751"/>
                  </a:lnTo>
                  <a:lnTo>
                    <a:pt x="0" y="701420"/>
                  </a:lnTo>
                  <a:lnTo>
                    <a:pt x="0" y="140335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3500" y="4485640"/>
            <a:ext cx="5588000" cy="984885"/>
            <a:chOff x="63500" y="4485640"/>
            <a:chExt cx="5588000" cy="984885"/>
          </a:xfrm>
        </p:grpSpPr>
        <p:sp>
          <p:nvSpPr>
            <p:cNvPr id="16" name="object 16"/>
            <p:cNvSpPr/>
            <p:nvPr/>
          </p:nvSpPr>
          <p:spPr>
            <a:xfrm>
              <a:off x="76200" y="4852644"/>
              <a:ext cx="5562600" cy="605155"/>
            </a:xfrm>
            <a:custGeom>
              <a:avLst/>
              <a:gdLst/>
              <a:ahLst/>
              <a:cxnLst/>
              <a:rect l="l" t="t" r="r" b="b"/>
              <a:pathLst>
                <a:path w="5562600" h="605154">
                  <a:moveTo>
                    <a:pt x="0" y="604799"/>
                  </a:moveTo>
                  <a:lnTo>
                    <a:pt x="5562600" y="604799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604799"/>
                  </a:lnTo>
                  <a:close/>
                </a:path>
              </a:pathLst>
            </a:custGeom>
            <a:ln w="25400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8229" y="4498340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5166664" y="0"/>
                  </a:moveTo>
                  <a:lnTo>
                    <a:pt x="118084" y="0"/>
                  </a:lnTo>
                  <a:lnTo>
                    <a:pt x="72121" y="9292"/>
                  </a:lnTo>
                  <a:lnTo>
                    <a:pt x="34586" y="34623"/>
                  </a:lnTo>
                  <a:lnTo>
                    <a:pt x="9279" y="72169"/>
                  </a:lnTo>
                  <a:lnTo>
                    <a:pt x="0" y="118110"/>
                  </a:lnTo>
                  <a:lnTo>
                    <a:pt x="0" y="590423"/>
                  </a:lnTo>
                  <a:lnTo>
                    <a:pt x="9279" y="636416"/>
                  </a:lnTo>
                  <a:lnTo>
                    <a:pt x="34586" y="673957"/>
                  </a:lnTo>
                  <a:lnTo>
                    <a:pt x="72121" y="699258"/>
                  </a:lnTo>
                  <a:lnTo>
                    <a:pt x="118084" y="708533"/>
                  </a:lnTo>
                  <a:lnTo>
                    <a:pt x="5166664" y="708533"/>
                  </a:lnTo>
                  <a:lnTo>
                    <a:pt x="5212605" y="699258"/>
                  </a:lnTo>
                  <a:lnTo>
                    <a:pt x="5250151" y="673957"/>
                  </a:lnTo>
                  <a:lnTo>
                    <a:pt x="5275481" y="636416"/>
                  </a:lnTo>
                  <a:lnTo>
                    <a:pt x="5284774" y="590423"/>
                  </a:lnTo>
                  <a:lnTo>
                    <a:pt x="5284774" y="118110"/>
                  </a:lnTo>
                  <a:lnTo>
                    <a:pt x="5275481" y="72169"/>
                  </a:lnTo>
                  <a:lnTo>
                    <a:pt x="5250151" y="34623"/>
                  </a:lnTo>
                  <a:lnTo>
                    <a:pt x="5212605" y="9292"/>
                  </a:lnTo>
                  <a:lnTo>
                    <a:pt x="5166664" y="0"/>
                  </a:lnTo>
                  <a:close/>
                </a:path>
              </a:pathLst>
            </a:custGeom>
            <a:solidFill>
              <a:srgbClr val="0F24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8229" y="4498340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0" y="118110"/>
                  </a:moveTo>
                  <a:lnTo>
                    <a:pt x="9279" y="72169"/>
                  </a:lnTo>
                  <a:lnTo>
                    <a:pt x="34586" y="34623"/>
                  </a:lnTo>
                  <a:lnTo>
                    <a:pt x="72121" y="9292"/>
                  </a:lnTo>
                  <a:lnTo>
                    <a:pt x="118084" y="0"/>
                  </a:lnTo>
                  <a:lnTo>
                    <a:pt x="5166664" y="0"/>
                  </a:lnTo>
                  <a:lnTo>
                    <a:pt x="5212605" y="9292"/>
                  </a:lnTo>
                  <a:lnTo>
                    <a:pt x="5250151" y="34623"/>
                  </a:lnTo>
                  <a:lnTo>
                    <a:pt x="5275481" y="72169"/>
                  </a:lnTo>
                  <a:lnTo>
                    <a:pt x="5284774" y="118110"/>
                  </a:lnTo>
                  <a:lnTo>
                    <a:pt x="5284774" y="590423"/>
                  </a:lnTo>
                  <a:lnTo>
                    <a:pt x="5275481" y="636416"/>
                  </a:lnTo>
                  <a:lnTo>
                    <a:pt x="5250151" y="673957"/>
                  </a:lnTo>
                  <a:lnTo>
                    <a:pt x="5212605" y="699258"/>
                  </a:lnTo>
                  <a:lnTo>
                    <a:pt x="5166664" y="708533"/>
                  </a:lnTo>
                  <a:lnTo>
                    <a:pt x="118084" y="708533"/>
                  </a:lnTo>
                  <a:lnTo>
                    <a:pt x="72121" y="699258"/>
                  </a:lnTo>
                  <a:lnTo>
                    <a:pt x="34586" y="673957"/>
                  </a:lnTo>
                  <a:lnTo>
                    <a:pt x="9279" y="636416"/>
                  </a:lnTo>
                  <a:lnTo>
                    <a:pt x="0" y="590423"/>
                  </a:lnTo>
                  <a:lnTo>
                    <a:pt x="0" y="11811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3500" y="5574284"/>
            <a:ext cx="5588000" cy="984885"/>
            <a:chOff x="63500" y="5574284"/>
            <a:chExt cx="5588000" cy="984885"/>
          </a:xfrm>
        </p:grpSpPr>
        <p:sp>
          <p:nvSpPr>
            <p:cNvPr id="20" name="object 20"/>
            <p:cNvSpPr/>
            <p:nvPr/>
          </p:nvSpPr>
          <p:spPr>
            <a:xfrm>
              <a:off x="76200" y="5941276"/>
              <a:ext cx="5562600" cy="605155"/>
            </a:xfrm>
            <a:custGeom>
              <a:avLst/>
              <a:gdLst/>
              <a:ahLst/>
              <a:cxnLst/>
              <a:rect l="l" t="t" r="r" b="b"/>
              <a:pathLst>
                <a:path w="5562600" h="605154">
                  <a:moveTo>
                    <a:pt x="0" y="604799"/>
                  </a:moveTo>
                  <a:lnTo>
                    <a:pt x="5562600" y="604799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604799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8229" y="5586984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5166664" y="0"/>
                  </a:moveTo>
                  <a:lnTo>
                    <a:pt x="118084" y="0"/>
                  </a:lnTo>
                  <a:lnTo>
                    <a:pt x="72121" y="9287"/>
                  </a:lnTo>
                  <a:lnTo>
                    <a:pt x="34586" y="34612"/>
                  </a:lnTo>
                  <a:lnTo>
                    <a:pt x="9279" y="72164"/>
                  </a:lnTo>
                  <a:lnTo>
                    <a:pt x="0" y="118135"/>
                  </a:lnTo>
                  <a:lnTo>
                    <a:pt x="0" y="590448"/>
                  </a:lnTo>
                  <a:lnTo>
                    <a:pt x="9279" y="636411"/>
                  </a:lnTo>
                  <a:lnTo>
                    <a:pt x="34586" y="673946"/>
                  </a:lnTo>
                  <a:lnTo>
                    <a:pt x="72121" y="699253"/>
                  </a:lnTo>
                  <a:lnTo>
                    <a:pt x="118084" y="708532"/>
                  </a:lnTo>
                  <a:lnTo>
                    <a:pt x="5166664" y="708532"/>
                  </a:lnTo>
                  <a:lnTo>
                    <a:pt x="5212605" y="699253"/>
                  </a:lnTo>
                  <a:lnTo>
                    <a:pt x="5250151" y="673946"/>
                  </a:lnTo>
                  <a:lnTo>
                    <a:pt x="5275481" y="636411"/>
                  </a:lnTo>
                  <a:lnTo>
                    <a:pt x="5284774" y="590448"/>
                  </a:lnTo>
                  <a:lnTo>
                    <a:pt x="5284774" y="118135"/>
                  </a:lnTo>
                  <a:lnTo>
                    <a:pt x="5275481" y="72164"/>
                  </a:lnTo>
                  <a:lnTo>
                    <a:pt x="5250151" y="34612"/>
                  </a:lnTo>
                  <a:lnTo>
                    <a:pt x="5212605" y="9287"/>
                  </a:lnTo>
                  <a:lnTo>
                    <a:pt x="5166664" y="0"/>
                  </a:lnTo>
                  <a:close/>
                </a:path>
              </a:pathLst>
            </a:custGeom>
            <a:solidFill>
              <a:srgbClr val="9747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8229" y="5586984"/>
              <a:ext cx="5285105" cy="708660"/>
            </a:xfrm>
            <a:custGeom>
              <a:avLst/>
              <a:gdLst/>
              <a:ahLst/>
              <a:cxnLst/>
              <a:rect l="l" t="t" r="r" b="b"/>
              <a:pathLst>
                <a:path w="5285105" h="708660">
                  <a:moveTo>
                    <a:pt x="0" y="118135"/>
                  </a:moveTo>
                  <a:lnTo>
                    <a:pt x="9279" y="72164"/>
                  </a:lnTo>
                  <a:lnTo>
                    <a:pt x="34586" y="34612"/>
                  </a:lnTo>
                  <a:lnTo>
                    <a:pt x="72121" y="9287"/>
                  </a:lnTo>
                  <a:lnTo>
                    <a:pt x="118084" y="0"/>
                  </a:lnTo>
                  <a:lnTo>
                    <a:pt x="5166664" y="0"/>
                  </a:lnTo>
                  <a:lnTo>
                    <a:pt x="5212605" y="9287"/>
                  </a:lnTo>
                  <a:lnTo>
                    <a:pt x="5250151" y="34612"/>
                  </a:lnTo>
                  <a:lnTo>
                    <a:pt x="5275481" y="72164"/>
                  </a:lnTo>
                  <a:lnTo>
                    <a:pt x="5284774" y="118135"/>
                  </a:lnTo>
                  <a:lnTo>
                    <a:pt x="5284774" y="590448"/>
                  </a:lnTo>
                  <a:lnTo>
                    <a:pt x="5275481" y="636411"/>
                  </a:lnTo>
                  <a:lnTo>
                    <a:pt x="5250151" y="673946"/>
                  </a:lnTo>
                  <a:lnTo>
                    <a:pt x="5212605" y="699253"/>
                  </a:lnTo>
                  <a:lnTo>
                    <a:pt x="5166664" y="708532"/>
                  </a:lnTo>
                  <a:lnTo>
                    <a:pt x="118084" y="708532"/>
                  </a:lnTo>
                  <a:lnTo>
                    <a:pt x="72121" y="699253"/>
                  </a:lnTo>
                  <a:lnTo>
                    <a:pt x="34586" y="673946"/>
                  </a:lnTo>
                  <a:lnTo>
                    <a:pt x="9279" y="636411"/>
                  </a:lnTo>
                  <a:lnTo>
                    <a:pt x="0" y="590448"/>
                  </a:lnTo>
                  <a:lnTo>
                    <a:pt x="0" y="11813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7443" y="2366264"/>
            <a:ext cx="4886960" cy="382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contains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users.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>
              <a:latin typeface="Calibri"/>
              <a:cs typeface="Calibri"/>
            </a:endParaRPr>
          </a:p>
          <a:p>
            <a:pPr marL="19050" marR="391795">
              <a:lnSpc>
                <a:spcPct val="914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Even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belonging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particular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suspect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identified,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separating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users’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difficult.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197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CSP,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usually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evidence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links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particular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suspect.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800">
              <a:latin typeface="Calibri"/>
              <a:cs typeface="Calibri"/>
            </a:endParaRPr>
          </a:p>
          <a:p>
            <a:pPr marL="12700" marR="340995">
              <a:lnSpc>
                <a:spcPts val="197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Healthcare,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business,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national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related data!!!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8760" y="0"/>
            <a:ext cx="4840224" cy="153619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1600174"/>
            <a:ext cx="3200400" cy="471449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3064" y="1042416"/>
            <a:ext cx="3497580" cy="15361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725" y="695325"/>
            <a:ext cx="2362200" cy="15811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8275" y="4410075"/>
            <a:ext cx="2581275" cy="179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" y="3057502"/>
            <a:ext cx="3962400" cy="304729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485645"/>
            <a:ext cx="456946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0" u="none" spc="-4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20" dirty="0">
                <a:solidFill>
                  <a:srgbClr val="000000"/>
                </a:solidFill>
                <a:latin typeface="Calibri"/>
                <a:cs typeface="Calibri"/>
              </a:rPr>
              <a:t>investigate</a:t>
            </a:r>
            <a:r>
              <a:rPr b="0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b="0" u="none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case,</a:t>
            </a:r>
            <a:r>
              <a:rPr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2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forensics</a:t>
            </a:r>
            <a:r>
              <a:rPr b="0" u="none" spc="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examiner</a:t>
            </a:r>
            <a:r>
              <a:rPr b="0" u="none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needs</a:t>
            </a:r>
            <a:r>
              <a:rPr b="0" u="none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2949067"/>
            <a:ext cx="16643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17575" algn="l"/>
              </a:tabLst>
            </a:pPr>
            <a:r>
              <a:rPr sz="3200" spc="-2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2461387"/>
            <a:ext cx="456946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1979295" algn="l"/>
                <a:tab pos="4203700" algn="l"/>
              </a:tabLst>
            </a:pP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bit-</a:t>
            </a:r>
            <a:r>
              <a:rPr sz="3200" b="1" spc="-30" dirty="0">
                <a:solidFill>
                  <a:srgbClr val="FF0000"/>
                </a:solidFill>
                <a:latin typeface="Calibri"/>
                <a:cs typeface="Calibri"/>
              </a:rPr>
              <a:t>for-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duplication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R="6350" algn="r">
              <a:lnSpc>
                <a:spcPct val="100000"/>
              </a:lnSpc>
            </a:pPr>
            <a:r>
              <a:rPr sz="3200" spc="-25" dirty="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2949067"/>
            <a:ext cx="45637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91995">
              <a:lnSpc>
                <a:spcPct val="100000"/>
              </a:lnSpc>
              <a:spcBef>
                <a:spcPts val="105"/>
              </a:spcBef>
              <a:tabLst>
                <a:tab pos="1936114" algn="l"/>
                <a:tab pos="2656840" algn="l"/>
                <a:tab pos="2704465" algn="l"/>
              </a:tabLst>
            </a:pP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10" dirty="0">
                <a:latin typeface="Calibri"/>
                <a:cs typeface="Calibri"/>
              </a:rPr>
              <a:t>prove existence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contraband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3924680"/>
            <a:ext cx="4566285" cy="1977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images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video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845"/>
              </a:spcBef>
              <a:tabLst>
                <a:tab pos="762635" algn="l"/>
                <a:tab pos="1250315" algn="l"/>
                <a:tab pos="1624965" algn="l"/>
                <a:tab pos="2815590" algn="l"/>
                <a:tab pos="3409950" algn="l"/>
              </a:tabLst>
            </a:pPr>
            <a:r>
              <a:rPr sz="3200" spc="-25" dirty="0">
                <a:latin typeface="Calibri"/>
                <a:cs typeface="Calibri"/>
              </a:rPr>
              <a:t>But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cloud,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cannot </a:t>
            </a:r>
            <a:r>
              <a:rPr sz="3200" dirty="0">
                <a:latin typeface="Calibri"/>
                <a:cs typeface="Calibri"/>
              </a:rPr>
              <a:t>collect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himself.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391109"/>
            <a:ext cx="4809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Case</a:t>
            </a:r>
            <a:r>
              <a:rPr sz="2800" b="1"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Study</a:t>
            </a:r>
            <a:r>
              <a:rPr sz="2800" b="1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of</a:t>
            </a:r>
            <a:r>
              <a:rPr sz="2800" b="1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Child</a:t>
            </a:r>
            <a:r>
              <a:rPr sz="28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Pornography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17310" y="0"/>
            <a:ext cx="3227070" cy="6858000"/>
            <a:chOff x="5917310" y="0"/>
            <a:chExt cx="322707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7310" y="1143000"/>
              <a:ext cx="3226689" cy="2019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3599" y="2895600"/>
              <a:ext cx="3200400" cy="3962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599" y="0"/>
              <a:ext cx="3200400" cy="13839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1628" y="391109"/>
            <a:ext cx="4244340" cy="6000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367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First,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search</a:t>
            </a:r>
            <a:r>
              <a:rPr sz="2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warrant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cloud provider.</a:t>
            </a:r>
            <a:endParaRPr sz="2800">
              <a:latin typeface="Calibri"/>
              <a:cs typeface="Calibri"/>
            </a:endParaRPr>
          </a:p>
          <a:p>
            <a:pPr marL="12700" marR="344170">
              <a:lnSpc>
                <a:spcPct val="100000"/>
              </a:lnSpc>
              <a:spcBef>
                <a:spcPts val="3365"/>
              </a:spcBef>
            </a:pPr>
            <a:r>
              <a:rPr sz="2800" spc="-35" dirty="0">
                <a:latin typeface="Calibri"/>
                <a:cs typeface="Calibri"/>
              </a:rPr>
              <a:t>However,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some </a:t>
            </a:r>
            <a:r>
              <a:rPr sz="2800" dirty="0">
                <a:latin typeface="Calibri"/>
                <a:cs typeface="Calibri"/>
              </a:rPr>
              <a:t>problems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 warrant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respect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cloud environment.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360"/>
              </a:spcBef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warrant</a:t>
            </a:r>
            <a:r>
              <a:rPr sz="2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must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specify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location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cloud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</a:t>
            </a:r>
            <a:r>
              <a:rPr sz="2800" dirty="0">
                <a:latin typeface="Calibri"/>
                <a:cs typeface="Calibri"/>
              </a:rPr>
              <a:t>located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location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particular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storage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91000"/>
            <a:ext cx="4495799" cy="2438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743225"/>
            <a:ext cx="4267200" cy="12388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8486" y="304800"/>
            <a:ext cx="2004314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1808"/>
            <a:ext cx="4180204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05560" algn="l"/>
              </a:tabLst>
            </a:pPr>
            <a:r>
              <a:rPr sz="2400" b="0" u="none" dirty="0">
                <a:solidFill>
                  <a:srgbClr val="000000"/>
                </a:solidFill>
                <a:latin typeface="Calibri"/>
                <a:cs typeface="Calibri"/>
              </a:rPr>
              <a:t>Furthermore,</a:t>
            </a:r>
            <a:r>
              <a:rPr sz="2400" b="0" u="none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b="0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2400" b="0" u="none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u="none" dirty="0"/>
              <a:t>can</a:t>
            </a:r>
            <a:r>
              <a:rPr sz="2400" u="none" spc="-75" dirty="0"/>
              <a:t> </a:t>
            </a:r>
            <a:r>
              <a:rPr sz="2400" u="none" dirty="0"/>
              <a:t>not</a:t>
            </a:r>
            <a:r>
              <a:rPr sz="2400" u="none" spc="-60" dirty="0"/>
              <a:t> </a:t>
            </a:r>
            <a:r>
              <a:rPr sz="2400" u="none" spc="-25" dirty="0"/>
              <a:t>be </a:t>
            </a:r>
            <a:r>
              <a:rPr sz="2400" u="none" dirty="0"/>
              <a:t>seized</a:t>
            </a:r>
            <a:r>
              <a:rPr sz="2400" u="none" spc="-85" dirty="0"/>
              <a:t> </a:t>
            </a:r>
            <a:r>
              <a:rPr sz="2400" u="none" spc="-25" dirty="0"/>
              <a:t>by</a:t>
            </a:r>
            <a:r>
              <a:rPr sz="2400" u="none" dirty="0"/>
              <a:t>	confiscating</a:t>
            </a:r>
            <a:r>
              <a:rPr sz="2400" u="none" spc="-135" dirty="0"/>
              <a:t> </a:t>
            </a:r>
            <a:r>
              <a:rPr sz="2400" u="none" spc="-25" dirty="0"/>
              <a:t>the </a:t>
            </a:r>
            <a:r>
              <a:rPr sz="2400" u="none" spc="-20" dirty="0"/>
              <a:t>storage</a:t>
            </a:r>
            <a:r>
              <a:rPr sz="2400" u="none" spc="-45" dirty="0"/>
              <a:t> </a:t>
            </a:r>
            <a:r>
              <a:rPr sz="2400" u="none" dirty="0"/>
              <a:t>server</a:t>
            </a:r>
            <a:r>
              <a:rPr sz="2400" u="none" spc="-30" dirty="0"/>
              <a:t> </a:t>
            </a:r>
            <a:r>
              <a:rPr sz="2400" b="0" u="none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b="0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Calibri"/>
                <a:cs typeface="Calibri"/>
              </a:rPr>
              <a:t>cloud,</a:t>
            </a:r>
            <a:r>
              <a:rPr sz="2400"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sz="24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u="none" spc="-2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400" i="1" u="none" dirty="0">
                <a:latin typeface="Calibri"/>
                <a:cs typeface="Calibri"/>
              </a:rPr>
              <a:t>same</a:t>
            </a:r>
            <a:r>
              <a:rPr sz="2400" i="1" u="none" spc="-70" dirty="0">
                <a:latin typeface="Calibri"/>
                <a:cs typeface="Calibri"/>
              </a:rPr>
              <a:t> </a:t>
            </a:r>
            <a:r>
              <a:rPr sz="2400" i="1" u="none" dirty="0">
                <a:latin typeface="Calibri"/>
                <a:cs typeface="Calibri"/>
              </a:rPr>
              <a:t>disk</a:t>
            </a:r>
            <a:r>
              <a:rPr sz="2400" i="1" u="none" spc="-50" dirty="0">
                <a:latin typeface="Calibri"/>
                <a:cs typeface="Calibri"/>
              </a:rPr>
              <a:t> </a:t>
            </a:r>
            <a:r>
              <a:rPr sz="2400" i="1" u="none" dirty="0">
                <a:latin typeface="Calibri"/>
                <a:cs typeface="Calibri"/>
              </a:rPr>
              <a:t>can</a:t>
            </a:r>
            <a:r>
              <a:rPr sz="2400" i="1" u="none" spc="-40" dirty="0">
                <a:latin typeface="Calibri"/>
                <a:cs typeface="Calibri"/>
              </a:rPr>
              <a:t> </a:t>
            </a:r>
            <a:r>
              <a:rPr sz="2400" i="1" u="none" dirty="0">
                <a:latin typeface="Calibri"/>
                <a:cs typeface="Calibri"/>
              </a:rPr>
              <a:t>contain</a:t>
            </a:r>
            <a:r>
              <a:rPr sz="2400" i="1" u="none" spc="-40" dirty="0">
                <a:latin typeface="Calibri"/>
                <a:cs typeface="Calibri"/>
              </a:rPr>
              <a:t> </a:t>
            </a:r>
            <a:r>
              <a:rPr sz="2400" i="1" u="none" dirty="0">
                <a:latin typeface="Calibri"/>
                <a:cs typeface="Calibri"/>
              </a:rPr>
              <a:t>data</a:t>
            </a:r>
            <a:r>
              <a:rPr sz="2400" i="1" u="none" spc="-65" dirty="0">
                <a:latin typeface="Calibri"/>
                <a:cs typeface="Calibri"/>
              </a:rPr>
              <a:t> </a:t>
            </a:r>
            <a:r>
              <a:rPr sz="2400" i="1" u="none" spc="-20" dirty="0">
                <a:latin typeface="Calibri"/>
                <a:cs typeface="Calibri"/>
              </a:rPr>
              <a:t>from </a:t>
            </a:r>
            <a:r>
              <a:rPr sz="2400" i="1" u="none" dirty="0">
                <a:latin typeface="Calibri"/>
                <a:cs typeface="Calibri"/>
              </a:rPr>
              <a:t>many</a:t>
            </a:r>
            <a:r>
              <a:rPr sz="2400" i="1" u="none" spc="-90" dirty="0">
                <a:latin typeface="Calibri"/>
                <a:cs typeface="Calibri"/>
              </a:rPr>
              <a:t> </a:t>
            </a:r>
            <a:r>
              <a:rPr sz="2400" i="1" u="none" dirty="0">
                <a:latin typeface="Calibri"/>
                <a:cs typeface="Calibri"/>
              </a:rPr>
              <a:t>unrelated</a:t>
            </a:r>
            <a:r>
              <a:rPr sz="2400" i="1" u="none" spc="-55" dirty="0">
                <a:latin typeface="Calibri"/>
                <a:cs typeface="Calibri"/>
              </a:rPr>
              <a:t> </a:t>
            </a:r>
            <a:r>
              <a:rPr sz="2400" i="1" u="none" spc="-10" dirty="0">
                <a:latin typeface="Calibri"/>
                <a:cs typeface="Calibri"/>
              </a:rPr>
              <a:t>users</a:t>
            </a:r>
            <a:r>
              <a:rPr sz="2400" b="0" i="1" u="none" spc="-1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2802763"/>
            <a:ext cx="413385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1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criminal,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needs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whether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virtual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static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IP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30"/>
              </a:spcBef>
            </a:pPr>
            <a:endParaRPr sz="2400">
              <a:latin typeface="Calibri"/>
              <a:cs typeface="Calibri"/>
            </a:endParaRPr>
          </a:p>
          <a:p>
            <a:pPr marL="12700" marR="12192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Almost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aspects,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depends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transparency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cooperation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cloud provider.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2920" y="431298"/>
            <a:ext cx="2566358" cy="30178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3657600"/>
            <a:ext cx="3962400" cy="280009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8828" y="1434846"/>
            <a:ext cx="3529329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70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Volatile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sustain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without power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4699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When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Machine </a:t>
            </a:r>
            <a:r>
              <a:rPr sz="1800" dirty="0">
                <a:latin typeface="Calibri"/>
                <a:cs typeface="Calibri"/>
              </a:rPr>
              <a:t>(VM),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will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lost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do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instance….</a:t>
            </a:r>
            <a:endParaRPr sz="1800">
              <a:latin typeface="Calibri"/>
              <a:cs typeface="Calibri"/>
            </a:endParaRPr>
          </a:p>
          <a:p>
            <a:pPr marL="12700" marR="889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restart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turn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IaaS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Amazon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EC2),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0" dirty="0">
                <a:latin typeface="Calibri"/>
                <a:cs typeface="Calibri"/>
              </a:rPr>
              <a:t> will </a:t>
            </a:r>
            <a:r>
              <a:rPr sz="1800" dirty="0">
                <a:latin typeface="Calibri"/>
                <a:cs typeface="Calibri"/>
              </a:rPr>
              <a:t>lose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 marR="5080" indent="5143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Registry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entries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temporary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stored </a:t>
            </a:r>
            <a:r>
              <a:rPr sz="1800" dirty="0">
                <a:latin typeface="Calibri"/>
                <a:cs typeface="Calibri"/>
              </a:rPr>
              <a:t>within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environment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be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lost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exits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889" y="228348"/>
            <a:ext cx="4479315" cy="57543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8600" y="1143000"/>
            <a:ext cx="4267200" cy="5638800"/>
            <a:chOff x="228600" y="1143000"/>
            <a:chExt cx="4267200" cy="56388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143000"/>
              <a:ext cx="1752600" cy="24974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" y="3657217"/>
              <a:ext cx="4267200" cy="31245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9800" y="1151636"/>
              <a:ext cx="1981200" cy="2476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112011"/>
            <a:ext cx="268351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Though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payment customers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persistent storage,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common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medium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scale </a:t>
            </a:r>
            <a:r>
              <a:rPr sz="1800" dirty="0">
                <a:latin typeface="Calibri"/>
                <a:cs typeface="Calibri"/>
              </a:rPr>
              <a:t>business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organizations.</a:t>
            </a:r>
            <a:endParaRPr sz="1800">
              <a:latin typeface="Calibri"/>
              <a:cs typeface="Calibri"/>
            </a:endParaRPr>
          </a:p>
          <a:p>
            <a:pPr marL="12700" marR="8509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malicious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exploit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vulnerability.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3581222"/>
            <a:ext cx="277939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Some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owner of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cloud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instance</a:t>
            </a:r>
            <a:r>
              <a:rPr sz="1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fraudulently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claim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was </a:t>
            </a:r>
            <a:r>
              <a:rPr sz="1800" spc="-10" dirty="0">
                <a:latin typeface="Calibri"/>
                <a:cs typeface="Calibri"/>
              </a:rPr>
              <a:t>compromised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someone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else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malicious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activity.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Later,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will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difficult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claim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 investigation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811" y="0"/>
            <a:ext cx="5484876" cy="13837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0" y="1447800"/>
            <a:ext cx="4419600" cy="33976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70628" y="4895545"/>
            <a:ext cx="436562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Persistence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computer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science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refers</a:t>
            </a:r>
            <a:r>
              <a:rPr sz="18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characteristic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 of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18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that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outlives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process</a:t>
            </a:r>
            <a:r>
              <a:rPr sz="18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created</a:t>
            </a:r>
            <a:r>
              <a:rPr sz="18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1800" i="1" dirty="0">
                <a:latin typeface="Calibri"/>
                <a:cs typeface="Calibri"/>
              </a:rPr>
              <a:t>.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Without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this </a:t>
            </a:r>
            <a:r>
              <a:rPr sz="1800" i="1" spc="-10" dirty="0">
                <a:latin typeface="Calibri"/>
                <a:cs typeface="Calibri"/>
              </a:rPr>
              <a:t>capability,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state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would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only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exist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RAM,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and </a:t>
            </a:r>
            <a:r>
              <a:rPr sz="1800" i="1" dirty="0">
                <a:latin typeface="Calibri"/>
                <a:cs typeface="Calibri"/>
              </a:rPr>
              <a:t>would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lost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when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this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RAM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loses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power,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such </a:t>
            </a:r>
            <a:r>
              <a:rPr sz="1800" i="1" dirty="0">
                <a:latin typeface="Calibri"/>
                <a:cs typeface="Calibri"/>
              </a:rPr>
              <a:t>as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computer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shutdown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4028" y="707516"/>
            <a:ext cx="401320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7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issuing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search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warrant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examiner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technician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cloud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 marR="59055">
              <a:lnSpc>
                <a:spcPct val="100000"/>
              </a:lnSpc>
              <a:spcBef>
                <a:spcPts val="2160"/>
              </a:spcBef>
            </a:pPr>
            <a:r>
              <a:rPr sz="1800" spc="-25" dirty="0">
                <a:latin typeface="Calibri"/>
                <a:cs typeface="Calibri"/>
              </a:rPr>
              <a:t>However,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employee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cloud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most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likely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licensed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forensics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investigator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guarantee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court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28575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timestamps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questionable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multiple systems.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One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shortcomings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found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verify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integrity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12700" marR="23812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forensic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disk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image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Amazon’s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EC2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cloud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because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Amazon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does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provide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checksums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volumes,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they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exist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EC2</a:t>
            </a:r>
            <a:r>
              <a:rPr sz="1800" spc="-2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96207" cy="2257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362200"/>
            <a:ext cx="389572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8634"/>
            <a:ext cx="3957954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110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on-</a:t>
            </a:r>
            <a:r>
              <a:rPr sz="1800" dirty="0">
                <a:latin typeface="Calibri"/>
                <a:cs typeface="Calibri"/>
              </a:rPr>
              <a:t>demand</a:t>
            </a:r>
            <a:r>
              <a:rPr sz="1800" spc="11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characteristic</a:t>
            </a:r>
            <a:r>
              <a:rPr sz="1800" spc="11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14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cloud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235" dirty="0">
                <a:latin typeface="Calibri"/>
                <a:cs typeface="Calibri"/>
              </a:rPr>
              <a:t>  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225" dirty="0">
                <a:latin typeface="Calibri"/>
                <a:cs typeface="Calibri"/>
              </a:rPr>
              <a:t>  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229" dirty="0">
                <a:latin typeface="Calibri"/>
                <a:cs typeface="Calibri"/>
              </a:rPr>
              <a:t>   </a:t>
            </a:r>
            <a:r>
              <a:rPr sz="1800" dirty="0">
                <a:latin typeface="Calibri"/>
                <a:cs typeface="Calibri"/>
              </a:rPr>
              <a:t>vital</a:t>
            </a:r>
            <a:r>
              <a:rPr sz="1800" spc="225" dirty="0">
                <a:latin typeface="Calibri"/>
                <a:cs typeface="Calibri"/>
              </a:rPr>
              <a:t>   </a:t>
            </a:r>
            <a:r>
              <a:rPr sz="1800" dirty="0">
                <a:latin typeface="Calibri"/>
                <a:cs typeface="Calibri"/>
              </a:rPr>
              <a:t>role</a:t>
            </a:r>
            <a:r>
              <a:rPr sz="1800" spc="229" dirty="0">
                <a:latin typeface="Calibri"/>
                <a:cs typeface="Calibri"/>
              </a:rPr>
              <a:t>  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increasing</a:t>
            </a:r>
            <a:r>
              <a:rPr sz="1800" spc="10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1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10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11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spc="-20" dirty="0">
                <a:latin typeface="Calibri"/>
                <a:cs typeface="Calibri"/>
              </a:rPr>
              <a:t>near </a:t>
            </a:r>
            <a:r>
              <a:rPr sz="1800" spc="-10" dirty="0">
                <a:latin typeface="Calibri"/>
                <a:cs typeface="Calibri"/>
              </a:rPr>
              <a:t>future.</a:t>
            </a:r>
            <a:endParaRPr sz="1800">
              <a:latin typeface="Calibri"/>
              <a:cs typeface="Calibri"/>
            </a:endParaRPr>
          </a:p>
          <a:p>
            <a:pPr marL="12700" marR="5715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traditional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investigation,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spc="-25" dirty="0">
                <a:latin typeface="Calibri"/>
                <a:cs typeface="Calibri"/>
              </a:rPr>
              <a:t>we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4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4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4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suspect’s computer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disk.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Conversely,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2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Cloud,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11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12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spc="-20" dirty="0">
                <a:latin typeface="Calibri"/>
                <a:cs typeface="Calibri"/>
              </a:rPr>
              <a:t>have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physical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 marR="762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One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getting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VM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downloading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instance’s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image.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increase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increase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2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VM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instance.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adequate</a:t>
            </a:r>
            <a:r>
              <a:rPr sz="1800" b="1" spc="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bandwidth</a:t>
            </a:r>
            <a:r>
              <a:rPr sz="1800" b="1" spc="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incur</a:t>
            </a:r>
            <a:r>
              <a:rPr sz="1800" b="1" spc="13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expense</a:t>
            </a:r>
            <a:r>
              <a:rPr sz="1800" b="1" spc="13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13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download</a:t>
            </a:r>
            <a:r>
              <a:rPr sz="1800" b="1" spc="14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1800" b="1" spc="13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large image.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583424" cy="13837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600" y="838200"/>
              <a:ext cx="3581400" cy="3962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600" y="4166108"/>
              <a:ext cx="3575684" cy="26918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19" y="509016"/>
            <a:ext cx="3895344" cy="142646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654296" y="0"/>
            <a:ext cx="4490085" cy="6858000"/>
            <a:chOff x="4654296" y="0"/>
            <a:chExt cx="4490085" cy="6858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5366" y="3763156"/>
              <a:ext cx="1306371" cy="2017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8884" y="3769614"/>
              <a:ext cx="1259332" cy="1496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4296" y="0"/>
              <a:ext cx="4489704" cy="6857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9320" y="0"/>
              <a:ext cx="4424680" cy="6857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0027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" y="2587965"/>
            <a:ext cx="3988740" cy="38765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381038"/>
            <a:ext cx="8458200" cy="548995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28600"/>
            <a:ext cx="8812657" cy="592206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cloud</a:t>
            </a:r>
            <a:r>
              <a:rPr sz="2000" b="0" u="none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computing,</a:t>
            </a:r>
            <a:r>
              <a:rPr sz="2000" b="0" u="none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multiple</a:t>
            </a:r>
            <a:r>
              <a:rPr sz="2000" b="0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VM</a:t>
            </a:r>
            <a:r>
              <a:rPr sz="2000"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share</a:t>
            </a:r>
            <a:r>
              <a:rPr sz="20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same</a:t>
            </a:r>
            <a:r>
              <a:rPr sz="20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physical</a:t>
            </a:r>
            <a:r>
              <a:rPr sz="20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rgbClr val="000000"/>
                </a:solidFill>
                <a:latin typeface="Calibri"/>
                <a:cs typeface="Calibri"/>
              </a:rPr>
              <a:t>infrastructure,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rgbClr val="000000"/>
                </a:solidFill>
                <a:latin typeface="Calibri"/>
                <a:cs typeface="Calibri"/>
              </a:rPr>
              <a:t>i.e.,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000"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multiple</a:t>
            </a:r>
            <a:r>
              <a:rPr sz="2000" b="0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rgbClr val="000000"/>
                </a:solidFill>
                <a:latin typeface="Calibri"/>
                <a:cs typeface="Calibri"/>
              </a:rPr>
              <a:t>customers</a:t>
            </a:r>
            <a:r>
              <a:rPr sz="2000" b="0" u="none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may</a:t>
            </a:r>
            <a:r>
              <a:rPr sz="2000" b="0" u="none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0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rgbClr val="000000"/>
                </a:solidFill>
                <a:latin typeface="Calibri"/>
                <a:cs typeface="Calibri"/>
              </a:rPr>
              <a:t>co-located.</a:t>
            </a:r>
            <a:r>
              <a:rPr sz="2000" b="0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sz="2000" b="0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nature</a:t>
            </a:r>
            <a:r>
              <a:rPr sz="20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000"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clouds</a:t>
            </a:r>
            <a:r>
              <a:rPr sz="2000"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000"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rgbClr val="000000"/>
                </a:solidFill>
                <a:latin typeface="Calibri"/>
                <a:cs typeface="Calibri"/>
              </a:rPr>
              <a:t>different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000"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rgbClr val="000000"/>
                </a:solidFill>
                <a:latin typeface="Calibri"/>
                <a:cs typeface="Calibri"/>
              </a:rPr>
              <a:t>traditional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single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owner</a:t>
            </a:r>
            <a:r>
              <a:rPr sz="2000"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Calibri"/>
                <a:cs typeface="Calibri"/>
              </a:rPr>
              <a:t>computer</a:t>
            </a:r>
            <a:r>
              <a:rPr sz="2000" b="0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rgbClr val="000000"/>
                </a:solidFill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1175" y="3647313"/>
            <a:ext cx="3064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issues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can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arise.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4608" y="531876"/>
            <a:ext cx="4881640" cy="5760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2971800"/>
            <a:ext cx="1981200" cy="3048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220" y="173183"/>
            <a:ext cx="1395269" cy="140915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994738"/>
            <a:ext cx="832230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u="none" dirty="0">
                <a:latin typeface="Calibri"/>
                <a:cs typeface="Calibri"/>
              </a:rPr>
              <a:t>First,</a:t>
            </a:r>
            <a:r>
              <a:rPr sz="1800" b="0" u="none" spc="355" dirty="0">
                <a:latin typeface="Calibri"/>
                <a:cs typeface="Calibri"/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How</a:t>
            </a:r>
            <a:r>
              <a:rPr sz="2400" u="none" spc="-7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to</a:t>
            </a:r>
            <a:r>
              <a:rPr sz="2400" u="none" spc="-4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prove</a:t>
            </a:r>
            <a:r>
              <a:rPr sz="2400" u="none" spc="-5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that</a:t>
            </a:r>
            <a:r>
              <a:rPr sz="2400" u="none" spc="-3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data</a:t>
            </a:r>
            <a:r>
              <a:rPr sz="2400" u="none" spc="-4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were</a:t>
            </a:r>
            <a:r>
              <a:rPr sz="2400" u="none" spc="-5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not</a:t>
            </a:r>
            <a:r>
              <a:rPr sz="2400" u="none" spc="-5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comingled</a:t>
            </a:r>
            <a:r>
              <a:rPr sz="2400" u="none" spc="-7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with</a:t>
            </a:r>
            <a:r>
              <a:rPr sz="2400" u="none" spc="-4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other</a:t>
            </a:r>
            <a:r>
              <a:rPr sz="2400" u="none" spc="-50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users’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2360803"/>
            <a:ext cx="8268334" cy="2377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12700" marR="885190">
              <a:lnSpc>
                <a:spcPct val="100000"/>
              </a:lnSpc>
              <a:spcBef>
                <a:spcPts val="2160"/>
              </a:spcBef>
            </a:pP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Secondly,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How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preserve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privacy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other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tenants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while </a:t>
            </a:r>
            <a:r>
              <a:rPr sz="2400" b="1" dirty="0">
                <a:latin typeface="Calibri"/>
                <a:cs typeface="Calibri"/>
              </a:rPr>
              <a:t>performing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investigation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1899"/>
              </a:lnSpc>
              <a:spcBef>
                <a:spcPts val="2070"/>
              </a:spcBef>
            </a:pPr>
            <a:r>
              <a:rPr sz="1800" dirty="0">
                <a:latin typeface="Calibri"/>
                <a:cs typeface="Calibri"/>
              </a:rPr>
              <a:t>Both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issues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brings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Side-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Channel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Attacks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difficult</a:t>
            </a:r>
            <a:r>
              <a:rPr sz="1800" spc="-25" dirty="0">
                <a:latin typeface="Calibri"/>
                <a:cs typeface="Calibri"/>
              </a:rPr>
              <a:t> to </a:t>
            </a:r>
            <a:r>
              <a:rPr sz="1800" spc="-10" dirty="0">
                <a:latin typeface="Calibri"/>
                <a:cs typeface="Calibri"/>
              </a:rPr>
              <a:t>investigate.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4608" y="684276"/>
            <a:ext cx="488164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610613"/>
            <a:ext cx="35706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spc="-20" dirty="0"/>
              <a:t>SIDE-</a:t>
            </a:r>
            <a:r>
              <a:rPr sz="2800" u="none" dirty="0"/>
              <a:t>CHANNEL</a:t>
            </a:r>
            <a:r>
              <a:rPr sz="2800" u="none" spc="-30" dirty="0"/>
              <a:t> </a:t>
            </a:r>
            <a:r>
              <a:rPr sz="2800" u="none" spc="-55" dirty="0"/>
              <a:t>ATTACKS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88340" y="2380615"/>
            <a:ext cx="80276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“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Using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Amazon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EC2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service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as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case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study, </a:t>
            </a:r>
            <a:r>
              <a:rPr sz="1800" i="1" dirty="0">
                <a:latin typeface="Calibri"/>
                <a:cs typeface="Calibri"/>
              </a:rPr>
              <a:t>we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show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that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it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possible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map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the </a:t>
            </a:r>
            <a:r>
              <a:rPr sz="1800" i="1" dirty="0">
                <a:latin typeface="Calibri"/>
                <a:cs typeface="Calibri"/>
              </a:rPr>
              <a:t>internal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cloud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infrastructure,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identify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where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particular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target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VM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likely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reside,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then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instantiate </a:t>
            </a:r>
            <a:r>
              <a:rPr sz="1800" i="1" dirty="0">
                <a:latin typeface="Calibri"/>
                <a:cs typeface="Calibri"/>
              </a:rPr>
              <a:t>new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VMs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until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one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placed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co-</a:t>
            </a:r>
            <a:r>
              <a:rPr sz="1800" i="1" dirty="0">
                <a:latin typeface="Calibri"/>
                <a:cs typeface="Calibri"/>
              </a:rPr>
              <a:t>resident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with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target.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We </a:t>
            </a:r>
            <a:r>
              <a:rPr sz="1800" i="1" dirty="0">
                <a:latin typeface="Calibri"/>
                <a:cs typeface="Calibri"/>
              </a:rPr>
              <a:t>explore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how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such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placement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can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be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used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mount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cross-</a:t>
            </a:r>
            <a:r>
              <a:rPr sz="1800" i="1" dirty="0">
                <a:latin typeface="Calibri"/>
                <a:cs typeface="Calibri"/>
              </a:rPr>
              <a:t>VM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side-</a:t>
            </a:r>
            <a:r>
              <a:rPr sz="1800" i="1" dirty="0">
                <a:latin typeface="Calibri"/>
                <a:cs typeface="Calibri"/>
              </a:rPr>
              <a:t>channel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attacks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extract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information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from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target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VM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same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machine.”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4971745"/>
            <a:ext cx="70281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Source</a:t>
            </a:r>
            <a:r>
              <a:rPr sz="1800" u="sng" spc="2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:</a:t>
            </a:r>
            <a:r>
              <a:rPr sz="1800" u="sng" spc="2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http://cloudsecurity.org/blog/2009/08/31/cloud-cartography-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side-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channel-attacks.html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137030"/>
            <a:ext cx="852805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Analyzing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logs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from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different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processes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plays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vital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role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digital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forensic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investigation. </a:t>
            </a:r>
            <a:r>
              <a:rPr sz="1800" i="1" dirty="0">
                <a:latin typeface="Calibri"/>
                <a:cs typeface="Calibri"/>
              </a:rPr>
              <a:t>Process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logs,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network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logs,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application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logs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are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really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useful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identify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malicious</a:t>
            </a:r>
            <a:r>
              <a:rPr sz="1800" i="1" spc="-10" dirty="0">
                <a:latin typeface="Calibri"/>
                <a:cs typeface="Calibri"/>
              </a:rPr>
              <a:t> user.</a:t>
            </a:r>
            <a:endParaRPr sz="1800">
              <a:latin typeface="Calibri"/>
              <a:cs typeface="Calibri"/>
            </a:endParaRPr>
          </a:p>
          <a:p>
            <a:pPr marL="12700" marR="3180715">
              <a:lnSpc>
                <a:spcPct val="200000"/>
              </a:lnSpc>
            </a:pPr>
            <a:r>
              <a:rPr sz="1800" i="1" dirty="0">
                <a:latin typeface="Calibri"/>
                <a:cs typeface="Calibri"/>
              </a:rPr>
              <a:t>Not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as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simple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as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it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privately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owned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computer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system, </a:t>
            </a:r>
            <a:r>
              <a:rPr sz="1800" i="1" dirty="0">
                <a:latin typeface="Calibri"/>
                <a:cs typeface="Calibri"/>
              </a:rPr>
              <a:t>Sometimes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even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impossible.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Challenges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4585335" marR="1562735">
              <a:lnSpc>
                <a:spcPct val="200000"/>
              </a:lnSpc>
            </a:pPr>
            <a:r>
              <a:rPr sz="1800" spc="-10" dirty="0">
                <a:latin typeface="Calibri"/>
                <a:cs typeface="Calibri"/>
              </a:rPr>
              <a:t>Decentralization. Volatility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Logs.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Layers. </a:t>
            </a:r>
            <a:r>
              <a:rPr sz="1800" dirty="0">
                <a:latin typeface="Calibri"/>
                <a:cs typeface="Calibri"/>
              </a:rPr>
              <a:t>Accessibility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Logs.</a:t>
            </a:r>
            <a:endParaRPr sz="1800">
              <a:latin typeface="Calibri"/>
              <a:cs typeface="Calibri"/>
            </a:endParaRPr>
          </a:p>
          <a:p>
            <a:pPr marL="458533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Dependence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CSP.</a:t>
            </a:r>
            <a:endParaRPr sz="1800">
              <a:latin typeface="Calibri"/>
              <a:cs typeface="Calibri"/>
            </a:endParaRPr>
          </a:p>
          <a:p>
            <a:pPr marL="458533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Absence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Critical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992" y="0"/>
            <a:ext cx="3840479" cy="15361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876675"/>
            <a:ext cx="3295650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1007" y="608076"/>
            <a:ext cx="2966081" cy="15179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3535679"/>
            <a:ext cx="8244839" cy="11887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533400"/>
            <a:ext cx="2667000" cy="2514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00" y="552450"/>
            <a:ext cx="190500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838200"/>
            <a:ext cx="4762500" cy="4752975"/>
            <a:chOff x="762000" y="838200"/>
            <a:chExt cx="4762500" cy="4752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1143000"/>
              <a:ext cx="4762500" cy="44481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838200"/>
              <a:ext cx="2606040" cy="16002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3306" y="1092418"/>
            <a:ext cx="3028293" cy="22465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3676650"/>
            <a:ext cx="2619375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474929"/>
            <a:ext cx="8590915" cy="496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00"/>
              </a:spcBef>
              <a:buChar char="-"/>
              <a:tabLst>
                <a:tab pos="291465" algn="l"/>
              </a:tabLst>
            </a:pPr>
            <a:r>
              <a:rPr sz="1800" b="1" dirty="0">
                <a:latin typeface="Calibri"/>
                <a:cs typeface="Calibri"/>
              </a:rPr>
              <a:t>CRIME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SCENE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RECONSTRUCTION</a:t>
            </a:r>
            <a:endParaRPr sz="1800">
              <a:latin typeface="Calibri"/>
              <a:cs typeface="Calibri"/>
            </a:endParaRPr>
          </a:p>
          <a:p>
            <a:pPr marL="291465" indent="-278765">
              <a:lnSpc>
                <a:spcPct val="100000"/>
              </a:lnSpc>
              <a:spcBef>
                <a:spcPts val="2160"/>
              </a:spcBef>
              <a:buChar char="-"/>
              <a:tabLst>
                <a:tab pos="291465" algn="l"/>
              </a:tabLst>
            </a:pPr>
            <a:r>
              <a:rPr sz="1800" b="1" dirty="0">
                <a:latin typeface="Calibri"/>
                <a:cs typeface="Calibri"/>
              </a:rPr>
              <a:t>CROSS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BORDER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LAW</a:t>
            </a:r>
            <a:endParaRPr sz="1800">
              <a:latin typeface="Calibri"/>
              <a:cs typeface="Calibri"/>
            </a:endParaRPr>
          </a:p>
          <a:p>
            <a:pPr marL="291465" indent="-278765">
              <a:lnSpc>
                <a:spcPct val="100000"/>
              </a:lnSpc>
              <a:spcBef>
                <a:spcPts val="2160"/>
              </a:spcBef>
              <a:buChar char="-"/>
              <a:tabLst>
                <a:tab pos="291465" algn="l"/>
              </a:tabLst>
            </a:pPr>
            <a:r>
              <a:rPr sz="1800" b="1" spc="-10" dirty="0">
                <a:latin typeface="Calibri"/>
                <a:cs typeface="Calibri"/>
              </a:rPr>
              <a:t>TRUSTWORTHY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85" dirty="0">
                <a:latin typeface="Calibri"/>
                <a:cs typeface="Calibri"/>
              </a:rPr>
              <a:t>DATA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RETENTION</a:t>
            </a:r>
            <a:endParaRPr sz="1800">
              <a:latin typeface="Calibri"/>
              <a:cs typeface="Calibri"/>
            </a:endParaRPr>
          </a:p>
          <a:p>
            <a:pPr marL="12700" marR="18796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enforces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retention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policy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exceptions,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such </a:t>
            </a:r>
            <a:r>
              <a:rPr sz="1800" dirty="0">
                <a:latin typeface="Calibri"/>
                <a:cs typeface="Calibri"/>
              </a:rPr>
              <a:t>as,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litigation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holds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managed?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Moreover,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CSPs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retain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destruction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.There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laws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countries,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mandate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trustworthy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retention.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10,000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laws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federal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securely.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Some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laws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regulations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below:</a:t>
            </a:r>
            <a:endParaRPr sz="1800">
              <a:latin typeface="Calibri"/>
              <a:cs typeface="Calibri"/>
            </a:endParaRPr>
          </a:p>
          <a:p>
            <a:pPr marL="1157605" lvl="1" indent="-230504">
              <a:lnSpc>
                <a:spcPct val="100000"/>
              </a:lnSpc>
              <a:spcBef>
                <a:spcPts val="2160"/>
              </a:spcBef>
              <a:buFont typeface="Wingdings"/>
              <a:buChar char=""/>
              <a:tabLst>
                <a:tab pos="1157605" algn="l"/>
              </a:tabLst>
            </a:pPr>
            <a:r>
              <a:rPr sz="1800" b="1" dirty="0">
                <a:latin typeface="Calibri"/>
                <a:cs typeface="Calibri"/>
              </a:rPr>
              <a:t>Sarbanes-Oxley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Act</a:t>
            </a:r>
            <a:endParaRPr sz="1800">
              <a:latin typeface="Calibri"/>
              <a:cs typeface="Calibri"/>
            </a:endParaRPr>
          </a:p>
          <a:p>
            <a:pPr marL="1157605" lvl="1" indent="-230504">
              <a:lnSpc>
                <a:spcPct val="100000"/>
              </a:lnSpc>
              <a:buFont typeface="Wingdings"/>
              <a:buChar char=""/>
              <a:tabLst>
                <a:tab pos="1157605" algn="l"/>
              </a:tabLst>
            </a:pP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Health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Insurance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Portability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Accountability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(HIPAA)</a:t>
            </a:r>
            <a:endParaRPr sz="1800">
              <a:latin typeface="Calibri"/>
              <a:cs typeface="Calibri"/>
            </a:endParaRPr>
          </a:p>
          <a:p>
            <a:pPr marL="1157605" lvl="1" indent="-230504">
              <a:lnSpc>
                <a:spcPct val="100000"/>
              </a:lnSpc>
              <a:buFont typeface="Wingdings"/>
              <a:buChar char=""/>
              <a:tabLst>
                <a:tab pos="1157605" algn="l"/>
              </a:tabLst>
            </a:pP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Securities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Exchange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Commission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(SEC)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rule</a:t>
            </a:r>
            <a:endParaRPr sz="1800">
              <a:latin typeface="Calibri"/>
              <a:cs typeface="Calibri"/>
            </a:endParaRPr>
          </a:p>
          <a:p>
            <a:pPr marL="1157605" lvl="1" indent="-230504">
              <a:lnSpc>
                <a:spcPct val="100000"/>
              </a:lnSpc>
              <a:buFont typeface="Wingdings"/>
              <a:buChar char=""/>
              <a:tabLst>
                <a:tab pos="1157605" algn="l"/>
              </a:tabLst>
            </a:pPr>
            <a:r>
              <a:rPr sz="1800" b="1" dirty="0">
                <a:latin typeface="Calibri"/>
                <a:cs typeface="Calibri"/>
              </a:rPr>
              <a:t>Federal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Information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Security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Management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Act</a:t>
            </a:r>
            <a:endParaRPr sz="1800">
              <a:latin typeface="Calibri"/>
              <a:cs typeface="Calibri"/>
            </a:endParaRPr>
          </a:p>
          <a:p>
            <a:pPr marL="1158240" lvl="1" indent="-23114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1158240" algn="l"/>
              </a:tabLst>
            </a:pP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Gramm-Leach-Bliley</a:t>
            </a:r>
            <a:endParaRPr sz="1800">
              <a:latin typeface="Calibri"/>
              <a:cs typeface="Calibri"/>
            </a:endParaRPr>
          </a:p>
          <a:p>
            <a:pPr marL="1157605" lvl="1" indent="-230504">
              <a:lnSpc>
                <a:spcPct val="100000"/>
              </a:lnSpc>
              <a:buFont typeface="Wingdings"/>
              <a:buChar char=""/>
              <a:tabLst>
                <a:tab pos="1157605" algn="l"/>
              </a:tabLst>
            </a:pPr>
            <a:r>
              <a:rPr sz="1800" b="1" dirty="0">
                <a:latin typeface="Calibri"/>
                <a:cs typeface="Calibri"/>
              </a:rPr>
              <a:t>European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Commission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protection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legislation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516" y="1350257"/>
            <a:ext cx="6176772" cy="13329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3600" y="3200400"/>
            <a:ext cx="4619625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761615"/>
            <a:ext cx="768032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12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Due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elastic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characteristic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cope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environment.</a:t>
            </a:r>
            <a:endParaRPr sz="1800">
              <a:latin typeface="Calibri"/>
              <a:cs typeface="Calibri"/>
            </a:endParaRPr>
          </a:p>
          <a:p>
            <a:pPr marL="12700" marR="543560">
              <a:lnSpc>
                <a:spcPct val="100000"/>
              </a:lnSpc>
              <a:spcBef>
                <a:spcPts val="2160"/>
              </a:spcBef>
            </a:pPr>
            <a:r>
              <a:rPr sz="1800" spc="-25" dirty="0">
                <a:latin typeface="Calibri"/>
                <a:cs typeface="Calibri"/>
              </a:rPr>
              <a:t>Tools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procedures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yet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developed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investigations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virtualized environment,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especially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hypervisor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level.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Need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FORENSICAWARE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516" y="740657"/>
            <a:ext cx="6176772" cy="133299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7200"/>
            <a:ext cx="9121140" cy="5699760"/>
            <a:chOff x="0" y="457200"/>
            <a:chExt cx="9121140" cy="569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7200"/>
              <a:ext cx="8883142" cy="56994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4191" y="2298192"/>
              <a:ext cx="4536948" cy="26212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8200" y="2362200"/>
              <a:ext cx="4354322" cy="2438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29150" y="2343150"/>
              <a:ext cx="4392930" cy="2476500"/>
            </a:xfrm>
            <a:custGeom>
              <a:avLst/>
              <a:gdLst/>
              <a:ahLst/>
              <a:cxnLst/>
              <a:rect l="l" t="t" r="r" b="b"/>
              <a:pathLst>
                <a:path w="4392930" h="2476500">
                  <a:moveTo>
                    <a:pt x="0" y="2476500"/>
                  </a:moveTo>
                  <a:lnTo>
                    <a:pt x="4392422" y="2476500"/>
                  </a:lnTo>
                  <a:lnTo>
                    <a:pt x="4392422" y="0"/>
                  </a:lnTo>
                  <a:lnTo>
                    <a:pt x="0" y="0"/>
                  </a:lnTo>
                  <a:lnTo>
                    <a:pt x="0" y="24765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168" y="261961"/>
            <a:ext cx="5897214" cy="284415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253995"/>
            <a:ext cx="9144000" cy="4604385"/>
            <a:chOff x="0" y="2253995"/>
            <a:chExt cx="9144000" cy="46043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4343399"/>
              <a:ext cx="25146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" y="4510023"/>
              <a:ext cx="6477000" cy="23479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253995"/>
              <a:ext cx="7002780" cy="23911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320800"/>
            <a:ext cx="2327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Guest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application</a:t>
            </a:r>
            <a:r>
              <a:rPr sz="1800" b="1" i="1" spc="-6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/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1869440"/>
            <a:ext cx="883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Guest</a:t>
            </a:r>
            <a:r>
              <a:rPr sz="1800" b="1" i="1" spc="-70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39" y="2418334"/>
            <a:ext cx="1315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latin typeface="Calibri"/>
                <a:cs typeface="Calibri"/>
              </a:rPr>
              <a:t>Virtualization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2966973"/>
            <a:ext cx="768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Host</a:t>
            </a:r>
            <a:r>
              <a:rPr sz="1800" b="1" i="1" spc="-60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39" y="3515690"/>
            <a:ext cx="17659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Physical</a:t>
            </a:r>
            <a:r>
              <a:rPr sz="1800" b="1" i="1" spc="-8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hardware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939" y="4064634"/>
            <a:ext cx="846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latin typeface="Calibri"/>
                <a:cs typeface="Calibri"/>
              </a:rPr>
              <a:t>Network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4215" y="2082926"/>
            <a:ext cx="3359785" cy="477507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50594" y="301193"/>
            <a:ext cx="6252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BUILDING</a:t>
            </a:r>
            <a:r>
              <a:rPr sz="4400" u="sng" spc="-6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</a:t>
            </a:r>
            <a:r>
              <a:rPr sz="4400" u="sng" spc="-3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TRUST</a:t>
            </a:r>
            <a:r>
              <a:rPr sz="4400" u="sng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MODEL</a:t>
            </a:r>
            <a:endParaRPr sz="4400"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504816"/>
            <a:ext cx="5715000" cy="23531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22675" y="2067890"/>
            <a:ext cx="203898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93065" algn="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Proposed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trust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model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six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663953"/>
            <a:ext cx="842391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Generating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signature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checking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signature </a:t>
            </a:r>
            <a:r>
              <a:rPr sz="1800" dirty="0">
                <a:latin typeface="Calibri"/>
                <a:cs typeface="Calibri"/>
              </a:rPr>
              <a:t>later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validate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integrity.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servers,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this </a:t>
            </a:r>
            <a:r>
              <a:rPr sz="1800" spc="-10" dirty="0">
                <a:latin typeface="Calibri"/>
                <a:cs typeface="Calibri"/>
              </a:rPr>
              <a:t>procedure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quite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complicated.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1800">
              <a:latin typeface="Calibri"/>
              <a:cs typeface="Calibri"/>
            </a:endParaRPr>
          </a:p>
          <a:p>
            <a:pPr marL="12700" marR="7766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SIGNATURE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DETECTION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FRAMEWORK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facilitate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 investigation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environment.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77592" y="156464"/>
            <a:ext cx="4988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INTEGRITY</a:t>
            </a:r>
            <a:r>
              <a:rPr sz="3600" spc="-114" dirty="0"/>
              <a:t> </a:t>
            </a:r>
            <a:r>
              <a:rPr sz="3600" spc="-35" dirty="0"/>
              <a:t>PRESERVATION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0" y="3684809"/>
            <a:ext cx="8764270" cy="2995295"/>
            <a:chOff x="0" y="3684809"/>
            <a:chExt cx="8764270" cy="29952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1697" y="3684809"/>
              <a:ext cx="2852064" cy="29952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48212"/>
              <a:ext cx="5867399" cy="7692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661796"/>
            <a:ext cx="5427345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5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Current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storage</a:t>
            </a:r>
            <a:r>
              <a:rPr sz="1800" spc="3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comprises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two </a:t>
            </a:r>
            <a:r>
              <a:rPr sz="1800" spc="-10" dirty="0">
                <a:latin typeface="Calibri"/>
                <a:cs typeface="Calibri"/>
              </a:rPr>
              <a:t>components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Meta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Servers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(MDS)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Object Storage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(OSD).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25" dirty="0">
                <a:latin typeface="Calibri"/>
                <a:cs typeface="Calibri"/>
              </a:rPr>
              <a:t> is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e-tag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checked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uploading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downloading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proposed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framework,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target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buckets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 Cluster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Controller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(FCC),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along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target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MD5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values.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FCC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initializes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queries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(AN)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getting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files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targeted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bucket.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receiving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round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signature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FCC,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retrieves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e-</a:t>
            </a:r>
            <a:r>
              <a:rPr sz="1800" dirty="0">
                <a:latin typeface="Calibri"/>
                <a:cs typeface="Calibri"/>
              </a:rPr>
              <a:t>tags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bucket.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Second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signatures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the </a:t>
            </a:r>
            <a:r>
              <a:rPr sz="1800" dirty="0">
                <a:latin typeface="Calibri"/>
                <a:cs typeface="Calibri"/>
              </a:rPr>
              <a:t>round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signature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signatures generated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etags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getting </a:t>
            </a:r>
            <a:r>
              <a:rPr sz="1800" dirty="0">
                <a:latin typeface="Calibri"/>
                <a:cs typeface="Calibri"/>
              </a:rPr>
              <a:t>feedback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FCC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terminates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ANs.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They </a:t>
            </a:r>
            <a:r>
              <a:rPr sz="1800" spc="-10" dirty="0">
                <a:latin typeface="Calibri"/>
                <a:cs typeface="Calibri"/>
              </a:rPr>
              <a:t>tested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framework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ways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Amazon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S3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emulating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platform.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They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achieved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zero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false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positive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false</a:t>
            </a:r>
            <a:r>
              <a:rPr sz="1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negative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found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significant improvement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terms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required.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1439" y="533400"/>
            <a:ext cx="3472561" cy="3352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7972" y="13207"/>
            <a:ext cx="6528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DISTRIBUTED</a:t>
            </a:r>
            <a:r>
              <a:rPr sz="2400" spc="-75" dirty="0"/>
              <a:t> </a:t>
            </a:r>
            <a:r>
              <a:rPr sz="2400" spc="-20" dirty="0"/>
              <a:t>SIGNATURE</a:t>
            </a:r>
            <a:r>
              <a:rPr sz="2400" spc="-80" dirty="0"/>
              <a:t> </a:t>
            </a:r>
            <a:r>
              <a:rPr sz="2400" dirty="0"/>
              <a:t>DETECTION</a:t>
            </a:r>
            <a:r>
              <a:rPr sz="2400" spc="-65" dirty="0"/>
              <a:t> </a:t>
            </a:r>
            <a:r>
              <a:rPr sz="2400" spc="-10" dirty="0"/>
              <a:t>FRAMEWORK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9800" y="4359851"/>
            <a:ext cx="2826273" cy="2121669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4175" y="749553"/>
            <a:ext cx="4745355" cy="541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13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Proposed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management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challenges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logging.</a:t>
            </a:r>
            <a:endParaRPr sz="1800">
              <a:latin typeface="Calibri"/>
              <a:cs typeface="Calibri"/>
            </a:endParaRPr>
          </a:p>
          <a:p>
            <a:pPr marL="12700" marR="555625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logging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solution, </a:t>
            </a:r>
            <a:r>
              <a:rPr sz="1800" dirty="0">
                <a:latin typeface="Calibri"/>
                <a:cs typeface="Calibri"/>
              </a:rPr>
              <a:t>logging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enabled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infrastructure components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logs.</a:t>
            </a:r>
            <a:endParaRPr sz="1800">
              <a:latin typeface="Calibri"/>
              <a:cs typeface="Calibri"/>
            </a:endParaRPr>
          </a:p>
          <a:p>
            <a:pPr marL="12700" marR="50165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next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establishing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synchronized, </a:t>
            </a:r>
            <a:r>
              <a:rPr sz="1800" dirty="0">
                <a:latin typeface="Calibri"/>
                <a:cs typeface="Calibri"/>
              </a:rPr>
              <a:t>reliable,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bandwidth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efficient,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encrypted </a:t>
            </a:r>
            <a:r>
              <a:rPr sz="1800" dirty="0">
                <a:latin typeface="Calibri"/>
                <a:cs typeface="Calibri"/>
              </a:rPr>
              <a:t>transport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a </a:t>
            </a:r>
            <a:r>
              <a:rPr sz="1800" dirty="0">
                <a:latin typeface="Calibri"/>
                <a:cs typeface="Calibri"/>
              </a:rPr>
              <a:t>central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collector.</a:t>
            </a:r>
            <a:endParaRPr sz="1800">
              <a:latin typeface="Calibri"/>
              <a:cs typeface="Calibri"/>
            </a:endParaRPr>
          </a:p>
          <a:p>
            <a:pPr marL="12700" marR="107314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deals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desired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proposed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guideline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tells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focus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three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40"/>
              </a:lnSpc>
            </a:pPr>
            <a:r>
              <a:rPr sz="1800" spc="-10" dirty="0">
                <a:latin typeface="Calibri"/>
                <a:cs typeface="Calibri"/>
              </a:rPr>
              <a:t>things: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880"/>
              </a:lnSpc>
              <a:spcBef>
                <a:spcPts val="80"/>
              </a:spcBef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sz="24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log,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24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log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log.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1994" y="7112"/>
            <a:ext cx="16192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LOGGING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7532" y="2002540"/>
            <a:ext cx="3994785" cy="2832100"/>
            <a:chOff x="97532" y="2002540"/>
            <a:chExt cx="3994785" cy="28321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32" y="2002540"/>
              <a:ext cx="3994410" cy="28315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2057400"/>
              <a:ext cx="3830320" cy="2667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3350" y="2038350"/>
              <a:ext cx="3868420" cy="2705100"/>
            </a:xfrm>
            <a:custGeom>
              <a:avLst/>
              <a:gdLst/>
              <a:ahLst/>
              <a:cxnLst/>
              <a:rect l="l" t="t" r="r" b="b"/>
              <a:pathLst>
                <a:path w="3868420" h="2705100">
                  <a:moveTo>
                    <a:pt x="0" y="2705100"/>
                  </a:moveTo>
                  <a:lnTo>
                    <a:pt x="3868420" y="2705100"/>
                  </a:lnTo>
                  <a:lnTo>
                    <a:pt x="3868420" y="0"/>
                  </a:lnTo>
                  <a:lnTo>
                    <a:pt x="0" y="0"/>
                  </a:lnTo>
                  <a:lnTo>
                    <a:pt x="0" y="270510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8634"/>
            <a:ext cx="3637915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27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acquisition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challenging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step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forensics.</a:t>
            </a:r>
            <a:endParaRPr sz="1800">
              <a:latin typeface="Calibri"/>
              <a:cs typeface="Calibri"/>
            </a:endParaRPr>
          </a:p>
          <a:p>
            <a:pPr marL="12700" marR="1905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CSPs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providing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management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console</a:t>
            </a:r>
            <a:r>
              <a:rPr sz="1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like</a:t>
            </a:r>
            <a:r>
              <a:rPr sz="1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AWS</a:t>
            </a:r>
            <a:r>
              <a:rPr sz="18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management console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5461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console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panel,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as </a:t>
            </a:r>
            <a:r>
              <a:rPr sz="1800" dirty="0">
                <a:latin typeface="Calibri"/>
                <a:cs typeface="Calibri"/>
              </a:rPr>
              <a:t>well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investigators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VM </a:t>
            </a:r>
            <a:r>
              <a:rPr sz="1800" dirty="0">
                <a:latin typeface="Calibri"/>
                <a:cs typeface="Calibri"/>
              </a:rPr>
              <a:t>image,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 </a:t>
            </a:r>
            <a:r>
              <a:rPr sz="1800" dirty="0">
                <a:latin typeface="Calibri"/>
                <a:cs typeface="Calibri"/>
              </a:rPr>
              <a:t>logs,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collected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Only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that, </a:t>
            </a:r>
            <a:r>
              <a:rPr sz="1800" b="1" dirty="0">
                <a:latin typeface="Calibri"/>
                <a:cs typeface="Calibri"/>
              </a:rPr>
              <a:t>it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requires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extra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level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trust </a:t>
            </a:r>
            <a:r>
              <a:rPr sz="1800" b="1" spc="-50" dirty="0">
                <a:latin typeface="Calibri"/>
                <a:cs typeface="Calibri"/>
              </a:rPr>
              <a:t>– </a:t>
            </a:r>
            <a:r>
              <a:rPr sz="1800" b="1" dirty="0">
                <a:latin typeface="Calibri"/>
                <a:cs typeface="Calibri"/>
              </a:rPr>
              <a:t>trust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management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plane.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95" dirty="0"/>
              <a:t> </a:t>
            </a:r>
            <a:r>
              <a:rPr dirty="0"/>
              <a:t>MANAGEMENT</a:t>
            </a:r>
            <a:r>
              <a:rPr spc="-85" dirty="0"/>
              <a:t> </a:t>
            </a:r>
            <a:r>
              <a:rPr spc="-10" dirty="0"/>
              <a:t>PLANE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1120832"/>
            <a:ext cx="3987800" cy="29177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7638" y="4267212"/>
            <a:ext cx="3776761" cy="216916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130553"/>
            <a:ext cx="5400675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01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Service </a:t>
            </a:r>
            <a:r>
              <a:rPr sz="1800" dirty="0">
                <a:latin typeface="Calibri"/>
                <a:cs typeface="Calibri"/>
              </a:rPr>
              <a:t>Level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Agreement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(SLA),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neither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responsibility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CSPs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malicious </a:t>
            </a:r>
            <a:r>
              <a:rPr sz="1800" dirty="0">
                <a:latin typeface="Calibri"/>
                <a:cs typeface="Calibri"/>
              </a:rPr>
              <a:t>incident,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investigation.</a:t>
            </a:r>
            <a:endParaRPr sz="1800">
              <a:latin typeface="Calibri"/>
              <a:cs typeface="Calibri"/>
            </a:endParaRPr>
          </a:p>
          <a:p>
            <a:pPr marL="12700" marR="6985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alibri"/>
                <a:cs typeface="Calibri"/>
              </a:rPr>
              <a:t>Researches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emphasis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robust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SLA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service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robust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providers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deal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cyber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crimes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i.e.,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extent</a:t>
            </a:r>
            <a:r>
              <a:rPr sz="18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they</a:t>
            </a:r>
            <a:r>
              <a:rPr sz="1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help</a:t>
            </a:r>
            <a:r>
              <a:rPr sz="18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forensic</a:t>
            </a:r>
            <a:r>
              <a:rPr sz="18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libri"/>
                <a:cs typeface="Calibri"/>
              </a:rPr>
              <a:t>investigation</a:t>
            </a:r>
            <a:r>
              <a:rPr sz="18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libri"/>
                <a:cs typeface="Calibri"/>
              </a:rPr>
              <a:t>procedure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context,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another </a:t>
            </a:r>
            <a:r>
              <a:rPr sz="1800" dirty="0">
                <a:latin typeface="Calibri"/>
                <a:cs typeface="Calibri"/>
              </a:rPr>
              <a:t>question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sure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robustness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SLA.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spc="-65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overcome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cross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border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legislation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challenges,</a:t>
            </a:r>
            <a:endParaRPr sz="1800">
              <a:latin typeface="Calibri"/>
              <a:cs typeface="Calibri"/>
            </a:endParaRPr>
          </a:p>
          <a:p>
            <a:pPr marL="12700" marR="83185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proposed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international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unity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introducing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international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legislation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cloud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forensics investigation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9788" y="4064"/>
            <a:ext cx="5281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SOLUTION</a:t>
            </a:r>
            <a:r>
              <a:rPr sz="3600" spc="-95" dirty="0"/>
              <a:t> </a:t>
            </a:r>
            <a:r>
              <a:rPr sz="3600" dirty="0"/>
              <a:t>OF</a:t>
            </a:r>
            <a:r>
              <a:rPr sz="3600" spc="-105" dirty="0"/>
              <a:t> </a:t>
            </a:r>
            <a:r>
              <a:rPr sz="3600" dirty="0"/>
              <a:t>LEGAL</a:t>
            </a:r>
            <a:r>
              <a:rPr sz="3600" spc="-100" dirty="0"/>
              <a:t> </a:t>
            </a:r>
            <a:r>
              <a:rPr sz="3600" spc="-10" dirty="0"/>
              <a:t>ISSUES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762000"/>
            <a:ext cx="3145028" cy="2514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3962400"/>
            <a:ext cx="3091561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84834"/>
            <a:ext cx="371094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Introspection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(VMI)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externally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monitoring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runtime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either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Monitor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(VMM),</a:t>
            </a:r>
            <a:r>
              <a:rPr sz="1800" spc="-25" dirty="0">
                <a:latin typeface="Calibri"/>
                <a:cs typeface="Calibri"/>
              </a:rPr>
              <a:t> or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than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examined.</a:t>
            </a:r>
            <a:endParaRPr sz="1800">
              <a:latin typeface="Calibri"/>
              <a:cs typeface="Calibri"/>
            </a:endParaRPr>
          </a:p>
          <a:p>
            <a:pPr marL="12700" marR="3175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runtime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referring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processor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registers,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memory,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disk, </a:t>
            </a:r>
            <a:r>
              <a:rPr sz="1800" dirty="0">
                <a:latin typeface="Calibri"/>
                <a:cs typeface="Calibri"/>
              </a:rPr>
              <a:t>network,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hardware-level </a:t>
            </a:r>
            <a:r>
              <a:rPr sz="1800" spc="-10" dirty="0">
                <a:latin typeface="Calibri"/>
                <a:cs typeface="Calibri"/>
              </a:rPr>
              <a:t>events.</a:t>
            </a:r>
            <a:endParaRPr sz="1800">
              <a:latin typeface="Calibri"/>
              <a:cs typeface="Calibri"/>
            </a:endParaRPr>
          </a:p>
          <a:p>
            <a:pPr marL="12700" marR="635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live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system, </a:t>
            </a:r>
            <a:r>
              <a:rPr sz="1800" dirty="0">
                <a:latin typeface="Calibri"/>
                <a:cs typeface="Calibri"/>
              </a:rPr>
              <a:t>while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keeping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target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 unchanged.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45" dirty="0"/>
              <a:t> </a:t>
            </a:r>
            <a:r>
              <a:rPr dirty="0"/>
              <a:t>MACHINE</a:t>
            </a:r>
            <a:r>
              <a:rPr spc="-120" dirty="0"/>
              <a:t> </a:t>
            </a:r>
            <a:r>
              <a:rPr spc="-10" dirty="0"/>
              <a:t>INTROSPECTION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990600"/>
            <a:ext cx="4419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814196"/>
            <a:ext cx="448691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912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overcome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volatile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data, </a:t>
            </a:r>
            <a:r>
              <a:rPr sz="1800" dirty="0">
                <a:latin typeface="Calibri"/>
                <a:cs typeface="Calibri"/>
              </a:rPr>
              <a:t>explore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possibility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continuous synchronization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volatile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persistent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  <a:p>
            <a:pPr marL="12700" marR="139065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Two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possible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ways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continuous synchronization.</a:t>
            </a:r>
            <a:endParaRPr sz="1800">
              <a:latin typeface="Calibri"/>
              <a:cs typeface="Calibri"/>
            </a:endParaRPr>
          </a:p>
          <a:p>
            <a:pPr marL="12700" marR="5080" indent="51435">
              <a:lnSpc>
                <a:spcPct val="100000"/>
              </a:lnSpc>
              <a:spcBef>
                <a:spcPts val="2165"/>
              </a:spcBef>
            </a:pPr>
            <a:r>
              <a:rPr sz="1800" b="1" dirty="0">
                <a:latin typeface="Calibri"/>
                <a:cs typeface="Calibri"/>
              </a:rPr>
              <a:t>CSPs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provide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continuous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synchronization </a:t>
            </a:r>
            <a:r>
              <a:rPr sz="1800" b="1" dirty="0">
                <a:latin typeface="Calibri"/>
                <a:cs typeface="Calibri"/>
              </a:rPr>
              <a:t>API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customers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API,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can </a:t>
            </a:r>
            <a:r>
              <a:rPr sz="1800" dirty="0">
                <a:latin typeface="Calibri"/>
                <a:cs typeface="Calibri"/>
              </a:rPr>
              <a:t>preserve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synchronized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cloud storage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Amazon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S3,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 storage.</a:t>
            </a:r>
            <a:endParaRPr sz="1800">
              <a:latin typeface="Calibri"/>
              <a:cs typeface="Calibri"/>
            </a:endParaRPr>
          </a:p>
          <a:p>
            <a:pPr marL="12700" marR="492759">
              <a:lnSpc>
                <a:spcPct val="100000"/>
              </a:lnSpc>
              <a:spcBef>
                <a:spcPts val="2160"/>
              </a:spcBef>
            </a:pPr>
            <a:r>
              <a:rPr sz="1800" spc="-25" dirty="0">
                <a:latin typeface="Calibri"/>
                <a:cs typeface="Calibri"/>
              </a:rPr>
              <a:t>However,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adversary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owner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VM!!!!then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what?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CONTINUOUS</a:t>
            </a:r>
            <a:r>
              <a:rPr sz="2800" spc="-105" dirty="0"/>
              <a:t> </a:t>
            </a:r>
            <a:r>
              <a:rPr sz="2800" spc="-25" dirty="0"/>
              <a:t>SYNCHRONIZATION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1905000"/>
            <a:ext cx="285750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8428" y="1282953"/>
            <a:ext cx="3016250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98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TPM,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get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authentication, hardware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encryption,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signing, </a:t>
            </a: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attestation.</a:t>
            </a:r>
            <a:endParaRPr sz="1800">
              <a:latin typeface="Calibri"/>
              <a:cs typeface="Calibri"/>
            </a:endParaRPr>
          </a:p>
          <a:p>
            <a:pPr marL="12700" marR="203200" indent="5143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integrity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instance, </a:t>
            </a:r>
            <a:r>
              <a:rPr sz="1800" dirty="0">
                <a:latin typeface="Calibri"/>
                <a:cs typeface="Calibri"/>
              </a:rPr>
              <a:t>trusted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trusted </a:t>
            </a:r>
            <a:r>
              <a:rPr sz="1800" dirty="0">
                <a:latin typeface="Calibri"/>
                <a:cs typeface="Calibri"/>
              </a:rPr>
              <a:t>deletion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5"/>
              </a:spcBef>
            </a:pPr>
            <a:r>
              <a:rPr sz="1800" spc="-25" dirty="0">
                <a:latin typeface="Calibri"/>
                <a:cs typeface="Calibri"/>
              </a:rPr>
              <a:t>Moreover,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CSPs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heterogeneous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few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TPM.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Hence, </a:t>
            </a:r>
            <a:r>
              <a:rPr sz="1800" dirty="0">
                <a:latin typeface="Calibri"/>
                <a:cs typeface="Calibri"/>
              </a:rPr>
              <a:t>CSPs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homogeneous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 environment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TPM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near </a:t>
            </a:r>
            <a:r>
              <a:rPr sz="1800" spc="-10" dirty="0">
                <a:latin typeface="Calibri"/>
                <a:cs typeface="Calibri"/>
              </a:rPr>
              <a:t>future.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996" rIns="0" bIns="0" rtlCol="0">
            <a:spAutoFit/>
          </a:bodyPr>
          <a:lstStyle/>
          <a:p>
            <a:pPr marL="100901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TRUSTED</a:t>
            </a:r>
            <a:r>
              <a:rPr sz="2400" spc="-70" dirty="0"/>
              <a:t> </a:t>
            </a:r>
            <a:r>
              <a:rPr sz="2400" spc="-25" dirty="0"/>
              <a:t>PLATFORM</a:t>
            </a:r>
            <a:r>
              <a:rPr sz="2400" spc="-55" dirty="0"/>
              <a:t> </a:t>
            </a:r>
            <a:r>
              <a:rPr sz="2400" dirty="0"/>
              <a:t>MODULE</a:t>
            </a:r>
            <a:r>
              <a:rPr sz="2400" spc="-55" dirty="0"/>
              <a:t> </a:t>
            </a:r>
            <a:r>
              <a:rPr sz="2400" spc="-10" dirty="0"/>
              <a:t>(TPM)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" y="1981200"/>
            <a:ext cx="5095875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45" dirty="0"/>
              <a:t> </a:t>
            </a:r>
            <a:r>
              <a:rPr dirty="0"/>
              <a:t>cloud</a:t>
            </a:r>
            <a:r>
              <a:rPr spc="-20" dirty="0"/>
              <a:t> </a:t>
            </a:r>
            <a:r>
              <a:rPr dirty="0"/>
              <a:t>instance</a:t>
            </a:r>
            <a:r>
              <a:rPr spc="-30" dirty="0"/>
              <a:t> </a:t>
            </a:r>
            <a:r>
              <a:rPr dirty="0"/>
              <a:t>must</a:t>
            </a:r>
            <a:r>
              <a:rPr spc="-45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isolated</a:t>
            </a:r>
            <a:r>
              <a:rPr spc="-4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spc="-25" dirty="0"/>
              <a:t>any </a:t>
            </a:r>
            <a:r>
              <a:rPr dirty="0"/>
              <a:t>incident</a:t>
            </a:r>
            <a:r>
              <a:rPr spc="-35" dirty="0"/>
              <a:t> </a:t>
            </a:r>
            <a:r>
              <a:rPr spc="-10" dirty="0"/>
              <a:t>take</a:t>
            </a:r>
            <a:r>
              <a:rPr spc="-45" dirty="0"/>
              <a:t> </a:t>
            </a:r>
            <a:r>
              <a:rPr dirty="0"/>
              <a:t>place</a:t>
            </a:r>
            <a:r>
              <a:rPr spc="-40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spc="-10" dirty="0"/>
              <a:t>instance.</a:t>
            </a:r>
          </a:p>
          <a:p>
            <a:pPr marL="12700" marR="169545">
              <a:lnSpc>
                <a:spcPct val="100000"/>
              </a:lnSpc>
            </a:pPr>
            <a:r>
              <a:rPr dirty="0"/>
              <a:t>Isolation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necessary</a:t>
            </a:r>
            <a:r>
              <a:rPr spc="-55" dirty="0"/>
              <a:t> </a:t>
            </a:r>
            <a:r>
              <a:rPr dirty="0"/>
              <a:t>because</a:t>
            </a:r>
            <a:r>
              <a:rPr spc="-4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helps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protect</a:t>
            </a:r>
            <a:r>
              <a:rPr spc="-70" dirty="0"/>
              <a:t> </a:t>
            </a:r>
            <a:r>
              <a:rPr dirty="0"/>
              <a:t>evidence</a:t>
            </a:r>
            <a:r>
              <a:rPr spc="-50" dirty="0"/>
              <a:t> </a:t>
            </a:r>
            <a:r>
              <a:rPr spc="-20" dirty="0"/>
              <a:t>from </a:t>
            </a:r>
            <a:r>
              <a:rPr spc="-10" dirty="0"/>
              <a:t>contamination.</a:t>
            </a:r>
            <a:r>
              <a:rPr spc="-30" dirty="0"/>
              <a:t> </a:t>
            </a:r>
            <a:r>
              <a:rPr spc="-25" dirty="0"/>
              <a:t>However,</a:t>
            </a:r>
            <a:r>
              <a:rPr spc="-30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spc="-10" dirty="0"/>
              <a:t>multiple instances</a:t>
            </a:r>
            <a:r>
              <a:rPr spc="-2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spc="-10" dirty="0"/>
              <a:t>located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one</a:t>
            </a:r>
            <a:r>
              <a:rPr spc="-20" dirty="0"/>
              <a:t> </a:t>
            </a:r>
            <a:r>
              <a:rPr spc="-10" dirty="0"/>
              <a:t>node, </a:t>
            </a:r>
            <a:r>
              <a:rPr dirty="0"/>
              <a:t>this</a:t>
            </a:r>
            <a:r>
              <a:rPr spc="-55" dirty="0"/>
              <a:t> </a:t>
            </a:r>
            <a:r>
              <a:rPr dirty="0"/>
              <a:t>task</a:t>
            </a:r>
            <a:r>
              <a:rPr spc="-50" dirty="0"/>
              <a:t> </a:t>
            </a:r>
            <a:r>
              <a:rPr dirty="0"/>
              <a:t>becomes</a:t>
            </a:r>
            <a:r>
              <a:rPr spc="-50" dirty="0"/>
              <a:t> </a:t>
            </a:r>
            <a:r>
              <a:rPr spc="-10" dirty="0"/>
              <a:t>challenging.</a:t>
            </a: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pc="-10" dirty="0"/>
          </a:p>
          <a:p>
            <a:pPr marL="12700" marR="72390">
              <a:lnSpc>
                <a:spcPct val="100000"/>
              </a:lnSpc>
            </a:pPr>
            <a:r>
              <a:rPr dirty="0"/>
              <a:t>Moving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suspicious</a:t>
            </a:r>
            <a:r>
              <a:rPr spc="-45" dirty="0"/>
              <a:t> </a:t>
            </a:r>
            <a:r>
              <a:rPr dirty="0"/>
              <a:t>instance</a:t>
            </a:r>
            <a:r>
              <a:rPr spc="-50" dirty="0"/>
              <a:t> </a:t>
            </a:r>
            <a:r>
              <a:rPr dirty="0"/>
              <a:t>from</a:t>
            </a:r>
            <a:r>
              <a:rPr spc="-60" dirty="0"/>
              <a:t> </a:t>
            </a:r>
            <a:r>
              <a:rPr spc="-25" dirty="0"/>
              <a:t>one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another</a:t>
            </a:r>
            <a:r>
              <a:rPr spc="-35" dirty="0"/>
              <a:t> </a:t>
            </a:r>
            <a:r>
              <a:rPr dirty="0"/>
              <a:t>node</a:t>
            </a:r>
            <a:r>
              <a:rPr spc="-30" dirty="0"/>
              <a:t> </a:t>
            </a:r>
            <a:r>
              <a:rPr dirty="0"/>
              <a:t>may</a:t>
            </a:r>
            <a:r>
              <a:rPr spc="-45" dirty="0"/>
              <a:t> </a:t>
            </a:r>
            <a:r>
              <a:rPr dirty="0"/>
              <a:t>result</a:t>
            </a:r>
            <a:r>
              <a:rPr spc="-50" dirty="0"/>
              <a:t> </a:t>
            </a:r>
            <a:r>
              <a:rPr spc="-35" dirty="0"/>
              <a:t>in </a:t>
            </a:r>
            <a:r>
              <a:rPr dirty="0"/>
              <a:t>possible</a:t>
            </a:r>
            <a:r>
              <a:rPr spc="-35" dirty="0"/>
              <a:t> </a:t>
            </a:r>
            <a:r>
              <a:rPr dirty="0"/>
              <a:t>loss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evidence.</a:t>
            </a:r>
          </a:p>
          <a:p>
            <a:pPr marL="12700" marR="488315" algn="just">
              <a:lnSpc>
                <a:spcPct val="100000"/>
              </a:lnSpc>
              <a:spcBef>
                <a:spcPts val="2165"/>
              </a:spcBef>
            </a:pPr>
            <a:r>
              <a:rPr spc="-65" dirty="0"/>
              <a:t>To</a:t>
            </a:r>
            <a:r>
              <a:rPr spc="-40" dirty="0"/>
              <a:t> </a:t>
            </a:r>
            <a:r>
              <a:rPr dirty="0"/>
              <a:t>protect</a:t>
            </a:r>
            <a:r>
              <a:rPr spc="-70" dirty="0"/>
              <a:t> </a:t>
            </a:r>
            <a:r>
              <a:rPr dirty="0"/>
              <a:t>evidence,</a:t>
            </a:r>
            <a:r>
              <a:rPr spc="-25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spc="-20" dirty="0"/>
              <a:t>move </a:t>
            </a:r>
            <a:r>
              <a:rPr dirty="0"/>
              <a:t>other</a:t>
            </a:r>
            <a:r>
              <a:rPr spc="-30" dirty="0"/>
              <a:t> </a:t>
            </a:r>
            <a:r>
              <a:rPr spc="-10" dirty="0"/>
              <a:t>instances</a:t>
            </a:r>
            <a:r>
              <a:rPr spc="-35" dirty="0"/>
              <a:t> </a:t>
            </a:r>
            <a:r>
              <a:rPr dirty="0"/>
              <a:t>reside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20" dirty="0"/>
              <a:t>same </a:t>
            </a:r>
            <a:r>
              <a:rPr spc="-10" dirty="0"/>
              <a:t>node.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ISOLATING</a:t>
            </a:r>
            <a:r>
              <a:rPr spc="-8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CLOUD</a:t>
            </a:r>
            <a:r>
              <a:rPr spc="-65" dirty="0"/>
              <a:t> </a:t>
            </a:r>
            <a:r>
              <a:rPr spc="-25" dirty="0"/>
              <a:t>INSTANCE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219200"/>
            <a:ext cx="4114800" cy="31518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4657725"/>
            <a:ext cx="293370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069" y="461594"/>
            <a:ext cx="4994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Provenance</a:t>
            </a:r>
            <a:r>
              <a:rPr sz="4400" spc="-105" dirty="0"/>
              <a:t> </a:t>
            </a:r>
            <a:r>
              <a:rPr sz="4400" dirty="0"/>
              <a:t>in</a:t>
            </a:r>
            <a:r>
              <a:rPr sz="4400" spc="-85" dirty="0"/>
              <a:t> </a:t>
            </a:r>
            <a:r>
              <a:rPr sz="4400" spc="-10" dirty="0"/>
              <a:t>Clouds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14278"/>
            <a:ext cx="7827009" cy="433387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Cloud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provenance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be</a:t>
            </a:r>
            <a:endParaRPr sz="3000">
              <a:latin typeface="Calibri"/>
              <a:cs typeface="Calibri"/>
            </a:endParaRPr>
          </a:p>
          <a:p>
            <a:pPr marL="755015" marR="17780" lvl="1" indent="-28575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Data</a:t>
            </a:r>
            <a:r>
              <a:rPr sz="26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provenance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created,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modified,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deleted 	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stored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cloud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(external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entities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change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data)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Process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provenance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happened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 </a:t>
            </a:r>
            <a:r>
              <a:rPr sz="2600" dirty="0">
                <a:latin typeface="Calibri"/>
                <a:cs typeface="Calibri"/>
              </a:rPr>
              <a:t>was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cloud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(internal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entities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change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data)</a:t>
            </a:r>
            <a:endParaRPr sz="2600">
              <a:latin typeface="Calibri"/>
              <a:cs typeface="Calibri"/>
            </a:endParaRPr>
          </a:p>
          <a:p>
            <a:pPr marL="355600" marR="299720" indent="-34353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Cloud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provenance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should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give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record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who </a:t>
            </a:r>
            <a:r>
              <a:rPr sz="3000" dirty="0">
                <a:latin typeface="Calibri"/>
                <a:cs typeface="Calibri"/>
              </a:rPr>
              <a:t>accessed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different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times</a:t>
            </a:r>
            <a:endParaRPr sz="3000">
              <a:latin typeface="Calibri"/>
              <a:cs typeface="Calibri"/>
            </a:endParaRPr>
          </a:p>
          <a:p>
            <a:pPr marL="355600" marR="358775" indent="-34353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Auditors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should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able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trace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entry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(and </a:t>
            </a:r>
            <a:r>
              <a:rPr sz="3000" dirty="0">
                <a:latin typeface="Calibri"/>
                <a:cs typeface="Calibri"/>
              </a:rPr>
              <a:t>associated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modification)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back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creator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694434"/>
            <a:ext cx="777240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Cybercrime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Forensics: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Investigation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IGI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Global,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2013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(edited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book)</a:t>
            </a:r>
            <a:endParaRPr sz="1800">
              <a:latin typeface="Calibri"/>
              <a:cs typeface="Calibri"/>
            </a:endParaRPr>
          </a:p>
          <a:p>
            <a:pPr marL="12700" marR="3532504">
              <a:lnSpc>
                <a:spcPct val="200000"/>
              </a:lnSpc>
            </a:pP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Reference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Architecture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(CFRA)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Maturity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(CFMM)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2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UCD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CCI: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Capability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Enforcement </a:t>
            </a:r>
            <a:r>
              <a:rPr sz="1800" dirty="0">
                <a:latin typeface="Calibri"/>
                <a:cs typeface="Calibri"/>
              </a:rPr>
              <a:t>NIST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Science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Group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CSA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Incident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Group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448" y="622488"/>
            <a:ext cx="4791456" cy="63880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345" y="2824098"/>
            <a:ext cx="82842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CAN</a:t>
            </a:r>
            <a:r>
              <a:rPr sz="3600" spc="-114" dirty="0"/>
              <a:t> </a:t>
            </a:r>
            <a:r>
              <a:rPr sz="3600" dirty="0"/>
              <a:t>YOU</a:t>
            </a:r>
            <a:r>
              <a:rPr sz="3600" spc="-114" dirty="0"/>
              <a:t> </a:t>
            </a:r>
            <a:r>
              <a:rPr sz="3600" spc="-20" dirty="0"/>
              <a:t>PREPARE</a:t>
            </a:r>
            <a:r>
              <a:rPr sz="3600" spc="-150" dirty="0"/>
              <a:t> </a:t>
            </a:r>
            <a:r>
              <a:rPr sz="3600" dirty="0"/>
              <a:t>FOR</a:t>
            </a:r>
            <a:r>
              <a:rPr sz="3600" spc="-120" dirty="0"/>
              <a:t> </a:t>
            </a:r>
            <a:r>
              <a:rPr sz="3600" dirty="0"/>
              <a:t>CLOUD</a:t>
            </a:r>
            <a:r>
              <a:rPr sz="3600" spc="-114" dirty="0"/>
              <a:t> </a:t>
            </a:r>
            <a:r>
              <a:rPr sz="3600" spc="-10" dirty="0"/>
              <a:t>FORENSICS?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41044" y="4590669"/>
            <a:ext cx="75387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key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avoiding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much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this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pain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being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prepared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before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incident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occurs.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i="1" dirty="0">
                <a:latin typeface="Calibri"/>
                <a:cs typeface="Calibri"/>
              </a:rPr>
              <a:t>Once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you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become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customer,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you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have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lost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much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your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leverage……..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304800"/>
            <a:ext cx="2432662" cy="2317877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100" y="1091564"/>
            <a:ext cx="8255000" cy="824865"/>
            <a:chOff x="292100" y="1091564"/>
            <a:chExt cx="8255000" cy="824865"/>
          </a:xfrm>
        </p:grpSpPr>
        <p:sp>
          <p:nvSpPr>
            <p:cNvPr id="3" name="object 3"/>
            <p:cNvSpPr/>
            <p:nvPr/>
          </p:nvSpPr>
          <p:spPr>
            <a:xfrm>
              <a:off x="304800" y="1399476"/>
              <a:ext cx="8229600" cy="504190"/>
            </a:xfrm>
            <a:custGeom>
              <a:avLst/>
              <a:gdLst/>
              <a:ahLst/>
              <a:cxnLst/>
              <a:rect l="l" t="t" r="r" b="b"/>
              <a:pathLst>
                <a:path w="8229600" h="504189">
                  <a:moveTo>
                    <a:pt x="0" y="503999"/>
                  </a:moveTo>
                  <a:lnTo>
                    <a:pt x="8229600" y="503999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03999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7844" y="1104264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7308151" y="0"/>
                  </a:moveTo>
                  <a:lnTo>
                    <a:pt x="98399" y="0"/>
                  </a:lnTo>
                  <a:lnTo>
                    <a:pt x="60098" y="7735"/>
                  </a:lnTo>
                  <a:lnTo>
                    <a:pt x="28821" y="28829"/>
                  </a:lnTo>
                  <a:lnTo>
                    <a:pt x="7732" y="60114"/>
                  </a:lnTo>
                  <a:lnTo>
                    <a:pt x="0" y="98425"/>
                  </a:lnTo>
                  <a:lnTo>
                    <a:pt x="0" y="491998"/>
                  </a:lnTo>
                  <a:lnTo>
                    <a:pt x="7732" y="530308"/>
                  </a:lnTo>
                  <a:lnTo>
                    <a:pt x="28821" y="561594"/>
                  </a:lnTo>
                  <a:lnTo>
                    <a:pt x="60098" y="582687"/>
                  </a:lnTo>
                  <a:lnTo>
                    <a:pt x="98399" y="590423"/>
                  </a:lnTo>
                  <a:lnTo>
                    <a:pt x="7308151" y="590423"/>
                  </a:lnTo>
                  <a:lnTo>
                    <a:pt x="7346461" y="582687"/>
                  </a:lnTo>
                  <a:lnTo>
                    <a:pt x="7377747" y="561594"/>
                  </a:lnTo>
                  <a:lnTo>
                    <a:pt x="7398841" y="530308"/>
                  </a:lnTo>
                  <a:lnTo>
                    <a:pt x="7406576" y="491998"/>
                  </a:lnTo>
                  <a:lnTo>
                    <a:pt x="7406576" y="98425"/>
                  </a:lnTo>
                  <a:lnTo>
                    <a:pt x="7398841" y="60114"/>
                  </a:lnTo>
                  <a:lnTo>
                    <a:pt x="7377747" y="28828"/>
                  </a:lnTo>
                  <a:lnTo>
                    <a:pt x="7346461" y="7735"/>
                  </a:lnTo>
                  <a:lnTo>
                    <a:pt x="7308151" y="0"/>
                  </a:lnTo>
                  <a:close/>
                </a:path>
              </a:pathLst>
            </a:custGeom>
            <a:solidFill>
              <a:srgbClr val="6224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7844" y="1104264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0" y="98425"/>
                  </a:moveTo>
                  <a:lnTo>
                    <a:pt x="7732" y="60114"/>
                  </a:lnTo>
                  <a:lnTo>
                    <a:pt x="28821" y="28829"/>
                  </a:lnTo>
                  <a:lnTo>
                    <a:pt x="60098" y="7735"/>
                  </a:lnTo>
                  <a:lnTo>
                    <a:pt x="98399" y="0"/>
                  </a:lnTo>
                  <a:lnTo>
                    <a:pt x="7308151" y="0"/>
                  </a:lnTo>
                  <a:lnTo>
                    <a:pt x="7346461" y="7735"/>
                  </a:lnTo>
                  <a:lnTo>
                    <a:pt x="7377747" y="28828"/>
                  </a:lnTo>
                  <a:lnTo>
                    <a:pt x="7398841" y="60114"/>
                  </a:lnTo>
                  <a:lnTo>
                    <a:pt x="7406576" y="98425"/>
                  </a:lnTo>
                  <a:lnTo>
                    <a:pt x="7406576" y="491998"/>
                  </a:lnTo>
                  <a:lnTo>
                    <a:pt x="7398841" y="530308"/>
                  </a:lnTo>
                  <a:lnTo>
                    <a:pt x="7377747" y="561594"/>
                  </a:lnTo>
                  <a:lnTo>
                    <a:pt x="7346461" y="582687"/>
                  </a:lnTo>
                  <a:lnTo>
                    <a:pt x="7308151" y="590423"/>
                  </a:lnTo>
                  <a:lnTo>
                    <a:pt x="98399" y="590423"/>
                  </a:lnTo>
                  <a:lnTo>
                    <a:pt x="60098" y="582687"/>
                  </a:lnTo>
                  <a:lnTo>
                    <a:pt x="28821" y="561594"/>
                  </a:lnTo>
                  <a:lnTo>
                    <a:pt x="7732" y="530308"/>
                  </a:lnTo>
                  <a:lnTo>
                    <a:pt x="0" y="491998"/>
                  </a:lnTo>
                  <a:lnTo>
                    <a:pt x="0" y="98425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1791" y="1161414"/>
            <a:ext cx="6893559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39370">
              <a:lnSpc>
                <a:spcPts val="1540"/>
              </a:lnSpc>
              <a:spcBef>
                <a:spcPts val="27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notify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immediately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breach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provider’s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since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2100" y="1998852"/>
            <a:ext cx="8255000" cy="824865"/>
            <a:chOff x="292100" y="1998852"/>
            <a:chExt cx="8255000" cy="824865"/>
          </a:xfrm>
        </p:grpSpPr>
        <p:sp>
          <p:nvSpPr>
            <p:cNvPr id="8" name="object 8"/>
            <p:cNvSpPr/>
            <p:nvPr/>
          </p:nvSpPr>
          <p:spPr>
            <a:xfrm>
              <a:off x="304800" y="2306637"/>
              <a:ext cx="8229600" cy="504190"/>
            </a:xfrm>
            <a:custGeom>
              <a:avLst/>
              <a:gdLst/>
              <a:ahLst/>
              <a:cxnLst/>
              <a:rect l="l" t="t" r="r" b="b"/>
              <a:pathLst>
                <a:path w="8229600" h="504189">
                  <a:moveTo>
                    <a:pt x="0" y="503999"/>
                  </a:moveTo>
                  <a:lnTo>
                    <a:pt x="8229600" y="503999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03999"/>
                  </a:lnTo>
                  <a:close/>
                </a:path>
              </a:pathLst>
            </a:custGeom>
            <a:ln w="25400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7844" y="2011552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7308151" y="0"/>
                  </a:moveTo>
                  <a:lnTo>
                    <a:pt x="98399" y="0"/>
                  </a:lnTo>
                  <a:lnTo>
                    <a:pt x="60098" y="7715"/>
                  </a:lnTo>
                  <a:lnTo>
                    <a:pt x="28821" y="28765"/>
                  </a:lnTo>
                  <a:lnTo>
                    <a:pt x="7732" y="60007"/>
                  </a:lnTo>
                  <a:lnTo>
                    <a:pt x="0" y="98298"/>
                  </a:lnTo>
                  <a:lnTo>
                    <a:pt x="0" y="491998"/>
                  </a:lnTo>
                  <a:lnTo>
                    <a:pt x="7732" y="530234"/>
                  </a:lnTo>
                  <a:lnTo>
                    <a:pt x="28821" y="561482"/>
                  </a:lnTo>
                  <a:lnTo>
                    <a:pt x="60098" y="582562"/>
                  </a:lnTo>
                  <a:lnTo>
                    <a:pt x="98399" y="590296"/>
                  </a:lnTo>
                  <a:lnTo>
                    <a:pt x="7308151" y="590296"/>
                  </a:lnTo>
                  <a:lnTo>
                    <a:pt x="7346461" y="582562"/>
                  </a:lnTo>
                  <a:lnTo>
                    <a:pt x="7377747" y="561482"/>
                  </a:lnTo>
                  <a:lnTo>
                    <a:pt x="7398841" y="530234"/>
                  </a:lnTo>
                  <a:lnTo>
                    <a:pt x="7406576" y="491998"/>
                  </a:lnTo>
                  <a:lnTo>
                    <a:pt x="7406576" y="98298"/>
                  </a:lnTo>
                  <a:lnTo>
                    <a:pt x="7398841" y="60007"/>
                  </a:lnTo>
                  <a:lnTo>
                    <a:pt x="7377747" y="28765"/>
                  </a:lnTo>
                  <a:lnTo>
                    <a:pt x="7346461" y="7715"/>
                  </a:lnTo>
                  <a:lnTo>
                    <a:pt x="7308151" y="0"/>
                  </a:lnTo>
                  <a:close/>
                </a:path>
              </a:pathLst>
            </a:custGeom>
            <a:solidFill>
              <a:srgbClr val="1E1C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7844" y="2011552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0" y="98298"/>
                  </a:moveTo>
                  <a:lnTo>
                    <a:pt x="7732" y="60007"/>
                  </a:lnTo>
                  <a:lnTo>
                    <a:pt x="28821" y="28765"/>
                  </a:lnTo>
                  <a:lnTo>
                    <a:pt x="60098" y="7715"/>
                  </a:lnTo>
                  <a:lnTo>
                    <a:pt x="98399" y="0"/>
                  </a:lnTo>
                  <a:lnTo>
                    <a:pt x="7308151" y="0"/>
                  </a:lnTo>
                  <a:lnTo>
                    <a:pt x="7346461" y="7715"/>
                  </a:lnTo>
                  <a:lnTo>
                    <a:pt x="7377747" y="28765"/>
                  </a:lnTo>
                  <a:lnTo>
                    <a:pt x="7398841" y="60007"/>
                  </a:lnTo>
                  <a:lnTo>
                    <a:pt x="7406576" y="98298"/>
                  </a:lnTo>
                  <a:lnTo>
                    <a:pt x="7406576" y="491998"/>
                  </a:lnTo>
                  <a:lnTo>
                    <a:pt x="7398841" y="530234"/>
                  </a:lnTo>
                  <a:lnTo>
                    <a:pt x="7377747" y="561482"/>
                  </a:lnTo>
                  <a:lnTo>
                    <a:pt x="7346461" y="582562"/>
                  </a:lnTo>
                  <a:lnTo>
                    <a:pt x="7308151" y="590296"/>
                  </a:lnTo>
                  <a:lnTo>
                    <a:pt x="98399" y="590296"/>
                  </a:lnTo>
                  <a:lnTo>
                    <a:pt x="60098" y="582562"/>
                  </a:lnTo>
                  <a:lnTo>
                    <a:pt x="28821" y="561482"/>
                  </a:lnTo>
                  <a:lnTo>
                    <a:pt x="7732" y="530234"/>
                  </a:lnTo>
                  <a:lnTo>
                    <a:pt x="0" y="491998"/>
                  </a:lnTo>
                  <a:lnTo>
                    <a:pt x="0" y="9829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21791" y="2166366"/>
            <a:ext cx="61010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allow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self-collect.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2100" y="2906014"/>
            <a:ext cx="8255000" cy="824865"/>
            <a:chOff x="292100" y="2906014"/>
            <a:chExt cx="8255000" cy="824865"/>
          </a:xfrm>
        </p:grpSpPr>
        <p:sp>
          <p:nvSpPr>
            <p:cNvPr id="13" name="object 13"/>
            <p:cNvSpPr/>
            <p:nvPr/>
          </p:nvSpPr>
          <p:spPr>
            <a:xfrm>
              <a:off x="304800" y="3213925"/>
              <a:ext cx="8229600" cy="504190"/>
            </a:xfrm>
            <a:custGeom>
              <a:avLst/>
              <a:gdLst/>
              <a:ahLst/>
              <a:cxnLst/>
              <a:rect l="l" t="t" r="r" b="b"/>
              <a:pathLst>
                <a:path w="8229600" h="504189">
                  <a:moveTo>
                    <a:pt x="0" y="503999"/>
                  </a:moveTo>
                  <a:lnTo>
                    <a:pt x="8229600" y="503999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03999"/>
                  </a:lnTo>
                  <a:close/>
                </a:path>
              </a:pathLst>
            </a:custGeom>
            <a:ln w="254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7844" y="2918714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7308151" y="0"/>
                  </a:moveTo>
                  <a:lnTo>
                    <a:pt x="98399" y="0"/>
                  </a:lnTo>
                  <a:lnTo>
                    <a:pt x="60098" y="7735"/>
                  </a:lnTo>
                  <a:lnTo>
                    <a:pt x="28821" y="28829"/>
                  </a:lnTo>
                  <a:lnTo>
                    <a:pt x="7732" y="60114"/>
                  </a:lnTo>
                  <a:lnTo>
                    <a:pt x="0" y="98425"/>
                  </a:lnTo>
                  <a:lnTo>
                    <a:pt x="0" y="491998"/>
                  </a:lnTo>
                  <a:lnTo>
                    <a:pt x="7732" y="530308"/>
                  </a:lnTo>
                  <a:lnTo>
                    <a:pt x="28821" y="561594"/>
                  </a:lnTo>
                  <a:lnTo>
                    <a:pt x="60098" y="582687"/>
                  </a:lnTo>
                  <a:lnTo>
                    <a:pt x="98399" y="590423"/>
                  </a:lnTo>
                  <a:lnTo>
                    <a:pt x="7308151" y="590423"/>
                  </a:lnTo>
                  <a:lnTo>
                    <a:pt x="7346461" y="582687"/>
                  </a:lnTo>
                  <a:lnTo>
                    <a:pt x="7377747" y="561593"/>
                  </a:lnTo>
                  <a:lnTo>
                    <a:pt x="7398841" y="530308"/>
                  </a:lnTo>
                  <a:lnTo>
                    <a:pt x="7406576" y="491998"/>
                  </a:lnTo>
                  <a:lnTo>
                    <a:pt x="7406576" y="98425"/>
                  </a:lnTo>
                  <a:lnTo>
                    <a:pt x="7398841" y="60114"/>
                  </a:lnTo>
                  <a:lnTo>
                    <a:pt x="7377747" y="28828"/>
                  </a:lnTo>
                  <a:lnTo>
                    <a:pt x="7346461" y="7735"/>
                  </a:lnTo>
                  <a:lnTo>
                    <a:pt x="7308151" y="0"/>
                  </a:lnTo>
                  <a:close/>
                </a:path>
              </a:pathLst>
            </a:custGeom>
            <a:solidFill>
              <a:srgbClr val="403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7844" y="2918714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0" y="98425"/>
                  </a:moveTo>
                  <a:lnTo>
                    <a:pt x="7732" y="60114"/>
                  </a:lnTo>
                  <a:lnTo>
                    <a:pt x="28821" y="28829"/>
                  </a:lnTo>
                  <a:lnTo>
                    <a:pt x="60098" y="7735"/>
                  </a:lnTo>
                  <a:lnTo>
                    <a:pt x="98399" y="0"/>
                  </a:lnTo>
                  <a:lnTo>
                    <a:pt x="7308151" y="0"/>
                  </a:lnTo>
                  <a:lnTo>
                    <a:pt x="7346461" y="7735"/>
                  </a:lnTo>
                  <a:lnTo>
                    <a:pt x="7377747" y="28828"/>
                  </a:lnTo>
                  <a:lnTo>
                    <a:pt x="7398841" y="60114"/>
                  </a:lnTo>
                  <a:lnTo>
                    <a:pt x="7406576" y="98425"/>
                  </a:lnTo>
                  <a:lnTo>
                    <a:pt x="7406576" y="491998"/>
                  </a:lnTo>
                  <a:lnTo>
                    <a:pt x="7398841" y="530308"/>
                  </a:lnTo>
                  <a:lnTo>
                    <a:pt x="7377747" y="561593"/>
                  </a:lnTo>
                  <a:lnTo>
                    <a:pt x="7346461" y="582687"/>
                  </a:lnTo>
                  <a:lnTo>
                    <a:pt x="7308151" y="590423"/>
                  </a:lnTo>
                  <a:lnTo>
                    <a:pt x="98399" y="590423"/>
                  </a:lnTo>
                  <a:lnTo>
                    <a:pt x="60098" y="582687"/>
                  </a:lnTo>
                  <a:lnTo>
                    <a:pt x="28821" y="561594"/>
                  </a:lnTo>
                  <a:lnTo>
                    <a:pt x="7732" y="530308"/>
                  </a:lnTo>
                  <a:lnTo>
                    <a:pt x="0" y="491998"/>
                  </a:lnTo>
                  <a:lnTo>
                    <a:pt x="0" y="98425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21791" y="2976118"/>
            <a:ext cx="6690995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39370">
              <a:lnSpc>
                <a:spcPts val="1540"/>
              </a:lnSpc>
              <a:spcBef>
                <a:spcPts val="27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collects,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holds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it,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longer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2100" y="3813175"/>
            <a:ext cx="8255000" cy="824865"/>
            <a:chOff x="292100" y="3813175"/>
            <a:chExt cx="8255000" cy="824865"/>
          </a:xfrm>
        </p:grpSpPr>
        <p:sp>
          <p:nvSpPr>
            <p:cNvPr id="18" name="object 18"/>
            <p:cNvSpPr/>
            <p:nvPr/>
          </p:nvSpPr>
          <p:spPr>
            <a:xfrm>
              <a:off x="304800" y="4121086"/>
              <a:ext cx="8229600" cy="504190"/>
            </a:xfrm>
            <a:custGeom>
              <a:avLst/>
              <a:gdLst/>
              <a:ahLst/>
              <a:cxnLst/>
              <a:rect l="l" t="t" r="r" b="b"/>
              <a:pathLst>
                <a:path w="8229600" h="504189">
                  <a:moveTo>
                    <a:pt x="0" y="503999"/>
                  </a:moveTo>
                  <a:lnTo>
                    <a:pt x="8229600" y="503999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03999"/>
                  </a:lnTo>
                  <a:close/>
                </a:path>
              </a:pathLst>
            </a:custGeom>
            <a:ln w="25400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2055" y="3825875"/>
              <a:ext cx="7407275" cy="590550"/>
            </a:xfrm>
            <a:custGeom>
              <a:avLst/>
              <a:gdLst/>
              <a:ahLst/>
              <a:cxnLst/>
              <a:rect l="l" t="t" r="r" b="b"/>
              <a:pathLst>
                <a:path w="7407275" h="590550">
                  <a:moveTo>
                    <a:pt x="7308253" y="0"/>
                  </a:moveTo>
                  <a:lnTo>
                    <a:pt x="98412" y="0"/>
                  </a:lnTo>
                  <a:lnTo>
                    <a:pt x="60103" y="7735"/>
                  </a:lnTo>
                  <a:lnTo>
                    <a:pt x="28822" y="28829"/>
                  </a:lnTo>
                  <a:lnTo>
                    <a:pt x="7733" y="60114"/>
                  </a:lnTo>
                  <a:lnTo>
                    <a:pt x="0" y="98425"/>
                  </a:lnTo>
                  <a:lnTo>
                    <a:pt x="0" y="491998"/>
                  </a:lnTo>
                  <a:lnTo>
                    <a:pt x="7733" y="530308"/>
                  </a:lnTo>
                  <a:lnTo>
                    <a:pt x="28822" y="561594"/>
                  </a:lnTo>
                  <a:lnTo>
                    <a:pt x="60103" y="582687"/>
                  </a:lnTo>
                  <a:lnTo>
                    <a:pt x="98412" y="590423"/>
                  </a:lnTo>
                  <a:lnTo>
                    <a:pt x="7308253" y="590423"/>
                  </a:lnTo>
                  <a:lnTo>
                    <a:pt x="7346563" y="582687"/>
                  </a:lnTo>
                  <a:lnTo>
                    <a:pt x="7377849" y="561594"/>
                  </a:lnTo>
                  <a:lnTo>
                    <a:pt x="7398943" y="530308"/>
                  </a:lnTo>
                  <a:lnTo>
                    <a:pt x="7406678" y="491998"/>
                  </a:lnTo>
                  <a:lnTo>
                    <a:pt x="7406678" y="98425"/>
                  </a:lnTo>
                  <a:lnTo>
                    <a:pt x="7398943" y="60114"/>
                  </a:lnTo>
                  <a:lnTo>
                    <a:pt x="7377849" y="28828"/>
                  </a:lnTo>
                  <a:lnTo>
                    <a:pt x="7346563" y="7735"/>
                  </a:lnTo>
                  <a:lnTo>
                    <a:pt x="7308253" y="0"/>
                  </a:lnTo>
                  <a:close/>
                </a:path>
              </a:pathLst>
            </a:custGeom>
            <a:solidFill>
              <a:srgbClr val="0F24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2055" y="3825875"/>
              <a:ext cx="7407275" cy="590550"/>
            </a:xfrm>
            <a:custGeom>
              <a:avLst/>
              <a:gdLst/>
              <a:ahLst/>
              <a:cxnLst/>
              <a:rect l="l" t="t" r="r" b="b"/>
              <a:pathLst>
                <a:path w="7407275" h="590550">
                  <a:moveTo>
                    <a:pt x="0" y="98425"/>
                  </a:moveTo>
                  <a:lnTo>
                    <a:pt x="7733" y="60114"/>
                  </a:lnTo>
                  <a:lnTo>
                    <a:pt x="28822" y="28829"/>
                  </a:lnTo>
                  <a:lnTo>
                    <a:pt x="60103" y="7735"/>
                  </a:lnTo>
                  <a:lnTo>
                    <a:pt x="98412" y="0"/>
                  </a:lnTo>
                  <a:lnTo>
                    <a:pt x="7308253" y="0"/>
                  </a:lnTo>
                  <a:lnTo>
                    <a:pt x="7346563" y="7735"/>
                  </a:lnTo>
                  <a:lnTo>
                    <a:pt x="7377849" y="28828"/>
                  </a:lnTo>
                  <a:lnTo>
                    <a:pt x="7398943" y="60114"/>
                  </a:lnTo>
                  <a:lnTo>
                    <a:pt x="7406678" y="98425"/>
                  </a:lnTo>
                  <a:lnTo>
                    <a:pt x="7406678" y="491998"/>
                  </a:lnTo>
                  <a:lnTo>
                    <a:pt x="7398943" y="530308"/>
                  </a:lnTo>
                  <a:lnTo>
                    <a:pt x="7377849" y="561594"/>
                  </a:lnTo>
                  <a:lnTo>
                    <a:pt x="7346563" y="582687"/>
                  </a:lnTo>
                  <a:lnTo>
                    <a:pt x="7308253" y="590423"/>
                  </a:lnTo>
                  <a:lnTo>
                    <a:pt x="98412" y="590423"/>
                  </a:lnTo>
                  <a:lnTo>
                    <a:pt x="60103" y="582687"/>
                  </a:lnTo>
                  <a:lnTo>
                    <a:pt x="28822" y="561594"/>
                  </a:lnTo>
                  <a:lnTo>
                    <a:pt x="7733" y="530308"/>
                  </a:lnTo>
                  <a:lnTo>
                    <a:pt x="0" y="491998"/>
                  </a:lnTo>
                  <a:lnTo>
                    <a:pt x="0" y="9842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86129" y="3981069"/>
            <a:ext cx="47072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actually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owns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controls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servers.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92100" y="4720463"/>
            <a:ext cx="8255000" cy="824865"/>
            <a:chOff x="292100" y="4720463"/>
            <a:chExt cx="8255000" cy="824865"/>
          </a:xfrm>
        </p:grpSpPr>
        <p:sp>
          <p:nvSpPr>
            <p:cNvPr id="23" name="object 23"/>
            <p:cNvSpPr/>
            <p:nvPr/>
          </p:nvSpPr>
          <p:spPr>
            <a:xfrm>
              <a:off x="304800" y="5028247"/>
              <a:ext cx="8229600" cy="504190"/>
            </a:xfrm>
            <a:custGeom>
              <a:avLst/>
              <a:gdLst/>
              <a:ahLst/>
              <a:cxnLst/>
              <a:rect l="l" t="t" r="r" b="b"/>
              <a:pathLst>
                <a:path w="8229600" h="504189">
                  <a:moveTo>
                    <a:pt x="0" y="503999"/>
                  </a:moveTo>
                  <a:lnTo>
                    <a:pt x="8229600" y="503999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03999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6280" y="4733163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7308215" y="0"/>
                  </a:moveTo>
                  <a:lnTo>
                    <a:pt x="98399" y="0"/>
                  </a:lnTo>
                  <a:lnTo>
                    <a:pt x="60098" y="7715"/>
                  </a:lnTo>
                  <a:lnTo>
                    <a:pt x="28821" y="28765"/>
                  </a:lnTo>
                  <a:lnTo>
                    <a:pt x="7732" y="60007"/>
                  </a:lnTo>
                  <a:lnTo>
                    <a:pt x="0" y="98298"/>
                  </a:lnTo>
                  <a:lnTo>
                    <a:pt x="0" y="491998"/>
                  </a:lnTo>
                  <a:lnTo>
                    <a:pt x="7732" y="530234"/>
                  </a:lnTo>
                  <a:lnTo>
                    <a:pt x="28821" y="561482"/>
                  </a:lnTo>
                  <a:lnTo>
                    <a:pt x="60098" y="582562"/>
                  </a:lnTo>
                  <a:lnTo>
                    <a:pt x="98399" y="590296"/>
                  </a:lnTo>
                  <a:lnTo>
                    <a:pt x="7308215" y="590296"/>
                  </a:lnTo>
                  <a:lnTo>
                    <a:pt x="7346525" y="582562"/>
                  </a:lnTo>
                  <a:lnTo>
                    <a:pt x="7377810" y="561482"/>
                  </a:lnTo>
                  <a:lnTo>
                    <a:pt x="7398904" y="530234"/>
                  </a:lnTo>
                  <a:lnTo>
                    <a:pt x="7406640" y="491998"/>
                  </a:lnTo>
                  <a:lnTo>
                    <a:pt x="7406640" y="98298"/>
                  </a:lnTo>
                  <a:lnTo>
                    <a:pt x="7398904" y="60007"/>
                  </a:lnTo>
                  <a:lnTo>
                    <a:pt x="7377811" y="28765"/>
                  </a:lnTo>
                  <a:lnTo>
                    <a:pt x="7346525" y="7715"/>
                  </a:lnTo>
                  <a:lnTo>
                    <a:pt x="7308215" y="0"/>
                  </a:lnTo>
                  <a:close/>
                </a:path>
              </a:pathLst>
            </a:custGeom>
            <a:solidFill>
              <a:srgbClr val="9747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6280" y="4733163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0" y="98298"/>
                  </a:moveTo>
                  <a:lnTo>
                    <a:pt x="7732" y="60007"/>
                  </a:lnTo>
                  <a:lnTo>
                    <a:pt x="28821" y="28765"/>
                  </a:lnTo>
                  <a:lnTo>
                    <a:pt x="60098" y="7715"/>
                  </a:lnTo>
                  <a:lnTo>
                    <a:pt x="98399" y="0"/>
                  </a:lnTo>
                  <a:lnTo>
                    <a:pt x="7308215" y="0"/>
                  </a:lnTo>
                  <a:lnTo>
                    <a:pt x="7346525" y="7715"/>
                  </a:lnTo>
                  <a:lnTo>
                    <a:pt x="7377811" y="28765"/>
                  </a:lnTo>
                  <a:lnTo>
                    <a:pt x="7398904" y="60007"/>
                  </a:lnTo>
                  <a:lnTo>
                    <a:pt x="7406640" y="98298"/>
                  </a:lnTo>
                  <a:lnTo>
                    <a:pt x="7406640" y="491998"/>
                  </a:lnTo>
                  <a:lnTo>
                    <a:pt x="7398904" y="530234"/>
                  </a:lnTo>
                  <a:lnTo>
                    <a:pt x="7377810" y="561482"/>
                  </a:lnTo>
                  <a:lnTo>
                    <a:pt x="7346525" y="582562"/>
                  </a:lnTo>
                  <a:lnTo>
                    <a:pt x="7308215" y="590296"/>
                  </a:lnTo>
                  <a:lnTo>
                    <a:pt x="98399" y="590296"/>
                  </a:lnTo>
                  <a:lnTo>
                    <a:pt x="60098" y="582562"/>
                  </a:lnTo>
                  <a:lnTo>
                    <a:pt x="28821" y="561482"/>
                  </a:lnTo>
                  <a:lnTo>
                    <a:pt x="7732" y="530234"/>
                  </a:lnTo>
                  <a:lnTo>
                    <a:pt x="0" y="491998"/>
                  </a:lnTo>
                  <a:lnTo>
                    <a:pt x="0" y="9829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50467" y="4888484"/>
            <a:ext cx="3673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business continuity/disaster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recovery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plan.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2100" y="5627598"/>
            <a:ext cx="8255000" cy="824865"/>
            <a:chOff x="292100" y="5627598"/>
            <a:chExt cx="8255000" cy="824865"/>
          </a:xfrm>
        </p:grpSpPr>
        <p:sp>
          <p:nvSpPr>
            <p:cNvPr id="28" name="object 28"/>
            <p:cNvSpPr/>
            <p:nvPr/>
          </p:nvSpPr>
          <p:spPr>
            <a:xfrm>
              <a:off x="304800" y="5935497"/>
              <a:ext cx="8229600" cy="504190"/>
            </a:xfrm>
            <a:custGeom>
              <a:avLst/>
              <a:gdLst/>
              <a:ahLst/>
              <a:cxnLst/>
              <a:rect l="l" t="t" r="r" b="b"/>
              <a:pathLst>
                <a:path w="8229600" h="504189">
                  <a:moveTo>
                    <a:pt x="0" y="503999"/>
                  </a:moveTo>
                  <a:lnTo>
                    <a:pt x="8229600" y="503999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03999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6280" y="5640298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7308215" y="0"/>
                  </a:moveTo>
                  <a:lnTo>
                    <a:pt x="98399" y="0"/>
                  </a:lnTo>
                  <a:lnTo>
                    <a:pt x="60098" y="7732"/>
                  </a:lnTo>
                  <a:lnTo>
                    <a:pt x="28821" y="28821"/>
                  </a:lnTo>
                  <a:lnTo>
                    <a:pt x="7732" y="60098"/>
                  </a:lnTo>
                  <a:lnTo>
                    <a:pt x="0" y="98399"/>
                  </a:lnTo>
                  <a:lnTo>
                    <a:pt x="0" y="491998"/>
                  </a:lnTo>
                  <a:lnTo>
                    <a:pt x="7732" y="530299"/>
                  </a:lnTo>
                  <a:lnTo>
                    <a:pt x="28821" y="561576"/>
                  </a:lnTo>
                  <a:lnTo>
                    <a:pt x="60098" y="582664"/>
                  </a:lnTo>
                  <a:lnTo>
                    <a:pt x="98399" y="590397"/>
                  </a:lnTo>
                  <a:lnTo>
                    <a:pt x="7308215" y="590397"/>
                  </a:lnTo>
                  <a:lnTo>
                    <a:pt x="7346525" y="582664"/>
                  </a:lnTo>
                  <a:lnTo>
                    <a:pt x="7377810" y="561576"/>
                  </a:lnTo>
                  <a:lnTo>
                    <a:pt x="7398904" y="530299"/>
                  </a:lnTo>
                  <a:lnTo>
                    <a:pt x="7406640" y="491998"/>
                  </a:lnTo>
                  <a:lnTo>
                    <a:pt x="7406640" y="98399"/>
                  </a:lnTo>
                  <a:lnTo>
                    <a:pt x="7398904" y="60098"/>
                  </a:lnTo>
                  <a:lnTo>
                    <a:pt x="7377811" y="28821"/>
                  </a:lnTo>
                  <a:lnTo>
                    <a:pt x="7346525" y="7732"/>
                  </a:lnTo>
                  <a:lnTo>
                    <a:pt x="7308215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6280" y="5640298"/>
              <a:ext cx="7406640" cy="590550"/>
            </a:xfrm>
            <a:custGeom>
              <a:avLst/>
              <a:gdLst/>
              <a:ahLst/>
              <a:cxnLst/>
              <a:rect l="l" t="t" r="r" b="b"/>
              <a:pathLst>
                <a:path w="7406640" h="590550">
                  <a:moveTo>
                    <a:pt x="0" y="98399"/>
                  </a:moveTo>
                  <a:lnTo>
                    <a:pt x="7732" y="60098"/>
                  </a:lnTo>
                  <a:lnTo>
                    <a:pt x="28821" y="28821"/>
                  </a:lnTo>
                  <a:lnTo>
                    <a:pt x="60098" y="7732"/>
                  </a:lnTo>
                  <a:lnTo>
                    <a:pt x="98399" y="0"/>
                  </a:lnTo>
                  <a:lnTo>
                    <a:pt x="7308215" y="0"/>
                  </a:lnTo>
                  <a:lnTo>
                    <a:pt x="7346525" y="7732"/>
                  </a:lnTo>
                  <a:lnTo>
                    <a:pt x="7377811" y="28821"/>
                  </a:lnTo>
                  <a:lnTo>
                    <a:pt x="7398904" y="60098"/>
                  </a:lnTo>
                  <a:lnTo>
                    <a:pt x="7406640" y="98399"/>
                  </a:lnTo>
                  <a:lnTo>
                    <a:pt x="7406640" y="491998"/>
                  </a:lnTo>
                  <a:lnTo>
                    <a:pt x="7398904" y="530299"/>
                  </a:lnTo>
                  <a:lnTo>
                    <a:pt x="7377810" y="561576"/>
                  </a:lnTo>
                  <a:lnTo>
                    <a:pt x="7346525" y="582664"/>
                  </a:lnTo>
                  <a:lnTo>
                    <a:pt x="7308215" y="590397"/>
                  </a:lnTo>
                  <a:lnTo>
                    <a:pt x="98399" y="590397"/>
                  </a:lnTo>
                  <a:lnTo>
                    <a:pt x="60098" y="582664"/>
                  </a:lnTo>
                  <a:lnTo>
                    <a:pt x="28821" y="561576"/>
                  </a:lnTo>
                  <a:lnTo>
                    <a:pt x="7732" y="530299"/>
                  </a:lnTo>
                  <a:lnTo>
                    <a:pt x="0" y="491998"/>
                  </a:lnTo>
                  <a:lnTo>
                    <a:pt x="0" y="9839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50467" y="5698337"/>
            <a:ext cx="6393815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540"/>
              </a:lnSpc>
              <a:spcBef>
                <a:spcPts val="27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where—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state,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states,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country—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laws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apply.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736498" y="159207"/>
            <a:ext cx="7669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u="none" dirty="0">
                <a:solidFill>
                  <a:srgbClr val="000000"/>
                </a:solidFill>
                <a:latin typeface="Calibri"/>
                <a:cs typeface="Calibri"/>
              </a:rPr>
              <a:t>Some</a:t>
            </a:r>
            <a:r>
              <a:rPr sz="2800" i="1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i="1" u="none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i="1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i="1" u="none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i="1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i="1" u="none" dirty="0">
                <a:solidFill>
                  <a:srgbClr val="000000"/>
                </a:solidFill>
                <a:latin typeface="Calibri"/>
                <a:cs typeface="Calibri"/>
              </a:rPr>
              <a:t>things</a:t>
            </a:r>
            <a:r>
              <a:rPr sz="2800" i="1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i="1" u="none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2800" i="1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i="1" u="none" dirty="0">
                <a:solidFill>
                  <a:srgbClr val="000000"/>
                </a:solidFill>
                <a:latin typeface="Calibri"/>
                <a:cs typeface="Calibri"/>
              </a:rPr>
              <a:t>should</a:t>
            </a:r>
            <a:r>
              <a:rPr sz="2800" i="1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i="1" u="none" dirty="0">
                <a:solidFill>
                  <a:srgbClr val="000000"/>
                </a:solidFill>
                <a:latin typeface="Calibri"/>
                <a:cs typeface="Calibri"/>
              </a:rPr>
              <a:t>consider</a:t>
            </a:r>
            <a:r>
              <a:rPr sz="2800" i="1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i="1" u="none" spc="-10" dirty="0">
                <a:solidFill>
                  <a:srgbClr val="000000"/>
                </a:solidFill>
                <a:latin typeface="Calibri"/>
                <a:cs typeface="Calibri"/>
              </a:rPr>
              <a:t>negotiating: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389634"/>
            <a:ext cx="5574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Proven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investigators</a:t>
            </a:r>
            <a:r>
              <a:rPr sz="1800" spc="-50" dirty="0">
                <a:latin typeface="Calibri"/>
                <a:cs typeface="Calibri"/>
              </a:rPr>
              <a:t> 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2202307"/>
            <a:ext cx="464185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Encase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35"/>
              </a:spcBef>
            </a:pPr>
            <a:r>
              <a:rPr sz="3200" b="1" dirty="0">
                <a:latin typeface="Calibri"/>
                <a:cs typeface="Calibri"/>
              </a:rPr>
              <a:t>Accessdata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FTK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ts val="7680"/>
              </a:lnSpc>
              <a:spcBef>
                <a:spcPts val="700"/>
              </a:spcBef>
            </a:pPr>
            <a:r>
              <a:rPr sz="3200" b="1" dirty="0">
                <a:latin typeface="Calibri"/>
                <a:cs typeface="Calibri"/>
              </a:rPr>
              <a:t>Fast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Dump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from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HBGary </a:t>
            </a:r>
            <a:r>
              <a:rPr sz="3200" b="1" dirty="0">
                <a:latin typeface="Calibri"/>
                <a:cs typeface="Calibri"/>
              </a:rPr>
              <a:t>Memorysze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from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Mandiant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52550" y="394157"/>
            <a:ext cx="6837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/>
              <a:t>EVALUATION</a:t>
            </a:r>
            <a:r>
              <a:rPr sz="2400" spc="-55" dirty="0"/>
              <a:t> </a:t>
            </a:r>
            <a:r>
              <a:rPr sz="2400" dirty="0"/>
              <a:t>OF</a:t>
            </a:r>
            <a:r>
              <a:rPr sz="2400" spc="-40" dirty="0"/>
              <a:t> </a:t>
            </a:r>
            <a:r>
              <a:rPr sz="2400" dirty="0"/>
              <a:t>CURRENT</a:t>
            </a:r>
            <a:r>
              <a:rPr sz="2400" spc="-80" dirty="0"/>
              <a:t> </a:t>
            </a:r>
            <a:r>
              <a:rPr sz="2400" dirty="0"/>
              <a:t>FORENSIC</a:t>
            </a:r>
            <a:r>
              <a:rPr sz="2400" spc="-70" dirty="0"/>
              <a:t> </a:t>
            </a:r>
            <a:r>
              <a:rPr sz="2400" dirty="0"/>
              <a:t>TOOLS</a:t>
            </a:r>
            <a:r>
              <a:rPr sz="2400" spc="-35" dirty="0"/>
              <a:t> </a:t>
            </a:r>
            <a:r>
              <a:rPr sz="2400" dirty="0"/>
              <a:t>IN</a:t>
            </a:r>
            <a:r>
              <a:rPr sz="2400" spc="-55" dirty="0"/>
              <a:t> </a:t>
            </a:r>
            <a:r>
              <a:rPr sz="2400" spc="-10" dirty="0"/>
              <a:t>CLOUD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828800"/>
            <a:ext cx="4248150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92553"/>
            <a:ext cx="7760334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Three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experiments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collected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experiments.</a:t>
            </a:r>
            <a:endParaRPr sz="1800">
              <a:latin typeface="Calibri"/>
              <a:cs typeface="Calibri"/>
            </a:endParaRPr>
          </a:p>
          <a:p>
            <a:pPr marL="12700" marR="379095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experiment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remotely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guest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OS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Encase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Servlets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FTK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remote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 marR="6604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second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experiment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prepared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Eucalyptus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platform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collected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virtualization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layer.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third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experiment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tested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acquisition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Amazon’s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export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2550" y="394157"/>
            <a:ext cx="6837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/>
              <a:t>EVALUATION</a:t>
            </a:r>
            <a:r>
              <a:rPr sz="2400" spc="-55" dirty="0"/>
              <a:t> </a:t>
            </a:r>
            <a:r>
              <a:rPr sz="2400" dirty="0"/>
              <a:t>OF</a:t>
            </a:r>
            <a:r>
              <a:rPr sz="2400" spc="-40" dirty="0"/>
              <a:t> </a:t>
            </a:r>
            <a:r>
              <a:rPr sz="2400" dirty="0"/>
              <a:t>CURRENT</a:t>
            </a:r>
            <a:r>
              <a:rPr sz="2400" spc="-80" dirty="0"/>
              <a:t> </a:t>
            </a:r>
            <a:r>
              <a:rPr sz="2400" dirty="0"/>
              <a:t>FORENSIC</a:t>
            </a:r>
            <a:r>
              <a:rPr sz="2400" spc="-70" dirty="0"/>
              <a:t> </a:t>
            </a:r>
            <a:r>
              <a:rPr sz="2400" dirty="0"/>
              <a:t>TOOLS</a:t>
            </a:r>
            <a:r>
              <a:rPr sz="2400" spc="-35" dirty="0"/>
              <a:t> </a:t>
            </a:r>
            <a:r>
              <a:rPr sz="2400" dirty="0"/>
              <a:t>IN</a:t>
            </a:r>
            <a:r>
              <a:rPr sz="2400" spc="-55" dirty="0"/>
              <a:t> </a:t>
            </a:r>
            <a:r>
              <a:rPr sz="2400" spc="-10" dirty="0"/>
              <a:t>CLOUD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917244" y="6230823"/>
            <a:ext cx="68268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FF0000"/>
                </a:solidFill>
                <a:latin typeface="Calibri"/>
                <a:cs typeface="Calibri"/>
              </a:rPr>
              <a:t>Source</a:t>
            </a:r>
            <a:r>
              <a:rPr sz="18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8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Acquiring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Forensic</a:t>
            </a:r>
            <a:r>
              <a:rPr sz="1800" b="1" i="1" spc="-10" dirty="0">
                <a:latin typeface="Calibri"/>
                <a:cs typeface="Calibri"/>
              </a:rPr>
              <a:t> Evidence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from </a:t>
            </a:r>
            <a:r>
              <a:rPr sz="1800" b="1" i="1" spc="-20" dirty="0">
                <a:latin typeface="Calibri"/>
                <a:cs typeface="Calibri"/>
              </a:rPr>
              <a:t>Infrastructure-</a:t>
            </a:r>
            <a:r>
              <a:rPr sz="1800" b="1" i="1" spc="-10" dirty="0">
                <a:latin typeface="Calibri"/>
                <a:cs typeface="Calibri"/>
              </a:rPr>
              <a:t>as-a-Service </a:t>
            </a:r>
            <a:r>
              <a:rPr sz="1800" b="1" i="1" dirty="0">
                <a:latin typeface="Calibri"/>
                <a:cs typeface="Calibri"/>
              </a:rPr>
              <a:t>Cloud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Computing: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Exploring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and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Evaluating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Tools,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Trust,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and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Techniques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5514" y="260731"/>
            <a:ext cx="665225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EXTRACTING</a:t>
            </a:r>
            <a:r>
              <a:rPr u="sng" spc="-1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1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DATA</a:t>
            </a:r>
            <a:r>
              <a:rPr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FROM</a:t>
            </a:r>
            <a:r>
              <a:rPr u="sng" spc="-6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AMAZON</a:t>
            </a:r>
            <a:r>
              <a:rPr u="sng" spc="-9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EC2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06271" y="1219187"/>
            <a:ext cx="7188834" cy="1329690"/>
            <a:chOff x="1406271" y="1219187"/>
            <a:chExt cx="7188834" cy="13296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3636" y="1275760"/>
              <a:ext cx="7081381" cy="127261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06271" y="1219187"/>
              <a:ext cx="5257800" cy="369570"/>
            </a:xfrm>
            <a:custGeom>
              <a:avLst/>
              <a:gdLst/>
              <a:ahLst/>
              <a:cxnLst/>
              <a:rect l="l" t="t" r="r" b="b"/>
              <a:pathLst>
                <a:path w="5257800" h="369569">
                  <a:moveTo>
                    <a:pt x="5257800" y="0"/>
                  </a:moveTo>
                  <a:lnTo>
                    <a:pt x="0" y="0"/>
                  </a:lnTo>
                  <a:lnTo>
                    <a:pt x="0" y="369328"/>
                  </a:lnTo>
                  <a:lnTo>
                    <a:pt x="5257800" y="369328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3428987"/>
            <a:ext cx="7032625" cy="3235960"/>
            <a:chOff x="0" y="3428987"/>
            <a:chExt cx="7032625" cy="32359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57" y="3442790"/>
              <a:ext cx="6949185" cy="322200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428987"/>
              <a:ext cx="7011034" cy="2563495"/>
            </a:xfrm>
            <a:custGeom>
              <a:avLst/>
              <a:gdLst/>
              <a:ahLst/>
              <a:cxnLst/>
              <a:rect l="l" t="t" r="r" b="b"/>
              <a:pathLst>
                <a:path w="7011034" h="2563495">
                  <a:moveTo>
                    <a:pt x="2057400" y="0"/>
                  </a:moveTo>
                  <a:lnTo>
                    <a:pt x="457200" y="0"/>
                  </a:lnTo>
                  <a:lnTo>
                    <a:pt x="457200" y="276999"/>
                  </a:lnTo>
                  <a:lnTo>
                    <a:pt x="2057400" y="276999"/>
                  </a:lnTo>
                  <a:lnTo>
                    <a:pt x="2057400" y="0"/>
                  </a:lnTo>
                  <a:close/>
                </a:path>
                <a:path w="7011034" h="2563495">
                  <a:moveTo>
                    <a:pt x="3810000" y="2286012"/>
                  </a:moveTo>
                  <a:lnTo>
                    <a:pt x="0" y="2286012"/>
                  </a:lnTo>
                  <a:lnTo>
                    <a:pt x="0" y="2563012"/>
                  </a:lnTo>
                  <a:lnTo>
                    <a:pt x="3810000" y="2563012"/>
                  </a:lnTo>
                  <a:lnTo>
                    <a:pt x="3810000" y="2286012"/>
                  </a:lnTo>
                  <a:close/>
                </a:path>
                <a:path w="7011034" h="2563495">
                  <a:moveTo>
                    <a:pt x="6980301" y="1981212"/>
                  </a:moveTo>
                  <a:lnTo>
                    <a:pt x="0" y="1981212"/>
                  </a:lnTo>
                  <a:lnTo>
                    <a:pt x="0" y="2258212"/>
                  </a:lnTo>
                  <a:lnTo>
                    <a:pt x="6980301" y="2258212"/>
                  </a:lnTo>
                  <a:lnTo>
                    <a:pt x="6980301" y="1981212"/>
                  </a:lnTo>
                  <a:close/>
                </a:path>
                <a:path w="7011034" h="2563495">
                  <a:moveTo>
                    <a:pt x="6980301" y="1630299"/>
                  </a:moveTo>
                  <a:lnTo>
                    <a:pt x="2819400" y="1630299"/>
                  </a:lnTo>
                  <a:lnTo>
                    <a:pt x="2819400" y="1907298"/>
                  </a:lnTo>
                  <a:lnTo>
                    <a:pt x="6980301" y="1907298"/>
                  </a:lnTo>
                  <a:lnTo>
                    <a:pt x="6980301" y="1630299"/>
                  </a:lnTo>
                  <a:close/>
                </a:path>
                <a:path w="7011034" h="2563495">
                  <a:moveTo>
                    <a:pt x="6980301" y="1295400"/>
                  </a:moveTo>
                  <a:lnTo>
                    <a:pt x="0" y="1295400"/>
                  </a:lnTo>
                  <a:lnTo>
                    <a:pt x="0" y="1572399"/>
                  </a:lnTo>
                  <a:lnTo>
                    <a:pt x="6980301" y="1572399"/>
                  </a:lnTo>
                  <a:lnTo>
                    <a:pt x="6980301" y="1295400"/>
                  </a:lnTo>
                  <a:close/>
                </a:path>
                <a:path w="7011034" h="2563495">
                  <a:moveTo>
                    <a:pt x="6980301" y="964692"/>
                  </a:moveTo>
                  <a:lnTo>
                    <a:pt x="0" y="964692"/>
                  </a:lnTo>
                  <a:lnTo>
                    <a:pt x="0" y="1241691"/>
                  </a:lnTo>
                  <a:lnTo>
                    <a:pt x="6980301" y="1241691"/>
                  </a:lnTo>
                  <a:lnTo>
                    <a:pt x="6980301" y="964692"/>
                  </a:lnTo>
                  <a:close/>
                </a:path>
                <a:path w="7011034" h="2563495">
                  <a:moveTo>
                    <a:pt x="7010400" y="334899"/>
                  </a:moveTo>
                  <a:lnTo>
                    <a:pt x="1371600" y="334899"/>
                  </a:lnTo>
                  <a:lnTo>
                    <a:pt x="1371600" y="611898"/>
                  </a:lnTo>
                  <a:lnTo>
                    <a:pt x="7010400" y="611898"/>
                  </a:lnTo>
                  <a:lnTo>
                    <a:pt x="7010400" y="334899"/>
                  </a:lnTo>
                  <a:close/>
                </a:path>
                <a:path w="7011034" h="2563495">
                  <a:moveTo>
                    <a:pt x="7010438" y="665734"/>
                  </a:moveTo>
                  <a:lnTo>
                    <a:pt x="30137" y="665734"/>
                  </a:lnTo>
                  <a:lnTo>
                    <a:pt x="30137" y="942733"/>
                  </a:lnTo>
                  <a:lnTo>
                    <a:pt x="7010438" y="942733"/>
                  </a:lnTo>
                  <a:lnTo>
                    <a:pt x="7010438" y="665734"/>
                  </a:lnTo>
                  <a:close/>
                </a:path>
              </a:pathLst>
            </a:custGeom>
            <a:solidFill>
              <a:srgbClr val="FFFF00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188" y="286924"/>
            <a:ext cx="7306749" cy="164766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97230" y="2730896"/>
            <a:ext cx="7594600" cy="3898900"/>
            <a:chOff x="1397230" y="2730896"/>
            <a:chExt cx="7594600" cy="38989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7230" y="2730896"/>
              <a:ext cx="7295424" cy="37379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19369" y="6160972"/>
              <a:ext cx="3872229" cy="468630"/>
            </a:xfrm>
            <a:custGeom>
              <a:avLst/>
              <a:gdLst/>
              <a:ahLst/>
              <a:cxnLst/>
              <a:rect l="l" t="t" r="r" b="b"/>
              <a:pathLst>
                <a:path w="3872229" h="468629">
                  <a:moveTo>
                    <a:pt x="3872229" y="0"/>
                  </a:moveTo>
                  <a:lnTo>
                    <a:pt x="0" y="0"/>
                  </a:lnTo>
                  <a:lnTo>
                    <a:pt x="0" y="468426"/>
                  </a:lnTo>
                  <a:lnTo>
                    <a:pt x="3872229" y="468426"/>
                  </a:lnTo>
                  <a:lnTo>
                    <a:pt x="3872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458215"/>
            <a:ext cx="8638540" cy="496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acquisition,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copying,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transferring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cryptanalysis.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verification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cryptographic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hash.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effectiveness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5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abundance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dirty="0">
                <a:latin typeface="Calibri"/>
                <a:cs typeface="Calibri"/>
              </a:rPr>
              <a:t>Overall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robustness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spc="-10" dirty="0">
                <a:latin typeface="Calibri"/>
                <a:cs typeface="Calibri"/>
              </a:rPr>
              <a:t>Scalability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spc="-10" dirty="0">
                <a:latin typeface="Calibri"/>
                <a:cs typeface="Calibri"/>
              </a:rPr>
              <a:t>Flexibility</a:t>
            </a:r>
            <a:endParaRPr sz="18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160"/>
              </a:spcBef>
              <a:buChar char="-"/>
              <a:tabLst>
                <a:tab pos="189230" algn="l"/>
              </a:tabLst>
            </a:pPr>
            <a:r>
              <a:rPr sz="1800" spc="-10" dirty="0">
                <a:latin typeface="Calibri"/>
                <a:cs typeface="Calibri"/>
              </a:rPr>
              <a:t>Standards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Policies</a:t>
            </a:r>
            <a:endParaRPr sz="18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2165"/>
              </a:spcBef>
              <a:buChar char="-"/>
              <a:tabLst>
                <a:tab pos="188595" algn="l"/>
              </a:tabLst>
            </a:pPr>
            <a:r>
              <a:rPr sz="1800" spc="-20" dirty="0">
                <a:latin typeface="Calibri"/>
                <a:cs typeface="Calibri"/>
              </a:rPr>
              <a:t>Forensics-</a:t>
            </a:r>
            <a:r>
              <a:rPr sz="1800" dirty="0">
                <a:latin typeface="Calibri"/>
                <a:cs typeface="Calibri"/>
              </a:rPr>
              <a:t>as-a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Service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Customers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forensic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schemes.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09800" y="2016616"/>
            <a:ext cx="6519545" cy="2860675"/>
            <a:chOff x="2209800" y="2016616"/>
            <a:chExt cx="6519545" cy="28606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7864" y="2016616"/>
              <a:ext cx="2451269" cy="28601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800" y="2743199"/>
              <a:ext cx="4137787" cy="16830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486" y="795086"/>
            <a:ext cx="8806180" cy="6062980"/>
            <a:chOff x="185486" y="795086"/>
            <a:chExt cx="8806180" cy="606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86" y="795086"/>
              <a:ext cx="8801093" cy="49878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1288" y="5530595"/>
              <a:ext cx="7135367" cy="13274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8263" y="2209800"/>
              <a:ext cx="2053335" cy="266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196" y="1792453"/>
            <a:ext cx="7314072" cy="175738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771898"/>
            <a:ext cx="7137400" cy="3086100"/>
            <a:chOff x="0" y="3771898"/>
            <a:chExt cx="7137400" cy="3086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771898"/>
              <a:ext cx="2581275" cy="3086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600" y="3809999"/>
              <a:ext cx="4622800" cy="30480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0"/>
            <a:ext cx="2209800" cy="1905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3505200" cy="18848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0" y="533374"/>
            <a:ext cx="2895600" cy="73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204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4865</Words>
  <Application>Microsoft Office PowerPoint</Application>
  <PresentationFormat>On-screen Show (4:3)</PresentationFormat>
  <Paragraphs>400</Paragraphs>
  <Slides>95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4" baseType="lpstr">
      <vt:lpstr>Arial</vt:lpstr>
      <vt:lpstr>Arial MT</vt:lpstr>
      <vt:lpstr>Calibri</vt:lpstr>
      <vt:lpstr>Perpetua</vt:lpstr>
      <vt:lpstr>Rockwell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2. CLOUD REFERENCE MODEL </vt:lpstr>
      <vt:lpstr>Cloud computing</vt:lpstr>
      <vt:lpstr>DEFINITION</vt:lpstr>
      <vt:lpstr>PowerPoint Presentation</vt:lpstr>
      <vt:lpstr>PowerPoint Presentation</vt:lpstr>
      <vt:lpstr>PowerPoint Presentation</vt:lpstr>
      <vt:lpstr>The cloud computing reference model   </vt:lpstr>
      <vt:lpstr>TYPES OF CLOUDS</vt:lpstr>
      <vt:lpstr>PowerPoint Presentation</vt:lpstr>
      <vt:lpstr>Hybrid clouds</vt:lpstr>
      <vt:lpstr>Community clouds</vt:lpstr>
      <vt:lpstr>PowerPoint Presentation</vt:lpstr>
      <vt:lpstr>Deployment Models or cloud types </vt:lpstr>
      <vt:lpstr>Cloud Computing Framework</vt:lpstr>
      <vt:lpstr>ESSENTIAL CHARACTERISTICS OF CLOUD</vt:lpstr>
      <vt:lpstr>PowerPoint Presentation</vt:lpstr>
      <vt:lpstr>Cloud Computing Framework</vt:lpstr>
      <vt:lpstr>PowerPoint Presentation</vt:lpstr>
      <vt:lpstr>The DF as Defined by NIST</vt:lpstr>
      <vt:lpstr>CLOUD FORENSICS as Defined by NIST</vt:lpstr>
      <vt:lpstr>Cloud Conceptual Reference Model</vt:lpstr>
      <vt:lpstr>Actors in Cloud Computing</vt:lpstr>
      <vt:lpstr>Scenarios in Cloud: 1</vt:lpstr>
      <vt:lpstr>Scenarios in Cloud: 2</vt:lpstr>
      <vt:lpstr>Scenarios in Cloud: 3</vt:lpstr>
      <vt:lpstr>Cloud Consumer</vt:lpstr>
      <vt:lpstr>Cloud Consumer</vt:lpstr>
      <vt:lpstr>Cloud Provider</vt:lpstr>
      <vt:lpstr>Cloud Auditor</vt:lpstr>
      <vt:lpstr>Cloud Broker</vt:lpstr>
      <vt:lpstr>Cloud Carrier</vt:lpstr>
      <vt:lpstr>Scope of Control between Provider and Consumer</vt:lpstr>
      <vt:lpstr>PowerPoint Presentation</vt:lpstr>
      <vt:lpstr>PowerPoint Presentation</vt:lpstr>
      <vt:lpstr>PowerPoint Presentation</vt:lpstr>
      <vt:lpstr>PowerPoint Presentation</vt:lpstr>
      <vt:lpstr>Polly is back again!!!!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Microsoft and Amazon declined to comment about their compliance abilities in this situation</vt:lpstr>
      <vt:lpstr>PowerPoint Presentation</vt:lpstr>
      <vt:lpstr>PowerPoint Presentation</vt:lpstr>
      <vt:lpstr>PowerPoint Presentation</vt:lpstr>
      <vt:lpstr>PowerPoint Presentation</vt:lpstr>
      <vt:lpstr>Storage system is no longer local.</vt:lpstr>
      <vt:lpstr>PowerPoint Presentation</vt:lpstr>
      <vt:lpstr>To investigate this case, the forensics examiner needs a</vt:lpstr>
      <vt:lpstr>PowerPoint Presentation</vt:lpstr>
      <vt:lpstr>Furthermore, the data can not be seized by confiscating the storage server in a cloud, as the same disk can contain data from many unrelated users.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cloud computing, multiple VM can share the same physical infrastructure, i.e., data for multiple customers may be co-located. This nature of clouds is different from the traditional single owner computer system.</vt:lpstr>
      <vt:lpstr>First, How to prove that data were not comingled with other users’</vt:lpstr>
      <vt:lpstr>SIDE-CHANNEL ATTACKS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A TRUST MODEL</vt:lpstr>
      <vt:lpstr>INTEGRITY PRESERVATION</vt:lpstr>
      <vt:lpstr>DISTRIBUTED SIGNATURE DETECTION FRAMEWORK</vt:lpstr>
      <vt:lpstr>LOGGING</vt:lpstr>
      <vt:lpstr>CLOUD MANAGEMENT PLANE</vt:lpstr>
      <vt:lpstr>SOLUTION OF LEGAL ISSUES</vt:lpstr>
      <vt:lpstr>VIRTUAL MACHINE INTROSPECTION</vt:lpstr>
      <vt:lpstr>CONTINUOUS SYNCHRONIZATION</vt:lpstr>
      <vt:lpstr>TRUSTED PLATFORM MODULE (TPM)</vt:lpstr>
      <vt:lpstr>ISOLATING A CLOUD INSTANCE</vt:lpstr>
      <vt:lpstr>Provenance in Clouds</vt:lpstr>
      <vt:lpstr>PowerPoint Presentation</vt:lpstr>
      <vt:lpstr>CAN YOU PREPARE FOR CLOUD FORENSICS?</vt:lpstr>
      <vt:lpstr>Some of the things you should consider negotiating:</vt:lpstr>
      <vt:lpstr>EVALUATION OF CURRENT FORENSIC TOOLS IN CLOUD</vt:lpstr>
      <vt:lpstr>EVALUATION OF CURRENT FORENSIC TOOLS IN CLOUD</vt:lpstr>
      <vt:lpstr>EXTRACTING DATA FROM AMAZON EC2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GATHAMS</cp:lastModifiedBy>
  <cp:revision>10</cp:revision>
  <dcterms:created xsi:type="dcterms:W3CDTF">2025-06-25T20:25:48Z</dcterms:created>
  <dcterms:modified xsi:type="dcterms:W3CDTF">2025-06-30T04:13:07Z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2013-04-27T00:00:00Z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2025-06-25T00:00:00Z</vt:filetime>
  </property>
  <property fmtid="{D5CDD505-2E9C-101B-9397-08002B2CF9AE}" pid="5" name="Producer">
    <vt:lpwstr>Microsoft® PowerPoint® 2010</vt:lpwstr>
  </property>
</Properties>
</file>