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1" u="sng">
                <a:solidFill>
                  <a:srgbClr val="FFCC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E4FFF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1" u="sng">
                <a:solidFill>
                  <a:srgbClr val="FFCC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E4FFF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1" u="sng">
                <a:solidFill>
                  <a:srgbClr val="FFCC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1" u="sng">
                <a:solidFill>
                  <a:srgbClr val="FFCC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20523"/>
            <a:ext cx="898652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1" u="sng">
                <a:solidFill>
                  <a:srgbClr val="FFCC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739" y="1868830"/>
            <a:ext cx="7447280" cy="2252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E4FFF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hyperlink" Target="http://pcsupport.about.com/od/termshm/g/term_os.htm" TargetMode="External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004" y="163068"/>
            <a:ext cx="8439912" cy="183641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7244" y="391414"/>
            <a:ext cx="738505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/>
              <a:t>HARD DISK </a:t>
            </a:r>
            <a:r>
              <a:rPr sz="6600" spc="-10" dirty="0"/>
              <a:t>DRIVE</a:t>
            </a:r>
            <a:endParaRPr sz="66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5924" y="1316736"/>
            <a:ext cx="7434072" cy="1371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419600" y="4724400"/>
            <a:ext cx="365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NGOSA GATHAMS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Msc</a:t>
            </a:r>
            <a:r>
              <a:rPr lang="en-US" dirty="0" smtClean="0">
                <a:solidFill>
                  <a:schemeClr val="bg1"/>
                </a:solidFill>
              </a:rPr>
              <a:t> Computer Science </a:t>
            </a:r>
            <a:r>
              <a:rPr lang="en-US" dirty="0">
                <a:solidFill>
                  <a:schemeClr val="bg1"/>
                </a:solidFill>
              </a:rPr>
              <a:t>a</a:t>
            </a:r>
            <a:r>
              <a:rPr lang="en-US" dirty="0" smtClean="0">
                <a:solidFill>
                  <a:schemeClr val="bg1"/>
                </a:solidFill>
              </a:rPr>
              <a:t>nd IT 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Msc</a:t>
            </a:r>
            <a:r>
              <a:rPr lang="en-US" dirty="0" smtClean="0">
                <a:solidFill>
                  <a:schemeClr val="bg1"/>
                </a:solidFill>
              </a:rPr>
              <a:t> Cyber Security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2495" y="188976"/>
            <a:ext cx="5119115" cy="112166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3994" y="324358"/>
            <a:ext cx="44805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HARD</a:t>
            </a:r>
            <a:r>
              <a:rPr sz="4000" spc="-95" dirty="0"/>
              <a:t> </a:t>
            </a:r>
            <a:r>
              <a:rPr sz="4000" dirty="0"/>
              <a:t>DISK</a:t>
            </a:r>
            <a:r>
              <a:rPr sz="4000" spc="-95" dirty="0"/>
              <a:t> </a:t>
            </a:r>
            <a:r>
              <a:rPr sz="4000" spc="-20" dirty="0"/>
              <a:t>DRIVE</a:t>
            </a:r>
            <a:endParaRPr sz="40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7295" y="888491"/>
            <a:ext cx="4509515" cy="9143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19456" y="1743455"/>
            <a:ext cx="8924925" cy="4805680"/>
            <a:chOff x="219456" y="1743455"/>
            <a:chExt cx="8924925" cy="480568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696" y="1776983"/>
              <a:ext cx="647700" cy="8458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5488" y="1743455"/>
              <a:ext cx="7933944" cy="90220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696" y="2264663"/>
              <a:ext cx="647700" cy="8458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5488" y="2231136"/>
              <a:ext cx="6467856" cy="90220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696" y="2752344"/>
              <a:ext cx="647700" cy="84581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5488" y="2718816"/>
              <a:ext cx="4277868" cy="90220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696" y="3240023"/>
              <a:ext cx="647700" cy="84581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7868" y="3206495"/>
              <a:ext cx="1347216" cy="90220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78636" y="3206495"/>
              <a:ext cx="3630167" cy="90220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22475" y="3765804"/>
              <a:ext cx="3142488" cy="792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72356" y="3206495"/>
              <a:ext cx="4771644" cy="90220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9456" y="3694176"/>
              <a:ext cx="6446520" cy="90220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696" y="4215383"/>
              <a:ext cx="647700" cy="84581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5488" y="4181855"/>
              <a:ext cx="5474208" cy="90220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696" y="4703063"/>
              <a:ext cx="647700" cy="84582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75488" y="4669535"/>
              <a:ext cx="7792211" cy="90220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9456" y="5157215"/>
              <a:ext cx="7520940" cy="90220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9456" y="5646420"/>
              <a:ext cx="6132576" cy="902208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59740" y="1850263"/>
            <a:ext cx="7834630" cy="44176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105"/>
              </a:spcBef>
              <a:buChar char="•"/>
              <a:tabLst>
                <a:tab pos="267970" algn="l"/>
                <a:tab pos="1463675" algn="l"/>
              </a:tabLst>
            </a:pP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It</a:t>
            </a:r>
            <a:r>
              <a:rPr sz="3200" spc="-1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is</a:t>
            </a:r>
            <a:r>
              <a:rPr sz="3200" spc="-1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spc="-50" dirty="0">
                <a:solidFill>
                  <a:srgbClr val="FFCC00"/>
                </a:solidFill>
                <a:latin typeface="Arial"/>
                <a:cs typeface="Arial"/>
              </a:rPr>
              <a:t>a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	data</a:t>
            </a:r>
            <a:r>
              <a:rPr sz="3200" spc="-3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storage</a:t>
            </a:r>
            <a:r>
              <a:rPr sz="3200" spc="-4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device</a:t>
            </a:r>
            <a:r>
              <a:rPr sz="3200" spc="-2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in</a:t>
            </a:r>
            <a:r>
              <a:rPr sz="3200" spc="-2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a</a:t>
            </a:r>
            <a:r>
              <a:rPr sz="3200" spc="-2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FFCC00"/>
                </a:solidFill>
                <a:latin typeface="Arial"/>
                <a:cs typeface="Arial"/>
              </a:rPr>
              <a:t>computer.</a:t>
            </a:r>
            <a:endParaRPr sz="3200">
              <a:latin typeface="Arial"/>
              <a:cs typeface="Arial"/>
            </a:endParaRPr>
          </a:p>
          <a:p>
            <a:pPr marL="267970" indent="-255270">
              <a:lnSpc>
                <a:spcPct val="100000"/>
              </a:lnSpc>
              <a:buChar char="•"/>
              <a:tabLst>
                <a:tab pos="267970" algn="l"/>
              </a:tabLst>
            </a:pP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It</a:t>
            </a:r>
            <a:r>
              <a:rPr sz="3200" spc="-2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is</a:t>
            </a:r>
            <a:r>
              <a:rPr sz="3200" spc="-1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a</a:t>
            </a:r>
            <a:r>
              <a:rPr sz="3200" spc="-3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secondary</a:t>
            </a:r>
            <a:r>
              <a:rPr sz="3200" spc="-4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storage</a:t>
            </a:r>
            <a:r>
              <a:rPr sz="3200" spc="-3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FFCC00"/>
                </a:solidFill>
                <a:latin typeface="Arial"/>
                <a:cs typeface="Arial"/>
              </a:rPr>
              <a:t>device.</a:t>
            </a:r>
            <a:endParaRPr sz="3200">
              <a:latin typeface="Arial"/>
              <a:cs typeface="Arial"/>
            </a:endParaRPr>
          </a:p>
          <a:p>
            <a:pPr marL="267970" indent="-255270">
              <a:lnSpc>
                <a:spcPct val="100000"/>
              </a:lnSpc>
              <a:buChar char="•"/>
              <a:tabLst>
                <a:tab pos="267970" algn="l"/>
                <a:tab pos="2592705" algn="l"/>
              </a:tabLst>
            </a:pP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Its</a:t>
            </a:r>
            <a:r>
              <a:rPr sz="3200" spc="-3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stored</a:t>
            </a:r>
            <a:r>
              <a:rPr sz="3200" spc="-3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FFCC00"/>
                </a:solidFill>
                <a:latin typeface="Arial"/>
                <a:cs typeface="Arial"/>
              </a:rPr>
              <a:t>in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	0</a:t>
            </a:r>
            <a:r>
              <a:rPr sz="3200" spc="-1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(or)</a:t>
            </a:r>
            <a:r>
              <a:rPr sz="3200" spc="-3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FFCC00"/>
                </a:solidFill>
                <a:latin typeface="Arial"/>
                <a:cs typeface="Arial"/>
              </a:rPr>
              <a:t>1.</a:t>
            </a:r>
            <a:endParaRPr sz="3200">
              <a:latin typeface="Arial"/>
              <a:cs typeface="Arial"/>
            </a:endParaRPr>
          </a:p>
          <a:p>
            <a:pPr marL="12700" marR="5080" indent="247650">
              <a:lnSpc>
                <a:spcPct val="100000"/>
              </a:lnSpc>
              <a:buChar char="•"/>
              <a:tabLst>
                <a:tab pos="260350" algn="l"/>
                <a:tab pos="6149975" algn="l"/>
              </a:tabLst>
            </a:pP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The</a:t>
            </a:r>
            <a:r>
              <a:rPr sz="3200" spc="-5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u="sng" dirty="0">
                <a:solidFill>
                  <a:srgbClr val="00CCFF"/>
                </a:solidFill>
                <a:uFill>
                  <a:solidFill>
                    <a:srgbClr val="00CCFF"/>
                  </a:solidFill>
                </a:uFill>
                <a:latin typeface="Arial"/>
                <a:cs typeface="Arial"/>
                <a:hlinkClick r:id="rId17"/>
              </a:rPr>
              <a:t>operating</a:t>
            </a:r>
            <a:r>
              <a:rPr sz="3200" u="sng" spc="-30" dirty="0">
                <a:solidFill>
                  <a:srgbClr val="00CCFF"/>
                </a:solidFill>
                <a:uFill>
                  <a:solidFill>
                    <a:srgbClr val="00CCFF"/>
                  </a:solidFill>
                </a:uFill>
                <a:latin typeface="Arial"/>
                <a:cs typeface="Arial"/>
                <a:hlinkClick r:id="rId17"/>
              </a:rPr>
              <a:t> </a:t>
            </a:r>
            <a:r>
              <a:rPr sz="3200" u="sng" dirty="0">
                <a:solidFill>
                  <a:srgbClr val="00CCFF"/>
                </a:solidFill>
                <a:uFill>
                  <a:solidFill>
                    <a:srgbClr val="00CCFF"/>
                  </a:solidFill>
                </a:uFill>
                <a:latin typeface="Arial"/>
                <a:cs typeface="Arial"/>
                <a:hlinkClick r:id="rId17"/>
              </a:rPr>
              <a:t>system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,</a:t>
            </a:r>
            <a:r>
              <a:rPr sz="3200" spc="-6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FFCC00"/>
                </a:solidFill>
                <a:latin typeface="Arial"/>
                <a:cs typeface="Arial"/>
              </a:rPr>
              <a:t>software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	and</a:t>
            </a:r>
            <a:r>
              <a:rPr sz="3200" spc="-3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FFCC00"/>
                </a:solidFill>
                <a:latin typeface="Arial"/>
                <a:cs typeface="Arial"/>
              </a:rPr>
              <a:t>most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other</a:t>
            </a:r>
            <a:r>
              <a:rPr sz="3200" spc="-4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files</a:t>
            </a:r>
            <a:r>
              <a:rPr sz="3200" spc="-2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are</a:t>
            </a:r>
            <a:r>
              <a:rPr sz="3200" spc="-4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stored</a:t>
            </a:r>
            <a:r>
              <a:rPr sz="3200" spc="-4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in</a:t>
            </a:r>
            <a:r>
              <a:rPr sz="3200" spc="-3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the</a:t>
            </a:r>
            <a:r>
              <a:rPr sz="3200" spc="-3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FFCC00"/>
                </a:solidFill>
                <a:latin typeface="Arial"/>
                <a:cs typeface="Arial"/>
              </a:rPr>
              <a:t>HDD.</a:t>
            </a:r>
            <a:endParaRPr sz="3200">
              <a:latin typeface="Arial"/>
              <a:cs typeface="Arial"/>
            </a:endParaRPr>
          </a:p>
          <a:p>
            <a:pPr marL="267970" indent="-255270">
              <a:lnSpc>
                <a:spcPct val="100000"/>
              </a:lnSpc>
              <a:buChar char="•"/>
              <a:tabLst>
                <a:tab pos="267970" algn="l"/>
              </a:tabLst>
            </a:pP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Its</a:t>
            </a:r>
            <a:r>
              <a:rPr sz="3200" spc="-3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invented</a:t>
            </a:r>
            <a:r>
              <a:rPr sz="3200" spc="-4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in</a:t>
            </a:r>
            <a:r>
              <a:rPr sz="3200" spc="-1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1954</a:t>
            </a:r>
            <a:r>
              <a:rPr sz="3200" spc="-3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by</a:t>
            </a:r>
            <a:r>
              <a:rPr sz="3200" spc="-2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FFCC00"/>
                </a:solidFill>
                <a:latin typeface="Arial"/>
                <a:cs typeface="Arial"/>
              </a:rPr>
              <a:t>ibm.</a:t>
            </a:r>
            <a:endParaRPr sz="3200">
              <a:latin typeface="Arial"/>
              <a:cs typeface="Arial"/>
            </a:endParaRPr>
          </a:p>
          <a:p>
            <a:pPr marL="12700" marR="405765" indent="255270">
              <a:lnSpc>
                <a:spcPct val="100000"/>
              </a:lnSpc>
              <a:buChar char="•"/>
              <a:tabLst>
                <a:tab pos="267970" algn="l"/>
              </a:tabLst>
            </a:pPr>
            <a:r>
              <a:rPr sz="3200" spc="-10" dirty="0">
                <a:solidFill>
                  <a:srgbClr val="FFCC00"/>
                </a:solidFill>
                <a:latin typeface="Arial"/>
                <a:cs typeface="Arial"/>
              </a:rPr>
              <a:t>Nowaday,HDD</a:t>
            </a:r>
            <a:r>
              <a:rPr sz="3200" spc="-6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with3.5</a:t>
            </a:r>
            <a:r>
              <a:rPr sz="3200" spc="-5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inch</a:t>
            </a:r>
            <a:r>
              <a:rPr sz="3200" spc="-3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or</a:t>
            </a:r>
            <a:r>
              <a:rPr sz="3200" spc="-5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5.25</a:t>
            </a:r>
            <a:r>
              <a:rPr sz="3200" spc="-4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FFCC00"/>
                </a:solidFill>
                <a:latin typeface="Arial"/>
                <a:cs typeface="Arial"/>
              </a:rPr>
              <a:t>inch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platters</a:t>
            </a:r>
            <a:r>
              <a:rPr sz="3200" spc="-5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in</a:t>
            </a:r>
            <a:r>
              <a:rPr sz="3200" spc="-4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different</a:t>
            </a:r>
            <a:r>
              <a:rPr sz="3200" spc="-6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capacities,</a:t>
            </a:r>
            <a:r>
              <a:rPr sz="3200" spc="-8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such</a:t>
            </a:r>
            <a:r>
              <a:rPr sz="3200" spc="-7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FFCC00"/>
                </a:solidFill>
                <a:latin typeface="Arial"/>
                <a:cs typeface="Arial"/>
              </a:rPr>
              <a:t>as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3200" dirty="0">
                <a:solidFill>
                  <a:srgbClr val="FFCC00"/>
                </a:solidFill>
                <a:latin typeface="Arial"/>
                <a:cs typeface="Arial"/>
              </a:rPr>
              <a:t>10GB,20GB,40GB,80GB</a:t>
            </a:r>
            <a:r>
              <a:rPr sz="3200" spc="-12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FFCC00"/>
                </a:solidFill>
                <a:latin typeface="Arial"/>
                <a:cs typeface="Arial"/>
              </a:rPr>
              <a:t>etc.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3950" y="-117309"/>
            <a:ext cx="7435215" cy="603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i="0" spc="-85" dirty="0">
                <a:latin typeface="Tahoma"/>
                <a:cs typeface="Tahoma"/>
              </a:rPr>
              <a:t>Main</a:t>
            </a:r>
            <a:r>
              <a:rPr sz="3800" i="0" spc="-215" dirty="0">
                <a:latin typeface="Tahoma"/>
                <a:cs typeface="Tahoma"/>
              </a:rPr>
              <a:t> </a:t>
            </a:r>
            <a:r>
              <a:rPr sz="3800" i="0" spc="-120" dirty="0">
                <a:latin typeface="Tahoma"/>
                <a:cs typeface="Tahoma"/>
              </a:rPr>
              <a:t>components</a:t>
            </a:r>
            <a:r>
              <a:rPr sz="3800" i="0" spc="-175" dirty="0">
                <a:latin typeface="Tahoma"/>
                <a:cs typeface="Tahoma"/>
              </a:rPr>
              <a:t> </a:t>
            </a:r>
            <a:r>
              <a:rPr sz="3800" i="0" spc="-45" dirty="0">
                <a:latin typeface="Tahoma"/>
                <a:cs typeface="Tahoma"/>
              </a:rPr>
              <a:t>for</a:t>
            </a:r>
            <a:r>
              <a:rPr sz="3800" i="0" spc="-204" dirty="0">
                <a:latin typeface="Tahoma"/>
                <a:cs typeface="Tahoma"/>
              </a:rPr>
              <a:t> </a:t>
            </a:r>
            <a:r>
              <a:rPr sz="3800" i="0" spc="-95" dirty="0">
                <a:latin typeface="Tahoma"/>
                <a:cs typeface="Tahoma"/>
              </a:rPr>
              <a:t>Hard</a:t>
            </a:r>
            <a:r>
              <a:rPr sz="3800" i="0" spc="-195" dirty="0">
                <a:latin typeface="Tahoma"/>
                <a:cs typeface="Tahoma"/>
              </a:rPr>
              <a:t> </a:t>
            </a:r>
            <a:r>
              <a:rPr sz="3800" i="0" spc="-65" dirty="0">
                <a:latin typeface="Tahoma"/>
                <a:cs typeface="Tahoma"/>
              </a:rPr>
              <a:t>disk</a:t>
            </a:r>
            <a:r>
              <a:rPr sz="3800" i="0" spc="-215" dirty="0">
                <a:latin typeface="Tahoma"/>
                <a:cs typeface="Tahoma"/>
              </a:rPr>
              <a:t> </a:t>
            </a:r>
            <a:r>
              <a:rPr sz="3800" i="0" spc="-10" dirty="0">
                <a:latin typeface="Tahoma"/>
                <a:cs typeface="Tahoma"/>
              </a:rPr>
              <a:t>drive</a:t>
            </a:r>
            <a:endParaRPr sz="3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95525" y="434050"/>
            <a:ext cx="4550410" cy="24777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36345" indent="-302895">
              <a:lnSpc>
                <a:spcPts val="3929"/>
              </a:lnSpc>
              <a:spcBef>
                <a:spcPts val="125"/>
              </a:spcBef>
              <a:buSzPct val="95522"/>
              <a:buFont typeface="Tahoma"/>
              <a:buChar char="•"/>
              <a:tabLst>
                <a:tab pos="1236345" algn="l"/>
              </a:tabLst>
            </a:pPr>
            <a:r>
              <a:rPr sz="3350" b="1" i="1" spc="-310" dirty="0">
                <a:solidFill>
                  <a:srgbClr val="E4FFFF"/>
                </a:solidFill>
                <a:latin typeface="Verdana"/>
                <a:cs typeface="Verdana"/>
              </a:rPr>
              <a:t>Disk</a:t>
            </a:r>
            <a:r>
              <a:rPr sz="3350" b="1" i="1" spc="-210" dirty="0">
                <a:solidFill>
                  <a:srgbClr val="E4FFFF"/>
                </a:solidFill>
                <a:latin typeface="Verdana"/>
                <a:cs typeface="Verdana"/>
              </a:rPr>
              <a:t> </a:t>
            </a:r>
            <a:r>
              <a:rPr sz="3350" b="1" i="1" spc="-285" dirty="0">
                <a:solidFill>
                  <a:srgbClr val="E4FFFF"/>
                </a:solidFill>
                <a:latin typeface="Verdana"/>
                <a:cs typeface="Verdana"/>
              </a:rPr>
              <a:t>platter</a:t>
            </a:r>
            <a:endParaRPr sz="3350">
              <a:latin typeface="Verdana"/>
              <a:cs typeface="Verdana"/>
            </a:endParaRPr>
          </a:p>
          <a:p>
            <a:pPr marL="951230" indent="-302895">
              <a:lnSpc>
                <a:spcPts val="3840"/>
              </a:lnSpc>
              <a:buSzPct val="95522"/>
              <a:buFont typeface="Tahoma"/>
              <a:buChar char="•"/>
              <a:tabLst>
                <a:tab pos="951230" algn="l"/>
              </a:tabLst>
            </a:pPr>
            <a:r>
              <a:rPr sz="3350" b="1" i="1" spc="-315" dirty="0">
                <a:solidFill>
                  <a:srgbClr val="E4FFFF"/>
                </a:solidFill>
                <a:latin typeface="Verdana"/>
                <a:cs typeface="Verdana"/>
              </a:rPr>
              <a:t>Stepper</a:t>
            </a:r>
            <a:r>
              <a:rPr sz="3350" b="1" i="1" spc="-245" dirty="0">
                <a:solidFill>
                  <a:srgbClr val="E4FFFF"/>
                </a:solidFill>
                <a:latin typeface="Verdana"/>
                <a:cs typeface="Verdana"/>
              </a:rPr>
              <a:t> </a:t>
            </a:r>
            <a:r>
              <a:rPr sz="3350" b="1" i="1" spc="-365" dirty="0">
                <a:solidFill>
                  <a:srgbClr val="E4FFFF"/>
                </a:solidFill>
                <a:latin typeface="Verdana"/>
                <a:cs typeface="Verdana"/>
              </a:rPr>
              <a:t>motor</a:t>
            </a:r>
            <a:endParaRPr sz="3350">
              <a:latin typeface="Verdana"/>
              <a:cs typeface="Verdana"/>
            </a:endParaRPr>
          </a:p>
          <a:p>
            <a:pPr marL="992505" indent="-302895">
              <a:lnSpc>
                <a:spcPts val="3840"/>
              </a:lnSpc>
              <a:buSzPct val="95522"/>
              <a:buFont typeface="Tahoma"/>
              <a:buChar char="•"/>
              <a:tabLst>
                <a:tab pos="992505" algn="l"/>
              </a:tabLst>
            </a:pPr>
            <a:r>
              <a:rPr sz="3350" b="1" i="1" spc="-300" dirty="0">
                <a:solidFill>
                  <a:srgbClr val="E4FFFF"/>
                </a:solidFill>
                <a:latin typeface="Verdana"/>
                <a:cs typeface="Verdana"/>
              </a:rPr>
              <a:t>Spindle</a:t>
            </a:r>
            <a:r>
              <a:rPr sz="3350" b="1" i="1" spc="-229" dirty="0">
                <a:solidFill>
                  <a:srgbClr val="E4FFFF"/>
                </a:solidFill>
                <a:latin typeface="Verdana"/>
                <a:cs typeface="Verdana"/>
              </a:rPr>
              <a:t> </a:t>
            </a:r>
            <a:r>
              <a:rPr sz="3350" b="1" i="1" spc="-365" dirty="0">
                <a:solidFill>
                  <a:srgbClr val="E4FFFF"/>
                </a:solidFill>
                <a:latin typeface="Verdana"/>
                <a:cs typeface="Verdana"/>
              </a:rPr>
              <a:t>motor</a:t>
            </a:r>
            <a:endParaRPr sz="3350">
              <a:latin typeface="Verdana"/>
              <a:cs typeface="Verdana"/>
            </a:endParaRPr>
          </a:p>
          <a:p>
            <a:pPr marL="315595" indent="-302895">
              <a:lnSpc>
                <a:spcPts val="3879"/>
              </a:lnSpc>
              <a:buSzPct val="95522"/>
              <a:buFont typeface="Tahoma"/>
              <a:buChar char="•"/>
              <a:tabLst>
                <a:tab pos="315595" algn="l"/>
              </a:tabLst>
            </a:pPr>
            <a:r>
              <a:rPr sz="3350" b="1" i="1" spc="-335" dirty="0">
                <a:solidFill>
                  <a:srgbClr val="E4FFFF"/>
                </a:solidFill>
                <a:latin typeface="Verdana"/>
                <a:cs typeface="Verdana"/>
              </a:rPr>
              <a:t>Read</a:t>
            </a:r>
            <a:r>
              <a:rPr sz="3350" b="1" i="1" spc="-220" dirty="0">
                <a:solidFill>
                  <a:srgbClr val="E4FFFF"/>
                </a:solidFill>
                <a:latin typeface="Verdana"/>
                <a:cs typeface="Verdana"/>
              </a:rPr>
              <a:t> </a:t>
            </a:r>
            <a:r>
              <a:rPr sz="3350" b="1" i="1" spc="-355" dirty="0">
                <a:solidFill>
                  <a:srgbClr val="E4FFFF"/>
                </a:solidFill>
                <a:latin typeface="Verdana"/>
                <a:cs typeface="Verdana"/>
              </a:rPr>
              <a:t>and</a:t>
            </a:r>
            <a:r>
              <a:rPr sz="3350" b="1" i="1" spc="-215" dirty="0">
                <a:solidFill>
                  <a:srgbClr val="E4FFFF"/>
                </a:solidFill>
                <a:latin typeface="Verdana"/>
                <a:cs typeface="Verdana"/>
              </a:rPr>
              <a:t> </a:t>
            </a:r>
            <a:r>
              <a:rPr sz="3350" b="1" i="1" spc="-290" dirty="0">
                <a:solidFill>
                  <a:srgbClr val="E4FFFF"/>
                </a:solidFill>
                <a:latin typeface="Verdana"/>
                <a:cs typeface="Verdana"/>
              </a:rPr>
              <a:t>write</a:t>
            </a:r>
            <a:r>
              <a:rPr sz="3350" b="1" i="1" spc="-220" dirty="0">
                <a:solidFill>
                  <a:srgbClr val="E4FFFF"/>
                </a:solidFill>
                <a:latin typeface="Verdana"/>
                <a:cs typeface="Verdana"/>
              </a:rPr>
              <a:t> </a:t>
            </a:r>
            <a:r>
              <a:rPr sz="3350" b="1" i="1" spc="-370" dirty="0">
                <a:solidFill>
                  <a:srgbClr val="E4FFFF"/>
                </a:solidFill>
                <a:latin typeface="Verdana"/>
                <a:cs typeface="Verdana"/>
              </a:rPr>
              <a:t>head</a:t>
            </a:r>
            <a:endParaRPr sz="3350">
              <a:latin typeface="Verdana"/>
              <a:cs typeface="Verdana"/>
            </a:endParaRPr>
          </a:p>
          <a:p>
            <a:pPr marL="1988820" lvl="1" indent="-240029">
              <a:lnSpc>
                <a:spcPts val="3790"/>
              </a:lnSpc>
              <a:buFont typeface="Arial"/>
              <a:buChar char="•"/>
              <a:tabLst>
                <a:tab pos="1988820" algn="l"/>
              </a:tabLst>
            </a:pPr>
            <a:r>
              <a:rPr sz="3200" b="1" i="1" spc="-25" dirty="0">
                <a:solidFill>
                  <a:srgbClr val="E4FFFF"/>
                </a:solidFill>
                <a:latin typeface="Arial"/>
                <a:cs typeface="Arial"/>
              </a:rPr>
              <a:t>Arm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927602"/>
            <a:ext cx="9144000" cy="39303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2114" y="20523"/>
            <a:ext cx="28886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DISK</a:t>
            </a:r>
            <a:r>
              <a:rPr spc="-10" dirty="0"/>
              <a:t> </a:t>
            </a:r>
            <a:r>
              <a:rPr spc="-30" dirty="0"/>
              <a:t>PLATTER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513334"/>
            <a:ext cx="8596630" cy="5939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7830" marR="11430" indent="-40576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17830" algn="l"/>
                <a:tab pos="429895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The</a:t>
            </a:r>
            <a:r>
              <a:rPr sz="2400" spc="-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platter</a:t>
            </a:r>
            <a:r>
              <a:rPr sz="2400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is</a:t>
            </a:r>
            <a:r>
              <a:rPr sz="2400" spc="-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made</a:t>
            </a:r>
            <a:r>
              <a:rPr sz="2400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up</a:t>
            </a:r>
            <a:r>
              <a:rPr sz="2400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of</a:t>
            </a:r>
            <a:r>
              <a:rPr sz="2400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a</a:t>
            </a:r>
            <a:r>
              <a:rPr sz="2400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magnetic</a:t>
            </a:r>
            <a:r>
              <a:rPr sz="2400" spc="-3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material,</a:t>
            </a:r>
            <a:r>
              <a:rPr sz="2400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in</a:t>
            </a:r>
            <a:r>
              <a:rPr sz="2400" spc="-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the</a:t>
            </a:r>
            <a:r>
              <a:rPr sz="2400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flat</a:t>
            </a:r>
            <a:r>
              <a:rPr sz="2400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E4FFFF"/>
                </a:solidFill>
                <a:latin typeface="Arial"/>
                <a:cs typeface="Arial"/>
              </a:rPr>
              <a:t>disk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part</a:t>
            </a:r>
            <a:r>
              <a:rPr sz="2400" spc="-3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of</a:t>
            </a:r>
            <a:r>
              <a:rPr sz="2400" spc="-3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the</a:t>
            </a:r>
            <a:r>
              <a:rPr sz="2400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4FFFF"/>
                </a:solidFill>
                <a:latin typeface="Arial"/>
                <a:cs typeface="Arial"/>
              </a:rPr>
              <a:t>drive.</a:t>
            </a:r>
            <a:endParaRPr sz="2400">
              <a:latin typeface="Arial"/>
              <a:cs typeface="Arial"/>
            </a:endParaRPr>
          </a:p>
          <a:p>
            <a:pPr marL="417830" indent="-405130">
              <a:lnSpc>
                <a:spcPct val="100000"/>
              </a:lnSpc>
              <a:buAutoNum type="arabicPeriod"/>
              <a:tabLst>
                <a:tab pos="417830" algn="l"/>
              </a:tabLst>
            </a:pP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The</a:t>
            </a:r>
            <a:r>
              <a:rPr sz="2400" spc="-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data</a:t>
            </a:r>
            <a:r>
              <a:rPr sz="2400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stored</a:t>
            </a:r>
            <a:r>
              <a:rPr sz="2400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in</a:t>
            </a:r>
            <a:r>
              <a:rPr sz="2400" spc="-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the</a:t>
            </a:r>
            <a:r>
              <a:rPr sz="2400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4FFFF"/>
                </a:solidFill>
                <a:latin typeface="Arial"/>
                <a:cs typeface="Arial"/>
              </a:rPr>
              <a:t>platter.</a:t>
            </a:r>
            <a:endParaRPr sz="2400">
              <a:latin typeface="Arial"/>
              <a:cs typeface="Arial"/>
            </a:endParaRPr>
          </a:p>
          <a:p>
            <a:pPr marL="417830" indent="-405130">
              <a:lnSpc>
                <a:spcPct val="100000"/>
              </a:lnSpc>
              <a:buAutoNum type="arabicPeriod"/>
              <a:tabLst>
                <a:tab pos="417830" algn="l"/>
              </a:tabLst>
            </a:pP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Each</a:t>
            </a:r>
            <a:r>
              <a:rPr sz="2400" spc="-10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set</a:t>
            </a:r>
            <a:r>
              <a:rPr sz="2400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of</a:t>
            </a:r>
            <a:r>
              <a:rPr sz="2400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magnetic</a:t>
            </a:r>
            <a:r>
              <a:rPr sz="2400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particles</a:t>
            </a:r>
            <a:r>
              <a:rPr sz="2400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4FFFF"/>
                </a:solidFill>
                <a:latin typeface="Arial"/>
                <a:cs typeface="Arial"/>
              </a:rPr>
              <a:t>is</a:t>
            </a:r>
            <a:r>
              <a:rPr sz="2400" spc="-1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collection</a:t>
            </a:r>
            <a:r>
              <a:rPr sz="2400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a</a:t>
            </a:r>
            <a:r>
              <a:rPr sz="2400" spc="-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unit</a:t>
            </a:r>
            <a:r>
              <a:rPr sz="2400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called</a:t>
            </a:r>
            <a:r>
              <a:rPr sz="2400" spc="-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a</a:t>
            </a:r>
            <a:r>
              <a:rPr sz="2400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E4FFFF"/>
                </a:solidFill>
                <a:latin typeface="Arial"/>
                <a:cs typeface="Arial"/>
              </a:rPr>
              <a:t>bit.</a:t>
            </a:r>
            <a:endParaRPr sz="2400">
              <a:latin typeface="Arial"/>
              <a:cs typeface="Arial"/>
            </a:endParaRPr>
          </a:p>
          <a:p>
            <a:pPr marL="12700" marR="354330" indent="33782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350520" algn="l"/>
              </a:tabLst>
            </a:pP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New</a:t>
            </a:r>
            <a:r>
              <a:rPr sz="2400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E4FFFF"/>
                </a:solidFill>
                <a:latin typeface="Arial"/>
                <a:cs typeface="Arial"/>
              </a:rPr>
              <a:t>hard-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drive</a:t>
            </a:r>
            <a:r>
              <a:rPr sz="2400" spc="-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technology</a:t>
            </a:r>
            <a:r>
              <a:rPr sz="2400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uses</a:t>
            </a:r>
            <a:r>
              <a:rPr sz="2400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E4FFFF"/>
                </a:solidFill>
                <a:latin typeface="Arial"/>
                <a:cs typeface="Arial"/>
              </a:rPr>
              <a:t>thin-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film</a:t>
            </a:r>
            <a:r>
              <a:rPr sz="2400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metals</a:t>
            </a:r>
            <a:r>
              <a:rPr sz="2400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and</a:t>
            </a:r>
            <a:r>
              <a:rPr sz="2400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4FFFF"/>
                </a:solidFill>
                <a:latin typeface="Arial"/>
                <a:cs typeface="Arial"/>
              </a:rPr>
              <a:t>glass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platters</a:t>
            </a:r>
            <a:r>
              <a:rPr sz="2400" spc="-7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to</a:t>
            </a:r>
            <a:r>
              <a:rPr sz="2400" spc="-8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increase</a:t>
            </a:r>
            <a:r>
              <a:rPr sz="2400" spc="-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efficiency</a:t>
            </a:r>
            <a:r>
              <a:rPr sz="2400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and</a:t>
            </a:r>
            <a:r>
              <a:rPr sz="2400" spc="-8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drive</a:t>
            </a:r>
            <a:r>
              <a:rPr sz="2400" spc="-7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storage</a:t>
            </a:r>
            <a:r>
              <a:rPr sz="2400" spc="-8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4FFFF"/>
                </a:solidFill>
                <a:latin typeface="Arial"/>
                <a:cs typeface="Arial"/>
              </a:rPr>
              <a:t>capacity.</a:t>
            </a:r>
            <a:endParaRPr sz="2400">
              <a:latin typeface="Arial"/>
              <a:cs typeface="Arial"/>
            </a:endParaRPr>
          </a:p>
          <a:p>
            <a:pPr marL="2115820">
              <a:lnSpc>
                <a:spcPct val="100000"/>
              </a:lnSpc>
              <a:spcBef>
                <a:spcPts val="2010"/>
              </a:spcBef>
            </a:pPr>
            <a:r>
              <a:rPr sz="3200" i="1" u="sng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STEPPER</a:t>
            </a:r>
            <a:r>
              <a:rPr sz="3200" i="1" u="sng" spc="-1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 MOTOR</a:t>
            </a:r>
            <a:endParaRPr sz="3200">
              <a:latin typeface="Arial"/>
              <a:cs typeface="Arial"/>
            </a:endParaRPr>
          </a:p>
          <a:p>
            <a:pPr marL="434340" lvl="1" indent="-337820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434340" algn="l"/>
              </a:tabLst>
            </a:pP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Use</a:t>
            </a:r>
            <a:r>
              <a:rPr sz="2400" spc="-7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stepper</a:t>
            </a:r>
            <a:r>
              <a:rPr sz="2400" spc="-8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motors</a:t>
            </a:r>
            <a:r>
              <a:rPr sz="2400" spc="-8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for</a:t>
            </a:r>
            <a:r>
              <a:rPr sz="2400" spc="-8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controlling</a:t>
            </a:r>
            <a:r>
              <a:rPr sz="2400" spc="-6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read/write</a:t>
            </a:r>
            <a:r>
              <a:rPr sz="2400" spc="-7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head</a:t>
            </a:r>
            <a:r>
              <a:rPr sz="2400" spc="-7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4FFFF"/>
                </a:solidFill>
                <a:latin typeface="Arial"/>
                <a:cs typeface="Arial"/>
              </a:rPr>
              <a:t>position.</a:t>
            </a:r>
            <a:endParaRPr sz="2400">
              <a:latin typeface="Arial"/>
              <a:cs typeface="Arial"/>
            </a:endParaRPr>
          </a:p>
          <a:p>
            <a:pPr marL="12700" marR="43815" lvl="1" indent="421640">
              <a:lnSpc>
                <a:spcPct val="100000"/>
              </a:lnSpc>
              <a:buAutoNum type="arabicPeriod"/>
              <a:tabLst>
                <a:tab pos="434340" algn="l"/>
              </a:tabLst>
            </a:pP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Stepper</a:t>
            </a:r>
            <a:r>
              <a:rPr sz="2400" spc="-7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motors</a:t>
            </a:r>
            <a:r>
              <a:rPr sz="2400" spc="-7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usually</a:t>
            </a:r>
            <a:r>
              <a:rPr sz="2400" spc="-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use</a:t>
            </a:r>
            <a:r>
              <a:rPr sz="2400" spc="-7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+12V</a:t>
            </a:r>
            <a:r>
              <a:rPr sz="2400" spc="-7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4FFFF"/>
                </a:solidFill>
                <a:latin typeface="Arial"/>
                <a:cs typeface="Arial"/>
              </a:rPr>
              <a:t>power,</a:t>
            </a:r>
            <a:r>
              <a:rPr sz="2400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but</a:t>
            </a:r>
            <a:r>
              <a:rPr sz="2400" spc="-8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some</a:t>
            </a:r>
            <a:r>
              <a:rPr sz="2400" spc="-7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new</a:t>
            </a:r>
            <a:r>
              <a:rPr sz="2400" spc="-7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E4FFFF"/>
                </a:solidFill>
                <a:latin typeface="Arial"/>
                <a:cs typeface="Arial"/>
              </a:rPr>
              <a:t>low-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power</a:t>
            </a:r>
            <a:r>
              <a:rPr sz="2400" spc="-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drives</a:t>
            </a:r>
            <a:r>
              <a:rPr sz="2400" spc="-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use</a:t>
            </a:r>
            <a:r>
              <a:rPr sz="2400" spc="-6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+5V</a:t>
            </a:r>
            <a:r>
              <a:rPr sz="2400" spc="-8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power</a:t>
            </a:r>
            <a:r>
              <a:rPr sz="2400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4FFFF"/>
                </a:solidFill>
                <a:latin typeface="Arial"/>
                <a:cs typeface="Arial"/>
              </a:rPr>
              <a:t>source.</a:t>
            </a:r>
            <a:endParaRPr sz="2400">
              <a:latin typeface="Arial"/>
              <a:cs typeface="Arial"/>
            </a:endParaRPr>
          </a:p>
          <a:p>
            <a:pPr marL="2298700">
              <a:lnSpc>
                <a:spcPct val="100000"/>
              </a:lnSpc>
              <a:spcBef>
                <a:spcPts val="1530"/>
              </a:spcBef>
            </a:pPr>
            <a:r>
              <a:rPr sz="3200" i="1" u="sng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SPINDLE</a:t>
            </a:r>
            <a:r>
              <a:rPr sz="3200" i="1" u="sng" spc="-25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 </a:t>
            </a:r>
            <a:r>
              <a:rPr sz="3200" i="1" u="sng" spc="-1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MOTOR</a:t>
            </a:r>
            <a:endParaRPr sz="32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30"/>
              </a:spcBef>
              <a:buAutoNum type="arabicPeriod"/>
              <a:tabLst>
                <a:tab pos="350520" algn="l"/>
              </a:tabLst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It</a:t>
            </a:r>
            <a:r>
              <a:rPr sz="2400" i="1" spc="-6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control</a:t>
            </a:r>
            <a:r>
              <a:rPr sz="2400" i="1" spc="-2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the</a:t>
            </a:r>
            <a:r>
              <a:rPr sz="24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platter.</a:t>
            </a:r>
            <a:endParaRPr sz="24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buAutoNum type="arabicPeriod"/>
              <a:tabLst>
                <a:tab pos="350520" algn="l"/>
              </a:tabLst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Ithis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motor</a:t>
            </a:r>
            <a:r>
              <a:rPr sz="2400" i="1" spc="-2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rotates</a:t>
            </a:r>
            <a:r>
              <a:rPr sz="24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at</a:t>
            </a:r>
            <a:r>
              <a:rPr sz="2400" i="1" spc="-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a</a:t>
            </a:r>
            <a:r>
              <a:rPr sz="24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speed</a:t>
            </a:r>
            <a:r>
              <a:rPr sz="2400" i="1" spc="-2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of</a:t>
            </a:r>
            <a:r>
              <a:rPr sz="2400" i="1" spc="-3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3600</a:t>
            </a:r>
            <a:r>
              <a:rPr sz="2400" i="1" spc="-2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to</a:t>
            </a:r>
            <a:r>
              <a:rPr sz="2400" i="1" spc="-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10,000</a:t>
            </a:r>
            <a:r>
              <a:rPr sz="2400" i="1" spc="-2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r.p.m.</a:t>
            </a:r>
            <a:endParaRPr sz="2400">
              <a:latin typeface="Arial"/>
              <a:cs typeface="Arial"/>
            </a:endParaRPr>
          </a:p>
          <a:p>
            <a:pPr marL="337185" indent="-32448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37185" algn="l"/>
              </a:tabLst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All</a:t>
            </a:r>
            <a:r>
              <a:rPr sz="2400" i="1" spc="-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the</a:t>
            </a:r>
            <a:r>
              <a:rPr sz="2400" i="1" spc="-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platter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moves</a:t>
            </a:r>
            <a:r>
              <a:rPr sz="2400" i="1" spc="-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in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the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same</a:t>
            </a:r>
            <a:r>
              <a:rPr sz="2400" i="1" spc="-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direction.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6622" y="20523"/>
            <a:ext cx="47771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READ</a:t>
            </a:r>
            <a:r>
              <a:rPr spc="-14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WRITE</a:t>
            </a:r>
            <a:r>
              <a:rPr spc="-25" dirty="0"/>
              <a:t> </a:t>
            </a:r>
            <a:r>
              <a:rPr spc="-20" dirty="0"/>
              <a:t>HEAD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78379" y="1133855"/>
            <a:ext cx="2668905" cy="902335"/>
            <a:chOff x="2278379" y="1133855"/>
            <a:chExt cx="2668905" cy="9023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8379" y="1133855"/>
              <a:ext cx="2668523" cy="9022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22219" y="1693163"/>
              <a:ext cx="2180844" cy="79248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48200" y="2743200"/>
            <a:ext cx="4191000" cy="35814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8739" y="513334"/>
            <a:ext cx="8509000" cy="426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3535" indent="-33083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43535" algn="l"/>
              </a:tabLst>
            </a:pP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The</a:t>
            </a:r>
            <a:r>
              <a:rPr sz="2400" spc="-7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heads</a:t>
            </a:r>
            <a:r>
              <a:rPr sz="2400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read</a:t>
            </a:r>
            <a:r>
              <a:rPr sz="2400" spc="-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and</a:t>
            </a:r>
            <a:r>
              <a:rPr sz="2400" spc="-6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write</a:t>
            </a:r>
            <a:r>
              <a:rPr sz="2400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the</a:t>
            </a:r>
            <a:r>
              <a:rPr sz="2400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information</a:t>
            </a:r>
            <a:r>
              <a:rPr sz="2400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to</a:t>
            </a:r>
            <a:r>
              <a:rPr sz="2400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the</a:t>
            </a:r>
            <a:r>
              <a:rPr sz="2400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drive</a:t>
            </a:r>
            <a:r>
              <a:rPr sz="2400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4FFFF"/>
                </a:solidFill>
                <a:latin typeface="Arial"/>
                <a:cs typeface="Arial"/>
              </a:rPr>
              <a:t>platter.</a:t>
            </a:r>
            <a:endParaRPr sz="2400">
              <a:latin typeface="Arial"/>
              <a:cs typeface="Arial"/>
            </a:endParaRPr>
          </a:p>
          <a:p>
            <a:pPr marL="343535" indent="-330835">
              <a:lnSpc>
                <a:spcPts val="2865"/>
              </a:lnSpc>
              <a:buAutoNum type="arabicPeriod"/>
              <a:tabLst>
                <a:tab pos="343535" algn="l"/>
              </a:tabLst>
            </a:pP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The</a:t>
            </a:r>
            <a:r>
              <a:rPr sz="2400" spc="-7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head</a:t>
            </a:r>
            <a:r>
              <a:rPr sz="2400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writes</a:t>
            </a:r>
            <a:r>
              <a:rPr sz="2400" spc="-6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magnetic</a:t>
            </a:r>
            <a:r>
              <a:rPr sz="2400" spc="-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information</a:t>
            </a:r>
            <a:r>
              <a:rPr sz="2400" spc="-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on</a:t>
            </a:r>
            <a:r>
              <a:rPr sz="2400" spc="-6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Arial"/>
                <a:cs typeface="Arial"/>
              </a:rPr>
              <a:t>the</a:t>
            </a:r>
            <a:r>
              <a:rPr sz="2400" spc="-7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4FFFF"/>
                </a:solidFill>
                <a:latin typeface="Arial"/>
                <a:cs typeface="Arial"/>
              </a:rPr>
              <a:t>platter.</a:t>
            </a:r>
            <a:endParaRPr sz="2400">
              <a:latin typeface="Arial"/>
              <a:cs typeface="Arial"/>
            </a:endParaRPr>
          </a:p>
          <a:p>
            <a:pPr marL="2452370">
              <a:lnSpc>
                <a:spcPts val="3825"/>
              </a:lnSpc>
            </a:pPr>
            <a:r>
              <a:rPr sz="3200" i="1" u="sng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HEAD</a:t>
            </a:r>
            <a:r>
              <a:rPr sz="3200" i="1" u="sng" spc="-13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 </a:t>
            </a:r>
            <a:r>
              <a:rPr sz="3200" i="1" u="sng" spc="-25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ARM</a:t>
            </a:r>
            <a:endParaRPr sz="3200">
              <a:latin typeface="Arial"/>
              <a:cs typeface="Arial"/>
            </a:endParaRPr>
          </a:p>
          <a:p>
            <a:pPr marL="349885" indent="-337185">
              <a:lnSpc>
                <a:spcPct val="100000"/>
              </a:lnSpc>
              <a:spcBef>
                <a:spcPts val="30"/>
              </a:spcBef>
              <a:buAutoNum type="arabicPeriod"/>
              <a:tabLst>
                <a:tab pos="349885" algn="l"/>
              </a:tabLst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Used</a:t>
            </a:r>
            <a:r>
              <a:rPr sz="24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for</a:t>
            </a:r>
            <a:r>
              <a:rPr sz="2400" i="1" spc="-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read</a:t>
            </a:r>
            <a:r>
              <a:rPr sz="2400" i="1" spc="-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and</a:t>
            </a:r>
            <a:r>
              <a:rPr sz="24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write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operations.</a:t>
            </a:r>
            <a:endParaRPr sz="240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  <a:spcBef>
                <a:spcPts val="1650"/>
              </a:spcBef>
            </a:pPr>
            <a:r>
              <a:rPr sz="3200" i="1" u="sng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Disk</a:t>
            </a:r>
            <a:r>
              <a:rPr sz="3200" i="1" u="sng" spc="-5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 </a:t>
            </a:r>
            <a:r>
              <a:rPr sz="3200" i="1" u="sng" spc="-1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structures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3200">
              <a:latin typeface="Arial"/>
              <a:cs typeface="Arial"/>
            </a:endParaRPr>
          </a:p>
          <a:p>
            <a:pPr marL="317500" marR="6793865">
              <a:lnSpc>
                <a:spcPct val="100000"/>
              </a:lnSpc>
              <a:tabLst>
                <a:tab pos="791210" algn="l"/>
              </a:tabLst>
            </a:pPr>
            <a:r>
              <a:rPr sz="1800" i="1" dirty="0">
                <a:solidFill>
                  <a:srgbClr val="E4FFFF"/>
                </a:solidFill>
                <a:latin typeface="Arial"/>
                <a:cs typeface="Arial"/>
              </a:rPr>
              <a:t>(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A)</a:t>
            </a:r>
            <a:r>
              <a:rPr sz="2400" i="1" spc="-2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Track </a:t>
            </a:r>
            <a:r>
              <a:rPr sz="2400" i="1" spc="-25" dirty="0">
                <a:solidFill>
                  <a:srgbClr val="E4FFFF"/>
                </a:solidFill>
                <a:latin typeface="Arial"/>
                <a:cs typeface="Arial"/>
              </a:rPr>
              <a:t>(B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	</a:t>
            </a:r>
            <a:r>
              <a:rPr sz="2400" b="1" i="1" spc="-10" dirty="0">
                <a:solidFill>
                  <a:srgbClr val="E4FFFF"/>
                </a:solidFill>
                <a:latin typeface="Arial"/>
                <a:cs typeface="Arial"/>
              </a:rPr>
              <a:t>sector</a:t>
            </a:r>
            <a:endParaRPr sz="240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(C)</a:t>
            </a:r>
            <a:r>
              <a:rPr sz="2400" i="1" spc="-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Cylinder</a:t>
            </a:r>
            <a:endParaRPr sz="240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(D)</a:t>
            </a:r>
            <a:r>
              <a:rPr sz="2400" i="1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Storage</a:t>
            </a:r>
            <a:r>
              <a:rPr sz="2400" i="1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capacity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0523"/>
            <a:ext cx="12357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Track</a:t>
            </a:r>
            <a:r>
              <a:rPr spc="-170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84577" y="122631"/>
            <a:ext cx="61601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The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HDD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is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divided</a:t>
            </a:r>
            <a:r>
              <a:rPr sz="2400" i="1" spc="-2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into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number</a:t>
            </a:r>
            <a:r>
              <a:rPr sz="2400" i="1" spc="-2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of</a:t>
            </a:r>
            <a:r>
              <a:rPr sz="2400" i="1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concentric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586486"/>
            <a:ext cx="6272530" cy="80581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circlues</a:t>
            </a:r>
            <a:r>
              <a:rPr sz="2400" i="1" spc="1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called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tracks.</a:t>
            </a:r>
            <a:endParaRPr sz="2400">
              <a:latin typeface="Arial"/>
              <a:cs typeface="Arial"/>
            </a:endParaRPr>
          </a:p>
          <a:p>
            <a:pPr marL="1274445">
              <a:lnSpc>
                <a:spcPct val="100000"/>
              </a:lnSpc>
              <a:spcBef>
                <a:spcPts val="195"/>
              </a:spcBef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Circular</a:t>
            </a:r>
            <a:r>
              <a:rPr sz="2400" i="1" spc="-3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path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in</a:t>
            </a:r>
            <a:r>
              <a:rPr sz="2400" i="1" spc="-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sector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is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called</a:t>
            </a:r>
            <a:r>
              <a:rPr sz="2400" i="1" spc="-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track.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728343"/>
            <a:ext cx="14249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1" u="sng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Sector</a:t>
            </a:r>
            <a:r>
              <a:rPr sz="3200" i="1" u="sng" spc="-25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 </a:t>
            </a:r>
            <a:r>
              <a:rPr sz="3200" i="1" u="sng" spc="-5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86685" y="1830451"/>
            <a:ext cx="6311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Data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storage</a:t>
            </a:r>
            <a:r>
              <a:rPr sz="2400" i="1" spc="-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area</a:t>
            </a:r>
            <a:r>
              <a:rPr sz="24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in</a:t>
            </a:r>
            <a:r>
              <a:rPr sz="2400" i="1" spc="-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one</a:t>
            </a:r>
            <a:r>
              <a:rPr sz="24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track</a:t>
            </a:r>
            <a:r>
              <a:rPr sz="2400" i="1" spc="-7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multiple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 divided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2220595"/>
            <a:ext cx="7822565" cy="1708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into</a:t>
            </a:r>
            <a:r>
              <a:rPr sz="2400" i="1" spc="-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the</a:t>
            </a:r>
            <a:r>
              <a:rPr sz="2400" i="1" spc="-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multiple</a:t>
            </a:r>
            <a:r>
              <a:rPr sz="2400" i="1" spc="-2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block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is</a:t>
            </a:r>
            <a:r>
              <a:rPr sz="2400" i="1" spc="-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called</a:t>
            </a:r>
            <a:r>
              <a:rPr sz="24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sector.</a:t>
            </a:r>
            <a:endParaRPr sz="2400">
              <a:latin typeface="Arial"/>
              <a:cs typeface="Arial"/>
            </a:endParaRPr>
          </a:p>
          <a:p>
            <a:pPr marL="433070">
              <a:lnSpc>
                <a:spcPts val="2865"/>
              </a:lnSpc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Each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sector</a:t>
            </a:r>
            <a:r>
              <a:rPr sz="24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can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have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512</a:t>
            </a:r>
            <a:r>
              <a:rPr sz="24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bytes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of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the</a:t>
            </a:r>
            <a:r>
              <a:rPr sz="2400" i="1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data.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3825"/>
              </a:lnSpc>
            </a:pPr>
            <a:r>
              <a:rPr sz="3200" i="1" u="sng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Cylinder:</a:t>
            </a:r>
            <a:r>
              <a:rPr sz="3200" i="1" spc="27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A</a:t>
            </a:r>
            <a:r>
              <a:rPr sz="2400" i="1" spc="-13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set</a:t>
            </a:r>
            <a:r>
              <a:rPr sz="24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of</a:t>
            </a:r>
            <a:r>
              <a:rPr sz="24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corresponding tracks</a:t>
            </a:r>
            <a:r>
              <a:rPr sz="2400" i="1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in</a:t>
            </a:r>
            <a:r>
              <a:rPr sz="2400" i="1" spc="-2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all</a:t>
            </a:r>
            <a:r>
              <a:rPr sz="2400" i="1" spc="-2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sides</a:t>
            </a:r>
            <a:r>
              <a:rPr sz="2400" i="1" spc="-3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of</a:t>
            </a:r>
            <a:r>
              <a:rPr sz="24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hard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disk</a:t>
            </a:r>
            <a:r>
              <a:rPr sz="2400" i="1" spc="-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is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called</a:t>
            </a:r>
            <a:r>
              <a:rPr sz="2400" i="1" spc="-3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cylinder.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92066" y="4512640"/>
            <a:ext cx="38207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Its</a:t>
            </a:r>
            <a:r>
              <a:rPr sz="2400" i="1" spc="-7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having</a:t>
            </a:r>
            <a:r>
              <a:rPr sz="2400" i="1" spc="-2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a</a:t>
            </a:r>
            <a:r>
              <a:rPr sz="2400" i="1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fourmula</a:t>
            </a:r>
            <a:r>
              <a:rPr sz="2400" i="1" spc="-1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shown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4410532"/>
            <a:ext cx="7289165" cy="1981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1" u="sng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Storage</a:t>
            </a:r>
            <a:r>
              <a:rPr sz="3200" i="1" u="sng" spc="-65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 </a:t>
            </a:r>
            <a:r>
              <a:rPr sz="3200" i="1" u="sng" spc="-1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capacity: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below:</a:t>
            </a:r>
            <a:endParaRPr sz="2400">
              <a:latin typeface="Arial"/>
              <a:cs typeface="Arial"/>
            </a:endParaRPr>
          </a:p>
          <a:p>
            <a:pPr marL="12700" marR="5080" indent="673735">
              <a:lnSpc>
                <a:spcPct val="100000"/>
              </a:lnSpc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storage</a:t>
            </a:r>
            <a:r>
              <a:rPr sz="2400" i="1" spc="-7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capacity=number</a:t>
            </a:r>
            <a:r>
              <a:rPr sz="2400" i="1" spc="-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of</a:t>
            </a:r>
            <a:r>
              <a:rPr sz="2400" i="1" spc="-6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cylinder’s*tracks</a:t>
            </a:r>
            <a:r>
              <a:rPr sz="2400" i="1" spc="-25" dirty="0">
                <a:solidFill>
                  <a:srgbClr val="E4FFFF"/>
                </a:solidFill>
                <a:latin typeface="Arial"/>
                <a:cs typeface="Arial"/>
              </a:rPr>
              <a:t> per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cylinder*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sector</a:t>
            </a:r>
            <a:r>
              <a:rPr sz="2400" i="1" spc="-7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per</a:t>
            </a:r>
            <a:r>
              <a:rPr sz="2400" i="1" spc="-6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tracks*bytes</a:t>
            </a:r>
            <a:r>
              <a:rPr sz="2400" i="1" spc="-7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per</a:t>
            </a:r>
            <a:r>
              <a:rPr sz="2400" i="1" spc="-6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sector.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41830">
              <a:lnSpc>
                <a:spcPct val="100000"/>
              </a:lnSpc>
              <a:spcBef>
                <a:spcPts val="105"/>
              </a:spcBef>
            </a:pPr>
            <a:r>
              <a:rPr dirty="0"/>
              <a:t>Jumper</a:t>
            </a:r>
            <a:r>
              <a:rPr spc="-65" dirty="0"/>
              <a:t> </a:t>
            </a:r>
            <a:r>
              <a:rPr dirty="0"/>
              <a:t>setting</a:t>
            </a:r>
            <a:r>
              <a:rPr spc="-45" dirty="0"/>
              <a:t> </a:t>
            </a:r>
            <a:r>
              <a:rPr spc="-25" dirty="0"/>
              <a:t>for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001014"/>
            <a:ext cx="23126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110" indent="-35941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72110" algn="l"/>
                <a:tab pos="1454150" algn="l"/>
              </a:tabLst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It</a:t>
            </a:r>
            <a:r>
              <a:rPr sz="2400" i="1" spc="-2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20" dirty="0">
                <a:solidFill>
                  <a:srgbClr val="E4FFFF"/>
                </a:solidFill>
                <a:latin typeface="Arial"/>
                <a:cs typeface="Arial"/>
              </a:rPr>
              <a:t>have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	8</a:t>
            </a:r>
            <a:r>
              <a:rPr sz="2400" i="1" spc="-2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20" dirty="0">
                <a:solidFill>
                  <a:srgbClr val="E4FFFF"/>
                </a:solidFill>
                <a:latin typeface="Arial"/>
                <a:cs typeface="Arial"/>
              </a:rPr>
              <a:t>Pins</a:t>
            </a:r>
            <a:endParaRPr sz="2400">
              <a:latin typeface="Arial"/>
              <a:cs typeface="Arial"/>
            </a:endParaRPr>
          </a:p>
          <a:p>
            <a:pPr marL="1106805">
              <a:lnSpc>
                <a:spcPct val="100000"/>
              </a:lnSpc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2</a:t>
            </a:r>
            <a:r>
              <a:rPr sz="2400" i="1" spc="-2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20" dirty="0">
                <a:solidFill>
                  <a:srgbClr val="E4FFFF"/>
                </a:solidFill>
                <a:latin typeface="Arial"/>
                <a:cs typeface="Arial"/>
              </a:rPr>
              <a:t>Rows</a:t>
            </a:r>
            <a:endParaRPr sz="2400">
              <a:latin typeface="Arial"/>
              <a:cs typeface="Arial"/>
            </a:endParaRPr>
          </a:p>
          <a:p>
            <a:pPr marL="1191895">
              <a:lnSpc>
                <a:spcPct val="100000"/>
              </a:lnSpc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4</a:t>
            </a:r>
            <a:r>
              <a:rPr sz="2400" i="1" spc="-3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pairs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562600" y="987425"/>
            <a:ext cx="2667000" cy="1603375"/>
            <a:chOff x="5562600" y="987425"/>
            <a:chExt cx="2667000" cy="1603375"/>
          </a:xfrm>
        </p:grpSpPr>
        <p:sp>
          <p:nvSpPr>
            <p:cNvPr id="5" name="object 5"/>
            <p:cNvSpPr/>
            <p:nvPr/>
          </p:nvSpPr>
          <p:spPr>
            <a:xfrm>
              <a:off x="6096000" y="1219200"/>
              <a:ext cx="1600200" cy="762000"/>
            </a:xfrm>
            <a:custGeom>
              <a:avLst/>
              <a:gdLst/>
              <a:ahLst/>
              <a:cxnLst/>
              <a:rect l="l" t="t" r="r" b="b"/>
              <a:pathLst>
                <a:path w="1600200" h="762000">
                  <a:moveTo>
                    <a:pt x="1600200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1600200" y="762000"/>
                  </a:lnTo>
                  <a:lnTo>
                    <a:pt x="1600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6000" y="1219200"/>
              <a:ext cx="1600200" cy="762000"/>
            </a:xfrm>
            <a:custGeom>
              <a:avLst/>
              <a:gdLst/>
              <a:ahLst/>
              <a:cxnLst/>
              <a:rect l="l" t="t" r="r" b="b"/>
              <a:pathLst>
                <a:path w="1600200" h="762000">
                  <a:moveTo>
                    <a:pt x="0" y="762000"/>
                  </a:moveTo>
                  <a:lnTo>
                    <a:pt x="1600200" y="762000"/>
                  </a:lnTo>
                  <a:lnTo>
                    <a:pt x="1600200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72200" y="1219200"/>
              <a:ext cx="228600" cy="609600"/>
            </a:xfrm>
            <a:custGeom>
              <a:avLst/>
              <a:gdLst/>
              <a:ahLst/>
              <a:cxnLst/>
              <a:rect l="l" t="t" r="r" b="b"/>
              <a:pathLst>
                <a:path w="228600" h="609600">
                  <a:moveTo>
                    <a:pt x="114300" y="0"/>
                  </a:moveTo>
                  <a:lnTo>
                    <a:pt x="64036" y="30990"/>
                  </a:lnTo>
                  <a:lnTo>
                    <a:pt x="42814" y="66980"/>
                  </a:lnTo>
                  <a:lnTo>
                    <a:pt x="25112" y="114188"/>
                  </a:lnTo>
                  <a:lnTo>
                    <a:pt x="11618" y="170783"/>
                  </a:lnTo>
                  <a:lnTo>
                    <a:pt x="3019" y="234931"/>
                  </a:lnTo>
                  <a:lnTo>
                    <a:pt x="0" y="304800"/>
                  </a:lnTo>
                  <a:lnTo>
                    <a:pt x="3019" y="374668"/>
                  </a:lnTo>
                  <a:lnTo>
                    <a:pt x="11618" y="438816"/>
                  </a:lnTo>
                  <a:lnTo>
                    <a:pt x="25112" y="495411"/>
                  </a:lnTo>
                  <a:lnTo>
                    <a:pt x="42814" y="542619"/>
                  </a:lnTo>
                  <a:lnTo>
                    <a:pt x="64036" y="578609"/>
                  </a:lnTo>
                  <a:lnTo>
                    <a:pt x="114300" y="609600"/>
                  </a:lnTo>
                  <a:lnTo>
                    <a:pt x="140505" y="601546"/>
                  </a:lnTo>
                  <a:lnTo>
                    <a:pt x="185785" y="542619"/>
                  </a:lnTo>
                  <a:lnTo>
                    <a:pt x="203487" y="495411"/>
                  </a:lnTo>
                  <a:lnTo>
                    <a:pt x="216981" y="438816"/>
                  </a:lnTo>
                  <a:lnTo>
                    <a:pt x="225580" y="374668"/>
                  </a:lnTo>
                  <a:lnTo>
                    <a:pt x="228600" y="304800"/>
                  </a:lnTo>
                  <a:lnTo>
                    <a:pt x="225580" y="234931"/>
                  </a:lnTo>
                  <a:lnTo>
                    <a:pt x="216981" y="170783"/>
                  </a:lnTo>
                  <a:lnTo>
                    <a:pt x="203487" y="114188"/>
                  </a:lnTo>
                  <a:lnTo>
                    <a:pt x="185785" y="66980"/>
                  </a:lnTo>
                  <a:lnTo>
                    <a:pt x="164563" y="3099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72200" y="1219200"/>
              <a:ext cx="228600" cy="609600"/>
            </a:xfrm>
            <a:custGeom>
              <a:avLst/>
              <a:gdLst/>
              <a:ahLst/>
              <a:cxnLst/>
              <a:rect l="l" t="t" r="r" b="b"/>
              <a:pathLst>
                <a:path w="228600" h="609600">
                  <a:moveTo>
                    <a:pt x="0" y="304800"/>
                  </a:moveTo>
                  <a:lnTo>
                    <a:pt x="3019" y="234931"/>
                  </a:lnTo>
                  <a:lnTo>
                    <a:pt x="11618" y="170783"/>
                  </a:lnTo>
                  <a:lnTo>
                    <a:pt x="25112" y="114188"/>
                  </a:lnTo>
                  <a:lnTo>
                    <a:pt x="42814" y="66980"/>
                  </a:lnTo>
                  <a:lnTo>
                    <a:pt x="64036" y="30990"/>
                  </a:lnTo>
                  <a:lnTo>
                    <a:pt x="114300" y="0"/>
                  </a:lnTo>
                  <a:lnTo>
                    <a:pt x="140505" y="8053"/>
                  </a:lnTo>
                  <a:lnTo>
                    <a:pt x="185785" y="66980"/>
                  </a:lnTo>
                  <a:lnTo>
                    <a:pt x="203487" y="114188"/>
                  </a:lnTo>
                  <a:lnTo>
                    <a:pt x="216981" y="170783"/>
                  </a:lnTo>
                  <a:lnTo>
                    <a:pt x="225580" y="234931"/>
                  </a:lnTo>
                  <a:lnTo>
                    <a:pt x="228600" y="304800"/>
                  </a:lnTo>
                  <a:lnTo>
                    <a:pt x="225580" y="374668"/>
                  </a:lnTo>
                  <a:lnTo>
                    <a:pt x="216981" y="438816"/>
                  </a:lnTo>
                  <a:lnTo>
                    <a:pt x="203487" y="495411"/>
                  </a:lnTo>
                  <a:lnTo>
                    <a:pt x="185785" y="542619"/>
                  </a:lnTo>
                  <a:lnTo>
                    <a:pt x="164563" y="578609"/>
                  </a:lnTo>
                  <a:lnTo>
                    <a:pt x="114300" y="609600"/>
                  </a:lnTo>
                  <a:lnTo>
                    <a:pt x="88094" y="601546"/>
                  </a:lnTo>
                  <a:lnTo>
                    <a:pt x="42814" y="542619"/>
                  </a:lnTo>
                  <a:lnTo>
                    <a:pt x="25112" y="495411"/>
                  </a:lnTo>
                  <a:lnTo>
                    <a:pt x="11618" y="438816"/>
                  </a:lnTo>
                  <a:lnTo>
                    <a:pt x="3019" y="374668"/>
                  </a:lnTo>
                  <a:lnTo>
                    <a:pt x="0" y="30480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96000" y="1600200"/>
              <a:ext cx="1371600" cy="304800"/>
            </a:xfrm>
            <a:custGeom>
              <a:avLst/>
              <a:gdLst/>
              <a:ahLst/>
              <a:cxnLst/>
              <a:rect l="l" t="t" r="r" b="b"/>
              <a:pathLst>
                <a:path w="1371600" h="304800">
                  <a:moveTo>
                    <a:pt x="685800" y="0"/>
                  </a:moveTo>
                  <a:lnTo>
                    <a:pt x="611082" y="893"/>
                  </a:lnTo>
                  <a:lnTo>
                    <a:pt x="538692" y="3513"/>
                  </a:lnTo>
                  <a:lnTo>
                    <a:pt x="469050" y="7766"/>
                  </a:lnTo>
                  <a:lnTo>
                    <a:pt x="402574" y="13559"/>
                  </a:lnTo>
                  <a:lnTo>
                    <a:pt x="339682" y="20799"/>
                  </a:lnTo>
                  <a:lnTo>
                    <a:pt x="280793" y="29394"/>
                  </a:lnTo>
                  <a:lnTo>
                    <a:pt x="226326" y="39251"/>
                  </a:lnTo>
                  <a:lnTo>
                    <a:pt x="176700" y="50278"/>
                  </a:lnTo>
                  <a:lnTo>
                    <a:pt x="132331" y="62380"/>
                  </a:lnTo>
                  <a:lnTo>
                    <a:pt x="93641" y="75466"/>
                  </a:lnTo>
                  <a:lnTo>
                    <a:pt x="34966" y="104217"/>
                  </a:lnTo>
                  <a:lnTo>
                    <a:pt x="4024" y="135788"/>
                  </a:lnTo>
                  <a:lnTo>
                    <a:pt x="0" y="152400"/>
                  </a:lnTo>
                  <a:lnTo>
                    <a:pt x="4024" y="169011"/>
                  </a:lnTo>
                  <a:lnTo>
                    <a:pt x="34966" y="200582"/>
                  </a:lnTo>
                  <a:lnTo>
                    <a:pt x="93641" y="229333"/>
                  </a:lnTo>
                  <a:lnTo>
                    <a:pt x="132331" y="242419"/>
                  </a:lnTo>
                  <a:lnTo>
                    <a:pt x="176700" y="254521"/>
                  </a:lnTo>
                  <a:lnTo>
                    <a:pt x="226326" y="265548"/>
                  </a:lnTo>
                  <a:lnTo>
                    <a:pt x="280793" y="275405"/>
                  </a:lnTo>
                  <a:lnTo>
                    <a:pt x="339682" y="284000"/>
                  </a:lnTo>
                  <a:lnTo>
                    <a:pt x="402574" y="291240"/>
                  </a:lnTo>
                  <a:lnTo>
                    <a:pt x="469050" y="297033"/>
                  </a:lnTo>
                  <a:lnTo>
                    <a:pt x="538692" y="301286"/>
                  </a:lnTo>
                  <a:lnTo>
                    <a:pt x="611082" y="303906"/>
                  </a:lnTo>
                  <a:lnTo>
                    <a:pt x="685800" y="304800"/>
                  </a:lnTo>
                  <a:lnTo>
                    <a:pt x="760517" y="303906"/>
                  </a:lnTo>
                  <a:lnTo>
                    <a:pt x="832907" y="301286"/>
                  </a:lnTo>
                  <a:lnTo>
                    <a:pt x="902549" y="297033"/>
                  </a:lnTo>
                  <a:lnTo>
                    <a:pt x="969025" y="291240"/>
                  </a:lnTo>
                  <a:lnTo>
                    <a:pt x="1031917" y="284000"/>
                  </a:lnTo>
                  <a:lnTo>
                    <a:pt x="1090806" y="275405"/>
                  </a:lnTo>
                  <a:lnTo>
                    <a:pt x="1145273" y="265548"/>
                  </a:lnTo>
                  <a:lnTo>
                    <a:pt x="1194899" y="254521"/>
                  </a:lnTo>
                  <a:lnTo>
                    <a:pt x="1239268" y="242419"/>
                  </a:lnTo>
                  <a:lnTo>
                    <a:pt x="1277958" y="229333"/>
                  </a:lnTo>
                  <a:lnTo>
                    <a:pt x="1336633" y="200582"/>
                  </a:lnTo>
                  <a:lnTo>
                    <a:pt x="1367575" y="169011"/>
                  </a:lnTo>
                  <a:lnTo>
                    <a:pt x="1371600" y="152400"/>
                  </a:lnTo>
                  <a:lnTo>
                    <a:pt x="1367575" y="135788"/>
                  </a:lnTo>
                  <a:lnTo>
                    <a:pt x="1336633" y="104217"/>
                  </a:lnTo>
                  <a:lnTo>
                    <a:pt x="1277958" y="75466"/>
                  </a:lnTo>
                  <a:lnTo>
                    <a:pt x="1239268" y="62380"/>
                  </a:lnTo>
                  <a:lnTo>
                    <a:pt x="1194899" y="50278"/>
                  </a:lnTo>
                  <a:lnTo>
                    <a:pt x="1145273" y="39251"/>
                  </a:lnTo>
                  <a:lnTo>
                    <a:pt x="1090806" y="29394"/>
                  </a:lnTo>
                  <a:lnTo>
                    <a:pt x="1031917" y="20799"/>
                  </a:lnTo>
                  <a:lnTo>
                    <a:pt x="969025" y="13559"/>
                  </a:lnTo>
                  <a:lnTo>
                    <a:pt x="902549" y="7766"/>
                  </a:lnTo>
                  <a:lnTo>
                    <a:pt x="832907" y="3513"/>
                  </a:lnTo>
                  <a:lnTo>
                    <a:pt x="760517" y="893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96000" y="1600200"/>
              <a:ext cx="1371600" cy="304800"/>
            </a:xfrm>
            <a:custGeom>
              <a:avLst/>
              <a:gdLst/>
              <a:ahLst/>
              <a:cxnLst/>
              <a:rect l="l" t="t" r="r" b="b"/>
              <a:pathLst>
                <a:path w="1371600" h="304800">
                  <a:moveTo>
                    <a:pt x="0" y="152400"/>
                  </a:moveTo>
                  <a:lnTo>
                    <a:pt x="34966" y="200582"/>
                  </a:lnTo>
                  <a:lnTo>
                    <a:pt x="93641" y="229333"/>
                  </a:lnTo>
                  <a:lnTo>
                    <a:pt x="132331" y="242419"/>
                  </a:lnTo>
                  <a:lnTo>
                    <a:pt x="176700" y="254521"/>
                  </a:lnTo>
                  <a:lnTo>
                    <a:pt x="226326" y="265548"/>
                  </a:lnTo>
                  <a:lnTo>
                    <a:pt x="280793" y="275405"/>
                  </a:lnTo>
                  <a:lnTo>
                    <a:pt x="339682" y="284000"/>
                  </a:lnTo>
                  <a:lnTo>
                    <a:pt x="402574" y="291240"/>
                  </a:lnTo>
                  <a:lnTo>
                    <a:pt x="469050" y="297033"/>
                  </a:lnTo>
                  <a:lnTo>
                    <a:pt x="538692" y="301286"/>
                  </a:lnTo>
                  <a:lnTo>
                    <a:pt x="611082" y="303906"/>
                  </a:lnTo>
                  <a:lnTo>
                    <a:pt x="685800" y="304800"/>
                  </a:lnTo>
                  <a:lnTo>
                    <a:pt x="760517" y="303906"/>
                  </a:lnTo>
                  <a:lnTo>
                    <a:pt x="832907" y="301286"/>
                  </a:lnTo>
                  <a:lnTo>
                    <a:pt x="902549" y="297033"/>
                  </a:lnTo>
                  <a:lnTo>
                    <a:pt x="969025" y="291240"/>
                  </a:lnTo>
                  <a:lnTo>
                    <a:pt x="1031917" y="284000"/>
                  </a:lnTo>
                  <a:lnTo>
                    <a:pt x="1090806" y="275405"/>
                  </a:lnTo>
                  <a:lnTo>
                    <a:pt x="1145273" y="265548"/>
                  </a:lnTo>
                  <a:lnTo>
                    <a:pt x="1194899" y="254521"/>
                  </a:lnTo>
                  <a:lnTo>
                    <a:pt x="1239268" y="242419"/>
                  </a:lnTo>
                  <a:lnTo>
                    <a:pt x="1277958" y="229333"/>
                  </a:lnTo>
                  <a:lnTo>
                    <a:pt x="1336633" y="200582"/>
                  </a:lnTo>
                  <a:lnTo>
                    <a:pt x="1367575" y="169011"/>
                  </a:lnTo>
                  <a:lnTo>
                    <a:pt x="1371600" y="152400"/>
                  </a:lnTo>
                  <a:lnTo>
                    <a:pt x="1367575" y="135788"/>
                  </a:lnTo>
                  <a:lnTo>
                    <a:pt x="1336633" y="104217"/>
                  </a:lnTo>
                  <a:lnTo>
                    <a:pt x="1277958" y="75466"/>
                  </a:lnTo>
                  <a:lnTo>
                    <a:pt x="1239268" y="62380"/>
                  </a:lnTo>
                  <a:lnTo>
                    <a:pt x="1194899" y="50278"/>
                  </a:lnTo>
                  <a:lnTo>
                    <a:pt x="1145273" y="39251"/>
                  </a:lnTo>
                  <a:lnTo>
                    <a:pt x="1090806" y="29394"/>
                  </a:lnTo>
                  <a:lnTo>
                    <a:pt x="1031917" y="20799"/>
                  </a:lnTo>
                  <a:lnTo>
                    <a:pt x="969025" y="13559"/>
                  </a:lnTo>
                  <a:lnTo>
                    <a:pt x="902549" y="7766"/>
                  </a:lnTo>
                  <a:lnTo>
                    <a:pt x="832907" y="3513"/>
                  </a:lnTo>
                  <a:lnTo>
                    <a:pt x="760517" y="893"/>
                  </a:lnTo>
                  <a:lnTo>
                    <a:pt x="685800" y="0"/>
                  </a:lnTo>
                  <a:lnTo>
                    <a:pt x="611082" y="893"/>
                  </a:lnTo>
                  <a:lnTo>
                    <a:pt x="538692" y="3513"/>
                  </a:lnTo>
                  <a:lnTo>
                    <a:pt x="469050" y="7766"/>
                  </a:lnTo>
                  <a:lnTo>
                    <a:pt x="402574" y="13559"/>
                  </a:lnTo>
                  <a:lnTo>
                    <a:pt x="339682" y="20799"/>
                  </a:lnTo>
                  <a:lnTo>
                    <a:pt x="280793" y="29394"/>
                  </a:lnTo>
                  <a:lnTo>
                    <a:pt x="226326" y="39251"/>
                  </a:lnTo>
                  <a:lnTo>
                    <a:pt x="176700" y="50278"/>
                  </a:lnTo>
                  <a:lnTo>
                    <a:pt x="132331" y="62380"/>
                  </a:lnTo>
                  <a:lnTo>
                    <a:pt x="93641" y="75466"/>
                  </a:lnTo>
                  <a:lnTo>
                    <a:pt x="34966" y="104217"/>
                  </a:lnTo>
                  <a:lnTo>
                    <a:pt x="4024" y="135788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3827" y="1367027"/>
              <a:ext cx="85344" cy="853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3827" y="1671827"/>
              <a:ext cx="85344" cy="853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4827" y="1671827"/>
              <a:ext cx="85344" cy="853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4827" y="1367027"/>
              <a:ext cx="85344" cy="853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05827" y="1367027"/>
              <a:ext cx="85344" cy="8534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05827" y="1671827"/>
              <a:ext cx="85344" cy="8534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0627" y="1671827"/>
              <a:ext cx="85344" cy="8534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0627" y="1367027"/>
              <a:ext cx="85344" cy="8534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388732" y="987425"/>
              <a:ext cx="841375" cy="390525"/>
            </a:xfrm>
            <a:custGeom>
              <a:avLst/>
              <a:gdLst/>
              <a:ahLst/>
              <a:cxnLst/>
              <a:rect l="l" t="t" r="r" b="b"/>
              <a:pathLst>
                <a:path w="841375" h="390525">
                  <a:moveTo>
                    <a:pt x="768886" y="28861"/>
                  </a:moveTo>
                  <a:lnTo>
                    <a:pt x="0" y="378333"/>
                  </a:lnTo>
                  <a:lnTo>
                    <a:pt x="5334" y="390016"/>
                  </a:lnTo>
                  <a:lnTo>
                    <a:pt x="774129" y="40405"/>
                  </a:lnTo>
                  <a:lnTo>
                    <a:pt x="768886" y="28861"/>
                  </a:lnTo>
                  <a:close/>
                </a:path>
                <a:path w="841375" h="390525">
                  <a:moveTo>
                    <a:pt x="824305" y="23622"/>
                  </a:moveTo>
                  <a:lnTo>
                    <a:pt x="780415" y="23622"/>
                  </a:lnTo>
                  <a:lnTo>
                    <a:pt x="785622" y="35178"/>
                  </a:lnTo>
                  <a:lnTo>
                    <a:pt x="774129" y="40405"/>
                  </a:lnTo>
                  <a:lnTo>
                    <a:pt x="787273" y="69341"/>
                  </a:lnTo>
                  <a:lnTo>
                    <a:pt x="824305" y="23622"/>
                  </a:lnTo>
                  <a:close/>
                </a:path>
                <a:path w="841375" h="390525">
                  <a:moveTo>
                    <a:pt x="780415" y="23622"/>
                  </a:moveTo>
                  <a:lnTo>
                    <a:pt x="768886" y="28861"/>
                  </a:lnTo>
                  <a:lnTo>
                    <a:pt x="774129" y="40405"/>
                  </a:lnTo>
                  <a:lnTo>
                    <a:pt x="785622" y="35178"/>
                  </a:lnTo>
                  <a:lnTo>
                    <a:pt x="780415" y="23622"/>
                  </a:lnTo>
                  <a:close/>
                </a:path>
                <a:path w="841375" h="390525">
                  <a:moveTo>
                    <a:pt x="755776" y="0"/>
                  </a:moveTo>
                  <a:lnTo>
                    <a:pt x="768886" y="28861"/>
                  </a:lnTo>
                  <a:lnTo>
                    <a:pt x="780415" y="23622"/>
                  </a:lnTo>
                  <a:lnTo>
                    <a:pt x="824305" y="23622"/>
                  </a:lnTo>
                  <a:lnTo>
                    <a:pt x="840867" y="3175"/>
                  </a:lnTo>
                  <a:lnTo>
                    <a:pt x="755776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62600" y="1279651"/>
              <a:ext cx="1630680" cy="1311275"/>
            </a:xfrm>
            <a:custGeom>
              <a:avLst/>
              <a:gdLst/>
              <a:ahLst/>
              <a:cxnLst/>
              <a:rect l="l" t="t" r="r" b="b"/>
              <a:pathLst>
                <a:path w="1630679" h="1311275">
                  <a:moveTo>
                    <a:pt x="535178" y="162052"/>
                  </a:moveTo>
                  <a:lnTo>
                    <a:pt x="74955" y="30543"/>
                  </a:lnTo>
                  <a:lnTo>
                    <a:pt x="75946" y="27051"/>
                  </a:lnTo>
                  <a:lnTo>
                    <a:pt x="83693" y="0"/>
                  </a:lnTo>
                  <a:lnTo>
                    <a:pt x="0" y="15748"/>
                  </a:lnTo>
                  <a:lnTo>
                    <a:pt x="62738" y="73279"/>
                  </a:lnTo>
                  <a:lnTo>
                    <a:pt x="71475" y="42722"/>
                  </a:lnTo>
                  <a:lnTo>
                    <a:pt x="531622" y="174244"/>
                  </a:lnTo>
                  <a:lnTo>
                    <a:pt x="535178" y="162052"/>
                  </a:lnTo>
                  <a:close/>
                </a:path>
                <a:path w="1630679" h="1311275">
                  <a:moveTo>
                    <a:pt x="1630553" y="1231519"/>
                  </a:moveTo>
                  <a:lnTo>
                    <a:pt x="1598930" y="1234706"/>
                  </a:lnTo>
                  <a:lnTo>
                    <a:pt x="1530464" y="549783"/>
                  </a:lnTo>
                  <a:lnTo>
                    <a:pt x="1530350" y="548513"/>
                  </a:lnTo>
                  <a:lnTo>
                    <a:pt x="1517650" y="549783"/>
                  </a:lnTo>
                  <a:lnTo>
                    <a:pt x="1586242" y="1235976"/>
                  </a:lnTo>
                  <a:lnTo>
                    <a:pt x="1587385" y="1247394"/>
                  </a:lnTo>
                  <a:lnTo>
                    <a:pt x="1587500" y="1248537"/>
                  </a:lnTo>
                  <a:lnTo>
                    <a:pt x="1586242" y="1235976"/>
                  </a:lnTo>
                  <a:lnTo>
                    <a:pt x="1554734" y="1239139"/>
                  </a:lnTo>
                  <a:lnTo>
                    <a:pt x="1600200" y="1311148"/>
                  </a:lnTo>
                  <a:lnTo>
                    <a:pt x="1624063" y="1248537"/>
                  </a:lnTo>
                  <a:lnTo>
                    <a:pt x="1630553" y="12315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309609" y="865378"/>
            <a:ext cx="469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20" dirty="0">
                <a:solidFill>
                  <a:srgbClr val="E4FFFF"/>
                </a:solidFill>
                <a:latin typeface="Arial"/>
                <a:cs typeface="Arial"/>
              </a:rPr>
              <a:t>Pins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80228" y="1170178"/>
            <a:ext cx="596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20" dirty="0">
                <a:solidFill>
                  <a:srgbClr val="E4FFFF"/>
                </a:solidFill>
                <a:latin typeface="Arial"/>
                <a:cs typeface="Arial"/>
              </a:rPr>
              <a:t>Rows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90409" y="2618359"/>
            <a:ext cx="520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E4FFFF"/>
                </a:solidFill>
                <a:latin typeface="Arial"/>
                <a:cs typeface="Arial"/>
              </a:rPr>
              <a:t>pairs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28827" y="3805428"/>
            <a:ext cx="4124325" cy="1986280"/>
            <a:chOff x="528827" y="3805428"/>
            <a:chExt cx="4124325" cy="1986280"/>
          </a:xfrm>
        </p:grpSpPr>
        <p:sp>
          <p:nvSpPr>
            <p:cNvPr id="25" name="object 25"/>
            <p:cNvSpPr/>
            <p:nvPr/>
          </p:nvSpPr>
          <p:spPr>
            <a:xfrm>
              <a:off x="533399" y="3810000"/>
              <a:ext cx="4114800" cy="1219200"/>
            </a:xfrm>
            <a:custGeom>
              <a:avLst/>
              <a:gdLst/>
              <a:ahLst/>
              <a:cxnLst/>
              <a:rect l="l" t="t" r="r" b="b"/>
              <a:pathLst>
                <a:path w="4114800" h="1219200">
                  <a:moveTo>
                    <a:pt x="4114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4114800" y="1219200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399" y="3810000"/>
              <a:ext cx="4114800" cy="1219200"/>
            </a:xfrm>
            <a:custGeom>
              <a:avLst/>
              <a:gdLst/>
              <a:ahLst/>
              <a:cxnLst/>
              <a:rect l="l" t="t" r="r" b="b"/>
              <a:pathLst>
                <a:path w="4114800" h="1219200">
                  <a:moveTo>
                    <a:pt x="0" y="1219200"/>
                  </a:moveTo>
                  <a:lnTo>
                    <a:pt x="4114800" y="1219200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90600" y="3962400"/>
              <a:ext cx="3200400" cy="838200"/>
            </a:xfrm>
            <a:custGeom>
              <a:avLst/>
              <a:gdLst/>
              <a:ahLst/>
              <a:cxnLst/>
              <a:rect l="l" t="t" r="r" b="b"/>
              <a:pathLst>
                <a:path w="3200400" h="838200">
                  <a:moveTo>
                    <a:pt x="0" y="838200"/>
                  </a:moveTo>
                  <a:lnTo>
                    <a:pt x="381000" y="8382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838200"/>
                  </a:lnTo>
                  <a:close/>
                </a:path>
                <a:path w="3200400" h="838200">
                  <a:moveTo>
                    <a:pt x="914400" y="838200"/>
                  </a:moveTo>
                  <a:lnTo>
                    <a:pt x="1295400" y="838200"/>
                  </a:lnTo>
                  <a:lnTo>
                    <a:pt x="1295400" y="0"/>
                  </a:lnTo>
                  <a:lnTo>
                    <a:pt x="914400" y="0"/>
                  </a:lnTo>
                  <a:lnTo>
                    <a:pt x="914400" y="838200"/>
                  </a:lnTo>
                  <a:close/>
                </a:path>
                <a:path w="3200400" h="838200">
                  <a:moveTo>
                    <a:pt x="1828800" y="838200"/>
                  </a:moveTo>
                  <a:lnTo>
                    <a:pt x="2209800" y="838200"/>
                  </a:lnTo>
                  <a:lnTo>
                    <a:pt x="2209800" y="0"/>
                  </a:lnTo>
                  <a:lnTo>
                    <a:pt x="1828800" y="0"/>
                  </a:lnTo>
                  <a:lnTo>
                    <a:pt x="1828800" y="838200"/>
                  </a:lnTo>
                  <a:close/>
                </a:path>
                <a:path w="3200400" h="838200">
                  <a:moveTo>
                    <a:pt x="2819400" y="838200"/>
                  </a:moveTo>
                  <a:lnTo>
                    <a:pt x="3200400" y="838200"/>
                  </a:lnTo>
                  <a:lnTo>
                    <a:pt x="3200400" y="0"/>
                  </a:lnTo>
                  <a:lnTo>
                    <a:pt x="2819400" y="0"/>
                  </a:lnTo>
                  <a:lnTo>
                    <a:pt x="2819400" y="838200"/>
                  </a:lnTo>
                  <a:close/>
                </a:path>
              </a:pathLst>
            </a:custGeom>
            <a:ln w="9144">
              <a:solidFill>
                <a:srgbClr val="66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7827" y="4567428"/>
              <a:ext cx="85344" cy="8534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7827" y="4110228"/>
              <a:ext cx="85344" cy="8534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905000" y="3962400"/>
              <a:ext cx="381000" cy="838200"/>
            </a:xfrm>
            <a:custGeom>
              <a:avLst/>
              <a:gdLst/>
              <a:ahLst/>
              <a:cxnLst/>
              <a:rect l="l" t="t" r="r" b="b"/>
              <a:pathLst>
                <a:path w="381000" h="838200">
                  <a:moveTo>
                    <a:pt x="0" y="838200"/>
                  </a:moveTo>
                  <a:lnTo>
                    <a:pt x="381000" y="8382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838200"/>
                  </a:lnTo>
                  <a:close/>
                </a:path>
              </a:pathLst>
            </a:custGeom>
            <a:ln w="9144">
              <a:solidFill>
                <a:srgbClr val="66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8427" y="4567428"/>
              <a:ext cx="85343" cy="8534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2827" y="4110228"/>
              <a:ext cx="85344" cy="8534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2827" y="4567428"/>
              <a:ext cx="85344" cy="8534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67227" y="4110228"/>
              <a:ext cx="85344" cy="8534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67227" y="4567428"/>
              <a:ext cx="85344" cy="8534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8427" y="4110228"/>
              <a:ext cx="85343" cy="85344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028700" y="4800600"/>
              <a:ext cx="3314700" cy="990600"/>
            </a:xfrm>
            <a:custGeom>
              <a:avLst/>
              <a:gdLst/>
              <a:ahLst/>
              <a:cxnLst/>
              <a:rect l="l" t="t" r="r" b="b"/>
              <a:pathLst>
                <a:path w="3314700" h="990600">
                  <a:moveTo>
                    <a:pt x="76200" y="914400"/>
                  </a:moveTo>
                  <a:lnTo>
                    <a:pt x="44450" y="914400"/>
                  </a:lnTo>
                  <a:lnTo>
                    <a:pt x="44450" y="0"/>
                  </a:lnTo>
                  <a:lnTo>
                    <a:pt x="31750" y="0"/>
                  </a:lnTo>
                  <a:lnTo>
                    <a:pt x="31750" y="914400"/>
                  </a:lnTo>
                  <a:lnTo>
                    <a:pt x="0" y="914400"/>
                  </a:lnTo>
                  <a:lnTo>
                    <a:pt x="38100" y="990600"/>
                  </a:lnTo>
                  <a:lnTo>
                    <a:pt x="69850" y="927100"/>
                  </a:lnTo>
                  <a:lnTo>
                    <a:pt x="76200" y="914400"/>
                  </a:lnTo>
                  <a:close/>
                </a:path>
                <a:path w="3314700" h="990600">
                  <a:moveTo>
                    <a:pt x="1066800" y="762000"/>
                  </a:moveTo>
                  <a:lnTo>
                    <a:pt x="1035050" y="762000"/>
                  </a:lnTo>
                  <a:lnTo>
                    <a:pt x="1035050" y="0"/>
                  </a:lnTo>
                  <a:lnTo>
                    <a:pt x="1022350" y="0"/>
                  </a:lnTo>
                  <a:lnTo>
                    <a:pt x="1022350" y="762000"/>
                  </a:lnTo>
                  <a:lnTo>
                    <a:pt x="990600" y="762000"/>
                  </a:lnTo>
                  <a:lnTo>
                    <a:pt x="1028700" y="838200"/>
                  </a:lnTo>
                  <a:lnTo>
                    <a:pt x="1060450" y="774700"/>
                  </a:lnTo>
                  <a:lnTo>
                    <a:pt x="1066800" y="762000"/>
                  </a:lnTo>
                  <a:close/>
                </a:path>
                <a:path w="3314700" h="990600">
                  <a:moveTo>
                    <a:pt x="2057400" y="457200"/>
                  </a:moveTo>
                  <a:lnTo>
                    <a:pt x="2025650" y="457200"/>
                  </a:lnTo>
                  <a:lnTo>
                    <a:pt x="2025650" y="0"/>
                  </a:lnTo>
                  <a:lnTo>
                    <a:pt x="2012950" y="0"/>
                  </a:lnTo>
                  <a:lnTo>
                    <a:pt x="2012950" y="457200"/>
                  </a:lnTo>
                  <a:lnTo>
                    <a:pt x="1981200" y="457200"/>
                  </a:lnTo>
                  <a:lnTo>
                    <a:pt x="2019300" y="533400"/>
                  </a:lnTo>
                  <a:lnTo>
                    <a:pt x="2051050" y="469900"/>
                  </a:lnTo>
                  <a:lnTo>
                    <a:pt x="2057400" y="457200"/>
                  </a:lnTo>
                  <a:close/>
                </a:path>
                <a:path w="3314700" h="990600">
                  <a:moveTo>
                    <a:pt x="3314700" y="381000"/>
                  </a:moveTo>
                  <a:lnTo>
                    <a:pt x="3302000" y="374650"/>
                  </a:lnTo>
                  <a:lnTo>
                    <a:pt x="3238500" y="342900"/>
                  </a:lnTo>
                  <a:lnTo>
                    <a:pt x="3238500" y="374650"/>
                  </a:lnTo>
                  <a:lnTo>
                    <a:pt x="2940050" y="374650"/>
                  </a:lnTo>
                  <a:lnTo>
                    <a:pt x="2940050" y="0"/>
                  </a:lnTo>
                  <a:lnTo>
                    <a:pt x="2927350" y="0"/>
                  </a:lnTo>
                  <a:lnTo>
                    <a:pt x="2927350" y="381000"/>
                  </a:lnTo>
                  <a:lnTo>
                    <a:pt x="2895600" y="381000"/>
                  </a:lnTo>
                  <a:lnTo>
                    <a:pt x="2933700" y="457200"/>
                  </a:lnTo>
                  <a:lnTo>
                    <a:pt x="2965450" y="393700"/>
                  </a:lnTo>
                  <a:lnTo>
                    <a:pt x="2968625" y="387350"/>
                  </a:lnTo>
                  <a:lnTo>
                    <a:pt x="3238500" y="387350"/>
                  </a:lnTo>
                  <a:lnTo>
                    <a:pt x="3238500" y="419100"/>
                  </a:lnTo>
                  <a:lnTo>
                    <a:pt x="3302000" y="387350"/>
                  </a:lnTo>
                  <a:lnTo>
                    <a:pt x="3314700" y="381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12140" y="5819038"/>
            <a:ext cx="7613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10" dirty="0">
                <a:solidFill>
                  <a:srgbClr val="E4FFFF"/>
                </a:solidFill>
                <a:latin typeface="Arial"/>
                <a:cs typeface="Arial"/>
              </a:rPr>
              <a:t>Master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79194" y="5666943"/>
            <a:ext cx="622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10" dirty="0">
                <a:solidFill>
                  <a:srgbClr val="E4FFFF"/>
                </a:solidFill>
                <a:latin typeface="Arial"/>
                <a:cs typeface="Arial"/>
              </a:rPr>
              <a:t>Slave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441194" y="5103164"/>
            <a:ext cx="2770505" cy="6350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993900">
              <a:lnSpc>
                <a:spcPct val="100000"/>
              </a:lnSpc>
              <a:spcBef>
                <a:spcPts val="340"/>
              </a:spcBef>
            </a:pPr>
            <a:r>
              <a:rPr sz="1800" b="1" i="1" dirty="0">
                <a:solidFill>
                  <a:srgbClr val="E4FFFF"/>
                </a:solidFill>
                <a:latin typeface="Arial"/>
                <a:cs typeface="Arial"/>
              </a:rPr>
              <a:t>No</a:t>
            </a:r>
            <a:r>
              <a:rPr sz="1800" b="1" i="1" spc="-25" dirty="0">
                <a:solidFill>
                  <a:srgbClr val="E4FFFF"/>
                </a:solidFill>
                <a:latin typeface="Arial"/>
                <a:cs typeface="Arial"/>
              </a:rPr>
              <a:t> use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b="1" i="1" dirty="0">
                <a:solidFill>
                  <a:srgbClr val="E4FFFF"/>
                </a:solidFill>
                <a:latin typeface="Arial"/>
                <a:cs typeface="Arial"/>
              </a:rPr>
              <a:t>Cable</a:t>
            </a:r>
            <a:r>
              <a:rPr sz="1800" b="1" i="1" spc="-2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1800" b="1" i="1" spc="-10" dirty="0">
                <a:solidFill>
                  <a:srgbClr val="E4FFFF"/>
                </a:solidFill>
                <a:latin typeface="Arial"/>
                <a:cs typeface="Arial"/>
              </a:rPr>
              <a:t>select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1998" y="-149641"/>
            <a:ext cx="3082290" cy="540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i="0" spc="-60" dirty="0">
                <a:latin typeface="Tahoma"/>
                <a:cs typeface="Tahoma"/>
              </a:rPr>
              <a:t>Partition</a:t>
            </a:r>
            <a:r>
              <a:rPr sz="3350" i="0" spc="-204" dirty="0">
                <a:latin typeface="Tahoma"/>
                <a:cs typeface="Tahoma"/>
              </a:rPr>
              <a:t> </a:t>
            </a:r>
            <a:r>
              <a:rPr sz="3350" i="0" spc="-10" dirty="0">
                <a:latin typeface="Tahoma"/>
                <a:cs typeface="Tahoma"/>
              </a:rPr>
              <a:t>for</a:t>
            </a:r>
            <a:r>
              <a:rPr sz="3350" i="0" spc="-240" dirty="0">
                <a:latin typeface="Tahoma"/>
                <a:cs typeface="Tahoma"/>
              </a:rPr>
              <a:t> </a:t>
            </a:r>
            <a:r>
              <a:rPr sz="3350" i="0" spc="-65" dirty="0">
                <a:latin typeface="Tahoma"/>
                <a:cs typeface="Tahoma"/>
              </a:rPr>
              <a:t>HDD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177" y="344763"/>
            <a:ext cx="8400415" cy="6499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665095">
              <a:lnSpc>
                <a:spcPts val="2970"/>
              </a:lnSpc>
              <a:spcBef>
                <a:spcPts val="130"/>
              </a:spcBef>
            </a:pPr>
            <a:r>
              <a:rPr sz="2500" u="sng" spc="-45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Tahoma"/>
                <a:cs typeface="Tahoma"/>
              </a:rPr>
              <a:t>1.Primary</a:t>
            </a:r>
            <a:r>
              <a:rPr sz="2500" u="sng" spc="-14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Tahoma"/>
                <a:cs typeface="Tahoma"/>
              </a:rPr>
              <a:t> </a:t>
            </a:r>
            <a:r>
              <a:rPr sz="2500" u="sng" spc="-1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Tahoma"/>
                <a:cs typeface="Tahoma"/>
              </a:rPr>
              <a:t>Partition:</a:t>
            </a:r>
            <a:endParaRPr sz="2500">
              <a:latin typeface="Tahoma"/>
              <a:cs typeface="Tahoma"/>
            </a:endParaRPr>
          </a:p>
          <a:p>
            <a:pPr marL="162560" marR="523875" indent="-114300">
              <a:lnSpc>
                <a:spcPts val="2880"/>
              </a:lnSpc>
              <a:spcBef>
                <a:spcPts val="65"/>
              </a:spcBef>
              <a:buSzPct val="95833"/>
              <a:buFont typeface="Arial"/>
              <a:buChar char="•"/>
              <a:tabLst>
                <a:tab pos="3379470" algn="l"/>
              </a:tabLst>
            </a:pP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Windows</a:t>
            </a:r>
            <a:r>
              <a:rPr sz="2400" i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operating</a:t>
            </a:r>
            <a:r>
              <a:rPr sz="24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systems</a:t>
            </a:r>
            <a:r>
              <a:rPr sz="2400" i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must</a:t>
            </a:r>
            <a:r>
              <a:rPr sz="2400" i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2400" i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located</a:t>
            </a:r>
            <a:r>
              <a:rPr sz="2400" i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400" i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i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FFFFFF"/>
                </a:solidFill>
                <a:latin typeface="Arial"/>
                <a:cs typeface="Arial"/>
              </a:rPr>
              <a:t>primary 	partition</a:t>
            </a:r>
            <a:r>
              <a:rPr sz="2400" i="1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1026160" marR="1045844" lvl="1" indent="-445770">
              <a:lnSpc>
                <a:spcPct val="106700"/>
              </a:lnSpc>
              <a:spcBef>
                <a:spcPts val="480"/>
              </a:spcBef>
              <a:buFont typeface="Arial"/>
              <a:buChar char="•"/>
              <a:tabLst>
                <a:tab pos="2804795" algn="l"/>
              </a:tabLst>
            </a:pP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Only</a:t>
            </a:r>
            <a:r>
              <a:rPr sz="2400" i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primary</a:t>
            </a:r>
            <a:r>
              <a:rPr sz="2400" i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partitions</a:t>
            </a:r>
            <a:r>
              <a:rPr sz="2400" i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2400" i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2400" i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z="2400" i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400" i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boot</a:t>
            </a:r>
            <a:r>
              <a:rPr sz="2400" i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spc="-25" dirty="0">
                <a:solidFill>
                  <a:srgbClr val="FFFFFF"/>
                </a:solidFill>
                <a:latin typeface="Arial"/>
                <a:cs typeface="Arial"/>
              </a:rPr>
              <a:t>the 	</a:t>
            </a:r>
            <a:r>
              <a:rPr sz="2400" i="1" u="sng" spc="-10" dirty="0">
                <a:solidFill>
                  <a:srgbClr val="00CCFF"/>
                </a:solidFill>
                <a:uFill>
                  <a:solidFill>
                    <a:srgbClr val="00CCFF"/>
                  </a:solidFill>
                </a:uFill>
                <a:latin typeface="Arial"/>
                <a:cs typeface="Arial"/>
              </a:rPr>
              <a:t>operatingsystem</a:t>
            </a:r>
            <a:r>
              <a:rPr sz="2400" i="1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2780665">
              <a:lnSpc>
                <a:spcPts val="2915"/>
              </a:lnSpc>
            </a:pPr>
            <a:r>
              <a:rPr sz="2500" u="sng" spc="-55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Tahoma"/>
                <a:cs typeface="Tahoma"/>
              </a:rPr>
              <a:t>2.Extended</a:t>
            </a:r>
            <a:r>
              <a:rPr sz="2500" u="sng" spc="-105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Tahoma"/>
                <a:cs typeface="Tahoma"/>
              </a:rPr>
              <a:t> </a:t>
            </a:r>
            <a:r>
              <a:rPr sz="2500" u="sng" spc="-1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Tahoma"/>
                <a:cs typeface="Tahoma"/>
              </a:rPr>
              <a:t>Partition:</a:t>
            </a:r>
            <a:endParaRPr sz="2500">
              <a:latin typeface="Tahoma"/>
              <a:cs typeface="Tahoma"/>
            </a:endParaRPr>
          </a:p>
          <a:p>
            <a:pPr marL="709930" lvl="1" indent="-119380">
              <a:lnSpc>
                <a:spcPts val="2845"/>
              </a:lnSpc>
              <a:buChar char="•"/>
              <a:tabLst>
                <a:tab pos="70993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hard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disk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may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contain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only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extended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partition.</a:t>
            </a:r>
            <a:endParaRPr sz="2400">
              <a:latin typeface="Arial"/>
              <a:cs typeface="Arial"/>
            </a:endParaRPr>
          </a:p>
          <a:p>
            <a:pPr marL="177165" marR="76200" indent="-114300">
              <a:lnSpc>
                <a:spcPct val="100000"/>
              </a:lnSpc>
              <a:buSzPct val="95833"/>
              <a:buChar char="•"/>
              <a:tabLst>
                <a:tab pos="796290" algn="l"/>
                <a:tab pos="387985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extended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partition</a:t>
            </a:r>
            <a:r>
              <a:rPr sz="2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2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2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subdivided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sz="2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multiple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FFFFFF"/>
                </a:solidFill>
                <a:latin typeface="Arial"/>
                <a:cs typeface="Arial"/>
              </a:rPr>
              <a:t>logical 	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partitions</a:t>
            </a:r>
            <a:r>
              <a:rPr sz="2400" i="1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FFFF"/>
                </a:solidFill>
                <a:latin typeface="Tahoma"/>
                <a:cs typeface="Tahoma"/>
              </a:rPr>
              <a:t>(Other</a:t>
            </a:r>
            <a:r>
              <a:rPr sz="2400" spc="-95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E4FFFF"/>
                </a:solidFill>
                <a:latin typeface="Tahoma"/>
                <a:cs typeface="Tahoma"/>
              </a:rPr>
              <a:t>than</a:t>
            </a:r>
            <a:r>
              <a:rPr sz="2400" dirty="0">
                <a:solidFill>
                  <a:srgbClr val="E4FFFF"/>
                </a:solidFill>
                <a:latin typeface="Tahoma"/>
                <a:cs typeface="Tahoma"/>
              </a:rPr>
              <a:t>	OS</a:t>
            </a:r>
            <a:r>
              <a:rPr sz="2400" spc="-10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E4FFFF"/>
                </a:solidFill>
                <a:latin typeface="Tahoma"/>
                <a:cs typeface="Tahoma"/>
              </a:rPr>
              <a:t>is</a:t>
            </a:r>
            <a:r>
              <a:rPr sz="2400" spc="-5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E4FFFF"/>
                </a:solidFill>
                <a:latin typeface="Tahoma"/>
                <a:cs typeface="Tahoma"/>
              </a:rPr>
              <a:t>a</a:t>
            </a:r>
            <a:r>
              <a:rPr sz="2400" spc="-20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E4FFFF"/>
                </a:solidFill>
                <a:latin typeface="Tahoma"/>
                <a:cs typeface="Tahoma"/>
              </a:rPr>
              <a:t>Extended</a:t>
            </a:r>
            <a:r>
              <a:rPr sz="2400" spc="-15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E4FFFF"/>
                </a:solidFill>
                <a:latin typeface="Tahoma"/>
                <a:cs typeface="Tahoma"/>
              </a:rPr>
              <a:t>Partition).</a:t>
            </a:r>
            <a:endParaRPr sz="2400">
              <a:latin typeface="Tahoma"/>
              <a:cs typeface="Tahoma"/>
            </a:endParaRPr>
          </a:p>
          <a:p>
            <a:pPr marL="2941955">
              <a:lnSpc>
                <a:spcPts val="2915"/>
              </a:lnSpc>
            </a:pPr>
            <a:r>
              <a:rPr sz="2500" u="sng" spc="-4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Tahoma"/>
                <a:cs typeface="Tahoma"/>
              </a:rPr>
              <a:t>3.Logical</a:t>
            </a:r>
            <a:r>
              <a:rPr sz="2500" u="sng" spc="-15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Tahoma"/>
                <a:cs typeface="Tahoma"/>
              </a:rPr>
              <a:t> </a:t>
            </a:r>
            <a:r>
              <a:rPr sz="2500" u="sng" spc="-1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Tahoma"/>
                <a:cs typeface="Tahoma"/>
              </a:rPr>
              <a:t>Partition:</a:t>
            </a:r>
            <a:endParaRPr sz="2500">
              <a:latin typeface="Tahoma"/>
              <a:cs typeface="Tahoma"/>
            </a:endParaRPr>
          </a:p>
          <a:p>
            <a:pPr marL="200025" indent="-114300">
              <a:lnSpc>
                <a:spcPts val="2845"/>
              </a:lnSpc>
              <a:buSzPct val="95833"/>
              <a:buChar char="•"/>
              <a:tabLst>
                <a:tab pos="200025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Linux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operating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systems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installed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(and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run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from)</a:t>
            </a:r>
            <a:endParaRPr sz="2400">
              <a:latin typeface="Arial"/>
              <a:cs typeface="Arial"/>
            </a:endParaRPr>
          </a:p>
          <a:p>
            <a:pPr marL="3056255">
              <a:lnSpc>
                <a:spcPct val="100000"/>
              </a:lnSpc>
              <a:spcBef>
                <a:spcPts val="780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logical</a:t>
            </a:r>
            <a:r>
              <a:rPr sz="2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partitions.</a:t>
            </a:r>
            <a:endParaRPr sz="2400">
              <a:latin typeface="Arial"/>
              <a:cs typeface="Arial"/>
            </a:endParaRPr>
          </a:p>
          <a:p>
            <a:pPr marL="3004820">
              <a:lnSpc>
                <a:spcPts val="2965"/>
              </a:lnSpc>
              <a:spcBef>
                <a:spcPts val="130"/>
              </a:spcBef>
            </a:pPr>
            <a:r>
              <a:rPr sz="2500" u="sng" spc="-45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Tahoma"/>
                <a:cs typeface="Tahoma"/>
              </a:rPr>
              <a:t>4.Active</a:t>
            </a:r>
            <a:r>
              <a:rPr sz="2500" u="sng" spc="-135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Tahoma"/>
                <a:cs typeface="Tahoma"/>
              </a:rPr>
              <a:t> </a:t>
            </a:r>
            <a:r>
              <a:rPr sz="2500" u="sng" spc="-1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Tahoma"/>
                <a:cs typeface="Tahoma"/>
              </a:rPr>
              <a:t>Partition</a:t>
            </a:r>
            <a:r>
              <a:rPr sz="2400" spc="-10" dirty="0">
                <a:solidFill>
                  <a:srgbClr val="E4FFFF"/>
                </a:solidFill>
                <a:latin typeface="Tahoma"/>
                <a:cs typeface="Tahoma"/>
              </a:rPr>
              <a:t>:</a:t>
            </a:r>
            <a:endParaRPr sz="2400">
              <a:latin typeface="Tahoma"/>
              <a:cs typeface="Tahoma"/>
            </a:endParaRPr>
          </a:p>
          <a:p>
            <a:pPr marL="396875" marR="299720" lvl="1" indent="-114300">
              <a:lnSpc>
                <a:spcPts val="2880"/>
              </a:lnSpc>
              <a:spcBef>
                <a:spcPts val="60"/>
              </a:spcBef>
              <a:buSzPct val="95833"/>
              <a:buChar char="•"/>
              <a:tabLst>
                <a:tab pos="203327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Only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partition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computer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set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active 	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partition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bootable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partition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106045" indent="-106045" algn="ctr">
              <a:lnSpc>
                <a:spcPts val="2785"/>
              </a:lnSpc>
              <a:buSzPct val="85416"/>
              <a:buChar char="•"/>
              <a:tabLst>
                <a:tab pos="106045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example,</a:t>
            </a:r>
            <a:r>
              <a:rPr sz="2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Microsoft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Windows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partition</a:t>
            </a:r>
            <a:endParaRPr sz="2400">
              <a:latin typeface="Arial"/>
              <a:cs typeface="Arial"/>
            </a:endParaRPr>
          </a:p>
          <a:p>
            <a:pPr marR="10160"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contains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Windows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active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partition.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9728" y="97917"/>
            <a:ext cx="37026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File</a:t>
            </a:r>
            <a:r>
              <a:rPr b="1" spc="-5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system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in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HDD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590169"/>
            <a:ext cx="51841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55904">
              <a:lnSpc>
                <a:spcPct val="100000"/>
              </a:lnSpc>
              <a:spcBef>
                <a:spcPts val="100"/>
              </a:spcBef>
              <a:buSzPct val="95833"/>
              <a:buAutoNum type="arabicPeriod"/>
              <a:tabLst>
                <a:tab pos="266700" algn="l"/>
              </a:tabLst>
            </a:pPr>
            <a:r>
              <a:rPr sz="2400" i="1" spc="-105" dirty="0">
                <a:solidFill>
                  <a:srgbClr val="E4FFFF"/>
                </a:solidFill>
                <a:latin typeface="Arial"/>
                <a:cs typeface="Arial"/>
              </a:rPr>
              <a:t>FAT</a:t>
            </a:r>
            <a:r>
              <a:rPr sz="2400" i="1" spc="-6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(File</a:t>
            </a:r>
            <a:r>
              <a:rPr sz="2400" i="1" spc="-16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Allocation</a:t>
            </a:r>
            <a:r>
              <a:rPr sz="2400" i="1" spc="-6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Table)</a:t>
            </a:r>
            <a:endParaRPr sz="2400">
              <a:latin typeface="Arial"/>
              <a:cs typeface="Arial"/>
            </a:endParaRPr>
          </a:p>
          <a:p>
            <a:pPr marL="266700" indent="-255904">
              <a:lnSpc>
                <a:spcPct val="100000"/>
              </a:lnSpc>
              <a:buSzPct val="95833"/>
              <a:buAutoNum type="arabicPeriod"/>
              <a:tabLst>
                <a:tab pos="266700" algn="l"/>
              </a:tabLst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NTFS</a:t>
            </a:r>
            <a:r>
              <a:rPr sz="2400" i="1" spc="-7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(New</a:t>
            </a:r>
            <a:r>
              <a:rPr sz="2400" i="1" spc="-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20" dirty="0">
                <a:solidFill>
                  <a:srgbClr val="E4FFFF"/>
                </a:solidFill>
                <a:latin typeface="Arial"/>
                <a:cs typeface="Arial"/>
              </a:rPr>
              <a:t>Technology</a:t>
            </a:r>
            <a:r>
              <a:rPr sz="2400" i="1" spc="-3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File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System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0" y="1519237"/>
          <a:ext cx="9220200" cy="5028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31055"/>
                <a:gridCol w="4513580"/>
              </a:tblGrid>
              <a:tr h="990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80"/>
                        </a:spcBef>
                      </a:pPr>
                      <a:r>
                        <a:rPr sz="2400" b="1" i="1" u="sng" spc="-2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cs typeface="Times New Roman"/>
                        </a:rPr>
                        <a:t>FAT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022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59595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380"/>
                        </a:spcBef>
                      </a:pPr>
                      <a:r>
                        <a:rPr sz="2400" b="1" i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NTFS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022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5959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sz="2400" i="1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2400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2400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security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59595"/>
                    </a:solidFill>
                  </a:tcPr>
                </a:tc>
                <a:tc>
                  <a:txBody>
                    <a:bodyPr/>
                    <a:lstStyle/>
                    <a:p>
                      <a:pPr marL="39687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sz="2400" i="1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2400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security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59595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Partition</a:t>
                      </a:r>
                      <a:r>
                        <a:rPr sz="2400" i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sz="2400" i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400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max </a:t>
                      </a:r>
                      <a:r>
                        <a:rPr sz="2400" i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32GB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435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59595"/>
                    </a:solidFill>
                  </a:tcPr>
                </a:tc>
                <a:tc>
                  <a:txBody>
                    <a:bodyPr/>
                    <a:lstStyle/>
                    <a:p>
                      <a:pPr marL="396875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Partition</a:t>
                      </a:r>
                      <a:r>
                        <a:rPr sz="2400" i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sz="2400" i="1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400" i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400" i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(Tera</a:t>
                      </a:r>
                      <a:r>
                        <a:rPr sz="2400" i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Bytes)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435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59595"/>
                    </a:solidFill>
                  </a:tcPr>
                </a:tc>
              </a:tr>
              <a:tr h="930275"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705"/>
                        </a:spcBef>
                        <a:tabLst>
                          <a:tab pos="2572385" algn="l"/>
                        </a:tabLst>
                      </a:pP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Does</a:t>
                      </a:r>
                      <a:r>
                        <a:rPr sz="2400" i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2400" i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support</a:t>
                      </a: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i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400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compersion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895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59595"/>
                    </a:solidFill>
                  </a:tcPr>
                </a:tc>
                <a:tc>
                  <a:txBody>
                    <a:bodyPr/>
                    <a:lstStyle/>
                    <a:p>
                      <a:pPr marL="320675">
                        <a:lnSpc>
                          <a:spcPct val="100000"/>
                        </a:lnSpc>
                        <a:spcBef>
                          <a:spcPts val="2145"/>
                        </a:spcBef>
                      </a:pP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2400" i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support</a:t>
                      </a:r>
                      <a:r>
                        <a:rPr sz="2400" i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2400" i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compersion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724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5959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1140"/>
                        </a:spcBef>
                        <a:tabLst>
                          <a:tab pos="2571750" algn="l"/>
                        </a:tabLst>
                      </a:pP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Does</a:t>
                      </a:r>
                      <a:r>
                        <a:rPr sz="2400" i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2400" i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support</a:t>
                      </a: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disk</a:t>
                      </a:r>
                      <a:r>
                        <a:rPr sz="2400" i="1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quota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447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59595"/>
                    </a:solidFill>
                  </a:tcPr>
                </a:tc>
                <a:tc>
                  <a:txBody>
                    <a:bodyPr/>
                    <a:lstStyle/>
                    <a:p>
                      <a:pPr marL="320675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sz="2400" i="1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support</a:t>
                      </a:r>
                      <a:r>
                        <a:rPr sz="2400" i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disk</a:t>
                      </a:r>
                      <a:r>
                        <a:rPr sz="2400" i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quota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447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59595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marL="91440" marR="1101090" indent="22860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2400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Window</a:t>
                      </a:r>
                      <a:r>
                        <a:rPr sz="2400" i="1" spc="-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os</a:t>
                      </a:r>
                      <a:r>
                        <a:rPr sz="2400" i="1" spc="-6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conformability (95,98.ms-</a:t>
                      </a:r>
                      <a:r>
                        <a:rPr sz="2400" i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dos)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619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5959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982344" indent="22860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2400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Window</a:t>
                      </a:r>
                      <a:r>
                        <a:rPr sz="2400" i="1" spc="-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os</a:t>
                      </a:r>
                      <a:r>
                        <a:rPr sz="2400" i="1" spc="-6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conformability </a:t>
                      </a: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400" i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2000,xp</a:t>
                      </a:r>
                      <a:r>
                        <a:rPr sz="2400" i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,vista,win</a:t>
                      </a:r>
                      <a:r>
                        <a:rPr sz="2400" i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 </a:t>
                      </a:r>
                      <a:r>
                        <a:rPr sz="2400" i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619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5959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7206" y="555716"/>
            <a:ext cx="6170295" cy="540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i="0" spc="-100" dirty="0">
                <a:latin typeface="Tahoma"/>
                <a:cs typeface="Tahoma"/>
              </a:rPr>
              <a:t>TYPES</a:t>
            </a:r>
            <a:r>
              <a:rPr sz="3350" i="0" spc="-165" dirty="0">
                <a:latin typeface="Tahoma"/>
                <a:cs typeface="Tahoma"/>
              </a:rPr>
              <a:t> </a:t>
            </a:r>
            <a:r>
              <a:rPr sz="3350" i="0" dirty="0">
                <a:latin typeface="Tahoma"/>
                <a:cs typeface="Tahoma"/>
              </a:rPr>
              <a:t>OF</a:t>
            </a:r>
            <a:r>
              <a:rPr sz="3350" i="0" spc="-190" dirty="0">
                <a:latin typeface="Tahoma"/>
                <a:cs typeface="Tahoma"/>
              </a:rPr>
              <a:t> </a:t>
            </a:r>
            <a:r>
              <a:rPr sz="3350" i="0" spc="-110" dirty="0">
                <a:latin typeface="Tahoma"/>
                <a:cs typeface="Tahoma"/>
              </a:rPr>
              <a:t>INTERFACEING</a:t>
            </a:r>
            <a:r>
              <a:rPr sz="3350" i="0" spc="-150" dirty="0">
                <a:latin typeface="Tahoma"/>
                <a:cs typeface="Tahoma"/>
              </a:rPr>
              <a:t> </a:t>
            </a:r>
            <a:r>
              <a:rPr sz="3350" i="0" dirty="0">
                <a:latin typeface="Tahoma"/>
                <a:cs typeface="Tahoma"/>
              </a:rPr>
              <a:t>IN</a:t>
            </a:r>
            <a:r>
              <a:rPr sz="3350" i="0" spc="-175" dirty="0">
                <a:latin typeface="Tahoma"/>
                <a:cs typeface="Tahoma"/>
              </a:rPr>
              <a:t> </a:t>
            </a:r>
            <a:r>
              <a:rPr sz="3350" i="0" spc="-25" dirty="0">
                <a:latin typeface="Tahoma"/>
                <a:cs typeface="Tahoma"/>
              </a:rPr>
              <a:t>HDD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1050442"/>
            <a:ext cx="8884285" cy="55251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62660">
              <a:lnSpc>
                <a:spcPts val="2910"/>
              </a:lnSpc>
              <a:spcBef>
                <a:spcPts val="130"/>
              </a:spcBef>
            </a:pPr>
            <a:r>
              <a:rPr sz="2500" spc="-45" dirty="0">
                <a:solidFill>
                  <a:srgbClr val="FFFFFF"/>
                </a:solidFill>
                <a:latin typeface="Tahoma"/>
                <a:cs typeface="Tahoma"/>
              </a:rPr>
              <a:t>They</a:t>
            </a:r>
            <a:r>
              <a:rPr sz="25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25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Tahoma"/>
                <a:cs typeface="Tahoma"/>
              </a:rPr>
              <a:t>three</a:t>
            </a:r>
            <a:r>
              <a:rPr sz="25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Tahoma"/>
                <a:cs typeface="Tahoma"/>
              </a:rPr>
              <a:t>types</a:t>
            </a:r>
            <a:r>
              <a:rPr sz="25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5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Tahoma"/>
                <a:cs typeface="Tahoma"/>
              </a:rPr>
              <a:t>interfacing</a:t>
            </a:r>
            <a:r>
              <a:rPr sz="25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25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45" dirty="0">
                <a:solidFill>
                  <a:srgbClr val="FFFFFF"/>
                </a:solidFill>
                <a:latin typeface="Tahoma"/>
                <a:cs typeface="Tahoma"/>
              </a:rPr>
              <a:t>hard</a:t>
            </a:r>
            <a:r>
              <a:rPr sz="25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Tahoma"/>
                <a:cs typeface="Tahoma"/>
              </a:rPr>
              <a:t>disk</a:t>
            </a:r>
            <a:endParaRPr sz="2500">
              <a:latin typeface="Tahoma"/>
              <a:cs typeface="Tahoma"/>
            </a:endParaRPr>
          </a:p>
          <a:p>
            <a:pPr marL="3837304" indent="-192405">
              <a:lnSpc>
                <a:spcPts val="3840"/>
              </a:lnSpc>
              <a:buSzPct val="92537"/>
              <a:buChar char="•"/>
              <a:tabLst>
                <a:tab pos="3837304" algn="l"/>
              </a:tabLst>
            </a:pPr>
            <a:r>
              <a:rPr sz="3350" spc="-25" dirty="0">
                <a:solidFill>
                  <a:srgbClr val="E4FFFF"/>
                </a:solidFill>
                <a:latin typeface="Tahoma"/>
                <a:cs typeface="Tahoma"/>
              </a:rPr>
              <a:t>IDE</a:t>
            </a:r>
            <a:endParaRPr sz="3350">
              <a:latin typeface="Tahoma"/>
              <a:cs typeface="Tahoma"/>
            </a:endParaRPr>
          </a:p>
          <a:p>
            <a:pPr marL="3713479" indent="-192405">
              <a:lnSpc>
                <a:spcPts val="3840"/>
              </a:lnSpc>
              <a:buSzPct val="92537"/>
              <a:buChar char="•"/>
              <a:tabLst>
                <a:tab pos="3713479" algn="l"/>
              </a:tabLst>
            </a:pPr>
            <a:r>
              <a:rPr sz="3350" spc="-20" dirty="0">
                <a:solidFill>
                  <a:srgbClr val="E4FFFF"/>
                </a:solidFill>
                <a:latin typeface="Tahoma"/>
                <a:cs typeface="Tahoma"/>
              </a:rPr>
              <a:t>SATA</a:t>
            </a:r>
            <a:endParaRPr sz="3350">
              <a:latin typeface="Tahoma"/>
              <a:cs typeface="Tahoma"/>
            </a:endParaRPr>
          </a:p>
          <a:p>
            <a:pPr marL="3741420" indent="-192405">
              <a:lnSpc>
                <a:spcPts val="3704"/>
              </a:lnSpc>
              <a:buSzPct val="92537"/>
              <a:buChar char="•"/>
              <a:tabLst>
                <a:tab pos="3741420" algn="l"/>
              </a:tabLst>
            </a:pPr>
            <a:r>
              <a:rPr sz="3350" spc="-20" dirty="0">
                <a:solidFill>
                  <a:srgbClr val="E4FFFF"/>
                </a:solidFill>
                <a:latin typeface="Tahoma"/>
                <a:cs typeface="Tahoma"/>
              </a:rPr>
              <a:t>SCSI</a:t>
            </a:r>
            <a:endParaRPr sz="3350">
              <a:latin typeface="Tahoma"/>
              <a:cs typeface="Tahoma"/>
            </a:endParaRPr>
          </a:p>
          <a:p>
            <a:pPr marL="12700">
              <a:lnSpc>
                <a:spcPts val="3615"/>
              </a:lnSpc>
            </a:pPr>
            <a:r>
              <a:rPr sz="3200" b="1" i="1" u="sng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IDE</a:t>
            </a:r>
            <a:r>
              <a:rPr sz="3200" b="1" i="1" u="sng" spc="-35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sng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(Integrated</a:t>
            </a:r>
            <a:r>
              <a:rPr sz="3200" b="1" i="1" u="sng" spc="-6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sng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Device</a:t>
            </a:r>
            <a:r>
              <a:rPr sz="3200" b="1" i="1" u="sng" spc="-5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sng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Electronics)</a:t>
            </a:r>
            <a:r>
              <a:rPr sz="3200" b="1" i="1" u="sng" spc="-55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sng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/</a:t>
            </a:r>
            <a:r>
              <a:rPr sz="3200" b="1" i="1" u="sng" spc="-2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 PATA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200" b="1" i="1" u="sng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(Parallel</a:t>
            </a:r>
            <a:r>
              <a:rPr sz="3200" b="1" i="1" u="sng" spc="-16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sng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Advanced</a:t>
            </a:r>
            <a:r>
              <a:rPr sz="3200" b="1" i="1" u="sng" spc="-7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sng" spc="-1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Technology</a:t>
            </a:r>
            <a:r>
              <a:rPr sz="3200" b="1" i="1" u="sng" spc="-19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sng" spc="-1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Attachment)</a:t>
            </a:r>
            <a:endParaRPr sz="3200">
              <a:latin typeface="Arial"/>
              <a:cs typeface="Arial"/>
            </a:endParaRPr>
          </a:p>
          <a:p>
            <a:pPr marL="502920" indent="-337820">
              <a:lnSpc>
                <a:spcPct val="100000"/>
              </a:lnSpc>
              <a:spcBef>
                <a:spcPts val="1350"/>
              </a:spcBef>
              <a:buAutoNum type="arabicPeriod"/>
              <a:tabLst>
                <a:tab pos="502920" algn="l"/>
              </a:tabLst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It</a:t>
            </a:r>
            <a:r>
              <a:rPr sz="2400" i="1" spc="-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has</a:t>
            </a:r>
            <a:r>
              <a:rPr sz="2400" i="1" spc="-1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a</a:t>
            </a:r>
            <a:r>
              <a:rPr sz="2400" i="1" spc="-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40</a:t>
            </a:r>
            <a:r>
              <a:rPr sz="2400" i="1" spc="-2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pin</a:t>
            </a:r>
            <a:r>
              <a:rPr sz="2400" i="1" spc="-1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connector.</a:t>
            </a:r>
            <a:endParaRPr sz="2400">
              <a:latin typeface="Arial"/>
              <a:cs typeface="Arial"/>
            </a:endParaRPr>
          </a:p>
          <a:p>
            <a:pPr marL="502284" indent="-337185">
              <a:lnSpc>
                <a:spcPct val="100000"/>
              </a:lnSpc>
              <a:buAutoNum type="arabicPeriod"/>
              <a:tabLst>
                <a:tab pos="502284" algn="l"/>
              </a:tabLst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Data</a:t>
            </a:r>
            <a:r>
              <a:rPr sz="2400" i="1" spc="-1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transfer</a:t>
            </a:r>
            <a:r>
              <a:rPr sz="2400" i="1" spc="-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rate</a:t>
            </a:r>
            <a:r>
              <a:rPr sz="2400" i="1" spc="-1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is</a:t>
            </a:r>
            <a:r>
              <a:rPr sz="2400" i="1" spc="-1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133mbbs.</a:t>
            </a:r>
            <a:endParaRPr sz="2400">
              <a:latin typeface="Arial"/>
              <a:cs typeface="Arial"/>
            </a:endParaRPr>
          </a:p>
          <a:p>
            <a:pPr marL="165100" marR="5080">
              <a:lnSpc>
                <a:spcPct val="100000"/>
              </a:lnSpc>
              <a:spcBef>
                <a:spcPts val="5"/>
              </a:spcBef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3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.when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installed</a:t>
            </a:r>
            <a:r>
              <a:rPr sz="2400" i="1" spc="-1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this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type</a:t>
            </a:r>
            <a:r>
              <a:rPr sz="2400" i="1" spc="-6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of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hard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drives</a:t>
            </a:r>
            <a:r>
              <a:rPr sz="24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ensure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that</a:t>
            </a:r>
            <a:r>
              <a:rPr sz="2400" i="1" spc="-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the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jumpers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are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correctly</a:t>
            </a:r>
            <a:r>
              <a:rPr sz="2400" i="1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configured.</a:t>
            </a:r>
            <a:endParaRPr sz="240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4.</a:t>
            </a:r>
            <a:r>
              <a:rPr sz="24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If</a:t>
            </a:r>
            <a:r>
              <a:rPr sz="2400" i="1" spc="-6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you</a:t>
            </a:r>
            <a:r>
              <a:rPr sz="2400" i="1" spc="-3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have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two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devices</a:t>
            </a:r>
            <a:r>
              <a:rPr sz="2400" i="1" spc="-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connected</a:t>
            </a:r>
            <a:r>
              <a:rPr sz="2400" i="1" spc="-2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to</a:t>
            </a:r>
            <a:r>
              <a:rPr sz="24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one</a:t>
            </a:r>
            <a:r>
              <a:rPr sz="2400" i="1" spc="-2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IDE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controller.</a:t>
            </a:r>
            <a:endParaRPr sz="2400">
              <a:latin typeface="Arial"/>
              <a:cs typeface="Arial"/>
            </a:endParaRPr>
          </a:p>
          <a:p>
            <a:pPr marL="1007744">
              <a:lnSpc>
                <a:spcPct val="100000"/>
              </a:lnSpc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(</a:t>
            </a:r>
            <a:r>
              <a:rPr sz="24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one</a:t>
            </a:r>
            <a:r>
              <a:rPr sz="2400" i="1" spc="-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must</a:t>
            </a:r>
            <a:r>
              <a:rPr sz="2400" i="1" spc="-2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be</a:t>
            </a:r>
            <a:r>
              <a:rPr sz="2400" i="1" spc="-2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set</a:t>
            </a:r>
            <a:r>
              <a:rPr sz="2400" i="1" spc="-2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to</a:t>
            </a:r>
            <a:r>
              <a:rPr sz="2400" i="1" spc="-3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master</a:t>
            </a:r>
            <a:r>
              <a:rPr sz="2400" i="1" spc="-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and</a:t>
            </a:r>
            <a:r>
              <a:rPr sz="2400" i="1" spc="-2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the</a:t>
            </a:r>
            <a:r>
              <a:rPr sz="2400" i="1" spc="-1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other</a:t>
            </a:r>
            <a:r>
              <a:rPr sz="2400" i="1" spc="-3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must</a:t>
            </a:r>
            <a:r>
              <a:rPr sz="2400" i="1" spc="-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be</a:t>
            </a:r>
            <a:r>
              <a:rPr sz="2400" i="1" spc="-3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set</a:t>
            </a:r>
            <a:r>
              <a:rPr sz="2400" i="1" spc="-1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25" dirty="0">
                <a:solidFill>
                  <a:srgbClr val="E4FFFF"/>
                </a:solidFill>
                <a:latin typeface="Arial"/>
                <a:cs typeface="Arial"/>
              </a:rPr>
              <a:t>to</a:t>
            </a:r>
            <a:endParaRPr sz="240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</a:pP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slave).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52798"/>
            <a:ext cx="9144000" cy="3505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524000"/>
            <a:ext cx="4038600" cy="1752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00600" y="0"/>
            <a:ext cx="4114800" cy="32766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9740" y="76581"/>
            <a:ext cx="359029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IDE</a:t>
            </a:r>
            <a:r>
              <a:rPr spc="-35" dirty="0"/>
              <a:t> </a:t>
            </a:r>
            <a:r>
              <a:rPr dirty="0"/>
              <a:t>data</a:t>
            </a:r>
            <a:r>
              <a:rPr spc="-60" dirty="0"/>
              <a:t> </a:t>
            </a:r>
            <a:r>
              <a:rPr dirty="0"/>
              <a:t>cable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u="none" spc="-50" dirty="0"/>
              <a:t> </a:t>
            </a:r>
            <a:r>
              <a:rPr spc="-10" dirty="0"/>
              <a:t>connector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spc="-25" dirty="0"/>
              <a:t>HDD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7644"/>
            <a:ext cx="7119620" cy="102870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5080">
              <a:lnSpc>
                <a:spcPts val="3840"/>
              </a:lnSpc>
              <a:spcBef>
                <a:spcPts val="405"/>
              </a:spcBef>
            </a:pPr>
            <a:r>
              <a:rPr sz="3350" b="1" spc="-380" dirty="0">
                <a:latin typeface="Verdana"/>
                <a:cs typeface="Verdana"/>
              </a:rPr>
              <a:t>SATA</a:t>
            </a:r>
            <a:r>
              <a:rPr sz="3350" b="1" spc="-220" dirty="0">
                <a:latin typeface="Verdana"/>
                <a:cs typeface="Verdana"/>
              </a:rPr>
              <a:t> </a:t>
            </a:r>
            <a:r>
              <a:rPr sz="3350" b="1" spc="-290" dirty="0">
                <a:latin typeface="Verdana"/>
                <a:cs typeface="Verdana"/>
              </a:rPr>
              <a:t>(Serial</a:t>
            </a:r>
            <a:r>
              <a:rPr sz="3350" b="1" spc="-235" dirty="0">
                <a:latin typeface="Verdana"/>
                <a:cs typeface="Verdana"/>
              </a:rPr>
              <a:t> </a:t>
            </a:r>
            <a:r>
              <a:rPr sz="3350" b="1" spc="-345" dirty="0">
                <a:latin typeface="Verdana"/>
                <a:cs typeface="Verdana"/>
              </a:rPr>
              <a:t>Advanced</a:t>
            </a:r>
            <a:r>
              <a:rPr sz="3350" b="1" spc="-220" dirty="0">
                <a:latin typeface="Verdana"/>
                <a:cs typeface="Verdana"/>
              </a:rPr>
              <a:t> </a:t>
            </a:r>
            <a:r>
              <a:rPr sz="3350" b="1" spc="-335" dirty="0">
                <a:latin typeface="Verdana"/>
                <a:cs typeface="Verdana"/>
              </a:rPr>
              <a:t>Technology</a:t>
            </a:r>
            <a:r>
              <a:rPr sz="3350" b="1" u="none" spc="-335" dirty="0">
                <a:latin typeface="Verdana"/>
                <a:cs typeface="Verdana"/>
              </a:rPr>
              <a:t> </a:t>
            </a:r>
            <a:r>
              <a:rPr sz="3350" b="1" spc="-345" dirty="0">
                <a:latin typeface="Verdana"/>
                <a:cs typeface="Verdana"/>
              </a:rPr>
              <a:t>Attachment</a:t>
            </a:r>
            <a:r>
              <a:rPr sz="3350" b="1" u="none" spc="-345" dirty="0">
                <a:latin typeface="Verdana"/>
                <a:cs typeface="Verdana"/>
              </a:rPr>
              <a:t>)</a:t>
            </a:r>
            <a:endParaRPr sz="335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1080287"/>
            <a:ext cx="8732520" cy="46869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794125" indent="-271780">
              <a:lnSpc>
                <a:spcPts val="2940"/>
              </a:lnSpc>
              <a:spcBef>
                <a:spcPts val="130"/>
              </a:spcBef>
              <a:buSzPct val="96000"/>
              <a:buAutoNum type="arabicPeriod"/>
              <a:tabLst>
                <a:tab pos="3794125" algn="l"/>
              </a:tabLst>
            </a:pPr>
            <a:r>
              <a:rPr sz="2500" dirty="0">
                <a:solidFill>
                  <a:srgbClr val="E4FFFF"/>
                </a:solidFill>
                <a:latin typeface="Tahoma"/>
                <a:cs typeface="Tahoma"/>
              </a:rPr>
              <a:t>It</a:t>
            </a:r>
            <a:r>
              <a:rPr sz="2500" spc="-145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20" dirty="0">
                <a:solidFill>
                  <a:srgbClr val="E4FFFF"/>
                </a:solidFill>
                <a:latin typeface="Tahoma"/>
                <a:cs typeface="Tahoma"/>
              </a:rPr>
              <a:t>has</a:t>
            </a:r>
            <a:r>
              <a:rPr sz="2500" spc="-140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E4FFFF"/>
                </a:solidFill>
                <a:latin typeface="Tahoma"/>
                <a:cs typeface="Tahoma"/>
              </a:rPr>
              <a:t>a</a:t>
            </a:r>
            <a:r>
              <a:rPr sz="2500" spc="-135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25" dirty="0">
                <a:solidFill>
                  <a:srgbClr val="E4FFFF"/>
                </a:solidFill>
                <a:latin typeface="Tahoma"/>
                <a:cs typeface="Tahoma"/>
              </a:rPr>
              <a:t>7pin</a:t>
            </a:r>
            <a:r>
              <a:rPr sz="2500" spc="-135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E4FFFF"/>
                </a:solidFill>
                <a:latin typeface="Tahoma"/>
                <a:cs typeface="Tahoma"/>
              </a:rPr>
              <a:t>connector.</a:t>
            </a:r>
            <a:endParaRPr sz="2500">
              <a:latin typeface="Tahoma"/>
              <a:cs typeface="Tahoma"/>
            </a:endParaRPr>
          </a:p>
          <a:p>
            <a:pPr marL="828040" indent="-271780">
              <a:lnSpc>
                <a:spcPts val="2880"/>
              </a:lnSpc>
              <a:buSzPct val="96000"/>
              <a:buAutoNum type="arabicPeriod"/>
              <a:tabLst>
                <a:tab pos="828040" algn="l"/>
              </a:tabLst>
            </a:pPr>
            <a:r>
              <a:rPr sz="2500" dirty="0">
                <a:solidFill>
                  <a:srgbClr val="E4FFFF"/>
                </a:solidFill>
                <a:latin typeface="Tahoma"/>
                <a:cs typeface="Tahoma"/>
              </a:rPr>
              <a:t>It</a:t>
            </a:r>
            <a:r>
              <a:rPr sz="2500" spc="-130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E4FFFF"/>
                </a:solidFill>
                <a:latin typeface="Tahoma"/>
                <a:cs typeface="Tahoma"/>
              </a:rPr>
              <a:t>is</a:t>
            </a:r>
            <a:r>
              <a:rPr sz="2500" spc="-130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E4FFFF"/>
                </a:solidFill>
                <a:latin typeface="Tahoma"/>
                <a:cs typeface="Tahoma"/>
              </a:rPr>
              <a:t>the</a:t>
            </a:r>
            <a:r>
              <a:rPr sz="2500" spc="-140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25" dirty="0">
                <a:solidFill>
                  <a:srgbClr val="E4FFFF"/>
                </a:solidFill>
                <a:latin typeface="Tahoma"/>
                <a:cs typeface="Tahoma"/>
              </a:rPr>
              <a:t>latest</a:t>
            </a:r>
            <a:r>
              <a:rPr sz="2500" spc="-130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60" dirty="0">
                <a:solidFill>
                  <a:srgbClr val="E4FFFF"/>
                </a:solidFill>
                <a:latin typeface="Tahoma"/>
                <a:cs typeface="Tahoma"/>
              </a:rPr>
              <a:t>high-</a:t>
            </a:r>
            <a:r>
              <a:rPr sz="2500" spc="-45" dirty="0">
                <a:solidFill>
                  <a:srgbClr val="E4FFFF"/>
                </a:solidFill>
                <a:latin typeface="Tahoma"/>
                <a:cs typeface="Tahoma"/>
              </a:rPr>
              <a:t>speed</a:t>
            </a:r>
            <a:r>
              <a:rPr sz="2500" spc="-140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40" dirty="0">
                <a:solidFill>
                  <a:srgbClr val="E4FFFF"/>
                </a:solidFill>
                <a:latin typeface="Tahoma"/>
                <a:cs typeface="Tahoma"/>
              </a:rPr>
              <a:t>type</a:t>
            </a:r>
            <a:r>
              <a:rPr sz="2500" spc="-140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E4FFFF"/>
                </a:solidFill>
                <a:latin typeface="Tahoma"/>
                <a:cs typeface="Tahoma"/>
              </a:rPr>
              <a:t>of</a:t>
            </a:r>
            <a:r>
              <a:rPr sz="2500" spc="-140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40" dirty="0">
                <a:solidFill>
                  <a:srgbClr val="E4FFFF"/>
                </a:solidFill>
                <a:latin typeface="Tahoma"/>
                <a:cs typeface="Tahoma"/>
              </a:rPr>
              <a:t>hard</a:t>
            </a:r>
            <a:r>
              <a:rPr sz="2500" spc="-135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40" dirty="0">
                <a:solidFill>
                  <a:srgbClr val="E4FFFF"/>
                </a:solidFill>
                <a:latin typeface="Tahoma"/>
                <a:cs typeface="Tahoma"/>
              </a:rPr>
              <a:t>drive</a:t>
            </a:r>
            <a:r>
              <a:rPr sz="2500" spc="-135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E4FFFF"/>
                </a:solidFill>
                <a:latin typeface="Tahoma"/>
                <a:cs typeface="Tahoma"/>
              </a:rPr>
              <a:t>connectors.</a:t>
            </a:r>
            <a:endParaRPr sz="2500">
              <a:latin typeface="Tahoma"/>
              <a:cs typeface="Tahoma"/>
            </a:endParaRPr>
          </a:p>
          <a:p>
            <a:pPr marL="902969" marR="5080" indent="-271780">
              <a:lnSpc>
                <a:spcPts val="2880"/>
              </a:lnSpc>
              <a:spcBef>
                <a:spcPts val="135"/>
              </a:spcBef>
              <a:buSzPct val="96000"/>
              <a:buAutoNum type="arabicPeriod"/>
              <a:tabLst>
                <a:tab pos="3741420" algn="l"/>
              </a:tabLst>
            </a:pPr>
            <a:r>
              <a:rPr sz="2500" spc="-40" dirty="0">
                <a:solidFill>
                  <a:srgbClr val="E4FFFF"/>
                </a:solidFill>
                <a:latin typeface="Tahoma"/>
                <a:cs typeface="Tahoma"/>
              </a:rPr>
              <a:t>Data</a:t>
            </a:r>
            <a:r>
              <a:rPr sz="2500" spc="-160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50" dirty="0">
                <a:solidFill>
                  <a:srgbClr val="E4FFFF"/>
                </a:solidFill>
                <a:latin typeface="Tahoma"/>
                <a:cs typeface="Tahoma"/>
              </a:rPr>
              <a:t>transfer</a:t>
            </a:r>
            <a:r>
              <a:rPr sz="2500" spc="-145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25" dirty="0">
                <a:solidFill>
                  <a:srgbClr val="E4FFFF"/>
                </a:solidFill>
                <a:latin typeface="Tahoma"/>
                <a:cs typeface="Tahoma"/>
              </a:rPr>
              <a:t>rate</a:t>
            </a:r>
            <a:r>
              <a:rPr sz="2500" spc="-170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E4FFFF"/>
                </a:solidFill>
                <a:latin typeface="Tahoma"/>
                <a:cs typeface="Tahoma"/>
              </a:rPr>
              <a:t>is</a:t>
            </a:r>
            <a:r>
              <a:rPr sz="2500" spc="-150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35" dirty="0">
                <a:solidFill>
                  <a:srgbClr val="E4FFFF"/>
                </a:solidFill>
                <a:latin typeface="Tahoma"/>
                <a:cs typeface="Tahoma"/>
              </a:rPr>
              <a:t>300Mb/s.</a:t>
            </a:r>
            <a:r>
              <a:rPr sz="2500" spc="-130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25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45" dirty="0">
                <a:solidFill>
                  <a:srgbClr val="FFFFFF"/>
                </a:solidFill>
                <a:latin typeface="Tahoma"/>
                <a:cs typeface="Tahoma"/>
              </a:rPr>
              <a:t>there</a:t>
            </a:r>
            <a:r>
              <a:rPr sz="25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25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Tahoma"/>
                <a:cs typeface="Tahoma"/>
              </a:rPr>
              <a:t>faster</a:t>
            </a:r>
            <a:r>
              <a:rPr sz="25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Tahoma"/>
                <a:cs typeface="Tahoma"/>
              </a:rPr>
              <a:t>than</a:t>
            </a:r>
            <a:r>
              <a:rPr sz="25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Tahoma"/>
                <a:cs typeface="Tahoma"/>
              </a:rPr>
              <a:t>old 	</a:t>
            </a:r>
            <a:r>
              <a:rPr sz="2500" spc="-20" dirty="0">
                <a:solidFill>
                  <a:srgbClr val="FFFFFF"/>
                </a:solidFill>
                <a:latin typeface="Tahoma"/>
                <a:cs typeface="Tahoma"/>
              </a:rPr>
              <a:t>IDE</a:t>
            </a:r>
            <a:r>
              <a:rPr sz="25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ahoma"/>
                <a:cs typeface="Tahoma"/>
              </a:rPr>
              <a:t>interface.</a:t>
            </a:r>
            <a:endParaRPr sz="2500">
              <a:latin typeface="Tahoma"/>
              <a:cs typeface="Tahoma"/>
            </a:endParaRPr>
          </a:p>
          <a:p>
            <a:pPr marL="1095375" indent="-350520">
              <a:lnSpc>
                <a:spcPts val="2745"/>
              </a:lnSpc>
              <a:buSzPct val="96000"/>
              <a:buAutoNum type="arabicPeriod"/>
              <a:tabLst>
                <a:tab pos="1095375" algn="l"/>
              </a:tabLst>
            </a:pPr>
            <a:r>
              <a:rPr sz="2500" spc="-20" dirty="0">
                <a:solidFill>
                  <a:srgbClr val="E4FFFF"/>
                </a:solidFill>
                <a:latin typeface="Tahoma"/>
                <a:cs typeface="Tahoma"/>
              </a:rPr>
              <a:t>the</a:t>
            </a:r>
            <a:r>
              <a:rPr sz="2500" spc="-170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25" dirty="0">
                <a:solidFill>
                  <a:srgbClr val="E4FFFF"/>
                </a:solidFill>
                <a:latin typeface="Tahoma"/>
                <a:cs typeface="Tahoma"/>
              </a:rPr>
              <a:t>latest</a:t>
            </a:r>
            <a:r>
              <a:rPr sz="2500" spc="-155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35" dirty="0">
                <a:solidFill>
                  <a:srgbClr val="E4FFFF"/>
                </a:solidFill>
                <a:latin typeface="Tahoma"/>
                <a:cs typeface="Tahoma"/>
              </a:rPr>
              <a:t>hard</a:t>
            </a:r>
            <a:r>
              <a:rPr sz="2500" spc="-165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35" dirty="0">
                <a:solidFill>
                  <a:srgbClr val="E4FFFF"/>
                </a:solidFill>
                <a:latin typeface="Tahoma"/>
                <a:cs typeface="Tahoma"/>
              </a:rPr>
              <a:t>drives</a:t>
            </a:r>
            <a:r>
              <a:rPr sz="2500" spc="-155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E4FFFF"/>
                </a:solidFill>
                <a:latin typeface="Tahoma"/>
                <a:cs typeface="Tahoma"/>
              </a:rPr>
              <a:t>are</a:t>
            </a:r>
            <a:r>
              <a:rPr sz="2500" spc="-155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35" dirty="0">
                <a:solidFill>
                  <a:srgbClr val="E4FFFF"/>
                </a:solidFill>
                <a:latin typeface="Tahoma"/>
                <a:cs typeface="Tahoma"/>
              </a:rPr>
              <a:t>using</a:t>
            </a:r>
            <a:r>
              <a:rPr sz="2500" spc="-160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E4FFFF"/>
                </a:solidFill>
                <a:latin typeface="Tahoma"/>
                <a:cs typeface="Tahoma"/>
              </a:rPr>
              <a:t>this</a:t>
            </a:r>
            <a:r>
              <a:rPr sz="2500" spc="-165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40" dirty="0">
                <a:solidFill>
                  <a:srgbClr val="E4FFFF"/>
                </a:solidFill>
                <a:latin typeface="Tahoma"/>
                <a:cs typeface="Tahoma"/>
              </a:rPr>
              <a:t>type</a:t>
            </a:r>
            <a:r>
              <a:rPr sz="2500" spc="-155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E4FFFF"/>
                </a:solidFill>
                <a:latin typeface="Tahoma"/>
                <a:cs typeface="Tahoma"/>
              </a:rPr>
              <a:t>of</a:t>
            </a:r>
            <a:r>
              <a:rPr sz="2500" spc="-145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E4FFFF"/>
                </a:solidFill>
                <a:latin typeface="Tahoma"/>
                <a:cs typeface="Tahoma"/>
              </a:rPr>
              <a:t>interface.</a:t>
            </a:r>
            <a:endParaRPr sz="2500">
              <a:latin typeface="Tahoma"/>
              <a:cs typeface="Tahoma"/>
            </a:endParaRPr>
          </a:p>
          <a:p>
            <a:pPr marL="1853564" indent="-354330">
              <a:lnSpc>
                <a:spcPts val="2940"/>
              </a:lnSpc>
              <a:buSzPct val="96000"/>
              <a:buAutoNum type="arabicPeriod"/>
              <a:tabLst>
                <a:tab pos="1853564" algn="l"/>
              </a:tabLst>
            </a:pPr>
            <a:r>
              <a:rPr sz="2500" dirty="0">
                <a:solidFill>
                  <a:srgbClr val="E4FFFF"/>
                </a:solidFill>
                <a:latin typeface="Tahoma"/>
                <a:cs typeface="Tahoma"/>
              </a:rPr>
              <a:t>As</a:t>
            </a:r>
            <a:r>
              <a:rPr sz="2500" spc="-170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40" dirty="0">
                <a:solidFill>
                  <a:srgbClr val="E4FFFF"/>
                </a:solidFill>
                <a:latin typeface="Tahoma"/>
                <a:cs typeface="Tahoma"/>
              </a:rPr>
              <a:t>there</a:t>
            </a:r>
            <a:r>
              <a:rPr sz="2500" spc="-155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E4FFFF"/>
                </a:solidFill>
                <a:latin typeface="Tahoma"/>
                <a:cs typeface="Tahoma"/>
              </a:rPr>
              <a:t>are</a:t>
            </a:r>
            <a:r>
              <a:rPr sz="2500" spc="-155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30" dirty="0">
                <a:solidFill>
                  <a:srgbClr val="E4FFFF"/>
                </a:solidFill>
                <a:latin typeface="Tahoma"/>
                <a:cs typeface="Tahoma"/>
              </a:rPr>
              <a:t>faster</a:t>
            </a:r>
            <a:r>
              <a:rPr sz="2500" spc="-165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40" dirty="0">
                <a:solidFill>
                  <a:srgbClr val="E4FFFF"/>
                </a:solidFill>
                <a:latin typeface="Tahoma"/>
                <a:cs typeface="Tahoma"/>
              </a:rPr>
              <a:t>than</a:t>
            </a:r>
            <a:r>
              <a:rPr sz="2500" spc="-160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E4FFFF"/>
                </a:solidFill>
                <a:latin typeface="Tahoma"/>
                <a:cs typeface="Tahoma"/>
              </a:rPr>
              <a:t>old</a:t>
            </a:r>
            <a:r>
              <a:rPr sz="2500" spc="-165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20" dirty="0">
                <a:solidFill>
                  <a:srgbClr val="E4FFFF"/>
                </a:solidFill>
                <a:latin typeface="Tahoma"/>
                <a:cs typeface="Tahoma"/>
              </a:rPr>
              <a:t>IDE</a:t>
            </a:r>
            <a:r>
              <a:rPr sz="2500" spc="-155" dirty="0">
                <a:solidFill>
                  <a:srgbClr val="E4FF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E4FFFF"/>
                </a:solidFill>
                <a:latin typeface="Tahoma"/>
                <a:cs typeface="Tahoma"/>
              </a:rPr>
              <a:t>interface.</a:t>
            </a:r>
            <a:endParaRPr sz="2500">
              <a:latin typeface="Tahoma"/>
              <a:cs typeface="Tahoma"/>
            </a:endParaRPr>
          </a:p>
          <a:p>
            <a:pPr marL="12700" marR="1005840">
              <a:lnSpc>
                <a:spcPct val="100000"/>
              </a:lnSpc>
              <a:spcBef>
                <a:spcPts val="35"/>
              </a:spcBef>
            </a:pPr>
            <a:r>
              <a:rPr sz="3200" b="1" i="1" u="sng" spc="-135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SATA </a:t>
            </a:r>
            <a:r>
              <a:rPr sz="3200" b="1" i="1" u="sng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socket,</a:t>
            </a:r>
            <a:r>
              <a:rPr sz="3200" b="1" i="1" u="sng" spc="-3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sng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power</a:t>
            </a:r>
            <a:r>
              <a:rPr sz="3200" b="1" i="1" u="sng" spc="-45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sng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connector</a:t>
            </a:r>
            <a:r>
              <a:rPr sz="3200" b="1" i="1" u="sng" spc="-3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sng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and</a:t>
            </a:r>
            <a:r>
              <a:rPr sz="3200" b="1" i="1" u="sng" spc="-35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sng" spc="-2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data</a:t>
            </a:r>
            <a:r>
              <a:rPr sz="3200" b="1" i="1" spc="-2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3200" b="1" i="1" u="sng" spc="-1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cable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15"/>
              </a:spcBef>
              <a:tabLst>
                <a:tab pos="349885" algn="l"/>
                <a:tab pos="940435" algn="l"/>
              </a:tabLst>
            </a:pPr>
            <a:r>
              <a:rPr sz="2400" i="1" spc="-25" dirty="0">
                <a:solidFill>
                  <a:srgbClr val="E4FFFF"/>
                </a:solidFill>
                <a:latin typeface="Arial"/>
                <a:cs typeface="Arial"/>
              </a:rPr>
              <a:t>If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	</a:t>
            </a:r>
            <a:r>
              <a:rPr sz="2400" i="1" spc="-25" dirty="0">
                <a:solidFill>
                  <a:srgbClr val="E4FFFF"/>
                </a:solidFill>
                <a:latin typeface="Arial"/>
                <a:cs typeface="Arial"/>
              </a:rPr>
              <a:t>the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	motherboard</a:t>
            </a:r>
            <a:r>
              <a:rPr sz="2400" i="1" spc="-1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20" dirty="0">
                <a:solidFill>
                  <a:srgbClr val="E4FFFF"/>
                </a:solidFill>
                <a:latin typeface="Arial"/>
                <a:cs typeface="Arial"/>
              </a:rPr>
              <a:t>have</a:t>
            </a:r>
            <a:endParaRPr sz="2400">
              <a:latin typeface="Arial"/>
              <a:cs typeface="Arial"/>
            </a:endParaRPr>
          </a:p>
          <a:p>
            <a:pPr marL="12700" marR="4686935" indent="83820">
              <a:lnSpc>
                <a:spcPct val="100000"/>
              </a:lnSpc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the</a:t>
            </a:r>
            <a:r>
              <a:rPr sz="2400" i="1" spc="-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0" dirty="0">
                <a:solidFill>
                  <a:srgbClr val="E4FFFF"/>
                </a:solidFill>
                <a:latin typeface="Arial"/>
                <a:cs typeface="Arial"/>
              </a:rPr>
              <a:t>SATA</a:t>
            </a:r>
            <a:r>
              <a:rPr sz="2400" i="1" spc="-9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connectors/sockets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as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shown</a:t>
            </a:r>
            <a:r>
              <a:rPr sz="24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the</a:t>
            </a:r>
            <a:r>
              <a:rPr sz="24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picture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200" y="3886199"/>
            <a:ext cx="48768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0335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SATA </a:t>
            </a:r>
            <a:r>
              <a:rPr dirty="0"/>
              <a:t>HDD</a:t>
            </a:r>
            <a:r>
              <a:rPr spc="-10" dirty="0"/>
              <a:t> </a:t>
            </a:r>
            <a:r>
              <a:rPr dirty="0"/>
              <a:t>power</a:t>
            </a:r>
            <a:r>
              <a:rPr spc="-15" dirty="0"/>
              <a:t> </a:t>
            </a:r>
            <a:r>
              <a:rPr spc="-10" dirty="0"/>
              <a:t>connector</a:t>
            </a:r>
            <a:r>
              <a:rPr sz="1200" i="0" u="none" spc="-10" dirty="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838200"/>
            <a:ext cx="3810000" cy="28742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80228" y="3990213"/>
            <a:ext cx="8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u="sng" spc="-5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45051" y="1468577"/>
            <a:ext cx="464693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1" u="sng" spc="-13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SATA </a:t>
            </a:r>
            <a:r>
              <a:rPr sz="3200" i="1" u="sng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Data</a:t>
            </a:r>
            <a:r>
              <a:rPr sz="3200" i="1" u="sng" spc="-2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 </a:t>
            </a:r>
            <a:r>
              <a:rPr sz="3200" i="1" u="sng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cable</a:t>
            </a:r>
            <a:r>
              <a:rPr sz="3200" i="1" u="sng" spc="-3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 </a:t>
            </a:r>
            <a:r>
              <a:rPr sz="3200" i="1" u="sng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for </a:t>
            </a:r>
            <a:r>
              <a:rPr sz="3200" i="1" u="sng" spc="-25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HDD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14800" y="236220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508762"/>
            <a:ext cx="79489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u="sng" spc="-30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 </a:t>
            </a:r>
            <a:r>
              <a:rPr b="1" u="sng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SCSI</a:t>
            </a:r>
            <a:r>
              <a:rPr b="1" u="sng" spc="-25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 </a:t>
            </a:r>
            <a:r>
              <a:rPr b="1" u="sng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(Small</a:t>
            </a:r>
            <a:r>
              <a:rPr b="1" u="sng" spc="-20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 </a:t>
            </a:r>
            <a:r>
              <a:rPr b="1" u="sng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Computer</a:t>
            </a:r>
            <a:r>
              <a:rPr b="1" u="sng" spc="-55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 </a:t>
            </a:r>
            <a:r>
              <a:rPr b="1" u="sng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System</a:t>
            </a:r>
            <a:r>
              <a:rPr b="1" u="sng" spc="-40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 </a:t>
            </a:r>
            <a:r>
              <a:rPr b="1" u="sng" spc="-10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Interface)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23875" indent="-282575">
              <a:lnSpc>
                <a:spcPct val="100000"/>
              </a:lnSpc>
              <a:spcBef>
                <a:spcPts val="130"/>
              </a:spcBef>
              <a:buSzPct val="96000"/>
              <a:buAutoNum type="arabicPeriod"/>
              <a:tabLst>
                <a:tab pos="523875" algn="l"/>
              </a:tabLst>
            </a:pPr>
            <a:r>
              <a:rPr dirty="0"/>
              <a:t>It</a:t>
            </a:r>
            <a:r>
              <a:rPr spc="-145" dirty="0"/>
              <a:t> </a:t>
            </a:r>
            <a:r>
              <a:rPr spc="-25" dirty="0"/>
              <a:t>has</a:t>
            </a:r>
            <a:r>
              <a:rPr spc="-155" dirty="0"/>
              <a:t> </a:t>
            </a:r>
            <a:r>
              <a:rPr dirty="0"/>
              <a:t>a</a:t>
            </a:r>
            <a:r>
              <a:rPr spc="-140" dirty="0"/>
              <a:t> </a:t>
            </a:r>
            <a:r>
              <a:rPr dirty="0"/>
              <a:t>50</a:t>
            </a:r>
            <a:r>
              <a:rPr spc="-135" dirty="0"/>
              <a:t> </a:t>
            </a:r>
            <a:r>
              <a:rPr dirty="0"/>
              <a:t>or</a:t>
            </a:r>
            <a:r>
              <a:rPr spc="-150" dirty="0"/>
              <a:t> </a:t>
            </a:r>
            <a:r>
              <a:rPr dirty="0"/>
              <a:t>68</a:t>
            </a:r>
            <a:r>
              <a:rPr spc="-140" dirty="0"/>
              <a:t> </a:t>
            </a:r>
            <a:r>
              <a:rPr dirty="0"/>
              <a:t>pin</a:t>
            </a:r>
            <a:r>
              <a:rPr spc="-140" dirty="0"/>
              <a:t> </a:t>
            </a:r>
            <a:r>
              <a:rPr spc="-10" dirty="0"/>
              <a:t>connector.</a:t>
            </a:r>
          </a:p>
          <a:p>
            <a:pPr marL="461645" indent="-282575">
              <a:lnSpc>
                <a:spcPts val="2965"/>
              </a:lnSpc>
              <a:spcBef>
                <a:spcPts val="45"/>
              </a:spcBef>
              <a:buSzPct val="96000"/>
              <a:buAutoNum type="arabicPeriod"/>
              <a:tabLst>
                <a:tab pos="461645" algn="l"/>
              </a:tabLst>
            </a:pPr>
            <a:r>
              <a:rPr spc="-20" dirty="0"/>
              <a:t>The</a:t>
            </a:r>
            <a:r>
              <a:rPr spc="-170" dirty="0"/>
              <a:t> </a:t>
            </a:r>
            <a:r>
              <a:rPr spc="-30" dirty="0"/>
              <a:t>data</a:t>
            </a:r>
            <a:r>
              <a:rPr spc="-135" dirty="0"/>
              <a:t> </a:t>
            </a:r>
            <a:r>
              <a:rPr spc="-60" dirty="0"/>
              <a:t>transfer</a:t>
            </a:r>
            <a:r>
              <a:rPr spc="-135" dirty="0"/>
              <a:t> </a:t>
            </a:r>
            <a:r>
              <a:rPr spc="-25" dirty="0"/>
              <a:t>rate</a:t>
            </a:r>
            <a:r>
              <a:rPr spc="-145" dirty="0"/>
              <a:t> </a:t>
            </a:r>
            <a:r>
              <a:rPr dirty="0"/>
              <a:t>is</a:t>
            </a:r>
            <a:r>
              <a:rPr spc="-140" dirty="0"/>
              <a:t> </a:t>
            </a:r>
            <a:r>
              <a:rPr spc="-40" dirty="0"/>
              <a:t>600Mb/s</a:t>
            </a:r>
            <a:r>
              <a:rPr spc="-130" dirty="0"/>
              <a:t> </a:t>
            </a:r>
            <a:r>
              <a:rPr spc="-50" dirty="0"/>
              <a:t>.</a:t>
            </a:r>
          </a:p>
          <a:p>
            <a:pPr marL="12700" marR="207010" indent="422909">
              <a:lnSpc>
                <a:spcPts val="2880"/>
              </a:lnSpc>
              <a:spcBef>
                <a:spcPts val="65"/>
              </a:spcBef>
              <a:buSzPct val="95833"/>
              <a:buAutoNum type="arabicPeriod"/>
              <a:tabLst>
                <a:tab pos="435609" algn="l"/>
              </a:tabLst>
            </a:pP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These</a:t>
            </a:r>
            <a:r>
              <a:rPr sz="2400" i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require</a:t>
            </a:r>
            <a:r>
              <a:rPr sz="2400" i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i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SCSI</a:t>
            </a:r>
            <a:r>
              <a:rPr sz="2400" i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adapter</a:t>
            </a:r>
            <a:r>
              <a:rPr sz="2400" i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card</a:t>
            </a:r>
            <a:r>
              <a:rPr sz="2400" i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connected</a:t>
            </a:r>
            <a:r>
              <a:rPr sz="2400" i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spc="-20" dirty="0">
                <a:solidFill>
                  <a:srgbClr val="FFFFFF"/>
                </a:solidFill>
                <a:latin typeface="Arial"/>
                <a:cs typeface="Arial"/>
              </a:rPr>
              <a:t>into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4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FFFFFF"/>
                </a:solidFill>
                <a:latin typeface="Arial"/>
                <a:cs typeface="Arial"/>
              </a:rPr>
              <a:t>system.</a:t>
            </a:r>
            <a:endParaRPr sz="2400">
              <a:latin typeface="Arial"/>
              <a:cs typeface="Arial"/>
            </a:endParaRPr>
          </a:p>
          <a:p>
            <a:pPr marL="12700" marR="5080" indent="422909">
              <a:lnSpc>
                <a:spcPts val="2880"/>
              </a:lnSpc>
              <a:buSzPct val="95833"/>
              <a:buAutoNum type="arabicPeriod"/>
              <a:tabLst>
                <a:tab pos="435609" algn="l"/>
              </a:tabLst>
            </a:pP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Nowadays,</a:t>
            </a:r>
            <a:r>
              <a:rPr sz="2400" i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most</a:t>
            </a:r>
            <a:r>
              <a:rPr sz="2400" i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desktop</a:t>
            </a:r>
            <a:r>
              <a:rPr sz="2400" i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computers</a:t>
            </a:r>
            <a:r>
              <a:rPr sz="2400" i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did</a:t>
            </a:r>
            <a:r>
              <a:rPr sz="2400" i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sz="2400" i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sz="2400" i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spc="-2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i="1" spc="-10" dirty="0">
                <a:solidFill>
                  <a:srgbClr val="FFFFFF"/>
                </a:solidFill>
                <a:latin typeface="Arial"/>
                <a:cs typeface="Arial"/>
              </a:rPr>
              <a:t>SCSI.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Main</a:t>
            </a:r>
            <a:r>
              <a:rPr spc="-35" dirty="0"/>
              <a:t> </a:t>
            </a:r>
            <a:r>
              <a:rPr dirty="0"/>
              <a:t>Problem</a:t>
            </a:r>
            <a:r>
              <a:rPr spc="-35" dirty="0"/>
              <a:t> </a:t>
            </a:r>
            <a:r>
              <a:rPr dirty="0"/>
              <a:t>Created</a:t>
            </a:r>
            <a:r>
              <a:rPr spc="-4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spc="-25" dirty="0"/>
              <a:t>HDD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999490"/>
            <a:ext cx="7220584" cy="3013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255" indent="-133350">
              <a:lnSpc>
                <a:spcPct val="100000"/>
              </a:lnSpc>
              <a:spcBef>
                <a:spcPts val="95"/>
              </a:spcBef>
              <a:buSzPct val="96428"/>
              <a:buFont typeface="Arial"/>
              <a:buChar char="•"/>
              <a:tabLst>
                <a:tab pos="135255" algn="l"/>
              </a:tabLst>
            </a:pPr>
            <a:r>
              <a:rPr sz="2800" i="1" dirty="0">
                <a:solidFill>
                  <a:srgbClr val="E4FFFF"/>
                </a:solidFill>
                <a:latin typeface="Arial"/>
                <a:cs typeface="Arial"/>
              </a:rPr>
              <a:t>No</a:t>
            </a:r>
            <a:r>
              <a:rPr sz="2800" i="1" spc="-6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E4FFFF"/>
                </a:solidFill>
                <a:latin typeface="Arial"/>
                <a:cs typeface="Arial"/>
              </a:rPr>
              <a:t>Operating</a:t>
            </a:r>
            <a:r>
              <a:rPr sz="2800" i="1" spc="-7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E4FFFF"/>
                </a:solidFill>
                <a:latin typeface="Arial"/>
                <a:cs typeface="Arial"/>
              </a:rPr>
              <a:t>System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E4FFFF"/>
              </a:buClr>
              <a:buFont typeface="Arial"/>
              <a:buChar char="•"/>
            </a:pPr>
            <a:endParaRPr sz="2800">
              <a:latin typeface="Arial"/>
              <a:cs typeface="Arial"/>
            </a:endParaRPr>
          </a:p>
          <a:p>
            <a:pPr marL="1094740">
              <a:lnSpc>
                <a:spcPct val="100000"/>
              </a:lnSpc>
              <a:spcBef>
                <a:spcPts val="5"/>
              </a:spcBef>
            </a:pPr>
            <a:r>
              <a:rPr sz="2800" i="1" dirty="0">
                <a:solidFill>
                  <a:srgbClr val="E4FFFF"/>
                </a:solidFill>
                <a:latin typeface="Arial"/>
                <a:cs typeface="Arial"/>
              </a:rPr>
              <a:t>(No</a:t>
            </a:r>
            <a:r>
              <a:rPr sz="28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E4FFFF"/>
                </a:solidFill>
                <a:latin typeface="Arial"/>
                <a:cs typeface="Arial"/>
              </a:rPr>
              <a:t>operating</a:t>
            </a:r>
            <a:r>
              <a:rPr sz="28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E4FFFF"/>
                </a:solidFill>
                <a:latin typeface="Arial"/>
                <a:cs typeface="Arial"/>
              </a:rPr>
              <a:t>system</a:t>
            </a:r>
            <a:r>
              <a:rPr sz="2800" i="1" spc="-6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E4FFFF"/>
                </a:solidFill>
                <a:latin typeface="Arial"/>
                <a:cs typeface="Arial"/>
              </a:rPr>
              <a:t>in</a:t>
            </a:r>
            <a:r>
              <a:rPr sz="2800" i="1" spc="-6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E4FFFF"/>
                </a:solidFill>
                <a:latin typeface="Arial"/>
                <a:cs typeface="Arial"/>
              </a:rPr>
              <a:t>Hard</a:t>
            </a:r>
            <a:r>
              <a:rPr sz="28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E4FFFF"/>
                </a:solidFill>
                <a:latin typeface="Arial"/>
                <a:cs typeface="Arial"/>
              </a:rPr>
              <a:t>Disk)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800">
              <a:latin typeface="Arial"/>
              <a:cs typeface="Arial"/>
            </a:endParaRPr>
          </a:p>
          <a:p>
            <a:pPr marL="135255" indent="-133350">
              <a:lnSpc>
                <a:spcPct val="100000"/>
              </a:lnSpc>
              <a:spcBef>
                <a:spcPts val="5"/>
              </a:spcBef>
              <a:buSzPct val="96428"/>
              <a:buFont typeface="Arial"/>
              <a:buChar char="•"/>
              <a:tabLst>
                <a:tab pos="135255" algn="l"/>
              </a:tabLst>
            </a:pPr>
            <a:r>
              <a:rPr sz="2800" i="1" dirty="0">
                <a:solidFill>
                  <a:srgbClr val="E4FFFF"/>
                </a:solidFill>
                <a:latin typeface="Arial"/>
                <a:cs typeface="Arial"/>
              </a:rPr>
              <a:t>Disk</a:t>
            </a:r>
            <a:r>
              <a:rPr sz="28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E4FFFF"/>
                </a:solidFill>
                <a:latin typeface="Arial"/>
                <a:cs typeface="Arial"/>
              </a:rPr>
              <a:t>boot</a:t>
            </a:r>
            <a:r>
              <a:rPr sz="28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E4FFFF"/>
                </a:solidFill>
                <a:latin typeface="Arial"/>
                <a:cs typeface="Arial"/>
              </a:rPr>
              <a:t>Failure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800">
              <a:latin typeface="Arial"/>
              <a:cs typeface="Arial"/>
            </a:endParaRPr>
          </a:p>
          <a:p>
            <a:pPr marL="1094740">
              <a:lnSpc>
                <a:spcPct val="100000"/>
              </a:lnSpc>
            </a:pPr>
            <a:r>
              <a:rPr sz="2800" i="1" dirty="0">
                <a:solidFill>
                  <a:srgbClr val="E4FFFF"/>
                </a:solidFill>
                <a:latin typeface="Arial"/>
                <a:cs typeface="Arial"/>
              </a:rPr>
              <a:t>(Cable</a:t>
            </a:r>
            <a:r>
              <a:rPr sz="28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E4FFFF"/>
                </a:solidFill>
                <a:latin typeface="Arial"/>
                <a:cs typeface="Arial"/>
              </a:rPr>
              <a:t>Problem)</a:t>
            </a:r>
            <a:r>
              <a:rPr sz="28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E4FFFF"/>
                </a:solidFill>
                <a:latin typeface="Arial"/>
                <a:cs typeface="Arial"/>
              </a:rPr>
              <a:t>OR</a:t>
            </a:r>
            <a:r>
              <a:rPr sz="2800" i="1" spc="-6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E4FFFF"/>
                </a:solidFill>
                <a:latin typeface="Arial"/>
                <a:cs typeface="Arial"/>
              </a:rPr>
              <a:t>(HDD</a:t>
            </a:r>
            <a:r>
              <a:rPr sz="28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E4FFFF"/>
                </a:solidFill>
                <a:latin typeface="Arial"/>
                <a:cs typeface="Arial"/>
              </a:rPr>
              <a:t>Not</a:t>
            </a:r>
            <a:r>
              <a:rPr sz="2800" i="1" spc="-7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E4FFFF"/>
                </a:solidFill>
                <a:latin typeface="Arial"/>
                <a:cs typeface="Arial"/>
              </a:rPr>
              <a:t>Detect)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00"/>
              </a:spcBef>
            </a:pPr>
            <a:r>
              <a:rPr dirty="0"/>
              <a:t>HDD</a:t>
            </a:r>
            <a:r>
              <a:rPr spc="-20" dirty="0"/>
              <a:t> </a:t>
            </a:r>
            <a:r>
              <a:rPr dirty="0"/>
              <a:t>Capacity</a:t>
            </a:r>
            <a:r>
              <a:rPr spc="-2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Size</a:t>
            </a:r>
            <a:r>
              <a:rPr spc="-5" dirty="0"/>
              <a:t> </a:t>
            </a:r>
            <a:r>
              <a:rPr spc="-10" dirty="0"/>
              <a:t>Information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877570"/>
            <a:ext cx="871918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448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When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pure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chasing</a:t>
            </a:r>
            <a:r>
              <a:rPr sz="2400" i="1" spc="-3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a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hard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disk</a:t>
            </a:r>
            <a:r>
              <a:rPr sz="24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drive,</a:t>
            </a:r>
            <a:r>
              <a:rPr sz="2400" i="1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the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term</a:t>
            </a:r>
            <a:r>
              <a:rPr sz="2400" i="1" spc="-7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megabytes,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gigabytes</a:t>
            </a:r>
            <a:r>
              <a:rPr sz="24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or</a:t>
            </a:r>
            <a:r>
              <a:rPr sz="24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terabytes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may</a:t>
            </a:r>
            <a:r>
              <a:rPr sz="24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be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confusing</a:t>
            </a:r>
            <a:r>
              <a:rPr sz="2400" i="1" spc="-2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terms.</a:t>
            </a:r>
            <a:r>
              <a:rPr sz="24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The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following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table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gives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you</a:t>
            </a:r>
            <a:r>
              <a:rPr sz="2400" i="1" spc="-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an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example</a:t>
            </a:r>
            <a:r>
              <a:rPr sz="2400" i="1" spc="-1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of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each</a:t>
            </a:r>
            <a:r>
              <a:rPr sz="2400" i="1" spc="-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of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these</a:t>
            </a:r>
            <a:r>
              <a:rPr sz="2400" i="1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terms</a:t>
            </a:r>
            <a:r>
              <a:rPr sz="2400" i="1" spc="-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and</a:t>
            </a:r>
            <a:r>
              <a:rPr sz="2400" i="1" spc="-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how</a:t>
            </a:r>
            <a:r>
              <a:rPr sz="2400" i="1" spc="-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20" dirty="0">
                <a:solidFill>
                  <a:srgbClr val="E4FFFF"/>
                </a:solidFill>
                <a:latin typeface="Arial"/>
                <a:cs typeface="Arial"/>
              </a:rPr>
              <a:t>they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compare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to</a:t>
            </a:r>
            <a:r>
              <a:rPr sz="2400" i="1" spc="-6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other</a:t>
            </a:r>
            <a:r>
              <a:rPr sz="2400" i="1" spc="-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sizes.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420111"/>
            <a:ext cx="9144000" cy="4438015"/>
            <a:chOff x="0" y="2420111"/>
            <a:chExt cx="9144000" cy="4438015"/>
          </a:xfrm>
        </p:grpSpPr>
        <p:sp>
          <p:nvSpPr>
            <p:cNvPr id="5" name="object 5"/>
            <p:cNvSpPr/>
            <p:nvPr/>
          </p:nvSpPr>
          <p:spPr>
            <a:xfrm>
              <a:off x="0" y="2438463"/>
              <a:ext cx="9144000" cy="4419600"/>
            </a:xfrm>
            <a:custGeom>
              <a:avLst/>
              <a:gdLst/>
              <a:ahLst/>
              <a:cxnLst/>
              <a:rect l="l" t="t" r="r" b="b"/>
              <a:pathLst>
                <a:path w="9144000" h="4419600">
                  <a:moveTo>
                    <a:pt x="9144000" y="3894086"/>
                  </a:moveTo>
                  <a:lnTo>
                    <a:pt x="2209800" y="3894086"/>
                  </a:lnTo>
                  <a:lnTo>
                    <a:pt x="0" y="3894086"/>
                  </a:lnTo>
                  <a:lnTo>
                    <a:pt x="0" y="4419536"/>
                  </a:lnTo>
                  <a:lnTo>
                    <a:pt x="2209800" y="4419536"/>
                  </a:lnTo>
                  <a:lnTo>
                    <a:pt x="9144000" y="4419536"/>
                  </a:lnTo>
                  <a:lnTo>
                    <a:pt x="9144000" y="3894086"/>
                  </a:lnTo>
                  <a:close/>
                </a:path>
                <a:path w="9144000" h="4419600">
                  <a:moveTo>
                    <a:pt x="9144000" y="1574800"/>
                  </a:moveTo>
                  <a:lnTo>
                    <a:pt x="2209800" y="1574800"/>
                  </a:lnTo>
                  <a:lnTo>
                    <a:pt x="0" y="1574800"/>
                  </a:lnTo>
                  <a:lnTo>
                    <a:pt x="0" y="2471737"/>
                  </a:lnTo>
                  <a:lnTo>
                    <a:pt x="0" y="2995549"/>
                  </a:lnTo>
                  <a:lnTo>
                    <a:pt x="0" y="3894074"/>
                  </a:lnTo>
                  <a:lnTo>
                    <a:pt x="2209800" y="3894074"/>
                  </a:lnTo>
                  <a:lnTo>
                    <a:pt x="9144000" y="3894074"/>
                  </a:lnTo>
                  <a:lnTo>
                    <a:pt x="9144000" y="2995612"/>
                  </a:lnTo>
                  <a:lnTo>
                    <a:pt x="9144000" y="2471737"/>
                  </a:lnTo>
                  <a:lnTo>
                    <a:pt x="9144000" y="1574800"/>
                  </a:lnTo>
                  <a:close/>
                </a:path>
                <a:path w="9144000" h="4419600">
                  <a:moveTo>
                    <a:pt x="9144000" y="1052449"/>
                  </a:moveTo>
                  <a:lnTo>
                    <a:pt x="2209800" y="1052449"/>
                  </a:lnTo>
                  <a:lnTo>
                    <a:pt x="0" y="1052449"/>
                  </a:lnTo>
                  <a:lnTo>
                    <a:pt x="0" y="1574736"/>
                  </a:lnTo>
                  <a:lnTo>
                    <a:pt x="2209800" y="1574736"/>
                  </a:lnTo>
                  <a:lnTo>
                    <a:pt x="9144000" y="1574736"/>
                  </a:lnTo>
                  <a:lnTo>
                    <a:pt x="9144000" y="1052449"/>
                  </a:lnTo>
                  <a:close/>
                </a:path>
                <a:path w="9144000" h="4419600">
                  <a:moveTo>
                    <a:pt x="9144000" y="0"/>
                  </a:moveTo>
                  <a:lnTo>
                    <a:pt x="2209800" y="0"/>
                  </a:lnTo>
                  <a:lnTo>
                    <a:pt x="0" y="0"/>
                  </a:lnTo>
                  <a:lnTo>
                    <a:pt x="0" y="525335"/>
                  </a:lnTo>
                  <a:lnTo>
                    <a:pt x="0" y="525462"/>
                  </a:lnTo>
                  <a:lnTo>
                    <a:pt x="0" y="1052385"/>
                  </a:lnTo>
                  <a:lnTo>
                    <a:pt x="2209800" y="1052385"/>
                  </a:lnTo>
                  <a:lnTo>
                    <a:pt x="9144000" y="1052385"/>
                  </a:lnTo>
                  <a:lnTo>
                    <a:pt x="9144000" y="525462"/>
                  </a:lnTo>
                  <a:lnTo>
                    <a:pt x="9144000" y="52533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433700"/>
              <a:ext cx="9144000" cy="4424680"/>
            </a:xfrm>
            <a:custGeom>
              <a:avLst/>
              <a:gdLst/>
              <a:ahLst/>
              <a:cxnLst/>
              <a:rect l="l" t="t" r="r" b="b"/>
              <a:pathLst>
                <a:path w="9144000" h="4424680">
                  <a:moveTo>
                    <a:pt x="9144000" y="525335"/>
                  </a:moveTo>
                  <a:lnTo>
                    <a:pt x="2214562" y="525335"/>
                  </a:lnTo>
                  <a:lnTo>
                    <a:pt x="2214562" y="0"/>
                  </a:lnTo>
                  <a:lnTo>
                    <a:pt x="2205037" y="0"/>
                  </a:lnTo>
                  <a:lnTo>
                    <a:pt x="2205037" y="525335"/>
                  </a:lnTo>
                  <a:lnTo>
                    <a:pt x="0" y="525335"/>
                  </a:lnTo>
                  <a:lnTo>
                    <a:pt x="0" y="534860"/>
                  </a:lnTo>
                  <a:lnTo>
                    <a:pt x="2205037" y="534860"/>
                  </a:lnTo>
                  <a:lnTo>
                    <a:pt x="2205037" y="1052385"/>
                  </a:lnTo>
                  <a:lnTo>
                    <a:pt x="0" y="1052385"/>
                  </a:lnTo>
                  <a:lnTo>
                    <a:pt x="0" y="1061910"/>
                  </a:lnTo>
                  <a:lnTo>
                    <a:pt x="2205037" y="1061910"/>
                  </a:lnTo>
                  <a:lnTo>
                    <a:pt x="2205037" y="1574736"/>
                  </a:lnTo>
                  <a:lnTo>
                    <a:pt x="0" y="1574736"/>
                  </a:lnTo>
                  <a:lnTo>
                    <a:pt x="0" y="1584261"/>
                  </a:lnTo>
                  <a:lnTo>
                    <a:pt x="2205037" y="1584261"/>
                  </a:lnTo>
                  <a:lnTo>
                    <a:pt x="2205037" y="2995612"/>
                  </a:lnTo>
                  <a:lnTo>
                    <a:pt x="0" y="2995612"/>
                  </a:lnTo>
                  <a:lnTo>
                    <a:pt x="0" y="3005137"/>
                  </a:lnTo>
                  <a:lnTo>
                    <a:pt x="2205037" y="3005137"/>
                  </a:lnTo>
                  <a:lnTo>
                    <a:pt x="2205037" y="4424299"/>
                  </a:lnTo>
                  <a:lnTo>
                    <a:pt x="2214562" y="4424299"/>
                  </a:lnTo>
                  <a:lnTo>
                    <a:pt x="2214562" y="3005137"/>
                  </a:lnTo>
                  <a:lnTo>
                    <a:pt x="9144000" y="3005137"/>
                  </a:lnTo>
                  <a:lnTo>
                    <a:pt x="9144000" y="2995612"/>
                  </a:lnTo>
                  <a:lnTo>
                    <a:pt x="2214562" y="2995612"/>
                  </a:lnTo>
                  <a:lnTo>
                    <a:pt x="2214562" y="1584261"/>
                  </a:lnTo>
                  <a:lnTo>
                    <a:pt x="9144000" y="1584261"/>
                  </a:lnTo>
                  <a:lnTo>
                    <a:pt x="9144000" y="1574736"/>
                  </a:lnTo>
                  <a:lnTo>
                    <a:pt x="2214562" y="1574736"/>
                  </a:lnTo>
                  <a:lnTo>
                    <a:pt x="2214562" y="1061910"/>
                  </a:lnTo>
                  <a:lnTo>
                    <a:pt x="9144000" y="1061910"/>
                  </a:lnTo>
                  <a:lnTo>
                    <a:pt x="9144000" y="1052385"/>
                  </a:lnTo>
                  <a:lnTo>
                    <a:pt x="2214562" y="1052385"/>
                  </a:lnTo>
                  <a:lnTo>
                    <a:pt x="2214562" y="534860"/>
                  </a:lnTo>
                  <a:lnTo>
                    <a:pt x="9144000" y="534860"/>
                  </a:lnTo>
                  <a:lnTo>
                    <a:pt x="9144000" y="5253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880" y="2420111"/>
              <a:ext cx="1106424" cy="67970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1664" y="2420111"/>
              <a:ext cx="1514856" cy="6797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2945891"/>
              <a:ext cx="696468" cy="67970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10739" y="2945891"/>
              <a:ext cx="1144524" cy="67970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3470147"/>
              <a:ext cx="1833372" cy="67970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10739" y="3470147"/>
              <a:ext cx="1642872" cy="6797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4180332"/>
              <a:ext cx="899160" cy="67970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10739" y="3997451"/>
              <a:ext cx="6481571" cy="67970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10739" y="4363211"/>
              <a:ext cx="1795272" cy="67970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4890516"/>
              <a:ext cx="2069592" cy="67970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10739" y="4890516"/>
              <a:ext cx="1845564" cy="67970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0" y="5602223"/>
              <a:ext cx="2289048" cy="67970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10739" y="5602223"/>
              <a:ext cx="4843271" cy="67970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0" y="6313930"/>
              <a:ext cx="2138172" cy="54406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10739" y="6313930"/>
              <a:ext cx="5623560" cy="544069"/>
            </a:xfrm>
            <a:prstGeom prst="rect">
              <a:avLst/>
            </a:prstGeom>
          </p:spPr>
        </p:pic>
      </p:grp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0" y="2433637"/>
          <a:ext cx="9439910" cy="44138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8200"/>
                <a:gridCol w="2552700"/>
                <a:gridCol w="4697095"/>
              </a:tblGrid>
              <a:tr h="584200">
                <a:tc>
                  <a:txBody>
                    <a:bodyPr/>
                    <a:lstStyle/>
                    <a:p>
                      <a:pPr marL="75120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Term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 marR="213360">
                        <a:lnSpc>
                          <a:spcPct val="100000"/>
                        </a:lnSpc>
                        <a:spcBef>
                          <a:spcPts val="193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90500" marR="2133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 or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4511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 marL="67818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Equal</a:t>
                      </a:r>
                      <a:r>
                        <a:rPr sz="2400" b="1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52451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Bit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511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985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525145">
                <a:tc rowSpan="2"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Kb(Kilobit)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90500" marR="21336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1,024 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bits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908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rowSpan="3" gridSpan="2">
                  <a:txBody>
                    <a:bodyPr/>
                    <a:lstStyle/>
                    <a:p>
                      <a:pPr marL="190500" marR="83185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bits</a:t>
                      </a:r>
                      <a:r>
                        <a:rPr sz="2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(approximately</a:t>
                      </a:r>
                      <a:r>
                        <a:rPr sz="24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sz="2400" b="1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character</a:t>
                      </a:r>
                      <a:r>
                        <a:rPr sz="2400" b="1" spc="-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2400" b="1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Word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document)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72517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24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Byte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0">
                <a:tc rowSpan="2"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KB(Kilobyte)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19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00" marR="21336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1,024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bytes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727075">
                <a:tc gridSpan="2"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825"/>
                        </a:spcBef>
                        <a:tabLst>
                          <a:tab pos="2298700" algn="l"/>
                        </a:tabLst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MB(Megabyte)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1,024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Kilobytes</a:t>
                      </a:r>
                      <a:r>
                        <a:rPr sz="24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765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1,048,576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Bytes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0477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165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GB(Gigabyte)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1,024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Megabytes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1,073,741, 824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Bytes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4196080"/>
          </a:xfrm>
          <a:custGeom>
            <a:avLst/>
            <a:gdLst/>
            <a:ahLst/>
            <a:cxnLst/>
            <a:rect l="l" t="t" r="r" b="b"/>
            <a:pathLst>
              <a:path w="9144000" h="4196080">
                <a:moveTo>
                  <a:pt x="9144000" y="1431988"/>
                </a:moveTo>
                <a:lnTo>
                  <a:pt x="2057400" y="1431988"/>
                </a:lnTo>
                <a:lnTo>
                  <a:pt x="0" y="1431988"/>
                </a:lnTo>
                <a:lnTo>
                  <a:pt x="0" y="2354326"/>
                </a:lnTo>
                <a:lnTo>
                  <a:pt x="0" y="3274949"/>
                </a:lnTo>
                <a:lnTo>
                  <a:pt x="0" y="3275076"/>
                </a:lnTo>
                <a:lnTo>
                  <a:pt x="0" y="4195699"/>
                </a:lnTo>
                <a:lnTo>
                  <a:pt x="2057400" y="4195699"/>
                </a:lnTo>
                <a:lnTo>
                  <a:pt x="9144000" y="4195699"/>
                </a:lnTo>
                <a:lnTo>
                  <a:pt x="9144000" y="3275076"/>
                </a:lnTo>
                <a:lnTo>
                  <a:pt x="9144000" y="3274949"/>
                </a:lnTo>
                <a:lnTo>
                  <a:pt x="9144000" y="2354326"/>
                </a:lnTo>
                <a:lnTo>
                  <a:pt x="9144000" y="1431988"/>
                </a:lnTo>
                <a:close/>
              </a:path>
              <a:path w="9144000" h="4196080">
                <a:moveTo>
                  <a:pt x="9144000" y="0"/>
                </a:moveTo>
                <a:lnTo>
                  <a:pt x="2057400" y="0"/>
                </a:lnTo>
                <a:lnTo>
                  <a:pt x="0" y="0"/>
                </a:lnTo>
                <a:lnTo>
                  <a:pt x="0" y="920750"/>
                </a:lnTo>
                <a:lnTo>
                  <a:pt x="0" y="1431925"/>
                </a:lnTo>
                <a:lnTo>
                  <a:pt x="2057400" y="1431925"/>
                </a:lnTo>
                <a:lnTo>
                  <a:pt x="9144000" y="1431925"/>
                </a:lnTo>
                <a:lnTo>
                  <a:pt x="9144000" y="920750"/>
                </a:lnTo>
                <a:lnTo>
                  <a:pt x="9144000" y="0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0" y="-2381"/>
          <a:ext cx="9220200" cy="41922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4860"/>
                <a:gridCol w="7084059"/>
              </a:tblGrid>
              <a:tr h="91821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080"/>
                        </a:spcBef>
                      </a:pPr>
                      <a:r>
                        <a:rPr sz="24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TB(Terabyte)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4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5959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80"/>
                        </a:spcBef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1,024</a:t>
                      </a:r>
                      <a:r>
                        <a:rPr sz="2400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Gigabytes</a:t>
                      </a:r>
                      <a:r>
                        <a:rPr sz="2400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400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1,099,511,627,776</a:t>
                      </a:r>
                      <a:r>
                        <a:rPr sz="2400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Bytes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4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59595"/>
                    </a:solidFill>
                  </a:tcPr>
                </a:tc>
              </a:tr>
              <a:tr h="51117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24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PB(Petabyte)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222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5959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1,024</a:t>
                      </a:r>
                      <a:r>
                        <a:rPr sz="2400" spc="-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Terabytes</a:t>
                      </a:r>
                      <a:r>
                        <a:rPr sz="24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4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about</a:t>
                      </a:r>
                      <a:r>
                        <a:rPr sz="2400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1,000,000,000,000,000</a:t>
                      </a:r>
                      <a:r>
                        <a:rPr sz="24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Bytes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222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59595"/>
                    </a:solidFill>
                  </a:tcPr>
                </a:tc>
              </a:tr>
              <a:tr h="922019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110"/>
                        </a:spcBef>
                      </a:pPr>
                      <a:r>
                        <a:rPr sz="24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EB(Exabyte)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7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5959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4483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1,024</a:t>
                      </a:r>
                      <a:r>
                        <a:rPr sz="24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Petabytes</a:t>
                      </a:r>
                      <a:r>
                        <a:rPr sz="2400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4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about</a:t>
                      </a:r>
                      <a:r>
                        <a:rPr sz="24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1,000,000,000,000,000,000 Bytes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59595"/>
                    </a:solidFill>
                  </a:tcPr>
                </a:tc>
              </a:tr>
              <a:tr h="9207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105"/>
                        </a:spcBef>
                      </a:pPr>
                      <a:r>
                        <a:rPr sz="24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ZB(Zetabyte)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7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5959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1,024</a:t>
                      </a:r>
                      <a:r>
                        <a:rPr sz="24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Exabytes</a:t>
                      </a:r>
                      <a:r>
                        <a:rPr sz="24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24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about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1,000,000,000,000,000,000,000 </a:t>
                      </a:r>
                      <a:r>
                        <a:rPr sz="24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Bytes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59595"/>
                    </a:solidFill>
                  </a:tcPr>
                </a:tc>
              </a:tr>
              <a:tr h="92011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105"/>
                        </a:spcBef>
                      </a:pPr>
                      <a:r>
                        <a:rPr sz="24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YB(Yottabyte)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7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5959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79451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1,024</a:t>
                      </a:r>
                      <a:r>
                        <a:rPr sz="2400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Zetabytes</a:t>
                      </a:r>
                      <a:r>
                        <a:rPr sz="2400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4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about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1,000,000,000,000,000,000,000,000 </a:t>
                      </a:r>
                      <a:r>
                        <a:rPr sz="24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Bytes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844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59595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8739" y="4428200"/>
            <a:ext cx="8454390" cy="126238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algn="just">
              <a:lnSpc>
                <a:spcPct val="98800"/>
              </a:lnSpc>
              <a:spcBef>
                <a:spcPts val="175"/>
              </a:spcBef>
            </a:pPr>
            <a:r>
              <a:rPr sz="3350" b="1" i="1" spc="-420" dirty="0">
                <a:solidFill>
                  <a:srgbClr val="FFCC00"/>
                </a:solidFill>
                <a:latin typeface="Verdana"/>
                <a:cs typeface="Verdana"/>
              </a:rPr>
              <a:t>Note:</a:t>
            </a:r>
            <a:r>
              <a:rPr sz="3350" b="1" i="1" spc="135" dirty="0">
                <a:solidFill>
                  <a:srgbClr val="FFCC00"/>
                </a:solidFill>
                <a:latin typeface="Verdana"/>
                <a:cs typeface="Verdana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Example:</a:t>
            </a:r>
            <a:r>
              <a:rPr sz="2400" i="1" spc="-17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1</a:t>
            </a:r>
            <a:r>
              <a:rPr sz="2400" i="1" spc="-16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GB</a:t>
            </a:r>
            <a:r>
              <a:rPr sz="2400" i="1" spc="-15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=</a:t>
            </a:r>
            <a:r>
              <a:rPr sz="2400" i="1" spc="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1,024</a:t>
            </a:r>
            <a:r>
              <a:rPr sz="2400" i="1" spc="3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MB</a:t>
            </a:r>
            <a:r>
              <a:rPr sz="2400" i="1" spc="2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but</a:t>
            </a:r>
            <a:r>
              <a:rPr sz="2400" i="1" spc="2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for</a:t>
            </a:r>
            <a:r>
              <a:rPr sz="2400" i="1" spc="4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easy</a:t>
            </a:r>
            <a:r>
              <a:rPr sz="2400" i="1" spc="3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calculations,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normally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we</a:t>
            </a:r>
            <a:r>
              <a:rPr sz="2400" i="1" spc="-3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just</a:t>
            </a:r>
            <a:r>
              <a:rPr sz="2400" i="1" spc="-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say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1</a:t>
            </a:r>
            <a:r>
              <a:rPr sz="2400" i="1" spc="-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GB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=</a:t>
            </a:r>
            <a:r>
              <a:rPr sz="2400" i="1" spc="-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1,000</a:t>
            </a:r>
            <a:r>
              <a:rPr sz="2400" i="1" spc="-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MB</a:t>
            </a:r>
            <a:r>
              <a:rPr sz="2400" i="1" spc="-5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by</a:t>
            </a:r>
            <a:r>
              <a:rPr sz="2400" i="1" spc="-3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ignoring</a:t>
            </a:r>
            <a:r>
              <a:rPr sz="2400" i="1" spc="-2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24</a:t>
            </a:r>
            <a:r>
              <a:rPr sz="2400" i="1" spc="-2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MB</a:t>
            </a:r>
            <a:r>
              <a:rPr sz="2400" i="1" spc="-4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size.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Also,</a:t>
            </a:r>
            <a:r>
              <a:rPr sz="2400" i="1" spc="-1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1</a:t>
            </a:r>
            <a:r>
              <a:rPr sz="2400" i="1" spc="-1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MB</a:t>
            </a:r>
            <a:r>
              <a:rPr sz="2400" i="1" spc="-2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=</a:t>
            </a:r>
            <a:r>
              <a:rPr sz="2400" i="1" spc="-1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1,000</a:t>
            </a:r>
            <a:r>
              <a:rPr sz="2400" i="1" spc="-10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E4FFFF"/>
                </a:solidFill>
                <a:latin typeface="Arial"/>
                <a:cs typeface="Arial"/>
              </a:rPr>
              <a:t>KB,</a:t>
            </a:r>
            <a:r>
              <a:rPr sz="2400" i="1" spc="-25" dirty="0">
                <a:solidFill>
                  <a:srgbClr val="E4FFFF"/>
                </a:solidFill>
                <a:latin typeface="Arial"/>
                <a:cs typeface="Arial"/>
              </a:rPr>
              <a:t> </a:t>
            </a:r>
            <a:r>
              <a:rPr sz="2400" i="1" spc="-20" dirty="0">
                <a:solidFill>
                  <a:srgbClr val="E4FFFF"/>
                </a:solidFill>
                <a:latin typeface="Arial"/>
                <a:cs typeface="Arial"/>
              </a:rPr>
              <a:t>etc.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3635" y="2127504"/>
            <a:ext cx="7068820" cy="1965960"/>
            <a:chOff x="1043635" y="2127504"/>
            <a:chExt cx="7068820" cy="19659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800" y="3221736"/>
              <a:ext cx="7045452" cy="87172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9731" y="2145792"/>
              <a:ext cx="7030017" cy="17144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49731" y="2133600"/>
              <a:ext cx="7030084" cy="1727200"/>
            </a:xfrm>
            <a:custGeom>
              <a:avLst/>
              <a:gdLst/>
              <a:ahLst/>
              <a:cxnLst/>
              <a:rect l="l" t="t" r="r" b="b"/>
              <a:pathLst>
                <a:path w="7030084" h="1727200">
                  <a:moveTo>
                    <a:pt x="2269032" y="461263"/>
                  </a:moveTo>
                  <a:lnTo>
                    <a:pt x="2249806" y="507531"/>
                  </a:lnTo>
                  <a:lnTo>
                    <a:pt x="2230463" y="553782"/>
                  </a:lnTo>
                  <a:lnTo>
                    <a:pt x="2211002" y="600014"/>
                  </a:lnTo>
                  <a:lnTo>
                    <a:pt x="2191422" y="646230"/>
                  </a:lnTo>
                  <a:lnTo>
                    <a:pt x="2171724" y="692430"/>
                  </a:lnTo>
                  <a:lnTo>
                    <a:pt x="2151906" y="738612"/>
                  </a:lnTo>
                  <a:lnTo>
                    <a:pt x="2131970" y="784779"/>
                  </a:lnTo>
                  <a:lnTo>
                    <a:pt x="2111913" y="830931"/>
                  </a:lnTo>
                  <a:lnTo>
                    <a:pt x="2091737" y="877067"/>
                  </a:lnTo>
                  <a:lnTo>
                    <a:pt x="2071441" y="923188"/>
                  </a:lnTo>
                  <a:lnTo>
                    <a:pt x="2051023" y="969295"/>
                  </a:lnTo>
                  <a:lnTo>
                    <a:pt x="2030485" y="1015387"/>
                  </a:lnTo>
                  <a:lnTo>
                    <a:pt x="2009825" y="1061465"/>
                  </a:lnTo>
                  <a:lnTo>
                    <a:pt x="2050878" y="1061465"/>
                  </a:lnTo>
                  <a:lnTo>
                    <a:pt x="2091931" y="1061465"/>
                  </a:lnTo>
                  <a:lnTo>
                    <a:pt x="2132984" y="1061465"/>
                  </a:lnTo>
                  <a:lnTo>
                    <a:pt x="2174036" y="1061465"/>
                  </a:lnTo>
                  <a:lnTo>
                    <a:pt x="2182000" y="1011459"/>
                  </a:lnTo>
                  <a:lnTo>
                    <a:pt x="2189954" y="961452"/>
                  </a:lnTo>
                  <a:lnTo>
                    <a:pt x="2197898" y="911445"/>
                  </a:lnTo>
                  <a:lnTo>
                    <a:pt x="2205833" y="861436"/>
                  </a:lnTo>
                  <a:lnTo>
                    <a:pt x="2213759" y="811425"/>
                  </a:lnTo>
                  <a:lnTo>
                    <a:pt x="2221677" y="761412"/>
                  </a:lnTo>
                  <a:lnTo>
                    <a:pt x="2229587" y="711397"/>
                  </a:lnTo>
                  <a:lnTo>
                    <a:pt x="2237489" y="661378"/>
                  </a:lnTo>
                  <a:lnTo>
                    <a:pt x="2245385" y="611356"/>
                  </a:lnTo>
                  <a:lnTo>
                    <a:pt x="2253273" y="561330"/>
                  </a:lnTo>
                  <a:lnTo>
                    <a:pt x="2261156" y="511299"/>
                  </a:lnTo>
                  <a:lnTo>
                    <a:pt x="2269032" y="461263"/>
                  </a:lnTo>
                  <a:close/>
                </a:path>
                <a:path w="7030084" h="1727200">
                  <a:moveTo>
                    <a:pt x="5710732" y="390651"/>
                  </a:moveTo>
                  <a:lnTo>
                    <a:pt x="5654662" y="418322"/>
                  </a:lnTo>
                  <a:lnTo>
                    <a:pt x="5633115" y="452856"/>
                  </a:lnTo>
                  <a:lnTo>
                    <a:pt x="5615736" y="501141"/>
                  </a:lnTo>
                  <a:lnTo>
                    <a:pt x="5602205" y="576128"/>
                  </a:lnTo>
                  <a:lnTo>
                    <a:pt x="5598415" y="622443"/>
                  </a:lnTo>
                  <a:lnTo>
                    <a:pt x="5596591" y="674654"/>
                  </a:lnTo>
                  <a:lnTo>
                    <a:pt x="5596720" y="732772"/>
                  </a:lnTo>
                  <a:lnTo>
                    <a:pt x="5598788" y="796809"/>
                  </a:lnTo>
                  <a:lnTo>
                    <a:pt x="5602782" y="866775"/>
                  </a:lnTo>
                  <a:lnTo>
                    <a:pt x="5608271" y="936101"/>
                  </a:lnTo>
                  <a:lnTo>
                    <a:pt x="5614971" y="999624"/>
                  </a:lnTo>
                  <a:lnTo>
                    <a:pt x="5622926" y="1057342"/>
                  </a:lnTo>
                  <a:lnTo>
                    <a:pt x="5632181" y="1109253"/>
                  </a:lnTo>
                  <a:lnTo>
                    <a:pt x="5642780" y="1155355"/>
                  </a:lnTo>
                  <a:lnTo>
                    <a:pt x="5654767" y="1195645"/>
                  </a:lnTo>
                  <a:lnTo>
                    <a:pt x="5694564" y="1278461"/>
                  </a:lnTo>
                  <a:lnTo>
                    <a:pt x="5724131" y="1312989"/>
                  </a:lnTo>
                  <a:lnTo>
                    <a:pt x="5756841" y="1333706"/>
                  </a:lnTo>
                  <a:lnTo>
                    <a:pt x="5792647" y="1340612"/>
                  </a:lnTo>
                  <a:lnTo>
                    <a:pt x="5828277" y="1333849"/>
                  </a:lnTo>
                  <a:lnTo>
                    <a:pt x="5883248" y="1279747"/>
                  </a:lnTo>
                  <a:lnTo>
                    <a:pt x="5902375" y="1232408"/>
                  </a:lnTo>
                  <a:lnTo>
                    <a:pt x="5914859" y="1167544"/>
                  </a:lnTo>
                  <a:lnTo>
                    <a:pt x="5918299" y="1127044"/>
                  </a:lnTo>
                  <a:lnTo>
                    <a:pt x="5919854" y="1081166"/>
                  </a:lnTo>
                  <a:lnTo>
                    <a:pt x="5919509" y="1029913"/>
                  </a:lnTo>
                  <a:lnTo>
                    <a:pt x="5917252" y="973286"/>
                  </a:lnTo>
                  <a:lnTo>
                    <a:pt x="5913069" y="911286"/>
                  </a:lnTo>
                  <a:lnTo>
                    <a:pt x="5906947" y="843914"/>
                  </a:lnTo>
                  <a:lnTo>
                    <a:pt x="5899512" y="779136"/>
                  </a:lnTo>
                  <a:lnTo>
                    <a:pt x="5890837" y="719560"/>
                  </a:lnTo>
                  <a:lnTo>
                    <a:pt x="5880958" y="665180"/>
                  </a:lnTo>
                  <a:lnTo>
                    <a:pt x="5869911" y="615990"/>
                  </a:lnTo>
                  <a:lnTo>
                    <a:pt x="5857730" y="571983"/>
                  </a:lnTo>
                  <a:lnTo>
                    <a:pt x="5844452" y="533152"/>
                  </a:lnTo>
                  <a:lnTo>
                    <a:pt x="5803244" y="451891"/>
                  </a:lnTo>
                  <a:lnTo>
                    <a:pt x="5774423" y="417877"/>
                  </a:lnTo>
                  <a:lnTo>
                    <a:pt x="5710732" y="390651"/>
                  </a:lnTo>
                  <a:close/>
                </a:path>
                <a:path w="7030084" h="1727200">
                  <a:moveTo>
                    <a:pt x="6132245" y="28448"/>
                  </a:moveTo>
                  <a:lnTo>
                    <a:pt x="6183682" y="28448"/>
                  </a:lnTo>
                  <a:lnTo>
                    <a:pt x="6235131" y="28448"/>
                  </a:lnTo>
                  <a:lnTo>
                    <a:pt x="6286604" y="28448"/>
                  </a:lnTo>
                  <a:lnTo>
                    <a:pt x="6338112" y="28448"/>
                  </a:lnTo>
                  <a:lnTo>
                    <a:pt x="6347635" y="79332"/>
                  </a:lnTo>
                  <a:lnTo>
                    <a:pt x="6357078" y="130220"/>
                  </a:lnTo>
                  <a:lnTo>
                    <a:pt x="6366441" y="181113"/>
                  </a:lnTo>
                  <a:lnTo>
                    <a:pt x="6375724" y="232009"/>
                  </a:lnTo>
                  <a:lnTo>
                    <a:pt x="6384926" y="282910"/>
                  </a:lnTo>
                  <a:lnTo>
                    <a:pt x="6394047" y="333815"/>
                  </a:lnTo>
                  <a:lnTo>
                    <a:pt x="6403088" y="384724"/>
                  </a:lnTo>
                  <a:lnTo>
                    <a:pt x="6412049" y="435638"/>
                  </a:lnTo>
                  <a:lnTo>
                    <a:pt x="6420928" y="486556"/>
                  </a:lnTo>
                  <a:lnTo>
                    <a:pt x="6429727" y="537479"/>
                  </a:lnTo>
                  <a:lnTo>
                    <a:pt x="6438445" y="588407"/>
                  </a:lnTo>
                  <a:lnTo>
                    <a:pt x="6447081" y="639340"/>
                  </a:lnTo>
                  <a:lnTo>
                    <a:pt x="6455637" y="690277"/>
                  </a:lnTo>
                  <a:lnTo>
                    <a:pt x="6464111" y="741220"/>
                  </a:lnTo>
                  <a:lnTo>
                    <a:pt x="6472504" y="792168"/>
                  </a:lnTo>
                  <a:lnTo>
                    <a:pt x="6480816" y="843121"/>
                  </a:lnTo>
                  <a:lnTo>
                    <a:pt x="6489046" y="894079"/>
                  </a:lnTo>
                  <a:lnTo>
                    <a:pt x="6497194" y="945043"/>
                  </a:lnTo>
                  <a:lnTo>
                    <a:pt x="6505261" y="996013"/>
                  </a:lnTo>
                  <a:lnTo>
                    <a:pt x="6513245" y="1046988"/>
                  </a:lnTo>
                  <a:lnTo>
                    <a:pt x="6525404" y="1111490"/>
                  </a:lnTo>
                  <a:lnTo>
                    <a:pt x="6540598" y="1168574"/>
                  </a:lnTo>
                  <a:lnTo>
                    <a:pt x="6558912" y="1218205"/>
                  </a:lnTo>
                  <a:lnTo>
                    <a:pt x="6580428" y="1260348"/>
                  </a:lnTo>
                  <a:lnTo>
                    <a:pt x="6604590" y="1293945"/>
                  </a:lnTo>
                  <a:lnTo>
                    <a:pt x="6658867" y="1332374"/>
                  </a:lnTo>
                  <a:lnTo>
                    <a:pt x="6688886" y="1337183"/>
                  </a:lnTo>
                  <a:lnTo>
                    <a:pt x="6717193" y="1332446"/>
                  </a:lnTo>
                  <a:lnTo>
                    <a:pt x="6758949" y="1294588"/>
                  </a:lnTo>
                  <a:lnTo>
                    <a:pt x="6780160" y="1219706"/>
                  </a:lnTo>
                  <a:lnTo>
                    <a:pt x="6782136" y="1170003"/>
                  </a:lnTo>
                  <a:lnTo>
                    <a:pt x="6778255" y="1112418"/>
                  </a:lnTo>
                  <a:lnTo>
                    <a:pt x="6768515" y="1046988"/>
                  </a:lnTo>
                  <a:lnTo>
                    <a:pt x="6759178" y="996012"/>
                  </a:lnTo>
                  <a:lnTo>
                    <a:pt x="6749759" y="945040"/>
                  </a:lnTo>
                  <a:lnTo>
                    <a:pt x="6740257" y="894072"/>
                  </a:lnTo>
                  <a:lnTo>
                    <a:pt x="6730674" y="843109"/>
                  </a:lnTo>
                  <a:lnTo>
                    <a:pt x="6721009" y="792150"/>
                  </a:lnTo>
                  <a:lnTo>
                    <a:pt x="6711262" y="741196"/>
                  </a:lnTo>
                  <a:lnTo>
                    <a:pt x="6701434" y="690247"/>
                  </a:lnTo>
                  <a:lnTo>
                    <a:pt x="6691523" y="639303"/>
                  </a:lnTo>
                  <a:lnTo>
                    <a:pt x="6681530" y="588365"/>
                  </a:lnTo>
                  <a:lnTo>
                    <a:pt x="6671456" y="537432"/>
                  </a:lnTo>
                  <a:lnTo>
                    <a:pt x="6661299" y="486504"/>
                  </a:lnTo>
                  <a:lnTo>
                    <a:pt x="6651061" y="435583"/>
                  </a:lnTo>
                  <a:lnTo>
                    <a:pt x="6640740" y="384668"/>
                  </a:lnTo>
                  <a:lnTo>
                    <a:pt x="6630338" y="333759"/>
                  </a:lnTo>
                  <a:lnTo>
                    <a:pt x="6619854" y="282856"/>
                  </a:lnTo>
                  <a:lnTo>
                    <a:pt x="6609288" y="231960"/>
                  </a:lnTo>
                  <a:lnTo>
                    <a:pt x="6598640" y="181071"/>
                  </a:lnTo>
                  <a:lnTo>
                    <a:pt x="6587910" y="130189"/>
                  </a:lnTo>
                  <a:lnTo>
                    <a:pt x="6577098" y="79315"/>
                  </a:lnTo>
                  <a:lnTo>
                    <a:pt x="6566204" y="28448"/>
                  </a:lnTo>
                  <a:lnTo>
                    <a:pt x="6617713" y="28448"/>
                  </a:lnTo>
                  <a:lnTo>
                    <a:pt x="6669185" y="28448"/>
                  </a:lnTo>
                  <a:lnTo>
                    <a:pt x="6720634" y="28448"/>
                  </a:lnTo>
                  <a:lnTo>
                    <a:pt x="6772071" y="28448"/>
                  </a:lnTo>
                  <a:lnTo>
                    <a:pt x="6783901" y="78133"/>
                  </a:lnTo>
                  <a:lnTo>
                    <a:pt x="6795655" y="127824"/>
                  </a:lnTo>
                  <a:lnTo>
                    <a:pt x="6807332" y="177520"/>
                  </a:lnTo>
                  <a:lnTo>
                    <a:pt x="6818932" y="227223"/>
                  </a:lnTo>
                  <a:lnTo>
                    <a:pt x="6830456" y="276931"/>
                  </a:lnTo>
                  <a:lnTo>
                    <a:pt x="6841902" y="326645"/>
                  </a:lnTo>
                  <a:lnTo>
                    <a:pt x="6853271" y="376364"/>
                  </a:lnTo>
                  <a:lnTo>
                    <a:pt x="6864562" y="426090"/>
                  </a:lnTo>
                  <a:lnTo>
                    <a:pt x="6875775" y="475821"/>
                  </a:lnTo>
                  <a:lnTo>
                    <a:pt x="6886911" y="525557"/>
                  </a:lnTo>
                  <a:lnTo>
                    <a:pt x="6897969" y="575300"/>
                  </a:lnTo>
                  <a:lnTo>
                    <a:pt x="6908948" y="625048"/>
                  </a:lnTo>
                  <a:lnTo>
                    <a:pt x="6919849" y="674802"/>
                  </a:lnTo>
                  <a:lnTo>
                    <a:pt x="6930671" y="724561"/>
                  </a:lnTo>
                  <a:lnTo>
                    <a:pt x="6941414" y="774326"/>
                  </a:lnTo>
                  <a:lnTo>
                    <a:pt x="6952078" y="824097"/>
                  </a:lnTo>
                  <a:lnTo>
                    <a:pt x="6962663" y="873874"/>
                  </a:lnTo>
                  <a:lnTo>
                    <a:pt x="6973168" y="923657"/>
                  </a:lnTo>
                  <a:lnTo>
                    <a:pt x="6983594" y="973445"/>
                  </a:lnTo>
                  <a:lnTo>
                    <a:pt x="6993940" y="1023238"/>
                  </a:lnTo>
                  <a:lnTo>
                    <a:pt x="7003454" y="1072113"/>
                  </a:lnTo>
                  <a:lnTo>
                    <a:pt x="7011542" y="1120060"/>
                  </a:lnTo>
                  <a:lnTo>
                    <a:pt x="7018197" y="1167082"/>
                  </a:lnTo>
                  <a:lnTo>
                    <a:pt x="7023414" y="1213183"/>
                  </a:lnTo>
                  <a:lnTo>
                    <a:pt x="7027184" y="1258368"/>
                  </a:lnTo>
                  <a:lnTo>
                    <a:pt x="7029500" y="1302639"/>
                  </a:lnTo>
                  <a:lnTo>
                    <a:pt x="7030017" y="1353905"/>
                  </a:lnTo>
                  <a:lnTo>
                    <a:pt x="7027907" y="1402544"/>
                  </a:lnTo>
                  <a:lnTo>
                    <a:pt x="7023164" y="1448549"/>
                  </a:lnTo>
                  <a:lnTo>
                    <a:pt x="7015780" y="1491915"/>
                  </a:lnTo>
                  <a:lnTo>
                    <a:pt x="7005751" y="1532636"/>
                  </a:lnTo>
                  <a:lnTo>
                    <a:pt x="6990456" y="1578213"/>
                  </a:lnTo>
                  <a:lnTo>
                    <a:pt x="6973017" y="1616456"/>
                  </a:lnTo>
                  <a:lnTo>
                    <a:pt x="6932091" y="1670939"/>
                  </a:lnTo>
                  <a:lnTo>
                    <a:pt x="6898405" y="1695348"/>
                  </a:lnTo>
                  <a:lnTo>
                    <a:pt x="6859860" y="1712769"/>
                  </a:lnTo>
                  <a:lnTo>
                    <a:pt x="6816505" y="1723213"/>
                  </a:lnTo>
                  <a:lnTo>
                    <a:pt x="6768388" y="1726692"/>
                  </a:lnTo>
                  <a:lnTo>
                    <a:pt x="6738412" y="1725620"/>
                  </a:lnTo>
                  <a:lnTo>
                    <a:pt x="6673555" y="1717047"/>
                  </a:lnTo>
                  <a:lnTo>
                    <a:pt x="6604245" y="1698952"/>
                  </a:lnTo>
                  <a:lnTo>
                    <a:pt x="6542245" y="1665095"/>
                  </a:lnTo>
                  <a:lnTo>
                    <a:pt x="6488766" y="1613870"/>
                  </a:lnTo>
                  <a:lnTo>
                    <a:pt x="6463144" y="1580562"/>
                  </a:lnTo>
                  <a:lnTo>
                    <a:pt x="6437903" y="1541897"/>
                  </a:lnTo>
                  <a:lnTo>
                    <a:pt x="6413042" y="1497838"/>
                  </a:lnTo>
                  <a:lnTo>
                    <a:pt x="6389865" y="1450881"/>
                  </a:lnTo>
                  <a:lnTo>
                    <a:pt x="6369640" y="1403175"/>
                  </a:lnTo>
                  <a:lnTo>
                    <a:pt x="6352320" y="1354730"/>
                  </a:lnTo>
                  <a:lnTo>
                    <a:pt x="6337858" y="1305560"/>
                  </a:lnTo>
                  <a:lnTo>
                    <a:pt x="6324607" y="1253426"/>
                  </a:lnTo>
                  <a:lnTo>
                    <a:pt x="6312792" y="1203325"/>
                  </a:lnTo>
                  <a:lnTo>
                    <a:pt x="6302409" y="1155255"/>
                  </a:lnTo>
                  <a:lnTo>
                    <a:pt x="6293455" y="1109217"/>
                  </a:lnTo>
                  <a:lnTo>
                    <a:pt x="6285926" y="1065212"/>
                  </a:lnTo>
                  <a:lnTo>
                    <a:pt x="6279819" y="1023238"/>
                  </a:lnTo>
                  <a:lnTo>
                    <a:pt x="6273171" y="973463"/>
                  </a:lnTo>
                  <a:lnTo>
                    <a:pt x="6266446" y="923691"/>
                  </a:lnTo>
                  <a:lnTo>
                    <a:pt x="6259645" y="873923"/>
                  </a:lnTo>
                  <a:lnTo>
                    <a:pt x="6252767" y="824158"/>
                  </a:lnTo>
                  <a:lnTo>
                    <a:pt x="6245813" y="774398"/>
                  </a:lnTo>
                  <a:lnTo>
                    <a:pt x="6238782" y="724641"/>
                  </a:lnTo>
                  <a:lnTo>
                    <a:pt x="6231675" y="674888"/>
                  </a:lnTo>
                  <a:lnTo>
                    <a:pt x="6224490" y="625139"/>
                  </a:lnTo>
                  <a:lnTo>
                    <a:pt x="6217228" y="575394"/>
                  </a:lnTo>
                  <a:lnTo>
                    <a:pt x="6209890" y="525652"/>
                  </a:lnTo>
                  <a:lnTo>
                    <a:pt x="6202474" y="475915"/>
                  </a:lnTo>
                  <a:lnTo>
                    <a:pt x="6194981" y="426181"/>
                  </a:lnTo>
                  <a:lnTo>
                    <a:pt x="6187411" y="376451"/>
                  </a:lnTo>
                  <a:lnTo>
                    <a:pt x="6179763" y="326725"/>
                  </a:lnTo>
                  <a:lnTo>
                    <a:pt x="6172038" y="277002"/>
                  </a:lnTo>
                  <a:lnTo>
                    <a:pt x="6164235" y="227284"/>
                  </a:lnTo>
                  <a:lnTo>
                    <a:pt x="6156354" y="177569"/>
                  </a:lnTo>
                  <a:lnTo>
                    <a:pt x="6148396" y="127858"/>
                  </a:lnTo>
                  <a:lnTo>
                    <a:pt x="6140360" y="78151"/>
                  </a:lnTo>
                  <a:lnTo>
                    <a:pt x="6132245" y="28448"/>
                  </a:lnTo>
                  <a:close/>
                </a:path>
                <a:path w="7030084" h="1727200">
                  <a:moveTo>
                    <a:pt x="4618532" y="28448"/>
                  </a:moveTo>
                  <a:lnTo>
                    <a:pt x="4618532" y="28448"/>
                  </a:lnTo>
                  <a:lnTo>
                    <a:pt x="4847640" y="28448"/>
                  </a:lnTo>
                  <a:lnTo>
                    <a:pt x="4860657" y="79675"/>
                  </a:lnTo>
                  <a:lnTo>
                    <a:pt x="4873732" y="130901"/>
                  </a:lnTo>
                  <a:lnTo>
                    <a:pt x="4886864" y="182126"/>
                  </a:lnTo>
                  <a:lnTo>
                    <a:pt x="4900054" y="233350"/>
                  </a:lnTo>
                  <a:lnTo>
                    <a:pt x="4913304" y="284571"/>
                  </a:lnTo>
                  <a:lnTo>
                    <a:pt x="4926613" y="335790"/>
                  </a:lnTo>
                  <a:lnTo>
                    <a:pt x="4939982" y="387005"/>
                  </a:lnTo>
                  <a:lnTo>
                    <a:pt x="4953412" y="438216"/>
                  </a:lnTo>
                  <a:lnTo>
                    <a:pt x="4966903" y="489423"/>
                  </a:lnTo>
                  <a:lnTo>
                    <a:pt x="4980456" y="540624"/>
                  </a:lnTo>
                  <a:lnTo>
                    <a:pt x="4994071" y="591820"/>
                  </a:lnTo>
                  <a:lnTo>
                    <a:pt x="5006389" y="540687"/>
                  </a:lnTo>
                  <a:lnTo>
                    <a:pt x="5018476" y="489536"/>
                  </a:lnTo>
                  <a:lnTo>
                    <a:pt x="5030331" y="438367"/>
                  </a:lnTo>
                  <a:lnTo>
                    <a:pt x="5041957" y="387181"/>
                  </a:lnTo>
                  <a:lnTo>
                    <a:pt x="5053355" y="335979"/>
                  </a:lnTo>
                  <a:lnTo>
                    <a:pt x="5064525" y="284760"/>
                  </a:lnTo>
                  <a:lnTo>
                    <a:pt x="5075469" y="233526"/>
                  </a:lnTo>
                  <a:lnTo>
                    <a:pt x="5086188" y="182278"/>
                  </a:lnTo>
                  <a:lnTo>
                    <a:pt x="5096684" y="131014"/>
                  </a:lnTo>
                  <a:lnTo>
                    <a:pt x="5106956" y="79738"/>
                  </a:lnTo>
                  <a:lnTo>
                    <a:pt x="5117007" y="28448"/>
                  </a:lnTo>
                  <a:lnTo>
                    <a:pt x="5173987" y="28448"/>
                  </a:lnTo>
                  <a:lnTo>
                    <a:pt x="5230990" y="28448"/>
                  </a:lnTo>
                  <a:lnTo>
                    <a:pt x="5287993" y="28448"/>
                  </a:lnTo>
                  <a:lnTo>
                    <a:pt x="5344972" y="28448"/>
                  </a:lnTo>
                  <a:lnTo>
                    <a:pt x="5335356" y="77097"/>
                  </a:lnTo>
                  <a:lnTo>
                    <a:pt x="5325519" y="125739"/>
                  </a:lnTo>
                  <a:lnTo>
                    <a:pt x="5315462" y="174370"/>
                  </a:lnTo>
                  <a:lnTo>
                    <a:pt x="5305185" y="222992"/>
                  </a:lnTo>
                  <a:lnTo>
                    <a:pt x="5294688" y="271603"/>
                  </a:lnTo>
                  <a:lnTo>
                    <a:pt x="5283973" y="320202"/>
                  </a:lnTo>
                  <a:lnTo>
                    <a:pt x="5273038" y="368788"/>
                  </a:lnTo>
                  <a:lnTo>
                    <a:pt x="5261886" y="417360"/>
                  </a:lnTo>
                  <a:lnTo>
                    <a:pt x="5250515" y="465918"/>
                  </a:lnTo>
                  <a:lnTo>
                    <a:pt x="5238927" y="514461"/>
                  </a:lnTo>
                  <a:lnTo>
                    <a:pt x="5227122" y="562987"/>
                  </a:lnTo>
                  <a:lnTo>
                    <a:pt x="5215100" y="611496"/>
                  </a:lnTo>
                  <a:lnTo>
                    <a:pt x="5202862" y="659988"/>
                  </a:lnTo>
                  <a:lnTo>
                    <a:pt x="5190407" y="708460"/>
                  </a:lnTo>
                  <a:lnTo>
                    <a:pt x="5177737" y="756914"/>
                  </a:lnTo>
                  <a:lnTo>
                    <a:pt x="5164852" y="805346"/>
                  </a:lnTo>
                  <a:lnTo>
                    <a:pt x="5151752" y="853757"/>
                  </a:lnTo>
                  <a:lnTo>
                    <a:pt x="5138437" y="902146"/>
                  </a:lnTo>
                  <a:lnTo>
                    <a:pt x="5124908" y="950512"/>
                  </a:lnTo>
                  <a:lnTo>
                    <a:pt x="5111165" y="998854"/>
                  </a:lnTo>
                  <a:lnTo>
                    <a:pt x="5111696" y="1048795"/>
                  </a:lnTo>
                  <a:lnTo>
                    <a:pt x="5112145" y="1098738"/>
                  </a:lnTo>
                  <a:lnTo>
                    <a:pt x="5112514" y="1148685"/>
                  </a:lnTo>
                  <a:lnTo>
                    <a:pt x="5112801" y="1198635"/>
                  </a:lnTo>
                  <a:lnTo>
                    <a:pt x="5113008" y="1248588"/>
                  </a:lnTo>
                  <a:lnTo>
                    <a:pt x="5113135" y="1298544"/>
                  </a:lnTo>
                  <a:lnTo>
                    <a:pt x="5113181" y="1348501"/>
                  </a:lnTo>
                  <a:lnTo>
                    <a:pt x="5113148" y="1398461"/>
                  </a:lnTo>
                  <a:lnTo>
                    <a:pt x="5113036" y="1448422"/>
                  </a:lnTo>
                  <a:lnTo>
                    <a:pt x="5112844" y="1498385"/>
                  </a:lnTo>
                  <a:lnTo>
                    <a:pt x="5112574" y="1548348"/>
                  </a:lnTo>
                  <a:lnTo>
                    <a:pt x="5112225" y="1598313"/>
                  </a:lnTo>
                  <a:lnTo>
                    <a:pt x="5111798" y="1648278"/>
                  </a:lnTo>
                  <a:lnTo>
                    <a:pt x="5111292" y="1698244"/>
                  </a:lnTo>
                  <a:lnTo>
                    <a:pt x="5061901" y="1698244"/>
                  </a:lnTo>
                  <a:lnTo>
                    <a:pt x="5012492" y="1698244"/>
                  </a:lnTo>
                  <a:lnTo>
                    <a:pt x="4963077" y="1698244"/>
                  </a:lnTo>
                  <a:lnTo>
                    <a:pt x="4913668" y="1698244"/>
                  </a:lnTo>
                  <a:lnTo>
                    <a:pt x="4864277" y="1698244"/>
                  </a:lnTo>
                  <a:lnTo>
                    <a:pt x="4865980" y="1648280"/>
                  </a:lnTo>
                  <a:lnTo>
                    <a:pt x="4867605" y="1598320"/>
                  </a:lnTo>
                  <a:lnTo>
                    <a:pt x="4869153" y="1548362"/>
                  </a:lnTo>
                  <a:lnTo>
                    <a:pt x="4870622" y="1498407"/>
                  </a:lnTo>
                  <a:lnTo>
                    <a:pt x="4872014" y="1448453"/>
                  </a:lnTo>
                  <a:lnTo>
                    <a:pt x="4873328" y="1398501"/>
                  </a:lnTo>
                  <a:lnTo>
                    <a:pt x="4874564" y="1348549"/>
                  </a:lnTo>
                  <a:lnTo>
                    <a:pt x="4875723" y="1298597"/>
                  </a:lnTo>
                  <a:lnTo>
                    <a:pt x="4876804" y="1248645"/>
                  </a:lnTo>
                  <a:lnTo>
                    <a:pt x="4877807" y="1198691"/>
                  </a:lnTo>
                  <a:lnTo>
                    <a:pt x="4878732" y="1148736"/>
                  </a:lnTo>
                  <a:lnTo>
                    <a:pt x="4879580" y="1098778"/>
                  </a:lnTo>
                  <a:lnTo>
                    <a:pt x="4880349" y="1048818"/>
                  </a:lnTo>
                  <a:lnTo>
                    <a:pt x="4881041" y="998854"/>
                  </a:lnTo>
                  <a:lnTo>
                    <a:pt x="4867246" y="950388"/>
                  </a:lnTo>
                  <a:lnTo>
                    <a:pt x="4853522" y="901917"/>
                  </a:lnTo>
                  <a:lnTo>
                    <a:pt x="4839868" y="853439"/>
                  </a:lnTo>
                  <a:lnTo>
                    <a:pt x="4826284" y="804956"/>
                  </a:lnTo>
                  <a:lnTo>
                    <a:pt x="4812771" y="756467"/>
                  </a:lnTo>
                  <a:lnTo>
                    <a:pt x="4799328" y="707972"/>
                  </a:lnTo>
                  <a:lnTo>
                    <a:pt x="4785956" y="659472"/>
                  </a:lnTo>
                  <a:lnTo>
                    <a:pt x="4772654" y="610966"/>
                  </a:lnTo>
                  <a:lnTo>
                    <a:pt x="4759423" y="562454"/>
                  </a:lnTo>
                  <a:lnTo>
                    <a:pt x="4746263" y="513937"/>
                  </a:lnTo>
                  <a:lnTo>
                    <a:pt x="4733172" y="465414"/>
                  </a:lnTo>
                  <a:lnTo>
                    <a:pt x="4720153" y="416885"/>
                  </a:lnTo>
                  <a:lnTo>
                    <a:pt x="4707203" y="368350"/>
                  </a:lnTo>
                  <a:lnTo>
                    <a:pt x="4694325" y="319810"/>
                  </a:lnTo>
                  <a:lnTo>
                    <a:pt x="4681516" y="271264"/>
                  </a:lnTo>
                  <a:lnTo>
                    <a:pt x="4668779" y="222712"/>
                  </a:lnTo>
                  <a:lnTo>
                    <a:pt x="4656111" y="174154"/>
                  </a:lnTo>
                  <a:lnTo>
                    <a:pt x="4643514" y="125591"/>
                  </a:lnTo>
                  <a:lnTo>
                    <a:pt x="4630988" y="77022"/>
                  </a:lnTo>
                  <a:lnTo>
                    <a:pt x="4618532" y="28448"/>
                  </a:lnTo>
                  <a:close/>
                </a:path>
                <a:path w="7030084" h="1727200">
                  <a:moveTo>
                    <a:pt x="3598595" y="28448"/>
                  </a:moveTo>
                  <a:lnTo>
                    <a:pt x="3650147" y="28448"/>
                  </a:lnTo>
                  <a:lnTo>
                    <a:pt x="3701735" y="28448"/>
                  </a:lnTo>
                  <a:lnTo>
                    <a:pt x="3753347" y="28448"/>
                  </a:lnTo>
                  <a:lnTo>
                    <a:pt x="3804970" y="28448"/>
                  </a:lnTo>
                  <a:lnTo>
                    <a:pt x="3799715" y="77008"/>
                  </a:lnTo>
                  <a:lnTo>
                    <a:pt x="3794384" y="125565"/>
                  </a:lnTo>
                  <a:lnTo>
                    <a:pt x="3788977" y="174117"/>
                  </a:lnTo>
                  <a:lnTo>
                    <a:pt x="3783494" y="222667"/>
                  </a:lnTo>
                  <a:lnTo>
                    <a:pt x="3777936" y="271213"/>
                  </a:lnTo>
                  <a:lnTo>
                    <a:pt x="3772302" y="319756"/>
                  </a:lnTo>
                  <a:lnTo>
                    <a:pt x="3766595" y="368297"/>
                  </a:lnTo>
                  <a:lnTo>
                    <a:pt x="3760813" y="416836"/>
                  </a:lnTo>
                  <a:lnTo>
                    <a:pt x="3754957" y="465373"/>
                  </a:lnTo>
                  <a:lnTo>
                    <a:pt x="3749028" y="513908"/>
                  </a:lnTo>
                  <a:lnTo>
                    <a:pt x="3743025" y="562443"/>
                  </a:lnTo>
                  <a:lnTo>
                    <a:pt x="3736950" y="610977"/>
                  </a:lnTo>
                  <a:lnTo>
                    <a:pt x="3730802" y="659511"/>
                  </a:lnTo>
                  <a:lnTo>
                    <a:pt x="3752906" y="614619"/>
                  </a:lnTo>
                  <a:lnTo>
                    <a:pt x="3774802" y="569696"/>
                  </a:lnTo>
                  <a:lnTo>
                    <a:pt x="3796491" y="524744"/>
                  </a:lnTo>
                  <a:lnTo>
                    <a:pt x="3817969" y="479762"/>
                  </a:lnTo>
                  <a:lnTo>
                    <a:pt x="3839238" y="434752"/>
                  </a:lnTo>
                  <a:lnTo>
                    <a:pt x="3860295" y="389713"/>
                  </a:lnTo>
                  <a:lnTo>
                    <a:pt x="3881139" y="344646"/>
                  </a:lnTo>
                  <a:lnTo>
                    <a:pt x="3901769" y="299552"/>
                  </a:lnTo>
                  <a:lnTo>
                    <a:pt x="3922184" y="254431"/>
                  </a:lnTo>
                  <a:lnTo>
                    <a:pt x="3942383" y="209284"/>
                  </a:lnTo>
                  <a:lnTo>
                    <a:pt x="3962365" y="164112"/>
                  </a:lnTo>
                  <a:lnTo>
                    <a:pt x="3982129" y="118915"/>
                  </a:lnTo>
                  <a:lnTo>
                    <a:pt x="4001673" y="73693"/>
                  </a:lnTo>
                  <a:lnTo>
                    <a:pt x="4020997" y="28448"/>
                  </a:lnTo>
                  <a:lnTo>
                    <a:pt x="4075923" y="28448"/>
                  </a:lnTo>
                  <a:lnTo>
                    <a:pt x="4130825" y="28448"/>
                  </a:lnTo>
                  <a:lnTo>
                    <a:pt x="4185708" y="28448"/>
                  </a:lnTo>
                  <a:lnTo>
                    <a:pt x="4240579" y="28448"/>
                  </a:lnTo>
                  <a:lnTo>
                    <a:pt x="4295444" y="28448"/>
                  </a:lnTo>
                  <a:lnTo>
                    <a:pt x="4275568" y="73664"/>
                  </a:lnTo>
                  <a:lnTo>
                    <a:pt x="4255456" y="118853"/>
                  </a:lnTo>
                  <a:lnTo>
                    <a:pt x="4235108" y="164013"/>
                  </a:lnTo>
                  <a:lnTo>
                    <a:pt x="4214526" y="209144"/>
                  </a:lnTo>
                  <a:lnTo>
                    <a:pt x="4193709" y="254246"/>
                  </a:lnTo>
                  <a:lnTo>
                    <a:pt x="4172660" y="299319"/>
                  </a:lnTo>
                  <a:lnTo>
                    <a:pt x="4151379" y="344360"/>
                  </a:lnTo>
                  <a:lnTo>
                    <a:pt x="4129866" y="389370"/>
                  </a:lnTo>
                  <a:lnTo>
                    <a:pt x="4108123" y="434349"/>
                  </a:lnTo>
                  <a:lnTo>
                    <a:pt x="4086150" y="479296"/>
                  </a:lnTo>
                  <a:lnTo>
                    <a:pt x="4063948" y="524209"/>
                  </a:lnTo>
                  <a:lnTo>
                    <a:pt x="4041518" y="569090"/>
                  </a:lnTo>
                  <a:lnTo>
                    <a:pt x="4018861" y="613936"/>
                  </a:lnTo>
                  <a:lnTo>
                    <a:pt x="3995978" y="658749"/>
                  </a:lnTo>
                  <a:lnTo>
                    <a:pt x="4004155" y="708277"/>
                  </a:lnTo>
                  <a:lnTo>
                    <a:pt x="4012392" y="757802"/>
                  </a:lnTo>
                  <a:lnTo>
                    <a:pt x="4020689" y="807323"/>
                  </a:lnTo>
                  <a:lnTo>
                    <a:pt x="4029048" y="856842"/>
                  </a:lnTo>
                  <a:lnTo>
                    <a:pt x="4037467" y="906357"/>
                  </a:lnTo>
                  <a:lnTo>
                    <a:pt x="4045947" y="955869"/>
                  </a:lnTo>
                  <a:lnTo>
                    <a:pt x="4054488" y="1005379"/>
                  </a:lnTo>
                  <a:lnTo>
                    <a:pt x="4063090" y="1054885"/>
                  </a:lnTo>
                  <a:lnTo>
                    <a:pt x="4071753" y="1104389"/>
                  </a:lnTo>
                  <a:lnTo>
                    <a:pt x="4080477" y="1153889"/>
                  </a:lnTo>
                  <a:lnTo>
                    <a:pt x="4089263" y="1203388"/>
                  </a:lnTo>
                  <a:lnTo>
                    <a:pt x="4098110" y="1252883"/>
                  </a:lnTo>
                  <a:lnTo>
                    <a:pt x="4107019" y="1302377"/>
                  </a:lnTo>
                  <a:lnTo>
                    <a:pt x="4115989" y="1351867"/>
                  </a:lnTo>
                  <a:lnTo>
                    <a:pt x="4125020" y="1401356"/>
                  </a:lnTo>
                  <a:lnTo>
                    <a:pt x="4134114" y="1450842"/>
                  </a:lnTo>
                  <a:lnTo>
                    <a:pt x="4143269" y="1500327"/>
                  </a:lnTo>
                  <a:lnTo>
                    <a:pt x="4152486" y="1549809"/>
                  </a:lnTo>
                  <a:lnTo>
                    <a:pt x="4161765" y="1599289"/>
                  </a:lnTo>
                  <a:lnTo>
                    <a:pt x="4171106" y="1648767"/>
                  </a:lnTo>
                  <a:lnTo>
                    <a:pt x="4180509" y="1698244"/>
                  </a:lnTo>
                  <a:lnTo>
                    <a:pt x="4129953" y="1698244"/>
                  </a:lnTo>
                  <a:lnTo>
                    <a:pt x="3876979" y="1698244"/>
                  </a:lnTo>
                  <a:lnTo>
                    <a:pt x="3871445" y="1649202"/>
                  </a:lnTo>
                  <a:lnTo>
                    <a:pt x="3865946" y="1600156"/>
                  </a:lnTo>
                  <a:lnTo>
                    <a:pt x="3860483" y="1551108"/>
                  </a:lnTo>
                  <a:lnTo>
                    <a:pt x="3855055" y="1502058"/>
                  </a:lnTo>
                  <a:lnTo>
                    <a:pt x="3849664" y="1453006"/>
                  </a:lnTo>
                  <a:lnTo>
                    <a:pt x="3844309" y="1403953"/>
                  </a:lnTo>
                  <a:lnTo>
                    <a:pt x="3838990" y="1354899"/>
                  </a:lnTo>
                  <a:lnTo>
                    <a:pt x="3833709" y="1305845"/>
                  </a:lnTo>
                  <a:lnTo>
                    <a:pt x="3828465" y="1256792"/>
                  </a:lnTo>
                  <a:lnTo>
                    <a:pt x="3823258" y="1207740"/>
                  </a:lnTo>
                  <a:lnTo>
                    <a:pt x="3818089" y="1158690"/>
                  </a:lnTo>
                  <a:lnTo>
                    <a:pt x="3812958" y="1109642"/>
                  </a:lnTo>
                  <a:lnTo>
                    <a:pt x="3807865" y="1060596"/>
                  </a:lnTo>
                  <a:lnTo>
                    <a:pt x="3802811" y="1011554"/>
                  </a:lnTo>
                  <a:lnTo>
                    <a:pt x="3776967" y="1058152"/>
                  </a:lnTo>
                  <a:lnTo>
                    <a:pt x="3750873" y="1104725"/>
                  </a:lnTo>
                  <a:lnTo>
                    <a:pt x="3724532" y="1151270"/>
                  </a:lnTo>
                  <a:lnTo>
                    <a:pt x="3697947" y="1197784"/>
                  </a:lnTo>
                  <a:lnTo>
                    <a:pt x="3671122" y="1244261"/>
                  </a:lnTo>
                  <a:lnTo>
                    <a:pt x="3644061" y="1290701"/>
                  </a:lnTo>
                  <a:lnTo>
                    <a:pt x="3636537" y="1341654"/>
                  </a:lnTo>
                  <a:lnTo>
                    <a:pt x="3628921" y="1392598"/>
                  </a:lnTo>
                  <a:lnTo>
                    <a:pt x="3621215" y="1443537"/>
                  </a:lnTo>
                  <a:lnTo>
                    <a:pt x="3613423" y="1494472"/>
                  </a:lnTo>
                  <a:lnTo>
                    <a:pt x="3605547" y="1545407"/>
                  </a:lnTo>
                  <a:lnTo>
                    <a:pt x="3597591" y="1596346"/>
                  </a:lnTo>
                  <a:lnTo>
                    <a:pt x="3589558" y="1647290"/>
                  </a:lnTo>
                  <a:lnTo>
                    <a:pt x="3581450" y="1698244"/>
                  </a:lnTo>
                  <a:lnTo>
                    <a:pt x="3532149" y="1698244"/>
                  </a:lnTo>
                  <a:lnTo>
                    <a:pt x="3482848" y="1698244"/>
                  </a:lnTo>
                  <a:lnTo>
                    <a:pt x="3433546" y="1698244"/>
                  </a:lnTo>
                  <a:lnTo>
                    <a:pt x="3384245" y="1698244"/>
                  </a:lnTo>
                  <a:lnTo>
                    <a:pt x="3334943" y="1698244"/>
                  </a:lnTo>
                  <a:lnTo>
                    <a:pt x="3344220" y="1647718"/>
                  </a:lnTo>
                  <a:lnTo>
                    <a:pt x="3353417" y="1597187"/>
                  </a:lnTo>
                  <a:lnTo>
                    <a:pt x="3362533" y="1546650"/>
                  </a:lnTo>
                  <a:lnTo>
                    <a:pt x="3371568" y="1496108"/>
                  </a:lnTo>
                  <a:lnTo>
                    <a:pt x="3380523" y="1445561"/>
                  </a:lnTo>
                  <a:lnTo>
                    <a:pt x="3389398" y="1395008"/>
                  </a:lnTo>
                  <a:lnTo>
                    <a:pt x="3398192" y="1344451"/>
                  </a:lnTo>
                  <a:lnTo>
                    <a:pt x="3406906" y="1293888"/>
                  </a:lnTo>
                  <a:lnTo>
                    <a:pt x="3415539" y="1243321"/>
                  </a:lnTo>
                  <a:lnTo>
                    <a:pt x="3424092" y="1192749"/>
                  </a:lnTo>
                  <a:lnTo>
                    <a:pt x="3432564" y="1142172"/>
                  </a:lnTo>
                  <a:lnTo>
                    <a:pt x="3440956" y="1091590"/>
                  </a:lnTo>
                  <a:lnTo>
                    <a:pt x="3449267" y="1041004"/>
                  </a:lnTo>
                  <a:lnTo>
                    <a:pt x="3457498" y="990413"/>
                  </a:lnTo>
                  <a:lnTo>
                    <a:pt x="3465648" y="939818"/>
                  </a:lnTo>
                  <a:lnTo>
                    <a:pt x="3473718" y="889218"/>
                  </a:lnTo>
                  <a:lnTo>
                    <a:pt x="3481708" y="838615"/>
                  </a:lnTo>
                  <a:lnTo>
                    <a:pt x="3489617" y="788007"/>
                  </a:lnTo>
                  <a:lnTo>
                    <a:pt x="3497445" y="737395"/>
                  </a:lnTo>
                  <a:lnTo>
                    <a:pt x="3505193" y="686779"/>
                  </a:lnTo>
                  <a:lnTo>
                    <a:pt x="3512861" y="636159"/>
                  </a:lnTo>
                  <a:lnTo>
                    <a:pt x="3520448" y="585535"/>
                  </a:lnTo>
                  <a:lnTo>
                    <a:pt x="3527955" y="534908"/>
                  </a:lnTo>
                  <a:lnTo>
                    <a:pt x="3535381" y="484277"/>
                  </a:lnTo>
                  <a:lnTo>
                    <a:pt x="3542726" y="433642"/>
                  </a:lnTo>
                  <a:lnTo>
                    <a:pt x="3549992" y="383004"/>
                  </a:lnTo>
                  <a:lnTo>
                    <a:pt x="3557177" y="332363"/>
                  </a:lnTo>
                  <a:lnTo>
                    <a:pt x="3564281" y="281718"/>
                  </a:lnTo>
                  <a:lnTo>
                    <a:pt x="3571305" y="231070"/>
                  </a:lnTo>
                  <a:lnTo>
                    <a:pt x="3578248" y="180419"/>
                  </a:lnTo>
                  <a:lnTo>
                    <a:pt x="3585111" y="129765"/>
                  </a:lnTo>
                  <a:lnTo>
                    <a:pt x="3591893" y="79108"/>
                  </a:lnTo>
                  <a:lnTo>
                    <a:pt x="3598595" y="28448"/>
                  </a:lnTo>
                  <a:close/>
                </a:path>
                <a:path w="7030084" h="1727200">
                  <a:moveTo>
                    <a:pt x="2821736" y="28448"/>
                  </a:moveTo>
                  <a:lnTo>
                    <a:pt x="2869913" y="28448"/>
                  </a:lnTo>
                  <a:lnTo>
                    <a:pt x="2918066" y="28448"/>
                  </a:lnTo>
                  <a:lnTo>
                    <a:pt x="2966219" y="28448"/>
                  </a:lnTo>
                  <a:lnTo>
                    <a:pt x="3014395" y="28448"/>
                  </a:lnTo>
                  <a:lnTo>
                    <a:pt x="3018162" y="79797"/>
                  </a:lnTo>
                  <a:lnTo>
                    <a:pt x="3022011" y="131143"/>
                  </a:lnTo>
                  <a:lnTo>
                    <a:pt x="3025943" y="182487"/>
                  </a:lnTo>
                  <a:lnTo>
                    <a:pt x="3029958" y="233829"/>
                  </a:lnTo>
                  <a:lnTo>
                    <a:pt x="3034056" y="285167"/>
                  </a:lnTo>
                  <a:lnTo>
                    <a:pt x="3038238" y="336502"/>
                  </a:lnTo>
                  <a:lnTo>
                    <a:pt x="3042504" y="387835"/>
                  </a:lnTo>
                  <a:lnTo>
                    <a:pt x="3046854" y="439164"/>
                  </a:lnTo>
                  <a:lnTo>
                    <a:pt x="3051289" y="490489"/>
                  </a:lnTo>
                  <a:lnTo>
                    <a:pt x="3055808" y="541811"/>
                  </a:lnTo>
                  <a:lnTo>
                    <a:pt x="3060412" y="593130"/>
                  </a:lnTo>
                  <a:lnTo>
                    <a:pt x="3065101" y="644445"/>
                  </a:lnTo>
                  <a:lnTo>
                    <a:pt x="3069876" y="695755"/>
                  </a:lnTo>
                  <a:lnTo>
                    <a:pt x="3074736" y="747062"/>
                  </a:lnTo>
                  <a:lnTo>
                    <a:pt x="3079683" y="798364"/>
                  </a:lnTo>
                  <a:lnTo>
                    <a:pt x="3084715" y="849663"/>
                  </a:lnTo>
                  <a:lnTo>
                    <a:pt x="3089834" y="900956"/>
                  </a:lnTo>
                  <a:lnTo>
                    <a:pt x="3095040" y="952246"/>
                  </a:lnTo>
                  <a:lnTo>
                    <a:pt x="3105223" y="900976"/>
                  </a:lnTo>
                  <a:lnTo>
                    <a:pt x="3115323" y="849700"/>
                  </a:lnTo>
                  <a:lnTo>
                    <a:pt x="3125341" y="798417"/>
                  </a:lnTo>
                  <a:lnTo>
                    <a:pt x="3135277" y="747128"/>
                  </a:lnTo>
                  <a:lnTo>
                    <a:pt x="3145132" y="695832"/>
                  </a:lnTo>
                  <a:lnTo>
                    <a:pt x="3154904" y="644529"/>
                  </a:lnTo>
                  <a:lnTo>
                    <a:pt x="3164596" y="593220"/>
                  </a:lnTo>
                  <a:lnTo>
                    <a:pt x="3174205" y="541906"/>
                  </a:lnTo>
                  <a:lnTo>
                    <a:pt x="3183734" y="490585"/>
                  </a:lnTo>
                  <a:lnTo>
                    <a:pt x="3193181" y="439258"/>
                  </a:lnTo>
                  <a:lnTo>
                    <a:pt x="3202548" y="387925"/>
                  </a:lnTo>
                  <a:lnTo>
                    <a:pt x="3211833" y="336587"/>
                  </a:lnTo>
                  <a:lnTo>
                    <a:pt x="3221038" y="285243"/>
                  </a:lnTo>
                  <a:lnTo>
                    <a:pt x="3230162" y="233894"/>
                  </a:lnTo>
                  <a:lnTo>
                    <a:pt x="3239206" y="182540"/>
                  </a:lnTo>
                  <a:lnTo>
                    <a:pt x="3248169" y="131181"/>
                  </a:lnTo>
                  <a:lnTo>
                    <a:pt x="3257052" y="79817"/>
                  </a:lnTo>
                  <a:lnTo>
                    <a:pt x="3265855" y="28448"/>
                  </a:lnTo>
                  <a:lnTo>
                    <a:pt x="3314435" y="28448"/>
                  </a:lnTo>
                  <a:lnTo>
                    <a:pt x="3363026" y="28448"/>
                  </a:lnTo>
                  <a:lnTo>
                    <a:pt x="3411641" y="28448"/>
                  </a:lnTo>
                  <a:lnTo>
                    <a:pt x="3460292" y="28448"/>
                  </a:lnTo>
                  <a:lnTo>
                    <a:pt x="3452771" y="79108"/>
                  </a:lnTo>
                  <a:lnTo>
                    <a:pt x="3445168" y="129766"/>
                  </a:lnTo>
                  <a:lnTo>
                    <a:pt x="3437486" y="180422"/>
                  </a:lnTo>
                  <a:lnTo>
                    <a:pt x="3429723" y="231075"/>
                  </a:lnTo>
                  <a:lnTo>
                    <a:pt x="3421880" y="281725"/>
                  </a:lnTo>
                  <a:lnTo>
                    <a:pt x="3413956" y="332373"/>
                  </a:lnTo>
                  <a:lnTo>
                    <a:pt x="3405952" y="383018"/>
                  </a:lnTo>
                  <a:lnTo>
                    <a:pt x="3397867" y="433659"/>
                  </a:lnTo>
                  <a:lnTo>
                    <a:pt x="3389703" y="484298"/>
                  </a:lnTo>
                  <a:lnTo>
                    <a:pt x="3381458" y="534932"/>
                  </a:lnTo>
                  <a:lnTo>
                    <a:pt x="3373133" y="585564"/>
                  </a:lnTo>
                  <a:lnTo>
                    <a:pt x="3364727" y="636191"/>
                  </a:lnTo>
                  <a:lnTo>
                    <a:pt x="3356242" y="686815"/>
                  </a:lnTo>
                  <a:lnTo>
                    <a:pt x="3347676" y="737434"/>
                  </a:lnTo>
                  <a:lnTo>
                    <a:pt x="3339030" y="788050"/>
                  </a:lnTo>
                  <a:lnTo>
                    <a:pt x="3330304" y="838661"/>
                  </a:lnTo>
                  <a:lnTo>
                    <a:pt x="3321497" y="889267"/>
                  </a:lnTo>
                  <a:lnTo>
                    <a:pt x="3312611" y="939869"/>
                  </a:lnTo>
                  <a:lnTo>
                    <a:pt x="3303644" y="990467"/>
                  </a:lnTo>
                  <a:lnTo>
                    <a:pt x="3294598" y="1041059"/>
                  </a:lnTo>
                  <a:lnTo>
                    <a:pt x="3285471" y="1091646"/>
                  </a:lnTo>
                  <a:lnTo>
                    <a:pt x="3276265" y="1142228"/>
                  </a:lnTo>
                  <a:lnTo>
                    <a:pt x="3266978" y="1192805"/>
                  </a:lnTo>
                  <a:lnTo>
                    <a:pt x="3257611" y="1243376"/>
                  </a:lnTo>
                  <a:lnTo>
                    <a:pt x="3248165" y="1293941"/>
                  </a:lnTo>
                  <a:lnTo>
                    <a:pt x="3238638" y="1344501"/>
                  </a:lnTo>
                  <a:lnTo>
                    <a:pt x="3229032" y="1395055"/>
                  </a:lnTo>
                  <a:lnTo>
                    <a:pt x="3219346" y="1445602"/>
                  </a:lnTo>
                  <a:lnTo>
                    <a:pt x="3209579" y="1496144"/>
                  </a:lnTo>
                  <a:lnTo>
                    <a:pt x="3199733" y="1546679"/>
                  </a:lnTo>
                  <a:lnTo>
                    <a:pt x="3189807" y="1597207"/>
                  </a:lnTo>
                  <a:lnTo>
                    <a:pt x="3179802" y="1647729"/>
                  </a:lnTo>
                  <a:lnTo>
                    <a:pt x="3169716" y="1698244"/>
                  </a:lnTo>
                  <a:lnTo>
                    <a:pt x="3123234" y="1698244"/>
                  </a:lnTo>
                  <a:lnTo>
                    <a:pt x="3076752" y="1698244"/>
                  </a:lnTo>
                  <a:lnTo>
                    <a:pt x="3030270" y="1698244"/>
                  </a:lnTo>
                  <a:lnTo>
                    <a:pt x="2983788" y="1698244"/>
                  </a:lnTo>
                  <a:lnTo>
                    <a:pt x="2937306" y="1698244"/>
                  </a:lnTo>
                  <a:lnTo>
                    <a:pt x="2932119" y="1647316"/>
                  </a:lnTo>
                  <a:lnTo>
                    <a:pt x="2927015" y="1596389"/>
                  </a:lnTo>
                  <a:lnTo>
                    <a:pt x="2921992" y="1545462"/>
                  </a:lnTo>
                  <a:lnTo>
                    <a:pt x="2917052" y="1494534"/>
                  </a:lnTo>
                  <a:lnTo>
                    <a:pt x="2912194" y="1443606"/>
                  </a:lnTo>
                  <a:lnTo>
                    <a:pt x="2907419" y="1392677"/>
                  </a:lnTo>
                  <a:lnTo>
                    <a:pt x="2902726" y="1341747"/>
                  </a:lnTo>
                  <a:lnTo>
                    <a:pt x="2898115" y="1290816"/>
                  </a:lnTo>
                  <a:lnTo>
                    <a:pt x="2893587" y="1239885"/>
                  </a:lnTo>
                  <a:lnTo>
                    <a:pt x="2889140" y="1188952"/>
                  </a:lnTo>
                  <a:lnTo>
                    <a:pt x="2884777" y="1138018"/>
                  </a:lnTo>
                  <a:lnTo>
                    <a:pt x="2880495" y="1087082"/>
                  </a:lnTo>
                  <a:lnTo>
                    <a:pt x="2876296" y="1036145"/>
                  </a:lnTo>
                  <a:lnTo>
                    <a:pt x="2872179" y="985206"/>
                  </a:lnTo>
                  <a:lnTo>
                    <a:pt x="2868144" y="934265"/>
                  </a:lnTo>
                  <a:lnTo>
                    <a:pt x="2864192" y="883322"/>
                  </a:lnTo>
                  <a:lnTo>
                    <a:pt x="2860322" y="832378"/>
                  </a:lnTo>
                  <a:lnTo>
                    <a:pt x="2856534" y="781430"/>
                  </a:lnTo>
                  <a:lnTo>
                    <a:pt x="2845728" y="829716"/>
                  </a:lnTo>
                  <a:lnTo>
                    <a:pt x="2834846" y="877999"/>
                  </a:lnTo>
                  <a:lnTo>
                    <a:pt x="2823889" y="926280"/>
                  </a:lnTo>
                  <a:lnTo>
                    <a:pt x="2812857" y="974558"/>
                  </a:lnTo>
                  <a:lnTo>
                    <a:pt x="2801750" y="1022833"/>
                  </a:lnTo>
                  <a:lnTo>
                    <a:pt x="2790569" y="1071105"/>
                  </a:lnTo>
                  <a:lnTo>
                    <a:pt x="2779314" y="1119373"/>
                  </a:lnTo>
                  <a:lnTo>
                    <a:pt x="2767985" y="1167638"/>
                  </a:lnTo>
                  <a:lnTo>
                    <a:pt x="2756583" y="1215899"/>
                  </a:lnTo>
                  <a:lnTo>
                    <a:pt x="2745108" y="1264155"/>
                  </a:lnTo>
                  <a:lnTo>
                    <a:pt x="2733560" y="1312408"/>
                  </a:lnTo>
                  <a:lnTo>
                    <a:pt x="2721940" y="1360655"/>
                  </a:lnTo>
                  <a:lnTo>
                    <a:pt x="2710248" y="1408898"/>
                  </a:lnTo>
                  <a:lnTo>
                    <a:pt x="2698484" y="1457136"/>
                  </a:lnTo>
                  <a:lnTo>
                    <a:pt x="2686649" y="1505369"/>
                  </a:lnTo>
                  <a:lnTo>
                    <a:pt x="2674743" y="1553596"/>
                  </a:lnTo>
                  <a:lnTo>
                    <a:pt x="2662766" y="1601818"/>
                  </a:lnTo>
                  <a:lnTo>
                    <a:pt x="2650719" y="1650034"/>
                  </a:lnTo>
                  <a:lnTo>
                    <a:pt x="2638602" y="1698244"/>
                  </a:lnTo>
                  <a:lnTo>
                    <a:pt x="2592210" y="1698244"/>
                  </a:lnTo>
                  <a:lnTo>
                    <a:pt x="2545835" y="1698244"/>
                  </a:lnTo>
                  <a:lnTo>
                    <a:pt x="2499467" y="1698244"/>
                  </a:lnTo>
                  <a:lnTo>
                    <a:pt x="2453093" y="1698244"/>
                  </a:lnTo>
                  <a:lnTo>
                    <a:pt x="2406700" y="1698244"/>
                  </a:lnTo>
                  <a:lnTo>
                    <a:pt x="2420144" y="1649237"/>
                  </a:lnTo>
                  <a:lnTo>
                    <a:pt x="2433513" y="1600222"/>
                  </a:lnTo>
                  <a:lnTo>
                    <a:pt x="2446807" y="1551201"/>
                  </a:lnTo>
                  <a:lnTo>
                    <a:pt x="2460027" y="1502173"/>
                  </a:lnTo>
                  <a:lnTo>
                    <a:pt x="2473172" y="1453138"/>
                  </a:lnTo>
                  <a:lnTo>
                    <a:pt x="2486242" y="1404096"/>
                  </a:lnTo>
                  <a:lnTo>
                    <a:pt x="2499238" y="1355047"/>
                  </a:lnTo>
                  <a:lnTo>
                    <a:pt x="2512159" y="1305992"/>
                  </a:lnTo>
                  <a:lnTo>
                    <a:pt x="2525005" y="1256929"/>
                  </a:lnTo>
                  <a:lnTo>
                    <a:pt x="2537776" y="1207861"/>
                  </a:lnTo>
                  <a:lnTo>
                    <a:pt x="2550473" y="1158785"/>
                  </a:lnTo>
                  <a:lnTo>
                    <a:pt x="2563094" y="1109704"/>
                  </a:lnTo>
                  <a:lnTo>
                    <a:pt x="2575641" y="1060616"/>
                  </a:lnTo>
                  <a:lnTo>
                    <a:pt x="2588112" y="1011522"/>
                  </a:lnTo>
                  <a:lnTo>
                    <a:pt x="2600509" y="962422"/>
                  </a:lnTo>
                  <a:lnTo>
                    <a:pt x="2612830" y="913315"/>
                  </a:lnTo>
                  <a:lnTo>
                    <a:pt x="2625077" y="864203"/>
                  </a:lnTo>
                  <a:lnTo>
                    <a:pt x="2637248" y="815084"/>
                  </a:lnTo>
                  <a:lnTo>
                    <a:pt x="2649344" y="765960"/>
                  </a:lnTo>
                  <a:lnTo>
                    <a:pt x="2661365" y="716830"/>
                  </a:lnTo>
                  <a:lnTo>
                    <a:pt x="2673310" y="667695"/>
                  </a:lnTo>
                  <a:lnTo>
                    <a:pt x="2685181" y="618553"/>
                  </a:lnTo>
                  <a:lnTo>
                    <a:pt x="2696976" y="569406"/>
                  </a:lnTo>
                  <a:lnTo>
                    <a:pt x="2708695" y="520254"/>
                  </a:lnTo>
                  <a:lnTo>
                    <a:pt x="2720339" y="471096"/>
                  </a:lnTo>
                  <a:lnTo>
                    <a:pt x="2731908" y="421933"/>
                  </a:lnTo>
                  <a:lnTo>
                    <a:pt x="2743401" y="372765"/>
                  </a:lnTo>
                  <a:lnTo>
                    <a:pt x="2754819" y="323592"/>
                  </a:lnTo>
                  <a:lnTo>
                    <a:pt x="2766161" y="274413"/>
                  </a:lnTo>
                  <a:lnTo>
                    <a:pt x="2777427" y="225230"/>
                  </a:lnTo>
                  <a:lnTo>
                    <a:pt x="2788618" y="176041"/>
                  </a:lnTo>
                  <a:lnTo>
                    <a:pt x="2799733" y="126848"/>
                  </a:lnTo>
                  <a:lnTo>
                    <a:pt x="2810773" y="77650"/>
                  </a:lnTo>
                  <a:lnTo>
                    <a:pt x="2821736" y="28448"/>
                  </a:lnTo>
                  <a:close/>
                </a:path>
                <a:path w="7030084" h="1727200">
                  <a:moveTo>
                    <a:pt x="2279954" y="28448"/>
                  </a:moveTo>
                  <a:lnTo>
                    <a:pt x="2336174" y="28448"/>
                  </a:lnTo>
                  <a:lnTo>
                    <a:pt x="2392429" y="28448"/>
                  </a:lnTo>
                  <a:lnTo>
                    <a:pt x="2448708" y="28448"/>
                  </a:lnTo>
                  <a:lnTo>
                    <a:pt x="2504998" y="28448"/>
                  </a:lnTo>
                  <a:lnTo>
                    <a:pt x="2499496" y="79040"/>
                  </a:lnTo>
                  <a:lnTo>
                    <a:pt x="2494002" y="129633"/>
                  </a:lnTo>
                  <a:lnTo>
                    <a:pt x="2488518" y="180227"/>
                  </a:lnTo>
                  <a:lnTo>
                    <a:pt x="2483042" y="230822"/>
                  </a:lnTo>
                  <a:lnTo>
                    <a:pt x="2477576" y="281417"/>
                  </a:lnTo>
                  <a:lnTo>
                    <a:pt x="2472118" y="332012"/>
                  </a:lnTo>
                  <a:lnTo>
                    <a:pt x="2466670" y="382609"/>
                  </a:lnTo>
                  <a:lnTo>
                    <a:pt x="2461230" y="433206"/>
                  </a:lnTo>
                  <a:lnTo>
                    <a:pt x="2455799" y="483803"/>
                  </a:lnTo>
                  <a:lnTo>
                    <a:pt x="2450378" y="534401"/>
                  </a:lnTo>
                  <a:lnTo>
                    <a:pt x="2444965" y="584999"/>
                  </a:lnTo>
                  <a:lnTo>
                    <a:pt x="2439561" y="635598"/>
                  </a:lnTo>
                  <a:lnTo>
                    <a:pt x="2434166" y="686197"/>
                  </a:lnTo>
                  <a:lnTo>
                    <a:pt x="2428780" y="736797"/>
                  </a:lnTo>
                  <a:lnTo>
                    <a:pt x="2423402" y="787397"/>
                  </a:lnTo>
                  <a:lnTo>
                    <a:pt x="2418033" y="837997"/>
                  </a:lnTo>
                  <a:lnTo>
                    <a:pt x="2412673" y="888598"/>
                  </a:lnTo>
                  <a:lnTo>
                    <a:pt x="2407322" y="939200"/>
                  </a:lnTo>
                  <a:lnTo>
                    <a:pt x="2401980" y="989801"/>
                  </a:lnTo>
                  <a:lnTo>
                    <a:pt x="2396646" y="1040403"/>
                  </a:lnTo>
                  <a:lnTo>
                    <a:pt x="2391321" y="1091005"/>
                  </a:lnTo>
                  <a:lnTo>
                    <a:pt x="2386004" y="1141607"/>
                  </a:lnTo>
                  <a:lnTo>
                    <a:pt x="2380696" y="1192210"/>
                  </a:lnTo>
                  <a:lnTo>
                    <a:pt x="2375397" y="1242813"/>
                  </a:lnTo>
                  <a:lnTo>
                    <a:pt x="2370106" y="1293415"/>
                  </a:lnTo>
                  <a:lnTo>
                    <a:pt x="2364824" y="1344019"/>
                  </a:lnTo>
                  <a:lnTo>
                    <a:pt x="2359550" y="1394622"/>
                  </a:lnTo>
                  <a:lnTo>
                    <a:pt x="2354285" y="1445225"/>
                  </a:lnTo>
                  <a:lnTo>
                    <a:pt x="2349029" y="1495829"/>
                  </a:lnTo>
                  <a:lnTo>
                    <a:pt x="2343781" y="1546432"/>
                  </a:lnTo>
                  <a:lnTo>
                    <a:pt x="2338541" y="1597036"/>
                  </a:lnTo>
                  <a:lnTo>
                    <a:pt x="2333310" y="1647640"/>
                  </a:lnTo>
                  <a:lnTo>
                    <a:pt x="2328087" y="1698244"/>
                  </a:lnTo>
                  <a:lnTo>
                    <a:pt x="2276425" y="1698244"/>
                  </a:lnTo>
                  <a:lnTo>
                    <a:pt x="2224768" y="1698244"/>
                  </a:lnTo>
                  <a:lnTo>
                    <a:pt x="2173124" y="1698244"/>
                  </a:lnTo>
                  <a:lnTo>
                    <a:pt x="2121498" y="1698244"/>
                  </a:lnTo>
                  <a:lnTo>
                    <a:pt x="2069896" y="1698244"/>
                  </a:lnTo>
                  <a:lnTo>
                    <a:pt x="2078887" y="1643088"/>
                  </a:lnTo>
                  <a:lnTo>
                    <a:pt x="2087871" y="1587951"/>
                  </a:lnTo>
                  <a:lnTo>
                    <a:pt x="2096844" y="1532819"/>
                  </a:lnTo>
                  <a:lnTo>
                    <a:pt x="2105798" y="1477682"/>
                  </a:lnTo>
                  <a:lnTo>
                    <a:pt x="2114727" y="1422527"/>
                  </a:lnTo>
                  <a:lnTo>
                    <a:pt x="2060244" y="1422527"/>
                  </a:lnTo>
                  <a:lnTo>
                    <a:pt x="2005761" y="1422527"/>
                  </a:lnTo>
                  <a:lnTo>
                    <a:pt x="1951278" y="1422527"/>
                  </a:lnTo>
                  <a:lnTo>
                    <a:pt x="1896795" y="1422527"/>
                  </a:lnTo>
                  <a:lnTo>
                    <a:pt x="1842312" y="1422527"/>
                  </a:lnTo>
                  <a:lnTo>
                    <a:pt x="1820786" y="1468500"/>
                  </a:lnTo>
                  <a:lnTo>
                    <a:pt x="1799132" y="1514470"/>
                  </a:lnTo>
                  <a:lnTo>
                    <a:pt x="1777352" y="1560433"/>
                  </a:lnTo>
                  <a:lnTo>
                    <a:pt x="1755444" y="1606385"/>
                  </a:lnTo>
                  <a:lnTo>
                    <a:pt x="1733410" y="1652323"/>
                  </a:lnTo>
                  <a:lnTo>
                    <a:pt x="1711248" y="1698244"/>
                  </a:lnTo>
                  <a:lnTo>
                    <a:pt x="1660881" y="1698244"/>
                  </a:lnTo>
                  <a:lnTo>
                    <a:pt x="1610520" y="1698244"/>
                  </a:lnTo>
                  <a:lnTo>
                    <a:pt x="1560171" y="1698244"/>
                  </a:lnTo>
                  <a:lnTo>
                    <a:pt x="1509841" y="1698244"/>
                  </a:lnTo>
                  <a:lnTo>
                    <a:pt x="1459534" y="1698244"/>
                  </a:lnTo>
                  <a:lnTo>
                    <a:pt x="1483970" y="1653450"/>
                  </a:lnTo>
                  <a:lnTo>
                    <a:pt x="1508284" y="1608636"/>
                  </a:lnTo>
                  <a:lnTo>
                    <a:pt x="1532474" y="1563800"/>
                  </a:lnTo>
                  <a:lnTo>
                    <a:pt x="1556541" y="1518945"/>
                  </a:lnTo>
                  <a:lnTo>
                    <a:pt x="1580485" y="1474068"/>
                  </a:lnTo>
                  <a:lnTo>
                    <a:pt x="1604305" y="1429172"/>
                  </a:lnTo>
                  <a:lnTo>
                    <a:pt x="1628000" y="1384256"/>
                  </a:lnTo>
                  <a:lnTo>
                    <a:pt x="1651572" y="1339320"/>
                  </a:lnTo>
                  <a:lnTo>
                    <a:pt x="1675019" y="1294364"/>
                  </a:lnTo>
                  <a:lnTo>
                    <a:pt x="1698342" y="1249389"/>
                  </a:lnTo>
                  <a:lnTo>
                    <a:pt x="1721539" y="1204395"/>
                  </a:lnTo>
                  <a:lnTo>
                    <a:pt x="1744611" y="1159382"/>
                  </a:lnTo>
                  <a:lnTo>
                    <a:pt x="1767558" y="1114350"/>
                  </a:lnTo>
                  <a:lnTo>
                    <a:pt x="1790379" y="1069299"/>
                  </a:lnTo>
                  <a:lnTo>
                    <a:pt x="1813073" y="1024230"/>
                  </a:lnTo>
                  <a:lnTo>
                    <a:pt x="1835642" y="979143"/>
                  </a:lnTo>
                  <a:lnTo>
                    <a:pt x="1858084" y="934037"/>
                  </a:lnTo>
                  <a:lnTo>
                    <a:pt x="1880399" y="888914"/>
                  </a:lnTo>
                  <a:lnTo>
                    <a:pt x="1902587" y="843773"/>
                  </a:lnTo>
                  <a:lnTo>
                    <a:pt x="1924648" y="798615"/>
                  </a:lnTo>
                  <a:lnTo>
                    <a:pt x="1946581" y="753440"/>
                  </a:lnTo>
                  <a:lnTo>
                    <a:pt x="1968386" y="708247"/>
                  </a:lnTo>
                  <a:lnTo>
                    <a:pt x="1990064" y="663038"/>
                  </a:lnTo>
                  <a:lnTo>
                    <a:pt x="2011613" y="617812"/>
                  </a:lnTo>
                  <a:lnTo>
                    <a:pt x="2033033" y="572569"/>
                  </a:lnTo>
                  <a:lnTo>
                    <a:pt x="2054325" y="527311"/>
                  </a:lnTo>
                  <a:lnTo>
                    <a:pt x="2075487" y="482036"/>
                  </a:lnTo>
                  <a:lnTo>
                    <a:pt x="2096520" y="436745"/>
                  </a:lnTo>
                  <a:lnTo>
                    <a:pt x="2117424" y="391439"/>
                  </a:lnTo>
                  <a:lnTo>
                    <a:pt x="2138197" y="346117"/>
                  </a:lnTo>
                  <a:lnTo>
                    <a:pt x="2158841" y="300780"/>
                  </a:lnTo>
                  <a:lnTo>
                    <a:pt x="2179354" y="255428"/>
                  </a:lnTo>
                  <a:lnTo>
                    <a:pt x="2199736" y="210061"/>
                  </a:lnTo>
                  <a:lnTo>
                    <a:pt x="2219988" y="164679"/>
                  </a:lnTo>
                  <a:lnTo>
                    <a:pt x="2240108" y="119283"/>
                  </a:lnTo>
                  <a:lnTo>
                    <a:pt x="2260097" y="73872"/>
                  </a:lnTo>
                  <a:lnTo>
                    <a:pt x="2279954" y="28448"/>
                  </a:lnTo>
                  <a:close/>
                </a:path>
                <a:path w="7030084" h="1727200">
                  <a:moveTo>
                    <a:pt x="1319453" y="28448"/>
                  </a:moveTo>
                  <a:lnTo>
                    <a:pt x="1371059" y="28448"/>
                  </a:lnTo>
                  <a:lnTo>
                    <a:pt x="1422641" y="28448"/>
                  </a:lnTo>
                  <a:lnTo>
                    <a:pt x="1474223" y="28448"/>
                  </a:lnTo>
                  <a:lnTo>
                    <a:pt x="1525828" y="28448"/>
                  </a:lnTo>
                  <a:lnTo>
                    <a:pt x="1507599" y="77181"/>
                  </a:lnTo>
                  <a:lnTo>
                    <a:pt x="1489295" y="125909"/>
                  </a:lnTo>
                  <a:lnTo>
                    <a:pt x="1470919" y="174630"/>
                  </a:lnTo>
                  <a:lnTo>
                    <a:pt x="1452469" y="223345"/>
                  </a:lnTo>
                  <a:lnTo>
                    <a:pt x="1433948" y="272053"/>
                  </a:lnTo>
                  <a:lnTo>
                    <a:pt x="1415354" y="320754"/>
                  </a:lnTo>
                  <a:lnTo>
                    <a:pt x="1396689" y="369446"/>
                  </a:lnTo>
                  <a:lnTo>
                    <a:pt x="1377953" y="418131"/>
                  </a:lnTo>
                  <a:lnTo>
                    <a:pt x="1359147" y="466806"/>
                  </a:lnTo>
                  <a:lnTo>
                    <a:pt x="1340270" y="515472"/>
                  </a:lnTo>
                  <a:lnTo>
                    <a:pt x="1321324" y="564128"/>
                  </a:lnTo>
                  <a:lnTo>
                    <a:pt x="1302308" y="612775"/>
                  </a:lnTo>
                  <a:lnTo>
                    <a:pt x="1350467" y="612775"/>
                  </a:lnTo>
                  <a:lnTo>
                    <a:pt x="1398625" y="612775"/>
                  </a:lnTo>
                  <a:lnTo>
                    <a:pt x="1446783" y="612775"/>
                  </a:lnTo>
                  <a:lnTo>
                    <a:pt x="1494942" y="612775"/>
                  </a:lnTo>
                  <a:lnTo>
                    <a:pt x="1543100" y="612775"/>
                  </a:lnTo>
                  <a:lnTo>
                    <a:pt x="1560843" y="564128"/>
                  </a:lnTo>
                  <a:lnTo>
                    <a:pt x="1578513" y="515472"/>
                  </a:lnTo>
                  <a:lnTo>
                    <a:pt x="1596109" y="466806"/>
                  </a:lnTo>
                  <a:lnTo>
                    <a:pt x="1613632" y="418131"/>
                  </a:lnTo>
                  <a:lnTo>
                    <a:pt x="1631083" y="369446"/>
                  </a:lnTo>
                  <a:lnTo>
                    <a:pt x="1648463" y="320754"/>
                  </a:lnTo>
                  <a:lnTo>
                    <a:pt x="1665770" y="272053"/>
                  </a:lnTo>
                  <a:lnTo>
                    <a:pt x="1683007" y="223345"/>
                  </a:lnTo>
                  <a:lnTo>
                    <a:pt x="1700174" y="174630"/>
                  </a:lnTo>
                  <a:lnTo>
                    <a:pt x="1717270" y="125909"/>
                  </a:lnTo>
                  <a:lnTo>
                    <a:pt x="1734296" y="77181"/>
                  </a:lnTo>
                  <a:lnTo>
                    <a:pt x="1751253" y="28448"/>
                  </a:lnTo>
                  <a:lnTo>
                    <a:pt x="1803069" y="28448"/>
                  </a:lnTo>
                  <a:lnTo>
                    <a:pt x="1854885" y="28448"/>
                  </a:lnTo>
                  <a:lnTo>
                    <a:pt x="1906701" y="28448"/>
                  </a:lnTo>
                  <a:lnTo>
                    <a:pt x="1958517" y="28448"/>
                  </a:lnTo>
                  <a:lnTo>
                    <a:pt x="1943046" y="76276"/>
                  </a:lnTo>
                  <a:lnTo>
                    <a:pt x="1927504" y="124099"/>
                  </a:lnTo>
                  <a:lnTo>
                    <a:pt x="1911891" y="171915"/>
                  </a:lnTo>
                  <a:lnTo>
                    <a:pt x="1896207" y="219724"/>
                  </a:lnTo>
                  <a:lnTo>
                    <a:pt x="1880453" y="267527"/>
                  </a:lnTo>
                  <a:lnTo>
                    <a:pt x="1864628" y="315324"/>
                  </a:lnTo>
                  <a:lnTo>
                    <a:pt x="1848732" y="363114"/>
                  </a:lnTo>
                  <a:lnTo>
                    <a:pt x="1832767" y="410897"/>
                  </a:lnTo>
                  <a:lnTo>
                    <a:pt x="1816730" y="458673"/>
                  </a:lnTo>
                  <a:lnTo>
                    <a:pt x="1800624" y="506443"/>
                  </a:lnTo>
                  <a:lnTo>
                    <a:pt x="1784447" y="554206"/>
                  </a:lnTo>
                  <a:lnTo>
                    <a:pt x="1768201" y="601961"/>
                  </a:lnTo>
                  <a:lnTo>
                    <a:pt x="1751884" y="649710"/>
                  </a:lnTo>
                  <a:lnTo>
                    <a:pt x="1735497" y="697451"/>
                  </a:lnTo>
                  <a:lnTo>
                    <a:pt x="1719040" y="745185"/>
                  </a:lnTo>
                  <a:lnTo>
                    <a:pt x="1702514" y="792912"/>
                  </a:lnTo>
                  <a:lnTo>
                    <a:pt x="1685918" y="840632"/>
                  </a:lnTo>
                  <a:lnTo>
                    <a:pt x="1669252" y="888344"/>
                  </a:lnTo>
                  <a:lnTo>
                    <a:pt x="1652516" y="936048"/>
                  </a:lnTo>
                  <a:lnTo>
                    <a:pt x="1635711" y="983745"/>
                  </a:lnTo>
                  <a:lnTo>
                    <a:pt x="1618836" y="1031435"/>
                  </a:lnTo>
                  <a:lnTo>
                    <a:pt x="1601892" y="1079116"/>
                  </a:lnTo>
                  <a:lnTo>
                    <a:pt x="1584878" y="1126790"/>
                  </a:lnTo>
                  <a:lnTo>
                    <a:pt x="1567796" y="1174456"/>
                  </a:lnTo>
                  <a:lnTo>
                    <a:pt x="1550644" y="1222114"/>
                  </a:lnTo>
                  <a:lnTo>
                    <a:pt x="1533423" y="1269764"/>
                  </a:lnTo>
                  <a:lnTo>
                    <a:pt x="1516132" y="1317406"/>
                  </a:lnTo>
                  <a:lnTo>
                    <a:pt x="1498773" y="1365040"/>
                  </a:lnTo>
                  <a:lnTo>
                    <a:pt x="1481345" y="1412666"/>
                  </a:lnTo>
                  <a:lnTo>
                    <a:pt x="1463848" y="1460283"/>
                  </a:lnTo>
                  <a:lnTo>
                    <a:pt x="1446283" y="1507892"/>
                  </a:lnTo>
                  <a:lnTo>
                    <a:pt x="1428648" y="1555493"/>
                  </a:lnTo>
                  <a:lnTo>
                    <a:pt x="1410945" y="1603085"/>
                  </a:lnTo>
                  <a:lnTo>
                    <a:pt x="1393173" y="1650669"/>
                  </a:lnTo>
                  <a:lnTo>
                    <a:pt x="1375333" y="1698244"/>
                  </a:lnTo>
                  <a:lnTo>
                    <a:pt x="1325804" y="1698244"/>
                  </a:lnTo>
                  <a:lnTo>
                    <a:pt x="1276281" y="1698244"/>
                  </a:lnTo>
                  <a:lnTo>
                    <a:pt x="1226771" y="1698244"/>
                  </a:lnTo>
                  <a:lnTo>
                    <a:pt x="1177278" y="1698244"/>
                  </a:lnTo>
                  <a:lnTo>
                    <a:pt x="1127810" y="1698244"/>
                  </a:lnTo>
                  <a:lnTo>
                    <a:pt x="1147043" y="1650043"/>
                  </a:lnTo>
                  <a:lnTo>
                    <a:pt x="1166205" y="1601835"/>
                  </a:lnTo>
                  <a:lnTo>
                    <a:pt x="1185297" y="1553619"/>
                  </a:lnTo>
                  <a:lnTo>
                    <a:pt x="1204318" y="1505395"/>
                  </a:lnTo>
                  <a:lnTo>
                    <a:pt x="1223268" y="1457164"/>
                  </a:lnTo>
                  <a:lnTo>
                    <a:pt x="1242147" y="1408925"/>
                  </a:lnTo>
                  <a:lnTo>
                    <a:pt x="1260954" y="1360677"/>
                  </a:lnTo>
                  <a:lnTo>
                    <a:pt x="1279689" y="1312423"/>
                  </a:lnTo>
                  <a:lnTo>
                    <a:pt x="1298352" y="1264160"/>
                  </a:lnTo>
                  <a:lnTo>
                    <a:pt x="1316942" y="1215890"/>
                  </a:lnTo>
                  <a:lnTo>
                    <a:pt x="1335460" y="1167612"/>
                  </a:lnTo>
                  <a:lnTo>
                    <a:pt x="1353904" y="1119326"/>
                  </a:lnTo>
                  <a:lnTo>
                    <a:pt x="1372276" y="1071032"/>
                  </a:lnTo>
                  <a:lnTo>
                    <a:pt x="1390573" y="1022730"/>
                  </a:lnTo>
                  <a:lnTo>
                    <a:pt x="1340268" y="1022730"/>
                  </a:lnTo>
                  <a:lnTo>
                    <a:pt x="1289945" y="1022730"/>
                  </a:lnTo>
                  <a:lnTo>
                    <a:pt x="1239615" y="1022730"/>
                  </a:lnTo>
                  <a:lnTo>
                    <a:pt x="1189292" y="1022730"/>
                  </a:lnTo>
                  <a:lnTo>
                    <a:pt x="1138986" y="1022730"/>
                  </a:lnTo>
                  <a:lnTo>
                    <a:pt x="1119410" y="1071032"/>
                  </a:lnTo>
                  <a:lnTo>
                    <a:pt x="1099759" y="1119326"/>
                  </a:lnTo>
                  <a:lnTo>
                    <a:pt x="1080036" y="1167612"/>
                  </a:lnTo>
                  <a:lnTo>
                    <a:pt x="1060239" y="1215890"/>
                  </a:lnTo>
                  <a:lnTo>
                    <a:pt x="1040369" y="1264160"/>
                  </a:lnTo>
                  <a:lnTo>
                    <a:pt x="1020428" y="1312423"/>
                  </a:lnTo>
                  <a:lnTo>
                    <a:pt x="1000413" y="1360677"/>
                  </a:lnTo>
                  <a:lnTo>
                    <a:pt x="980327" y="1408925"/>
                  </a:lnTo>
                  <a:lnTo>
                    <a:pt x="960170" y="1457164"/>
                  </a:lnTo>
                  <a:lnTo>
                    <a:pt x="939941" y="1505395"/>
                  </a:lnTo>
                  <a:lnTo>
                    <a:pt x="919640" y="1553619"/>
                  </a:lnTo>
                  <a:lnTo>
                    <a:pt x="899270" y="1601835"/>
                  </a:lnTo>
                  <a:lnTo>
                    <a:pt x="878828" y="1650043"/>
                  </a:lnTo>
                  <a:lnTo>
                    <a:pt x="858316" y="1698244"/>
                  </a:lnTo>
                  <a:lnTo>
                    <a:pt x="809015" y="1698244"/>
                  </a:lnTo>
                  <a:lnTo>
                    <a:pt x="759713" y="1698244"/>
                  </a:lnTo>
                  <a:lnTo>
                    <a:pt x="710412" y="1698244"/>
                  </a:lnTo>
                  <a:lnTo>
                    <a:pt x="661111" y="1698244"/>
                  </a:lnTo>
                  <a:lnTo>
                    <a:pt x="611809" y="1698244"/>
                  </a:lnTo>
                  <a:lnTo>
                    <a:pt x="632595" y="1652011"/>
                  </a:lnTo>
                  <a:lnTo>
                    <a:pt x="653317" y="1605769"/>
                  </a:lnTo>
                  <a:lnTo>
                    <a:pt x="673975" y="1559517"/>
                  </a:lnTo>
                  <a:lnTo>
                    <a:pt x="694570" y="1513257"/>
                  </a:lnTo>
                  <a:lnTo>
                    <a:pt x="715101" y="1466987"/>
                  </a:lnTo>
                  <a:lnTo>
                    <a:pt x="735568" y="1420709"/>
                  </a:lnTo>
                  <a:lnTo>
                    <a:pt x="755971" y="1374421"/>
                  </a:lnTo>
                  <a:lnTo>
                    <a:pt x="776310" y="1328124"/>
                  </a:lnTo>
                  <a:lnTo>
                    <a:pt x="796584" y="1281818"/>
                  </a:lnTo>
                  <a:lnTo>
                    <a:pt x="816795" y="1235504"/>
                  </a:lnTo>
                  <a:lnTo>
                    <a:pt x="836941" y="1189181"/>
                  </a:lnTo>
                  <a:lnTo>
                    <a:pt x="857023" y="1142849"/>
                  </a:lnTo>
                  <a:lnTo>
                    <a:pt x="877040" y="1096508"/>
                  </a:lnTo>
                  <a:lnTo>
                    <a:pt x="896993" y="1050159"/>
                  </a:lnTo>
                  <a:lnTo>
                    <a:pt x="916881" y="1003802"/>
                  </a:lnTo>
                  <a:lnTo>
                    <a:pt x="936704" y="957436"/>
                  </a:lnTo>
                  <a:lnTo>
                    <a:pt x="956463" y="911062"/>
                  </a:lnTo>
                  <a:lnTo>
                    <a:pt x="976156" y="864679"/>
                  </a:lnTo>
                  <a:lnTo>
                    <a:pt x="995785" y="818288"/>
                  </a:lnTo>
                  <a:lnTo>
                    <a:pt x="1015349" y="771889"/>
                  </a:lnTo>
                  <a:lnTo>
                    <a:pt x="1034847" y="725482"/>
                  </a:lnTo>
                  <a:lnTo>
                    <a:pt x="1054281" y="679067"/>
                  </a:lnTo>
                  <a:lnTo>
                    <a:pt x="1073649" y="632644"/>
                  </a:lnTo>
                  <a:lnTo>
                    <a:pt x="1092951" y="586213"/>
                  </a:lnTo>
                  <a:lnTo>
                    <a:pt x="1112188" y="539774"/>
                  </a:lnTo>
                  <a:lnTo>
                    <a:pt x="1131360" y="493327"/>
                  </a:lnTo>
                  <a:lnTo>
                    <a:pt x="1150466" y="446873"/>
                  </a:lnTo>
                  <a:lnTo>
                    <a:pt x="1169506" y="400411"/>
                  </a:lnTo>
                  <a:lnTo>
                    <a:pt x="1188481" y="353941"/>
                  </a:lnTo>
                  <a:lnTo>
                    <a:pt x="1207389" y="307464"/>
                  </a:lnTo>
                  <a:lnTo>
                    <a:pt x="1226232" y="260980"/>
                  </a:lnTo>
                  <a:lnTo>
                    <a:pt x="1245009" y="214488"/>
                  </a:lnTo>
                  <a:lnTo>
                    <a:pt x="1263719" y="167988"/>
                  </a:lnTo>
                  <a:lnTo>
                    <a:pt x="1282364" y="121482"/>
                  </a:lnTo>
                  <a:lnTo>
                    <a:pt x="1300942" y="74968"/>
                  </a:lnTo>
                  <a:lnTo>
                    <a:pt x="1319453" y="28448"/>
                  </a:lnTo>
                  <a:close/>
                </a:path>
                <a:path w="7030084" h="1727200">
                  <a:moveTo>
                    <a:pt x="596950" y="28448"/>
                  </a:moveTo>
                  <a:lnTo>
                    <a:pt x="596950" y="28448"/>
                  </a:lnTo>
                  <a:lnTo>
                    <a:pt x="1224076" y="28448"/>
                  </a:lnTo>
                  <a:lnTo>
                    <a:pt x="1205332" y="74290"/>
                  </a:lnTo>
                  <a:lnTo>
                    <a:pt x="1186522" y="120124"/>
                  </a:lnTo>
                  <a:lnTo>
                    <a:pt x="1167646" y="165951"/>
                  </a:lnTo>
                  <a:lnTo>
                    <a:pt x="1148704" y="211771"/>
                  </a:lnTo>
                  <a:lnTo>
                    <a:pt x="1129696" y="257587"/>
                  </a:lnTo>
                  <a:lnTo>
                    <a:pt x="1110623" y="303398"/>
                  </a:lnTo>
                  <a:lnTo>
                    <a:pt x="1091484" y="349206"/>
                  </a:lnTo>
                  <a:lnTo>
                    <a:pt x="1072278" y="395012"/>
                  </a:lnTo>
                  <a:lnTo>
                    <a:pt x="1053007" y="440816"/>
                  </a:lnTo>
                  <a:lnTo>
                    <a:pt x="997858" y="440816"/>
                  </a:lnTo>
                  <a:lnTo>
                    <a:pt x="942708" y="440816"/>
                  </a:lnTo>
                  <a:lnTo>
                    <a:pt x="887558" y="440816"/>
                  </a:lnTo>
                  <a:lnTo>
                    <a:pt x="832408" y="440816"/>
                  </a:lnTo>
                  <a:lnTo>
                    <a:pt x="811561" y="487492"/>
                  </a:lnTo>
                  <a:lnTo>
                    <a:pt x="790647" y="534161"/>
                  </a:lnTo>
                  <a:lnTo>
                    <a:pt x="769666" y="580822"/>
                  </a:lnTo>
                  <a:lnTo>
                    <a:pt x="748619" y="627475"/>
                  </a:lnTo>
                  <a:lnTo>
                    <a:pt x="727506" y="674121"/>
                  </a:lnTo>
                  <a:lnTo>
                    <a:pt x="706326" y="720759"/>
                  </a:lnTo>
                  <a:lnTo>
                    <a:pt x="685081" y="767390"/>
                  </a:lnTo>
                  <a:lnTo>
                    <a:pt x="663770" y="814012"/>
                  </a:lnTo>
                  <a:lnTo>
                    <a:pt x="642393" y="860627"/>
                  </a:lnTo>
                  <a:lnTo>
                    <a:pt x="620950" y="907233"/>
                  </a:lnTo>
                  <a:lnTo>
                    <a:pt x="599443" y="953832"/>
                  </a:lnTo>
                  <a:lnTo>
                    <a:pt x="577870" y="1000422"/>
                  </a:lnTo>
                  <a:lnTo>
                    <a:pt x="556232" y="1047004"/>
                  </a:lnTo>
                  <a:lnTo>
                    <a:pt x="534529" y="1093578"/>
                  </a:lnTo>
                  <a:lnTo>
                    <a:pt x="512761" y="1140143"/>
                  </a:lnTo>
                  <a:lnTo>
                    <a:pt x="490929" y="1186700"/>
                  </a:lnTo>
                  <a:lnTo>
                    <a:pt x="469032" y="1233248"/>
                  </a:lnTo>
                  <a:lnTo>
                    <a:pt x="447071" y="1279788"/>
                  </a:lnTo>
                  <a:lnTo>
                    <a:pt x="425047" y="1326319"/>
                  </a:lnTo>
                  <a:lnTo>
                    <a:pt x="402958" y="1372841"/>
                  </a:lnTo>
                  <a:lnTo>
                    <a:pt x="380805" y="1419354"/>
                  </a:lnTo>
                  <a:lnTo>
                    <a:pt x="358588" y="1465859"/>
                  </a:lnTo>
                  <a:lnTo>
                    <a:pt x="336309" y="1512354"/>
                  </a:lnTo>
                  <a:lnTo>
                    <a:pt x="313965" y="1558840"/>
                  </a:lnTo>
                  <a:lnTo>
                    <a:pt x="291559" y="1605317"/>
                  </a:lnTo>
                  <a:lnTo>
                    <a:pt x="269090" y="1651785"/>
                  </a:lnTo>
                  <a:lnTo>
                    <a:pt x="246557" y="1698244"/>
                  </a:lnTo>
                  <a:lnTo>
                    <a:pt x="197231" y="1698244"/>
                  </a:lnTo>
                  <a:lnTo>
                    <a:pt x="147915" y="1698244"/>
                  </a:lnTo>
                  <a:lnTo>
                    <a:pt x="98606" y="1698244"/>
                  </a:lnTo>
                  <a:lnTo>
                    <a:pt x="49301" y="1698244"/>
                  </a:lnTo>
                  <a:lnTo>
                    <a:pt x="0" y="1698244"/>
                  </a:lnTo>
                  <a:lnTo>
                    <a:pt x="22811" y="1653444"/>
                  </a:lnTo>
                  <a:lnTo>
                    <a:pt x="45563" y="1608637"/>
                  </a:lnTo>
                  <a:lnTo>
                    <a:pt x="68256" y="1563820"/>
                  </a:lnTo>
                  <a:lnTo>
                    <a:pt x="90890" y="1518995"/>
                  </a:lnTo>
                  <a:lnTo>
                    <a:pt x="113465" y="1474162"/>
                  </a:lnTo>
                  <a:lnTo>
                    <a:pt x="135980" y="1429320"/>
                  </a:lnTo>
                  <a:lnTo>
                    <a:pt x="158436" y="1384470"/>
                  </a:lnTo>
                  <a:lnTo>
                    <a:pt x="180833" y="1339612"/>
                  </a:lnTo>
                  <a:lnTo>
                    <a:pt x="203171" y="1294745"/>
                  </a:lnTo>
                  <a:lnTo>
                    <a:pt x="225449" y="1249871"/>
                  </a:lnTo>
                  <a:lnTo>
                    <a:pt x="247667" y="1204988"/>
                  </a:lnTo>
                  <a:lnTo>
                    <a:pt x="269826" y="1160097"/>
                  </a:lnTo>
                  <a:lnTo>
                    <a:pt x="291926" y="1115198"/>
                  </a:lnTo>
                  <a:lnTo>
                    <a:pt x="313966" y="1070292"/>
                  </a:lnTo>
                  <a:lnTo>
                    <a:pt x="335946" y="1025378"/>
                  </a:lnTo>
                  <a:lnTo>
                    <a:pt x="357867" y="980456"/>
                  </a:lnTo>
                  <a:lnTo>
                    <a:pt x="379728" y="935526"/>
                  </a:lnTo>
                  <a:lnTo>
                    <a:pt x="401530" y="890589"/>
                  </a:lnTo>
                  <a:lnTo>
                    <a:pt x="423271" y="845644"/>
                  </a:lnTo>
                  <a:lnTo>
                    <a:pt x="444953" y="800692"/>
                  </a:lnTo>
                  <a:lnTo>
                    <a:pt x="466576" y="755733"/>
                  </a:lnTo>
                  <a:lnTo>
                    <a:pt x="488138" y="710766"/>
                  </a:lnTo>
                  <a:lnTo>
                    <a:pt x="509641" y="665792"/>
                  </a:lnTo>
                  <a:lnTo>
                    <a:pt x="531083" y="620811"/>
                  </a:lnTo>
                  <a:lnTo>
                    <a:pt x="552466" y="575823"/>
                  </a:lnTo>
                  <a:lnTo>
                    <a:pt x="573789" y="530828"/>
                  </a:lnTo>
                  <a:lnTo>
                    <a:pt x="595052" y="485826"/>
                  </a:lnTo>
                  <a:lnTo>
                    <a:pt x="616254" y="440816"/>
                  </a:lnTo>
                  <a:lnTo>
                    <a:pt x="561105" y="440816"/>
                  </a:lnTo>
                  <a:lnTo>
                    <a:pt x="505955" y="440816"/>
                  </a:lnTo>
                  <a:lnTo>
                    <a:pt x="450805" y="440816"/>
                  </a:lnTo>
                  <a:lnTo>
                    <a:pt x="395655" y="440816"/>
                  </a:lnTo>
                  <a:lnTo>
                    <a:pt x="418271" y="395012"/>
                  </a:lnTo>
                  <a:lnTo>
                    <a:pt x="440822" y="349206"/>
                  </a:lnTo>
                  <a:lnTo>
                    <a:pt x="463309" y="303398"/>
                  </a:lnTo>
                  <a:lnTo>
                    <a:pt x="485733" y="257587"/>
                  </a:lnTo>
                  <a:lnTo>
                    <a:pt x="508096" y="211771"/>
                  </a:lnTo>
                  <a:lnTo>
                    <a:pt x="530398" y="165951"/>
                  </a:lnTo>
                  <a:lnTo>
                    <a:pt x="552640" y="120124"/>
                  </a:lnTo>
                  <a:lnTo>
                    <a:pt x="574824" y="74290"/>
                  </a:lnTo>
                  <a:lnTo>
                    <a:pt x="596950" y="28448"/>
                  </a:lnTo>
                  <a:close/>
                </a:path>
                <a:path w="7030084" h="1727200">
                  <a:moveTo>
                    <a:pt x="5670092" y="0"/>
                  </a:moveTo>
                  <a:lnTo>
                    <a:pt x="5710876" y="3510"/>
                  </a:lnTo>
                  <a:lnTo>
                    <a:pt x="5750192" y="14033"/>
                  </a:lnTo>
                  <a:lnTo>
                    <a:pt x="5788069" y="31557"/>
                  </a:lnTo>
                  <a:lnTo>
                    <a:pt x="5824540" y="56070"/>
                  </a:lnTo>
                  <a:lnTo>
                    <a:pt x="5859636" y="87560"/>
                  </a:lnTo>
                  <a:lnTo>
                    <a:pt x="5893388" y="126015"/>
                  </a:lnTo>
                  <a:lnTo>
                    <a:pt x="5925827" y="171424"/>
                  </a:lnTo>
                  <a:lnTo>
                    <a:pt x="5956985" y="223774"/>
                  </a:lnTo>
                  <a:lnTo>
                    <a:pt x="5975470" y="259320"/>
                  </a:lnTo>
                  <a:lnTo>
                    <a:pt x="5993221" y="296970"/>
                  </a:lnTo>
                  <a:lnTo>
                    <a:pt x="6010216" y="336727"/>
                  </a:lnTo>
                  <a:lnTo>
                    <a:pt x="6026432" y="378593"/>
                  </a:lnTo>
                  <a:lnTo>
                    <a:pt x="6041849" y="422571"/>
                  </a:lnTo>
                  <a:lnTo>
                    <a:pt x="6056445" y="468665"/>
                  </a:lnTo>
                  <a:lnTo>
                    <a:pt x="6070196" y="516876"/>
                  </a:lnTo>
                  <a:lnTo>
                    <a:pt x="6083083" y="567208"/>
                  </a:lnTo>
                  <a:lnTo>
                    <a:pt x="6095082" y="619663"/>
                  </a:lnTo>
                  <a:lnTo>
                    <a:pt x="6106172" y="674244"/>
                  </a:lnTo>
                  <a:lnTo>
                    <a:pt x="6116331" y="730954"/>
                  </a:lnTo>
                  <a:lnTo>
                    <a:pt x="6125537" y="789796"/>
                  </a:lnTo>
                  <a:lnTo>
                    <a:pt x="6133769" y="850773"/>
                  </a:lnTo>
                  <a:lnTo>
                    <a:pt x="6140463" y="908246"/>
                  </a:lnTo>
                  <a:lnTo>
                    <a:pt x="6145916" y="963622"/>
                  </a:lnTo>
                  <a:lnTo>
                    <a:pt x="6150126" y="1016897"/>
                  </a:lnTo>
                  <a:lnTo>
                    <a:pt x="6153094" y="1068071"/>
                  </a:lnTo>
                  <a:lnTo>
                    <a:pt x="6154820" y="1117139"/>
                  </a:lnTo>
                  <a:lnTo>
                    <a:pt x="6155303" y="1164101"/>
                  </a:lnTo>
                  <a:lnTo>
                    <a:pt x="6154545" y="1208953"/>
                  </a:lnTo>
                  <a:lnTo>
                    <a:pt x="6152545" y="1251694"/>
                  </a:lnTo>
                  <a:lnTo>
                    <a:pt x="6149303" y="1292321"/>
                  </a:lnTo>
                  <a:lnTo>
                    <a:pt x="6144818" y="1330833"/>
                  </a:lnTo>
                  <a:lnTo>
                    <a:pt x="6134707" y="1391017"/>
                  </a:lnTo>
                  <a:lnTo>
                    <a:pt x="6121540" y="1446591"/>
                  </a:lnTo>
                  <a:lnTo>
                    <a:pt x="6105353" y="1497536"/>
                  </a:lnTo>
                  <a:lnTo>
                    <a:pt x="6086182" y="1543835"/>
                  </a:lnTo>
                  <a:lnTo>
                    <a:pt x="6064062" y="1585470"/>
                  </a:lnTo>
                  <a:lnTo>
                    <a:pt x="6039027" y="1622425"/>
                  </a:lnTo>
                  <a:lnTo>
                    <a:pt x="6004825" y="1660042"/>
                  </a:lnTo>
                  <a:lnTo>
                    <a:pt x="5966270" y="1689247"/>
                  </a:lnTo>
                  <a:lnTo>
                    <a:pt x="5923429" y="1710070"/>
                  </a:lnTo>
                  <a:lnTo>
                    <a:pt x="5876370" y="1722541"/>
                  </a:lnTo>
                  <a:lnTo>
                    <a:pt x="5825159" y="1726692"/>
                  </a:lnTo>
                  <a:lnTo>
                    <a:pt x="5772695" y="1723106"/>
                  </a:lnTo>
                  <a:lnTo>
                    <a:pt x="5723687" y="1712333"/>
                  </a:lnTo>
                  <a:lnTo>
                    <a:pt x="5678179" y="1694349"/>
                  </a:lnTo>
                  <a:lnTo>
                    <a:pt x="5636212" y="1669129"/>
                  </a:lnTo>
                  <a:lnTo>
                    <a:pt x="5597829" y="1636649"/>
                  </a:lnTo>
                  <a:lnTo>
                    <a:pt x="5568291" y="1603810"/>
                  </a:lnTo>
                  <a:lnTo>
                    <a:pt x="5540510" y="1565115"/>
                  </a:lnTo>
                  <a:lnTo>
                    <a:pt x="5514486" y="1520571"/>
                  </a:lnTo>
                  <a:lnTo>
                    <a:pt x="5490218" y="1470184"/>
                  </a:lnTo>
                  <a:lnTo>
                    <a:pt x="5467707" y="1413963"/>
                  </a:lnTo>
                  <a:lnTo>
                    <a:pt x="5446953" y="1351914"/>
                  </a:lnTo>
                  <a:lnTo>
                    <a:pt x="5435543" y="1311994"/>
                  </a:lnTo>
                  <a:lnTo>
                    <a:pt x="5425149" y="1270108"/>
                  </a:lnTo>
                  <a:lnTo>
                    <a:pt x="5415752" y="1226260"/>
                  </a:lnTo>
                  <a:lnTo>
                    <a:pt x="5407331" y="1180450"/>
                  </a:lnTo>
                  <a:lnTo>
                    <a:pt x="5399868" y="1132681"/>
                  </a:lnTo>
                  <a:lnTo>
                    <a:pt x="5393342" y="1082953"/>
                  </a:lnTo>
                  <a:lnTo>
                    <a:pt x="5387733" y="1031268"/>
                  </a:lnTo>
                  <a:lnTo>
                    <a:pt x="5383023" y="977628"/>
                  </a:lnTo>
                  <a:lnTo>
                    <a:pt x="5379189" y="922034"/>
                  </a:lnTo>
                  <a:lnTo>
                    <a:pt x="5376214" y="864488"/>
                  </a:lnTo>
                  <a:lnTo>
                    <a:pt x="5374023" y="802646"/>
                  </a:lnTo>
                  <a:lnTo>
                    <a:pt x="5372957" y="742964"/>
                  </a:lnTo>
                  <a:lnTo>
                    <a:pt x="5373014" y="685438"/>
                  </a:lnTo>
                  <a:lnTo>
                    <a:pt x="5374194" y="630064"/>
                  </a:lnTo>
                  <a:lnTo>
                    <a:pt x="5376494" y="576837"/>
                  </a:lnTo>
                  <a:lnTo>
                    <a:pt x="5379912" y="525754"/>
                  </a:lnTo>
                  <a:lnTo>
                    <a:pt x="5384448" y="476810"/>
                  </a:lnTo>
                  <a:lnTo>
                    <a:pt x="5390098" y="430001"/>
                  </a:lnTo>
                  <a:lnTo>
                    <a:pt x="5396862" y="385323"/>
                  </a:lnTo>
                  <a:lnTo>
                    <a:pt x="5404737" y="342772"/>
                  </a:lnTo>
                  <a:lnTo>
                    <a:pt x="5413722" y="302343"/>
                  </a:lnTo>
                  <a:lnTo>
                    <a:pt x="5423816" y="264033"/>
                  </a:lnTo>
                  <a:lnTo>
                    <a:pt x="5458321" y="167511"/>
                  </a:lnTo>
                  <a:lnTo>
                    <a:pt x="5484874" y="116410"/>
                  </a:lnTo>
                  <a:lnTo>
                    <a:pt x="5514782" y="74556"/>
                  </a:lnTo>
                  <a:lnTo>
                    <a:pt x="5548151" y="41967"/>
                  </a:lnTo>
                  <a:lnTo>
                    <a:pt x="5585088" y="18665"/>
                  </a:lnTo>
                  <a:lnTo>
                    <a:pt x="5625700" y="4669"/>
                  </a:lnTo>
                  <a:lnTo>
                    <a:pt x="5670092" y="0"/>
                  </a:lnTo>
                  <a:close/>
                </a:path>
              </a:pathLst>
            </a:custGeom>
            <a:ln w="12192">
              <a:solidFill>
                <a:srgbClr val="B1B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03504" y="4121150"/>
            <a:ext cx="7842884" cy="176530"/>
            <a:chOff x="603504" y="4121150"/>
            <a:chExt cx="7842884" cy="17653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888" y="4218431"/>
              <a:ext cx="7818119" cy="792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600" y="4127245"/>
              <a:ext cx="7803769" cy="13995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09600" y="4127245"/>
              <a:ext cx="7804150" cy="140335"/>
            </a:xfrm>
            <a:custGeom>
              <a:avLst/>
              <a:gdLst/>
              <a:ahLst/>
              <a:cxnLst/>
              <a:rect l="l" t="t" r="r" b="b"/>
              <a:pathLst>
                <a:path w="7804150" h="140335">
                  <a:moveTo>
                    <a:pt x="52438" y="0"/>
                  </a:moveTo>
                  <a:lnTo>
                    <a:pt x="52438" y="0"/>
                  </a:lnTo>
                  <a:lnTo>
                    <a:pt x="7753984" y="0"/>
                  </a:lnTo>
                  <a:lnTo>
                    <a:pt x="7766460" y="34976"/>
                  </a:lnTo>
                  <a:lnTo>
                    <a:pt x="7778924" y="69976"/>
                  </a:lnTo>
                  <a:lnTo>
                    <a:pt x="7791364" y="104977"/>
                  </a:lnTo>
                  <a:lnTo>
                    <a:pt x="7803769" y="139953"/>
                  </a:lnTo>
                  <a:lnTo>
                    <a:pt x="7753096" y="139953"/>
                  </a:lnTo>
                  <a:lnTo>
                    <a:pt x="7702423" y="139953"/>
                  </a:lnTo>
                  <a:lnTo>
                    <a:pt x="0" y="139953"/>
                  </a:lnTo>
                  <a:lnTo>
                    <a:pt x="13108" y="104977"/>
                  </a:lnTo>
                  <a:lnTo>
                    <a:pt x="26219" y="69976"/>
                  </a:lnTo>
                  <a:lnTo>
                    <a:pt x="39329" y="34976"/>
                  </a:lnTo>
                  <a:lnTo>
                    <a:pt x="52438" y="0"/>
                  </a:lnTo>
                  <a:close/>
                </a:path>
              </a:pathLst>
            </a:custGeom>
            <a:ln w="12192">
              <a:solidFill>
                <a:srgbClr val="B1B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CC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650</Words>
  <Application>Microsoft Office PowerPoint</Application>
  <PresentationFormat>On-screen Show (4:3)</PresentationFormat>
  <Paragraphs>165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Tahoma</vt:lpstr>
      <vt:lpstr>Times New Roman</vt:lpstr>
      <vt:lpstr>Verdana</vt:lpstr>
      <vt:lpstr>Office Theme</vt:lpstr>
      <vt:lpstr>HARD DISK DRIVE</vt:lpstr>
      <vt:lpstr>HARD DISK DRIVE</vt:lpstr>
      <vt:lpstr>PowerPoint Presentation</vt:lpstr>
      <vt:lpstr>Main components for Hard disk drive</vt:lpstr>
      <vt:lpstr>DISK PLATTER</vt:lpstr>
      <vt:lpstr>READ AND WRITE HEAD</vt:lpstr>
      <vt:lpstr>Track :</vt:lpstr>
      <vt:lpstr>Jumper setting for</vt:lpstr>
      <vt:lpstr>Partition for HDD</vt:lpstr>
      <vt:lpstr>File system in HDD</vt:lpstr>
      <vt:lpstr>TYPES OF INTERFACEING IN HDD</vt:lpstr>
      <vt:lpstr>IDE data cable and  connector  in HDD</vt:lpstr>
      <vt:lpstr>SATA (Serial Advanced Technology Attachment)</vt:lpstr>
      <vt:lpstr>SATA HDD power connector.</vt:lpstr>
      <vt:lpstr> SCSI (Small Computer System Interface)</vt:lpstr>
      <vt:lpstr>Main Problem Created in HDD</vt:lpstr>
      <vt:lpstr>HDD Capacity and Size Information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 DISK DRIVE</dc:title>
  <dc:creator>Administrator</dc:creator>
  <cp:lastModifiedBy>Microsoft account</cp:lastModifiedBy>
  <cp:revision>1</cp:revision>
  <dcterms:created xsi:type="dcterms:W3CDTF">2025-02-28T05:56:11Z</dcterms:created>
  <dcterms:modified xsi:type="dcterms:W3CDTF">2025-02-28T05:59:40Z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2015-04-14T00:00:00Z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2025-02-28T00:00:00Z</vt:filetime>
  </property>
  <property fmtid="{D5CDD505-2E9C-101B-9397-08002B2CF9AE}" pid="5" name="Producer">
    <vt:lpwstr>3-Heights(TM) PDF Security Shell 4.8.25.2 (http://www.pdf-tools.com)</vt:lpwstr>
  </property>
</Properties>
</file>