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4.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5.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6.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7.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 id="2147483747" r:id="rId2"/>
    <p:sldMasterId id="2147483765" r:id="rId3"/>
    <p:sldMasterId id="2147483783" r:id="rId4"/>
    <p:sldMasterId id="2147483830" r:id="rId5"/>
    <p:sldMasterId id="2147483866" r:id="rId6"/>
    <p:sldMasterId id="2147483884" r:id="rId7"/>
  </p:sldMasterIdLst>
  <p:sldIdLst>
    <p:sldId id="261" r:id="rId8"/>
    <p:sldId id="256" r:id="rId9"/>
    <p:sldId id="259" r:id="rId10"/>
    <p:sldId id="258" r:id="rId11"/>
    <p:sldId id="281" r:id="rId12"/>
    <p:sldId id="282" r:id="rId13"/>
    <p:sldId id="284" r:id="rId14"/>
    <p:sldId id="290" r:id="rId15"/>
    <p:sldId id="260" r:id="rId16"/>
    <p:sldId id="263" r:id="rId17"/>
    <p:sldId id="264" r:id="rId18"/>
    <p:sldId id="285" r:id="rId19"/>
    <p:sldId id="262" r:id="rId20"/>
    <p:sldId id="283" r:id="rId21"/>
    <p:sldId id="265" r:id="rId22"/>
    <p:sldId id="270" r:id="rId23"/>
    <p:sldId id="271" r:id="rId24"/>
    <p:sldId id="272" r:id="rId25"/>
    <p:sldId id="266" r:id="rId26"/>
    <p:sldId id="267" r:id="rId27"/>
    <p:sldId id="268" r:id="rId28"/>
    <p:sldId id="269" r:id="rId29"/>
    <p:sldId id="273" r:id="rId30"/>
    <p:sldId id="274" r:id="rId31"/>
    <p:sldId id="293" r:id="rId32"/>
    <p:sldId id="294" r:id="rId33"/>
    <p:sldId id="292" r:id="rId34"/>
    <p:sldId id="275" r:id="rId35"/>
    <p:sldId id="276" r:id="rId36"/>
    <p:sldId id="277" r:id="rId37"/>
    <p:sldId id="278" r:id="rId38"/>
    <p:sldId id="279" r:id="rId39"/>
    <p:sldId id="280" r:id="rId40"/>
    <p:sldId id="286" r:id="rId41"/>
    <p:sldId id="287" r:id="rId42"/>
    <p:sldId id="291" r:id="rId43"/>
    <p:sldId id="295" r:id="rId44"/>
    <p:sldId id="296" r:id="rId45"/>
    <p:sldId id="297" r:id="rId46"/>
    <p:sldId id="298" r:id="rId47"/>
    <p:sldId id="299" r:id="rId48"/>
    <p:sldId id="300" r:id="rId49"/>
    <p:sldId id="301" r:id="rId50"/>
    <p:sldId id="302" r:id="rId51"/>
    <p:sldId id="288" r:id="rId52"/>
    <p:sldId id="289"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6A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viewProps" Target="viewProps.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slide" Target="slides/slide34.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421807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827115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142673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013939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1646C0E-3D41-4366-A831-F27BA3C611A7}" type="datetimeFigureOut">
              <a:rPr lang="en-IN" smtClean="0"/>
              <a:t>23-06-2025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373604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1646C0E-3D41-4366-A831-F27BA3C611A7}" type="datetimeFigureOut">
              <a:rPr lang="en-IN" smtClean="0"/>
              <a:t>23-06-2025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10820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646C0E-3D41-4366-A831-F27BA3C611A7}" type="datetimeFigureOut">
              <a:rPr lang="en-IN" smtClean="0"/>
              <a:t>23-06-2025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739369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222731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89031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4077047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7744883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5305063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147101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6268295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980795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9617604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8060430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0786517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8390202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0602377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1646C0E-3D41-4366-A831-F27BA3C611A7}" type="datetimeFigureOut">
              <a:rPr lang="en-IN" smtClean="0"/>
              <a:t>23-06-2025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1074568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1646C0E-3D41-4366-A831-F27BA3C611A7}" type="datetimeFigureOut">
              <a:rPr lang="en-IN" smtClean="0"/>
              <a:t>23-06-2025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9317491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646C0E-3D41-4366-A831-F27BA3C611A7}" type="datetimeFigureOut">
              <a:rPr lang="en-IN" smtClean="0"/>
              <a:t>23-06-2025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4697241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1186798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6399212" y="5883275"/>
            <a:ext cx="914400" cy="365125"/>
          </a:xfrm>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a:xfrm>
            <a:off x="1141412" y="5883275"/>
            <a:ext cx="5105400" cy="365125"/>
          </a:xfrm>
        </p:spPr>
        <p:txBody>
          <a:bodyPr/>
          <a:lstStyle/>
          <a:p>
            <a:endParaRPr lang="en-IN"/>
          </a:p>
        </p:txBody>
      </p:sp>
      <p:sp>
        <p:nvSpPr>
          <p:cNvPr id="7" name="Slide Number Placeholder 6"/>
          <p:cNvSpPr>
            <a:spLocks noGrp="1"/>
          </p:cNvSpPr>
          <p:nvPr>
            <p:ph type="sldNum" sz="quarter" idx="12"/>
          </p:nvPr>
        </p:nvSpPr>
        <p:spPr>
          <a:xfrm>
            <a:off x="10742612" y="5883275"/>
            <a:ext cx="322567" cy="365125"/>
          </a:xfrm>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8133645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6416123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0138274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8647773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8930473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4123459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224833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6161117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4253494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42912241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8918971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5720994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04205588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1646C0E-3D41-4366-A831-F27BA3C611A7}" type="datetimeFigureOut">
              <a:rPr lang="en-IN" smtClean="0"/>
              <a:t>23-06-2025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5300690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1646C0E-3D41-4366-A831-F27BA3C611A7}" type="datetimeFigureOut">
              <a:rPr lang="en-IN" smtClean="0"/>
              <a:t>23-06-2025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418621017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646C0E-3D41-4366-A831-F27BA3C611A7}" type="datetimeFigureOut">
              <a:rPr lang="en-IN" smtClean="0"/>
              <a:t>23-06-2025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1581424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9643789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6399212" y="5883275"/>
            <a:ext cx="914400" cy="365125"/>
          </a:xfrm>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a:xfrm>
            <a:off x="1141412" y="5883275"/>
            <a:ext cx="5105400" cy="365125"/>
          </a:xfrm>
        </p:spPr>
        <p:txBody>
          <a:bodyPr/>
          <a:lstStyle/>
          <a:p>
            <a:endParaRPr lang="en-IN"/>
          </a:p>
        </p:txBody>
      </p:sp>
      <p:sp>
        <p:nvSpPr>
          <p:cNvPr id="7" name="Slide Number Placeholder 6"/>
          <p:cNvSpPr>
            <a:spLocks noGrp="1"/>
          </p:cNvSpPr>
          <p:nvPr>
            <p:ph type="sldNum" sz="quarter" idx="12"/>
          </p:nvPr>
        </p:nvSpPr>
        <p:spPr>
          <a:xfrm>
            <a:off x="10742612" y="5883275"/>
            <a:ext cx="322567" cy="365125"/>
          </a:xfrm>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02977073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7583155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7150205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8987872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9702692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4324551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1469139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7019695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3373856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0045072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22336185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3492193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29389187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1646C0E-3D41-4366-A831-F27BA3C611A7}" type="datetimeFigureOut">
              <a:rPr lang="en-IN" smtClean="0"/>
              <a:t>23-06-2025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007136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1646C0E-3D41-4366-A831-F27BA3C611A7}" type="datetimeFigureOut">
              <a:rPr lang="en-IN" smtClean="0"/>
              <a:t>23-06-2025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31927375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646C0E-3D41-4366-A831-F27BA3C611A7}" type="datetimeFigureOut">
              <a:rPr lang="en-IN" smtClean="0"/>
              <a:t>23-06-2025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51583641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8654373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6399212" y="5883275"/>
            <a:ext cx="914400" cy="365125"/>
          </a:xfrm>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a:xfrm>
            <a:off x="1141412" y="5883275"/>
            <a:ext cx="5105400" cy="365125"/>
          </a:xfrm>
        </p:spPr>
        <p:txBody>
          <a:bodyPr/>
          <a:lstStyle/>
          <a:p>
            <a:endParaRPr lang="en-IN"/>
          </a:p>
        </p:txBody>
      </p:sp>
      <p:sp>
        <p:nvSpPr>
          <p:cNvPr id="7" name="Slide Number Placeholder 6"/>
          <p:cNvSpPr>
            <a:spLocks noGrp="1"/>
          </p:cNvSpPr>
          <p:nvPr>
            <p:ph type="sldNum" sz="quarter" idx="12"/>
          </p:nvPr>
        </p:nvSpPr>
        <p:spPr>
          <a:xfrm>
            <a:off x="10742612" y="5883275"/>
            <a:ext cx="322567" cy="365125"/>
          </a:xfrm>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32946049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82420928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97073014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38387785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00036185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59936413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60271822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40640422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51593383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626858456"/>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79744507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21031364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64303275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1646C0E-3D41-4366-A831-F27BA3C611A7}" type="datetimeFigureOut">
              <a:rPr lang="en-IN" smtClean="0"/>
              <a:t>23-06-2025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89533278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1646C0E-3D41-4366-A831-F27BA3C611A7}" type="datetimeFigureOut">
              <a:rPr lang="en-IN" smtClean="0"/>
              <a:t>23-06-2025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56181617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F1646C0E-3D41-4366-A831-F27BA3C611A7}" type="datetimeFigureOut">
              <a:rPr lang="en-IN" smtClean="0"/>
              <a:t>23-06-2025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00304073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82254559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83796049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67314018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8990948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6997310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80106950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9988205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606116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223467131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01898097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543298934"/>
      </p:ext>
    </p:extLst>
  </p:cSld>
  <p:clrMapOvr>
    <a:overrideClrMapping bg1="dk1" tx1="lt1" bg2="dk2" tx2="lt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407015091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96855512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13120551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1646C0E-3D41-4366-A831-F27BA3C611A7}" type="datetimeFigureOut">
              <a:rPr lang="en-IN" smtClean="0"/>
              <a:t>23-06-2025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7962563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1646C0E-3D41-4366-A831-F27BA3C611A7}" type="datetimeFigureOut">
              <a:rPr lang="en-IN" smtClean="0"/>
              <a:t>23-06-2025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49127477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F1646C0E-3D41-4366-A831-F27BA3C611A7}" type="datetimeFigureOut">
              <a:rPr lang="en-IN" smtClean="0"/>
              <a:t>23-06-2025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18325068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63828010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62130696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4501986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09251125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2242527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428605167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387771699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56810656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288973825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54083351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424069328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29522322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48935221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8493025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1646C0E-3D41-4366-A831-F27BA3C611A7}" type="datetimeFigureOut">
              <a:rPr lang="en-IN" smtClean="0"/>
              <a:t>23-06-2025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89016397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F1646C0E-3D41-4366-A831-F27BA3C611A7}" type="datetimeFigureOut">
              <a:rPr lang="en-IN" smtClean="0"/>
              <a:t>23-06-2025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13214889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646C0E-3D41-4366-A831-F27BA3C611A7}" type="datetimeFigureOut">
              <a:rPr lang="en-IN" smtClean="0"/>
              <a:t>23-06-2025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00755072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141101032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1646C0E-3D41-4366-A831-F27BA3C611A7}"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2810202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83803697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1646C0E-3D41-4366-A831-F27BA3C611A7}"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DAAB89-E20A-4243-A00A-13C31AB4BA3C}" type="slidenum">
              <a:rPr lang="en-IN" smtClean="0"/>
              <a:t>‹#›</a:t>
            </a:fld>
            <a:endParaRPr lang="en-IN"/>
          </a:p>
        </p:txBody>
      </p:sp>
    </p:spTree>
    <p:extLst>
      <p:ext uri="{BB962C8B-B14F-4D97-AF65-F5344CB8AC3E}">
        <p14:creationId xmlns:p14="http://schemas.microsoft.com/office/powerpoint/2010/main" val="2678386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theme" Target="../theme/theme2.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theme" Target="../theme/theme3.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theme" Target="../theme/theme4.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18" Type="http://schemas.openxmlformats.org/officeDocument/2006/relationships/theme" Target="../theme/theme5.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theme" Target="../theme/theme6.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0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theme" Target="../theme/theme7.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1646C0E-3D41-4366-A831-F27BA3C611A7}" type="datetimeFigureOut">
              <a:rPr lang="en-IN" smtClean="0"/>
              <a:t>23-06-2025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6DAAB89-E20A-4243-A00A-13C31AB4BA3C}" type="slidenum">
              <a:rPr lang="en-IN" smtClean="0"/>
              <a:t>‹#›</a:t>
            </a:fld>
            <a:endParaRPr lang="en-IN"/>
          </a:p>
        </p:txBody>
      </p:sp>
    </p:spTree>
    <p:extLst>
      <p:ext uri="{BB962C8B-B14F-4D97-AF65-F5344CB8AC3E}">
        <p14:creationId xmlns:p14="http://schemas.microsoft.com/office/powerpoint/2010/main" val="3483934980"/>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F1646C0E-3D41-4366-A831-F27BA3C611A7}" type="datetimeFigureOut">
              <a:rPr lang="en-IN" smtClean="0"/>
              <a:t>23-06-2025</a:t>
            </a:fld>
            <a:endParaRPr lang="en-IN"/>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N"/>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16DAAB89-E20A-4243-A00A-13C31AB4BA3C}" type="slidenum">
              <a:rPr lang="en-IN" smtClean="0"/>
              <a:t>‹#›</a:t>
            </a:fld>
            <a:endParaRPr lang="en-IN"/>
          </a:p>
        </p:txBody>
      </p:sp>
    </p:spTree>
    <p:extLst>
      <p:ext uri="{BB962C8B-B14F-4D97-AF65-F5344CB8AC3E}">
        <p14:creationId xmlns:p14="http://schemas.microsoft.com/office/powerpoint/2010/main" val="215794446"/>
      </p:ext>
    </p:extLst>
  </p:cSld>
  <p:clrMap bg1="dk1" tx1="lt1" bg2="dk2" tx2="lt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F1646C0E-3D41-4366-A831-F27BA3C611A7}" type="datetimeFigureOut">
              <a:rPr lang="en-IN" smtClean="0"/>
              <a:t>23-06-2025</a:t>
            </a:fld>
            <a:endParaRPr lang="en-IN"/>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N"/>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16DAAB89-E20A-4243-A00A-13C31AB4BA3C}" type="slidenum">
              <a:rPr lang="en-IN" smtClean="0"/>
              <a:t>‹#›</a:t>
            </a:fld>
            <a:endParaRPr lang="en-IN"/>
          </a:p>
        </p:txBody>
      </p:sp>
    </p:spTree>
    <p:extLst>
      <p:ext uri="{BB962C8B-B14F-4D97-AF65-F5344CB8AC3E}">
        <p14:creationId xmlns:p14="http://schemas.microsoft.com/office/powerpoint/2010/main" val="2651660527"/>
      </p:ext>
    </p:extLst>
  </p:cSld>
  <p:clrMap bg1="dk1" tx1="lt1" bg2="dk2" tx2="lt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F1646C0E-3D41-4366-A831-F27BA3C611A7}" type="datetimeFigureOut">
              <a:rPr lang="en-IN" smtClean="0"/>
              <a:t>23-06-2025</a:t>
            </a:fld>
            <a:endParaRPr lang="en-IN"/>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N"/>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16DAAB89-E20A-4243-A00A-13C31AB4BA3C}" type="slidenum">
              <a:rPr lang="en-IN" smtClean="0"/>
              <a:t>‹#›</a:t>
            </a:fld>
            <a:endParaRPr lang="en-IN"/>
          </a:p>
        </p:txBody>
      </p:sp>
    </p:spTree>
    <p:extLst>
      <p:ext uri="{BB962C8B-B14F-4D97-AF65-F5344CB8AC3E}">
        <p14:creationId xmlns:p14="http://schemas.microsoft.com/office/powerpoint/2010/main" val="956238881"/>
      </p:ext>
    </p:extLst>
  </p:cSld>
  <p:clrMap bg1="dk1" tx1="lt1" bg2="dk2" tx2="lt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 id="2147483796" r:id="rId13"/>
    <p:sldLayoutId id="2147483797" r:id="rId14"/>
    <p:sldLayoutId id="2147483798" r:id="rId15"/>
    <p:sldLayoutId id="2147483799" r:id="rId16"/>
    <p:sldLayoutId id="2147483800"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1646C0E-3D41-4366-A831-F27BA3C611A7}" type="datetimeFigureOut">
              <a:rPr lang="en-IN" smtClean="0"/>
              <a:t>23-06-2025</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6DAAB89-E20A-4243-A00A-13C31AB4BA3C}" type="slidenum">
              <a:rPr lang="en-IN" smtClean="0"/>
              <a:t>‹#›</a:t>
            </a:fld>
            <a:endParaRPr lang="en-IN"/>
          </a:p>
        </p:txBody>
      </p:sp>
    </p:spTree>
    <p:extLst>
      <p:ext uri="{BB962C8B-B14F-4D97-AF65-F5344CB8AC3E}">
        <p14:creationId xmlns:p14="http://schemas.microsoft.com/office/powerpoint/2010/main" val="3721461232"/>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843" r:id="rId13"/>
    <p:sldLayoutId id="2147483844" r:id="rId14"/>
    <p:sldLayoutId id="2147483845" r:id="rId15"/>
    <p:sldLayoutId id="2147483846" r:id="rId16"/>
    <p:sldLayoutId id="214748384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1646C0E-3D41-4366-A831-F27BA3C611A7}" type="datetimeFigureOut">
              <a:rPr lang="en-IN" smtClean="0"/>
              <a:t>23-06-2025</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6DAAB89-E20A-4243-A00A-13C31AB4BA3C}" type="slidenum">
              <a:rPr lang="en-IN" smtClean="0"/>
              <a:t>‹#›</a:t>
            </a:fld>
            <a:endParaRPr lang="en-IN"/>
          </a:p>
        </p:txBody>
      </p:sp>
    </p:spTree>
    <p:extLst>
      <p:ext uri="{BB962C8B-B14F-4D97-AF65-F5344CB8AC3E}">
        <p14:creationId xmlns:p14="http://schemas.microsoft.com/office/powerpoint/2010/main" val="1848583204"/>
      </p:ext>
    </p:extLst>
  </p:cSld>
  <p:clrMap bg1="dk1" tx1="lt1" bg2="dk2" tx2="lt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 id="2147483878" r:id="rId12"/>
    <p:sldLayoutId id="2147483879" r:id="rId13"/>
    <p:sldLayoutId id="2147483880" r:id="rId14"/>
    <p:sldLayoutId id="2147483881" r:id="rId15"/>
    <p:sldLayoutId id="2147483882" r:id="rId16"/>
    <p:sldLayoutId id="2147483883"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646C0E-3D41-4366-A831-F27BA3C611A7}" type="datetimeFigureOut">
              <a:rPr lang="en-IN" smtClean="0"/>
              <a:t>23-06-2025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DAAB89-E20A-4243-A00A-13C31AB4BA3C}" type="slidenum">
              <a:rPr lang="en-IN" smtClean="0"/>
              <a:t>‹#›</a:t>
            </a:fld>
            <a:endParaRPr lang="en-IN"/>
          </a:p>
        </p:txBody>
      </p:sp>
    </p:spTree>
    <p:extLst>
      <p:ext uri="{BB962C8B-B14F-4D97-AF65-F5344CB8AC3E}">
        <p14:creationId xmlns:p14="http://schemas.microsoft.com/office/powerpoint/2010/main" val="2305534382"/>
      </p:ext>
    </p:extLst>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0" r:id="rId6"/>
    <p:sldLayoutId id="2147483891" r:id="rId7"/>
    <p:sldLayoutId id="2147483892" r:id="rId8"/>
    <p:sldLayoutId id="2147483893" r:id="rId9"/>
    <p:sldLayoutId id="2147483894" r:id="rId10"/>
    <p:sldLayoutId id="21474838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9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91.xml"/></Relationships>
</file>

<file path=ppt/slides/_rels/slide11.xml.rels><?xml version="1.0" encoding="UTF-8" standalone="yes"?>
<Relationships xmlns="http://schemas.openxmlformats.org/package/2006/relationships"><Relationship Id="rId3" Type="http://schemas.openxmlformats.org/officeDocument/2006/relationships/hyperlink" Target="https://www.computerhope.com/jargon/p/program.htm" TargetMode="External"/><Relationship Id="rId2" Type="http://schemas.openxmlformats.org/officeDocument/2006/relationships/image" Target="../media/image11.jpg"/><Relationship Id="rId1" Type="http://schemas.openxmlformats.org/officeDocument/2006/relationships/slideLayout" Target="../slideLayouts/slideLayout91.xml"/><Relationship Id="rId6" Type="http://schemas.openxmlformats.org/officeDocument/2006/relationships/image" Target="../media/image12.gif"/><Relationship Id="rId5" Type="http://schemas.openxmlformats.org/officeDocument/2006/relationships/hyperlink" Target="https://www.computerhope.com/jargon/m/macro.htm" TargetMode="External"/><Relationship Id="rId4" Type="http://schemas.openxmlformats.org/officeDocument/2006/relationships/hyperlink" Target="https://www.computerhope.com/jargon/s/script.ht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13.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gif"/><Relationship Id="rId1" Type="http://schemas.openxmlformats.org/officeDocument/2006/relationships/slideLayout" Target="../slideLayouts/slideLayout9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1.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9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1.xml"/></Relationships>
</file>

<file path=ppt/slides/_rels/slide17.xml.rels><?xml version="1.0" encoding="UTF-8" standalone="yes"?>
<Relationships xmlns="http://schemas.openxmlformats.org/package/2006/relationships"><Relationship Id="rId3" Type="http://schemas.openxmlformats.org/officeDocument/2006/relationships/hyperlink" Target="http://searchsecurity.techtarget.com/definition/virus" TargetMode="External"/><Relationship Id="rId7" Type="http://schemas.openxmlformats.org/officeDocument/2006/relationships/image" Target="../media/image18.png"/><Relationship Id="rId2" Type="http://schemas.openxmlformats.org/officeDocument/2006/relationships/hyperlink" Target="http://searchsoftwarequality.techtarget.com/definition/program" TargetMode="External"/><Relationship Id="rId1" Type="http://schemas.openxmlformats.org/officeDocument/2006/relationships/slideLayout" Target="../slideLayouts/slideLayout91.xml"/><Relationship Id="rId6" Type="http://schemas.openxmlformats.org/officeDocument/2006/relationships/hyperlink" Target="http://searchsecurity.techtarget.com/definition/Malicious-Computer-Code-Glossary" TargetMode="External"/><Relationship Id="rId5" Type="http://schemas.openxmlformats.org/officeDocument/2006/relationships/hyperlink" Target="http://searchsecurity.techtarget.com/definition/malware" TargetMode="External"/><Relationship Id="rId4" Type="http://schemas.openxmlformats.org/officeDocument/2006/relationships/hyperlink" Target="http://searchsecurity.techtarget.com/definition/social-engineerin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91.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g"/><Relationship Id="rId1" Type="http://schemas.openxmlformats.org/officeDocument/2006/relationships/slideLayout" Target="../slideLayouts/slideLayout57.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1.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1.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1.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9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26.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91.xml"/></Relationships>
</file>

<file path=ppt/slides/_rels/slide27.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91.xml"/></Relationships>
</file>

<file path=ppt/slides/_rels/slide28.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91.xml"/></Relationships>
</file>

<file path=ppt/slides/_rels/slide29.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image" Target="../media/image31.png"/><Relationship Id="rId1" Type="http://schemas.openxmlformats.org/officeDocument/2006/relationships/slideLayout" Target="../slideLayouts/slideLayout91.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3.gif"/><Relationship Id="rId1" Type="http://schemas.openxmlformats.org/officeDocument/2006/relationships/slideLayout" Target="../slideLayouts/slideLayout91.xml"/><Relationship Id="rId4" Type="http://schemas.openxmlformats.org/officeDocument/2006/relationships/image" Target="../media/image34.gif"/></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91.xml"/></Relationships>
</file>

<file path=ppt/slides/_rels/slide32.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hyperlink" Target="https://searchexchange.techtarget.com/definition/registry" TargetMode="External"/><Relationship Id="rId1" Type="http://schemas.openxmlformats.org/officeDocument/2006/relationships/slideLayout" Target="../slideLayouts/slideLayout91.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1.xml"/></Relationships>
</file>

<file path=ppt/slides/_rels/slide34.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9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195" y="182154"/>
            <a:ext cx="11469187" cy="344932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p:cNvSpPr/>
          <p:nvPr/>
        </p:nvSpPr>
        <p:spPr>
          <a:xfrm>
            <a:off x="4328159" y="4759460"/>
            <a:ext cx="2216332" cy="523220"/>
          </a:xfrm>
          <a:prstGeom prst="rect">
            <a:avLst/>
          </a:prstGeom>
        </p:spPr>
        <p:txBody>
          <a:bodyPr wrap="square">
            <a:spAutoFit/>
          </a:bodyPr>
          <a:lstStyle/>
          <a:p>
            <a:r>
              <a:rPr lang="en-IN" sz="2800" b="1" dirty="0" smtClean="0">
                <a:ln w="12700">
                  <a:solidFill>
                    <a:schemeClr val="tx2">
                      <a:lumMod val="75000"/>
                    </a:schemeClr>
                  </a:solidFill>
                  <a:prstDash val="solid"/>
                </a:ln>
                <a:solidFill>
                  <a:srgbClr val="FF0000"/>
                </a:solidFill>
                <a:effectLst>
                  <a:outerShdw dist="38100" dir="2640000" algn="bl" rotWithShape="0">
                    <a:schemeClr val="tx2">
                      <a:lumMod val="75000"/>
                    </a:schemeClr>
                  </a:outerShdw>
                </a:effectLst>
              </a:rPr>
              <a:t>MALWARE</a:t>
            </a:r>
            <a:endParaRPr lang="en-IN" sz="2800" dirty="0"/>
          </a:p>
        </p:txBody>
      </p:sp>
    </p:spTree>
    <p:extLst>
      <p:ext uri="{BB962C8B-B14F-4D97-AF65-F5344CB8AC3E}">
        <p14:creationId xmlns:p14="http://schemas.microsoft.com/office/powerpoint/2010/main" val="1052686007"/>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0000"/>
                                  </p:iterate>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630" y="169818"/>
            <a:ext cx="11821884" cy="6544492"/>
          </a:xfrm>
          <a:prstGeom prst="rect">
            <a:avLst/>
          </a:prstGeom>
          <a:effectLst>
            <a:softEdge rad="127000"/>
          </a:effectLst>
        </p:spPr>
      </p:pic>
    </p:spTree>
    <p:extLst>
      <p:ext uri="{BB962C8B-B14F-4D97-AF65-F5344CB8AC3E}">
        <p14:creationId xmlns:p14="http://schemas.microsoft.com/office/powerpoint/2010/main" val="2822285683"/>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4123" y="2631158"/>
            <a:ext cx="6771341" cy="923330"/>
          </a:xfrm>
          <a:prstGeom prst="rect">
            <a:avLst/>
          </a:prstGeom>
          <a:noFill/>
        </p:spPr>
        <p:txBody>
          <a:bodyPr wrap="none" lIns="91440" tIns="45720" rIns="91440" bIns="45720">
            <a:spAutoFit/>
          </a:bodyPr>
          <a:lstStyle/>
          <a:p>
            <a:pPr algn="ctr"/>
            <a:r>
              <a:rPr lang="en-US" sz="5400" b="1" cap="none" spc="0" dirty="0" smtClean="0">
                <a:ln/>
                <a:solidFill>
                  <a:srgbClr val="FF0000"/>
                </a:solidFill>
                <a:effectLst>
                  <a:outerShdw blurRad="38100" dist="19050" dir="2700000" algn="tl" rotWithShape="0">
                    <a:schemeClr val="dk1">
                      <a:lumMod val="50000"/>
                      <a:alpha val="40000"/>
                    </a:schemeClr>
                  </a:outerShdw>
                </a:effectLst>
              </a:rPr>
              <a:t>WHAT IS MALWARE???</a:t>
            </a:r>
            <a:endParaRPr lang="en-US" sz="5400" b="1" cap="none" spc="0" dirty="0">
              <a:ln/>
              <a:solidFill>
                <a:srgbClr val="FF0000"/>
              </a:solidFill>
              <a:effectLst>
                <a:outerShdw blurRad="38100" dist="19050" dir="2700000" algn="tl" rotWithShape="0">
                  <a:schemeClr val="dk1">
                    <a:lumMod val="50000"/>
                    <a:alpha val="40000"/>
                  </a:schemeClr>
                </a:outerShdw>
              </a:effectLst>
            </a:endParaRPr>
          </a:p>
        </p:txBody>
      </p:sp>
    </p:spTree>
    <p:extLst>
      <p:ext uri="{BB962C8B-B14F-4D97-AF65-F5344CB8AC3E}">
        <p14:creationId xmlns:p14="http://schemas.microsoft.com/office/powerpoint/2010/main" val="1399907229"/>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5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2189" y="1097280"/>
            <a:ext cx="3712015" cy="923330"/>
          </a:xfrm>
          <a:prstGeom prst="rect">
            <a:avLst/>
          </a:prstGeom>
          <a:noFill/>
        </p:spPr>
        <p:txBody>
          <a:bodyPr wrap="square" lIns="91440" tIns="45720" rIns="91440" bIns="45720">
            <a:spAutoFit/>
          </a:bodyPr>
          <a:lstStyle/>
          <a:p>
            <a:pPr algn="ctr"/>
            <a:r>
              <a:rPr lang="en-US" sz="5400" b="1" dirty="0" smtClean="0">
                <a:ln/>
                <a:solidFill>
                  <a:srgbClr val="FF0000"/>
                </a:solidFill>
                <a:effectLst>
                  <a:outerShdw blurRad="60007" dist="310007" dir="7680000" sy="30000" kx="1300200" algn="ctr" rotWithShape="0">
                    <a:prstClr val="black">
                      <a:alpha val="32000"/>
                    </a:prstClr>
                  </a:outerShdw>
                  <a:reflection blurRad="6350" stA="50000" endA="300" endPos="50000" dist="29997" dir="5400000" sy="-100000" algn="bl" rotWithShape="0"/>
                </a:effectLst>
              </a:rPr>
              <a:t>MALWARE</a:t>
            </a:r>
            <a:endParaRPr lang="en-US" sz="5400" b="1" dirty="0">
              <a:ln/>
              <a:solidFill>
                <a:srgbClr val="FF0000"/>
              </a:solidFill>
              <a:effectLst>
                <a:outerShdw blurRad="60007" dist="310007" dir="7680000" sy="30000" kx="1300200" algn="ctr" rotWithShape="0">
                  <a:prstClr val="black">
                    <a:alpha val="32000"/>
                  </a:prstClr>
                </a:outerShdw>
                <a:reflection blurRad="6350" stA="50000" endA="300" endPos="50000" dist="29997" dir="5400000" sy="-100000" algn="bl" rotWithShape="0"/>
              </a:effectLst>
            </a:endParaRPr>
          </a:p>
        </p:txBody>
      </p:sp>
      <p:sp>
        <p:nvSpPr>
          <p:cNvPr id="3" name="Rectangle 2"/>
          <p:cNvSpPr/>
          <p:nvPr/>
        </p:nvSpPr>
        <p:spPr>
          <a:xfrm>
            <a:off x="942259" y="2953888"/>
            <a:ext cx="10097776" cy="3416320"/>
          </a:xfrm>
          <a:prstGeom prst="rect">
            <a:avLst/>
          </a:prstGeom>
          <a:noFill/>
        </p:spPr>
        <p:txBody>
          <a:bodyPr wrap="square" lIns="91440" tIns="45720" rIns="91440" bIns="45720">
            <a:spAutoFit/>
          </a:bodyPr>
          <a:lstStyle/>
          <a:p>
            <a:pPr marL="342900" indent="-342900" algn="ctr">
              <a:buFont typeface="Wingdings" panose="05000000000000000000" pitchFamily="2" charset="2"/>
              <a:buChar char="Ø"/>
            </a:pPr>
            <a:r>
              <a:rPr lang="en-US" sz="2400" b="0" cap="none" spc="0" dirty="0" smtClean="0">
                <a:ln w="0"/>
                <a:solidFill>
                  <a:schemeClr val="tx1"/>
                </a:solidFill>
                <a:effectLst>
                  <a:outerShdw blurRad="38100" dist="19050" dir="2700000" algn="tl" rotWithShape="0">
                    <a:schemeClr val="dk1">
                      <a:alpha val="40000"/>
                    </a:schemeClr>
                  </a:outerShdw>
                </a:effectLst>
              </a:rPr>
              <a:t>The word </a:t>
            </a:r>
            <a:r>
              <a:rPr lang="en-US" sz="2400" b="0" cap="none" spc="0" dirty="0" smtClean="0">
                <a:ln w="0"/>
                <a:solidFill>
                  <a:srgbClr val="FF0000"/>
                </a:solidFill>
                <a:effectLst>
                  <a:outerShdw blurRad="38100" dist="19050" dir="2700000" algn="tl" rotWithShape="0">
                    <a:schemeClr val="dk1">
                      <a:alpha val="40000"/>
                    </a:schemeClr>
                  </a:outerShdw>
                </a:effectLst>
              </a:rPr>
              <a:t>MALWARE</a:t>
            </a:r>
            <a:r>
              <a:rPr lang="en-US" sz="2400" b="0" cap="none" spc="0" dirty="0" smtClean="0">
                <a:ln w="0"/>
                <a:solidFill>
                  <a:schemeClr val="tx1"/>
                </a:solidFill>
                <a:effectLst>
                  <a:outerShdw blurRad="38100" dist="19050" dir="2700000" algn="tl" rotWithShape="0">
                    <a:schemeClr val="dk1">
                      <a:alpha val="40000"/>
                    </a:schemeClr>
                  </a:outerShdw>
                </a:effectLst>
              </a:rPr>
              <a:t> comes form the combination of </a:t>
            </a:r>
            <a:r>
              <a:rPr lang="en-US" sz="2400" b="0" u="sng" cap="none" spc="0" dirty="0" smtClean="0">
                <a:ln w="0"/>
                <a:solidFill>
                  <a:schemeClr val="tx1"/>
                </a:solidFill>
                <a:effectLst>
                  <a:outerShdw blurRad="38100" dist="19050" dir="2700000" algn="tl" rotWithShape="0">
                    <a:schemeClr val="dk1">
                      <a:alpha val="40000"/>
                    </a:schemeClr>
                  </a:outerShdw>
                </a:effectLst>
              </a:rPr>
              <a:t>Mal</a:t>
            </a:r>
            <a:r>
              <a:rPr lang="en-US" sz="2400" b="0" cap="none" spc="0" dirty="0" smtClean="0">
                <a:ln w="0"/>
                <a:solidFill>
                  <a:schemeClr val="tx1"/>
                </a:solidFill>
                <a:effectLst>
                  <a:outerShdw blurRad="38100" dist="19050" dir="2700000" algn="tl" rotWithShape="0">
                    <a:schemeClr val="dk1">
                      <a:alpha val="40000"/>
                    </a:schemeClr>
                  </a:outerShdw>
                </a:effectLst>
              </a:rPr>
              <a:t>icious and Soft</a:t>
            </a:r>
            <a:r>
              <a:rPr lang="en-US" sz="2400" b="0" u="sng" cap="none" spc="0" dirty="0" smtClean="0">
                <a:ln w="0"/>
                <a:solidFill>
                  <a:schemeClr val="tx1"/>
                </a:solidFill>
                <a:effectLst>
                  <a:outerShdw blurRad="38100" dist="19050" dir="2700000" algn="tl" rotWithShape="0">
                    <a:schemeClr val="dk1">
                      <a:alpha val="40000"/>
                    </a:schemeClr>
                  </a:outerShdw>
                </a:effectLst>
              </a:rPr>
              <a:t>ware.</a:t>
            </a:r>
          </a:p>
          <a:p>
            <a:pPr marL="342900" indent="-342900" algn="ctr">
              <a:buFont typeface="Wingdings" panose="05000000000000000000" pitchFamily="2" charset="2"/>
              <a:buChar char="Ø"/>
            </a:pPr>
            <a:endParaRPr lang="en-US" sz="2400" dirty="0" smtClean="0">
              <a:effectLst>
                <a:outerShdw blurRad="38100" dist="38100" dir="2700000" algn="tl">
                  <a:srgbClr val="000000">
                    <a:alpha val="43137"/>
                  </a:srgbClr>
                </a:outerShdw>
              </a:effectLst>
            </a:endParaRPr>
          </a:p>
          <a:p>
            <a:pPr marL="342900" indent="-342900" algn="ctr">
              <a:buFont typeface="Wingdings" panose="05000000000000000000" pitchFamily="2" charset="2"/>
              <a:buChar char="Ø"/>
            </a:pPr>
            <a:r>
              <a:rPr lang="en-US" sz="2400" dirty="0" smtClean="0">
                <a:effectLst>
                  <a:outerShdw blurRad="38100" dist="38100" dir="2700000" algn="tl">
                    <a:srgbClr val="000000">
                      <a:alpha val="43137"/>
                    </a:srgbClr>
                  </a:outerShdw>
                </a:effectLst>
              </a:rPr>
              <a:t> In  Spanish, </a:t>
            </a:r>
            <a:r>
              <a:rPr lang="en-US" sz="2400" dirty="0" smtClean="0">
                <a:solidFill>
                  <a:srgbClr val="0070C0"/>
                </a:solidFill>
                <a:effectLst>
                  <a:outerShdw blurRad="38100" dist="38100" dir="2700000" algn="tl">
                    <a:srgbClr val="000000">
                      <a:alpha val="43137"/>
                    </a:srgbClr>
                  </a:outerShdw>
                </a:effectLst>
              </a:rPr>
              <a:t>‘MAL’ </a:t>
            </a:r>
            <a:r>
              <a:rPr lang="en-US" sz="2400" dirty="0" smtClean="0">
                <a:effectLst>
                  <a:outerShdw blurRad="38100" dist="38100" dir="2700000" algn="tl">
                    <a:srgbClr val="000000">
                      <a:alpha val="43137"/>
                    </a:srgbClr>
                  </a:outerShdw>
                </a:effectLst>
              </a:rPr>
              <a:t>is a prefix that means, </a:t>
            </a:r>
            <a:r>
              <a:rPr lang="en-US" sz="2400" dirty="0" smtClean="0">
                <a:solidFill>
                  <a:srgbClr val="FF0000"/>
                </a:solidFill>
                <a:effectLst>
                  <a:outerShdw blurRad="38100" dist="38100" dir="2700000" algn="tl">
                    <a:srgbClr val="000000">
                      <a:alpha val="43137"/>
                    </a:srgbClr>
                  </a:outerShdw>
                </a:effectLst>
              </a:rPr>
              <a:t>‘BAD’ </a:t>
            </a:r>
            <a:r>
              <a:rPr lang="en-US" sz="2400" dirty="0" smtClean="0">
                <a:effectLst>
                  <a:outerShdw blurRad="38100" dist="38100" dir="2700000" algn="tl">
                    <a:srgbClr val="000000">
                      <a:alpha val="43137"/>
                    </a:srgbClr>
                  </a:outerShdw>
                </a:effectLst>
              </a:rPr>
              <a:t>, making the term </a:t>
            </a:r>
            <a:r>
              <a:rPr lang="en-US" sz="2400" dirty="0" smtClean="0">
                <a:solidFill>
                  <a:schemeClr val="accent5"/>
                </a:solidFill>
                <a:effectLst>
                  <a:outerShdw blurRad="38100" dist="38100" dir="2700000" algn="tl">
                    <a:srgbClr val="000000">
                      <a:alpha val="43137"/>
                    </a:srgbClr>
                  </a:outerShdw>
                </a:effectLst>
              </a:rPr>
              <a:t>‘bad ware’.</a:t>
            </a:r>
          </a:p>
          <a:p>
            <a:pPr marL="342900" indent="-342900" algn="ctr">
              <a:buFont typeface="Wingdings" panose="05000000000000000000" pitchFamily="2" charset="2"/>
              <a:buChar char="Ø"/>
            </a:pPr>
            <a:endParaRPr lang="en-US" sz="2400" dirty="0" smtClean="0">
              <a:effectLst>
                <a:outerShdw blurRad="38100" dist="38100" dir="2700000" algn="tl">
                  <a:srgbClr val="000000">
                    <a:alpha val="43137"/>
                  </a:srgbClr>
                </a:outerShdw>
              </a:effectLst>
            </a:endParaRPr>
          </a:p>
          <a:p>
            <a:pPr marL="800100" lvl="1" indent="-342900" algn="ctr">
              <a:buFont typeface="Wingdings" panose="05000000000000000000" pitchFamily="2" charset="2"/>
              <a:buChar char="Ø"/>
            </a:pPr>
            <a:r>
              <a:rPr lang="en-US" sz="2400" dirty="0" smtClean="0">
                <a:effectLst>
                  <a:outerShdw blurRad="38100" dist="38100" dir="2700000" algn="tl">
                    <a:srgbClr val="000000">
                      <a:alpha val="43137"/>
                    </a:srgbClr>
                  </a:outerShdw>
                </a:effectLst>
              </a:rPr>
              <a:t>This is software that is specifically designed to gain access or damage a computer without the knowledge of the owner.</a:t>
            </a:r>
          </a:p>
          <a:p>
            <a:pPr algn="ctr"/>
            <a:endParaRPr lang="en-US" sz="2400" dirty="0" smtClean="0">
              <a:effectLst>
                <a:outerShdw blurRad="38100" dist="38100" dir="2700000" algn="tl">
                  <a:srgbClr val="000000">
                    <a:alpha val="43137"/>
                  </a:srgbClr>
                </a:outerShdw>
              </a:effectLst>
            </a:endParaRPr>
          </a:p>
          <a:p>
            <a:pPr marL="1257300" lvl="2" indent="-342900" algn="ctr">
              <a:buFont typeface="Wingdings" panose="05000000000000000000" pitchFamily="2" charset="2"/>
              <a:buChar char="Ø"/>
            </a:pPr>
            <a:r>
              <a:rPr lang="en-US" sz="2400" b="0" cap="none" spc="0" dirty="0" smtClean="0">
                <a:ln w="0"/>
                <a:solidFill>
                  <a:schemeClr val="tx1"/>
                </a:solidFill>
                <a:effectLst>
                  <a:outerShdw blurRad="38100" dist="38100" dir="2700000" algn="tl">
                    <a:srgbClr val="000000">
                      <a:alpha val="43137"/>
                    </a:srgbClr>
                  </a:outerShdw>
                </a:effectLst>
              </a:rPr>
              <a:t>Mainly designed to transmit information about your web </a:t>
            </a:r>
            <a:r>
              <a:rPr lang="en-US" sz="2400" dirty="0" smtClean="0">
                <a:ln w="0"/>
                <a:effectLst>
                  <a:outerShdw blurRad="38100" dist="38100" dir="2700000" algn="tl">
                    <a:srgbClr val="000000">
                      <a:alpha val="43137"/>
                    </a:srgbClr>
                  </a:outerShdw>
                </a:effectLst>
              </a:rPr>
              <a:t>b</a:t>
            </a:r>
            <a:r>
              <a:rPr lang="en-US" sz="2400" b="0" cap="none" spc="0" dirty="0" smtClean="0">
                <a:ln w="0"/>
                <a:solidFill>
                  <a:schemeClr val="tx1"/>
                </a:solidFill>
                <a:effectLst>
                  <a:outerShdw blurRad="38100" dist="38100" dir="2700000" algn="tl">
                    <a:srgbClr val="000000">
                      <a:alpha val="43137"/>
                    </a:srgbClr>
                  </a:outerShdw>
                </a:effectLst>
              </a:rPr>
              <a:t>rowsing habits to the third party.</a:t>
            </a:r>
            <a:endParaRPr lang="en-US" sz="2400" b="0" cap="none" spc="0" dirty="0">
              <a:ln w="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714554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childTnLst>
                                </p:cTn>
                              </p:par>
                            </p:childTnLst>
                          </p:cTn>
                        </p:par>
                        <p:par>
                          <p:cTn id="8" fill="hold">
                            <p:stCondLst>
                              <p:cond delay="1600"/>
                            </p:stCondLst>
                            <p:childTnLst>
                              <p:par>
                                <p:cTn id="9" presetID="10" presetClass="entr" presetSubtype="0" fill="hold" nodeType="afterEffect">
                                  <p:stCondLst>
                                    <p:cond delay="0"/>
                                  </p:stCondLst>
                                  <p:iterate type="wd">
                                    <p:tmPct val="15000"/>
                                  </p:iterate>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2000"/>
                                        <p:tgtEl>
                                          <p:spTgt spid="3">
                                            <p:txEl>
                                              <p:pRg st="0" end="0"/>
                                            </p:txEl>
                                          </p:spTgt>
                                        </p:tgtEl>
                                      </p:cBhvr>
                                    </p:animEffect>
                                  </p:childTnLst>
                                </p:cTn>
                              </p:par>
                            </p:childTnLst>
                          </p:cTn>
                        </p:par>
                        <p:par>
                          <p:cTn id="12" fill="hold">
                            <p:stCondLst>
                              <p:cond delay="6900"/>
                            </p:stCondLst>
                            <p:childTnLst>
                              <p:par>
                                <p:cTn id="13" presetID="10" presetClass="entr" presetSubtype="0" fill="hold" nodeType="afterEffect">
                                  <p:stCondLst>
                                    <p:cond delay="0"/>
                                  </p:stCondLst>
                                  <p:iterate type="lt">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childTnLst>
                                </p:cTn>
                              </p:par>
                            </p:childTnLst>
                          </p:cTn>
                        </p:par>
                        <p:par>
                          <p:cTn id="16" fill="hold">
                            <p:stCondLst>
                              <p:cond delay="14100"/>
                            </p:stCondLst>
                            <p:childTnLst>
                              <p:par>
                                <p:cTn id="17" presetID="10" presetClass="entr" presetSubtype="0" fill="hold" nodeType="afterEffect">
                                  <p:stCondLst>
                                    <p:cond delay="0"/>
                                  </p:stCondLst>
                                  <p:iterate type="lt">
                                    <p:tmPct val="10000"/>
                                  </p:iterate>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000"/>
                                        <p:tgtEl>
                                          <p:spTgt spid="3">
                                            <p:txEl>
                                              <p:pRg st="4" end="4"/>
                                            </p:txEl>
                                          </p:spTgt>
                                        </p:tgtEl>
                                      </p:cBhvr>
                                    </p:animEffect>
                                  </p:childTnLst>
                                </p:cTn>
                              </p:par>
                            </p:childTnLst>
                          </p:cTn>
                        </p:par>
                        <p:par>
                          <p:cTn id="20" fill="hold">
                            <p:stCondLst>
                              <p:cond delay="24900"/>
                            </p:stCondLst>
                            <p:childTnLst>
                              <p:par>
                                <p:cTn id="21" presetID="10" presetClass="entr" presetSubtype="0" fill="hold" nodeType="afterEffect">
                                  <p:stCondLst>
                                    <p:cond delay="0"/>
                                  </p:stCondLst>
                                  <p:iterate type="lt">
                                    <p:tmPct val="10000"/>
                                  </p:iterate>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29924" y="670951"/>
            <a:ext cx="2191627" cy="707886"/>
          </a:xfrm>
          <a:prstGeom prst="rect">
            <a:avLst/>
          </a:prstGeom>
        </p:spPr>
        <p:txBody>
          <a:bodyPr wrap="none">
            <a:spAutoFit/>
          </a:bodyPr>
          <a:lstStyle/>
          <a:p>
            <a:pPr algn="ctr"/>
            <a:r>
              <a:rPr lang="en-US" sz="4000" b="1" dirty="0" smtClean="0">
                <a:ln/>
                <a:solidFill>
                  <a:srgbClr val="FFFF00"/>
                </a:solidFill>
                <a:effectLst>
                  <a:outerShdw blurRad="60007" dist="310007" dir="7680000" sy="30000" kx="1300200" algn="ctr" rotWithShape="0">
                    <a:prstClr val="black">
                      <a:alpha val="32000"/>
                    </a:prstClr>
                  </a:outerShdw>
                  <a:reflection blurRad="6350" stA="50000" endA="300" endPos="50000" dist="29997" dir="5400000" sy="-100000" algn="bl" rotWithShape="0"/>
                </a:effectLst>
              </a:rPr>
              <a:t>PURPOSE</a:t>
            </a:r>
            <a:endParaRPr lang="en-US" sz="4000" b="1" dirty="0">
              <a:ln/>
              <a:solidFill>
                <a:srgbClr val="FFFF00"/>
              </a:solidFill>
              <a:effectLst>
                <a:outerShdw blurRad="60007" dist="310007" dir="7680000" sy="30000" kx="1300200" algn="ctr" rotWithShape="0">
                  <a:prstClr val="black">
                    <a:alpha val="32000"/>
                  </a:prstClr>
                </a:outerShdw>
                <a:reflection blurRad="6350" stA="50000" endA="300" endPos="50000" dist="29997" dir="5400000" sy="-100000" algn="bl" rotWithShape="0"/>
              </a:effectLst>
            </a:endParaRPr>
          </a:p>
        </p:txBody>
      </p:sp>
      <p:sp>
        <p:nvSpPr>
          <p:cNvPr id="3" name="Rectangle 2"/>
          <p:cNvSpPr/>
          <p:nvPr/>
        </p:nvSpPr>
        <p:spPr>
          <a:xfrm>
            <a:off x="509451" y="2233749"/>
            <a:ext cx="11351623" cy="3785652"/>
          </a:xfrm>
          <a:prstGeom prst="rect">
            <a:avLst/>
          </a:prstGeom>
        </p:spPr>
        <p:txBody>
          <a:bodyPr wrap="square">
            <a:spAutoFit/>
          </a:bodyPr>
          <a:lstStyle/>
          <a:p>
            <a:pPr marL="342900" indent="-342900">
              <a:buFont typeface="Wingdings" panose="05000000000000000000" pitchFamily="2" charset="2"/>
              <a:buChar char="Ø"/>
            </a:pPr>
            <a:r>
              <a:rPr lang="en-US" sz="2400" dirty="0" smtClean="0"/>
              <a:t> </a:t>
            </a:r>
            <a:r>
              <a:rPr lang="en-US" sz="2400" dirty="0"/>
              <a:t>To hurt others and make </a:t>
            </a:r>
            <a:r>
              <a:rPr lang="en-US" sz="2400" dirty="0">
                <a:solidFill>
                  <a:srgbClr val="FF0000"/>
                </a:solidFill>
              </a:rPr>
              <a:t>money</a:t>
            </a:r>
            <a:r>
              <a:rPr lang="en-US" sz="2400" dirty="0"/>
              <a:t>, usually by affecting important </a:t>
            </a:r>
            <a:r>
              <a:rPr lang="en-US" sz="2400" dirty="0" smtClean="0"/>
              <a:t>information </a:t>
            </a:r>
            <a:r>
              <a:rPr lang="en-IN" sz="2400" dirty="0" smtClean="0"/>
              <a:t>adversely.</a:t>
            </a:r>
          </a:p>
          <a:p>
            <a:endParaRPr lang="en-IN" sz="2400" dirty="0"/>
          </a:p>
          <a:p>
            <a:pPr marL="800100" lvl="1" indent="-342900">
              <a:buFont typeface="Wingdings" panose="05000000000000000000" pitchFamily="2" charset="2"/>
              <a:buChar char="Ø"/>
            </a:pPr>
            <a:r>
              <a:rPr lang="en-IN" sz="2400" dirty="0" smtClean="0">
                <a:solidFill>
                  <a:srgbClr val="00B0F0"/>
                </a:solidFill>
              </a:rPr>
              <a:t> </a:t>
            </a:r>
            <a:r>
              <a:rPr lang="en-IN" sz="2400" dirty="0">
                <a:solidFill>
                  <a:srgbClr val="00B0F0"/>
                </a:solidFill>
              </a:rPr>
              <a:t>Stealing</a:t>
            </a:r>
            <a:r>
              <a:rPr lang="en-IN" sz="2400" dirty="0"/>
              <a:t>, </a:t>
            </a:r>
            <a:r>
              <a:rPr lang="en-IN" sz="2400" dirty="0">
                <a:solidFill>
                  <a:srgbClr val="FF0000"/>
                </a:solidFill>
              </a:rPr>
              <a:t>encrypting </a:t>
            </a:r>
            <a:r>
              <a:rPr lang="en-IN" sz="2400" dirty="0"/>
              <a:t>or </a:t>
            </a:r>
            <a:r>
              <a:rPr lang="en-IN" sz="2400" dirty="0">
                <a:solidFill>
                  <a:srgbClr val="00B050"/>
                </a:solidFill>
              </a:rPr>
              <a:t>deleting</a:t>
            </a:r>
            <a:r>
              <a:rPr lang="en-IN" sz="2400" dirty="0"/>
              <a:t> sensitive data</a:t>
            </a:r>
            <a:r>
              <a:rPr lang="en-IN" sz="2400" dirty="0" smtClean="0"/>
              <a:t>.</a:t>
            </a:r>
          </a:p>
          <a:p>
            <a:endParaRPr lang="en-IN" sz="2400" dirty="0"/>
          </a:p>
          <a:p>
            <a:pPr marL="1257300" lvl="2" indent="-342900">
              <a:buFont typeface="Wingdings" panose="05000000000000000000" pitchFamily="2" charset="2"/>
              <a:buChar char="Ø"/>
            </a:pPr>
            <a:r>
              <a:rPr lang="en-US" sz="2400" dirty="0" smtClean="0"/>
              <a:t> </a:t>
            </a:r>
            <a:r>
              <a:rPr lang="en-US" sz="2400" dirty="0"/>
              <a:t>Altering or </a:t>
            </a:r>
            <a:r>
              <a:rPr lang="en-US" sz="2400" dirty="0">
                <a:solidFill>
                  <a:srgbClr val="FF0000"/>
                </a:solidFill>
              </a:rPr>
              <a:t>hijacking</a:t>
            </a:r>
            <a:r>
              <a:rPr lang="en-US" sz="2400" dirty="0"/>
              <a:t> core computing functions</a:t>
            </a:r>
            <a:r>
              <a:rPr lang="en-US" sz="2400" dirty="0" smtClean="0"/>
              <a:t>.</a:t>
            </a:r>
          </a:p>
          <a:p>
            <a:endParaRPr lang="en-US" sz="2400" dirty="0"/>
          </a:p>
          <a:p>
            <a:pPr marL="1714500" lvl="3" indent="-342900">
              <a:buFont typeface="Wingdings" panose="05000000000000000000" pitchFamily="2" charset="2"/>
              <a:buChar char="Ø"/>
            </a:pPr>
            <a:r>
              <a:rPr lang="en-US" sz="2400" dirty="0" smtClean="0"/>
              <a:t> </a:t>
            </a:r>
            <a:r>
              <a:rPr lang="en-US" sz="2400" dirty="0"/>
              <a:t>Monitoring users’ computer activity without their permission</a:t>
            </a:r>
            <a:r>
              <a:rPr lang="en-US" sz="2400" dirty="0" smtClean="0"/>
              <a:t>.</a:t>
            </a:r>
          </a:p>
          <a:p>
            <a:endParaRPr lang="en-US" sz="2400" dirty="0"/>
          </a:p>
          <a:p>
            <a:pPr marL="2171700" lvl="4" indent="-342900">
              <a:buFont typeface="Wingdings" panose="05000000000000000000" pitchFamily="2" charset="2"/>
              <a:buChar char="Ø"/>
            </a:pPr>
            <a:r>
              <a:rPr lang="en-US" sz="2400" dirty="0" smtClean="0"/>
              <a:t> </a:t>
            </a:r>
            <a:r>
              <a:rPr lang="en-US" sz="2400" dirty="0"/>
              <a:t>To steal personal, financial, or business information from individuals &amp; </a:t>
            </a:r>
            <a:r>
              <a:rPr lang="en-US" sz="2400" dirty="0" err="1"/>
              <a:t>govs</a:t>
            </a:r>
            <a:r>
              <a:rPr lang="en-US" sz="2400" dirty="0"/>
              <a:t>.</a:t>
            </a:r>
            <a:endParaRPr lang="en-IN" sz="2400" dirty="0"/>
          </a:p>
        </p:txBody>
      </p:sp>
    </p:spTree>
    <p:extLst>
      <p:ext uri="{BB962C8B-B14F-4D97-AF65-F5344CB8AC3E}">
        <p14:creationId xmlns:p14="http://schemas.microsoft.com/office/powerpoint/2010/main" val="13015353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par>
                          <p:cTn id="8" fill="hold">
                            <p:stCondLst>
                              <p:cond delay="3200"/>
                            </p:stCondLst>
                            <p:childTnLst>
                              <p:par>
                                <p:cTn id="9" presetID="10" presetClass="entr" presetSubtype="0" fill="hold" nodeType="afterEffect">
                                  <p:stCondLst>
                                    <p:cond delay="0"/>
                                  </p:stCondLst>
                                  <p:iterate type="lt">
                                    <p:tmPct val="10000"/>
                                  </p:iterate>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1000"/>
                                        <p:tgtEl>
                                          <p:spTgt spid="3">
                                            <p:txEl>
                                              <p:pRg st="0" end="0"/>
                                            </p:txEl>
                                          </p:spTgt>
                                        </p:tgtEl>
                                      </p:cBhvr>
                                    </p:animEffect>
                                  </p:childTnLst>
                                </p:cTn>
                              </p:par>
                            </p:childTnLst>
                          </p:cTn>
                        </p:par>
                        <p:par>
                          <p:cTn id="12" fill="hold">
                            <p:stCondLst>
                              <p:cond delay="11400"/>
                            </p:stCondLst>
                            <p:childTnLst>
                              <p:par>
                                <p:cTn id="13" presetID="10" presetClass="entr" presetSubtype="0" fill="hold" nodeType="afterEffect">
                                  <p:stCondLst>
                                    <p:cond delay="0"/>
                                  </p:stCondLst>
                                  <p:iterate type="lt">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childTnLst>
                                </p:cTn>
                              </p:par>
                            </p:childTnLst>
                          </p:cTn>
                        </p:par>
                        <p:par>
                          <p:cTn id="16" fill="hold">
                            <p:stCondLst>
                              <p:cond delay="16600"/>
                            </p:stCondLst>
                            <p:childTnLst>
                              <p:par>
                                <p:cTn id="17" presetID="10" presetClass="entr" presetSubtype="0" fill="hold" nodeType="afterEffect">
                                  <p:stCondLst>
                                    <p:cond delay="0"/>
                                  </p:stCondLst>
                                  <p:iterate type="lt">
                                    <p:tmPct val="10000"/>
                                  </p:iterate>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000"/>
                                        <p:tgtEl>
                                          <p:spTgt spid="3">
                                            <p:txEl>
                                              <p:pRg st="4" end="4"/>
                                            </p:txEl>
                                          </p:spTgt>
                                        </p:tgtEl>
                                      </p:cBhvr>
                                    </p:animEffect>
                                  </p:childTnLst>
                                </p:cTn>
                              </p:par>
                            </p:childTnLst>
                          </p:cTn>
                        </p:par>
                        <p:par>
                          <p:cTn id="20" fill="hold">
                            <p:stCondLst>
                              <p:cond delay="21700"/>
                            </p:stCondLst>
                            <p:childTnLst>
                              <p:par>
                                <p:cTn id="21" presetID="10" presetClass="entr" presetSubtype="0" fill="hold" nodeType="afterEffect">
                                  <p:stCondLst>
                                    <p:cond delay="0"/>
                                  </p:stCondLst>
                                  <p:iterate type="lt">
                                    <p:tmPct val="10000"/>
                                  </p:iterate>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1000"/>
                                        <p:tgtEl>
                                          <p:spTgt spid="3">
                                            <p:txEl>
                                              <p:pRg st="6" end="6"/>
                                            </p:txEl>
                                          </p:spTgt>
                                        </p:tgtEl>
                                      </p:cBhvr>
                                    </p:animEffect>
                                  </p:childTnLst>
                                </p:cTn>
                              </p:par>
                            </p:childTnLst>
                          </p:cTn>
                        </p:par>
                        <p:par>
                          <p:cTn id="24" fill="hold">
                            <p:stCondLst>
                              <p:cond delay="28100"/>
                            </p:stCondLst>
                            <p:childTnLst>
                              <p:par>
                                <p:cTn id="25" presetID="10" presetClass="entr" presetSubtype="0" fill="hold" nodeType="afterEffect">
                                  <p:stCondLst>
                                    <p:cond delay="0"/>
                                  </p:stCondLst>
                                  <p:iterate type="lt">
                                    <p:tmPct val="10000"/>
                                  </p:iterate>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1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5956" y="657888"/>
            <a:ext cx="2206053" cy="707886"/>
          </a:xfrm>
          <a:prstGeom prst="rect">
            <a:avLst/>
          </a:prstGeom>
        </p:spPr>
        <p:txBody>
          <a:bodyPr wrap="none">
            <a:spAutoFit/>
          </a:bodyPr>
          <a:lstStyle/>
          <a:p>
            <a:pPr algn="ctr"/>
            <a:r>
              <a:rPr lang="en-US" sz="4000" b="1" dirty="0" smtClean="0">
                <a:ln/>
                <a:solidFill>
                  <a:srgbClr val="FFFF00"/>
                </a:solidFill>
                <a:effectLst>
                  <a:outerShdw blurRad="60007" dist="310007" dir="7680000" sy="30000" kx="1300200" algn="ctr" rotWithShape="0">
                    <a:prstClr val="black">
                      <a:alpha val="32000"/>
                    </a:prstClr>
                  </a:outerShdw>
                  <a:reflection blurRad="6350" stA="50000" endA="300" endPos="50000" dist="29997" dir="5400000" sy="-100000" algn="bl" rotWithShape="0"/>
                </a:effectLst>
              </a:rPr>
              <a:t>HISTORY</a:t>
            </a:r>
            <a:endParaRPr lang="en-US" sz="4000" b="1" dirty="0">
              <a:ln/>
              <a:solidFill>
                <a:srgbClr val="FFFF00"/>
              </a:solidFill>
              <a:effectLst>
                <a:outerShdw blurRad="60007" dist="310007" dir="7680000" sy="30000" kx="1300200" algn="ctr" rotWithShape="0">
                  <a:prstClr val="black">
                    <a:alpha val="32000"/>
                  </a:prstClr>
                </a:outerShdw>
                <a:reflection blurRad="6350" stA="50000" endA="300" endPos="50000" dist="29997" dir="5400000" sy="-100000" algn="bl" rotWithShape="0"/>
              </a:effectLst>
            </a:endParaRPr>
          </a:p>
        </p:txBody>
      </p:sp>
      <p:sp>
        <p:nvSpPr>
          <p:cNvPr id="3" name="Rectangle 2"/>
          <p:cNvSpPr/>
          <p:nvPr/>
        </p:nvSpPr>
        <p:spPr>
          <a:xfrm>
            <a:off x="355826" y="1239132"/>
            <a:ext cx="11129554" cy="5262979"/>
          </a:xfrm>
          <a:prstGeom prst="rect">
            <a:avLst/>
          </a:prstGeom>
        </p:spPr>
        <p:txBody>
          <a:bodyPr wrap="square">
            <a:spAutoFit/>
          </a:bodyPr>
          <a:lstStyle/>
          <a:p>
            <a:pPr marL="285750" indent="-285750">
              <a:buFont typeface="Wingdings" panose="05000000000000000000" pitchFamily="2" charset="2"/>
              <a:buChar char="Ø"/>
            </a:pPr>
            <a:r>
              <a:rPr lang="en-US" sz="2200" dirty="0" smtClean="0">
                <a:effectLst>
                  <a:outerShdw blurRad="38100" dist="38100" dir="2700000" algn="tl">
                    <a:srgbClr val="000000">
                      <a:alpha val="43137"/>
                    </a:srgbClr>
                  </a:outerShdw>
                </a:effectLst>
                <a:latin typeface="Wingdings-Regular"/>
              </a:rPr>
              <a:t> </a:t>
            </a:r>
            <a:r>
              <a:rPr lang="en-US" sz="2400" dirty="0">
                <a:effectLst>
                  <a:outerShdw blurRad="38100" dist="38100" dir="2700000" algn="tl">
                    <a:srgbClr val="000000">
                      <a:alpha val="43137"/>
                    </a:srgbClr>
                  </a:outerShdw>
                </a:effectLst>
                <a:latin typeface="Times New Roman" panose="02020603050405020304" pitchFamily="18" charset="0"/>
              </a:rPr>
              <a:t>People first started writing malware in the </a:t>
            </a:r>
            <a:r>
              <a:rPr lang="en-US" sz="2400" dirty="0">
                <a:solidFill>
                  <a:srgbClr val="00B0F0"/>
                </a:solidFill>
                <a:effectLst>
                  <a:outerShdw blurRad="38100" dist="38100" dir="2700000" algn="tl">
                    <a:srgbClr val="000000">
                      <a:alpha val="43137"/>
                    </a:srgbClr>
                  </a:outerShdw>
                </a:effectLst>
                <a:latin typeface="Times New Roman" panose="02020603050405020304" pitchFamily="18" charset="0"/>
              </a:rPr>
              <a:t>1970s</a:t>
            </a:r>
            <a:r>
              <a:rPr lang="en-US" sz="2400" dirty="0">
                <a:effectLst>
                  <a:outerShdw blurRad="38100" dist="38100" dir="2700000" algn="tl">
                    <a:srgbClr val="000000">
                      <a:alpha val="43137"/>
                    </a:srgbClr>
                  </a:outerShdw>
                </a:effectLst>
                <a:latin typeface="Times New Roman" panose="02020603050405020304" pitchFamily="18" charset="0"/>
              </a:rPr>
              <a:t> and early </a:t>
            </a:r>
            <a:r>
              <a:rPr lang="en-US" sz="2400" dirty="0">
                <a:solidFill>
                  <a:srgbClr val="00B0F0"/>
                </a:solidFill>
                <a:effectLst>
                  <a:outerShdw blurRad="38100" dist="38100" dir="2700000" algn="tl">
                    <a:srgbClr val="000000">
                      <a:alpha val="43137"/>
                    </a:srgbClr>
                  </a:outerShdw>
                </a:effectLst>
                <a:latin typeface="Times New Roman" panose="02020603050405020304" pitchFamily="18" charset="0"/>
              </a:rPr>
              <a:t>1980s. </a:t>
            </a:r>
            <a:r>
              <a:rPr lang="en-US" sz="2400" dirty="0">
                <a:effectLst>
                  <a:outerShdw blurRad="38100" dist="38100" dir="2700000" algn="tl">
                    <a:srgbClr val="000000">
                      <a:alpha val="43137"/>
                    </a:srgbClr>
                  </a:outerShdw>
                </a:effectLst>
                <a:latin typeface="Times New Roman" panose="02020603050405020304" pitchFamily="18" charset="0"/>
              </a:rPr>
              <a:t>They were </a:t>
            </a:r>
            <a:r>
              <a:rPr lang="en-US" sz="2400" dirty="0" smtClean="0">
                <a:effectLst>
                  <a:outerShdw blurRad="38100" dist="38100" dir="2700000" algn="tl">
                    <a:srgbClr val="000000">
                      <a:alpha val="43137"/>
                    </a:srgbClr>
                  </a:outerShdw>
                </a:effectLst>
                <a:latin typeface="Times New Roman" panose="02020603050405020304" pitchFamily="18" charset="0"/>
              </a:rPr>
              <a:t>written as </a:t>
            </a:r>
            <a:r>
              <a:rPr lang="en-US" sz="2400" dirty="0">
                <a:effectLst>
                  <a:outerShdw blurRad="38100" dist="38100" dir="2700000" algn="tl">
                    <a:srgbClr val="000000">
                      <a:alpha val="43137"/>
                    </a:srgbClr>
                  </a:outerShdw>
                </a:effectLst>
                <a:latin typeface="Times New Roman" panose="02020603050405020304" pitchFamily="18" charset="0"/>
              </a:rPr>
              <a:t>experiments or </a:t>
            </a:r>
            <a:r>
              <a:rPr lang="en-US" sz="2400" dirty="0" smtClean="0">
                <a:effectLst>
                  <a:outerShdw blurRad="38100" dist="38100" dir="2700000" algn="tl">
                    <a:srgbClr val="000000">
                      <a:alpha val="43137"/>
                    </a:srgbClr>
                  </a:outerShdw>
                </a:effectLst>
                <a:latin typeface="Times New Roman" panose="02020603050405020304" pitchFamily="18" charset="0"/>
              </a:rPr>
              <a:t> pranks </a:t>
            </a:r>
            <a:r>
              <a:rPr lang="en-US" sz="2400" dirty="0">
                <a:effectLst>
                  <a:outerShdw blurRad="38100" dist="38100" dir="2700000" algn="tl">
                    <a:srgbClr val="000000">
                      <a:alpha val="43137"/>
                    </a:srgbClr>
                  </a:outerShdw>
                </a:effectLst>
                <a:latin typeface="Times New Roman" panose="02020603050405020304" pitchFamily="18" charset="0"/>
              </a:rPr>
              <a:t>for fun</a:t>
            </a:r>
            <a:r>
              <a:rPr lang="en-US" sz="2400" dirty="0" smtClean="0">
                <a:effectLst>
                  <a:outerShdw blurRad="38100" dist="38100" dir="2700000" algn="tl">
                    <a:srgbClr val="000000">
                      <a:alpha val="43137"/>
                    </a:srgbClr>
                  </a:outerShdw>
                </a:effectLst>
                <a:latin typeface="Times New Roman" panose="02020603050405020304" pitchFamily="18" charset="0"/>
              </a:rPr>
              <a:t>.</a:t>
            </a:r>
          </a:p>
          <a:p>
            <a:endParaRPr lang="en-US" sz="2400" dirty="0">
              <a:effectLst>
                <a:outerShdw blurRad="38100" dist="38100" dir="2700000" algn="tl">
                  <a:srgbClr val="000000">
                    <a:alpha val="43137"/>
                  </a:srgbClr>
                </a:outerShdw>
              </a:effectLst>
              <a:latin typeface="Times New Roman" panose="02020603050405020304" pitchFamily="18" charset="0"/>
            </a:endParaRPr>
          </a:p>
          <a:p>
            <a:pPr marL="742950" lvl="1" indent="-285750">
              <a:buFont typeface="Wingdings" panose="05000000000000000000" pitchFamily="2" charset="2"/>
              <a:buChar char="Ø"/>
            </a:pPr>
            <a:r>
              <a:rPr lang="en-US" sz="2400" dirty="0" smtClean="0">
                <a:effectLst>
                  <a:outerShdw blurRad="38100" dist="38100" dir="2700000" algn="tl">
                    <a:srgbClr val="000000">
                      <a:alpha val="43137"/>
                    </a:srgbClr>
                  </a:outerShdw>
                </a:effectLst>
                <a:latin typeface="Wingdings-Regular"/>
              </a:rPr>
              <a:t> </a:t>
            </a:r>
            <a:r>
              <a:rPr lang="en-US" sz="2400" dirty="0">
                <a:effectLst>
                  <a:outerShdw blurRad="38100" dist="38100" dir="2700000" algn="tl">
                    <a:srgbClr val="000000">
                      <a:alpha val="43137"/>
                    </a:srgbClr>
                  </a:outerShdw>
                </a:effectLst>
                <a:latin typeface="TimesNewRomanPSMT"/>
              </a:rPr>
              <a:t>‘</a:t>
            </a:r>
            <a:r>
              <a:rPr lang="en-US" sz="2400" dirty="0">
                <a:solidFill>
                  <a:srgbClr val="FF0000"/>
                </a:solidFill>
                <a:effectLst>
                  <a:outerShdw blurRad="38100" dist="38100" dir="2700000" algn="tl">
                    <a:srgbClr val="000000">
                      <a:alpha val="43137"/>
                    </a:srgbClr>
                  </a:outerShdw>
                </a:effectLst>
                <a:latin typeface="Times New Roman" panose="02020603050405020304" pitchFamily="18" charset="0"/>
              </a:rPr>
              <a:t>Creeper Virus</a:t>
            </a:r>
            <a:r>
              <a:rPr lang="en-US" sz="2400" dirty="0">
                <a:effectLst>
                  <a:outerShdw blurRad="38100" dist="38100" dir="2700000" algn="tl">
                    <a:srgbClr val="000000">
                      <a:alpha val="43137"/>
                    </a:srgbClr>
                  </a:outerShdw>
                </a:effectLst>
                <a:latin typeface="TimesNewRomanPSMT"/>
              </a:rPr>
              <a:t>’ </a:t>
            </a:r>
            <a:r>
              <a:rPr lang="en-US" sz="2400" dirty="0">
                <a:effectLst>
                  <a:outerShdw blurRad="38100" dist="38100" dir="2700000" algn="tl">
                    <a:srgbClr val="000000">
                      <a:alpha val="43137"/>
                    </a:srgbClr>
                  </a:outerShdw>
                </a:effectLst>
                <a:latin typeface="Times New Roman" panose="02020603050405020304" pitchFamily="18" charset="0"/>
              </a:rPr>
              <a:t>created in </a:t>
            </a:r>
            <a:r>
              <a:rPr lang="en-US" sz="2400" dirty="0">
                <a:solidFill>
                  <a:srgbClr val="00B0F0"/>
                </a:solidFill>
                <a:effectLst>
                  <a:outerShdw blurRad="38100" dist="38100" dir="2700000" algn="tl">
                    <a:srgbClr val="000000">
                      <a:alpha val="43137"/>
                    </a:srgbClr>
                  </a:outerShdw>
                </a:effectLst>
                <a:latin typeface="Times New Roman" panose="02020603050405020304" pitchFamily="18" charset="0"/>
              </a:rPr>
              <a:t>1971</a:t>
            </a:r>
            <a:r>
              <a:rPr lang="en-US" sz="2400" dirty="0">
                <a:effectLst>
                  <a:outerShdw blurRad="38100" dist="38100" dir="2700000" algn="tl">
                    <a:srgbClr val="000000">
                      <a:alpha val="43137"/>
                    </a:srgbClr>
                  </a:outerShdw>
                </a:effectLst>
                <a:latin typeface="Times New Roman" panose="02020603050405020304" pitchFamily="18" charset="0"/>
              </a:rPr>
              <a:t>. Created as an experiment, Creeper did not </a:t>
            </a:r>
            <a:r>
              <a:rPr lang="en-US" sz="2400" dirty="0" smtClean="0">
                <a:effectLst>
                  <a:outerShdw blurRad="38100" dist="38100" dir="2700000" algn="tl">
                    <a:srgbClr val="000000">
                      <a:alpha val="43137"/>
                    </a:srgbClr>
                  </a:outerShdw>
                </a:effectLst>
                <a:latin typeface="Times New Roman" panose="02020603050405020304" pitchFamily="18" charset="0"/>
              </a:rPr>
              <a:t>cause damage </a:t>
            </a:r>
            <a:r>
              <a:rPr lang="en-US" sz="2400" dirty="0">
                <a:effectLst>
                  <a:outerShdw blurRad="38100" dist="38100" dir="2700000" algn="tl">
                    <a:srgbClr val="000000">
                      <a:alpha val="43137"/>
                    </a:srgbClr>
                  </a:outerShdw>
                </a:effectLst>
                <a:latin typeface="Times New Roman" panose="02020603050405020304" pitchFamily="18" charset="0"/>
              </a:rPr>
              <a:t>- but did foretell the future of malware with its quick spread through systems</a:t>
            </a:r>
            <a:r>
              <a:rPr lang="en-US" sz="2400" dirty="0" smtClean="0">
                <a:effectLst>
                  <a:outerShdw blurRad="38100" dist="38100" dir="2700000" algn="tl">
                    <a:srgbClr val="000000">
                      <a:alpha val="43137"/>
                    </a:srgbClr>
                  </a:outerShdw>
                </a:effectLst>
                <a:latin typeface="Times New Roman" panose="02020603050405020304" pitchFamily="18" charset="0"/>
              </a:rPr>
              <a:t>. </a:t>
            </a:r>
            <a:r>
              <a:rPr lang="en-US" sz="2400" dirty="0" smtClean="0">
                <a:effectLst>
                  <a:outerShdw blurRad="38100" dist="38100" dir="2700000" algn="tl">
                    <a:srgbClr val="000000">
                      <a:alpha val="43137"/>
                    </a:srgbClr>
                  </a:outerShdw>
                </a:effectLst>
                <a:latin typeface="TimesNewRomanPSMT"/>
              </a:rPr>
              <a:t>‘</a:t>
            </a:r>
            <a:r>
              <a:rPr lang="en-US" sz="2400" dirty="0">
                <a:solidFill>
                  <a:srgbClr val="FFFF00"/>
                </a:solidFill>
                <a:effectLst>
                  <a:outerShdw blurRad="38100" dist="38100" dir="2700000" algn="tl">
                    <a:srgbClr val="000000">
                      <a:alpha val="43137"/>
                    </a:srgbClr>
                  </a:outerShdw>
                </a:effectLst>
                <a:latin typeface="Times New Roman" panose="02020603050405020304" pitchFamily="18" charset="0"/>
              </a:rPr>
              <a:t>Reaper</a:t>
            </a:r>
            <a:r>
              <a:rPr lang="en-US" sz="2400" dirty="0">
                <a:effectLst>
                  <a:outerShdw blurRad="38100" dist="38100" dir="2700000" algn="tl">
                    <a:srgbClr val="000000">
                      <a:alpha val="43137"/>
                    </a:srgbClr>
                  </a:outerShdw>
                </a:effectLst>
                <a:latin typeface="TimesNewRomanPSMT"/>
              </a:rPr>
              <a:t>’ </a:t>
            </a:r>
            <a:r>
              <a:rPr lang="en-US" sz="2400" dirty="0">
                <a:effectLst>
                  <a:outerShdw blurRad="38100" dist="38100" dir="2700000" algn="tl">
                    <a:srgbClr val="000000">
                      <a:alpha val="43137"/>
                    </a:srgbClr>
                  </a:outerShdw>
                </a:effectLst>
                <a:latin typeface="Times New Roman" panose="02020603050405020304" pitchFamily="18" charset="0"/>
              </a:rPr>
              <a:t>was created to hunt and destroy Creeper - one of the first examples of </a:t>
            </a:r>
            <a:r>
              <a:rPr lang="en-US" sz="2400" dirty="0" smtClean="0">
                <a:effectLst>
                  <a:outerShdw blurRad="38100" dist="38100" dir="2700000" algn="tl">
                    <a:srgbClr val="000000">
                      <a:alpha val="43137"/>
                    </a:srgbClr>
                  </a:outerShdw>
                </a:effectLst>
                <a:latin typeface="Times New Roman" panose="02020603050405020304" pitchFamily="18" charset="0"/>
              </a:rPr>
              <a:t>an </a:t>
            </a:r>
            <a:r>
              <a:rPr lang="en-IN" sz="2400" dirty="0" smtClean="0">
                <a:effectLst>
                  <a:outerShdw blurRad="38100" dist="38100" dir="2700000" algn="tl">
                    <a:srgbClr val="000000">
                      <a:alpha val="43137"/>
                    </a:srgbClr>
                  </a:outerShdw>
                </a:effectLst>
                <a:latin typeface="TimesNewRomanPSMT"/>
              </a:rPr>
              <a:t>‘</a:t>
            </a:r>
            <a:r>
              <a:rPr lang="en-IN" sz="2400" dirty="0" smtClean="0">
                <a:solidFill>
                  <a:srgbClr val="FF0000"/>
                </a:solidFill>
                <a:effectLst>
                  <a:outerShdw blurRad="38100" dist="38100" dir="2700000" algn="tl">
                    <a:srgbClr val="000000">
                      <a:alpha val="43137"/>
                    </a:srgbClr>
                  </a:outerShdw>
                </a:effectLst>
                <a:latin typeface="Times New Roman" panose="02020603050405020304" pitchFamily="18" charset="0"/>
              </a:rPr>
              <a:t>anti-virus</a:t>
            </a:r>
            <a:r>
              <a:rPr lang="en-IN" sz="2400" dirty="0">
                <a:effectLst>
                  <a:outerShdw blurRad="38100" dist="38100" dir="2700000" algn="tl">
                    <a:srgbClr val="000000">
                      <a:alpha val="43137"/>
                    </a:srgbClr>
                  </a:outerShdw>
                </a:effectLst>
                <a:latin typeface="TimesNewRomanPSMT"/>
              </a:rPr>
              <a:t>’ </a:t>
            </a:r>
            <a:r>
              <a:rPr lang="en-IN" sz="2400" dirty="0">
                <a:effectLst>
                  <a:outerShdw blurRad="38100" dist="38100" dir="2700000" algn="tl">
                    <a:srgbClr val="000000">
                      <a:alpha val="43137"/>
                    </a:srgbClr>
                  </a:outerShdw>
                </a:effectLst>
                <a:latin typeface="Times New Roman" panose="02020603050405020304" pitchFamily="18" charset="0"/>
              </a:rPr>
              <a:t>program</a:t>
            </a:r>
            <a:r>
              <a:rPr lang="en-IN" sz="2400" dirty="0" smtClean="0">
                <a:effectLst>
                  <a:outerShdw blurRad="38100" dist="38100" dir="2700000" algn="tl">
                    <a:srgbClr val="000000">
                      <a:alpha val="43137"/>
                    </a:srgbClr>
                  </a:outerShdw>
                </a:effectLst>
                <a:latin typeface="Times New Roman" panose="02020603050405020304" pitchFamily="18" charset="0"/>
              </a:rPr>
              <a:t>.</a:t>
            </a:r>
          </a:p>
          <a:p>
            <a:endParaRPr lang="en-IN" sz="2400" dirty="0">
              <a:latin typeface="Times New Roman" panose="02020603050405020304" pitchFamily="18" charset="0"/>
            </a:endParaRPr>
          </a:p>
          <a:p>
            <a:pPr marL="1200150" lvl="2" indent="-285750">
              <a:buFont typeface="Wingdings" panose="05000000000000000000" pitchFamily="2" charset="2"/>
              <a:buChar char="Ø"/>
            </a:pPr>
            <a:r>
              <a:rPr lang="en-US" sz="2400" dirty="0" smtClean="0">
                <a:effectLst>
                  <a:outerShdw blurRad="38100" dist="38100" dir="2700000" algn="tl">
                    <a:srgbClr val="000000">
                      <a:alpha val="43137"/>
                    </a:srgbClr>
                  </a:outerShdw>
                </a:effectLst>
                <a:latin typeface="Wingdings-Regular"/>
              </a:rPr>
              <a:t> </a:t>
            </a:r>
            <a:r>
              <a:rPr lang="en-US" sz="2400" dirty="0">
                <a:effectLst>
                  <a:outerShdw blurRad="38100" dist="38100" dir="2700000" algn="tl">
                    <a:srgbClr val="000000">
                      <a:alpha val="43137"/>
                    </a:srgbClr>
                  </a:outerShdw>
                </a:effectLst>
                <a:latin typeface="Times New Roman" panose="02020603050405020304" pitchFamily="18" charset="0"/>
              </a:rPr>
              <a:t>Term </a:t>
            </a:r>
            <a:r>
              <a:rPr lang="en-US" sz="2400" dirty="0">
                <a:solidFill>
                  <a:srgbClr val="FF0000"/>
                </a:solidFill>
                <a:effectLst>
                  <a:outerShdw blurRad="38100" dist="38100" dir="2700000" algn="tl">
                    <a:srgbClr val="000000">
                      <a:alpha val="43137"/>
                    </a:srgbClr>
                  </a:outerShdw>
                </a:effectLst>
                <a:latin typeface="TimesNewRomanPSMT"/>
              </a:rPr>
              <a:t>‘</a:t>
            </a:r>
            <a:r>
              <a:rPr lang="en-US" sz="2400" dirty="0">
                <a:solidFill>
                  <a:srgbClr val="FF0000"/>
                </a:solidFill>
                <a:effectLst>
                  <a:outerShdw blurRad="38100" dist="38100" dir="2700000" algn="tl">
                    <a:srgbClr val="000000">
                      <a:alpha val="43137"/>
                    </a:srgbClr>
                  </a:outerShdw>
                </a:effectLst>
                <a:latin typeface="Times New Roman" panose="02020603050405020304" pitchFamily="18" charset="0"/>
              </a:rPr>
              <a:t>malware</a:t>
            </a:r>
            <a:r>
              <a:rPr lang="en-US" sz="2400" dirty="0">
                <a:solidFill>
                  <a:srgbClr val="FF0000"/>
                </a:solidFill>
                <a:effectLst>
                  <a:outerShdw blurRad="38100" dist="38100" dir="2700000" algn="tl">
                    <a:srgbClr val="000000">
                      <a:alpha val="43137"/>
                    </a:srgbClr>
                  </a:outerShdw>
                </a:effectLst>
                <a:latin typeface="TimesNewRomanPSMT"/>
              </a:rPr>
              <a:t>’ </a:t>
            </a:r>
            <a:r>
              <a:rPr lang="en-US" sz="2400" dirty="0">
                <a:effectLst>
                  <a:outerShdw blurRad="38100" dist="38100" dir="2700000" algn="tl">
                    <a:srgbClr val="000000">
                      <a:alpha val="43137"/>
                    </a:srgbClr>
                  </a:outerShdw>
                </a:effectLst>
                <a:latin typeface="Times New Roman" panose="02020603050405020304" pitchFamily="18" charset="0"/>
              </a:rPr>
              <a:t>coined in </a:t>
            </a:r>
            <a:r>
              <a:rPr lang="en-US" sz="2400" dirty="0">
                <a:solidFill>
                  <a:srgbClr val="00B0F0"/>
                </a:solidFill>
                <a:effectLst>
                  <a:outerShdw blurRad="38100" dist="38100" dir="2700000" algn="tl">
                    <a:srgbClr val="000000">
                      <a:alpha val="43137"/>
                    </a:srgbClr>
                  </a:outerShdw>
                </a:effectLst>
                <a:latin typeface="Times New Roman" panose="02020603050405020304" pitchFamily="18" charset="0"/>
              </a:rPr>
              <a:t>1990</a:t>
            </a:r>
            <a:r>
              <a:rPr lang="en-US" sz="2400" dirty="0" smtClean="0">
                <a:effectLst>
                  <a:outerShdw blurRad="38100" dist="38100" dir="2700000" algn="tl">
                    <a:srgbClr val="000000">
                      <a:alpha val="43137"/>
                    </a:srgbClr>
                  </a:outerShdw>
                </a:effectLst>
                <a:latin typeface="Times New Roman" panose="02020603050405020304" pitchFamily="18" charset="0"/>
              </a:rPr>
              <a:t>.</a:t>
            </a:r>
          </a:p>
          <a:p>
            <a:endParaRPr lang="en-US" sz="2400" dirty="0">
              <a:latin typeface="Times New Roman" panose="02020603050405020304" pitchFamily="18" charset="0"/>
            </a:endParaRPr>
          </a:p>
          <a:p>
            <a:pPr marL="1657350" lvl="3" indent="-285750">
              <a:buFont typeface="Wingdings" panose="05000000000000000000" pitchFamily="2" charset="2"/>
              <a:buChar char="Ø"/>
            </a:pPr>
            <a:r>
              <a:rPr lang="en-US" sz="2400" dirty="0" smtClean="0">
                <a:latin typeface="Wingdings-Regular"/>
              </a:rPr>
              <a:t> </a:t>
            </a:r>
            <a:r>
              <a:rPr lang="en-US" sz="2400" dirty="0">
                <a:effectLst>
                  <a:outerShdw blurRad="38100" dist="38100" dir="2700000" algn="tl">
                    <a:srgbClr val="000000">
                      <a:alpha val="43137"/>
                    </a:srgbClr>
                  </a:outerShdw>
                </a:effectLst>
                <a:latin typeface="Times New Roman" panose="02020603050405020304" pitchFamily="18" charset="0"/>
              </a:rPr>
              <a:t>Use of malware increased in the early </a:t>
            </a:r>
            <a:r>
              <a:rPr lang="en-US" sz="2400" dirty="0">
                <a:solidFill>
                  <a:srgbClr val="00B0F0"/>
                </a:solidFill>
                <a:effectLst>
                  <a:outerShdw blurRad="38100" dist="38100" dir="2700000" algn="tl">
                    <a:srgbClr val="000000">
                      <a:alpha val="43137"/>
                    </a:srgbClr>
                  </a:outerShdw>
                </a:effectLst>
                <a:latin typeface="Times New Roman" panose="02020603050405020304" pitchFamily="18" charset="0"/>
              </a:rPr>
              <a:t>2000s</a:t>
            </a:r>
            <a:r>
              <a:rPr lang="en-US" sz="2400" dirty="0" smtClean="0">
                <a:solidFill>
                  <a:srgbClr val="00B0F0"/>
                </a:solidFill>
                <a:effectLst>
                  <a:outerShdw blurRad="38100" dist="38100" dir="2700000" algn="tl">
                    <a:srgbClr val="000000">
                      <a:alpha val="43137"/>
                    </a:srgbClr>
                  </a:outerShdw>
                </a:effectLst>
                <a:latin typeface="Times New Roman" panose="02020603050405020304" pitchFamily="18" charset="0"/>
              </a:rPr>
              <a:t>.</a:t>
            </a:r>
          </a:p>
          <a:p>
            <a:endParaRPr lang="en-US" sz="2400" dirty="0">
              <a:latin typeface="Times New Roman" panose="02020603050405020304" pitchFamily="18" charset="0"/>
            </a:endParaRPr>
          </a:p>
          <a:p>
            <a:pPr marL="2114550" lvl="4" indent="-285750">
              <a:buFont typeface="Wingdings" panose="05000000000000000000" pitchFamily="2" charset="2"/>
              <a:buChar char="Ø"/>
            </a:pPr>
            <a:r>
              <a:rPr lang="en-US" sz="2400" dirty="0" smtClean="0">
                <a:effectLst>
                  <a:outerShdw blurRad="38100" dist="38100" dir="2700000" algn="tl">
                    <a:srgbClr val="000000">
                      <a:alpha val="43137"/>
                    </a:srgbClr>
                  </a:outerShdw>
                </a:effectLst>
                <a:latin typeface="Wingdings-Regular"/>
              </a:rPr>
              <a:t> </a:t>
            </a:r>
            <a:r>
              <a:rPr lang="en-US" sz="2400" dirty="0">
                <a:effectLst>
                  <a:outerShdw blurRad="38100" dist="38100" dir="2700000" algn="tl">
                    <a:srgbClr val="000000">
                      <a:alpha val="43137"/>
                    </a:srgbClr>
                  </a:outerShdw>
                </a:effectLst>
                <a:latin typeface="Times New Roman" panose="02020603050405020304" pitchFamily="18" charset="0"/>
              </a:rPr>
              <a:t>Experts believe that 31.5% of the world's computers have some type of </a:t>
            </a:r>
            <a:r>
              <a:rPr lang="en-US" sz="2400" dirty="0" smtClean="0">
                <a:effectLst>
                  <a:outerShdw blurRad="38100" dist="38100" dir="2700000" algn="tl">
                    <a:srgbClr val="000000">
                      <a:alpha val="43137"/>
                    </a:srgbClr>
                  </a:outerShdw>
                </a:effectLst>
                <a:latin typeface="Times New Roman" panose="02020603050405020304" pitchFamily="18" charset="0"/>
              </a:rPr>
              <a:t>malware  </a:t>
            </a:r>
            <a:r>
              <a:rPr lang="en-IN" sz="2400" dirty="0" smtClean="0">
                <a:effectLst>
                  <a:outerShdw blurRad="38100" dist="38100" dir="2700000" algn="tl">
                    <a:srgbClr val="000000">
                      <a:alpha val="43137"/>
                    </a:srgbClr>
                  </a:outerShdw>
                </a:effectLst>
                <a:latin typeface="Times New Roman" panose="02020603050405020304" pitchFamily="18" charset="0"/>
              </a:rPr>
              <a:t>installed </a:t>
            </a:r>
            <a:r>
              <a:rPr lang="en-IN" sz="2400" dirty="0">
                <a:effectLst>
                  <a:outerShdw blurRad="38100" dist="38100" dir="2700000" algn="tl">
                    <a:srgbClr val="000000">
                      <a:alpha val="43137"/>
                    </a:srgbClr>
                  </a:outerShdw>
                </a:effectLst>
                <a:latin typeface="Times New Roman" panose="02020603050405020304" pitchFamily="18" charset="0"/>
              </a:rPr>
              <a:t>today.</a:t>
            </a:r>
            <a:endParaRPr lang="en-IN" sz="24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9348254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par>
                          <p:cTn id="8" fill="hold">
                            <p:stCondLst>
                              <p:cond delay="3200"/>
                            </p:stCondLst>
                            <p:childTnLst>
                              <p:par>
                                <p:cTn id="9" presetID="10" presetClass="entr" presetSubtype="0" fill="hold" nodeType="afterEffect">
                                  <p:stCondLst>
                                    <p:cond delay="0"/>
                                  </p:stCondLst>
                                  <p:iterate type="lt">
                                    <p:tmPct val="10000"/>
                                  </p:iterate>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1000"/>
                                        <p:tgtEl>
                                          <p:spTgt spid="3">
                                            <p:txEl>
                                              <p:pRg st="0" end="0"/>
                                            </p:txEl>
                                          </p:spTgt>
                                        </p:tgtEl>
                                      </p:cBhvr>
                                    </p:animEffect>
                                  </p:childTnLst>
                                </p:cTn>
                              </p:par>
                            </p:childTnLst>
                          </p:cTn>
                        </p:par>
                        <p:par>
                          <p:cTn id="12" fill="hold">
                            <p:stCondLst>
                              <p:cond delay="14000"/>
                            </p:stCondLst>
                            <p:childTnLst>
                              <p:par>
                                <p:cTn id="13" presetID="10" presetClass="entr" presetSubtype="0" fill="hold" nodeType="afterEffect">
                                  <p:stCondLst>
                                    <p:cond delay="0"/>
                                  </p:stCondLst>
                                  <p:iterate type="lt">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childTnLst>
                                </p:cTn>
                              </p:par>
                            </p:childTnLst>
                          </p:cTn>
                        </p:par>
                        <p:par>
                          <p:cTn id="16" fill="hold">
                            <p:stCondLst>
                              <p:cond delay="37600"/>
                            </p:stCondLst>
                            <p:childTnLst>
                              <p:par>
                                <p:cTn id="17" presetID="10" presetClass="entr" presetSubtype="0" fill="hold" nodeType="afterEffect">
                                  <p:stCondLst>
                                    <p:cond delay="0"/>
                                  </p:stCondLst>
                                  <p:iterate type="lt">
                                    <p:tmPct val="10000"/>
                                  </p:iterate>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000"/>
                                        <p:tgtEl>
                                          <p:spTgt spid="3">
                                            <p:txEl>
                                              <p:pRg st="4" end="4"/>
                                            </p:txEl>
                                          </p:spTgt>
                                        </p:tgtEl>
                                      </p:cBhvr>
                                    </p:animEffect>
                                  </p:childTnLst>
                                </p:cTn>
                              </p:par>
                            </p:childTnLst>
                          </p:cTn>
                        </p:par>
                        <p:par>
                          <p:cTn id="20" fill="hold">
                            <p:stCondLst>
                              <p:cond delay="41100"/>
                            </p:stCondLst>
                            <p:childTnLst>
                              <p:par>
                                <p:cTn id="21" presetID="10" presetClass="entr" presetSubtype="0" fill="hold" nodeType="afterEffect">
                                  <p:stCondLst>
                                    <p:cond delay="0"/>
                                  </p:stCondLst>
                                  <p:iterate type="lt">
                                    <p:tmPct val="10000"/>
                                  </p:iterate>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1000"/>
                                        <p:tgtEl>
                                          <p:spTgt spid="3">
                                            <p:txEl>
                                              <p:pRg st="6" end="6"/>
                                            </p:txEl>
                                          </p:spTgt>
                                        </p:tgtEl>
                                      </p:cBhvr>
                                    </p:animEffect>
                                  </p:childTnLst>
                                </p:cTn>
                              </p:par>
                            </p:childTnLst>
                          </p:cTn>
                        </p:par>
                        <p:par>
                          <p:cTn id="24" fill="hold">
                            <p:stCondLst>
                              <p:cond delay="45700"/>
                            </p:stCondLst>
                            <p:childTnLst>
                              <p:par>
                                <p:cTn id="25" presetID="10" presetClass="entr" presetSubtype="0" fill="hold" nodeType="afterEffect">
                                  <p:stCondLst>
                                    <p:cond delay="0"/>
                                  </p:stCondLst>
                                  <p:iterate type="lt">
                                    <p:tmPct val="10000"/>
                                  </p:iterate>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1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7853" y="736265"/>
            <a:ext cx="5559535" cy="584775"/>
          </a:xfrm>
          <a:prstGeom prst="rect">
            <a:avLst/>
          </a:prstGeom>
        </p:spPr>
        <p:txBody>
          <a:bodyPr wrap="none">
            <a:spAutoFit/>
          </a:bodyPr>
          <a:lstStyle/>
          <a:p>
            <a:pPr algn="ctr"/>
            <a:r>
              <a:rPr lang="en-IN" sz="3200" b="1" dirty="0">
                <a:solidFill>
                  <a:srgbClr val="FF0000"/>
                </a:solidFill>
                <a:effectLst>
                  <a:outerShdw blurRad="38100" dist="38100" dir="2700000" algn="tl">
                    <a:srgbClr val="000000">
                      <a:alpha val="43137"/>
                    </a:srgbClr>
                  </a:outerShdw>
                </a:effectLst>
              </a:rPr>
              <a:t>HOW DOES MALWARE </a:t>
            </a:r>
            <a:r>
              <a:rPr lang="en-IN" sz="3200" b="1" dirty="0" smtClean="0">
                <a:solidFill>
                  <a:srgbClr val="FF0000"/>
                </a:solidFill>
                <a:effectLst>
                  <a:outerShdw blurRad="38100" dist="38100" dir="2700000" algn="tl">
                    <a:srgbClr val="000000">
                      <a:alpha val="43137"/>
                    </a:srgbClr>
                  </a:outerShdw>
                </a:effectLst>
              </a:rPr>
              <a:t>WORK  ?</a:t>
            </a:r>
            <a:endParaRPr lang="en-US" sz="3200" b="1" dirty="0">
              <a:ln/>
              <a:solidFill>
                <a:srgbClr val="FF0000"/>
              </a:solidFill>
              <a:effectLst>
                <a:outerShdw blurRad="38100" dist="38100" dir="2700000" algn="tl">
                  <a:srgbClr val="000000">
                    <a:alpha val="43137"/>
                  </a:srgbClr>
                </a:outerShdw>
              </a:effectLst>
            </a:endParaRPr>
          </a:p>
        </p:txBody>
      </p:sp>
      <p:sp>
        <p:nvSpPr>
          <p:cNvPr id="3" name="Rectangle 2"/>
          <p:cNvSpPr/>
          <p:nvPr/>
        </p:nvSpPr>
        <p:spPr>
          <a:xfrm>
            <a:off x="596534" y="2515621"/>
            <a:ext cx="10842172" cy="3416320"/>
          </a:xfrm>
          <a:prstGeom prst="rect">
            <a:avLst/>
          </a:prstGeom>
        </p:spPr>
        <p:txBody>
          <a:bodyPr wrap="square">
            <a:spAutoFit/>
          </a:bodyPr>
          <a:lstStyle/>
          <a:p>
            <a:pPr marL="742950" lvl="1" indent="-285750">
              <a:buFont typeface="Wingdings" panose="05000000000000000000" pitchFamily="2" charset="2"/>
              <a:buChar char="Ø"/>
            </a:pPr>
            <a:r>
              <a:rPr lang="en-US" sz="2400" dirty="0" smtClean="0">
                <a:effectLst>
                  <a:outerShdw blurRad="38100" dist="38100" dir="2700000" algn="tl">
                    <a:srgbClr val="000000">
                      <a:alpha val="43137"/>
                    </a:srgbClr>
                  </a:outerShdw>
                </a:effectLst>
              </a:rPr>
              <a:t>Delivered </a:t>
            </a:r>
            <a:r>
              <a:rPr lang="en-US" sz="2400" dirty="0">
                <a:effectLst>
                  <a:outerShdw blurRad="38100" dist="38100" dir="2700000" algn="tl">
                    <a:srgbClr val="000000">
                      <a:alpha val="43137"/>
                    </a:srgbClr>
                  </a:outerShdw>
                </a:effectLst>
              </a:rPr>
              <a:t>physically to a system through </a:t>
            </a:r>
            <a:r>
              <a:rPr lang="en-US" sz="2400" dirty="0" smtClean="0">
                <a:effectLst>
                  <a:outerShdw blurRad="38100" dist="38100" dir="2700000" algn="tl">
                    <a:srgbClr val="000000">
                      <a:alpha val="43137"/>
                    </a:srgbClr>
                  </a:outerShdw>
                </a:effectLst>
              </a:rPr>
              <a:t>a USB </a:t>
            </a:r>
            <a:r>
              <a:rPr lang="en-US" sz="2400" dirty="0">
                <a:effectLst>
                  <a:outerShdw blurRad="38100" dist="38100" dir="2700000" algn="tl">
                    <a:srgbClr val="000000">
                      <a:alpha val="43137"/>
                    </a:srgbClr>
                  </a:outerShdw>
                </a:effectLst>
              </a:rPr>
              <a:t>flash drives or external </a:t>
            </a:r>
            <a:r>
              <a:rPr lang="en-US" sz="2400" dirty="0" smtClean="0">
                <a:effectLst>
                  <a:outerShdw blurRad="38100" dist="38100" dir="2700000" algn="tl">
                    <a:srgbClr val="000000">
                      <a:alpha val="43137"/>
                    </a:srgbClr>
                  </a:outerShdw>
                </a:effectLst>
              </a:rPr>
              <a:t>hard drives</a:t>
            </a:r>
            <a:r>
              <a:rPr lang="en-US" sz="2400" dirty="0">
                <a:effectLst>
                  <a:outerShdw blurRad="38100" dist="38100" dir="2700000" algn="tl">
                    <a:srgbClr val="000000">
                      <a:alpha val="43137"/>
                    </a:srgbClr>
                  </a:outerShdw>
                </a:effectLst>
              </a:rPr>
              <a:t>.</a:t>
            </a:r>
          </a:p>
          <a:p>
            <a:pPr marL="1657350" lvl="3" indent="-285750">
              <a:buFont typeface="Wingdings" panose="05000000000000000000" pitchFamily="2" charset="2"/>
              <a:buChar char="Ø"/>
            </a:pPr>
            <a:r>
              <a:rPr lang="en-IN" sz="2400" dirty="0" smtClean="0">
                <a:effectLst>
                  <a:outerShdw blurRad="38100" dist="38100" dir="2700000" algn="tl">
                    <a:srgbClr val="000000">
                      <a:alpha val="43137"/>
                    </a:srgbClr>
                  </a:outerShdw>
                </a:effectLst>
              </a:rPr>
              <a:t> </a:t>
            </a:r>
            <a:r>
              <a:rPr lang="en-IN" sz="2400" dirty="0">
                <a:effectLst>
                  <a:outerShdw blurRad="38100" dist="38100" dir="2700000" algn="tl">
                    <a:srgbClr val="000000">
                      <a:alpha val="43137"/>
                    </a:srgbClr>
                  </a:outerShdw>
                </a:effectLst>
              </a:rPr>
              <a:t>Drive-by-Downloads via the Internet</a:t>
            </a:r>
            <a:r>
              <a:rPr lang="en-IN" sz="2400" dirty="0" smtClean="0">
                <a:effectLst>
                  <a:outerShdw blurRad="38100" dist="38100" dir="2700000" algn="tl">
                    <a:srgbClr val="000000">
                      <a:alpha val="43137"/>
                    </a:srgbClr>
                  </a:outerShdw>
                </a:effectLst>
              </a:rPr>
              <a:t>.</a:t>
            </a:r>
          </a:p>
          <a:p>
            <a:pPr lvl="3"/>
            <a:endParaRPr lang="en-IN" sz="2400" dirty="0">
              <a:effectLst>
                <a:outerShdw blurRad="38100" dist="38100" dir="2700000" algn="tl">
                  <a:srgbClr val="000000">
                    <a:alpha val="43137"/>
                  </a:srgbClr>
                </a:outerShdw>
              </a:effectLst>
            </a:endParaRPr>
          </a:p>
          <a:p>
            <a:pPr marL="2571750" lvl="5" indent="-285750">
              <a:buFont typeface="Wingdings" panose="05000000000000000000" pitchFamily="2" charset="2"/>
              <a:buChar char="Ø"/>
            </a:pPr>
            <a:r>
              <a:rPr lang="en-US" sz="2400" dirty="0" smtClean="0">
                <a:effectLst>
                  <a:outerShdw blurRad="38100" dist="38100" dir="2700000" algn="tl">
                    <a:srgbClr val="000000">
                      <a:alpha val="43137"/>
                    </a:srgbClr>
                  </a:outerShdw>
                </a:effectLst>
              </a:rPr>
              <a:t> </a:t>
            </a:r>
            <a:r>
              <a:rPr lang="en-US" sz="2400" dirty="0">
                <a:effectLst>
                  <a:outerShdw blurRad="38100" dist="38100" dir="2700000" algn="tl">
                    <a:srgbClr val="000000">
                      <a:alpha val="43137"/>
                    </a:srgbClr>
                  </a:outerShdw>
                </a:effectLst>
              </a:rPr>
              <a:t>Spam E-mails and Phishing Attacks</a:t>
            </a:r>
            <a:r>
              <a:rPr lang="en-US" sz="2400" dirty="0" smtClean="0">
                <a:effectLst>
                  <a:outerShdw blurRad="38100" dist="38100" dir="2700000" algn="tl">
                    <a:srgbClr val="000000">
                      <a:alpha val="43137"/>
                    </a:srgbClr>
                  </a:outerShdw>
                </a:effectLst>
              </a:rPr>
              <a:t>.</a:t>
            </a:r>
          </a:p>
          <a:p>
            <a:pPr lvl="5"/>
            <a:endParaRPr lang="en-US" sz="2400" dirty="0">
              <a:effectLst>
                <a:outerShdw blurRad="38100" dist="38100" dir="2700000" algn="tl">
                  <a:srgbClr val="000000">
                    <a:alpha val="43137"/>
                  </a:srgbClr>
                </a:outerShdw>
              </a:effectLst>
            </a:endParaRPr>
          </a:p>
          <a:p>
            <a:pPr marL="3486150" lvl="7" indent="-285750">
              <a:buFont typeface="Wingdings" panose="05000000000000000000" pitchFamily="2" charset="2"/>
              <a:buChar char="Ø"/>
            </a:pPr>
            <a:r>
              <a:rPr lang="en-IN" sz="2400" dirty="0" smtClean="0">
                <a:effectLst>
                  <a:outerShdw blurRad="38100" dist="38100" dir="2700000" algn="tl">
                    <a:srgbClr val="000000">
                      <a:alpha val="43137"/>
                    </a:srgbClr>
                  </a:outerShdw>
                </a:effectLst>
              </a:rPr>
              <a:t> </a:t>
            </a:r>
            <a:r>
              <a:rPr lang="en-IN" sz="2400" dirty="0">
                <a:effectLst>
                  <a:outerShdw blurRad="38100" dist="38100" dir="2700000" algn="tl">
                    <a:srgbClr val="000000">
                      <a:alpha val="43137"/>
                    </a:srgbClr>
                  </a:outerShdw>
                </a:effectLst>
              </a:rPr>
              <a:t>Bundled with other software</a:t>
            </a:r>
            <a:r>
              <a:rPr lang="en-IN" sz="2400" dirty="0" smtClean="0">
                <a:effectLst>
                  <a:outerShdw blurRad="38100" dist="38100" dir="2700000" algn="tl">
                    <a:srgbClr val="000000">
                      <a:alpha val="43137"/>
                    </a:srgbClr>
                  </a:outerShdw>
                </a:effectLst>
              </a:rPr>
              <a:t>.</a:t>
            </a:r>
          </a:p>
          <a:p>
            <a:pPr lvl="7"/>
            <a:endParaRPr lang="en-IN" sz="2400" dirty="0">
              <a:effectLst>
                <a:outerShdw blurRad="38100" dist="38100" dir="2700000" algn="tl">
                  <a:srgbClr val="000000">
                    <a:alpha val="43137"/>
                  </a:srgbClr>
                </a:outerShdw>
              </a:effectLst>
            </a:endParaRPr>
          </a:p>
          <a:p>
            <a:pPr marL="3943350" lvl="8" indent="-285750">
              <a:buFont typeface="Wingdings" panose="05000000000000000000" pitchFamily="2" charset="2"/>
              <a:buChar char="Ø"/>
            </a:pPr>
            <a:r>
              <a:rPr lang="en-US" sz="2400" dirty="0" smtClean="0">
                <a:effectLst>
                  <a:outerShdw blurRad="38100" dist="38100" dir="2700000" algn="tl">
                    <a:srgbClr val="000000">
                      <a:alpha val="43137"/>
                    </a:srgbClr>
                  </a:outerShdw>
                </a:effectLst>
              </a:rPr>
              <a:t>Accessing </a:t>
            </a:r>
            <a:r>
              <a:rPr lang="en-US" sz="2400" dirty="0">
                <a:effectLst>
                  <a:outerShdw blurRad="38100" dist="38100" dir="2700000" algn="tl">
                    <a:srgbClr val="000000">
                      <a:alpha val="43137"/>
                    </a:srgbClr>
                  </a:outerShdw>
                </a:effectLst>
              </a:rPr>
              <a:t>hacked or compromised webpages.</a:t>
            </a:r>
            <a:endParaRPr lang="en-IN" sz="2400" dirty="0">
              <a:effectLst>
                <a:outerShdw blurRad="38100" dist="38100" dir="2700000" algn="tl">
                  <a:srgbClr val="000000">
                    <a:alpha val="43137"/>
                  </a:srgbClr>
                </a:outerShdw>
              </a:effectLst>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134" y="5080451"/>
            <a:ext cx="3176921" cy="154241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1550" y="3334103"/>
            <a:ext cx="4015947" cy="1779356"/>
          </a:xfrm>
          <a:prstGeom prst="rect">
            <a:avLst/>
          </a:prstGeom>
        </p:spPr>
      </p:pic>
    </p:spTree>
    <p:extLst>
      <p:ext uri="{BB962C8B-B14F-4D97-AF65-F5344CB8AC3E}">
        <p14:creationId xmlns:p14="http://schemas.microsoft.com/office/powerpoint/2010/main" val="408980579"/>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par>
                          <p:cTn id="8" fill="hold">
                            <p:stCondLst>
                              <p:cond delay="5600"/>
                            </p:stCondLst>
                            <p:childTnLst>
                              <p:par>
                                <p:cTn id="9" presetID="10" presetClass="entr" presetSubtype="0" fill="hold" nodeType="afterEffect">
                                  <p:stCondLst>
                                    <p:cond delay="0"/>
                                  </p:stCondLst>
                                  <p:iterate type="lt">
                                    <p:tmPct val="10000"/>
                                  </p:iterate>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1000"/>
                                        <p:tgtEl>
                                          <p:spTgt spid="3">
                                            <p:txEl>
                                              <p:pRg st="0" end="0"/>
                                            </p:txEl>
                                          </p:spTgt>
                                        </p:tgtEl>
                                      </p:cBhvr>
                                    </p:animEffect>
                                  </p:childTnLst>
                                </p:cTn>
                              </p:par>
                            </p:childTnLst>
                          </p:cTn>
                        </p:par>
                        <p:par>
                          <p:cTn id="12" fill="hold">
                            <p:stCondLst>
                              <p:cond delay="13600"/>
                            </p:stCondLst>
                            <p:childTnLst>
                              <p:par>
                                <p:cTn id="13" presetID="21" presetClass="entr" presetSubtype="2"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heel(2)">
                                      <p:cBhvr>
                                        <p:cTn id="15" dur="2000"/>
                                        <p:tgtEl>
                                          <p:spTgt spid="4"/>
                                        </p:tgtEl>
                                      </p:cBhvr>
                                    </p:animEffect>
                                  </p:childTnLst>
                                </p:cTn>
                              </p:par>
                            </p:childTnLst>
                          </p:cTn>
                        </p:par>
                        <p:par>
                          <p:cTn id="16" fill="hold">
                            <p:stCondLst>
                              <p:cond delay="15600"/>
                            </p:stCondLst>
                            <p:childTnLst>
                              <p:par>
                                <p:cTn id="17" presetID="10" presetClass="entr" presetSubtype="0" fill="hold" nodeType="afterEffect">
                                  <p:stCondLst>
                                    <p:cond delay="0"/>
                                  </p:stCondLst>
                                  <p:iterate type="lt">
                                    <p:tmPct val="10000"/>
                                  </p:iterate>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childTnLst>
                                </p:cTn>
                              </p:par>
                            </p:childTnLst>
                          </p:cTn>
                        </p:par>
                        <p:par>
                          <p:cTn id="20" fill="hold">
                            <p:stCondLst>
                              <p:cond delay="19800"/>
                            </p:stCondLst>
                            <p:childTnLst>
                              <p:par>
                                <p:cTn id="21" presetID="16" presetClass="entr" presetSubtype="21"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arn(inVertical)">
                                      <p:cBhvr>
                                        <p:cTn id="23" dur="500"/>
                                        <p:tgtEl>
                                          <p:spTgt spid="5"/>
                                        </p:tgtEl>
                                      </p:cBhvr>
                                    </p:animEffect>
                                  </p:childTnLst>
                                </p:cTn>
                              </p:par>
                            </p:childTnLst>
                          </p:cTn>
                        </p:par>
                        <p:par>
                          <p:cTn id="24" fill="hold">
                            <p:stCondLst>
                              <p:cond delay="20300"/>
                            </p:stCondLst>
                            <p:childTnLst>
                              <p:par>
                                <p:cTn id="25" presetID="10" presetClass="entr" presetSubtype="0" fill="hold" nodeType="afterEffect">
                                  <p:stCondLst>
                                    <p:cond delay="0"/>
                                  </p:stCondLst>
                                  <p:iterate type="lt">
                                    <p:tmPct val="10000"/>
                                  </p:iterate>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1000"/>
                                        <p:tgtEl>
                                          <p:spTgt spid="3">
                                            <p:txEl>
                                              <p:pRg st="3" end="3"/>
                                            </p:txEl>
                                          </p:spTgt>
                                        </p:tgtEl>
                                      </p:cBhvr>
                                    </p:animEffect>
                                  </p:childTnLst>
                                </p:cTn>
                              </p:par>
                            </p:childTnLst>
                          </p:cTn>
                        </p:par>
                        <p:par>
                          <p:cTn id="28" fill="hold">
                            <p:stCondLst>
                              <p:cond delay="24200"/>
                            </p:stCondLst>
                            <p:childTnLst>
                              <p:par>
                                <p:cTn id="29" presetID="10" presetClass="entr" presetSubtype="0" fill="hold" nodeType="afterEffect">
                                  <p:stCondLst>
                                    <p:cond delay="0"/>
                                  </p:stCondLst>
                                  <p:iterate type="lt">
                                    <p:tmPct val="10000"/>
                                  </p:iterate>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1000"/>
                                        <p:tgtEl>
                                          <p:spTgt spid="3">
                                            <p:txEl>
                                              <p:pRg st="5" end="5"/>
                                            </p:txEl>
                                          </p:spTgt>
                                        </p:tgtEl>
                                      </p:cBhvr>
                                    </p:animEffect>
                                  </p:childTnLst>
                                </p:cTn>
                              </p:par>
                            </p:childTnLst>
                          </p:cTn>
                        </p:par>
                        <p:par>
                          <p:cTn id="32" fill="hold">
                            <p:stCondLst>
                              <p:cond delay="27600"/>
                            </p:stCondLst>
                            <p:childTnLst>
                              <p:par>
                                <p:cTn id="33" presetID="10" presetClass="entr" presetSubtype="0" fill="hold" nodeType="afterEffect">
                                  <p:stCondLst>
                                    <p:cond delay="0"/>
                                  </p:stCondLst>
                                  <p:iterate type="lt">
                                    <p:tmPct val="10000"/>
                                  </p:iterate>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87242" y="684014"/>
            <a:ext cx="5742278" cy="584775"/>
          </a:xfrm>
          <a:prstGeom prst="rect">
            <a:avLst/>
          </a:prstGeom>
        </p:spPr>
        <p:txBody>
          <a:bodyPr wrap="none">
            <a:spAutoFit/>
          </a:bodyPr>
          <a:lstStyle/>
          <a:p>
            <a:r>
              <a:rPr lang="en-IN" sz="3200" b="1" dirty="0" smtClean="0">
                <a:solidFill>
                  <a:srgbClr val="00B0F0"/>
                </a:solidFill>
                <a:effectLst>
                  <a:outerShdw blurRad="38100" dist="38100" dir="2700000" algn="tl">
                    <a:srgbClr val="000000">
                      <a:alpha val="43137"/>
                    </a:srgbClr>
                  </a:outerShdw>
                  <a:reflection blurRad="6350" stA="55000" endA="300" endPos="45500" dir="5400000" sy="-100000" algn="bl" rotWithShape="0"/>
                </a:effectLst>
              </a:rPr>
              <a:t>5    STAGE OF MALWARE ATTACK</a:t>
            </a:r>
            <a:endParaRPr lang="en-IN" sz="3200" dirty="0">
              <a:solidFill>
                <a:srgbClr val="00B0F0"/>
              </a:solidFill>
              <a:effectLst>
                <a:outerShdw blurRad="38100" dist="38100" dir="2700000" algn="tl">
                  <a:srgbClr val="000000">
                    <a:alpha val="43137"/>
                  </a:srgbClr>
                </a:outerShdw>
                <a:reflection blurRad="6350" stA="55000" endA="300" endPos="45500" dir="5400000" sy="-100000" algn="bl" rotWithShape="0"/>
              </a:effectLst>
            </a:endParaRPr>
          </a:p>
        </p:txBody>
      </p:sp>
      <p:sp>
        <p:nvSpPr>
          <p:cNvPr id="4" name="Rectangle 3"/>
          <p:cNvSpPr/>
          <p:nvPr/>
        </p:nvSpPr>
        <p:spPr>
          <a:xfrm>
            <a:off x="4687766" y="1667206"/>
            <a:ext cx="1933303" cy="796834"/>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2400" b="1" dirty="0"/>
              <a:t>ENTRY</a:t>
            </a:r>
            <a:endParaRPr lang="en-IN" sz="2400" dirty="0"/>
          </a:p>
        </p:txBody>
      </p:sp>
      <p:sp>
        <p:nvSpPr>
          <p:cNvPr id="5" name="Rectangle 4"/>
          <p:cNvSpPr/>
          <p:nvPr/>
        </p:nvSpPr>
        <p:spPr>
          <a:xfrm>
            <a:off x="8554373" y="3105508"/>
            <a:ext cx="1933303" cy="796834"/>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IN" sz="2000" b="1" dirty="0"/>
              <a:t>DISTRIBUTION</a:t>
            </a:r>
            <a:endParaRPr lang="en-IN" sz="2000" dirty="0"/>
          </a:p>
        </p:txBody>
      </p:sp>
      <p:sp>
        <p:nvSpPr>
          <p:cNvPr id="6" name="Rectangle 5"/>
          <p:cNvSpPr/>
          <p:nvPr/>
        </p:nvSpPr>
        <p:spPr>
          <a:xfrm>
            <a:off x="6621070" y="5454079"/>
            <a:ext cx="1933303" cy="7968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EXPLOIT</a:t>
            </a:r>
            <a:endParaRPr lang="en-IN" sz="2000" dirty="0"/>
          </a:p>
        </p:txBody>
      </p:sp>
      <p:sp>
        <p:nvSpPr>
          <p:cNvPr id="7" name="Rectangle 6"/>
          <p:cNvSpPr/>
          <p:nvPr/>
        </p:nvSpPr>
        <p:spPr>
          <a:xfrm>
            <a:off x="2754464" y="5454079"/>
            <a:ext cx="1933303" cy="79683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IN" sz="2000" b="1" dirty="0"/>
              <a:t>INFECTION</a:t>
            </a:r>
            <a:endParaRPr lang="en-IN" sz="2000" dirty="0"/>
          </a:p>
        </p:txBody>
      </p:sp>
      <p:sp>
        <p:nvSpPr>
          <p:cNvPr id="8" name="Rectangle 7"/>
          <p:cNvSpPr/>
          <p:nvPr/>
        </p:nvSpPr>
        <p:spPr>
          <a:xfrm>
            <a:off x="821161" y="3162226"/>
            <a:ext cx="1933303" cy="796834"/>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IN" sz="2000" b="1" dirty="0"/>
              <a:t>EXECUTION</a:t>
            </a:r>
            <a:endParaRPr lang="en-IN" sz="2000" dirty="0"/>
          </a:p>
        </p:txBody>
      </p:sp>
      <p:cxnSp>
        <p:nvCxnSpPr>
          <p:cNvPr id="17" name="Straight Arrow Connector 16"/>
          <p:cNvCxnSpPr>
            <a:stCxn id="4" idx="3"/>
            <a:endCxn id="5" idx="0"/>
          </p:cNvCxnSpPr>
          <p:nvPr/>
        </p:nvCxnSpPr>
        <p:spPr>
          <a:xfrm>
            <a:off x="6621069" y="2065623"/>
            <a:ext cx="2899956" cy="103988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9" name="Straight Arrow Connector 18"/>
          <p:cNvCxnSpPr>
            <a:stCxn id="5" idx="2"/>
            <a:endCxn id="6" idx="0"/>
          </p:cNvCxnSpPr>
          <p:nvPr/>
        </p:nvCxnSpPr>
        <p:spPr>
          <a:xfrm flipH="1">
            <a:off x="7587722" y="3902342"/>
            <a:ext cx="1933303" cy="1551737"/>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2" name="Straight Arrow Connector 21"/>
          <p:cNvCxnSpPr>
            <a:stCxn id="6" idx="1"/>
            <a:endCxn id="7" idx="3"/>
          </p:cNvCxnSpPr>
          <p:nvPr/>
        </p:nvCxnSpPr>
        <p:spPr>
          <a:xfrm flipH="1">
            <a:off x="4687767" y="5852496"/>
            <a:ext cx="1933303" cy="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4" name="Straight Arrow Connector 23"/>
          <p:cNvCxnSpPr>
            <a:stCxn id="7" idx="0"/>
            <a:endCxn id="8" idx="2"/>
          </p:cNvCxnSpPr>
          <p:nvPr/>
        </p:nvCxnSpPr>
        <p:spPr>
          <a:xfrm flipH="1" flipV="1">
            <a:off x="1787813" y="3959060"/>
            <a:ext cx="1933303" cy="1495019"/>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6" name="Straight Arrow Connector 25"/>
          <p:cNvCxnSpPr>
            <a:stCxn id="8" idx="0"/>
            <a:endCxn id="4" idx="1"/>
          </p:cNvCxnSpPr>
          <p:nvPr/>
        </p:nvCxnSpPr>
        <p:spPr>
          <a:xfrm flipV="1">
            <a:off x="1787813" y="2065623"/>
            <a:ext cx="2899953" cy="109660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4199400676"/>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6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par>
                          <p:cTn id="8" fill="hold">
                            <p:stCondLst>
                              <p:cond delay="4400"/>
                            </p:stCondLst>
                            <p:childTnLst>
                              <p:par>
                                <p:cTn id="9" presetID="10" presetClass="entr" presetSubtype="0" fill="hold" grpId="0" nodeType="afterEffect">
                                  <p:stCondLst>
                                    <p:cond delay="0"/>
                                  </p:stCondLst>
                                  <p:iterate type="lt">
                                    <p:tmPct val="10000"/>
                                  </p:iterate>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childTnLst>
                                </p:cTn>
                              </p:par>
                            </p:childTnLst>
                          </p:cTn>
                        </p:par>
                        <p:par>
                          <p:cTn id="12" fill="hold">
                            <p:stCondLst>
                              <p:cond delay="5800"/>
                            </p:stCondLst>
                            <p:childTnLst>
                              <p:par>
                                <p:cTn id="13" presetID="22" presetClass="entr" presetSubtype="8"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left)">
                                      <p:cBhvr>
                                        <p:cTn id="15" dur="1000"/>
                                        <p:tgtEl>
                                          <p:spTgt spid="17"/>
                                        </p:tgtEl>
                                      </p:cBhvr>
                                    </p:animEffect>
                                  </p:childTnLst>
                                </p:cTn>
                              </p:par>
                            </p:childTnLst>
                          </p:cTn>
                        </p:par>
                        <p:par>
                          <p:cTn id="16" fill="hold">
                            <p:stCondLst>
                              <p:cond delay="6800"/>
                            </p:stCondLst>
                            <p:childTnLst>
                              <p:par>
                                <p:cTn id="17" presetID="10" presetClass="entr" presetSubtype="0" fill="hold" grpId="0" nodeType="afterEffect">
                                  <p:stCondLst>
                                    <p:cond delay="0"/>
                                  </p:stCondLst>
                                  <p:iterate type="lt">
                                    <p:tmPct val="10000"/>
                                  </p:iterate>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childTnLst>
                                </p:cTn>
                              </p:par>
                            </p:childTnLst>
                          </p:cTn>
                        </p:par>
                        <p:par>
                          <p:cTn id="20" fill="hold">
                            <p:stCondLst>
                              <p:cond delay="8900"/>
                            </p:stCondLst>
                            <p:childTnLst>
                              <p:par>
                                <p:cTn id="21" presetID="22" presetClass="entr" presetSubtype="1" fill="hold"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up)">
                                      <p:cBhvr>
                                        <p:cTn id="23" dur="1000"/>
                                        <p:tgtEl>
                                          <p:spTgt spid="19"/>
                                        </p:tgtEl>
                                      </p:cBhvr>
                                    </p:animEffect>
                                  </p:childTnLst>
                                </p:cTn>
                              </p:par>
                            </p:childTnLst>
                          </p:cTn>
                        </p:par>
                        <p:par>
                          <p:cTn id="24" fill="hold">
                            <p:stCondLst>
                              <p:cond delay="9900"/>
                            </p:stCondLst>
                            <p:childTnLst>
                              <p:par>
                                <p:cTn id="25" presetID="10" presetClass="entr" presetSubtype="0" fill="hold" grpId="0" nodeType="afterEffect">
                                  <p:stCondLst>
                                    <p:cond delay="0"/>
                                  </p:stCondLst>
                                  <p:iterate type="lt">
                                    <p:tmPct val="10000"/>
                                  </p:iterate>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childTnLst>
                                </p:cTn>
                              </p:par>
                            </p:childTnLst>
                          </p:cTn>
                        </p:par>
                        <p:par>
                          <p:cTn id="28" fill="hold">
                            <p:stCondLst>
                              <p:cond delay="11500"/>
                            </p:stCondLst>
                            <p:childTnLst>
                              <p:par>
                                <p:cTn id="29" presetID="22" presetClass="entr" presetSubtype="2" fill="hold"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right)">
                                      <p:cBhvr>
                                        <p:cTn id="31" dur="1000"/>
                                        <p:tgtEl>
                                          <p:spTgt spid="22"/>
                                        </p:tgtEl>
                                      </p:cBhvr>
                                    </p:animEffect>
                                  </p:childTnLst>
                                </p:cTn>
                              </p:par>
                            </p:childTnLst>
                          </p:cTn>
                        </p:par>
                        <p:par>
                          <p:cTn id="32" fill="hold">
                            <p:stCondLst>
                              <p:cond delay="12500"/>
                            </p:stCondLst>
                            <p:childTnLst>
                              <p:par>
                                <p:cTn id="33" presetID="10" presetClass="entr" presetSubtype="0" fill="hold" grpId="0" nodeType="afterEffect">
                                  <p:stCondLst>
                                    <p:cond delay="0"/>
                                  </p:stCondLst>
                                  <p:iterate type="lt">
                                    <p:tmPct val="10000"/>
                                  </p:iterate>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childTnLst>
                                </p:cTn>
                              </p:par>
                            </p:childTnLst>
                          </p:cTn>
                        </p:par>
                        <p:par>
                          <p:cTn id="36" fill="hold">
                            <p:stCondLst>
                              <p:cond delay="14300"/>
                            </p:stCondLst>
                            <p:childTnLst>
                              <p:par>
                                <p:cTn id="37" presetID="22" presetClass="entr" presetSubtype="4" fill="hold"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down)">
                                      <p:cBhvr>
                                        <p:cTn id="39" dur="1000"/>
                                        <p:tgtEl>
                                          <p:spTgt spid="24"/>
                                        </p:tgtEl>
                                      </p:cBhvr>
                                    </p:animEffect>
                                  </p:childTnLst>
                                </p:cTn>
                              </p:par>
                            </p:childTnLst>
                          </p:cTn>
                        </p:par>
                        <p:par>
                          <p:cTn id="40" fill="hold">
                            <p:stCondLst>
                              <p:cond delay="15300"/>
                            </p:stCondLst>
                            <p:childTnLst>
                              <p:par>
                                <p:cTn id="41" presetID="10" presetClass="entr" presetSubtype="0" fill="hold" grpId="0" nodeType="afterEffect">
                                  <p:stCondLst>
                                    <p:cond delay="0"/>
                                  </p:stCondLst>
                                  <p:iterate type="lt">
                                    <p:tmPct val="10000"/>
                                  </p:iterate>
                                  <p:childTnLst>
                                    <p:set>
                                      <p:cBhvr>
                                        <p:cTn id="42" dur="1" fill="hold">
                                          <p:stCondLst>
                                            <p:cond delay="0"/>
                                          </p:stCondLst>
                                        </p:cTn>
                                        <p:tgtEl>
                                          <p:spTgt spid="8"/>
                                        </p:tgtEl>
                                        <p:attrNameLst>
                                          <p:attrName>style.visibility</p:attrName>
                                        </p:attrNameLst>
                                      </p:cBhvr>
                                      <p:to>
                                        <p:strVal val="visible"/>
                                      </p:to>
                                    </p:set>
                                    <p:animEffect transition="in" filter="fade">
                                      <p:cBhvr>
                                        <p:cTn id="43" dur="1000"/>
                                        <p:tgtEl>
                                          <p:spTgt spid="8"/>
                                        </p:tgtEl>
                                      </p:cBhvr>
                                    </p:animEffect>
                                  </p:childTnLst>
                                </p:cTn>
                              </p:par>
                            </p:childTnLst>
                          </p:cTn>
                        </p:par>
                        <p:par>
                          <p:cTn id="44" fill="hold">
                            <p:stCondLst>
                              <p:cond delay="17100"/>
                            </p:stCondLst>
                            <p:childTnLst>
                              <p:par>
                                <p:cTn id="45" presetID="22" presetClass="entr" presetSubtype="8" fill="hold" nodeType="after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wipe(left)">
                                      <p:cBhvr>
                                        <p:cTn id="47"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37335" y="759712"/>
            <a:ext cx="6038063" cy="923330"/>
          </a:xfrm>
          <a:prstGeom prst="rect">
            <a:avLst/>
          </a:prstGeom>
          <a:noFill/>
        </p:spPr>
        <p:txBody>
          <a:bodyPr wrap="none" lIns="91440" tIns="45720" rIns="91440" bIns="45720">
            <a:spAutoFit/>
          </a:bodyPr>
          <a:lstStyle/>
          <a:p>
            <a:pPr algn="ctr"/>
            <a:r>
              <a:rPr lang="en-US" sz="5400" b="1" dirty="0" smtClean="0">
                <a:ln/>
                <a:solidFill>
                  <a:srgbClr val="FF0000"/>
                </a:solidFill>
                <a:effectLst>
                  <a:outerShdw blurRad="38100" dist="19050" dir="2700000" algn="tl" rotWithShape="0">
                    <a:schemeClr val="dk1">
                      <a:lumMod val="50000"/>
                      <a:alpha val="40000"/>
                    </a:schemeClr>
                  </a:outerShdw>
                  <a:reflection blurRad="6350" stA="55000" endA="300" endPos="45500" dir="5400000" sy="-100000" algn="bl" rotWithShape="0"/>
                </a:effectLst>
              </a:rPr>
              <a:t>TYPES OF MALWARE</a:t>
            </a:r>
            <a:endParaRPr lang="en-US" sz="5400" b="1" cap="none" spc="0" dirty="0">
              <a:ln/>
              <a:solidFill>
                <a:srgbClr val="FF0000"/>
              </a:solidFill>
              <a:effectLst>
                <a:outerShdw blurRad="38100" dist="19050" dir="2700000" algn="tl" rotWithShape="0">
                  <a:schemeClr val="dk1">
                    <a:lumMod val="50000"/>
                    <a:alpha val="40000"/>
                  </a:schemeClr>
                </a:outerShdw>
                <a:reflection blurRad="6350" stA="55000" endA="300" endPos="45500" dir="5400000" sy="-100000" algn="bl" rotWithShape="0"/>
              </a:effectLst>
            </a:endParaRPr>
          </a:p>
        </p:txBody>
      </p:sp>
      <p:sp>
        <p:nvSpPr>
          <p:cNvPr id="3" name="Rectangle 2"/>
          <p:cNvSpPr/>
          <p:nvPr/>
        </p:nvSpPr>
        <p:spPr>
          <a:xfrm>
            <a:off x="965915" y="1893193"/>
            <a:ext cx="7431109" cy="4524315"/>
          </a:xfrm>
          <a:prstGeom prst="rect">
            <a:avLst/>
          </a:prstGeom>
          <a:noFill/>
        </p:spPr>
        <p:txBody>
          <a:bodyPr wrap="square" lIns="91440" tIns="45720" rIns="91440" bIns="45720">
            <a:spAutoFit/>
          </a:bodyPr>
          <a:lstStyle/>
          <a:p>
            <a:pPr algn="ctr"/>
            <a:r>
              <a:rPr lang="en-US" sz="3600" cap="none" spc="0" dirty="0" smtClean="0">
                <a:ln/>
                <a:effectLst>
                  <a:outerShdw blurRad="38100" dist="38100" dir="2700000" algn="tl">
                    <a:srgbClr val="000000">
                      <a:alpha val="43137"/>
                    </a:srgbClr>
                  </a:outerShdw>
                </a:effectLst>
              </a:rPr>
              <a:t>1.Viruses</a:t>
            </a:r>
          </a:p>
          <a:p>
            <a:pPr algn="ctr"/>
            <a:r>
              <a:rPr lang="en-US" sz="3600" dirty="0" smtClean="0">
                <a:ln/>
                <a:effectLst>
                  <a:outerShdw blurRad="38100" dist="38100" dir="2700000" algn="tl">
                    <a:srgbClr val="000000">
                      <a:alpha val="43137"/>
                    </a:srgbClr>
                  </a:outerShdw>
                </a:effectLst>
              </a:rPr>
              <a:t>2.Worms</a:t>
            </a:r>
          </a:p>
          <a:p>
            <a:pPr algn="ctr"/>
            <a:r>
              <a:rPr lang="en-US" sz="3600" dirty="0" smtClean="0">
                <a:ln/>
                <a:effectLst>
                  <a:outerShdw blurRad="38100" dist="38100" dir="2700000" algn="tl">
                    <a:srgbClr val="000000">
                      <a:alpha val="43137"/>
                    </a:srgbClr>
                  </a:outerShdw>
                </a:effectLst>
              </a:rPr>
              <a:t>	3.Trojan Horse</a:t>
            </a:r>
          </a:p>
          <a:p>
            <a:pPr algn="ctr"/>
            <a:r>
              <a:rPr lang="en-US" sz="3600" dirty="0" smtClean="0">
                <a:ln/>
                <a:effectLst>
                  <a:outerShdw blurRad="38100" dist="38100" dir="2700000" algn="tl">
                    <a:srgbClr val="000000">
                      <a:alpha val="43137"/>
                    </a:srgbClr>
                  </a:outerShdw>
                </a:effectLst>
              </a:rPr>
              <a:t>	4.Ransomware</a:t>
            </a:r>
          </a:p>
          <a:p>
            <a:pPr algn="ctr"/>
            <a:r>
              <a:rPr lang="en-US" sz="3600" dirty="0" smtClean="0">
                <a:ln/>
                <a:effectLst>
                  <a:outerShdw blurRad="38100" dist="38100" dir="2700000" algn="tl">
                    <a:srgbClr val="000000">
                      <a:alpha val="43137"/>
                    </a:srgbClr>
                  </a:outerShdw>
                </a:effectLst>
              </a:rPr>
              <a:t>5.Spyware</a:t>
            </a:r>
          </a:p>
          <a:p>
            <a:pPr algn="ctr"/>
            <a:r>
              <a:rPr lang="en-US" sz="3600" dirty="0" smtClean="0">
                <a:ln/>
                <a:effectLst>
                  <a:outerShdw blurRad="38100" dist="38100" dir="2700000" algn="tl">
                    <a:srgbClr val="000000">
                      <a:alpha val="43137"/>
                    </a:srgbClr>
                  </a:outerShdw>
                </a:effectLst>
              </a:rPr>
              <a:t>6.Adware</a:t>
            </a:r>
          </a:p>
          <a:p>
            <a:pPr algn="ctr"/>
            <a:r>
              <a:rPr lang="en-US" sz="3600" dirty="0" smtClean="0">
                <a:ln/>
                <a:effectLst>
                  <a:outerShdw blurRad="38100" dist="38100" dir="2700000" algn="tl">
                    <a:srgbClr val="000000">
                      <a:alpha val="43137"/>
                    </a:srgbClr>
                  </a:outerShdw>
                </a:effectLst>
              </a:rPr>
              <a:t>7.Scareware</a:t>
            </a:r>
          </a:p>
          <a:p>
            <a:pPr algn="ctr"/>
            <a:r>
              <a:rPr lang="en-US" sz="3600" b="1" dirty="0" smtClean="0">
                <a:ln/>
              </a:rPr>
              <a:t>8.Rootkit</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71350" y="2327255"/>
            <a:ext cx="3724411" cy="3970318"/>
          </a:xfrm>
          <a:prstGeom prst="rect">
            <a:avLst/>
          </a:prstGeom>
          <a:effectLst>
            <a:softEdge rad="317500"/>
          </a:effectLst>
        </p:spPr>
      </p:pic>
    </p:spTree>
    <p:extLst>
      <p:ext uri="{BB962C8B-B14F-4D97-AF65-F5344CB8AC3E}">
        <p14:creationId xmlns:p14="http://schemas.microsoft.com/office/powerpoint/2010/main" val="763697614"/>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2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par>
                                <p:cTn id="8" presetID="6" presetClass="emph" presetSubtype="0" repeatCount="indefinite" fill="hold" nodeType="withEffect">
                                  <p:stCondLst>
                                    <p:cond delay="0"/>
                                  </p:stCondLst>
                                  <p:childTnLst>
                                    <p:animScale>
                                      <p:cBhvr>
                                        <p:cTn id="9" dur="3000" fill="hold"/>
                                        <p:tgtEl>
                                          <p:spTgt spid="4"/>
                                        </p:tgtEl>
                                      </p:cBhvr>
                                      <p:by x="150000" y="150000"/>
                                    </p:animScale>
                                  </p:childTnLst>
                                </p:cTn>
                              </p:par>
                            </p:childTnLst>
                          </p:cTn>
                        </p:par>
                        <p:par>
                          <p:cTn id="10" fill="hold">
                            <p:stCondLst>
                              <p:cond delay="5120"/>
                            </p:stCondLst>
                            <p:childTnLst>
                              <p:par>
                                <p:cTn id="11" presetID="10" presetClass="entr" presetSubtype="0" fill="hold" nodeType="afterEffect">
                                  <p:stCondLst>
                                    <p:cond delay="0"/>
                                  </p:stCondLst>
                                  <p:iterate type="wd">
                                    <p:tmPct val="9000"/>
                                  </p:iterate>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2000"/>
                                        <p:tgtEl>
                                          <p:spTgt spid="3">
                                            <p:txEl>
                                              <p:pRg st="0" end="0"/>
                                            </p:txEl>
                                          </p:spTgt>
                                        </p:tgtEl>
                                      </p:cBhvr>
                                    </p:animEffect>
                                  </p:childTnLst>
                                </p:cTn>
                              </p:par>
                            </p:childTnLst>
                          </p:cTn>
                        </p:par>
                        <p:par>
                          <p:cTn id="14" fill="hold">
                            <p:stCondLst>
                              <p:cond delay="7120"/>
                            </p:stCondLst>
                            <p:childTnLst>
                              <p:par>
                                <p:cTn id="15" presetID="10" presetClass="entr" presetSubtype="0" fill="hold" nodeType="afterEffect">
                                  <p:stCondLst>
                                    <p:cond delay="0"/>
                                  </p:stCondLst>
                                  <p:iterate type="lt">
                                    <p:tmPct val="10000"/>
                                  </p:iterate>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2000"/>
                                        <p:tgtEl>
                                          <p:spTgt spid="3">
                                            <p:txEl>
                                              <p:pRg st="1" end="1"/>
                                            </p:txEl>
                                          </p:spTgt>
                                        </p:tgtEl>
                                      </p:cBhvr>
                                    </p:animEffect>
                                  </p:childTnLst>
                                </p:cTn>
                              </p:par>
                            </p:childTnLst>
                          </p:cTn>
                        </p:par>
                        <p:par>
                          <p:cTn id="18" fill="hold">
                            <p:stCondLst>
                              <p:cond delay="10320"/>
                            </p:stCondLst>
                            <p:childTnLst>
                              <p:par>
                                <p:cTn id="19" presetID="10" presetClass="entr" presetSubtype="0" fill="hold" nodeType="afterEffect">
                                  <p:stCondLst>
                                    <p:cond delay="0"/>
                                  </p:stCondLst>
                                  <p:iterate type="lt">
                                    <p:tmPct val="10000"/>
                                  </p:iterate>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2000"/>
                                        <p:tgtEl>
                                          <p:spTgt spid="3">
                                            <p:txEl>
                                              <p:pRg st="2" end="2"/>
                                            </p:txEl>
                                          </p:spTgt>
                                        </p:tgtEl>
                                      </p:cBhvr>
                                    </p:animEffect>
                                  </p:childTnLst>
                                </p:cTn>
                              </p:par>
                            </p:childTnLst>
                          </p:cTn>
                        </p:par>
                        <p:par>
                          <p:cTn id="22" fill="hold">
                            <p:stCondLst>
                              <p:cond delay="14720"/>
                            </p:stCondLst>
                            <p:childTnLst>
                              <p:par>
                                <p:cTn id="23" presetID="10" presetClass="entr" presetSubtype="0" fill="hold" nodeType="afterEffect">
                                  <p:stCondLst>
                                    <p:cond delay="0"/>
                                  </p:stCondLst>
                                  <p:iterate type="lt">
                                    <p:tmPct val="10000"/>
                                  </p:iterate>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2000"/>
                                        <p:tgtEl>
                                          <p:spTgt spid="3">
                                            <p:txEl>
                                              <p:pRg st="3" end="3"/>
                                            </p:txEl>
                                          </p:spTgt>
                                        </p:tgtEl>
                                      </p:cBhvr>
                                    </p:animEffect>
                                  </p:childTnLst>
                                </p:cTn>
                              </p:par>
                            </p:childTnLst>
                          </p:cTn>
                        </p:par>
                        <p:par>
                          <p:cTn id="26" fill="hold">
                            <p:stCondLst>
                              <p:cond delay="18920"/>
                            </p:stCondLst>
                            <p:childTnLst>
                              <p:par>
                                <p:cTn id="27" presetID="10" presetClass="entr" presetSubtype="0" fill="hold" nodeType="afterEffect">
                                  <p:stCondLst>
                                    <p:cond delay="0"/>
                                  </p:stCondLst>
                                  <p:iterate type="lt">
                                    <p:tmPct val="10000"/>
                                  </p:iterate>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2000"/>
                                        <p:tgtEl>
                                          <p:spTgt spid="3">
                                            <p:txEl>
                                              <p:pRg st="4" end="4"/>
                                            </p:txEl>
                                          </p:spTgt>
                                        </p:tgtEl>
                                      </p:cBhvr>
                                    </p:animEffect>
                                  </p:childTnLst>
                                </p:cTn>
                              </p:par>
                            </p:childTnLst>
                          </p:cTn>
                        </p:par>
                        <p:par>
                          <p:cTn id="30" fill="hold">
                            <p:stCondLst>
                              <p:cond delay="22520"/>
                            </p:stCondLst>
                            <p:childTnLst>
                              <p:par>
                                <p:cTn id="31" presetID="10" presetClass="entr" presetSubtype="0" fill="hold" nodeType="afterEffect">
                                  <p:stCondLst>
                                    <p:cond delay="0"/>
                                  </p:stCondLst>
                                  <p:iterate type="lt">
                                    <p:tmPct val="10000"/>
                                  </p:iterate>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2000"/>
                                        <p:tgtEl>
                                          <p:spTgt spid="3">
                                            <p:txEl>
                                              <p:pRg st="5" end="5"/>
                                            </p:txEl>
                                          </p:spTgt>
                                        </p:tgtEl>
                                      </p:cBhvr>
                                    </p:animEffect>
                                  </p:childTnLst>
                                </p:cTn>
                              </p:par>
                            </p:childTnLst>
                          </p:cTn>
                        </p:par>
                        <p:par>
                          <p:cTn id="34" fill="hold">
                            <p:stCondLst>
                              <p:cond delay="25920"/>
                            </p:stCondLst>
                            <p:childTnLst>
                              <p:par>
                                <p:cTn id="35" presetID="10" presetClass="entr" presetSubtype="0" fill="hold" nodeType="afterEffect">
                                  <p:stCondLst>
                                    <p:cond delay="0"/>
                                  </p:stCondLst>
                                  <p:iterate type="lt">
                                    <p:tmPct val="10000"/>
                                  </p:iterate>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par>
                          <p:cTn id="38" fill="hold">
                            <p:stCondLst>
                              <p:cond delay="29920"/>
                            </p:stCondLst>
                            <p:childTnLst>
                              <p:par>
                                <p:cTn id="39" presetID="10" presetClass="entr" presetSubtype="0" fill="hold" nodeType="afterEffect">
                                  <p:stCondLst>
                                    <p:cond delay="0"/>
                                  </p:stCondLst>
                                  <p:iterate type="lt">
                                    <p:tmPct val="10000"/>
                                  </p:iterate>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84509462"/>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60930" y="286258"/>
            <a:ext cx="3146759" cy="1107996"/>
          </a:xfrm>
          <a:prstGeom prst="rect">
            <a:avLst/>
          </a:prstGeom>
        </p:spPr>
        <p:txBody>
          <a:bodyPr wrap="none">
            <a:spAutoFit/>
          </a:bodyPr>
          <a:lstStyle/>
          <a:p>
            <a:pPr algn="ctr"/>
            <a:r>
              <a:rPr lang="en-US" sz="6600" b="1" dirty="0" smtClean="0">
                <a:ln/>
                <a:solidFill>
                  <a:srgbClr val="FF0000"/>
                </a:solidFill>
                <a:effectLst>
                  <a:outerShdw blurRad="60007" dist="310007" dir="7680000" sy="30000" kx="1300200" algn="ctr" rotWithShape="0">
                    <a:prstClr val="black">
                      <a:alpha val="32000"/>
                    </a:prstClr>
                  </a:outerShdw>
                  <a:reflection blurRad="6350" stA="50000" endA="300" endPos="50000" dist="29997" dir="5400000" sy="-100000" algn="bl" rotWithShape="0"/>
                </a:effectLst>
              </a:rPr>
              <a:t>VIRUSES</a:t>
            </a:r>
            <a:endParaRPr lang="en-US" sz="6600" b="1" dirty="0">
              <a:ln/>
              <a:solidFill>
                <a:srgbClr val="FF0000"/>
              </a:solidFill>
              <a:effectLst>
                <a:outerShdw blurRad="60007" dist="310007" dir="7680000" sy="30000" kx="1300200" algn="ctr" rotWithShape="0">
                  <a:prstClr val="black">
                    <a:alpha val="32000"/>
                  </a:prstClr>
                </a:outerShdw>
                <a:reflection blurRad="6350" stA="50000" endA="300" endPos="50000" dist="29997" dir="5400000" sy="-100000" algn="bl" rotWithShape="0"/>
              </a:effectLst>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49072" y="85384"/>
            <a:ext cx="2629702" cy="1590071"/>
          </a:xfrm>
          <a:prstGeom prst="rect">
            <a:avLst/>
          </a:prstGeom>
        </p:spPr>
      </p:pic>
      <p:sp>
        <p:nvSpPr>
          <p:cNvPr id="5" name="Rectangle 4"/>
          <p:cNvSpPr/>
          <p:nvPr/>
        </p:nvSpPr>
        <p:spPr>
          <a:xfrm>
            <a:off x="501121" y="4339607"/>
            <a:ext cx="11350118" cy="1209267"/>
          </a:xfrm>
          <a:prstGeom prst="rect">
            <a:avLst/>
          </a:prstGeom>
        </p:spPr>
        <p:txBody>
          <a:bodyPr wrap="square">
            <a:spAutoFit/>
          </a:bodyPr>
          <a:lstStyle/>
          <a:p>
            <a:pPr marL="285750" indent="-285750">
              <a:buFont typeface="Wingdings" panose="05000000000000000000" pitchFamily="2" charset="2"/>
              <a:buChar char="Ø"/>
            </a:pPr>
            <a:r>
              <a:rPr lang="en-US" sz="2400" dirty="0">
                <a:effectLst>
                  <a:outerShdw blurRad="38100" dist="38100" dir="2700000" algn="tl">
                    <a:srgbClr val="000000">
                      <a:alpha val="43137"/>
                    </a:srgbClr>
                  </a:outerShdw>
                </a:effectLst>
              </a:rPr>
              <a:t>A computer </a:t>
            </a:r>
            <a:r>
              <a:rPr lang="en-US" sz="2400" b="1" dirty="0">
                <a:effectLst>
                  <a:outerShdw blurRad="38100" dist="38100" dir="2700000" algn="tl">
                    <a:srgbClr val="000000">
                      <a:alpha val="43137"/>
                    </a:srgbClr>
                  </a:outerShdw>
                </a:effectLst>
              </a:rPr>
              <a:t>virus</a:t>
            </a:r>
            <a:r>
              <a:rPr lang="en-US" sz="2400" dirty="0">
                <a:effectLst>
                  <a:outerShdw blurRad="38100" dist="38100" dir="2700000" algn="tl">
                    <a:srgbClr val="000000">
                      <a:alpha val="43137"/>
                    </a:srgbClr>
                  </a:outerShdw>
                </a:effectLst>
              </a:rPr>
              <a:t> is a </a:t>
            </a:r>
            <a:r>
              <a:rPr lang="en-US" sz="2400" dirty="0">
                <a:effectLst>
                  <a:outerShdw blurRad="38100" dist="38100" dir="2700000" algn="tl">
                    <a:srgbClr val="000000">
                      <a:alpha val="43137"/>
                    </a:srgbClr>
                  </a:outerShdw>
                </a:effectLst>
                <a:hlinkClick r:id="rId3"/>
              </a:rPr>
              <a:t>program</a:t>
            </a:r>
            <a:r>
              <a:rPr lang="en-US" sz="2400" dirty="0">
                <a:effectLst>
                  <a:outerShdw blurRad="38100" dist="38100" dir="2700000" algn="tl">
                    <a:srgbClr val="000000">
                      <a:alpha val="43137"/>
                    </a:srgbClr>
                  </a:outerShdw>
                </a:effectLst>
              </a:rPr>
              <a:t>, </a:t>
            </a:r>
            <a:r>
              <a:rPr lang="en-US" sz="2400" dirty="0">
                <a:effectLst>
                  <a:outerShdw blurRad="38100" dist="38100" dir="2700000" algn="tl">
                    <a:srgbClr val="000000">
                      <a:alpha val="43137"/>
                    </a:srgbClr>
                  </a:outerShdw>
                </a:effectLst>
                <a:hlinkClick r:id="rId4"/>
              </a:rPr>
              <a:t>script</a:t>
            </a:r>
            <a:r>
              <a:rPr lang="en-US" sz="2400" dirty="0">
                <a:effectLst>
                  <a:outerShdw blurRad="38100" dist="38100" dir="2700000" algn="tl">
                    <a:srgbClr val="000000">
                      <a:alpha val="43137"/>
                    </a:srgbClr>
                  </a:outerShdw>
                </a:effectLst>
              </a:rPr>
              <a:t>, or </a:t>
            </a:r>
            <a:r>
              <a:rPr lang="en-US" sz="2400" dirty="0" smtClean="0">
                <a:effectLst>
                  <a:outerShdw blurRad="38100" dist="38100" dir="2700000" algn="tl">
                    <a:srgbClr val="000000">
                      <a:alpha val="43137"/>
                    </a:srgbClr>
                  </a:outerShdw>
                </a:effectLst>
                <a:hlinkClick r:id="rId5"/>
              </a:rPr>
              <a:t>macro</a:t>
            </a:r>
            <a:r>
              <a:rPr lang="en-US" sz="2400" dirty="0" smtClean="0">
                <a:effectLst>
                  <a:outerShdw blurRad="38100" dist="38100" dir="2700000" algn="tl">
                    <a:srgbClr val="000000">
                      <a:alpha val="43137"/>
                    </a:srgbClr>
                  </a:outerShdw>
                </a:effectLst>
              </a:rPr>
              <a:t> designed </a:t>
            </a:r>
            <a:r>
              <a:rPr lang="en-US" sz="2400" dirty="0">
                <a:effectLst>
                  <a:outerShdw blurRad="38100" dist="38100" dir="2700000" algn="tl">
                    <a:srgbClr val="000000">
                      <a:alpha val="43137"/>
                    </a:srgbClr>
                  </a:outerShdw>
                </a:effectLst>
              </a:rPr>
              <a:t>to cause damage, steal personal information, modify data, send e-mail, display messages, or some combination of these actions.</a:t>
            </a:r>
            <a:endParaRPr lang="en-IN" sz="2400" dirty="0">
              <a:effectLst>
                <a:outerShdw blurRad="38100" dist="38100" dir="2700000" algn="tl">
                  <a:srgbClr val="000000">
                    <a:alpha val="43137"/>
                  </a:srgbClr>
                </a:outerShdw>
              </a:effectLst>
            </a:endParaRPr>
          </a:p>
        </p:txBody>
      </p:sp>
      <p:sp>
        <p:nvSpPr>
          <p:cNvPr id="6" name="Rectangle 5"/>
          <p:cNvSpPr/>
          <p:nvPr/>
        </p:nvSpPr>
        <p:spPr>
          <a:xfrm>
            <a:off x="1602428" y="5464833"/>
            <a:ext cx="7663765" cy="461665"/>
          </a:xfrm>
          <a:prstGeom prst="rect">
            <a:avLst/>
          </a:prstGeom>
        </p:spPr>
        <p:txBody>
          <a:bodyPr wrap="none">
            <a:spAutoFit/>
          </a:bodyPr>
          <a:lstStyle/>
          <a:p>
            <a:pPr marL="342900" indent="-342900">
              <a:buFont typeface="Wingdings" panose="05000000000000000000" pitchFamily="2" charset="2"/>
              <a:buChar char="v"/>
            </a:pPr>
            <a:r>
              <a:rPr lang="en-US" sz="2400" dirty="0" smtClean="0">
                <a:ln w="0"/>
                <a:effectLst>
                  <a:outerShdw blurRad="38100" dist="38100" dir="2700000" algn="tl">
                    <a:srgbClr val="000000">
                      <a:alpha val="43137"/>
                    </a:srgbClr>
                  </a:outerShdw>
                </a:effectLst>
              </a:rPr>
              <a:t>May do nothing on your machine or </a:t>
            </a:r>
            <a:r>
              <a:rPr lang="en-US" sz="2400" dirty="0" smtClean="0">
                <a:ln w="0"/>
                <a:solidFill>
                  <a:srgbClr val="FF0000"/>
                </a:solidFill>
                <a:effectLst>
                  <a:outerShdw blurRad="38100" dist="38100" dir="2700000" algn="tl">
                    <a:srgbClr val="000000">
                      <a:alpha val="43137"/>
                    </a:srgbClr>
                  </a:outerShdw>
                </a:effectLst>
              </a:rPr>
              <a:t>destroy</a:t>
            </a:r>
            <a:r>
              <a:rPr lang="en-US" sz="2400" dirty="0" smtClean="0">
                <a:ln w="0"/>
                <a:effectLst>
                  <a:outerShdw blurRad="38100" dist="38100" dir="2700000" algn="tl">
                    <a:srgbClr val="000000">
                      <a:alpha val="43137"/>
                    </a:srgbClr>
                  </a:outerShdw>
                </a:effectLst>
              </a:rPr>
              <a:t> all your files.</a:t>
            </a:r>
            <a:endParaRPr lang="en-IN" sz="2400" dirty="0">
              <a:effectLst>
                <a:outerShdw blurRad="38100" dist="38100" dir="2700000" algn="tl">
                  <a:srgbClr val="000000">
                    <a:alpha val="43137"/>
                  </a:srgbClr>
                </a:outerShdw>
              </a:effectLst>
            </a:endParaRPr>
          </a:p>
        </p:txBody>
      </p:sp>
      <p:sp>
        <p:nvSpPr>
          <p:cNvPr id="7" name="Rectangle 6"/>
          <p:cNvSpPr/>
          <p:nvPr/>
        </p:nvSpPr>
        <p:spPr>
          <a:xfrm>
            <a:off x="1616419" y="5909396"/>
            <a:ext cx="9147504" cy="461665"/>
          </a:xfrm>
          <a:prstGeom prst="rect">
            <a:avLst/>
          </a:prstGeom>
        </p:spPr>
        <p:txBody>
          <a:bodyPr wrap="none">
            <a:spAutoFit/>
          </a:bodyPr>
          <a:lstStyle/>
          <a:p>
            <a:pPr marL="342900" indent="-342900">
              <a:buFont typeface="Wingdings" panose="05000000000000000000" pitchFamily="2" charset="2"/>
              <a:buChar char="v"/>
            </a:pPr>
            <a:r>
              <a:rPr lang="en-US" sz="2400" dirty="0" smtClean="0">
                <a:ln w="0"/>
                <a:effectLst>
                  <a:outerShdw blurRad="38100" dist="19050" dir="2700000" algn="tl" rotWithShape="0">
                    <a:schemeClr val="dk1">
                      <a:alpha val="40000"/>
                    </a:schemeClr>
                  </a:outerShdw>
                </a:effectLst>
              </a:rPr>
              <a:t>Seek to use your machine as launching point to infect other machine.</a:t>
            </a:r>
            <a:endParaRPr lang="en-IN" sz="2400" dirty="0"/>
          </a:p>
        </p:txBody>
      </p:sp>
      <p:sp>
        <p:nvSpPr>
          <p:cNvPr id="8" name="Rectangle 7"/>
          <p:cNvSpPr/>
          <p:nvPr/>
        </p:nvSpPr>
        <p:spPr>
          <a:xfrm>
            <a:off x="1542577" y="6304122"/>
            <a:ext cx="10050893" cy="461665"/>
          </a:xfrm>
          <a:prstGeom prst="rect">
            <a:avLst/>
          </a:prstGeom>
        </p:spPr>
        <p:txBody>
          <a:bodyPr wrap="none">
            <a:spAutoFit/>
          </a:bodyPr>
          <a:lstStyle/>
          <a:p>
            <a:pPr marL="342900" indent="-342900">
              <a:buFont typeface="Wingdings" panose="05000000000000000000" pitchFamily="2" charset="2"/>
              <a:buChar char="v"/>
            </a:pPr>
            <a:r>
              <a:rPr lang="en-US" sz="2400" dirty="0" smtClean="0">
                <a:ln w="0"/>
                <a:solidFill>
                  <a:srgbClr val="FF0000"/>
                </a:solidFill>
                <a:effectLst>
                  <a:outerShdw blurRad="38100" dist="19050" dir="2700000" algn="tl" rotWithShape="0">
                    <a:schemeClr val="dk1">
                      <a:alpha val="40000"/>
                    </a:schemeClr>
                  </a:outerShdw>
                </a:effectLst>
              </a:rPr>
              <a:t>VIRUS</a:t>
            </a:r>
            <a:r>
              <a:rPr lang="en-US" sz="2400" dirty="0" smtClean="0">
                <a:ln w="0"/>
                <a:effectLst>
                  <a:outerShdw blurRad="38100" dist="19050" dir="2700000" algn="tl" rotWithShape="0">
                    <a:schemeClr val="dk1">
                      <a:alpha val="40000"/>
                    </a:schemeClr>
                  </a:outerShdw>
                </a:effectLst>
              </a:rPr>
              <a:t> enters your device via attached images ,greeting ,Audio /video file etc.</a:t>
            </a:r>
            <a:endParaRPr lang="en-IN" sz="2400" dirty="0"/>
          </a:p>
        </p:txBody>
      </p:sp>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3895" y="1896599"/>
            <a:ext cx="11072551" cy="2221864"/>
          </a:xfrm>
          <a:prstGeom prst="rect">
            <a:avLst/>
          </a:prstGeom>
          <a:effectLst>
            <a:reflection blurRad="6350" stA="52000" endA="300" endPos="35000" dir="5400000" sy="-100000" algn="bl" rotWithShape="0"/>
          </a:effectLst>
        </p:spPr>
      </p:pic>
    </p:spTree>
    <p:extLst>
      <p:ext uri="{BB962C8B-B14F-4D97-AF65-F5344CB8AC3E}">
        <p14:creationId xmlns:p14="http://schemas.microsoft.com/office/powerpoint/2010/main" val="212519351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par>
                                <p:cTn id="8" presetID="32" presetClass="emph" presetSubtype="0" repeatCount="indefinite" fill="hold" nodeType="withEffect">
                                  <p:stCondLst>
                                    <p:cond delay="0"/>
                                  </p:stCondLst>
                                  <p:childTnLst>
                                    <p:animRot by="120000">
                                      <p:cBhvr>
                                        <p:cTn id="9" dur="100" fill="hold">
                                          <p:stCondLst>
                                            <p:cond delay="0"/>
                                          </p:stCondLst>
                                        </p:cTn>
                                        <p:tgtEl>
                                          <p:spTgt spid="3"/>
                                        </p:tgtEl>
                                        <p:attrNameLst>
                                          <p:attrName>r</p:attrName>
                                        </p:attrNameLst>
                                      </p:cBhvr>
                                    </p:animRot>
                                    <p:animRot by="-240000">
                                      <p:cBhvr>
                                        <p:cTn id="10" dur="200" fill="hold">
                                          <p:stCondLst>
                                            <p:cond delay="200"/>
                                          </p:stCondLst>
                                        </p:cTn>
                                        <p:tgtEl>
                                          <p:spTgt spid="3"/>
                                        </p:tgtEl>
                                        <p:attrNameLst>
                                          <p:attrName>r</p:attrName>
                                        </p:attrNameLst>
                                      </p:cBhvr>
                                    </p:animRot>
                                    <p:animRot by="240000">
                                      <p:cBhvr>
                                        <p:cTn id="11" dur="200" fill="hold">
                                          <p:stCondLst>
                                            <p:cond delay="400"/>
                                          </p:stCondLst>
                                        </p:cTn>
                                        <p:tgtEl>
                                          <p:spTgt spid="3"/>
                                        </p:tgtEl>
                                        <p:attrNameLst>
                                          <p:attrName>r</p:attrName>
                                        </p:attrNameLst>
                                      </p:cBhvr>
                                    </p:animRot>
                                    <p:animRot by="-240000">
                                      <p:cBhvr>
                                        <p:cTn id="12" dur="200" fill="hold">
                                          <p:stCondLst>
                                            <p:cond delay="600"/>
                                          </p:stCondLst>
                                        </p:cTn>
                                        <p:tgtEl>
                                          <p:spTgt spid="3"/>
                                        </p:tgtEl>
                                        <p:attrNameLst>
                                          <p:attrName>r</p:attrName>
                                        </p:attrNameLst>
                                      </p:cBhvr>
                                    </p:animRot>
                                    <p:animRot by="120000">
                                      <p:cBhvr>
                                        <p:cTn id="13" dur="200" fill="hold">
                                          <p:stCondLst>
                                            <p:cond delay="800"/>
                                          </p:stCondLst>
                                        </p:cTn>
                                        <p:tgtEl>
                                          <p:spTgt spid="3"/>
                                        </p:tgtEl>
                                        <p:attrNameLst>
                                          <p:attrName>r</p:attrName>
                                        </p:attrNameLst>
                                      </p:cBhvr>
                                    </p:animRot>
                                  </p:childTnLst>
                                </p:cTn>
                              </p:par>
                            </p:childTnLst>
                          </p:cTn>
                        </p:par>
                        <p:par>
                          <p:cTn id="14" fill="hold">
                            <p:stCondLst>
                              <p:cond delay="3200"/>
                            </p:stCondLst>
                            <p:childTnLst>
                              <p:par>
                                <p:cTn id="15" presetID="10" presetClass="entr" presetSubtype="0" fill="hold"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par>
                          <p:cTn id="18" fill="hold">
                            <p:stCondLst>
                              <p:cond delay="3700"/>
                            </p:stCondLst>
                            <p:childTnLst>
                              <p:par>
                                <p:cTn id="19" presetID="10" presetClass="entr" presetSubtype="0" fill="hold" nodeType="afterEffect">
                                  <p:stCondLst>
                                    <p:cond delay="0"/>
                                  </p:stCondLst>
                                  <p:iterate type="lt">
                                    <p:tmPct val="10000"/>
                                  </p:iterate>
                                  <p:childTnLst>
                                    <p:set>
                                      <p:cBhvr>
                                        <p:cTn id="20" dur="1" fill="hold">
                                          <p:stCondLst>
                                            <p:cond delay="0"/>
                                          </p:stCondLst>
                                        </p:cTn>
                                        <p:tgtEl>
                                          <p:spTgt spid="5">
                                            <p:txEl>
                                              <p:pRg st="0" end="0"/>
                                            </p:txEl>
                                          </p:spTgt>
                                        </p:tgtEl>
                                        <p:attrNameLst>
                                          <p:attrName>style.visibility</p:attrName>
                                        </p:attrNameLst>
                                      </p:cBhvr>
                                      <p:to>
                                        <p:strVal val="visible"/>
                                      </p:to>
                                    </p:set>
                                    <p:animEffect transition="in" filter="fade">
                                      <p:cBhvr>
                                        <p:cTn id="21" dur="1000"/>
                                        <p:tgtEl>
                                          <p:spTgt spid="5">
                                            <p:txEl>
                                              <p:pRg st="0" end="0"/>
                                            </p:txEl>
                                          </p:spTgt>
                                        </p:tgtEl>
                                      </p:cBhvr>
                                    </p:animEffect>
                                  </p:childTnLst>
                                </p:cTn>
                              </p:par>
                            </p:childTnLst>
                          </p:cTn>
                        </p:par>
                        <p:par>
                          <p:cTn id="22" fill="hold">
                            <p:stCondLst>
                              <p:cond delay="20200"/>
                            </p:stCondLst>
                            <p:childTnLst>
                              <p:par>
                                <p:cTn id="23" presetID="10" presetClass="entr" presetSubtype="0" fill="hold" nodeType="afterEffect">
                                  <p:stCondLst>
                                    <p:cond delay="0"/>
                                  </p:stCondLst>
                                  <p:iterate type="lt">
                                    <p:tmPct val="10000"/>
                                  </p:iterate>
                                  <p:childTnLst>
                                    <p:set>
                                      <p:cBhvr>
                                        <p:cTn id="24" dur="1" fill="hold">
                                          <p:stCondLst>
                                            <p:cond delay="0"/>
                                          </p:stCondLst>
                                        </p:cTn>
                                        <p:tgtEl>
                                          <p:spTgt spid="6">
                                            <p:txEl>
                                              <p:pRg st="0" end="0"/>
                                            </p:txEl>
                                          </p:spTgt>
                                        </p:tgtEl>
                                        <p:attrNameLst>
                                          <p:attrName>style.visibility</p:attrName>
                                        </p:attrNameLst>
                                      </p:cBhvr>
                                      <p:to>
                                        <p:strVal val="visible"/>
                                      </p:to>
                                    </p:set>
                                    <p:animEffect transition="in" filter="fade">
                                      <p:cBhvr>
                                        <p:cTn id="25" dur="1000"/>
                                        <p:tgtEl>
                                          <p:spTgt spid="6">
                                            <p:txEl>
                                              <p:pRg st="0" end="0"/>
                                            </p:txEl>
                                          </p:spTgt>
                                        </p:tgtEl>
                                      </p:cBhvr>
                                    </p:animEffect>
                                  </p:childTnLst>
                                </p:cTn>
                              </p:par>
                            </p:childTnLst>
                          </p:cTn>
                        </p:par>
                        <p:par>
                          <p:cTn id="26" fill="hold">
                            <p:stCondLst>
                              <p:cond delay="25800"/>
                            </p:stCondLst>
                            <p:childTnLst>
                              <p:par>
                                <p:cTn id="27" presetID="10" presetClass="entr" presetSubtype="0" fill="hold" nodeType="afterEffect">
                                  <p:stCondLst>
                                    <p:cond delay="0"/>
                                  </p:stCondLst>
                                  <p:iterate type="lt">
                                    <p:tmPct val="10000"/>
                                  </p:iterate>
                                  <p:childTnLst>
                                    <p:set>
                                      <p:cBhvr>
                                        <p:cTn id="28" dur="1" fill="hold">
                                          <p:stCondLst>
                                            <p:cond delay="0"/>
                                          </p:stCondLst>
                                        </p:cTn>
                                        <p:tgtEl>
                                          <p:spTgt spid="7">
                                            <p:txEl>
                                              <p:pRg st="0" end="0"/>
                                            </p:txEl>
                                          </p:spTgt>
                                        </p:tgtEl>
                                        <p:attrNameLst>
                                          <p:attrName>style.visibility</p:attrName>
                                        </p:attrNameLst>
                                      </p:cBhvr>
                                      <p:to>
                                        <p:strVal val="visible"/>
                                      </p:to>
                                    </p:set>
                                    <p:animEffect transition="in" filter="fade">
                                      <p:cBhvr>
                                        <p:cTn id="29" dur="1000"/>
                                        <p:tgtEl>
                                          <p:spTgt spid="7">
                                            <p:txEl>
                                              <p:pRg st="0" end="0"/>
                                            </p:txEl>
                                          </p:spTgt>
                                        </p:tgtEl>
                                      </p:cBhvr>
                                    </p:animEffect>
                                  </p:childTnLst>
                                </p:cTn>
                              </p:par>
                            </p:childTnLst>
                          </p:cTn>
                        </p:par>
                        <p:par>
                          <p:cTn id="30" fill="hold">
                            <p:stCondLst>
                              <p:cond delay="32400"/>
                            </p:stCondLst>
                            <p:childTnLst>
                              <p:par>
                                <p:cTn id="31" presetID="10" presetClass="entr" presetSubtype="0" fill="hold" nodeType="afterEffect">
                                  <p:stCondLst>
                                    <p:cond delay="0"/>
                                  </p:stCondLst>
                                  <p:iterate type="lt">
                                    <p:tmPct val="10000"/>
                                  </p:iterate>
                                  <p:childTnLst>
                                    <p:set>
                                      <p:cBhvr>
                                        <p:cTn id="32" dur="1" fill="hold">
                                          <p:stCondLst>
                                            <p:cond delay="0"/>
                                          </p:stCondLst>
                                        </p:cTn>
                                        <p:tgtEl>
                                          <p:spTgt spid="8">
                                            <p:txEl>
                                              <p:pRg st="0" end="0"/>
                                            </p:txEl>
                                          </p:spTgt>
                                        </p:tgtEl>
                                        <p:attrNameLst>
                                          <p:attrName>style.visibility</p:attrName>
                                        </p:attrNameLst>
                                      </p:cBhvr>
                                      <p:to>
                                        <p:strVal val="visible"/>
                                      </p:to>
                                    </p:set>
                                    <p:animEffect transition="in" filter="fade">
                                      <p:cBhvr>
                                        <p:cTn id="33" dur="1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679576" y="1586753"/>
            <a:ext cx="2702859" cy="69924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2800" b="1" dirty="0" smtClean="0"/>
              <a:t>VIRUS</a:t>
            </a:r>
            <a:endParaRPr lang="en-IN" sz="2800" b="1" dirty="0"/>
          </a:p>
        </p:txBody>
      </p:sp>
      <p:sp>
        <p:nvSpPr>
          <p:cNvPr id="7" name="Rectangle 6"/>
          <p:cNvSpPr/>
          <p:nvPr/>
        </p:nvSpPr>
        <p:spPr>
          <a:xfrm>
            <a:off x="9040906" y="5221940"/>
            <a:ext cx="2702859" cy="6992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IN" sz="2400" b="1" dirty="0">
                <a:solidFill>
                  <a:schemeClr val="bg1"/>
                </a:solidFill>
              </a:rPr>
              <a:t>Logic bomb virus</a:t>
            </a:r>
          </a:p>
        </p:txBody>
      </p:sp>
      <p:sp>
        <p:nvSpPr>
          <p:cNvPr id="8" name="Rectangle 7"/>
          <p:cNvSpPr/>
          <p:nvPr/>
        </p:nvSpPr>
        <p:spPr>
          <a:xfrm>
            <a:off x="6031006" y="4132729"/>
            <a:ext cx="2702859" cy="6992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IN" sz="2400" b="1" dirty="0">
                <a:solidFill>
                  <a:schemeClr val="bg1"/>
                </a:solidFill>
              </a:rPr>
              <a:t>Time bomb virus</a:t>
            </a:r>
          </a:p>
        </p:txBody>
      </p:sp>
      <p:sp>
        <p:nvSpPr>
          <p:cNvPr id="9" name="Rectangle 8"/>
          <p:cNvSpPr/>
          <p:nvPr/>
        </p:nvSpPr>
        <p:spPr>
          <a:xfrm>
            <a:off x="3180230" y="5221940"/>
            <a:ext cx="2702859" cy="6992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IN" sz="2400" b="1" dirty="0">
                <a:solidFill>
                  <a:schemeClr val="bg1"/>
                </a:solidFill>
              </a:rPr>
              <a:t>Boot sector virus</a:t>
            </a:r>
          </a:p>
        </p:txBody>
      </p:sp>
      <p:sp>
        <p:nvSpPr>
          <p:cNvPr id="10" name="Rectangle 9"/>
          <p:cNvSpPr/>
          <p:nvPr/>
        </p:nvSpPr>
        <p:spPr>
          <a:xfrm>
            <a:off x="528918" y="4132729"/>
            <a:ext cx="2429435" cy="6992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IN" sz="2400" b="1" dirty="0">
                <a:solidFill>
                  <a:schemeClr val="bg1"/>
                </a:solidFill>
              </a:rPr>
              <a:t>Macro virus</a:t>
            </a:r>
          </a:p>
        </p:txBody>
      </p:sp>
      <p:cxnSp>
        <p:nvCxnSpPr>
          <p:cNvPr id="12" name="Straight Arrow Connector 11"/>
          <p:cNvCxnSpPr>
            <a:stCxn id="6" idx="2"/>
            <a:endCxn id="10" idx="0"/>
          </p:cNvCxnSpPr>
          <p:nvPr/>
        </p:nvCxnSpPr>
        <p:spPr>
          <a:xfrm flipH="1">
            <a:off x="1743636" y="2286000"/>
            <a:ext cx="4287370" cy="1846729"/>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14" name="Straight Arrow Connector 13"/>
          <p:cNvCxnSpPr>
            <a:stCxn id="6" idx="2"/>
            <a:endCxn id="9" idx="0"/>
          </p:cNvCxnSpPr>
          <p:nvPr/>
        </p:nvCxnSpPr>
        <p:spPr>
          <a:xfrm flipH="1">
            <a:off x="4531660" y="2286000"/>
            <a:ext cx="1499346" cy="293594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6" name="Straight Arrow Connector 15"/>
          <p:cNvCxnSpPr>
            <a:stCxn id="6" idx="2"/>
            <a:endCxn id="8" idx="0"/>
          </p:cNvCxnSpPr>
          <p:nvPr/>
        </p:nvCxnSpPr>
        <p:spPr>
          <a:xfrm>
            <a:off x="6031006" y="2286000"/>
            <a:ext cx="1351430" cy="184672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8" name="Straight Arrow Connector 17"/>
          <p:cNvCxnSpPr>
            <a:stCxn id="6" idx="2"/>
            <a:endCxn id="7" idx="0"/>
          </p:cNvCxnSpPr>
          <p:nvPr/>
        </p:nvCxnSpPr>
        <p:spPr>
          <a:xfrm>
            <a:off x="6031006" y="2286000"/>
            <a:ext cx="4361330" cy="293594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9" name="Rectangle 18"/>
          <p:cNvSpPr/>
          <p:nvPr/>
        </p:nvSpPr>
        <p:spPr>
          <a:xfrm>
            <a:off x="4338145" y="371001"/>
            <a:ext cx="3683061" cy="646331"/>
          </a:xfrm>
          <a:prstGeom prst="rect">
            <a:avLst/>
          </a:prstGeom>
          <a:effectLst>
            <a:reflection blurRad="6350" stA="52000" endA="300" endPos="35000" dir="5400000" sy="-100000" algn="bl" rotWithShape="0"/>
          </a:effectLst>
        </p:spPr>
        <p:txBody>
          <a:bodyPr wrap="none">
            <a:spAutoFit/>
          </a:bodyPr>
          <a:lstStyle/>
          <a:p>
            <a:pPr algn="ctr"/>
            <a:r>
              <a:rPr lang="en-IN" sz="3600" b="1" dirty="0" smtClean="0">
                <a:solidFill>
                  <a:srgbClr val="FF0000"/>
                </a:solidFill>
                <a:effectLst>
                  <a:outerShdw blurRad="38100" dist="38100" dir="2700000" algn="tl">
                    <a:srgbClr val="000000">
                      <a:alpha val="43137"/>
                    </a:srgbClr>
                  </a:outerShdw>
                  <a:reflection blurRad="6350" stA="60000" endA="900" endPos="58000" dir="5400000" sy="-100000" algn="bl" rotWithShape="0"/>
                </a:effectLst>
              </a:rPr>
              <a:t>TYPES OF VIRUSES</a:t>
            </a:r>
            <a:endParaRPr lang="en-IN" sz="3600" b="1" dirty="0">
              <a:solidFill>
                <a:srgbClr val="FF0000"/>
              </a:solidFill>
              <a:effectLst>
                <a:outerShdw blurRad="38100" dist="38100" dir="2700000" algn="tl">
                  <a:srgbClr val="000000">
                    <a:alpha val="43137"/>
                  </a:srgbClr>
                </a:outerShdw>
                <a:reflection blurRad="6350" stA="60000" endA="900" endPos="58000" dir="5400000" sy="-100000" algn="bl" rotWithShape="0"/>
              </a:effectLst>
            </a:endParaRPr>
          </a:p>
        </p:txBody>
      </p:sp>
    </p:spTree>
    <p:extLst>
      <p:ext uri="{BB962C8B-B14F-4D97-AF65-F5344CB8AC3E}">
        <p14:creationId xmlns:p14="http://schemas.microsoft.com/office/powerpoint/2010/main" val="17552307"/>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0000"/>
                                  </p:iterate>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2000"/>
                                        <p:tgtEl>
                                          <p:spTgt spid="19">
                                            <p:txEl>
                                              <p:pRg st="0" end="0"/>
                                            </p:txEl>
                                          </p:spTgt>
                                        </p:tgtEl>
                                      </p:cBhvr>
                                    </p:animEffect>
                                  </p:childTnLst>
                                </p:cTn>
                              </p:par>
                            </p:childTnLst>
                          </p:cTn>
                        </p:par>
                        <p:par>
                          <p:cTn id="8" fill="hold">
                            <p:stCondLst>
                              <p:cond delay="4600"/>
                            </p:stCondLst>
                            <p:childTnLst>
                              <p:par>
                                <p:cTn id="9" presetID="10" presetClass="entr" presetSubtype="0" fill="hold" grpId="0" nodeType="afterEffect">
                                  <p:stCondLst>
                                    <p:cond delay="0"/>
                                  </p:stCondLst>
                                  <p:iterate type="lt">
                                    <p:tmPct val="10000"/>
                                  </p:iterate>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par>
                          <p:cTn id="12" fill="hold">
                            <p:stCondLst>
                              <p:cond delay="6000"/>
                            </p:stCondLst>
                            <p:childTnLst>
                              <p:par>
                                <p:cTn id="13" presetID="22" presetClass="entr" presetSubtype="2"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right)">
                                      <p:cBhvr>
                                        <p:cTn id="15" dur="1000"/>
                                        <p:tgtEl>
                                          <p:spTgt spid="12"/>
                                        </p:tgtEl>
                                      </p:cBhvr>
                                    </p:animEffect>
                                  </p:childTnLst>
                                </p:cTn>
                              </p:par>
                            </p:childTnLst>
                          </p:cTn>
                        </p:par>
                        <p:par>
                          <p:cTn id="16" fill="hold">
                            <p:stCondLst>
                              <p:cond delay="7000"/>
                            </p:stCondLst>
                            <p:childTnLst>
                              <p:par>
                                <p:cTn id="17" presetID="10" presetClass="entr" presetSubtype="0" fill="hold" grpId="0" nodeType="afterEffect">
                                  <p:stCondLst>
                                    <p:cond delay="0"/>
                                  </p:stCondLst>
                                  <p:iterate type="lt">
                                    <p:tmPct val="10000"/>
                                  </p:iterate>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childTnLst>
                                </p:cTn>
                              </p:par>
                            </p:childTnLst>
                          </p:cTn>
                        </p:par>
                        <p:par>
                          <p:cTn id="20" fill="hold">
                            <p:stCondLst>
                              <p:cond delay="8900"/>
                            </p:stCondLst>
                            <p:childTnLst>
                              <p:par>
                                <p:cTn id="21" presetID="22" presetClass="entr" presetSubtype="2"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right)">
                                      <p:cBhvr>
                                        <p:cTn id="23" dur="1000"/>
                                        <p:tgtEl>
                                          <p:spTgt spid="14"/>
                                        </p:tgtEl>
                                      </p:cBhvr>
                                    </p:animEffect>
                                  </p:childTnLst>
                                </p:cTn>
                              </p:par>
                            </p:childTnLst>
                          </p:cTn>
                        </p:par>
                        <p:par>
                          <p:cTn id="24" fill="hold">
                            <p:stCondLst>
                              <p:cond delay="9900"/>
                            </p:stCondLst>
                            <p:childTnLst>
                              <p:par>
                                <p:cTn id="25" presetID="10" presetClass="entr" presetSubtype="0" fill="hold" grpId="0" nodeType="afterEffect">
                                  <p:stCondLst>
                                    <p:cond delay="0"/>
                                  </p:stCondLst>
                                  <p:iterate type="lt">
                                    <p:tmPct val="10000"/>
                                  </p:iterate>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childTnLst>
                                </p:cTn>
                              </p:par>
                            </p:childTnLst>
                          </p:cTn>
                        </p:par>
                        <p:par>
                          <p:cTn id="28" fill="hold">
                            <p:stCondLst>
                              <p:cond delay="12300"/>
                            </p:stCondLst>
                            <p:childTnLst>
                              <p:par>
                                <p:cTn id="29" presetID="22" presetClass="entr" presetSubtype="1"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up)">
                                      <p:cBhvr>
                                        <p:cTn id="31" dur="1000"/>
                                        <p:tgtEl>
                                          <p:spTgt spid="16"/>
                                        </p:tgtEl>
                                      </p:cBhvr>
                                    </p:animEffect>
                                  </p:childTnLst>
                                </p:cTn>
                              </p:par>
                            </p:childTnLst>
                          </p:cTn>
                        </p:par>
                        <p:par>
                          <p:cTn id="32" fill="hold">
                            <p:stCondLst>
                              <p:cond delay="13300"/>
                            </p:stCondLst>
                            <p:childTnLst>
                              <p:par>
                                <p:cTn id="33" presetID="10" presetClass="entr" presetSubtype="0" fill="hold" grpId="0" nodeType="afterEffect">
                                  <p:stCondLst>
                                    <p:cond delay="0"/>
                                  </p:stCondLst>
                                  <p:iterate type="lt">
                                    <p:tmPct val="10000"/>
                                  </p:iterate>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childTnLst>
                                </p:cTn>
                              </p:par>
                            </p:childTnLst>
                          </p:cTn>
                        </p:par>
                        <p:par>
                          <p:cTn id="36" fill="hold">
                            <p:stCondLst>
                              <p:cond delay="15500"/>
                            </p:stCondLst>
                            <p:childTnLst>
                              <p:par>
                                <p:cTn id="37" presetID="22" presetClass="entr" presetSubtype="1" fill="hold"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up)">
                                      <p:cBhvr>
                                        <p:cTn id="39" dur="1000"/>
                                        <p:tgtEl>
                                          <p:spTgt spid="18"/>
                                        </p:tgtEl>
                                      </p:cBhvr>
                                    </p:animEffect>
                                  </p:childTnLst>
                                </p:cTn>
                              </p:par>
                            </p:childTnLst>
                          </p:cTn>
                        </p:par>
                        <p:par>
                          <p:cTn id="40" fill="hold">
                            <p:stCondLst>
                              <p:cond delay="16500"/>
                            </p:stCondLst>
                            <p:childTnLst>
                              <p:par>
                                <p:cTn id="41" presetID="10" presetClass="entr" presetSubtype="0" fill="hold" grpId="0" nodeType="afterEffect">
                                  <p:stCondLst>
                                    <p:cond delay="0"/>
                                  </p:stCondLst>
                                  <p:iterate type="lt">
                                    <p:tmPct val="10000"/>
                                  </p:iterate>
                                  <p:childTnLst>
                                    <p:set>
                                      <p:cBhvr>
                                        <p:cTn id="42" dur="1" fill="hold">
                                          <p:stCondLst>
                                            <p:cond delay="0"/>
                                          </p:stCondLst>
                                        </p:cTn>
                                        <p:tgtEl>
                                          <p:spTgt spid="7"/>
                                        </p:tgtEl>
                                        <p:attrNameLst>
                                          <p:attrName>style.visibility</p:attrName>
                                        </p:attrNameLst>
                                      </p:cBhvr>
                                      <p:to>
                                        <p:strVal val="visible"/>
                                      </p:to>
                                    </p:set>
                                    <p:animEffect transition="in" filter="fade">
                                      <p:cBhvr>
                                        <p:cTn id="43"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4788498" y="468076"/>
            <a:ext cx="5400575" cy="4464423"/>
          </a:xfrm>
          <a:prstGeom prst="rect">
            <a:avLst/>
          </a:prstGeom>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64838"/>
            <a:ext cx="5814442" cy="3270623"/>
          </a:xfrm>
          <a:prstGeom prst="rect">
            <a:avLst/>
          </a:prstGeom>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8691" y="3929178"/>
            <a:ext cx="5700059" cy="3206283"/>
          </a:xfrm>
          <a:prstGeom prst="rect">
            <a:avLst/>
          </a:prstGeo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8884" y="3976226"/>
            <a:ext cx="5293116" cy="2977378"/>
          </a:xfrm>
          <a:prstGeom prst="rect">
            <a:avLst/>
          </a:prstGeom>
        </p:spPr>
      </p:pic>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219840" y="732468"/>
            <a:ext cx="4796069" cy="3331134"/>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5499463" cy="3929178"/>
          </a:xfrm>
          <a:prstGeom prst="rect">
            <a:avLst/>
          </a:prstGeom>
        </p:spPr>
      </p:pic>
    </p:spTree>
    <p:extLst>
      <p:ext uri="{BB962C8B-B14F-4D97-AF65-F5344CB8AC3E}">
        <p14:creationId xmlns:p14="http://schemas.microsoft.com/office/powerpoint/2010/main" val="66200609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7999"/>
          </a:xfrm>
          <a:prstGeom prst="rect">
            <a:avLst/>
          </a:prstGeom>
        </p:spPr>
      </p:pic>
    </p:spTree>
    <p:extLst>
      <p:ext uri="{BB962C8B-B14F-4D97-AF65-F5344CB8AC3E}">
        <p14:creationId xmlns:p14="http://schemas.microsoft.com/office/powerpoint/2010/main" val="2552024578"/>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92051" y="321279"/>
            <a:ext cx="2328394" cy="830997"/>
          </a:xfrm>
          <a:prstGeom prst="rect">
            <a:avLst/>
          </a:prstGeom>
        </p:spPr>
        <p:txBody>
          <a:bodyPr wrap="none">
            <a:spAutoFit/>
          </a:bodyPr>
          <a:lstStyle/>
          <a:p>
            <a:pPr algn="ctr"/>
            <a:r>
              <a:rPr lang="en-US" sz="4800" b="1" dirty="0" smtClean="0">
                <a:ln/>
                <a:solidFill>
                  <a:schemeClr val="accent6"/>
                </a:solidFill>
                <a:effectLst>
                  <a:outerShdw blurRad="60007" dist="310007" dir="7680000" sy="30000" kx="1300200" algn="ctr" rotWithShape="0">
                    <a:prstClr val="black">
                      <a:alpha val="32000"/>
                    </a:prstClr>
                  </a:outerShdw>
                  <a:reflection blurRad="6350" stA="50000" endA="300" endPos="50000" dist="29997" dir="5400000" sy="-100000" algn="bl" rotWithShape="0"/>
                </a:effectLst>
              </a:rPr>
              <a:t>WORMS</a:t>
            </a:r>
            <a:endParaRPr lang="en-US" sz="4800" b="1" dirty="0">
              <a:ln/>
              <a:solidFill>
                <a:schemeClr val="accent6"/>
              </a:solidFill>
              <a:effectLst>
                <a:outerShdw blurRad="60007" dist="310007" dir="7680000" sy="30000" kx="1300200" algn="ctr" rotWithShape="0">
                  <a:prstClr val="black">
                    <a:alpha val="32000"/>
                  </a:prstClr>
                </a:outerShdw>
                <a:reflection blurRad="6350" stA="50000" endA="300" endPos="50000" dist="29997" dir="5400000" sy="-100000" algn="bl" rotWithShape="0"/>
              </a:effectLst>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52276"/>
            <a:ext cx="12192000" cy="2857500"/>
          </a:xfrm>
          <a:prstGeom prst="rect">
            <a:avLst/>
          </a:prstGeom>
          <a:effectLst>
            <a:softEdge rad="127000"/>
          </a:effectLst>
        </p:spPr>
      </p:pic>
      <p:sp>
        <p:nvSpPr>
          <p:cNvPr id="4" name="Rectangle 3"/>
          <p:cNvSpPr/>
          <p:nvPr/>
        </p:nvSpPr>
        <p:spPr>
          <a:xfrm>
            <a:off x="942251" y="3988379"/>
            <a:ext cx="9735294" cy="461665"/>
          </a:xfrm>
          <a:prstGeom prst="rect">
            <a:avLst/>
          </a:prstGeom>
        </p:spPr>
        <p:txBody>
          <a:bodyPr wrap="none">
            <a:spAutoFit/>
          </a:bodyPr>
          <a:lstStyle/>
          <a:p>
            <a:pPr marL="342900" indent="-342900">
              <a:buFont typeface="Wingdings" panose="05000000000000000000" pitchFamily="2" charset="2"/>
              <a:buChar char="Ø"/>
            </a:pPr>
            <a:r>
              <a:rPr lang="en-US" sz="2400" dirty="0">
                <a:effectLst>
                  <a:outerShdw blurRad="38100" dist="38100" dir="2700000" algn="tl">
                    <a:srgbClr val="000000">
                      <a:alpha val="43137"/>
                    </a:srgbClr>
                  </a:outerShdw>
                </a:effectLst>
              </a:rPr>
              <a:t>Like a virus but they are </a:t>
            </a:r>
            <a:r>
              <a:rPr lang="en-US" sz="2400" dirty="0">
                <a:solidFill>
                  <a:srgbClr val="FF0000"/>
                </a:solidFill>
                <a:effectLst>
                  <a:outerShdw blurRad="38100" dist="38100" dir="2700000" algn="tl">
                    <a:srgbClr val="000000">
                      <a:alpha val="43137"/>
                    </a:srgbClr>
                  </a:outerShdw>
                </a:effectLst>
              </a:rPr>
              <a:t>self-contained</a:t>
            </a:r>
            <a:r>
              <a:rPr lang="en-US" sz="2400" dirty="0">
                <a:effectLst>
                  <a:outerShdw blurRad="38100" dist="38100" dir="2700000" algn="tl">
                    <a:srgbClr val="000000">
                      <a:alpha val="43137"/>
                    </a:srgbClr>
                  </a:outerShdw>
                </a:effectLst>
              </a:rPr>
              <a:t> programs (they don’t need a host</a:t>
            </a:r>
            <a:r>
              <a:rPr lang="en-US" sz="2400" dirty="0" smtClean="0">
                <a:effectLst>
                  <a:outerShdw blurRad="38100" dist="38100" dir="2700000" algn="tl">
                    <a:srgbClr val="000000">
                      <a:alpha val="43137"/>
                    </a:srgbClr>
                  </a:outerShdw>
                </a:effectLst>
              </a:rPr>
              <a:t>).</a:t>
            </a:r>
            <a:r>
              <a:rPr lang="en-US" sz="2400" dirty="0">
                <a:effectLst>
                  <a:outerShdw blurRad="38100" dist="38100" dir="2700000" algn="tl">
                    <a:srgbClr val="000000">
                      <a:alpha val="43137"/>
                    </a:srgbClr>
                  </a:outerShdw>
                </a:effectLst>
              </a:rPr>
              <a:t> </a:t>
            </a:r>
            <a:endParaRPr lang="en-IN" sz="2400" dirty="0">
              <a:effectLst>
                <a:outerShdw blurRad="38100" dist="38100" dir="2700000" algn="tl">
                  <a:srgbClr val="000000">
                    <a:alpha val="43137"/>
                  </a:srgbClr>
                </a:outerShdw>
              </a:effectLst>
            </a:endParaRPr>
          </a:p>
        </p:txBody>
      </p:sp>
      <p:sp>
        <p:nvSpPr>
          <p:cNvPr id="5" name="Rectangle 4"/>
          <p:cNvSpPr/>
          <p:nvPr/>
        </p:nvSpPr>
        <p:spPr>
          <a:xfrm>
            <a:off x="1761344" y="4505884"/>
            <a:ext cx="6321107" cy="461665"/>
          </a:xfrm>
          <a:prstGeom prst="rect">
            <a:avLst/>
          </a:prstGeom>
        </p:spPr>
        <p:txBody>
          <a:bodyPr wrap="square">
            <a:spAutoFit/>
          </a:bodyPr>
          <a:lstStyle/>
          <a:p>
            <a:pPr marL="342900" indent="-342900">
              <a:buFont typeface="Wingdings" panose="05000000000000000000" pitchFamily="2" charset="2"/>
              <a:buChar char="Ø"/>
            </a:pPr>
            <a:r>
              <a:rPr lang="en-IN" sz="24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Copy themselves from </a:t>
            </a:r>
            <a:r>
              <a:rPr lang="en-IN" sz="2400" dirty="0" smtClean="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machine-to-machine</a:t>
            </a:r>
            <a:r>
              <a:rPr lang="en-IN" sz="2400" dirty="0" smtClean="0">
                <a:solidFill>
                  <a:srgbClr val="7030A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a:t>
            </a:r>
            <a:endParaRPr lang="en-IN" sz="2400" dirty="0">
              <a:solidFill>
                <a:srgbClr val="7030A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6" name="Rectangle 5"/>
          <p:cNvSpPr/>
          <p:nvPr/>
        </p:nvSpPr>
        <p:spPr>
          <a:xfrm>
            <a:off x="2536295" y="5023389"/>
            <a:ext cx="8614987" cy="830997"/>
          </a:xfrm>
          <a:prstGeom prst="rect">
            <a:avLst/>
          </a:prstGeom>
        </p:spPr>
        <p:txBody>
          <a:bodyPr wrap="square">
            <a:spAutoFit/>
          </a:bodyPr>
          <a:lstStyle/>
          <a:p>
            <a:pPr marL="285750" indent="-285750">
              <a:buFont typeface="Wingdings" panose="05000000000000000000" pitchFamily="2" charset="2"/>
              <a:buChar char="Ø"/>
            </a:pPr>
            <a:r>
              <a:rPr lang="en-US" sz="24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Scan for other vulnerable </a:t>
            </a:r>
            <a:r>
              <a:rPr lang="en-US" sz="2400" dirty="0" smtClean="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machines.</a:t>
            </a:r>
          </a:p>
          <a:p>
            <a:pPr marL="1200150" lvl="2" indent="-285750">
              <a:buFont typeface="Wingdings" panose="05000000000000000000" pitchFamily="2" charset="2"/>
              <a:buChar char="Ø"/>
            </a:pPr>
            <a:r>
              <a:rPr lang="en-US" sz="2400" dirty="0">
                <a:effectLst>
                  <a:outerShdw blurRad="38100" dist="38100" dir="2700000" algn="tl">
                    <a:srgbClr val="000000">
                      <a:alpha val="43137"/>
                    </a:srgbClr>
                  </a:outerShdw>
                </a:effectLst>
              </a:rPr>
              <a:t>Can cause slowness or even block network </a:t>
            </a:r>
            <a:r>
              <a:rPr lang="en-US" sz="2400" dirty="0" smtClean="0">
                <a:effectLst>
                  <a:outerShdw blurRad="38100" dist="38100" dir="2700000" algn="tl">
                    <a:srgbClr val="000000">
                      <a:alpha val="43137"/>
                    </a:srgbClr>
                  </a:outerShdw>
                </a:effectLst>
              </a:rPr>
              <a:t>transmissions.</a:t>
            </a:r>
          </a:p>
        </p:txBody>
      </p:sp>
      <p:sp>
        <p:nvSpPr>
          <p:cNvPr id="7" name="Rectangle 6"/>
          <p:cNvSpPr/>
          <p:nvPr/>
        </p:nvSpPr>
        <p:spPr>
          <a:xfrm>
            <a:off x="4112945" y="5910226"/>
            <a:ext cx="6454905" cy="461665"/>
          </a:xfrm>
          <a:prstGeom prst="rect">
            <a:avLst/>
          </a:prstGeom>
        </p:spPr>
        <p:txBody>
          <a:bodyPr wrap="square">
            <a:spAutoFit/>
          </a:bodyPr>
          <a:lstStyle/>
          <a:p>
            <a:pPr marL="285750" indent="-285750">
              <a:buFont typeface="Wingdings" panose="05000000000000000000" pitchFamily="2" charset="2"/>
              <a:buChar char="Ø"/>
            </a:pPr>
            <a:r>
              <a:rPr lang="en-US" sz="2400" dirty="0" smtClean="0">
                <a:effectLst>
                  <a:outerShdw blurRad="38100" dist="38100" dir="2700000" algn="tl">
                    <a:srgbClr val="000000">
                      <a:alpha val="43137"/>
                    </a:srgbClr>
                  </a:outerShdw>
                </a:effectLst>
              </a:rPr>
              <a:t>They  attack  the weakened points in a network.    </a:t>
            </a:r>
            <a:endParaRPr lang="en-IN" sz="2400"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317130"/>
            <a:ext cx="2536295" cy="1521501"/>
          </a:xfrm>
          <a:prstGeom prst="rect">
            <a:avLst/>
          </a:prstGeom>
          <a:effectLst>
            <a:softEdge rad="63500"/>
          </a:effectLst>
        </p:spPr>
      </p:pic>
    </p:spTree>
    <p:extLst>
      <p:ext uri="{BB962C8B-B14F-4D97-AF65-F5344CB8AC3E}">
        <p14:creationId xmlns:p14="http://schemas.microsoft.com/office/powerpoint/2010/main" val="14619535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par>
                          <p:cTn id="8" fill="hold">
                            <p:stCondLst>
                              <p:cond delay="2800"/>
                            </p:stCondLst>
                            <p:childTnLst>
                              <p:par>
                                <p:cTn id="9" presetID="16" presetClass="entr" presetSubtype="2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1000"/>
                                        <p:tgtEl>
                                          <p:spTgt spid="3"/>
                                        </p:tgtEl>
                                      </p:cBhvr>
                                    </p:animEffect>
                                  </p:childTnLst>
                                </p:cTn>
                              </p:par>
                            </p:childTnLst>
                          </p:cTn>
                        </p:par>
                        <p:par>
                          <p:cTn id="12" fill="hold">
                            <p:stCondLst>
                              <p:cond delay="3800"/>
                            </p:stCondLst>
                            <p:childTnLst>
                              <p:par>
                                <p:cTn id="13" presetID="10" presetClass="entr" presetSubtype="0" fill="hold" nodeType="afterEffect">
                                  <p:stCondLst>
                                    <p:cond delay="0"/>
                                  </p:stCondLst>
                                  <p:iterate type="wd">
                                    <p:tmPct val="10000"/>
                                  </p:iterate>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2000"/>
                                        <p:tgtEl>
                                          <p:spTgt spid="4">
                                            <p:txEl>
                                              <p:pRg st="0" end="0"/>
                                            </p:txEl>
                                          </p:spTgt>
                                        </p:tgtEl>
                                      </p:cBhvr>
                                    </p:animEffect>
                                  </p:childTnLst>
                                </p:cTn>
                              </p:par>
                            </p:childTnLst>
                          </p:cTn>
                        </p:par>
                        <p:par>
                          <p:cTn id="16" fill="hold">
                            <p:stCondLst>
                              <p:cond delay="8600"/>
                            </p:stCondLst>
                            <p:childTnLst>
                              <p:par>
                                <p:cTn id="17" presetID="10" presetClass="entr" presetSubtype="0" fill="hold" nodeType="afterEffect">
                                  <p:stCondLst>
                                    <p:cond delay="0"/>
                                  </p:stCondLst>
                                  <p:iterate type="wd">
                                    <p:tmPct val="10000"/>
                                  </p:iterate>
                                  <p:childTnLst>
                                    <p:set>
                                      <p:cBhvr>
                                        <p:cTn id="18" dur="1" fill="hold">
                                          <p:stCondLst>
                                            <p:cond delay="0"/>
                                          </p:stCondLst>
                                        </p:cTn>
                                        <p:tgtEl>
                                          <p:spTgt spid="5">
                                            <p:txEl>
                                              <p:pRg st="0" end="0"/>
                                            </p:txEl>
                                          </p:spTgt>
                                        </p:tgtEl>
                                        <p:attrNameLst>
                                          <p:attrName>style.visibility</p:attrName>
                                        </p:attrNameLst>
                                      </p:cBhvr>
                                      <p:to>
                                        <p:strVal val="visible"/>
                                      </p:to>
                                    </p:set>
                                    <p:animEffect transition="in" filter="fade">
                                      <p:cBhvr>
                                        <p:cTn id="19" dur="2000"/>
                                        <p:tgtEl>
                                          <p:spTgt spid="5">
                                            <p:txEl>
                                              <p:pRg st="0" end="0"/>
                                            </p:txEl>
                                          </p:spTgt>
                                        </p:tgtEl>
                                      </p:cBhvr>
                                    </p:animEffect>
                                  </p:childTnLst>
                                </p:cTn>
                              </p:par>
                            </p:childTnLst>
                          </p:cTn>
                        </p:par>
                        <p:par>
                          <p:cTn id="20" fill="hold">
                            <p:stCondLst>
                              <p:cond delay="11400"/>
                            </p:stCondLst>
                            <p:childTnLst>
                              <p:par>
                                <p:cTn id="21" presetID="10" presetClass="entr" presetSubtype="0" fill="hold" nodeType="afterEffect">
                                  <p:stCondLst>
                                    <p:cond delay="0"/>
                                  </p:stCondLst>
                                  <p:iterate type="wd">
                                    <p:tmPct val="10000"/>
                                  </p:iterate>
                                  <p:childTnLst>
                                    <p:set>
                                      <p:cBhvr>
                                        <p:cTn id="22" dur="1" fill="hold">
                                          <p:stCondLst>
                                            <p:cond delay="0"/>
                                          </p:stCondLst>
                                        </p:cTn>
                                        <p:tgtEl>
                                          <p:spTgt spid="6">
                                            <p:txEl>
                                              <p:pRg st="0" end="0"/>
                                            </p:txEl>
                                          </p:spTgt>
                                        </p:tgtEl>
                                        <p:attrNameLst>
                                          <p:attrName>style.visibility</p:attrName>
                                        </p:attrNameLst>
                                      </p:cBhvr>
                                      <p:to>
                                        <p:strVal val="visible"/>
                                      </p:to>
                                    </p:set>
                                    <p:animEffect transition="in" filter="fade">
                                      <p:cBhvr>
                                        <p:cTn id="23" dur="2000"/>
                                        <p:tgtEl>
                                          <p:spTgt spid="6">
                                            <p:txEl>
                                              <p:pRg st="0" end="0"/>
                                            </p:txEl>
                                          </p:spTgt>
                                        </p:tgtEl>
                                      </p:cBhvr>
                                    </p:animEffect>
                                  </p:childTnLst>
                                </p:cTn>
                              </p:par>
                            </p:childTnLst>
                          </p:cTn>
                        </p:par>
                        <p:par>
                          <p:cTn id="24" fill="hold">
                            <p:stCondLst>
                              <p:cond delay="14400"/>
                            </p:stCondLst>
                            <p:childTnLst>
                              <p:par>
                                <p:cTn id="25" presetID="22" presetClass="entr" presetSubtype="4"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1000"/>
                                        <p:tgtEl>
                                          <p:spTgt spid="8"/>
                                        </p:tgtEl>
                                      </p:cBhvr>
                                    </p:animEffect>
                                  </p:childTnLst>
                                </p:cTn>
                              </p:par>
                            </p:childTnLst>
                          </p:cTn>
                        </p:par>
                        <p:par>
                          <p:cTn id="28" fill="hold">
                            <p:stCondLst>
                              <p:cond delay="15400"/>
                            </p:stCondLst>
                            <p:childTnLst>
                              <p:par>
                                <p:cTn id="29" presetID="10" presetClass="entr" presetSubtype="0" fill="hold" nodeType="afterEffect">
                                  <p:stCondLst>
                                    <p:cond delay="0"/>
                                  </p:stCondLst>
                                  <p:iterate type="wd">
                                    <p:tmPct val="10000"/>
                                  </p:iterate>
                                  <p:childTnLst>
                                    <p:set>
                                      <p:cBhvr>
                                        <p:cTn id="30" dur="1" fill="hold">
                                          <p:stCondLst>
                                            <p:cond delay="0"/>
                                          </p:stCondLst>
                                        </p:cTn>
                                        <p:tgtEl>
                                          <p:spTgt spid="6">
                                            <p:txEl>
                                              <p:pRg st="1" end="1"/>
                                            </p:txEl>
                                          </p:spTgt>
                                        </p:tgtEl>
                                        <p:attrNameLst>
                                          <p:attrName>style.visibility</p:attrName>
                                        </p:attrNameLst>
                                      </p:cBhvr>
                                      <p:to>
                                        <p:strVal val="visible"/>
                                      </p:to>
                                    </p:set>
                                    <p:animEffect transition="in" filter="fade">
                                      <p:cBhvr>
                                        <p:cTn id="31" dur="2000"/>
                                        <p:tgtEl>
                                          <p:spTgt spid="6">
                                            <p:txEl>
                                              <p:pRg st="1" end="1"/>
                                            </p:txEl>
                                          </p:spTgt>
                                        </p:tgtEl>
                                      </p:cBhvr>
                                    </p:animEffect>
                                  </p:childTnLst>
                                </p:cTn>
                              </p:par>
                            </p:childTnLst>
                          </p:cTn>
                        </p:par>
                        <p:par>
                          <p:cTn id="32" fill="hold">
                            <p:stCondLst>
                              <p:cond delay="19000"/>
                            </p:stCondLst>
                            <p:childTnLst>
                              <p:par>
                                <p:cTn id="33" presetID="10" presetClass="entr" presetSubtype="0" fill="hold" nodeType="afterEffect">
                                  <p:stCondLst>
                                    <p:cond delay="0"/>
                                  </p:stCondLst>
                                  <p:iterate type="wd">
                                    <p:tmPct val="10000"/>
                                  </p:iterate>
                                  <p:childTnLst>
                                    <p:set>
                                      <p:cBhvr>
                                        <p:cTn id="34" dur="1" fill="hold">
                                          <p:stCondLst>
                                            <p:cond delay="0"/>
                                          </p:stCondLst>
                                        </p:cTn>
                                        <p:tgtEl>
                                          <p:spTgt spid="7">
                                            <p:txEl>
                                              <p:pRg st="0" end="0"/>
                                            </p:txEl>
                                          </p:spTgt>
                                        </p:tgtEl>
                                        <p:attrNameLst>
                                          <p:attrName>style.visibility</p:attrName>
                                        </p:attrNameLst>
                                      </p:cBhvr>
                                      <p:to>
                                        <p:strVal val="visible"/>
                                      </p:to>
                                    </p:set>
                                    <p:animEffect transition="in" filter="fade">
                                      <p:cBhvr>
                                        <p:cTn id="35"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sp>
        <p:nvSpPr>
          <p:cNvPr id="3" name="Rectangle 2"/>
          <p:cNvSpPr/>
          <p:nvPr/>
        </p:nvSpPr>
        <p:spPr>
          <a:xfrm>
            <a:off x="4061839" y="213750"/>
            <a:ext cx="3759299" cy="769441"/>
          </a:xfrm>
          <a:prstGeom prst="rect">
            <a:avLst/>
          </a:prstGeom>
          <a:effectLst>
            <a:reflection blurRad="6350" stA="50000" endA="300" endPos="90000" dist="50800" dir="5400000" sy="-100000" algn="bl" rotWithShape="0"/>
          </a:effectLst>
        </p:spPr>
        <p:txBody>
          <a:bodyPr wrap="none">
            <a:spAutoFit/>
          </a:bodyPr>
          <a:lstStyle/>
          <a:p>
            <a:r>
              <a:rPr lang="en-IN" sz="4400" b="1" dirty="0">
                <a:solidFill>
                  <a:schemeClr val="bg1"/>
                </a:solidFill>
                <a:effectLst>
                  <a:outerShdw blurRad="38100" dist="38100" dir="2700000" algn="tl">
                    <a:srgbClr val="000000">
                      <a:alpha val="43137"/>
                    </a:srgbClr>
                  </a:outerShdw>
                </a:effectLst>
              </a:rPr>
              <a:t>TROJAN HORSE</a:t>
            </a:r>
          </a:p>
        </p:txBody>
      </p:sp>
    </p:spTree>
    <p:extLst>
      <p:ext uri="{BB962C8B-B14F-4D97-AF65-F5344CB8AC3E}">
        <p14:creationId xmlns:p14="http://schemas.microsoft.com/office/powerpoint/2010/main" val="15556226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3094" y="2628918"/>
            <a:ext cx="9609908" cy="1415772"/>
          </a:xfrm>
          <a:prstGeom prst="rect">
            <a:avLst/>
          </a:prstGeom>
        </p:spPr>
        <p:txBody>
          <a:bodyPr wrap="square">
            <a:spAutoFit/>
          </a:bodyPr>
          <a:lstStyle/>
          <a:p>
            <a:pPr marL="457200" indent="-457200">
              <a:buFont typeface="Wingdings" panose="05000000000000000000" pitchFamily="2" charset="2"/>
              <a:buChar char="Ø"/>
            </a:pPr>
            <a:r>
              <a:rPr lang="en-US" sz="3200" dirty="0" smtClean="0">
                <a:solidFill>
                  <a:srgbClr val="FF0000"/>
                </a:solidFill>
                <a:latin typeface="NeueHaasGroteskText W01"/>
              </a:rPr>
              <a:t>I</a:t>
            </a:r>
            <a:r>
              <a:rPr lang="en-US" dirty="0" smtClean="0">
                <a:latin typeface="NeueHaasGroteskText W01"/>
              </a:rPr>
              <a:t>n </a:t>
            </a:r>
            <a:r>
              <a:rPr lang="en-US" dirty="0">
                <a:latin typeface="NeueHaasGroteskText W01"/>
              </a:rPr>
              <a:t>computing, a Trojan horse is a </a:t>
            </a:r>
            <a:r>
              <a:rPr lang="en-US" u="sng" dirty="0">
                <a:latin typeface="NeueHaasGroteskText W01"/>
                <a:hlinkClick r:id="rId2"/>
              </a:rPr>
              <a:t>program</a:t>
            </a:r>
            <a:r>
              <a:rPr lang="en-US" dirty="0">
                <a:latin typeface="NeueHaasGroteskText W01"/>
              </a:rPr>
              <a:t> that appears harmless, but is, in fact, malicious. Unexpected changes to computer settings and unusual activity, even when the computer should be idle, are strong indications that a Trojan is residing on a computer</a:t>
            </a:r>
            <a:r>
              <a:rPr lang="en-US" dirty="0">
                <a:solidFill>
                  <a:srgbClr val="6C6C6C"/>
                </a:solidFill>
                <a:latin typeface="NeueHaasGroteskText W01"/>
              </a:rPr>
              <a:t>.</a:t>
            </a:r>
            <a:endParaRPr lang="en-IN" dirty="0"/>
          </a:p>
        </p:txBody>
      </p:sp>
      <p:sp>
        <p:nvSpPr>
          <p:cNvPr id="4" name="Rectangle 3"/>
          <p:cNvSpPr/>
          <p:nvPr/>
        </p:nvSpPr>
        <p:spPr>
          <a:xfrm>
            <a:off x="2847523" y="754684"/>
            <a:ext cx="5941050" cy="707886"/>
          </a:xfrm>
          <a:prstGeom prst="rect">
            <a:avLst/>
          </a:prstGeom>
        </p:spPr>
        <p:txBody>
          <a:bodyPr wrap="none">
            <a:spAutoFit/>
          </a:bodyPr>
          <a:lstStyle/>
          <a:p>
            <a:r>
              <a:rPr lang="en-IN" sz="4000" dirty="0" smtClean="0">
                <a:solidFill>
                  <a:srgbClr val="0070C0"/>
                </a:solidFill>
                <a:effectLst>
                  <a:outerShdw blurRad="38100" dist="38100" dir="2700000" algn="tl">
                    <a:srgbClr val="000000">
                      <a:alpha val="43137"/>
                    </a:srgbClr>
                  </a:outerShdw>
                </a:effectLst>
              </a:rPr>
              <a:t>WHAT IS TROJAN HORSE  ??</a:t>
            </a:r>
            <a:endParaRPr lang="en-IN" sz="4000" dirty="0">
              <a:solidFill>
                <a:srgbClr val="0070C0"/>
              </a:solidFill>
              <a:effectLst>
                <a:outerShdw blurRad="38100" dist="38100" dir="2700000" algn="tl">
                  <a:srgbClr val="000000">
                    <a:alpha val="43137"/>
                  </a:srgbClr>
                </a:outerShdw>
              </a:effectLst>
            </a:endParaRPr>
          </a:p>
        </p:txBody>
      </p:sp>
      <p:sp>
        <p:nvSpPr>
          <p:cNvPr id="5" name="Rectangle 4"/>
          <p:cNvSpPr/>
          <p:nvPr/>
        </p:nvSpPr>
        <p:spPr>
          <a:xfrm>
            <a:off x="1352029" y="4044690"/>
            <a:ext cx="10635900" cy="2462213"/>
          </a:xfrm>
          <a:prstGeom prst="rect">
            <a:avLst/>
          </a:prstGeom>
        </p:spPr>
        <p:txBody>
          <a:bodyPr wrap="square">
            <a:spAutoFit/>
          </a:bodyPr>
          <a:lstStyle/>
          <a:p>
            <a:pPr marL="457200" indent="-457200">
              <a:buFont typeface="Wingdings" panose="05000000000000000000" pitchFamily="2" charset="2"/>
              <a:buChar char="Ø"/>
            </a:pPr>
            <a:r>
              <a:rPr lang="en-US" sz="2800" b="1" dirty="0">
                <a:solidFill>
                  <a:srgbClr val="FF0000"/>
                </a:solidFill>
                <a:effectLst>
                  <a:outerShdw blurRad="38100" dist="38100" dir="2700000" algn="tl">
                    <a:srgbClr val="000000">
                      <a:alpha val="43137"/>
                    </a:srgbClr>
                  </a:outerShdw>
                </a:effectLst>
                <a:latin typeface="NeueHaasGroteskText W01"/>
              </a:rPr>
              <a:t>A</a:t>
            </a:r>
            <a:r>
              <a:rPr lang="en-US" dirty="0">
                <a:solidFill>
                  <a:srgbClr val="6C6C6C"/>
                </a:solidFill>
                <a:latin typeface="NeueHaasGroteskText W01"/>
              </a:rPr>
              <a:t> </a:t>
            </a:r>
            <a:r>
              <a:rPr lang="en-US" dirty="0">
                <a:latin typeface="Calibri body"/>
              </a:rPr>
              <a:t>Trojan horse may also be referred to as a Trojan horse virus, but that is technically incorrect. Unlike a computer </a:t>
            </a:r>
            <a:r>
              <a:rPr lang="en-US" u="sng" dirty="0">
                <a:latin typeface="Calibri body"/>
                <a:hlinkClick r:id="rId3"/>
              </a:rPr>
              <a:t>virus</a:t>
            </a:r>
            <a:r>
              <a:rPr lang="en-US" dirty="0">
                <a:latin typeface="Calibri body"/>
              </a:rPr>
              <a:t>, a Trojan horse is not able to replicate itself, nor can it propagate without an end user's assistance. This is why attackers must use </a:t>
            </a:r>
            <a:r>
              <a:rPr lang="en-US" u="sng" dirty="0">
                <a:latin typeface="Calibri body"/>
                <a:hlinkClick r:id="rId4"/>
              </a:rPr>
              <a:t>social engineering</a:t>
            </a:r>
            <a:r>
              <a:rPr lang="en-US" dirty="0">
                <a:latin typeface="Calibri body"/>
              </a:rPr>
              <a:t> tactics to trick the end user into executing the Trojan. Typically, the </a:t>
            </a:r>
            <a:r>
              <a:rPr lang="en-US" u="sng" dirty="0" smtClean="0">
                <a:latin typeface="Calibri body"/>
                <a:hlinkClick r:id="rId5"/>
              </a:rPr>
              <a:t>malware</a:t>
            </a:r>
            <a:r>
              <a:rPr lang="en-US" u="sng" dirty="0" smtClean="0">
                <a:latin typeface="Calibri body"/>
              </a:rPr>
              <a:t> </a:t>
            </a:r>
            <a:r>
              <a:rPr lang="en-US" dirty="0" smtClean="0">
                <a:latin typeface="Calibri body"/>
              </a:rPr>
              <a:t>programming </a:t>
            </a:r>
            <a:r>
              <a:rPr lang="en-US" dirty="0">
                <a:latin typeface="Calibri body"/>
              </a:rPr>
              <a:t>is hidden in an innocent-looking email attachment or free download. When the user clicks on the email attachment or downloads the free program, the malware that is hidden inside is transferred to the user's computing device. Once inside, the </a:t>
            </a:r>
            <a:r>
              <a:rPr lang="en-US" u="sng" dirty="0">
                <a:latin typeface="Calibri body"/>
                <a:hlinkClick r:id="rId6"/>
              </a:rPr>
              <a:t>malicious code</a:t>
            </a:r>
            <a:r>
              <a:rPr lang="en-US" dirty="0">
                <a:latin typeface="Calibri body"/>
              </a:rPr>
              <a:t> can execute whatever task the attacker designed it to carry out.</a:t>
            </a:r>
            <a:endParaRPr lang="en-IN" dirty="0">
              <a:latin typeface="Calibri body"/>
            </a:endParaRPr>
          </a:p>
        </p:txBody>
      </p:sp>
      <p:pic>
        <p:nvPicPr>
          <p:cNvPr id="6" name="Picture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51644" y="628368"/>
            <a:ext cx="2836285" cy="1668403"/>
          </a:xfrm>
          <a:prstGeom prst="rect">
            <a:avLst/>
          </a:prstGeom>
          <a:effectLst>
            <a:softEdge rad="63500"/>
          </a:effectLst>
        </p:spPr>
      </p:pic>
    </p:spTree>
    <p:extLst>
      <p:ext uri="{BB962C8B-B14F-4D97-AF65-F5344CB8AC3E}">
        <p14:creationId xmlns:p14="http://schemas.microsoft.com/office/powerpoint/2010/main" val="8090539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wd">
                                    <p:tmPct val="10000"/>
                                  </p:iterate>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par>
                          <p:cTn id="8" fill="hold">
                            <p:stCondLst>
                              <p:cond delay="2800"/>
                            </p:stCondLst>
                            <p:childTnLst>
                              <p:par>
                                <p:cTn id="9" presetID="10" presetClass="entr" presetSubtype="0" fill="hold" nodeType="afterEffect">
                                  <p:stCondLst>
                                    <p:cond delay="0"/>
                                  </p:stCondLst>
                                  <p:iterate type="lt">
                                    <p:tmPct val="10000"/>
                                  </p:iterate>
                                  <p:childTnLst>
                                    <p:set>
                                      <p:cBhvr>
                                        <p:cTn id="10" dur="1" fill="hold">
                                          <p:stCondLst>
                                            <p:cond delay="0"/>
                                          </p:stCondLst>
                                        </p:cTn>
                                        <p:tgtEl>
                                          <p:spTgt spid="2">
                                            <p:txEl>
                                              <p:pRg st="0" end="0"/>
                                            </p:txEl>
                                          </p:spTgt>
                                        </p:tgtEl>
                                        <p:attrNameLst>
                                          <p:attrName>style.visibility</p:attrName>
                                        </p:attrNameLst>
                                      </p:cBhvr>
                                      <p:to>
                                        <p:strVal val="visible"/>
                                      </p:to>
                                    </p:set>
                                    <p:animEffect transition="in" filter="fade">
                                      <p:cBhvr>
                                        <p:cTn id="11" dur="500"/>
                                        <p:tgtEl>
                                          <p:spTgt spid="2">
                                            <p:txEl>
                                              <p:pRg st="0" end="0"/>
                                            </p:txEl>
                                          </p:spTgt>
                                        </p:tgtEl>
                                      </p:cBhvr>
                                    </p:animEffect>
                                  </p:childTnLst>
                                </p:cTn>
                              </p:par>
                            </p:childTnLst>
                          </p:cTn>
                        </p:par>
                        <p:par>
                          <p:cTn id="12" fill="hold">
                            <p:stCondLst>
                              <p:cond delay="14050"/>
                            </p:stCondLst>
                            <p:childTnLst>
                              <p:par>
                                <p:cTn id="13" presetID="31" presetClass="entr" presetSubtype="0" repeatCount="indefinite"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3000" fill="hold"/>
                                        <p:tgtEl>
                                          <p:spTgt spid="6"/>
                                        </p:tgtEl>
                                        <p:attrNameLst>
                                          <p:attrName>ppt_w</p:attrName>
                                        </p:attrNameLst>
                                      </p:cBhvr>
                                      <p:tavLst>
                                        <p:tav tm="0">
                                          <p:val>
                                            <p:fltVal val="0"/>
                                          </p:val>
                                        </p:tav>
                                        <p:tav tm="100000">
                                          <p:val>
                                            <p:strVal val="#ppt_w"/>
                                          </p:val>
                                        </p:tav>
                                      </p:tavLst>
                                    </p:anim>
                                    <p:anim calcmode="lin" valueType="num">
                                      <p:cBhvr>
                                        <p:cTn id="16" dur="3000" fill="hold"/>
                                        <p:tgtEl>
                                          <p:spTgt spid="6"/>
                                        </p:tgtEl>
                                        <p:attrNameLst>
                                          <p:attrName>ppt_h</p:attrName>
                                        </p:attrNameLst>
                                      </p:cBhvr>
                                      <p:tavLst>
                                        <p:tav tm="0">
                                          <p:val>
                                            <p:fltVal val="0"/>
                                          </p:val>
                                        </p:tav>
                                        <p:tav tm="100000">
                                          <p:val>
                                            <p:strVal val="#ppt_h"/>
                                          </p:val>
                                        </p:tav>
                                      </p:tavLst>
                                    </p:anim>
                                    <p:anim calcmode="lin" valueType="num">
                                      <p:cBhvr>
                                        <p:cTn id="17" dur="3000" fill="hold"/>
                                        <p:tgtEl>
                                          <p:spTgt spid="6"/>
                                        </p:tgtEl>
                                        <p:attrNameLst>
                                          <p:attrName>style.rotation</p:attrName>
                                        </p:attrNameLst>
                                      </p:cBhvr>
                                      <p:tavLst>
                                        <p:tav tm="0">
                                          <p:val>
                                            <p:fltVal val="90"/>
                                          </p:val>
                                        </p:tav>
                                        <p:tav tm="100000">
                                          <p:val>
                                            <p:fltVal val="0"/>
                                          </p:val>
                                        </p:tav>
                                      </p:tavLst>
                                    </p:anim>
                                    <p:animEffect transition="in" filter="fade">
                                      <p:cBhvr>
                                        <p:cTn id="18" dur="3000"/>
                                        <p:tgtEl>
                                          <p:spTgt spid="6"/>
                                        </p:tgtEl>
                                      </p:cBhvr>
                                    </p:animEffect>
                                  </p:childTnLst>
                                </p:cTn>
                              </p:par>
                            </p:childTnLst>
                          </p:cTn>
                        </p:par>
                        <p:par>
                          <p:cTn id="19" fill="hold">
                            <p:stCondLst>
                              <p:cond delay="17050"/>
                            </p:stCondLst>
                            <p:childTnLst>
                              <p:par>
                                <p:cTn id="20" presetID="10" presetClass="entr" presetSubtype="0" fill="hold" nodeType="afterEffect">
                                  <p:stCondLst>
                                    <p:cond delay="0"/>
                                  </p:stCondLst>
                                  <p:iterate type="lt">
                                    <p:tmPct val="10000"/>
                                  </p:iterate>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53594" y="488071"/>
            <a:ext cx="3962303" cy="707886"/>
          </a:xfrm>
          <a:prstGeom prst="rect">
            <a:avLst/>
          </a:prstGeom>
        </p:spPr>
        <p:txBody>
          <a:bodyPr wrap="none">
            <a:spAutoFit/>
          </a:bodyPr>
          <a:lstStyle/>
          <a:p>
            <a:pPr algn="ctr"/>
            <a:r>
              <a:rPr lang="en-US" sz="4000" b="1" dirty="0" smtClean="0">
                <a:ln/>
                <a:solidFill>
                  <a:schemeClr val="accent6"/>
                </a:solidFill>
                <a:effectLst>
                  <a:outerShdw blurRad="60007" dist="310007" dir="7680000" sy="30000" kx="1300200" algn="ctr" rotWithShape="0">
                    <a:prstClr val="black">
                      <a:alpha val="32000"/>
                    </a:prstClr>
                  </a:outerShdw>
                  <a:reflection blurRad="6350" stA="50000" endA="300" endPos="50000" dist="29997" dir="5400000" sy="-100000" algn="bl" rotWithShape="0"/>
                </a:effectLst>
              </a:rPr>
              <a:t>TYPES OF TROJAN</a:t>
            </a:r>
            <a:endParaRPr lang="en-US" sz="4000" b="1" dirty="0">
              <a:ln/>
              <a:solidFill>
                <a:schemeClr val="accent6"/>
              </a:solidFill>
              <a:effectLst>
                <a:outerShdw blurRad="60007" dist="310007" dir="7680000" sy="30000" kx="1300200" algn="ctr" rotWithShape="0">
                  <a:prstClr val="black">
                    <a:alpha val="32000"/>
                  </a:prstClr>
                </a:outerShdw>
                <a:reflection blurRad="6350" stA="50000" endA="300" endPos="50000" dist="29997" dir="5400000" sy="-100000" algn="bl" rotWithShape="0"/>
              </a:effectLst>
            </a:endParaRPr>
          </a:p>
        </p:txBody>
      </p:sp>
      <p:sp>
        <p:nvSpPr>
          <p:cNvPr id="5" name="Rectangle 4"/>
          <p:cNvSpPr/>
          <p:nvPr/>
        </p:nvSpPr>
        <p:spPr>
          <a:xfrm>
            <a:off x="4942112" y="1614031"/>
            <a:ext cx="3156859" cy="573265"/>
          </a:xfrm>
          <a:prstGeom prst="rect">
            <a:avLst/>
          </a:prstGeom>
          <a:effectLst>
            <a:innerShdw blurRad="63500" dist="50800" dir="81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IN" sz="2400" b="1" dirty="0"/>
              <a:t>Remote Access Trojans</a:t>
            </a:r>
            <a:endParaRPr lang="en-IN" sz="2400" dirty="0"/>
          </a:p>
        </p:txBody>
      </p:sp>
      <p:sp>
        <p:nvSpPr>
          <p:cNvPr id="6" name="Rectangle 5"/>
          <p:cNvSpPr/>
          <p:nvPr/>
        </p:nvSpPr>
        <p:spPr>
          <a:xfrm>
            <a:off x="622662" y="3925981"/>
            <a:ext cx="1737360" cy="535578"/>
          </a:xfrm>
          <a:prstGeom prst="rect">
            <a:avLst/>
          </a:prstGeom>
          <a:effectLst>
            <a:reflection blurRad="6350" stA="50000" endA="300" endPos="55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smtClean="0"/>
              <a:t>TROJAN</a:t>
            </a:r>
            <a:endParaRPr lang="en-IN" sz="2800" b="1" dirty="0"/>
          </a:p>
        </p:txBody>
      </p:sp>
      <p:sp>
        <p:nvSpPr>
          <p:cNvPr id="7" name="Rectangle 6"/>
          <p:cNvSpPr/>
          <p:nvPr/>
        </p:nvSpPr>
        <p:spPr>
          <a:xfrm>
            <a:off x="6361611" y="2335335"/>
            <a:ext cx="3052353" cy="535578"/>
          </a:xfrm>
          <a:prstGeom prst="rect">
            <a:avLst/>
          </a:prstGeom>
          <a:effectLst>
            <a:innerShdw blurRad="63500" dist="50800" dir="81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IN" sz="2400" b="1" dirty="0"/>
              <a:t>Data Sending Trojans</a:t>
            </a:r>
            <a:endParaRPr lang="en-IN" sz="2400" dirty="0"/>
          </a:p>
        </p:txBody>
      </p:sp>
      <p:sp>
        <p:nvSpPr>
          <p:cNvPr id="8" name="Rectangle 7"/>
          <p:cNvSpPr/>
          <p:nvPr/>
        </p:nvSpPr>
        <p:spPr>
          <a:xfrm>
            <a:off x="7815897" y="4673016"/>
            <a:ext cx="1737360" cy="535578"/>
          </a:xfrm>
          <a:prstGeom prst="rect">
            <a:avLst/>
          </a:prstGeom>
          <a:effectLst>
            <a:innerShdw blurRad="63500" dist="50800" dir="54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IN" sz="2400" b="1" dirty="0"/>
              <a:t>FTP Trojans</a:t>
            </a:r>
            <a:endParaRPr lang="en-IN" sz="2400" dirty="0"/>
          </a:p>
        </p:txBody>
      </p:sp>
      <p:sp>
        <p:nvSpPr>
          <p:cNvPr id="9" name="Rectangle 8"/>
          <p:cNvSpPr/>
          <p:nvPr/>
        </p:nvSpPr>
        <p:spPr>
          <a:xfrm>
            <a:off x="6361611" y="5357613"/>
            <a:ext cx="4990011" cy="535578"/>
          </a:xfrm>
          <a:prstGeom prst="rect">
            <a:avLst/>
          </a:prstGeom>
          <a:effectLst>
            <a:innerShdw blurRad="63500" dist="50800" dir="54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IN" sz="2400" b="1" dirty="0"/>
              <a:t>Security software disabler Trojans</a:t>
            </a:r>
            <a:endParaRPr lang="en-IN" sz="2400" dirty="0"/>
          </a:p>
        </p:txBody>
      </p:sp>
      <p:sp>
        <p:nvSpPr>
          <p:cNvPr id="10" name="Rectangle 9"/>
          <p:cNvSpPr/>
          <p:nvPr/>
        </p:nvSpPr>
        <p:spPr>
          <a:xfrm>
            <a:off x="4767893" y="6104647"/>
            <a:ext cx="5238255" cy="535578"/>
          </a:xfrm>
          <a:prstGeom prst="rect">
            <a:avLst/>
          </a:prstGeom>
          <a:effectLst>
            <a:innerShdw blurRad="63500" dist="50800" dir="81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IN" sz="2400" b="1" dirty="0"/>
              <a:t>Denial-of-service attack (</a:t>
            </a:r>
            <a:r>
              <a:rPr lang="en-IN" sz="2400" b="1" dirty="0" err="1"/>
              <a:t>DoS</a:t>
            </a:r>
            <a:r>
              <a:rPr lang="en-IN" sz="2400" b="1" dirty="0"/>
              <a:t>) Trojans</a:t>
            </a:r>
            <a:endParaRPr lang="en-IN" sz="2400" dirty="0"/>
          </a:p>
        </p:txBody>
      </p:sp>
      <p:sp>
        <p:nvSpPr>
          <p:cNvPr id="11" name="Rectangle 10"/>
          <p:cNvSpPr/>
          <p:nvPr/>
        </p:nvSpPr>
        <p:spPr>
          <a:xfrm>
            <a:off x="9413965" y="3925981"/>
            <a:ext cx="2029098" cy="535578"/>
          </a:xfrm>
          <a:prstGeom prst="rect">
            <a:avLst/>
          </a:prstGeom>
          <a:effectLst>
            <a:innerShdw blurRad="63500" dist="50800" dir="81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IN" sz="2400" b="1" dirty="0"/>
              <a:t>Proxy Trojans</a:t>
            </a:r>
            <a:endParaRPr lang="en-IN" sz="2400" dirty="0"/>
          </a:p>
        </p:txBody>
      </p:sp>
      <p:sp>
        <p:nvSpPr>
          <p:cNvPr id="12" name="Rectangle 11"/>
          <p:cNvSpPr/>
          <p:nvPr/>
        </p:nvSpPr>
        <p:spPr>
          <a:xfrm>
            <a:off x="7565569" y="3056638"/>
            <a:ext cx="2741025" cy="535578"/>
          </a:xfrm>
          <a:prstGeom prst="rect">
            <a:avLst/>
          </a:prstGeom>
          <a:effectLst>
            <a:innerShdw blurRad="63500" dist="50800" dir="81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IN" sz="2400" b="1" dirty="0"/>
              <a:t>Destructive Trojans</a:t>
            </a:r>
            <a:endParaRPr lang="en-IN" sz="2400" dirty="0"/>
          </a:p>
        </p:txBody>
      </p:sp>
      <p:cxnSp>
        <p:nvCxnSpPr>
          <p:cNvPr id="4" name="Straight Arrow Connector 3"/>
          <p:cNvCxnSpPr>
            <a:stCxn id="6" idx="3"/>
            <a:endCxn id="5" idx="1"/>
          </p:cNvCxnSpPr>
          <p:nvPr/>
        </p:nvCxnSpPr>
        <p:spPr>
          <a:xfrm flipV="1">
            <a:off x="2360022" y="1900664"/>
            <a:ext cx="2582090" cy="2293106"/>
          </a:xfrm>
          <a:prstGeom prst="straightConnector1">
            <a:avLst/>
          </a:prstGeom>
          <a:ln>
            <a:headEnd type="none" w="med" len="med"/>
            <a:tailEnd type="arrow" w="med" len="med"/>
          </a:ln>
        </p:spPr>
        <p:style>
          <a:lnRef idx="3">
            <a:schemeClr val="accent5"/>
          </a:lnRef>
          <a:fillRef idx="0">
            <a:schemeClr val="accent5"/>
          </a:fillRef>
          <a:effectRef idx="2">
            <a:schemeClr val="accent5"/>
          </a:effectRef>
          <a:fontRef idx="minor">
            <a:schemeClr val="tx1"/>
          </a:fontRef>
        </p:style>
      </p:cxnSp>
      <p:cxnSp>
        <p:nvCxnSpPr>
          <p:cNvPr id="14" name="Straight Arrow Connector 13"/>
          <p:cNvCxnSpPr>
            <a:stCxn id="6" idx="3"/>
            <a:endCxn id="7" idx="1"/>
          </p:cNvCxnSpPr>
          <p:nvPr/>
        </p:nvCxnSpPr>
        <p:spPr>
          <a:xfrm flipV="1">
            <a:off x="2360022" y="2603124"/>
            <a:ext cx="4001589" cy="1590646"/>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7" name="Straight Arrow Connector 16"/>
          <p:cNvCxnSpPr>
            <a:stCxn id="6" idx="3"/>
            <a:endCxn id="12" idx="1"/>
          </p:cNvCxnSpPr>
          <p:nvPr/>
        </p:nvCxnSpPr>
        <p:spPr>
          <a:xfrm flipV="1">
            <a:off x="2360022" y="3324427"/>
            <a:ext cx="5205547" cy="86934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9" name="Straight Arrow Connector 18"/>
          <p:cNvCxnSpPr>
            <a:stCxn id="6" idx="3"/>
            <a:endCxn id="11" idx="1"/>
          </p:cNvCxnSpPr>
          <p:nvPr/>
        </p:nvCxnSpPr>
        <p:spPr>
          <a:xfrm>
            <a:off x="2360022" y="4193770"/>
            <a:ext cx="7053943" cy="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1" name="Straight Arrow Connector 20"/>
          <p:cNvCxnSpPr>
            <a:stCxn id="6" idx="3"/>
            <a:endCxn id="8" idx="1"/>
          </p:cNvCxnSpPr>
          <p:nvPr/>
        </p:nvCxnSpPr>
        <p:spPr>
          <a:xfrm>
            <a:off x="2360022" y="4193770"/>
            <a:ext cx="5455875" cy="74703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3" name="Straight Arrow Connector 22"/>
          <p:cNvCxnSpPr>
            <a:stCxn id="6" idx="3"/>
            <a:endCxn id="9" idx="1"/>
          </p:cNvCxnSpPr>
          <p:nvPr/>
        </p:nvCxnSpPr>
        <p:spPr>
          <a:xfrm>
            <a:off x="2360022" y="4193770"/>
            <a:ext cx="4001589" cy="1431632"/>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5" name="Straight Arrow Connector 24"/>
          <p:cNvCxnSpPr>
            <a:stCxn id="6" idx="3"/>
            <a:endCxn id="10" idx="1"/>
          </p:cNvCxnSpPr>
          <p:nvPr/>
        </p:nvCxnSpPr>
        <p:spPr>
          <a:xfrm>
            <a:off x="2360022" y="4193770"/>
            <a:ext cx="2407871" cy="2178666"/>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766081935"/>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iterate type="lt">
                                    <p:tmPct val="10000"/>
                                  </p:iterate>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2000"/>
                                        <p:tgtEl>
                                          <p:spTgt spid="6">
                                            <p:txEl>
                                              <p:pRg st="0" end="0"/>
                                            </p:txEl>
                                          </p:spTgt>
                                        </p:tgtEl>
                                      </p:cBhvr>
                                    </p:animEffect>
                                  </p:childTnLst>
                                </p:cTn>
                              </p:par>
                            </p:childTnLst>
                          </p:cTn>
                        </p:par>
                        <p:par>
                          <p:cTn id="11" fill="hold">
                            <p:stCondLst>
                              <p:cond delay="3000"/>
                            </p:stCondLst>
                            <p:childTnLst>
                              <p:par>
                                <p:cTn id="12" presetID="22" presetClass="entr" presetSubtype="4"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1000"/>
                                        <p:tgtEl>
                                          <p:spTgt spid="4"/>
                                        </p:tgtEl>
                                      </p:cBhvr>
                                    </p:animEffect>
                                  </p:childTnLst>
                                </p:cTn>
                              </p:par>
                            </p:childTnLst>
                          </p:cTn>
                        </p:par>
                        <p:par>
                          <p:cTn id="15" fill="hold">
                            <p:stCondLst>
                              <p:cond delay="4000"/>
                            </p:stCondLst>
                            <p:childTnLst>
                              <p:par>
                                <p:cTn id="16" presetID="10" presetClass="entr" presetSubtype="0" fill="hold" grpId="0" nodeType="afterEffect">
                                  <p:stCondLst>
                                    <p:cond delay="0"/>
                                  </p:stCondLst>
                                  <p:iterate type="lt">
                                    <p:tmPct val="10000"/>
                                  </p:iterate>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childTnLst>
                          </p:cTn>
                        </p:par>
                        <p:par>
                          <p:cTn id="19" fill="hold">
                            <p:stCondLst>
                              <p:cond delay="6800"/>
                            </p:stCondLst>
                            <p:childTnLst>
                              <p:par>
                                <p:cTn id="20" presetID="22" presetClass="entr" presetSubtype="4"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1000"/>
                                        <p:tgtEl>
                                          <p:spTgt spid="14"/>
                                        </p:tgtEl>
                                      </p:cBhvr>
                                    </p:animEffect>
                                  </p:childTnLst>
                                </p:cTn>
                              </p:par>
                            </p:childTnLst>
                          </p:cTn>
                        </p:par>
                        <p:par>
                          <p:cTn id="23" fill="hold">
                            <p:stCondLst>
                              <p:cond delay="7800"/>
                            </p:stCondLst>
                            <p:childTnLst>
                              <p:par>
                                <p:cTn id="24" presetID="10" presetClass="entr" presetSubtype="0" fill="hold" grpId="0" nodeType="afterEffect">
                                  <p:stCondLst>
                                    <p:cond delay="0"/>
                                  </p:stCondLst>
                                  <p:iterate type="lt">
                                    <p:tmPct val="10000"/>
                                  </p:iterate>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childTnLst>
                                </p:cTn>
                              </p:par>
                            </p:childTnLst>
                          </p:cTn>
                        </p:par>
                        <p:par>
                          <p:cTn id="27" fill="hold">
                            <p:stCondLst>
                              <p:cond delay="10500"/>
                            </p:stCondLst>
                            <p:childTnLst>
                              <p:par>
                                <p:cTn id="28" presetID="22" presetClass="entr" presetSubtype="4" fill="hold" nodeType="after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down)">
                                      <p:cBhvr>
                                        <p:cTn id="30" dur="1000"/>
                                        <p:tgtEl>
                                          <p:spTgt spid="17"/>
                                        </p:tgtEl>
                                      </p:cBhvr>
                                    </p:animEffect>
                                  </p:childTnLst>
                                </p:cTn>
                              </p:par>
                            </p:childTnLst>
                          </p:cTn>
                        </p:par>
                        <p:par>
                          <p:cTn id="31" fill="hold">
                            <p:stCondLst>
                              <p:cond delay="11500"/>
                            </p:stCondLst>
                            <p:childTnLst>
                              <p:par>
                                <p:cTn id="32" presetID="10" presetClass="entr" presetSubtype="0" fill="hold" grpId="0" nodeType="afterEffect">
                                  <p:stCondLst>
                                    <p:cond delay="0"/>
                                  </p:stCondLst>
                                  <p:iterate type="lt">
                                    <p:tmPct val="10000"/>
                                  </p:iterate>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childTnLst>
                                </p:cTn>
                              </p:par>
                            </p:childTnLst>
                          </p:cTn>
                        </p:par>
                        <p:par>
                          <p:cTn id="35" fill="hold">
                            <p:stCondLst>
                              <p:cond delay="14200"/>
                            </p:stCondLst>
                            <p:childTnLst>
                              <p:par>
                                <p:cTn id="36" presetID="22" presetClass="entr" presetSubtype="8" fill="hold" nodeType="after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left)">
                                      <p:cBhvr>
                                        <p:cTn id="38" dur="1000"/>
                                        <p:tgtEl>
                                          <p:spTgt spid="19"/>
                                        </p:tgtEl>
                                      </p:cBhvr>
                                    </p:animEffect>
                                  </p:childTnLst>
                                </p:cTn>
                              </p:par>
                            </p:childTnLst>
                          </p:cTn>
                        </p:par>
                        <p:par>
                          <p:cTn id="39" fill="hold">
                            <p:stCondLst>
                              <p:cond delay="15200"/>
                            </p:stCondLst>
                            <p:childTnLst>
                              <p:par>
                                <p:cTn id="40" presetID="10" presetClass="entr" presetSubtype="0" fill="hold" grpId="0" nodeType="afterEffect">
                                  <p:stCondLst>
                                    <p:cond delay="0"/>
                                  </p:stCondLst>
                                  <p:iterate type="lt">
                                    <p:tmPct val="10000"/>
                                  </p:iterate>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childTnLst>
                                </p:cTn>
                              </p:par>
                            </p:childTnLst>
                          </p:cTn>
                        </p:par>
                        <p:par>
                          <p:cTn id="43" fill="hold">
                            <p:stCondLst>
                              <p:cond delay="17300"/>
                            </p:stCondLst>
                            <p:childTnLst>
                              <p:par>
                                <p:cTn id="44" presetID="22" presetClass="entr" presetSubtype="8" fill="hold"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wipe(left)">
                                      <p:cBhvr>
                                        <p:cTn id="46" dur="1000"/>
                                        <p:tgtEl>
                                          <p:spTgt spid="21"/>
                                        </p:tgtEl>
                                      </p:cBhvr>
                                    </p:animEffect>
                                  </p:childTnLst>
                                </p:cTn>
                              </p:par>
                            </p:childTnLst>
                          </p:cTn>
                        </p:par>
                        <p:par>
                          <p:cTn id="47" fill="hold">
                            <p:stCondLst>
                              <p:cond delay="18300"/>
                            </p:stCondLst>
                            <p:childTnLst>
                              <p:par>
                                <p:cTn id="48" presetID="10" presetClass="entr" presetSubtype="0" fill="hold" grpId="0" nodeType="afterEffect">
                                  <p:stCondLst>
                                    <p:cond delay="0"/>
                                  </p:stCondLst>
                                  <p:iterate type="lt">
                                    <p:tmPct val="10000"/>
                                  </p:iterate>
                                  <p:childTnLst>
                                    <p:set>
                                      <p:cBhvr>
                                        <p:cTn id="49" dur="1" fill="hold">
                                          <p:stCondLst>
                                            <p:cond delay="0"/>
                                          </p:stCondLst>
                                        </p:cTn>
                                        <p:tgtEl>
                                          <p:spTgt spid="8"/>
                                        </p:tgtEl>
                                        <p:attrNameLst>
                                          <p:attrName>style.visibility</p:attrName>
                                        </p:attrNameLst>
                                      </p:cBhvr>
                                      <p:to>
                                        <p:strVal val="visible"/>
                                      </p:to>
                                    </p:set>
                                    <p:animEffect transition="in" filter="fade">
                                      <p:cBhvr>
                                        <p:cTn id="50" dur="1000"/>
                                        <p:tgtEl>
                                          <p:spTgt spid="8"/>
                                        </p:tgtEl>
                                      </p:cBhvr>
                                    </p:animEffect>
                                  </p:childTnLst>
                                </p:cTn>
                              </p:par>
                            </p:childTnLst>
                          </p:cTn>
                        </p:par>
                        <p:par>
                          <p:cTn id="51" fill="hold">
                            <p:stCondLst>
                              <p:cond delay="20200"/>
                            </p:stCondLst>
                            <p:childTnLst>
                              <p:par>
                                <p:cTn id="52" presetID="22" presetClass="entr" presetSubtype="8" fill="hold" nodeType="after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wipe(left)">
                                      <p:cBhvr>
                                        <p:cTn id="54" dur="1000"/>
                                        <p:tgtEl>
                                          <p:spTgt spid="23"/>
                                        </p:tgtEl>
                                      </p:cBhvr>
                                    </p:animEffect>
                                  </p:childTnLst>
                                </p:cTn>
                              </p:par>
                            </p:childTnLst>
                          </p:cTn>
                        </p:par>
                        <p:par>
                          <p:cTn id="55" fill="hold">
                            <p:stCondLst>
                              <p:cond delay="21200"/>
                            </p:stCondLst>
                            <p:childTnLst>
                              <p:par>
                                <p:cTn id="56" presetID="10" presetClass="entr" presetSubtype="0" fill="hold" grpId="0" nodeType="afterEffect">
                                  <p:stCondLst>
                                    <p:cond delay="0"/>
                                  </p:stCondLst>
                                  <p:iterate type="lt">
                                    <p:tmPct val="10000"/>
                                  </p:iterate>
                                  <p:childTnLst>
                                    <p:set>
                                      <p:cBhvr>
                                        <p:cTn id="57" dur="1" fill="hold">
                                          <p:stCondLst>
                                            <p:cond delay="0"/>
                                          </p:stCondLst>
                                        </p:cTn>
                                        <p:tgtEl>
                                          <p:spTgt spid="9"/>
                                        </p:tgtEl>
                                        <p:attrNameLst>
                                          <p:attrName>style.visibility</p:attrName>
                                        </p:attrNameLst>
                                      </p:cBhvr>
                                      <p:to>
                                        <p:strVal val="visible"/>
                                      </p:to>
                                    </p:set>
                                    <p:animEffect transition="in" filter="fade">
                                      <p:cBhvr>
                                        <p:cTn id="58" dur="1000"/>
                                        <p:tgtEl>
                                          <p:spTgt spid="9"/>
                                        </p:tgtEl>
                                      </p:cBhvr>
                                    </p:animEffect>
                                  </p:childTnLst>
                                </p:cTn>
                              </p:par>
                            </p:childTnLst>
                          </p:cTn>
                        </p:par>
                        <p:par>
                          <p:cTn id="59" fill="hold">
                            <p:stCondLst>
                              <p:cond delay="25200"/>
                            </p:stCondLst>
                            <p:childTnLst>
                              <p:par>
                                <p:cTn id="60" presetID="22" presetClass="entr" presetSubtype="8" fill="hold" nodeType="after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2" dur="1000"/>
                                        <p:tgtEl>
                                          <p:spTgt spid="25"/>
                                        </p:tgtEl>
                                      </p:cBhvr>
                                    </p:animEffect>
                                  </p:childTnLst>
                                </p:cTn>
                              </p:par>
                            </p:childTnLst>
                          </p:cTn>
                        </p:par>
                        <p:par>
                          <p:cTn id="63" fill="hold">
                            <p:stCondLst>
                              <p:cond delay="26200"/>
                            </p:stCondLst>
                            <p:childTnLst>
                              <p:par>
                                <p:cTn id="64" presetID="10" presetClass="entr" presetSubtype="0" fill="hold" grpId="0" nodeType="afterEffect">
                                  <p:stCondLst>
                                    <p:cond delay="0"/>
                                  </p:stCondLst>
                                  <p:iterate type="lt">
                                    <p:tmPct val="10000"/>
                                  </p:iterate>
                                  <p:childTnLst>
                                    <p:set>
                                      <p:cBhvr>
                                        <p:cTn id="65" dur="1" fill="hold">
                                          <p:stCondLst>
                                            <p:cond delay="0"/>
                                          </p:stCondLst>
                                        </p:cTn>
                                        <p:tgtEl>
                                          <p:spTgt spid="10"/>
                                        </p:tgtEl>
                                        <p:attrNameLst>
                                          <p:attrName>style.visibility</p:attrName>
                                        </p:attrNameLst>
                                      </p:cBhvr>
                                      <p:to>
                                        <p:strVal val="visible"/>
                                      </p:to>
                                    </p:set>
                                    <p:animEffect transition="in" filter="fade">
                                      <p:cBhvr>
                                        <p:cTn id="6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273170721"/>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047752" y="368158"/>
            <a:ext cx="3449983" cy="707886"/>
          </a:xfrm>
          <a:prstGeom prst="rect">
            <a:avLst/>
          </a:prstGeom>
        </p:spPr>
        <p:txBody>
          <a:bodyPr wrap="none">
            <a:spAutoFit/>
          </a:bodyPr>
          <a:lstStyle/>
          <a:p>
            <a:r>
              <a:rPr lang="en-US" sz="4000" b="1" dirty="0" smtClean="0">
                <a:ln/>
                <a:solidFill>
                  <a:schemeClr val="accent6"/>
                </a:solidFill>
                <a:effectLst>
                  <a:outerShdw blurRad="60007" dist="310007" dir="7680000" sy="30000" kx="1300200" algn="ctr" rotWithShape="0">
                    <a:prstClr val="black">
                      <a:alpha val="32000"/>
                    </a:prstClr>
                  </a:outerShdw>
                  <a:reflection blurRad="6350" stA="50000" endA="300" endPos="50000" dist="29997" dir="5400000" sy="-100000" algn="bl" rotWithShape="0"/>
                </a:effectLst>
              </a:rPr>
              <a:t>RANSOMWARE</a:t>
            </a:r>
            <a:endParaRPr lang="en-IN" sz="4000"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237977"/>
            <a:ext cx="5329646" cy="3164205"/>
          </a:xfrm>
          <a:prstGeom prst="rect">
            <a:avLst/>
          </a:prstGeom>
          <a:effectLst>
            <a:softEdge rad="127000"/>
          </a:effectLst>
        </p:spPr>
      </p:pic>
      <p:sp>
        <p:nvSpPr>
          <p:cNvPr id="6" name="Rectangle 5"/>
          <p:cNvSpPr/>
          <p:nvPr/>
        </p:nvSpPr>
        <p:spPr>
          <a:xfrm>
            <a:off x="5629051" y="2560642"/>
            <a:ext cx="5983829" cy="830997"/>
          </a:xfrm>
          <a:prstGeom prst="rect">
            <a:avLst/>
          </a:prstGeom>
        </p:spPr>
        <p:txBody>
          <a:bodyPr wrap="square">
            <a:spAutoFit/>
          </a:bodyPr>
          <a:lstStyle/>
          <a:p>
            <a:pPr marL="285750" indent="-285750">
              <a:buFont typeface="Wingdings" panose="05000000000000000000" pitchFamily="2" charset="2"/>
              <a:buChar char="Ø"/>
            </a:pPr>
            <a:r>
              <a:rPr lang="en-IN" sz="2400" dirty="0" smtClean="0">
                <a:solidFill>
                  <a:srgbClr val="FF0000"/>
                </a:solidFill>
                <a:effectLst>
                  <a:outerShdw blurRad="38100" dist="38100" dir="2700000" algn="tl">
                    <a:srgbClr val="000000">
                      <a:alpha val="43137"/>
                    </a:srgbClr>
                  </a:outerShdw>
                </a:effectLst>
              </a:rPr>
              <a:t>RANSOMWARE</a:t>
            </a:r>
            <a:r>
              <a:rPr lang="en-IN" sz="2400" dirty="0" smtClean="0">
                <a:effectLst>
                  <a:outerShdw blurRad="38100" dist="38100" dir="2700000" algn="tl">
                    <a:srgbClr val="000000">
                      <a:alpha val="43137"/>
                    </a:srgbClr>
                  </a:outerShdw>
                </a:effectLst>
              </a:rPr>
              <a:t> is a type of malware which is widely classified as a Trojan. </a:t>
            </a:r>
            <a:endParaRPr lang="en-IN" sz="2400" dirty="0">
              <a:effectLst>
                <a:outerShdw blurRad="38100" dist="38100" dir="2700000" algn="tl">
                  <a:srgbClr val="000000">
                    <a:alpha val="43137"/>
                  </a:srgbClr>
                </a:outerShdw>
              </a:effectLst>
            </a:endParaRPr>
          </a:p>
        </p:txBody>
      </p:sp>
      <p:sp>
        <p:nvSpPr>
          <p:cNvPr id="7" name="Rectangle 6"/>
          <p:cNvSpPr/>
          <p:nvPr/>
        </p:nvSpPr>
        <p:spPr>
          <a:xfrm>
            <a:off x="5404231" y="3394061"/>
            <a:ext cx="6787769" cy="830997"/>
          </a:xfrm>
          <a:prstGeom prst="rect">
            <a:avLst/>
          </a:prstGeom>
        </p:spPr>
        <p:txBody>
          <a:bodyPr wrap="square">
            <a:spAutoFit/>
          </a:bodyPr>
          <a:lstStyle/>
          <a:p>
            <a:pPr marL="285750" indent="-285750">
              <a:buFont typeface="Wingdings" panose="05000000000000000000" pitchFamily="2" charset="2"/>
              <a:buChar char="Ø"/>
            </a:pPr>
            <a:r>
              <a:rPr lang="en-IN" sz="2400" dirty="0" smtClean="0">
                <a:effectLst>
                  <a:outerShdw blurRad="38100" dist="38100" dir="2700000" algn="tl">
                    <a:srgbClr val="000000">
                      <a:alpha val="43137"/>
                    </a:srgbClr>
                  </a:outerShdw>
                </a:effectLst>
              </a:rPr>
              <a:t>It  restricts access to or damages the computer for the purpose of  extorting money from the victim.</a:t>
            </a:r>
            <a:endParaRPr lang="en-IN" sz="2400" dirty="0"/>
          </a:p>
        </p:txBody>
      </p:sp>
      <p:sp>
        <p:nvSpPr>
          <p:cNvPr id="9" name="Rectangle 8"/>
          <p:cNvSpPr/>
          <p:nvPr/>
        </p:nvSpPr>
        <p:spPr>
          <a:xfrm>
            <a:off x="1388792" y="4519175"/>
            <a:ext cx="8781777" cy="2000548"/>
          </a:xfrm>
          <a:prstGeom prst="rect">
            <a:avLst/>
          </a:prstGeom>
        </p:spPr>
        <p:txBody>
          <a:bodyPr wrap="square">
            <a:spAutoFit/>
          </a:bodyPr>
          <a:lstStyle/>
          <a:p>
            <a:pPr marL="342900" indent="-342900">
              <a:buFont typeface="Wingdings" panose="05000000000000000000" pitchFamily="2" charset="2"/>
              <a:buChar char="Ø"/>
            </a:pPr>
            <a:r>
              <a:rPr lang="en-IN" sz="2800" dirty="0">
                <a:solidFill>
                  <a:srgbClr val="FF0000"/>
                </a:solidFill>
                <a:effectLst>
                  <a:outerShdw blurRad="38100" dist="38100" dir="2700000" algn="tl">
                    <a:srgbClr val="000000">
                      <a:alpha val="43137"/>
                    </a:srgbClr>
                  </a:outerShdw>
                </a:effectLst>
              </a:rPr>
              <a:t>I</a:t>
            </a:r>
            <a:r>
              <a:rPr lang="en-IN" sz="2400" dirty="0" smtClean="0">
                <a:effectLst>
                  <a:outerShdw blurRad="38100" dist="38100" dir="2700000" algn="tl">
                    <a:srgbClr val="000000">
                      <a:alpha val="43137"/>
                    </a:srgbClr>
                  </a:outerShdw>
                </a:effectLst>
              </a:rPr>
              <a:t>t also has the capability to </a:t>
            </a:r>
            <a:r>
              <a:rPr lang="en-IN" sz="2400" dirty="0" smtClean="0">
                <a:solidFill>
                  <a:srgbClr val="00B0F0"/>
                </a:solidFill>
                <a:effectLst>
                  <a:outerShdw blurRad="38100" dist="38100" dir="2700000" algn="tl">
                    <a:srgbClr val="000000">
                      <a:alpha val="43137"/>
                    </a:srgbClr>
                  </a:outerShdw>
                </a:effectLst>
              </a:rPr>
              <a:t>encrypt a user’s files </a:t>
            </a:r>
            <a:r>
              <a:rPr lang="en-IN" sz="2400" dirty="0" smtClean="0">
                <a:effectLst>
                  <a:outerShdw blurRad="38100" dist="38100" dir="2700000" algn="tl">
                    <a:srgbClr val="000000">
                      <a:alpha val="43137"/>
                    </a:srgbClr>
                  </a:outerShdw>
                </a:effectLst>
              </a:rPr>
              <a:t>, display different </a:t>
            </a:r>
            <a:r>
              <a:rPr lang="en-IN" sz="2400" dirty="0" smtClean="0">
                <a:solidFill>
                  <a:srgbClr val="FF0000"/>
                </a:solidFill>
                <a:effectLst>
                  <a:outerShdw blurRad="38100" dist="38100" dir="2700000" algn="tl">
                    <a:srgbClr val="000000">
                      <a:alpha val="43137"/>
                    </a:srgbClr>
                  </a:outerShdw>
                </a:effectLst>
              </a:rPr>
              <a:t>threat messages </a:t>
            </a:r>
            <a:r>
              <a:rPr lang="en-IN" sz="2400" dirty="0" smtClean="0">
                <a:effectLst>
                  <a:outerShdw blurRad="38100" dist="38100" dir="2700000" algn="tl">
                    <a:srgbClr val="000000">
                      <a:alpha val="43137"/>
                    </a:srgbClr>
                  </a:outerShdw>
                </a:effectLst>
              </a:rPr>
              <a:t>, and </a:t>
            </a:r>
            <a:r>
              <a:rPr lang="en-IN" sz="2400" dirty="0" smtClean="0">
                <a:solidFill>
                  <a:srgbClr val="00B050"/>
                </a:solidFill>
                <a:effectLst>
                  <a:outerShdw blurRad="38100" dist="38100" dir="2700000" algn="tl">
                    <a:srgbClr val="000000">
                      <a:alpha val="43137"/>
                    </a:srgbClr>
                  </a:outerShdw>
                </a:effectLst>
              </a:rPr>
              <a:t>force the user to pay </a:t>
            </a:r>
            <a:r>
              <a:rPr lang="en-IN" sz="2400" dirty="0" smtClean="0">
                <a:effectLst>
                  <a:outerShdw blurRad="38100" dist="38100" dir="2700000" algn="tl">
                    <a:srgbClr val="000000">
                      <a:alpha val="43137"/>
                    </a:srgbClr>
                  </a:outerShdw>
                </a:effectLst>
              </a:rPr>
              <a:t>ransom via an online payment system.</a:t>
            </a:r>
          </a:p>
          <a:p>
            <a:endParaRPr lang="en-IN" sz="2400" dirty="0">
              <a:effectLst>
                <a:outerShdw blurRad="38100" dist="38100" dir="2700000" algn="tl">
                  <a:srgbClr val="000000">
                    <a:alpha val="43137"/>
                  </a:srgbClr>
                </a:outerShdw>
              </a:effectLst>
            </a:endParaRPr>
          </a:p>
          <a:p>
            <a:pPr marL="1257300" lvl="2" indent="-342900">
              <a:buFont typeface="Wingdings" panose="05000000000000000000" pitchFamily="2" charset="2"/>
              <a:buChar char="Ø"/>
            </a:pPr>
            <a:r>
              <a:rPr lang="en-IN" sz="2400" dirty="0" smtClean="0">
                <a:solidFill>
                  <a:srgbClr val="FF0000"/>
                </a:solidFill>
              </a:rPr>
              <a:t>O</a:t>
            </a:r>
            <a:r>
              <a:rPr lang="en-IN" sz="2400" dirty="0" smtClean="0"/>
              <a:t>riginated in </a:t>
            </a:r>
            <a:r>
              <a:rPr lang="en-IN" sz="2400" u="sng" dirty="0" smtClean="0"/>
              <a:t>Russia</a:t>
            </a:r>
            <a:r>
              <a:rPr lang="en-IN" sz="2400" dirty="0" smtClean="0"/>
              <a:t>,2005-06. Crypto-</a:t>
            </a:r>
            <a:r>
              <a:rPr lang="en-IN" sz="2400" dirty="0" smtClean="0">
                <a:solidFill>
                  <a:srgbClr val="FF0000"/>
                </a:solidFill>
              </a:rPr>
              <a:t>ransomware</a:t>
            </a:r>
            <a:r>
              <a:rPr lang="en-IN" sz="2400" dirty="0" smtClean="0"/>
              <a:t> in 2013.</a:t>
            </a:r>
            <a:endParaRPr lang="en-IN" sz="2400"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45571" y="119445"/>
            <a:ext cx="2468879" cy="2117020"/>
          </a:xfrm>
          <a:prstGeom prst="rect">
            <a:avLst/>
          </a:prstGeom>
          <a:effectLst>
            <a:softEdge rad="317500"/>
          </a:effectLst>
        </p:spPr>
      </p:pic>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65993" y="106366"/>
            <a:ext cx="406403" cy="406403"/>
          </a:xfrm>
          <a:prstGeom prst="rect">
            <a:avLst/>
          </a:prstGeom>
        </p:spPr>
      </p:pic>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66590" y="560351"/>
            <a:ext cx="406403" cy="406403"/>
          </a:xfrm>
          <a:prstGeom prst="rect">
            <a:avLst/>
          </a:prstGeom>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49321" y="769266"/>
            <a:ext cx="406403" cy="406403"/>
          </a:xfrm>
          <a:prstGeom prst="rect">
            <a:avLst/>
          </a:prstGeom>
        </p:spPr>
      </p:pic>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57770" y="1085313"/>
            <a:ext cx="406403" cy="406403"/>
          </a:xfrm>
          <a:prstGeom prst="rect">
            <a:avLst/>
          </a:prstGeom>
        </p:spPr>
      </p:pic>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812111" y="1292662"/>
            <a:ext cx="406403" cy="406403"/>
          </a:xfrm>
          <a:prstGeom prst="rect">
            <a:avLst/>
          </a:prstGeom>
        </p:spPr>
      </p:pic>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59640" y="1795147"/>
            <a:ext cx="406403" cy="406403"/>
          </a:xfrm>
          <a:prstGeom prst="rect">
            <a:avLst/>
          </a:prstGeom>
        </p:spPr>
      </p:pic>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63283" y="1600744"/>
            <a:ext cx="406403" cy="406403"/>
          </a:xfrm>
          <a:prstGeom prst="rect">
            <a:avLst/>
          </a:prstGeom>
        </p:spPr>
      </p:pic>
      <p:pic>
        <p:nvPicPr>
          <p:cNvPr id="18" name="Picture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66926" y="1726700"/>
            <a:ext cx="406403" cy="406403"/>
          </a:xfrm>
          <a:prstGeom prst="rect">
            <a:avLst/>
          </a:prstGeom>
        </p:spPr>
      </p:pic>
      <p:pic>
        <p:nvPicPr>
          <p:cNvPr id="19" name="Picture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70569" y="1920254"/>
            <a:ext cx="406403" cy="406403"/>
          </a:xfrm>
          <a:prstGeom prst="rect">
            <a:avLst/>
          </a:prstGeom>
        </p:spPr>
      </p:pic>
    </p:spTree>
    <p:extLst>
      <p:ext uri="{BB962C8B-B14F-4D97-AF65-F5344CB8AC3E}">
        <p14:creationId xmlns:p14="http://schemas.microsoft.com/office/powerpoint/2010/main" val="39154219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par>
                          <p:cTn id="8" fill="hold">
                            <p:stCondLst>
                              <p:cond delay="3800"/>
                            </p:stCondLst>
                            <p:childTnLst>
                              <p:par>
                                <p:cTn id="9" presetID="2" presetClass="entr" presetSubtype="3"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1+#ppt_w/2"/>
                                          </p:val>
                                        </p:tav>
                                        <p:tav tm="100000">
                                          <p:val>
                                            <p:strVal val="#ppt_x"/>
                                          </p:val>
                                        </p:tav>
                                      </p:tavLst>
                                    </p:anim>
                                    <p:anim calcmode="lin" valueType="num">
                                      <p:cBhvr additive="base">
                                        <p:cTn id="12" dur="1000" fill="hold"/>
                                        <p:tgtEl>
                                          <p:spTgt spid="5"/>
                                        </p:tgtEl>
                                        <p:attrNameLst>
                                          <p:attrName>ppt_y</p:attrName>
                                        </p:attrNameLst>
                                      </p:cBhvr>
                                      <p:tavLst>
                                        <p:tav tm="0">
                                          <p:val>
                                            <p:strVal val="0-#ppt_h/2"/>
                                          </p:val>
                                        </p:tav>
                                        <p:tav tm="100000">
                                          <p:val>
                                            <p:strVal val="#ppt_y"/>
                                          </p:val>
                                        </p:tav>
                                      </p:tavLst>
                                    </p:anim>
                                  </p:childTnLst>
                                </p:cTn>
                              </p:par>
                            </p:childTnLst>
                          </p:cTn>
                        </p:par>
                        <p:par>
                          <p:cTn id="13" fill="hold">
                            <p:stCondLst>
                              <p:cond delay="4800"/>
                            </p:stCondLst>
                            <p:childTnLst>
                              <p:par>
                                <p:cTn id="14" presetID="10" presetClass="entr" presetSubtype="0" fill="hold" nodeType="afterEffect">
                                  <p:stCondLst>
                                    <p:cond delay="0"/>
                                  </p:stCondLst>
                                  <p:iterate type="lt">
                                    <p:tmPct val="10000"/>
                                  </p:iterate>
                                  <p:childTnLst>
                                    <p:set>
                                      <p:cBhvr>
                                        <p:cTn id="15" dur="1" fill="hold">
                                          <p:stCondLst>
                                            <p:cond delay="0"/>
                                          </p:stCondLst>
                                        </p:cTn>
                                        <p:tgtEl>
                                          <p:spTgt spid="6">
                                            <p:txEl>
                                              <p:pRg st="0" end="0"/>
                                            </p:txEl>
                                          </p:spTgt>
                                        </p:tgtEl>
                                        <p:attrNameLst>
                                          <p:attrName>style.visibility</p:attrName>
                                        </p:attrNameLst>
                                      </p:cBhvr>
                                      <p:to>
                                        <p:strVal val="visible"/>
                                      </p:to>
                                    </p:set>
                                    <p:animEffect transition="in" filter="fade">
                                      <p:cBhvr>
                                        <p:cTn id="16" dur="1000"/>
                                        <p:tgtEl>
                                          <p:spTgt spid="6">
                                            <p:txEl>
                                              <p:pRg st="0" end="0"/>
                                            </p:txEl>
                                          </p:spTgt>
                                        </p:tgtEl>
                                      </p:cBhvr>
                                    </p:animEffect>
                                  </p:childTnLst>
                                </p:cTn>
                              </p:par>
                            </p:childTnLst>
                          </p:cTn>
                        </p:par>
                        <p:par>
                          <p:cTn id="17" fill="hold">
                            <p:stCondLst>
                              <p:cond delay="11600"/>
                            </p:stCondLst>
                            <p:childTnLst>
                              <p:par>
                                <p:cTn id="18" presetID="10" presetClass="entr" presetSubtype="0" fill="hold" nodeType="afterEffect">
                                  <p:stCondLst>
                                    <p:cond delay="0"/>
                                  </p:stCondLst>
                                  <p:iterate type="lt">
                                    <p:tmPct val="10000"/>
                                  </p:iterate>
                                  <p:childTnLst>
                                    <p:set>
                                      <p:cBhvr>
                                        <p:cTn id="19" dur="1" fill="hold">
                                          <p:stCondLst>
                                            <p:cond delay="0"/>
                                          </p:stCondLst>
                                        </p:cTn>
                                        <p:tgtEl>
                                          <p:spTgt spid="7">
                                            <p:txEl>
                                              <p:pRg st="0" end="0"/>
                                            </p:txEl>
                                          </p:spTgt>
                                        </p:tgtEl>
                                        <p:attrNameLst>
                                          <p:attrName>style.visibility</p:attrName>
                                        </p:attrNameLst>
                                      </p:cBhvr>
                                      <p:to>
                                        <p:strVal val="visible"/>
                                      </p:to>
                                    </p:set>
                                    <p:animEffect transition="in" filter="fade">
                                      <p:cBhvr>
                                        <p:cTn id="20" dur="1000"/>
                                        <p:tgtEl>
                                          <p:spTgt spid="7">
                                            <p:txEl>
                                              <p:pRg st="0" end="0"/>
                                            </p:txEl>
                                          </p:spTgt>
                                        </p:tgtEl>
                                      </p:cBhvr>
                                    </p:animEffect>
                                  </p:childTnLst>
                                </p:cTn>
                              </p:par>
                            </p:childTnLst>
                          </p:cTn>
                        </p:par>
                        <p:par>
                          <p:cTn id="21" fill="hold">
                            <p:stCondLst>
                              <p:cond delay="20700"/>
                            </p:stCondLst>
                            <p:childTnLst>
                              <p:par>
                                <p:cTn id="22" presetID="10" presetClass="entr" presetSubtype="0" fill="hold" nodeType="afterEffect">
                                  <p:stCondLst>
                                    <p:cond delay="0"/>
                                  </p:stCondLst>
                                  <p:iterate type="lt">
                                    <p:tmPct val="10000"/>
                                  </p:iterate>
                                  <p:childTnLst>
                                    <p:set>
                                      <p:cBhvr>
                                        <p:cTn id="23" dur="1" fill="hold">
                                          <p:stCondLst>
                                            <p:cond delay="0"/>
                                          </p:stCondLst>
                                        </p:cTn>
                                        <p:tgtEl>
                                          <p:spTgt spid="9">
                                            <p:txEl>
                                              <p:pRg st="0" end="0"/>
                                            </p:txEl>
                                          </p:spTgt>
                                        </p:tgtEl>
                                        <p:attrNameLst>
                                          <p:attrName>style.visibility</p:attrName>
                                        </p:attrNameLst>
                                      </p:cBhvr>
                                      <p:to>
                                        <p:strVal val="visible"/>
                                      </p:to>
                                    </p:set>
                                    <p:animEffect transition="in" filter="fade">
                                      <p:cBhvr>
                                        <p:cTn id="24" dur="1000"/>
                                        <p:tgtEl>
                                          <p:spTgt spid="9">
                                            <p:txEl>
                                              <p:pRg st="0" end="0"/>
                                            </p:txEl>
                                          </p:spTgt>
                                        </p:tgtEl>
                                      </p:cBhvr>
                                    </p:animEffect>
                                  </p:childTnLst>
                                </p:cTn>
                              </p:par>
                            </p:childTnLst>
                          </p:cTn>
                        </p:par>
                        <p:par>
                          <p:cTn id="25" fill="hold">
                            <p:stCondLst>
                              <p:cond delay="34200"/>
                            </p:stCondLst>
                            <p:childTnLst>
                              <p:par>
                                <p:cTn id="26" presetID="10" presetClass="entr" presetSubtype="0" fill="hold" nodeType="afterEffect">
                                  <p:stCondLst>
                                    <p:cond delay="0"/>
                                  </p:stCondLst>
                                  <p:iterate type="lt">
                                    <p:tmPct val="10000"/>
                                  </p:iterate>
                                  <p:childTnLst>
                                    <p:set>
                                      <p:cBhvr>
                                        <p:cTn id="27" dur="1" fill="hold">
                                          <p:stCondLst>
                                            <p:cond delay="0"/>
                                          </p:stCondLst>
                                        </p:cTn>
                                        <p:tgtEl>
                                          <p:spTgt spid="9">
                                            <p:txEl>
                                              <p:pRg st="2" end="2"/>
                                            </p:txEl>
                                          </p:spTgt>
                                        </p:tgtEl>
                                        <p:attrNameLst>
                                          <p:attrName>style.visibility</p:attrName>
                                        </p:attrNameLst>
                                      </p:cBhvr>
                                      <p:to>
                                        <p:strVal val="visible"/>
                                      </p:to>
                                    </p:set>
                                    <p:animEffect transition="in" filter="fade">
                                      <p:cBhvr>
                                        <p:cTn id="28" dur="1000"/>
                                        <p:tgtEl>
                                          <p:spTgt spid="9">
                                            <p:txEl>
                                              <p:pRg st="2" end="2"/>
                                            </p:txEl>
                                          </p:spTgt>
                                        </p:tgtEl>
                                      </p:cBhvr>
                                    </p:animEffect>
                                  </p:childTnLst>
                                </p:cTn>
                              </p:par>
                              <p:par>
                                <p:cTn id="29" presetID="2" presetClass="entr" presetSubtype="12"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2000" fill="hold"/>
                                        <p:tgtEl>
                                          <p:spTgt spid="10"/>
                                        </p:tgtEl>
                                        <p:attrNameLst>
                                          <p:attrName>ppt_x</p:attrName>
                                        </p:attrNameLst>
                                      </p:cBhvr>
                                      <p:tavLst>
                                        <p:tav tm="0">
                                          <p:val>
                                            <p:strVal val="0-#ppt_w/2"/>
                                          </p:val>
                                        </p:tav>
                                        <p:tav tm="100000">
                                          <p:val>
                                            <p:strVal val="#ppt_x"/>
                                          </p:val>
                                        </p:tav>
                                      </p:tavLst>
                                    </p:anim>
                                    <p:anim calcmode="lin" valueType="num">
                                      <p:cBhvr additive="base">
                                        <p:cTn id="32" dur="2000" fill="hold"/>
                                        <p:tgtEl>
                                          <p:spTgt spid="10"/>
                                        </p:tgtEl>
                                        <p:attrNameLst>
                                          <p:attrName>ppt_y</p:attrName>
                                        </p:attrNameLst>
                                      </p:cBhvr>
                                      <p:tavLst>
                                        <p:tav tm="0">
                                          <p:val>
                                            <p:strVal val="1+#ppt_h/2"/>
                                          </p:val>
                                        </p:tav>
                                        <p:tav tm="100000">
                                          <p:val>
                                            <p:strVal val="#ppt_y"/>
                                          </p:val>
                                        </p:tav>
                                      </p:tavLst>
                                    </p:anim>
                                  </p:childTnLst>
                                </p:cTn>
                              </p:par>
                            </p:childTnLst>
                          </p:cTn>
                        </p:par>
                        <p:par>
                          <p:cTn id="33" fill="hold">
                            <p:stCondLst>
                              <p:cond delay="40200"/>
                            </p:stCondLst>
                            <p:childTnLst>
                              <p:par>
                                <p:cTn id="34" presetID="42" presetClass="entr" presetSubtype="0" fill="hold"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anim calcmode="lin" valueType="num">
                                      <p:cBhvr>
                                        <p:cTn id="37" dur="500" fill="hold"/>
                                        <p:tgtEl>
                                          <p:spTgt spid="12"/>
                                        </p:tgtEl>
                                        <p:attrNameLst>
                                          <p:attrName>ppt_x</p:attrName>
                                        </p:attrNameLst>
                                      </p:cBhvr>
                                      <p:tavLst>
                                        <p:tav tm="0">
                                          <p:val>
                                            <p:strVal val="#ppt_x"/>
                                          </p:val>
                                        </p:tav>
                                        <p:tav tm="100000">
                                          <p:val>
                                            <p:strVal val="#ppt_x"/>
                                          </p:val>
                                        </p:tav>
                                      </p:tavLst>
                                    </p:anim>
                                    <p:anim calcmode="lin" valueType="num">
                                      <p:cBhvr>
                                        <p:cTn id="38" dur="500" fill="hold"/>
                                        <p:tgtEl>
                                          <p:spTgt spid="12"/>
                                        </p:tgtEl>
                                        <p:attrNameLst>
                                          <p:attrName>ppt_y</p:attrName>
                                        </p:attrNameLst>
                                      </p:cBhvr>
                                      <p:tavLst>
                                        <p:tav tm="0">
                                          <p:val>
                                            <p:strVal val="#ppt_y+.1"/>
                                          </p:val>
                                        </p:tav>
                                        <p:tav tm="100000">
                                          <p:val>
                                            <p:strVal val="#ppt_y"/>
                                          </p:val>
                                        </p:tav>
                                      </p:tavLst>
                                    </p:anim>
                                  </p:childTnLst>
                                </p:cTn>
                              </p:par>
                            </p:childTnLst>
                          </p:cTn>
                        </p:par>
                        <p:par>
                          <p:cTn id="39" fill="hold">
                            <p:stCondLst>
                              <p:cond delay="40700"/>
                            </p:stCondLst>
                            <p:childTnLst>
                              <p:par>
                                <p:cTn id="40" presetID="42" presetClass="entr" presetSubtype="0" fill="hold" nodeType="after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anim calcmode="lin" valueType="num">
                                      <p:cBhvr>
                                        <p:cTn id="43" dur="500" fill="hold"/>
                                        <p:tgtEl>
                                          <p:spTgt spid="13"/>
                                        </p:tgtEl>
                                        <p:attrNameLst>
                                          <p:attrName>ppt_x</p:attrName>
                                        </p:attrNameLst>
                                      </p:cBhvr>
                                      <p:tavLst>
                                        <p:tav tm="0">
                                          <p:val>
                                            <p:strVal val="#ppt_x"/>
                                          </p:val>
                                        </p:tav>
                                        <p:tav tm="100000">
                                          <p:val>
                                            <p:strVal val="#ppt_x"/>
                                          </p:val>
                                        </p:tav>
                                      </p:tavLst>
                                    </p:anim>
                                    <p:anim calcmode="lin" valueType="num">
                                      <p:cBhvr>
                                        <p:cTn id="44" dur="500" fill="hold"/>
                                        <p:tgtEl>
                                          <p:spTgt spid="13"/>
                                        </p:tgtEl>
                                        <p:attrNameLst>
                                          <p:attrName>ppt_y</p:attrName>
                                        </p:attrNameLst>
                                      </p:cBhvr>
                                      <p:tavLst>
                                        <p:tav tm="0">
                                          <p:val>
                                            <p:strVal val="#ppt_y+.1"/>
                                          </p:val>
                                        </p:tav>
                                        <p:tav tm="100000">
                                          <p:val>
                                            <p:strVal val="#ppt_y"/>
                                          </p:val>
                                        </p:tav>
                                      </p:tavLst>
                                    </p:anim>
                                  </p:childTnLst>
                                </p:cTn>
                              </p:par>
                            </p:childTnLst>
                          </p:cTn>
                        </p:par>
                        <p:par>
                          <p:cTn id="45" fill="hold">
                            <p:stCondLst>
                              <p:cond delay="41200"/>
                            </p:stCondLst>
                            <p:childTnLst>
                              <p:par>
                                <p:cTn id="46" presetID="42" presetClass="entr" presetSubtype="0" fill="hold" nodeType="after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anim calcmode="lin" valueType="num">
                                      <p:cBhvr>
                                        <p:cTn id="49" dur="500" fill="hold"/>
                                        <p:tgtEl>
                                          <p:spTgt spid="14"/>
                                        </p:tgtEl>
                                        <p:attrNameLst>
                                          <p:attrName>ppt_x</p:attrName>
                                        </p:attrNameLst>
                                      </p:cBhvr>
                                      <p:tavLst>
                                        <p:tav tm="0">
                                          <p:val>
                                            <p:strVal val="#ppt_x"/>
                                          </p:val>
                                        </p:tav>
                                        <p:tav tm="100000">
                                          <p:val>
                                            <p:strVal val="#ppt_x"/>
                                          </p:val>
                                        </p:tav>
                                      </p:tavLst>
                                    </p:anim>
                                    <p:anim calcmode="lin" valueType="num">
                                      <p:cBhvr>
                                        <p:cTn id="50" dur="500" fill="hold"/>
                                        <p:tgtEl>
                                          <p:spTgt spid="14"/>
                                        </p:tgtEl>
                                        <p:attrNameLst>
                                          <p:attrName>ppt_y</p:attrName>
                                        </p:attrNameLst>
                                      </p:cBhvr>
                                      <p:tavLst>
                                        <p:tav tm="0">
                                          <p:val>
                                            <p:strVal val="#ppt_y+.1"/>
                                          </p:val>
                                        </p:tav>
                                        <p:tav tm="100000">
                                          <p:val>
                                            <p:strVal val="#ppt_y"/>
                                          </p:val>
                                        </p:tav>
                                      </p:tavLst>
                                    </p:anim>
                                  </p:childTnLst>
                                </p:cTn>
                              </p:par>
                            </p:childTnLst>
                          </p:cTn>
                        </p:par>
                        <p:par>
                          <p:cTn id="51" fill="hold">
                            <p:stCondLst>
                              <p:cond delay="41700"/>
                            </p:stCondLst>
                            <p:childTnLst>
                              <p:par>
                                <p:cTn id="52" presetID="42" presetClass="entr" presetSubtype="0" fill="hold"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anim calcmode="lin" valueType="num">
                                      <p:cBhvr>
                                        <p:cTn id="55" dur="500" fill="hold"/>
                                        <p:tgtEl>
                                          <p:spTgt spid="15"/>
                                        </p:tgtEl>
                                        <p:attrNameLst>
                                          <p:attrName>ppt_x</p:attrName>
                                        </p:attrNameLst>
                                      </p:cBhvr>
                                      <p:tavLst>
                                        <p:tav tm="0">
                                          <p:val>
                                            <p:strVal val="#ppt_x"/>
                                          </p:val>
                                        </p:tav>
                                        <p:tav tm="100000">
                                          <p:val>
                                            <p:strVal val="#ppt_x"/>
                                          </p:val>
                                        </p:tav>
                                      </p:tavLst>
                                    </p:anim>
                                    <p:anim calcmode="lin" valueType="num">
                                      <p:cBhvr>
                                        <p:cTn id="56" dur="500" fill="hold"/>
                                        <p:tgtEl>
                                          <p:spTgt spid="15"/>
                                        </p:tgtEl>
                                        <p:attrNameLst>
                                          <p:attrName>ppt_y</p:attrName>
                                        </p:attrNameLst>
                                      </p:cBhvr>
                                      <p:tavLst>
                                        <p:tav tm="0">
                                          <p:val>
                                            <p:strVal val="#ppt_y+.1"/>
                                          </p:val>
                                        </p:tav>
                                        <p:tav tm="100000">
                                          <p:val>
                                            <p:strVal val="#ppt_y"/>
                                          </p:val>
                                        </p:tav>
                                      </p:tavLst>
                                    </p:anim>
                                  </p:childTnLst>
                                </p:cTn>
                              </p:par>
                            </p:childTnLst>
                          </p:cTn>
                        </p:par>
                        <p:par>
                          <p:cTn id="57" fill="hold">
                            <p:stCondLst>
                              <p:cond delay="42200"/>
                            </p:stCondLst>
                            <p:childTnLst>
                              <p:par>
                                <p:cTn id="58" presetID="42" presetClass="entr" presetSubtype="0" fill="hold" nodeType="after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p:tgtEl>
                                          <p:spTgt spid="16"/>
                                        </p:tgtEl>
                                      </p:cBhvr>
                                    </p:animEffect>
                                    <p:anim calcmode="lin" valueType="num">
                                      <p:cBhvr>
                                        <p:cTn id="61" dur="500" fill="hold"/>
                                        <p:tgtEl>
                                          <p:spTgt spid="16"/>
                                        </p:tgtEl>
                                        <p:attrNameLst>
                                          <p:attrName>ppt_x</p:attrName>
                                        </p:attrNameLst>
                                      </p:cBhvr>
                                      <p:tavLst>
                                        <p:tav tm="0">
                                          <p:val>
                                            <p:strVal val="#ppt_x"/>
                                          </p:val>
                                        </p:tav>
                                        <p:tav tm="100000">
                                          <p:val>
                                            <p:strVal val="#ppt_x"/>
                                          </p:val>
                                        </p:tav>
                                      </p:tavLst>
                                    </p:anim>
                                    <p:anim calcmode="lin" valueType="num">
                                      <p:cBhvr>
                                        <p:cTn id="62" dur="500" fill="hold"/>
                                        <p:tgtEl>
                                          <p:spTgt spid="16"/>
                                        </p:tgtEl>
                                        <p:attrNameLst>
                                          <p:attrName>ppt_y</p:attrName>
                                        </p:attrNameLst>
                                      </p:cBhvr>
                                      <p:tavLst>
                                        <p:tav tm="0">
                                          <p:val>
                                            <p:strVal val="#ppt_y+.1"/>
                                          </p:val>
                                        </p:tav>
                                        <p:tav tm="100000">
                                          <p:val>
                                            <p:strVal val="#ppt_y"/>
                                          </p:val>
                                        </p:tav>
                                      </p:tavLst>
                                    </p:anim>
                                  </p:childTnLst>
                                </p:cTn>
                              </p:par>
                            </p:childTnLst>
                          </p:cTn>
                        </p:par>
                        <p:par>
                          <p:cTn id="63" fill="hold">
                            <p:stCondLst>
                              <p:cond delay="42700"/>
                            </p:stCondLst>
                            <p:childTnLst>
                              <p:par>
                                <p:cTn id="64" presetID="42"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anim calcmode="lin" valueType="num">
                                      <p:cBhvr>
                                        <p:cTn id="67" dur="500" fill="hold"/>
                                        <p:tgtEl>
                                          <p:spTgt spid="17"/>
                                        </p:tgtEl>
                                        <p:attrNameLst>
                                          <p:attrName>ppt_x</p:attrName>
                                        </p:attrNameLst>
                                      </p:cBhvr>
                                      <p:tavLst>
                                        <p:tav tm="0">
                                          <p:val>
                                            <p:strVal val="#ppt_x"/>
                                          </p:val>
                                        </p:tav>
                                        <p:tav tm="100000">
                                          <p:val>
                                            <p:strVal val="#ppt_x"/>
                                          </p:val>
                                        </p:tav>
                                      </p:tavLst>
                                    </p:anim>
                                    <p:anim calcmode="lin" valueType="num">
                                      <p:cBhvr>
                                        <p:cTn id="68" dur="500" fill="hold"/>
                                        <p:tgtEl>
                                          <p:spTgt spid="17"/>
                                        </p:tgtEl>
                                        <p:attrNameLst>
                                          <p:attrName>ppt_y</p:attrName>
                                        </p:attrNameLst>
                                      </p:cBhvr>
                                      <p:tavLst>
                                        <p:tav tm="0">
                                          <p:val>
                                            <p:strVal val="#ppt_y+.1"/>
                                          </p:val>
                                        </p:tav>
                                        <p:tav tm="100000">
                                          <p:val>
                                            <p:strVal val="#ppt_y"/>
                                          </p:val>
                                        </p:tav>
                                      </p:tavLst>
                                    </p:anim>
                                  </p:childTnLst>
                                </p:cTn>
                              </p:par>
                            </p:childTnLst>
                          </p:cTn>
                        </p:par>
                        <p:par>
                          <p:cTn id="69" fill="hold">
                            <p:stCondLst>
                              <p:cond delay="43200"/>
                            </p:stCondLst>
                            <p:childTnLst>
                              <p:par>
                                <p:cTn id="70" presetID="42" presetClass="entr" presetSubtype="0" fill="hold" nodeType="after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anim calcmode="lin" valueType="num">
                                      <p:cBhvr>
                                        <p:cTn id="73" dur="500" fill="hold"/>
                                        <p:tgtEl>
                                          <p:spTgt spid="18"/>
                                        </p:tgtEl>
                                        <p:attrNameLst>
                                          <p:attrName>ppt_x</p:attrName>
                                        </p:attrNameLst>
                                      </p:cBhvr>
                                      <p:tavLst>
                                        <p:tav tm="0">
                                          <p:val>
                                            <p:strVal val="#ppt_x"/>
                                          </p:val>
                                        </p:tav>
                                        <p:tav tm="100000">
                                          <p:val>
                                            <p:strVal val="#ppt_x"/>
                                          </p:val>
                                        </p:tav>
                                      </p:tavLst>
                                    </p:anim>
                                    <p:anim calcmode="lin" valueType="num">
                                      <p:cBhvr>
                                        <p:cTn id="74" dur="500" fill="hold"/>
                                        <p:tgtEl>
                                          <p:spTgt spid="18"/>
                                        </p:tgtEl>
                                        <p:attrNameLst>
                                          <p:attrName>ppt_y</p:attrName>
                                        </p:attrNameLst>
                                      </p:cBhvr>
                                      <p:tavLst>
                                        <p:tav tm="0">
                                          <p:val>
                                            <p:strVal val="#ppt_y+.1"/>
                                          </p:val>
                                        </p:tav>
                                        <p:tav tm="100000">
                                          <p:val>
                                            <p:strVal val="#ppt_y"/>
                                          </p:val>
                                        </p:tav>
                                      </p:tavLst>
                                    </p:anim>
                                  </p:childTnLst>
                                </p:cTn>
                              </p:par>
                            </p:childTnLst>
                          </p:cTn>
                        </p:par>
                        <p:par>
                          <p:cTn id="75" fill="hold">
                            <p:stCondLst>
                              <p:cond delay="43700"/>
                            </p:stCondLst>
                            <p:childTnLst>
                              <p:par>
                                <p:cTn id="76" presetID="42" presetClass="entr" presetSubtype="0" fill="hold" nodeType="afterEffect">
                                  <p:stCondLst>
                                    <p:cond delay="0"/>
                                  </p:stCondLst>
                                  <p:childTnLst>
                                    <p:set>
                                      <p:cBhvr>
                                        <p:cTn id="77" dur="1" fill="hold">
                                          <p:stCondLst>
                                            <p:cond delay="0"/>
                                          </p:stCondLst>
                                        </p:cTn>
                                        <p:tgtEl>
                                          <p:spTgt spid="11"/>
                                        </p:tgtEl>
                                        <p:attrNameLst>
                                          <p:attrName>style.visibility</p:attrName>
                                        </p:attrNameLst>
                                      </p:cBhvr>
                                      <p:to>
                                        <p:strVal val="visible"/>
                                      </p:to>
                                    </p:set>
                                    <p:animEffect transition="in" filter="fade">
                                      <p:cBhvr>
                                        <p:cTn id="78" dur="500"/>
                                        <p:tgtEl>
                                          <p:spTgt spid="11"/>
                                        </p:tgtEl>
                                      </p:cBhvr>
                                    </p:animEffect>
                                    <p:anim calcmode="lin" valueType="num">
                                      <p:cBhvr>
                                        <p:cTn id="79" dur="500" fill="hold"/>
                                        <p:tgtEl>
                                          <p:spTgt spid="11"/>
                                        </p:tgtEl>
                                        <p:attrNameLst>
                                          <p:attrName>ppt_x</p:attrName>
                                        </p:attrNameLst>
                                      </p:cBhvr>
                                      <p:tavLst>
                                        <p:tav tm="0">
                                          <p:val>
                                            <p:strVal val="#ppt_x"/>
                                          </p:val>
                                        </p:tav>
                                        <p:tav tm="100000">
                                          <p:val>
                                            <p:strVal val="#ppt_x"/>
                                          </p:val>
                                        </p:tav>
                                      </p:tavLst>
                                    </p:anim>
                                    <p:anim calcmode="lin" valueType="num">
                                      <p:cBhvr>
                                        <p:cTn id="80" dur="500" fill="hold"/>
                                        <p:tgtEl>
                                          <p:spTgt spid="11"/>
                                        </p:tgtEl>
                                        <p:attrNameLst>
                                          <p:attrName>ppt_y</p:attrName>
                                        </p:attrNameLst>
                                      </p:cBhvr>
                                      <p:tavLst>
                                        <p:tav tm="0">
                                          <p:val>
                                            <p:strVal val="#ppt_y+.1"/>
                                          </p:val>
                                        </p:tav>
                                        <p:tav tm="100000">
                                          <p:val>
                                            <p:strVal val="#ppt_y"/>
                                          </p:val>
                                        </p:tav>
                                      </p:tavLst>
                                    </p:anim>
                                  </p:childTnLst>
                                </p:cTn>
                              </p:par>
                            </p:childTnLst>
                          </p:cTn>
                        </p:par>
                        <p:par>
                          <p:cTn id="81" fill="hold">
                            <p:stCondLst>
                              <p:cond delay="44200"/>
                            </p:stCondLst>
                            <p:childTnLst>
                              <p:par>
                                <p:cTn id="82" presetID="42" presetClass="entr" presetSubtype="0" fill="hold" nodeType="after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500"/>
                                        <p:tgtEl>
                                          <p:spTgt spid="19"/>
                                        </p:tgtEl>
                                      </p:cBhvr>
                                    </p:animEffect>
                                    <p:anim calcmode="lin" valueType="num">
                                      <p:cBhvr>
                                        <p:cTn id="85" dur="500" fill="hold"/>
                                        <p:tgtEl>
                                          <p:spTgt spid="19"/>
                                        </p:tgtEl>
                                        <p:attrNameLst>
                                          <p:attrName>ppt_x</p:attrName>
                                        </p:attrNameLst>
                                      </p:cBhvr>
                                      <p:tavLst>
                                        <p:tav tm="0">
                                          <p:val>
                                            <p:strVal val="#ppt_x"/>
                                          </p:val>
                                        </p:tav>
                                        <p:tav tm="100000">
                                          <p:val>
                                            <p:strVal val="#ppt_x"/>
                                          </p:val>
                                        </p:tav>
                                      </p:tavLst>
                                    </p:anim>
                                    <p:anim calcmode="lin" valueType="num">
                                      <p:cBhvr>
                                        <p:cTn id="86"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cxnSp>
        <p:nvCxnSpPr>
          <p:cNvPr id="4" name="Straight Arrow Connector 3"/>
          <p:cNvCxnSpPr/>
          <p:nvPr/>
        </p:nvCxnSpPr>
        <p:spPr>
          <a:xfrm>
            <a:off x="1972491" y="1776549"/>
            <a:ext cx="2246812" cy="1152000"/>
          </a:xfrm>
          <a:prstGeom prst="straightConnector1">
            <a:avLst/>
          </a:prstGeom>
          <a:ln w="9525" cap="flat" cmpd="sng" algn="ctr">
            <a:solidFill>
              <a:schemeClr val="dk1"/>
            </a:solidFill>
            <a:prstDash val="solid"/>
            <a:round/>
            <a:headEnd type="none" w="med" len="med"/>
            <a:tailEnd type="arrow" w="med" len="med"/>
          </a:ln>
          <a:effectLst>
            <a:glow rad="228600">
              <a:schemeClr val="accent1">
                <a:satMod val="175000"/>
                <a:alpha val="40000"/>
              </a:schemeClr>
            </a:glow>
          </a:effectLst>
        </p:spPr>
        <p:style>
          <a:lnRef idx="0">
            <a:scrgbClr r="0" g="0" b="0"/>
          </a:lnRef>
          <a:fillRef idx="0">
            <a:scrgbClr r="0" g="0" b="0"/>
          </a:fillRef>
          <a:effectRef idx="0">
            <a:scrgbClr r="0" g="0" b="0"/>
          </a:effectRef>
          <a:fontRef idx="minor">
            <a:schemeClr val="tx1"/>
          </a:fontRef>
        </p:style>
      </p:cxnSp>
      <p:sp>
        <p:nvSpPr>
          <p:cNvPr id="7" name="Explosion 1 6"/>
          <p:cNvSpPr/>
          <p:nvPr/>
        </p:nvSpPr>
        <p:spPr>
          <a:xfrm>
            <a:off x="5159829" y="2928549"/>
            <a:ext cx="718456" cy="587828"/>
          </a:xfrm>
          <a:prstGeom prst="irregularSeal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Arrow Connector 8"/>
          <p:cNvCxnSpPr/>
          <p:nvPr/>
        </p:nvCxnSpPr>
        <p:spPr>
          <a:xfrm>
            <a:off x="5519057" y="3696789"/>
            <a:ext cx="0" cy="1489165"/>
          </a:xfrm>
          <a:prstGeom prst="straightConnector1">
            <a:avLst/>
          </a:prstGeom>
          <a:ln w="9525" cap="flat" cmpd="sng" algn="ctr">
            <a:solidFill>
              <a:srgbClr val="FF0000"/>
            </a:solidFill>
            <a:prstDash val="solid"/>
            <a:round/>
            <a:headEnd type="arrow" w="med" len="med"/>
            <a:tailEnd type="arrow" w="med" len="med"/>
          </a:ln>
          <a:effectLst>
            <a:glow rad="228600">
              <a:schemeClr val="accent2">
                <a:satMod val="175000"/>
                <a:alpha val="40000"/>
              </a:schemeClr>
            </a:glow>
            <a:outerShdw blurRad="152400" dist="317500" dir="5400000" sx="90000" sy="-19000" rotWithShape="0">
              <a:prstClr val="black">
                <a:alpha val="15000"/>
              </a:prstClr>
            </a:outerShdw>
          </a:effectLst>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1786250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autoRev="1" fill="hold" nodeType="afterEffect">
                                  <p:stCondLst>
                                    <p:cond delay="0"/>
                                  </p:stCondLst>
                                  <p:childTnLst>
                                    <p:animScale>
                                      <p:cBhvr>
                                        <p:cTn id="6" dur="2000" fill="hold"/>
                                        <p:tgtEl>
                                          <p:spTgt spid="4"/>
                                        </p:tgtEl>
                                      </p:cBhvr>
                                      <p:by x="150000" y="150000"/>
                                    </p:animScale>
                                  </p:childTnLst>
                                </p:cTn>
                              </p:par>
                            </p:childTnLst>
                          </p:cTn>
                        </p:par>
                        <p:par>
                          <p:cTn id="7" fill="hold">
                            <p:stCondLst>
                              <p:cond delay="4000"/>
                            </p:stCondLst>
                            <p:childTnLst>
                              <p:par>
                                <p:cTn id="8" presetID="27" presetClass="emph" presetSubtype="0" fill="hold" grpId="0" nodeType="afterEffect">
                                  <p:stCondLst>
                                    <p:cond delay="0"/>
                                  </p:stCondLst>
                                  <p:childTnLst>
                                    <p:animClr clrSpc="rgb" dir="cw">
                                      <p:cBhvr override="childStyle">
                                        <p:cTn id="9" dur="1000" autoRev="1" fill="remove"/>
                                        <p:tgtEl>
                                          <p:spTgt spid="7"/>
                                        </p:tgtEl>
                                        <p:attrNameLst>
                                          <p:attrName>style.color</p:attrName>
                                        </p:attrNameLst>
                                      </p:cBhvr>
                                      <p:to>
                                        <a:schemeClr val="bg1"/>
                                      </p:to>
                                    </p:animClr>
                                    <p:animClr clrSpc="rgb" dir="cw">
                                      <p:cBhvr>
                                        <p:cTn id="10" dur="1000" autoRev="1" fill="remove"/>
                                        <p:tgtEl>
                                          <p:spTgt spid="7"/>
                                        </p:tgtEl>
                                        <p:attrNameLst>
                                          <p:attrName>fillcolor</p:attrName>
                                        </p:attrNameLst>
                                      </p:cBhvr>
                                      <p:to>
                                        <a:schemeClr val="bg1"/>
                                      </p:to>
                                    </p:animClr>
                                    <p:set>
                                      <p:cBhvr>
                                        <p:cTn id="11" dur="1000" autoRev="1" fill="remove"/>
                                        <p:tgtEl>
                                          <p:spTgt spid="7"/>
                                        </p:tgtEl>
                                        <p:attrNameLst>
                                          <p:attrName>fill.type</p:attrName>
                                        </p:attrNameLst>
                                      </p:cBhvr>
                                      <p:to>
                                        <p:strVal val="solid"/>
                                      </p:to>
                                    </p:set>
                                    <p:set>
                                      <p:cBhvr>
                                        <p:cTn id="12" dur="1000" autoRev="1" fill="remove"/>
                                        <p:tgtEl>
                                          <p:spTgt spid="7"/>
                                        </p:tgtEl>
                                        <p:attrNameLst>
                                          <p:attrName>fill.on</p:attrName>
                                        </p:attrNameLst>
                                      </p:cBhvr>
                                      <p:to>
                                        <p:strVal val="true"/>
                                      </p:to>
                                    </p:set>
                                  </p:childTnLst>
                                </p:cTn>
                              </p:par>
                            </p:childTnLst>
                          </p:cTn>
                        </p:par>
                        <p:par>
                          <p:cTn id="13" fill="hold">
                            <p:stCondLst>
                              <p:cond delay="6000"/>
                            </p:stCondLst>
                            <p:childTnLst>
                              <p:par>
                                <p:cTn id="14" presetID="10" presetClass="entr" presetSubtype="0"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317506" cy="6858000"/>
          </a:xfrm>
          <a:prstGeom prst="rect">
            <a:avLst/>
          </a:prstGeom>
        </p:spPr>
      </p:pic>
    </p:spTree>
    <p:extLst>
      <p:ext uri="{BB962C8B-B14F-4D97-AF65-F5344CB8AC3E}">
        <p14:creationId xmlns:p14="http://schemas.microsoft.com/office/powerpoint/2010/main" val="2677449666"/>
      </p:ext>
    </p:extLst>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3" name="Rectangle 2"/>
          <p:cNvSpPr/>
          <p:nvPr/>
        </p:nvSpPr>
        <p:spPr>
          <a:xfrm>
            <a:off x="3307976" y="353216"/>
            <a:ext cx="3043519" cy="707886"/>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r>
              <a:rPr lang="en-IN" sz="4000" b="1" dirty="0" smtClean="0">
                <a:solidFill>
                  <a:schemeClr val="tx1"/>
                </a:solidFill>
                <a:effectLst>
                  <a:outerShdw blurRad="38100" dist="38100" dir="2700000" algn="tl">
                    <a:srgbClr val="000000">
                      <a:alpha val="43137"/>
                    </a:srgbClr>
                  </a:outerShdw>
                </a:effectLst>
              </a:rPr>
              <a:t>   SPYWARE</a:t>
            </a:r>
            <a:endParaRPr lang="en-IN" sz="40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61083271"/>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53075" y="527260"/>
            <a:ext cx="4233279" cy="707886"/>
          </a:xfrm>
          <a:prstGeom prst="rect">
            <a:avLst/>
          </a:prstGeom>
        </p:spPr>
        <p:txBody>
          <a:bodyPr wrap="square">
            <a:spAutoFit/>
          </a:bodyPr>
          <a:lstStyle/>
          <a:p>
            <a:r>
              <a:rPr lang="en-IN" sz="4000" b="1" dirty="0" smtClean="0">
                <a:solidFill>
                  <a:srgbClr val="FF0000"/>
                </a:solidFill>
                <a:effectLst>
                  <a:outerShdw blurRad="38100" dist="38100" dir="2700000" algn="tl">
                    <a:srgbClr val="000000">
                      <a:alpha val="43137"/>
                    </a:srgbClr>
                  </a:outerShdw>
                  <a:reflection blurRad="6350" stA="60000" endA="900" endPos="60000" dist="60007" dir="5400000" sy="-100000" algn="bl" rotWithShape="0"/>
                </a:effectLst>
              </a:rPr>
              <a:t>WHAT IS SPYWARE</a:t>
            </a:r>
            <a:endParaRPr lang="en-IN" sz="4000" b="1" dirty="0">
              <a:solidFill>
                <a:srgbClr val="FF0000"/>
              </a:solidFill>
              <a:effectLst>
                <a:outerShdw blurRad="38100" dist="38100" dir="2700000" algn="tl">
                  <a:srgbClr val="000000">
                    <a:alpha val="43137"/>
                  </a:srgbClr>
                </a:outerShdw>
                <a:reflection blurRad="6350" stA="60000" endA="900" endPos="60000" dist="60007" dir="5400000" sy="-100000" algn="bl" rotWithShape="0"/>
              </a:effectLst>
            </a:endParaRPr>
          </a:p>
        </p:txBody>
      </p:sp>
      <p:sp>
        <p:nvSpPr>
          <p:cNvPr id="3" name="Rectangle 2"/>
          <p:cNvSpPr/>
          <p:nvPr/>
        </p:nvSpPr>
        <p:spPr>
          <a:xfrm>
            <a:off x="1648096" y="2613090"/>
            <a:ext cx="9243236" cy="461665"/>
          </a:xfrm>
          <a:prstGeom prst="rect">
            <a:avLst/>
          </a:prstGeom>
        </p:spPr>
        <p:txBody>
          <a:bodyPr wrap="none">
            <a:spAutoFit/>
          </a:bodyPr>
          <a:lstStyle/>
          <a:p>
            <a:pPr marL="285750" indent="-285750">
              <a:buFont typeface="Wingdings" panose="05000000000000000000" pitchFamily="2" charset="2"/>
              <a:buChar char="Ø"/>
            </a:pPr>
            <a:r>
              <a:rPr lang="en-IN" sz="2400" dirty="0" smtClean="0">
                <a:effectLst>
                  <a:outerShdw blurRad="38100" dist="38100" dir="2700000" algn="tl">
                    <a:srgbClr val="000000">
                      <a:alpha val="43137"/>
                    </a:srgbClr>
                  </a:outerShdw>
                </a:effectLst>
              </a:rPr>
              <a:t>Spyware is a program that get installed without the user’s permission. </a:t>
            </a:r>
            <a:endParaRPr lang="en-IN" sz="2400" dirty="0">
              <a:effectLst>
                <a:outerShdw blurRad="38100" dist="38100" dir="2700000" algn="tl">
                  <a:srgbClr val="000000">
                    <a:alpha val="43137"/>
                  </a:srgbClr>
                </a:outerShdw>
              </a:effectLst>
            </a:endParaRPr>
          </a:p>
        </p:txBody>
      </p:sp>
      <p:sp>
        <p:nvSpPr>
          <p:cNvPr id="4" name="Rectangle 3"/>
          <p:cNvSpPr/>
          <p:nvPr/>
        </p:nvSpPr>
        <p:spPr>
          <a:xfrm>
            <a:off x="2179194" y="3738032"/>
            <a:ext cx="9277701" cy="830997"/>
          </a:xfrm>
          <a:prstGeom prst="rect">
            <a:avLst/>
          </a:prstGeom>
        </p:spPr>
        <p:txBody>
          <a:bodyPr wrap="square">
            <a:spAutoFit/>
          </a:bodyPr>
          <a:lstStyle/>
          <a:p>
            <a:pPr marL="342900" indent="-342900">
              <a:buFont typeface="Wingdings" panose="05000000000000000000" pitchFamily="2" charset="2"/>
              <a:buChar char="Ø"/>
            </a:pPr>
            <a:r>
              <a:rPr lang="en-IN" sz="2400" dirty="0" smtClean="0">
                <a:effectLst>
                  <a:outerShdw blurRad="38100" dist="38100" dir="2700000" algn="tl">
                    <a:srgbClr val="000000">
                      <a:alpha val="43137"/>
                    </a:srgbClr>
                  </a:outerShdw>
                </a:effectLst>
              </a:rPr>
              <a:t>It’s monitors the user’s  activities on the internet and transmit the information to the third party</a:t>
            </a:r>
            <a:endParaRPr lang="en-IN" sz="2400" dirty="0">
              <a:effectLst>
                <a:outerShdw blurRad="38100" dist="38100" dir="2700000" algn="tl">
                  <a:srgbClr val="000000">
                    <a:alpha val="43137"/>
                  </a:srgbClr>
                </a:outerShdw>
              </a:effectLst>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76179" y="191706"/>
            <a:ext cx="2857500" cy="2143125"/>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9623" y="4569029"/>
            <a:ext cx="2167661" cy="1927551"/>
          </a:xfrm>
          <a:prstGeom prst="rect">
            <a:avLst/>
          </a:prstGeom>
        </p:spPr>
      </p:pic>
    </p:spTree>
    <p:extLst>
      <p:ext uri="{BB962C8B-B14F-4D97-AF65-F5344CB8AC3E}">
        <p14:creationId xmlns:p14="http://schemas.microsoft.com/office/powerpoint/2010/main" val="935361667"/>
      </p:ext>
    </p:extLst>
  </p:cSld>
  <p:clrMapOvr>
    <a:masterClrMapping/>
  </p:clrMapOvr>
  <mc:AlternateContent xmlns:mc="http://schemas.openxmlformats.org/markup-compatibility/2006" xmlns:p14="http://schemas.microsoft.com/office/powerpoint/2010/main">
    <mc:Choice Requires="p14">
      <p:transition spd="slow" p14:dur="2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par>
                          <p:cTn id="8" fill="hold">
                            <p:stCondLst>
                              <p:cond delay="4400"/>
                            </p:stCondLst>
                            <p:childTnLst>
                              <p:par>
                                <p:cTn id="9" presetID="53" presetClass="entr" presetSubtype="16" repeatCount="indefinite"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3000" fill="hold"/>
                                        <p:tgtEl>
                                          <p:spTgt spid="5"/>
                                        </p:tgtEl>
                                        <p:attrNameLst>
                                          <p:attrName>ppt_w</p:attrName>
                                        </p:attrNameLst>
                                      </p:cBhvr>
                                      <p:tavLst>
                                        <p:tav tm="0">
                                          <p:val>
                                            <p:fltVal val="0"/>
                                          </p:val>
                                        </p:tav>
                                        <p:tav tm="100000">
                                          <p:val>
                                            <p:strVal val="#ppt_w"/>
                                          </p:val>
                                        </p:tav>
                                      </p:tavLst>
                                    </p:anim>
                                    <p:anim calcmode="lin" valueType="num">
                                      <p:cBhvr>
                                        <p:cTn id="12" dur="3000" fill="hold"/>
                                        <p:tgtEl>
                                          <p:spTgt spid="5"/>
                                        </p:tgtEl>
                                        <p:attrNameLst>
                                          <p:attrName>ppt_h</p:attrName>
                                        </p:attrNameLst>
                                      </p:cBhvr>
                                      <p:tavLst>
                                        <p:tav tm="0">
                                          <p:val>
                                            <p:fltVal val="0"/>
                                          </p:val>
                                        </p:tav>
                                        <p:tav tm="100000">
                                          <p:val>
                                            <p:strVal val="#ppt_h"/>
                                          </p:val>
                                        </p:tav>
                                      </p:tavLst>
                                    </p:anim>
                                    <p:animEffect transition="in" filter="fade">
                                      <p:cBhvr>
                                        <p:cTn id="13" dur="3000"/>
                                        <p:tgtEl>
                                          <p:spTgt spid="5"/>
                                        </p:tgtEl>
                                      </p:cBhvr>
                                    </p:animEffect>
                                  </p:childTnLst>
                                </p:cTn>
                              </p:par>
                            </p:childTnLst>
                          </p:cTn>
                        </p:par>
                        <p:par>
                          <p:cTn id="14" fill="hold">
                            <p:stCondLst>
                              <p:cond delay="7400"/>
                            </p:stCondLst>
                            <p:childTnLst>
                              <p:par>
                                <p:cTn id="15" presetID="10" presetClass="entr" presetSubtype="0" fill="hold" nodeType="afterEffect">
                                  <p:stCondLst>
                                    <p:cond delay="0"/>
                                  </p:stCondLst>
                                  <p:iterate type="lt">
                                    <p:tmPct val="10000"/>
                                  </p:iterate>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1000"/>
                                        <p:tgtEl>
                                          <p:spTgt spid="3">
                                            <p:txEl>
                                              <p:pRg st="0" end="0"/>
                                            </p:txEl>
                                          </p:spTgt>
                                        </p:tgtEl>
                                      </p:cBhvr>
                                    </p:animEffect>
                                  </p:childTnLst>
                                </p:cTn>
                              </p:par>
                            </p:childTnLst>
                          </p:cTn>
                        </p:par>
                        <p:par>
                          <p:cTn id="18" fill="hold">
                            <p:stCondLst>
                              <p:cond delay="14300"/>
                            </p:stCondLst>
                            <p:childTnLst>
                              <p:par>
                                <p:cTn id="19" presetID="22" presetClass="entr" presetSubtype="4"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down)">
                                      <p:cBhvr>
                                        <p:cTn id="21" dur="2000"/>
                                        <p:tgtEl>
                                          <p:spTgt spid="6"/>
                                        </p:tgtEl>
                                      </p:cBhvr>
                                    </p:animEffect>
                                  </p:childTnLst>
                                </p:cTn>
                              </p:par>
                            </p:childTnLst>
                          </p:cTn>
                        </p:par>
                        <p:par>
                          <p:cTn id="22" fill="hold">
                            <p:stCondLst>
                              <p:cond delay="16300"/>
                            </p:stCondLst>
                            <p:childTnLst>
                              <p:par>
                                <p:cTn id="23" presetID="10" presetClass="entr" presetSubtype="0" fill="hold" nodeType="afterEffect">
                                  <p:stCondLst>
                                    <p:cond delay="0"/>
                                  </p:stCondLst>
                                  <p:iterate type="lt">
                                    <p:tmPct val="10000"/>
                                  </p:iterate>
                                  <p:childTnLst>
                                    <p:set>
                                      <p:cBhvr>
                                        <p:cTn id="24" dur="1" fill="hold">
                                          <p:stCondLst>
                                            <p:cond delay="0"/>
                                          </p:stCondLst>
                                        </p:cTn>
                                        <p:tgtEl>
                                          <p:spTgt spid="4">
                                            <p:txEl>
                                              <p:pRg st="0" end="0"/>
                                            </p:txEl>
                                          </p:spTgt>
                                        </p:tgtEl>
                                        <p:attrNameLst>
                                          <p:attrName>style.visibility</p:attrName>
                                        </p:attrNameLst>
                                      </p:cBhvr>
                                      <p:to>
                                        <p:strVal val="visible"/>
                                      </p:to>
                                    </p:set>
                                    <p:animEffect transition="in" filter="fade">
                                      <p:cBhvr>
                                        <p:cTn id="25" dur="1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19583" y="723203"/>
            <a:ext cx="3517053" cy="584775"/>
          </a:xfrm>
          <a:prstGeom prst="rect">
            <a:avLst/>
          </a:prstGeom>
        </p:spPr>
        <p:txBody>
          <a:bodyPr wrap="none">
            <a:spAutoFit/>
          </a:bodyPr>
          <a:lstStyle/>
          <a:p>
            <a:r>
              <a:rPr lang="en-IN" sz="3200" b="1" dirty="0" smtClean="0">
                <a:solidFill>
                  <a:srgbClr val="FF0000"/>
                </a:solidFill>
                <a:effectLst>
                  <a:outerShdw blurRad="38100" dist="38100" dir="2700000" algn="tl">
                    <a:srgbClr val="000000">
                      <a:alpha val="43137"/>
                    </a:srgbClr>
                  </a:outerShdw>
                  <a:reflection blurRad="6350" stA="60000" endA="900" endPos="60000" dist="60007" dir="5400000" sy="-100000" algn="bl" rotWithShape="0"/>
                </a:effectLst>
              </a:rPr>
              <a:t>TYPES OF SPYWARE</a:t>
            </a:r>
            <a:endParaRPr lang="en-IN" sz="3200" dirty="0"/>
          </a:p>
        </p:txBody>
      </p:sp>
      <p:sp>
        <p:nvSpPr>
          <p:cNvPr id="3" name="Rounded Rectangle 2"/>
          <p:cNvSpPr/>
          <p:nvPr/>
        </p:nvSpPr>
        <p:spPr>
          <a:xfrm>
            <a:off x="627018" y="2597327"/>
            <a:ext cx="2063932" cy="875212"/>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2000" b="1" dirty="0" smtClean="0"/>
              <a:t>SPYWARE</a:t>
            </a:r>
            <a:endParaRPr lang="en-IN" sz="2000" b="1" dirty="0"/>
          </a:p>
        </p:txBody>
      </p:sp>
      <p:sp>
        <p:nvSpPr>
          <p:cNvPr id="4" name="Rounded Rectangle 3"/>
          <p:cNvSpPr/>
          <p:nvPr/>
        </p:nvSpPr>
        <p:spPr>
          <a:xfrm>
            <a:off x="9666515" y="1482634"/>
            <a:ext cx="2063932" cy="8752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IN" sz="2000" b="1" dirty="0"/>
              <a:t>Tracking cookies</a:t>
            </a:r>
            <a:endParaRPr lang="en-IN" sz="2000" dirty="0"/>
          </a:p>
        </p:txBody>
      </p:sp>
      <p:sp>
        <p:nvSpPr>
          <p:cNvPr id="5" name="Rounded Rectangle 4"/>
          <p:cNvSpPr/>
          <p:nvPr/>
        </p:nvSpPr>
        <p:spPr>
          <a:xfrm>
            <a:off x="8634549" y="3034933"/>
            <a:ext cx="2063932" cy="875212"/>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sz="2000" b="1" dirty="0"/>
              <a:t>System monitors</a:t>
            </a:r>
            <a:endParaRPr lang="en-IN" sz="2000" dirty="0"/>
          </a:p>
        </p:txBody>
      </p:sp>
      <p:sp>
        <p:nvSpPr>
          <p:cNvPr id="6" name="Rounded Rectangle 5"/>
          <p:cNvSpPr/>
          <p:nvPr/>
        </p:nvSpPr>
        <p:spPr>
          <a:xfrm>
            <a:off x="6961423" y="4345575"/>
            <a:ext cx="2587525" cy="87521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IN" sz="2000" b="1" dirty="0"/>
              <a:t>Commercial Cell Phone Spyware</a:t>
            </a:r>
            <a:endParaRPr lang="en-IN" sz="2000" dirty="0"/>
          </a:p>
        </p:txBody>
      </p:sp>
      <p:sp>
        <p:nvSpPr>
          <p:cNvPr id="7" name="Rounded Rectangle 6"/>
          <p:cNvSpPr/>
          <p:nvPr/>
        </p:nvSpPr>
        <p:spPr>
          <a:xfrm>
            <a:off x="5046143" y="5540827"/>
            <a:ext cx="2063932" cy="875212"/>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IN" sz="2400" dirty="0"/>
              <a:t> </a:t>
            </a:r>
            <a:r>
              <a:rPr lang="en-IN" sz="2400" b="1" dirty="0" err="1"/>
              <a:t>keylogger</a:t>
            </a:r>
            <a:endParaRPr lang="en-IN" sz="2400" dirty="0"/>
          </a:p>
        </p:txBody>
      </p:sp>
      <p:cxnSp>
        <p:nvCxnSpPr>
          <p:cNvPr id="11" name="Straight Arrow Connector 10"/>
          <p:cNvCxnSpPr>
            <a:stCxn id="3" idx="3"/>
            <a:endCxn id="4" idx="1"/>
          </p:cNvCxnSpPr>
          <p:nvPr/>
        </p:nvCxnSpPr>
        <p:spPr>
          <a:xfrm flipV="1">
            <a:off x="2690950" y="1920240"/>
            <a:ext cx="6975565" cy="1114693"/>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5" name="Straight Arrow Connector 14"/>
          <p:cNvCxnSpPr>
            <a:stCxn id="3" idx="3"/>
            <a:endCxn id="5" idx="1"/>
          </p:cNvCxnSpPr>
          <p:nvPr/>
        </p:nvCxnSpPr>
        <p:spPr>
          <a:xfrm>
            <a:off x="2690950" y="3034933"/>
            <a:ext cx="5943599" cy="437606"/>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7" name="Straight Arrow Connector 16"/>
          <p:cNvCxnSpPr>
            <a:stCxn id="3" idx="3"/>
            <a:endCxn id="6" idx="1"/>
          </p:cNvCxnSpPr>
          <p:nvPr/>
        </p:nvCxnSpPr>
        <p:spPr>
          <a:xfrm>
            <a:off x="2690950" y="3034933"/>
            <a:ext cx="4270473" cy="1748248"/>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1" name="Straight Arrow Connector 20"/>
          <p:cNvCxnSpPr>
            <a:stCxn id="3" idx="3"/>
            <a:endCxn id="7" idx="1"/>
          </p:cNvCxnSpPr>
          <p:nvPr/>
        </p:nvCxnSpPr>
        <p:spPr>
          <a:xfrm>
            <a:off x="2690950" y="3034933"/>
            <a:ext cx="2355193" cy="294350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820045171"/>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par>
                          <p:cTn id="8" fill="hold">
                            <p:stCondLst>
                              <p:cond delay="4600"/>
                            </p:stCondLst>
                            <p:childTnLst>
                              <p:par>
                                <p:cTn id="9" presetID="10" presetClass="entr" presetSubtype="0" fill="hold" grpId="0" nodeType="afterEffect">
                                  <p:stCondLst>
                                    <p:cond delay="0"/>
                                  </p:stCondLst>
                                  <p:iterate type="lt">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childTnLst>
                                </p:cTn>
                              </p:par>
                            </p:childTnLst>
                          </p:cTn>
                        </p:par>
                        <p:par>
                          <p:cTn id="12" fill="hold">
                            <p:stCondLst>
                              <p:cond delay="6200"/>
                            </p:stCondLst>
                            <p:childTnLst>
                              <p:par>
                                <p:cTn id="13" presetID="22" presetClass="entr" presetSubtype="4"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down)">
                                      <p:cBhvr>
                                        <p:cTn id="15" dur="1000"/>
                                        <p:tgtEl>
                                          <p:spTgt spid="11"/>
                                        </p:tgtEl>
                                      </p:cBhvr>
                                    </p:animEffect>
                                  </p:childTnLst>
                                </p:cTn>
                              </p:par>
                            </p:childTnLst>
                          </p:cTn>
                        </p:par>
                        <p:par>
                          <p:cTn id="16" fill="hold">
                            <p:stCondLst>
                              <p:cond delay="7200"/>
                            </p:stCondLst>
                            <p:childTnLst>
                              <p:par>
                                <p:cTn id="17" presetID="10" presetClass="entr" presetSubtype="0" fill="hold" grpId="0" nodeType="afterEffect">
                                  <p:stCondLst>
                                    <p:cond delay="0"/>
                                  </p:stCondLst>
                                  <p:iterate type="lt">
                                    <p:tmPct val="10000"/>
                                  </p:iterate>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childTnLst>
                                </p:cTn>
                              </p:par>
                            </p:childTnLst>
                          </p:cTn>
                        </p:par>
                        <p:par>
                          <p:cTn id="20" fill="hold">
                            <p:stCondLst>
                              <p:cond delay="9600"/>
                            </p:stCondLst>
                            <p:childTnLst>
                              <p:par>
                                <p:cTn id="21" presetID="22" presetClass="entr" presetSubtype="8"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1000"/>
                                        <p:tgtEl>
                                          <p:spTgt spid="15"/>
                                        </p:tgtEl>
                                      </p:cBhvr>
                                    </p:animEffect>
                                  </p:childTnLst>
                                </p:cTn>
                              </p:par>
                            </p:childTnLst>
                          </p:cTn>
                        </p:par>
                        <p:par>
                          <p:cTn id="24" fill="hold">
                            <p:stCondLst>
                              <p:cond delay="10600"/>
                            </p:stCondLst>
                            <p:childTnLst>
                              <p:par>
                                <p:cTn id="25" presetID="10" presetClass="entr" presetSubtype="0" fill="hold" grpId="0" nodeType="afterEffect">
                                  <p:stCondLst>
                                    <p:cond delay="0"/>
                                  </p:stCondLst>
                                  <p:iterate type="lt">
                                    <p:tmPct val="10000"/>
                                  </p:iterate>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childTnLst>
                                </p:cTn>
                              </p:par>
                            </p:childTnLst>
                          </p:cTn>
                        </p:par>
                        <p:par>
                          <p:cTn id="28" fill="hold">
                            <p:stCondLst>
                              <p:cond delay="12900"/>
                            </p:stCondLst>
                            <p:childTnLst>
                              <p:par>
                                <p:cTn id="29" presetID="22" presetClass="entr" presetSubtype="8" fill="hold"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left)">
                                      <p:cBhvr>
                                        <p:cTn id="31" dur="1000"/>
                                        <p:tgtEl>
                                          <p:spTgt spid="17"/>
                                        </p:tgtEl>
                                      </p:cBhvr>
                                    </p:animEffect>
                                  </p:childTnLst>
                                </p:cTn>
                              </p:par>
                            </p:childTnLst>
                          </p:cTn>
                        </p:par>
                        <p:par>
                          <p:cTn id="32" fill="hold">
                            <p:stCondLst>
                              <p:cond delay="13900"/>
                            </p:stCondLst>
                            <p:childTnLst>
                              <p:par>
                                <p:cTn id="33" presetID="10" presetClass="entr" presetSubtype="0" fill="hold" grpId="0" nodeType="afterEffect">
                                  <p:stCondLst>
                                    <p:cond delay="0"/>
                                  </p:stCondLst>
                                  <p:iterate type="lt">
                                    <p:tmPct val="10000"/>
                                  </p:iterate>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childTnLst>
                                </p:cTn>
                              </p:par>
                            </p:childTnLst>
                          </p:cTn>
                        </p:par>
                        <p:par>
                          <p:cTn id="36" fill="hold">
                            <p:stCondLst>
                              <p:cond delay="17400"/>
                            </p:stCondLst>
                            <p:childTnLst>
                              <p:par>
                                <p:cTn id="37" presetID="22" presetClass="entr" presetSubtype="1" fill="hold"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up)">
                                      <p:cBhvr>
                                        <p:cTn id="39" dur="1000"/>
                                        <p:tgtEl>
                                          <p:spTgt spid="21"/>
                                        </p:tgtEl>
                                      </p:cBhvr>
                                    </p:animEffect>
                                  </p:childTnLst>
                                </p:cTn>
                              </p:par>
                            </p:childTnLst>
                          </p:cTn>
                        </p:par>
                        <p:par>
                          <p:cTn id="40" fill="hold">
                            <p:stCondLst>
                              <p:cond delay="18400"/>
                            </p:stCondLst>
                            <p:childTnLst>
                              <p:par>
                                <p:cTn id="41" presetID="10" presetClass="entr" presetSubtype="0" fill="hold" grpId="0" nodeType="afterEffect">
                                  <p:stCondLst>
                                    <p:cond delay="0"/>
                                  </p:stCondLst>
                                  <p:iterate type="lt">
                                    <p:tmPct val="10000"/>
                                  </p:iterate>
                                  <p:childTnLst>
                                    <p:set>
                                      <p:cBhvr>
                                        <p:cTn id="42" dur="1" fill="hold">
                                          <p:stCondLst>
                                            <p:cond delay="0"/>
                                          </p:stCondLst>
                                        </p:cTn>
                                        <p:tgtEl>
                                          <p:spTgt spid="7"/>
                                        </p:tgtEl>
                                        <p:attrNameLst>
                                          <p:attrName>style.visibility</p:attrName>
                                        </p:attrNameLst>
                                      </p:cBhvr>
                                      <p:to>
                                        <p:strVal val="visible"/>
                                      </p:to>
                                    </p:set>
                                    <p:animEffect transition="in" filter="fade">
                                      <p:cBhvr>
                                        <p:cTn id="43"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1" y="-816"/>
            <a:ext cx="12193451" cy="6858816"/>
          </a:xfrm>
          <a:prstGeom prst="rect">
            <a:avLst/>
          </a:prstGeom>
        </p:spPr>
      </p:pic>
    </p:spTree>
    <p:extLst>
      <p:ext uri="{BB962C8B-B14F-4D97-AF65-F5344CB8AC3E}">
        <p14:creationId xmlns:p14="http://schemas.microsoft.com/office/powerpoint/2010/main" val="3206173044"/>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a:scene3d>
            <a:camera prst="orthographicFront"/>
            <a:lightRig rig="threePt" dir="t"/>
          </a:scene3d>
          <a:sp3d>
            <a:bevelT w="139700" h="139700" prst="divot"/>
          </a:sp3d>
        </p:spPr>
      </p:pic>
    </p:spTree>
    <p:extLst>
      <p:ext uri="{BB962C8B-B14F-4D97-AF65-F5344CB8AC3E}">
        <p14:creationId xmlns:p14="http://schemas.microsoft.com/office/powerpoint/2010/main" val="351050897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spTree>
    <p:extLst>
      <p:ext uri="{BB962C8B-B14F-4D97-AF65-F5344CB8AC3E}">
        <p14:creationId xmlns:p14="http://schemas.microsoft.com/office/powerpoint/2010/main" val="293780619"/>
      </p:ext>
    </p:extLst>
  </p:cSld>
  <p:clrMapOvr>
    <a:masterClrMapping/>
  </p:clrMapOvr>
  <p:transition spd="slow">
    <p:wip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67708" y="802168"/>
            <a:ext cx="2391417" cy="769441"/>
          </a:xfrm>
          <a:prstGeom prst="rect">
            <a:avLst/>
          </a:prstGeom>
        </p:spPr>
        <p:txBody>
          <a:bodyPr wrap="square">
            <a:spAutoFit/>
          </a:bodyPr>
          <a:lstStyle/>
          <a:p>
            <a:r>
              <a:rPr lang="en-IN" sz="4400" b="1" dirty="0" smtClean="0">
                <a:solidFill>
                  <a:srgbClr val="00B0F0"/>
                </a:solidFill>
                <a:effectLst>
                  <a:outerShdw blurRad="38100" dist="38100" dir="2700000" algn="tl">
                    <a:srgbClr val="000000">
                      <a:alpha val="43137"/>
                    </a:srgbClr>
                  </a:outerShdw>
                  <a:reflection blurRad="6350" stA="60000" endA="900" endPos="60000" dist="60007" dir="5400000" sy="-100000" algn="bl" rotWithShape="0"/>
                </a:effectLst>
              </a:rPr>
              <a:t>ADWARE</a:t>
            </a:r>
            <a:endParaRPr lang="en-IN" sz="4400" b="1" dirty="0">
              <a:solidFill>
                <a:srgbClr val="00B0F0"/>
              </a:solidFill>
              <a:effectLst>
                <a:outerShdw blurRad="38100" dist="38100" dir="2700000" algn="tl">
                  <a:srgbClr val="000000">
                    <a:alpha val="43137"/>
                  </a:srgbClr>
                </a:outerShdw>
                <a:reflection blurRad="6350" stA="60000" endA="900" endPos="60000" dist="60007" dir="5400000" sy="-100000" algn="bl" rotWithShape="0"/>
              </a:effectLst>
            </a:endParaRPr>
          </a:p>
        </p:txBody>
      </p:sp>
      <p:sp>
        <p:nvSpPr>
          <p:cNvPr id="3" name="Rectangle 2"/>
          <p:cNvSpPr/>
          <p:nvPr/>
        </p:nvSpPr>
        <p:spPr>
          <a:xfrm>
            <a:off x="1434336" y="3761301"/>
            <a:ext cx="10448117" cy="461665"/>
          </a:xfrm>
          <a:prstGeom prst="rect">
            <a:avLst/>
          </a:prstGeom>
        </p:spPr>
        <p:txBody>
          <a:bodyPr wrap="none">
            <a:spAutoFit/>
          </a:bodyPr>
          <a:lstStyle/>
          <a:p>
            <a:pPr marL="342900" indent="-342900">
              <a:buFont typeface="Wingdings" panose="05000000000000000000" pitchFamily="2" charset="2"/>
              <a:buChar char="Ø"/>
            </a:pPr>
            <a:r>
              <a:rPr lang="en-IN" sz="2400" dirty="0" smtClean="0">
                <a:effectLst>
                  <a:outerShdw blurRad="38100" dist="38100" dir="2700000" algn="tl">
                    <a:srgbClr val="000000">
                      <a:alpha val="43137"/>
                    </a:srgbClr>
                  </a:outerShdw>
                </a:effectLst>
              </a:rPr>
              <a:t>Software where advertising banners are displayed while any program is running.</a:t>
            </a:r>
            <a:endParaRPr lang="en-IN" sz="2400" dirty="0">
              <a:effectLst>
                <a:outerShdw blurRad="38100" dist="38100" dir="2700000" algn="tl">
                  <a:srgbClr val="000000">
                    <a:alpha val="43137"/>
                  </a:srgbClr>
                </a:outerShdw>
              </a:effectLst>
            </a:endParaRPr>
          </a:p>
        </p:txBody>
      </p:sp>
      <p:sp>
        <p:nvSpPr>
          <p:cNvPr id="4" name="Rectangle 3"/>
          <p:cNvSpPr/>
          <p:nvPr/>
        </p:nvSpPr>
        <p:spPr>
          <a:xfrm>
            <a:off x="1990160" y="4499091"/>
            <a:ext cx="9336467" cy="461665"/>
          </a:xfrm>
          <a:prstGeom prst="rect">
            <a:avLst/>
          </a:prstGeom>
        </p:spPr>
        <p:txBody>
          <a:bodyPr wrap="none">
            <a:spAutoFit/>
          </a:bodyPr>
          <a:lstStyle/>
          <a:p>
            <a:pPr marL="285750" indent="-285750">
              <a:buFont typeface="Wingdings" panose="05000000000000000000" pitchFamily="2" charset="2"/>
              <a:buChar char="Ø"/>
            </a:pPr>
            <a:r>
              <a:rPr lang="en-IN" sz="2400" dirty="0" smtClean="0">
                <a:effectLst>
                  <a:outerShdw blurRad="38100" dist="38100" dir="2700000" algn="tl">
                    <a:srgbClr val="000000">
                      <a:alpha val="43137"/>
                    </a:srgbClr>
                  </a:outerShdw>
                </a:effectLst>
              </a:rPr>
              <a:t>It automatically downloads to your device  while browsing any website.</a:t>
            </a:r>
            <a:endParaRPr lang="en-IN" sz="2400" dirty="0"/>
          </a:p>
        </p:txBody>
      </p:sp>
      <p:sp>
        <p:nvSpPr>
          <p:cNvPr id="5" name="Rectangle 4"/>
          <p:cNvSpPr/>
          <p:nvPr/>
        </p:nvSpPr>
        <p:spPr>
          <a:xfrm>
            <a:off x="2636121" y="5229888"/>
            <a:ext cx="6545703" cy="461665"/>
          </a:xfrm>
          <a:prstGeom prst="rect">
            <a:avLst/>
          </a:prstGeom>
        </p:spPr>
        <p:txBody>
          <a:bodyPr wrap="none">
            <a:spAutoFit/>
          </a:bodyPr>
          <a:lstStyle/>
          <a:p>
            <a:pPr marL="342900" indent="-342900">
              <a:buFont typeface="Wingdings" panose="05000000000000000000" pitchFamily="2" charset="2"/>
              <a:buChar char="Ø"/>
            </a:pPr>
            <a:r>
              <a:rPr lang="en-IN" sz="2400" dirty="0" smtClean="0">
                <a:effectLst>
                  <a:outerShdw blurRad="38100" dist="38100" dir="2700000" algn="tl">
                    <a:srgbClr val="000000">
                      <a:alpha val="43137"/>
                    </a:srgbClr>
                  </a:outerShdw>
                </a:effectLst>
              </a:rPr>
              <a:t>It is used by companies  for marketing purposes.</a:t>
            </a:r>
            <a:endParaRPr lang="en-IN" sz="2400" dirty="0">
              <a:effectLst>
                <a:outerShdw blurRad="38100" dist="38100" dir="2700000" algn="tl">
                  <a:srgbClr val="000000">
                    <a:alpha val="43137"/>
                  </a:srgbClr>
                </a:outerShdw>
              </a:effectLst>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4334" y="283123"/>
            <a:ext cx="3978119" cy="2720935"/>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03336" y="620350"/>
            <a:ext cx="778488" cy="682474"/>
          </a:xfrm>
          <a:prstGeom prst="rect">
            <a:avLst/>
          </a:prstGeom>
          <a:effectLst>
            <a:softEdge rad="63500"/>
          </a:effectLst>
        </p:spPr>
      </p:pic>
    </p:spTree>
    <p:extLst>
      <p:ext uri="{BB962C8B-B14F-4D97-AF65-F5344CB8AC3E}">
        <p14:creationId xmlns:p14="http://schemas.microsoft.com/office/powerpoint/2010/main" val="15627553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par>
                          <p:cTn id="8" fill="hold">
                            <p:stCondLst>
                              <p:cond delay="3000"/>
                            </p:stCondLst>
                            <p:childTnLst>
                              <p:par>
                                <p:cTn id="9" presetID="16" presetClass="entr" presetSubtype="21" repeatCount="indefinite"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inVertical)">
                                      <p:cBhvr>
                                        <p:cTn id="11" dur="1000"/>
                                        <p:tgtEl>
                                          <p:spTgt spid="6"/>
                                        </p:tgtEl>
                                      </p:cBhvr>
                                    </p:animEffect>
                                  </p:childTnLst>
                                </p:cTn>
                              </p:par>
                            </p:childTnLst>
                          </p:cTn>
                        </p:par>
                        <p:par>
                          <p:cTn id="12" fill="hold">
                            <p:stCondLst>
                              <p:cond delay="4000"/>
                            </p:stCondLst>
                            <p:childTnLst>
                              <p:par>
                                <p:cTn id="13" presetID="10" presetClass="entr" presetSubtype="0" fill="hold" nodeType="afterEffect">
                                  <p:stCondLst>
                                    <p:cond delay="0"/>
                                  </p:stCondLst>
                                  <p:iterate type="lt">
                                    <p:tmPct val="10000"/>
                                  </p:iterate>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1000"/>
                                        <p:tgtEl>
                                          <p:spTgt spid="3">
                                            <p:txEl>
                                              <p:pRg st="0" end="0"/>
                                            </p:txEl>
                                          </p:spTgt>
                                        </p:tgtEl>
                                      </p:cBhvr>
                                    </p:animEffect>
                                  </p:childTnLst>
                                </p:cTn>
                              </p:par>
                            </p:childTnLst>
                          </p:cTn>
                        </p:par>
                        <p:par>
                          <p:cTn id="16" fill="hold">
                            <p:stCondLst>
                              <p:cond delay="11700"/>
                            </p:stCondLst>
                            <p:childTnLst>
                              <p:par>
                                <p:cTn id="17" presetID="10" presetClass="entr" presetSubtype="0" fill="hold" nodeType="afterEffect">
                                  <p:stCondLst>
                                    <p:cond delay="0"/>
                                  </p:stCondLst>
                                  <p:iterate type="lt">
                                    <p:tmPct val="10000"/>
                                  </p:iterate>
                                  <p:childTnLst>
                                    <p:set>
                                      <p:cBhvr>
                                        <p:cTn id="18" dur="1" fill="hold">
                                          <p:stCondLst>
                                            <p:cond delay="0"/>
                                          </p:stCondLst>
                                        </p:cTn>
                                        <p:tgtEl>
                                          <p:spTgt spid="4">
                                            <p:txEl>
                                              <p:pRg st="0" end="0"/>
                                            </p:txEl>
                                          </p:spTgt>
                                        </p:tgtEl>
                                        <p:attrNameLst>
                                          <p:attrName>style.visibility</p:attrName>
                                        </p:attrNameLst>
                                      </p:cBhvr>
                                      <p:to>
                                        <p:strVal val="visible"/>
                                      </p:to>
                                    </p:set>
                                    <p:animEffect transition="in" filter="fade">
                                      <p:cBhvr>
                                        <p:cTn id="19" dur="1000"/>
                                        <p:tgtEl>
                                          <p:spTgt spid="4">
                                            <p:txEl>
                                              <p:pRg st="0" end="0"/>
                                            </p:txEl>
                                          </p:spTgt>
                                        </p:tgtEl>
                                      </p:cBhvr>
                                    </p:animEffect>
                                  </p:childTnLst>
                                </p:cTn>
                              </p:par>
                            </p:childTnLst>
                          </p:cTn>
                        </p:par>
                        <p:par>
                          <p:cTn id="20" fill="hold">
                            <p:stCondLst>
                              <p:cond delay="18600"/>
                            </p:stCondLst>
                            <p:childTnLst>
                              <p:par>
                                <p:cTn id="21" presetID="10" presetClass="entr" presetSubtype="0" fill="hold" nodeType="afterEffect">
                                  <p:stCondLst>
                                    <p:cond delay="0"/>
                                  </p:stCondLst>
                                  <p:iterate type="lt">
                                    <p:tmPct val="10000"/>
                                  </p:iterate>
                                  <p:childTnLst>
                                    <p:set>
                                      <p:cBhvr>
                                        <p:cTn id="22" dur="1" fill="hold">
                                          <p:stCondLst>
                                            <p:cond delay="0"/>
                                          </p:stCondLst>
                                        </p:cTn>
                                        <p:tgtEl>
                                          <p:spTgt spid="5">
                                            <p:txEl>
                                              <p:pRg st="0" end="0"/>
                                            </p:txEl>
                                          </p:spTgt>
                                        </p:tgtEl>
                                        <p:attrNameLst>
                                          <p:attrName>style.visibility</p:attrName>
                                        </p:attrNameLst>
                                      </p:cBhvr>
                                      <p:to>
                                        <p:strVal val="visible"/>
                                      </p:to>
                                    </p:set>
                                    <p:animEffect transition="in" filter="fade">
                                      <p:cBhvr>
                                        <p:cTn id="23" dur="1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0759" y="2097678"/>
            <a:ext cx="2769617" cy="867591"/>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9801" y="904625"/>
            <a:ext cx="3792943" cy="2386106"/>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43497" y="3892731"/>
            <a:ext cx="5956664" cy="2233749"/>
          </a:xfrm>
          <a:prstGeom prst="rect">
            <a:avLst/>
          </a:prstGeom>
        </p:spPr>
      </p:pic>
    </p:spTree>
    <p:extLst>
      <p:ext uri="{BB962C8B-B14F-4D97-AF65-F5344CB8AC3E}">
        <p14:creationId xmlns:p14="http://schemas.microsoft.com/office/powerpoint/2010/main" val="3993666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repeatCount="indefinite"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1000"/>
                                        <p:tgtEl>
                                          <p:spTgt spid="3"/>
                                        </p:tgtEl>
                                      </p:cBhvr>
                                    </p:animEffect>
                                  </p:childTnLst>
                                </p:cTn>
                              </p:par>
                            </p:childTnLst>
                          </p:cTn>
                        </p:par>
                        <p:par>
                          <p:cTn id="12" fill="hold">
                            <p:stCondLst>
                              <p:cond delay="2000"/>
                            </p:stCondLst>
                            <p:childTnLst>
                              <p:par>
                                <p:cTn id="13" presetID="42"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
                                          </p:val>
                                        </p:tav>
                                        <p:tav tm="100000">
                                          <p:val>
                                            <p:strVal val="#ppt_x"/>
                                          </p:val>
                                        </p:tav>
                                      </p:tavLst>
                                    </p:anim>
                                    <p:anim calcmode="lin" valueType="num">
                                      <p:cBhvr>
                                        <p:cTn id="1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2762461249"/>
      </p:ext>
    </p:extLst>
  </p:cSld>
  <p:clrMapOvr>
    <a:masterClrMapping/>
  </p:clrMapOvr>
  <p:transition spd="slow">
    <p:push dir="u"/>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53075" y="997522"/>
            <a:ext cx="2837636" cy="707886"/>
          </a:xfrm>
          <a:prstGeom prst="rect">
            <a:avLst/>
          </a:prstGeom>
        </p:spPr>
        <p:txBody>
          <a:bodyPr wrap="none">
            <a:spAutoFit/>
          </a:bodyPr>
          <a:lstStyle/>
          <a:p>
            <a:r>
              <a:rPr lang="en-IN" sz="4000" b="1" dirty="0" smtClean="0">
                <a:effectLst>
                  <a:outerShdw blurRad="38100" dist="38100" dir="2700000" algn="tl">
                    <a:srgbClr val="000000">
                      <a:alpha val="43137"/>
                    </a:srgbClr>
                  </a:outerShdw>
                  <a:reflection blurRad="6350" stA="60000" endA="900" endPos="60000" dist="60007" dir="5400000" sy="-100000" algn="bl" rotWithShape="0"/>
                </a:effectLst>
              </a:rPr>
              <a:t>SCAREWARE</a:t>
            </a:r>
            <a:endParaRPr lang="en-IN" sz="4000" b="1" dirty="0">
              <a:effectLst>
                <a:outerShdw blurRad="38100" dist="38100" dir="2700000" algn="tl">
                  <a:srgbClr val="000000">
                    <a:alpha val="43137"/>
                  </a:srgbClr>
                </a:outerShdw>
                <a:reflection blurRad="6350" stA="60000" endA="900" endPos="60000" dist="60007" dir="5400000" sy="-100000" algn="bl" rotWithShape="0"/>
              </a:effectLst>
            </a:endParaRPr>
          </a:p>
        </p:txBody>
      </p:sp>
      <p:sp>
        <p:nvSpPr>
          <p:cNvPr id="9" name="Rectangle 8"/>
          <p:cNvSpPr/>
          <p:nvPr/>
        </p:nvSpPr>
        <p:spPr>
          <a:xfrm>
            <a:off x="901337" y="2814812"/>
            <a:ext cx="8720015" cy="800219"/>
          </a:xfrm>
          <a:prstGeom prst="rect">
            <a:avLst/>
          </a:prstGeom>
        </p:spPr>
        <p:txBody>
          <a:bodyPr wrap="square">
            <a:spAutoFit/>
          </a:bodyPr>
          <a:lstStyle/>
          <a:p>
            <a:pPr marL="285750" indent="-285750">
              <a:buFont typeface="Wingdings" panose="05000000000000000000" pitchFamily="2" charset="2"/>
              <a:buChar char="Ø"/>
            </a:pPr>
            <a:r>
              <a:rPr lang="en-IN" sz="2400" dirty="0" smtClean="0">
                <a:solidFill>
                  <a:srgbClr val="FF0000"/>
                </a:solidFill>
                <a:effectLst>
                  <a:outerShdw blurRad="38100" dist="38100" dir="2700000" algn="tl">
                    <a:srgbClr val="000000">
                      <a:alpha val="43137"/>
                    </a:srgbClr>
                  </a:outerShdw>
                </a:effectLst>
              </a:rPr>
              <a:t>S</a:t>
            </a:r>
            <a:r>
              <a:rPr lang="en-IN" sz="2200" dirty="0" smtClean="0">
                <a:effectLst>
                  <a:outerShdw blurRad="38100" dist="38100" dir="2700000" algn="tl">
                    <a:srgbClr val="000000">
                      <a:alpha val="43137"/>
                    </a:srgbClr>
                  </a:outerShdw>
                </a:effectLst>
              </a:rPr>
              <a:t>careware is a type  of malware designed to trick victims into purchasing and  downloading useless and potentially  dangerous software.</a:t>
            </a:r>
            <a:endParaRPr lang="en-IN" sz="2200" dirty="0">
              <a:effectLst>
                <a:outerShdw blurRad="38100" dist="38100" dir="2700000" algn="tl">
                  <a:srgbClr val="000000">
                    <a:alpha val="43137"/>
                  </a:srgbClr>
                </a:outerShdw>
              </a:effectLst>
            </a:endParaRPr>
          </a:p>
        </p:txBody>
      </p:sp>
      <p:sp>
        <p:nvSpPr>
          <p:cNvPr id="10" name="Rectangle 9"/>
          <p:cNvSpPr/>
          <p:nvPr/>
        </p:nvSpPr>
        <p:spPr>
          <a:xfrm>
            <a:off x="1470181" y="4097678"/>
            <a:ext cx="10116573" cy="1815882"/>
          </a:xfrm>
          <a:prstGeom prst="rect">
            <a:avLst/>
          </a:prstGeom>
        </p:spPr>
        <p:txBody>
          <a:bodyPr wrap="square">
            <a:spAutoFit/>
          </a:bodyPr>
          <a:lstStyle/>
          <a:p>
            <a:pPr marL="285750" indent="-285750">
              <a:buFont typeface="Wingdings" panose="05000000000000000000" pitchFamily="2" charset="2"/>
              <a:buChar char="Ø"/>
            </a:pPr>
            <a:r>
              <a:rPr lang="en-US" sz="2400" dirty="0">
                <a:solidFill>
                  <a:srgbClr val="FF0000"/>
                </a:solidFill>
                <a:effectLst>
                  <a:outerShdw blurRad="38100" dist="38100" dir="2700000" algn="tl">
                    <a:srgbClr val="000000">
                      <a:alpha val="43137"/>
                    </a:srgbClr>
                  </a:outerShdw>
                </a:effectLst>
                <a:latin typeface="Calibri (Body)"/>
              </a:rPr>
              <a:t>S</a:t>
            </a:r>
            <a:r>
              <a:rPr lang="en-US" sz="2200" dirty="0">
                <a:effectLst>
                  <a:outerShdw blurRad="38100" dist="38100" dir="2700000" algn="tl">
                    <a:srgbClr val="000000">
                      <a:alpha val="43137"/>
                    </a:srgbClr>
                  </a:outerShdw>
                </a:effectLst>
                <a:latin typeface="Calibri (Body)"/>
              </a:rPr>
              <a:t>careware, which generates pop-ups that resemble Windows system messages, usually purports to be </a:t>
            </a:r>
            <a:r>
              <a:rPr lang="en-US" sz="2200" dirty="0" smtClean="0">
                <a:effectLst>
                  <a:outerShdw blurRad="38100" dist="38100" dir="2700000" algn="tl">
                    <a:srgbClr val="000000">
                      <a:alpha val="43137"/>
                    </a:srgbClr>
                  </a:outerShdw>
                </a:effectLst>
                <a:latin typeface="Calibri (Body)"/>
              </a:rPr>
              <a:t>antivirus </a:t>
            </a:r>
            <a:r>
              <a:rPr lang="en-US" sz="2200" dirty="0">
                <a:effectLst>
                  <a:outerShdw blurRad="38100" dist="38100" dir="2700000" algn="tl">
                    <a:srgbClr val="000000">
                      <a:alpha val="43137"/>
                    </a:srgbClr>
                  </a:outerShdw>
                </a:effectLst>
                <a:latin typeface="Calibri (Body)"/>
              </a:rPr>
              <a:t>or antispyware software, a firewall application or a </a:t>
            </a:r>
            <a:r>
              <a:rPr lang="en-US" sz="2200" u="sng" dirty="0" smtClean="0">
                <a:effectLst>
                  <a:outerShdw blurRad="38100" dist="38100" dir="2700000" algn="tl">
                    <a:srgbClr val="000000">
                      <a:alpha val="43137"/>
                    </a:srgbClr>
                  </a:outerShdw>
                </a:effectLst>
                <a:latin typeface="Calibri (Body)"/>
                <a:hlinkClick r:id="rId2" tooltip="http://go.techtarget.com/r/5374661/1"/>
              </a:rPr>
              <a:t>registry</a:t>
            </a:r>
            <a:r>
              <a:rPr lang="en-US" sz="2200" u="sng" dirty="0" smtClean="0">
                <a:effectLst>
                  <a:outerShdw blurRad="38100" dist="38100" dir="2700000" algn="tl">
                    <a:srgbClr val="000000">
                      <a:alpha val="43137"/>
                    </a:srgbClr>
                  </a:outerShdw>
                </a:effectLst>
                <a:latin typeface="Calibri (Body)"/>
              </a:rPr>
              <a:t> </a:t>
            </a:r>
            <a:r>
              <a:rPr lang="en-US" sz="2200" dirty="0" smtClean="0">
                <a:effectLst>
                  <a:outerShdw blurRad="38100" dist="38100" dir="2700000" algn="tl">
                    <a:srgbClr val="000000">
                      <a:alpha val="43137"/>
                    </a:srgbClr>
                  </a:outerShdw>
                </a:effectLst>
                <a:latin typeface="Calibri (Body)"/>
              </a:rPr>
              <a:t>cleaner</a:t>
            </a:r>
            <a:r>
              <a:rPr lang="en-US" sz="2200" dirty="0">
                <a:effectLst>
                  <a:outerShdw blurRad="38100" dist="38100" dir="2700000" algn="tl">
                    <a:srgbClr val="000000">
                      <a:alpha val="43137"/>
                    </a:srgbClr>
                  </a:outerShdw>
                </a:effectLst>
                <a:latin typeface="Calibri (Body)"/>
              </a:rPr>
              <a:t>. The messages typically say that a large number of problems -- such as infected files -- have been found on the computer and the user is prompted to purchase software to fix the problems.</a:t>
            </a:r>
            <a:r>
              <a:rPr lang="en-US" sz="2200" dirty="0">
                <a:effectLst>
                  <a:outerShdw blurRad="38100" dist="38100" dir="2700000" algn="tl">
                    <a:srgbClr val="000000">
                      <a:alpha val="43137"/>
                    </a:srgbClr>
                  </a:outerShdw>
                </a:effectLst>
                <a:latin typeface="NeueHaasGroteskText W01"/>
              </a:rPr>
              <a:t> </a:t>
            </a:r>
            <a:endParaRPr lang="en-IN" sz="2200" dirty="0">
              <a:effectLst>
                <a:outerShdw blurRad="38100" dist="38100" dir="2700000" algn="tl">
                  <a:srgbClr val="000000">
                    <a:alpha val="43137"/>
                  </a:srgbClr>
                </a:outerShdw>
              </a:effectLst>
            </a:endParaRP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54336" y="424829"/>
            <a:ext cx="1905018" cy="1670066"/>
          </a:xfrm>
          <a:prstGeom prst="rect">
            <a:avLst/>
          </a:prstGeom>
        </p:spPr>
      </p:pic>
    </p:spTree>
    <p:extLst>
      <p:ext uri="{BB962C8B-B14F-4D97-AF65-F5344CB8AC3E}">
        <p14:creationId xmlns:p14="http://schemas.microsoft.com/office/powerpoint/2010/main" val="3111335508"/>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par>
                          <p:cTn id="8" fill="hold">
                            <p:stCondLst>
                              <p:cond delay="3600"/>
                            </p:stCondLst>
                            <p:childTnLst>
                              <p:par>
                                <p:cTn id="9" presetID="22" presetClass="entr" presetSubtype="4" repeatCount="indefinite"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1000"/>
                                        <p:tgtEl>
                                          <p:spTgt spid="12"/>
                                        </p:tgtEl>
                                      </p:cBhvr>
                                    </p:animEffect>
                                  </p:childTnLst>
                                </p:cTn>
                              </p:par>
                            </p:childTnLst>
                          </p:cTn>
                        </p:par>
                        <p:par>
                          <p:cTn id="12" fill="hold">
                            <p:stCondLst>
                              <p:cond delay="4600"/>
                            </p:stCondLst>
                            <p:childTnLst>
                              <p:par>
                                <p:cTn id="13" presetID="10" presetClass="entr" presetSubtype="0" fill="hold" nodeType="afterEffect">
                                  <p:stCondLst>
                                    <p:cond delay="0"/>
                                  </p:stCondLst>
                                  <p:iterate type="lt">
                                    <p:tmPct val="10000"/>
                                  </p:iterate>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1000"/>
                                        <p:tgtEl>
                                          <p:spTgt spid="9">
                                            <p:txEl>
                                              <p:pRg st="0" end="0"/>
                                            </p:txEl>
                                          </p:spTgt>
                                        </p:tgtEl>
                                      </p:cBhvr>
                                    </p:animEffect>
                                  </p:childTnLst>
                                </p:cTn>
                              </p:par>
                            </p:childTnLst>
                          </p:cTn>
                        </p:par>
                        <p:par>
                          <p:cTn id="16" fill="hold">
                            <p:stCondLst>
                              <p:cond delay="16900"/>
                            </p:stCondLst>
                            <p:childTnLst>
                              <p:par>
                                <p:cTn id="17" presetID="10" presetClass="entr" presetSubtype="0" fill="hold" nodeType="afterEffect">
                                  <p:stCondLst>
                                    <p:cond delay="0"/>
                                  </p:stCondLst>
                                  <p:iterate type="lt">
                                    <p:tmPct val="10000"/>
                                  </p:iterate>
                                  <p:childTnLst>
                                    <p:set>
                                      <p:cBhvr>
                                        <p:cTn id="18" dur="1" fill="hold">
                                          <p:stCondLst>
                                            <p:cond delay="0"/>
                                          </p:stCondLst>
                                        </p:cTn>
                                        <p:tgtEl>
                                          <p:spTgt spid="10">
                                            <p:txEl>
                                              <p:pRg st="0" end="0"/>
                                            </p:txEl>
                                          </p:spTgt>
                                        </p:tgtEl>
                                        <p:attrNameLst>
                                          <p:attrName>style.visibility</p:attrName>
                                        </p:attrNameLst>
                                      </p:cBhvr>
                                      <p:to>
                                        <p:strVal val="visible"/>
                                      </p:to>
                                    </p:set>
                                    <p:animEffect transition="in" filter="fade">
                                      <p:cBhvr>
                                        <p:cTn id="19" dur="1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874418"/>
          </a:xfrm>
          <a:prstGeom prst="rect">
            <a:avLst/>
          </a:prstGeom>
        </p:spPr>
      </p:pic>
    </p:spTree>
    <p:extLst>
      <p:ext uri="{BB962C8B-B14F-4D97-AF65-F5344CB8AC3E}">
        <p14:creationId xmlns:p14="http://schemas.microsoft.com/office/powerpoint/2010/main" val="275944341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Tree>
    <p:extLst>
      <p:ext uri="{BB962C8B-B14F-4D97-AF65-F5344CB8AC3E}">
        <p14:creationId xmlns:p14="http://schemas.microsoft.com/office/powerpoint/2010/main" val="207049459"/>
      </p:ext>
    </p:extLst>
  </p:cSld>
  <p:clrMapOvr>
    <a:masterClrMapping/>
  </p:clrMapOvr>
  <p:transition spd="med">
    <p:pull/>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36925" y="644825"/>
            <a:ext cx="2072747" cy="707886"/>
          </a:xfrm>
          <a:prstGeom prst="rect">
            <a:avLst/>
          </a:prstGeom>
          <a:effectLst>
            <a:reflection blurRad="6350" stA="50000" endA="300" endPos="38500" dist="50800" dir="5400000" sy="-100000" algn="bl" rotWithShape="0"/>
          </a:effectLst>
        </p:spPr>
        <p:txBody>
          <a:bodyPr wrap="none">
            <a:spAutoFit/>
          </a:bodyPr>
          <a:lstStyle/>
          <a:p>
            <a:r>
              <a:rPr lang="en-IN" sz="4000" b="1" dirty="0" smtClean="0">
                <a:solidFill>
                  <a:srgbClr val="FF0000"/>
                </a:solidFill>
                <a:effectLst>
                  <a:outerShdw blurRad="38100" dist="38100" dir="2700000" algn="tl">
                    <a:srgbClr val="000000">
                      <a:alpha val="43137"/>
                    </a:srgbClr>
                  </a:outerShdw>
                  <a:reflection blurRad="6350" stA="50000" endA="300" endPos="50000" dist="29997" dir="5400000" sy="-100000" algn="bl" rotWithShape="0"/>
                </a:effectLst>
              </a:rPr>
              <a:t>ROOTKIT</a:t>
            </a:r>
            <a:endParaRPr lang="en-IN" sz="4000" b="1" dirty="0">
              <a:solidFill>
                <a:srgbClr val="FF0000"/>
              </a:solidFill>
              <a:effectLst>
                <a:outerShdw blurRad="38100" dist="38100" dir="2700000" algn="tl">
                  <a:srgbClr val="000000">
                    <a:alpha val="43137"/>
                  </a:srgbClr>
                </a:outerShdw>
                <a:reflection blurRad="6350" stA="50000" endA="300" endPos="50000" dist="29997" dir="5400000" sy="-100000" algn="bl" rotWithShape="0"/>
              </a:effectLst>
            </a:endParaRPr>
          </a:p>
        </p:txBody>
      </p:sp>
      <p:sp>
        <p:nvSpPr>
          <p:cNvPr id="3" name="Rectangle 2"/>
          <p:cNvSpPr/>
          <p:nvPr/>
        </p:nvSpPr>
        <p:spPr>
          <a:xfrm>
            <a:off x="417081" y="1400038"/>
            <a:ext cx="11312434" cy="4893647"/>
          </a:xfrm>
          <a:prstGeom prst="rect">
            <a:avLst/>
          </a:prstGeom>
        </p:spPr>
        <p:txBody>
          <a:bodyPr wrap="square">
            <a:spAutoFit/>
          </a:bodyPr>
          <a:lstStyle/>
          <a:p>
            <a:endParaRPr lang="en-IN" sz="2400" b="1" dirty="0"/>
          </a:p>
          <a:p>
            <a:pPr marL="285750" indent="-285750">
              <a:buFont typeface="Wingdings" panose="05000000000000000000" pitchFamily="2" charset="2"/>
              <a:buChar char="Ø"/>
            </a:pPr>
            <a:r>
              <a:rPr lang="en-US" sz="2400" b="1" dirty="0" smtClean="0">
                <a:solidFill>
                  <a:srgbClr val="FF0000"/>
                </a:solidFill>
              </a:rPr>
              <a:t>I</a:t>
            </a:r>
            <a:r>
              <a:rPr lang="en-US" sz="2400" b="1" dirty="0" smtClean="0"/>
              <a:t>t </a:t>
            </a:r>
            <a:r>
              <a:rPr lang="en-US" sz="2400" b="1" dirty="0"/>
              <a:t>is a computer program designed to provide </a:t>
            </a:r>
            <a:r>
              <a:rPr lang="en-US" sz="2400" b="1" dirty="0" smtClean="0"/>
              <a:t>continued privileged </a:t>
            </a:r>
            <a:r>
              <a:rPr lang="en-US" sz="2400" b="1" dirty="0"/>
              <a:t>access to a computer while actively </a:t>
            </a:r>
            <a:r>
              <a:rPr lang="en-US" sz="2400" b="1" dirty="0" smtClean="0"/>
              <a:t>hiding </a:t>
            </a:r>
            <a:r>
              <a:rPr lang="en-IN" sz="2400" b="1" dirty="0" smtClean="0"/>
              <a:t>its </a:t>
            </a:r>
            <a:r>
              <a:rPr lang="en-IN" sz="2400" b="1" dirty="0"/>
              <a:t>presence</a:t>
            </a:r>
            <a:r>
              <a:rPr lang="en-IN" sz="2400" b="1" dirty="0" smtClean="0"/>
              <a:t>.</a:t>
            </a:r>
          </a:p>
          <a:p>
            <a:endParaRPr lang="en-IN" sz="2400" b="1" dirty="0"/>
          </a:p>
          <a:p>
            <a:pPr marL="1200150" lvl="2" indent="-285750">
              <a:buFont typeface="Wingdings" panose="05000000000000000000" pitchFamily="2" charset="2"/>
              <a:buChar char="Ø"/>
            </a:pPr>
            <a:r>
              <a:rPr lang="en-US" sz="2400" b="1" dirty="0" smtClean="0">
                <a:solidFill>
                  <a:srgbClr val="FF0000"/>
                </a:solidFill>
              </a:rPr>
              <a:t>O</a:t>
            </a:r>
            <a:r>
              <a:rPr lang="en-US" sz="2400" b="1" dirty="0" smtClean="0"/>
              <a:t>riginally</a:t>
            </a:r>
            <a:r>
              <a:rPr lang="en-US" sz="2400" b="1" dirty="0"/>
              <a:t>, a rootkit was a collection of tools </a:t>
            </a:r>
            <a:r>
              <a:rPr lang="en-US" sz="2400" b="1" dirty="0" smtClean="0"/>
              <a:t>that enabled </a:t>
            </a:r>
            <a:r>
              <a:rPr lang="en-US" sz="2400" b="1" dirty="0"/>
              <a:t>administrator-level access to a computer </a:t>
            </a:r>
            <a:r>
              <a:rPr lang="en-US" sz="2400" b="1" dirty="0" smtClean="0"/>
              <a:t>or </a:t>
            </a:r>
            <a:r>
              <a:rPr lang="en-IN" sz="2400" b="1" dirty="0" smtClean="0"/>
              <a:t>network.</a:t>
            </a:r>
          </a:p>
          <a:p>
            <a:pPr lvl="4"/>
            <a:endParaRPr lang="en-US" sz="2400" b="1" dirty="0" smtClean="0"/>
          </a:p>
          <a:p>
            <a:pPr marL="2114550" lvl="4" indent="-285750">
              <a:buFont typeface="Wingdings" panose="05000000000000000000" pitchFamily="2" charset="2"/>
              <a:buChar char="Ø"/>
            </a:pPr>
            <a:r>
              <a:rPr lang="en-US" sz="2400" b="1" dirty="0" smtClean="0"/>
              <a:t> </a:t>
            </a:r>
            <a:r>
              <a:rPr lang="en-US" sz="2400" b="1" dirty="0">
                <a:solidFill>
                  <a:srgbClr val="FF0000"/>
                </a:solidFill>
              </a:rPr>
              <a:t>O</a:t>
            </a:r>
            <a:r>
              <a:rPr lang="en-US" sz="2400" b="1" dirty="0"/>
              <a:t>nce a rootkit has been installed, the controller of </a:t>
            </a:r>
            <a:r>
              <a:rPr lang="en-US" sz="2400" b="1" dirty="0" smtClean="0"/>
              <a:t>the rootkit </a:t>
            </a:r>
            <a:r>
              <a:rPr lang="en-US" sz="2400" b="1" dirty="0"/>
              <a:t>has the ability to remotely execute files </a:t>
            </a:r>
            <a:r>
              <a:rPr lang="en-US" sz="2400" b="1" dirty="0" smtClean="0"/>
              <a:t>and change </a:t>
            </a:r>
            <a:r>
              <a:rPr lang="en-US" sz="2400" b="1" dirty="0"/>
              <a:t>system configurations on the host machine</a:t>
            </a:r>
            <a:r>
              <a:rPr lang="en-US" sz="2400" b="1" dirty="0" smtClean="0"/>
              <a:t>.</a:t>
            </a:r>
          </a:p>
          <a:p>
            <a:pPr lvl="6"/>
            <a:endParaRPr lang="en-US" sz="2400" b="1" dirty="0" smtClean="0"/>
          </a:p>
          <a:p>
            <a:pPr marL="3028950" lvl="6" indent="-285750">
              <a:buFont typeface="Wingdings" panose="05000000000000000000" pitchFamily="2" charset="2"/>
              <a:buChar char="Ø"/>
            </a:pPr>
            <a:r>
              <a:rPr lang="en-US" sz="2400" b="1" dirty="0" smtClean="0"/>
              <a:t> </a:t>
            </a:r>
            <a:r>
              <a:rPr lang="en-US" sz="2400" b="1" dirty="0">
                <a:solidFill>
                  <a:srgbClr val="FF0000"/>
                </a:solidFill>
              </a:rPr>
              <a:t>A </a:t>
            </a:r>
            <a:r>
              <a:rPr lang="en-US" sz="2400" b="1" dirty="0"/>
              <a:t>rootkit on an infected computer can also access </a:t>
            </a:r>
            <a:r>
              <a:rPr lang="en-US" sz="2400" b="1" dirty="0" smtClean="0"/>
              <a:t>log files </a:t>
            </a:r>
            <a:r>
              <a:rPr lang="en-US" sz="2400" b="1" dirty="0"/>
              <a:t>and spy on the legitimate computer owner’s usage.</a:t>
            </a:r>
            <a:endParaRPr lang="en-IN" sz="2400" b="1" dirty="0"/>
          </a:p>
        </p:txBody>
      </p:sp>
    </p:spTree>
    <p:extLst>
      <p:ext uri="{BB962C8B-B14F-4D97-AF65-F5344CB8AC3E}">
        <p14:creationId xmlns:p14="http://schemas.microsoft.com/office/powerpoint/2010/main" val="598973076"/>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par>
                          <p:cTn id="8" fill="hold">
                            <p:stCondLst>
                              <p:cond delay="3200"/>
                            </p:stCondLst>
                            <p:childTnLst>
                              <p:par>
                                <p:cTn id="9" presetID="10" presetClass="entr" presetSubtype="0" fill="hold" nodeType="afterEffect">
                                  <p:stCondLst>
                                    <p:cond delay="0"/>
                                  </p:stCondLst>
                                  <p:iterate type="lt">
                                    <p:tmPct val="10000"/>
                                  </p:iterate>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1000"/>
                                        <p:tgtEl>
                                          <p:spTgt spid="3">
                                            <p:txEl>
                                              <p:pRg st="1" end="1"/>
                                            </p:txEl>
                                          </p:spTgt>
                                        </p:tgtEl>
                                      </p:cBhvr>
                                    </p:animEffect>
                                  </p:childTnLst>
                                </p:cTn>
                              </p:par>
                            </p:childTnLst>
                          </p:cTn>
                        </p:par>
                        <p:par>
                          <p:cTn id="12" fill="hold">
                            <p:stCondLst>
                              <p:cond delay="14500"/>
                            </p:stCondLst>
                            <p:childTnLst>
                              <p:par>
                                <p:cTn id="13" presetID="10" presetClass="entr" presetSubtype="0" fill="hold" nodeType="afterEffect">
                                  <p:stCondLst>
                                    <p:cond delay="0"/>
                                  </p:stCondLst>
                                  <p:iterate type="lt">
                                    <p:tmPct val="10000"/>
                                  </p:iterate>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1000"/>
                                        <p:tgtEl>
                                          <p:spTgt spid="3">
                                            <p:txEl>
                                              <p:pRg st="3" end="3"/>
                                            </p:txEl>
                                          </p:spTgt>
                                        </p:tgtEl>
                                      </p:cBhvr>
                                    </p:animEffect>
                                  </p:childTnLst>
                                </p:cTn>
                              </p:par>
                            </p:childTnLst>
                          </p:cTn>
                        </p:par>
                        <p:par>
                          <p:cTn id="16" fill="hold">
                            <p:stCondLst>
                              <p:cond delay="25100"/>
                            </p:stCondLst>
                            <p:childTnLst>
                              <p:par>
                                <p:cTn id="17" presetID="10" presetClass="entr" presetSubtype="0" fill="hold" nodeType="afterEffect">
                                  <p:stCondLst>
                                    <p:cond delay="0"/>
                                  </p:stCondLst>
                                  <p:iterate type="lt">
                                    <p:tmPct val="10000"/>
                                  </p:iterate>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1000"/>
                                        <p:tgtEl>
                                          <p:spTgt spid="3">
                                            <p:txEl>
                                              <p:pRg st="5" end="5"/>
                                            </p:txEl>
                                          </p:spTgt>
                                        </p:tgtEl>
                                      </p:cBhvr>
                                    </p:animEffect>
                                  </p:childTnLst>
                                </p:cTn>
                              </p:par>
                            </p:childTnLst>
                          </p:cTn>
                        </p:par>
                        <p:par>
                          <p:cTn id="20" fill="hold">
                            <p:stCondLst>
                              <p:cond delay="39500"/>
                            </p:stCondLst>
                            <p:childTnLst>
                              <p:par>
                                <p:cTn id="21" presetID="10" presetClass="entr" presetSubtype="0" fill="hold" nodeType="afterEffect">
                                  <p:stCondLst>
                                    <p:cond delay="0"/>
                                  </p:stCondLst>
                                  <p:iterate type="lt">
                                    <p:tmPct val="10000"/>
                                  </p:iterate>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892" y="365976"/>
            <a:ext cx="11051177" cy="6087076"/>
          </a:xfrm>
          <a:prstGeom prst="rect">
            <a:avLst/>
          </a:prstGeom>
          <a:effectLst>
            <a:softEdge rad="317500"/>
          </a:effectLst>
        </p:spPr>
      </p:pic>
    </p:spTree>
    <p:extLst>
      <p:ext uri="{BB962C8B-B14F-4D97-AF65-F5344CB8AC3E}">
        <p14:creationId xmlns:p14="http://schemas.microsoft.com/office/powerpoint/2010/main" val="44905035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9E527E-55BD-C8EE-6BE0-7D10B36B41CA}"/>
              </a:ext>
            </a:extLst>
          </p:cNvPr>
          <p:cNvSpPr>
            <a:spLocks noGrp="1"/>
          </p:cNvSpPr>
          <p:nvPr>
            <p:ph type="title"/>
          </p:nvPr>
        </p:nvSpPr>
        <p:spPr/>
        <p:txBody>
          <a:bodyPr/>
          <a:lstStyle/>
          <a:p>
            <a:r>
              <a:rPr lang="en-IN" sz="2800" dirty="0">
                <a:effectLst/>
                <a:latin typeface="Arial Black" panose="020B0A04020102020204" pitchFamily="34" charset="0"/>
                <a:ea typeface="Calibri" panose="020F0502020204030204" pitchFamily="34" charset="0"/>
                <a:cs typeface="Times New Roman" panose="02020603050405020304" pitchFamily="18" charset="0"/>
              </a:rPr>
              <a:t>How </a:t>
            </a:r>
            <a:r>
              <a:rPr lang="en-IN" sz="2800" dirty="0">
                <a:latin typeface="Arial Black" panose="020B0A04020102020204" pitchFamily="34" charset="0"/>
                <a:ea typeface="Calibri" panose="020F0502020204030204" pitchFamily="34" charset="0"/>
                <a:cs typeface="Times New Roman" panose="02020603050405020304" pitchFamily="18" charset="0"/>
              </a:rPr>
              <a:t>to </a:t>
            </a:r>
            <a:r>
              <a:rPr lang="en-IN" sz="2800" dirty="0">
                <a:effectLst/>
                <a:latin typeface="Arial Black" panose="020B0A04020102020204" pitchFamily="34" charset="0"/>
                <a:ea typeface="Calibri" panose="020F0502020204030204" pitchFamily="34" charset="0"/>
                <a:cs typeface="Times New Roman" panose="02020603050405020304" pitchFamily="18" charset="0"/>
              </a:rPr>
              <a:t>detect and respond to malware?</a:t>
            </a:r>
            <a:r>
              <a:rPr lang="en-IN" sz="1800" dirty="0">
                <a:effectLst/>
                <a:latin typeface="Arial Black" panose="020B0A04020102020204" pitchFamily="34" charset="0"/>
                <a:ea typeface="Calibri" panose="020F0502020204030204" pitchFamily="34" charset="0"/>
                <a:cs typeface="Times New Roman" panose="02020603050405020304" pitchFamily="18" charset="0"/>
              </a:rPr>
              <a:t/>
            </a:r>
            <a:br>
              <a:rPr lang="en-IN" sz="1800" dirty="0">
                <a:effectLst/>
                <a:latin typeface="Arial Black" panose="020B0A04020102020204" pitchFamily="34" charset="0"/>
                <a:ea typeface="Calibri" panose="020F0502020204030204" pitchFamily="34" charset="0"/>
                <a:cs typeface="Times New Roman" panose="02020603050405020304" pitchFamily="18" charset="0"/>
              </a:rPr>
            </a:br>
            <a:endParaRPr lang="en-IN" dirty="0">
              <a:latin typeface="Arial Black" panose="020B0A04020102020204" pitchFamily="34" charset="0"/>
            </a:endParaRPr>
          </a:p>
        </p:txBody>
      </p:sp>
      <p:sp>
        <p:nvSpPr>
          <p:cNvPr id="3" name="Content Placeholder 2">
            <a:extLst>
              <a:ext uri="{FF2B5EF4-FFF2-40B4-BE49-F238E27FC236}">
                <a16:creationId xmlns="" xmlns:a16="http://schemas.microsoft.com/office/drawing/2014/main" id="{F1647B01-07FE-25D2-00BC-DE94E1B1C80D}"/>
              </a:ext>
            </a:extLst>
          </p:cNvPr>
          <p:cNvSpPr>
            <a:spLocks noGrp="1"/>
          </p:cNvSpPr>
          <p:nvPr>
            <p:ph idx="1"/>
          </p:nvPr>
        </p:nvSpPr>
        <p:spPr/>
        <p:txBody>
          <a:bodyPr/>
          <a:lstStyle/>
          <a:p>
            <a:r>
              <a:rPr lang="en-IN" sz="1800" dirty="0">
                <a:effectLst/>
                <a:latin typeface="Arial Black" panose="020B0A04020102020204" pitchFamily="34" charset="0"/>
                <a:ea typeface="Calibri" panose="020F0502020204030204" pitchFamily="34" charset="0"/>
                <a:cs typeface="Times New Roman" panose="02020603050405020304" pitchFamily="18" charset="0"/>
              </a:rPr>
              <a:t>Malware will inevitably penetrate your network.</a:t>
            </a:r>
          </a:p>
          <a:p>
            <a:r>
              <a:rPr lang="en-IN" sz="1800" dirty="0">
                <a:effectLst/>
                <a:latin typeface="Arial Black" panose="020B0A04020102020204" pitchFamily="34" charset="0"/>
                <a:ea typeface="Calibri" panose="020F0502020204030204" pitchFamily="34" charset="0"/>
                <a:cs typeface="Times New Roman" panose="02020603050405020304" pitchFamily="18" charset="0"/>
              </a:rPr>
              <a:t> You must have defences that provide significant visibility and breach detection. </a:t>
            </a:r>
          </a:p>
          <a:p>
            <a:r>
              <a:rPr lang="en-IN" sz="1800" dirty="0">
                <a:effectLst/>
                <a:latin typeface="Arial Black" panose="020B0A04020102020204" pitchFamily="34" charset="0"/>
                <a:ea typeface="Calibri" panose="020F0502020204030204" pitchFamily="34" charset="0"/>
                <a:cs typeface="Times New Roman" panose="02020603050405020304" pitchFamily="18" charset="0"/>
              </a:rPr>
              <a:t>In order to remove malware, you must be able to identify malicious actors quickly. This requires constant network scanning.</a:t>
            </a:r>
          </a:p>
          <a:p>
            <a:r>
              <a:rPr lang="en-IN" sz="1800" dirty="0">
                <a:effectLst/>
                <a:latin typeface="Arial Black" panose="020B0A04020102020204" pitchFamily="34" charset="0"/>
                <a:ea typeface="Calibri" panose="020F0502020204030204" pitchFamily="34" charset="0"/>
                <a:cs typeface="Times New Roman" panose="02020603050405020304" pitchFamily="18" charset="0"/>
              </a:rPr>
              <a:t> Once the threat is identified, you must remove the malware from your network. </a:t>
            </a:r>
          </a:p>
        </p:txBody>
      </p:sp>
    </p:spTree>
    <p:extLst>
      <p:ext uri="{BB962C8B-B14F-4D97-AF65-F5344CB8AC3E}">
        <p14:creationId xmlns:p14="http://schemas.microsoft.com/office/powerpoint/2010/main" val="31688945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D805552-E30E-5EF5-37B6-0FC17E0F0BAC}"/>
              </a:ext>
            </a:extLst>
          </p:cNvPr>
          <p:cNvSpPr>
            <a:spLocks noGrp="1"/>
          </p:cNvSpPr>
          <p:nvPr>
            <p:ph type="title"/>
          </p:nvPr>
        </p:nvSpPr>
        <p:spPr/>
        <p:txBody>
          <a:bodyPr>
            <a:normAutofit/>
          </a:bodyPr>
          <a:lstStyle/>
          <a:p>
            <a:r>
              <a:rPr lang="en-IN" b="1" dirty="0"/>
              <a:t>Protecting Against Malware</a:t>
            </a:r>
            <a:br>
              <a:rPr lang="en-IN" b="1" dirty="0"/>
            </a:br>
            <a:endParaRPr lang="en-IN" dirty="0"/>
          </a:p>
        </p:txBody>
      </p:sp>
      <p:sp>
        <p:nvSpPr>
          <p:cNvPr id="3" name="Content Placeholder 2">
            <a:extLst>
              <a:ext uri="{FF2B5EF4-FFF2-40B4-BE49-F238E27FC236}">
                <a16:creationId xmlns="" xmlns:a16="http://schemas.microsoft.com/office/drawing/2014/main" id="{25A93BF5-3011-8A75-DDD8-06232FD9DC7D}"/>
              </a:ext>
            </a:extLst>
          </p:cNvPr>
          <p:cNvSpPr>
            <a:spLocks noGrp="1"/>
          </p:cNvSpPr>
          <p:nvPr>
            <p:ph idx="1"/>
          </p:nvPr>
        </p:nvSpPr>
        <p:spPr/>
        <p:txBody>
          <a:bodyPr>
            <a:normAutofit/>
          </a:bodyPr>
          <a:lstStyle/>
          <a:p>
            <a:r>
              <a:rPr lang="en-US" sz="1800" dirty="0">
                <a:latin typeface="Arial Black" panose="020B0A04020102020204" pitchFamily="34" charset="0"/>
              </a:rPr>
              <a:t>Malware security protection provides that second vital layer of protection for your computer or network.</a:t>
            </a:r>
          </a:p>
          <a:p>
            <a:r>
              <a:rPr lang="en-US" sz="1800" dirty="0">
                <a:latin typeface="Arial Black" panose="020B0A04020102020204" pitchFamily="34" charset="0"/>
              </a:rPr>
              <a:t> A robust antivirus software package is the primary component of technological defenses that every personal and business computer system should have.</a:t>
            </a:r>
          </a:p>
          <a:p>
            <a:r>
              <a:rPr lang="en-US" sz="1800" dirty="0">
                <a:latin typeface="Arial Black" panose="020B0A04020102020204" pitchFamily="34" charset="0"/>
              </a:rPr>
              <a:t> Well-designed antivirus protection has several characteristics. It checks any newly downloaded program to ensure that it is malware-free. </a:t>
            </a:r>
          </a:p>
          <a:p>
            <a:r>
              <a:rPr lang="en-US" sz="1800" dirty="0">
                <a:latin typeface="Arial Black" panose="020B0A04020102020204" pitchFamily="34" charset="0"/>
              </a:rPr>
              <a:t>It periodically scans the computer to detect and defeat any malware that might have slipped through.</a:t>
            </a:r>
          </a:p>
          <a:p>
            <a:r>
              <a:rPr lang="en-US" sz="1800" dirty="0">
                <a:latin typeface="Arial Black" panose="020B0A04020102020204" pitchFamily="34" charset="0"/>
              </a:rPr>
              <a:t> It is regularly updated to recognize the latest threats.</a:t>
            </a:r>
            <a:endParaRPr lang="en-IN" sz="1800" dirty="0">
              <a:latin typeface="Arial Black" panose="020B0A04020102020204" pitchFamily="34" charset="0"/>
            </a:endParaRPr>
          </a:p>
        </p:txBody>
      </p:sp>
    </p:spTree>
    <p:extLst>
      <p:ext uri="{BB962C8B-B14F-4D97-AF65-F5344CB8AC3E}">
        <p14:creationId xmlns:p14="http://schemas.microsoft.com/office/powerpoint/2010/main" val="29220092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DD07C2-F9DF-8416-D40B-500D44070B3E}"/>
              </a:ext>
            </a:extLst>
          </p:cNvPr>
          <p:cNvSpPr>
            <a:spLocks noGrp="1"/>
          </p:cNvSpPr>
          <p:nvPr>
            <p:ph type="title"/>
          </p:nvPr>
        </p:nvSpPr>
        <p:spPr/>
        <p:txBody>
          <a:bodyPr>
            <a:normAutofit/>
          </a:bodyPr>
          <a:lstStyle/>
          <a:p>
            <a:r>
              <a:rPr lang="en-IN" sz="2800" b="1" dirty="0">
                <a:effectLst/>
                <a:latin typeface="Arial Black" panose="020B0A04020102020204" pitchFamily="34" charset="0"/>
                <a:ea typeface="Times New Roman" panose="02020603050405020304" pitchFamily="18" charset="0"/>
              </a:rPr>
              <a:t>Antivirus / Anti-malware software</a:t>
            </a:r>
            <a:br>
              <a:rPr lang="en-IN" sz="2800" b="1" dirty="0">
                <a:effectLst/>
                <a:latin typeface="Arial Black" panose="020B0A04020102020204" pitchFamily="34" charset="0"/>
                <a:ea typeface="Times New Roman" panose="02020603050405020304" pitchFamily="18" charset="0"/>
              </a:rPr>
            </a:br>
            <a:endParaRPr lang="en-IN" sz="2800" dirty="0">
              <a:latin typeface="Arial Black" panose="020B0A04020102020204" pitchFamily="34" charset="0"/>
            </a:endParaRPr>
          </a:p>
        </p:txBody>
      </p:sp>
      <p:sp>
        <p:nvSpPr>
          <p:cNvPr id="3" name="Content Placeholder 2">
            <a:extLst>
              <a:ext uri="{FF2B5EF4-FFF2-40B4-BE49-F238E27FC236}">
                <a16:creationId xmlns="" xmlns:a16="http://schemas.microsoft.com/office/drawing/2014/main" id="{F879A352-2156-5B10-17B7-2D946E40DFD2}"/>
              </a:ext>
            </a:extLst>
          </p:cNvPr>
          <p:cNvSpPr>
            <a:spLocks noGrp="1"/>
          </p:cNvSpPr>
          <p:nvPr>
            <p:ph idx="1"/>
          </p:nvPr>
        </p:nvSpPr>
        <p:spPr>
          <a:xfrm>
            <a:off x="518375" y="1588275"/>
            <a:ext cx="10131425" cy="3649133"/>
          </a:xfrm>
        </p:spPr>
        <p:txBody>
          <a:bodyPr/>
          <a:lstStyle/>
          <a:p>
            <a:r>
              <a:rPr lang="en-IN" sz="1800" dirty="0">
                <a:effectLst/>
                <a:latin typeface="Arial Black" panose="020B0A04020102020204" pitchFamily="34" charset="0"/>
                <a:ea typeface="Calibri" panose="020F0502020204030204" pitchFamily="34" charset="0"/>
              </a:rPr>
              <a:t>For example, Microsoft Security Essentials (for Windows XP, Vista, and Windows 7) and Windows Defender (for Windows 8</a:t>
            </a:r>
            <a:r>
              <a:rPr lang="en-IN" sz="1800" dirty="0">
                <a:latin typeface="Arial Black" panose="020B0A04020102020204" pitchFamily="34" charset="0"/>
                <a:ea typeface="Calibri" panose="020F0502020204030204" pitchFamily="34" charset="0"/>
              </a:rPr>
              <a:t>, 10</a:t>
            </a:r>
            <a:r>
              <a:rPr lang="en-IN" sz="1800" dirty="0">
                <a:effectLst/>
                <a:latin typeface="Arial Black" panose="020B0A04020102020204" pitchFamily="34" charset="0"/>
                <a:ea typeface="Calibri" panose="020F0502020204030204" pitchFamily="34" charset="0"/>
              </a:rPr>
              <a:t> and </a:t>
            </a:r>
            <a:r>
              <a:rPr lang="en-IN" sz="1800" dirty="0">
                <a:latin typeface="Arial Black" panose="020B0A04020102020204" pitchFamily="34" charset="0"/>
                <a:ea typeface="Calibri" panose="020F0502020204030204" pitchFamily="34" charset="0"/>
                <a:cs typeface="Times New Roman" panose="02020603050405020304" pitchFamily="18" charset="0"/>
              </a:rPr>
              <a:t>11)</a:t>
            </a:r>
            <a:r>
              <a:rPr lang="en-IN" sz="1800" dirty="0">
                <a:effectLst/>
                <a:latin typeface="Arial Black" panose="020B0A04020102020204" pitchFamily="34" charset="0"/>
                <a:ea typeface="Calibri" panose="020F0502020204030204" pitchFamily="34" charset="0"/>
              </a:rPr>
              <a:t> provides real-time protection. </a:t>
            </a:r>
          </a:p>
          <a:p>
            <a:r>
              <a:rPr lang="en-IN" sz="1800" dirty="0">
                <a:effectLst/>
                <a:latin typeface="Arial Black" panose="020B0A04020102020204" pitchFamily="34" charset="0"/>
                <a:ea typeface="Calibri" panose="020F0502020204030204" pitchFamily="34" charset="0"/>
              </a:rPr>
              <a:t>The Windows Malicious Software Removal Tool removes malicious software from the system.</a:t>
            </a:r>
          </a:p>
          <a:p>
            <a:r>
              <a:rPr lang="en-IN" sz="1800" dirty="0">
                <a:effectLst/>
                <a:latin typeface="Arial Black" panose="020B0A04020102020204" pitchFamily="34" charset="0"/>
                <a:ea typeface="Calibri" panose="020F0502020204030204" pitchFamily="34" charset="0"/>
              </a:rPr>
              <a:t> Additionally, several capable antivirus software programs are available for free download from the Internet (usually restricted to non-commercial use).</a:t>
            </a:r>
            <a:endParaRPr lang="en-IN" dirty="0">
              <a:latin typeface="Arial Black" panose="020B0A04020102020204" pitchFamily="34" charset="0"/>
            </a:endParaRPr>
          </a:p>
        </p:txBody>
      </p:sp>
    </p:spTree>
    <p:extLst>
      <p:ext uri="{BB962C8B-B14F-4D97-AF65-F5344CB8AC3E}">
        <p14:creationId xmlns:p14="http://schemas.microsoft.com/office/powerpoint/2010/main" val="83406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6CA414D-6D0C-E4C0-4951-859074571950}"/>
              </a:ext>
            </a:extLst>
          </p:cNvPr>
          <p:cNvSpPr>
            <a:spLocks noGrp="1"/>
          </p:cNvSpPr>
          <p:nvPr>
            <p:ph type="title"/>
          </p:nvPr>
        </p:nvSpPr>
        <p:spPr/>
        <p:txBody>
          <a:bodyPr>
            <a:normAutofit/>
          </a:bodyPr>
          <a:lstStyle/>
          <a:p>
            <a:r>
              <a:rPr lang="en-IN" sz="2800" b="1" dirty="0">
                <a:effectLst/>
                <a:latin typeface="Arial Black" panose="020B0A04020102020204" pitchFamily="34" charset="0"/>
                <a:ea typeface="Times New Roman" panose="02020603050405020304" pitchFamily="18" charset="0"/>
              </a:rPr>
              <a:t>Antivirus / Anti-malware software</a:t>
            </a:r>
            <a:endParaRPr lang="en-IN" sz="2800" dirty="0"/>
          </a:p>
        </p:txBody>
      </p:sp>
      <p:sp>
        <p:nvSpPr>
          <p:cNvPr id="3" name="Content Placeholder 2">
            <a:extLst>
              <a:ext uri="{FF2B5EF4-FFF2-40B4-BE49-F238E27FC236}">
                <a16:creationId xmlns="" xmlns:a16="http://schemas.microsoft.com/office/drawing/2014/main" id="{95481EFC-770A-15C1-13CE-3B69F1CE5BE2}"/>
              </a:ext>
            </a:extLst>
          </p:cNvPr>
          <p:cNvSpPr>
            <a:spLocks noGrp="1"/>
          </p:cNvSpPr>
          <p:nvPr>
            <p:ph idx="1"/>
          </p:nvPr>
        </p:nvSpPr>
        <p:spPr/>
        <p:txBody>
          <a:bodyPr>
            <a:normAutofit fontScale="70000" lnSpcReduction="20000"/>
          </a:bodyPr>
          <a:lstStyle/>
          <a:p>
            <a:pPr marL="342900" lvl="0" indent="-342900">
              <a:lnSpc>
                <a:spcPct val="170000"/>
              </a:lnSpc>
              <a:spcAft>
                <a:spcPts val="120"/>
              </a:spcAft>
              <a:tabLst>
                <a:tab pos="457200" algn="l"/>
              </a:tabLst>
            </a:pPr>
            <a:r>
              <a:rPr lang="en-IN" sz="2600" b="1" dirty="0">
                <a:effectLst/>
                <a:latin typeface="Arial Black" panose="020B0A04020102020204" pitchFamily="34" charset="0"/>
                <a:ea typeface="Times New Roman" panose="02020603050405020304" pitchFamily="18" charset="0"/>
                <a:cs typeface="Times New Roman" panose="02020603050405020304" pitchFamily="18" charset="0"/>
              </a:rPr>
              <a:t>Real-time protection:</a:t>
            </a:r>
            <a:r>
              <a:rPr lang="en-IN" sz="2600" dirty="0">
                <a:effectLst/>
                <a:latin typeface="Arial Black" panose="020B0A04020102020204" pitchFamily="34" charset="0"/>
                <a:ea typeface="Times New Roman" panose="02020603050405020304" pitchFamily="18" charset="0"/>
                <a:cs typeface="Times New Roman" panose="02020603050405020304" pitchFamily="18" charset="0"/>
              </a:rPr>
              <a:t> They can provide real time protection against the installation of malware software on a computer. </a:t>
            </a:r>
            <a:endParaRPr lang="en-IN" sz="2600" dirty="0" smtClean="0">
              <a:effectLst/>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70000"/>
              </a:lnSpc>
              <a:spcAft>
                <a:spcPts val="120"/>
              </a:spcAft>
              <a:tabLst>
                <a:tab pos="457200" algn="l"/>
              </a:tabLst>
            </a:pPr>
            <a:r>
              <a:rPr lang="en-IN" sz="2600" dirty="0" smtClean="0">
                <a:effectLst/>
                <a:latin typeface="Arial Black" panose="020B0A04020102020204" pitchFamily="34" charset="0"/>
                <a:ea typeface="Times New Roman" panose="02020603050405020304" pitchFamily="18" charset="0"/>
                <a:cs typeface="Times New Roman" panose="02020603050405020304" pitchFamily="18" charset="0"/>
              </a:rPr>
              <a:t>This </a:t>
            </a:r>
            <a:r>
              <a:rPr lang="en-IN" sz="2600" dirty="0">
                <a:effectLst/>
                <a:latin typeface="Arial Black" panose="020B0A04020102020204" pitchFamily="34" charset="0"/>
                <a:ea typeface="Times New Roman" panose="02020603050405020304" pitchFamily="18" charset="0"/>
                <a:cs typeface="Times New Roman" panose="02020603050405020304" pitchFamily="18" charset="0"/>
              </a:rPr>
              <a:t>type of malware protection works the same way as that of antivirus protection in that the anti-malware software scans all incoming network data for malware and blocks any threats it comes across.</a:t>
            </a:r>
            <a:endParaRPr lang="en-IN" sz="2600" dirty="0">
              <a:effectLst/>
              <a:latin typeface="Arial Black" panose="020B0A04020102020204" pitchFamily="34" charset="0"/>
              <a:ea typeface="Calibri" panose="020F0502020204030204" pitchFamily="34" charset="0"/>
              <a:cs typeface="Times New Roman" panose="02020603050405020304" pitchFamily="18" charset="0"/>
            </a:endParaRPr>
          </a:p>
          <a:p>
            <a:pPr marL="342900" lvl="0" indent="-342900">
              <a:lnSpc>
                <a:spcPct val="170000"/>
              </a:lnSpc>
              <a:spcAft>
                <a:spcPts val="120"/>
              </a:spcAft>
              <a:tabLst>
                <a:tab pos="457200" algn="l"/>
              </a:tabLst>
            </a:pPr>
            <a:r>
              <a:rPr lang="en-IN" sz="2600" b="1" dirty="0">
                <a:effectLst/>
                <a:latin typeface="Arial Black" panose="020B0A04020102020204" pitchFamily="34" charset="0"/>
                <a:ea typeface="Times New Roman" panose="02020603050405020304" pitchFamily="18" charset="0"/>
                <a:cs typeface="Times New Roman" panose="02020603050405020304" pitchFamily="18" charset="0"/>
              </a:rPr>
              <a:t>Sandboxing:</a:t>
            </a:r>
            <a:r>
              <a:rPr lang="en-IN" sz="2600" dirty="0">
                <a:effectLst/>
                <a:latin typeface="Arial Black" panose="020B0A04020102020204" pitchFamily="34" charset="0"/>
                <a:ea typeface="Times New Roman" panose="02020603050405020304" pitchFamily="18" charset="0"/>
                <a:cs typeface="Times New Roman" panose="02020603050405020304" pitchFamily="18" charset="0"/>
              </a:rPr>
              <a:t> Provide sandboxing of apps considered dangerous (such as web browsers where most vulnerabilities are likely to be installed from)</a:t>
            </a:r>
            <a:endParaRPr lang="en-IN" sz="2600" dirty="0">
              <a:effectLst/>
              <a:latin typeface="Arial Black" panose="020B0A0402010202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8906263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719283F-68D2-0C05-2444-1C14D60E188E}"/>
              </a:ext>
            </a:extLst>
          </p:cNvPr>
          <p:cNvSpPr>
            <a:spLocks noGrp="1"/>
          </p:cNvSpPr>
          <p:nvPr>
            <p:ph type="title"/>
          </p:nvPr>
        </p:nvSpPr>
        <p:spPr/>
        <p:txBody>
          <a:bodyPr>
            <a:normAutofit/>
          </a:bodyPr>
          <a:lstStyle/>
          <a:p>
            <a:r>
              <a:rPr lang="en-IN" sz="2800" b="1" dirty="0">
                <a:solidFill>
                  <a:schemeClr val="bg1"/>
                </a:solidFill>
                <a:effectLst/>
                <a:latin typeface="Arial Black" panose="020B0A04020102020204" pitchFamily="34" charset="0"/>
                <a:ea typeface="Times New Roman" panose="02020603050405020304" pitchFamily="18" charset="0"/>
              </a:rPr>
              <a:t>Antivirus / Anti-malware software</a:t>
            </a:r>
            <a:endParaRPr lang="en-IN" sz="2800" dirty="0"/>
          </a:p>
        </p:txBody>
      </p:sp>
      <p:sp>
        <p:nvSpPr>
          <p:cNvPr id="3" name="Content Placeholder 2">
            <a:extLst>
              <a:ext uri="{FF2B5EF4-FFF2-40B4-BE49-F238E27FC236}">
                <a16:creationId xmlns="" xmlns:a16="http://schemas.microsoft.com/office/drawing/2014/main" id="{A44F7FB4-EB24-3866-B588-D7E246C96751}"/>
              </a:ext>
            </a:extLst>
          </p:cNvPr>
          <p:cNvSpPr>
            <a:spLocks noGrp="1"/>
          </p:cNvSpPr>
          <p:nvPr>
            <p:ph idx="1"/>
          </p:nvPr>
        </p:nvSpPr>
        <p:spPr/>
        <p:txBody>
          <a:bodyPr/>
          <a:lstStyle/>
          <a:p>
            <a:pPr>
              <a:lnSpc>
                <a:spcPct val="150000"/>
              </a:lnSpc>
            </a:pPr>
            <a:r>
              <a:rPr lang="en-IN" sz="1800" b="1" dirty="0">
                <a:effectLst/>
                <a:latin typeface="Arial Black" panose="020B0A04020102020204" pitchFamily="34" charset="0"/>
                <a:ea typeface="Times New Roman" panose="02020603050405020304" pitchFamily="18" charset="0"/>
                <a:cs typeface="Times New Roman" panose="02020603050405020304" pitchFamily="18" charset="0"/>
              </a:rPr>
              <a:t>Removal:</a:t>
            </a:r>
            <a:r>
              <a:rPr lang="en-IN" sz="1800" dirty="0">
                <a:effectLst/>
                <a:latin typeface="Arial Black" panose="020B0A04020102020204" pitchFamily="34" charset="0"/>
                <a:ea typeface="Times New Roman" panose="02020603050405020304" pitchFamily="18" charset="0"/>
                <a:cs typeface="Times New Roman" panose="02020603050405020304" pitchFamily="18" charset="0"/>
              </a:rPr>
              <a:t> Anti-malware software programs can be used solely for detection and removal of malware software that has already been installed onto a computer. This type of anti-malware software scans the contents of the Windows registry, operating system files, and installed programs on a computer and will provide a list of any threats found, allowing the user to choose which files to delete or keep, or to compare this list to a list of known malware components, removing files that match. </a:t>
            </a:r>
            <a:endParaRPr lang="en-IN" sz="1800" dirty="0">
              <a:effectLst/>
              <a:latin typeface="Arial Black" panose="020B0A0402010202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488183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D5ED5C14-99C8-67DB-8D24-4D743FDFADAB}"/>
              </a:ext>
            </a:extLst>
          </p:cNvPr>
          <p:cNvPicPr>
            <a:picLocks noChangeAspect="1"/>
          </p:cNvPicPr>
          <p:nvPr/>
        </p:nvPicPr>
        <p:blipFill rotWithShape="1">
          <a:blip r:embed="rId2"/>
          <a:srcRect l="31642" t="22453" r="26612" b="15857"/>
          <a:stretch/>
        </p:blipFill>
        <p:spPr bwMode="auto">
          <a:xfrm>
            <a:off x="2405843" y="362019"/>
            <a:ext cx="7380313" cy="613396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853218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A741929-1419-7404-C474-FDB87FA1F666}"/>
              </a:ext>
            </a:extLst>
          </p:cNvPr>
          <p:cNvSpPr>
            <a:spLocks noGrp="1"/>
          </p:cNvSpPr>
          <p:nvPr>
            <p:ph type="title"/>
          </p:nvPr>
        </p:nvSpPr>
        <p:spPr/>
        <p:txBody>
          <a:bodyPr/>
          <a:lstStyle/>
          <a:p>
            <a:r>
              <a:rPr lang="en-IN" dirty="0"/>
              <a:t>Malware Detection Techniques</a:t>
            </a:r>
          </a:p>
        </p:txBody>
      </p:sp>
      <p:sp>
        <p:nvSpPr>
          <p:cNvPr id="6" name="Content Placeholder 5">
            <a:extLst>
              <a:ext uri="{FF2B5EF4-FFF2-40B4-BE49-F238E27FC236}">
                <a16:creationId xmlns="" xmlns:a16="http://schemas.microsoft.com/office/drawing/2014/main" id="{3270B2DC-8C41-C52D-35E2-539FB1091EA4}"/>
              </a:ext>
            </a:extLst>
          </p:cNvPr>
          <p:cNvSpPr>
            <a:spLocks noGrp="1"/>
          </p:cNvSpPr>
          <p:nvPr>
            <p:ph idx="1"/>
          </p:nvPr>
        </p:nvSpPr>
        <p:spPr/>
        <p:txBody>
          <a:bodyPr>
            <a:normAutofit/>
          </a:bodyPr>
          <a:lstStyle/>
          <a:p>
            <a:r>
              <a:rPr lang="en-US" sz="2400" dirty="0">
                <a:latin typeface="Arial Black" panose="020B0A04020102020204" pitchFamily="34" charset="0"/>
              </a:rPr>
              <a:t>Anomaly-based: Uses its knowledge of what constitutes normal </a:t>
            </a:r>
            <a:r>
              <a:rPr lang="en-US" sz="2400" dirty="0" err="1">
                <a:latin typeface="Arial Black" panose="020B0A04020102020204" pitchFamily="34" charset="0"/>
              </a:rPr>
              <a:t>behaviour</a:t>
            </a:r>
            <a:r>
              <a:rPr lang="en-US" sz="2400" dirty="0">
                <a:latin typeface="Arial Black" panose="020B0A04020102020204" pitchFamily="34" charset="0"/>
              </a:rPr>
              <a:t> to decide the maliciousness of a program• </a:t>
            </a:r>
          </a:p>
          <a:p>
            <a:r>
              <a:rPr lang="en-US" sz="2400" dirty="0">
                <a:latin typeface="Arial Black" panose="020B0A04020102020204" pitchFamily="34" charset="0"/>
              </a:rPr>
              <a:t>Specification-based detection: leverage a rule set of what is valid </a:t>
            </a:r>
            <a:r>
              <a:rPr lang="en-US" sz="2400" dirty="0" err="1">
                <a:latin typeface="Arial Black" panose="020B0A04020102020204" pitchFamily="34" charset="0"/>
              </a:rPr>
              <a:t>behaviour</a:t>
            </a:r>
            <a:r>
              <a:rPr lang="en-US" sz="2400" dirty="0">
                <a:latin typeface="Arial Black" panose="020B0A04020102020204" pitchFamily="34" charset="0"/>
              </a:rPr>
              <a:t> </a:t>
            </a:r>
          </a:p>
          <a:p>
            <a:r>
              <a:rPr lang="en-US" sz="2400" dirty="0">
                <a:latin typeface="Arial Black" panose="020B0A04020102020204" pitchFamily="34" charset="0"/>
              </a:rPr>
              <a:t>Signature-based: Uses its characterization of what is known to be malicious to decide the maliciousness of a program</a:t>
            </a:r>
            <a:endParaRPr lang="en-IN" sz="2400" dirty="0">
              <a:latin typeface="Arial Black" panose="020B0A04020102020204" pitchFamily="34" charset="0"/>
            </a:endParaRPr>
          </a:p>
        </p:txBody>
      </p:sp>
    </p:spTree>
    <p:extLst>
      <p:ext uri="{BB962C8B-B14F-4D97-AF65-F5344CB8AC3E}">
        <p14:creationId xmlns:p14="http://schemas.microsoft.com/office/powerpoint/2010/main" val="14957582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E86B848-D580-9BAD-D467-2E0907F6BDA7}"/>
              </a:ext>
            </a:extLst>
          </p:cNvPr>
          <p:cNvSpPr>
            <a:spLocks noGrp="1"/>
          </p:cNvSpPr>
          <p:nvPr>
            <p:ph type="title"/>
          </p:nvPr>
        </p:nvSpPr>
        <p:spPr/>
        <p:txBody>
          <a:bodyPr/>
          <a:lstStyle/>
          <a:p>
            <a:r>
              <a:rPr lang="en-IN" dirty="0"/>
              <a:t>Malware Detection Techniques</a:t>
            </a:r>
          </a:p>
        </p:txBody>
      </p:sp>
      <p:sp>
        <p:nvSpPr>
          <p:cNvPr id="3" name="Content Placeholder 2">
            <a:extLst>
              <a:ext uri="{FF2B5EF4-FFF2-40B4-BE49-F238E27FC236}">
                <a16:creationId xmlns="" xmlns:a16="http://schemas.microsoft.com/office/drawing/2014/main" id="{7860221A-9DA4-8B4D-09B6-66E4993003E1}"/>
              </a:ext>
            </a:extLst>
          </p:cNvPr>
          <p:cNvSpPr>
            <a:spLocks noGrp="1"/>
          </p:cNvSpPr>
          <p:nvPr>
            <p:ph idx="1"/>
          </p:nvPr>
        </p:nvSpPr>
        <p:spPr/>
        <p:txBody>
          <a:bodyPr>
            <a:normAutofit/>
          </a:bodyPr>
          <a:lstStyle/>
          <a:p>
            <a:r>
              <a:rPr lang="en-US" sz="2400" dirty="0">
                <a:latin typeface="Arial Black" panose="020B0A04020102020204" pitchFamily="34" charset="0"/>
              </a:rPr>
              <a:t>Specific approach is determined by how the technique gathers information to detect malware </a:t>
            </a:r>
          </a:p>
          <a:p>
            <a:r>
              <a:rPr lang="en-US" sz="2400" dirty="0">
                <a:latin typeface="Arial Black" panose="020B0A04020102020204" pitchFamily="34" charset="0"/>
              </a:rPr>
              <a:t>Static analysis: Before the program under inspection executes i.e. Sequence of bytes</a:t>
            </a:r>
          </a:p>
          <a:p>
            <a:r>
              <a:rPr lang="en-US" sz="2400" dirty="0">
                <a:latin typeface="Arial Black" panose="020B0A04020102020204" pitchFamily="34" charset="0"/>
              </a:rPr>
              <a:t> Dynamic analysis: During or after program execution i.e. Systems seen on the runtime stack</a:t>
            </a:r>
            <a:endParaRPr lang="en-IN" sz="2400" dirty="0">
              <a:latin typeface="Arial Black" panose="020B0A04020102020204" pitchFamily="34" charset="0"/>
            </a:endParaRPr>
          </a:p>
        </p:txBody>
      </p:sp>
    </p:spTree>
    <p:extLst>
      <p:ext uri="{BB962C8B-B14F-4D97-AF65-F5344CB8AC3E}">
        <p14:creationId xmlns:p14="http://schemas.microsoft.com/office/powerpoint/2010/main" val="37488917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7384" y="1586453"/>
            <a:ext cx="11730445" cy="4524315"/>
          </a:xfrm>
          <a:prstGeom prst="rect">
            <a:avLst/>
          </a:prstGeom>
        </p:spPr>
        <p:txBody>
          <a:bodyPr wrap="square">
            <a:spAutoFit/>
          </a:bodyPr>
          <a:lstStyle/>
          <a:p>
            <a:endParaRPr lang="en-IN" sz="2400" dirty="0">
              <a:latin typeface="Times New Roman" panose="02020603050405020304" pitchFamily="18" charset="0"/>
            </a:endParaRPr>
          </a:p>
          <a:p>
            <a:pPr marL="285750" indent="-285750">
              <a:buFont typeface="Wingdings" panose="05000000000000000000" pitchFamily="2" charset="2"/>
              <a:buChar char="Ø"/>
            </a:pPr>
            <a:r>
              <a:rPr lang="en-US" sz="2400" dirty="0" smtClean="0">
                <a:latin typeface="Times New Roman" panose="02020603050405020304" pitchFamily="18" charset="0"/>
              </a:rPr>
              <a:t>The </a:t>
            </a:r>
            <a:r>
              <a:rPr lang="en-US" sz="2400" dirty="0">
                <a:latin typeface="Times New Roman" panose="02020603050405020304" pitchFamily="18" charset="0"/>
              </a:rPr>
              <a:t>two most effective ways to fight against malware </a:t>
            </a:r>
            <a:r>
              <a:rPr lang="en-US" sz="2400" dirty="0" smtClean="0">
                <a:latin typeface="Times New Roman" panose="02020603050405020304" pitchFamily="18" charset="0"/>
              </a:rPr>
              <a:t>are: Personal </a:t>
            </a:r>
            <a:r>
              <a:rPr lang="en-US" sz="2400" dirty="0">
                <a:latin typeface="Times New Roman" panose="02020603050405020304" pitchFamily="18" charset="0"/>
              </a:rPr>
              <a:t>vigilance and protective tools</a:t>
            </a:r>
            <a:r>
              <a:rPr lang="en-US" sz="2400" dirty="0" smtClean="0">
                <a:latin typeface="Times New Roman" panose="02020603050405020304" pitchFamily="18" charset="0"/>
              </a:rPr>
              <a:t>.</a:t>
            </a:r>
          </a:p>
          <a:p>
            <a:endParaRPr lang="en-US" sz="2400" dirty="0">
              <a:latin typeface="Times New Roman" panose="02020603050405020304" pitchFamily="18" charset="0"/>
            </a:endParaRPr>
          </a:p>
          <a:p>
            <a:pPr marL="742950" lvl="1" indent="-285750">
              <a:buFont typeface="Wingdings" panose="05000000000000000000" pitchFamily="2" charset="2"/>
              <a:buChar char="Ø"/>
            </a:pPr>
            <a:r>
              <a:rPr lang="en-US" sz="2400" dirty="0" smtClean="0">
                <a:latin typeface="Times New Roman" panose="02020603050405020304" pitchFamily="18" charset="0"/>
              </a:rPr>
              <a:t>Malware </a:t>
            </a:r>
            <a:r>
              <a:rPr lang="en-US" sz="2400" dirty="0">
                <a:latin typeface="Times New Roman" panose="02020603050405020304" pitchFamily="18" charset="0"/>
              </a:rPr>
              <a:t>security protection provides that second vital </a:t>
            </a:r>
            <a:r>
              <a:rPr lang="en-US" sz="2400" dirty="0" smtClean="0">
                <a:latin typeface="Times New Roman" panose="02020603050405020304" pitchFamily="18" charset="0"/>
              </a:rPr>
              <a:t>layer of </a:t>
            </a:r>
            <a:r>
              <a:rPr lang="en-US" sz="2400" dirty="0">
                <a:latin typeface="Times New Roman" panose="02020603050405020304" pitchFamily="18" charset="0"/>
              </a:rPr>
              <a:t>protection for your computer or network</a:t>
            </a:r>
            <a:r>
              <a:rPr lang="en-US" sz="2400" dirty="0" smtClean="0">
                <a:latin typeface="Times New Roman" panose="02020603050405020304" pitchFamily="18" charset="0"/>
              </a:rPr>
              <a:t>.</a:t>
            </a:r>
          </a:p>
          <a:p>
            <a:pPr lvl="1"/>
            <a:endParaRPr lang="en-US" sz="2400" dirty="0">
              <a:latin typeface="Times New Roman" panose="02020603050405020304" pitchFamily="18" charset="0"/>
            </a:endParaRPr>
          </a:p>
          <a:p>
            <a:pPr marL="1200150" lvl="2" indent="-285750">
              <a:buFont typeface="Wingdings" panose="05000000000000000000" pitchFamily="2" charset="2"/>
              <a:buChar char="Ø"/>
            </a:pPr>
            <a:r>
              <a:rPr lang="en-US" sz="2400" dirty="0" smtClean="0">
                <a:latin typeface="Wingdings-Regular"/>
              </a:rPr>
              <a:t> </a:t>
            </a:r>
            <a:r>
              <a:rPr lang="en-US" sz="2400" dirty="0">
                <a:latin typeface="Times New Roman" panose="02020603050405020304" pitchFamily="18" charset="0"/>
              </a:rPr>
              <a:t>A robust antivirus software package is the </a:t>
            </a:r>
            <a:r>
              <a:rPr lang="en-US" sz="2400" dirty="0" smtClean="0">
                <a:latin typeface="Times New Roman" panose="02020603050405020304" pitchFamily="18" charset="0"/>
              </a:rPr>
              <a:t>primary component </a:t>
            </a:r>
            <a:r>
              <a:rPr lang="en-US" sz="2400" dirty="0">
                <a:latin typeface="Times New Roman" panose="02020603050405020304" pitchFamily="18" charset="0"/>
              </a:rPr>
              <a:t>of technological defenses that every </a:t>
            </a:r>
            <a:r>
              <a:rPr lang="en-US" sz="2400" dirty="0" smtClean="0">
                <a:latin typeface="Times New Roman" panose="02020603050405020304" pitchFamily="18" charset="0"/>
              </a:rPr>
              <a:t>personal and </a:t>
            </a:r>
            <a:r>
              <a:rPr lang="en-US" sz="2400" dirty="0">
                <a:latin typeface="Times New Roman" panose="02020603050405020304" pitchFamily="18" charset="0"/>
              </a:rPr>
              <a:t>business computer system should have</a:t>
            </a:r>
            <a:r>
              <a:rPr lang="en-US" sz="2400" dirty="0" smtClean="0">
                <a:latin typeface="Times New Roman" panose="02020603050405020304" pitchFamily="18" charset="0"/>
              </a:rPr>
              <a:t>.</a:t>
            </a:r>
          </a:p>
          <a:p>
            <a:pPr lvl="2"/>
            <a:endParaRPr lang="en-US" sz="2400" dirty="0">
              <a:latin typeface="Times New Roman" panose="02020603050405020304" pitchFamily="18" charset="0"/>
            </a:endParaRPr>
          </a:p>
          <a:p>
            <a:pPr marL="2114550" lvl="4" indent="-285750">
              <a:buFont typeface="Wingdings" panose="05000000000000000000" pitchFamily="2" charset="2"/>
              <a:buChar char="Ø"/>
            </a:pPr>
            <a:r>
              <a:rPr lang="en-US" sz="2400" dirty="0" smtClean="0">
                <a:latin typeface="Times New Roman" panose="02020603050405020304" pitchFamily="18" charset="0"/>
              </a:rPr>
              <a:t>No </a:t>
            </a:r>
            <a:r>
              <a:rPr lang="en-US" sz="2400" dirty="0">
                <a:latin typeface="Times New Roman" panose="02020603050405020304" pitchFamily="18" charset="0"/>
              </a:rPr>
              <a:t>protection is absolute. But a combination of </a:t>
            </a:r>
            <a:r>
              <a:rPr lang="en-US" sz="2400" dirty="0" smtClean="0">
                <a:latin typeface="Times New Roman" panose="02020603050405020304" pitchFamily="18" charset="0"/>
              </a:rPr>
              <a:t>personal awareness </a:t>
            </a:r>
            <a:r>
              <a:rPr lang="en-US" sz="2400" dirty="0">
                <a:latin typeface="Times New Roman" panose="02020603050405020304" pitchFamily="18" charset="0"/>
              </a:rPr>
              <a:t>and well-designed protective tools will </a:t>
            </a:r>
            <a:r>
              <a:rPr lang="en-US" sz="2400" dirty="0" smtClean="0">
                <a:latin typeface="Times New Roman" panose="02020603050405020304" pitchFamily="18" charset="0"/>
              </a:rPr>
              <a:t>make your </a:t>
            </a:r>
            <a:r>
              <a:rPr lang="en-US" sz="2400" dirty="0">
                <a:latin typeface="Times New Roman" panose="02020603050405020304" pitchFamily="18" charset="0"/>
              </a:rPr>
              <a:t>computer as safe as it can be.</a:t>
            </a:r>
            <a:endParaRPr lang="en-IN" sz="2400" dirty="0"/>
          </a:p>
        </p:txBody>
      </p:sp>
      <p:sp>
        <p:nvSpPr>
          <p:cNvPr id="3" name="Rectangle 2"/>
          <p:cNvSpPr/>
          <p:nvPr/>
        </p:nvSpPr>
        <p:spPr>
          <a:xfrm>
            <a:off x="3023051" y="590249"/>
            <a:ext cx="7143879" cy="584775"/>
          </a:xfrm>
          <a:prstGeom prst="rect">
            <a:avLst/>
          </a:prstGeom>
          <a:effectLst>
            <a:reflection blurRad="6350" stA="50000" endA="300" endPos="55500" dist="50800" dir="5400000" sy="-100000" algn="bl" rotWithShape="0"/>
          </a:effectLst>
        </p:spPr>
        <p:txBody>
          <a:bodyPr wrap="none">
            <a:spAutoFit/>
          </a:bodyPr>
          <a:lstStyle/>
          <a:p>
            <a:r>
              <a:rPr lang="en-IN" sz="3200" b="1" dirty="0">
                <a:solidFill>
                  <a:srgbClr val="FF0000"/>
                </a:solidFill>
                <a:effectLst>
                  <a:reflection blurRad="6350" stA="55000" endA="300" endPos="45500" dir="5400000" sy="-100000" algn="bl" rotWithShape="0"/>
                </a:effectLst>
                <a:latin typeface="Times New Roman" panose="02020603050405020304" pitchFamily="18" charset="0"/>
              </a:rPr>
              <a:t>PROTECTION AGAINST MALWARE</a:t>
            </a:r>
            <a:endParaRPr lang="en-IN" sz="3200" b="1" dirty="0">
              <a:solidFill>
                <a:srgbClr val="FF0000"/>
              </a:solidFill>
              <a:effectLst>
                <a:reflection blurRad="6350" stA="55000" endA="300" endPos="45500" dir="5400000" sy="-100000" algn="bl" rotWithShape="0"/>
              </a:effectLst>
            </a:endParaRPr>
          </a:p>
        </p:txBody>
      </p:sp>
    </p:spTree>
    <p:extLst>
      <p:ext uri="{BB962C8B-B14F-4D97-AF65-F5344CB8AC3E}">
        <p14:creationId xmlns:p14="http://schemas.microsoft.com/office/powerpoint/2010/main" val="261077485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par>
                          <p:cTn id="8" fill="hold">
                            <p:stCondLst>
                              <p:cond delay="6600"/>
                            </p:stCondLst>
                            <p:childTnLst>
                              <p:par>
                                <p:cTn id="9" presetID="10" presetClass="entr" presetSubtype="0" fill="hold" nodeType="afterEffect">
                                  <p:stCondLst>
                                    <p:cond delay="0"/>
                                  </p:stCondLst>
                                  <p:iterate type="lt">
                                    <p:tmPct val="10000"/>
                                  </p:iterate>
                                  <p:childTnLst>
                                    <p:set>
                                      <p:cBhvr>
                                        <p:cTn id="10" dur="1" fill="hold">
                                          <p:stCondLst>
                                            <p:cond delay="0"/>
                                          </p:stCondLst>
                                        </p:cTn>
                                        <p:tgtEl>
                                          <p:spTgt spid="2">
                                            <p:txEl>
                                              <p:pRg st="1" end="1"/>
                                            </p:txEl>
                                          </p:spTgt>
                                        </p:tgtEl>
                                        <p:attrNameLst>
                                          <p:attrName>style.visibility</p:attrName>
                                        </p:attrNameLst>
                                      </p:cBhvr>
                                      <p:to>
                                        <p:strVal val="visible"/>
                                      </p:to>
                                    </p:set>
                                    <p:animEffect transition="in" filter="fade">
                                      <p:cBhvr>
                                        <p:cTn id="11" dur="1000"/>
                                        <p:tgtEl>
                                          <p:spTgt spid="2">
                                            <p:txEl>
                                              <p:pRg st="1" end="1"/>
                                            </p:txEl>
                                          </p:spTgt>
                                        </p:tgtEl>
                                      </p:cBhvr>
                                    </p:animEffect>
                                  </p:childTnLst>
                                </p:cTn>
                              </p:par>
                            </p:childTnLst>
                          </p:cTn>
                        </p:par>
                        <p:par>
                          <p:cTn id="12" fill="hold">
                            <p:stCondLst>
                              <p:cond delay="15900"/>
                            </p:stCondLst>
                            <p:childTnLst>
                              <p:par>
                                <p:cTn id="13" presetID="10" presetClass="entr" presetSubtype="0" fill="hold" nodeType="afterEffect">
                                  <p:stCondLst>
                                    <p:cond delay="0"/>
                                  </p:stCondLst>
                                  <p:iterate type="lt">
                                    <p:tmPct val="10000"/>
                                  </p:iterate>
                                  <p:childTnLst>
                                    <p:set>
                                      <p:cBhvr>
                                        <p:cTn id="14" dur="1" fill="hold">
                                          <p:stCondLst>
                                            <p:cond delay="0"/>
                                          </p:stCondLst>
                                        </p:cTn>
                                        <p:tgtEl>
                                          <p:spTgt spid="2">
                                            <p:txEl>
                                              <p:pRg st="3" end="3"/>
                                            </p:txEl>
                                          </p:spTgt>
                                        </p:tgtEl>
                                        <p:attrNameLst>
                                          <p:attrName>style.visibility</p:attrName>
                                        </p:attrNameLst>
                                      </p:cBhvr>
                                      <p:to>
                                        <p:strVal val="visible"/>
                                      </p:to>
                                    </p:set>
                                    <p:animEffect transition="in" filter="fade">
                                      <p:cBhvr>
                                        <p:cTn id="15" dur="1000"/>
                                        <p:tgtEl>
                                          <p:spTgt spid="2">
                                            <p:txEl>
                                              <p:pRg st="3" end="3"/>
                                            </p:txEl>
                                          </p:spTgt>
                                        </p:tgtEl>
                                      </p:cBhvr>
                                    </p:animEffect>
                                  </p:childTnLst>
                                </p:cTn>
                              </p:par>
                            </p:childTnLst>
                          </p:cTn>
                        </p:par>
                        <p:par>
                          <p:cTn id="16" fill="hold">
                            <p:stCondLst>
                              <p:cond delay="25800"/>
                            </p:stCondLst>
                            <p:childTnLst>
                              <p:par>
                                <p:cTn id="17" presetID="10" presetClass="entr" presetSubtype="0" fill="hold" nodeType="afterEffect">
                                  <p:stCondLst>
                                    <p:cond delay="0"/>
                                  </p:stCondLst>
                                  <p:iterate type="lt">
                                    <p:tmPct val="10000"/>
                                  </p:iterate>
                                  <p:childTnLst>
                                    <p:set>
                                      <p:cBhvr>
                                        <p:cTn id="18" dur="1" fill="hold">
                                          <p:stCondLst>
                                            <p:cond delay="0"/>
                                          </p:stCondLst>
                                        </p:cTn>
                                        <p:tgtEl>
                                          <p:spTgt spid="2">
                                            <p:txEl>
                                              <p:pRg st="5" end="5"/>
                                            </p:txEl>
                                          </p:spTgt>
                                        </p:tgtEl>
                                        <p:attrNameLst>
                                          <p:attrName>style.visibility</p:attrName>
                                        </p:attrNameLst>
                                      </p:cBhvr>
                                      <p:to>
                                        <p:strVal val="visible"/>
                                      </p:to>
                                    </p:set>
                                    <p:animEffect transition="in" filter="fade">
                                      <p:cBhvr>
                                        <p:cTn id="19" dur="1000"/>
                                        <p:tgtEl>
                                          <p:spTgt spid="2">
                                            <p:txEl>
                                              <p:pRg st="5" end="5"/>
                                            </p:txEl>
                                          </p:spTgt>
                                        </p:tgtEl>
                                      </p:cBhvr>
                                    </p:animEffect>
                                  </p:childTnLst>
                                </p:cTn>
                              </p:par>
                            </p:childTnLst>
                          </p:cTn>
                        </p:par>
                        <p:par>
                          <p:cTn id="20" fill="hold">
                            <p:stCondLst>
                              <p:cond delay="39500"/>
                            </p:stCondLst>
                            <p:childTnLst>
                              <p:par>
                                <p:cTn id="21" presetID="10" presetClass="entr" presetSubtype="0" fill="hold" nodeType="afterEffect">
                                  <p:stCondLst>
                                    <p:cond delay="0"/>
                                  </p:stCondLst>
                                  <p:iterate type="lt">
                                    <p:tmPct val="10000"/>
                                  </p:iterate>
                                  <p:childTnLst>
                                    <p:set>
                                      <p:cBhvr>
                                        <p:cTn id="22" dur="1" fill="hold">
                                          <p:stCondLst>
                                            <p:cond delay="0"/>
                                          </p:stCondLst>
                                        </p:cTn>
                                        <p:tgtEl>
                                          <p:spTgt spid="2">
                                            <p:txEl>
                                              <p:pRg st="7" end="7"/>
                                            </p:txEl>
                                          </p:spTgt>
                                        </p:tgtEl>
                                        <p:attrNameLst>
                                          <p:attrName>style.visibility</p:attrName>
                                        </p:attrNameLst>
                                      </p:cBhvr>
                                      <p:to>
                                        <p:strVal val="visible"/>
                                      </p:to>
                                    </p:set>
                                    <p:animEffect transition="in" filter="fade">
                                      <p:cBhvr>
                                        <p:cTn id="23" dur="10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31623" y="2734883"/>
            <a:ext cx="7920758" cy="1569660"/>
          </a:xfrm>
          <a:prstGeom prst="rect">
            <a:avLst/>
          </a:prstGeom>
        </p:spPr>
        <p:txBody>
          <a:bodyPr wrap="none">
            <a:spAutoFit/>
          </a:bodyPr>
          <a:lstStyle/>
          <a:p>
            <a:r>
              <a:rPr lang="en-IN" sz="9600" b="1" dirty="0" smtClean="0">
                <a:solidFill>
                  <a:srgbClr val="00B0F0"/>
                </a:solidFill>
                <a:effectLst>
                  <a:outerShdw blurRad="38100" dist="38100" dir="2700000" algn="tl">
                    <a:srgbClr val="000000">
                      <a:alpha val="43137"/>
                    </a:srgbClr>
                  </a:outerShdw>
                </a:effectLst>
                <a:latin typeface="Ink Free" panose="03080402000500000000" pitchFamily="66" charset="0"/>
              </a:rPr>
              <a:t>THANK    YOU</a:t>
            </a:r>
            <a:endParaRPr lang="en-IN" sz="9600" b="1" dirty="0">
              <a:solidFill>
                <a:srgbClr val="00B0F0"/>
              </a:solidFill>
              <a:effectLst>
                <a:outerShdw blurRad="38100" dist="38100" dir="2700000" algn="tl">
                  <a:srgbClr val="000000">
                    <a:alpha val="43137"/>
                  </a:srgbClr>
                </a:outerShdw>
              </a:effectLst>
              <a:latin typeface="Ink Free" panose="03080402000500000000" pitchFamily="66" charset="0"/>
            </a:endParaRPr>
          </a:p>
        </p:txBody>
      </p:sp>
    </p:spTree>
    <p:extLst>
      <p:ext uri="{BB962C8B-B14F-4D97-AF65-F5344CB8AC3E}">
        <p14:creationId xmlns:p14="http://schemas.microsoft.com/office/powerpoint/2010/main" val="41762183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30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2.jpeg"/></Relationships>
</file>

<file path=ppt/theme/_rels/theme6.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3.xml><?xml version="1.0" encoding="utf-8"?>
<a:theme xmlns:a="http://schemas.openxmlformats.org/drawingml/2006/main" name="1_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4.xml><?xml version="1.0" encoding="utf-8"?>
<a:theme xmlns:a="http://schemas.openxmlformats.org/drawingml/2006/main" name="2_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5.xml><?xml version="1.0" encoding="utf-8"?>
<a:theme xmlns:a="http://schemas.openxmlformats.org/drawingml/2006/main" name="1_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6.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1467</TotalTime>
  <Words>1129</Words>
  <Application>Microsoft Office PowerPoint</Application>
  <PresentationFormat>Widescreen</PresentationFormat>
  <Paragraphs>155</Paragraphs>
  <Slides>46</Slides>
  <Notes>0</Notes>
  <HiddenSlides>0</HiddenSlides>
  <MMClips>0</MMClips>
  <ScaleCrop>false</ScaleCrop>
  <HeadingPairs>
    <vt:vector size="6" baseType="variant">
      <vt:variant>
        <vt:lpstr>Fonts Used</vt:lpstr>
      </vt:variant>
      <vt:variant>
        <vt:i4>15</vt:i4>
      </vt:variant>
      <vt:variant>
        <vt:lpstr>Theme</vt:lpstr>
      </vt:variant>
      <vt:variant>
        <vt:i4>7</vt:i4>
      </vt:variant>
      <vt:variant>
        <vt:lpstr>Slide Titles</vt:lpstr>
      </vt:variant>
      <vt:variant>
        <vt:i4>46</vt:i4>
      </vt:variant>
    </vt:vector>
  </HeadingPairs>
  <TitlesOfParts>
    <vt:vector size="68" baseType="lpstr">
      <vt:lpstr>Arial</vt:lpstr>
      <vt:lpstr>Arial Black</vt:lpstr>
      <vt:lpstr>Calibri</vt:lpstr>
      <vt:lpstr>Calibri (Body)</vt:lpstr>
      <vt:lpstr>Calibri body</vt:lpstr>
      <vt:lpstr>Calibri Light</vt:lpstr>
      <vt:lpstr>Century Gothic</vt:lpstr>
      <vt:lpstr>Ink Free</vt:lpstr>
      <vt:lpstr>NeueHaasGroteskText W01</vt:lpstr>
      <vt:lpstr>Times New Roman</vt:lpstr>
      <vt:lpstr>TimesNewRomanPSMT</vt:lpstr>
      <vt:lpstr>Trebuchet MS</vt:lpstr>
      <vt:lpstr>Wingdings</vt:lpstr>
      <vt:lpstr>Wingdings 3</vt:lpstr>
      <vt:lpstr>Wingdings-Regular</vt:lpstr>
      <vt:lpstr>1_Facet</vt:lpstr>
      <vt:lpstr>Mesh</vt:lpstr>
      <vt:lpstr>1_Mesh</vt:lpstr>
      <vt:lpstr>2_Mesh</vt:lpstr>
      <vt:lpstr>1_Celestial</vt:lpstr>
      <vt:lpstr>Celestial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detect and respond to malware? </vt:lpstr>
      <vt:lpstr>Protecting Against Malware </vt:lpstr>
      <vt:lpstr>Antivirus / Anti-malware software </vt:lpstr>
      <vt:lpstr>Antivirus / Anti-malware software</vt:lpstr>
      <vt:lpstr>Antivirus / Anti-malware software</vt:lpstr>
      <vt:lpstr>PowerPoint Presentation</vt:lpstr>
      <vt:lpstr>Malware Detection Techniques</vt:lpstr>
      <vt:lpstr>Malware Detection Techniques</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Anupam Das</dc:creator>
  <cp:lastModifiedBy>GATHAMS</cp:lastModifiedBy>
  <cp:revision>229</cp:revision>
  <dcterms:created xsi:type="dcterms:W3CDTF">2018-03-19T17:55:03Z</dcterms:created>
  <dcterms:modified xsi:type="dcterms:W3CDTF">2025-06-23T03:50:48Z</dcterms:modified>
</cp:coreProperties>
</file>