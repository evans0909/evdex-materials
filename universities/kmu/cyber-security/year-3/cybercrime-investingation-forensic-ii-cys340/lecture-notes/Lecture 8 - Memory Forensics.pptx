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2" r:id="rId3"/>
    <p:sldId id="258" r:id="rId4"/>
    <p:sldId id="257" r:id="rId5"/>
    <p:sldId id="260" r:id="rId6"/>
    <p:sldId id="261" r:id="rId7"/>
    <p:sldId id="268" r:id="rId8"/>
    <p:sldId id="265" r:id="rId9"/>
    <p:sldId id="266" r:id="rId10"/>
    <p:sldId id="267" r:id="rId11"/>
    <p:sldId id="263" r:id="rId12"/>
    <p:sldId id="264"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C645C36-F396-47A4-A3A3-394521C07ACE}" type="datetimeFigureOut">
              <a:rPr lang="en-US" smtClean="0"/>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FCB5FF-393B-4672-B201-F98B0E5EF980}" type="slidenum">
              <a:rPr lang="en-US" smtClean="0"/>
              <a:t>‹#›</a:t>
            </a:fld>
            <a:endParaRPr lang="en-US"/>
          </a:p>
        </p:txBody>
      </p:sp>
    </p:spTree>
    <p:extLst>
      <p:ext uri="{BB962C8B-B14F-4D97-AF65-F5344CB8AC3E}">
        <p14:creationId xmlns:p14="http://schemas.microsoft.com/office/powerpoint/2010/main" val="3491776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0C645C36-F396-47A4-A3A3-394521C07ACE}" type="datetimeFigureOut">
              <a:rPr lang="en-US" smtClean="0"/>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FCB5FF-393B-4672-B201-F98B0E5EF980}" type="slidenum">
              <a:rPr lang="en-US" smtClean="0"/>
              <a:t>‹#›</a:t>
            </a:fld>
            <a:endParaRPr lang="en-US"/>
          </a:p>
        </p:txBody>
      </p:sp>
    </p:spTree>
    <p:extLst>
      <p:ext uri="{BB962C8B-B14F-4D97-AF65-F5344CB8AC3E}">
        <p14:creationId xmlns:p14="http://schemas.microsoft.com/office/powerpoint/2010/main" val="2170346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C645C36-F396-47A4-A3A3-394521C07ACE}" type="datetimeFigureOut">
              <a:rPr lang="en-US" smtClean="0"/>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FCB5FF-393B-4672-B201-F98B0E5EF980}" type="slidenum">
              <a:rPr lang="en-US" smtClean="0"/>
              <a:t>‹#›</a:t>
            </a:fld>
            <a:endParaRPr lang="en-US"/>
          </a:p>
        </p:txBody>
      </p:sp>
    </p:spTree>
    <p:extLst>
      <p:ext uri="{BB962C8B-B14F-4D97-AF65-F5344CB8AC3E}">
        <p14:creationId xmlns:p14="http://schemas.microsoft.com/office/powerpoint/2010/main" val="3971497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C645C36-F396-47A4-A3A3-394521C07ACE}" type="datetimeFigureOut">
              <a:rPr lang="en-US" smtClean="0"/>
              <a:t>8/25/2025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FCB5FF-393B-4672-B201-F98B0E5EF980}" type="slidenum">
              <a:rPr lang="en-US" smtClean="0"/>
              <a:t>‹#›</a:t>
            </a:fld>
            <a:endParaRPr lang="en-US"/>
          </a:p>
        </p:txBody>
      </p:sp>
    </p:spTree>
    <p:extLst>
      <p:ext uri="{BB962C8B-B14F-4D97-AF65-F5344CB8AC3E}">
        <p14:creationId xmlns:p14="http://schemas.microsoft.com/office/powerpoint/2010/main" val="4193900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C645C36-F396-47A4-A3A3-394521C07ACE}" type="datetimeFigureOut">
              <a:rPr lang="en-US" smtClean="0"/>
              <a:t>8/25/2025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FCB5FF-393B-4672-B201-F98B0E5EF980}" type="slidenum">
              <a:rPr lang="en-US" smtClean="0"/>
              <a:t>‹#›</a:t>
            </a:fld>
            <a:endParaRPr lang="en-US"/>
          </a:p>
        </p:txBody>
      </p:sp>
    </p:spTree>
    <p:extLst>
      <p:ext uri="{BB962C8B-B14F-4D97-AF65-F5344CB8AC3E}">
        <p14:creationId xmlns:p14="http://schemas.microsoft.com/office/powerpoint/2010/main" val="4243045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0C645C36-F396-47A4-A3A3-394521C07ACE}" type="datetimeFigureOut">
              <a:rPr lang="en-US" smtClean="0"/>
              <a:t>8/25/2025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79FCB5FF-393B-4672-B201-F98B0E5EF980}" type="slidenum">
              <a:rPr lang="en-US" smtClean="0"/>
              <a:t>‹#›</a:t>
            </a:fld>
            <a:endParaRPr lang="en-US"/>
          </a:p>
        </p:txBody>
      </p:sp>
    </p:spTree>
    <p:extLst>
      <p:ext uri="{BB962C8B-B14F-4D97-AF65-F5344CB8AC3E}">
        <p14:creationId xmlns:p14="http://schemas.microsoft.com/office/powerpoint/2010/main" val="4237594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C645C36-F396-47A4-A3A3-394521C07ACE}" type="datetimeFigureOut">
              <a:rPr lang="en-US" smtClean="0"/>
              <a:t>8/25/2025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79FCB5FF-393B-4672-B201-F98B0E5EF980}" type="slidenum">
              <a:rPr lang="en-US" smtClean="0"/>
              <a:t>‹#›</a:t>
            </a:fld>
            <a:endParaRPr lang="en-US"/>
          </a:p>
        </p:txBody>
      </p:sp>
    </p:spTree>
    <p:extLst>
      <p:ext uri="{BB962C8B-B14F-4D97-AF65-F5344CB8AC3E}">
        <p14:creationId xmlns:p14="http://schemas.microsoft.com/office/powerpoint/2010/main" val="3465922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0C645C36-F396-47A4-A3A3-394521C07ACE}" type="datetimeFigureOut">
              <a:rPr lang="en-US" smtClean="0"/>
              <a:t>8/25/2025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79FCB5FF-393B-4672-B201-F98B0E5EF980}" type="slidenum">
              <a:rPr lang="en-US" smtClean="0"/>
              <a:t>‹#›</a:t>
            </a:fld>
            <a:endParaRPr lang="en-US"/>
          </a:p>
        </p:txBody>
      </p:sp>
    </p:spTree>
    <p:extLst>
      <p:ext uri="{BB962C8B-B14F-4D97-AF65-F5344CB8AC3E}">
        <p14:creationId xmlns:p14="http://schemas.microsoft.com/office/powerpoint/2010/main" val="420699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C645C36-F396-47A4-A3A3-394521C07ACE}" type="datetimeFigureOut">
              <a:rPr lang="en-US" smtClean="0"/>
              <a:t>8/25/2025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FCB5FF-393B-4672-B201-F98B0E5EF980}" type="slidenum">
              <a:rPr lang="en-US" smtClean="0"/>
              <a:t>‹#›</a:t>
            </a:fld>
            <a:endParaRPr lang="en-US"/>
          </a:p>
        </p:txBody>
      </p:sp>
    </p:spTree>
    <p:extLst>
      <p:ext uri="{BB962C8B-B14F-4D97-AF65-F5344CB8AC3E}">
        <p14:creationId xmlns:p14="http://schemas.microsoft.com/office/powerpoint/2010/main" val="72194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C645C36-F396-47A4-A3A3-394521C07ACE}" type="datetimeFigureOut">
              <a:rPr lang="en-US" smtClean="0"/>
              <a:t>8/25/2025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FCB5FF-393B-4672-B201-F98B0E5EF980}" type="slidenum">
              <a:rPr lang="en-US" smtClean="0"/>
              <a:t>‹#›</a:t>
            </a:fld>
            <a:endParaRPr lang="en-US"/>
          </a:p>
        </p:txBody>
      </p:sp>
    </p:spTree>
    <p:extLst>
      <p:ext uri="{BB962C8B-B14F-4D97-AF65-F5344CB8AC3E}">
        <p14:creationId xmlns:p14="http://schemas.microsoft.com/office/powerpoint/2010/main" val="2399428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C645C36-F396-47A4-A3A3-394521C07ACE}" type="datetimeFigureOut">
              <a:rPr lang="en-US" smtClean="0"/>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FCB5FF-393B-4672-B201-F98B0E5EF980}" type="slidenum">
              <a:rPr lang="en-US" smtClean="0"/>
              <a:t>‹#›</a:t>
            </a:fld>
            <a:endParaRPr lang="en-US"/>
          </a:p>
        </p:txBody>
      </p:sp>
    </p:spTree>
    <p:extLst>
      <p:ext uri="{BB962C8B-B14F-4D97-AF65-F5344CB8AC3E}">
        <p14:creationId xmlns:p14="http://schemas.microsoft.com/office/powerpoint/2010/main" val="39241997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C645C36-F396-47A4-A3A3-394521C07ACE}" type="datetimeFigureOut">
              <a:rPr lang="en-US" smtClean="0"/>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FCB5FF-393B-4672-B201-F98B0E5EF980}"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8590764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C645C36-F396-47A4-A3A3-394521C07ACE}" type="datetimeFigureOut">
              <a:rPr lang="en-US" smtClean="0"/>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FCB5FF-393B-4672-B201-F98B0E5EF980}" type="slidenum">
              <a:rPr lang="en-US" smtClean="0"/>
              <a:t>‹#›</a:t>
            </a:fld>
            <a:endParaRPr lang="en-US"/>
          </a:p>
        </p:txBody>
      </p:sp>
    </p:spTree>
    <p:extLst>
      <p:ext uri="{BB962C8B-B14F-4D97-AF65-F5344CB8AC3E}">
        <p14:creationId xmlns:p14="http://schemas.microsoft.com/office/powerpoint/2010/main" val="11061582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C645C36-F396-47A4-A3A3-394521C07ACE}" type="datetimeFigureOut">
              <a:rPr lang="en-US" smtClean="0"/>
              <a:t>8/25/2025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FCB5FF-393B-4672-B201-F98B0E5EF980}" type="slidenum">
              <a:rPr lang="en-US" smtClean="0"/>
              <a:t>‹#›</a:t>
            </a:fld>
            <a:endParaRPr lang="en-US"/>
          </a:p>
        </p:txBody>
      </p:sp>
    </p:spTree>
    <p:extLst>
      <p:ext uri="{BB962C8B-B14F-4D97-AF65-F5344CB8AC3E}">
        <p14:creationId xmlns:p14="http://schemas.microsoft.com/office/powerpoint/2010/main" val="21134138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C645C36-F396-47A4-A3A3-394521C07ACE}" type="datetimeFigureOut">
              <a:rPr lang="en-US" smtClean="0"/>
              <a:t>8/25/2025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FCB5FF-393B-4672-B201-F98B0E5EF980}" type="slidenum">
              <a:rPr lang="en-US" smtClean="0"/>
              <a:t>‹#›</a:t>
            </a:fld>
            <a:endParaRPr lang="en-US"/>
          </a:p>
        </p:txBody>
      </p:sp>
    </p:spTree>
    <p:extLst>
      <p:ext uri="{BB962C8B-B14F-4D97-AF65-F5344CB8AC3E}">
        <p14:creationId xmlns:p14="http://schemas.microsoft.com/office/powerpoint/2010/main" val="1446721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C645C36-F396-47A4-A3A3-394521C07ACE}" type="datetimeFigureOut">
              <a:rPr lang="en-US" smtClean="0"/>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FCB5FF-393B-4672-B201-F98B0E5EF980}" type="slidenum">
              <a:rPr lang="en-US" smtClean="0"/>
              <a:t>‹#›</a:t>
            </a:fld>
            <a:endParaRPr lang="en-US"/>
          </a:p>
        </p:txBody>
      </p:sp>
    </p:spTree>
    <p:extLst>
      <p:ext uri="{BB962C8B-B14F-4D97-AF65-F5344CB8AC3E}">
        <p14:creationId xmlns:p14="http://schemas.microsoft.com/office/powerpoint/2010/main" val="5391247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C645C36-F396-47A4-A3A3-394521C07ACE}" type="datetimeFigureOut">
              <a:rPr lang="en-US" smtClean="0"/>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FCB5FF-393B-4672-B201-F98B0E5EF980}" type="slidenum">
              <a:rPr lang="en-US" smtClean="0"/>
              <a:t>‹#›</a:t>
            </a:fld>
            <a:endParaRPr lang="en-US"/>
          </a:p>
        </p:txBody>
      </p:sp>
    </p:spTree>
    <p:extLst>
      <p:ext uri="{BB962C8B-B14F-4D97-AF65-F5344CB8AC3E}">
        <p14:creationId xmlns:p14="http://schemas.microsoft.com/office/powerpoint/2010/main" val="3538729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C645C36-F396-47A4-A3A3-394521C07ACE}" type="datetimeFigureOut">
              <a:rPr lang="en-US" smtClean="0"/>
              <a:t>8/25/2025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9FCB5FF-393B-4672-B201-F98B0E5EF980}" type="slidenum">
              <a:rPr lang="en-US" smtClean="0"/>
              <a:t>‹#›</a:t>
            </a:fld>
            <a:endParaRPr lang="en-US"/>
          </a:p>
        </p:txBody>
      </p:sp>
    </p:spTree>
    <p:extLst>
      <p:ext uri="{BB962C8B-B14F-4D97-AF65-F5344CB8AC3E}">
        <p14:creationId xmlns:p14="http://schemas.microsoft.com/office/powerpoint/2010/main" val="345505291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1"/>
            <a:ext cx="8825658" cy="2144486"/>
          </a:xfrm>
        </p:spPr>
        <p:txBody>
          <a:bodyPr/>
          <a:lstStyle/>
          <a:p>
            <a:r>
              <a:rPr lang="en-US" sz="8000" dirty="0" smtClean="0">
                <a:latin typeface="Times New Roman" panose="02020603050405020304" pitchFamily="18" charset="0"/>
                <a:cs typeface="Times New Roman" panose="02020603050405020304" pitchFamily="18" charset="0"/>
              </a:rPr>
              <a:t>Memory Forensics</a:t>
            </a:r>
            <a:endParaRPr lang="en-US" sz="8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354183" y="5012827"/>
            <a:ext cx="9144000" cy="1655762"/>
          </a:xfrm>
        </p:spPr>
        <p:txBody>
          <a:bodyPr/>
          <a:lstStyle/>
          <a:p>
            <a:r>
              <a:rPr lang="en-US" dirty="0" smtClean="0"/>
              <a:t>ENG. NGOSA GATHAMS </a:t>
            </a:r>
          </a:p>
          <a:p>
            <a:endParaRPr lang="en-US" dirty="0"/>
          </a:p>
        </p:txBody>
      </p:sp>
    </p:spTree>
    <p:extLst>
      <p:ext uri="{BB962C8B-B14F-4D97-AF65-F5344CB8AC3E}">
        <p14:creationId xmlns:p14="http://schemas.microsoft.com/office/powerpoint/2010/main" val="24510099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76740" y="1582655"/>
            <a:ext cx="10182997" cy="4504636"/>
          </a:xfrm>
        </p:spPr>
        <p:txBody>
          <a:bodyPr>
            <a:normAutofit/>
          </a:bodyPr>
          <a:lstStyle/>
          <a:p>
            <a:pPr algn="just"/>
            <a:r>
              <a:rPr lang="en-US" sz="3200" dirty="0" smtClean="0">
                <a:latin typeface="Times New Roman" panose="02020603050405020304" pitchFamily="18" charset="0"/>
                <a:cs typeface="Times New Roman" panose="02020603050405020304" pitchFamily="18" charset="0"/>
              </a:rPr>
              <a:t>While a system is on, random access memory (RAM) contains critical information about the current state of the system. </a:t>
            </a:r>
          </a:p>
          <a:p>
            <a:pPr algn="just"/>
            <a:r>
              <a:rPr lang="en-US" sz="3200" dirty="0" smtClean="0">
                <a:latin typeface="Times New Roman" panose="02020603050405020304" pitchFamily="18" charset="0"/>
                <a:cs typeface="Times New Roman" panose="02020603050405020304" pitchFamily="18" charset="0"/>
              </a:rPr>
              <a:t>By capturing an entire copy of RAM and analyzing it on a separate computer, it is possible to reconstruct the state of the original system, including the applications the user was running and the files or network connections that existed at the time.</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8041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circle(in)">
                                      <p:cBhvr>
                                        <p:cTn id="21"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000" dirty="0" smtClean="0">
                <a:latin typeface="Times New Roman" panose="02020603050405020304" pitchFamily="18" charset="0"/>
                <a:cs typeface="Times New Roman" panose="02020603050405020304" pitchFamily="18" charset="0"/>
              </a:rPr>
              <a:t>INTRODUCTION</a:t>
            </a:r>
            <a:endParaRPr lang="en-US" sz="6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75201" y="1530404"/>
            <a:ext cx="10737679" cy="5223093"/>
          </a:xfrm>
        </p:spPr>
        <p:txBody>
          <a:bodyPr>
            <a:normAutofit fontScale="92500" lnSpcReduction="10000"/>
          </a:bodyPr>
          <a:lstStyle/>
          <a:p>
            <a:r>
              <a:rPr lang="en-US" sz="2800" dirty="0" smtClean="0">
                <a:latin typeface="Times New Roman" panose="02020603050405020304" pitchFamily="18" charset="0"/>
                <a:cs typeface="Times New Roman" panose="02020603050405020304" pitchFamily="18" charset="0"/>
              </a:rPr>
              <a:t> Processes</a:t>
            </a:r>
            <a:r>
              <a:rPr lang="en-US" sz="2800" dirty="0">
                <a:latin typeface="Times New Roman" panose="02020603050405020304" pitchFamily="18" charset="0"/>
                <a:cs typeface="Times New Roman" panose="02020603050405020304" pitchFamily="18" charset="0"/>
              </a:rPr>
              <a:t>, files and programs are run in memory, and once </a:t>
            </a:r>
            <a:r>
              <a:rPr lang="en-US" sz="2800" b="1" dirty="0">
                <a:latin typeface="Times New Roman" panose="02020603050405020304" pitchFamily="18" charset="0"/>
                <a:cs typeface="Times New Roman" panose="02020603050405020304" pitchFamily="18" charset="0"/>
              </a:rPr>
              <a:t>a snapshot has been captured</a:t>
            </a:r>
            <a:r>
              <a:rPr lang="en-US" sz="2800" dirty="0">
                <a:latin typeface="Times New Roman" panose="02020603050405020304" pitchFamily="18" charset="0"/>
                <a:cs typeface="Times New Roman" panose="02020603050405020304" pitchFamily="18" charset="0"/>
              </a:rPr>
              <a:t>, many important facts can be ascertained by the investigator, such as:</a:t>
            </a:r>
          </a:p>
          <a:p>
            <a:pPr lvl="0"/>
            <a:r>
              <a:rPr lang="en-US" sz="2800" dirty="0">
                <a:latin typeface="Times New Roman" panose="02020603050405020304" pitchFamily="18" charset="0"/>
                <a:cs typeface="Times New Roman" panose="02020603050405020304" pitchFamily="18" charset="0"/>
              </a:rPr>
              <a:t>Processes running</a:t>
            </a:r>
          </a:p>
          <a:p>
            <a:pPr lvl="0"/>
            <a:r>
              <a:rPr lang="en-US" sz="2800" dirty="0">
                <a:latin typeface="Times New Roman" panose="02020603050405020304" pitchFamily="18" charset="0"/>
                <a:cs typeface="Times New Roman" panose="02020603050405020304" pitchFamily="18" charset="0"/>
              </a:rPr>
              <a:t>Executable files that are running</a:t>
            </a:r>
          </a:p>
          <a:p>
            <a:pPr lvl="0"/>
            <a:r>
              <a:rPr lang="en-US" sz="2800" dirty="0">
                <a:latin typeface="Times New Roman" panose="02020603050405020304" pitchFamily="18" charset="0"/>
                <a:cs typeface="Times New Roman" panose="02020603050405020304" pitchFamily="18" charset="0"/>
              </a:rPr>
              <a:t>Open ports, IP addresses and other networking information</a:t>
            </a:r>
          </a:p>
          <a:p>
            <a:pPr lvl="0"/>
            <a:r>
              <a:rPr lang="en-US" sz="2800" dirty="0">
                <a:latin typeface="Times New Roman" panose="02020603050405020304" pitchFamily="18" charset="0"/>
                <a:cs typeface="Times New Roman" panose="02020603050405020304" pitchFamily="18" charset="0"/>
              </a:rPr>
              <a:t>Users that are logged into the system, and from where</a:t>
            </a:r>
          </a:p>
          <a:p>
            <a:pPr lvl="0"/>
            <a:r>
              <a:rPr lang="en-US" sz="2800" dirty="0">
                <a:latin typeface="Times New Roman" panose="02020603050405020304" pitchFamily="18" charset="0"/>
                <a:cs typeface="Times New Roman" panose="02020603050405020304" pitchFamily="18" charset="0"/>
              </a:rPr>
              <a:t>Files that are open and by whom</a:t>
            </a:r>
          </a:p>
          <a:p>
            <a:r>
              <a:rPr lang="en-US" sz="2800" dirty="0" smtClean="0">
                <a:latin typeface="Times New Roman" panose="02020603050405020304" pitchFamily="18" charset="0"/>
                <a:cs typeface="Times New Roman" panose="02020603050405020304" pitchFamily="18" charset="0"/>
              </a:rPr>
              <a:t>This </a:t>
            </a:r>
            <a:r>
              <a:rPr lang="en-US" sz="2800" dirty="0">
                <a:latin typeface="Times New Roman" panose="02020603050405020304" pitchFamily="18" charset="0"/>
                <a:cs typeface="Times New Roman" panose="02020603050405020304" pitchFamily="18" charset="0"/>
              </a:rPr>
              <a:t>information can help an investigator as they seek out system anomalies, and by being able to capture the volatile information inside the system’s memory, they are able to create a permanent record of the system’s state as it was.</a:t>
            </a:r>
          </a:p>
          <a:p>
            <a:endParaRPr lang="en-US" dirty="0"/>
          </a:p>
        </p:txBody>
      </p:sp>
    </p:spTree>
    <p:extLst>
      <p:ext uri="{BB962C8B-B14F-4D97-AF65-F5344CB8AC3E}">
        <p14:creationId xmlns:p14="http://schemas.microsoft.com/office/powerpoint/2010/main" val="864023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barn(inVertical)">
                                      <p:cBhvr>
                                        <p:cTn id="13" dur="500"/>
                                        <p:tgtEl>
                                          <p:spTgt spid="3">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circle(in)">
                                      <p:cBhvr>
                                        <p:cTn id="18" dur="20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wipe(down)">
                                      <p:cBhvr>
                                        <p:cTn id="23" dur="5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 calcmode="lin" valueType="num">
                                      <p:cBhvr>
                                        <p:cTn id="28"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5" presetClass="entr" presetSubtype="0"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2000"/>
                                        <p:tgtEl>
                                          <p:spTgt spid="3">
                                            <p:txEl>
                                              <p:pRg st="6" end="6"/>
                                            </p:txEl>
                                          </p:spTgt>
                                        </p:tgtEl>
                                      </p:cBhvr>
                                    </p:animEffect>
                                    <p:anim calcmode="lin" valueType="num">
                                      <p:cBhvr>
                                        <p:cTn id="42" dur="2000" fill="hold"/>
                                        <p:tgtEl>
                                          <p:spTgt spid="3">
                                            <p:txEl>
                                              <p:pRg st="6" end="6"/>
                                            </p:txEl>
                                          </p:spTgt>
                                        </p:tgtEl>
                                        <p:attrNameLst>
                                          <p:attrName>ppt_w</p:attrName>
                                        </p:attrNameLst>
                                      </p:cBhvr>
                                      <p:tavLst>
                                        <p:tav tm="0" fmla="#ppt_w*sin(2.5*pi*$)">
                                          <p:val>
                                            <p:fltVal val="0"/>
                                          </p:val>
                                        </p:tav>
                                        <p:tav tm="100000">
                                          <p:val>
                                            <p:fltVal val="1"/>
                                          </p:val>
                                        </p:tav>
                                      </p:tavLst>
                                    </p:anim>
                                    <p:anim calcmode="lin" valueType="num">
                                      <p:cBhvr>
                                        <p:cTn id="43" dur="2000" fill="hold"/>
                                        <p:tgtEl>
                                          <p:spTgt spid="3">
                                            <p:txEl>
                                              <p:pRg st="6" end="6"/>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Times New Roman" panose="02020603050405020304" pitchFamily="18" charset="0"/>
                <a:cs typeface="Times New Roman" panose="02020603050405020304" pitchFamily="18" charset="0"/>
              </a:rPr>
              <a:t>WHAT IS MEMORY FORENSICS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6478" y="1256083"/>
            <a:ext cx="11554596" cy="5392911"/>
          </a:xfrm>
        </p:spPr>
        <p:txBody>
          <a:bodyPr>
            <a:normAutofit/>
          </a:bodyPr>
          <a:lstStyle/>
          <a:p>
            <a:r>
              <a:rPr lang="en-US" sz="3200" dirty="0" smtClean="0">
                <a:latin typeface="Times New Roman" panose="02020603050405020304" pitchFamily="18" charset="0"/>
                <a:cs typeface="Times New Roman" panose="02020603050405020304" pitchFamily="18" charset="0"/>
              </a:rPr>
              <a:t>Memory forensics refers to finding and extracting forensic artifacts from a computer’s physical memory.</a:t>
            </a:r>
          </a:p>
          <a:p>
            <a:r>
              <a:rPr lang="en-US" sz="3200" dirty="0" smtClean="0">
                <a:latin typeface="Times New Roman" panose="02020603050405020304" pitchFamily="18" charset="0"/>
                <a:cs typeface="Times New Roman" panose="02020603050405020304" pitchFamily="18" charset="0"/>
              </a:rPr>
              <a:t>Memory </a:t>
            </a:r>
            <a:r>
              <a:rPr lang="en-US" sz="3200" dirty="0">
                <a:latin typeface="Times New Roman" panose="02020603050405020304" pitchFamily="18" charset="0"/>
                <a:cs typeface="Times New Roman" panose="02020603050405020304" pitchFamily="18" charset="0"/>
              </a:rPr>
              <a:t>forensics is a vital form of cyber investigation that allows an investigator to identify unauthorized and anomalous activity on a target computer or server. </a:t>
            </a:r>
            <a:endParaRPr lang="en-US" sz="3200" dirty="0" smtClean="0">
              <a:latin typeface="Times New Roman" panose="02020603050405020304" pitchFamily="18" charset="0"/>
              <a:cs typeface="Times New Roman" panose="02020603050405020304" pitchFamily="18" charset="0"/>
            </a:endParaRPr>
          </a:p>
          <a:p>
            <a:r>
              <a:rPr lang="en-US" sz="3200" dirty="0" smtClean="0">
                <a:latin typeface="Times New Roman" panose="02020603050405020304" pitchFamily="18" charset="0"/>
                <a:cs typeface="Times New Roman" panose="02020603050405020304" pitchFamily="18" charset="0"/>
              </a:rPr>
              <a:t>This </a:t>
            </a:r>
            <a:r>
              <a:rPr lang="en-US" sz="3200" dirty="0">
                <a:latin typeface="Times New Roman" panose="02020603050405020304" pitchFamily="18" charset="0"/>
                <a:cs typeface="Times New Roman" panose="02020603050405020304" pitchFamily="18" charset="0"/>
              </a:rPr>
              <a:t>is usually achieved by running special software that captures the current state of the system’s memory as a snapshot file, also known as a memory dump. </a:t>
            </a:r>
            <a:endParaRPr lang="en-US" sz="3200" dirty="0" smtClean="0">
              <a:latin typeface="Times New Roman" panose="02020603050405020304" pitchFamily="18" charset="0"/>
              <a:cs typeface="Times New Roman" panose="02020603050405020304" pitchFamily="18" charset="0"/>
            </a:endParaRPr>
          </a:p>
          <a:p>
            <a:r>
              <a:rPr lang="en-US" sz="3200" dirty="0" smtClean="0">
                <a:latin typeface="Times New Roman" panose="02020603050405020304" pitchFamily="18" charset="0"/>
                <a:cs typeface="Times New Roman" panose="02020603050405020304" pitchFamily="18" charset="0"/>
              </a:rPr>
              <a:t>This </a:t>
            </a:r>
            <a:r>
              <a:rPr lang="en-US" sz="3200" dirty="0">
                <a:latin typeface="Times New Roman" panose="02020603050405020304" pitchFamily="18" charset="0"/>
                <a:cs typeface="Times New Roman" panose="02020603050405020304" pitchFamily="18" charset="0"/>
              </a:rPr>
              <a:t>file can then be taken offsite and searched by the investigator</a:t>
            </a:r>
          </a:p>
        </p:txBody>
      </p:sp>
    </p:spTree>
    <p:extLst>
      <p:ext uri="{BB962C8B-B14F-4D97-AF65-F5344CB8AC3E}">
        <p14:creationId xmlns:p14="http://schemas.microsoft.com/office/powerpoint/2010/main" val="1686073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wipe(down)">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1"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2" dur="1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latin typeface="Times New Roman" panose="02020603050405020304" pitchFamily="18" charset="0"/>
                <a:cs typeface="Times New Roman" panose="02020603050405020304" pitchFamily="18" charset="0"/>
              </a:rPr>
              <a:t>How  Memory Forensics Differs From Hard Drive Forensics?</a:t>
            </a:r>
            <a:r>
              <a:rPr lang="en-US" dirty="0"/>
              <a:t/>
            </a:r>
            <a:br>
              <a:rPr lang="en-US" dirty="0"/>
            </a:br>
            <a:endParaRPr lang="en-US" dirty="0"/>
          </a:p>
        </p:txBody>
      </p:sp>
      <p:sp>
        <p:nvSpPr>
          <p:cNvPr id="3" name="Text Placeholder 2"/>
          <p:cNvSpPr>
            <a:spLocks noGrp="1"/>
          </p:cNvSpPr>
          <p:nvPr>
            <p:ph type="body" idx="1"/>
          </p:nvPr>
        </p:nvSpPr>
        <p:spPr>
          <a:xfrm>
            <a:off x="450170" y="1735183"/>
            <a:ext cx="4396338" cy="576262"/>
          </a:xfrm>
        </p:spPr>
        <p:txBody>
          <a:bodyPr/>
          <a:lstStyle/>
          <a:p>
            <a:r>
              <a:rPr lang="en-US" sz="2800" dirty="0" smtClean="0">
                <a:latin typeface="Times New Roman" panose="02020603050405020304" pitchFamily="18" charset="0"/>
                <a:cs typeface="Times New Roman" panose="02020603050405020304" pitchFamily="18" charset="0"/>
              </a:rPr>
              <a:t>Memory Forensics</a:t>
            </a:r>
            <a:endParaRPr lang="en-US" sz="280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2"/>
          </p:nvPr>
        </p:nvSpPr>
        <p:spPr>
          <a:xfrm>
            <a:off x="450170" y="2370478"/>
            <a:ext cx="5049481" cy="3885860"/>
          </a:xfrm>
        </p:spPr>
        <p:txBody>
          <a:bodyPr>
            <a:noAutofit/>
          </a:bodyPr>
          <a:lstStyle/>
          <a:p>
            <a:r>
              <a:rPr lang="en-US" sz="2400" dirty="0">
                <a:latin typeface="Times New Roman" panose="02020603050405020304" pitchFamily="18" charset="0"/>
                <a:cs typeface="Times New Roman" panose="02020603050405020304" pitchFamily="18" charset="0"/>
              </a:rPr>
              <a:t>a current snapshot of a system that gives investigators a near real time image of the system while in </a:t>
            </a:r>
            <a:r>
              <a:rPr lang="en-US" sz="2400" dirty="0" smtClean="0">
                <a:latin typeface="Times New Roman" panose="02020603050405020304" pitchFamily="18" charset="0"/>
                <a:cs typeface="Times New Roman" panose="02020603050405020304" pitchFamily="18" charset="0"/>
              </a:rPr>
              <a:t>use</a:t>
            </a:r>
          </a:p>
          <a:p>
            <a:r>
              <a:rPr lang="en-US" sz="2400" dirty="0">
                <a:latin typeface="Times New Roman" panose="02020603050405020304" pitchFamily="18" charset="0"/>
                <a:cs typeface="Times New Roman" panose="02020603050405020304" pitchFamily="18" charset="0"/>
              </a:rPr>
              <a:t>a live response to a current </a:t>
            </a:r>
            <a:r>
              <a:rPr lang="en-US" sz="2400" dirty="0" smtClean="0">
                <a:latin typeface="Times New Roman" panose="02020603050405020304" pitchFamily="18" charset="0"/>
                <a:cs typeface="Times New Roman" panose="02020603050405020304" pitchFamily="18" charset="0"/>
              </a:rPr>
              <a:t>threat</a:t>
            </a:r>
          </a:p>
          <a:p>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 time sensitive, as the information that is required is stored in volatile system memory, and if the system is restarted or powered off, then that information is flushed from system memory</a:t>
            </a:r>
          </a:p>
        </p:txBody>
      </p:sp>
      <p:sp>
        <p:nvSpPr>
          <p:cNvPr id="5" name="Text Placeholder 4"/>
          <p:cNvSpPr>
            <a:spLocks noGrp="1"/>
          </p:cNvSpPr>
          <p:nvPr>
            <p:ph type="body" sz="quarter" idx="3"/>
          </p:nvPr>
        </p:nvSpPr>
        <p:spPr>
          <a:xfrm>
            <a:off x="6790963" y="1794216"/>
            <a:ext cx="4396339" cy="576262"/>
          </a:xfrm>
        </p:spPr>
        <p:txBody>
          <a:bodyPr>
            <a:normAutofit fontScale="25000" lnSpcReduction="20000"/>
          </a:bodyPr>
          <a:lstStyle/>
          <a:p>
            <a:endParaRPr lang="en-US" dirty="0" smtClean="0"/>
          </a:p>
          <a:p>
            <a:r>
              <a:rPr lang="en-US" sz="11200" dirty="0" smtClean="0">
                <a:latin typeface="Times New Roman" panose="02020603050405020304" pitchFamily="18" charset="0"/>
                <a:cs typeface="Times New Roman" panose="02020603050405020304" pitchFamily="18" charset="0"/>
              </a:rPr>
              <a:t>Hard disk Forensics</a:t>
            </a:r>
          </a:p>
        </p:txBody>
      </p:sp>
      <p:sp>
        <p:nvSpPr>
          <p:cNvPr id="6" name="Content Placeholder 5"/>
          <p:cNvSpPr>
            <a:spLocks noGrp="1"/>
          </p:cNvSpPr>
          <p:nvPr>
            <p:ph sz="quarter" idx="4"/>
          </p:nvPr>
        </p:nvSpPr>
        <p:spPr>
          <a:xfrm>
            <a:off x="5654495" y="2370478"/>
            <a:ext cx="5532807" cy="3885860"/>
          </a:xfrm>
        </p:spPr>
        <p:txBody>
          <a:bodyPr/>
          <a:lstStyle/>
          <a:p>
            <a:r>
              <a:rPr lang="en-US" sz="2800" dirty="0">
                <a:latin typeface="Times New Roman" panose="02020603050405020304" pitchFamily="18" charset="0"/>
                <a:cs typeface="Times New Roman" panose="02020603050405020304" pitchFamily="18" charset="0"/>
              </a:rPr>
              <a:t>normally focused on data recovery and decryption, usually made from an image of the drive in question</a:t>
            </a:r>
            <a:r>
              <a:rPr lang="en-US" sz="2800" dirty="0" smtClean="0">
                <a:latin typeface="Times New Roman" panose="02020603050405020304" pitchFamily="18" charset="0"/>
                <a:cs typeface="Times New Roman" panose="02020603050405020304" pitchFamily="18" charset="0"/>
              </a:rPr>
              <a:t>.</a:t>
            </a:r>
          </a:p>
          <a:p>
            <a:r>
              <a:rPr lang="en-US" sz="2800" dirty="0" smtClean="0">
                <a:latin typeface="Times New Roman" panose="02020603050405020304" pitchFamily="18" charset="0"/>
                <a:cs typeface="Times New Roman" panose="02020603050405020304" pitchFamily="18" charset="0"/>
              </a:rPr>
              <a:t>a </a:t>
            </a:r>
            <a:r>
              <a:rPr lang="en-US" sz="2800" dirty="0">
                <a:latin typeface="Times New Roman" panose="02020603050405020304" pitchFamily="18" charset="0"/>
                <a:cs typeface="Times New Roman" panose="02020603050405020304" pitchFamily="18" charset="0"/>
              </a:rPr>
              <a:t>post mortem of events that have already transpired. </a:t>
            </a:r>
            <a:endParaRPr lang="en-US" sz="2800" dirty="0" smtClean="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are a non-volatile form of computer storage</a:t>
            </a:r>
          </a:p>
          <a:p>
            <a:endParaRPr lang="en-US" dirty="0"/>
          </a:p>
        </p:txBody>
      </p:sp>
    </p:spTree>
    <p:extLst>
      <p:ext uri="{BB962C8B-B14F-4D97-AF65-F5344CB8AC3E}">
        <p14:creationId xmlns:p14="http://schemas.microsoft.com/office/powerpoint/2010/main" val="683405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fade">
                                      <p:cBhvr>
                                        <p:cTn id="25" dur="1000"/>
                                        <p:tgtEl>
                                          <p:spTgt spid="3">
                                            <p:txEl>
                                              <p:pRg st="0" end="0"/>
                                            </p:txEl>
                                          </p:spTgt>
                                        </p:tgtEl>
                                      </p:cBhvr>
                                    </p:animEffect>
                                    <p:anim calcmode="lin" valueType="num">
                                      <p:cBhvr>
                                        <p:cTn id="2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anim calcmode="lin" valueType="num">
                                      <p:cBhvr additive="base">
                                        <p:cTn id="32"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5">
                                            <p:txEl>
                                              <p:pRg st="1" end="1"/>
                                            </p:txEl>
                                          </p:spTgt>
                                        </p:tgtEl>
                                        <p:attrNameLst>
                                          <p:attrName>style.visibility</p:attrName>
                                        </p:attrNameLst>
                                      </p:cBhvr>
                                      <p:to>
                                        <p:strVal val="visible"/>
                                      </p:to>
                                    </p:set>
                                    <p:animEffect transition="in" filter="wipe(down)">
                                      <p:cBhvr>
                                        <p:cTn id="38" dur="500"/>
                                        <p:tgtEl>
                                          <p:spTgt spid="5">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Effect transition="in" filter="circle(in)">
                                      <p:cBhvr>
                                        <p:cTn id="43" dur="2000"/>
                                        <p:tgtEl>
                                          <p:spTgt spid="6">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4">
                                            <p:txEl>
                                              <p:pRg st="1" end="1"/>
                                            </p:txEl>
                                          </p:spTgt>
                                        </p:tgtEl>
                                        <p:attrNameLst>
                                          <p:attrName>style.visibility</p:attrName>
                                        </p:attrNameLst>
                                      </p:cBhvr>
                                      <p:to>
                                        <p:strVal val="visible"/>
                                      </p:to>
                                    </p:set>
                                    <p:animEffect transition="in" filter="fade">
                                      <p:cBhvr>
                                        <p:cTn id="48" dur="1000"/>
                                        <p:tgtEl>
                                          <p:spTgt spid="4">
                                            <p:txEl>
                                              <p:pRg st="1" end="1"/>
                                            </p:txEl>
                                          </p:spTgt>
                                        </p:tgtEl>
                                      </p:cBhvr>
                                    </p:animEffect>
                                    <p:anim calcmode="lin" valueType="num">
                                      <p:cBhvr>
                                        <p:cTn id="49"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50"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6">
                                            <p:txEl>
                                              <p:pRg st="1" end="1"/>
                                            </p:txEl>
                                          </p:spTgt>
                                        </p:tgtEl>
                                        <p:attrNameLst>
                                          <p:attrName>style.visibility</p:attrName>
                                        </p:attrNameLst>
                                      </p:cBhvr>
                                      <p:to>
                                        <p:strVal val="visible"/>
                                      </p:to>
                                    </p:set>
                                    <p:animEffect transition="in" filter="fade">
                                      <p:cBhvr>
                                        <p:cTn id="55" dur="1000"/>
                                        <p:tgtEl>
                                          <p:spTgt spid="6">
                                            <p:txEl>
                                              <p:pRg st="1" end="1"/>
                                            </p:txEl>
                                          </p:spTgt>
                                        </p:tgtEl>
                                      </p:cBhvr>
                                    </p:animEffect>
                                    <p:anim calcmode="lin" valueType="num">
                                      <p:cBhvr>
                                        <p:cTn id="56"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57"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4">
                                            <p:txEl>
                                              <p:pRg st="2" end="2"/>
                                            </p:txEl>
                                          </p:spTgt>
                                        </p:tgtEl>
                                        <p:attrNameLst>
                                          <p:attrName>style.visibility</p:attrName>
                                        </p:attrNameLst>
                                      </p:cBhvr>
                                      <p:to>
                                        <p:strVal val="visible"/>
                                      </p:to>
                                    </p:set>
                                    <p:animEffect transition="in" filter="fade">
                                      <p:cBhvr>
                                        <p:cTn id="62" dur="1000"/>
                                        <p:tgtEl>
                                          <p:spTgt spid="4">
                                            <p:txEl>
                                              <p:pRg st="2" end="2"/>
                                            </p:txEl>
                                          </p:spTgt>
                                        </p:tgtEl>
                                      </p:cBhvr>
                                    </p:animEffect>
                                    <p:anim calcmode="lin" valueType="num">
                                      <p:cBhvr>
                                        <p:cTn id="6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64"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5" presetClass="entr" presetSubtype="0" fill="hold" nodeType="clickEffect">
                                  <p:stCondLst>
                                    <p:cond delay="0"/>
                                  </p:stCondLst>
                                  <p:childTnLst>
                                    <p:set>
                                      <p:cBhvr>
                                        <p:cTn id="68" dur="1" fill="hold">
                                          <p:stCondLst>
                                            <p:cond delay="0"/>
                                          </p:stCondLst>
                                        </p:cTn>
                                        <p:tgtEl>
                                          <p:spTgt spid="6">
                                            <p:txEl>
                                              <p:pRg st="2" end="2"/>
                                            </p:txEl>
                                          </p:spTgt>
                                        </p:tgtEl>
                                        <p:attrNameLst>
                                          <p:attrName>style.visibility</p:attrName>
                                        </p:attrNameLst>
                                      </p:cBhvr>
                                      <p:to>
                                        <p:strVal val="visible"/>
                                      </p:to>
                                    </p:set>
                                    <p:animEffect transition="in" filter="fade">
                                      <p:cBhvr>
                                        <p:cTn id="69" dur="2000"/>
                                        <p:tgtEl>
                                          <p:spTgt spid="6">
                                            <p:txEl>
                                              <p:pRg st="2" end="2"/>
                                            </p:txEl>
                                          </p:spTgt>
                                        </p:tgtEl>
                                      </p:cBhvr>
                                    </p:animEffect>
                                    <p:anim calcmode="lin" valueType="num">
                                      <p:cBhvr>
                                        <p:cTn id="70" dur="2000" fill="hold"/>
                                        <p:tgtEl>
                                          <p:spTgt spid="6">
                                            <p:txEl>
                                              <p:pRg st="2" end="2"/>
                                            </p:txEl>
                                          </p:spTgt>
                                        </p:tgtEl>
                                        <p:attrNameLst>
                                          <p:attrName>ppt_w</p:attrName>
                                        </p:attrNameLst>
                                      </p:cBhvr>
                                      <p:tavLst>
                                        <p:tav tm="0" fmla="#ppt_w*sin(2.5*pi*$)">
                                          <p:val>
                                            <p:fltVal val="0"/>
                                          </p:val>
                                        </p:tav>
                                        <p:tav tm="100000">
                                          <p:val>
                                            <p:fltVal val="1"/>
                                          </p:val>
                                        </p:tav>
                                      </p:tavLst>
                                    </p:anim>
                                    <p:anim calcmode="lin" valueType="num">
                                      <p:cBhvr>
                                        <p:cTn id="71" dur="2000" fill="hold"/>
                                        <p:tgtEl>
                                          <p:spTgt spid="6">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958071"/>
          </a:xfrm>
        </p:spPr>
        <p:txBody>
          <a:bodyPr/>
          <a:lstStyle/>
          <a:p>
            <a:pPr algn="ctr"/>
            <a:r>
              <a:rPr lang="en-US" b="1" dirty="0" smtClean="0">
                <a:latin typeface="Times New Roman" panose="02020603050405020304" pitchFamily="18" charset="0"/>
                <a:cs typeface="Times New Roman" panose="02020603050405020304" pitchFamily="18" charset="0"/>
              </a:rPr>
              <a:t>WHY MEMORY FORENSICS</a:t>
            </a:r>
            <a:r>
              <a:rPr lang="en-US" dirty="0" smtClean="0"/>
              <a:t>?</a:t>
            </a:r>
            <a:endParaRPr lang="en-US" dirty="0"/>
          </a:p>
        </p:txBody>
      </p:sp>
      <p:sp>
        <p:nvSpPr>
          <p:cNvPr id="3" name="Content Placeholder 2"/>
          <p:cNvSpPr>
            <a:spLocks noGrp="1"/>
          </p:cNvSpPr>
          <p:nvPr>
            <p:ph idx="1"/>
          </p:nvPr>
        </p:nvSpPr>
        <p:spPr>
          <a:xfrm>
            <a:off x="228101" y="1256083"/>
            <a:ext cx="11606848" cy="5458226"/>
          </a:xfrm>
        </p:spPr>
        <p:txBody>
          <a:bodyPr>
            <a:noAutofit/>
          </a:bodyPr>
          <a:lstStyle/>
          <a:p>
            <a:r>
              <a:rPr lang="en-US" sz="3600" dirty="0" smtClean="0">
                <a:latin typeface="Times New Roman" panose="02020603050405020304" pitchFamily="18" charset="0"/>
                <a:cs typeface="Times New Roman" panose="02020603050405020304" pitchFamily="18" charset="0"/>
              </a:rPr>
              <a:t>Attackers may </a:t>
            </a:r>
            <a:r>
              <a:rPr lang="en-US" sz="3600" b="1" dirty="0" smtClean="0">
                <a:latin typeface="Times New Roman" panose="02020603050405020304" pitchFamily="18" charset="0"/>
                <a:cs typeface="Times New Roman" panose="02020603050405020304" pitchFamily="18" charset="0"/>
              </a:rPr>
              <a:t>hide data </a:t>
            </a:r>
            <a:r>
              <a:rPr lang="en-US" sz="3600" dirty="0" smtClean="0">
                <a:latin typeface="Times New Roman" panose="02020603050405020304" pitchFamily="18" charset="0"/>
                <a:cs typeface="Times New Roman" panose="02020603050405020304" pitchFamily="18" charset="0"/>
              </a:rPr>
              <a:t>in the memory by means of memory injection or by means of malicious codes like viruses, and worms that reside only in the memory and not on hard disk so as to avoid anti-virus software to detect the malicious code.</a:t>
            </a:r>
          </a:p>
          <a:p>
            <a:r>
              <a:rPr lang="en-US" sz="3600" dirty="0" smtClean="0">
                <a:latin typeface="Times New Roman" panose="02020603050405020304" pitchFamily="18" charset="0"/>
                <a:cs typeface="Times New Roman" panose="02020603050405020304" pitchFamily="18" charset="0"/>
              </a:rPr>
              <a:t> Analyzing a hard disk by the traditional forensic method does </a:t>
            </a:r>
            <a:r>
              <a:rPr lang="en-US" sz="3600" b="1" dirty="0" smtClean="0">
                <a:latin typeface="Times New Roman" panose="02020603050405020304" pitchFamily="18" charset="0"/>
                <a:cs typeface="Times New Roman" panose="02020603050405020304" pitchFamily="18" charset="0"/>
              </a:rPr>
              <a:t>not reveal malicious code </a:t>
            </a:r>
            <a:r>
              <a:rPr lang="en-US" sz="3600" dirty="0" smtClean="0">
                <a:latin typeface="Times New Roman" panose="02020603050405020304" pitchFamily="18" charset="0"/>
                <a:cs typeface="Times New Roman" panose="02020603050405020304" pitchFamily="18" charset="0"/>
              </a:rPr>
              <a:t>if the attacker </a:t>
            </a:r>
            <a:r>
              <a:rPr lang="en-US" sz="3600" b="1" dirty="0" smtClean="0">
                <a:latin typeface="Times New Roman" panose="02020603050405020304" pitchFamily="18" charset="0"/>
                <a:cs typeface="Times New Roman" panose="02020603050405020304" pitchFamily="18" charset="0"/>
              </a:rPr>
              <a:t>has placed it in the memory</a:t>
            </a:r>
            <a:r>
              <a:rPr lang="en-US" sz="3600" dirty="0" smtClean="0">
                <a:latin typeface="Times New Roman" panose="02020603050405020304" pitchFamily="18" charset="0"/>
                <a:cs typeface="Times New Roman" panose="02020603050405020304" pitchFamily="18" charset="0"/>
              </a:rPr>
              <a:t>. Memory forensics is one method of investigation which can help forensic investigators to detect such files.  </a:t>
            </a:r>
          </a:p>
        </p:txBody>
      </p:sp>
    </p:spTree>
    <p:extLst>
      <p:ext uri="{BB962C8B-B14F-4D97-AF65-F5344CB8AC3E}">
        <p14:creationId xmlns:p14="http://schemas.microsoft.com/office/powerpoint/2010/main" val="3148720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5"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2000"/>
                                        <p:tgtEl>
                                          <p:spTgt spid="3">
                                            <p:txEl>
                                              <p:pRg st="1" end="1"/>
                                            </p:txEl>
                                          </p:spTgt>
                                        </p:tgtEl>
                                      </p:cBhvr>
                                    </p:animEffect>
                                    <p:anim calcmode="lin" valueType="num">
                                      <p:cBhvr>
                                        <p:cTn id="16"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17" dur="2000" fill="hold"/>
                                        <p:tgtEl>
                                          <p:spTgt spid="3">
                                            <p:txEl>
                                              <p:pRg st="1" end="1"/>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958071"/>
          </a:xfrm>
        </p:spPr>
        <p:txBody>
          <a:bodyPr/>
          <a:lstStyle/>
          <a:p>
            <a:pPr algn="ctr"/>
            <a:r>
              <a:rPr lang="en-US" dirty="0" smtClean="0">
                <a:latin typeface="Times New Roman" panose="02020603050405020304" pitchFamily="18" charset="0"/>
                <a:cs typeface="Times New Roman" panose="02020603050405020304" pitchFamily="18" charset="0"/>
              </a:rPr>
              <a:t>WHY MEMORY FORENSICS</a:t>
            </a:r>
            <a:r>
              <a:rPr lang="en-US" dirty="0" smtClean="0"/>
              <a:t>?</a:t>
            </a:r>
            <a:endParaRPr lang="en-US" dirty="0"/>
          </a:p>
        </p:txBody>
      </p:sp>
      <p:sp>
        <p:nvSpPr>
          <p:cNvPr id="3" name="Content Placeholder 2"/>
          <p:cNvSpPr>
            <a:spLocks noGrp="1"/>
          </p:cNvSpPr>
          <p:nvPr>
            <p:ph idx="1"/>
          </p:nvPr>
        </p:nvSpPr>
        <p:spPr>
          <a:xfrm>
            <a:off x="228101" y="1256083"/>
            <a:ext cx="11606848" cy="5458226"/>
          </a:xfrm>
        </p:spPr>
        <p:txBody>
          <a:bodyPr>
            <a:normAutofit/>
          </a:bodyPr>
          <a:lstStyle/>
          <a:p>
            <a:pPr algn="just"/>
            <a:r>
              <a:rPr lang="en-US" sz="2800" dirty="0">
                <a:latin typeface="Times New Roman" panose="02020603050405020304" pitchFamily="18" charset="0"/>
                <a:cs typeface="Times New Roman" panose="02020603050405020304" pitchFamily="18" charset="0"/>
              </a:rPr>
              <a:t>Attackers design some </a:t>
            </a:r>
            <a:r>
              <a:rPr lang="en-US" sz="2800" b="1" dirty="0">
                <a:latin typeface="Times New Roman" panose="02020603050405020304" pitchFamily="18" charset="0"/>
                <a:cs typeface="Times New Roman" panose="02020603050405020304" pitchFamily="18" charset="0"/>
              </a:rPr>
              <a:t>malware to run completely from RAM </a:t>
            </a:r>
            <a:r>
              <a:rPr lang="en-US" sz="2800" dirty="0">
                <a:latin typeface="Times New Roman" panose="02020603050405020304" pitchFamily="18" charset="0"/>
                <a:cs typeface="Times New Roman" panose="02020603050405020304" pitchFamily="18" charset="0"/>
              </a:rPr>
              <a:t>(i.e., memory resident codes) to avoid touching longer term storage devices such as the hard drive. Therefore, if analysts do not look for signs of intrusions in RAM, they might miss the most important, or perhaps the </a:t>
            </a:r>
            <a:r>
              <a:rPr lang="en-US" sz="2800" b="1" dirty="0">
                <a:latin typeface="Times New Roman" panose="02020603050405020304" pitchFamily="18" charset="0"/>
                <a:cs typeface="Times New Roman" panose="02020603050405020304" pitchFamily="18" charset="0"/>
              </a:rPr>
              <a:t>only, evidence that malware existed on the system</a:t>
            </a:r>
            <a:r>
              <a:rPr lang="en-US" sz="2800" dirty="0">
                <a:latin typeface="Times New Roman" panose="02020603050405020304" pitchFamily="18" charset="0"/>
                <a:cs typeface="Times New Roman" panose="02020603050405020304" pitchFamily="18" charset="0"/>
              </a:rPr>
              <a:t>.</a:t>
            </a:r>
          </a:p>
          <a:p>
            <a:pPr algn="just"/>
            <a:r>
              <a:rPr lang="en-US" sz="2800" dirty="0">
                <a:latin typeface="Times New Roman" panose="02020603050405020304" pitchFamily="18" charset="0"/>
                <a:cs typeface="Times New Roman" panose="02020603050405020304" pitchFamily="18" charset="0"/>
              </a:rPr>
              <a:t> Attackers design </a:t>
            </a:r>
            <a:r>
              <a:rPr lang="en-US" sz="2800" b="1" dirty="0">
                <a:latin typeface="Times New Roman" panose="02020603050405020304" pitchFamily="18" charset="0"/>
                <a:cs typeface="Times New Roman" panose="02020603050405020304" pitchFamily="18" charset="0"/>
              </a:rPr>
              <a:t>some malware to hide its own code </a:t>
            </a:r>
            <a:r>
              <a:rPr lang="en-US" sz="2800" dirty="0">
                <a:latin typeface="Times New Roman" panose="02020603050405020304" pitchFamily="18" charset="0"/>
                <a:cs typeface="Times New Roman" panose="02020603050405020304" pitchFamily="18" charset="0"/>
              </a:rPr>
              <a:t>and the resources that it requires from the operating system using application program interface (API) hooks; however, these rootkit techniques typically </a:t>
            </a:r>
            <a:r>
              <a:rPr lang="en-US" sz="2800" b="1" dirty="0">
                <a:latin typeface="Times New Roman" panose="02020603050405020304" pitchFamily="18" charset="0"/>
                <a:cs typeface="Times New Roman" panose="02020603050405020304" pitchFamily="18" charset="0"/>
              </a:rPr>
              <a:t>only work against other processes on the infected computer while the system is running</a:t>
            </a:r>
            <a:r>
              <a:rPr lang="en-US" sz="2800" dirty="0">
                <a:latin typeface="Times New Roman" panose="02020603050405020304" pitchFamily="18" charset="0"/>
                <a:cs typeface="Times New Roman" panose="02020603050405020304" pitchFamily="18" charset="0"/>
              </a:rPr>
              <a:t>. Hiding from offline memory forensics tools requires a different set of capabilities that most malware authors have not implemented into their code. </a:t>
            </a:r>
          </a:p>
        </p:txBody>
      </p:sp>
    </p:spTree>
    <p:extLst>
      <p:ext uri="{BB962C8B-B14F-4D97-AF65-F5344CB8AC3E}">
        <p14:creationId xmlns:p14="http://schemas.microsoft.com/office/powerpoint/2010/main" val="2988820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10000118" cy="814379"/>
          </a:xfrm>
        </p:spPr>
        <p:txBody>
          <a:bodyPr/>
          <a:lstStyle/>
          <a:p>
            <a:pPr algn="ctr"/>
            <a:r>
              <a:rPr lang="en-US" dirty="0" smtClean="0">
                <a:latin typeface="Times New Roman" panose="02020603050405020304" pitchFamily="18" charset="0"/>
                <a:cs typeface="Times New Roman" panose="02020603050405020304" pitchFamily="18" charset="0"/>
              </a:rPr>
              <a:t>DATA ACQUISITION METHODS IN MF</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97917" y="1267097"/>
            <a:ext cx="11463157" cy="5277394"/>
          </a:xfrm>
        </p:spPr>
        <p:txBody>
          <a:bodyPr>
            <a:normAutofit/>
          </a:bodyPr>
          <a:lstStyle/>
          <a:p>
            <a:r>
              <a:rPr lang="en-US" sz="2800" dirty="0">
                <a:latin typeface="Times New Roman" panose="02020603050405020304" pitchFamily="18" charset="0"/>
                <a:cs typeface="Times New Roman" panose="02020603050405020304" pitchFamily="18" charset="0"/>
              </a:rPr>
              <a:t>There are 2 methods of data acquisition: Hardware- based acquisition and Software- based acquisition.  </a:t>
            </a:r>
          </a:p>
          <a:p>
            <a:r>
              <a:rPr lang="en-US" sz="2800" dirty="0">
                <a:latin typeface="Times New Roman" panose="02020603050405020304" pitchFamily="18" charset="0"/>
                <a:cs typeface="Times New Roman" panose="02020603050405020304" pitchFamily="18" charset="0"/>
              </a:rPr>
              <a:t>In a forensics perspective, it is better to use hardware- based acquisition since it </a:t>
            </a:r>
            <a:r>
              <a:rPr lang="en-US" sz="2800" b="1" dirty="0">
                <a:latin typeface="Times New Roman" panose="02020603050405020304" pitchFamily="18" charset="0"/>
                <a:cs typeface="Times New Roman" panose="02020603050405020304" pitchFamily="18" charset="0"/>
              </a:rPr>
              <a:t>is more reliable </a:t>
            </a:r>
            <a:r>
              <a:rPr lang="en-US" sz="2800" dirty="0">
                <a:latin typeface="Times New Roman" panose="02020603050405020304" pitchFamily="18" charset="0"/>
                <a:cs typeface="Times New Roman" panose="02020603050405020304" pitchFamily="18" charset="0"/>
              </a:rPr>
              <a:t>and </a:t>
            </a:r>
            <a:r>
              <a:rPr lang="en-US" sz="2800" b="1" dirty="0">
                <a:latin typeface="Times New Roman" panose="02020603050405020304" pitchFamily="18" charset="0"/>
                <a:cs typeface="Times New Roman" panose="02020603050405020304" pitchFamily="18" charset="0"/>
              </a:rPr>
              <a:t>difficult for an attacker to corrupt</a:t>
            </a:r>
            <a:r>
              <a:rPr lang="en-US" sz="2800" dirty="0">
                <a:latin typeface="Times New Roman" panose="02020603050405020304" pitchFamily="18" charset="0"/>
                <a:cs typeface="Times New Roman" panose="02020603050405020304" pitchFamily="18" charset="0"/>
              </a:rPr>
              <a:t>. </a:t>
            </a:r>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Hardware-based </a:t>
            </a:r>
            <a:r>
              <a:rPr lang="en-US" sz="2800" dirty="0">
                <a:latin typeface="Times New Roman" panose="02020603050405020304" pitchFamily="18" charset="0"/>
                <a:cs typeface="Times New Roman" panose="02020603050405020304" pitchFamily="18" charset="0"/>
              </a:rPr>
              <a:t>acquisition suspends the processor and uses direct memory access to obtain a copy of memory. It is more reliable as even if the operating system and software are compromised or corrupted by an attacker, we still get an accurate image of the volatile memory</a:t>
            </a:r>
            <a:r>
              <a:rPr lang="en-US" sz="2800" dirty="0" smtClean="0">
                <a:latin typeface="Times New Roman" panose="02020603050405020304" pitchFamily="18" charset="0"/>
                <a:cs typeface="Times New Roman" panose="02020603050405020304" pitchFamily="18" charset="0"/>
              </a:rPr>
              <a:t>.</a:t>
            </a:r>
          </a:p>
          <a:p>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Hardware based acquisition are however costly. Whereas Software-based acquisition is more popular since it is more cost-effective and easily available.  </a:t>
            </a:r>
          </a:p>
          <a:p>
            <a:endParaRPr lang="en-US" dirty="0"/>
          </a:p>
        </p:txBody>
      </p:sp>
    </p:spTree>
    <p:extLst>
      <p:ext uri="{BB962C8B-B14F-4D97-AF65-F5344CB8AC3E}">
        <p14:creationId xmlns:p14="http://schemas.microsoft.com/office/powerpoint/2010/main" val="600729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wipe(down)">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down)">
                                      <p:cBhvr>
                                        <p:cTn id="19" dur="580">
                                          <p:stCondLst>
                                            <p:cond delay="0"/>
                                          </p:stCondLst>
                                        </p:cTn>
                                        <p:tgtEl>
                                          <p:spTgt spid="3">
                                            <p:txEl>
                                              <p:pRg st="2" end="2"/>
                                            </p:txEl>
                                          </p:spTgt>
                                        </p:tgtEl>
                                      </p:cBhvr>
                                    </p:animEffect>
                                    <p:anim calcmode="lin" valueType="num">
                                      <p:cBhvr>
                                        <p:cTn id="20"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25" dur="26">
                                          <p:stCondLst>
                                            <p:cond delay="650"/>
                                          </p:stCondLst>
                                        </p:cTn>
                                        <p:tgtEl>
                                          <p:spTgt spid="3">
                                            <p:txEl>
                                              <p:pRg st="2" end="2"/>
                                            </p:txEl>
                                          </p:spTgt>
                                        </p:tgtEl>
                                      </p:cBhvr>
                                      <p:to x="100000" y="60000"/>
                                    </p:animScale>
                                    <p:animScale>
                                      <p:cBhvr>
                                        <p:cTn id="26" dur="166" decel="50000">
                                          <p:stCondLst>
                                            <p:cond delay="676"/>
                                          </p:stCondLst>
                                        </p:cTn>
                                        <p:tgtEl>
                                          <p:spTgt spid="3">
                                            <p:txEl>
                                              <p:pRg st="2" end="2"/>
                                            </p:txEl>
                                          </p:spTgt>
                                        </p:tgtEl>
                                      </p:cBhvr>
                                      <p:to x="100000" y="100000"/>
                                    </p:animScale>
                                    <p:animScale>
                                      <p:cBhvr>
                                        <p:cTn id="27" dur="26">
                                          <p:stCondLst>
                                            <p:cond delay="1312"/>
                                          </p:stCondLst>
                                        </p:cTn>
                                        <p:tgtEl>
                                          <p:spTgt spid="3">
                                            <p:txEl>
                                              <p:pRg st="2" end="2"/>
                                            </p:txEl>
                                          </p:spTgt>
                                        </p:tgtEl>
                                      </p:cBhvr>
                                      <p:to x="100000" y="80000"/>
                                    </p:animScale>
                                    <p:animScale>
                                      <p:cBhvr>
                                        <p:cTn id="28" dur="166" decel="50000">
                                          <p:stCondLst>
                                            <p:cond delay="1338"/>
                                          </p:stCondLst>
                                        </p:cTn>
                                        <p:tgtEl>
                                          <p:spTgt spid="3">
                                            <p:txEl>
                                              <p:pRg st="2" end="2"/>
                                            </p:txEl>
                                          </p:spTgt>
                                        </p:tgtEl>
                                      </p:cBhvr>
                                      <p:to x="100000" y="100000"/>
                                    </p:animScale>
                                    <p:animScale>
                                      <p:cBhvr>
                                        <p:cTn id="29" dur="26">
                                          <p:stCondLst>
                                            <p:cond delay="1642"/>
                                          </p:stCondLst>
                                        </p:cTn>
                                        <p:tgtEl>
                                          <p:spTgt spid="3">
                                            <p:txEl>
                                              <p:pRg st="2" end="2"/>
                                            </p:txEl>
                                          </p:spTgt>
                                        </p:tgtEl>
                                      </p:cBhvr>
                                      <p:to x="100000" y="90000"/>
                                    </p:animScale>
                                    <p:animScale>
                                      <p:cBhvr>
                                        <p:cTn id="30" dur="166" decel="50000">
                                          <p:stCondLst>
                                            <p:cond delay="1668"/>
                                          </p:stCondLst>
                                        </p:cTn>
                                        <p:tgtEl>
                                          <p:spTgt spid="3">
                                            <p:txEl>
                                              <p:pRg st="2" end="2"/>
                                            </p:txEl>
                                          </p:spTgt>
                                        </p:tgtEl>
                                      </p:cBhvr>
                                      <p:to x="100000" y="100000"/>
                                    </p:animScale>
                                    <p:animScale>
                                      <p:cBhvr>
                                        <p:cTn id="31" dur="26">
                                          <p:stCondLst>
                                            <p:cond delay="1808"/>
                                          </p:stCondLst>
                                        </p:cTn>
                                        <p:tgtEl>
                                          <p:spTgt spid="3">
                                            <p:txEl>
                                              <p:pRg st="2" end="2"/>
                                            </p:txEl>
                                          </p:spTgt>
                                        </p:tgtEl>
                                      </p:cBhvr>
                                      <p:to x="100000" y="95000"/>
                                    </p:animScale>
                                    <p:animScale>
                                      <p:cBhvr>
                                        <p:cTn id="32" dur="166" decel="50000">
                                          <p:stCondLst>
                                            <p:cond delay="1834"/>
                                          </p:stCondLst>
                                        </p:cTn>
                                        <p:tgtEl>
                                          <p:spTgt spid="3">
                                            <p:txEl>
                                              <p:pRg st="2" end="2"/>
                                            </p:txEl>
                                          </p:spTgt>
                                        </p:tgtEl>
                                      </p:cBhvr>
                                      <p:to x="100000" y="100000"/>
                                    </p:animScale>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fade">
                                      <p:cBhvr>
                                        <p:cTn id="37" dur="1000"/>
                                        <p:tgtEl>
                                          <p:spTgt spid="3">
                                            <p:txEl>
                                              <p:pRg st="3" end="3"/>
                                            </p:txEl>
                                          </p:spTgt>
                                        </p:tgtEl>
                                      </p:cBhvr>
                                    </p:animEffect>
                                    <p:anim calcmode="lin" valueType="num">
                                      <p:cBhvr>
                                        <p:cTn id="3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879693"/>
          </a:xfrm>
        </p:spPr>
        <p:txBody>
          <a:bodyPr/>
          <a:lstStyle/>
          <a:p>
            <a:pPr algn="ctr"/>
            <a:r>
              <a:rPr lang="en-US" dirty="0" smtClean="0">
                <a:latin typeface="Times New Roman" panose="02020603050405020304" pitchFamily="18" charset="0"/>
                <a:cs typeface="Times New Roman" panose="02020603050405020304" pitchFamily="18" charset="0"/>
              </a:rPr>
              <a:t>HARDWARE BASED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9541" y="1332411"/>
            <a:ext cx="11371716" cy="5238206"/>
          </a:xfrm>
        </p:spPr>
        <p:txBody>
          <a:bodyPr>
            <a:noAutofit/>
          </a:bodyPr>
          <a:lstStyle/>
          <a:p>
            <a:r>
              <a:rPr lang="en-US" sz="2400" dirty="0">
                <a:latin typeface="Times New Roman" panose="02020603050405020304" pitchFamily="18" charset="0"/>
                <a:cs typeface="Times New Roman" panose="02020603050405020304" pitchFamily="18" charset="0"/>
              </a:rPr>
              <a:t>For a hardware-based acquisition, the </a:t>
            </a:r>
            <a:r>
              <a:rPr lang="en-US" sz="2400" b="1" dirty="0">
                <a:latin typeface="Times New Roman" panose="02020603050405020304" pitchFamily="18" charset="0"/>
                <a:cs typeface="Times New Roman" panose="02020603050405020304" pitchFamily="18" charset="0"/>
              </a:rPr>
              <a:t>PCI card </a:t>
            </a:r>
            <a:r>
              <a:rPr lang="en-US" sz="2400" dirty="0">
                <a:latin typeface="Times New Roman" panose="02020603050405020304" pitchFamily="18" charset="0"/>
                <a:cs typeface="Times New Roman" panose="02020603050405020304" pitchFamily="18" charset="0"/>
              </a:rPr>
              <a:t>is plugged in the computer system and a copy of the memory is transferred to an external storage device.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card is installed into a PCI bus slot before an incident occur and is disabled until a physical switch on the back of the system is pressed. </a:t>
            </a: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card cannot easily be detected by an attacker and the acquisition procedure does not rely on untrusted resources. A card normally does not respond to bus queries from host system.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When </a:t>
            </a:r>
            <a:r>
              <a:rPr lang="en-US" sz="2400" dirty="0">
                <a:latin typeface="Times New Roman" panose="02020603050405020304" pitchFamily="18" charset="0"/>
                <a:cs typeface="Times New Roman" panose="02020603050405020304" pitchFamily="18" charset="0"/>
              </a:rPr>
              <a:t>the device is enabled, it becomes a visible connection to the PCI bus. It is typically installed into a client’s critical servers. After an attack is suspected on the system, the administrator will press the physical switch therein the system state is saved by retrieving and storing the current memory image and processor registers.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card is then ejected from the system and sent to the forensic lab for detailed analysis</a:t>
            </a:r>
          </a:p>
        </p:txBody>
      </p:sp>
    </p:spTree>
    <p:extLst>
      <p:ext uri="{BB962C8B-B14F-4D97-AF65-F5344CB8AC3E}">
        <p14:creationId xmlns:p14="http://schemas.microsoft.com/office/powerpoint/2010/main" val="3684284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wipe(down)">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971133"/>
          </a:xfrm>
        </p:spPr>
        <p:txBody>
          <a:bodyPr/>
          <a:lstStyle/>
          <a:p>
            <a:pPr algn="ctr"/>
            <a:r>
              <a:rPr lang="en-US" dirty="0" smtClean="0">
                <a:latin typeface="Times New Roman" panose="02020603050405020304" pitchFamily="18" charset="0"/>
                <a:cs typeface="Times New Roman" panose="02020603050405020304" pitchFamily="18" charset="0"/>
              </a:rPr>
              <a:t>SOFTWARE-BASED ACQUISITION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15038" y="1423851"/>
            <a:ext cx="11463156" cy="4911635"/>
          </a:xfrm>
        </p:spPr>
        <p:txBody>
          <a:bodyPr/>
          <a:lstStyle/>
          <a:p>
            <a:r>
              <a:rPr lang="en-US" sz="3200" dirty="0">
                <a:latin typeface="Times New Roman" panose="02020603050405020304" pitchFamily="18" charset="0"/>
                <a:cs typeface="Times New Roman" panose="02020603050405020304" pitchFamily="18" charset="0"/>
              </a:rPr>
              <a:t>Software-based acquisition is often carried out using a trusted toolkit by forensic examiners. </a:t>
            </a:r>
            <a:endParaRPr lang="en-US" sz="3200" dirty="0" smtClean="0">
              <a:latin typeface="Times New Roman" panose="02020603050405020304" pitchFamily="18" charset="0"/>
              <a:cs typeface="Times New Roman" panose="02020603050405020304" pitchFamily="18" charset="0"/>
            </a:endParaRPr>
          </a:p>
          <a:p>
            <a:r>
              <a:rPr lang="en-US" sz="3200" dirty="0" smtClean="0">
                <a:latin typeface="Times New Roman" panose="02020603050405020304" pitchFamily="18" charset="0"/>
                <a:cs typeface="Times New Roman" panose="02020603050405020304" pitchFamily="18" charset="0"/>
              </a:rPr>
              <a:t>Special </a:t>
            </a:r>
            <a:r>
              <a:rPr lang="en-US" sz="3200" dirty="0">
                <a:latin typeface="Times New Roman" panose="02020603050405020304" pitchFamily="18" charset="0"/>
                <a:cs typeface="Times New Roman" panose="02020603050405020304" pitchFamily="18" charset="0"/>
              </a:rPr>
              <a:t>forensics CDs/pen drives are used to run the software commands. This method can also collect volatile memory content using tools built in the operating system. </a:t>
            </a:r>
            <a:endParaRPr lang="en-US" sz="3200" dirty="0" smtClean="0">
              <a:latin typeface="Times New Roman" panose="02020603050405020304" pitchFamily="18" charset="0"/>
              <a:cs typeface="Times New Roman" panose="02020603050405020304" pitchFamily="18" charset="0"/>
            </a:endParaRPr>
          </a:p>
          <a:p>
            <a:r>
              <a:rPr lang="en-US" sz="3200" dirty="0" smtClean="0">
                <a:latin typeface="Times New Roman" panose="02020603050405020304" pitchFamily="18" charset="0"/>
                <a:cs typeface="Times New Roman" panose="02020603050405020304" pitchFamily="18" charset="0"/>
              </a:rPr>
              <a:t>Drawbacks </a:t>
            </a:r>
            <a:r>
              <a:rPr lang="en-US" sz="3200" dirty="0">
                <a:latin typeface="Times New Roman" panose="02020603050405020304" pitchFamily="18" charset="0"/>
                <a:cs typeface="Times New Roman" panose="02020603050405020304" pitchFamily="18" charset="0"/>
              </a:rPr>
              <a:t>of software- based acquisition are that it may alter contents of memory, and potentially overwrite data relevant to an investigation. </a:t>
            </a:r>
          </a:p>
          <a:p>
            <a:endParaRPr lang="en-US" dirty="0"/>
          </a:p>
        </p:txBody>
      </p:sp>
    </p:spTree>
    <p:extLst>
      <p:ext uri="{BB962C8B-B14F-4D97-AF65-F5344CB8AC3E}">
        <p14:creationId xmlns:p14="http://schemas.microsoft.com/office/powerpoint/2010/main" val="1570161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additive="base">
                                        <p:cTn id="14"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ipe(down)">
                                      <p:cBhvr>
                                        <p:cTn id="20" dur="580">
                                          <p:stCondLst>
                                            <p:cond delay="0"/>
                                          </p:stCondLst>
                                        </p:cTn>
                                        <p:tgtEl>
                                          <p:spTgt spid="3">
                                            <p:txEl>
                                              <p:pRg st="2" end="2"/>
                                            </p:txEl>
                                          </p:spTgt>
                                        </p:tgtEl>
                                      </p:cBhvr>
                                    </p:animEffect>
                                    <p:anim calcmode="lin" valueType="num">
                                      <p:cBhvr>
                                        <p:cTn id="21"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26" dur="26">
                                          <p:stCondLst>
                                            <p:cond delay="650"/>
                                          </p:stCondLst>
                                        </p:cTn>
                                        <p:tgtEl>
                                          <p:spTgt spid="3">
                                            <p:txEl>
                                              <p:pRg st="2" end="2"/>
                                            </p:txEl>
                                          </p:spTgt>
                                        </p:tgtEl>
                                      </p:cBhvr>
                                      <p:to x="100000" y="60000"/>
                                    </p:animScale>
                                    <p:animScale>
                                      <p:cBhvr>
                                        <p:cTn id="27" dur="166" decel="50000">
                                          <p:stCondLst>
                                            <p:cond delay="676"/>
                                          </p:stCondLst>
                                        </p:cTn>
                                        <p:tgtEl>
                                          <p:spTgt spid="3">
                                            <p:txEl>
                                              <p:pRg st="2" end="2"/>
                                            </p:txEl>
                                          </p:spTgt>
                                        </p:tgtEl>
                                      </p:cBhvr>
                                      <p:to x="100000" y="100000"/>
                                    </p:animScale>
                                    <p:animScale>
                                      <p:cBhvr>
                                        <p:cTn id="28" dur="26">
                                          <p:stCondLst>
                                            <p:cond delay="1312"/>
                                          </p:stCondLst>
                                        </p:cTn>
                                        <p:tgtEl>
                                          <p:spTgt spid="3">
                                            <p:txEl>
                                              <p:pRg st="2" end="2"/>
                                            </p:txEl>
                                          </p:spTgt>
                                        </p:tgtEl>
                                      </p:cBhvr>
                                      <p:to x="100000" y="80000"/>
                                    </p:animScale>
                                    <p:animScale>
                                      <p:cBhvr>
                                        <p:cTn id="29" dur="166" decel="50000">
                                          <p:stCondLst>
                                            <p:cond delay="1338"/>
                                          </p:stCondLst>
                                        </p:cTn>
                                        <p:tgtEl>
                                          <p:spTgt spid="3">
                                            <p:txEl>
                                              <p:pRg st="2" end="2"/>
                                            </p:txEl>
                                          </p:spTgt>
                                        </p:tgtEl>
                                      </p:cBhvr>
                                      <p:to x="100000" y="100000"/>
                                    </p:animScale>
                                    <p:animScale>
                                      <p:cBhvr>
                                        <p:cTn id="30" dur="26">
                                          <p:stCondLst>
                                            <p:cond delay="1642"/>
                                          </p:stCondLst>
                                        </p:cTn>
                                        <p:tgtEl>
                                          <p:spTgt spid="3">
                                            <p:txEl>
                                              <p:pRg st="2" end="2"/>
                                            </p:txEl>
                                          </p:spTgt>
                                        </p:tgtEl>
                                      </p:cBhvr>
                                      <p:to x="100000" y="90000"/>
                                    </p:animScale>
                                    <p:animScale>
                                      <p:cBhvr>
                                        <p:cTn id="31" dur="166" decel="50000">
                                          <p:stCondLst>
                                            <p:cond delay="1668"/>
                                          </p:stCondLst>
                                        </p:cTn>
                                        <p:tgtEl>
                                          <p:spTgt spid="3">
                                            <p:txEl>
                                              <p:pRg st="2" end="2"/>
                                            </p:txEl>
                                          </p:spTgt>
                                        </p:tgtEl>
                                      </p:cBhvr>
                                      <p:to x="100000" y="100000"/>
                                    </p:animScale>
                                    <p:animScale>
                                      <p:cBhvr>
                                        <p:cTn id="32" dur="26">
                                          <p:stCondLst>
                                            <p:cond delay="1808"/>
                                          </p:stCondLst>
                                        </p:cTn>
                                        <p:tgtEl>
                                          <p:spTgt spid="3">
                                            <p:txEl>
                                              <p:pRg st="2" end="2"/>
                                            </p:txEl>
                                          </p:spTgt>
                                        </p:tgtEl>
                                      </p:cBhvr>
                                      <p:to x="100000" y="95000"/>
                                    </p:animScale>
                                    <p:animScale>
                                      <p:cBhvr>
                                        <p:cTn id="33" dur="166" decel="50000">
                                          <p:stCondLst>
                                            <p:cond delay="1834"/>
                                          </p:stCondLst>
                                        </p:cTn>
                                        <p:tgtEl>
                                          <p:spTgt spid="3">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Times New Roman" panose="02020603050405020304" pitchFamily="18" charset="0"/>
                <a:cs typeface="Times New Roman" panose="02020603050405020304" pitchFamily="18" charset="0"/>
              </a:rPr>
              <a:t>FORMATS OF DATA ACQUIRED IN MF</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93415" y="1853248"/>
            <a:ext cx="11437031" cy="4769621"/>
          </a:xfrm>
        </p:spPr>
        <p:txBody>
          <a:bodyPr>
            <a:normAutofit/>
          </a:bodyPr>
          <a:lstStyle/>
          <a:p>
            <a:pPr marL="0" indent="0">
              <a:buNone/>
            </a:pPr>
            <a:r>
              <a:rPr lang="en-US" sz="2800" dirty="0" smtClean="0">
                <a:latin typeface="Times New Roman" panose="02020603050405020304" pitchFamily="18" charset="0"/>
                <a:cs typeface="Times New Roman" panose="02020603050405020304" pitchFamily="18" charset="0"/>
              </a:rPr>
              <a:t>There are </a:t>
            </a:r>
            <a:r>
              <a:rPr lang="en-US" sz="2800" dirty="0">
                <a:latin typeface="Times New Roman" panose="02020603050405020304" pitchFamily="18" charset="0"/>
                <a:cs typeface="Times New Roman" panose="02020603050405020304" pitchFamily="18" charset="0"/>
              </a:rPr>
              <a:t>five of the most common </a:t>
            </a:r>
            <a:r>
              <a:rPr lang="en-US" sz="2800" dirty="0" smtClean="0">
                <a:latin typeface="Times New Roman" panose="02020603050405020304" pitchFamily="18" charset="0"/>
                <a:cs typeface="Times New Roman" panose="02020603050405020304" pitchFamily="18" charset="0"/>
              </a:rPr>
              <a:t>formats </a:t>
            </a:r>
            <a:r>
              <a:rPr lang="en-US" sz="2800" dirty="0">
                <a:latin typeface="Times New Roman" panose="02020603050405020304" pitchFamily="18" charset="0"/>
                <a:cs typeface="Times New Roman" panose="02020603050405020304" pitchFamily="18" charset="0"/>
              </a:rPr>
              <a:t>that are used today:</a:t>
            </a:r>
          </a:p>
          <a:p>
            <a:pPr lvl="0"/>
            <a:r>
              <a:rPr lang="en-US" sz="2800" b="1" dirty="0">
                <a:latin typeface="Times New Roman" panose="02020603050405020304" pitchFamily="18" charset="0"/>
                <a:cs typeface="Times New Roman" panose="02020603050405020304" pitchFamily="18" charset="0"/>
              </a:rPr>
              <a:t>RAW Format</a:t>
            </a:r>
            <a:r>
              <a:rPr lang="en-US" sz="2800" dirty="0">
                <a:latin typeface="Times New Roman" panose="02020603050405020304" pitchFamily="18" charset="0"/>
                <a:cs typeface="Times New Roman" panose="02020603050405020304" pitchFamily="18" charset="0"/>
              </a:rPr>
              <a:t> – Extracted from a live environment</a:t>
            </a:r>
          </a:p>
          <a:p>
            <a:pPr lvl="0"/>
            <a:r>
              <a:rPr lang="en-US" sz="2800" b="1" dirty="0">
                <a:latin typeface="Times New Roman" panose="02020603050405020304" pitchFamily="18" charset="0"/>
                <a:cs typeface="Times New Roman" panose="02020603050405020304" pitchFamily="18" charset="0"/>
              </a:rPr>
              <a:t>Crash Dump</a:t>
            </a:r>
            <a:r>
              <a:rPr lang="en-US" sz="2800" dirty="0">
                <a:latin typeface="Times New Roman" panose="02020603050405020304" pitchFamily="18" charset="0"/>
                <a:cs typeface="Times New Roman" panose="02020603050405020304" pitchFamily="18" charset="0"/>
              </a:rPr>
              <a:t> – Information gathered by the operating system</a:t>
            </a:r>
          </a:p>
          <a:p>
            <a:pPr lvl="0"/>
            <a:r>
              <a:rPr lang="en-US" sz="2800" b="1" dirty="0">
                <a:latin typeface="Times New Roman" panose="02020603050405020304" pitchFamily="18" charset="0"/>
                <a:cs typeface="Times New Roman" panose="02020603050405020304" pitchFamily="18" charset="0"/>
              </a:rPr>
              <a:t>Hibernation File</a:t>
            </a:r>
            <a:r>
              <a:rPr lang="en-US" sz="2800" dirty="0">
                <a:latin typeface="Times New Roman" panose="02020603050405020304" pitchFamily="18" charset="0"/>
                <a:cs typeface="Times New Roman" panose="02020603050405020304" pitchFamily="18" charset="0"/>
              </a:rPr>
              <a:t> – A saved snapshot that your operating system can return to after hibernating</a:t>
            </a:r>
          </a:p>
          <a:p>
            <a:pPr lvl="0"/>
            <a:r>
              <a:rPr lang="en-US" sz="2800" b="1" dirty="0">
                <a:latin typeface="Times New Roman" panose="02020603050405020304" pitchFamily="18" charset="0"/>
                <a:cs typeface="Times New Roman" panose="02020603050405020304" pitchFamily="18" charset="0"/>
              </a:rPr>
              <a:t>Page File</a:t>
            </a:r>
            <a:r>
              <a:rPr lang="en-US" sz="2800" dirty="0">
                <a:latin typeface="Times New Roman" panose="02020603050405020304" pitchFamily="18" charset="0"/>
                <a:cs typeface="Times New Roman" panose="02020603050405020304" pitchFamily="18" charset="0"/>
              </a:rPr>
              <a:t> – This is a file that stores similar information that is stored in your system RAM</a:t>
            </a:r>
          </a:p>
          <a:p>
            <a:pPr lvl="0"/>
            <a:r>
              <a:rPr lang="en-US" sz="2800" b="1" dirty="0">
                <a:latin typeface="Times New Roman" panose="02020603050405020304" pitchFamily="18" charset="0"/>
                <a:cs typeface="Times New Roman" panose="02020603050405020304" pitchFamily="18" charset="0"/>
              </a:rPr>
              <a:t>VMWare Snapshot </a:t>
            </a:r>
            <a:r>
              <a:rPr lang="en-US" sz="2800" dirty="0">
                <a:latin typeface="Times New Roman" panose="02020603050405020304" pitchFamily="18" charset="0"/>
                <a:cs typeface="Times New Roman" panose="02020603050405020304" pitchFamily="18" charset="0"/>
              </a:rPr>
              <a:t>– This is a snapshot of a virtual machine, which saves its state as it was at the exact moment that the snapshot was generated</a:t>
            </a:r>
          </a:p>
          <a:p>
            <a:endParaRPr lang="en-US" dirty="0"/>
          </a:p>
        </p:txBody>
      </p:sp>
    </p:spTree>
    <p:extLst>
      <p:ext uri="{BB962C8B-B14F-4D97-AF65-F5344CB8AC3E}">
        <p14:creationId xmlns:p14="http://schemas.microsoft.com/office/powerpoint/2010/main" val="1853152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barn(inVertical)">
                                      <p:cBhvr>
                                        <p:cTn id="13" dur="500"/>
                                        <p:tgtEl>
                                          <p:spTgt spid="3">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wipe(down)">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wipe(down)">
                                      <p:cBhvr>
                                        <p:cTn id="23" dur="5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circle(in)">
                                      <p:cBhvr>
                                        <p:cTn id="28" dur="2000"/>
                                        <p:tgtEl>
                                          <p:spTgt spid="3">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1000"/>
                                        <p:tgtEl>
                                          <p:spTgt spid="3">
                                            <p:txEl>
                                              <p:pRg st="5" end="5"/>
                                            </p:txEl>
                                          </p:spTgt>
                                        </p:tgtEl>
                                      </p:cBhvr>
                                    </p:animEffect>
                                    <p:anim calcmode="lin" valueType="num">
                                      <p:cBhvr>
                                        <p:cTn id="34"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905819"/>
          </a:xfrm>
        </p:spPr>
        <p:txBody>
          <a:bodyPr/>
          <a:lstStyle/>
          <a:p>
            <a:pPr algn="ctr"/>
            <a:r>
              <a:rPr lang="en-US" dirty="0" smtClean="0">
                <a:latin typeface="Times New Roman" panose="02020603050405020304" pitchFamily="18" charset="0"/>
                <a:cs typeface="Times New Roman" panose="02020603050405020304" pitchFamily="18" charset="0"/>
              </a:rPr>
              <a:t>MEMORY FORENSIC TOOLS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32604" y="1243021"/>
            <a:ext cx="11463156" cy="5366785"/>
          </a:xfrm>
        </p:spPr>
        <p:txBody>
          <a:bodyPr>
            <a:noAutofit/>
          </a:bodyPr>
          <a:lstStyle/>
          <a:p>
            <a:pPr lvl="0" algn="just"/>
            <a:r>
              <a:rPr lang="en-US" sz="2800" b="1" dirty="0">
                <a:latin typeface="Times New Roman" panose="02020603050405020304" pitchFamily="18" charset="0"/>
                <a:cs typeface="Times New Roman" panose="02020603050405020304" pitchFamily="18" charset="0"/>
              </a:rPr>
              <a:t>Volatility Suite</a:t>
            </a:r>
            <a:r>
              <a:rPr lang="en-US" sz="2800" dirty="0">
                <a:latin typeface="Times New Roman" panose="02020603050405020304" pitchFamily="18" charset="0"/>
                <a:cs typeface="Times New Roman" panose="02020603050405020304" pitchFamily="18" charset="0"/>
              </a:rPr>
              <a:t>: This is an open source suite of programs for analyzing RAM, and has support for Windows, Linux and Mac operating systems. It can analyze RAW, Crash, VMWare, and </a:t>
            </a:r>
            <a:r>
              <a:rPr lang="en-US" sz="2800" dirty="0" err="1">
                <a:latin typeface="Times New Roman" panose="02020603050405020304" pitchFamily="18" charset="0"/>
                <a:cs typeface="Times New Roman" panose="02020603050405020304" pitchFamily="18" charset="0"/>
              </a:rPr>
              <a:t>Virtualbox</a:t>
            </a:r>
            <a:r>
              <a:rPr lang="en-US" sz="2800" dirty="0">
                <a:latin typeface="Times New Roman" panose="02020603050405020304" pitchFamily="18" charset="0"/>
                <a:cs typeface="Times New Roman" panose="02020603050405020304" pitchFamily="18" charset="0"/>
              </a:rPr>
              <a:t> dumps with no issues.</a:t>
            </a:r>
          </a:p>
          <a:p>
            <a:pPr lvl="0" algn="just"/>
            <a:r>
              <a:rPr lang="en-US" sz="2800" b="1" dirty="0" err="1">
                <a:latin typeface="Times New Roman" panose="02020603050405020304" pitchFamily="18" charset="0"/>
                <a:cs typeface="Times New Roman" panose="02020603050405020304" pitchFamily="18" charset="0"/>
              </a:rPr>
              <a:t>Rekall</a:t>
            </a:r>
            <a:r>
              <a:rPr lang="en-US" sz="2800" dirty="0">
                <a:latin typeface="Times New Roman" panose="02020603050405020304" pitchFamily="18" charset="0"/>
                <a:cs typeface="Times New Roman" panose="02020603050405020304" pitchFamily="18" charset="0"/>
              </a:rPr>
              <a:t>: This is an end-to-end solution for incident responders and investigators, and features both acquisition and analysis tools. It can be thought of as more of a forensic framework suite than just a single application.</a:t>
            </a:r>
          </a:p>
          <a:p>
            <a:pPr lvl="0" algn="just"/>
            <a:r>
              <a:rPr lang="en-US" sz="2800" b="1" dirty="0">
                <a:latin typeface="Times New Roman" panose="02020603050405020304" pitchFamily="18" charset="0"/>
                <a:cs typeface="Times New Roman" panose="02020603050405020304" pitchFamily="18" charset="0"/>
              </a:rPr>
              <a:t>Helix ISO</a:t>
            </a:r>
            <a:r>
              <a:rPr lang="en-US" sz="2800" dirty="0">
                <a:latin typeface="Times New Roman" panose="02020603050405020304" pitchFamily="18" charset="0"/>
                <a:cs typeface="Times New Roman" panose="02020603050405020304" pitchFamily="18" charset="0"/>
              </a:rPr>
              <a:t>: This is a bootable live CD as well as a standalone application that makes it very easy for you to capture a memory dump or memory image of a system. There are some risks associated with running this directly on a target system, namely an acquisition footprint, so make sure that it fits your requirements</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6292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905819"/>
          </a:xfrm>
        </p:spPr>
        <p:txBody>
          <a:bodyPr/>
          <a:lstStyle/>
          <a:p>
            <a:pPr algn="ctr"/>
            <a:r>
              <a:rPr lang="en-US" dirty="0" smtClean="0">
                <a:latin typeface="Times New Roman" panose="02020603050405020304" pitchFamily="18" charset="0"/>
                <a:cs typeface="Times New Roman" panose="02020603050405020304" pitchFamily="18" charset="0"/>
              </a:rPr>
              <a:t>MEMORY FORENSIC TOOLS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32604" y="1243021"/>
            <a:ext cx="11463156" cy="5366785"/>
          </a:xfrm>
        </p:spPr>
        <p:txBody>
          <a:bodyPr>
            <a:normAutofit/>
          </a:bodyPr>
          <a:lstStyle/>
          <a:p>
            <a:pPr lvl="0" algn="just"/>
            <a:r>
              <a:rPr lang="en-US" sz="2800" b="1" dirty="0">
                <a:latin typeface="Times New Roman" panose="02020603050405020304" pitchFamily="18" charset="0"/>
                <a:cs typeface="Times New Roman" panose="02020603050405020304" pitchFamily="18" charset="0"/>
              </a:rPr>
              <a:t>Belkasoft RAM Capturer</a:t>
            </a:r>
            <a:r>
              <a:rPr lang="en-US" sz="2800" dirty="0">
                <a:latin typeface="Times New Roman" panose="02020603050405020304" pitchFamily="18" charset="0"/>
                <a:cs typeface="Times New Roman" panose="02020603050405020304" pitchFamily="18" charset="0"/>
              </a:rPr>
              <a:t>: This is another forensic tool that allows for the volatile section of system memory to be captured to a file. First responders will find that the functionality and wide range of tools available in this software package will allow for their investigations to start off as quickly as possible.</a:t>
            </a:r>
          </a:p>
          <a:p>
            <a:pPr lvl="0" algn="just"/>
            <a:r>
              <a:rPr lang="en-US" sz="2800" b="1" dirty="0">
                <a:latin typeface="Times New Roman" panose="02020603050405020304" pitchFamily="18" charset="0"/>
                <a:cs typeface="Times New Roman" panose="02020603050405020304" pitchFamily="18" charset="0"/>
              </a:rPr>
              <a:t>Process Hacker</a:t>
            </a:r>
            <a:r>
              <a:rPr lang="en-US" sz="2800" dirty="0">
                <a:latin typeface="Times New Roman" panose="02020603050405020304" pitchFamily="18" charset="0"/>
                <a:cs typeface="Times New Roman" panose="02020603050405020304" pitchFamily="18" charset="0"/>
              </a:rPr>
              <a:t>: This is an open source process monitoring application that is very useful to run while the target machine is in use. It will give the investigator a better understanding of what is currently affecting the system before the memory snapshot is taken, and can go a long way to help uncover any malicious processes, or even help to identify what processes have been terminated within a set period of time</a:t>
            </a:r>
            <a:r>
              <a:rPr lang="en-US" sz="2400" dirty="0">
                <a:latin typeface="Times New Roman" panose="02020603050405020304" pitchFamily="18" charset="0"/>
                <a:cs typeface="Times New Roman" panose="02020603050405020304" pitchFamily="18" charset="0"/>
              </a:rPr>
              <a:t>.</a:t>
            </a:r>
          </a:p>
          <a:p>
            <a:endParaRPr lang="en-US" sz="2400" dirty="0"/>
          </a:p>
        </p:txBody>
      </p:sp>
    </p:spTree>
    <p:extLst>
      <p:ext uri="{BB962C8B-B14F-4D97-AF65-F5344CB8AC3E}">
        <p14:creationId xmlns:p14="http://schemas.microsoft.com/office/powerpoint/2010/main" val="37365526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9619" y="2712592"/>
            <a:ext cx="9404723" cy="1400530"/>
          </a:xfrm>
        </p:spPr>
        <p:txBody>
          <a:bodyPr/>
          <a:lstStyle/>
          <a:p>
            <a:r>
              <a:rPr lang="en-US" sz="9600" dirty="0" smtClean="0">
                <a:latin typeface="Monotype Corsiva" panose="03010101010201010101" pitchFamily="66" charset="0"/>
              </a:rPr>
              <a:t>Thank you So Much</a:t>
            </a:r>
            <a:endParaRPr lang="en-US" sz="9600" dirty="0">
              <a:latin typeface="Monotype Corsiva" panose="03010101010201010101" pitchFamily="66" charset="0"/>
            </a:endParaRPr>
          </a:p>
        </p:txBody>
      </p:sp>
    </p:spTree>
    <p:extLst>
      <p:ext uri="{BB962C8B-B14F-4D97-AF65-F5344CB8AC3E}">
        <p14:creationId xmlns:p14="http://schemas.microsoft.com/office/powerpoint/2010/main" val="282981642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119</TotalTime>
  <Words>1278</Words>
  <Application>Microsoft Office PowerPoint</Application>
  <PresentationFormat>Widescreen</PresentationFormat>
  <Paragraphs>63</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Century Gothic</vt:lpstr>
      <vt:lpstr>Monotype Corsiva</vt:lpstr>
      <vt:lpstr>Times New Roman</vt:lpstr>
      <vt:lpstr>Wingdings 3</vt:lpstr>
      <vt:lpstr>Ion</vt:lpstr>
      <vt:lpstr>Memory Forensics</vt:lpstr>
      <vt:lpstr>INTRODUCTION</vt:lpstr>
      <vt:lpstr>INTRODUCTION</vt:lpstr>
      <vt:lpstr>WHAT IS MEMORY FORENSICS</vt:lpstr>
      <vt:lpstr>How  Memory Forensics Differs From Hard Drive Forensics? </vt:lpstr>
      <vt:lpstr>WHY MEMORY FORENSICS?</vt:lpstr>
      <vt:lpstr>WHY MEMORY FORENSICS?</vt:lpstr>
      <vt:lpstr>DATA ACQUISITION METHODS IN MF</vt:lpstr>
      <vt:lpstr>HARDWARE BASED </vt:lpstr>
      <vt:lpstr>SOFTWARE-BASED ACQUISITION</vt:lpstr>
      <vt:lpstr>FORMATS OF DATA ACQUIRED IN MF</vt:lpstr>
      <vt:lpstr>MEMORY FORENSIC TOOLS</vt:lpstr>
      <vt:lpstr>MEMORY FORENSIC TOOLS</vt:lpstr>
      <vt:lpstr>Thank you So Much</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forensics</dc:title>
  <dc:creator>HP</dc:creator>
  <cp:lastModifiedBy>HP</cp:lastModifiedBy>
  <cp:revision>21</cp:revision>
  <dcterms:created xsi:type="dcterms:W3CDTF">2025-08-26T03:26:23Z</dcterms:created>
  <dcterms:modified xsi:type="dcterms:W3CDTF">2025-08-26T05:26:45Z</dcterms:modified>
</cp:coreProperties>
</file>